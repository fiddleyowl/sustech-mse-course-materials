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316" r:id="rId3"/>
    <p:sldId id="317" r:id="rId4"/>
    <p:sldId id="318" r:id="rId5"/>
    <p:sldId id="345" r:id="rId6"/>
    <p:sldId id="334" r:id="rId7"/>
    <p:sldId id="286" r:id="rId8"/>
    <p:sldId id="289" r:id="rId9"/>
    <p:sldId id="342" r:id="rId10"/>
    <p:sldId id="292" r:id="rId11"/>
    <p:sldId id="290" r:id="rId12"/>
    <p:sldId id="343" r:id="rId13"/>
    <p:sldId id="347" r:id="rId14"/>
    <p:sldId id="348" r:id="rId15"/>
    <p:sldId id="350" r:id="rId16"/>
    <p:sldId id="351" r:id="rId17"/>
    <p:sldId id="352" r:id="rId18"/>
    <p:sldId id="353" r:id="rId19"/>
    <p:sldId id="349" r:id="rId20"/>
    <p:sldId id="354" r:id="rId21"/>
    <p:sldId id="344" r:id="rId22"/>
    <p:sldId id="346" r:id="rId23"/>
    <p:sldId id="355" r:id="rId24"/>
    <p:sldId id="319" r:id="rId25"/>
    <p:sldId id="320" r:id="rId26"/>
    <p:sldId id="321" r:id="rId27"/>
    <p:sldId id="322" r:id="rId28"/>
    <p:sldId id="356" r:id="rId29"/>
    <p:sldId id="357" r:id="rId30"/>
    <p:sldId id="358" r:id="rId31"/>
    <p:sldId id="324" r:id="rId32"/>
    <p:sldId id="359" r:id="rId33"/>
    <p:sldId id="360" r:id="rId34"/>
    <p:sldId id="326" r:id="rId35"/>
    <p:sldId id="327" r:id="rId36"/>
    <p:sldId id="362" r:id="rId37"/>
    <p:sldId id="361" r:id="rId38"/>
    <p:sldId id="328" r:id="rId39"/>
    <p:sldId id="329" r:id="rId40"/>
    <p:sldId id="332" r:id="rId41"/>
    <p:sldId id="335" r:id="rId42"/>
    <p:sldId id="336" r:id="rId43"/>
    <p:sldId id="339" r:id="rId44"/>
    <p:sldId id="294" r:id="rId45"/>
    <p:sldId id="338" r:id="rId46"/>
    <p:sldId id="337" r:id="rId47"/>
    <p:sldId id="340" r:id="rId48"/>
    <p:sldId id="341" r:id="rId49"/>
    <p:sldId id="364" r:id="rId50"/>
    <p:sldId id="363" r:id="rId51"/>
    <p:sldId id="295" r:id="rId52"/>
    <p:sldId id="365" r:id="rId53"/>
    <p:sldId id="293" r:id="rId5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78" autoAdjust="0"/>
    <p:restoredTop sz="96756" autoAdjust="0"/>
  </p:normalViewPr>
  <p:slideViewPr>
    <p:cSldViewPr>
      <p:cViewPr varScale="1">
        <p:scale>
          <a:sx n="65" d="100"/>
          <a:sy n="65" d="100"/>
        </p:scale>
        <p:origin x="179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122"/>
    </p:cViewPr>
  </p:sorterViewPr>
  <p:notesViewPr>
    <p:cSldViewPr>
      <p:cViewPr varScale="1">
        <p:scale>
          <a:sx n="61" d="100"/>
          <a:sy n="61" d="100"/>
        </p:scale>
        <p:origin x="-1901" y="-8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2.wmf"/><Relationship Id="rId1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5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4" Type="http://schemas.openxmlformats.org/officeDocument/2006/relationships/image" Target="../media/image7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2C4CA86-8783-49D4-BF38-A29629F4D8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17F1AF-E070-4139-9B1C-17EC2619A0D2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smtClean="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6F35D27-8A05-47FA-B750-49B74788BBEE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A1465E-60C1-49B0-9274-6F1A1F336E92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 smtClean="0"/>
          </a:p>
        </p:txBody>
      </p:sp>
      <p:sp>
        <p:nvSpPr>
          <p:cNvPr id="1126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26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12-01a-b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6D84780-69D1-4466-B473-637E4C19394F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12-04a-b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2E47A99-856C-46A1-A9D3-980D36FBEBCD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12-04a-b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C1E272-7FCC-4D9C-98D4-B22F781E5B1B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56F6BA3-C5B3-46AD-9E23-1F4BEBFA6C8F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 smtClean="0"/>
          </a:p>
        </p:txBody>
      </p:sp>
      <p:sp>
        <p:nvSpPr>
          <p:cNvPr id="1945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6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DC858F-BF9C-412A-9037-A0721E88E042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 smtClean="0"/>
          </a:p>
        </p:txBody>
      </p:sp>
      <p:sp>
        <p:nvSpPr>
          <p:cNvPr id="2150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3974996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155394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3045311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2834019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1401644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42784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1073821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29058539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2332613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5E9886-3559-4E15-A028-C8850D28560B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 smtClean="0"/>
          </a:p>
        </p:txBody>
      </p:sp>
      <p:sp>
        <p:nvSpPr>
          <p:cNvPr id="235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  <p:extLst>
      <p:ext uri="{BB962C8B-B14F-4D97-AF65-F5344CB8AC3E}">
        <p14:creationId xmlns:p14="http://schemas.microsoft.com/office/powerpoint/2010/main" val="28267248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42CC55-AEC4-4E34-A862-9D7400F41F74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78ED98B-6DFD-4023-8C94-C94FCF91A8F9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93AD60-2355-4DFE-B899-CFDDDF237B86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07-02a-b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93AD60-2355-4DFE-B899-CFDDDF237B86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07-02a-b</a:t>
            </a:r>
          </a:p>
        </p:txBody>
      </p:sp>
    </p:spTree>
    <p:extLst>
      <p:ext uri="{BB962C8B-B14F-4D97-AF65-F5344CB8AC3E}">
        <p14:creationId xmlns:p14="http://schemas.microsoft.com/office/powerpoint/2010/main" val="32045813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93AD60-2355-4DFE-B899-CFDDDF237B86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07-02a-b</a:t>
            </a:r>
          </a:p>
        </p:txBody>
      </p:sp>
    </p:spTree>
    <p:extLst>
      <p:ext uri="{BB962C8B-B14F-4D97-AF65-F5344CB8AC3E}">
        <p14:creationId xmlns:p14="http://schemas.microsoft.com/office/powerpoint/2010/main" val="11537756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39803A-91AE-4CA1-8AF3-3B750EDBD65A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07-05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39803A-91AE-4CA1-8AF3-3B750EDBD65A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07-05</a:t>
            </a:r>
          </a:p>
        </p:txBody>
      </p:sp>
    </p:spTree>
    <p:extLst>
      <p:ext uri="{BB962C8B-B14F-4D97-AF65-F5344CB8AC3E}">
        <p14:creationId xmlns:p14="http://schemas.microsoft.com/office/powerpoint/2010/main" val="2800014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39803A-91AE-4CA1-8AF3-3B750EDBD65A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07-05</a:t>
            </a:r>
          </a:p>
        </p:txBody>
      </p:sp>
    </p:spTree>
    <p:extLst>
      <p:ext uri="{BB962C8B-B14F-4D97-AF65-F5344CB8AC3E}">
        <p14:creationId xmlns:p14="http://schemas.microsoft.com/office/powerpoint/2010/main" val="25725748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E7DB50-890F-40A3-B2FF-628F276B0859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3E1A8E-76B2-4426-868F-222658DE03A1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07-08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39803A-91AE-4CA1-8AF3-3B750EDBD65A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07-05</a:t>
            </a:r>
          </a:p>
        </p:txBody>
      </p:sp>
    </p:spTree>
    <p:extLst>
      <p:ext uri="{BB962C8B-B14F-4D97-AF65-F5344CB8AC3E}">
        <p14:creationId xmlns:p14="http://schemas.microsoft.com/office/powerpoint/2010/main" val="41818479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43E1A8E-76B2-4426-868F-222658DE03A1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07-08</a:t>
            </a:r>
          </a:p>
        </p:txBody>
      </p:sp>
    </p:spTree>
    <p:extLst>
      <p:ext uri="{BB962C8B-B14F-4D97-AF65-F5344CB8AC3E}">
        <p14:creationId xmlns:p14="http://schemas.microsoft.com/office/powerpoint/2010/main" val="30278380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9ECEE9-14E1-4796-B2BC-3169224356CF}" type="slidenum">
              <a:rPr lang="en-US" altLang="en-US" smtClean="0"/>
              <a:pPr>
                <a:spcBef>
                  <a:spcPct val="0"/>
                </a:spcBef>
              </a:pPr>
              <a:t>38</a:t>
            </a:fld>
            <a:endParaRPr lang="en-US" alt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07-11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A32A38-5176-4A65-B9F0-A6B092A296FB}" type="slidenum">
              <a:rPr lang="en-US" altLang="en-US" smtClean="0"/>
              <a:pPr>
                <a:spcBef>
                  <a:spcPct val="0"/>
                </a:spcBef>
              </a:pPr>
              <a:t>39</a:t>
            </a:fld>
            <a:endParaRPr lang="en-US" alt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07-12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2829C77-41A0-49AB-8ACB-F4433F8FCA5E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5ABF93-2972-4118-A419-8BA51CA5C946}" type="slidenum">
              <a:rPr lang="en-US" altLang="en-US" smtClean="0"/>
              <a:pPr>
                <a:spcBef>
                  <a:spcPct val="0"/>
                </a:spcBef>
              </a:pPr>
              <a:t>41</a:t>
            </a:fld>
            <a:endParaRPr lang="en-US" alt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CE72FE-A2BA-45C1-8FC4-219F738C3E8A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 smtClean="0"/>
          </a:p>
        </p:txBody>
      </p:sp>
      <p:sp>
        <p:nvSpPr>
          <p:cNvPr id="5120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6B1ADE-FEFA-46C4-BDED-A5C0C89C94F3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 smtClean="0"/>
          </a:p>
        </p:txBody>
      </p:sp>
      <p:sp>
        <p:nvSpPr>
          <p:cNvPr id="5325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22B58D-5353-4A96-A36C-A4E40E2AE67E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12-08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56033B2-7110-4CC9-B805-56C0CA0974F8}" type="slidenum">
              <a:rPr lang="en-US" altLang="en-US" smtClean="0"/>
              <a:pPr>
                <a:spcBef>
                  <a:spcPct val="0"/>
                </a:spcBef>
              </a:pPr>
              <a:t>45</a:t>
            </a:fld>
            <a:endParaRPr lang="en-US" altLang="en-US" smtClean="0"/>
          </a:p>
        </p:txBody>
      </p:sp>
      <p:sp>
        <p:nvSpPr>
          <p:cNvPr id="5734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12-05a-b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A9D840-8217-424A-A23F-D2C0089AB5D9}" type="slidenum">
              <a:rPr lang="en-US" altLang="en-US" smtClean="0"/>
              <a:pPr>
                <a:spcBef>
                  <a:spcPct val="0"/>
                </a:spcBef>
              </a:pPr>
              <a:t>46</a:t>
            </a:fld>
            <a:endParaRPr lang="en-US" altLang="en-US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12-08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C1BD53-6936-49B0-B7F2-B82E636FCF50}" type="slidenum">
              <a:rPr lang="en-US" altLang="en-US" smtClean="0"/>
              <a:pPr>
                <a:spcBef>
                  <a:spcPct val="0"/>
                </a:spcBef>
              </a:pPr>
              <a:t>47</a:t>
            </a:fld>
            <a:endParaRPr lang="en-US" alt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12-08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B22344-DB7D-4AF6-812F-90061D729930}" type="slidenum">
              <a:rPr lang="en-US" altLang="en-US" smtClean="0"/>
              <a:pPr>
                <a:spcBef>
                  <a:spcPct val="0"/>
                </a:spcBef>
              </a:pPr>
              <a:t>48</a:t>
            </a:fld>
            <a:endParaRPr lang="en-US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12-08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B22344-DB7D-4AF6-812F-90061D729930}" type="slidenum">
              <a:rPr lang="en-US" altLang="en-US" smtClean="0"/>
              <a:pPr>
                <a:spcBef>
                  <a:spcPct val="0"/>
                </a:spcBef>
              </a:pPr>
              <a:t>49</a:t>
            </a:fld>
            <a:endParaRPr lang="en-US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12-08</a:t>
            </a:r>
          </a:p>
        </p:txBody>
      </p:sp>
    </p:spTree>
    <p:extLst>
      <p:ext uri="{BB962C8B-B14F-4D97-AF65-F5344CB8AC3E}">
        <p14:creationId xmlns:p14="http://schemas.microsoft.com/office/powerpoint/2010/main" val="34786363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B22344-DB7D-4AF6-812F-90061D729930}" type="slidenum">
              <a:rPr lang="en-US" altLang="en-US" smtClean="0"/>
              <a:pPr>
                <a:spcBef>
                  <a:spcPct val="0"/>
                </a:spcBef>
              </a:pPr>
              <a:t>50</a:t>
            </a:fld>
            <a:endParaRPr lang="en-US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12-08</a:t>
            </a:r>
          </a:p>
        </p:txBody>
      </p:sp>
    </p:spTree>
    <p:extLst>
      <p:ext uri="{BB962C8B-B14F-4D97-AF65-F5344CB8AC3E}">
        <p14:creationId xmlns:p14="http://schemas.microsoft.com/office/powerpoint/2010/main" val="264103288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481288-02EB-4A73-9F8F-F9F877ABB63F}" type="slidenum">
              <a:rPr lang="en-US" altLang="en-US" smtClean="0"/>
              <a:pPr>
                <a:spcBef>
                  <a:spcPct val="0"/>
                </a:spcBef>
              </a:pPr>
              <a:t>51</a:t>
            </a:fld>
            <a:endParaRPr lang="en-US" altLang="en-US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12-09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B22344-DB7D-4AF6-812F-90061D729930}" type="slidenum">
              <a:rPr lang="en-US" altLang="en-US" smtClean="0"/>
              <a:pPr>
                <a:spcBef>
                  <a:spcPct val="0"/>
                </a:spcBef>
              </a:pPr>
              <a:t>52</a:t>
            </a:fld>
            <a:endParaRPr lang="en-US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12-08</a:t>
            </a:r>
          </a:p>
        </p:txBody>
      </p:sp>
    </p:spTree>
    <p:extLst>
      <p:ext uri="{BB962C8B-B14F-4D97-AF65-F5344CB8AC3E}">
        <p14:creationId xmlns:p14="http://schemas.microsoft.com/office/powerpoint/2010/main" val="20208040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6A1910-2F43-4084-8B7F-0E8273B0A81F}" type="slidenum">
              <a:rPr lang="en-US" altLang="en-US" smtClean="0"/>
              <a:pPr>
                <a:spcBef>
                  <a:spcPct val="0"/>
                </a:spcBef>
              </a:pPr>
              <a:t>53</a:t>
            </a:fld>
            <a:endParaRPr lang="en-US" altLang="en-US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661" tIns="48331" rIns="96661" bIns="48331"/>
          <a:lstStyle/>
          <a:p>
            <a:pPr eaLnBrk="1" hangingPunct="1"/>
            <a:r>
              <a:rPr lang="en-US" altLang="en-US" smtClean="0">
                <a:latin typeface="Arial" panose="020B0604020202020204" pitchFamily="34" charset="0"/>
              </a:rPr>
              <a:t>Figure: 12-07a-b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678BA-4F93-4AF2-A343-D3EE7C7F0B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01112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18DDD-7C57-4292-B7EF-56D1BB5857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847872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AF699-9F40-4DCE-B757-DE23D87DF7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90831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C5F21-8083-4A83-88E8-158A23E644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681188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34AC1-5587-4137-8232-6EFFCFF030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1246705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9C3737-31BB-4228-9C65-2068F6E10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653058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0453A-E3CB-4FCA-A7BA-6FBAE32230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85168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43DED5-1BF7-4174-B033-FCCF105558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293722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29B8B-F0C1-43BB-BCD2-8B7343FF3B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565302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D05CE-01E8-4B90-97EB-B008FBD4CD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80522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C92E5-A5F4-4D7C-9C5C-E65A07D9C6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</p:spTree>
    <p:extLst>
      <p:ext uri="{BB962C8B-B14F-4D97-AF65-F5344CB8AC3E}">
        <p14:creationId xmlns:p14="http://schemas.microsoft.com/office/powerpoint/2010/main" val="392731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77000"/>
            <a:ext cx="2133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600" b="1"/>
            </a:lvl1pPr>
          </a:lstStyle>
          <a:p>
            <a:pPr>
              <a:defRPr/>
            </a:pPr>
            <a:fld id="{70C6D1A1-7C40-4661-870F-DB0131D2BD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80063" y="6570663"/>
            <a:ext cx="3328987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Jiangyu Li, University of Washington</a:t>
            </a:r>
          </a:p>
        </p:txBody>
      </p:sp>
      <p:sp>
        <p:nvSpPr>
          <p:cNvPr id="1030" name="Line 7"/>
          <p:cNvSpPr>
            <a:spLocks noChangeShapeType="1"/>
          </p:cNvSpPr>
          <p:nvPr userDrawn="1"/>
        </p:nvSpPr>
        <p:spPr bwMode="auto">
          <a:xfrm>
            <a:off x="468313" y="1557338"/>
            <a:ext cx="820737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6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32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3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3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4.wmf"/><Relationship Id="rId4" Type="http://schemas.openxmlformats.org/officeDocument/2006/relationships/image" Target="../media/image17.jpeg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2.wmf"/><Relationship Id="rId4" Type="http://schemas.openxmlformats.org/officeDocument/2006/relationships/image" Target="../media/image23.jpeg"/><Relationship Id="rId9" Type="http://schemas.openxmlformats.org/officeDocument/2006/relationships/oleObject" Target="../embeddings/oleObject1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6.wmf"/><Relationship Id="rId4" Type="http://schemas.openxmlformats.org/officeDocument/2006/relationships/image" Target="../media/image27.jpeg"/><Relationship Id="rId9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notesSlide" Target="../notesSlides/notesSlide28.xml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53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notesSlide" Target="../notesSlides/notesSlide29.xml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4.wmf"/><Relationship Id="rId11" Type="http://schemas.openxmlformats.org/officeDocument/2006/relationships/image" Target="../media/image55.wmf"/><Relationship Id="rId5" Type="http://schemas.openxmlformats.org/officeDocument/2006/relationships/oleObject" Target="../embeddings/oleObject22.bin"/><Relationship Id="rId10" Type="http://schemas.openxmlformats.org/officeDocument/2006/relationships/oleObject" Target="../embeddings/oleObject25.bin"/><Relationship Id="rId4" Type="http://schemas.openxmlformats.org/officeDocument/2006/relationships/image" Target="../media/image56.jpeg"/><Relationship Id="rId9" Type="http://schemas.openxmlformats.org/officeDocument/2006/relationships/oleObject" Target="../embeddings/oleObject2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notesSlide" Target="../notesSlides/notesSlide36.xml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26.wmf"/><Relationship Id="rId4" Type="http://schemas.openxmlformats.org/officeDocument/2006/relationships/image" Target="../media/image27.jpeg"/><Relationship Id="rId9" Type="http://schemas.openxmlformats.org/officeDocument/2006/relationships/oleObject" Target="../embeddings/oleObject2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3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66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38.bin"/><Relationship Id="rId3" Type="http://schemas.openxmlformats.org/officeDocument/2006/relationships/notesSlide" Target="../notesSlides/notesSlide39.xml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image" Target="../media/image69.jpeg"/><Relationship Id="rId10" Type="http://schemas.openxmlformats.org/officeDocument/2006/relationships/image" Target="../media/image26.wmf"/><Relationship Id="rId4" Type="http://schemas.openxmlformats.org/officeDocument/2006/relationships/image" Target="../media/image27.jpeg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68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notesSlide" Target="../notesSlides/notesSlide40.xml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53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7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7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111963-0E5E-4638-A867-2709F493AD60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60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989138"/>
            <a:ext cx="8064500" cy="4679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Plasticity and Failure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solidFill>
                  <a:srgbClr val="FF0000"/>
                </a:solidFill>
              </a:rPr>
              <a:t>Mechanical Behavior of Materials 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solidFill>
                  <a:srgbClr val="FF0000"/>
                </a:solidFill>
              </a:rPr>
              <a:t>Chapter 12.1-12.3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en-US" sz="2200" smtClean="0">
                <a:solidFill>
                  <a:srgbClr val="FF0000"/>
                </a:solidFill>
              </a:rPr>
              <a:t>Chapter 7.1-7.6</a:t>
            </a: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endParaRPr lang="en-US" altLang="en-US" sz="3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200" smtClean="0">
                <a:solidFill>
                  <a:srgbClr val="FF0000"/>
                </a:solidFill>
              </a:rPr>
              <a:t>1D</a:t>
            </a:r>
            <a:r>
              <a:rPr lang="en-US" altLang="en-US" sz="3200" smtClean="0"/>
              <a:t> and 3D</a:t>
            </a:r>
          </a:p>
          <a:p>
            <a:pPr eaLnBrk="1" hangingPunct="1">
              <a:lnSpc>
                <a:spcPct val="90000"/>
              </a:lnSpc>
            </a:pPr>
            <a:endParaRPr lang="en-US" altLang="en-US" sz="3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Jiangyu Li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Mechanics of </a:t>
            </a:r>
            <a:r>
              <a:rPr lang="en-US" altLang="en-US" sz="4000" dirty="0" smtClean="0">
                <a:solidFill>
                  <a:schemeClr val="tx2"/>
                </a:solidFill>
              </a:rPr>
              <a:t>Materials</a:t>
            </a:r>
            <a:endParaRPr lang="en-US" altLang="en-US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6D51F8-ED3C-4C91-AC3A-2696E41B0B7B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600" smtClean="0"/>
          </a:p>
        </p:txBody>
      </p:sp>
      <p:sp>
        <p:nvSpPr>
          <p:cNvPr id="5123" name="Rectangle 1028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Stress Strain Curve</a:t>
            </a:r>
          </a:p>
        </p:txBody>
      </p:sp>
      <p:pic>
        <p:nvPicPr>
          <p:cNvPr id="5124" name="Picture 2" descr="http://sustainabilityworkshop.autodesk.com/sites/default/files/images/800px-Stress_Strain_Ductile_Materia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778000"/>
            <a:ext cx="7200900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EF755D-0C65-480E-8638-F1A1B3FA7FB7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600" smtClean="0"/>
          </a:p>
        </p:txBody>
      </p:sp>
      <p:sp>
        <p:nvSpPr>
          <p:cNvPr id="6147" name="Rectangle 1028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Engineering/True Stress/Strain</a:t>
            </a: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403350" y="2781300"/>
          <a:ext cx="1168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2" name="Equation" r:id="rId3" imgW="1168400" imgH="381000" progId="Equation.3">
                  <p:embed/>
                </p:oleObj>
              </mc:Choice>
              <mc:Fallback>
                <p:oleObj name="Equation" r:id="rId3" imgW="1168400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781300"/>
                        <a:ext cx="1168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1314450" y="4156075"/>
          <a:ext cx="1257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" name="Equation" r:id="rId5" imgW="1257300" imgH="381000" progId="Equation.3">
                  <p:embed/>
                </p:oleObj>
              </mc:Choice>
              <mc:Fallback>
                <p:oleObj name="Equation" r:id="rId5" imgW="1257300" imgH="381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4156075"/>
                        <a:ext cx="1257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" name="TextBox 7"/>
          <p:cNvSpPr txBox="1">
            <a:spLocks noChangeArrowheads="1"/>
          </p:cNvSpPr>
          <p:nvPr/>
        </p:nvSpPr>
        <p:spPr bwMode="auto">
          <a:xfrm>
            <a:off x="755650" y="2060575"/>
            <a:ext cx="3005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Engineering Stress/Strain</a:t>
            </a:r>
          </a:p>
        </p:txBody>
      </p:sp>
      <p:sp>
        <p:nvSpPr>
          <p:cNvPr id="6151" name="TextBox 9"/>
          <p:cNvSpPr txBox="1">
            <a:spLocks noChangeArrowheads="1"/>
          </p:cNvSpPr>
          <p:nvPr/>
        </p:nvSpPr>
        <p:spPr bwMode="auto">
          <a:xfrm>
            <a:off x="6164263" y="2181225"/>
            <a:ext cx="2160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True Stress/Strain</a:t>
            </a:r>
          </a:p>
        </p:txBody>
      </p:sp>
      <p:graphicFrame>
        <p:nvGraphicFramePr>
          <p:cNvPr id="6152" name="Object 10"/>
          <p:cNvGraphicFramePr>
            <a:graphicFrameLocks noChangeAspect="1"/>
          </p:cNvGraphicFramePr>
          <p:nvPr/>
        </p:nvGraphicFramePr>
        <p:xfrm>
          <a:off x="6572250" y="3043238"/>
          <a:ext cx="1130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7" imgW="1130300" imgH="279400" progId="Equation.3">
                  <p:embed/>
                </p:oleObj>
              </mc:Choice>
              <mc:Fallback>
                <p:oleObj name="Equation" r:id="rId7" imgW="1130300" imgH="279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3043238"/>
                        <a:ext cx="1130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11"/>
          <p:cNvGraphicFramePr>
            <a:graphicFrameLocks noChangeAspect="1"/>
          </p:cNvGraphicFramePr>
          <p:nvPr/>
        </p:nvGraphicFramePr>
        <p:xfrm>
          <a:off x="5011738" y="4167188"/>
          <a:ext cx="387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name="Equation" r:id="rId9" imgW="3873500" imgH="787400" progId="Equation.3">
                  <p:embed/>
                </p:oleObj>
              </mc:Choice>
              <mc:Fallback>
                <p:oleObj name="Equation" r:id="rId9" imgW="3873500" imgH="787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1738" y="4167188"/>
                        <a:ext cx="38735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09DDF5-D60B-468E-902E-A418538BA80E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600" smtClean="0"/>
          </a:p>
        </p:txBody>
      </p:sp>
      <p:sp>
        <p:nvSpPr>
          <p:cNvPr id="7171" name="Rectangle 1028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Engineering/True Stress/Strain</a:t>
            </a: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4284663" y="2286000"/>
          <a:ext cx="1231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Equation" r:id="rId3" imgW="1231366" imgH="380835" progId="Equation.3">
                  <p:embed/>
                </p:oleObj>
              </mc:Choice>
              <mc:Fallback>
                <p:oleObj name="Equation" r:id="rId3" imgW="1231366" imgH="3808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2286000"/>
                        <a:ext cx="1231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Box 5"/>
          <p:cNvSpPr txBox="1">
            <a:spLocks noChangeArrowheads="1"/>
          </p:cNvSpPr>
          <p:nvPr/>
        </p:nvSpPr>
        <p:spPr bwMode="auto">
          <a:xfrm>
            <a:off x="1100138" y="1916113"/>
            <a:ext cx="2066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Constant Volume</a:t>
            </a:r>
          </a:p>
        </p:txBody>
      </p: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3352800" y="3213100"/>
          <a:ext cx="2438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6" name="Equation" r:id="rId5" imgW="2438400" imgH="381000" progId="Equation.3">
                  <p:embed/>
                </p:oleObj>
              </mc:Choice>
              <mc:Fallback>
                <p:oleObj name="Equation" r:id="rId5" imgW="2438400" imgH="38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213100"/>
                        <a:ext cx="2438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3167063" y="4216400"/>
          <a:ext cx="2603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7" name="Equation" r:id="rId7" imgW="2603500" imgH="381000" progId="Equation.3">
                  <p:embed/>
                </p:oleObj>
              </mc:Choice>
              <mc:Fallback>
                <p:oleObj name="Equation" r:id="rId7" imgW="2603500" imgH="38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4216400"/>
                        <a:ext cx="2603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2946400" y="5162550"/>
          <a:ext cx="3251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8" name="Equation" r:id="rId9" imgW="3251200" imgH="787400" progId="Equation.3">
                  <p:embed/>
                </p:oleObj>
              </mc:Choice>
              <mc:Fallback>
                <p:oleObj name="Equation" r:id="rId9" imgW="3251200" imgH="787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5162550"/>
                        <a:ext cx="3251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30453A-E3CB-4FCA-A7BA-6FBAE322301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2"/>
          <a:stretch>
            <a:fillRect/>
          </a:stretch>
        </p:blipFill>
        <p:spPr bwMode="auto">
          <a:xfrm>
            <a:off x="1691680" y="1982544"/>
            <a:ext cx="6400800" cy="457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028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chemeClr val="tx2"/>
                </a:solidFill>
              </a:rPr>
              <a:t>Engineering/True Stress/Strain</a:t>
            </a:r>
          </a:p>
        </p:txBody>
      </p:sp>
    </p:spTree>
    <p:extLst>
      <p:ext uri="{BB962C8B-B14F-4D97-AF65-F5344CB8AC3E}">
        <p14:creationId xmlns:p14="http://schemas.microsoft.com/office/powerpoint/2010/main" val="88117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742A13-D686-4872-89E0-E528B8B32CB9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60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989138"/>
            <a:ext cx="8064500" cy="4679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Plasticity and Failure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solidFill>
                  <a:srgbClr val="FF0000"/>
                </a:solidFill>
              </a:rPr>
              <a:t>Mechanical Behavior of Materials 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solidFill>
                  <a:srgbClr val="FF0000"/>
                </a:solidFill>
              </a:rPr>
              <a:t>Chapter 12.1-12.3</a:t>
            </a:r>
          </a:p>
          <a:p>
            <a:pPr eaLnBrk="1" hangingPunct="1">
              <a:lnSpc>
                <a:spcPct val="90000"/>
              </a:lnSpc>
            </a:pPr>
            <a:endParaRPr lang="en-US" altLang="en-US" sz="3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200" smtClean="0">
                <a:solidFill>
                  <a:srgbClr val="FF0000"/>
                </a:solidFill>
              </a:rPr>
              <a:t>1D</a:t>
            </a:r>
            <a:r>
              <a:rPr lang="en-US" altLang="en-US" sz="3200" smtClean="0"/>
              <a:t> constitutive model</a:t>
            </a:r>
          </a:p>
          <a:p>
            <a:pPr eaLnBrk="1" hangingPunct="1">
              <a:lnSpc>
                <a:spcPct val="90000"/>
              </a:lnSpc>
            </a:pPr>
            <a:endParaRPr lang="en-US" altLang="en-US" sz="3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Jiangyu Li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Mechanics of Materials 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7B6FB1-83D4-420A-9EDB-E0AE1FFF6E01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600" smtClean="0"/>
          </a:p>
        </p:txBody>
      </p:sp>
      <p:pic>
        <p:nvPicPr>
          <p:cNvPr id="10243" name="Picture 1026" descr="fg12_01a-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0"/>
            <a:ext cx="822007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1028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Stress Strain Curve</a:t>
            </a:r>
          </a:p>
        </p:txBody>
      </p:sp>
      <p:sp>
        <p:nvSpPr>
          <p:cNvPr id="10245" name="Text Box 1029"/>
          <p:cNvSpPr txBox="1">
            <a:spLocks noChangeArrowheads="1"/>
          </p:cNvSpPr>
          <p:nvPr/>
        </p:nvSpPr>
        <p:spPr bwMode="auto">
          <a:xfrm>
            <a:off x="5318125" y="6056313"/>
            <a:ext cx="2241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Bauschinger effect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4A9404-3F59-40EB-9206-286591625537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600" smtClean="0"/>
          </a:p>
        </p:txBody>
      </p:sp>
      <p:pic>
        <p:nvPicPr>
          <p:cNvPr id="12291" name="Picture 2" descr="fg12_04a-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8220075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Elastic-Perfect Plastic and Linear Hardening</a:t>
            </a:r>
          </a:p>
        </p:txBody>
      </p:sp>
      <p:graphicFrame>
        <p:nvGraphicFramePr>
          <p:cNvPr id="12293" name="Object 1"/>
          <p:cNvGraphicFramePr>
            <a:graphicFrameLocks noChangeAspect="1"/>
          </p:cNvGraphicFramePr>
          <p:nvPr/>
        </p:nvGraphicFramePr>
        <p:xfrm>
          <a:off x="323850" y="5013325"/>
          <a:ext cx="927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4" name="Equation" r:id="rId5" imgW="926698" imgH="266584" progId="Equation.3">
                  <p:embed/>
                </p:oleObj>
              </mc:Choice>
              <mc:Fallback>
                <p:oleObj name="Equation" r:id="rId5" imgW="926698" imgH="266584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5013325"/>
                        <a:ext cx="927100" cy="266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3530600" y="4379913"/>
          <a:ext cx="850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5" name="Equation" r:id="rId7" imgW="850531" imgH="380835" progId="Equation.3">
                  <p:embed/>
                </p:oleObj>
              </mc:Choice>
              <mc:Fallback>
                <p:oleObj name="Equation" r:id="rId7" imgW="850531" imgH="3808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4379913"/>
                        <a:ext cx="850900" cy="3810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7"/>
          <p:cNvGraphicFramePr>
            <a:graphicFrameLocks noChangeAspect="1"/>
          </p:cNvGraphicFramePr>
          <p:nvPr/>
        </p:nvGraphicFramePr>
        <p:xfrm>
          <a:off x="5364163" y="5445125"/>
          <a:ext cx="927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6" name="Equation" r:id="rId9" imgW="926698" imgH="266584" progId="Equation.3">
                  <p:embed/>
                </p:oleObj>
              </mc:Choice>
              <mc:Fallback>
                <p:oleObj name="Equation" r:id="rId9" imgW="926698" imgH="26658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445125"/>
                        <a:ext cx="927100" cy="266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6407150" y="3716338"/>
          <a:ext cx="2425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7" name="Equation" r:id="rId11" imgW="2425700" imgH="381000" progId="Equation.3">
                  <p:embed/>
                </p:oleObj>
              </mc:Choice>
              <mc:Fallback>
                <p:oleObj name="Equation" r:id="rId11" imgW="2425700" imgH="381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3716338"/>
                        <a:ext cx="2425700" cy="3810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7524750" y="4979988"/>
          <a:ext cx="1511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8" name="Equation" r:id="rId13" imgW="1511300" imgH="787400" progId="Equation.3">
                  <p:embed/>
                </p:oleObj>
              </mc:Choice>
              <mc:Fallback>
                <p:oleObj name="Equation" r:id="rId13" imgW="1511300" imgH="787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4979988"/>
                        <a:ext cx="15113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TextBox 1"/>
          <p:cNvSpPr txBox="1">
            <a:spLocks noChangeArrowheads="1"/>
          </p:cNvSpPr>
          <p:nvPr/>
        </p:nvSpPr>
        <p:spPr bwMode="auto">
          <a:xfrm>
            <a:off x="6588125" y="1692275"/>
            <a:ext cx="24161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Summation of strain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1433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00213"/>
            <a:ext cx="6264275" cy="243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663" y="4411663"/>
            <a:ext cx="5908675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82402C-27A1-4BCE-947F-A8142774F24F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600" smtClean="0"/>
          </a:p>
        </p:txBody>
      </p:sp>
      <p:pic>
        <p:nvPicPr>
          <p:cNvPr id="16387" name="Picture 2" descr="fg12_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70050"/>
            <a:ext cx="5638800" cy="518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Rheological Modeling of Nonlinear Hardening</a:t>
            </a:r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3676650" y="3213100"/>
          <a:ext cx="1790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3" name="Equation" r:id="rId5" imgW="1790700" imgH="368300" progId="Equation.3">
                  <p:embed/>
                </p:oleObj>
              </mc:Choice>
              <mc:Fallback>
                <p:oleObj name="Equation" r:id="rId5" imgW="1790700" imgH="368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6650" y="3213100"/>
                        <a:ext cx="1790700" cy="3683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5"/>
          <p:cNvGraphicFramePr>
            <a:graphicFrameLocks noChangeAspect="1"/>
          </p:cNvGraphicFramePr>
          <p:nvPr/>
        </p:nvGraphicFramePr>
        <p:xfrm>
          <a:off x="3344863" y="5765800"/>
          <a:ext cx="914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Equation" r:id="rId7" imgW="914400" imgH="711200" progId="Equation.3">
                  <p:embed/>
                </p:oleObj>
              </mc:Choice>
              <mc:Fallback>
                <p:oleObj name="Equation" r:id="rId7" imgW="9144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863" y="5765800"/>
                        <a:ext cx="9144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6"/>
          <p:cNvGraphicFramePr>
            <a:graphicFrameLocks noChangeAspect="1"/>
          </p:cNvGraphicFramePr>
          <p:nvPr/>
        </p:nvGraphicFramePr>
        <p:xfrm>
          <a:off x="5219700" y="4652963"/>
          <a:ext cx="1562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Equation" r:id="rId9" imgW="1562100" imgH="787400" progId="Equation.3">
                  <p:embed/>
                </p:oleObj>
              </mc:Choice>
              <mc:Fallback>
                <p:oleObj name="Equation" r:id="rId9" imgW="1562100" imgH="787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652963"/>
                        <a:ext cx="1562100" cy="787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A10210-C7E4-4D07-AC96-772C4B257896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600" smtClean="0"/>
          </a:p>
        </p:txBody>
      </p:sp>
      <p:sp>
        <p:nvSpPr>
          <p:cNvPr id="1843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smtClean="0"/>
              <a:t>Jiangyu Li, University of Washington</a:t>
            </a:r>
          </a:p>
        </p:txBody>
      </p:sp>
      <p:pic>
        <p:nvPicPr>
          <p:cNvPr id="18436" name="Picture 2" descr="fg12_05a-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1700213"/>
            <a:ext cx="7353300" cy="525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Power Hardening and Ramberg-Osgood Relation</a:t>
            </a:r>
          </a:p>
        </p:txBody>
      </p:sp>
      <p:graphicFrame>
        <p:nvGraphicFramePr>
          <p:cNvPr id="18438" name="Object 5"/>
          <p:cNvGraphicFramePr>
            <a:graphicFrameLocks noChangeAspect="1"/>
          </p:cNvGraphicFramePr>
          <p:nvPr/>
        </p:nvGraphicFramePr>
        <p:xfrm>
          <a:off x="603250" y="2997200"/>
          <a:ext cx="927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4" name="Equation" r:id="rId5" imgW="926698" imgH="266584" progId="Equation.3">
                  <p:embed/>
                </p:oleObj>
              </mc:Choice>
              <mc:Fallback>
                <p:oleObj name="Equation" r:id="rId5" imgW="926698" imgH="26658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2997200"/>
                        <a:ext cx="927100" cy="266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6"/>
          <p:cNvGraphicFramePr>
            <a:graphicFrameLocks noChangeAspect="1"/>
          </p:cNvGraphicFramePr>
          <p:nvPr/>
        </p:nvGraphicFramePr>
        <p:xfrm>
          <a:off x="2700338" y="2133600"/>
          <a:ext cx="125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5" name="Equation" r:id="rId7" imgW="1257300" imgH="419100" progId="Equation.3">
                  <p:embed/>
                </p:oleObj>
              </mc:Choice>
              <mc:Fallback>
                <p:oleObj name="Equation" r:id="rId7" imgW="12573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33600"/>
                        <a:ext cx="1257300" cy="4191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7"/>
          <p:cNvGraphicFramePr>
            <a:graphicFrameLocks noChangeAspect="1"/>
          </p:cNvGraphicFramePr>
          <p:nvPr/>
        </p:nvGraphicFramePr>
        <p:xfrm>
          <a:off x="2249488" y="5805488"/>
          <a:ext cx="107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6" name="Equation" r:id="rId9" imgW="1079500" imgH="469900" progId="Equation.3">
                  <p:embed/>
                </p:oleObj>
              </mc:Choice>
              <mc:Fallback>
                <p:oleObj name="Equation" r:id="rId9" imgW="10795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5805488"/>
                        <a:ext cx="1079500" cy="469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TextBox 1"/>
          <p:cNvSpPr txBox="1">
            <a:spLocks noChangeArrowheads="1"/>
          </p:cNvSpPr>
          <p:nvPr/>
        </p:nvSpPr>
        <p:spPr bwMode="auto">
          <a:xfrm>
            <a:off x="5364163" y="1838325"/>
            <a:ext cx="1125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Yielding?</a:t>
            </a:r>
          </a:p>
        </p:txBody>
      </p:sp>
      <p:sp>
        <p:nvSpPr>
          <p:cNvPr id="18442" name="TextBox 9"/>
          <p:cNvSpPr txBox="1">
            <a:spLocks noChangeArrowheads="1"/>
          </p:cNvSpPr>
          <p:nvPr/>
        </p:nvSpPr>
        <p:spPr bwMode="auto">
          <a:xfrm>
            <a:off x="5148263" y="4460875"/>
            <a:ext cx="1125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Yielding?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772816"/>
            <a:ext cx="3571614" cy="46700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3012"/>
          <a:stretch/>
        </p:blipFill>
        <p:spPr>
          <a:xfrm>
            <a:off x="3635896" y="2823418"/>
            <a:ext cx="5466470" cy="312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83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6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916832"/>
            <a:ext cx="6700723" cy="425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6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73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916832"/>
            <a:ext cx="7560840" cy="439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8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75" y="1700808"/>
            <a:ext cx="6552649" cy="36874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73" y="5388230"/>
            <a:ext cx="5471770" cy="14264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068" y="5388230"/>
            <a:ext cx="2867558" cy="122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8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57813"/>
          <a:stretch/>
        </p:blipFill>
        <p:spPr>
          <a:xfrm>
            <a:off x="755576" y="1628800"/>
            <a:ext cx="1944216" cy="47300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077" y="2564904"/>
            <a:ext cx="5563723" cy="341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5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57813"/>
          <a:stretch/>
        </p:blipFill>
        <p:spPr>
          <a:xfrm>
            <a:off x="755576" y="1628800"/>
            <a:ext cx="1944216" cy="47300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077" y="2564904"/>
            <a:ext cx="5563723" cy="341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36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060848"/>
            <a:ext cx="6700723" cy="42793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" r="1563"/>
          <a:stretch/>
        </p:blipFill>
        <p:spPr>
          <a:xfrm>
            <a:off x="179512" y="1772817"/>
            <a:ext cx="4032448" cy="420450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709" y="2852936"/>
            <a:ext cx="4860922" cy="265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5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chemeClr val="tx2"/>
                </a:solidFill>
                <a:ea typeface="SimSun" panose="02010600030101010101" pitchFamily="2" charset="-122"/>
              </a:rPr>
              <a:t>Example </a:t>
            </a:r>
            <a:endParaRPr lang="en-US" altLang="en-US" sz="400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1700808"/>
            <a:ext cx="5563723" cy="34151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5371795"/>
            <a:ext cx="4389120" cy="12362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0152" y="5805264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What is yielding?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01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5FE0F0-5A0B-46DF-9A64-9A591C8157A2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60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989138"/>
            <a:ext cx="8064500" cy="4679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Plasticity and Failure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solidFill>
                  <a:srgbClr val="FF0000"/>
                </a:solidFill>
              </a:rPr>
              <a:t>Mechanical Behavior of Materials 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solidFill>
                  <a:srgbClr val="FF0000"/>
                </a:solidFill>
              </a:rPr>
              <a:t>Chapter 12.1-12.3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en-US" altLang="en-US" sz="2200" smtClean="0">
                <a:solidFill>
                  <a:srgbClr val="FF0000"/>
                </a:solidFill>
              </a:rPr>
              <a:t>Chapter 7.1-7.6</a:t>
            </a: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endParaRPr lang="en-US" altLang="en-US" sz="3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3D Failure Criterion</a:t>
            </a:r>
            <a:endParaRPr lang="en-US" altLang="en-US" sz="3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3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Jiangyu Li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Mechanics of Materials 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141978-D5B0-4F01-9949-364945D02BAD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600" smtClean="0"/>
          </a:p>
        </p:txBody>
      </p:sp>
      <p:pic>
        <p:nvPicPr>
          <p:cNvPr id="26627" name="Picture 2" descr="fg04_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65288"/>
            <a:ext cx="6248400" cy="51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Failure Modes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A62DB1-AB43-455A-A96F-7446B2D7EC7B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60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Failure Mode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Ductile: Yielding</a:t>
            </a:r>
          </a:p>
          <a:p>
            <a:pPr eaLnBrk="1" hangingPunct="1"/>
            <a:r>
              <a:rPr lang="en-US" altLang="en-US" smtClean="0"/>
              <a:t>Brittle: Fracture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7B291D-BEED-46CC-AA72-6A7238DBF5E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600" smtClean="0"/>
          </a:p>
        </p:txBody>
      </p:sp>
      <p:pic>
        <p:nvPicPr>
          <p:cNvPr id="29699" name="Picture 2" descr="fg07_02a-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9800"/>
            <a:ext cx="8220075" cy="394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Maximum Normal Stress Fracture Criterion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7B291D-BEED-46CC-AA72-6A7238DBF5E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600" smtClean="0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 smtClean="0">
                <a:solidFill>
                  <a:schemeClr val="tx2"/>
                </a:solidFill>
              </a:rPr>
              <a:t>Example</a:t>
            </a:r>
            <a:endParaRPr lang="en-US" altLang="en-US" sz="4000" dirty="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32856"/>
            <a:ext cx="6612941" cy="15727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55500" y="5589240"/>
            <a:ext cx="4633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Safety factor against fracture?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4005064"/>
            <a:ext cx="978401" cy="104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465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7B291D-BEED-46CC-AA72-6A7238DBF5E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600" smtClean="0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 smtClean="0">
                <a:solidFill>
                  <a:schemeClr val="tx2"/>
                </a:solidFill>
              </a:rPr>
              <a:t>Example</a:t>
            </a:r>
            <a:endParaRPr lang="en-US" altLang="en-US" sz="4000" dirty="0">
              <a:solidFill>
                <a:schemeClr val="tx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2411127"/>
            <a:ext cx="8924544" cy="15361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24" y="4168539"/>
            <a:ext cx="7953476" cy="154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1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Multi-axial Load: Yielding</a:t>
            </a:r>
          </a:p>
        </p:txBody>
      </p:sp>
      <p:grpSp>
        <p:nvGrpSpPr>
          <p:cNvPr id="9219" name="Group 2"/>
          <p:cNvGrpSpPr>
            <a:grpSpLocks/>
          </p:cNvGrpSpPr>
          <p:nvPr/>
        </p:nvGrpSpPr>
        <p:grpSpPr bwMode="auto">
          <a:xfrm>
            <a:off x="274638" y="1752600"/>
            <a:ext cx="5943600" cy="5105400"/>
            <a:chOff x="274638" y="1752600"/>
            <a:chExt cx="5943600" cy="5105400"/>
          </a:xfrm>
        </p:grpSpPr>
        <p:pic>
          <p:nvPicPr>
            <p:cNvPr id="9221" name="Picture 2" descr="fg07_01a-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638" y="1752600"/>
              <a:ext cx="5943600" cy="5105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2" name="TextBox 1"/>
            <p:cNvSpPr txBox="1">
              <a:spLocks noChangeArrowheads="1"/>
            </p:cNvSpPr>
            <p:nvPr/>
          </p:nvSpPr>
          <p:spPr bwMode="auto">
            <a:xfrm>
              <a:off x="5030470" y="4005064"/>
              <a:ext cx="2616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-</a:t>
              </a:r>
            </a:p>
          </p:txBody>
        </p:sp>
        <p:sp>
          <p:nvSpPr>
            <p:cNvPr id="9223" name="TextBox 5"/>
            <p:cNvSpPr txBox="1">
              <a:spLocks noChangeArrowheads="1"/>
            </p:cNvSpPr>
            <p:nvPr/>
          </p:nvSpPr>
          <p:spPr bwMode="auto">
            <a:xfrm>
              <a:off x="4166374" y="6084004"/>
              <a:ext cx="2616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30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/>
                <a:t>-</a:t>
              </a:r>
            </a:p>
          </p:txBody>
        </p:sp>
      </p:grpSp>
      <p:sp>
        <p:nvSpPr>
          <p:cNvPr id="9220" name="TextBox 4"/>
          <p:cNvSpPr txBox="1">
            <a:spLocks noChangeArrowheads="1"/>
          </p:cNvSpPr>
          <p:nvPr/>
        </p:nvSpPr>
        <p:spPr bwMode="auto">
          <a:xfrm>
            <a:off x="5651500" y="5516563"/>
            <a:ext cx="33845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Why is there a difference, and what causes it?</a:t>
            </a:r>
          </a:p>
        </p:txBody>
      </p:sp>
    </p:spTree>
    <p:extLst>
      <p:ext uri="{BB962C8B-B14F-4D97-AF65-F5344CB8AC3E}">
        <p14:creationId xmlns:p14="http://schemas.microsoft.com/office/powerpoint/2010/main" val="405656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624E16-82DB-4EDC-816C-93E85EA7C0FE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600" smtClean="0"/>
          </a:p>
        </p:txBody>
      </p:sp>
      <p:pic>
        <p:nvPicPr>
          <p:cNvPr id="33795" name="Picture 2" descr="fg07_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0"/>
            <a:ext cx="8220075" cy="399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Maximum Shear Stress Yielding Criterion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624E16-82DB-4EDC-816C-93E85EA7C0FE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600" smtClean="0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 smtClean="0">
                <a:solidFill>
                  <a:schemeClr val="tx2"/>
                </a:solidFill>
              </a:rPr>
              <a:t>Example </a:t>
            </a:r>
            <a:endParaRPr lang="en-US" altLang="en-US" sz="4000" dirty="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84" y="1916832"/>
            <a:ext cx="8442216" cy="1277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35696" y="4869160"/>
            <a:ext cx="464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Safety factor against yielding?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58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624E16-82DB-4EDC-816C-93E85EA7C0FE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600" smtClean="0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 smtClean="0">
                <a:solidFill>
                  <a:schemeClr val="tx2"/>
                </a:solidFill>
              </a:rPr>
              <a:t>Example </a:t>
            </a:r>
            <a:endParaRPr lang="en-US" altLang="en-US" sz="4000" dirty="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35" y="4724364"/>
            <a:ext cx="8389720" cy="16561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t="3076"/>
          <a:stretch/>
        </p:blipFill>
        <p:spPr>
          <a:xfrm>
            <a:off x="358445" y="1936573"/>
            <a:ext cx="8427110" cy="226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8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4852B2-1D84-47DB-BF98-183BE954813F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600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Octahedral Shear Stress</a:t>
            </a:r>
          </a:p>
        </p:txBody>
      </p:sp>
      <p:pic>
        <p:nvPicPr>
          <p:cNvPr id="37892" name="Picture 4" descr="fg06_15a-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700213"/>
            <a:ext cx="9140825" cy="447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3203575" y="5970588"/>
          <a:ext cx="5372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9" name="Equation" r:id="rId5" imgW="5372100" imgH="711200" progId="Equation.3">
                  <p:embed/>
                </p:oleObj>
              </mc:Choice>
              <mc:Fallback>
                <p:oleObj name="Equation" r:id="rId5" imgW="53721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970588"/>
                        <a:ext cx="53721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1"/>
          <p:cNvGraphicFramePr>
            <a:graphicFrameLocks noChangeAspect="1"/>
          </p:cNvGraphicFramePr>
          <p:nvPr/>
        </p:nvGraphicFramePr>
        <p:xfrm>
          <a:off x="4419600" y="324485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0" name="Equation" r:id="rId7" imgW="304668" imgH="368140" progId="Equation.3">
                  <p:embed/>
                </p:oleObj>
              </mc:Choice>
              <mc:Fallback>
                <p:oleObj name="Equation" r:id="rId7" imgW="304668" imgH="3681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24485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F24F14-D230-44C8-BD5F-FB48DFB5C581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600" smtClean="0"/>
          </a:p>
        </p:txBody>
      </p:sp>
      <p:pic>
        <p:nvPicPr>
          <p:cNvPr id="39939" name="Picture 2" descr="fg07_0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38300"/>
            <a:ext cx="6019800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Octahedral Shear Stress Criterion</a:t>
            </a:r>
          </a:p>
        </p:txBody>
      </p:sp>
      <p:graphicFrame>
        <p:nvGraphicFramePr>
          <p:cNvPr id="39941" name="Object 5"/>
          <p:cNvGraphicFramePr>
            <a:graphicFrameLocks noChangeAspect="1"/>
          </p:cNvGraphicFramePr>
          <p:nvPr/>
        </p:nvGraphicFramePr>
        <p:xfrm>
          <a:off x="611188" y="2276475"/>
          <a:ext cx="1371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3" name="Equation" r:id="rId5" imgW="1371600" imgH="711200" progId="Equation.3">
                  <p:embed/>
                </p:oleObj>
              </mc:Choice>
              <mc:Fallback>
                <p:oleObj name="Equation" r:id="rId5" imgW="13716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76475"/>
                        <a:ext cx="13716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1"/>
          <p:cNvGraphicFramePr>
            <a:graphicFrameLocks noChangeAspect="1"/>
          </p:cNvGraphicFramePr>
          <p:nvPr/>
        </p:nvGraphicFramePr>
        <p:xfrm>
          <a:off x="4419600" y="324485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4" name="Equation" r:id="rId7" imgW="304668" imgH="368140" progId="Equation.3">
                  <p:embed/>
                </p:oleObj>
              </mc:Choice>
              <mc:Fallback>
                <p:oleObj name="Equation" r:id="rId7" imgW="304668" imgH="3681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24485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2"/>
          <p:cNvGraphicFramePr>
            <a:graphicFrameLocks noChangeAspect="1"/>
          </p:cNvGraphicFramePr>
          <p:nvPr/>
        </p:nvGraphicFramePr>
        <p:xfrm>
          <a:off x="4419600" y="324485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5" name="Equation" r:id="rId9" imgW="304668" imgH="368140" progId="Equation.3">
                  <p:embed/>
                </p:oleObj>
              </mc:Choice>
              <mc:Fallback>
                <p:oleObj name="Equation" r:id="rId9" imgW="304668" imgH="3681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244850"/>
                        <a:ext cx="304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5"/>
          <p:cNvGraphicFramePr>
            <a:graphicFrameLocks noChangeAspect="1"/>
          </p:cNvGraphicFramePr>
          <p:nvPr/>
        </p:nvGraphicFramePr>
        <p:xfrm>
          <a:off x="4978400" y="5516563"/>
          <a:ext cx="3987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6" name="Equation" r:id="rId10" imgW="3987800" imgH="723900" progId="Equation.3">
                  <p:embed/>
                </p:oleObj>
              </mc:Choice>
              <mc:Fallback>
                <p:oleObj name="Equation" r:id="rId10" imgW="3987800" imgH="723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5516563"/>
                        <a:ext cx="3987800" cy="723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624E16-82DB-4EDC-816C-93E85EA7C0FE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600" smtClean="0"/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 smtClean="0">
                <a:solidFill>
                  <a:schemeClr val="tx2"/>
                </a:solidFill>
              </a:rPr>
              <a:t>Example </a:t>
            </a:r>
            <a:endParaRPr lang="en-US" altLang="en-US" sz="4000" dirty="0">
              <a:solidFill>
                <a:schemeClr val="tx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84" y="1916832"/>
            <a:ext cx="8442216" cy="1277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35696" y="4869160"/>
            <a:ext cx="4645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Safety factor against yielding?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54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F24F14-D230-44C8-BD5F-FB48DFB5C581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600" smtClean="0"/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 smtClean="0">
                <a:solidFill>
                  <a:schemeClr val="tx2"/>
                </a:solidFill>
              </a:rPr>
              <a:t>Example </a:t>
            </a:r>
            <a:endParaRPr lang="en-US" altLang="en-US" sz="4000" dirty="0">
              <a:solidFill>
                <a:schemeClr val="tx2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3076"/>
          <a:stretch/>
        </p:blipFill>
        <p:spPr>
          <a:xfrm>
            <a:off x="359362" y="1716110"/>
            <a:ext cx="8427110" cy="226885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62" y="4317280"/>
            <a:ext cx="8544670" cy="231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9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5D06B7-217B-4010-9A54-DE0D8E1FC3CD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600" smtClean="0"/>
          </a:p>
        </p:txBody>
      </p:sp>
      <p:pic>
        <p:nvPicPr>
          <p:cNvPr id="41987" name="Picture 4" descr="fg07_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6781800" cy="468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Rectangle 5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Comparison</a:t>
            </a:r>
          </a:p>
        </p:txBody>
      </p:sp>
      <p:sp>
        <p:nvSpPr>
          <p:cNvPr id="41989" name="Text Box 6"/>
          <p:cNvSpPr txBox="1">
            <a:spLocks noChangeArrowheads="1"/>
          </p:cNvSpPr>
          <p:nvPr/>
        </p:nvSpPr>
        <p:spPr bwMode="auto">
          <a:xfrm>
            <a:off x="5699125" y="5791200"/>
            <a:ext cx="3444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Note the difference when stress have opposite sign</a:t>
            </a:r>
          </a:p>
        </p:txBody>
      </p:sp>
      <p:sp>
        <p:nvSpPr>
          <p:cNvPr id="41990" name="Line 7"/>
          <p:cNvSpPr>
            <a:spLocks noChangeShapeType="1"/>
          </p:cNvSpPr>
          <p:nvPr/>
        </p:nvSpPr>
        <p:spPr bwMode="auto">
          <a:xfrm>
            <a:off x="3200400" y="2362200"/>
            <a:ext cx="1676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1" name="Line 8"/>
          <p:cNvSpPr>
            <a:spLocks noChangeShapeType="1"/>
          </p:cNvSpPr>
          <p:nvPr/>
        </p:nvSpPr>
        <p:spPr bwMode="auto">
          <a:xfrm flipH="1">
            <a:off x="4953000" y="2362200"/>
            <a:ext cx="0" cy="3581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2" name="Line 9"/>
          <p:cNvSpPr>
            <a:spLocks noChangeShapeType="1"/>
          </p:cNvSpPr>
          <p:nvPr/>
        </p:nvSpPr>
        <p:spPr bwMode="auto">
          <a:xfrm>
            <a:off x="3276600" y="2209800"/>
            <a:ext cx="175260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3" name="Line 10"/>
          <p:cNvSpPr>
            <a:spLocks noChangeShapeType="1"/>
          </p:cNvSpPr>
          <p:nvPr/>
        </p:nvSpPr>
        <p:spPr bwMode="auto">
          <a:xfrm>
            <a:off x="5029200" y="2209800"/>
            <a:ext cx="0" cy="19812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994" name="Line 11"/>
          <p:cNvSpPr>
            <a:spLocks noChangeShapeType="1"/>
          </p:cNvSpPr>
          <p:nvPr/>
        </p:nvSpPr>
        <p:spPr bwMode="auto">
          <a:xfrm flipH="1">
            <a:off x="3200400" y="4114800"/>
            <a:ext cx="1828800" cy="182880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D59C26-8361-4D4F-897C-26E4442B5A0B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600" smtClean="0"/>
          </a:p>
        </p:txBody>
      </p:sp>
      <p:sp>
        <p:nvSpPr>
          <p:cNvPr id="4403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smtClean="0"/>
              <a:t>Jiangyu Li, University of Washington</a:t>
            </a:r>
          </a:p>
        </p:txBody>
      </p:sp>
      <p:pic>
        <p:nvPicPr>
          <p:cNvPr id="44036" name="Picture 2" descr="fg07_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93675"/>
            <a:ext cx="5861050" cy="547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Text Box 3"/>
          <p:cNvSpPr txBox="1">
            <a:spLocks noChangeArrowheads="1"/>
          </p:cNvSpPr>
          <p:nvPr/>
        </p:nvSpPr>
        <p:spPr bwMode="auto">
          <a:xfrm>
            <a:off x="615950" y="5848350"/>
            <a:ext cx="7881938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69" tIns="41134" rIns="82269" bIns="41134">
            <a:spAutoFit/>
          </a:bodyPr>
          <a:lstStyle>
            <a:lvl1pPr defTabSz="822325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2325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2325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2325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2325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232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b="0">
                <a:latin typeface="Times" panose="02020603050405020304" pitchFamily="18" charset="0"/>
              </a:rPr>
              <a:t>Mechanical Behavior of Materials: Engineering Methods for Deformation, Fracture, and Fatigue, Third Edition,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b="0">
                <a:latin typeface="Times" panose="02020603050405020304" pitchFamily="18" charset="0"/>
              </a:rPr>
              <a:t>by Norman E. Dowling. ISBN 0-13-186312-6.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b="0">
                <a:latin typeface="Times" panose="02020603050405020304" pitchFamily="18" charset="0"/>
              </a:rPr>
              <a:t>© 2007 Pearson Education, Inc., Upper Saddle River, NJ. All rights reserved.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b="0">
                <a:latin typeface="Times" panose="02020603050405020304" pitchFamily="18" charset="0"/>
              </a:rPr>
              <a:t>This material is protected by Copyright and written permission should be obtained from the publisher prior to any prohibited reproduction, storage in a retrieval system, or transmission in any form or by any means, electronic, mechanical, photocopying, recording, or likewise. For information regarding permission(s),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 b="0">
                <a:latin typeface="Times" panose="02020603050405020304" pitchFamily="18" charset="0"/>
              </a:rPr>
              <a:t>write to: Rights and Permissions Department, Pearson Education Inc., Upper Saddle river, NJ 07458.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E1965E-0172-45B9-86A3-3AEE272E381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600" smtClean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229600" cy="25908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For a stress state of </a:t>
            </a:r>
            <a:r>
              <a:rPr lang="en-US" altLang="en-US" sz="2400" smtClean="0">
                <a:latin typeface="Symbol" panose="05050102010706020507" pitchFamily="18" charset="2"/>
              </a:rPr>
              <a:t>s</a:t>
            </a:r>
            <a:r>
              <a:rPr lang="en-US" altLang="en-US" sz="2400" smtClean="0"/>
              <a:t>x=120, </a:t>
            </a:r>
            <a:r>
              <a:rPr lang="en-US" altLang="en-US" sz="2400" smtClean="0">
                <a:latin typeface="Symbol" panose="05050102010706020507" pitchFamily="18" charset="2"/>
              </a:rPr>
              <a:t>s</a:t>
            </a:r>
            <a:r>
              <a:rPr lang="en-US" altLang="en-US" sz="2400" smtClean="0"/>
              <a:t>y=-50, </a:t>
            </a:r>
            <a:r>
              <a:rPr lang="en-US" altLang="en-US" sz="2400" smtClean="0">
                <a:latin typeface="Symbol" panose="05050102010706020507" pitchFamily="18" charset="2"/>
              </a:rPr>
              <a:t>s</a:t>
            </a:r>
            <a:r>
              <a:rPr lang="en-US" altLang="en-US" sz="2400" smtClean="0"/>
              <a:t>z=200, </a:t>
            </a:r>
            <a:r>
              <a:rPr lang="en-US" altLang="en-US" sz="2400" smtClean="0">
                <a:latin typeface="Symbol" panose="05050102010706020507" pitchFamily="18" charset="2"/>
              </a:rPr>
              <a:t>t</a:t>
            </a:r>
            <a:r>
              <a:rPr lang="en-US" altLang="en-US" sz="2400" smtClean="0"/>
              <a:t>xy=60 Mpa, and a safety factor of 2.0 again yielding, what is the minimum yield strength by (1) maximum shear stress criterion and (2) octahedral shear stress criterion</a:t>
            </a:r>
          </a:p>
        </p:txBody>
      </p:sp>
      <p:pic>
        <p:nvPicPr>
          <p:cNvPr id="46085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78" b="50726"/>
          <a:stretch>
            <a:fillRect/>
          </a:stretch>
        </p:blipFill>
        <p:spPr bwMode="auto">
          <a:xfrm>
            <a:off x="612775" y="4292600"/>
            <a:ext cx="82296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211638" y="5740400"/>
            <a:ext cx="1031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139, -69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4D2F0A-D0CA-455C-B240-89D49B6739A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600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989138"/>
            <a:ext cx="8064500" cy="4679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Plasticity and Failure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solidFill>
                  <a:srgbClr val="FF0000"/>
                </a:solidFill>
              </a:rPr>
              <a:t>Mechanical Behavior of Materials 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 smtClean="0">
                <a:solidFill>
                  <a:srgbClr val="FF0000"/>
                </a:solidFill>
              </a:rPr>
              <a:t>Chapter 12.1-12.3</a:t>
            </a:r>
          </a:p>
          <a:p>
            <a:pPr eaLnBrk="1" hangingPunct="1">
              <a:lnSpc>
                <a:spcPct val="90000"/>
              </a:lnSpc>
            </a:pPr>
            <a:endParaRPr lang="en-US" altLang="en-US" sz="3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3D Constitutive Model</a:t>
            </a:r>
            <a:endParaRPr lang="en-US" altLang="en-US" sz="320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3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3200" smtClean="0"/>
              <a:t>Jiangyu Li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Mechanics of Materials 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EEB88D-E804-42D1-A460-CB9EFE17774F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600" smtClean="0"/>
          </a:p>
        </p:txBody>
      </p:sp>
      <p:sp>
        <p:nvSpPr>
          <p:cNvPr id="5017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80063" y="6597650"/>
            <a:ext cx="3328987" cy="2873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 smtClean="0"/>
              <a:t>Jiangyu Li, University of Washington</a:t>
            </a:r>
          </a:p>
        </p:txBody>
      </p:sp>
      <p:pic>
        <p:nvPicPr>
          <p:cNvPr id="50180" name="Picture 2" descr="fg12_05a-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1700213"/>
            <a:ext cx="7353300" cy="525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Power Hardening and Ramberg-Osgood Relation</a:t>
            </a:r>
          </a:p>
        </p:txBody>
      </p:sp>
      <p:graphicFrame>
        <p:nvGraphicFramePr>
          <p:cNvPr id="50182" name="Object 5"/>
          <p:cNvGraphicFramePr>
            <a:graphicFrameLocks noChangeAspect="1"/>
          </p:cNvGraphicFramePr>
          <p:nvPr/>
        </p:nvGraphicFramePr>
        <p:xfrm>
          <a:off x="603250" y="2997200"/>
          <a:ext cx="927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8" name="Equation" r:id="rId5" imgW="926698" imgH="266584" progId="Equation.3">
                  <p:embed/>
                </p:oleObj>
              </mc:Choice>
              <mc:Fallback>
                <p:oleObj name="Equation" r:id="rId5" imgW="926698" imgH="26658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2997200"/>
                        <a:ext cx="927100" cy="266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Object 6"/>
          <p:cNvGraphicFramePr>
            <a:graphicFrameLocks noChangeAspect="1"/>
          </p:cNvGraphicFramePr>
          <p:nvPr/>
        </p:nvGraphicFramePr>
        <p:xfrm>
          <a:off x="2700338" y="2133600"/>
          <a:ext cx="125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9" name="Equation" r:id="rId7" imgW="1257300" imgH="419100" progId="Equation.3">
                  <p:embed/>
                </p:oleObj>
              </mc:Choice>
              <mc:Fallback>
                <p:oleObj name="Equation" r:id="rId7" imgW="12573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133600"/>
                        <a:ext cx="1257300" cy="4191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4" name="Object 7"/>
          <p:cNvGraphicFramePr>
            <a:graphicFrameLocks noChangeAspect="1"/>
          </p:cNvGraphicFramePr>
          <p:nvPr/>
        </p:nvGraphicFramePr>
        <p:xfrm>
          <a:off x="2249488" y="5805488"/>
          <a:ext cx="107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0" name="Equation" r:id="rId9" imgW="1079500" imgH="469900" progId="Equation.3">
                  <p:embed/>
                </p:oleObj>
              </mc:Choice>
              <mc:Fallback>
                <p:oleObj name="Equation" r:id="rId9" imgW="10795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9488" y="5805488"/>
                        <a:ext cx="1079500" cy="469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TextBox 1"/>
          <p:cNvSpPr txBox="1">
            <a:spLocks noChangeArrowheads="1"/>
          </p:cNvSpPr>
          <p:nvPr/>
        </p:nvSpPr>
        <p:spPr bwMode="auto">
          <a:xfrm>
            <a:off x="5364163" y="1838325"/>
            <a:ext cx="1125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Yielding?</a:t>
            </a:r>
          </a:p>
        </p:txBody>
      </p:sp>
      <p:sp>
        <p:nvSpPr>
          <p:cNvPr id="50186" name="TextBox 9"/>
          <p:cNvSpPr txBox="1">
            <a:spLocks noChangeArrowheads="1"/>
          </p:cNvSpPr>
          <p:nvPr/>
        </p:nvSpPr>
        <p:spPr bwMode="auto">
          <a:xfrm>
            <a:off x="5148263" y="4460875"/>
            <a:ext cx="1125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</a:rPr>
              <a:t>Yielding?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3D Constitutive Equation</a:t>
            </a:r>
          </a:p>
        </p:txBody>
      </p:sp>
      <p:graphicFrame>
        <p:nvGraphicFramePr>
          <p:cNvPr id="52227" name="Object 5"/>
          <p:cNvGraphicFramePr>
            <a:graphicFrameLocks noChangeAspect="1"/>
          </p:cNvGraphicFramePr>
          <p:nvPr/>
        </p:nvGraphicFramePr>
        <p:xfrm>
          <a:off x="2700338" y="1916113"/>
          <a:ext cx="3048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3" name="Equation" r:id="rId4" imgW="3048000" imgH="711200" progId="Equation.3">
                  <p:embed/>
                </p:oleObj>
              </mc:Choice>
              <mc:Fallback>
                <p:oleObj name="Equation" r:id="rId4" imgW="30480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916113"/>
                        <a:ext cx="30480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5"/>
          <p:cNvGraphicFramePr>
            <a:graphicFrameLocks noChangeAspect="1"/>
          </p:cNvGraphicFramePr>
          <p:nvPr/>
        </p:nvGraphicFramePr>
        <p:xfrm>
          <a:off x="2452688" y="3146425"/>
          <a:ext cx="3543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4" name="Equation" r:id="rId6" imgW="3543300" imgH="825500" progId="Equation.3">
                  <p:embed/>
                </p:oleObj>
              </mc:Choice>
              <mc:Fallback>
                <p:oleObj name="Equation" r:id="rId6" imgW="3543300" imgH="825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3146425"/>
                        <a:ext cx="3543300" cy="8255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3556000" y="5935663"/>
          <a:ext cx="165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5" name="Equation" r:id="rId8" imgW="1651000" imgH="419100" progId="Equation.3">
                  <p:embed/>
                </p:oleObj>
              </mc:Choice>
              <mc:Fallback>
                <p:oleObj name="Equation" r:id="rId8" imgW="16510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0" y="5935663"/>
                        <a:ext cx="1651000" cy="4191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5"/>
          <p:cNvGraphicFramePr>
            <a:graphicFrameLocks noChangeAspect="1"/>
          </p:cNvGraphicFramePr>
          <p:nvPr/>
        </p:nvGraphicFramePr>
        <p:xfrm>
          <a:off x="2484438" y="4529138"/>
          <a:ext cx="3683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6" name="Equation" r:id="rId10" imgW="3683000" imgH="825500" progId="Equation.3">
                  <p:embed/>
                </p:oleObj>
              </mc:Choice>
              <mc:Fallback>
                <p:oleObj name="Equation" r:id="rId10" imgW="3683000" imgH="825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529138"/>
                        <a:ext cx="3683000" cy="8255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1" name="TextBox 1"/>
          <p:cNvSpPr txBox="1">
            <a:spLocks noChangeArrowheads="1"/>
          </p:cNvSpPr>
          <p:nvPr/>
        </p:nvSpPr>
        <p:spPr bwMode="auto">
          <a:xfrm>
            <a:off x="971550" y="2060575"/>
            <a:ext cx="86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Elastic</a:t>
            </a:r>
          </a:p>
        </p:txBody>
      </p:sp>
      <p:sp>
        <p:nvSpPr>
          <p:cNvPr id="52232" name="TextBox 2"/>
          <p:cNvSpPr txBox="1">
            <a:spLocks noChangeArrowheads="1"/>
          </p:cNvSpPr>
          <p:nvPr/>
        </p:nvSpPr>
        <p:spPr bwMode="auto">
          <a:xfrm>
            <a:off x="979488" y="3284538"/>
            <a:ext cx="865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Plastic</a:t>
            </a:r>
          </a:p>
        </p:txBody>
      </p:sp>
      <p:sp>
        <p:nvSpPr>
          <p:cNvPr id="52233" name="TextBox 20"/>
          <p:cNvSpPr txBox="1">
            <a:spLocks noChangeArrowheads="1"/>
          </p:cNvSpPr>
          <p:nvPr/>
        </p:nvSpPr>
        <p:spPr bwMode="auto">
          <a:xfrm>
            <a:off x="979488" y="5521325"/>
            <a:ext cx="673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Total</a:t>
            </a:r>
          </a:p>
        </p:txBody>
      </p:sp>
      <p:sp>
        <p:nvSpPr>
          <p:cNvPr id="52234" name="TextBox 4"/>
          <p:cNvSpPr txBox="1">
            <a:spLocks noChangeArrowheads="1"/>
          </p:cNvSpPr>
          <p:nvPr/>
        </p:nvSpPr>
        <p:spPr bwMode="auto">
          <a:xfrm>
            <a:off x="6804025" y="6354763"/>
            <a:ext cx="2203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Only unknow is E</a:t>
            </a:r>
            <a:r>
              <a:rPr lang="en-US" altLang="en-US" sz="1800" baseline="-25000">
                <a:solidFill>
                  <a:srgbClr val="FF0000"/>
                </a:solidFill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22CA8A-5214-4830-ADEE-4B19B28060F8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600" smtClean="0"/>
          </a:p>
        </p:txBody>
      </p:sp>
      <p:pic>
        <p:nvPicPr>
          <p:cNvPr id="54275" name="Picture 2" descr="fg12_0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79575"/>
            <a:ext cx="5257800" cy="517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Secant Modulus</a:t>
            </a:r>
          </a:p>
        </p:txBody>
      </p:sp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6659563" y="3789363"/>
          <a:ext cx="1358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5" name="Equation" r:id="rId5" imgW="1358310" imgH="710891" progId="Equation.3">
                  <p:embed/>
                </p:oleObj>
              </mc:Choice>
              <mc:Fallback>
                <p:oleObj name="Equation" r:id="rId5" imgW="1358310" imgH="71089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789363"/>
                        <a:ext cx="13589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fg12_05a-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97" b="2744"/>
          <a:stretch>
            <a:fillRect/>
          </a:stretch>
        </p:blipFill>
        <p:spPr bwMode="auto">
          <a:xfrm>
            <a:off x="239713" y="1647825"/>
            <a:ext cx="3316287" cy="510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3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Effective Stress-Strain Curve</a:t>
            </a:r>
          </a:p>
        </p:txBody>
      </p:sp>
      <p:graphicFrame>
        <p:nvGraphicFramePr>
          <p:cNvPr id="56324" name="Object 5"/>
          <p:cNvGraphicFramePr>
            <a:graphicFrameLocks noChangeAspect="1"/>
          </p:cNvGraphicFramePr>
          <p:nvPr/>
        </p:nvGraphicFramePr>
        <p:xfrm>
          <a:off x="1258888" y="3190875"/>
          <a:ext cx="927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4" name="Equation" r:id="rId5" imgW="926698" imgH="266584" progId="Equation.3">
                  <p:embed/>
                </p:oleObj>
              </mc:Choice>
              <mc:Fallback>
                <p:oleObj name="Equation" r:id="rId5" imgW="926698" imgH="26658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190875"/>
                        <a:ext cx="927100" cy="2667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5" name="Object 6"/>
          <p:cNvGraphicFramePr>
            <a:graphicFrameLocks noChangeAspect="1"/>
          </p:cNvGraphicFramePr>
          <p:nvPr/>
        </p:nvGraphicFramePr>
        <p:xfrm>
          <a:off x="2262188" y="1989138"/>
          <a:ext cx="125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5" name="Equation" r:id="rId7" imgW="1257300" imgH="419100" progId="Equation.3">
                  <p:embed/>
                </p:oleObj>
              </mc:Choice>
              <mc:Fallback>
                <p:oleObj name="Equation" r:id="rId7" imgW="12573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2188" y="1989138"/>
                        <a:ext cx="1257300" cy="4191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7"/>
          <p:cNvGraphicFramePr>
            <a:graphicFrameLocks noChangeAspect="1"/>
          </p:cNvGraphicFramePr>
          <p:nvPr/>
        </p:nvGraphicFramePr>
        <p:xfrm>
          <a:off x="1811338" y="5661025"/>
          <a:ext cx="1079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6" name="Equation" r:id="rId9" imgW="1079500" imgH="469900" progId="Equation.3">
                  <p:embed/>
                </p:oleObj>
              </mc:Choice>
              <mc:Fallback>
                <p:oleObj name="Equation" r:id="rId9" imgW="1079500" imgH="469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5661025"/>
                        <a:ext cx="1079500" cy="469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5"/>
          <p:cNvGraphicFramePr>
            <a:graphicFrameLocks noChangeAspect="1"/>
          </p:cNvGraphicFramePr>
          <p:nvPr/>
        </p:nvGraphicFramePr>
        <p:xfrm>
          <a:off x="7756525" y="2678113"/>
          <a:ext cx="1155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7" name="Equation" r:id="rId11" imgW="1155700" imgH="342900" progId="Equation.3">
                  <p:embed/>
                </p:oleObj>
              </mc:Choice>
              <mc:Fallback>
                <p:oleObj name="Equation" r:id="rId11" imgW="1155700" imgH="342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6525" y="2678113"/>
                        <a:ext cx="1155700" cy="342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8" name="Object 5"/>
          <p:cNvGraphicFramePr>
            <a:graphicFrameLocks noChangeAspect="1"/>
          </p:cNvGraphicFramePr>
          <p:nvPr/>
        </p:nvGraphicFramePr>
        <p:xfrm>
          <a:off x="7704138" y="4202113"/>
          <a:ext cx="119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38" name="Equation" r:id="rId13" imgW="1193800" imgH="342900" progId="Equation.3">
                  <p:embed/>
                </p:oleObj>
              </mc:Choice>
              <mc:Fallback>
                <p:oleObj name="Equation" r:id="rId13" imgW="1193800" imgH="342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4138" y="4202113"/>
                        <a:ext cx="1193800" cy="342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9" name="TextBox 2"/>
          <p:cNvSpPr txBox="1">
            <a:spLocks noChangeArrowheads="1"/>
          </p:cNvSpPr>
          <p:nvPr/>
        </p:nvSpPr>
        <p:spPr bwMode="auto">
          <a:xfrm>
            <a:off x="7019925" y="2132013"/>
            <a:ext cx="966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uniaxial</a:t>
            </a:r>
          </a:p>
        </p:txBody>
      </p:sp>
      <p:sp>
        <p:nvSpPr>
          <p:cNvPr id="56330" name="TextBox 14"/>
          <p:cNvSpPr txBox="1">
            <a:spLocks noChangeArrowheads="1"/>
          </p:cNvSpPr>
          <p:nvPr/>
        </p:nvSpPr>
        <p:spPr bwMode="auto">
          <a:xfrm>
            <a:off x="7019925" y="3673475"/>
            <a:ext cx="1039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effective</a:t>
            </a:r>
          </a:p>
        </p:txBody>
      </p:sp>
      <p:sp>
        <p:nvSpPr>
          <p:cNvPr id="56331" name="TextBox 15"/>
          <p:cNvSpPr txBox="1">
            <a:spLocks noChangeArrowheads="1"/>
          </p:cNvSpPr>
          <p:nvPr/>
        </p:nvSpPr>
        <p:spPr bwMode="auto">
          <a:xfrm>
            <a:off x="7019925" y="5030788"/>
            <a:ext cx="12239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/>
              <a:t>Multi-axial</a:t>
            </a:r>
          </a:p>
        </p:txBody>
      </p:sp>
      <p:pic>
        <p:nvPicPr>
          <p:cNvPr id="56333" name="Picture 2" descr="fg12_08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2570163"/>
            <a:ext cx="2889250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DBFABE-C567-47E3-A797-7C07809050E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600" smtClean="0"/>
          </a:p>
        </p:txBody>
      </p:sp>
      <p:sp>
        <p:nvSpPr>
          <p:cNvPr id="58371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Effective Stress</a:t>
            </a:r>
          </a:p>
        </p:txBody>
      </p:sp>
      <p:sp>
        <p:nvSpPr>
          <p:cNvPr id="58372" name="Date Placeholder 3"/>
          <p:cNvSpPr txBox="1">
            <a:spLocks/>
          </p:cNvSpPr>
          <p:nvPr/>
        </p:nvSpPr>
        <p:spPr bwMode="auto">
          <a:xfrm>
            <a:off x="0" y="6477000"/>
            <a:ext cx="2133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78DA8D0-B7D5-43B6-B9E8-F4360749191C}" type="slidenum">
              <a:rPr lang="en-US" altLang="en-US" sz="1600"/>
              <a:pPr eaLnBrk="1" hangingPunct="1"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600"/>
          </a:p>
        </p:txBody>
      </p:sp>
      <p:pic>
        <p:nvPicPr>
          <p:cNvPr id="58373" name="Picture 4" descr="fg06_15a-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06"/>
          <a:stretch>
            <a:fillRect/>
          </a:stretch>
        </p:blipFill>
        <p:spPr bwMode="auto">
          <a:xfrm>
            <a:off x="153988" y="1654175"/>
            <a:ext cx="4057650" cy="447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8374" name="Object 5"/>
          <p:cNvGraphicFramePr>
            <a:graphicFrameLocks noChangeAspect="1"/>
          </p:cNvGraphicFramePr>
          <p:nvPr/>
        </p:nvGraphicFramePr>
        <p:xfrm>
          <a:off x="3492500" y="2846388"/>
          <a:ext cx="5372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0" name="Equation" r:id="rId5" imgW="5372100" imgH="711200" progId="Equation.3">
                  <p:embed/>
                </p:oleObj>
              </mc:Choice>
              <mc:Fallback>
                <p:oleObj name="Equation" r:id="rId5" imgW="5372100" imgH="71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846388"/>
                        <a:ext cx="5372100" cy="7112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Object 5"/>
          <p:cNvGraphicFramePr>
            <a:graphicFrameLocks noChangeAspect="1"/>
          </p:cNvGraphicFramePr>
          <p:nvPr/>
        </p:nvGraphicFramePr>
        <p:xfrm>
          <a:off x="3143250" y="5716588"/>
          <a:ext cx="5562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1" name="Equation" r:id="rId7" imgW="5562600" imgH="723900" progId="Equation.3">
                  <p:embed/>
                </p:oleObj>
              </mc:Choice>
              <mc:Fallback>
                <p:oleObj name="Equation" r:id="rId7" imgW="5562600" imgH="723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5716588"/>
                        <a:ext cx="5562600" cy="7239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2F8E395-123C-4AAE-A59F-7C195E3832C1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600" smtClean="0"/>
          </a:p>
        </p:txBody>
      </p:sp>
      <p:sp>
        <p:nvSpPr>
          <p:cNvPr id="60419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Procedure</a:t>
            </a:r>
          </a:p>
        </p:txBody>
      </p:sp>
      <p:sp>
        <p:nvSpPr>
          <p:cNvPr id="60420" name="Date Placeholder 3"/>
          <p:cNvSpPr txBox="1">
            <a:spLocks/>
          </p:cNvSpPr>
          <p:nvPr/>
        </p:nvSpPr>
        <p:spPr bwMode="auto">
          <a:xfrm>
            <a:off x="0" y="6477000"/>
            <a:ext cx="2133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09471B4-9D01-454A-B5DF-822257E29E59}" type="slidenum">
              <a:rPr lang="en-US" altLang="en-US" sz="1600"/>
              <a:pPr eaLnBrk="1" hangingPunct="1"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600"/>
          </a:p>
        </p:txBody>
      </p:sp>
      <p:sp>
        <p:nvSpPr>
          <p:cNvPr id="60421" name="TextBox 1"/>
          <p:cNvSpPr txBox="1">
            <a:spLocks noChangeArrowheads="1"/>
          </p:cNvSpPr>
          <p:nvPr/>
        </p:nvSpPr>
        <p:spPr bwMode="auto">
          <a:xfrm>
            <a:off x="1187450" y="2420938"/>
            <a:ext cx="6989763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effective stress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effective strain using appropriate constitutive equation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effective plastic strain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Ep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plastic strain component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total strain component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sp>
        <p:nvSpPr>
          <p:cNvPr id="62467" name="TextBox 1"/>
          <p:cNvSpPr txBox="1">
            <a:spLocks noChangeArrowheads="1"/>
          </p:cNvSpPr>
          <p:nvPr/>
        </p:nvSpPr>
        <p:spPr bwMode="auto">
          <a:xfrm>
            <a:off x="107950" y="2852738"/>
            <a:ext cx="6989763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effective stress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effective strain using appropriate constitutive equation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effective plastic strain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Ep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plastic strain component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  <a:p>
            <a:pPr>
              <a:spcBef>
                <a:spcPct val="0"/>
              </a:spcBef>
              <a:buFontTx/>
              <a:buAutoNum type="arabicPeriod"/>
            </a:pPr>
            <a:r>
              <a:rPr lang="en-US" altLang="en-US" sz="1800" b="0"/>
              <a:t>Evaluate total strain component</a:t>
            </a:r>
          </a:p>
          <a:p>
            <a:pPr>
              <a:spcBef>
                <a:spcPct val="0"/>
              </a:spcBef>
              <a:buFontTx/>
              <a:buAutoNum type="arabicPeriod"/>
            </a:pPr>
            <a:endParaRPr lang="en-US" altLang="en-US" sz="1800" b="0"/>
          </a:p>
        </p:txBody>
      </p:sp>
      <p:graphicFrame>
        <p:nvGraphicFramePr>
          <p:cNvPr id="62468" name="Object 5"/>
          <p:cNvGraphicFramePr>
            <a:graphicFrameLocks noChangeAspect="1"/>
          </p:cNvGraphicFramePr>
          <p:nvPr/>
        </p:nvGraphicFramePr>
        <p:xfrm>
          <a:off x="611188" y="1951038"/>
          <a:ext cx="1524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0" name="Equation" r:id="rId4" imgW="1524000" imgH="368300" progId="Equation.3">
                  <p:embed/>
                </p:oleObj>
              </mc:Choice>
              <mc:Fallback>
                <p:oleObj name="Equation" r:id="rId4" imgW="1524000" imgH="368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951038"/>
                        <a:ext cx="1524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5"/>
          <p:cNvGraphicFramePr>
            <a:graphicFrameLocks noChangeAspect="1"/>
          </p:cNvGraphicFramePr>
          <p:nvPr/>
        </p:nvGraphicFramePr>
        <p:xfrm>
          <a:off x="3276600" y="1941513"/>
          <a:ext cx="55626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1" name="Equation" r:id="rId6" imgW="5562600" imgH="1270000" progId="Equation.3">
                  <p:embed/>
                </p:oleObj>
              </mc:Choice>
              <mc:Fallback>
                <p:oleObj name="Equation" r:id="rId6" imgW="5562600" imgH="1270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41513"/>
                        <a:ext cx="5562600" cy="12700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7"/>
          <p:cNvGraphicFramePr>
            <a:graphicFrameLocks noChangeAspect="1"/>
          </p:cNvGraphicFramePr>
          <p:nvPr/>
        </p:nvGraphicFramePr>
        <p:xfrm>
          <a:off x="7164388" y="3379788"/>
          <a:ext cx="1866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2" name="Equation" r:id="rId8" imgW="1866900" imgH="711200" progId="Equation.3">
                  <p:embed/>
                </p:oleObj>
              </mc:Choice>
              <mc:Fallback>
                <p:oleObj name="Equation" r:id="rId8" imgW="18669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3379788"/>
                        <a:ext cx="1866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8"/>
          <p:cNvGraphicFramePr>
            <a:graphicFrameLocks noChangeAspect="1"/>
          </p:cNvGraphicFramePr>
          <p:nvPr/>
        </p:nvGraphicFramePr>
        <p:xfrm>
          <a:off x="7213600" y="4327525"/>
          <a:ext cx="1498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43" name="Equation" r:id="rId10" imgW="1498600" imgH="787400" progId="Equation.3">
                  <p:embed/>
                </p:oleObj>
              </mc:Choice>
              <mc:Fallback>
                <p:oleObj name="Equation" r:id="rId10" imgW="1498600" imgH="787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3600" y="4327525"/>
                        <a:ext cx="1498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74" y="2276872"/>
            <a:ext cx="8550051" cy="118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31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00" y="1772816"/>
            <a:ext cx="7391600" cy="493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5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3E7BCF-03EF-4FF0-ACD6-A79374827B87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600" smtClean="0"/>
          </a:p>
        </p:txBody>
      </p:sp>
      <p:pic>
        <p:nvPicPr>
          <p:cNvPr id="64515" name="Picture 2" descr="fg12_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676400"/>
            <a:ext cx="3644900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Stress-Strain Curve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16832"/>
            <a:ext cx="8299249" cy="467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1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Date Placeholder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2353E1-D931-4CDF-91FE-ED6A9BA4D59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600" smtClean="0"/>
          </a:p>
        </p:txBody>
      </p:sp>
      <p:pic>
        <p:nvPicPr>
          <p:cNvPr id="66563" name="Picture 2" descr="fg12_07a-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8220075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tx2"/>
                </a:solidFill>
              </a:rPr>
              <a:t>Deformation Plasticity Theory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1050925" y="6056313"/>
            <a:ext cx="187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0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/>
              <a:t>Axial and torsion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6657</TotalTime>
  <Words>686</Words>
  <Application>Microsoft Office PowerPoint</Application>
  <PresentationFormat>On-screen Show (4:3)</PresentationFormat>
  <Paragraphs>271</Paragraphs>
  <Slides>53</Slides>
  <Notes>47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SimSun</vt:lpstr>
      <vt:lpstr>Arial</vt:lpstr>
      <vt:lpstr>Symbol</vt:lpstr>
      <vt:lpstr>Times</vt:lpstr>
      <vt:lpstr>Default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Failure Mode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Octahedral Shear Stress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Nebraska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Design Analyis</dc:title>
  <dc:creator>jiangyu</dc:creator>
  <cp:lastModifiedBy>Jiangyu Li</cp:lastModifiedBy>
  <cp:revision>311</cp:revision>
  <cp:lastPrinted>2006-01-24T01:45:54Z</cp:lastPrinted>
  <dcterms:created xsi:type="dcterms:W3CDTF">2005-12-02T20:26:58Z</dcterms:created>
  <dcterms:modified xsi:type="dcterms:W3CDTF">2021-05-10T05:54:57Z</dcterms:modified>
</cp:coreProperties>
</file>