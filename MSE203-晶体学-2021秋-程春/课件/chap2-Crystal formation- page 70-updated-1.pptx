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handoutMasterIdLst>
    <p:handoutMasterId r:id="rId78"/>
  </p:handoutMasterIdLst>
  <p:sldIdLst>
    <p:sldId id="416" r:id="rId2"/>
    <p:sldId id="311" r:id="rId3"/>
    <p:sldId id="315" r:id="rId4"/>
    <p:sldId id="313" r:id="rId5"/>
    <p:sldId id="293" r:id="rId6"/>
    <p:sldId id="312" r:id="rId7"/>
    <p:sldId id="294" r:id="rId8"/>
    <p:sldId id="314" r:id="rId9"/>
    <p:sldId id="390" r:id="rId10"/>
    <p:sldId id="395" r:id="rId11"/>
    <p:sldId id="396" r:id="rId12"/>
    <p:sldId id="320" r:id="rId13"/>
    <p:sldId id="397" r:id="rId14"/>
    <p:sldId id="322" r:id="rId15"/>
    <p:sldId id="419" r:id="rId16"/>
    <p:sldId id="399" r:id="rId17"/>
    <p:sldId id="421" r:id="rId18"/>
    <p:sldId id="398" r:id="rId19"/>
    <p:sldId id="326" r:id="rId20"/>
    <p:sldId id="341" r:id="rId21"/>
    <p:sldId id="400" r:id="rId22"/>
    <p:sldId id="417" r:id="rId23"/>
    <p:sldId id="401" r:id="rId24"/>
    <p:sldId id="338" r:id="rId25"/>
    <p:sldId id="403" r:id="rId26"/>
    <p:sldId id="391" r:id="rId27"/>
    <p:sldId id="389" r:id="rId28"/>
    <p:sldId id="332" r:id="rId29"/>
    <p:sldId id="342" r:id="rId30"/>
    <p:sldId id="404" r:id="rId31"/>
    <p:sldId id="343" r:id="rId32"/>
    <p:sldId id="344" r:id="rId33"/>
    <p:sldId id="418" r:id="rId34"/>
    <p:sldId id="422" r:id="rId35"/>
    <p:sldId id="298" r:id="rId36"/>
    <p:sldId id="345" r:id="rId37"/>
    <p:sldId id="346" r:id="rId38"/>
    <p:sldId id="300" r:id="rId39"/>
    <p:sldId id="301" r:id="rId40"/>
    <p:sldId id="348" r:id="rId41"/>
    <p:sldId id="349" r:id="rId42"/>
    <p:sldId id="347" r:id="rId43"/>
    <p:sldId id="414" r:id="rId44"/>
    <p:sldId id="413" r:id="rId45"/>
    <p:sldId id="415" r:id="rId46"/>
    <p:sldId id="405" r:id="rId47"/>
    <p:sldId id="305" r:id="rId48"/>
    <p:sldId id="412" r:id="rId49"/>
    <p:sldId id="306" r:id="rId50"/>
    <p:sldId id="352" r:id="rId51"/>
    <p:sldId id="406" r:id="rId52"/>
    <p:sldId id="407" r:id="rId53"/>
    <p:sldId id="408" r:id="rId54"/>
    <p:sldId id="355" r:id="rId55"/>
    <p:sldId id="356" r:id="rId56"/>
    <p:sldId id="357" r:id="rId57"/>
    <p:sldId id="409" r:id="rId58"/>
    <p:sldId id="410" r:id="rId59"/>
    <p:sldId id="360" r:id="rId60"/>
    <p:sldId id="361" r:id="rId61"/>
    <p:sldId id="381" r:id="rId62"/>
    <p:sldId id="362" r:id="rId63"/>
    <p:sldId id="382" r:id="rId64"/>
    <p:sldId id="411" r:id="rId65"/>
    <p:sldId id="384" r:id="rId66"/>
    <p:sldId id="385" r:id="rId67"/>
    <p:sldId id="363" r:id="rId68"/>
    <p:sldId id="364" r:id="rId69"/>
    <p:sldId id="365" r:id="rId70"/>
    <p:sldId id="377" r:id="rId71"/>
    <p:sldId id="378" r:id="rId72"/>
    <p:sldId id="309" r:id="rId73"/>
    <p:sldId id="420" r:id="rId74"/>
    <p:sldId id="393" r:id="rId75"/>
    <p:sldId id="394" r:id="rId76"/>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505F2C04-C923-438B-8C0F-E0CD2BADF298}">
      <wppc:fontMiss xmln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7A7A7A"/>
    <a:srgbClr val="66FFFF"/>
    <a:srgbClr val="FF3300"/>
    <a:srgbClr val="FF0066"/>
    <a:srgbClr val="0000CC"/>
    <a:srgbClr val="D60093"/>
    <a:srgbClr val="0000FF"/>
    <a:srgbClr val="585858"/>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5492" autoAdjust="0"/>
  </p:normalViewPr>
  <p:slideViewPr>
    <p:cSldViewPr>
      <p:cViewPr varScale="1">
        <p:scale>
          <a:sx n="66" d="100"/>
          <a:sy n="66" d="100"/>
        </p:scale>
        <p:origin x="110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2636DA7-2701-4239-8AC0-CFF3C72A6BDE}" type="doc">
      <dgm:prSet loTypeId="urn:microsoft.com/office/officeart/2005/8/layout/chevron2" loCatId="list" qsTypeId="urn:microsoft.com/office/officeart/2005/8/quickstyle/simple1#1" qsCatId="simple" csTypeId="urn:microsoft.com/office/officeart/2005/8/colors/accent1_2#1" csCatId="accent1" phldr="1"/>
      <dgm:spPr/>
      <dgm:t>
        <a:bodyPr/>
        <a:lstStyle/>
        <a:p>
          <a:endParaRPr lang="en-US"/>
        </a:p>
      </dgm:t>
    </dgm:pt>
    <dgm:pt modelId="{7A230C28-1BF5-40B9-8C91-A4EE092504CC}">
      <dgm:prSet phldrT="[Text]"/>
      <dgm:spPr/>
      <dgm:t>
        <a:bodyPr/>
        <a:lstStyle/>
        <a:p>
          <a:r>
            <a:rPr lang="en-US" altLang="zh-CN" dirty="0"/>
            <a:t>Stage I</a:t>
          </a:r>
          <a:endParaRPr lang="en-US" dirty="0"/>
        </a:p>
      </dgm:t>
    </dgm:pt>
    <dgm:pt modelId="{EF8369B2-98FD-4A92-9D29-E2D1CE9D7E85}" type="parTrans" cxnId="{EC928796-A13B-46F9-AF29-90FFC060E774}">
      <dgm:prSet/>
      <dgm:spPr/>
      <dgm:t>
        <a:bodyPr/>
        <a:lstStyle/>
        <a:p>
          <a:endParaRPr lang="en-US"/>
        </a:p>
      </dgm:t>
    </dgm:pt>
    <dgm:pt modelId="{E8C95206-05A6-41E7-B182-FCB8B3DBA2FE}" type="sibTrans" cxnId="{EC928796-A13B-46F9-AF29-90FFC060E774}">
      <dgm:prSet/>
      <dgm:spPr/>
      <dgm:t>
        <a:bodyPr/>
        <a:lstStyle/>
        <a:p>
          <a:endParaRPr lang="en-US"/>
        </a:p>
      </dgm:t>
    </dgm:pt>
    <dgm:pt modelId="{C52EFF0E-85D0-4DF4-BF9C-9EF982D4E968}">
      <dgm:prSet phldrT="[Text]"/>
      <dgm:spPr>
        <a:solidFill>
          <a:srgbClr val="00B050">
            <a:alpha val="90000"/>
          </a:srgbClr>
        </a:solidFill>
      </dgm:spPr>
      <dgm:t>
        <a:bodyPr/>
        <a:lstStyle/>
        <a:p>
          <a:r>
            <a:rPr lang="en-US" altLang="en-US" dirty="0"/>
            <a:t>System is in a supercooled state</a:t>
          </a:r>
          <a:endParaRPr lang="en-US" dirty="0"/>
        </a:p>
      </dgm:t>
    </dgm:pt>
    <dgm:pt modelId="{A8461B6B-3810-442B-8A06-E71B41A72FF0}" type="parTrans" cxnId="{1F457AF4-57C5-495C-9FAE-928C406CF2AF}">
      <dgm:prSet/>
      <dgm:spPr/>
      <dgm:t>
        <a:bodyPr/>
        <a:lstStyle/>
        <a:p>
          <a:endParaRPr lang="en-US"/>
        </a:p>
      </dgm:t>
    </dgm:pt>
    <dgm:pt modelId="{9BFA2FEB-2E22-49FD-8310-2BA74755C3E2}" type="sibTrans" cxnId="{1F457AF4-57C5-495C-9FAE-928C406CF2AF}">
      <dgm:prSet/>
      <dgm:spPr/>
      <dgm:t>
        <a:bodyPr/>
        <a:lstStyle/>
        <a:p>
          <a:endParaRPr lang="en-US"/>
        </a:p>
      </dgm:t>
    </dgm:pt>
    <dgm:pt modelId="{2C4A9FF0-74C6-4571-9FFA-D1639518AB3A}">
      <dgm:prSet phldrT="[Text]"/>
      <dgm:spPr/>
      <dgm:t>
        <a:bodyPr/>
        <a:lstStyle/>
        <a:p>
          <a:r>
            <a:rPr lang="en-US" altLang="zh-CN" dirty="0"/>
            <a:t>Stage II</a:t>
          </a:r>
          <a:endParaRPr lang="en-US" dirty="0"/>
        </a:p>
      </dgm:t>
    </dgm:pt>
    <dgm:pt modelId="{386066E3-4BE5-4B08-BB25-523C0646DE02}" type="parTrans" cxnId="{D9061401-D458-4EEE-A37C-EB8C6F5A470A}">
      <dgm:prSet/>
      <dgm:spPr/>
      <dgm:t>
        <a:bodyPr/>
        <a:lstStyle/>
        <a:p>
          <a:endParaRPr lang="en-US"/>
        </a:p>
      </dgm:t>
    </dgm:pt>
    <dgm:pt modelId="{9943259A-C4BB-4C2C-B645-92BE7C7B0041}" type="sibTrans" cxnId="{D9061401-D458-4EEE-A37C-EB8C6F5A470A}">
      <dgm:prSet/>
      <dgm:spPr/>
      <dgm:t>
        <a:bodyPr/>
        <a:lstStyle/>
        <a:p>
          <a:endParaRPr lang="en-US"/>
        </a:p>
      </dgm:t>
    </dgm:pt>
    <dgm:pt modelId="{32327AA5-ADA4-4972-B179-2D1A82F730BC}">
      <dgm:prSet phldrT="[Text]" custT="1"/>
      <dgm:spPr>
        <a:solidFill>
          <a:srgbClr val="00B050">
            <a:alpha val="90000"/>
          </a:srgbClr>
        </a:solidFill>
      </dgm:spPr>
      <dgm:t>
        <a:bodyPr/>
        <a:lstStyle/>
        <a:p>
          <a:r>
            <a:rPr lang="en-US" altLang="en-US" sz="2800" dirty="0"/>
            <a:t>Energy fluctuations cause embryos</a:t>
          </a:r>
          <a:endParaRPr lang="en-US" sz="2800" dirty="0"/>
        </a:p>
      </dgm:t>
    </dgm:pt>
    <dgm:pt modelId="{9EE8050E-1505-4EC2-9E30-634BCB98FCC7}" type="parTrans" cxnId="{B79911B0-77F0-441B-81D5-C5AE0D31FA29}">
      <dgm:prSet/>
      <dgm:spPr/>
      <dgm:t>
        <a:bodyPr/>
        <a:lstStyle/>
        <a:p>
          <a:endParaRPr lang="en-US"/>
        </a:p>
      </dgm:t>
    </dgm:pt>
    <dgm:pt modelId="{597A90C9-0973-4646-842B-ABE23C694DFD}" type="sibTrans" cxnId="{B79911B0-77F0-441B-81D5-C5AE0D31FA29}">
      <dgm:prSet/>
      <dgm:spPr/>
      <dgm:t>
        <a:bodyPr/>
        <a:lstStyle/>
        <a:p>
          <a:endParaRPr lang="en-US"/>
        </a:p>
      </dgm:t>
    </dgm:pt>
    <dgm:pt modelId="{A9B861F1-6A38-4E29-B5EC-3DDB64E8B5CA}">
      <dgm:prSet phldrT="[Text]"/>
      <dgm:spPr/>
      <dgm:t>
        <a:bodyPr/>
        <a:lstStyle/>
        <a:p>
          <a:r>
            <a:rPr lang="en-US" altLang="zh-CN" dirty="0"/>
            <a:t>Stage III</a:t>
          </a:r>
          <a:endParaRPr lang="en-US" dirty="0"/>
        </a:p>
      </dgm:t>
    </dgm:pt>
    <dgm:pt modelId="{D7B1EBFD-6AE2-4733-9B14-5DBC0498E737}" type="parTrans" cxnId="{DF8667C5-B024-46A9-B962-A57595FB7654}">
      <dgm:prSet/>
      <dgm:spPr/>
      <dgm:t>
        <a:bodyPr/>
        <a:lstStyle/>
        <a:p>
          <a:endParaRPr lang="en-US"/>
        </a:p>
      </dgm:t>
    </dgm:pt>
    <dgm:pt modelId="{2009666C-1B92-4F5B-82F7-19A431C6FBF0}" type="sibTrans" cxnId="{DF8667C5-B024-46A9-B962-A57595FB7654}">
      <dgm:prSet/>
      <dgm:spPr/>
      <dgm:t>
        <a:bodyPr/>
        <a:lstStyle/>
        <a:p>
          <a:endParaRPr lang="en-US"/>
        </a:p>
      </dgm:t>
    </dgm:pt>
    <dgm:pt modelId="{3E37CD45-FC3E-4B7C-88CA-F5FC16307CD3}">
      <dgm:prSet phldrT="[Text]"/>
      <dgm:spPr/>
      <dgm:t>
        <a:bodyPr/>
        <a:lstStyle/>
        <a:p>
          <a:r>
            <a:rPr lang="en-US" altLang="en-US" dirty="0"/>
            <a:t>Embryos larger than the critical size grow into crystals</a:t>
          </a:r>
          <a:endParaRPr lang="en-US" dirty="0"/>
        </a:p>
      </dgm:t>
    </dgm:pt>
    <dgm:pt modelId="{7DE978CC-E9E0-40AB-9BA7-7736242B6D9A}" type="parTrans" cxnId="{5CB73046-8398-4847-AA7D-00B080A070B8}">
      <dgm:prSet/>
      <dgm:spPr/>
      <dgm:t>
        <a:bodyPr/>
        <a:lstStyle/>
        <a:p>
          <a:endParaRPr lang="en-US"/>
        </a:p>
      </dgm:t>
    </dgm:pt>
    <dgm:pt modelId="{AB2B7961-8971-448E-B6BB-E632313108CD}" type="sibTrans" cxnId="{5CB73046-8398-4847-AA7D-00B080A070B8}">
      <dgm:prSet/>
      <dgm:spPr/>
      <dgm:t>
        <a:bodyPr/>
        <a:lstStyle/>
        <a:p>
          <a:endParaRPr lang="en-US"/>
        </a:p>
      </dgm:t>
    </dgm:pt>
    <dgm:pt modelId="{C4817261-7209-4302-BBAD-64CBA8B9BBC4}" type="pres">
      <dgm:prSet presAssocID="{22636DA7-2701-4239-8AC0-CFF3C72A6BDE}" presName="linearFlow" presStyleCnt="0">
        <dgm:presLayoutVars>
          <dgm:dir/>
          <dgm:animLvl val="lvl"/>
          <dgm:resizeHandles val="exact"/>
        </dgm:presLayoutVars>
      </dgm:prSet>
      <dgm:spPr/>
      <dgm:t>
        <a:bodyPr/>
        <a:lstStyle/>
        <a:p>
          <a:endParaRPr lang="zh-CN" altLang="en-US"/>
        </a:p>
      </dgm:t>
    </dgm:pt>
    <dgm:pt modelId="{A1AB1CD0-82AE-492C-9D6C-5974E52CB755}" type="pres">
      <dgm:prSet presAssocID="{7A230C28-1BF5-40B9-8C91-A4EE092504CC}" presName="composite" presStyleCnt="0"/>
      <dgm:spPr/>
    </dgm:pt>
    <dgm:pt modelId="{0E436506-D4F9-4144-9D86-4BE44B9DC7C7}" type="pres">
      <dgm:prSet presAssocID="{7A230C28-1BF5-40B9-8C91-A4EE092504CC}" presName="parentText" presStyleLbl="alignNode1" presStyleIdx="0" presStyleCnt="3">
        <dgm:presLayoutVars>
          <dgm:chMax val="1"/>
          <dgm:bulletEnabled val="1"/>
        </dgm:presLayoutVars>
      </dgm:prSet>
      <dgm:spPr/>
      <dgm:t>
        <a:bodyPr/>
        <a:lstStyle/>
        <a:p>
          <a:endParaRPr lang="zh-CN" altLang="en-US"/>
        </a:p>
      </dgm:t>
    </dgm:pt>
    <dgm:pt modelId="{19F39695-187D-4E46-9802-634AFC5EF4CB}" type="pres">
      <dgm:prSet presAssocID="{7A230C28-1BF5-40B9-8C91-A4EE092504CC}" presName="descendantText" presStyleLbl="alignAcc1" presStyleIdx="0" presStyleCnt="3">
        <dgm:presLayoutVars>
          <dgm:bulletEnabled val="1"/>
        </dgm:presLayoutVars>
      </dgm:prSet>
      <dgm:spPr/>
      <dgm:t>
        <a:bodyPr/>
        <a:lstStyle/>
        <a:p>
          <a:endParaRPr lang="zh-CN" altLang="en-US"/>
        </a:p>
      </dgm:t>
    </dgm:pt>
    <dgm:pt modelId="{0FDB167D-48BA-4479-A173-FAABD7A2B148}" type="pres">
      <dgm:prSet presAssocID="{E8C95206-05A6-41E7-B182-FCB8B3DBA2FE}" presName="sp" presStyleCnt="0"/>
      <dgm:spPr/>
    </dgm:pt>
    <dgm:pt modelId="{38230773-1CBF-4C88-BE4D-F9095FCAF87B}" type="pres">
      <dgm:prSet presAssocID="{2C4A9FF0-74C6-4571-9FFA-D1639518AB3A}" presName="composite" presStyleCnt="0"/>
      <dgm:spPr/>
    </dgm:pt>
    <dgm:pt modelId="{493BFDCD-C7C7-43BB-973C-E6F66BA148E4}" type="pres">
      <dgm:prSet presAssocID="{2C4A9FF0-74C6-4571-9FFA-D1639518AB3A}" presName="parentText" presStyleLbl="alignNode1" presStyleIdx="1" presStyleCnt="3">
        <dgm:presLayoutVars>
          <dgm:chMax val="1"/>
          <dgm:bulletEnabled val="1"/>
        </dgm:presLayoutVars>
      </dgm:prSet>
      <dgm:spPr/>
      <dgm:t>
        <a:bodyPr/>
        <a:lstStyle/>
        <a:p>
          <a:endParaRPr lang="zh-CN" altLang="en-US"/>
        </a:p>
      </dgm:t>
    </dgm:pt>
    <dgm:pt modelId="{CCD8978B-83FE-4103-8B19-669DAE89D510}" type="pres">
      <dgm:prSet presAssocID="{2C4A9FF0-74C6-4571-9FFA-D1639518AB3A}" presName="descendantText" presStyleLbl="alignAcc1" presStyleIdx="1" presStyleCnt="3">
        <dgm:presLayoutVars>
          <dgm:bulletEnabled val="1"/>
        </dgm:presLayoutVars>
      </dgm:prSet>
      <dgm:spPr/>
      <dgm:t>
        <a:bodyPr/>
        <a:lstStyle/>
        <a:p>
          <a:endParaRPr lang="zh-CN" altLang="en-US"/>
        </a:p>
      </dgm:t>
    </dgm:pt>
    <dgm:pt modelId="{F2F0936F-E6F9-4912-93BD-3A59B7DF5DB1}" type="pres">
      <dgm:prSet presAssocID="{9943259A-C4BB-4C2C-B645-92BE7C7B0041}" presName="sp" presStyleCnt="0"/>
      <dgm:spPr/>
    </dgm:pt>
    <dgm:pt modelId="{3B84E095-6D0A-4416-B6ED-EAC1AC68C797}" type="pres">
      <dgm:prSet presAssocID="{A9B861F1-6A38-4E29-B5EC-3DDB64E8B5CA}" presName="composite" presStyleCnt="0"/>
      <dgm:spPr/>
    </dgm:pt>
    <dgm:pt modelId="{E808A93C-5925-4DB0-8D8C-DD3313C26284}" type="pres">
      <dgm:prSet presAssocID="{A9B861F1-6A38-4E29-B5EC-3DDB64E8B5CA}" presName="parentText" presStyleLbl="alignNode1" presStyleIdx="2" presStyleCnt="3">
        <dgm:presLayoutVars>
          <dgm:chMax val="1"/>
          <dgm:bulletEnabled val="1"/>
        </dgm:presLayoutVars>
      </dgm:prSet>
      <dgm:spPr/>
      <dgm:t>
        <a:bodyPr/>
        <a:lstStyle/>
        <a:p>
          <a:endParaRPr lang="zh-CN" altLang="en-US"/>
        </a:p>
      </dgm:t>
    </dgm:pt>
    <dgm:pt modelId="{A7BF3E73-B0B1-425D-AAF9-5257872F9C06}" type="pres">
      <dgm:prSet presAssocID="{A9B861F1-6A38-4E29-B5EC-3DDB64E8B5CA}" presName="descendantText" presStyleLbl="alignAcc1" presStyleIdx="2" presStyleCnt="3">
        <dgm:presLayoutVars>
          <dgm:bulletEnabled val="1"/>
        </dgm:presLayoutVars>
      </dgm:prSet>
      <dgm:spPr/>
      <dgm:t>
        <a:bodyPr/>
        <a:lstStyle/>
        <a:p>
          <a:endParaRPr lang="zh-CN" altLang="en-US"/>
        </a:p>
      </dgm:t>
    </dgm:pt>
  </dgm:ptLst>
  <dgm:cxnLst>
    <dgm:cxn modelId="{D9FC5FBC-DB52-4660-AB37-250B25ACF5C0}" type="presOf" srcId="{2C4A9FF0-74C6-4571-9FFA-D1639518AB3A}" destId="{493BFDCD-C7C7-43BB-973C-E6F66BA148E4}" srcOrd="0" destOrd="0" presId="urn:microsoft.com/office/officeart/2005/8/layout/chevron2"/>
    <dgm:cxn modelId="{1167BA14-94D6-4641-9DBC-0E7A730FB34A}" type="presOf" srcId="{22636DA7-2701-4239-8AC0-CFF3C72A6BDE}" destId="{C4817261-7209-4302-BBAD-64CBA8B9BBC4}" srcOrd="0" destOrd="0" presId="urn:microsoft.com/office/officeart/2005/8/layout/chevron2"/>
    <dgm:cxn modelId="{D9061401-D458-4EEE-A37C-EB8C6F5A470A}" srcId="{22636DA7-2701-4239-8AC0-CFF3C72A6BDE}" destId="{2C4A9FF0-74C6-4571-9FFA-D1639518AB3A}" srcOrd="1" destOrd="0" parTransId="{386066E3-4BE5-4B08-BB25-523C0646DE02}" sibTransId="{9943259A-C4BB-4C2C-B645-92BE7C7B0041}"/>
    <dgm:cxn modelId="{5CB73046-8398-4847-AA7D-00B080A070B8}" srcId="{A9B861F1-6A38-4E29-B5EC-3DDB64E8B5CA}" destId="{3E37CD45-FC3E-4B7C-88CA-F5FC16307CD3}" srcOrd="0" destOrd="0" parTransId="{7DE978CC-E9E0-40AB-9BA7-7736242B6D9A}" sibTransId="{AB2B7961-8971-448E-B6BB-E632313108CD}"/>
    <dgm:cxn modelId="{49B34596-0067-4779-AACB-1FEF0691FDF2}" type="presOf" srcId="{C52EFF0E-85D0-4DF4-BF9C-9EF982D4E968}" destId="{19F39695-187D-4E46-9802-634AFC5EF4CB}" srcOrd="0" destOrd="0" presId="urn:microsoft.com/office/officeart/2005/8/layout/chevron2"/>
    <dgm:cxn modelId="{B79911B0-77F0-441B-81D5-C5AE0D31FA29}" srcId="{2C4A9FF0-74C6-4571-9FFA-D1639518AB3A}" destId="{32327AA5-ADA4-4972-B179-2D1A82F730BC}" srcOrd="0" destOrd="0" parTransId="{9EE8050E-1505-4EC2-9E30-634BCB98FCC7}" sibTransId="{597A90C9-0973-4646-842B-ABE23C694DFD}"/>
    <dgm:cxn modelId="{1F457AF4-57C5-495C-9FAE-928C406CF2AF}" srcId="{7A230C28-1BF5-40B9-8C91-A4EE092504CC}" destId="{C52EFF0E-85D0-4DF4-BF9C-9EF982D4E968}" srcOrd="0" destOrd="0" parTransId="{A8461B6B-3810-442B-8A06-E71B41A72FF0}" sibTransId="{9BFA2FEB-2E22-49FD-8310-2BA74755C3E2}"/>
    <dgm:cxn modelId="{D6A8F48D-3A70-4532-8812-F9F0A08B7FEF}" type="presOf" srcId="{7A230C28-1BF5-40B9-8C91-A4EE092504CC}" destId="{0E436506-D4F9-4144-9D86-4BE44B9DC7C7}" srcOrd="0" destOrd="0" presId="urn:microsoft.com/office/officeart/2005/8/layout/chevron2"/>
    <dgm:cxn modelId="{DF8667C5-B024-46A9-B962-A57595FB7654}" srcId="{22636DA7-2701-4239-8AC0-CFF3C72A6BDE}" destId="{A9B861F1-6A38-4E29-B5EC-3DDB64E8B5CA}" srcOrd="2" destOrd="0" parTransId="{D7B1EBFD-6AE2-4733-9B14-5DBC0498E737}" sibTransId="{2009666C-1B92-4F5B-82F7-19A431C6FBF0}"/>
    <dgm:cxn modelId="{5BA5A5DA-3FA1-48A8-9D1D-56DF19A529E6}" type="presOf" srcId="{3E37CD45-FC3E-4B7C-88CA-F5FC16307CD3}" destId="{A7BF3E73-B0B1-425D-AAF9-5257872F9C06}" srcOrd="0" destOrd="0" presId="urn:microsoft.com/office/officeart/2005/8/layout/chevron2"/>
    <dgm:cxn modelId="{EC928796-A13B-46F9-AF29-90FFC060E774}" srcId="{22636DA7-2701-4239-8AC0-CFF3C72A6BDE}" destId="{7A230C28-1BF5-40B9-8C91-A4EE092504CC}" srcOrd="0" destOrd="0" parTransId="{EF8369B2-98FD-4A92-9D29-E2D1CE9D7E85}" sibTransId="{E8C95206-05A6-41E7-B182-FCB8B3DBA2FE}"/>
    <dgm:cxn modelId="{B2577C74-89DF-4B8F-AD61-23FCB84CC939}" type="presOf" srcId="{A9B861F1-6A38-4E29-B5EC-3DDB64E8B5CA}" destId="{E808A93C-5925-4DB0-8D8C-DD3313C26284}" srcOrd="0" destOrd="0" presId="urn:microsoft.com/office/officeart/2005/8/layout/chevron2"/>
    <dgm:cxn modelId="{53C7B058-9B55-4F61-8C43-CBE2BBB08336}" type="presOf" srcId="{32327AA5-ADA4-4972-B179-2D1A82F730BC}" destId="{CCD8978B-83FE-4103-8B19-669DAE89D510}" srcOrd="0" destOrd="0" presId="urn:microsoft.com/office/officeart/2005/8/layout/chevron2"/>
    <dgm:cxn modelId="{939C7797-3A5B-4BF8-ABAE-735D12C2271B}" type="presParOf" srcId="{C4817261-7209-4302-BBAD-64CBA8B9BBC4}" destId="{A1AB1CD0-82AE-492C-9D6C-5974E52CB755}" srcOrd="0" destOrd="0" presId="urn:microsoft.com/office/officeart/2005/8/layout/chevron2"/>
    <dgm:cxn modelId="{E2DB9E65-F249-4E5D-8B4F-4D101E6CA416}" type="presParOf" srcId="{A1AB1CD0-82AE-492C-9D6C-5974E52CB755}" destId="{0E436506-D4F9-4144-9D86-4BE44B9DC7C7}" srcOrd="0" destOrd="0" presId="urn:microsoft.com/office/officeart/2005/8/layout/chevron2"/>
    <dgm:cxn modelId="{E58A075F-A6D8-4065-B2BC-401ABEFEEE76}" type="presParOf" srcId="{A1AB1CD0-82AE-492C-9D6C-5974E52CB755}" destId="{19F39695-187D-4E46-9802-634AFC5EF4CB}" srcOrd="1" destOrd="0" presId="urn:microsoft.com/office/officeart/2005/8/layout/chevron2"/>
    <dgm:cxn modelId="{B2CFB633-30E9-49E1-9514-5755E7344C38}" type="presParOf" srcId="{C4817261-7209-4302-BBAD-64CBA8B9BBC4}" destId="{0FDB167D-48BA-4479-A173-FAABD7A2B148}" srcOrd="1" destOrd="0" presId="urn:microsoft.com/office/officeart/2005/8/layout/chevron2"/>
    <dgm:cxn modelId="{918526FA-312E-43D0-B407-CAE745739D28}" type="presParOf" srcId="{C4817261-7209-4302-BBAD-64CBA8B9BBC4}" destId="{38230773-1CBF-4C88-BE4D-F9095FCAF87B}" srcOrd="2" destOrd="0" presId="urn:microsoft.com/office/officeart/2005/8/layout/chevron2"/>
    <dgm:cxn modelId="{E54F221A-6EB2-4440-8C47-C3030C2D1E16}" type="presParOf" srcId="{38230773-1CBF-4C88-BE4D-F9095FCAF87B}" destId="{493BFDCD-C7C7-43BB-973C-E6F66BA148E4}" srcOrd="0" destOrd="0" presId="urn:microsoft.com/office/officeart/2005/8/layout/chevron2"/>
    <dgm:cxn modelId="{92B7BBDB-41EF-42CD-8BE3-275E82C405C4}" type="presParOf" srcId="{38230773-1CBF-4C88-BE4D-F9095FCAF87B}" destId="{CCD8978B-83FE-4103-8B19-669DAE89D510}" srcOrd="1" destOrd="0" presId="urn:microsoft.com/office/officeart/2005/8/layout/chevron2"/>
    <dgm:cxn modelId="{48D1790E-D953-42EF-A954-2DF181B257BF}" type="presParOf" srcId="{C4817261-7209-4302-BBAD-64CBA8B9BBC4}" destId="{F2F0936F-E6F9-4912-93BD-3A59B7DF5DB1}" srcOrd="3" destOrd="0" presId="urn:microsoft.com/office/officeart/2005/8/layout/chevron2"/>
    <dgm:cxn modelId="{0B6BDAB2-420D-4269-A995-F704AB83154E}" type="presParOf" srcId="{C4817261-7209-4302-BBAD-64CBA8B9BBC4}" destId="{3B84E095-6D0A-4416-B6ED-EAC1AC68C797}" srcOrd="4" destOrd="0" presId="urn:microsoft.com/office/officeart/2005/8/layout/chevron2"/>
    <dgm:cxn modelId="{7541CDDA-47CF-48C8-9955-9416E9BE9811}" type="presParOf" srcId="{3B84E095-6D0A-4416-B6ED-EAC1AC68C797}" destId="{E808A93C-5925-4DB0-8D8C-DD3313C26284}" srcOrd="0" destOrd="0" presId="urn:microsoft.com/office/officeart/2005/8/layout/chevron2"/>
    <dgm:cxn modelId="{276B81D6-7E1D-415E-83AB-F2CCE77EADDD}" type="presParOf" srcId="{3B84E095-6D0A-4416-B6ED-EAC1AC68C797}" destId="{A7BF3E73-B0B1-425D-AAF9-5257872F9C0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436506-D4F9-4144-9D86-4BE44B9DC7C7}">
      <dsp:nvSpPr>
        <dsp:cNvPr id="0" name=""/>
        <dsp:cNvSpPr/>
      </dsp:nvSpPr>
      <dsp:spPr>
        <a:xfrm rot="5400000">
          <a:off x="-222646" y="223826"/>
          <a:ext cx="1484312" cy="1039018"/>
        </a:xfrm>
        <a:prstGeom prst="chevron">
          <a:avLst/>
        </a:prstGeom>
        <a:solidFill>
          <a:schemeClr val="accent1">
            <a:hueOff val="0"/>
            <a:satOff val="0"/>
            <a:lumOff val="0"/>
            <a:alphaOff val="0"/>
          </a:schemeClr>
        </a:solidFill>
        <a:ln w="285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altLang="zh-CN" sz="2100" kern="1200" dirty="0"/>
            <a:t>Stage I</a:t>
          </a:r>
          <a:endParaRPr lang="en-US" sz="2100" kern="1200" dirty="0"/>
        </a:p>
      </dsp:txBody>
      <dsp:txXfrm rot="-5400000">
        <a:off x="1" y="520688"/>
        <a:ext cx="1039018" cy="445294"/>
      </dsp:txXfrm>
    </dsp:sp>
    <dsp:sp modelId="{19F39695-187D-4E46-9802-634AFC5EF4CB}">
      <dsp:nvSpPr>
        <dsp:cNvPr id="0" name=""/>
        <dsp:cNvSpPr/>
      </dsp:nvSpPr>
      <dsp:spPr>
        <a:xfrm rot="5400000">
          <a:off x="3637507" y="-2597309"/>
          <a:ext cx="964803" cy="6161781"/>
        </a:xfrm>
        <a:prstGeom prst="round2SameRect">
          <a:avLst/>
        </a:prstGeom>
        <a:solidFill>
          <a:srgbClr val="00B050">
            <a:alpha val="90000"/>
          </a:srgbClr>
        </a:solidFill>
        <a:ln w="285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altLang="en-US" sz="3100" kern="1200" dirty="0"/>
            <a:t>System is in a supercooled state</a:t>
          </a:r>
          <a:endParaRPr lang="en-US" sz="3100" kern="1200" dirty="0"/>
        </a:p>
      </dsp:txBody>
      <dsp:txXfrm rot="-5400000">
        <a:off x="1039018" y="48278"/>
        <a:ext cx="6114683" cy="870607"/>
      </dsp:txXfrm>
    </dsp:sp>
    <dsp:sp modelId="{493BFDCD-C7C7-43BB-973C-E6F66BA148E4}">
      <dsp:nvSpPr>
        <dsp:cNvPr id="0" name=""/>
        <dsp:cNvSpPr/>
      </dsp:nvSpPr>
      <dsp:spPr>
        <a:xfrm rot="5400000">
          <a:off x="-222646" y="1512490"/>
          <a:ext cx="1484312" cy="1039018"/>
        </a:xfrm>
        <a:prstGeom prst="chevron">
          <a:avLst/>
        </a:prstGeom>
        <a:solidFill>
          <a:schemeClr val="accent1">
            <a:hueOff val="0"/>
            <a:satOff val="0"/>
            <a:lumOff val="0"/>
            <a:alphaOff val="0"/>
          </a:schemeClr>
        </a:solidFill>
        <a:ln w="285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altLang="zh-CN" sz="2100" kern="1200" dirty="0"/>
            <a:t>Stage II</a:t>
          </a:r>
          <a:endParaRPr lang="en-US" sz="2100" kern="1200" dirty="0"/>
        </a:p>
      </dsp:txBody>
      <dsp:txXfrm rot="-5400000">
        <a:off x="1" y="1809352"/>
        <a:ext cx="1039018" cy="445294"/>
      </dsp:txXfrm>
    </dsp:sp>
    <dsp:sp modelId="{CCD8978B-83FE-4103-8B19-669DAE89D510}">
      <dsp:nvSpPr>
        <dsp:cNvPr id="0" name=""/>
        <dsp:cNvSpPr/>
      </dsp:nvSpPr>
      <dsp:spPr>
        <a:xfrm rot="5400000">
          <a:off x="3637507" y="-1308645"/>
          <a:ext cx="964803" cy="6161781"/>
        </a:xfrm>
        <a:prstGeom prst="round2SameRect">
          <a:avLst/>
        </a:prstGeom>
        <a:solidFill>
          <a:srgbClr val="00B050">
            <a:alpha val="90000"/>
          </a:srgbClr>
        </a:solidFill>
        <a:ln w="285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Char char="••"/>
          </a:pPr>
          <a:r>
            <a:rPr lang="en-US" altLang="en-US" sz="2800" kern="1200" dirty="0"/>
            <a:t>Energy fluctuations cause embryos</a:t>
          </a:r>
          <a:endParaRPr lang="en-US" sz="2800" kern="1200" dirty="0"/>
        </a:p>
      </dsp:txBody>
      <dsp:txXfrm rot="-5400000">
        <a:off x="1039018" y="1336942"/>
        <a:ext cx="6114683" cy="870607"/>
      </dsp:txXfrm>
    </dsp:sp>
    <dsp:sp modelId="{E808A93C-5925-4DB0-8D8C-DD3313C26284}">
      <dsp:nvSpPr>
        <dsp:cNvPr id="0" name=""/>
        <dsp:cNvSpPr/>
      </dsp:nvSpPr>
      <dsp:spPr>
        <a:xfrm rot="5400000">
          <a:off x="-222646" y="2801154"/>
          <a:ext cx="1484312" cy="1039018"/>
        </a:xfrm>
        <a:prstGeom prst="chevron">
          <a:avLst/>
        </a:prstGeom>
        <a:solidFill>
          <a:schemeClr val="accent1">
            <a:hueOff val="0"/>
            <a:satOff val="0"/>
            <a:lumOff val="0"/>
            <a:alphaOff val="0"/>
          </a:schemeClr>
        </a:solidFill>
        <a:ln w="285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US" altLang="zh-CN" sz="2100" kern="1200" dirty="0"/>
            <a:t>Stage III</a:t>
          </a:r>
          <a:endParaRPr lang="en-US" sz="2100" kern="1200" dirty="0"/>
        </a:p>
      </dsp:txBody>
      <dsp:txXfrm rot="-5400000">
        <a:off x="1" y="3098016"/>
        <a:ext cx="1039018" cy="445294"/>
      </dsp:txXfrm>
    </dsp:sp>
    <dsp:sp modelId="{A7BF3E73-B0B1-425D-AAF9-5257872F9C06}">
      <dsp:nvSpPr>
        <dsp:cNvPr id="0" name=""/>
        <dsp:cNvSpPr/>
      </dsp:nvSpPr>
      <dsp:spPr>
        <a:xfrm rot="5400000">
          <a:off x="3637507" y="-19981"/>
          <a:ext cx="964803" cy="6161781"/>
        </a:xfrm>
        <a:prstGeom prst="round2SameRect">
          <a:avLst/>
        </a:prstGeom>
        <a:solidFill>
          <a:schemeClr val="lt1">
            <a:alpha val="90000"/>
            <a:hueOff val="0"/>
            <a:satOff val="0"/>
            <a:lumOff val="0"/>
            <a:alphaOff val="0"/>
          </a:schemeClr>
        </a:solidFill>
        <a:ln w="285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altLang="en-US" sz="3100" kern="1200" dirty="0"/>
            <a:t>Embryos larger than the critical size grow into crystals</a:t>
          </a:r>
          <a:endParaRPr lang="en-US" sz="3100" kern="1200" dirty="0"/>
        </a:p>
      </dsp:txBody>
      <dsp:txXfrm rot="-5400000">
        <a:off x="1039018" y="2625606"/>
        <a:ext cx="6114683" cy="87060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atin typeface="Times New Roman" panose="02020603050405020304" pitchFamily="18" charset="0"/>
              </a:defRPr>
            </a:lvl1pPr>
          </a:lstStyle>
          <a:p>
            <a:pPr>
              <a:defRPr/>
            </a:pPr>
            <a:fld id="{C28988C7-6959-4D42-88D4-F87BCE54992E}"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imes New Roman" panose="02020603050405020304" pitchFamily="18"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Times New Roman" panose="02020603050405020304" pitchFamily="18" charset="0"/>
              </a:defRPr>
            </a:lvl1pPr>
          </a:lstStyle>
          <a:p>
            <a:pPr>
              <a:defRPr/>
            </a:pPr>
            <a:fld id="{B01278BC-347A-4706-96A2-D6C0C3CC82FA}" type="datetimeFigureOut">
              <a:rPr lang="en-US"/>
              <a:t>10/12/2021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pPr>
              <a:defRPr/>
            </a:pPr>
            <a:fld id="{EE74FEFB-5C9D-4FDD-9DA3-FB375CC818A2}" type="slidenum">
              <a:rPr lang="en-US"/>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ea typeface="宋体" panose="02010600030101010101" pitchFamily="2" charset="-122"/>
            </a:endParaRPr>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71A21796-9902-4D28-A7C5-451294F351CE}" type="slidenum">
              <a:rPr lang="en-US" altLang="en-US" smtClean="0">
                <a:latin typeface="Times New Roman" panose="02020603050405020304" pitchFamily="18" charset="0"/>
              </a:rPr>
              <a:t>3</a:t>
            </a:fld>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dirty="0">
              <a:ea typeface="宋体" panose="02010600030101010101" pitchFamily="2" charset="-122"/>
            </a:endParaRPr>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1D67F397-583D-43C0-AA76-638A6D4CF6DE}" type="slidenum">
              <a:rPr lang="en-US" altLang="en-US" smtClean="0">
                <a:latin typeface="Times New Roman" panose="02020603050405020304" pitchFamily="18" charset="0"/>
              </a:rPr>
              <a:t>4</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熔点或者结冰点时还不能结冰，和以前高中物理学讲的不一样！</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en-US" altLang="zh-CN" dirty="0"/>
              <a:t>1.</a:t>
            </a:r>
            <a:r>
              <a:rPr lang="zh-CN" altLang="en-US" dirty="0"/>
              <a:t>最常见，自然条件下，石墨在地层中受地层高压和高温，形成金刚石。这种方式形成的金刚石纯度高、颗粒大，但是属于矿资源，开采成本高，产量有限，价格昂贵。</a:t>
            </a:r>
          </a:p>
          <a:p>
            <a:r>
              <a:rPr lang="en-US" altLang="zh-CN" dirty="0"/>
              <a:t>2.</a:t>
            </a:r>
            <a:r>
              <a:rPr lang="zh-CN" altLang="en-US" dirty="0"/>
              <a:t>工业生产，通过高温、高压和催化剂的作用下生成。因为人造环境中要制备石墨转化为金刚石所需的高温高压非常困难，所以现有一般通过爆炸法制备。这种方法制备的金刚石，纯度低、颗粒小，但是产量高，价格低廉。</a:t>
            </a:r>
          </a:p>
          <a:p>
            <a:r>
              <a:rPr lang="en-US" altLang="zh-CN" dirty="0"/>
              <a:t>3.</a:t>
            </a:r>
            <a:r>
              <a:rPr lang="zh-CN" altLang="en-US" dirty="0"/>
              <a:t>研究中的人造法。通过激光加热，二氧化碳还原法制备。这种方法正在研究，已经取得一部分进展，但是还没有引入工业生产。这种方法制备的金刚石纯度高、产量极高、价格低廉，但是颗粒较小，取得大颗粒金刚石还待研究。</a:t>
            </a:r>
            <a:endParaRPr lang="en-US" altLang="zh-CN" dirty="0"/>
          </a:p>
          <a:p>
            <a:endParaRPr lang="en-US" altLang="en-US" dirty="0">
              <a:ea typeface="宋体" panose="02010600030101010101" pitchFamily="2" charset="-122"/>
            </a:endParaRPr>
          </a:p>
          <a:p>
            <a:r>
              <a:rPr lang="zh-CN" altLang="en-US" dirty="0">
                <a:ea typeface="宋体" panose="02010600030101010101" pitchFamily="2" charset="-122"/>
              </a:rPr>
              <a:t>金刚石所有的碳原子以</a:t>
            </a:r>
            <a:r>
              <a:rPr lang="en-US" altLang="zh-CN" dirty="0">
                <a:ea typeface="宋体" panose="02010600030101010101" pitchFamily="2" charset="-122"/>
              </a:rPr>
              <a:t>sp3</a:t>
            </a:r>
            <a:r>
              <a:rPr lang="zh-CN" altLang="en-US" dirty="0">
                <a:ea typeface="宋体" panose="02010600030101010101" pitchFamily="2" charset="-122"/>
              </a:rPr>
              <a:t>杂化与相邻四个碳原子以共价键连接，空间上按正四面体的分布</a:t>
            </a:r>
          </a:p>
          <a:p>
            <a:endParaRPr lang="zh-CN" altLang="en-US" dirty="0">
              <a:ea typeface="宋体" panose="02010600030101010101" pitchFamily="2" charset="-122"/>
            </a:endParaRPr>
          </a:p>
          <a:p>
            <a:r>
              <a:rPr lang="zh-CN" altLang="en-US" dirty="0">
                <a:ea typeface="宋体" panose="02010600030101010101" pitchFamily="2" charset="-122"/>
              </a:rPr>
              <a:t>石墨的所有碳原子以</a:t>
            </a:r>
            <a:r>
              <a:rPr lang="en-US" altLang="zh-CN" dirty="0">
                <a:ea typeface="宋体" panose="02010600030101010101" pitchFamily="2" charset="-122"/>
              </a:rPr>
              <a:t>sp2</a:t>
            </a:r>
            <a:r>
              <a:rPr lang="zh-CN" altLang="en-US" dirty="0">
                <a:ea typeface="宋体" panose="02010600030101010101" pitchFamily="2" charset="-122"/>
              </a:rPr>
              <a:t>杂化与相邻三个碳原子以共价键连接，形成由六元环并列组成的平面，平面之间通过范德华作用力平行的叠在一起</a:t>
            </a:r>
            <a:endParaRPr lang="en-US" altLang="en-US" dirty="0">
              <a:ea typeface="宋体" panose="02010600030101010101" pitchFamily="2" charset="-122"/>
            </a:endParaRPr>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FD89975F-DF27-4688-AD91-87AA7BEB8CE0}" type="slidenum">
              <a:rPr lang="en-US" altLang="en-US" smtClean="0">
                <a:latin typeface="Times New Roman" panose="02020603050405020304" pitchFamily="18" charset="0"/>
              </a:rPr>
              <a:t>7</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dirty="0">
                <a:ea typeface="宋体" panose="02010600030101010101" pitchFamily="2" charset="-122"/>
              </a:rPr>
              <a:t>热力学考虑（起始结束能量）？动力学考虑（过程）？</a:t>
            </a:r>
            <a:endParaRPr lang="en-US" altLang="en-US" dirty="0">
              <a:ea typeface="宋体" panose="02010600030101010101" pitchFamily="2" charset="-122"/>
            </a:endParaRPr>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eaLnBrk="0" hangingPunct="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eaLnBrk="0" hangingPunct="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1" hangingPunct="1">
              <a:spcBef>
                <a:spcPct val="0"/>
              </a:spcBef>
            </a:pPr>
            <a:fld id="{770681E7-6654-40DA-A7E5-9D503F5A38B5}" type="slidenum">
              <a:rPr lang="en-US" altLang="en-US" smtClean="0">
                <a:latin typeface="Times New Roman" panose="02020603050405020304" pitchFamily="18" charset="0"/>
              </a:rPr>
              <a:t>8</a:t>
            </a:fld>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embryo </a:t>
            </a:r>
          </a:p>
          <a:p>
            <a:r>
              <a:rPr lang="zh-CN" altLang="en-US" sz="1200" b="0" i="0" kern="1200" dirty="0">
                <a:solidFill>
                  <a:schemeClr val="tx1"/>
                </a:solidFill>
                <a:effectLst/>
                <a:latin typeface="+mn-lt"/>
                <a:ea typeface="+mn-ea"/>
                <a:cs typeface="+mn-cs"/>
              </a:rPr>
              <a:t>英 </a:t>
            </a:r>
            <a:r>
              <a:rPr lang="en-US" altLang="zh-CN" sz="1200" b="0" i="0" kern="1200" dirty="0">
                <a:solidFill>
                  <a:schemeClr val="tx1"/>
                </a:solidFill>
                <a:effectLst/>
                <a:latin typeface="+mn-lt"/>
                <a:ea typeface="+mn-ea"/>
                <a:cs typeface="+mn-cs"/>
              </a:rPr>
              <a:t>/ˈ</a:t>
            </a:r>
            <a:r>
              <a:rPr lang="en-US" sz="1200" b="0" i="0" kern="1200" dirty="0" err="1">
                <a:solidFill>
                  <a:schemeClr val="tx1"/>
                </a:solidFill>
                <a:effectLst/>
                <a:latin typeface="+mn-lt"/>
                <a:ea typeface="+mn-ea"/>
                <a:cs typeface="+mn-cs"/>
              </a:rPr>
              <a:t>embriəʊ</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latin typeface="宋体" panose="02010600030101010101" pitchFamily="2" charset="-122"/>
              </a:rPr>
              <a:t>一定体积的液体转变为固体，体积自由能会下降，这个降低的自由能用来提供因为增加固液界面而需要的能量。</a:t>
            </a:r>
            <a:endParaRPr lang="en-US" altLang="en-US">
              <a:ea typeface="宋体" panose="02010600030101010101" pitchFamily="2" charset="-122"/>
            </a:endParaRPr>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4732630A-29E3-4378-871C-51468086150D}" type="slidenum">
              <a:rPr lang="en-US" altLang="en-US" sz="1200" smtClean="0"/>
              <a:t>12</a:t>
            </a:fld>
            <a:endParaRPr lang="en-US"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criterion </a:t>
            </a:r>
          </a:p>
          <a:p>
            <a:r>
              <a:rPr lang="zh-CN" altLang="en-US" sz="1200" b="0" i="0" kern="1200" dirty="0">
                <a:solidFill>
                  <a:schemeClr val="tx1"/>
                </a:solidFill>
                <a:effectLst/>
                <a:latin typeface="+mn-lt"/>
                <a:ea typeface="+mn-ea"/>
                <a:cs typeface="+mn-cs"/>
              </a:rPr>
              <a:t>英 </a:t>
            </a:r>
            <a:r>
              <a:rPr lang="en-US" altLang="zh-CN"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kraɪˈtɪəriən</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Metastable nuclei</a:t>
            </a:r>
          </a:p>
          <a:p>
            <a:r>
              <a:rPr lang="pt-BR" dirty="0"/>
              <a:t>R =r* (critical radius) critical nucleus (embryo)</a:t>
            </a:r>
          </a:p>
          <a:p>
            <a:r>
              <a:rPr lang="pt-BR" dirty="0"/>
              <a:t>R R0 stable nuclei</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16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三条曲线的意义；这里从能量考虑晶胚是否长大</a:t>
            </a:r>
            <a:r>
              <a:rPr lang="en-US" altLang="zh-CN" dirty="0"/>
              <a:t>; </a:t>
            </a:r>
            <a:r>
              <a:rPr lang="zh-CN" altLang="en-US" dirty="0"/>
              <a:t>注意是系统里面出现一个半径为</a:t>
            </a:r>
            <a:r>
              <a:rPr lang="en-US" altLang="zh-CN" dirty="0"/>
              <a:t>r</a:t>
            </a:r>
            <a:r>
              <a:rPr lang="zh-CN" altLang="en-US" dirty="0"/>
              <a:t>的核，然后考虑它长大或者变小，哪个过程</a:t>
            </a:r>
            <a:r>
              <a:rPr lang="en-US" altLang="zh-CN" dirty="0"/>
              <a:t>G</a:t>
            </a:r>
            <a:r>
              <a:rPr lang="zh-CN" altLang="en-US" dirty="0"/>
              <a:t>降低，朝降低的方向进行。</a:t>
            </a:r>
            <a:endParaRPr lang="en-US" altLang="zh-CN" dirty="0"/>
          </a:p>
          <a:p>
            <a:endParaRPr lang="en-US" altLang="zh-CN" dirty="0"/>
          </a:p>
          <a:p>
            <a:r>
              <a:rPr lang="zh-CN" altLang="en-US" dirty="0"/>
              <a:t>系统里面不管怎样，出现一个晶胚都是能量上考虑不合算，自由能增加；</a:t>
            </a:r>
            <a:endParaRPr lang="en-US" altLang="zh-CN" dirty="0"/>
          </a:p>
          <a:p>
            <a:endParaRPr lang="en-US" altLang="zh-CN" dirty="0"/>
          </a:p>
          <a:p>
            <a:r>
              <a:rPr lang="zh-CN" altLang="en-US" dirty="0"/>
              <a:t>晶胚是否长大取决于</a:t>
            </a:r>
            <a:r>
              <a:rPr lang="zh-CN" altLang="en-US" b="1" dirty="0"/>
              <a:t>系统自由能</a:t>
            </a:r>
            <a:r>
              <a:rPr lang="zh-CN" altLang="en-US" dirty="0"/>
              <a:t>随着</a:t>
            </a:r>
            <a:r>
              <a:rPr lang="en-US" altLang="zh-CN" dirty="0"/>
              <a:t>r</a:t>
            </a:r>
            <a:r>
              <a:rPr lang="zh-CN" altLang="en-US" dirty="0"/>
              <a:t>变化是增大还是减小；</a:t>
            </a:r>
            <a:endParaRPr lang="en-US" altLang="zh-CN" dirty="0"/>
          </a:p>
          <a:p>
            <a:endParaRPr lang="en-US" dirty="0"/>
          </a:p>
          <a:p>
            <a:r>
              <a:rPr lang="zh-CN" altLang="en-US" dirty="0"/>
              <a:t>注意上面右图不同的</a:t>
            </a:r>
            <a:r>
              <a:rPr lang="en-US" altLang="zh-CN" dirty="0"/>
              <a:t>r</a:t>
            </a:r>
            <a:r>
              <a:rPr lang="zh-CN" altLang="en-US" dirty="0"/>
              <a:t>对应的</a:t>
            </a:r>
            <a:r>
              <a:rPr lang="en-US" altLang="zh-CN" dirty="0" err="1"/>
              <a:t>detaG</a:t>
            </a:r>
            <a:r>
              <a:rPr lang="zh-CN" altLang="en-US" dirty="0"/>
              <a:t>都是根据液相为起点的；我们考虑的是在系统里面突然蹦出来一个半径为</a:t>
            </a:r>
            <a:r>
              <a:rPr lang="en-US" altLang="zh-CN" dirty="0"/>
              <a:t>r</a:t>
            </a:r>
            <a:r>
              <a:rPr lang="zh-CN" altLang="en-US" dirty="0"/>
              <a:t>的晶胚，然后看它时候能够长大。它的系统自由能变化是两个</a:t>
            </a:r>
            <a:r>
              <a:rPr lang="en-US" altLang="zh-CN" dirty="0"/>
              <a:t>r</a:t>
            </a:r>
            <a:r>
              <a:rPr lang="zh-CN" altLang="en-US" dirty="0"/>
              <a:t>对应的</a:t>
            </a:r>
            <a:r>
              <a:rPr lang="en-US" altLang="zh-CN" dirty="0" err="1"/>
              <a:t>detaG</a:t>
            </a:r>
            <a:r>
              <a:rPr lang="zh-CN" altLang="en-US" dirty="0"/>
              <a:t>之差；</a:t>
            </a:r>
            <a:endParaRPr lang="en-US" altLang="zh-CN" dirty="0"/>
          </a:p>
          <a:p>
            <a:endParaRPr lang="en-US" dirty="0"/>
          </a:p>
          <a:p>
            <a:r>
              <a:rPr lang="zh-CN" altLang="en-US" dirty="0"/>
              <a:t>在</a:t>
            </a:r>
            <a:r>
              <a:rPr lang="en-US" altLang="zh-CN" dirty="0" err="1"/>
              <a:t>detaG</a:t>
            </a:r>
            <a:r>
              <a:rPr lang="en-US" altLang="zh-CN" dirty="0"/>
              <a:t> </a:t>
            </a:r>
            <a:r>
              <a:rPr lang="zh-CN" altLang="en-US"/>
              <a:t>大于零的区域，晶核本身的形成是一个热力学不倾向的过程。</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17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三条曲线的意义；这里从能量考虑晶胚是否长大</a:t>
            </a:r>
            <a:r>
              <a:rPr lang="en-US" altLang="zh-CN" dirty="0"/>
              <a:t>; </a:t>
            </a:r>
            <a:r>
              <a:rPr lang="zh-CN" altLang="en-US" dirty="0"/>
              <a:t>注意是系统里面出现一个半径为</a:t>
            </a:r>
            <a:r>
              <a:rPr lang="en-US" altLang="zh-CN" dirty="0"/>
              <a:t>r</a:t>
            </a:r>
            <a:r>
              <a:rPr lang="zh-CN" altLang="en-US" dirty="0"/>
              <a:t>的核，然后考虑它长大或者变小，哪个过程</a:t>
            </a:r>
            <a:r>
              <a:rPr lang="en-US" altLang="zh-CN" dirty="0"/>
              <a:t>G</a:t>
            </a:r>
            <a:r>
              <a:rPr lang="zh-CN" altLang="en-US" dirty="0"/>
              <a:t>降低，朝降低的方向进行。</a:t>
            </a:r>
            <a:endParaRPr lang="en-US" altLang="zh-CN" dirty="0"/>
          </a:p>
          <a:p>
            <a:endParaRPr lang="en-US" altLang="zh-CN" dirty="0"/>
          </a:p>
          <a:p>
            <a:r>
              <a:rPr lang="zh-CN" altLang="en-US" dirty="0"/>
              <a:t>系统里面不管怎样，出现一个晶胚都是能量上考虑不合算，自由能增加；</a:t>
            </a:r>
            <a:endParaRPr lang="en-US" altLang="zh-CN" dirty="0"/>
          </a:p>
          <a:p>
            <a:endParaRPr lang="en-US" altLang="zh-CN" dirty="0"/>
          </a:p>
          <a:p>
            <a:r>
              <a:rPr lang="zh-CN" altLang="en-US" dirty="0"/>
              <a:t>晶胚是否长大取决于</a:t>
            </a:r>
            <a:r>
              <a:rPr lang="zh-CN" altLang="en-US" b="1" dirty="0"/>
              <a:t>系统自由能</a:t>
            </a:r>
            <a:r>
              <a:rPr lang="zh-CN" altLang="en-US" dirty="0"/>
              <a:t>随着</a:t>
            </a:r>
            <a:r>
              <a:rPr lang="en-US" altLang="zh-CN" dirty="0"/>
              <a:t>r</a:t>
            </a:r>
            <a:r>
              <a:rPr lang="zh-CN" altLang="en-US" dirty="0"/>
              <a:t>变化是增大还是减小；</a:t>
            </a:r>
            <a:endParaRPr lang="en-US" altLang="zh-CN" dirty="0"/>
          </a:p>
          <a:p>
            <a:endParaRPr lang="en-US" dirty="0"/>
          </a:p>
          <a:p>
            <a:r>
              <a:rPr lang="zh-CN" altLang="en-US" dirty="0"/>
              <a:t>注意上面右图不同的</a:t>
            </a:r>
            <a:r>
              <a:rPr lang="en-US" altLang="zh-CN" dirty="0"/>
              <a:t>r</a:t>
            </a:r>
            <a:r>
              <a:rPr lang="zh-CN" altLang="en-US" dirty="0"/>
              <a:t>对应的</a:t>
            </a:r>
            <a:r>
              <a:rPr lang="en-US" altLang="zh-CN" dirty="0" err="1"/>
              <a:t>detaG</a:t>
            </a:r>
            <a:r>
              <a:rPr lang="zh-CN" altLang="en-US" dirty="0"/>
              <a:t>都是根据液相为起点的；我们考虑的是在系统里面突然蹦出来一个半径为</a:t>
            </a:r>
            <a:r>
              <a:rPr lang="en-US" altLang="zh-CN" dirty="0"/>
              <a:t>r</a:t>
            </a:r>
            <a:r>
              <a:rPr lang="zh-CN" altLang="en-US" dirty="0"/>
              <a:t>的晶胚，然后看它时候能够长大。它的系统自由能变化是两个</a:t>
            </a:r>
            <a:r>
              <a:rPr lang="en-US" altLang="zh-CN" dirty="0"/>
              <a:t>r</a:t>
            </a:r>
            <a:r>
              <a:rPr lang="zh-CN" altLang="en-US" dirty="0"/>
              <a:t>对应的</a:t>
            </a:r>
            <a:r>
              <a:rPr lang="en-US" altLang="zh-CN" dirty="0" err="1"/>
              <a:t>detaG</a:t>
            </a:r>
            <a:r>
              <a:rPr lang="zh-CN" altLang="en-US" dirty="0"/>
              <a:t>之差；</a:t>
            </a:r>
            <a:endParaRPr lang="en-US" altLang="zh-CN" dirty="0"/>
          </a:p>
          <a:p>
            <a:endParaRPr lang="en-US" dirty="0"/>
          </a:p>
          <a:p>
            <a:r>
              <a:rPr lang="zh-CN" altLang="en-US" dirty="0"/>
              <a:t>在</a:t>
            </a:r>
            <a:r>
              <a:rPr lang="en-US" altLang="zh-CN" dirty="0" err="1"/>
              <a:t>detaG</a:t>
            </a:r>
            <a:r>
              <a:rPr lang="en-US" altLang="zh-CN" dirty="0"/>
              <a:t> </a:t>
            </a:r>
            <a:r>
              <a:rPr lang="zh-CN" altLang="en-US"/>
              <a:t>大于零的区域，晶核本身的形成是一个热力学不倾向的过程。</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18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dirty="0">
                <a:latin typeface="Times New Roman" panose="02020603050405020304" pitchFamily="18" charset="0"/>
                <a:cs typeface="Times New Roman" panose="02020603050405020304" pitchFamily="18" charset="0"/>
              </a:rPr>
              <a:t>熔体中，</a:t>
            </a:r>
            <a:r>
              <a:rPr lang="en-US" altLang="zh-CN" dirty="0">
                <a:latin typeface="Times New Roman" panose="02020603050405020304" pitchFamily="18" charset="0"/>
                <a:cs typeface="Times New Roman" panose="02020603050405020304" pitchFamily="18" charset="0"/>
              </a:rPr>
              <a:t>r* </a:t>
            </a:r>
            <a:r>
              <a:rPr lang="zh-CN" altLang="en-US" dirty="0">
                <a:latin typeface="Times New Roman" panose="02020603050405020304" pitchFamily="18" charset="0"/>
                <a:cs typeface="Times New Roman" panose="02020603050405020304" pitchFamily="18" charset="0"/>
              </a:rPr>
              <a:t>与</a:t>
            </a:r>
            <a:r>
              <a:rPr lang="en-US" altLang="zh-CN" dirty="0">
                <a:latin typeface="Times New Roman" panose="02020603050405020304" pitchFamily="18" charset="0"/>
                <a:cs typeface="Times New Roman" panose="02020603050405020304" pitchFamily="18" charset="0"/>
              </a:rPr>
              <a:t>ΔT </a:t>
            </a:r>
            <a:r>
              <a:rPr lang="zh-CN" altLang="en-US" dirty="0">
                <a:latin typeface="Times New Roman" panose="02020603050405020304" pitchFamily="18" charset="0"/>
                <a:cs typeface="Times New Roman" panose="02020603050405020304" pitchFamily="18" charset="0"/>
              </a:rPr>
              <a:t>成反比，即过冷度</a:t>
            </a:r>
            <a:r>
              <a:rPr lang="en-US" altLang="zh-CN" dirty="0">
                <a:latin typeface="Times New Roman" panose="02020603050405020304" pitchFamily="18" charset="0"/>
                <a:cs typeface="Times New Roman" panose="02020603050405020304" pitchFamily="18" charset="0"/>
              </a:rPr>
              <a:t>ΔT </a:t>
            </a:r>
            <a:r>
              <a:rPr lang="zh-CN" altLang="en-US" dirty="0">
                <a:latin typeface="Times New Roman" panose="02020603050405020304" pitchFamily="18" charset="0"/>
                <a:cs typeface="Times New Roman" panose="02020603050405020304" pitchFamily="18" charset="0"/>
              </a:rPr>
              <a:t>越大，</a:t>
            </a:r>
            <a:r>
              <a:rPr lang="en-US" altLang="zh-CN" dirty="0">
                <a:latin typeface="Times New Roman" panose="02020603050405020304" pitchFamily="18" charset="0"/>
                <a:cs typeface="Times New Roman" panose="02020603050405020304" pitchFamily="18" charset="0"/>
              </a:rPr>
              <a:t>r* </a:t>
            </a:r>
            <a:r>
              <a:rPr lang="zh-CN" altLang="en-US" dirty="0">
                <a:latin typeface="Times New Roman" panose="02020603050405020304" pitchFamily="18" charset="0"/>
                <a:cs typeface="Times New Roman" panose="02020603050405020304" pitchFamily="18" charset="0"/>
              </a:rPr>
              <a:t>越小；</a:t>
            </a:r>
            <a:r>
              <a:rPr lang="en-US" altLang="zh-CN" dirty="0">
                <a:latin typeface="Times New Roman" panose="02020603050405020304" pitchFamily="18" charset="0"/>
                <a:cs typeface="Times New Roman" panose="02020603050405020304" pitchFamily="18" charset="0"/>
              </a:rPr>
              <a:t>ΔG</a:t>
            </a:r>
            <a:r>
              <a:rPr lang="zh-CN" altLang="en-US" dirty="0">
                <a:latin typeface="Times New Roman" panose="02020603050405020304" pitchFamily="18" charset="0"/>
                <a:cs typeface="Times New Roman" panose="02020603050405020304" pitchFamily="18" charset="0"/>
              </a:rPr>
              <a:t>*与（</a:t>
            </a:r>
            <a:r>
              <a:rPr lang="en-US" altLang="zh-CN" dirty="0">
                <a:latin typeface="Times New Roman" panose="02020603050405020304" pitchFamily="18" charset="0"/>
                <a:cs typeface="Times New Roman" panose="02020603050405020304" pitchFamily="18" charset="0"/>
              </a:rPr>
              <a:t>ΔT</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en-US" altLang="zh-CN" baseline="30000"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成反比，过冷度</a:t>
            </a:r>
            <a:r>
              <a:rPr lang="en-US" altLang="zh-CN" dirty="0">
                <a:latin typeface="Times New Roman" panose="02020603050405020304" pitchFamily="18" charset="0"/>
                <a:cs typeface="Times New Roman" panose="02020603050405020304" pitchFamily="18" charset="0"/>
              </a:rPr>
              <a:t>ΔT </a:t>
            </a:r>
            <a:r>
              <a:rPr lang="zh-CN" altLang="en-US" dirty="0">
                <a:latin typeface="Times New Roman" panose="02020603050405020304" pitchFamily="18" charset="0"/>
                <a:cs typeface="Times New Roman" panose="02020603050405020304" pitchFamily="18" charset="0"/>
              </a:rPr>
              <a:t>越大，</a:t>
            </a:r>
            <a:r>
              <a:rPr lang="en-US" altLang="zh-CN" dirty="0">
                <a:latin typeface="Times New Roman" panose="02020603050405020304" pitchFamily="18" charset="0"/>
                <a:cs typeface="Times New Roman" panose="02020603050405020304" pitchFamily="18" charset="0"/>
              </a:rPr>
              <a:t>ΔG</a:t>
            </a:r>
            <a:r>
              <a:rPr lang="zh-CN" altLang="en-US" dirty="0">
                <a:latin typeface="Times New Roman" panose="02020603050405020304" pitchFamily="18" charset="0"/>
                <a:cs typeface="Times New Roman" panose="02020603050405020304" pitchFamily="18" charset="0"/>
              </a:rPr>
              <a:t>*越小。</a:t>
            </a:r>
            <a:endParaRPr lang="en-US" altLang="zh-CN" dirty="0">
              <a:latin typeface="Times New Roman" panose="02020603050405020304" pitchFamily="18" charset="0"/>
              <a:cs typeface="Times New Roman" panose="02020603050405020304" pitchFamily="18" charset="0"/>
            </a:endParaRPr>
          </a:p>
          <a:p>
            <a:endParaRPr lang="en-US" altLang="zh-CN" baseline="30000" dirty="0">
              <a:latin typeface="Times New Roman" panose="02020603050405020304" pitchFamily="18" charset="0"/>
              <a:cs typeface="Times New Roman" panose="02020603050405020304" pitchFamily="18" charset="0"/>
            </a:endParaRPr>
          </a:p>
          <a:p>
            <a:r>
              <a:rPr lang="zh-CN" altLang="en-US" baseline="30000" dirty="0">
                <a:latin typeface="Times New Roman" panose="02020603050405020304" pitchFamily="18" charset="0"/>
                <a:cs typeface="Times New Roman" panose="02020603050405020304" pitchFamily="18" charset="0"/>
              </a:rPr>
              <a:t>温度为熔点时，吉布斯自由能变化为零？</a:t>
            </a:r>
          </a:p>
          <a:p>
            <a:pPr fontAlgn="t"/>
            <a:r>
              <a:rPr lang="en-US" sz="1200" b="1" i="0" kern="1200" dirty="0">
                <a:solidFill>
                  <a:schemeClr val="tx1"/>
                </a:solidFill>
                <a:effectLst/>
                <a:latin typeface="+mn-lt"/>
                <a:ea typeface="+mn-ea"/>
                <a:cs typeface="+mn-cs"/>
              </a:rPr>
              <a:t>derivation </a:t>
            </a:r>
          </a:p>
          <a:p>
            <a:r>
              <a:rPr lang="zh-CN" altLang="en-US" sz="1200" b="0" i="0" kern="1200" dirty="0">
                <a:solidFill>
                  <a:schemeClr val="tx1"/>
                </a:solidFill>
                <a:effectLst/>
                <a:latin typeface="+mn-lt"/>
                <a:ea typeface="+mn-ea"/>
                <a:cs typeface="+mn-cs"/>
              </a:rPr>
              <a:t>英 </a:t>
            </a:r>
            <a:r>
              <a:rPr lang="en-US" altLang="zh-CN" sz="1200" b="0" i="0" kern="1200" dirty="0">
                <a:solidFill>
                  <a:schemeClr val="tx1"/>
                </a:solidFill>
                <a:effectLst/>
                <a:latin typeface="+mn-lt"/>
                <a:ea typeface="+mn-ea"/>
                <a:cs typeface="+mn-cs"/>
              </a:rPr>
              <a:t>/ˌ</a:t>
            </a:r>
            <a:r>
              <a:rPr lang="en-US" sz="1200" b="0" i="0" kern="1200" dirty="0" err="1">
                <a:solidFill>
                  <a:schemeClr val="tx1"/>
                </a:solidFill>
                <a:effectLst/>
                <a:latin typeface="+mn-lt"/>
                <a:ea typeface="+mn-ea"/>
                <a:cs typeface="+mn-cs"/>
              </a:rPr>
              <a:t>derɪˈveɪʃn</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extremum </a:t>
            </a:r>
          </a:p>
          <a:p>
            <a:r>
              <a:rPr lang="zh-CN" altLang="en-US" sz="1200" b="0" i="0" kern="1200" dirty="0">
                <a:solidFill>
                  <a:schemeClr val="tx1"/>
                </a:solidFill>
                <a:effectLst/>
                <a:latin typeface="+mn-lt"/>
                <a:ea typeface="+mn-ea"/>
                <a:cs typeface="+mn-cs"/>
              </a:rPr>
              <a:t>英 </a:t>
            </a:r>
            <a:r>
              <a:rPr lang="en-US" altLang="zh-CN"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ɪk'striːməm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ek</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enthalpy </a:t>
            </a:r>
          </a:p>
          <a:p>
            <a:r>
              <a:rPr lang="zh-CN" altLang="en-US" sz="1200" b="0" i="0" kern="1200" dirty="0">
                <a:solidFill>
                  <a:schemeClr val="tx1"/>
                </a:solidFill>
                <a:effectLst/>
                <a:latin typeface="+mn-lt"/>
                <a:ea typeface="+mn-ea"/>
                <a:cs typeface="+mn-cs"/>
              </a:rPr>
              <a:t>英 </a:t>
            </a:r>
            <a:r>
              <a:rPr lang="en-US" altLang="zh-CN"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en</a:t>
            </a:r>
            <a:r>
              <a:rPr lang="el-GR" sz="1200" b="0" i="0" kern="1200" dirty="0">
                <a:solidFill>
                  <a:schemeClr val="tx1"/>
                </a:solidFill>
                <a:effectLst/>
                <a:latin typeface="+mn-lt"/>
                <a:ea typeface="+mn-ea"/>
                <a:cs typeface="+mn-cs"/>
              </a:rPr>
              <a:t>θ(</a:t>
            </a:r>
            <a:r>
              <a:rPr lang="en-US" sz="1200" b="0" i="0" kern="1200" dirty="0">
                <a:solidFill>
                  <a:schemeClr val="tx1"/>
                </a:solidFill>
                <a:effectLst/>
                <a:latin typeface="+mn-lt"/>
                <a:ea typeface="+mn-ea"/>
                <a:cs typeface="+mn-cs"/>
              </a:rPr>
              <a:t>ə)</a:t>
            </a:r>
            <a:r>
              <a:rPr lang="en-US" sz="1200" b="0" i="0" kern="1200" dirty="0" err="1">
                <a:solidFill>
                  <a:schemeClr val="tx1"/>
                </a:solidFill>
                <a:effectLst/>
                <a:latin typeface="+mn-lt"/>
                <a:ea typeface="+mn-ea"/>
                <a:cs typeface="+mn-cs"/>
              </a:rPr>
              <a:t>lpɪ</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a:t>
            </a:r>
            <a:r>
              <a:rPr lang="en-US" sz="1200" b="0" i="0" kern="1200" dirty="0">
                <a:solidFill>
                  <a:schemeClr val="tx1"/>
                </a:solidFill>
                <a:effectLst/>
                <a:latin typeface="+mn-lt"/>
                <a:ea typeface="+mn-ea"/>
                <a:cs typeface="+mn-cs"/>
              </a:rPr>
              <a:t>’</a:t>
            </a:r>
            <a:r>
              <a:rPr lang="el-GR" sz="1200" b="0" i="0" kern="1200" dirty="0">
                <a:solidFill>
                  <a:schemeClr val="tx1"/>
                </a:solidFill>
                <a:effectLst/>
                <a:latin typeface="+mn-lt"/>
                <a:ea typeface="+mn-ea"/>
                <a:cs typeface="+mn-cs"/>
              </a:rPr>
              <a:t>θ</a:t>
            </a:r>
            <a:r>
              <a:rPr lang="en-US" sz="1200" b="0" i="0" kern="1200" dirty="0" err="1">
                <a:solidFill>
                  <a:schemeClr val="tx1"/>
                </a:solidFill>
                <a:effectLst/>
                <a:latin typeface="+mn-lt"/>
                <a:ea typeface="+mn-ea"/>
                <a:cs typeface="+mn-cs"/>
              </a:rPr>
              <a:t>ælpɪ</a:t>
            </a:r>
            <a:r>
              <a:rPr lang="en-US"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焓</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altLang="en-US" dirty="0">
              <a:ea typeface="宋体" panose="02010600030101010101" pitchFamily="2" charset="-122"/>
            </a:endParaRPr>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67B6C8FB-2597-4C6B-A1AD-9DC3CEB243CD}" type="slidenum">
              <a:rPr lang="en-US" altLang="en-US" sz="1200" smtClean="0"/>
              <a:t>19</a:t>
            </a:fld>
            <a:endParaRPr lang="en-US"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晶核的形成，液相到体相放热，自由能降低，负值；形成新的固液表面，自由能升高，需要吸热，正值。</a:t>
            </a:r>
            <a:endParaRPr lang="en-US" altLang="zh-CN" dirty="0"/>
          </a:p>
          <a:p>
            <a:r>
              <a:rPr lang="zh-CN" altLang="en-US" dirty="0"/>
              <a:t>在临界成核点，临界成核自由能为正值，系统能量升高，需要从环境中获得能量，吸热，大小为临界表面能增加的</a:t>
            </a:r>
            <a:r>
              <a:rPr lang="en-US" altLang="zh-CN" dirty="0"/>
              <a:t>1/3</a:t>
            </a:r>
            <a:r>
              <a:rPr lang="zh-CN" altLang="en-US" dirty="0"/>
              <a:t>。</a:t>
            </a:r>
            <a:endParaRPr lang="en-US" altLang="zh-CN" dirty="0"/>
          </a:p>
          <a:p>
            <a:r>
              <a:rPr lang="zh-CN" altLang="en-US" dirty="0"/>
              <a:t>体相放热的能量提供给表面形成需要的能量所需的</a:t>
            </a:r>
            <a:r>
              <a:rPr lang="en-US" altLang="zh-CN" dirty="0"/>
              <a:t>2/3,</a:t>
            </a:r>
            <a:r>
              <a:rPr lang="en-US" altLang="zh-CN" baseline="0" dirty="0"/>
              <a:t> </a:t>
            </a:r>
            <a:r>
              <a:rPr lang="zh-CN" altLang="en-US" baseline="0" dirty="0"/>
              <a:t>不够的</a:t>
            </a:r>
            <a:r>
              <a:rPr lang="en-US" altLang="zh-CN" baseline="0" dirty="0"/>
              <a:t>1/3</a:t>
            </a:r>
            <a:r>
              <a:rPr lang="zh-CN" altLang="en-US" baseline="0" dirty="0"/>
              <a:t>从环境中汲取。</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critical nucleation energy is equivalent to the G* nucleus of the surface energy of 1/3, which means that the free energy difference between solid and liquid was GV * only supply nucleation G * required surface energy of 2/3, the 1/3 energy to make up the energy of the system depends on the ups and downs, which is the energy barrier that must be overcome homogeneous nucleation.</a:t>
            </a:r>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 pro </a:t>
            </a:r>
            <a:r>
              <a:rPr lang="zh-CN" altLang="en-US" dirty="0"/>
              <a:t>作为作业？</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23</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布朗运动</a:t>
            </a:r>
            <a:r>
              <a:rPr lang="en-US" altLang="zh-CN" dirty="0"/>
              <a:t>;</a:t>
            </a:r>
          </a:p>
          <a:p>
            <a:r>
              <a:rPr lang="zh-CN" altLang="en-US" dirty="0"/>
              <a:t>系统里面永远有一定数量和大小的晶胚，是否长大，取决于晶胚大小和当前过冷度决定的临界成核尺寸的相对大小。</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24</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布朗运动</a:t>
            </a:r>
            <a:r>
              <a:rPr lang="en-US" altLang="zh-CN" dirty="0"/>
              <a:t>;</a:t>
            </a:r>
          </a:p>
          <a:p>
            <a:r>
              <a:rPr lang="zh-CN" altLang="en-US" dirty="0"/>
              <a:t>系统里面永远有一定数量和大小的晶胚，是否长大，取决于晶胚大小和当前过冷度决定的临界成核尺寸的相对大小。</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25</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布朗运动</a:t>
            </a:r>
            <a:r>
              <a:rPr lang="en-US" altLang="zh-CN" dirty="0"/>
              <a:t>;</a:t>
            </a:r>
          </a:p>
          <a:p>
            <a:r>
              <a:rPr lang="zh-CN" altLang="en-US" dirty="0"/>
              <a:t>系统里面永远有一定数量和大小的晶胚，是否长大，取决于晶胚大小和当前过冷度决定的临界成核尺寸的相对大小。</a:t>
            </a:r>
            <a:endParaRPr lang="en-US" altLang="zh-CN" dirty="0"/>
          </a:p>
          <a:p>
            <a:r>
              <a:rPr lang="zh-CN" altLang="en-US" sz="1200" b="0" i="0" kern="1200" dirty="0">
                <a:solidFill>
                  <a:schemeClr val="tx1"/>
                </a:solidFill>
                <a:effectLst/>
                <a:latin typeface="+mn-lt"/>
                <a:ea typeface="+mn-ea"/>
                <a:cs typeface="+mn-cs"/>
              </a:rPr>
              <a:t>分子平均平动动能</a:t>
            </a:r>
            <a:r>
              <a:rPr lang="en-US" altLang="zh-CN" sz="1200" b="0" i="0" kern="1200" dirty="0">
                <a:solidFill>
                  <a:schemeClr val="tx1"/>
                </a:solidFill>
                <a:effectLst/>
                <a:latin typeface="+mn-lt"/>
                <a:ea typeface="+mn-ea"/>
                <a:cs typeface="+mn-cs"/>
              </a:rPr>
              <a:t>E=3KT/2</a:t>
            </a:r>
            <a:r>
              <a:rPr lang="zh-CN" altLang="en-US" sz="1200" b="0" i="0" kern="1200" dirty="0">
                <a:solidFill>
                  <a:schemeClr val="tx1"/>
                </a:solidFill>
                <a:effectLst/>
                <a:latin typeface="+mn-lt"/>
                <a:ea typeface="+mn-ea"/>
                <a:cs typeface="+mn-cs"/>
              </a:rPr>
              <a:t>，因为局域对于某一个分子，与其他的分子碰撞获得的能量也在</a:t>
            </a:r>
            <a:r>
              <a:rPr lang="en-US" altLang="zh-CN" sz="1200" b="0" i="0" kern="1200" dirty="0">
                <a:solidFill>
                  <a:schemeClr val="tx1"/>
                </a:solidFill>
                <a:effectLst/>
                <a:latin typeface="+mn-lt"/>
                <a:ea typeface="+mn-ea"/>
                <a:cs typeface="+mn-cs"/>
              </a:rPr>
              <a:t>KT</a:t>
            </a:r>
            <a:r>
              <a:rPr lang="zh-CN" altLang="en-US" sz="1200" b="0" i="0" kern="1200" dirty="0">
                <a:solidFill>
                  <a:schemeClr val="tx1"/>
                </a:solidFill>
                <a:effectLst/>
                <a:latin typeface="+mn-lt"/>
                <a:ea typeface="+mn-ea"/>
                <a:cs typeface="+mn-cs"/>
              </a:rPr>
              <a:t>量级，因此局部能量起伏在</a:t>
            </a:r>
            <a:r>
              <a:rPr lang="en-US" altLang="zh-CN" sz="1200" b="0" i="0" kern="1200" dirty="0">
                <a:solidFill>
                  <a:schemeClr val="tx1"/>
                </a:solidFill>
                <a:effectLst/>
                <a:latin typeface="+mn-lt"/>
                <a:ea typeface="+mn-ea"/>
                <a:cs typeface="+mn-cs"/>
              </a:rPr>
              <a:t>KT</a:t>
            </a:r>
            <a:r>
              <a:rPr lang="zh-CN" altLang="en-US" sz="1200" b="0" i="0" kern="1200" dirty="0">
                <a:solidFill>
                  <a:schemeClr val="tx1"/>
                </a:solidFill>
                <a:effectLst/>
                <a:latin typeface="+mn-lt"/>
                <a:ea typeface="+mn-ea"/>
                <a:cs typeface="+mn-cs"/>
              </a:rPr>
              <a:t>量级</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26</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均匀成核（自发）的情况下，过冷度不够较难结晶；系统的起伏造成的晶胚尺寸难以大于临界尺寸成长为晶体。</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27</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dirty="0"/>
              <a:t>很多时候，自发成核需要很高的过冷度，这对晶体的形成造成了极大的障碍。</a:t>
            </a:r>
            <a:endParaRPr lang="en-US" altLang="zh-CN" dirty="0"/>
          </a:p>
          <a:p>
            <a:endParaRPr lang="en-US" altLang="zh-CN" dirty="0"/>
          </a:p>
          <a:p>
            <a:r>
              <a:rPr lang="zh-CN" altLang="en-US" dirty="0"/>
              <a:t>抗旱或者举办活动需要人工降雨， 天空中撒入碘化银粉末作为成核中心。</a:t>
            </a:r>
            <a:endParaRPr lang="en-US" altLang="en-US" dirty="0">
              <a:ea typeface="宋体" panose="02010600030101010101" pitchFamily="2" charset="-122"/>
            </a:endParaRPr>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FFDC30B9-4D2F-4C2F-B9A5-0FD8718AC31E}" type="slidenum">
              <a:rPr lang="en-US" altLang="en-US" sz="1200" smtClean="0"/>
              <a:t>28</a:t>
            </a:fld>
            <a:endParaRPr lang="en-US" alt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At each point on the rim of the crown, considering the mechanical equilibrium, we obtain the following equation.</a:t>
            </a:r>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29</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Circle and crown</a:t>
            </a:r>
          </a:p>
          <a:p>
            <a:r>
              <a:rPr lang="zh-CN" altLang="en-US" dirty="0"/>
              <a:t>成核后，生成两个界面，一个是</a:t>
            </a:r>
            <a:r>
              <a:rPr lang="en-US" altLang="zh-CN" dirty="0"/>
              <a:t>cv</a:t>
            </a:r>
            <a:r>
              <a:rPr lang="zh-CN" altLang="en-US" dirty="0"/>
              <a:t>界面，一个是</a:t>
            </a:r>
            <a:r>
              <a:rPr lang="en-US" altLang="zh-CN" dirty="0"/>
              <a:t>cx</a:t>
            </a:r>
            <a:r>
              <a:rPr lang="zh-CN" altLang="en-US" dirty="0"/>
              <a:t>界面，消失一个</a:t>
            </a:r>
            <a:r>
              <a:rPr lang="en-US" altLang="zh-CN" dirty="0"/>
              <a:t>xv</a:t>
            </a:r>
            <a:r>
              <a:rPr lang="zh-CN" altLang="en-US" dirty="0"/>
              <a:t>界面。</a:t>
            </a:r>
            <a:endParaRPr lang="en-US" altLang="zh-CN" dirty="0"/>
          </a:p>
          <a:p>
            <a:endParaRPr lang="en-US" dirty="0"/>
          </a:p>
          <a:p>
            <a:r>
              <a:rPr lang="en-US" altLang="zh-CN" dirty="0"/>
              <a:t>C </a:t>
            </a:r>
            <a:r>
              <a:rPr lang="zh-CN" altLang="en-US" dirty="0"/>
              <a:t>晶核</a:t>
            </a:r>
            <a:endParaRPr lang="en-US" altLang="zh-CN" dirty="0"/>
          </a:p>
          <a:p>
            <a:r>
              <a:rPr lang="en-US" altLang="zh-CN" dirty="0"/>
              <a:t>V </a:t>
            </a:r>
            <a:r>
              <a:rPr lang="zh-CN" altLang="en-US" dirty="0"/>
              <a:t>介质</a:t>
            </a:r>
            <a:endParaRPr lang="en-US" altLang="zh-CN" dirty="0"/>
          </a:p>
          <a:p>
            <a:r>
              <a:rPr lang="en-US" altLang="zh-CN" dirty="0"/>
              <a:t>X </a:t>
            </a:r>
            <a:r>
              <a:rPr lang="zh-CN" altLang="en-US" dirty="0"/>
              <a:t>衬底</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30</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31</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 pro </a:t>
            </a:r>
            <a:r>
              <a:rPr lang="zh-CN" altLang="en-US" dirty="0"/>
              <a:t>作为作业？</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33</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 pro </a:t>
            </a:r>
            <a:r>
              <a:rPr lang="zh-CN" altLang="en-US" dirty="0"/>
              <a:t>作为作业？</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34</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质点之间的价键力是短程力，简单起见只考虑最近邻</a:t>
            </a:r>
            <a:endParaRPr lang="en-US" altLang="zh-CN"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36</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defRPr/>
            </a:pPr>
            <a:r>
              <a:rPr lang="zh-CN" altLang="en-US" sz="1200" b="1" dirty="0">
                <a:solidFill>
                  <a:schemeClr val="tx1"/>
                </a:solidFill>
              </a:rPr>
              <a:t>实际晶体生长不可能达到这么理想的情况，也可能一层还没有完全长满，另一层又开始生长了，这叫台阶状生长，最后可在晶面上留下</a:t>
            </a:r>
            <a:r>
              <a:rPr lang="zh-CN" altLang="en-US" sz="1200" b="1" dirty="0">
                <a:solidFill>
                  <a:srgbClr val="FF0066"/>
                </a:solidFill>
              </a:rPr>
              <a:t>生长层纹或生长阶梯</a:t>
            </a:r>
            <a:r>
              <a:rPr lang="zh-CN" altLang="en-US" sz="1200" b="1" dirty="0">
                <a:solidFill>
                  <a:schemeClr val="tx1"/>
                </a:solidFill>
              </a:rPr>
              <a:t>。 阶梯状生长是属于层生长理论范畴的。</a:t>
            </a:r>
          </a:p>
          <a:p>
            <a:pPr>
              <a:lnSpc>
                <a:spcPct val="90000"/>
              </a:lnSpc>
              <a:defRPr/>
            </a:pPr>
            <a:r>
              <a:rPr lang="zh-CN" altLang="en-US" sz="1200" b="1" dirty="0">
                <a:solidFill>
                  <a:schemeClr val="tx1"/>
                </a:solidFill>
              </a:rPr>
              <a:t>   </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37</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 screw dislocation is a slip on</a:t>
            </a:r>
            <a:r>
              <a:rPr lang="en-US" altLang="zh-CN" baseline="0" dirty="0"/>
              <a:t> </a:t>
            </a:r>
            <a:r>
              <a:rPr lang="en-US" altLang="zh-CN" dirty="0"/>
              <a:t>a half plane of an ideal crystal.</a:t>
            </a:r>
            <a:endParaRPr lang="zh-CN" alt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39</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concentric</a:t>
            </a:r>
            <a:r>
              <a:rPr lang="en-US" sz="1200" b="0" i="0" kern="1200" dirty="0">
                <a:solidFill>
                  <a:schemeClr val="tx1"/>
                </a:solidFill>
                <a:effectLst/>
                <a:latin typeface="+mn-lt"/>
                <a:ea typeface="+mn-ea"/>
                <a:cs typeface="+mn-cs"/>
              </a:rPr>
              <a:t> </a:t>
            </a:r>
            <a:r>
              <a:rPr lang="en-US" sz="1200" b="1" i="0" u="none" strike="noStrike" kern="1200" dirty="0">
                <a:solidFill>
                  <a:schemeClr val="tx1"/>
                </a:solidFill>
                <a:effectLst/>
                <a:latin typeface="+mn-lt"/>
                <a:ea typeface="+mn-ea"/>
                <a:cs typeface="+mn-cs"/>
              </a:rPr>
              <a:t>circles</a:t>
            </a:r>
            <a:endParaRPr lang="zh-CN" alt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41</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a:t>Eutectic point</a:t>
            </a:r>
            <a:r>
              <a:rPr lang="en-US" b="0" baseline="0" dirty="0"/>
              <a:t> </a:t>
            </a:r>
            <a:r>
              <a:rPr lang="zh-CN" altLang="en-US" b="0" baseline="0" dirty="0"/>
              <a:t>共晶点</a:t>
            </a:r>
            <a:endParaRPr lang="en-US" altLang="zh-CN" b="0" baseline="0" dirty="0"/>
          </a:p>
          <a:p>
            <a:pPr marL="0" marR="0" indent="0" algn="l" defTabSz="914400" rtl="0" eaLnBrk="1" fontAlgn="auto" latinLnBrk="0" hangingPunct="1">
              <a:lnSpc>
                <a:spcPct val="100000"/>
              </a:lnSpc>
              <a:spcBef>
                <a:spcPts val="0"/>
              </a:spcBef>
              <a:spcAft>
                <a:spcPts val="0"/>
              </a:spcAft>
              <a:buClrTx/>
              <a:buSzTx/>
              <a:buFontTx/>
              <a:buNone/>
              <a:defRPr/>
            </a:pPr>
            <a:endParaRPr lang="en-US" b="0" baseline="0"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b="0" baseline="0" dirty="0"/>
              <a:t>升温后保持在一定温度，金颗粒没有融化，因为没有到熔点。</a:t>
            </a:r>
            <a:endParaRPr lang="en-US" altLang="zh-CN" b="0" baseline="0" dirty="0"/>
          </a:p>
          <a:p>
            <a:pPr marL="0" marR="0" indent="0" algn="l" defTabSz="914400" rtl="0" eaLnBrk="1" fontAlgn="auto" latinLnBrk="0" hangingPunct="1">
              <a:lnSpc>
                <a:spcPct val="100000"/>
              </a:lnSpc>
              <a:spcBef>
                <a:spcPts val="0"/>
              </a:spcBef>
              <a:spcAft>
                <a:spcPts val="0"/>
              </a:spcAft>
              <a:buClrTx/>
              <a:buSzTx/>
              <a:buFontTx/>
              <a:buNone/>
              <a:defRPr/>
            </a:pPr>
            <a:r>
              <a:rPr lang="en-US" altLang="zh-CN" b="0" baseline="0" dirty="0"/>
              <a:t>2. </a:t>
            </a:r>
            <a:r>
              <a:rPr lang="zh-CN" altLang="en-US" b="0" baseline="0" dirty="0"/>
              <a:t>硅烷开始在金颗粒表面分解，</a:t>
            </a:r>
            <a:r>
              <a:rPr lang="en-US" altLang="zh-CN" b="0" baseline="0" dirty="0"/>
              <a:t>Si</a:t>
            </a:r>
            <a:r>
              <a:rPr lang="zh-CN" altLang="en-US" b="0" baseline="0" dirty="0"/>
              <a:t>和金形成合金。合金的比例与温度平行线与相界面的交点处所对应。</a:t>
            </a:r>
            <a:endParaRPr lang="en-US" altLang="zh-CN" b="0" baseline="0" dirty="0"/>
          </a:p>
          <a:p>
            <a:pPr marL="0" marR="0" indent="0" algn="l" defTabSz="914400" rtl="0" eaLnBrk="1" fontAlgn="auto" latinLnBrk="0" hangingPunct="1">
              <a:lnSpc>
                <a:spcPct val="100000"/>
              </a:lnSpc>
              <a:spcBef>
                <a:spcPts val="0"/>
              </a:spcBef>
              <a:spcAft>
                <a:spcPts val="0"/>
              </a:spcAft>
              <a:buClrTx/>
              <a:buSzTx/>
              <a:buFontTx/>
              <a:buNone/>
              <a:defRPr/>
            </a:pPr>
            <a:r>
              <a:rPr lang="en-US" b="0" baseline="0" dirty="0"/>
              <a:t>3. </a:t>
            </a:r>
            <a:r>
              <a:rPr lang="zh-CN" altLang="en-US" b="0" baseline="0" dirty="0"/>
              <a:t>硅烷继续和金形成合金，直到所有的固态的金都和</a:t>
            </a:r>
            <a:r>
              <a:rPr lang="en-US" altLang="zh-CN" b="0" baseline="0" dirty="0"/>
              <a:t>Si</a:t>
            </a:r>
            <a:r>
              <a:rPr lang="zh-CN" altLang="en-US" b="0" baseline="0" dirty="0"/>
              <a:t>形成液态的合金。合金的比例保持不变。</a:t>
            </a:r>
            <a:endParaRPr lang="en-US" altLang="zh-CN" b="0" baseline="0" dirty="0"/>
          </a:p>
          <a:p>
            <a:pPr marL="0" marR="0" indent="0" algn="l" defTabSz="914400" rtl="0" eaLnBrk="1" fontAlgn="auto" latinLnBrk="0" hangingPunct="1">
              <a:lnSpc>
                <a:spcPct val="100000"/>
              </a:lnSpc>
              <a:spcBef>
                <a:spcPts val="0"/>
              </a:spcBef>
              <a:spcAft>
                <a:spcPts val="0"/>
              </a:spcAft>
              <a:buClrTx/>
              <a:buSzTx/>
              <a:buFontTx/>
              <a:buNone/>
              <a:defRPr/>
            </a:pPr>
            <a:r>
              <a:rPr lang="en-US" b="0" baseline="0" dirty="0"/>
              <a:t>3</a:t>
            </a:r>
            <a:r>
              <a:rPr lang="en-US" altLang="zh-CN" b="0" baseline="0" dirty="0"/>
              <a:t>-4. </a:t>
            </a:r>
            <a:r>
              <a:rPr lang="zh-CN" altLang="en-US" b="0" baseline="0" dirty="0"/>
              <a:t>硅烷继续溶解到合金里面，合金中</a:t>
            </a:r>
            <a:r>
              <a:rPr lang="en-US" altLang="zh-CN" b="0" baseline="0" dirty="0"/>
              <a:t>Si</a:t>
            </a:r>
            <a:r>
              <a:rPr lang="zh-CN" altLang="en-US" b="0" baseline="0" dirty="0"/>
              <a:t>的比例一直上升到点</a:t>
            </a:r>
            <a:r>
              <a:rPr lang="en-US" altLang="zh-CN" b="0" baseline="0" dirty="0"/>
              <a:t>4</a:t>
            </a:r>
            <a:r>
              <a:rPr lang="zh-CN" altLang="en-US" b="0" baseline="0" dirty="0"/>
              <a:t>。</a:t>
            </a:r>
            <a:endParaRPr lang="en-US" altLang="zh-CN" b="0" baseline="0" dirty="0"/>
          </a:p>
          <a:p>
            <a:pPr marL="0" marR="0" indent="0" algn="l" defTabSz="914400" rtl="0" eaLnBrk="1" fontAlgn="auto" latinLnBrk="0" hangingPunct="1">
              <a:lnSpc>
                <a:spcPct val="100000"/>
              </a:lnSpc>
              <a:spcBef>
                <a:spcPts val="0"/>
              </a:spcBef>
              <a:spcAft>
                <a:spcPts val="0"/>
              </a:spcAft>
              <a:buClrTx/>
              <a:buSzTx/>
              <a:buFontTx/>
              <a:buNone/>
              <a:defRPr/>
            </a:pPr>
            <a:r>
              <a:rPr lang="en-US" b="0" baseline="0" dirty="0"/>
              <a:t>4.</a:t>
            </a:r>
            <a:r>
              <a:rPr lang="zh-CN" altLang="en-US" b="0" baseline="0" dirty="0"/>
              <a:t> 这个时候液态合金中的</a:t>
            </a:r>
            <a:r>
              <a:rPr lang="en-US" altLang="zh-CN" b="0" baseline="0" dirty="0"/>
              <a:t>Si</a:t>
            </a:r>
            <a:r>
              <a:rPr lang="zh-CN" altLang="en-US" b="0" baseline="0" dirty="0"/>
              <a:t>比例继续增加，形成过饱和状态。按照相图是不能容纳</a:t>
            </a:r>
            <a:r>
              <a:rPr lang="en-US" altLang="zh-CN" b="0" baseline="0" dirty="0"/>
              <a:t>Si</a:t>
            </a:r>
            <a:r>
              <a:rPr lang="zh-CN" altLang="en-US" b="0" baseline="0" dirty="0"/>
              <a:t>，整个液态合金的比例必须保持不变。所以多的</a:t>
            </a:r>
            <a:r>
              <a:rPr lang="en-US" altLang="zh-CN" b="0" baseline="0" dirty="0"/>
              <a:t>Si</a:t>
            </a:r>
            <a:r>
              <a:rPr lang="zh-CN" altLang="en-US" b="0" baseline="0" dirty="0"/>
              <a:t>会从在过饱和的时候成核，然后析出。一旦析出，那么就不断有硅在固液界面析出来。生长成为纳米线。</a:t>
            </a:r>
            <a:endParaRPr lang="en-US" b="1" dirty="0"/>
          </a:p>
        </p:txBody>
      </p:sp>
      <p:sp>
        <p:nvSpPr>
          <p:cNvPr id="4" name="Slide Number Placeholder 3"/>
          <p:cNvSpPr>
            <a:spLocks noGrp="1"/>
          </p:cNvSpPr>
          <p:nvPr>
            <p:ph type="sldNum" sz="quarter" idx="10"/>
          </p:nvPr>
        </p:nvSpPr>
        <p:spPr/>
        <p:txBody>
          <a:bodyPr/>
          <a:lstStyle/>
          <a:p>
            <a:fld id="{165108AB-F13B-4E70-9D9A-91ADDBDD0C26}" type="slidenum">
              <a:rPr lang="en-US" smtClean="0"/>
              <a:t>44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在某一个方向上的生长不能超过其对应平行线（方向速度限制）</a:t>
            </a:r>
            <a:r>
              <a:rPr lang="en-US" altLang="zh-CN" dirty="0"/>
              <a:t>;</a:t>
            </a:r>
          </a:p>
          <a:p>
            <a:r>
              <a:rPr lang="zh-CN" altLang="en-US" dirty="0"/>
              <a:t>这个法则也有缺陷的地方，有同学认为密度越高，对外来原子的吸附能力也越强。。。；我认为每个原子对于发现方向只有一个不饱和的悬挂键，加上原子分子间作用力是短程力，所以面间距起到的作用更加重要。。。</a:t>
            </a:r>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dirty="0">
                <a:latin typeface="Times New Roman" panose="02020603050405020304" pitchFamily="18" charset="0"/>
                <a:ea typeface="宋体" panose="02010600030101010101" pitchFamily="2" charset="-122"/>
              </a:rPr>
              <a:t>为什么大晶体上的晶面种类少而且简单，小晶体上的晶面种类多且复杂。</a:t>
            </a:r>
            <a:r>
              <a:rPr lang="en-US" altLang="zh-CN" sz="1200" b="0" dirty="0">
                <a:latin typeface="Times New Roman" panose="02020603050405020304" pitchFamily="18" charset="0"/>
                <a:ea typeface="宋体" panose="02010600030101010101" pitchFamily="2" charset="-122"/>
              </a:rPr>
              <a:t>--》</a:t>
            </a:r>
            <a:r>
              <a:rPr lang="zh-CN" altLang="en-US" sz="1200" b="0" dirty="0">
                <a:latin typeface="Times New Roman" panose="02020603050405020304" pitchFamily="18" charset="0"/>
                <a:ea typeface="宋体" panose="02010600030101010101" pitchFamily="2" charset="-122"/>
              </a:rPr>
              <a:t>长没了</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dirty="0">
                <a:latin typeface="Times New Roman" panose="02020603050405020304" pitchFamily="18" charset="0"/>
                <a:ea typeface="宋体" panose="02010600030101010101" pitchFamily="2" charset="-122"/>
              </a:rPr>
              <a:t>为什么大晶体上的晶面种类少而且简单，小晶体上的晶面种类多且复杂。</a:t>
            </a:r>
            <a:r>
              <a:rPr lang="en-US" altLang="zh-CN" sz="1200" b="0" dirty="0">
                <a:latin typeface="Times New Roman" panose="02020603050405020304" pitchFamily="18" charset="0"/>
                <a:ea typeface="宋体" panose="02010600030101010101" pitchFamily="2" charset="-122"/>
              </a:rPr>
              <a:t>--》</a:t>
            </a:r>
            <a:r>
              <a:rPr lang="zh-CN" altLang="en-US" sz="1200" b="0" dirty="0">
                <a:latin typeface="Times New Roman" panose="02020603050405020304" pitchFamily="18" charset="0"/>
                <a:ea typeface="宋体" panose="02010600030101010101" pitchFamily="2" charset="-122"/>
              </a:rPr>
              <a:t>长没了</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48</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该理论从晶体结构的几何特点和质点能量两方面来探讨界面的生长发育。哈特曼和柏多克等认为在晶体结构中存在一系列周期性重复的强键链，其重复特征与晶体中质点的周期性重复相一致，这样的强键链称为周期键链（</a:t>
            </a:r>
            <a:r>
              <a:rPr lang="en-US" altLang="zh-CN" dirty="0"/>
              <a:t>periodic bond chain</a:t>
            </a:r>
            <a:r>
              <a:rPr lang="zh-CN" altLang="en-US" dirty="0"/>
              <a:t>，简写为</a:t>
            </a:r>
            <a:r>
              <a:rPr lang="en-US" altLang="zh-CN" dirty="0"/>
              <a:t>PBC</a:t>
            </a:r>
            <a:r>
              <a:rPr lang="zh-CN" altLang="en-US" dirty="0"/>
              <a:t>），晶体均平行键链生长，键力最强的方向生长最快，基于这种考虑，可将晶体生长过程中所能出现的晶面划分为三种类型，分别为</a:t>
            </a:r>
            <a:r>
              <a:rPr lang="en-US" altLang="zh-CN" dirty="0"/>
              <a:t>F</a:t>
            </a:r>
            <a:r>
              <a:rPr lang="zh-CN" altLang="en-US" dirty="0"/>
              <a:t>，</a:t>
            </a:r>
            <a:r>
              <a:rPr lang="en-US" altLang="zh-CN" dirty="0"/>
              <a:t>S</a:t>
            </a:r>
            <a:r>
              <a:rPr lang="zh-CN" altLang="en-US" dirty="0"/>
              <a:t>和</a:t>
            </a:r>
            <a:r>
              <a:rPr lang="en-US" altLang="zh-CN" dirty="0"/>
              <a:t>K</a:t>
            </a:r>
            <a:r>
              <a:rPr lang="zh-CN" altLang="en-US" dirty="0"/>
              <a:t>。</a:t>
            </a:r>
          </a:p>
          <a:p>
            <a:endParaRPr lang="en-US" altLang="zh-CN" dirty="0"/>
          </a:p>
          <a:p>
            <a:r>
              <a:rPr lang="en-US" altLang="zh-CN" dirty="0"/>
              <a:t>F</a:t>
            </a:r>
            <a:r>
              <a:rPr lang="zh-CN" altLang="en-US" dirty="0"/>
              <a:t>面，或称平坦面，有两个以上的</a:t>
            </a:r>
            <a:r>
              <a:rPr lang="en-US" altLang="zh-CN" dirty="0"/>
              <a:t>PBC</a:t>
            </a:r>
            <a:r>
              <a:rPr lang="zh-CN" altLang="en-US" dirty="0"/>
              <a:t>与之平行，网面密度最大。质点结合到</a:t>
            </a:r>
            <a:r>
              <a:rPr lang="en-US" altLang="zh-CN" dirty="0"/>
              <a:t>F</a:t>
            </a:r>
            <a:r>
              <a:rPr lang="zh-CN" altLang="en-US" dirty="0"/>
              <a:t>面上去时，只形成一个强键，晶面生长速度慢，易于形成晶体的主要晶面。</a:t>
            </a:r>
          </a:p>
          <a:p>
            <a:r>
              <a:rPr lang="en-US" altLang="zh-CN" dirty="0"/>
              <a:t>S</a:t>
            </a:r>
            <a:r>
              <a:rPr lang="zh-CN" altLang="en-US" dirty="0"/>
              <a:t>面，或称阶梯面只有一个</a:t>
            </a:r>
            <a:r>
              <a:rPr lang="en-US" altLang="zh-CN" dirty="0"/>
              <a:t>PBC</a:t>
            </a:r>
            <a:r>
              <a:rPr lang="zh-CN" altLang="en-US" dirty="0"/>
              <a:t>与之平行，网面密度中等。质点结合到</a:t>
            </a:r>
            <a:r>
              <a:rPr lang="en-US" altLang="zh-CN" dirty="0"/>
              <a:t>S</a:t>
            </a:r>
            <a:r>
              <a:rPr lang="zh-CN" altLang="en-US" dirty="0"/>
              <a:t>面上去时，形成的强键至少比</a:t>
            </a:r>
            <a:r>
              <a:rPr lang="en-US" altLang="zh-CN" dirty="0"/>
              <a:t>F</a:t>
            </a:r>
            <a:r>
              <a:rPr lang="zh-CN" altLang="en-US" dirty="0"/>
              <a:t>面多一个，晶面生长速度属于中等。</a:t>
            </a:r>
          </a:p>
          <a:p>
            <a:r>
              <a:rPr lang="en-US" altLang="zh-CN" dirty="0"/>
              <a:t>K</a:t>
            </a:r>
            <a:r>
              <a:rPr lang="zh-CN" altLang="en-US" dirty="0"/>
              <a:t>面， 或称扭折面，不平行任何</a:t>
            </a:r>
            <a:r>
              <a:rPr lang="en-US" altLang="zh-CN" dirty="0"/>
              <a:t>PBC</a:t>
            </a:r>
            <a:r>
              <a:rPr lang="zh-CN" altLang="en-US" dirty="0"/>
              <a:t>，网面密度最小，扭折处的发现方向与</a:t>
            </a:r>
            <a:r>
              <a:rPr lang="en-US" altLang="zh-CN" dirty="0"/>
              <a:t>PBC</a:t>
            </a:r>
            <a:r>
              <a:rPr lang="zh-CN" altLang="en-US" dirty="0"/>
              <a:t>一致，质点极其容易从扭折处进入晶格，晶面生长速率快，时易消失的晶面。 因此，晶体上</a:t>
            </a:r>
            <a:r>
              <a:rPr lang="en-US" altLang="zh-CN" dirty="0"/>
              <a:t>F</a:t>
            </a:r>
            <a:r>
              <a:rPr lang="zh-CN" altLang="en-US" dirty="0"/>
              <a:t>面为最常见且发育较大的面，</a:t>
            </a:r>
            <a:r>
              <a:rPr lang="en-US" altLang="zh-CN" dirty="0"/>
              <a:t>K</a:t>
            </a:r>
            <a:r>
              <a:rPr lang="zh-CN" altLang="en-US" dirty="0"/>
              <a:t>面经常缺失或罕见。</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49</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a:t>
            </a:r>
            <a:r>
              <a:rPr lang="zh-CN" altLang="en-US" dirty="0"/>
              <a:t>面，或称平坦面，有两个以上的</a:t>
            </a:r>
            <a:r>
              <a:rPr lang="en-US" altLang="zh-CN" dirty="0"/>
              <a:t>PBC</a:t>
            </a:r>
            <a:r>
              <a:rPr lang="zh-CN" altLang="en-US" dirty="0"/>
              <a:t>与之平行，网面密度最大。质点结合到</a:t>
            </a:r>
            <a:r>
              <a:rPr lang="en-US" altLang="zh-CN" dirty="0"/>
              <a:t>F</a:t>
            </a:r>
            <a:r>
              <a:rPr lang="zh-CN" altLang="en-US" dirty="0"/>
              <a:t>面上去时，只形成一个强键，晶面生长速度慢，易于形成晶体的主要晶面。</a:t>
            </a:r>
          </a:p>
          <a:p>
            <a:r>
              <a:rPr lang="en-US" altLang="zh-CN" dirty="0"/>
              <a:t>S</a:t>
            </a:r>
            <a:r>
              <a:rPr lang="zh-CN" altLang="en-US" dirty="0"/>
              <a:t>面，或称阶梯面只有一个</a:t>
            </a:r>
            <a:r>
              <a:rPr lang="en-US" altLang="zh-CN" dirty="0"/>
              <a:t>PBC</a:t>
            </a:r>
            <a:r>
              <a:rPr lang="zh-CN" altLang="en-US" dirty="0"/>
              <a:t>与之平行，网面密度中等。质点结合到</a:t>
            </a:r>
            <a:r>
              <a:rPr lang="en-US" altLang="zh-CN" dirty="0"/>
              <a:t>S</a:t>
            </a:r>
            <a:r>
              <a:rPr lang="zh-CN" altLang="en-US" dirty="0"/>
              <a:t>面上去时，形成的强键至少比</a:t>
            </a:r>
            <a:r>
              <a:rPr lang="en-US" altLang="zh-CN" dirty="0"/>
              <a:t>F</a:t>
            </a:r>
            <a:r>
              <a:rPr lang="zh-CN" altLang="en-US" dirty="0"/>
              <a:t>面多一个，晶面生长速度属于中等。</a:t>
            </a:r>
          </a:p>
          <a:p>
            <a:r>
              <a:rPr lang="en-US" altLang="zh-CN" dirty="0"/>
              <a:t>K</a:t>
            </a:r>
            <a:r>
              <a:rPr lang="zh-CN" altLang="en-US" dirty="0"/>
              <a:t>面， 或称扭折面，不平行任何</a:t>
            </a:r>
            <a:r>
              <a:rPr lang="en-US" altLang="zh-CN" dirty="0"/>
              <a:t>PBC</a:t>
            </a:r>
            <a:r>
              <a:rPr lang="zh-CN" altLang="en-US" dirty="0"/>
              <a:t>，网面密度最小，扭折处的发现方向与</a:t>
            </a:r>
            <a:r>
              <a:rPr lang="en-US" altLang="zh-CN" dirty="0"/>
              <a:t>PBC</a:t>
            </a:r>
            <a:r>
              <a:rPr lang="zh-CN" altLang="en-US" dirty="0"/>
              <a:t>一致，质点极其容易从扭折处进入晶格，晶面生长速率快，时易消失的晶面。 因此，晶体上</a:t>
            </a:r>
            <a:r>
              <a:rPr lang="en-US" altLang="zh-CN" dirty="0"/>
              <a:t>F</a:t>
            </a:r>
            <a:r>
              <a:rPr lang="zh-CN" altLang="en-US" dirty="0"/>
              <a:t>面为最常见且发育较大的面，</a:t>
            </a:r>
            <a:r>
              <a:rPr lang="en-US" altLang="zh-CN" dirty="0"/>
              <a:t>K</a:t>
            </a:r>
            <a:r>
              <a:rPr lang="zh-CN" altLang="en-US" dirty="0"/>
              <a:t>面经常缺失或罕见。</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50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表面能大小由什么决定？</a:t>
            </a:r>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52</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联合国总部 </a:t>
            </a:r>
            <a:r>
              <a:rPr lang="en-US" sz="1200" b="0" i="0" kern="1200" dirty="0">
                <a:solidFill>
                  <a:schemeClr val="tx1"/>
                </a:solidFill>
                <a:effectLst/>
                <a:latin typeface="+mn-lt"/>
                <a:ea typeface="+mn-ea"/>
                <a:cs typeface="+mn-cs"/>
              </a:rPr>
              <a:t>UN headquarter </a:t>
            </a:r>
            <a:endParaRPr 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59</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pPr>
              <a:defRPr/>
            </a:pPr>
            <a:fld id="{EE74FEFB-5C9D-4FDD-9DA3-FB375CC818A2}" type="slidenum">
              <a:rPr lang="en-US" smtClean="0"/>
              <a:t>61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solidFill>
                  <a:srgbClr val="191919"/>
                </a:solidFill>
                <a:effectLst/>
                <a:latin typeface="PingFang SC"/>
              </a:rPr>
              <a:t>2020</a:t>
            </a:r>
            <a:r>
              <a:rPr lang="zh-CN" altLang="en-US" b="0" i="0" dirty="0">
                <a:solidFill>
                  <a:srgbClr val="191919"/>
                </a:solidFill>
                <a:effectLst/>
                <a:latin typeface="PingFang SC"/>
              </a:rPr>
              <a:t>年诺贝尔物理学奖再次颁发给天体物理学，近四年来已经第三次颁给天体物理学，而黑洞研究作为天体物理领域的最重要进展获得诺奖也是众望所归。</a:t>
            </a:r>
          </a:p>
          <a:p>
            <a:pPr algn="l"/>
            <a:r>
              <a:rPr lang="zh-CN" altLang="en-US" b="0" i="0" dirty="0">
                <a:solidFill>
                  <a:srgbClr val="191919"/>
                </a:solidFill>
                <a:effectLst/>
                <a:latin typeface="PingFang SC"/>
              </a:rPr>
              <a:t>这三位科学家，</a:t>
            </a:r>
            <a:r>
              <a:rPr lang="en-US" altLang="zh-CN" b="0" i="0" dirty="0">
                <a:solidFill>
                  <a:srgbClr val="191919"/>
                </a:solidFill>
                <a:effectLst/>
                <a:latin typeface="PingFang SC"/>
              </a:rPr>
              <a:t>Roger Penrose</a:t>
            </a:r>
            <a:r>
              <a:rPr lang="zh-CN" altLang="en-US" b="0" i="0" dirty="0">
                <a:solidFill>
                  <a:srgbClr val="191919"/>
                </a:solidFill>
                <a:effectLst/>
                <a:latin typeface="PingFang SC"/>
              </a:rPr>
              <a:t>表明，相对论的一般理论导致了黑洞的形成；</a:t>
            </a:r>
            <a:r>
              <a:rPr lang="en-US" altLang="zh-CN" b="0" i="0" dirty="0">
                <a:solidFill>
                  <a:srgbClr val="191919"/>
                </a:solidFill>
                <a:effectLst/>
                <a:latin typeface="PingFang SC"/>
              </a:rPr>
              <a:t>Reinhard Genzel</a:t>
            </a:r>
            <a:r>
              <a:rPr lang="zh-CN" altLang="en-US" b="0" i="0" dirty="0">
                <a:solidFill>
                  <a:srgbClr val="191919"/>
                </a:solidFill>
                <a:effectLst/>
                <a:latin typeface="PingFang SC"/>
              </a:rPr>
              <a:t>和</a:t>
            </a:r>
            <a:r>
              <a:rPr lang="en-US" altLang="zh-CN" b="0" i="0" dirty="0">
                <a:solidFill>
                  <a:srgbClr val="191919"/>
                </a:solidFill>
                <a:effectLst/>
                <a:latin typeface="PingFang SC"/>
              </a:rPr>
              <a:t>Andrea </a:t>
            </a:r>
            <a:r>
              <a:rPr lang="en-US" altLang="zh-CN" b="0" i="0" dirty="0" err="1">
                <a:solidFill>
                  <a:srgbClr val="191919"/>
                </a:solidFill>
                <a:effectLst/>
                <a:latin typeface="PingFang SC"/>
              </a:rPr>
              <a:t>Ghez</a:t>
            </a:r>
            <a:r>
              <a:rPr lang="zh-CN" altLang="en-US" b="0" i="0" dirty="0">
                <a:solidFill>
                  <a:srgbClr val="191919"/>
                </a:solidFill>
                <a:effectLst/>
                <a:latin typeface="PingFang SC"/>
              </a:rPr>
              <a:t>发现，一个隐形且极重的物体控制着我们银河系中心恒星的轨道，超大质量黑洞是目前唯一已知的解释。</a:t>
            </a:r>
          </a:p>
          <a:p>
            <a:endParaRPr lang="en-US" altLang="zh-CN" dirty="0"/>
          </a:p>
          <a:p>
            <a:pPr algn="l"/>
            <a:r>
              <a:rPr lang="zh-CN" altLang="en-US" b="0" i="0" dirty="0">
                <a:solidFill>
                  <a:srgbClr val="191919"/>
                </a:solidFill>
                <a:effectLst/>
                <a:latin typeface="PingFang SC"/>
              </a:rPr>
              <a:t>诺贝尔化学奖被调侃为“理科综合奖”，不少人的获奖成就并非出自传统的化学研究，而是涉及生物学、物理学等多重学科。今年的化学奖就是颁给了两位生物学家，两位科学家发现了基因技术中最犀利的工具之一：</a:t>
            </a:r>
            <a:r>
              <a:rPr lang="en-US" altLang="zh-CN" b="0" i="0" dirty="0">
                <a:solidFill>
                  <a:srgbClr val="191919"/>
                </a:solidFill>
                <a:effectLst/>
                <a:latin typeface="PingFang SC"/>
              </a:rPr>
              <a:t>CRISPR/Cas9</a:t>
            </a:r>
            <a:r>
              <a:rPr lang="zh-CN" altLang="en-US" b="0" i="0" dirty="0">
                <a:solidFill>
                  <a:srgbClr val="191919"/>
                </a:solidFill>
                <a:effectLst/>
                <a:latin typeface="PingFang SC"/>
              </a:rPr>
              <a:t>基因剪刀。</a:t>
            </a:r>
          </a:p>
          <a:p>
            <a:pPr algn="l"/>
            <a:r>
              <a:rPr lang="zh-CN" altLang="en-US" b="0" i="0" dirty="0">
                <a:solidFill>
                  <a:srgbClr val="191919"/>
                </a:solidFill>
                <a:effectLst/>
                <a:latin typeface="PingFang SC"/>
              </a:rPr>
              <a:t>使用这项基因技术，研究人员可以非常高精度地改变动物、植物以及微生物</a:t>
            </a:r>
            <a:r>
              <a:rPr lang="en-US" altLang="zh-CN" b="0" i="0" dirty="0">
                <a:solidFill>
                  <a:srgbClr val="191919"/>
                </a:solidFill>
                <a:effectLst/>
                <a:latin typeface="PingFang SC"/>
              </a:rPr>
              <a:t>DNA</a:t>
            </a:r>
            <a:r>
              <a:rPr lang="zh-CN" altLang="en-US" b="0" i="0" dirty="0">
                <a:solidFill>
                  <a:srgbClr val="191919"/>
                </a:solidFill>
                <a:effectLst/>
                <a:latin typeface="PingFang SC"/>
              </a:rPr>
              <a:t>。这项技术对生命科学产生了革命性的影响，正在为新的癌症疗法做出贡献，并可能使治愈遗传性疾病的梦想成真。</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EE74FEFB-5C9D-4FDD-9DA3-FB375CC818A2}" type="slidenum">
              <a:rPr lang="en-US" smtClean="0"/>
              <a:t>75</a:t>
            </a:fld>
            <a:endParaRPr lang="en-US"/>
          </a:p>
        </p:txBody>
      </p:sp>
    </p:spTree>
    <p:extLst>
      <p:ext uri="{BB962C8B-B14F-4D97-AF65-F5344CB8AC3E}">
        <p14:creationId xmlns:p14="http://schemas.microsoft.com/office/powerpoint/2010/main" val="395797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9001125" y="4846638"/>
            <a:ext cx="142875" cy="20113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9001125" y="0"/>
            <a:ext cx="142875" cy="48466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ctrTitle"/>
          </p:nvPr>
        </p:nvSpPr>
        <p:spPr>
          <a:xfrm>
            <a:off x="457200" y="228600"/>
            <a:ext cx="7772400" cy="4571999"/>
          </a:xfrm>
        </p:spPr>
        <p:txBody>
          <a:bodyPr anchor="ctr">
            <a:noAutofit/>
          </a:bodyPr>
          <a:lstStyle>
            <a:lvl1pPr algn="ctr" rtl="0" eaLnBrk="1" fontAlgn="auto" hangingPunct="1">
              <a:lnSpc>
                <a:spcPct val="100000"/>
              </a:lnSpc>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stStyle>
          <a:p>
            <a:r>
              <a:rPr lang="en-US" dirty="0"/>
              <a:t>Click to edit Master title style</a:t>
            </a:r>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ltLang="zh-CN"/>
          </a:p>
        </p:txBody>
      </p:sp>
      <p:sp>
        <p:nvSpPr>
          <p:cNvPr id="7" name="Footer Placeholder 4"/>
          <p:cNvSpPr>
            <a:spLocks noGrp="1"/>
          </p:cNvSpPr>
          <p:nvPr>
            <p:ph type="ftr" sz="quarter" idx="11"/>
          </p:nvPr>
        </p:nvSpPr>
        <p:spPr/>
        <p:txBody>
          <a:bodyPr/>
          <a:lstStyle>
            <a:lvl1pPr>
              <a:defRPr/>
            </a:lvl1pPr>
          </a:lstStyle>
          <a:p>
            <a:pPr>
              <a:defRPr/>
            </a:pPr>
            <a:endParaRPr lang="en-US" altLang="zh-CN"/>
          </a:p>
        </p:txBody>
      </p:sp>
      <p:sp>
        <p:nvSpPr>
          <p:cNvPr id="8" name="Slide Number Placeholder 5"/>
          <p:cNvSpPr>
            <a:spLocks noGrp="1"/>
          </p:cNvSpPr>
          <p:nvPr>
            <p:ph type="sldNum" sz="quarter" idx="12"/>
          </p:nvPr>
        </p:nvSpPr>
        <p:spPr/>
        <p:txBody>
          <a:bodyPr/>
          <a:lstStyle>
            <a:lvl1pPr>
              <a:defRPr>
                <a:solidFill>
                  <a:schemeClr val="tx1"/>
                </a:solidFill>
              </a:defRPr>
            </a:lvl1pPr>
          </a:lstStyle>
          <a:p>
            <a:pPr>
              <a:defRPr/>
            </a:pPr>
            <a:fld id="{05D7D2E9-BF4E-42CC-9D18-B9209F2F178E}"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ctr" rtl="0" eaLnBrk="1" fontAlgn="auto" hangingPunct="1">
              <a:spcBef>
                <a:spcPct val="0"/>
              </a:spcBef>
              <a:spcAft>
                <a:spcPts val="0"/>
              </a:spcAft>
              <a:defRPr kumimoji="1" lang="en-US" sz="3200" b="1" kern="1200" cap="none" spc="-60" dirty="0">
                <a:solidFill>
                  <a:srgbClr val="FF0066"/>
                </a:solidFill>
                <a:effectLst>
                  <a:outerShdw blurRad="38100" dist="38100" dir="2700000" algn="tl">
                    <a:srgbClr val="000000"/>
                  </a:outerShdw>
                </a:effectLst>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483C8CCB-2D58-44C5-975C-448546CC998D}"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ctr" rtl="0" eaLnBrk="1" fontAlgn="auto" hangingPunct="1">
              <a:lnSpc>
                <a:spcPct val="100000"/>
              </a:lnSpc>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stStyle>
          <a:p>
            <a:r>
              <a:rPr lang="en-US" dirty="0"/>
              <a:t>Click to edit Master title style</a:t>
            </a:r>
          </a:p>
        </p:txBody>
      </p:sp>
      <p:sp>
        <p:nvSpPr>
          <p:cNvPr id="3" name="Text Placeholder 2"/>
          <p:cNvSpPr>
            <a:spLocks noGrp="1"/>
          </p:cNvSpPr>
          <p:nvPr>
            <p:ph type="body" idx="1" hasCustomPrompt="1"/>
          </p:nvPr>
        </p:nvSpPr>
        <p:spPr>
          <a:xfrm>
            <a:off x="457200" y="228601"/>
            <a:ext cx="7772400" cy="1066800"/>
          </a:xfrm>
        </p:spPr>
        <p:txBody>
          <a:bodyPr anchor="b"/>
          <a:lstStyle>
            <a:lvl1pPr marL="0" indent="0" algn="ctr" rtl="0" eaLnBrk="1" fontAlgn="auto" hangingPunct="1">
              <a:lnSpc>
                <a:spcPct val="100000"/>
              </a:lnSpc>
              <a:spcBef>
                <a:spcPct val="0"/>
              </a:spcBef>
              <a:spcAft>
                <a:spcPts val="0"/>
              </a:spcAft>
              <a:buNone/>
              <a:defRPr kumimoji="1" lang="en-US" sz="3200" b="1" kern="1200" cap="none" spc="-60" dirty="0" smtClean="0">
                <a:solidFill>
                  <a:srgbClr val="FF0066"/>
                </a:solidFill>
                <a:effectLst>
                  <a:outerShdw blurRad="38100" dist="38100" dir="2700000" algn="tl">
                    <a:srgbClr val="000000"/>
                  </a:outerShdw>
                </a:effectLst>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0E3A14B3-DE60-4AF9-99CA-43843F991B64}"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D6D73B09-27E8-4BBB-B95B-58EF579F8CF2}"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A67BF1C2-0632-4BE7-89F5-C68B4626A605}"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D31B74C2-ACF9-4AC9-AF30-C687D1797BD7}"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US" altLang="zh-CN"/>
          </a:p>
        </p:txBody>
      </p:sp>
      <p:sp>
        <p:nvSpPr>
          <p:cNvPr id="4" name="Slide Number Placeholder 5"/>
          <p:cNvSpPr>
            <a:spLocks noGrp="1"/>
          </p:cNvSpPr>
          <p:nvPr>
            <p:ph type="sldNum" sz="quarter" idx="12"/>
          </p:nvPr>
        </p:nvSpPr>
        <p:spPr/>
        <p:txBody>
          <a:bodyPr/>
          <a:lstStyle>
            <a:lvl1pPr>
              <a:defRPr/>
            </a:lvl1pPr>
          </a:lstStyle>
          <a:p>
            <a:pPr>
              <a:defRPr/>
            </a:pPr>
            <a:fld id="{0CA1A317-142D-407A-AD32-51DEA3F4E0DB}"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7"/>
          <p:cNvSpPr>
            <a:spLocks noGrp="1"/>
          </p:cNvSpPr>
          <p:nvPr>
            <p:ph type="title"/>
          </p:nvPr>
        </p:nvSpPr>
        <p:spPr/>
        <p:txBody>
          <a:bodyPr/>
          <a:lstStyle/>
          <a:p>
            <a:r>
              <a:rPr lang="en-US"/>
              <a:t>Click to edit Master title style</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9676CE2C-91EA-4C17-99D0-517D4530B43F}"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9001125" y="4846638"/>
            <a:ext cx="142875" cy="20113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9001125" y="0"/>
            <a:ext cx="142875" cy="48466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7"/>
          <p:cNvSpPr>
            <a:spLocks noGrp="1"/>
          </p:cNvSpPr>
          <p:nvPr>
            <p:ph type="title"/>
          </p:nvPr>
        </p:nvSpPr>
        <p:spPr>
          <a:xfrm>
            <a:off x="457200" y="4953000"/>
            <a:ext cx="8153400" cy="762000"/>
          </a:xfrm>
        </p:spPr>
        <p:txBody>
          <a:bodyPr anchor="t"/>
          <a:lstStyle>
            <a:lvl1pPr>
              <a:defRPr sz="3200"/>
            </a:lvl1pPr>
          </a:lstStyle>
          <a:p>
            <a:r>
              <a:rPr lang="en-US"/>
              <a:t>Click to edit Master title style</a:t>
            </a:r>
            <a:endParaRPr lang="en-US" dirty="0"/>
          </a:p>
        </p:txBody>
      </p:sp>
      <p:sp>
        <p:nvSpPr>
          <p:cNvPr id="7" name="Date Placeholder 4"/>
          <p:cNvSpPr>
            <a:spLocks noGrp="1"/>
          </p:cNvSpPr>
          <p:nvPr>
            <p:ph type="dt" sz="half" idx="10"/>
          </p:nvPr>
        </p:nvSpPr>
        <p:spPr/>
        <p:txBody>
          <a:bodyPr/>
          <a:lstStyle>
            <a:lvl1pPr>
              <a:defRPr/>
            </a:lvl1pPr>
          </a:lstStyle>
          <a:p>
            <a:pPr>
              <a:defRPr/>
            </a:pPr>
            <a:endParaRPr lang="en-US" altLang="zh-CN"/>
          </a:p>
        </p:txBody>
      </p:sp>
      <p:sp>
        <p:nvSpPr>
          <p:cNvPr id="9" name="Footer Placeholder 5"/>
          <p:cNvSpPr>
            <a:spLocks noGrp="1"/>
          </p:cNvSpPr>
          <p:nvPr>
            <p:ph type="ftr" sz="quarter" idx="11"/>
          </p:nvPr>
        </p:nvSpPr>
        <p:spPr/>
        <p:txBody>
          <a:bodyPr/>
          <a:lstStyle>
            <a:lvl1pPr>
              <a:defRPr/>
            </a:lvl1pPr>
          </a:lstStyle>
          <a:p>
            <a:pPr>
              <a:defRPr/>
            </a:pPr>
            <a:endParaRPr lang="en-US" altLang="zh-CN"/>
          </a:p>
        </p:txBody>
      </p:sp>
      <p:sp>
        <p:nvSpPr>
          <p:cNvPr id="10" name="Slide Number Placeholder 6"/>
          <p:cNvSpPr>
            <a:spLocks noGrp="1"/>
          </p:cNvSpPr>
          <p:nvPr>
            <p:ph type="sldNum" sz="quarter" idx="12"/>
          </p:nvPr>
        </p:nvSpPr>
        <p:spPr/>
        <p:txBody>
          <a:bodyPr/>
          <a:lstStyle>
            <a:lvl1pPr>
              <a:defRPr>
                <a:solidFill>
                  <a:schemeClr val="tx1"/>
                </a:solidFill>
              </a:defRPr>
            </a:lvl1pPr>
          </a:lstStyle>
          <a:p>
            <a:pPr>
              <a:defRPr/>
            </a:pPr>
            <a:fld id="{0043F532-29B4-493F-B026-723C5A70A14D}"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6E108AE5-802E-49E8-A9B1-6D512D6FB989}"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D04A1AB1-890D-4069-B434-3D5727A71F51}"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solidFill>
                  <a:srgbClr val="FFFFFF"/>
                </a:solidFill>
              </a:defRPr>
            </a:lvl1pPr>
          </a:lstStyle>
          <a:p>
            <a:pPr>
              <a:defRPr/>
            </a:pPr>
            <a:endParaRPr lang="en-US" altLang="zh-CN"/>
          </a:p>
        </p:txBody>
      </p:sp>
      <p:sp>
        <p:nvSpPr>
          <p:cNvPr id="6" name="Footer Placeholder 5"/>
          <p:cNvSpPr>
            <a:spLocks noGrp="1"/>
          </p:cNvSpPr>
          <p:nvPr>
            <p:ph type="ftr" sz="quarter" idx="11"/>
          </p:nvPr>
        </p:nvSpPr>
        <p:spPr>
          <a:xfrm>
            <a:off x="3124200" y="6245225"/>
            <a:ext cx="2895600" cy="476250"/>
          </a:xfrm>
        </p:spPr>
        <p:txBody>
          <a:bodyPr/>
          <a:lstStyle>
            <a:lvl1pPr>
              <a:defRPr>
                <a:solidFill>
                  <a:srgbClr val="FFFFFF"/>
                </a:solidFill>
              </a:defRPr>
            </a:lvl1pPr>
          </a:lstStyle>
          <a:p>
            <a:pPr>
              <a:defRPr/>
            </a:pPr>
            <a:endParaRPr lang="en-US" altLang="zh-CN"/>
          </a:p>
        </p:txBody>
      </p:sp>
      <p:sp>
        <p:nvSpPr>
          <p:cNvPr id="7" name="Slide Number Placeholder 6"/>
          <p:cNvSpPr>
            <a:spLocks noGrp="1"/>
          </p:cNvSpPr>
          <p:nvPr>
            <p:ph type="sldNum" sz="quarter" idx="12"/>
          </p:nvPr>
        </p:nvSpPr>
        <p:spPr>
          <a:xfrm>
            <a:off x="6553200" y="6245225"/>
            <a:ext cx="2133600" cy="476250"/>
          </a:xfrm>
        </p:spPr>
        <p:txBody>
          <a:bodyPr/>
          <a:lstStyle>
            <a:lvl1pPr>
              <a:defRPr>
                <a:solidFill>
                  <a:srgbClr val="FFFFFF"/>
                </a:solidFill>
              </a:defRPr>
            </a:lvl1pPr>
          </a:lstStyle>
          <a:p>
            <a:pPr>
              <a:defRPr/>
            </a:pPr>
            <a:fld id="{D13564EE-14A5-4A26-A213-B5D9678B6A86}" type="slidenum">
              <a:rPr lang="en-US" altLang="zh-CN"/>
              <a:t>‹#›</a:t>
            </a:fld>
            <a:endParaRPr lang="en-US" altLang="zh-CN"/>
          </a:p>
        </p:txBody>
      </p:sp>
    </p:spTree>
  </p:cSld>
  <p:clrMapOvr>
    <a:masterClrMapping/>
  </p:clrMapOvr>
  <p:transition spd="med">
    <p:zoom dir="in"/>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a:defRPr sz="1000">
                <a:solidFill>
                  <a:schemeClr val="tx1"/>
                </a:solidFill>
                <a:latin typeface="Times New Roman" panose="02020603050405020304" pitchFamily="18" charset="0"/>
              </a:defRPr>
            </a:lvl1pPr>
          </a:lstStyle>
          <a:p>
            <a:pPr>
              <a:defRPr/>
            </a:pPr>
            <a:endParaRPr lang="en-US" altLang="zh-CN"/>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a:defRPr sz="1000">
                <a:solidFill>
                  <a:schemeClr val="tx1"/>
                </a:solidFill>
                <a:latin typeface="Times New Roman" panose="02020603050405020304" pitchFamily="18" charset="0"/>
              </a:defRPr>
            </a:lvl1pPr>
          </a:lstStyle>
          <a:p>
            <a:pPr>
              <a:defRPr/>
            </a:pPr>
            <a:endParaRPr lang="en-US" altLang="zh-CN"/>
          </a:p>
        </p:txBody>
      </p:sp>
      <p:sp>
        <p:nvSpPr>
          <p:cNvPr id="6" name="Slide Number Placeholder 5"/>
          <p:cNvSpPr>
            <a:spLocks noGrp="1"/>
          </p:cNvSpPr>
          <p:nvPr>
            <p:ph type="sldNum" sz="quarter" idx="4"/>
          </p:nvPr>
        </p:nvSpPr>
        <p:spPr>
          <a:xfrm rot="16200000">
            <a:off x="8227219" y="5885656"/>
            <a:ext cx="1316038" cy="365125"/>
          </a:xfrm>
          <a:prstGeom prst="rect">
            <a:avLst/>
          </a:prstGeom>
        </p:spPr>
        <p:txBody>
          <a:bodyPr vert="horz" lIns="91440" tIns="45720" rIns="91440" bIns="45720" rtlCol="0" anchor="ctr"/>
          <a:lstStyle>
            <a:lvl1pPr algn="l">
              <a:defRPr sz="2400" b="1">
                <a:solidFill>
                  <a:schemeClr val="tx2"/>
                </a:solidFill>
                <a:latin typeface="Times New Roman" panose="02020603050405020304" pitchFamily="18" charset="0"/>
              </a:defRPr>
            </a:lvl1pPr>
          </a:lstStyle>
          <a:p>
            <a:pPr>
              <a:defRPr/>
            </a:pPr>
            <a:fld id="{555BCCF9-4475-48A9-91F5-E58BF86D008C}" type="slidenum">
              <a:rPr lang="en-US" altLang="zh-CN"/>
              <a:t>‹#›</a:t>
            </a:fld>
            <a:endParaRPr lang="en-US" altLang="zh-CN"/>
          </a:p>
        </p:txBody>
      </p:sp>
      <p:sp>
        <p:nvSpPr>
          <p:cNvPr id="7" name="Rectangle 6"/>
          <p:cNvSpPr/>
          <p:nvPr/>
        </p:nvSpPr>
        <p:spPr>
          <a:xfrm>
            <a:off x="9001125" y="0"/>
            <a:ext cx="142875"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9001125" y="1371600"/>
            <a:ext cx="142875"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2pPr>
      <a:lvl3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3pPr>
      <a:lvl4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4pPr>
      <a:lvl5pPr algn="ctr" rtl="0" eaLnBrk="0" fontAlgn="base" hangingPunct="0">
        <a:spcBef>
          <a:spcPct val="0"/>
        </a:spcBef>
        <a:spcAft>
          <a:spcPct val="0"/>
        </a:spcAft>
        <a:defRPr kumimoji="1" sz="3200" b="1">
          <a:solidFill>
            <a:srgbClr val="FF0066"/>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p:titleStyle>
    <p:bodyStyle>
      <a:lvl1pPr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emf"/><Relationship Id="rId7"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6.emf"/><Relationship Id="rId7"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4.png"/><Relationship Id="rId4" Type="http://schemas.openxmlformats.org/officeDocument/2006/relationships/image" Target="../media/image27.png"/><Relationship Id="rId9"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GI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jpeg"/></Relationships>
</file>

<file path=ppt/slides/_rels/slide4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48.png"/><Relationship Id="rId7" Type="http://schemas.openxmlformats.org/officeDocument/2006/relationships/image" Target="../media/image52.jpe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emf"/></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62.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8.jpeg"/><Relationship Id="rId7" Type="http://schemas.openxmlformats.org/officeDocument/2006/relationships/image" Target="../media/image72.png"/><Relationship Id="rId2" Type="http://schemas.openxmlformats.org/officeDocument/2006/relationships/image" Target="../media/image67.jpeg"/><Relationship Id="rId1" Type="http://schemas.openxmlformats.org/officeDocument/2006/relationships/slideLayout" Target="../slideLayouts/slideLayout2.xml"/><Relationship Id="rId6" Type="http://schemas.openxmlformats.org/officeDocument/2006/relationships/image" Target="../media/image71.jpeg"/><Relationship Id="rId5" Type="http://schemas.openxmlformats.org/officeDocument/2006/relationships/image" Target="../media/image70.png"/><Relationship Id="rId4" Type="http://schemas.openxmlformats.org/officeDocument/2006/relationships/image" Target="../media/image69.jpeg"/></Relationships>
</file>

<file path=ppt/slides/_rels/slide57.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60.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slideLayout" Target="../slideLayouts/slideLayout2.xml"/><Relationship Id="rId4" Type="http://schemas.openxmlformats.org/officeDocument/2006/relationships/image" Target="../media/image81.wmf"/></Relationships>
</file>

<file path=ppt/slides/_rels/slide6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hyperlink" Target="http://gemologyproject.com/wiki/index.php?title=Image:Verneuil.png" TargetMode="Externa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image" Target="../media/image90.jpe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Layout" Target="../slideLayouts/slideLayout2.xml"/><Relationship Id="rId4" Type="http://schemas.openxmlformats.org/officeDocument/2006/relationships/image" Target="../media/image94.jpeg"/></Relationships>
</file>

<file path=ppt/slides/_rels/slide70.xml.rels><?xml version="1.0" encoding="UTF-8" standalone="yes"?>
<Relationships xmlns="http://schemas.openxmlformats.org/package/2006/relationships"><Relationship Id="rId2" Type="http://schemas.openxmlformats.org/officeDocument/2006/relationships/image" Target="../media/image95.emf"/><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png"/><Relationship Id="rId3" Type="http://schemas.openxmlformats.org/officeDocument/2006/relationships/image" Target="../media/image98.png"/><Relationship Id="rId7" Type="http://schemas.openxmlformats.org/officeDocument/2006/relationships/image" Target="../media/image102.png"/><Relationship Id="rId12" Type="http://schemas.openxmlformats.org/officeDocument/2006/relationships/image" Target="../media/image107.pn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png"/><Relationship Id="rId15" Type="http://schemas.openxmlformats.org/officeDocument/2006/relationships/image" Target="../media/image110.pn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s>
</file>

<file path=ppt/slides/_rels/slide7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620688"/>
            <a:ext cx="7704856" cy="903312"/>
          </a:xfrm>
        </p:spPr>
        <p:txBody>
          <a:bodyPr>
            <a:normAutofit/>
          </a:bodyPr>
          <a:lstStyle/>
          <a:p>
            <a:r>
              <a:rPr lang="en-US" sz="3600" dirty="0"/>
              <a:t>Quiz 1.1 for chapter I</a:t>
            </a:r>
          </a:p>
        </p:txBody>
      </p:sp>
      <p:sp>
        <p:nvSpPr>
          <p:cNvPr id="3" name="Content Placeholder 2"/>
          <p:cNvSpPr>
            <a:spLocks noGrp="1"/>
          </p:cNvSpPr>
          <p:nvPr>
            <p:ph idx="1"/>
          </p:nvPr>
        </p:nvSpPr>
        <p:spPr>
          <a:xfrm>
            <a:off x="457200" y="1752600"/>
            <a:ext cx="7931224" cy="4700736"/>
          </a:xfrm>
        </p:spPr>
        <p:txBody>
          <a:bodyPr/>
          <a:lstStyle/>
          <a:p>
            <a:pPr marL="457200" indent="-457200">
              <a:buFont typeface="+mj-lt"/>
              <a:buAutoNum type="arabicPeriod"/>
            </a:pPr>
            <a:r>
              <a:rPr lang="en-US" altLang="zh-CN" sz="1800" dirty="0"/>
              <a:t>The difference and connection between crystallography and mineralogy;</a:t>
            </a:r>
          </a:p>
          <a:p>
            <a:pPr marL="457200" indent="-457200">
              <a:buFont typeface="+mj-lt"/>
              <a:buAutoNum type="arabicPeriod"/>
            </a:pPr>
            <a:r>
              <a:rPr lang="en-US" altLang="zh-CN" sz="1800" dirty="0"/>
              <a:t>List crystals and non-crystals in nature and life, at least 3 in each category.</a:t>
            </a:r>
          </a:p>
          <a:p>
            <a:pPr marL="457200" indent="-457200">
              <a:buFont typeface="+mj-lt"/>
              <a:buAutoNum type="arabicPeriod"/>
            </a:pPr>
            <a:r>
              <a:rPr lang="en-US" altLang="zh-CN" sz="1800" dirty="0"/>
              <a:t>Please give the space lattices of the patterns below</a:t>
            </a:r>
          </a:p>
          <a:p>
            <a:pPr marL="457200" indent="-457200">
              <a:buFont typeface="+mj-lt"/>
              <a:buAutoNum type="arabicPeriod"/>
            </a:pPr>
            <a:r>
              <a:rPr lang="en-US" altLang="zh-CN" sz="1800" dirty="0">
                <a:solidFill>
                  <a:srgbClr val="FF0000"/>
                </a:solidFill>
              </a:rPr>
              <a:t>What’s the reason for you to choose the current major?</a:t>
            </a:r>
          </a:p>
          <a:p>
            <a:endParaRPr lang="en-US" sz="1400" dirty="0"/>
          </a:p>
        </p:txBody>
      </p:sp>
      <p:grpSp>
        <p:nvGrpSpPr>
          <p:cNvPr id="104" name="组合 103"/>
          <p:cNvGrpSpPr/>
          <p:nvPr/>
        </p:nvGrpSpPr>
        <p:grpSpPr>
          <a:xfrm>
            <a:off x="539552" y="3933056"/>
            <a:ext cx="7632848" cy="2588565"/>
            <a:chOff x="35496" y="3589055"/>
            <a:chExt cx="8658175" cy="2936289"/>
          </a:xfrm>
        </p:grpSpPr>
        <p:grpSp>
          <p:nvGrpSpPr>
            <p:cNvPr id="4" name="Group 3"/>
            <p:cNvGrpSpPr/>
            <p:nvPr/>
          </p:nvGrpSpPr>
          <p:grpSpPr>
            <a:xfrm>
              <a:off x="710326" y="4316444"/>
              <a:ext cx="3080432" cy="1831209"/>
              <a:chOff x="978946" y="2003266"/>
              <a:chExt cx="5911140" cy="3513966"/>
            </a:xfrm>
          </p:grpSpPr>
          <p:sp>
            <p:nvSpPr>
              <p:cNvPr id="5" name="Oval 4"/>
              <p:cNvSpPr/>
              <p:nvPr/>
            </p:nvSpPr>
            <p:spPr>
              <a:xfrm>
                <a:off x="989704"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 name="Oval 5"/>
              <p:cNvSpPr/>
              <p:nvPr/>
            </p:nvSpPr>
            <p:spPr>
              <a:xfrm>
                <a:off x="2108500"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 name="Oval 6"/>
              <p:cNvSpPr/>
              <p:nvPr/>
            </p:nvSpPr>
            <p:spPr>
              <a:xfrm>
                <a:off x="978946"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 name="Oval 7"/>
              <p:cNvSpPr/>
              <p:nvPr/>
            </p:nvSpPr>
            <p:spPr>
              <a:xfrm>
                <a:off x="2097742"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 name="Oval 8"/>
              <p:cNvSpPr/>
              <p:nvPr/>
            </p:nvSpPr>
            <p:spPr>
              <a:xfrm>
                <a:off x="3238053"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 name="Oval 9"/>
              <p:cNvSpPr/>
              <p:nvPr/>
            </p:nvSpPr>
            <p:spPr>
              <a:xfrm>
                <a:off x="3227295"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 name="Oval 10"/>
              <p:cNvSpPr/>
              <p:nvPr/>
            </p:nvSpPr>
            <p:spPr>
              <a:xfrm>
                <a:off x="4356848" y="200925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Oval 11"/>
              <p:cNvSpPr/>
              <p:nvPr/>
            </p:nvSpPr>
            <p:spPr>
              <a:xfrm>
                <a:off x="4346090" y="307426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Oval 12"/>
              <p:cNvSpPr/>
              <p:nvPr/>
            </p:nvSpPr>
            <p:spPr>
              <a:xfrm>
                <a:off x="5486401" y="200925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Oval 13"/>
              <p:cNvSpPr/>
              <p:nvPr/>
            </p:nvSpPr>
            <p:spPr>
              <a:xfrm>
                <a:off x="5475643" y="3074260"/>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 name="Oval 14"/>
              <p:cNvSpPr/>
              <p:nvPr/>
            </p:nvSpPr>
            <p:spPr>
              <a:xfrm>
                <a:off x="978947"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 name="Oval 15"/>
              <p:cNvSpPr/>
              <p:nvPr/>
            </p:nvSpPr>
            <p:spPr>
              <a:xfrm>
                <a:off x="2097743"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7" name="Oval 16"/>
              <p:cNvSpPr/>
              <p:nvPr/>
            </p:nvSpPr>
            <p:spPr>
              <a:xfrm>
                <a:off x="3227296"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8" name="Oval 17"/>
              <p:cNvSpPr/>
              <p:nvPr/>
            </p:nvSpPr>
            <p:spPr>
              <a:xfrm>
                <a:off x="4346091" y="415002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9" name="Oval 18"/>
              <p:cNvSpPr/>
              <p:nvPr/>
            </p:nvSpPr>
            <p:spPr>
              <a:xfrm>
                <a:off x="5475644" y="41500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Oval 19"/>
              <p:cNvSpPr/>
              <p:nvPr/>
            </p:nvSpPr>
            <p:spPr>
              <a:xfrm>
                <a:off x="978946"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1" name="Oval 20"/>
              <p:cNvSpPr/>
              <p:nvPr/>
            </p:nvSpPr>
            <p:spPr>
              <a:xfrm>
                <a:off x="2097742"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2" name="Oval 21"/>
              <p:cNvSpPr/>
              <p:nvPr/>
            </p:nvSpPr>
            <p:spPr>
              <a:xfrm>
                <a:off x="3227295"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3" name="Oval 22"/>
              <p:cNvSpPr/>
              <p:nvPr/>
            </p:nvSpPr>
            <p:spPr>
              <a:xfrm>
                <a:off x="4346090" y="5236547"/>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4" name="Oval 23"/>
              <p:cNvSpPr/>
              <p:nvPr/>
            </p:nvSpPr>
            <p:spPr>
              <a:xfrm>
                <a:off x="5475643" y="52365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5" name="Oval 24"/>
              <p:cNvSpPr/>
              <p:nvPr/>
            </p:nvSpPr>
            <p:spPr>
              <a:xfrm>
                <a:off x="6620158" y="200326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6" name="Oval 25"/>
              <p:cNvSpPr/>
              <p:nvPr/>
            </p:nvSpPr>
            <p:spPr>
              <a:xfrm>
                <a:off x="6609400" y="306827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7" name="Oval 26"/>
              <p:cNvSpPr/>
              <p:nvPr/>
            </p:nvSpPr>
            <p:spPr>
              <a:xfrm>
                <a:off x="6609401" y="414403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8" name="Oval 27"/>
              <p:cNvSpPr/>
              <p:nvPr/>
            </p:nvSpPr>
            <p:spPr>
              <a:xfrm>
                <a:off x="6609400" y="5230559"/>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9" name="Oval 28"/>
              <p:cNvSpPr/>
              <p:nvPr/>
            </p:nvSpPr>
            <p:spPr>
              <a:xfrm>
                <a:off x="1523921" y="2527252"/>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0" name="Oval 29"/>
              <p:cNvSpPr/>
              <p:nvPr/>
            </p:nvSpPr>
            <p:spPr>
              <a:xfrm>
                <a:off x="3789450" y="2527252"/>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1" name="Oval 30"/>
              <p:cNvSpPr/>
              <p:nvPr/>
            </p:nvSpPr>
            <p:spPr>
              <a:xfrm>
                <a:off x="6041330" y="25136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2" name="Oval 31"/>
              <p:cNvSpPr/>
              <p:nvPr/>
            </p:nvSpPr>
            <p:spPr>
              <a:xfrm>
                <a:off x="1496625" y="36054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3" name="Oval 32"/>
              <p:cNvSpPr/>
              <p:nvPr/>
            </p:nvSpPr>
            <p:spPr>
              <a:xfrm>
                <a:off x="3762154" y="36054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4" name="Oval 33"/>
              <p:cNvSpPr/>
              <p:nvPr/>
            </p:nvSpPr>
            <p:spPr>
              <a:xfrm>
                <a:off x="6014034" y="3591777"/>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5" name="Oval 34"/>
              <p:cNvSpPr/>
              <p:nvPr/>
            </p:nvSpPr>
            <p:spPr>
              <a:xfrm>
                <a:off x="1523920" y="46972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6" name="Oval 35"/>
              <p:cNvSpPr/>
              <p:nvPr/>
            </p:nvSpPr>
            <p:spPr>
              <a:xfrm>
                <a:off x="3789449" y="46972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7" name="Oval 36"/>
              <p:cNvSpPr/>
              <p:nvPr/>
            </p:nvSpPr>
            <p:spPr>
              <a:xfrm>
                <a:off x="6041329" y="468359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grpSp>
          <p:nvGrpSpPr>
            <p:cNvPr id="38" name="Group 37"/>
            <p:cNvGrpSpPr/>
            <p:nvPr/>
          </p:nvGrpSpPr>
          <p:grpSpPr>
            <a:xfrm>
              <a:off x="4427984" y="4036415"/>
              <a:ext cx="2183314" cy="1297904"/>
              <a:chOff x="978946" y="2003266"/>
              <a:chExt cx="5911140" cy="3513966"/>
            </a:xfrm>
          </p:grpSpPr>
          <p:sp>
            <p:nvSpPr>
              <p:cNvPr id="39" name="Oval 38"/>
              <p:cNvSpPr/>
              <p:nvPr/>
            </p:nvSpPr>
            <p:spPr>
              <a:xfrm>
                <a:off x="989704"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0" name="Oval 39"/>
              <p:cNvSpPr/>
              <p:nvPr/>
            </p:nvSpPr>
            <p:spPr>
              <a:xfrm>
                <a:off x="2108500"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1" name="Oval 40"/>
              <p:cNvSpPr/>
              <p:nvPr/>
            </p:nvSpPr>
            <p:spPr>
              <a:xfrm>
                <a:off x="978946"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2" name="Oval 41"/>
              <p:cNvSpPr/>
              <p:nvPr/>
            </p:nvSpPr>
            <p:spPr>
              <a:xfrm>
                <a:off x="2097742"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3" name="Oval 42"/>
              <p:cNvSpPr/>
              <p:nvPr/>
            </p:nvSpPr>
            <p:spPr>
              <a:xfrm>
                <a:off x="3238053"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4" name="Oval 43"/>
              <p:cNvSpPr/>
              <p:nvPr/>
            </p:nvSpPr>
            <p:spPr>
              <a:xfrm>
                <a:off x="3227295"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5" name="Oval 44"/>
              <p:cNvSpPr/>
              <p:nvPr/>
            </p:nvSpPr>
            <p:spPr>
              <a:xfrm>
                <a:off x="4356848" y="200925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6" name="Oval 45"/>
              <p:cNvSpPr/>
              <p:nvPr/>
            </p:nvSpPr>
            <p:spPr>
              <a:xfrm>
                <a:off x="4346090" y="307426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7" name="Oval 46"/>
              <p:cNvSpPr/>
              <p:nvPr/>
            </p:nvSpPr>
            <p:spPr>
              <a:xfrm>
                <a:off x="5486401" y="200925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8" name="Oval 47"/>
              <p:cNvSpPr/>
              <p:nvPr/>
            </p:nvSpPr>
            <p:spPr>
              <a:xfrm>
                <a:off x="5475643" y="3074260"/>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9" name="Oval 48"/>
              <p:cNvSpPr/>
              <p:nvPr/>
            </p:nvSpPr>
            <p:spPr>
              <a:xfrm>
                <a:off x="978947"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0" name="Oval 49"/>
              <p:cNvSpPr/>
              <p:nvPr/>
            </p:nvSpPr>
            <p:spPr>
              <a:xfrm>
                <a:off x="2097743"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1" name="Oval 50"/>
              <p:cNvSpPr/>
              <p:nvPr/>
            </p:nvSpPr>
            <p:spPr>
              <a:xfrm>
                <a:off x="3227296"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2" name="Oval 51"/>
              <p:cNvSpPr/>
              <p:nvPr/>
            </p:nvSpPr>
            <p:spPr>
              <a:xfrm>
                <a:off x="4346091" y="415002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3" name="Oval 52"/>
              <p:cNvSpPr/>
              <p:nvPr/>
            </p:nvSpPr>
            <p:spPr>
              <a:xfrm>
                <a:off x="5475644" y="41500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4" name="Oval 53"/>
              <p:cNvSpPr/>
              <p:nvPr/>
            </p:nvSpPr>
            <p:spPr>
              <a:xfrm>
                <a:off x="978946"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5" name="Oval 54"/>
              <p:cNvSpPr/>
              <p:nvPr/>
            </p:nvSpPr>
            <p:spPr>
              <a:xfrm>
                <a:off x="2097742"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6" name="Oval 55"/>
              <p:cNvSpPr/>
              <p:nvPr/>
            </p:nvSpPr>
            <p:spPr>
              <a:xfrm>
                <a:off x="3227295"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7" name="Oval 56"/>
              <p:cNvSpPr/>
              <p:nvPr/>
            </p:nvSpPr>
            <p:spPr>
              <a:xfrm>
                <a:off x="4346090" y="5236547"/>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8" name="Oval 57"/>
              <p:cNvSpPr/>
              <p:nvPr/>
            </p:nvSpPr>
            <p:spPr>
              <a:xfrm>
                <a:off x="5475643" y="52365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9" name="Oval 58"/>
              <p:cNvSpPr/>
              <p:nvPr/>
            </p:nvSpPr>
            <p:spPr>
              <a:xfrm>
                <a:off x="6620158" y="200326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0" name="Oval 59"/>
              <p:cNvSpPr/>
              <p:nvPr/>
            </p:nvSpPr>
            <p:spPr>
              <a:xfrm>
                <a:off x="6609400" y="306827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1" name="Oval 60"/>
              <p:cNvSpPr/>
              <p:nvPr/>
            </p:nvSpPr>
            <p:spPr>
              <a:xfrm>
                <a:off x="6609401" y="414403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2" name="Oval 61"/>
              <p:cNvSpPr/>
              <p:nvPr/>
            </p:nvSpPr>
            <p:spPr>
              <a:xfrm>
                <a:off x="6609400" y="5230559"/>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4" name="Oval 63"/>
              <p:cNvSpPr/>
              <p:nvPr/>
            </p:nvSpPr>
            <p:spPr>
              <a:xfrm>
                <a:off x="3789450" y="2527252"/>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5" name="Oval 64"/>
              <p:cNvSpPr/>
              <p:nvPr/>
            </p:nvSpPr>
            <p:spPr>
              <a:xfrm>
                <a:off x="6041330" y="25136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6" name="Oval 65"/>
              <p:cNvSpPr/>
              <p:nvPr/>
            </p:nvSpPr>
            <p:spPr>
              <a:xfrm>
                <a:off x="1496625" y="36054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8" name="Oval 67"/>
              <p:cNvSpPr/>
              <p:nvPr/>
            </p:nvSpPr>
            <p:spPr>
              <a:xfrm>
                <a:off x="6014034" y="3591777"/>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9" name="Oval 68"/>
              <p:cNvSpPr/>
              <p:nvPr/>
            </p:nvSpPr>
            <p:spPr>
              <a:xfrm>
                <a:off x="1523920" y="46972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0" name="Oval 69"/>
              <p:cNvSpPr/>
              <p:nvPr/>
            </p:nvSpPr>
            <p:spPr>
              <a:xfrm>
                <a:off x="3789449" y="46972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1" name="Oval 70"/>
              <p:cNvSpPr/>
              <p:nvPr/>
            </p:nvSpPr>
            <p:spPr>
              <a:xfrm>
                <a:off x="6041329" y="468359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grpSp>
          <p:nvGrpSpPr>
            <p:cNvPr id="72" name="Group 71"/>
            <p:cNvGrpSpPr/>
            <p:nvPr/>
          </p:nvGrpSpPr>
          <p:grpSpPr>
            <a:xfrm>
              <a:off x="4427984" y="5227440"/>
              <a:ext cx="2183314" cy="1297904"/>
              <a:chOff x="978946" y="2003266"/>
              <a:chExt cx="5911140" cy="3513966"/>
            </a:xfrm>
          </p:grpSpPr>
          <p:sp>
            <p:nvSpPr>
              <p:cNvPr id="73" name="Oval 72"/>
              <p:cNvSpPr/>
              <p:nvPr/>
            </p:nvSpPr>
            <p:spPr>
              <a:xfrm>
                <a:off x="989704"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4" name="Oval 73"/>
              <p:cNvSpPr/>
              <p:nvPr/>
            </p:nvSpPr>
            <p:spPr>
              <a:xfrm>
                <a:off x="2108500"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5" name="Oval 74"/>
              <p:cNvSpPr/>
              <p:nvPr/>
            </p:nvSpPr>
            <p:spPr>
              <a:xfrm>
                <a:off x="978946"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6" name="Oval 75"/>
              <p:cNvSpPr/>
              <p:nvPr/>
            </p:nvSpPr>
            <p:spPr>
              <a:xfrm>
                <a:off x="2097742"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7" name="Oval 76"/>
              <p:cNvSpPr/>
              <p:nvPr/>
            </p:nvSpPr>
            <p:spPr>
              <a:xfrm>
                <a:off x="3238053"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8" name="Oval 77"/>
              <p:cNvSpPr/>
              <p:nvPr/>
            </p:nvSpPr>
            <p:spPr>
              <a:xfrm>
                <a:off x="3227295"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9" name="Oval 78"/>
              <p:cNvSpPr/>
              <p:nvPr/>
            </p:nvSpPr>
            <p:spPr>
              <a:xfrm>
                <a:off x="4356848" y="200925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0" name="Oval 79"/>
              <p:cNvSpPr/>
              <p:nvPr/>
            </p:nvSpPr>
            <p:spPr>
              <a:xfrm>
                <a:off x="4346090" y="307426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1" name="Oval 80"/>
              <p:cNvSpPr/>
              <p:nvPr/>
            </p:nvSpPr>
            <p:spPr>
              <a:xfrm>
                <a:off x="5486401" y="200925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2" name="Oval 81"/>
              <p:cNvSpPr/>
              <p:nvPr/>
            </p:nvSpPr>
            <p:spPr>
              <a:xfrm>
                <a:off x="5475643" y="3074260"/>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3" name="Oval 82"/>
              <p:cNvSpPr/>
              <p:nvPr/>
            </p:nvSpPr>
            <p:spPr>
              <a:xfrm>
                <a:off x="978947"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4" name="Oval 83"/>
              <p:cNvSpPr/>
              <p:nvPr/>
            </p:nvSpPr>
            <p:spPr>
              <a:xfrm>
                <a:off x="2097743"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5" name="Oval 84"/>
              <p:cNvSpPr/>
              <p:nvPr/>
            </p:nvSpPr>
            <p:spPr>
              <a:xfrm>
                <a:off x="3227296"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6" name="Oval 85"/>
              <p:cNvSpPr/>
              <p:nvPr/>
            </p:nvSpPr>
            <p:spPr>
              <a:xfrm>
                <a:off x="4346091" y="415002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7" name="Oval 86"/>
              <p:cNvSpPr/>
              <p:nvPr/>
            </p:nvSpPr>
            <p:spPr>
              <a:xfrm>
                <a:off x="5475644" y="41500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8" name="Oval 87"/>
              <p:cNvSpPr/>
              <p:nvPr/>
            </p:nvSpPr>
            <p:spPr>
              <a:xfrm>
                <a:off x="978946"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9" name="Oval 88"/>
              <p:cNvSpPr/>
              <p:nvPr/>
            </p:nvSpPr>
            <p:spPr>
              <a:xfrm>
                <a:off x="2097742"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0" name="Oval 89"/>
              <p:cNvSpPr/>
              <p:nvPr/>
            </p:nvSpPr>
            <p:spPr>
              <a:xfrm>
                <a:off x="3227295"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1" name="Oval 90"/>
              <p:cNvSpPr/>
              <p:nvPr/>
            </p:nvSpPr>
            <p:spPr>
              <a:xfrm>
                <a:off x="4346090" y="5236547"/>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2" name="Oval 91"/>
              <p:cNvSpPr/>
              <p:nvPr/>
            </p:nvSpPr>
            <p:spPr>
              <a:xfrm>
                <a:off x="5475643" y="52365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3" name="Oval 92"/>
              <p:cNvSpPr/>
              <p:nvPr/>
            </p:nvSpPr>
            <p:spPr>
              <a:xfrm>
                <a:off x="6620158" y="200326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4" name="Oval 93"/>
              <p:cNvSpPr/>
              <p:nvPr/>
            </p:nvSpPr>
            <p:spPr>
              <a:xfrm>
                <a:off x="6609400" y="306827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5" name="Oval 94"/>
              <p:cNvSpPr/>
              <p:nvPr/>
            </p:nvSpPr>
            <p:spPr>
              <a:xfrm>
                <a:off x="6609401" y="414403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6" name="Oval 95"/>
              <p:cNvSpPr/>
              <p:nvPr/>
            </p:nvSpPr>
            <p:spPr>
              <a:xfrm>
                <a:off x="6609400" y="5230559"/>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7" name="Oval 96"/>
              <p:cNvSpPr/>
              <p:nvPr/>
            </p:nvSpPr>
            <p:spPr>
              <a:xfrm>
                <a:off x="1523921" y="2527252"/>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8" name="Oval 97"/>
              <p:cNvSpPr/>
              <p:nvPr/>
            </p:nvSpPr>
            <p:spPr>
              <a:xfrm>
                <a:off x="3789450" y="2527252"/>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9" name="Oval 98"/>
              <p:cNvSpPr/>
              <p:nvPr/>
            </p:nvSpPr>
            <p:spPr>
              <a:xfrm>
                <a:off x="6041330" y="25136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1" name="Oval 100"/>
              <p:cNvSpPr/>
              <p:nvPr/>
            </p:nvSpPr>
            <p:spPr>
              <a:xfrm>
                <a:off x="3762154" y="36054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2" name="Oval 101"/>
              <p:cNvSpPr/>
              <p:nvPr/>
            </p:nvSpPr>
            <p:spPr>
              <a:xfrm>
                <a:off x="6014034" y="3591777"/>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3" name="Oval 102"/>
              <p:cNvSpPr/>
              <p:nvPr/>
            </p:nvSpPr>
            <p:spPr>
              <a:xfrm>
                <a:off x="1523920" y="46972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5" name="Oval 104"/>
              <p:cNvSpPr/>
              <p:nvPr/>
            </p:nvSpPr>
            <p:spPr>
              <a:xfrm>
                <a:off x="6041329" y="468359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grpSp>
          <p:nvGrpSpPr>
            <p:cNvPr id="106" name="Group 105"/>
            <p:cNvGrpSpPr/>
            <p:nvPr/>
          </p:nvGrpSpPr>
          <p:grpSpPr>
            <a:xfrm>
              <a:off x="6510357" y="4028731"/>
              <a:ext cx="2183314" cy="1297904"/>
              <a:chOff x="978946" y="2003266"/>
              <a:chExt cx="5911140" cy="3513966"/>
            </a:xfrm>
          </p:grpSpPr>
          <p:sp>
            <p:nvSpPr>
              <p:cNvPr id="107" name="Oval 106"/>
              <p:cNvSpPr/>
              <p:nvPr/>
            </p:nvSpPr>
            <p:spPr>
              <a:xfrm>
                <a:off x="989704"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8" name="Oval 107"/>
              <p:cNvSpPr/>
              <p:nvPr/>
            </p:nvSpPr>
            <p:spPr>
              <a:xfrm>
                <a:off x="2108500"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9" name="Oval 108"/>
              <p:cNvSpPr/>
              <p:nvPr/>
            </p:nvSpPr>
            <p:spPr>
              <a:xfrm>
                <a:off x="978946"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0" name="Oval 109"/>
              <p:cNvSpPr/>
              <p:nvPr/>
            </p:nvSpPr>
            <p:spPr>
              <a:xfrm>
                <a:off x="2097742"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1" name="Oval 110"/>
              <p:cNvSpPr/>
              <p:nvPr/>
            </p:nvSpPr>
            <p:spPr>
              <a:xfrm>
                <a:off x="3238053"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2" name="Oval 111"/>
              <p:cNvSpPr/>
              <p:nvPr/>
            </p:nvSpPr>
            <p:spPr>
              <a:xfrm>
                <a:off x="3227295"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3" name="Oval 112"/>
              <p:cNvSpPr/>
              <p:nvPr/>
            </p:nvSpPr>
            <p:spPr>
              <a:xfrm>
                <a:off x="4356848" y="200925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4" name="Oval 113"/>
              <p:cNvSpPr/>
              <p:nvPr/>
            </p:nvSpPr>
            <p:spPr>
              <a:xfrm>
                <a:off x="4346090" y="307426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5" name="Oval 114"/>
              <p:cNvSpPr/>
              <p:nvPr/>
            </p:nvSpPr>
            <p:spPr>
              <a:xfrm>
                <a:off x="5486401" y="200925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6" name="Oval 115"/>
              <p:cNvSpPr/>
              <p:nvPr/>
            </p:nvSpPr>
            <p:spPr>
              <a:xfrm>
                <a:off x="5475643" y="3074260"/>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7" name="Oval 116"/>
              <p:cNvSpPr/>
              <p:nvPr/>
            </p:nvSpPr>
            <p:spPr>
              <a:xfrm>
                <a:off x="978947"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8" name="Oval 117"/>
              <p:cNvSpPr/>
              <p:nvPr/>
            </p:nvSpPr>
            <p:spPr>
              <a:xfrm>
                <a:off x="2097743"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9" name="Oval 118"/>
              <p:cNvSpPr/>
              <p:nvPr/>
            </p:nvSpPr>
            <p:spPr>
              <a:xfrm>
                <a:off x="3227296"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0" name="Oval 119"/>
              <p:cNvSpPr/>
              <p:nvPr/>
            </p:nvSpPr>
            <p:spPr>
              <a:xfrm>
                <a:off x="4346091" y="415002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1" name="Oval 120"/>
              <p:cNvSpPr/>
              <p:nvPr/>
            </p:nvSpPr>
            <p:spPr>
              <a:xfrm>
                <a:off x="5475644" y="41500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2" name="Oval 121"/>
              <p:cNvSpPr/>
              <p:nvPr/>
            </p:nvSpPr>
            <p:spPr>
              <a:xfrm>
                <a:off x="978946"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3" name="Oval 122"/>
              <p:cNvSpPr/>
              <p:nvPr/>
            </p:nvSpPr>
            <p:spPr>
              <a:xfrm>
                <a:off x="2097742"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4" name="Oval 123"/>
              <p:cNvSpPr/>
              <p:nvPr/>
            </p:nvSpPr>
            <p:spPr>
              <a:xfrm>
                <a:off x="3227295"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5" name="Oval 124"/>
              <p:cNvSpPr/>
              <p:nvPr/>
            </p:nvSpPr>
            <p:spPr>
              <a:xfrm>
                <a:off x="4346090" y="5236547"/>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6" name="Oval 125"/>
              <p:cNvSpPr/>
              <p:nvPr/>
            </p:nvSpPr>
            <p:spPr>
              <a:xfrm>
                <a:off x="5475643" y="52365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7" name="Oval 126"/>
              <p:cNvSpPr/>
              <p:nvPr/>
            </p:nvSpPr>
            <p:spPr>
              <a:xfrm>
                <a:off x="6620158" y="200326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8" name="Oval 127"/>
              <p:cNvSpPr/>
              <p:nvPr/>
            </p:nvSpPr>
            <p:spPr>
              <a:xfrm>
                <a:off x="6609400" y="306827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9" name="Oval 128"/>
              <p:cNvSpPr/>
              <p:nvPr/>
            </p:nvSpPr>
            <p:spPr>
              <a:xfrm>
                <a:off x="6609401" y="414403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0" name="Oval 129"/>
              <p:cNvSpPr/>
              <p:nvPr/>
            </p:nvSpPr>
            <p:spPr>
              <a:xfrm>
                <a:off x="6609400" y="5230559"/>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1" name="Oval 130"/>
              <p:cNvSpPr/>
              <p:nvPr/>
            </p:nvSpPr>
            <p:spPr>
              <a:xfrm>
                <a:off x="3789450" y="2527252"/>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2" name="Oval 131"/>
              <p:cNvSpPr/>
              <p:nvPr/>
            </p:nvSpPr>
            <p:spPr>
              <a:xfrm>
                <a:off x="6041330" y="25136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3" name="Oval 132"/>
              <p:cNvSpPr/>
              <p:nvPr/>
            </p:nvSpPr>
            <p:spPr>
              <a:xfrm>
                <a:off x="1496625" y="36054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5" name="Oval 134"/>
              <p:cNvSpPr/>
              <p:nvPr/>
            </p:nvSpPr>
            <p:spPr>
              <a:xfrm>
                <a:off x="6014034" y="3591777"/>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6" name="Oval 135"/>
              <p:cNvSpPr/>
              <p:nvPr/>
            </p:nvSpPr>
            <p:spPr>
              <a:xfrm>
                <a:off x="1523920" y="46972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7" name="Oval 136"/>
              <p:cNvSpPr/>
              <p:nvPr/>
            </p:nvSpPr>
            <p:spPr>
              <a:xfrm>
                <a:off x="3789449" y="46972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8" name="Oval 137"/>
              <p:cNvSpPr/>
              <p:nvPr/>
            </p:nvSpPr>
            <p:spPr>
              <a:xfrm>
                <a:off x="6041329" y="468359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grpSp>
          <p:nvGrpSpPr>
            <p:cNvPr id="139" name="Group 138"/>
            <p:cNvGrpSpPr/>
            <p:nvPr/>
          </p:nvGrpSpPr>
          <p:grpSpPr>
            <a:xfrm>
              <a:off x="6510357" y="5219756"/>
              <a:ext cx="2183314" cy="1297904"/>
              <a:chOff x="978946" y="2003266"/>
              <a:chExt cx="5911140" cy="3513966"/>
            </a:xfrm>
          </p:grpSpPr>
          <p:sp>
            <p:nvSpPr>
              <p:cNvPr id="140" name="Oval 139"/>
              <p:cNvSpPr/>
              <p:nvPr/>
            </p:nvSpPr>
            <p:spPr>
              <a:xfrm>
                <a:off x="989704"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1" name="Oval 140"/>
              <p:cNvSpPr/>
              <p:nvPr/>
            </p:nvSpPr>
            <p:spPr>
              <a:xfrm>
                <a:off x="2108500"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2" name="Oval 141"/>
              <p:cNvSpPr/>
              <p:nvPr/>
            </p:nvSpPr>
            <p:spPr>
              <a:xfrm>
                <a:off x="978946"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3" name="Oval 142"/>
              <p:cNvSpPr/>
              <p:nvPr/>
            </p:nvSpPr>
            <p:spPr>
              <a:xfrm>
                <a:off x="2097742"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4" name="Oval 143"/>
              <p:cNvSpPr/>
              <p:nvPr/>
            </p:nvSpPr>
            <p:spPr>
              <a:xfrm>
                <a:off x="3238053" y="202001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5" name="Oval 144"/>
              <p:cNvSpPr/>
              <p:nvPr/>
            </p:nvSpPr>
            <p:spPr>
              <a:xfrm>
                <a:off x="3227295" y="308501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6" name="Oval 145"/>
              <p:cNvSpPr/>
              <p:nvPr/>
            </p:nvSpPr>
            <p:spPr>
              <a:xfrm>
                <a:off x="4356848" y="200925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7" name="Oval 146"/>
              <p:cNvSpPr/>
              <p:nvPr/>
            </p:nvSpPr>
            <p:spPr>
              <a:xfrm>
                <a:off x="4346090" y="3074261"/>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8" name="Oval 147"/>
              <p:cNvSpPr/>
              <p:nvPr/>
            </p:nvSpPr>
            <p:spPr>
              <a:xfrm>
                <a:off x="5486401" y="200925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9" name="Oval 148"/>
              <p:cNvSpPr/>
              <p:nvPr/>
            </p:nvSpPr>
            <p:spPr>
              <a:xfrm>
                <a:off x="5475643" y="3074260"/>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0" name="Oval 149"/>
              <p:cNvSpPr/>
              <p:nvPr/>
            </p:nvSpPr>
            <p:spPr>
              <a:xfrm>
                <a:off x="978947"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1" name="Oval 150"/>
              <p:cNvSpPr/>
              <p:nvPr/>
            </p:nvSpPr>
            <p:spPr>
              <a:xfrm>
                <a:off x="2097743"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2" name="Oval 151"/>
              <p:cNvSpPr/>
              <p:nvPr/>
            </p:nvSpPr>
            <p:spPr>
              <a:xfrm>
                <a:off x="3227296" y="416078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3" name="Oval 152"/>
              <p:cNvSpPr/>
              <p:nvPr/>
            </p:nvSpPr>
            <p:spPr>
              <a:xfrm>
                <a:off x="4346091" y="415002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4" name="Oval 153"/>
              <p:cNvSpPr/>
              <p:nvPr/>
            </p:nvSpPr>
            <p:spPr>
              <a:xfrm>
                <a:off x="5475644" y="41500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5" name="Oval 154"/>
              <p:cNvSpPr/>
              <p:nvPr/>
            </p:nvSpPr>
            <p:spPr>
              <a:xfrm>
                <a:off x="978946"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6" name="Oval 155"/>
              <p:cNvSpPr/>
              <p:nvPr/>
            </p:nvSpPr>
            <p:spPr>
              <a:xfrm>
                <a:off x="2097742"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7" name="Oval 156"/>
              <p:cNvSpPr/>
              <p:nvPr/>
            </p:nvSpPr>
            <p:spPr>
              <a:xfrm>
                <a:off x="3227295" y="52473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8" name="Oval 157"/>
              <p:cNvSpPr/>
              <p:nvPr/>
            </p:nvSpPr>
            <p:spPr>
              <a:xfrm>
                <a:off x="4346090" y="5236547"/>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9" name="Oval 158"/>
              <p:cNvSpPr/>
              <p:nvPr/>
            </p:nvSpPr>
            <p:spPr>
              <a:xfrm>
                <a:off x="5475643" y="52365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0" name="Oval 159"/>
              <p:cNvSpPr/>
              <p:nvPr/>
            </p:nvSpPr>
            <p:spPr>
              <a:xfrm>
                <a:off x="6620158" y="200326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1" name="Oval 160"/>
              <p:cNvSpPr/>
              <p:nvPr/>
            </p:nvSpPr>
            <p:spPr>
              <a:xfrm>
                <a:off x="6609400" y="3068273"/>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2" name="Oval 161"/>
              <p:cNvSpPr/>
              <p:nvPr/>
            </p:nvSpPr>
            <p:spPr>
              <a:xfrm>
                <a:off x="6609401" y="414403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3" name="Oval 162"/>
              <p:cNvSpPr/>
              <p:nvPr/>
            </p:nvSpPr>
            <p:spPr>
              <a:xfrm>
                <a:off x="6609400" y="5230559"/>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4" name="Oval 163"/>
              <p:cNvSpPr/>
              <p:nvPr/>
            </p:nvSpPr>
            <p:spPr>
              <a:xfrm>
                <a:off x="1523921" y="2527252"/>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5" name="Oval 164"/>
              <p:cNvSpPr/>
              <p:nvPr/>
            </p:nvSpPr>
            <p:spPr>
              <a:xfrm>
                <a:off x="3789450" y="2527252"/>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6" name="Oval 165"/>
              <p:cNvSpPr/>
              <p:nvPr/>
            </p:nvSpPr>
            <p:spPr>
              <a:xfrm>
                <a:off x="6041330" y="2513604"/>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7" name="Oval 166"/>
              <p:cNvSpPr/>
              <p:nvPr/>
            </p:nvSpPr>
            <p:spPr>
              <a:xfrm>
                <a:off x="3762154" y="3605425"/>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8" name="Oval 167"/>
              <p:cNvSpPr/>
              <p:nvPr/>
            </p:nvSpPr>
            <p:spPr>
              <a:xfrm>
                <a:off x="6014034" y="3591777"/>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9" name="Oval 168"/>
              <p:cNvSpPr/>
              <p:nvPr/>
            </p:nvSpPr>
            <p:spPr>
              <a:xfrm>
                <a:off x="1523920" y="4697246"/>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71" name="Oval 170"/>
              <p:cNvSpPr/>
              <p:nvPr/>
            </p:nvSpPr>
            <p:spPr>
              <a:xfrm>
                <a:off x="6041329" y="4683598"/>
                <a:ext cx="269928" cy="26992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p:cxnSp>
          <p:nvCxnSpPr>
            <p:cNvPr id="173" name="Straight Connector 172"/>
            <p:cNvCxnSpPr/>
            <p:nvPr/>
          </p:nvCxnSpPr>
          <p:spPr>
            <a:xfrm>
              <a:off x="546470" y="4386777"/>
              <a:ext cx="0" cy="563726"/>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4" name="TextBox 173"/>
            <p:cNvSpPr txBox="1"/>
            <p:nvPr/>
          </p:nvSpPr>
          <p:spPr>
            <a:xfrm>
              <a:off x="35496" y="4421491"/>
              <a:ext cx="441146" cy="400110"/>
            </a:xfrm>
            <a:prstGeom prst="rect">
              <a:avLst/>
            </a:prstGeom>
            <a:noFill/>
          </p:spPr>
          <p:txBody>
            <a:bodyPr wrap="none" rtlCol="0">
              <a:spAutoFit/>
            </a:bodyPr>
            <a:lstStyle/>
            <a:p>
              <a:r>
                <a:rPr lang="en-US" altLang="zh-CN" sz="2000" dirty="0"/>
                <a:t>d1</a:t>
              </a:r>
              <a:endParaRPr lang="en-US" sz="2000" dirty="0"/>
            </a:p>
          </p:txBody>
        </p:sp>
        <p:sp>
          <p:nvSpPr>
            <p:cNvPr id="175" name="TextBox 174"/>
            <p:cNvSpPr txBox="1"/>
            <p:nvPr/>
          </p:nvSpPr>
          <p:spPr>
            <a:xfrm>
              <a:off x="3851920" y="4068026"/>
              <a:ext cx="441146" cy="400110"/>
            </a:xfrm>
            <a:prstGeom prst="rect">
              <a:avLst/>
            </a:prstGeom>
            <a:noFill/>
          </p:spPr>
          <p:txBody>
            <a:bodyPr wrap="none" rtlCol="0">
              <a:spAutoFit/>
            </a:bodyPr>
            <a:lstStyle/>
            <a:p>
              <a:r>
                <a:rPr lang="en-US" altLang="zh-CN" sz="2000" dirty="0"/>
                <a:t>d2</a:t>
              </a:r>
              <a:endParaRPr lang="en-US" sz="2000" dirty="0"/>
            </a:p>
          </p:txBody>
        </p:sp>
        <p:cxnSp>
          <p:nvCxnSpPr>
            <p:cNvPr id="176" name="Straight Connector 175"/>
            <p:cNvCxnSpPr/>
            <p:nvPr/>
          </p:nvCxnSpPr>
          <p:spPr>
            <a:xfrm>
              <a:off x="4342383" y="4087099"/>
              <a:ext cx="0" cy="403962"/>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0" name="Straight Connector 172"/>
            <p:cNvCxnSpPr/>
            <p:nvPr/>
          </p:nvCxnSpPr>
          <p:spPr>
            <a:xfrm flipH="1" flipV="1">
              <a:off x="741487" y="4226408"/>
              <a:ext cx="622203" cy="5356"/>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2" name="TextBox 173"/>
            <p:cNvSpPr txBox="1"/>
            <p:nvPr/>
          </p:nvSpPr>
          <p:spPr>
            <a:xfrm>
              <a:off x="809591" y="3739320"/>
              <a:ext cx="441146" cy="400110"/>
            </a:xfrm>
            <a:prstGeom prst="rect">
              <a:avLst/>
            </a:prstGeom>
            <a:noFill/>
          </p:spPr>
          <p:txBody>
            <a:bodyPr wrap="none" rtlCol="0">
              <a:spAutoFit/>
            </a:bodyPr>
            <a:lstStyle/>
            <a:p>
              <a:r>
                <a:rPr lang="en-US" altLang="zh-CN" sz="2000" dirty="0"/>
                <a:t>d1</a:t>
              </a:r>
              <a:endParaRPr lang="en-US" sz="2000" dirty="0"/>
            </a:p>
          </p:txBody>
        </p:sp>
        <p:cxnSp>
          <p:nvCxnSpPr>
            <p:cNvPr id="177" name="Straight Connector 175"/>
            <p:cNvCxnSpPr/>
            <p:nvPr/>
          </p:nvCxnSpPr>
          <p:spPr>
            <a:xfrm flipH="1">
              <a:off x="4437499" y="3970152"/>
              <a:ext cx="463084"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8" name="TextBox 174"/>
            <p:cNvSpPr txBox="1"/>
            <p:nvPr/>
          </p:nvSpPr>
          <p:spPr>
            <a:xfrm>
              <a:off x="4447005" y="3589055"/>
              <a:ext cx="441146" cy="400110"/>
            </a:xfrm>
            <a:prstGeom prst="rect">
              <a:avLst/>
            </a:prstGeom>
            <a:noFill/>
          </p:spPr>
          <p:txBody>
            <a:bodyPr wrap="none" rtlCol="0">
              <a:spAutoFit/>
            </a:bodyPr>
            <a:lstStyle/>
            <a:p>
              <a:r>
                <a:rPr lang="en-US" altLang="zh-CN" sz="2000" dirty="0"/>
                <a:t>d2</a:t>
              </a:r>
              <a:endParaRPr lang="en-US" sz="2000" dirty="0"/>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615950" y="1082675"/>
            <a:ext cx="7772400" cy="762000"/>
          </a:xfrm>
          <a:prstGeom prst="rect">
            <a:avLst/>
          </a:prstGeom>
        </p:spPr>
        <p:txBody>
          <a:bodyPr anchor="b">
            <a:normAutofit fontScale="70000" lnSpcReduction="20000"/>
          </a:bodyPr>
          <a:lstStyle>
            <a:lvl1pPr algn="ctr" rtl="0" eaLnBrk="1" fontAlgn="auto" hangingPunct="1">
              <a:spcBef>
                <a:spcPct val="0"/>
              </a:spcBef>
              <a:spcAft>
                <a:spcPts val="0"/>
              </a:spcAft>
              <a:defRPr kumimoji="1" lang="en-US" sz="3200" b="1" kern="1200" cap="all" spc="-60" dirty="0">
                <a:solidFill>
                  <a:srgbClr val="FF00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2pPr>
            <a:lvl3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3pPr>
            <a:lvl4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4pPr>
            <a:lvl5pPr algn="l" rtl="0" eaLnBrk="0" fontAlgn="base" hangingPunct="0">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5pPr>
            <a:lvl6pPr marL="4572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6pPr>
            <a:lvl7pPr marL="9144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7pPr>
            <a:lvl8pPr marL="13716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8pPr>
            <a:lvl9pPr marL="1828800" algn="l" rtl="0" fontAlgn="base">
              <a:spcBef>
                <a:spcPct val="0"/>
              </a:spcBef>
              <a:spcAft>
                <a:spcPct val="0"/>
              </a:spcAft>
              <a:defRPr sz="3600">
                <a:solidFill>
                  <a:schemeClr val="tx2"/>
                </a:solidFill>
                <a:latin typeface="Arial Black" panose="020B0A04020102020204" pitchFamily="34" charset="0"/>
                <a:ea typeface="微软雅黑" panose="020B0503020204020204" pitchFamily="34" charset="-122"/>
              </a:defRPr>
            </a:lvl9pPr>
          </a:lstStyle>
          <a:p>
            <a:pPr>
              <a:defRPr/>
            </a:pPr>
            <a:r>
              <a:rPr lang="en-US" altLang="zh-CN" sz="4800" cap="none" dirty="0"/>
              <a:t>Chap2 the</a:t>
            </a:r>
            <a:r>
              <a:rPr lang="zh-CN" altLang="en-US" sz="4800" cap="none" dirty="0"/>
              <a:t> </a:t>
            </a:r>
            <a:r>
              <a:rPr lang="en-US" altLang="zh-CN" sz="4800" cap="none" dirty="0"/>
              <a:t>formation of crystals</a:t>
            </a:r>
            <a:endParaRPr lang="zh-CN" altLang="en-US" sz="4800" cap="none" dirty="0"/>
          </a:p>
        </p:txBody>
      </p:sp>
      <p:sp>
        <p:nvSpPr>
          <p:cNvPr id="5" name="Rectangle 3"/>
          <p:cNvSpPr txBox="1">
            <a:spLocks noChangeArrowheads="1"/>
          </p:cNvSpPr>
          <p:nvPr/>
        </p:nvSpPr>
        <p:spPr bwMode="auto">
          <a:xfrm>
            <a:off x="755576" y="2133599"/>
            <a:ext cx="7632774"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nSpc>
                <a:spcPct val="130000"/>
              </a:lnSpc>
              <a:buSzPct val="95000"/>
              <a:buFont typeface="Wingdings" panose="05000000000000000000" pitchFamily="2" charset="2"/>
              <a:buChar char="q"/>
              <a:defRPr/>
            </a:pPr>
            <a:r>
              <a:rPr kumimoji="0" lang="en-US" altLang="zh-CN" sz="2400" dirty="0"/>
              <a:t>  The paths for the formation of crystals</a:t>
            </a:r>
          </a:p>
          <a:p>
            <a:pPr>
              <a:lnSpc>
                <a:spcPct val="130000"/>
              </a:lnSpc>
              <a:buSzPct val="95000"/>
              <a:buFont typeface="Wingdings" panose="05000000000000000000" pitchFamily="2" charset="2"/>
              <a:buChar char="q"/>
              <a:defRPr/>
            </a:pPr>
            <a:r>
              <a:rPr kumimoji="0" lang="en-US" altLang="zh-CN" sz="2400" dirty="0"/>
              <a:t>  The formation of crystalline nuclei (conditions and energy changes)</a:t>
            </a:r>
          </a:p>
          <a:p>
            <a:pPr>
              <a:lnSpc>
                <a:spcPct val="130000"/>
              </a:lnSpc>
              <a:buSzPct val="95000"/>
              <a:buFont typeface="Wingdings" panose="05000000000000000000" pitchFamily="2" charset="2"/>
              <a:buChar char="q"/>
              <a:defRPr/>
            </a:pPr>
            <a:r>
              <a:rPr kumimoji="0" lang="en-US" altLang="zh-CN" sz="2400" dirty="0"/>
              <a:t>  Models and theories of crystal growth</a:t>
            </a:r>
          </a:p>
          <a:p>
            <a:pPr>
              <a:lnSpc>
                <a:spcPct val="130000"/>
              </a:lnSpc>
              <a:buSzPct val="95000"/>
              <a:buFont typeface="Wingdings" panose="05000000000000000000" pitchFamily="2" charset="2"/>
              <a:buChar char="q"/>
              <a:defRPr/>
            </a:pPr>
            <a:r>
              <a:rPr kumimoji="0" lang="en-US" altLang="zh-CN" sz="2400" dirty="0"/>
              <a:t>  External factors affecting crystal growth</a:t>
            </a:r>
          </a:p>
          <a:p>
            <a:pPr>
              <a:lnSpc>
                <a:spcPct val="130000"/>
              </a:lnSpc>
              <a:buSzPct val="95000"/>
              <a:buFont typeface="Wingdings" panose="05000000000000000000" pitchFamily="2" charset="2"/>
              <a:buChar char="q"/>
              <a:defRPr/>
            </a:pPr>
            <a:r>
              <a:rPr kumimoji="0" lang="en-US" altLang="zh-CN" sz="2400" dirty="0"/>
              <a:t>  Artificial crystal growth techniques in industry</a:t>
            </a:r>
            <a:endParaRPr kumimoji="0" lang="zh-CN"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1619250" y="2276475"/>
            <a:ext cx="6337300" cy="2665413"/>
          </a:xfrm>
        </p:spPr>
        <p:txBody>
          <a:bodyPr/>
          <a:lstStyle/>
          <a:p>
            <a:pPr marL="457200" indent="-457200">
              <a:lnSpc>
                <a:spcPct val="120000"/>
              </a:lnSpc>
              <a:buFont typeface="Arial" panose="020B0604020202020204" pitchFamily="34" charset="0"/>
              <a:buChar char="•"/>
              <a:defRPr/>
            </a:pPr>
            <a:r>
              <a:rPr lang="en-US" altLang="zh-CN" sz="3200" dirty="0">
                <a:effectLst>
                  <a:outerShdw blurRad="38100" dist="38100" dir="2700000" algn="tl">
                    <a:srgbClr val="000000">
                      <a:alpha val="43137"/>
                    </a:srgbClr>
                  </a:outerShdw>
                </a:effectLst>
              </a:rPr>
              <a:t>From gas to crystal;</a:t>
            </a:r>
          </a:p>
          <a:p>
            <a:pPr marL="457200" indent="-457200">
              <a:lnSpc>
                <a:spcPct val="120000"/>
              </a:lnSpc>
              <a:buFont typeface="Arial" panose="020B0604020202020204" pitchFamily="34" charset="0"/>
              <a:buChar char="•"/>
              <a:defRPr/>
            </a:pPr>
            <a:r>
              <a:rPr lang="en-US" altLang="zh-CN" sz="3200" dirty="0">
                <a:effectLst>
                  <a:outerShdw blurRad="38100" dist="38100" dir="2700000" algn="tl">
                    <a:srgbClr val="000000">
                      <a:alpha val="43137"/>
                    </a:srgbClr>
                  </a:outerShdw>
                </a:effectLst>
              </a:rPr>
              <a:t>From liquid to crystal;</a:t>
            </a:r>
          </a:p>
          <a:p>
            <a:pPr marL="457200" indent="-457200">
              <a:lnSpc>
                <a:spcPct val="120000"/>
              </a:lnSpc>
              <a:buFont typeface="Arial" panose="020B0604020202020204" pitchFamily="34" charset="0"/>
              <a:buChar char="•"/>
              <a:defRPr/>
            </a:pPr>
            <a:r>
              <a:rPr lang="en-US" altLang="zh-CN" sz="3200" dirty="0">
                <a:effectLst>
                  <a:outerShdw blurRad="38100" dist="38100" dir="2700000" algn="tl">
                    <a:srgbClr val="000000">
                      <a:alpha val="43137"/>
                    </a:srgbClr>
                  </a:outerShdw>
                </a:effectLst>
              </a:rPr>
              <a:t>From solid to crystal.</a:t>
            </a:r>
            <a:endParaRPr lang="zh-CN" altLang="en-US" sz="3200" b="0" dirty="0"/>
          </a:p>
        </p:txBody>
      </p:sp>
      <p:sp>
        <p:nvSpPr>
          <p:cNvPr id="8" name="Rectangle 2"/>
          <p:cNvSpPr>
            <a:spLocks noGrp="1" noChangeArrowheads="1"/>
          </p:cNvSpPr>
          <p:nvPr>
            <p:ph type="title"/>
          </p:nvPr>
        </p:nvSpPr>
        <p:spPr>
          <a:xfrm>
            <a:off x="971550" y="836613"/>
            <a:ext cx="7560890" cy="725487"/>
          </a:xfrm>
        </p:spPr>
        <p:txBody>
          <a:bodyPr>
            <a:noAutofit/>
          </a:bodyPr>
          <a:lstStyle/>
          <a:p>
            <a:pPr>
              <a:defRPr/>
            </a:pPr>
            <a:r>
              <a:rPr lang="en-US" altLang="zh-CN" sz="2800" dirty="0"/>
              <a:t>I</a:t>
            </a:r>
            <a:r>
              <a:rPr lang="zh-CN" altLang="en-US" sz="2800" dirty="0"/>
              <a:t>、</a:t>
            </a:r>
            <a:r>
              <a:rPr lang="en-US" altLang="zh-CN" sz="2800" dirty="0"/>
              <a:t>Three paths toward crystal</a:t>
            </a:r>
            <a:endParaRPr lang="zh-CN" altLang="en-US" sz="2800" dirty="0"/>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4" name="Rectangle 6"/>
          <p:cNvSpPr>
            <a:spLocks noChangeArrowheads="1"/>
          </p:cNvSpPr>
          <p:nvPr/>
        </p:nvSpPr>
        <p:spPr bwMode="auto">
          <a:xfrm>
            <a:off x="692150" y="1195388"/>
            <a:ext cx="3739293" cy="4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ct val="20000"/>
              </a:spcBef>
              <a:buClr>
                <a:srgbClr val="99FF99"/>
              </a:buClr>
              <a:buSzPct val="80000"/>
              <a:buFont typeface="Wingdings" panose="05000000000000000000" pitchFamily="2" charset="2"/>
              <a:buChar char="Ø"/>
              <a:defRPr/>
            </a:pPr>
            <a:r>
              <a:rPr kumimoji="0" lang="en-US" altLang="zh-CN" sz="2800" b="1" dirty="0">
                <a:solidFill>
                  <a:srgbClr val="FF3300"/>
                </a:solidFill>
                <a:effectLst>
                  <a:outerShdw blurRad="38100" dist="38100" dir="2700000" algn="tl">
                    <a:srgbClr val="000000"/>
                  </a:outerShdw>
                </a:effectLst>
                <a:latin typeface="Arial" panose="020B0604020202020204" pitchFamily="34" charset="0"/>
              </a:rPr>
              <a:t>  </a:t>
            </a:r>
            <a:r>
              <a:rPr lang="en-US" altLang="zh-CN" b="1" spc="-60" dirty="0">
                <a:solidFill>
                  <a:srgbClr val="FF0066"/>
                </a:solidFill>
                <a:effectLst>
                  <a:outerShdw blurRad="38100" dist="38100" dir="2700000" algn="tl">
                    <a:srgbClr val="000000"/>
                  </a:outerShdw>
                </a:effectLst>
                <a:latin typeface="+mj-lt"/>
                <a:ea typeface="+mj-ea"/>
                <a:cs typeface="+mj-cs"/>
              </a:rPr>
              <a:t>From gas to crystal</a:t>
            </a:r>
            <a:endParaRPr lang="zh-CN" altLang="en-US" b="1" spc="-60" dirty="0">
              <a:solidFill>
                <a:srgbClr val="FF0066"/>
              </a:solidFill>
              <a:effectLst>
                <a:outerShdw blurRad="38100" dist="38100" dir="2700000" algn="tl">
                  <a:srgbClr val="000000"/>
                </a:outerShdw>
              </a:effectLst>
              <a:latin typeface="+mj-lt"/>
              <a:ea typeface="+mj-ea"/>
              <a:cs typeface="+mj-cs"/>
            </a:endParaRPr>
          </a:p>
        </p:txBody>
      </p:sp>
      <p:sp>
        <p:nvSpPr>
          <p:cNvPr id="53255" name="Rectangle 7"/>
          <p:cNvSpPr>
            <a:spLocks noChangeArrowheads="1"/>
          </p:cNvSpPr>
          <p:nvPr/>
        </p:nvSpPr>
        <p:spPr bwMode="auto">
          <a:xfrm>
            <a:off x="676275" y="1878850"/>
            <a:ext cx="4111749" cy="297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spcBef>
                <a:spcPct val="20000"/>
              </a:spcBef>
              <a:buClr>
                <a:srgbClr val="99FF99"/>
              </a:buClr>
              <a:buSzPct val="80000"/>
              <a:buFont typeface="Wingdings" panose="05000000000000000000" pitchFamily="2" charset="2"/>
              <a:buNone/>
              <a:defRPr/>
            </a:pPr>
            <a:r>
              <a:rPr kumimoji="0" lang="en-US" altLang="zh-CN" sz="1800" b="1" dirty="0">
                <a:latin typeface="Arial" panose="020B0604020202020204" pitchFamily="34" charset="0"/>
              </a:rPr>
              <a:t>Desublimation (</a:t>
            </a:r>
            <a:r>
              <a:rPr kumimoji="0" lang="zh-CN" altLang="en-US" sz="1800" b="1" dirty="0">
                <a:latin typeface="Arial" panose="020B0604020202020204" pitchFamily="34" charset="0"/>
              </a:rPr>
              <a:t>凝华</a:t>
            </a:r>
            <a:r>
              <a:rPr kumimoji="0" lang="en-US" altLang="zh-CN" sz="1800" b="1" dirty="0">
                <a:latin typeface="Arial" panose="020B0604020202020204" pitchFamily="34" charset="0"/>
              </a:rPr>
              <a:t>), at which gas directly forms crystal at oversaturated vapor pressure or rather low temperature. </a:t>
            </a:r>
          </a:p>
          <a:p>
            <a:pPr>
              <a:lnSpc>
                <a:spcPct val="130000"/>
              </a:lnSpc>
              <a:spcBef>
                <a:spcPct val="20000"/>
              </a:spcBef>
              <a:buClr>
                <a:srgbClr val="99FF99"/>
              </a:buClr>
              <a:buSzPct val="80000"/>
              <a:buFont typeface="Wingdings" panose="05000000000000000000" pitchFamily="2" charset="2"/>
              <a:buNone/>
              <a:defRPr/>
            </a:pPr>
            <a:r>
              <a:rPr lang="en-US" altLang="zh-CN" sz="1400" dirty="0">
                <a:latin typeface="+mn-lt"/>
                <a:ea typeface="+mn-ea"/>
              </a:rPr>
              <a:t>Near the crater </a:t>
            </a:r>
            <a:r>
              <a:rPr lang="zh-CN" altLang="en-US" sz="1400" dirty="0">
                <a:latin typeface="+mn-lt"/>
                <a:ea typeface="+mn-ea"/>
              </a:rPr>
              <a:t>（火山口）</a:t>
            </a:r>
            <a:r>
              <a:rPr lang="en-US" altLang="zh-CN" sz="1400" dirty="0">
                <a:latin typeface="+mn-lt"/>
                <a:ea typeface="+mn-ea"/>
              </a:rPr>
              <a:t>, crystals of sulfur, iodine, or sodium chloride are often produced by volcanic(</a:t>
            </a:r>
            <a:r>
              <a:rPr lang="zh-CN" altLang="en-US" sz="1400" dirty="0">
                <a:latin typeface="+mn-lt"/>
                <a:ea typeface="+mn-ea"/>
              </a:rPr>
              <a:t>火山岩</a:t>
            </a:r>
            <a:r>
              <a:rPr lang="en-US" altLang="zh-CN" sz="1400" dirty="0">
                <a:latin typeface="+mn-lt"/>
                <a:ea typeface="+mn-ea"/>
              </a:rPr>
              <a:t>) jets. Snowflakes and frostwork (</a:t>
            </a:r>
            <a:r>
              <a:rPr lang="zh-CN" altLang="en-US" sz="1400" dirty="0">
                <a:latin typeface="+mn-lt"/>
                <a:ea typeface="+mn-ea"/>
              </a:rPr>
              <a:t>雪花和霜花</a:t>
            </a:r>
            <a:r>
              <a:rPr lang="en-US" altLang="zh-CN" sz="1400" dirty="0">
                <a:latin typeface="+mn-lt"/>
                <a:ea typeface="+mn-ea"/>
              </a:rPr>
              <a:t>) are crystals that are directly crystallized by the cooling of water vapor.</a:t>
            </a:r>
            <a:endParaRPr lang="zh-CN" altLang="en-US" sz="1400" dirty="0">
              <a:latin typeface="+mn-lt"/>
              <a:ea typeface="+mn-ea"/>
            </a:endParaRPr>
          </a:p>
        </p:txBody>
      </p:sp>
      <p:sp>
        <p:nvSpPr>
          <p:cNvPr id="8" name="Rectangle 2"/>
          <p:cNvSpPr>
            <a:spLocks noGrp="1" noChangeArrowheads="1"/>
          </p:cNvSpPr>
          <p:nvPr>
            <p:ph type="title"/>
          </p:nvPr>
        </p:nvSpPr>
        <p:spPr>
          <a:xfrm>
            <a:off x="457200" y="255588"/>
            <a:ext cx="8229600" cy="725487"/>
          </a:xfrm>
        </p:spPr>
        <p:txBody>
          <a:bodyPr>
            <a:noAutofit/>
          </a:bodyPr>
          <a:lstStyle/>
          <a:p>
            <a:pPr>
              <a:defRPr/>
            </a:pPr>
            <a:r>
              <a:rPr lang="en-US" altLang="zh-CN" sz="3600" dirty="0"/>
              <a:t>The paths for crystal formation</a:t>
            </a:r>
            <a:endParaRPr lang="zh-CN" altLang="en-US" sz="3600" dirty="0"/>
          </a:p>
        </p:txBody>
      </p:sp>
      <p:pic>
        <p:nvPicPr>
          <p:cNvPr id="7173" name="Picture 4" descr="http://upload.wikimedia.org/wikipedia/commons/thumb/3/34/Phase-diag2.svg/350px-Phase-diag2.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1495177"/>
            <a:ext cx="369887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3298" y="4987925"/>
            <a:ext cx="2466975" cy="1847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6"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848" y="4987925"/>
            <a:ext cx="2774950" cy="187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Connector 2"/>
          <p:cNvCxnSpPr/>
          <p:nvPr/>
        </p:nvCxnSpPr>
        <p:spPr>
          <a:xfrm>
            <a:off x="5436096" y="3994287"/>
            <a:ext cx="3024336" cy="0"/>
          </a:xfrm>
          <a:prstGeom prst="line">
            <a:avLst/>
          </a:prstGeom>
          <a:ln w="28575">
            <a:solidFill>
              <a:srgbClr val="FF0066"/>
            </a:solidFill>
            <a:prstDash val="dash"/>
            <a:headEnd type="triangle" w="lg" len="lg"/>
            <a:tailEnd type="oval" w="lg" len="lg"/>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6083990" y="1772816"/>
            <a:ext cx="0" cy="2448272"/>
          </a:xfrm>
          <a:prstGeom prst="line">
            <a:avLst/>
          </a:prstGeom>
          <a:ln w="28575">
            <a:solidFill>
              <a:srgbClr val="0000FF"/>
            </a:solidFill>
            <a:prstDash val="dash"/>
            <a:headEnd type="oval" w="lg" len="lg"/>
            <a:tailEnd type="triangle" w="lg" len="lg"/>
          </a:ln>
        </p:spPr>
        <p:style>
          <a:lnRef idx="1">
            <a:schemeClr val="accent1"/>
          </a:lnRef>
          <a:fillRef idx="0">
            <a:schemeClr val="accent1"/>
          </a:fillRef>
          <a:effectRef idx="0">
            <a:schemeClr val="accent1"/>
          </a:effectRef>
          <a:fontRef idx="minor">
            <a:schemeClr val="tx1"/>
          </a:fontRef>
        </p:style>
      </p:cxnSp>
      <p:pic>
        <p:nvPicPr>
          <p:cNvPr id="3993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671" y="4987925"/>
            <a:ext cx="3045779" cy="1821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749" y="4293096"/>
            <a:ext cx="5040363" cy="187166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2226" name="Rectangle 2"/>
          <p:cNvSpPr>
            <a:spLocks noGrp="1" noChangeArrowheads="1"/>
          </p:cNvSpPr>
          <p:nvPr>
            <p:ph type="title"/>
          </p:nvPr>
        </p:nvSpPr>
        <p:spPr>
          <a:xfrm>
            <a:off x="323850" y="255588"/>
            <a:ext cx="8229600" cy="725487"/>
          </a:xfrm>
        </p:spPr>
        <p:txBody>
          <a:bodyPr>
            <a:noAutofit/>
          </a:bodyPr>
          <a:lstStyle/>
          <a:p>
            <a:pPr>
              <a:defRPr/>
            </a:pPr>
            <a:r>
              <a:rPr lang="en-US" altLang="zh-CN" sz="3600" dirty="0"/>
              <a:t>The paths for crystal formation</a:t>
            </a:r>
            <a:endParaRPr lang="zh-CN" altLang="en-US" sz="3600" dirty="0"/>
          </a:p>
        </p:txBody>
      </p:sp>
      <p:sp>
        <p:nvSpPr>
          <p:cNvPr id="52227" name="Rectangle 3"/>
          <p:cNvSpPr>
            <a:spLocks noGrp="1" noChangeArrowheads="1"/>
          </p:cNvSpPr>
          <p:nvPr>
            <p:ph idx="1"/>
          </p:nvPr>
        </p:nvSpPr>
        <p:spPr>
          <a:xfrm>
            <a:off x="552449" y="1846263"/>
            <a:ext cx="5243513" cy="4535487"/>
          </a:xfrm>
        </p:spPr>
        <p:txBody>
          <a:bodyPr/>
          <a:lstStyle/>
          <a:p>
            <a:pPr marL="533400" indent="-533400">
              <a:buFont typeface="Wingdings" panose="05000000000000000000" pitchFamily="2" charset="2"/>
              <a:buNone/>
              <a:defRPr/>
            </a:pPr>
            <a:r>
              <a:rPr lang="en-US" altLang="zh-CN" sz="2400" dirty="0"/>
              <a:t>1.  Crystallization from melt</a:t>
            </a:r>
            <a:endParaRPr lang="zh-CN" altLang="en-US" sz="2400" dirty="0"/>
          </a:p>
          <a:p>
            <a:pPr>
              <a:buFont typeface="Wingdings" panose="05000000000000000000" pitchFamily="2" charset="2"/>
              <a:buNone/>
              <a:defRPr/>
            </a:pPr>
            <a:r>
              <a:rPr lang="zh-CN" altLang="en-US" b="0" dirty="0"/>
              <a:t>     </a:t>
            </a:r>
            <a:r>
              <a:rPr lang="en-US" altLang="zh-CN" sz="1600" b="0" dirty="0"/>
              <a:t>When the temperature is below the melting point, crystals begin to precipitate, that is, crystallization can only occur when the melt is supercooled. </a:t>
            </a:r>
            <a:r>
              <a:rPr lang="en-US" altLang="zh-CN" sz="1600" b="0" u="sng" dirty="0"/>
              <a:t>Water crystallizes as ice at temperatures below zero Celsius degree; molten metal cools below melting point and crystallizes into metal.</a:t>
            </a:r>
            <a:endParaRPr lang="en-US" altLang="zh-CN" b="0" u="sng" dirty="0"/>
          </a:p>
          <a:p>
            <a:pPr>
              <a:buFont typeface="Wingdings" panose="05000000000000000000" pitchFamily="2" charset="2"/>
              <a:buNone/>
              <a:defRPr/>
            </a:pPr>
            <a:r>
              <a:rPr lang="en-US" altLang="zh-CN" sz="1800" dirty="0"/>
              <a:t>Condition</a:t>
            </a:r>
            <a:r>
              <a:rPr lang="zh-CN" altLang="en-US" sz="1800" dirty="0"/>
              <a:t>：</a:t>
            </a:r>
            <a:r>
              <a:rPr lang="en-US" altLang="zh-CN" sz="1800" dirty="0"/>
              <a:t>melt is supercooled</a:t>
            </a:r>
          </a:p>
          <a:p>
            <a:pPr>
              <a:buFont typeface="Wingdings" panose="05000000000000000000" pitchFamily="2" charset="2"/>
              <a:buNone/>
              <a:defRPr/>
            </a:pPr>
            <a:r>
              <a:rPr lang="zh-CN" altLang="en-US" sz="1800" b="0" dirty="0"/>
              <a:t>△</a:t>
            </a:r>
            <a:r>
              <a:rPr lang="en-US" altLang="zh-CN" sz="1800" b="0" dirty="0"/>
              <a:t>T =  </a:t>
            </a:r>
            <a:r>
              <a:rPr lang="en-US" altLang="zh-CN" sz="1800" b="0" dirty="0" err="1"/>
              <a:t>T</a:t>
            </a:r>
            <a:r>
              <a:rPr lang="en-US" altLang="zh-CN" sz="1800" b="0" baseline="-25000" dirty="0" err="1"/>
              <a:t>f</a:t>
            </a:r>
            <a:r>
              <a:rPr lang="en-US" altLang="zh-CN" sz="1800" b="0" dirty="0"/>
              <a:t> – T  </a:t>
            </a:r>
            <a:r>
              <a:rPr lang="zh-CN" altLang="en-US" sz="1800" b="0" dirty="0"/>
              <a:t>；</a:t>
            </a:r>
          </a:p>
          <a:p>
            <a:pPr>
              <a:buFont typeface="Wingdings" panose="05000000000000000000" pitchFamily="2" charset="2"/>
              <a:buNone/>
              <a:defRPr/>
            </a:pPr>
            <a:r>
              <a:rPr lang="en-US" altLang="zh-CN" sz="1800" b="0" dirty="0" err="1"/>
              <a:t>T</a:t>
            </a:r>
            <a:r>
              <a:rPr lang="en-US" altLang="zh-CN" sz="1800" b="0" baseline="-25000" dirty="0" err="1"/>
              <a:t>f</a:t>
            </a:r>
            <a:r>
              <a:rPr lang="en-US" altLang="zh-CN" sz="1800" b="0" baseline="-25000" dirty="0"/>
              <a:t> </a:t>
            </a:r>
            <a:r>
              <a:rPr lang="zh-CN" altLang="en-US" sz="1800" b="0" dirty="0"/>
              <a:t>：</a:t>
            </a:r>
            <a:r>
              <a:rPr lang="en-US" altLang="zh-CN" sz="1800" b="0" dirty="0"/>
              <a:t>melting point</a:t>
            </a:r>
            <a:r>
              <a:rPr lang="zh-CN" altLang="en-US" sz="1800" b="0" dirty="0"/>
              <a:t>；</a:t>
            </a:r>
            <a:endParaRPr lang="en-US" altLang="zh-CN" sz="1800" b="0" dirty="0"/>
          </a:p>
          <a:p>
            <a:pPr>
              <a:buFont typeface="Wingdings" panose="05000000000000000000" pitchFamily="2" charset="2"/>
              <a:buNone/>
              <a:defRPr/>
            </a:pPr>
            <a:r>
              <a:rPr lang="en-US" altLang="zh-CN" sz="1800" b="0" dirty="0"/>
              <a:t>T </a:t>
            </a:r>
            <a:r>
              <a:rPr lang="zh-CN" altLang="en-US" sz="1800" b="0" dirty="0"/>
              <a:t>：</a:t>
            </a:r>
            <a:r>
              <a:rPr lang="en-US" altLang="zh-CN" sz="1800" b="0" dirty="0"/>
              <a:t>melt temperature</a:t>
            </a:r>
            <a:r>
              <a:rPr lang="zh-CN" altLang="en-US" sz="1800" b="0" dirty="0"/>
              <a:t>；</a:t>
            </a:r>
            <a:endParaRPr lang="en-US" altLang="zh-CN" sz="1800" b="0" dirty="0"/>
          </a:p>
          <a:p>
            <a:pPr>
              <a:buFont typeface="Wingdings" panose="05000000000000000000" pitchFamily="2" charset="2"/>
              <a:buNone/>
              <a:defRPr/>
            </a:pPr>
            <a:r>
              <a:rPr lang="zh-CN" altLang="en-US" b="0" dirty="0"/>
              <a:t>△</a:t>
            </a:r>
            <a:r>
              <a:rPr lang="en-US" altLang="zh-CN" b="0" dirty="0"/>
              <a:t>T</a:t>
            </a:r>
            <a:r>
              <a:rPr lang="zh-CN" altLang="en-US" b="0" dirty="0"/>
              <a:t>： </a:t>
            </a:r>
            <a:r>
              <a:rPr lang="en-US" altLang="zh-CN" b="0" dirty="0">
                <a:solidFill>
                  <a:srgbClr val="7030A0"/>
                </a:solidFill>
                <a:effectLst>
                  <a:outerShdw blurRad="38100" dist="38100" dir="2700000" algn="tl">
                    <a:srgbClr val="000000">
                      <a:alpha val="43137"/>
                    </a:srgbClr>
                  </a:outerShdw>
                </a:effectLst>
              </a:rPr>
              <a:t>absolute supercooling</a:t>
            </a:r>
            <a:r>
              <a:rPr lang="en-US" altLang="zh-CN" b="0" dirty="0"/>
              <a:t>.</a:t>
            </a:r>
            <a:endParaRPr lang="zh-CN" altLang="en-US" b="0" dirty="0"/>
          </a:p>
        </p:txBody>
      </p:sp>
      <p:sp>
        <p:nvSpPr>
          <p:cNvPr id="52228" name="Rectangle 4"/>
          <p:cNvSpPr>
            <a:spLocks noChangeArrowheads="1"/>
          </p:cNvSpPr>
          <p:nvPr/>
        </p:nvSpPr>
        <p:spPr bwMode="auto">
          <a:xfrm>
            <a:off x="539750" y="1325563"/>
            <a:ext cx="8266430" cy="38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spcBef>
                <a:spcPct val="20000"/>
              </a:spcBef>
              <a:buClr>
                <a:srgbClr val="99FF99"/>
              </a:buClr>
              <a:buSzPct val="80000"/>
              <a:buFont typeface="Wingdings" panose="05000000000000000000" pitchFamily="2" charset="2"/>
              <a:buChar char="Ø"/>
              <a:defRPr/>
            </a:pPr>
            <a:r>
              <a:rPr kumimoji="0" lang="en-US" altLang="zh-CN" b="1" dirty="0">
                <a:solidFill>
                  <a:srgbClr val="FF3300"/>
                </a:solidFill>
                <a:effectLst>
                  <a:outerShdw blurRad="38100" dist="38100" dir="2700000" algn="tl">
                    <a:srgbClr val="000000"/>
                  </a:outerShdw>
                </a:effectLst>
                <a:latin typeface="Arial" panose="020B0604020202020204" pitchFamily="34" charset="0"/>
              </a:rPr>
              <a:t>  </a:t>
            </a:r>
            <a:r>
              <a:rPr lang="en-US" altLang="zh-CN" sz="2000" b="1" spc="-60" dirty="0">
                <a:solidFill>
                  <a:srgbClr val="FF0066"/>
                </a:solidFill>
                <a:effectLst>
                  <a:outerShdw blurRad="38100" dist="38100" dir="2700000" algn="tl">
                    <a:srgbClr val="000000"/>
                  </a:outerShdw>
                </a:effectLst>
                <a:latin typeface="+mj-lt"/>
                <a:ea typeface="+mj-ea"/>
                <a:cs typeface="+mj-cs"/>
              </a:rPr>
              <a:t>From liquid to crystal (crystallized from melt and solution)</a:t>
            </a:r>
            <a:endParaRPr lang="zh-CN" altLang="en-US" sz="3200" b="1" spc="-60" dirty="0">
              <a:solidFill>
                <a:srgbClr val="FF0066"/>
              </a:solidFill>
              <a:effectLst>
                <a:outerShdw blurRad="38100" dist="38100" dir="2700000" algn="tl">
                  <a:srgbClr val="000000"/>
                </a:outerShdw>
              </a:effectLst>
              <a:latin typeface="+mj-lt"/>
              <a:ea typeface="+mj-ea"/>
              <a:cs typeface="+mj-cs"/>
            </a:endParaRPr>
          </a:p>
        </p:txBody>
      </p:sp>
      <p:pic>
        <p:nvPicPr>
          <p:cNvPr id="81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963" y="2012950"/>
            <a:ext cx="2232025" cy="3514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5219700" y="1628775"/>
            <a:ext cx="3708400" cy="210276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2226" name="Rectangle 2"/>
          <p:cNvSpPr>
            <a:spLocks noGrp="1" noChangeArrowheads="1"/>
          </p:cNvSpPr>
          <p:nvPr>
            <p:ph type="title"/>
          </p:nvPr>
        </p:nvSpPr>
        <p:spPr>
          <a:xfrm>
            <a:off x="457200" y="255588"/>
            <a:ext cx="8229600" cy="725487"/>
          </a:xfrm>
        </p:spPr>
        <p:txBody>
          <a:bodyPr>
            <a:noAutofit/>
          </a:bodyPr>
          <a:lstStyle/>
          <a:p>
            <a:pPr>
              <a:defRPr/>
            </a:pPr>
            <a:r>
              <a:rPr lang="en-US" altLang="zh-CN" sz="3600" dirty="0"/>
              <a:t>The paths for crystal formation</a:t>
            </a:r>
            <a:endParaRPr lang="zh-CN" altLang="en-US" sz="3600" dirty="0"/>
          </a:p>
        </p:txBody>
      </p:sp>
      <p:sp>
        <p:nvSpPr>
          <p:cNvPr id="52227" name="Rectangle 3"/>
          <p:cNvSpPr>
            <a:spLocks noGrp="1" noChangeArrowheads="1"/>
          </p:cNvSpPr>
          <p:nvPr>
            <p:ph idx="1"/>
          </p:nvPr>
        </p:nvSpPr>
        <p:spPr>
          <a:xfrm>
            <a:off x="250825" y="1628775"/>
            <a:ext cx="4968875" cy="4895850"/>
          </a:xfrm>
        </p:spPr>
        <p:txBody>
          <a:bodyPr/>
          <a:lstStyle/>
          <a:p>
            <a:pPr>
              <a:defRPr/>
            </a:pPr>
            <a:r>
              <a:rPr lang="en-US" altLang="zh-CN" sz="2400" dirty="0"/>
              <a:t>2. Crystallization from solution</a:t>
            </a:r>
            <a:r>
              <a:rPr lang="zh-CN" altLang="en-US" sz="2400" dirty="0"/>
              <a:t>        </a:t>
            </a:r>
            <a:endParaRPr lang="en-US" altLang="zh-CN" sz="2400" dirty="0"/>
          </a:p>
          <a:p>
            <a:pPr>
              <a:defRPr/>
            </a:pPr>
            <a:r>
              <a:rPr lang="en-US" altLang="zh-CN" sz="1600" b="0" dirty="0"/>
              <a:t>     When the solution reaches supersaturation, the crystal can be precipitated. There are mainly three ways to achieve the state of supersaturation:</a:t>
            </a:r>
          </a:p>
          <a:p>
            <a:pPr marL="266700" indent="-266700">
              <a:buFont typeface="+mj-lt"/>
              <a:buAutoNum type="arabicPeriod"/>
              <a:defRPr/>
            </a:pPr>
            <a:r>
              <a:rPr lang="en-US" altLang="zh-CN" sz="1400" dirty="0"/>
              <a:t>Lower temperature</a:t>
            </a:r>
            <a:r>
              <a:rPr lang="en-US" altLang="zh-CN" sz="1400" b="0" dirty="0"/>
              <a:t>: The crystals of various minerals will be precipitated when the magma(</a:t>
            </a:r>
            <a:r>
              <a:rPr lang="zh-CN" altLang="en-US" sz="1400" b="0" dirty="0"/>
              <a:t>岩浆</a:t>
            </a:r>
            <a:r>
              <a:rPr lang="en-US" altLang="zh-CN" sz="1400" b="0" dirty="0"/>
              <a:t>) is far away from the source.</a:t>
            </a:r>
          </a:p>
          <a:p>
            <a:pPr marL="266700" indent="-266700">
              <a:buFont typeface="+mj-lt"/>
              <a:buAutoNum type="arabicPeriod"/>
              <a:defRPr/>
            </a:pPr>
            <a:r>
              <a:rPr lang="en-US" altLang="zh-CN" sz="1400" dirty="0"/>
              <a:t>Solvent evaporation</a:t>
            </a:r>
            <a:r>
              <a:rPr lang="en-US" altLang="zh-CN" sz="1400" b="0" dirty="0"/>
              <a:t>, such as evaporation of natural Saline Lake brines, crystallization of salt minerals.</a:t>
            </a:r>
          </a:p>
          <a:p>
            <a:pPr marL="266700" indent="-266700">
              <a:buFont typeface="+mj-lt"/>
              <a:buAutoNum type="arabicPeriod"/>
              <a:defRPr/>
            </a:pPr>
            <a:r>
              <a:rPr lang="en-US" altLang="zh-CN" sz="1400" b="0" dirty="0"/>
              <a:t>The formation of insoluble substances by </a:t>
            </a:r>
            <a:r>
              <a:rPr lang="en-US" altLang="zh-CN" sz="1400" dirty="0"/>
              <a:t>chemical reactions</a:t>
            </a:r>
            <a:r>
              <a:rPr lang="en-US" altLang="zh-CN" sz="1400" b="0" dirty="0"/>
              <a:t>.</a:t>
            </a:r>
            <a:endParaRPr lang="zh-CN" altLang="en-US" sz="1400" b="0" dirty="0"/>
          </a:p>
        </p:txBody>
      </p:sp>
      <p:sp>
        <p:nvSpPr>
          <p:cNvPr id="52228" name="Rectangle 4"/>
          <p:cNvSpPr>
            <a:spLocks noChangeArrowheads="1"/>
          </p:cNvSpPr>
          <p:nvPr/>
        </p:nvSpPr>
        <p:spPr bwMode="auto">
          <a:xfrm>
            <a:off x="179388" y="1108075"/>
            <a:ext cx="4131387" cy="39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lnSpc>
                <a:spcPct val="80000"/>
              </a:lnSpc>
              <a:spcBef>
                <a:spcPct val="20000"/>
              </a:spcBef>
              <a:buClr>
                <a:srgbClr val="99FF99"/>
              </a:buClr>
              <a:buSzPct val="80000"/>
              <a:buFont typeface="Wingdings" panose="05000000000000000000" pitchFamily="2" charset="2"/>
              <a:buChar char="Ø"/>
              <a:defRPr/>
            </a:pPr>
            <a:r>
              <a:rPr kumimoji="0" lang="en-US" altLang="zh-CN" b="1" dirty="0">
                <a:solidFill>
                  <a:srgbClr val="FF3300"/>
                </a:solidFill>
                <a:effectLst>
                  <a:outerShdw blurRad="38100" dist="38100" dir="2700000" algn="tl">
                    <a:srgbClr val="000000"/>
                  </a:outerShdw>
                </a:effectLst>
                <a:latin typeface="Arial" panose="020B0604020202020204" pitchFamily="34" charset="0"/>
              </a:rPr>
              <a:t>  </a:t>
            </a:r>
            <a:r>
              <a:rPr lang="en-US" altLang="zh-CN" b="1" spc="-60" dirty="0">
                <a:solidFill>
                  <a:srgbClr val="FF0066"/>
                </a:solidFill>
                <a:effectLst>
                  <a:outerShdw blurRad="38100" dist="38100" dir="2700000" algn="tl">
                    <a:srgbClr val="000000"/>
                  </a:outerShdw>
                </a:effectLst>
                <a:latin typeface="+mj-lt"/>
                <a:ea typeface="+mj-ea"/>
                <a:cs typeface="+mj-cs"/>
              </a:rPr>
              <a:t>From liquid to crystal</a:t>
            </a:r>
            <a:endParaRPr lang="zh-CN" altLang="en-US" b="1" spc="-60" dirty="0">
              <a:solidFill>
                <a:srgbClr val="FF0066"/>
              </a:solidFill>
              <a:effectLst>
                <a:outerShdw blurRad="38100" dist="38100" dir="2700000" algn="tl">
                  <a:srgbClr val="000000"/>
                </a:outerShdw>
              </a:effectLst>
              <a:latin typeface="+mj-lt"/>
              <a:ea typeface="+mj-ea"/>
              <a:cs typeface="+mj-cs"/>
            </a:endParaRPr>
          </a:p>
        </p:txBody>
      </p:sp>
      <p:pic>
        <p:nvPicPr>
          <p:cNvPr id="922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452" y="4879480"/>
            <a:ext cx="2468562" cy="163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3" name="Picture 2"/>
          <p:cNvPicPr>
            <a:picLocks noChangeAspect="1" noChangeArrowheads="1"/>
          </p:cNvPicPr>
          <p:nvPr/>
        </p:nvPicPr>
        <p:blipFill>
          <a:blip r:embed="rId3">
            <a:extLst>
              <a:ext uri="{28A0092B-C50C-407E-A947-70E740481C1C}">
                <a14:useLocalDpi xmlns:a14="http://schemas.microsoft.com/office/drawing/2010/main" val="0"/>
              </a:ext>
            </a:extLst>
          </a:blip>
          <a:srcRect l="21710" t="6883" r="21527"/>
          <a:stretch>
            <a:fillRect/>
          </a:stretch>
        </p:blipFill>
        <p:spPr bwMode="auto">
          <a:xfrm>
            <a:off x="5716389" y="4879480"/>
            <a:ext cx="1512888" cy="1862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4857255"/>
            <a:ext cx="2471737" cy="185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5219700" y="1700213"/>
            <a:ext cx="3708400" cy="2031325"/>
          </a:xfrm>
          <a:prstGeom prst="rect">
            <a:avLst/>
          </a:prstGeom>
        </p:spPr>
        <p:txBody>
          <a:bodyPr wrap="square">
            <a:spAutoFit/>
          </a:bodyPr>
          <a:lstStyle/>
          <a:p>
            <a:pPr>
              <a:spcBef>
                <a:spcPct val="50000"/>
              </a:spcBef>
              <a:buClr>
                <a:srgbClr val="CC0000"/>
              </a:buClr>
              <a:defRPr/>
            </a:pPr>
            <a:r>
              <a:rPr lang="en-US" altLang="zh-CN" sz="1800" b="1" dirty="0">
                <a:latin typeface="+mn-lt"/>
                <a:ea typeface="+mn-ea"/>
              </a:rPr>
              <a:t>Oversaturated solution</a:t>
            </a:r>
          </a:p>
          <a:p>
            <a:pPr>
              <a:spcBef>
                <a:spcPct val="50000"/>
              </a:spcBef>
              <a:buClr>
                <a:srgbClr val="CC0000"/>
              </a:buClr>
              <a:defRPr/>
            </a:pPr>
            <a:r>
              <a:rPr lang="zh-CN" altLang="en-US" sz="1800" b="1" dirty="0">
                <a:latin typeface="+mn-lt"/>
                <a:ea typeface="+mn-ea"/>
              </a:rPr>
              <a:t>△</a:t>
            </a:r>
            <a:r>
              <a:rPr lang="en-US" altLang="zh-CN" sz="1800" b="1" dirty="0">
                <a:latin typeface="+mn-lt"/>
                <a:ea typeface="+mn-ea"/>
              </a:rPr>
              <a:t>c = c – </a:t>
            </a:r>
            <a:r>
              <a:rPr lang="en-US" altLang="zh-CN" sz="1800" b="1" dirty="0" err="1">
                <a:latin typeface="+mn-lt"/>
                <a:ea typeface="+mn-ea"/>
              </a:rPr>
              <a:t>c</a:t>
            </a:r>
            <a:r>
              <a:rPr lang="en-US" altLang="zh-CN" sz="1800" b="1" baseline="-25000" dirty="0" err="1">
                <a:latin typeface="+mn-lt"/>
                <a:ea typeface="+mn-ea"/>
              </a:rPr>
              <a:t>eq</a:t>
            </a:r>
            <a:r>
              <a:rPr lang="en-US" altLang="zh-CN" sz="1800" b="1" dirty="0">
                <a:latin typeface="+mn-lt"/>
                <a:ea typeface="+mn-ea"/>
              </a:rPr>
              <a:t>     </a:t>
            </a:r>
          </a:p>
          <a:p>
            <a:pPr marL="469900" indent="-469900">
              <a:spcBef>
                <a:spcPct val="50000"/>
              </a:spcBef>
              <a:buClr>
                <a:srgbClr val="000099"/>
              </a:buClr>
              <a:defRPr/>
            </a:pPr>
            <a:r>
              <a:rPr lang="en-US" altLang="zh-CN" sz="1800" b="1" dirty="0">
                <a:latin typeface="+mn-lt"/>
                <a:ea typeface="+mn-ea"/>
              </a:rPr>
              <a:t>△c</a:t>
            </a:r>
            <a:r>
              <a:rPr lang="zh-CN" altLang="en-US" sz="1800" b="1" dirty="0">
                <a:latin typeface="+mn-lt"/>
                <a:ea typeface="+mn-ea"/>
              </a:rPr>
              <a:t>：</a:t>
            </a:r>
            <a:r>
              <a:rPr lang="en-US" altLang="zh-CN" sz="1800" b="1" dirty="0">
                <a:latin typeface="+mn-lt"/>
                <a:ea typeface="+mn-ea"/>
              </a:rPr>
              <a:t>absolutely oversaturation;</a:t>
            </a:r>
          </a:p>
          <a:p>
            <a:pPr marL="469900" indent="-469900">
              <a:spcBef>
                <a:spcPct val="50000"/>
              </a:spcBef>
              <a:buClr>
                <a:srgbClr val="000099"/>
              </a:buClr>
              <a:defRPr/>
            </a:pPr>
            <a:r>
              <a:rPr lang="zh-CN" altLang="en-US" sz="1800" b="1" dirty="0">
                <a:latin typeface="+mn-lt"/>
                <a:ea typeface="+mn-ea"/>
              </a:rPr>
              <a:t> </a:t>
            </a:r>
            <a:r>
              <a:rPr lang="en-US" altLang="zh-CN" sz="1800" b="1" dirty="0">
                <a:latin typeface="+mn-lt"/>
                <a:ea typeface="+mn-ea"/>
              </a:rPr>
              <a:t>c</a:t>
            </a:r>
            <a:r>
              <a:rPr lang="zh-CN" altLang="en-US" sz="1800" b="1" dirty="0">
                <a:latin typeface="+mn-lt"/>
                <a:ea typeface="+mn-ea"/>
              </a:rPr>
              <a:t>：</a:t>
            </a:r>
            <a:r>
              <a:rPr lang="en-US" altLang="zh-CN" sz="1800" b="1" dirty="0">
                <a:latin typeface="+mn-lt"/>
                <a:ea typeface="+mn-ea"/>
              </a:rPr>
              <a:t>solution concentration</a:t>
            </a:r>
            <a:r>
              <a:rPr lang="zh-CN" altLang="en-US" sz="1800" b="1" dirty="0">
                <a:latin typeface="+mn-lt"/>
                <a:ea typeface="+mn-ea"/>
              </a:rPr>
              <a:t>；</a:t>
            </a:r>
            <a:endParaRPr lang="en-US" altLang="zh-CN" sz="1800" b="1" dirty="0">
              <a:latin typeface="+mn-lt"/>
              <a:ea typeface="+mn-ea"/>
            </a:endParaRPr>
          </a:p>
          <a:p>
            <a:pPr marL="469900" indent="-469900">
              <a:spcBef>
                <a:spcPct val="50000"/>
              </a:spcBef>
              <a:buClr>
                <a:srgbClr val="000099"/>
              </a:buClr>
              <a:defRPr/>
            </a:pPr>
            <a:r>
              <a:rPr lang="en-US" altLang="zh-CN" sz="1800" b="1" dirty="0">
                <a:latin typeface="+mn-lt"/>
                <a:ea typeface="+mn-ea"/>
              </a:rPr>
              <a:t> </a:t>
            </a:r>
            <a:r>
              <a:rPr lang="en-US" altLang="zh-CN" sz="1800" b="1" dirty="0" err="1">
                <a:latin typeface="+mn-lt"/>
                <a:ea typeface="+mn-ea"/>
              </a:rPr>
              <a:t>c</a:t>
            </a:r>
            <a:r>
              <a:rPr lang="en-US" altLang="zh-CN" sz="1800" b="1" baseline="-25000" dirty="0" err="1">
                <a:latin typeface="+mn-lt"/>
                <a:ea typeface="+mn-ea"/>
              </a:rPr>
              <a:t>eq</a:t>
            </a:r>
            <a:r>
              <a:rPr lang="en-US" altLang="zh-CN" sz="1800" b="1" dirty="0">
                <a:latin typeface="+mn-lt"/>
                <a:ea typeface="+mn-ea"/>
              </a:rPr>
              <a:t> </a:t>
            </a:r>
            <a:r>
              <a:rPr lang="zh-CN" altLang="en-US" sz="1800" b="1" dirty="0">
                <a:latin typeface="+mn-lt"/>
                <a:ea typeface="+mn-ea"/>
              </a:rPr>
              <a:t>：</a:t>
            </a:r>
            <a:r>
              <a:rPr lang="en-US" altLang="zh-CN" sz="1800" b="1" dirty="0">
                <a:latin typeface="+mn-lt"/>
                <a:ea typeface="+mn-ea"/>
              </a:rPr>
              <a:t>solubility</a:t>
            </a:r>
            <a:endParaRPr lang="zh-CN" altLang="en-US" sz="1800" b="1" dirty="0">
              <a:latin typeface="+mn-lt"/>
              <a:ea typeface="+mn-ea"/>
            </a:endParaRPr>
          </a:p>
        </p:txBody>
      </p:sp>
      <p:sp>
        <p:nvSpPr>
          <p:cNvPr id="7" name="Rectangle 6"/>
          <p:cNvSpPr/>
          <p:nvPr/>
        </p:nvSpPr>
        <p:spPr>
          <a:xfrm>
            <a:off x="5246688" y="3916363"/>
            <a:ext cx="3681412" cy="881062"/>
          </a:xfrm>
          <a:prstGeom prst="rect">
            <a:avLst/>
          </a:prstGeom>
        </p:spPr>
        <p:txBody>
          <a:bodyPr>
            <a:spAutoFit/>
          </a:bodyPr>
          <a:lstStyle/>
          <a:p>
            <a:pPr>
              <a:spcBef>
                <a:spcPct val="50000"/>
              </a:spcBef>
              <a:buClr>
                <a:srgbClr val="0000FF"/>
              </a:buClr>
              <a:defRPr/>
            </a:pPr>
            <a:r>
              <a:rPr kumimoji="0" lang="en-US" altLang="zh-CN" sz="1600" b="1" kern="0" dirty="0">
                <a:latin typeface="Arial" panose="020B0604020202020204" pitchFamily="34" charset="0"/>
                <a:ea typeface="楷体_GB2312" pitchFamily="49" charset="-122"/>
              </a:rPr>
              <a:t>CaNO</a:t>
            </a:r>
            <a:r>
              <a:rPr kumimoji="0" lang="en-US" altLang="zh-CN" sz="1600" b="1" kern="0" baseline="-25000" dirty="0">
                <a:latin typeface="Arial" panose="020B0604020202020204" pitchFamily="34" charset="0"/>
                <a:ea typeface="楷体_GB2312" pitchFamily="49" charset="-122"/>
              </a:rPr>
              <a:t>3</a:t>
            </a:r>
            <a:r>
              <a:rPr kumimoji="0" lang="en-US" altLang="zh-CN" sz="1600" b="1" kern="0" dirty="0">
                <a:latin typeface="Arial" panose="020B0604020202020204" pitchFamily="34" charset="0"/>
                <a:ea typeface="楷体_GB2312" pitchFamily="49" charset="-122"/>
              </a:rPr>
              <a:t>+Na</a:t>
            </a:r>
            <a:r>
              <a:rPr kumimoji="0" lang="en-US" altLang="zh-CN" sz="1600" b="1" kern="0" baseline="-25000" dirty="0">
                <a:latin typeface="Arial" panose="020B0604020202020204" pitchFamily="34" charset="0"/>
                <a:ea typeface="楷体_GB2312" pitchFamily="49" charset="-122"/>
              </a:rPr>
              <a:t>2</a:t>
            </a:r>
            <a:r>
              <a:rPr kumimoji="0" lang="en-US" altLang="zh-CN" sz="1600" b="1" kern="0" dirty="0">
                <a:latin typeface="Arial" panose="020B0604020202020204" pitchFamily="34" charset="0"/>
                <a:ea typeface="楷体_GB2312" pitchFamily="49" charset="-122"/>
              </a:rPr>
              <a:t>CO</a:t>
            </a:r>
            <a:r>
              <a:rPr kumimoji="0" lang="en-US" altLang="zh-CN" sz="1600" b="1" kern="0" baseline="-25000" dirty="0">
                <a:latin typeface="Arial" panose="020B0604020202020204" pitchFamily="34" charset="0"/>
                <a:ea typeface="楷体_GB2312" pitchFamily="49" charset="-122"/>
              </a:rPr>
              <a:t>3</a:t>
            </a:r>
            <a:r>
              <a:rPr kumimoji="0" lang="en-US" altLang="zh-CN" sz="1600" b="1" kern="0" dirty="0">
                <a:latin typeface="Arial" panose="020B0604020202020204" pitchFamily="34" charset="0"/>
                <a:ea typeface="楷体_GB2312" pitchFamily="49" charset="-122"/>
              </a:rPr>
              <a:t>=CaCO</a:t>
            </a:r>
            <a:r>
              <a:rPr kumimoji="0" lang="en-US" altLang="zh-CN" sz="1600" b="1" kern="0" baseline="-25000" dirty="0">
                <a:latin typeface="Arial" panose="020B0604020202020204" pitchFamily="34" charset="0"/>
                <a:ea typeface="楷体_GB2312" pitchFamily="49" charset="-122"/>
              </a:rPr>
              <a:t>3 </a:t>
            </a:r>
            <a:r>
              <a:rPr kumimoji="0" lang="en-US" altLang="zh-CN" sz="1600" b="1" kern="0" dirty="0">
                <a:latin typeface="Arial" panose="020B0604020202020204" pitchFamily="34" charset="0"/>
                <a:ea typeface="楷体_GB2312" pitchFamily="49" charset="-122"/>
              </a:rPr>
              <a:t>↓</a:t>
            </a:r>
            <a:r>
              <a:rPr kumimoji="0" lang="en-US" altLang="zh-CN" sz="1600" b="1" kern="0" baseline="-25000" dirty="0">
                <a:latin typeface="Arial" panose="020B0604020202020204" pitchFamily="34" charset="0"/>
                <a:ea typeface="楷体_GB2312" pitchFamily="49" charset="-122"/>
              </a:rPr>
              <a:t> </a:t>
            </a:r>
            <a:r>
              <a:rPr kumimoji="0" lang="en-US" altLang="zh-CN" sz="1600" b="1" kern="0" dirty="0">
                <a:latin typeface="Arial" panose="020B0604020202020204" pitchFamily="34" charset="0"/>
                <a:ea typeface="楷体_GB2312" pitchFamily="49" charset="-122"/>
              </a:rPr>
              <a:t>+ NaNO</a:t>
            </a:r>
            <a:r>
              <a:rPr kumimoji="0" lang="en-US" altLang="zh-CN" sz="1600" b="1" kern="0" baseline="-25000" dirty="0">
                <a:latin typeface="Arial" panose="020B0604020202020204" pitchFamily="34" charset="0"/>
                <a:ea typeface="楷体_GB2312" pitchFamily="49" charset="-122"/>
              </a:rPr>
              <a:t>3</a:t>
            </a:r>
          </a:p>
          <a:p>
            <a:pPr>
              <a:spcBef>
                <a:spcPct val="20000"/>
              </a:spcBef>
              <a:buClr>
                <a:srgbClr val="0000FF"/>
              </a:buClr>
              <a:defRPr/>
            </a:pPr>
            <a:r>
              <a:rPr kumimoji="0" lang="en-US" altLang="zh-CN" sz="1600" b="1" kern="0" dirty="0">
                <a:latin typeface="Arial" panose="020B0604020202020204" pitchFamily="34" charset="0"/>
                <a:ea typeface="楷体_GB2312" pitchFamily="49" charset="-122"/>
              </a:rPr>
              <a:t>Ca(OH)</a:t>
            </a:r>
            <a:r>
              <a:rPr kumimoji="0" lang="en-US" altLang="zh-CN" sz="1600" b="1" kern="0" baseline="-25000" dirty="0">
                <a:latin typeface="Arial" panose="020B0604020202020204" pitchFamily="34" charset="0"/>
                <a:ea typeface="楷体_GB2312" pitchFamily="49" charset="-122"/>
              </a:rPr>
              <a:t>2</a:t>
            </a:r>
            <a:r>
              <a:rPr kumimoji="0" lang="en-US" altLang="zh-CN" sz="1600" b="1" kern="0" dirty="0">
                <a:latin typeface="Arial" panose="020B0604020202020204" pitchFamily="34" charset="0"/>
                <a:ea typeface="楷体_GB2312" pitchFamily="49" charset="-122"/>
              </a:rPr>
              <a:t>+H</a:t>
            </a:r>
            <a:r>
              <a:rPr kumimoji="0" lang="en-US" altLang="zh-CN" sz="1600" b="1" kern="0" baseline="-25000" dirty="0">
                <a:latin typeface="Arial" panose="020B0604020202020204" pitchFamily="34" charset="0"/>
                <a:ea typeface="楷体_GB2312" pitchFamily="49" charset="-122"/>
              </a:rPr>
              <a:t>3</a:t>
            </a:r>
            <a:r>
              <a:rPr kumimoji="0" lang="en-US" altLang="zh-CN" sz="1600" b="1" kern="0" dirty="0">
                <a:latin typeface="Arial" panose="020B0604020202020204" pitchFamily="34" charset="0"/>
                <a:ea typeface="楷体_GB2312" pitchFamily="49" charset="-122"/>
              </a:rPr>
              <a:t>PO</a:t>
            </a:r>
            <a:r>
              <a:rPr kumimoji="0" lang="en-US" altLang="zh-CN" sz="1600" b="1" kern="0" baseline="-25000" dirty="0">
                <a:latin typeface="Arial" panose="020B0604020202020204" pitchFamily="34" charset="0"/>
                <a:ea typeface="楷体_GB2312" pitchFamily="49" charset="-122"/>
              </a:rPr>
              <a:t>4</a:t>
            </a:r>
            <a:r>
              <a:rPr kumimoji="0" lang="en-US" altLang="zh-CN" sz="1600" b="1" kern="0" dirty="0">
                <a:latin typeface="Arial" panose="020B0604020202020204" pitchFamily="34" charset="0"/>
                <a:ea typeface="楷体_GB2312" pitchFamily="49" charset="-122"/>
              </a:rPr>
              <a:t>= Ca</a:t>
            </a:r>
            <a:r>
              <a:rPr kumimoji="0" lang="en-US" altLang="zh-CN" sz="1600" b="1" kern="0" baseline="-25000" dirty="0">
                <a:latin typeface="Arial" panose="020B0604020202020204" pitchFamily="34" charset="0"/>
                <a:ea typeface="楷体_GB2312" pitchFamily="49" charset="-122"/>
              </a:rPr>
              <a:t>5</a:t>
            </a:r>
            <a:r>
              <a:rPr kumimoji="0" lang="en-US" altLang="zh-CN" sz="1600" b="1" kern="0" dirty="0">
                <a:latin typeface="Arial" panose="020B0604020202020204" pitchFamily="34" charset="0"/>
                <a:ea typeface="楷体_GB2312" pitchFamily="49" charset="-122"/>
              </a:rPr>
              <a:t>(PO</a:t>
            </a:r>
            <a:r>
              <a:rPr kumimoji="0" lang="en-US" altLang="zh-CN" sz="1600" b="1" kern="0" baseline="-25000" dirty="0">
                <a:latin typeface="Arial" panose="020B0604020202020204" pitchFamily="34" charset="0"/>
                <a:ea typeface="楷体_GB2312" pitchFamily="49" charset="-122"/>
              </a:rPr>
              <a:t>4</a:t>
            </a:r>
            <a:r>
              <a:rPr kumimoji="0" lang="en-US" altLang="zh-CN" sz="1600" b="1" kern="0" dirty="0">
                <a:latin typeface="Arial" panose="020B0604020202020204" pitchFamily="34" charset="0"/>
                <a:ea typeface="楷体_GB2312" pitchFamily="49" charset="-122"/>
              </a:rPr>
              <a:t>)</a:t>
            </a:r>
            <a:r>
              <a:rPr kumimoji="0" lang="en-US" altLang="zh-CN" sz="1600" b="1" kern="0" baseline="-25000" dirty="0">
                <a:latin typeface="Arial" panose="020B0604020202020204" pitchFamily="34" charset="0"/>
                <a:ea typeface="楷体_GB2312" pitchFamily="49" charset="-122"/>
              </a:rPr>
              <a:t>3</a:t>
            </a:r>
            <a:r>
              <a:rPr kumimoji="0" lang="en-US" altLang="zh-CN" sz="1600" b="1" kern="0" dirty="0">
                <a:latin typeface="Arial" panose="020B0604020202020204" pitchFamily="34" charset="0"/>
                <a:ea typeface="楷体_GB2312" pitchFamily="49" charset="-122"/>
              </a:rPr>
              <a:t>(OH) ↓ +H</a:t>
            </a:r>
            <a:r>
              <a:rPr kumimoji="0" lang="en-US" altLang="zh-CN" sz="1600" b="1" kern="0" baseline="-25000" dirty="0">
                <a:latin typeface="Arial" panose="020B0604020202020204" pitchFamily="34" charset="0"/>
                <a:ea typeface="楷体_GB2312" pitchFamily="49" charset="-122"/>
              </a:rPr>
              <a:t>2</a:t>
            </a:r>
            <a:r>
              <a:rPr kumimoji="0" lang="en-US" altLang="zh-CN" sz="1600" b="1" kern="0" dirty="0">
                <a:latin typeface="Arial" panose="020B0604020202020204" pitchFamily="34" charset="0"/>
                <a:ea typeface="楷体_GB2312" pitchFamily="49" charset="-122"/>
              </a:rPr>
              <a:t>O</a:t>
            </a:r>
            <a:endParaRPr kumimoji="0" lang="en-US" altLang="zh-CN" sz="1600" b="1" kern="0" dirty="0">
              <a:latin typeface="Arial" panose="020B0604020202020204" pitchFamily="34" charset="0"/>
              <a:ea typeface="黑体" panose="02010609060101010101" pitchFamily="49"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0768" y="4343400"/>
            <a:ext cx="3000375" cy="133826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3251" name="Rectangle 3"/>
          <p:cNvSpPr>
            <a:spLocks noGrp="1" noChangeArrowheads="1"/>
          </p:cNvSpPr>
          <p:nvPr>
            <p:ph idx="1"/>
          </p:nvPr>
        </p:nvSpPr>
        <p:spPr>
          <a:xfrm>
            <a:off x="700088" y="1844675"/>
            <a:ext cx="4678362" cy="4629150"/>
          </a:xfrm>
        </p:spPr>
        <p:txBody>
          <a:bodyPr/>
          <a:lstStyle/>
          <a:p>
            <a:pPr>
              <a:lnSpc>
                <a:spcPct val="120000"/>
              </a:lnSpc>
              <a:buFont typeface="Wingdings" panose="05000000000000000000" pitchFamily="2" charset="2"/>
              <a:buNone/>
              <a:defRPr/>
            </a:pPr>
            <a:r>
              <a:rPr lang="en-US" altLang="zh-CN" sz="1600" dirty="0"/>
              <a:t>Polymorphic transformation(</a:t>
            </a:r>
            <a:r>
              <a:rPr lang="zh-CN" altLang="en-US" sz="1600" dirty="0"/>
              <a:t>同素异形体转变）</a:t>
            </a:r>
            <a:r>
              <a:rPr lang="en-US" altLang="zh-CN" sz="1600" b="0" dirty="0"/>
              <a:t>: It refers to the transformation that a crystal changes into a new crystal when the thermodynamic conditions change. They are the </a:t>
            </a:r>
            <a:r>
              <a:rPr lang="en-US" altLang="zh-CN" sz="1600" b="0" u="sng" dirty="0"/>
              <a:t>same in composition </a:t>
            </a:r>
            <a:r>
              <a:rPr lang="en-US" altLang="zh-CN" sz="1600" b="0" dirty="0"/>
              <a:t>before and after the change, but the </a:t>
            </a:r>
            <a:r>
              <a:rPr lang="en-US" altLang="zh-CN" sz="1600" b="0" u="sng" dirty="0"/>
              <a:t>crystal structures are different</a:t>
            </a:r>
            <a:r>
              <a:rPr lang="en-US" altLang="zh-CN" sz="1600" b="0" dirty="0"/>
              <a:t>.</a:t>
            </a:r>
          </a:p>
          <a:p>
            <a:pPr>
              <a:lnSpc>
                <a:spcPct val="120000"/>
              </a:lnSpc>
              <a:buFont typeface="Wingdings" panose="05000000000000000000" pitchFamily="2" charset="2"/>
              <a:buNone/>
              <a:defRPr/>
            </a:pPr>
            <a:r>
              <a:rPr lang="en-US" altLang="zh-CN" sz="1600" dirty="0"/>
              <a:t>Amorphous solid crystallization: </a:t>
            </a:r>
            <a:r>
              <a:rPr lang="en-US" altLang="zh-CN" sz="1600" b="0" dirty="0"/>
              <a:t>lava</a:t>
            </a:r>
            <a:r>
              <a:rPr lang="zh-CN" altLang="en-US" sz="1600" b="0" dirty="0"/>
              <a:t>（岩浆）</a:t>
            </a:r>
            <a:r>
              <a:rPr lang="en-US" altLang="zh-CN" sz="1600" b="0" dirty="0"/>
              <a:t> flows rapidly from volcanic eruptions and is </a:t>
            </a:r>
            <a:r>
              <a:rPr lang="en-US" altLang="zh-CN" sz="1600" b="0" u="sng" dirty="0"/>
              <a:t>solidified into amorphous volcanic glass</a:t>
            </a:r>
            <a:r>
              <a:rPr lang="en-US" altLang="zh-CN" sz="1600" b="0" dirty="0"/>
              <a:t>. This volcanic glass </a:t>
            </a:r>
            <a:r>
              <a:rPr lang="zh-CN" altLang="en-US" sz="1600" b="0" dirty="0"/>
              <a:t>（火山岩玻璃）</a:t>
            </a:r>
            <a:r>
              <a:rPr lang="en-US" altLang="zh-CN" sz="1600" b="0" dirty="0"/>
              <a:t> can </a:t>
            </a:r>
            <a:r>
              <a:rPr lang="en-US" altLang="zh-CN" sz="1600" b="0" u="sng" dirty="0"/>
              <a:t>gradually change </a:t>
            </a:r>
            <a:r>
              <a:rPr lang="en-US" altLang="zh-CN" sz="1600" b="0" dirty="0"/>
              <a:t>to crystal after more than a thousand years.</a:t>
            </a:r>
          </a:p>
          <a:p>
            <a:pPr>
              <a:lnSpc>
                <a:spcPct val="120000"/>
              </a:lnSpc>
              <a:buFont typeface="Wingdings" panose="05000000000000000000" pitchFamily="2" charset="2"/>
              <a:buNone/>
              <a:defRPr/>
            </a:pPr>
            <a:r>
              <a:rPr lang="en-US" altLang="zh-CN" sz="1600" dirty="0"/>
              <a:t>Solid phase reaction crystallization:</a:t>
            </a:r>
            <a:r>
              <a:rPr lang="zh-CN" altLang="en-US" dirty="0"/>
              <a:t>     </a:t>
            </a:r>
            <a:r>
              <a:rPr lang="en-US" altLang="zh-CN" b="0" dirty="0"/>
              <a:t>CaO+SiO</a:t>
            </a:r>
            <a:r>
              <a:rPr lang="en-US" altLang="zh-CN" b="0" baseline="-25000" dirty="0"/>
              <a:t>2</a:t>
            </a:r>
            <a:r>
              <a:rPr lang="en-US" altLang="zh-CN" b="0" dirty="0"/>
              <a:t>=Ca</a:t>
            </a:r>
            <a:r>
              <a:rPr lang="en-US" altLang="zh-CN" b="0" baseline="-25000" dirty="0"/>
              <a:t>2</a:t>
            </a:r>
            <a:r>
              <a:rPr lang="en-US" altLang="zh-CN" b="0" dirty="0"/>
              <a:t>SiO</a:t>
            </a:r>
            <a:r>
              <a:rPr lang="en-US" altLang="zh-CN" b="0" baseline="-25000" dirty="0"/>
              <a:t>3</a:t>
            </a:r>
            <a:r>
              <a:rPr lang="en-US" altLang="zh-CN" b="0" dirty="0"/>
              <a:t> </a:t>
            </a:r>
          </a:p>
          <a:p>
            <a:pPr>
              <a:lnSpc>
                <a:spcPct val="120000"/>
              </a:lnSpc>
              <a:buFont typeface="Wingdings" panose="05000000000000000000" pitchFamily="2" charset="2"/>
              <a:buNone/>
              <a:defRPr/>
            </a:pPr>
            <a:r>
              <a:rPr lang="en-US" altLang="zh-CN" sz="1400" b="0" dirty="0"/>
              <a:t>(applied in steel making to remove Si and P impurities)</a:t>
            </a:r>
            <a:endParaRPr lang="zh-CN" altLang="en-US" sz="1800" b="0" dirty="0"/>
          </a:p>
        </p:txBody>
      </p:sp>
      <p:sp>
        <p:nvSpPr>
          <p:cNvPr id="53252" name="Rectangle 4"/>
          <p:cNvSpPr>
            <a:spLocks noChangeArrowheads="1"/>
          </p:cNvSpPr>
          <p:nvPr/>
        </p:nvSpPr>
        <p:spPr bwMode="auto">
          <a:xfrm>
            <a:off x="723900" y="1196975"/>
            <a:ext cx="4640188" cy="4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80000"/>
              </a:lnSpc>
              <a:spcBef>
                <a:spcPct val="20000"/>
              </a:spcBef>
              <a:buClr>
                <a:srgbClr val="99FF99"/>
              </a:buClr>
              <a:buSzPct val="80000"/>
              <a:buFont typeface="Wingdings" panose="05000000000000000000" pitchFamily="2" charset="2"/>
              <a:buChar char="Ø"/>
              <a:defRPr/>
            </a:pPr>
            <a:r>
              <a:rPr kumimoji="0" lang="en-US" altLang="zh-CN" sz="2800" b="1" dirty="0">
                <a:solidFill>
                  <a:srgbClr val="FF3300"/>
                </a:solidFill>
                <a:effectLst>
                  <a:outerShdw blurRad="38100" dist="38100" dir="2700000" algn="tl">
                    <a:srgbClr val="000000"/>
                  </a:outerShdw>
                </a:effectLst>
                <a:latin typeface="Arial" panose="020B0604020202020204" pitchFamily="34" charset="0"/>
              </a:rPr>
              <a:t> </a:t>
            </a:r>
            <a:r>
              <a:rPr lang="en-US" altLang="zh-CN" b="1" spc="-60" dirty="0">
                <a:solidFill>
                  <a:srgbClr val="FF0066"/>
                </a:solidFill>
                <a:effectLst>
                  <a:outerShdw blurRad="38100" dist="38100" dir="2700000" algn="tl">
                    <a:srgbClr val="000000"/>
                  </a:outerShdw>
                </a:effectLst>
                <a:latin typeface="+mj-lt"/>
                <a:ea typeface="+mj-ea"/>
                <a:cs typeface="+mj-cs"/>
              </a:rPr>
              <a:t>From solid to crystal</a:t>
            </a:r>
            <a:endParaRPr lang="zh-CN" altLang="en-US" b="1" spc="-60" dirty="0">
              <a:solidFill>
                <a:srgbClr val="FF0066"/>
              </a:solidFill>
              <a:effectLst>
                <a:outerShdw blurRad="38100" dist="38100" dir="2700000" algn="tl">
                  <a:srgbClr val="000000"/>
                </a:outerShdw>
              </a:effectLst>
              <a:latin typeface="+mj-lt"/>
              <a:ea typeface="+mj-ea"/>
              <a:cs typeface="+mj-cs"/>
            </a:endParaRPr>
          </a:p>
        </p:txBody>
      </p:sp>
      <p:sp>
        <p:nvSpPr>
          <p:cNvPr id="8" name="Rectangle 2"/>
          <p:cNvSpPr>
            <a:spLocks noGrp="1" noChangeArrowheads="1"/>
          </p:cNvSpPr>
          <p:nvPr>
            <p:ph type="title"/>
          </p:nvPr>
        </p:nvSpPr>
        <p:spPr>
          <a:xfrm>
            <a:off x="1" y="471488"/>
            <a:ext cx="5530864" cy="725487"/>
          </a:xfrm>
        </p:spPr>
        <p:txBody>
          <a:bodyPr>
            <a:noAutofit/>
          </a:bodyPr>
          <a:lstStyle/>
          <a:p>
            <a:pPr>
              <a:defRPr/>
            </a:pPr>
            <a:r>
              <a:rPr lang="en-US" altLang="zh-CN" sz="3600" dirty="0"/>
              <a:t>The paths for crystal formation</a:t>
            </a:r>
            <a:endParaRPr lang="zh-CN" altLang="en-US" sz="3600" dirty="0"/>
          </a:p>
        </p:txBody>
      </p:sp>
      <p:pic>
        <p:nvPicPr>
          <p:cNvPr id="10245"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1844675"/>
            <a:ext cx="3040063" cy="1992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6" name="Rectangle 3"/>
          <p:cNvSpPr>
            <a:spLocks noChangeArrowheads="1"/>
          </p:cNvSpPr>
          <p:nvPr/>
        </p:nvSpPr>
        <p:spPr bwMode="auto">
          <a:xfrm>
            <a:off x="5888038" y="3821113"/>
            <a:ext cx="22796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en-US" sz="1600" b="0">
                <a:latin typeface="Times New Roman" panose="02020603050405020304" pitchFamily="18" charset="0"/>
                <a:ea typeface="宋体" panose="02010600030101010101" pitchFamily="2" charset="-122"/>
              </a:rPr>
              <a:t>PRL. 106, 075501 (2011)</a:t>
            </a:r>
          </a:p>
        </p:txBody>
      </p:sp>
      <p:sp>
        <p:nvSpPr>
          <p:cNvPr id="10248" name="TextBox 1"/>
          <p:cNvSpPr txBox="1">
            <a:spLocks noChangeArrowheads="1"/>
          </p:cNvSpPr>
          <p:nvPr/>
        </p:nvSpPr>
        <p:spPr bwMode="auto">
          <a:xfrm>
            <a:off x="5246688" y="5759450"/>
            <a:ext cx="19081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zh-CN" sz="1800">
                <a:latin typeface="Gulim" panose="020B0600000101010101" pitchFamily="34" charset="-127"/>
                <a:ea typeface="Gulim" panose="020B0600000101010101" pitchFamily="34" charset="-127"/>
              </a:rPr>
              <a:t>Monoclinic (insulator</a:t>
            </a:r>
            <a:r>
              <a:rPr lang="zh-CN" altLang="en-US" sz="1800">
                <a:latin typeface="Gulim" panose="020B0600000101010101" pitchFamily="34" charset="-127"/>
                <a:ea typeface="Gulim" panose="020B0600000101010101" pitchFamily="34" charset="-127"/>
              </a:rPr>
              <a:t>）</a:t>
            </a:r>
            <a:endParaRPr lang="en-US" altLang="en-US" sz="1800">
              <a:latin typeface="Gulim" panose="020B0600000101010101" pitchFamily="34" charset="-127"/>
              <a:ea typeface="Gulim" panose="020B0600000101010101" pitchFamily="34" charset="-127"/>
            </a:endParaRPr>
          </a:p>
        </p:txBody>
      </p:sp>
      <p:sp>
        <p:nvSpPr>
          <p:cNvPr id="10249" name="TextBox 13"/>
          <p:cNvSpPr txBox="1">
            <a:spLocks noChangeArrowheads="1"/>
          </p:cNvSpPr>
          <p:nvPr/>
        </p:nvSpPr>
        <p:spPr bwMode="auto">
          <a:xfrm>
            <a:off x="7154863" y="5807075"/>
            <a:ext cx="18113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zh-CN" sz="1800">
                <a:latin typeface="Gulim" panose="020B0600000101010101" pitchFamily="34" charset="-127"/>
                <a:ea typeface="Gulim" panose="020B0600000101010101" pitchFamily="34" charset="-127"/>
              </a:rPr>
              <a:t>Rutile (metal)</a:t>
            </a:r>
          </a:p>
        </p:txBody>
      </p:sp>
      <p:sp>
        <p:nvSpPr>
          <p:cNvPr id="10250" name="Right Arrow 9"/>
          <p:cNvSpPr>
            <a:spLocks noChangeArrowheads="1"/>
          </p:cNvSpPr>
          <p:nvPr/>
        </p:nvSpPr>
        <p:spPr bwMode="auto">
          <a:xfrm>
            <a:off x="6910388" y="5875338"/>
            <a:ext cx="276225" cy="233362"/>
          </a:xfrm>
          <a:prstGeom prst="rightArrow">
            <a:avLst>
              <a:gd name="adj1" fmla="val 50000"/>
              <a:gd name="adj2" fmla="val 50251"/>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en-US" altLang="en-US" sz="4000">
              <a:latin typeface="Gulim" panose="020B0600000101010101" pitchFamily="34" charset="-127"/>
              <a:ea typeface="Gulim" panose="020B0600000101010101" pitchFamily="34" charset="-127"/>
            </a:endParaRPr>
          </a:p>
        </p:txBody>
      </p:sp>
      <p:sp>
        <p:nvSpPr>
          <p:cNvPr id="5" name="TextBox 4"/>
          <p:cNvSpPr txBox="1"/>
          <p:nvPr/>
        </p:nvSpPr>
        <p:spPr>
          <a:xfrm>
            <a:off x="5403850" y="1331913"/>
            <a:ext cx="3416300" cy="368300"/>
          </a:xfrm>
          <a:prstGeom prst="rect">
            <a:avLst/>
          </a:prstGeom>
          <a:noFill/>
        </p:spPr>
        <p:txBody>
          <a:bodyPr wrap="none">
            <a:spAutoFit/>
          </a:bodyPr>
          <a:lstStyle/>
          <a:p>
            <a:pPr>
              <a:defRPr/>
            </a:pPr>
            <a:r>
              <a:rPr lang="zh-CN" altLang="en-US" sz="1800" b="1" dirty="0">
                <a:effectLst>
                  <a:outerShdw blurRad="38100" dist="38100" dir="2700000" algn="tl">
                    <a:srgbClr val="000000">
                      <a:alpha val="43137"/>
                    </a:srgbClr>
                  </a:outerShdw>
                </a:effectLst>
                <a:latin typeface="+mn-lt"/>
                <a:ea typeface="+mn-ea"/>
              </a:rPr>
              <a:t>石墨在高温高压下转化成金刚石</a:t>
            </a:r>
            <a:endParaRPr lang="en-US" sz="1800" b="1" dirty="0">
              <a:effectLst>
                <a:outerShdw blurRad="38100" dist="38100" dir="2700000" algn="tl">
                  <a:srgbClr val="000000">
                    <a:alpha val="43137"/>
                  </a:srgbClr>
                </a:outerShdw>
              </a:effectLst>
              <a:latin typeface="+mn-lt"/>
              <a:ea typeface="+mn-ea"/>
            </a:endParaRPr>
          </a:p>
        </p:txBody>
      </p:sp>
      <p:sp>
        <p:nvSpPr>
          <p:cNvPr id="17" name="TextBox 16"/>
          <p:cNvSpPr txBox="1"/>
          <p:nvPr/>
        </p:nvSpPr>
        <p:spPr>
          <a:xfrm>
            <a:off x="6491551" y="6405563"/>
            <a:ext cx="1390124" cy="369332"/>
          </a:xfrm>
          <a:prstGeom prst="rect">
            <a:avLst/>
          </a:prstGeom>
          <a:noFill/>
        </p:spPr>
        <p:txBody>
          <a:bodyPr wrap="none">
            <a:spAutoFit/>
          </a:bodyPr>
          <a:lstStyle/>
          <a:p>
            <a:pPr>
              <a:defRPr/>
            </a:pPr>
            <a:r>
              <a:rPr lang="en-US" sz="1800" b="1" dirty="0">
                <a:latin typeface="+mn-lt"/>
                <a:ea typeface="+mn-ea"/>
              </a:rPr>
              <a:t>MIT of VO</a:t>
            </a:r>
            <a:r>
              <a:rPr lang="en-US" sz="1800" b="1" baseline="-25000" dirty="0">
                <a:latin typeface="+mn-lt"/>
                <a:ea typeface="+mn-ea"/>
              </a:rPr>
              <a:t>2</a:t>
            </a:r>
          </a:p>
        </p:txBody>
      </p:sp>
      <p:grpSp>
        <p:nvGrpSpPr>
          <p:cNvPr id="3" name="Group 2"/>
          <p:cNvGrpSpPr/>
          <p:nvPr/>
        </p:nvGrpSpPr>
        <p:grpSpPr>
          <a:xfrm>
            <a:off x="5548313" y="0"/>
            <a:ext cx="3437642" cy="5084700"/>
            <a:chOff x="5548313" y="0"/>
            <a:chExt cx="3437642" cy="5084700"/>
          </a:xfrm>
        </p:grpSpPr>
        <p:pic>
          <p:nvPicPr>
            <p:cNvPr id="3891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8313" y="0"/>
              <a:ext cx="3385286" cy="508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552002" y="0"/>
              <a:ext cx="3433953" cy="830997"/>
            </a:xfrm>
            <a:prstGeom prst="rect">
              <a:avLst/>
            </a:prstGeom>
            <a:solidFill>
              <a:srgbClr val="FF0066"/>
            </a:solidFill>
          </p:spPr>
          <p:txBody>
            <a:bodyPr wrap="none" rtlCol="0">
              <a:spAutoFit/>
            </a:bodyPr>
            <a:lstStyle/>
            <a:p>
              <a:pPr algn="ctr"/>
              <a:r>
                <a:rPr lang="en-US" b="1" dirty="0">
                  <a:solidFill>
                    <a:schemeClr val="bg1"/>
                  </a:solidFill>
                </a:rPr>
                <a:t>232 carat huge diamond</a:t>
              </a:r>
            </a:p>
            <a:p>
              <a:pPr algn="ctr"/>
              <a:r>
                <a:rPr lang="en-US" b="1" dirty="0">
                  <a:solidFill>
                    <a:schemeClr val="bg1"/>
                  </a:solidFill>
                </a:rPr>
                <a:t> South Africa</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683568" y="1772816"/>
            <a:ext cx="7992864" cy="4752528"/>
          </a:xfrm>
        </p:spPr>
        <p:txBody>
          <a:bodyPr/>
          <a:lstStyle/>
          <a:p>
            <a:pPr algn="just">
              <a:lnSpc>
                <a:spcPct val="120000"/>
              </a:lnSpc>
              <a:defRPr/>
            </a:pPr>
            <a:r>
              <a:rPr lang="en-US" altLang="zh-CN" sz="2400" dirty="0">
                <a:latin typeface="+mj-ea"/>
                <a:ea typeface="+mj-ea"/>
              </a:rPr>
              <a:t>The general process of crystal formation</a:t>
            </a:r>
            <a:r>
              <a:rPr lang="zh-CN" altLang="en-US" sz="2400" dirty="0">
                <a:latin typeface="+mj-ea"/>
                <a:ea typeface="+mj-ea"/>
              </a:rPr>
              <a:t>：</a:t>
            </a:r>
            <a:endParaRPr lang="en-US" altLang="zh-CN" sz="2400" dirty="0">
              <a:latin typeface="+mj-ea"/>
              <a:ea typeface="+mj-ea"/>
            </a:endParaRPr>
          </a:p>
          <a:p>
            <a:pPr algn="just">
              <a:lnSpc>
                <a:spcPct val="120000"/>
              </a:lnSpc>
              <a:defRPr/>
            </a:pPr>
            <a:r>
              <a:rPr lang="en-US" altLang="zh-CN" b="0" dirty="0">
                <a:latin typeface="+mj-ea"/>
                <a:ea typeface="+mj-ea"/>
              </a:rPr>
              <a:t>thermodynamic condition</a:t>
            </a:r>
            <a:r>
              <a:rPr lang="zh-CN" altLang="en-US" b="0" dirty="0">
                <a:latin typeface="+mj-ea"/>
                <a:ea typeface="+mj-ea"/>
              </a:rPr>
              <a:t>，</a:t>
            </a:r>
            <a:r>
              <a:rPr lang="en-US" altLang="zh-CN" b="0" dirty="0">
                <a:latin typeface="+mj-ea"/>
                <a:ea typeface="+mj-ea"/>
              </a:rPr>
              <a:t>nucleation, and growth</a:t>
            </a:r>
          </a:p>
          <a:p>
            <a:pPr>
              <a:lnSpc>
                <a:spcPct val="120000"/>
              </a:lnSpc>
              <a:defRPr/>
            </a:pPr>
            <a:endParaRPr lang="en-US" altLang="zh-CN" sz="800" dirty="0">
              <a:solidFill>
                <a:srgbClr val="FF0000"/>
              </a:solidFill>
            </a:endParaRPr>
          </a:p>
          <a:p>
            <a:pPr>
              <a:lnSpc>
                <a:spcPct val="120000"/>
              </a:lnSpc>
              <a:defRPr/>
            </a:pPr>
            <a:r>
              <a:rPr lang="en-US" altLang="zh-CN" sz="2400" dirty="0">
                <a:solidFill>
                  <a:srgbClr val="FF0000"/>
                </a:solidFill>
              </a:rPr>
              <a:t>Three stages of crystal formation:</a:t>
            </a:r>
          </a:p>
          <a:p>
            <a:pPr marL="457200" indent="-457200">
              <a:lnSpc>
                <a:spcPct val="120000"/>
              </a:lnSpc>
              <a:buFont typeface="+mj-lt"/>
              <a:buAutoNum type="arabicPeriod"/>
              <a:defRPr/>
            </a:pPr>
            <a:r>
              <a:rPr lang="en-US" altLang="zh-CN" b="0" dirty="0"/>
              <a:t>The medium reaches supersaturation or supercooling</a:t>
            </a:r>
          </a:p>
          <a:p>
            <a:pPr marL="457200" indent="-457200">
              <a:lnSpc>
                <a:spcPct val="120000"/>
              </a:lnSpc>
              <a:buFont typeface="+mj-lt"/>
              <a:buAutoNum type="arabicPeriod"/>
              <a:defRPr/>
            </a:pPr>
            <a:r>
              <a:rPr lang="en-US" altLang="zh-CN" b="0" dirty="0"/>
              <a:t>Nucleation stage (homogeneous or heterogeneous nucleation)</a:t>
            </a:r>
          </a:p>
          <a:p>
            <a:pPr marL="457200" indent="-457200">
              <a:lnSpc>
                <a:spcPct val="120000"/>
              </a:lnSpc>
              <a:buFont typeface="+mj-lt"/>
              <a:buAutoNum type="arabicPeriod"/>
              <a:defRPr/>
            </a:pPr>
            <a:r>
              <a:rPr lang="en-US" altLang="zh-CN" b="0" dirty="0"/>
              <a:t>Crystal growth stage</a:t>
            </a:r>
          </a:p>
        </p:txBody>
      </p:sp>
      <p:sp>
        <p:nvSpPr>
          <p:cNvPr id="8" name="Rectangle 2"/>
          <p:cNvSpPr>
            <a:spLocks noGrp="1" noChangeArrowheads="1"/>
          </p:cNvSpPr>
          <p:nvPr>
            <p:ph type="title"/>
          </p:nvPr>
        </p:nvSpPr>
        <p:spPr>
          <a:xfrm>
            <a:off x="1258888" y="836613"/>
            <a:ext cx="6429375" cy="725487"/>
          </a:xfrm>
        </p:spPr>
        <p:txBody>
          <a:bodyPr>
            <a:noAutofit/>
          </a:bodyPr>
          <a:lstStyle/>
          <a:p>
            <a:pPr>
              <a:defRPr/>
            </a:pPr>
            <a:r>
              <a:rPr lang="en-US" altLang="zh-CN" sz="3600" dirty="0"/>
              <a:t>Three stages for the crystal formation</a:t>
            </a:r>
            <a:endParaRPr lang="zh-CN" altLang="en-US" sz="3600"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6929" y="692696"/>
            <a:ext cx="7787208" cy="1371600"/>
          </a:xfrm>
        </p:spPr>
        <p:txBody>
          <a:bodyPr>
            <a:noAutofit/>
          </a:bodyPr>
          <a:lstStyle/>
          <a:p>
            <a:r>
              <a:rPr lang="en-US" sz="2800" dirty="0">
                <a:effectLst/>
              </a:rPr>
              <a:t>Analysis whether the ball can roll down the small hill from the thermodynamics and dynamics views</a:t>
            </a:r>
          </a:p>
        </p:txBody>
      </p:sp>
      <p:sp>
        <p:nvSpPr>
          <p:cNvPr id="6" name="Freeform 5"/>
          <p:cNvSpPr/>
          <p:nvPr/>
        </p:nvSpPr>
        <p:spPr>
          <a:xfrm>
            <a:off x="658340" y="3518546"/>
            <a:ext cx="3121572" cy="2142702"/>
          </a:xfrm>
          <a:custGeom>
            <a:avLst/>
            <a:gdLst>
              <a:gd name="connsiteX0" fmla="*/ 0 w 3121572"/>
              <a:gd name="connsiteY0" fmla="*/ 45769 h 2142702"/>
              <a:gd name="connsiteX1" fmla="*/ 599089 w 3121572"/>
              <a:gd name="connsiteY1" fmla="*/ 61534 h 2142702"/>
              <a:gd name="connsiteX2" fmla="*/ 1229710 w 3121572"/>
              <a:gd name="connsiteY2" fmla="*/ 644859 h 2142702"/>
              <a:gd name="connsiteX3" fmla="*/ 2270234 w 3121572"/>
              <a:gd name="connsiteY3" fmla="*/ 1906100 h 2142702"/>
              <a:gd name="connsiteX4" fmla="*/ 3121572 w 3121572"/>
              <a:gd name="connsiteY4" fmla="*/ 2142583 h 2142702"/>
              <a:gd name="connsiteX5" fmla="*/ 3121572 w 3121572"/>
              <a:gd name="connsiteY5" fmla="*/ 2142583 h 214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21572" h="2142702">
                <a:moveTo>
                  <a:pt x="0" y="45769"/>
                </a:moveTo>
                <a:cubicBezTo>
                  <a:pt x="197068" y="3727"/>
                  <a:pt x="394137" y="-38314"/>
                  <a:pt x="599089" y="61534"/>
                </a:cubicBezTo>
                <a:cubicBezTo>
                  <a:pt x="804041" y="161382"/>
                  <a:pt x="951186" y="337431"/>
                  <a:pt x="1229710" y="644859"/>
                </a:cubicBezTo>
                <a:cubicBezTo>
                  <a:pt x="1508234" y="952287"/>
                  <a:pt x="1954924" y="1656479"/>
                  <a:pt x="2270234" y="1906100"/>
                </a:cubicBezTo>
                <a:cubicBezTo>
                  <a:pt x="2585544" y="2155721"/>
                  <a:pt x="3121572" y="2142583"/>
                  <a:pt x="3121572" y="2142583"/>
                </a:cubicBezTo>
                <a:lnTo>
                  <a:pt x="3121572" y="2142583"/>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4524703" y="3497024"/>
            <a:ext cx="4101349" cy="2053800"/>
          </a:xfrm>
          <a:custGeom>
            <a:avLst/>
            <a:gdLst>
              <a:gd name="connsiteX0" fmla="*/ 0 w 4101349"/>
              <a:gd name="connsiteY0" fmla="*/ 34892 h 2053800"/>
              <a:gd name="connsiteX1" fmla="*/ 567559 w 4101349"/>
              <a:gd name="connsiteY1" fmla="*/ 34892 h 2053800"/>
              <a:gd name="connsiteX2" fmla="*/ 882869 w 4101349"/>
              <a:gd name="connsiteY2" fmla="*/ 397499 h 2053800"/>
              <a:gd name="connsiteX3" fmla="*/ 1340069 w 4101349"/>
              <a:gd name="connsiteY3" fmla="*/ 1138479 h 2053800"/>
              <a:gd name="connsiteX4" fmla="*/ 1844566 w 4101349"/>
              <a:gd name="connsiteY4" fmla="*/ 681279 h 2053800"/>
              <a:gd name="connsiteX5" fmla="*/ 2238704 w 4101349"/>
              <a:gd name="connsiteY5" fmla="*/ 823168 h 2053800"/>
              <a:gd name="connsiteX6" fmla="*/ 3137338 w 4101349"/>
              <a:gd name="connsiteY6" fmla="*/ 1863692 h 2053800"/>
              <a:gd name="connsiteX7" fmla="*/ 3988676 w 4101349"/>
              <a:gd name="connsiteY7" fmla="*/ 2037113 h 2053800"/>
              <a:gd name="connsiteX8" fmla="*/ 4067504 w 4101349"/>
              <a:gd name="connsiteY8" fmla="*/ 2037113 h 205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1349" h="2053800">
                <a:moveTo>
                  <a:pt x="0" y="34892"/>
                </a:moveTo>
                <a:cubicBezTo>
                  <a:pt x="210207" y="4674"/>
                  <a:pt x="420414" y="-25543"/>
                  <a:pt x="567559" y="34892"/>
                </a:cubicBezTo>
                <a:cubicBezTo>
                  <a:pt x="714704" y="95327"/>
                  <a:pt x="754117" y="213568"/>
                  <a:pt x="882869" y="397499"/>
                </a:cubicBezTo>
                <a:cubicBezTo>
                  <a:pt x="1011621" y="581430"/>
                  <a:pt x="1179786" y="1091182"/>
                  <a:pt x="1340069" y="1138479"/>
                </a:cubicBezTo>
                <a:cubicBezTo>
                  <a:pt x="1500352" y="1185776"/>
                  <a:pt x="1694793" y="733831"/>
                  <a:pt x="1844566" y="681279"/>
                </a:cubicBezTo>
                <a:cubicBezTo>
                  <a:pt x="1994339" y="628727"/>
                  <a:pt x="2023242" y="626099"/>
                  <a:pt x="2238704" y="823168"/>
                </a:cubicBezTo>
                <a:cubicBezTo>
                  <a:pt x="2454166" y="1020237"/>
                  <a:pt x="2845676" y="1661368"/>
                  <a:pt x="3137338" y="1863692"/>
                </a:cubicBezTo>
                <a:cubicBezTo>
                  <a:pt x="3429000" y="2066016"/>
                  <a:pt x="3833648" y="2008209"/>
                  <a:pt x="3988676" y="2037113"/>
                </a:cubicBezTo>
                <a:cubicBezTo>
                  <a:pt x="4143704" y="2066017"/>
                  <a:pt x="4105604" y="2051565"/>
                  <a:pt x="4067504" y="203711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58340" y="2852936"/>
            <a:ext cx="644088" cy="6440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551478" y="2839042"/>
            <a:ext cx="644088" cy="6440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3449248" y="4999788"/>
            <a:ext cx="644088" cy="644088"/>
          </a:xfrm>
          <a:prstGeom prst="ellipse">
            <a:avLst/>
          </a:prstGeom>
          <a:solidFill>
            <a:schemeClr val="bg2">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2051720" y="6217919"/>
            <a:ext cx="5352611" cy="461665"/>
          </a:xfrm>
          <a:prstGeom prst="rect">
            <a:avLst/>
          </a:prstGeom>
        </p:spPr>
        <p:txBody>
          <a:bodyPr wrap="square">
            <a:spAutoFit/>
          </a:bodyPr>
          <a:lstStyle/>
          <a:p>
            <a:r>
              <a:rPr lang="en-US" b="1" dirty="0"/>
              <a:t>Momentum and energy are conserved</a:t>
            </a:r>
          </a:p>
        </p:txBody>
      </p:sp>
      <p:sp>
        <p:nvSpPr>
          <p:cNvPr id="4" name="TextBox 3"/>
          <p:cNvSpPr txBox="1"/>
          <p:nvPr/>
        </p:nvSpPr>
        <p:spPr>
          <a:xfrm>
            <a:off x="766351" y="2253820"/>
            <a:ext cx="407484" cy="461665"/>
          </a:xfrm>
          <a:prstGeom prst="rect">
            <a:avLst/>
          </a:prstGeom>
          <a:noFill/>
        </p:spPr>
        <p:txBody>
          <a:bodyPr wrap="none" rtlCol="0">
            <a:spAutoFit/>
          </a:bodyPr>
          <a:lstStyle/>
          <a:p>
            <a:r>
              <a:rPr lang="en-US" altLang="zh-CN" b="1" dirty="0"/>
              <a:t>A</a:t>
            </a:r>
            <a:endParaRPr lang="en-US" b="1" dirty="0"/>
          </a:p>
        </p:txBody>
      </p:sp>
      <p:sp>
        <p:nvSpPr>
          <p:cNvPr id="12" name="TextBox 11"/>
          <p:cNvSpPr txBox="1"/>
          <p:nvPr/>
        </p:nvSpPr>
        <p:spPr>
          <a:xfrm>
            <a:off x="3562904" y="4397666"/>
            <a:ext cx="389850" cy="461665"/>
          </a:xfrm>
          <a:prstGeom prst="rect">
            <a:avLst/>
          </a:prstGeom>
          <a:noFill/>
        </p:spPr>
        <p:txBody>
          <a:bodyPr wrap="none" rtlCol="0">
            <a:spAutoFit/>
          </a:bodyPr>
          <a:lstStyle/>
          <a:p>
            <a:r>
              <a:rPr lang="en-US" altLang="zh-CN" b="1" dirty="0"/>
              <a:t>B</a:t>
            </a:r>
            <a:endParaRPr lang="en-US" b="1" dirty="0"/>
          </a:p>
        </p:txBody>
      </p:sp>
      <p:sp>
        <p:nvSpPr>
          <p:cNvPr id="13" name="TextBox 12"/>
          <p:cNvSpPr txBox="1"/>
          <p:nvPr/>
        </p:nvSpPr>
        <p:spPr>
          <a:xfrm>
            <a:off x="4630986" y="2253820"/>
            <a:ext cx="407484" cy="461665"/>
          </a:xfrm>
          <a:prstGeom prst="rect">
            <a:avLst/>
          </a:prstGeom>
          <a:noFill/>
        </p:spPr>
        <p:txBody>
          <a:bodyPr wrap="none" rtlCol="0">
            <a:spAutoFit/>
          </a:bodyPr>
          <a:lstStyle/>
          <a:p>
            <a:r>
              <a:rPr lang="en-US" altLang="zh-CN" b="1" dirty="0"/>
              <a:t>A</a:t>
            </a:r>
            <a:endParaRPr lang="en-US" b="1" dirty="0"/>
          </a:p>
        </p:txBody>
      </p:sp>
      <p:sp>
        <p:nvSpPr>
          <p:cNvPr id="14" name="Oval 6">
            <a:extLst>
              <a:ext uri="{FF2B5EF4-FFF2-40B4-BE49-F238E27FC236}">
                <a16:creationId xmlns:a16="http://schemas.microsoft.com/office/drawing/2014/main" id="{33283DF9-B6C0-4054-AE29-02405C4AC725}"/>
              </a:ext>
            </a:extLst>
          </p:cNvPr>
          <p:cNvSpPr/>
          <p:nvPr/>
        </p:nvSpPr>
        <p:spPr>
          <a:xfrm>
            <a:off x="7751938" y="4849476"/>
            <a:ext cx="644088" cy="644088"/>
          </a:xfrm>
          <a:prstGeom prst="ellipse">
            <a:avLst/>
          </a:prstGeom>
          <a:solidFill>
            <a:schemeClr val="bg2">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1">
            <a:extLst>
              <a:ext uri="{FF2B5EF4-FFF2-40B4-BE49-F238E27FC236}">
                <a16:creationId xmlns:a16="http://schemas.microsoft.com/office/drawing/2014/main" id="{A5D8A306-7CFB-46C1-88EB-E30C3F5361A9}"/>
              </a:ext>
            </a:extLst>
          </p:cNvPr>
          <p:cNvSpPr txBox="1"/>
          <p:nvPr/>
        </p:nvSpPr>
        <p:spPr>
          <a:xfrm>
            <a:off x="7865594" y="4247354"/>
            <a:ext cx="389850" cy="461665"/>
          </a:xfrm>
          <a:prstGeom prst="rect">
            <a:avLst/>
          </a:prstGeom>
          <a:noFill/>
        </p:spPr>
        <p:txBody>
          <a:bodyPr wrap="none" rtlCol="0">
            <a:spAutoFit/>
          </a:bodyPr>
          <a:lstStyle/>
          <a:p>
            <a:r>
              <a:rPr lang="en-US" altLang="zh-CN" b="1" dirty="0"/>
              <a:t>B</a:t>
            </a:r>
            <a:endParaRPr lang="en-US" b="1" dirty="0"/>
          </a:p>
        </p:txBody>
      </p:sp>
      <p:sp>
        <p:nvSpPr>
          <p:cNvPr id="16" name="Oval 6">
            <a:extLst>
              <a:ext uri="{FF2B5EF4-FFF2-40B4-BE49-F238E27FC236}">
                <a16:creationId xmlns:a16="http://schemas.microsoft.com/office/drawing/2014/main" id="{E4F3F7F3-6E4E-401A-AC42-FABBD84EB214}"/>
              </a:ext>
            </a:extLst>
          </p:cNvPr>
          <p:cNvSpPr/>
          <p:nvPr/>
        </p:nvSpPr>
        <p:spPr>
          <a:xfrm>
            <a:off x="5609987" y="3765975"/>
            <a:ext cx="644088" cy="644088"/>
          </a:xfrm>
          <a:prstGeom prst="ellipse">
            <a:avLst/>
          </a:prstGeom>
          <a:solidFill>
            <a:schemeClr val="bg2">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6">
            <a:extLst>
              <a:ext uri="{FF2B5EF4-FFF2-40B4-BE49-F238E27FC236}">
                <a16:creationId xmlns:a16="http://schemas.microsoft.com/office/drawing/2014/main" id="{0102708A-08F1-4707-A0D0-4656DDB8776C}"/>
              </a:ext>
            </a:extLst>
          </p:cNvPr>
          <p:cNvSpPr/>
          <p:nvPr/>
        </p:nvSpPr>
        <p:spPr>
          <a:xfrm>
            <a:off x="1958650" y="3816079"/>
            <a:ext cx="644088" cy="644088"/>
          </a:xfrm>
          <a:prstGeom prst="ellipse">
            <a:avLst/>
          </a:prstGeom>
          <a:solidFill>
            <a:schemeClr val="bg2">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940570" y="332656"/>
            <a:ext cx="7129536" cy="758825"/>
          </a:xfrm>
        </p:spPr>
        <p:txBody>
          <a:bodyPr>
            <a:normAutofit fontScale="90000"/>
          </a:bodyPr>
          <a:lstStyle/>
          <a:p>
            <a:pPr>
              <a:defRPr/>
            </a:pPr>
            <a:r>
              <a:rPr lang="en-US" altLang="zh-CN" sz="3600" dirty="0"/>
              <a:t>General rules</a:t>
            </a:r>
            <a:r>
              <a:rPr lang="zh-CN" altLang="en-US" sz="2700" dirty="0">
                <a:effectLst/>
              </a:rPr>
              <a:t> </a:t>
            </a:r>
            <a:r>
              <a:rPr lang="en-US" altLang="zh-CN" sz="3600" dirty="0"/>
              <a:t>for crystal growth</a:t>
            </a:r>
            <a:endParaRPr lang="zh-CN" altLang="en-US" sz="3600" dirty="0"/>
          </a:p>
        </p:txBody>
      </p:sp>
      <p:sp>
        <p:nvSpPr>
          <p:cNvPr id="78851" name="Rectangle 3"/>
          <p:cNvSpPr>
            <a:spLocks noGrp="1" noChangeArrowheads="1"/>
          </p:cNvSpPr>
          <p:nvPr>
            <p:ph type="body" idx="1"/>
          </p:nvPr>
        </p:nvSpPr>
        <p:spPr>
          <a:xfrm>
            <a:off x="1403648" y="1412305"/>
            <a:ext cx="5976664" cy="4373562"/>
          </a:xfrm>
        </p:spPr>
        <p:txBody>
          <a:bodyPr/>
          <a:lstStyle/>
          <a:p>
            <a:pPr marL="342900" indent="-342900" algn="ctr">
              <a:lnSpc>
                <a:spcPct val="120000"/>
              </a:lnSpc>
              <a:defRPr/>
            </a:pPr>
            <a:r>
              <a:rPr lang="en-US" altLang="zh-CN" sz="2400" dirty="0"/>
              <a:t>The faster the nucleation rate, the slower the crystal growth rate;</a:t>
            </a:r>
          </a:p>
          <a:p>
            <a:pPr marL="342900" indent="-342900" algn="ctr">
              <a:lnSpc>
                <a:spcPct val="120000"/>
              </a:lnSpc>
              <a:defRPr/>
            </a:pPr>
            <a:r>
              <a:rPr lang="en-US" altLang="zh-CN" sz="2400" dirty="0">
                <a:solidFill>
                  <a:srgbClr val="FF0000"/>
                </a:solidFill>
              </a:rPr>
              <a:t>The slower the nucleation rate, the faster the crystal growth rate;</a:t>
            </a:r>
          </a:p>
          <a:p>
            <a:pPr marL="342900" indent="-342900" algn="ctr">
              <a:lnSpc>
                <a:spcPct val="120000"/>
              </a:lnSpc>
              <a:defRPr/>
            </a:pPr>
            <a:r>
              <a:rPr lang="en-US" altLang="zh-CN" sz="2400" dirty="0"/>
              <a:t>A large number of nuclei lead to the formation of small grains;</a:t>
            </a:r>
          </a:p>
          <a:p>
            <a:pPr marL="342900" indent="-342900" algn="ctr">
              <a:lnSpc>
                <a:spcPct val="120000"/>
              </a:lnSpc>
              <a:defRPr/>
            </a:pPr>
            <a:r>
              <a:rPr lang="en-US" altLang="zh-CN" sz="2400" dirty="0">
                <a:solidFill>
                  <a:srgbClr val="FF0000"/>
                </a:solidFill>
              </a:rPr>
              <a:t>A small number of nuclei lead to the formation of large grains;</a:t>
            </a:r>
          </a:p>
        </p:txBody>
      </p:sp>
      <p:sp>
        <p:nvSpPr>
          <p:cNvPr id="2" name="Rectangle 1"/>
          <p:cNvSpPr/>
          <p:nvPr/>
        </p:nvSpPr>
        <p:spPr>
          <a:xfrm>
            <a:off x="395536" y="5945622"/>
            <a:ext cx="8352928" cy="424732"/>
          </a:xfrm>
          <a:prstGeom prst="rect">
            <a:avLst/>
          </a:prstGeom>
        </p:spPr>
        <p:txBody>
          <a:bodyPr wrap="square">
            <a:spAutoFit/>
          </a:bodyPr>
          <a:lstStyle/>
          <a:p>
            <a:pPr marL="342900" lvl="0" indent="-342900" eaLnBrk="0" hangingPunct="0">
              <a:lnSpc>
                <a:spcPct val="120000"/>
              </a:lnSpc>
              <a:spcBef>
                <a:spcPct val="20000"/>
              </a:spcBef>
              <a:spcAft>
                <a:spcPts val="600"/>
              </a:spcAft>
              <a:defRPr/>
            </a:pPr>
            <a:r>
              <a:rPr kumimoji="0" lang="en-US" altLang="zh-CN" sz="1800" b="1" dirty="0">
                <a:solidFill>
                  <a:srgbClr val="000000"/>
                </a:solidFill>
                <a:latin typeface="Arial" panose="020B0604020202020204"/>
                <a:ea typeface="黑体" panose="02010609060101010101" pitchFamily="49" charset="-122"/>
              </a:rPr>
              <a:t>Note: the system is in a dynamic state during the crystallization process</a:t>
            </a:r>
            <a:endParaRPr kumimoji="0" lang="zh-CN" altLang="en-US" sz="1800" b="1" dirty="0">
              <a:solidFill>
                <a:srgbClr val="000000"/>
              </a:solidFill>
              <a:latin typeface="Arial" panose="020B0604020202020204"/>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3568" y="908720"/>
            <a:ext cx="7776864" cy="687387"/>
          </a:xfrm>
        </p:spPr>
        <p:txBody>
          <a:bodyPr>
            <a:noAutofit/>
          </a:bodyPr>
          <a:lstStyle/>
          <a:p>
            <a:pPr algn="l">
              <a:defRPr/>
            </a:pPr>
            <a:r>
              <a:rPr lang="zh-CN" altLang="en-US" dirty="0"/>
              <a:t>（</a:t>
            </a:r>
            <a:r>
              <a:rPr lang="en-US" altLang="zh-CN" dirty="0"/>
              <a:t>I</a:t>
            </a:r>
            <a:r>
              <a:rPr lang="zh-CN" altLang="en-US" dirty="0"/>
              <a:t>）、</a:t>
            </a:r>
            <a:r>
              <a:rPr lang="en-US" altLang="zh-CN" dirty="0"/>
              <a:t>Homogeneous nucleation (spontaneous nucleation)</a:t>
            </a:r>
            <a:endParaRPr lang="zh-CN" altLang="en-US" dirty="0"/>
          </a:p>
        </p:txBody>
      </p:sp>
      <p:sp>
        <p:nvSpPr>
          <p:cNvPr id="2" name="Content Placeholder 1"/>
          <p:cNvSpPr>
            <a:spLocks noGrp="1"/>
          </p:cNvSpPr>
          <p:nvPr>
            <p:ph idx="1"/>
          </p:nvPr>
        </p:nvSpPr>
        <p:spPr>
          <a:xfrm>
            <a:off x="611560" y="1844824"/>
            <a:ext cx="8003232" cy="4373563"/>
          </a:xfrm>
        </p:spPr>
        <p:txBody>
          <a:bodyPr/>
          <a:lstStyle/>
          <a:p>
            <a:r>
              <a:rPr lang="en-US" sz="2800" dirty="0">
                <a:solidFill>
                  <a:srgbClr val="FF0000"/>
                </a:solidFill>
              </a:rPr>
              <a:t>Definition: crystal nuclei formed by their own atoms under conditions of supersaturation and supercooling</a:t>
            </a:r>
          </a:p>
          <a:p>
            <a:r>
              <a:rPr lang="en-US" sz="2800" dirty="0"/>
              <a:t>Embryo</a:t>
            </a:r>
            <a:r>
              <a:rPr lang="zh-CN" altLang="en-US" sz="2800" dirty="0"/>
              <a:t>（晶胚）</a:t>
            </a:r>
            <a:r>
              <a:rPr lang="en-US" sz="2800" dirty="0"/>
              <a:t>: </a:t>
            </a:r>
            <a:r>
              <a:rPr lang="en-US" sz="2800" b="0" dirty="0"/>
              <a:t>an ordered structure with crystalline phases formed by  lower energy molecules.</a:t>
            </a:r>
          </a:p>
          <a:p>
            <a:r>
              <a:rPr lang="en-US" sz="2800" dirty="0"/>
              <a:t>Nucleus</a:t>
            </a:r>
            <a:r>
              <a:rPr lang="zh-CN" altLang="en-US" sz="2800" dirty="0"/>
              <a:t>（晶核）</a:t>
            </a:r>
            <a:r>
              <a:rPr lang="en-US" sz="2800" dirty="0"/>
              <a:t>: </a:t>
            </a:r>
            <a:r>
              <a:rPr lang="en-US" sz="2800" b="0" dirty="0"/>
              <a:t>The crystalline embryos that become the center of crystal growth.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762000" y="620713"/>
            <a:ext cx="7772400" cy="609600"/>
          </a:xfrm>
        </p:spPr>
        <p:txBody>
          <a:bodyPr>
            <a:noAutofit/>
          </a:bodyPr>
          <a:lstStyle/>
          <a:p>
            <a:pPr>
              <a:defRPr/>
            </a:pPr>
            <a:r>
              <a:rPr lang="en-US" altLang="zh-CN" dirty="0"/>
              <a:t>Energy changes during nucleation</a:t>
            </a:r>
            <a:endParaRPr lang="zh-CN" altLang="en-US" dirty="0"/>
          </a:p>
        </p:txBody>
      </p:sp>
      <p:sp>
        <p:nvSpPr>
          <p:cNvPr id="2" name="Rectangle 1"/>
          <p:cNvSpPr/>
          <p:nvPr/>
        </p:nvSpPr>
        <p:spPr>
          <a:xfrm>
            <a:off x="766040" y="1412776"/>
            <a:ext cx="7694391" cy="4832092"/>
          </a:xfrm>
          <a:prstGeom prst="rect">
            <a:avLst/>
          </a:prstGeom>
        </p:spPr>
        <p:txBody>
          <a:bodyPr wrap="square">
            <a:spAutoFit/>
          </a:bodyPr>
          <a:lstStyle/>
          <a:p>
            <a:r>
              <a:rPr lang="en-US" dirty="0"/>
              <a:t>Under a certain degree of supercooling, if there is a solid embryo in liquid, the energy in this region will change:</a:t>
            </a:r>
          </a:p>
          <a:p>
            <a:pPr marL="342900" indent="-342900">
              <a:buFont typeface="Wingdings" panose="05000000000000000000" pitchFamily="2" charset="2"/>
              <a:buChar char="ü"/>
            </a:pPr>
            <a:r>
              <a:rPr lang="en-US" sz="2000" dirty="0"/>
              <a:t>A certain volume of liquid changes to solid and its volumetric free energy decreases.</a:t>
            </a:r>
          </a:p>
          <a:p>
            <a:pPr marL="342900" indent="-342900">
              <a:buFont typeface="Wingdings" panose="05000000000000000000" pitchFamily="2" charset="2"/>
              <a:buChar char="ü"/>
            </a:pPr>
            <a:r>
              <a:rPr lang="en-US" sz="2000" dirty="0"/>
              <a:t>The surface free energy increases with the </a:t>
            </a:r>
            <a:r>
              <a:rPr lang="en-US" altLang="zh-CN" sz="2000" dirty="0"/>
              <a:t>creation of a new </a:t>
            </a:r>
            <a:r>
              <a:rPr lang="en-US" sz="2000" dirty="0"/>
              <a:t>liquid-solid interface. </a:t>
            </a:r>
          </a:p>
          <a:p>
            <a:endParaRPr lang="en-US" b="1" dirty="0"/>
          </a:p>
          <a:p>
            <a:r>
              <a:rPr lang="en-US" b="1" dirty="0"/>
              <a:t>The total amount of free energy change </a:t>
            </a:r>
            <a:r>
              <a:rPr lang="en-US" dirty="0"/>
              <a:t>can be given as (nucleation </a:t>
            </a:r>
            <a:r>
              <a:rPr lang="en-US" altLang="zh-CN" dirty="0"/>
              <a:t>energy</a:t>
            </a:r>
            <a:r>
              <a:rPr lang="en-US" dirty="0"/>
              <a:t>):</a:t>
            </a:r>
          </a:p>
          <a:p>
            <a:endParaRPr lang="en-US" dirty="0"/>
          </a:p>
          <a:p>
            <a:endParaRPr lang="en-US" dirty="0"/>
          </a:p>
          <a:p>
            <a:r>
              <a:rPr lang="en-US" sz="2000" dirty="0"/>
              <a:t>, in which </a:t>
            </a:r>
            <a:r>
              <a:rPr lang="zh-CN" altLang="en-US" sz="2000" i="1" dirty="0">
                <a:latin typeface="宋体" panose="02010600030101010101" pitchFamily="2" charset="-122"/>
              </a:rPr>
              <a:t>△</a:t>
            </a:r>
            <a:r>
              <a:rPr lang="en-US" altLang="zh-CN" sz="2000" i="1" dirty="0" err="1"/>
              <a:t>G</a:t>
            </a:r>
            <a:r>
              <a:rPr lang="en-US" altLang="zh-CN" sz="2000" i="1" baseline="-30000" dirty="0" err="1"/>
              <a:t>v</a:t>
            </a:r>
            <a:r>
              <a:rPr lang="en-US" altLang="zh-CN" sz="2000" i="1" baseline="-30000" dirty="0"/>
              <a:t> </a:t>
            </a:r>
            <a:r>
              <a:rPr lang="en-US" sz="2000" dirty="0"/>
              <a:t>is the free energy change of the system when the new phase forms, and </a:t>
            </a:r>
            <a:r>
              <a:rPr lang="zh-CN" altLang="en-US" sz="2000" i="1" dirty="0">
                <a:latin typeface="宋体" panose="02010600030101010101" pitchFamily="2" charset="-122"/>
              </a:rPr>
              <a:t>△</a:t>
            </a:r>
            <a:r>
              <a:rPr lang="en-US" altLang="zh-CN" sz="2000" i="1" dirty="0" err="1"/>
              <a:t>G</a:t>
            </a:r>
            <a:r>
              <a:rPr lang="en-US" altLang="zh-CN" sz="2000" i="1" baseline="-30000" dirty="0" err="1"/>
              <a:t>v</a:t>
            </a:r>
            <a:r>
              <a:rPr lang="zh-CN" altLang="en-US" sz="2000" dirty="0">
                <a:latin typeface="宋体" panose="02010600030101010101" pitchFamily="2" charset="-122"/>
              </a:rPr>
              <a:t>＜</a:t>
            </a:r>
            <a:r>
              <a:rPr lang="en-US" altLang="zh-CN" sz="2000" dirty="0"/>
              <a:t>0</a:t>
            </a:r>
            <a:r>
              <a:rPr lang="en-US" sz="2000" dirty="0"/>
              <a:t>. </a:t>
            </a:r>
            <a:r>
              <a:rPr lang="en-US" altLang="zh-CN" sz="2000" i="1" dirty="0">
                <a:latin typeface="宋体" panose="02010600030101010101" pitchFamily="2" charset="-122"/>
              </a:rPr>
              <a:t>△</a:t>
            </a:r>
            <a:r>
              <a:rPr lang="en-US" altLang="zh-CN" sz="2000" i="1" dirty="0"/>
              <a:t>G</a:t>
            </a:r>
            <a:r>
              <a:rPr lang="en-US" altLang="zh-CN" sz="2000" i="1" baseline="-30000" dirty="0"/>
              <a:t>S  </a:t>
            </a:r>
            <a:r>
              <a:rPr lang="en-US" sz="2000" dirty="0"/>
              <a:t>is surface energy of the interface between new phase and old phase, and </a:t>
            </a:r>
            <a:r>
              <a:rPr lang="zh-CN" altLang="en-US" sz="2000" i="1" dirty="0">
                <a:latin typeface="宋体" panose="02010600030101010101" pitchFamily="2" charset="-122"/>
              </a:rPr>
              <a:t>△</a:t>
            </a:r>
            <a:r>
              <a:rPr lang="en-US" altLang="zh-CN" sz="2000" i="1" dirty="0"/>
              <a:t>G</a:t>
            </a:r>
            <a:r>
              <a:rPr lang="en-US" altLang="zh-CN" sz="2000" i="1" baseline="-30000" dirty="0"/>
              <a:t>S</a:t>
            </a:r>
            <a:r>
              <a:rPr lang="zh-CN" altLang="en-US" sz="2000" dirty="0">
                <a:latin typeface="宋体" panose="02010600030101010101" pitchFamily="2" charset="-122"/>
              </a:rPr>
              <a:t>＞</a:t>
            </a:r>
            <a:r>
              <a:rPr lang="en-US" altLang="zh-CN" sz="2000" dirty="0"/>
              <a:t>0</a:t>
            </a:r>
            <a:r>
              <a:rPr lang="en-US" sz="2000" dirty="0"/>
              <a:t>.</a:t>
            </a:r>
          </a:p>
        </p:txBody>
      </p:sp>
      <p:sp>
        <p:nvSpPr>
          <p:cNvPr id="7" name="Rectangle 1"/>
          <p:cNvSpPr>
            <a:spLocks noChangeArrowheads="1"/>
          </p:cNvSpPr>
          <p:nvPr/>
        </p:nvSpPr>
        <p:spPr bwMode="auto">
          <a:xfrm>
            <a:off x="3491880" y="4494972"/>
            <a:ext cx="2430462"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lnSpc>
                <a:spcPct val="120000"/>
              </a:lnSpc>
              <a:spcBef>
                <a:spcPct val="0"/>
              </a:spcBef>
              <a:spcAft>
                <a:spcPct val="0"/>
              </a:spcAft>
              <a:buFontTx/>
              <a:buNone/>
            </a:pPr>
            <a:r>
              <a:rPr lang="en-US" altLang="zh-CN" sz="2800" dirty="0">
                <a:latin typeface="Times New Roman" panose="02020603050405020304" pitchFamily="18" charset="0"/>
                <a:ea typeface="宋体" panose="02010600030101010101" pitchFamily="2" charset="-122"/>
              </a:rPr>
              <a:t>Δ</a:t>
            </a:r>
            <a:r>
              <a:rPr lang="en-US" altLang="zh-CN" sz="2800" i="1" dirty="0">
                <a:latin typeface="Times New Roman" panose="02020603050405020304" pitchFamily="18" charset="0"/>
                <a:ea typeface="宋体" panose="02010600030101010101" pitchFamily="2" charset="-122"/>
              </a:rPr>
              <a:t>G</a:t>
            </a:r>
            <a:r>
              <a:rPr lang="en-US" altLang="zh-CN" sz="2800" dirty="0">
                <a:latin typeface="Times New Roman" panose="02020603050405020304" pitchFamily="18" charset="0"/>
                <a:ea typeface="宋体" panose="02010600030101010101" pitchFamily="2" charset="-122"/>
              </a:rPr>
              <a:t>=Δ</a:t>
            </a:r>
            <a:r>
              <a:rPr lang="en-US" altLang="zh-CN" sz="2800" i="1" dirty="0">
                <a:latin typeface="Times New Roman" panose="02020603050405020304" pitchFamily="18" charset="0"/>
                <a:ea typeface="宋体" panose="02010600030101010101" pitchFamily="2" charset="-122"/>
              </a:rPr>
              <a:t>G</a:t>
            </a:r>
            <a:r>
              <a:rPr lang="en-US" altLang="zh-CN" sz="2800" i="1" baseline="-30000" dirty="0">
                <a:latin typeface="Times New Roman" panose="02020603050405020304" pitchFamily="18" charset="0"/>
                <a:ea typeface="宋体" panose="02010600030101010101" pitchFamily="2" charset="-122"/>
              </a:rPr>
              <a:t>V</a:t>
            </a:r>
            <a:r>
              <a:rPr lang="en-US" altLang="zh-CN" sz="2800" dirty="0">
                <a:latin typeface="Times New Roman" panose="02020603050405020304" pitchFamily="18" charset="0"/>
                <a:ea typeface="宋体" panose="02010600030101010101" pitchFamily="2" charset="-122"/>
              </a:rPr>
              <a:t>+Δ</a:t>
            </a:r>
            <a:r>
              <a:rPr lang="en-US" altLang="zh-CN" sz="2800" i="1" dirty="0">
                <a:latin typeface="Times New Roman" panose="02020603050405020304" pitchFamily="18" charset="0"/>
                <a:ea typeface="宋体" panose="02010600030101010101" pitchFamily="2" charset="-122"/>
              </a:rPr>
              <a:t>G</a:t>
            </a:r>
            <a:r>
              <a:rPr lang="en-US" altLang="zh-CN" sz="2800" i="1" baseline="-30000" dirty="0">
                <a:latin typeface="Times New Roman" panose="02020603050405020304" pitchFamily="18" charset="0"/>
                <a:ea typeface="宋体" panose="02010600030101010101" pitchFamily="2" charset="-122"/>
              </a:rPr>
              <a:t>S</a:t>
            </a:r>
            <a:r>
              <a:rPr lang="en-US" altLang="zh-CN" sz="2800" dirty="0">
                <a:latin typeface="Times New Roman" panose="02020603050405020304" pitchFamily="18" charset="0"/>
                <a:ea typeface="宋体" panose="02010600030101010101" pitchFamily="2" charset="-122"/>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187624" y="764704"/>
            <a:ext cx="6984776" cy="650875"/>
          </a:xfrm>
        </p:spPr>
        <p:txBody>
          <a:bodyPr>
            <a:normAutofit fontScale="90000"/>
          </a:bodyPr>
          <a:lstStyle/>
          <a:p>
            <a:pPr>
              <a:defRPr/>
            </a:pPr>
            <a:r>
              <a:rPr lang="en-US" altLang="zh-CN" sz="3600" dirty="0"/>
              <a:t>Driving force for crystallization</a:t>
            </a:r>
            <a:endParaRPr lang="zh-CN" altLang="en-US" sz="3600" dirty="0"/>
          </a:p>
        </p:txBody>
      </p:sp>
      <p:sp>
        <p:nvSpPr>
          <p:cNvPr id="89091" name="Rectangle 3"/>
          <p:cNvSpPr>
            <a:spLocks noGrp="1" noChangeArrowheads="1"/>
          </p:cNvSpPr>
          <p:nvPr>
            <p:ph type="body" idx="1"/>
          </p:nvPr>
        </p:nvSpPr>
        <p:spPr>
          <a:xfrm>
            <a:off x="899592" y="1628800"/>
            <a:ext cx="7560840" cy="4896544"/>
          </a:xfrm>
        </p:spPr>
        <p:txBody>
          <a:bodyPr/>
          <a:lstStyle/>
          <a:p>
            <a:pPr marL="0" lvl="8" indent="0">
              <a:buNone/>
              <a:defRPr/>
            </a:pPr>
            <a:r>
              <a:rPr lang="en-US" altLang="zh-CN" sz="2000" dirty="0"/>
              <a:t>Crystallization is usually carried out at constant temperature and constant pressure, and the direction and the limit of the process can be judged by </a:t>
            </a:r>
            <a:r>
              <a:rPr lang="en-US" altLang="zh-CN" sz="2000" b="1" dirty="0">
                <a:solidFill>
                  <a:srgbClr val="FF0000"/>
                </a:solidFill>
              </a:rPr>
              <a:t>the criterion of free energy</a:t>
            </a:r>
            <a:r>
              <a:rPr lang="zh-CN" altLang="en-US" sz="2000" b="1" dirty="0">
                <a:solidFill>
                  <a:srgbClr val="FF0000"/>
                </a:solidFill>
              </a:rPr>
              <a:t>（自由能判据）</a:t>
            </a:r>
            <a:r>
              <a:rPr lang="en-US" altLang="zh-CN" sz="2000" dirty="0">
                <a:solidFill>
                  <a:srgbClr val="7030A0"/>
                </a:solidFill>
              </a:rPr>
              <a:t>:</a:t>
            </a:r>
          </a:p>
          <a:p>
            <a:pPr marL="0" lvl="8" indent="0">
              <a:buNone/>
              <a:defRPr/>
            </a:pPr>
            <a:endParaRPr lang="en-US" altLang="zh-CN" sz="2000" dirty="0">
              <a:solidFill>
                <a:srgbClr val="7030A0"/>
              </a:solidFill>
            </a:endParaRPr>
          </a:p>
          <a:p>
            <a:pPr marL="0" lvl="8" indent="0" algn="ctr">
              <a:buNone/>
              <a:defRPr/>
            </a:pPr>
            <a:r>
              <a:rPr lang="en-US" altLang="zh-CN" sz="2400" b="1" u="sng" dirty="0">
                <a:solidFill>
                  <a:srgbClr val="FF0000"/>
                </a:solidFill>
              </a:rPr>
              <a:t>The phase transition takes place in the direction of decreasing free energy.</a:t>
            </a:r>
          </a:p>
          <a:p>
            <a:pPr marL="0" lvl="8" indent="0" algn="ctr">
              <a:buNone/>
              <a:defRPr/>
            </a:pPr>
            <a:endParaRPr lang="en-US" altLang="zh-CN" sz="2400" b="1" u="sng" dirty="0">
              <a:solidFill>
                <a:srgbClr val="FF0000"/>
              </a:solidFill>
            </a:endParaRPr>
          </a:p>
          <a:p>
            <a:pPr marL="0" lvl="8" indent="0">
              <a:buNone/>
              <a:defRPr/>
            </a:pPr>
            <a:r>
              <a:rPr lang="en-US" altLang="zh-CN" sz="2000" dirty="0"/>
              <a:t>Whether a small embryo develops or not after being present is determined by the free energy change with its volume.</a:t>
            </a:r>
          </a:p>
          <a:p>
            <a:pPr marL="0" lvl="8" indent="0">
              <a:buNone/>
              <a:defRPr/>
            </a:pPr>
            <a:endParaRPr lang="en-US" altLang="zh-CN" sz="2000" dirty="0"/>
          </a:p>
          <a:p>
            <a:pPr marL="0" lvl="8" indent="0" algn="ctr">
              <a:buNone/>
              <a:defRPr/>
            </a:pPr>
            <a:r>
              <a:rPr kumimoji="1" lang="en-US" altLang="zh-CN" sz="2400" cap="all" spc="-60" dirty="0" err="1">
                <a:solidFill>
                  <a:srgbClr val="FF0000"/>
                </a:solidFill>
              </a:rPr>
              <a:t>ΔG</a:t>
            </a:r>
            <a:r>
              <a:rPr lang="en-US" altLang="zh-CN" sz="2400" baseline="-25000" dirty="0" err="1">
                <a:solidFill>
                  <a:srgbClr val="FF0000"/>
                </a:solidFill>
              </a:rPr>
              <a:t>system</a:t>
            </a:r>
            <a:r>
              <a:rPr kumimoji="1" lang="en-US" altLang="zh-CN" sz="2400" cap="all" spc="-60" dirty="0">
                <a:solidFill>
                  <a:srgbClr val="FF0000"/>
                </a:solidFill>
              </a:rPr>
              <a:t>&lt;0</a:t>
            </a:r>
            <a:r>
              <a:rPr lang="en-US" altLang="zh-CN" sz="2400" dirty="0"/>
              <a:t>, driving force increases </a:t>
            </a:r>
          </a:p>
          <a:p>
            <a:pPr marL="0" lvl="8" indent="0" algn="ctr">
              <a:buNone/>
              <a:defRPr/>
            </a:pPr>
            <a:r>
              <a:rPr kumimoji="1" lang="en-US" altLang="zh-CN" sz="2400" cap="all" spc="-60" dirty="0" err="1">
                <a:solidFill>
                  <a:srgbClr val="FF0000"/>
                </a:solidFill>
              </a:rPr>
              <a:t>Δg</a:t>
            </a:r>
            <a:r>
              <a:rPr lang="en-US" altLang="zh-CN" sz="2400" baseline="-25000" dirty="0" err="1">
                <a:solidFill>
                  <a:srgbClr val="FF0000"/>
                </a:solidFill>
              </a:rPr>
              <a:t>system</a:t>
            </a:r>
            <a:r>
              <a:rPr lang="en-US" altLang="zh-CN" sz="2400" baseline="-25000" dirty="0">
                <a:solidFill>
                  <a:srgbClr val="FF0000"/>
                </a:solidFill>
              </a:rPr>
              <a:t> </a:t>
            </a:r>
            <a:r>
              <a:rPr kumimoji="1" lang="en-US" altLang="zh-CN" sz="2400" cap="all" spc="-60" dirty="0">
                <a:solidFill>
                  <a:srgbClr val="FF0000"/>
                </a:solidFill>
              </a:rPr>
              <a:t>&gt;0</a:t>
            </a:r>
            <a:r>
              <a:rPr lang="en-US" altLang="zh-CN" sz="2400" dirty="0"/>
              <a:t>, driving force decreases</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7"/>
          <p:cNvSpPr>
            <a:spLocks noGrp="1" noChangeArrowheads="1"/>
          </p:cNvSpPr>
          <p:nvPr>
            <p:ph type="body" idx="1"/>
          </p:nvPr>
        </p:nvSpPr>
        <p:spPr>
          <a:xfrm>
            <a:off x="683568" y="836712"/>
            <a:ext cx="7704855" cy="3240087"/>
          </a:xfrm>
        </p:spPr>
        <p:txBody>
          <a:bodyPr/>
          <a:lstStyle/>
          <a:p>
            <a:r>
              <a:rPr lang="en-US" altLang="zh-CN" b="0" dirty="0">
                <a:cs typeface="Times New Roman" panose="02020603050405020304" pitchFamily="18" charset="0"/>
              </a:rPr>
              <a:t>Under a certain supercooling, </a:t>
            </a:r>
            <a:r>
              <a:rPr lang="en-US" altLang="zh-CN" dirty="0">
                <a:latin typeface="Times New Roman" panose="02020603050405020304" pitchFamily="18" charset="0"/>
                <a:ea typeface="宋体" panose="02010600030101010101" pitchFamily="2" charset="-122"/>
              </a:rPr>
              <a:t>Δ</a:t>
            </a:r>
            <a:r>
              <a:rPr lang="en-US" altLang="zh-CN" i="1" dirty="0">
                <a:latin typeface="Times New Roman" panose="02020603050405020304" pitchFamily="18" charset="0"/>
                <a:ea typeface="宋体" panose="02010600030101010101" pitchFamily="2" charset="-122"/>
              </a:rPr>
              <a:t>G</a:t>
            </a:r>
            <a:r>
              <a:rPr lang="en-US" altLang="zh-CN" i="1" baseline="-25000" dirty="0">
                <a:latin typeface="Times New Roman" panose="02020603050405020304" pitchFamily="18" charset="0"/>
                <a:ea typeface="宋体" panose="02010600030101010101" pitchFamily="2" charset="-122"/>
              </a:rPr>
              <a:t>V</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 </a:t>
            </a:r>
            <a:r>
              <a:rPr lang="en-US" altLang="zh-CN" dirty="0">
                <a:latin typeface="宋体" panose="02010600030101010101" pitchFamily="2" charset="-122"/>
                <a:cs typeface="Times New Roman" panose="02020603050405020304" pitchFamily="18" charset="0"/>
              </a:rPr>
              <a:t>and </a:t>
            </a:r>
            <a:r>
              <a:rPr lang="en-US" altLang="zh-CN" dirty="0">
                <a:latin typeface="Times New Roman" panose="02020603050405020304" pitchFamily="18" charset="0"/>
                <a:ea typeface="宋体" panose="02010600030101010101" pitchFamily="2" charset="-122"/>
              </a:rPr>
              <a:t>Δ</a:t>
            </a:r>
            <a:r>
              <a:rPr lang="en-US" altLang="zh-CN" i="1" dirty="0">
                <a:latin typeface="Times New Roman" panose="02020603050405020304" pitchFamily="18" charset="0"/>
                <a:ea typeface="宋体" panose="02010600030101010101" pitchFamily="2" charset="-122"/>
              </a:rPr>
              <a:t>G</a:t>
            </a:r>
            <a:r>
              <a:rPr lang="en-US" altLang="zh-CN" i="1" baseline="-30000" dirty="0">
                <a:latin typeface="Times New Roman" panose="02020603050405020304" pitchFamily="18" charset="0"/>
                <a:ea typeface="宋体" panose="02010600030101010101" pitchFamily="2" charset="-122"/>
              </a:rPr>
              <a:t>S</a:t>
            </a:r>
            <a:r>
              <a:rPr lang="en-US" altLang="zh-CN" i="1" dirty="0">
                <a:latin typeface="Times New Roman" panose="02020603050405020304" pitchFamily="18" charset="0"/>
                <a:ea typeface="宋体" panose="02010600030101010101" pitchFamily="2" charset="-122"/>
              </a:rPr>
              <a:t>=</a:t>
            </a:r>
            <a:r>
              <a:rPr lang="en-US" altLang="zh-CN" dirty="0">
                <a:latin typeface="宋体" panose="02010600030101010101" pitchFamily="2" charset="-122"/>
                <a:cs typeface="Times New Roman" panose="02020603050405020304" pitchFamily="18" charset="0"/>
              </a:rPr>
              <a:t>σ</a:t>
            </a:r>
            <a:r>
              <a:rPr lang="zh-CN" altLang="en-US" dirty="0">
                <a:latin typeface="宋体" panose="02010600030101010101" pitchFamily="2" charset="-122"/>
                <a:cs typeface="Times New Roman" panose="02020603050405020304" pitchFamily="18" charset="0"/>
              </a:rPr>
              <a:t>*</a:t>
            </a:r>
            <a:r>
              <a:rPr lang="en-US" altLang="zh-CN" i="1" dirty="0">
                <a:latin typeface="宋体" panose="02010600030101010101" pitchFamily="2" charset="-122"/>
                <a:cs typeface="Times New Roman" panose="02020603050405020304" pitchFamily="18" charset="0"/>
              </a:rPr>
              <a:t>A, </a:t>
            </a:r>
            <a:r>
              <a:rPr lang="en-US" altLang="zh-CN" b="0" dirty="0">
                <a:cs typeface="Times New Roman" panose="02020603050405020304" pitchFamily="18" charset="0"/>
              </a:rPr>
              <a:t>the surface tension </a:t>
            </a:r>
            <a:r>
              <a:rPr lang="el-GR" altLang="zh-CN" i="1" dirty="0">
                <a:latin typeface="宋体" panose="02010600030101010101" pitchFamily="2" charset="-122"/>
                <a:cs typeface="Times New Roman" panose="02020603050405020304" pitchFamily="18" charset="0"/>
              </a:rPr>
              <a:t>σ</a:t>
            </a:r>
            <a:r>
              <a:rPr lang="en-US" altLang="zh-CN" i="1" dirty="0">
                <a:cs typeface="Times New Roman" panose="02020603050405020304" pitchFamily="18" charset="0"/>
              </a:rPr>
              <a:t> </a:t>
            </a:r>
            <a:r>
              <a:rPr lang="en-US" altLang="zh-CN" b="0" dirty="0">
                <a:cs typeface="Times New Roman" panose="02020603050405020304" pitchFamily="18" charset="0"/>
              </a:rPr>
              <a:t>is constant, and </a:t>
            </a:r>
            <a:r>
              <a:rPr lang="en-US" altLang="zh-CN" b="0" i="1" dirty="0">
                <a:cs typeface="Times New Roman" panose="02020603050405020304" pitchFamily="18" charset="0"/>
              </a:rPr>
              <a:t>A</a:t>
            </a:r>
            <a:r>
              <a:rPr lang="en-US" altLang="zh-CN" b="0" dirty="0">
                <a:cs typeface="Times New Roman" panose="02020603050405020304" pitchFamily="18" charset="0"/>
              </a:rPr>
              <a:t> is the surface area of the crystal nucleus.</a:t>
            </a:r>
          </a:p>
          <a:p>
            <a:pPr algn="ctr"/>
            <a:r>
              <a:rPr lang="en-US" altLang="zh-CN" u="sng" dirty="0">
                <a:solidFill>
                  <a:srgbClr val="FF0000"/>
                </a:solidFill>
                <a:cs typeface="Times New Roman" panose="02020603050405020304" pitchFamily="18" charset="0"/>
              </a:rPr>
              <a:t>Crystals always want to have the maximum volume and minimum interfacial area to ensure the minimum free energy.</a:t>
            </a:r>
          </a:p>
          <a:p>
            <a:r>
              <a:rPr lang="en-US" altLang="zh-CN" b="0" dirty="0">
                <a:cs typeface="Times New Roman" panose="02020603050405020304" pitchFamily="18" charset="0"/>
              </a:rPr>
              <a:t>Let </a:t>
            </a:r>
            <a:r>
              <a:rPr lang="en-US" altLang="zh-CN" dirty="0" err="1">
                <a:latin typeface="Times New Roman" panose="02020603050405020304" pitchFamily="18" charset="0"/>
                <a:ea typeface="宋体" panose="02010600030101010101" pitchFamily="2" charset="-122"/>
              </a:rPr>
              <a:t>Δ</a:t>
            </a:r>
            <a:r>
              <a:rPr lang="en-US" altLang="zh-CN" i="1" dirty="0" err="1">
                <a:latin typeface="Times New Roman" panose="02020603050405020304" pitchFamily="18" charset="0"/>
                <a:ea typeface="宋体" panose="02010600030101010101" pitchFamily="2" charset="-122"/>
              </a:rPr>
              <a:t>G</a:t>
            </a:r>
            <a:r>
              <a:rPr lang="en-US" altLang="zh-CN" i="1" baseline="-25000" dirty="0" err="1">
                <a:latin typeface="Times New Roman" panose="02020603050405020304" pitchFamily="18" charset="0"/>
                <a:ea typeface="宋体" panose="02010600030101010101" pitchFamily="2" charset="-122"/>
              </a:rPr>
              <a:t>v</a:t>
            </a:r>
            <a:r>
              <a:rPr lang="en-US" altLang="zh-CN" i="1" baseline="-25000" dirty="0">
                <a:latin typeface="Times New Roman" panose="02020603050405020304" pitchFamily="18" charset="0"/>
                <a:ea typeface="宋体" panose="02010600030101010101" pitchFamily="2" charset="-122"/>
              </a:rPr>
              <a:t> </a:t>
            </a:r>
            <a:r>
              <a:rPr lang="en-US" altLang="zh-CN" dirty="0">
                <a:latin typeface="宋体" panose="02010600030101010101" pitchFamily="2" charset="-122"/>
                <a:cs typeface="Times New Roman" panose="02020603050405020304" pitchFamily="18" charset="0"/>
              </a:rPr>
              <a:t>and </a:t>
            </a:r>
            <a:r>
              <a:rPr lang="en-US" altLang="zh-CN" dirty="0">
                <a:cs typeface="Times New Roman" panose="02020603050405020304" pitchFamily="18" charset="0"/>
              </a:rPr>
              <a:t>σ </a:t>
            </a:r>
            <a:r>
              <a:rPr lang="en-US" altLang="zh-CN" b="0" dirty="0">
                <a:cs typeface="Times New Roman" panose="02020603050405020304" pitchFamily="18" charset="0"/>
              </a:rPr>
              <a:t>be constant, and the most favorable shape is a ball (considering an isotropic crystal model). Set the radius of the ball as </a:t>
            </a:r>
            <a:r>
              <a:rPr lang="en-US" altLang="zh-CN" i="1" dirty="0">
                <a:cs typeface="Times New Roman" panose="02020603050405020304" pitchFamily="18" charset="0"/>
              </a:rPr>
              <a:t>r</a:t>
            </a:r>
            <a:r>
              <a:rPr lang="en-US" altLang="zh-CN" b="0" dirty="0">
                <a:cs typeface="Times New Roman" panose="02020603050405020304" pitchFamily="18" charset="0"/>
              </a:rPr>
              <a:t>, then</a:t>
            </a:r>
            <a:endParaRPr lang="zh-CN" altLang="en-US" b="0" dirty="0">
              <a:cs typeface="Times New Roman" panose="02020603050405020304" pitchFamily="18" charset="0"/>
            </a:endParaRPr>
          </a:p>
        </p:txBody>
      </p:sp>
      <p:sp>
        <p:nvSpPr>
          <p:cNvPr id="16387" name="Rectangle 2"/>
          <p:cNvSpPr>
            <a:spLocks noChangeArrowheads="1"/>
          </p:cNvSpPr>
          <p:nvPr/>
        </p:nvSpPr>
        <p:spPr bwMode="auto">
          <a:xfrm>
            <a:off x="1691680" y="3933056"/>
            <a:ext cx="5760345" cy="15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spcAft>
                <a:spcPts val="600"/>
              </a:spcAft>
            </a:pPr>
            <a:r>
              <a:rPr lang="en-US" altLang="zh-CN" dirty="0"/>
              <a:t>Δ</a:t>
            </a:r>
            <a:r>
              <a:rPr kumimoji="0" lang="en-US" altLang="zh-CN" b="1" i="1" dirty="0">
                <a:latin typeface="Arial" panose="020B0604020202020204" pitchFamily="34" charset="0"/>
                <a:ea typeface="黑体" panose="02010609060101010101" pitchFamily="49" charset="-122"/>
              </a:rPr>
              <a:t>G    </a:t>
            </a:r>
            <a:r>
              <a:rPr kumimoji="0" lang="zh-CN" altLang="en-US" b="1" i="1" dirty="0">
                <a:latin typeface="Arial" panose="020B0604020202020204" pitchFamily="34" charset="0"/>
                <a:ea typeface="黑体" panose="02010609060101010101" pitchFamily="49" charset="-122"/>
              </a:rPr>
              <a:t>=    </a:t>
            </a:r>
            <a:r>
              <a:rPr lang="en-US" altLang="zh-CN" dirty="0"/>
              <a:t>Δ</a:t>
            </a:r>
            <a:r>
              <a:rPr kumimoji="0" lang="en-US" altLang="zh-CN" b="1" i="1" dirty="0">
                <a:latin typeface="Arial" panose="020B0604020202020204" pitchFamily="34" charset="0"/>
                <a:ea typeface="黑体" panose="02010609060101010101" pitchFamily="49" charset="-122"/>
              </a:rPr>
              <a:t>G</a:t>
            </a:r>
            <a:r>
              <a:rPr kumimoji="0" lang="en-US" altLang="zh-CN" b="1" i="1" baseline="-25000" dirty="0">
                <a:latin typeface="Arial" panose="020B0604020202020204" pitchFamily="34" charset="0"/>
                <a:ea typeface="黑体" panose="02010609060101010101" pitchFamily="49" charset="-122"/>
              </a:rPr>
              <a:t>V                   </a:t>
            </a:r>
            <a:r>
              <a:rPr kumimoji="0" lang="en-US" altLang="zh-CN" b="1" i="1" dirty="0">
                <a:latin typeface="Arial" panose="020B0604020202020204" pitchFamily="34" charset="0"/>
                <a:ea typeface="黑体" panose="02010609060101010101" pitchFamily="49" charset="-122"/>
              </a:rPr>
              <a:t>+               </a:t>
            </a:r>
            <a:r>
              <a:rPr lang="en-US" altLang="zh-CN" dirty="0"/>
              <a:t>Δ</a:t>
            </a:r>
            <a:r>
              <a:rPr kumimoji="0" lang="en-US" altLang="zh-CN" b="1" i="1" dirty="0">
                <a:latin typeface="Arial" panose="020B0604020202020204" pitchFamily="34" charset="0"/>
                <a:ea typeface="黑体" panose="02010609060101010101" pitchFamily="49" charset="-122"/>
              </a:rPr>
              <a:t>G</a:t>
            </a:r>
            <a:r>
              <a:rPr kumimoji="0" lang="en-US" altLang="zh-CN" b="1" i="1" baseline="-25000" dirty="0">
                <a:latin typeface="Arial" panose="020B0604020202020204" pitchFamily="34" charset="0"/>
                <a:ea typeface="黑体" panose="02010609060101010101" pitchFamily="49" charset="-122"/>
              </a:rPr>
              <a:t>S</a:t>
            </a:r>
            <a:endParaRPr kumimoji="0" lang="zh-CN" altLang="en-US" b="1" i="1" baseline="-25000" dirty="0">
              <a:latin typeface="Arial" panose="020B0604020202020204" pitchFamily="34" charset="0"/>
              <a:ea typeface="黑体" panose="02010609060101010101" pitchFamily="49" charset="-122"/>
            </a:endParaRPr>
          </a:p>
          <a:p>
            <a:pPr>
              <a:spcBef>
                <a:spcPct val="20000"/>
              </a:spcBef>
              <a:spcAft>
                <a:spcPts val="600"/>
              </a:spcAft>
            </a:pPr>
            <a:r>
              <a:rPr kumimoji="0" lang="zh-CN" altLang="en-US" b="1" i="1" dirty="0">
                <a:latin typeface="Arial" panose="020B0604020202020204" pitchFamily="34" charset="0"/>
                <a:ea typeface="黑体" panose="02010609060101010101" pitchFamily="49" charset="-122"/>
              </a:rPr>
              <a:t>         =    </a:t>
            </a:r>
            <a:r>
              <a:rPr kumimoji="0" lang="en-US" altLang="zh-CN" b="1" i="1" dirty="0" err="1">
                <a:latin typeface="Arial" panose="020B0604020202020204" pitchFamily="34" charset="0"/>
                <a:ea typeface="黑体" panose="02010609060101010101" pitchFamily="49" charset="-122"/>
              </a:rPr>
              <a:t>V∙</a:t>
            </a:r>
            <a:r>
              <a:rPr lang="en-US" altLang="zh-CN" dirty="0" err="1"/>
              <a:t>Δ</a:t>
            </a:r>
            <a:r>
              <a:rPr lang="en-US" altLang="zh-CN" b="1" i="1" dirty="0" err="1"/>
              <a:t>G</a:t>
            </a:r>
            <a:r>
              <a:rPr lang="en-US" altLang="zh-CN" b="1" i="1" baseline="-25000" dirty="0" err="1"/>
              <a:t>v</a:t>
            </a:r>
            <a:r>
              <a:rPr kumimoji="0" lang="en-US" altLang="zh-CN" b="1" i="1" dirty="0">
                <a:latin typeface="Arial" panose="020B0604020202020204" pitchFamily="34" charset="0"/>
                <a:ea typeface="黑体" panose="02010609060101010101" pitchFamily="49" charset="-122"/>
              </a:rPr>
              <a:t>          +              A ∙ σ</a:t>
            </a:r>
          </a:p>
          <a:p>
            <a:pPr>
              <a:spcBef>
                <a:spcPct val="20000"/>
              </a:spcBef>
              <a:spcAft>
                <a:spcPts val="600"/>
              </a:spcAft>
            </a:pPr>
            <a:r>
              <a:rPr kumimoji="0" lang="en-US" altLang="zh-CN" b="1" i="1" dirty="0">
                <a:latin typeface="Arial" panose="020B0604020202020204" pitchFamily="34" charset="0"/>
                <a:ea typeface="黑体" panose="02010609060101010101" pitchFamily="49" charset="-122"/>
              </a:rPr>
              <a:t>         = 4</a:t>
            </a:r>
            <a:r>
              <a:rPr kumimoji="0" lang="en-US" altLang="zh-CN" b="1" i="1" dirty="0">
                <a:latin typeface="Arial" panose="020B0604020202020204" pitchFamily="34" charset="0"/>
                <a:ea typeface="黑体" panose="02010609060101010101" pitchFamily="49" charset="-122"/>
                <a:sym typeface="Symbol" panose="05050102010706020507" pitchFamily="18" charset="2"/>
              </a:rPr>
              <a:t>r</a:t>
            </a:r>
            <a:r>
              <a:rPr kumimoji="0" lang="en-US" altLang="zh-CN" b="1" i="1" baseline="30000" dirty="0">
                <a:latin typeface="Arial" panose="020B0604020202020204" pitchFamily="34" charset="0"/>
                <a:ea typeface="黑体" panose="02010609060101010101" pitchFamily="49" charset="-122"/>
                <a:sym typeface="Symbol" panose="05050102010706020507" pitchFamily="18" charset="2"/>
              </a:rPr>
              <a:t>3 </a:t>
            </a:r>
            <a:r>
              <a:rPr lang="en-US" altLang="zh-CN" dirty="0" err="1"/>
              <a:t>Δ</a:t>
            </a:r>
            <a:r>
              <a:rPr lang="en-US" altLang="zh-CN" b="1" i="1" dirty="0" err="1"/>
              <a:t>G</a:t>
            </a:r>
            <a:r>
              <a:rPr lang="en-US" altLang="zh-CN" b="1" i="1" baseline="-25000" dirty="0" err="1"/>
              <a:t>v</a:t>
            </a:r>
            <a:r>
              <a:rPr lang="en-US" altLang="zh-CN" b="1" i="1" dirty="0"/>
              <a:t> </a:t>
            </a:r>
            <a:r>
              <a:rPr kumimoji="0" lang="en-US" altLang="zh-CN" b="1" i="1" dirty="0">
                <a:latin typeface="Arial" panose="020B0604020202020204" pitchFamily="34" charset="0"/>
                <a:ea typeface="黑体" panose="02010609060101010101" pitchFamily="49" charset="-122"/>
              </a:rPr>
              <a:t>/3     +             4</a:t>
            </a:r>
            <a:r>
              <a:rPr kumimoji="0" lang="en-US" altLang="zh-CN" b="1" i="1" dirty="0">
                <a:latin typeface="Arial" panose="020B0604020202020204" pitchFamily="34" charset="0"/>
                <a:ea typeface="黑体" panose="02010609060101010101" pitchFamily="49" charset="-122"/>
                <a:sym typeface="Symbol" panose="05050102010706020507" pitchFamily="18" charset="2"/>
              </a:rPr>
              <a:t>r</a:t>
            </a:r>
            <a:r>
              <a:rPr kumimoji="0" lang="en-US" altLang="zh-CN" b="1" i="1" baseline="30000" dirty="0">
                <a:latin typeface="Arial" panose="020B0604020202020204" pitchFamily="34" charset="0"/>
                <a:ea typeface="黑体" panose="02010609060101010101" pitchFamily="49" charset="-122"/>
                <a:sym typeface="Symbol" panose="05050102010706020507" pitchFamily="18" charset="2"/>
              </a:rPr>
              <a:t>2 </a:t>
            </a:r>
            <a:r>
              <a:rPr kumimoji="0" lang="en-US" altLang="zh-CN" b="1" i="1" dirty="0">
                <a:latin typeface="Arial" panose="020B0604020202020204" pitchFamily="34" charset="0"/>
                <a:ea typeface="黑体" panose="02010609060101010101" pitchFamily="49" charset="-122"/>
              </a:rPr>
              <a:t>σ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9940" name="Picture 4" descr="https://n.sinaimg.cn/tech/transform/38/w480h358/20190913/ba11-iepyyhi005307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3717032"/>
            <a:ext cx="3419872" cy="255065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6512" y="1340768"/>
            <a:ext cx="4458554" cy="4524315"/>
          </a:xfrm>
          <a:prstGeom prst="rect">
            <a:avLst/>
          </a:prstGeom>
        </p:spPr>
        <p:txBody>
          <a:bodyPr wrap="square">
            <a:spAutoFit/>
          </a:bodyPr>
          <a:lstStyle/>
          <a:p>
            <a:r>
              <a:rPr lang="zh-CN" altLang="en-US" dirty="0"/>
              <a:t>　　获奖原因：研究了树袋熊排出方形粪便的方式和原因</a:t>
            </a:r>
          </a:p>
          <a:p>
            <a:endParaRPr lang="zh-CN" altLang="en-US" dirty="0"/>
          </a:p>
          <a:p>
            <a:r>
              <a:rPr lang="zh-CN" altLang="en-US" dirty="0"/>
              <a:t>　　树袋熊是已知的唯一一种会排出方形粪便的动物。佐治亚理工学院的一支研究团队利用几头树袋熊尸体，对这一现象展开了研究。结果发现，这种奇特的粪便与树袋熊肠道的形状和灵活性、以及树袋熊生活的环境比较干燥有关。该研究结论或许能帮助制造业改进方形产品的生产方法。</a:t>
            </a:r>
            <a:endParaRPr lang="en-US" dirty="0"/>
          </a:p>
        </p:txBody>
      </p:sp>
      <p:pic>
        <p:nvPicPr>
          <p:cNvPr id="399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564" y="662377"/>
            <a:ext cx="4254977" cy="22625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611560" y="188640"/>
            <a:ext cx="3647152" cy="461665"/>
          </a:xfrm>
          <a:prstGeom prst="rect">
            <a:avLst/>
          </a:prstGeom>
          <a:noFill/>
        </p:spPr>
        <p:txBody>
          <a:bodyPr wrap="none" rtlCol="0">
            <a:spAutoFit/>
          </a:bodyPr>
          <a:lstStyle/>
          <a:p>
            <a:r>
              <a:rPr lang="en-US" dirty="0"/>
              <a:t>2019 </a:t>
            </a:r>
            <a:r>
              <a:rPr lang="zh-CN" altLang="en-US" dirty="0"/>
              <a:t>搞笑诺贝尔物理学奖</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 name="Group 4"/>
          <p:cNvGrpSpPr/>
          <p:nvPr/>
        </p:nvGrpSpPr>
        <p:grpSpPr>
          <a:xfrm>
            <a:off x="5004048" y="1659226"/>
            <a:ext cx="3744913" cy="4456113"/>
            <a:chOff x="5148064" y="1997223"/>
            <a:chExt cx="3744913" cy="4456113"/>
          </a:xfrm>
        </p:grpSpPr>
        <p:pic>
          <p:nvPicPr>
            <p:cNvPr id="6" name="Picture 4" descr="T2-9"/>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5148064" y="1997223"/>
              <a:ext cx="3744913"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Oval 8"/>
            <p:cNvSpPr/>
            <p:nvPr/>
          </p:nvSpPr>
          <p:spPr>
            <a:xfrm>
              <a:off x="7303249" y="3574319"/>
              <a:ext cx="216024" cy="2160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897649" y="4040484"/>
              <a:ext cx="216024" cy="21602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8154585" y="4867091"/>
              <a:ext cx="216024" cy="216024"/>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842" name="Rectangle 2"/>
          <p:cNvSpPr>
            <a:spLocks noGrp="1" noChangeArrowheads="1"/>
          </p:cNvSpPr>
          <p:nvPr>
            <p:ph type="title"/>
          </p:nvPr>
        </p:nvSpPr>
        <p:spPr>
          <a:xfrm>
            <a:off x="1709125" y="548680"/>
            <a:ext cx="5666132" cy="614363"/>
          </a:xfrm>
        </p:spPr>
        <p:txBody>
          <a:bodyPr>
            <a:normAutofit/>
          </a:bodyPr>
          <a:lstStyle/>
          <a:p>
            <a:pPr>
              <a:defRPr/>
            </a:pPr>
            <a:r>
              <a:rPr lang="en-US" altLang="zh-CN" dirty="0"/>
              <a:t>Classification of nuclei</a:t>
            </a:r>
            <a:endParaRPr lang="zh-CN" altLang="en-US" dirty="0"/>
          </a:p>
        </p:txBody>
      </p:sp>
      <p:sp>
        <p:nvSpPr>
          <p:cNvPr id="18435" name="Rectangle 3"/>
          <p:cNvSpPr>
            <a:spLocks noGrp="1" noChangeArrowheads="1"/>
          </p:cNvSpPr>
          <p:nvPr>
            <p:ph type="body" idx="1"/>
          </p:nvPr>
        </p:nvSpPr>
        <p:spPr>
          <a:xfrm>
            <a:off x="251520" y="1986771"/>
            <a:ext cx="5069236" cy="3602469"/>
          </a:xfrm>
        </p:spPr>
        <p:txBody>
          <a:bodyPr/>
          <a:lstStyle/>
          <a:p>
            <a:r>
              <a:rPr lang="en-US" altLang="zh-CN" sz="2800" dirty="0">
                <a:sym typeface="Symbol" panose="05050102010706020507" pitchFamily="18" charset="2"/>
              </a:rPr>
              <a:t>r r</a:t>
            </a:r>
            <a:r>
              <a:rPr lang="en-US" altLang="zh-CN" sz="2800" baseline="30000" dirty="0">
                <a:sym typeface="Symbol" panose="05050102010706020507" pitchFamily="18" charset="2"/>
              </a:rPr>
              <a:t>0</a:t>
            </a:r>
            <a:r>
              <a:rPr lang="en-US" altLang="zh-CN" sz="2800" baseline="-25000" dirty="0">
                <a:sym typeface="Symbol" panose="05050102010706020507" pitchFamily="18" charset="2"/>
              </a:rPr>
              <a:t>              </a:t>
            </a:r>
          </a:p>
          <a:p>
            <a:r>
              <a:rPr lang="en-US" altLang="zh-CN" sz="2800" dirty="0">
                <a:solidFill>
                  <a:srgbClr val="FF0000"/>
                </a:solidFill>
                <a:sym typeface="Symbol" panose="05050102010706020507" pitchFamily="18" charset="2"/>
              </a:rPr>
              <a:t>	</a:t>
            </a:r>
            <a:r>
              <a:rPr lang="en-US" altLang="zh-CN" sz="2800" b="0" dirty="0">
                <a:solidFill>
                  <a:srgbClr val="FF0000"/>
                </a:solidFill>
                <a:sym typeface="Symbol" panose="05050102010706020507" pitchFamily="18" charset="2"/>
              </a:rPr>
              <a:t>metastable nuclei</a:t>
            </a:r>
          </a:p>
          <a:p>
            <a:r>
              <a:rPr lang="en-US" altLang="zh-CN" sz="2800" dirty="0">
                <a:sym typeface="Symbol" panose="05050102010706020507" pitchFamily="18" charset="2"/>
              </a:rPr>
              <a:t>r =r</a:t>
            </a:r>
            <a:r>
              <a:rPr lang="en-US" altLang="zh-CN" sz="2800" baseline="30000" dirty="0">
                <a:sym typeface="Symbol" panose="05050102010706020507" pitchFamily="18" charset="2"/>
              </a:rPr>
              <a:t>0</a:t>
            </a:r>
            <a:r>
              <a:rPr lang="zh-CN" altLang="en-US" sz="2800" baseline="30000" dirty="0">
                <a:sym typeface="Symbol" panose="05050102010706020507" pitchFamily="18" charset="2"/>
              </a:rPr>
              <a:t> </a:t>
            </a:r>
            <a:r>
              <a:rPr lang="pt-BR" sz="2800" dirty="0"/>
              <a:t>(critical radius) </a:t>
            </a:r>
          </a:p>
          <a:p>
            <a:r>
              <a:rPr lang="pt-BR" sz="2800" dirty="0">
                <a:solidFill>
                  <a:srgbClr val="FF0000"/>
                </a:solidFill>
              </a:rPr>
              <a:t>	</a:t>
            </a:r>
            <a:r>
              <a:rPr lang="pt-BR" sz="2800" b="0" dirty="0">
                <a:solidFill>
                  <a:srgbClr val="FF0000"/>
                </a:solidFill>
              </a:rPr>
              <a:t>critical nuclei (embryo)</a:t>
            </a:r>
          </a:p>
          <a:p>
            <a:r>
              <a:rPr lang="en-US" altLang="zh-CN" sz="2800" dirty="0">
                <a:sym typeface="Symbol" panose="05050102010706020507" pitchFamily="18" charset="2"/>
              </a:rPr>
              <a:t>r </a:t>
            </a:r>
            <a:r>
              <a:rPr lang="en-US" altLang="zh-CN" sz="3600" dirty="0">
                <a:sym typeface="Symbol" panose="05050102010706020507" pitchFamily="18" charset="2"/>
              </a:rPr>
              <a:t></a:t>
            </a:r>
            <a:r>
              <a:rPr lang="en-US" altLang="zh-CN" sz="2800" dirty="0">
                <a:sym typeface="Symbol" panose="05050102010706020507" pitchFamily="18" charset="2"/>
              </a:rPr>
              <a:t> r</a:t>
            </a:r>
            <a:r>
              <a:rPr lang="en-US" altLang="zh-CN" sz="2800" baseline="30000" dirty="0">
                <a:sym typeface="Symbol" panose="05050102010706020507" pitchFamily="18" charset="2"/>
              </a:rPr>
              <a:t>0 </a:t>
            </a:r>
            <a:r>
              <a:rPr lang="en-US" altLang="zh-CN" sz="2800" baseline="-25000" dirty="0">
                <a:sym typeface="Symbol" panose="05050102010706020507" pitchFamily="18" charset="2"/>
              </a:rPr>
              <a:t>                              </a:t>
            </a:r>
          </a:p>
          <a:p>
            <a:r>
              <a:rPr lang="pt-BR" sz="2800" dirty="0">
                <a:solidFill>
                  <a:srgbClr val="FF0000"/>
                </a:solidFill>
              </a:rPr>
              <a:t>	</a:t>
            </a:r>
            <a:r>
              <a:rPr lang="pt-BR" sz="2800" b="0" dirty="0">
                <a:solidFill>
                  <a:srgbClr val="FF0000"/>
                </a:solidFill>
              </a:rPr>
              <a:t>stable nuclei</a:t>
            </a:r>
            <a:r>
              <a:rPr lang="pt-BR" sz="2800" b="0" dirty="0">
                <a:solidFill>
                  <a:srgbClr val="FF0000"/>
                </a:solidFill>
                <a:sym typeface="Wingdings" panose="05000000000000000000" pitchFamily="2" charset="2"/>
              </a:rPr>
              <a:t>nucleation</a:t>
            </a:r>
            <a:endParaRPr lang="en-US" sz="2800" b="0" dirty="0">
              <a:solidFill>
                <a:srgbClr val="FF0000"/>
              </a:solidFill>
            </a:endParaRPr>
          </a:p>
          <a:p>
            <a:endParaRPr lang="zh-CN" altLang="en-US" sz="2800" dirty="0">
              <a:sym typeface="Symbol" panose="05050102010706020507" pitchFamily="18" charset="2"/>
            </a:endParaRPr>
          </a:p>
          <a:p>
            <a:endParaRPr lang="zh-CN" altLang="en-US" sz="2800" dirty="0">
              <a:sym typeface="Symbol" panose="05050102010706020507" pitchFamily="18" charset="2"/>
            </a:endParaRPr>
          </a:p>
        </p:txBody>
      </p:sp>
      <p:sp>
        <p:nvSpPr>
          <p:cNvPr id="12" name="Rectangle 11"/>
          <p:cNvSpPr/>
          <p:nvPr/>
        </p:nvSpPr>
        <p:spPr>
          <a:xfrm>
            <a:off x="5963318" y="2564904"/>
            <a:ext cx="1200970" cy="461665"/>
          </a:xfrm>
          <a:prstGeom prst="rect">
            <a:avLst/>
          </a:prstGeom>
          <a:solidFill>
            <a:schemeClr val="bg1"/>
          </a:solidFill>
        </p:spPr>
        <p:txBody>
          <a:bodyPr wrap="none">
            <a:spAutoFit/>
          </a:bodyPr>
          <a:lstStyle/>
          <a:p>
            <a:r>
              <a:rPr lang="en-US" altLang="zh-CN" dirty="0">
                <a:solidFill>
                  <a:srgbClr val="FF0000"/>
                </a:solidFill>
                <a:sym typeface="Symbol" panose="05050102010706020507" pitchFamily="18" charset="2"/>
              </a:rPr>
              <a:t>embryo </a:t>
            </a:r>
            <a:endParaRPr lang="en-US" dirty="0"/>
          </a:p>
        </p:txBody>
      </p:sp>
      <p:sp>
        <p:nvSpPr>
          <p:cNvPr id="13" name="Rectangle 12"/>
          <p:cNvSpPr/>
          <p:nvPr/>
        </p:nvSpPr>
        <p:spPr>
          <a:xfrm>
            <a:off x="7452320" y="2564903"/>
            <a:ext cx="1463862" cy="461665"/>
          </a:xfrm>
          <a:prstGeom prst="rect">
            <a:avLst/>
          </a:prstGeom>
          <a:solidFill>
            <a:schemeClr val="bg1"/>
          </a:solidFill>
        </p:spPr>
        <p:txBody>
          <a:bodyPr wrap="none">
            <a:spAutoFit/>
          </a:bodyPr>
          <a:lstStyle/>
          <a:p>
            <a:r>
              <a:rPr lang="en-US" altLang="zh-CN" dirty="0">
                <a:solidFill>
                  <a:srgbClr val="FF0000"/>
                </a:solidFill>
                <a:sym typeface="Symbol" panose="05050102010706020507" pitchFamily="18" charset="2"/>
              </a:rPr>
              <a:t>nucleation</a:t>
            </a:r>
            <a:endParaRPr lang="en-US" dirty="0"/>
          </a:p>
        </p:txBody>
      </p:sp>
      <p:sp>
        <p:nvSpPr>
          <p:cNvPr id="14" name="Rectangle 13"/>
          <p:cNvSpPr/>
          <p:nvPr/>
        </p:nvSpPr>
        <p:spPr>
          <a:xfrm>
            <a:off x="6194632" y="2204864"/>
            <a:ext cx="2740687" cy="461665"/>
          </a:xfrm>
          <a:prstGeom prst="rect">
            <a:avLst/>
          </a:prstGeom>
          <a:solidFill>
            <a:schemeClr val="bg1"/>
          </a:solidFill>
        </p:spPr>
        <p:txBody>
          <a:bodyPr wrap="none">
            <a:spAutoFit/>
          </a:bodyPr>
          <a:lstStyle/>
          <a:p>
            <a:r>
              <a:rPr lang="en-US" altLang="zh-CN" b="1" dirty="0">
                <a:solidFill>
                  <a:srgbClr val="00B050"/>
                </a:solidFill>
                <a:sym typeface="Symbol" panose="05050102010706020507" pitchFamily="18" charset="2"/>
              </a:rPr>
              <a:t>Surface free energy</a:t>
            </a:r>
            <a:endParaRPr lang="en-US" b="1" dirty="0">
              <a:solidFill>
                <a:srgbClr val="00B050"/>
              </a:solidFill>
            </a:endParaRPr>
          </a:p>
        </p:txBody>
      </p:sp>
      <p:sp>
        <p:nvSpPr>
          <p:cNvPr id="15" name="Rectangle 14"/>
          <p:cNvSpPr/>
          <p:nvPr/>
        </p:nvSpPr>
        <p:spPr>
          <a:xfrm>
            <a:off x="5436096" y="5394873"/>
            <a:ext cx="2730043" cy="461665"/>
          </a:xfrm>
          <a:prstGeom prst="rect">
            <a:avLst/>
          </a:prstGeom>
          <a:solidFill>
            <a:schemeClr val="bg1"/>
          </a:solidFill>
        </p:spPr>
        <p:txBody>
          <a:bodyPr wrap="none">
            <a:spAutoFit/>
          </a:bodyPr>
          <a:lstStyle/>
          <a:p>
            <a:r>
              <a:rPr lang="en-US" altLang="zh-CN" b="1" dirty="0">
                <a:solidFill>
                  <a:srgbClr val="00B050"/>
                </a:solidFill>
                <a:sym typeface="Symbol" panose="05050102010706020507" pitchFamily="18" charset="2"/>
              </a:rPr>
              <a:t>Volume free energy</a:t>
            </a:r>
            <a:endParaRPr lang="en-US" b="1" dirty="0">
              <a:solidFill>
                <a:srgbClr val="00B05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grpSp>
        <p:nvGrpSpPr>
          <p:cNvPr id="7" name="Group 6"/>
          <p:cNvGrpSpPr/>
          <p:nvPr/>
        </p:nvGrpSpPr>
        <p:grpSpPr>
          <a:xfrm>
            <a:off x="5219574" y="1562286"/>
            <a:ext cx="3744913" cy="4456113"/>
            <a:chOff x="5148064" y="1997223"/>
            <a:chExt cx="3744913" cy="4456113"/>
          </a:xfrm>
        </p:grpSpPr>
        <p:pic>
          <p:nvPicPr>
            <p:cNvPr id="17410" name="Picture 4" descr="T2-9"/>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5148064" y="1997223"/>
              <a:ext cx="3744913"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Oval 8"/>
            <p:cNvSpPr/>
            <p:nvPr/>
          </p:nvSpPr>
          <p:spPr>
            <a:xfrm>
              <a:off x="6514971" y="3779271"/>
              <a:ext cx="216024" cy="216024"/>
            </a:xfrm>
            <a:prstGeom prst="ellipse">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303249" y="3574319"/>
              <a:ext cx="216024" cy="216024"/>
            </a:xfrm>
            <a:prstGeom prst="ellipse">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796667" y="4450391"/>
              <a:ext cx="216024" cy="216024"/>
            </a:xfrm>
            <a:prstGeom prst="ellipse">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8154585" y="4867091"/>
              <a:ext cx="216024" cy="216024"/>
            </a:xfrm>
            <a:prstGeom prst="ellipse">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819" name="Rectangle 3"/>
          <p:cNvSpPr>
            <a:spLocks noGrp="1" noChangeArrowheads="1"/>
          </p:cNvSpPr>
          <p:nvPr>
            <p:ph type="body" idx="1"/>
          </p:nvPr>
        </p:nvSpPr>
        <p:spPr>
          <a:xfrm>
            <a:off x="107950" y="1528763"/>
            <a:ext cx="5327650" cy="4779962"/>
          </a:xfrm>
        </p:spPr>
        <p:txBody>
          <a:bodyPr/>
          <a:lstStyle/>
          <a:p>
            <a:pPr>
              <a:lnSpc>
                <a:spcPct val="90000"/>
              </a:lnSpc>
            </a:pPr>
            <a:r>
              <a:rPr lang="zh-CN" altLang="en-US" sz="2400" b="0" dirty="0"/>
              <a:t>0 </a:t>
            </a:r>
            <a:r>
              <a:rPr lang="en-US" altLang="zh-CN" sz="2400" b="0" dirty="0">
                <a:sym typeface="Symbol" panose="05050102010706020507" pitchFamily="18" charset="2"/>
              </a:rPr>
              <a:t>r r</a:t>
            </a:r>
            <a:r>
              <a:rPr lang="en-US" altLang="zh-CN" sz="2400" b="0" baseline="30000" dirty="0">
                <a:sym typeface="Symbol" panose="05050102010706020507" pitchFamily="18" charset="2"/>
              </a:rPr>
              <a:t>* </a:t>
            </a:r>
            <a:r>
              <a:rPr lang="en-US" altLang="zh-CN" sz="2400" b="0" dirty="0">
                <a:sym typeface="Symbol" panose="05050102010706020507" pitchFamily="18" charset="2"/>
              </a:rPr>
              <a:t>;</a:t>
            </a:r>
            <a:r>
              <a:rPr lang="zh-CN" altLang="en-US" sz="2400" b="0" baseline="30000" dirty="0">
                <a:sym typeface="Symbol" panose="05050102010706020507" pitchFamily="18" charset="2"/>
              </a:rPr>
              <a:t>   </a:t>
            </a:r>
            <a:r>
              <a:rPr lang="en-US" altLang="zh-CN" b="0" dirty="0">
                <a:sym typeface="Symbol" panose="05050102010706020507" pitchFamily="18" charset="2"/>
              </a:rPr>
              <a:t>r , </a:t>
            </a:r>
            <a:r>
              <a:rPr lang="en-US" altLang="zh-CN" b="0" dirty="0" err="1"/>
              <a:t>G</a:t>
            </a:r>
            <a:r>
              <a:rPr lang="en-US" altLang="zh-CN" b="0" baseline="-25000" dirty="0" err="1"/>
              <a:t>System</a:t>
            </a:r>
            <a:r>
              <a:rPr lang="en-US" altLang="zh-CN" b="0" dirty="0"/>
              <a:t> </a:t>
            </a:r>
            <a:r>
              <a:rPr lang="en-US" altLang="zh-CN" b="0" dirty="0">
                <a:sym typeface="Symbol" panose="05050102010706020507" pitchFamily="18" charset="2"/>
              </a:rPr>
              <a:t> ; disappearance probability &gt; growing up probability</a:t>
            </a:r>
            <a:endParaRPr lang="zh-CN" altLang="en-US" b="0" dirty="0">
              <a:sym typeface="Symbol" panose="05050102010706020507" pitchFamily="18" charset="2"/>
            </a:endParaRPr>
          </a:p>
          <a:p>
            <a:pPr>
              <a:lnSpc>
                <a:spcPct val="90000"/>
              </a:lnSpc>
              <a:buFont typeface="Wingdings" panose="05000000000000000000" pitchFamily="2" charset="2"/>
              <a:buNone/>
            </a:pPr>
            <a:r>
              <a:rPr lang="zh-CN" altLang="en-US" b="0" dirty="0">
                <a:sym typeface="Symbol" panose="05050102010706020507" pitchFamily="18" charset="2"/>
              </a:rPr>
              <a:t></a:t>
            </a:r>
            <a:r>
              <a:rPr lang="en-US" altLang="zh-CN" b="0" dirty="0">
                <a:sym typeface="Symbol" panose="05050102010706020507" pitchFamily="18" charset="2"/>
              </a:rPr>
              <a:t> embryos can not grow up</a:t>
            </a:r>
          </a:p>
          <a:p>
            <a:pPr>
              <a:lnSpc>
                <a:spcPct val="90000"/>
              </a:lnSpc>
            </a:pPr>
            <a:r>
              <a:rPr lang="en-US" altLang="zh-CN" b="0" dirty="0">
                <a:solidFill>
                  <a:srgbClr val="FF0000"/>
                </a:solidFill>
                <a:sym typeface="Symbol" panose="05050102010706020507" pitchFamily="18" charset="2"/>
              </a:rPr>
              <a:t>r =r*</a:t>
            </a:r>
            <a:r>
              <a:rPr lang="zh-CN" altLang="en-US" b="0" dirty="0">
                <a:solidFill>
                  <a:srgbClr val="FF0000"/>
                </a:solidFill>
                <a:sym typeface="Symbol" panose="05050102010706020507" pitchFamily="18" charset="2"/>
              </a:rPr>
              <a:t> (</a:t>
            </a:r>
            <a:r>
              <a:rPr lang="en-US" altLang="zh-CN" b="0" dirty="0">
                <a:solidFill>
                  <a:srgbClr val="FF0000"/>
                </a:solidFill>
                <a:sym typeface="Symbol" panose="05050102010706020507" pitchFamily="18" charset="2"/>
              </a:rPr>
              <a:t>critical diameter</a:t>
            </a:r>
            <a:r>
              <a:rPr lang="zh-CN" altLang="en-US" b="0" dirty="0">
                <a:solidFill>
                  <a:srgbClr val="FF0000"/>
                </a:solidFill>
                <a:sym typeface="Symbol" panose="05050102010706020507" pitchFamily="18" charset="2"/>
              </a:rPr>
              <a:t>)</a:t>
            </a:r>
            <a:r>
              <a:rPr lang="en-US" altLang="zh-CN" b="0" dirty="0">
                <a:solidFill>
                  <a:srgbClr val="FF0000"/>
                </a:solidFill>
                <a:sym typeface="Symbol" panose="05050102010706020507" pitchFamily="18" charset="2"/>
              </a:rPr>
              <a:t>; </a:t>
            </a:r>
            <a:r>
              <a:rPr lang="zh-CN" altLang="en-US" b="0" dirty="0">
                <a:solidFill>
                  <a:srgbClr val="FF0000"/>
                </a:solidFill>
              </a:rPr>
              <a:t>  △</a:t>
            </a:r>
            <a:r>
              <a:rPr lang="en-US" altLang="zh-CN" b="0" dirty="0" err="1">
                <a:solidFill>
                  <a:srgbClr val="FF0000"/>
                </a:solidFill>
              </a:rPr>
              <a:t>G</a:t>
            </a:r>
            <a:r>
              <a:rPr lang="en-US" altLang="zh-CN" b="0" baseline="-25000" dirty="0" err="1">
                <a:solidFill>
                  <a:srgbClr val="FF0000"/>
                </a:solidFill>
              </a:rPr>
              <a:t>system</a:t>
            </a:r>
            <a:r>
              <a:rPr lang="en-US" altLang="zh-CN" b="0" dirty="0">
                <a:solidFill>
                  <a:srgbClr val="FF0000"/>
                </a:solidFill>
              </a:rPr>
              <a:t>= </a:t>
            </a:r>
            <a:r>
              <a:rPr lang="zh-CN" altLang="en-US" b="0" dirty="0">
                <a:solidFill>
                  <a:srgbClr val="FF0000"/>
                </a:solidFill>
              </a:rPr>
              <a:t>△</a:t>
            </a:r>
            <a:r>
              <a:rPr lang="en-US" altLang="zh-CN" b="0" dirty="0">
                <a:solidFill>
                  <a:srgbClr val="FF0000"/>
                </a:solidFill>
              </a:rPr>
              <a:t>G </a:t>
            </a:r>
            <a:r>
              <a:rPr lang="en-US" altLang="zh-CN" b="0" baseline="-25000" dirty="0">
                <a:solidFill>
                  <a:srgbClr val="FF0000"/>
                </a:solidFill>
              </a:rPr>
              <a:t>max</a:t>
            </a:r>
            <a:r>
              <a:rPr lang="en-US" altLang="zh-CN" b="0" dirty="0">
                <a:solidFill>
                  <a:srgbClr val="FF0000"/>
                </a:solidFill>
              </a:rPr>
              <a:t>= </a:t>
            </a:r>
            <a:r>
              <a:rPr lang="zh-CN" altLang="en-US" b="0" dirty="0">
                <a:solidFill>
                  <a:srgbClr val="FF0000"/>
                </a:solidFill>
              </a:rPr>
              <a:t>△</a:t>
            </a:r>
            <a:r>
              <a:rPr lang="en-US" altLang="zh-CN" b="0" dirty="0">
                <a:solidFill>
                  <a:srgbClr val="FF0000"/>
                </a:solidFill>
              </a:rPr>
              <a:t>G * (critical nucleation energy</a:t>
            </a:r>
            <a:r>
              <a:rPr lang="zh-CN" altLang="en-US" b="0" dirty="0">
                <a:solidFill>
                  <a:srgbClr val="FF0000"/>
                </a:solidFill>
              </a:rPr>
              <a:t>）；</a:t>
            </a:r>
            <a:r>
              <a:rPr lang="en-US" altLang="zh-CN" b="0" dirty="0">
                <a:solidFill>
                  <a:srgbClr val="FF0000"/>
                </a:solidFill>
                <a:sym typeface="Symbol" panose="05050102010706020507" pitchFamily="18" charset="2"/>
              </a:rPr>
              <a:t>disappearance probability = growing up probability </a:t>
            </a:r>
            <a:r>
              <a:rPr lang="zh-CN" altLang="en-US" b="0" dirty="0">
                <a:solidFill>
                  <a:srgbClr val="FF0000"/>
                </a:solidFill>
                <a:sym typeface="Symbol" panose="05050102010706020507" pitchFamily="18" charset="2"/>
              </a:rPr>
              <a:t></a:t>
            </a:r>
            <a:r>
              <a:rPr lang="en-US" altLang="zh-CN" b="0" dirty="0">
                <a:solidFill>
                  <a:srgbClr val="FF0000"/>
                </a:solidFill>
                <a:sym typeface="Symbol" panose="05050102010706020507" pitchFamily="18" charset="2"/>
              </a:rPr>
              <a:t> Critical state</a:t>
            </a:r>
            <a:endParaRPr lang="zh-CN" altLang="en-US" b="0" dirty="0">
              <a:solidFill>
                <a:srgbClr val="FF0000"/>
              </a:solidFill>
              <a:sym typeface="Symbol" panose="05050102010706020507" pitchFamily="18" charset="2"/>
            </a:endParaRPr>
          </a:p>
          <a:p>
            <a:pPr>
              <a:lnSpc>
                <a:spcPct val="90000"/>
              </a:lnSpc>
            </a:pPr>
            <a:r>
              <a:rPr lang="en-US" altLang="zh-CN" b="0" dirty="0">
                <a:sym typeface="Symbol" panose="05050102010706020507" pitchFamily="18" charset="2"/>
              </a:rPr>
              <a:t>r*</a:t>
            </a:r>
            <a:r>
              <a:rPr lang="zh-CN" altLang="en-US" b="0" dirty="0">
                <a:sym typeface="Symbol" panose="05050102010706020507" pitchFamily="18" charset="2"/>
              </a:rPr>
              <a:t> </a:t>
            </a:r>
            <a:r>
              <a:rPr lang="en-US" altLang="zh-CN" b="0" dirty="0">
                <a:sym typeface="Symbol" panose="05050102010706020507" pitchFamily="18" charset="2"/>
              </a:rPr>
              <a:t>r r</a:t>
            </a:r>
            <a:r>
              <a:rPr lang="en-US" altLang="zh-CN" b="0" baseline="30000" dirty="0">
                <a:sym typeface="Symbol" panose="05050102010706020507" pitchFamily="18" charset="2"/>
              </a:rPr>
              <a:t>0</a:t>
            </a:r>
            <a:r>
              <a:rPr lang="en-US" altLang="zh-CN" b="0" dirty="0">
                <a:sym typeface="Symbol" panose="05050102010706020507" pitchFamily="18" charset="2"/>
              </a:rPr>
              <a:t>; r , </a:t>
            </a:r>
            <a:r>
              <a:rPr lang="en-US" altLang="zh-CN" b="0" dirty="0" err="1"/>
              <a:t>G</a:t>
            </a:r>
            <a:r>
              <a:rPr lang="en-US" altLang="zh-CN" b="0" baseline="-25000" dirty="0" err="1"/>
              <a:t>system</a:t>
            </a:r>
            <a:r>
              <a:rPr lang="en-US" altLang="zh-CN" b="0" dirty="0">
                <a:sym typeface="Symbol" panose="05050102010706020507" pitchFamily="18" charset="2"/>
              </a:rPr>
              <a:t>; disappearance probability &lt; growing up probability </a:t>
            </a:r>
            <a:r>
              <a:rPr lang="zh-CN" altLang="en-US" b="0" dirty="0">
                <a:sym typeface="Symbol" panose="05050102010706020507" pitchFamily="18" charset="2"/>
              </a:rPr>
              <a:t> </a:t>
            </a:r>
            <a:r>
              <a:rPr lang="en-US" altLang="zh-CN" b="0" dirty="0">
                <a:sym typeface="Symbol" panose="05050102010706020507" pitchFamily="18" charset="2"/>
              </a:rPr>
              <a:t>The embryo is not stable.</a:t>
            </a:r>
          </a:p>
          <a:p>
            <a:pPr>
              <a:lnSpc>
                <a:spcPct val="90000"/>
              </a:lnSpc>
            </a:pPr>
            <a:r>
              <a:rPr lang="en-US" altLang="zh-CN" b="0" dirty="0">
                <a:solidFill>
                  <a:srgbClr val="FF0000"/>
                </a:solidFill>
                <a:sym typeface="Symbol" panose="05050102010706020507" pitchFamily="18" charset="2"/>
              </a:rPr>
              <a:t>r  r</a:t>
            </a:r>
            <a:r>
              <a:rPr lang="en-US" altLang="zh-CN" b="0" baseline="30000" dirty="0">
                <a:solidFill>
                  <a:srgbClr val="FF0000"/>
                </a:solidFill>
                <a:sym typeface="Symbol" panose="05050102010706020507" pitchFamily="18" charset="2"/>
              </a:rPr>
              <a:t>0</a:t>
            </a:r>
            <a:r>
              <a:rPr lang="en-US" altLang="zh-CN" b="0" dirty="0">
                <a:solidFill>
                  <a:srgbClr val="FF0000"/>
                </a:solidFill>
                <a:sym typeface="Symbol" panose="05050102010706020507" pitchFamily="18" charset="2"/>
              </a:rPr>
              <a:t>; </a:t>
            </a:r>
            <a:r>
              <a:rPr lang="zh-CN" altLang="en-US" b="0" dirty="0">
                <a:solidFill>
                  <a:srgbClr val="FF0000"/>
                </a:solidFill>
                <a:sym typeface="Symbol" panose="05050102010706020507" pitchFamily="18" charset="2"/>
              </a:rPr>
              <a:t> </a:t>
            </a:r>
            <a:r>
              <a:rPr lang="zh-CN" altLang="en-US" b="0" dirty="0">
                <a:solidFill>
                  <a:srgbClr val="FF0000"/>
                </a:solidFill>
              </a:rPr>
              <a:t>△</a:t>
            </a:r>
            <a:r>
              <a:rPr lang="en-US" altLang="zh-CN" b="0" dirty="0">
                <a:solidFill>
                  <a:srgbClr val="FF0000"/>
                </a:solidFill>
              </a:rPr>
              <a:t>G</a:t>
            </a:r>
            <a:r>
              <a:rPr lang="en-US" altLang="zh-CN" b="0" baseline="-25000" dirty="0">
                <a:solidFill>
                  <a:srgbClr val="FF0000"/>
                </a:solidFill>
              </a:rPr>
              <a:t>system</a:t>
            </a:r>
            <a:r>
              <a:rPr lang="en-US" altLang="zh-CN" b="0" dirty="0">
                <a:solidFill>
                  <a:srgbClr val="FF0000"/>
                </a:solidFill>
                <a:sym typeface="Symbol" panose="05050102010706020507" pitchFamily="18" charset="2"/>
              </a:rPr>
              <a:t>0; disappearance probability &lt; growing up probability</a:t>
            </a:r>
            <a:r>
              <a:rPr lang="zh-CN" altLang="en-US" b="0" dirty="0">
                <a:solidFill>
                  <a:srgbClr val="FF0000"/>
                </a:solidFill>
                <a:sym typeface="Symbol" panose="05050102010706020507" pitchFamily="18" charset="2"/>
              </a:rPr>
              <a:t>  </a:t>
            </a:r>
            <a:r>
              <a:rPr lang="en-US" altLang="zh-CN" b="0" dirty="0">
                <a:solidFill>
                  <a:srgbClr val="FF0000"/>
                </a:solidFill>
                <a:sym typeface="Symbol" panose="05050102010706020507" pitchFamily="18" charset="2"/>
              </a:rPr>
              <a:t>The embryos can grow up as nuclei.</a:t>
            </a:r>
            <a:endParaRPr lang="zh-CN" altLang="en-US" b="0" dirty="0">
              <a:solidFill>
                <a:srgbClr val="FF0000"/>
              </a:solidFill>
              <a:sym typeface="Symbol" panose="05050102010706020507" pitchFamily="18" charset="2"/>
            </a:endParaRPr>
          </a:p>
        </p:txBody>
      </p:sp>
      <p:sp>
        <p:nvSpPr>
          <p:cNvPr id="6" name="Rectangle 2"/>
          <p:cNvSpPr>
            <a:spLocks noGrp="1" noChangeArrowheads="1"/>
          </p:cNvSpPr>
          <p:nvPr>
            <p:ph type="title"/>
          </p:nvPr>
        </p:nvSpPr>
        <p:spPr>
          <a:xfrm>
            <a:off x="971550" y="476250"/>
            <a:ext cx="7200900" cy="650875"/>
          </a:xfrm>
        </p:spPr>
        <p:txBody>
          <a:bodyPr>
            <a:normAutofit fontScale="90000"/>
          </a:bodyPr>
          <a:lstStyle/>
          <a:p>
            <a:pPr>
              <a:defRPr/>
            </a:pPr>
            <a:r>
              <a:rPr lang="en-US" altLang="zh-CN" dirty="0"/>
              <a:t>In the system, if there is a crystal embryo with a radius of r...</a:t>
            </a:r>
            <a:endParaRPr lang="zh-CN" altLang="en-US" cap="none" dirty="0"/>
          </a:p>
        </p:txBody>
      </p:sp>
      <p:sp>
        <p:nvSpPr>
          <p:cNvPr id="2" name="Rectangle 1"/>
          <p:cNvSpPr/>
          <p:nvPr/>
        </p:nvSpPr>
        <p:spPr>
          <a:xfrm>
            <a:off x="5636776" y="2398948"/>
            <a:ext cx="1200970" cy="461665"/>
          </a:xfrm>
          <a:prstGeom prst="rect">
            <a:avLst/>
          </a:prstGeom>
          <a:solidFill>
            <a:schemeClr val="bg1"/>
          </a:solidFill>
        </p:spPr>
        <p:txBody>
          <a:bodyPr wrap="none">
            <a:spAutoFit/>
          </a:bodyPr>
          <a:lstStyle/>
          <a:p>
            <a:r>
              <a:rPr lang="en-US" altLang="zh-CN" dirty="0">
                <a:solidFill>
                  <a:srgbClr val="FF0000"/>
                </a:solidFill>
                <a:sym typeface="Symbol" panose="05050102010706020507" pitchFamily="18" charset="2"/>
              </a:rPr>
              <a:t>embryo </a:t>
            </a:r>
            <a:endParaRPr lang="en-US" dirty="0"/>
          </a:p>
        </p:txBody>
      </p:sp>
      <p:sp>
        <p:nvSpPr>
          <p:cNvPr id="13" name="Rectangle 12"/>
          <p:cNvSpPr/>
          <p:nvPr/>
        </p:nvSpPr>
        <p:spPr>
          <a:xfrm>
            <a:off x="7531362" y="2398948"/>
            <a:ext cx="1463862" cy="461665"/>
          </a:xfrm>
          <a:prstGeom prst="rect">
            <a:avLst/>
          </a:prstGeom>
          <a:solidFill>
            <a:schemeClr val="bg1"/>
          </a:solidFill>
        </p:spPr>
        <p:txBody>
          <a:bodyPr wrap="none">
            <a:spAutoFit/>
          </a:bodyPr>
          <a:lstStyle/>
          <a:p>
            <a:r>
              <a:rPr lang="en-US" altLang="zh-CN" dirty="0">
                <a:solidFill>
                  <a:srgbClr val="FF0000"/>
                </a:solidFill>
                <a:sym typeface="Symbol" panose="05050102010706020507" pitchFamily="18" charset="2"/>
              </a:rPr>
              <a:t>nucleation</a:t>
            </a:r>
            <a:endParaRPr lang="en-US" dirty="0"/>
          </a:p>
        </p:txBody>
      </p:sp>
      <p:sp>
        <p:nvSpPr>
          <p:cNvPr id="14" name="Rectangle 13"/>
          <p:cNvSpPr/>
          <p:nvPr/>
        </p:nvSpPr>
        <p:spPr>
          <a:xfrm>
            <a:off x="6175495" y="1331453"/>
            <a:ext cx="2740687" cy="461665"/>
          </a:xfrm>
          <a:prstGeom prst="rect">
            <a:avLst/>
          </a:prstGeom>
          <a:solidFill>
            <a:schemeClr val="bg1"/>
          </a:solidFill>
        </p:spPr>
        <p:txBody>
          <a:bodyPr wrap="none">
            <a:spAutoFit/>
          </a:bodyPr>
          <a:lstStyle/>
          <a:p>
            <a:r>
              <a:rPr lang="en-US" altLang="zh-CN" b="1" dirty="0">
                <a:solidFill>
                  <a:srgbClr val="00B050"/>
                </a:solidFill>
                <a:sym typeface="Symbol" panose="05050102010706020507" pitchFamily="18" charset="2"/>
              </a:rPr>
              <a:t>Surface free energy</a:t>
            </a:r>
            <a:endParaRPr lang="en-US" b="1" dirty="0">
              <a:solidFill>
                <a:srgbClr val="00B050"/>
              </a:solidFill>
            </a:endParaRPr>
          </a:p>
        </p:txBody>
      </p:sp>
      <p:sp>
        <p:nvSpPr>
          <p:cNvPr id="15" name="Rectangle 14"/>
          <p:cNvSpPr/>
          <p:nvPr/>
        </p:nvSpPr>
        <p:spPr>
          <a:xfrm>
            <a:off x="5614172" y="5281900"/>
            <a:ext cx="2730043" cy="461665"/>
          </a:xfrm>
          <a:prstGeom prst="rect">
            <a:avLst/>
          </a:prstGeom>
          <a:solidFill>
            <a:schemeClr val="bg1"/>
          </a:solidFill>
        </p:spPr>
        <p:txBody>
          <a:bodyPr wrap="none">
            <a:spAutoFit/>
          </a:bodyPr>
          <a:lstStyle/>
          <a:p>
            <a:r>
              <a:rPr lang="en-US" altLang="zh-CN" b="1" dirty="0">
                <a:solidFill>
                  <a:srgbClr val="00B050"/>
                </a:solidFill>
                <a:sym typeface="Symbol" panose="05050102010706020507" pitchFamily="18" charset="2"/>
              </a:rPr>
              <a:t>Volume free energy</a:t>
            </a:r>
            <a:endParaRPr lang="en-US" b="1" dirty="0">
              <a:solidFill>
                <a:srgbClr val="00B050"/>
              </a:solidFill>
            </a:endParaRPr>
          </a:p>
        </p:txBody>
      </p:sp>
      <p:sp>
        <p:nvSpPr>
          <p:cNvPr id="3" name="TextBox 2"/>
          <p:cNvSpPr txBox="1"/>
          <p:nvPr/>
        </p:nvSpPr>
        <p:spPr>
          <a:xfrm>
            <a:off x="2555776" y="6165304"/>
            <a:ext cx="4860626" cy="523220"/>
          </a:xfrm>
          <a:prstGeom prst="rect">
            <a:avLst/>
          </a:prstGeom>
          <a:noFill/>
        </p:spPr>
        <p:txBody>
          <a:bodyPr wrap="none" rtlCol="0">
            <a:spAutoFit/>
          </a:bodyPr>
          <a:lstStyle/>
          <a:p>
            <a:r>
              <a:rPr lang="en-US" altLang="zh-CN" sz="2800" b="1" dirty="0">
                <a:latin typeface="Showcard Gothic" panose="04020904020102020604" pitchFamily="82" charset="0"/>
              </a:rPr>
              <a:t>Grow up or disappear </a:t>
            </a:r>
            <a:r>
              <a:rPr lang="zh-CN" altLang="en-US" sz="2800" b="1" dirty="0">
                <a:latin typeface="Showcard Gothic" panose="04020904020102020604" pitchFamily="82" charset="0"/>
              </a:rPr>
              <a:t>？</a:t>
            </a:r>
            <a:endParaRPr lang="en-US" sz="2800" b="1" dirty="0">
              <a:latin typeface="Showcard Gothic" panose="04020904020102020604" pitchFamily="82"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500" fill="hold"/>
                                        <p:tgtEl>
                                          <p:spTgt spid="348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8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819">
                                            <p:txEl>
                                              <p:pRg st="1" end="1"/>
                                            </p:txEl>
                                          </p:spTgt>
                                        </p:tgtEl>
                                        <p:attrNameLst>
                                          <p:attrName>style.visibility</p:attrName>
                                        </p:attrNameLst>
                                      </p:cBhvr>
                                      <p:to>
                                        <p:strVal val="visible"/>
                                      </p:to>
                                    </p:set>
                                    <p:anim calcmode="lin" valueType="num">
                                      <p:cBhvr additive="base">
                                        <p:cTn id="13" dur="500" fill="hold"/>
                                        <p:tgtEl>
                                          <p:spTgt spid="348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8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819">
                                            <p:txEl>
                                              <p:pRg st="2" end="2"/>
                                            </p:txEl>
                                          </p:spTgt>
                                        </p:tgtEl>
                                        <p:attrNameLst>
                                          <p:attrName>style.visibility</p:attrName>
                                        </p:attrNameLst>
                                      </p:cBhvr>
                                      <p:to>
                                        <p:strVal val="visible"/>
                                      </p:to>
                                    </p:set>
                                    <p:anim calcmode="lin" valueType="num">
                                      <p:cBhvr additive="base">
                                        <p:cTn id="19" dur="500" fill="hold"/>
                                        <p:tgtEl>
                                          <p:spTgt spid="348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8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819">
                                            <p:txEl>
                                              <p:pRg st="3" end="3"/>
                                            </p:txEl>
                                          </p:spTgt>
                                        </p:tgtEl>
                                        <p:attrNameLst>
                                          <p:attrName>style.visibility</p:attrName>
                                        </p:attrNameLst>
                                      </p:cBhvr>
                                      <p:to>
                                        <p:strVal val="visible"/>
                                      </p:to>
                                    </p:set>
                                    <p:anim calcmode="lin" valueType="num">
                                      <p:cBhvr additive="base">
                                        <p:cTn id="25" dur="500" fill="hold"/>
                                        <p:tgtEl>
                                          <p:spTgt spid="3481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8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4819">
                                            <p:txEl>
                                              <p:pRg st="4" end="4"/>
                                            </p:txEl>
                                          </p:spTgt>
                                        </p:tgtEl>
                                        <p:attrNameLst>
                                          <p:attrName>style.visibility</p:attrName>
                                        </p:attrNameLst>
                                      </p:cBhvr>
                                      <p:to>
                                        <p:strVal val="visible"/>
                                      </p:to>
                                    </p:set>
                                    <p:anim calcmode="lin" valueType="num">
                                      <p:cBhvr additive="base">
                                        <p:cTn id="31" dur="500" fill="hold"/>
                                        <p:tgtEl>
                                          <p:spTgt spid="3481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481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bldLvl="2"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7" name="Group 6"/>
          <p:cNvGrpSpPr/>
          <p:nvPr/>
        </p:nvGrpSpPr>
        <p:grpSpPr>
          <a:xfrm>
            <a:off x="5219574" y="1562286"/>
            <a:ext cx="3744913" cy="4456113"/>
            <a:chOff x="5148064" y="1997223"/>
            <a:chExt cx="3744913" cy="4456113"/>
          </a:xfrm>
        </p:grpSpPr>
        <p:pic>
          <p:nvPicPr>
            <p:cNvPr id="17410" name="Picture 4" descr="T2-9"/>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5148064" y="1997223"/>
              <a:ext cx="3744913"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val 4"/>
            <p:cNvSpPr/>
            <p:nvPr/>
          </p:nvSpPr>
          <p:spPr>
            <a:xfrm>
              <a:off x="5364088" y="4315299"/>
              <a:ext cx="216024" cy="216024"/>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514971" y="3849535"/>
              <a:ext cx="145759" cy="145759"/>
            </a:xfrm>
            <a:prstGeom prst="ellipse">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303249" y="3633739"/>
              <a:ext cx="156603" cy="156603"/>
            </a:xfrm>
            <a:prstGeom prst="ellipse">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7823839" y="4450391"/>
              <a:ext cx="188851" cy="188851"/>
            </a:xfrm>
            <a:prstGeom prst="ellipse">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8154585" y="4867091"/>
              <a:ext cx="216024" cy="216024"/>
            </a:xfrm>
            <a:prstGeom prst="ellipse">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819" name="Rectangle 3"/>
          <p:cNvSpPr>
            <a:spLocks noGrp="1" noChangeArrowheads="1"/>
          </p:cNvSpPr>
          <p:nvPr>
            <p:ph type="body" idx="1"/>
          </p:nvPr>
        </p:nvSpPr>
        <p:spPr>
          <a:xfrm>
            <a:off x="117813" y="1311890"/>
            <a:ext cx="5327650" cy="4779962"/>
          </a:xfrm>
        </p:spPr>
        <p:txBody>
          <a:bodyPr/>
          <a:lstStyle/>
          <a:p>
            <a:pPr>
              <a:lnSpc>
                <a:spcPct val="90000"/>
              </a:lnSpc>
            </a:pPr>
            <a:r>
              <a:rPr lang="zh-CN" altLang="en-US" sz="2400" dirty="0"/>
              <a:t>0 </a:t>
            </a:r>
            <a:r>
              <a:rPr lang="en-US" altLang="zh-CN" sz="2400" dirty="0">
                <a:sym typeface="Symbol" panose="05050102010706020507" pitchFamily="18" charset="2"/>
              </a:rPr>
              <a:t>r r</a:t>
            </a:r>
            <a:r>
              <a:rPr lang="en-US" altLang="zh-CN" sz="2400" baseline="30000" dirty="0">
                <a:sym typeface="Symbol" panose="05050102010706020507" pitchFamily="18" charset="2"/>
              </a:rPr>
              <a:t>* </a:t>
            </a:r>
            <a:endParaRPr lang="en-US" altLang="zh-CN" sz="2400" dirty="0">
              <a:sym typeface="Symbol" panose="05050102010706020507" pitchFamily="18" charset="2"/>
            </a:endParaRPr>
          </a:p>
          <a:p>
            <a:pPr>
              <a:lnSpc>
                <a:spcPct val="90000"/>
              </a:lnSpc>
            </a:pPr>
            <a:r>
              <a:rPr lang="en-US" altLang="zh-CN" sz="1800" b="0" dirty="0">
                <a:sym typeface="Symbol" panose="05050102010706020507" pitchFamily="18" charset="2"/>
              </a:rPr>
              <a:t>r , </a:t>
            </a:r>
            <a:r>
              <a:rPr lang="en-US" altLang="zh-CN" sz="1800" b="0" dirty="0" err="1"/>
              <a:t>G</a:t>
            </a:r>
            <a:r>
              <a:rPr lang="en-US" altLang="zh-CN" sz="1800" b="0" baseline="-25000" dirty="0" err="1"/>
              <a:t>System</a:t>
            </a:r>
            <a:r>
              <a:rPr lang="en-US" altLang="zh-CN" sz="1800" b="0" dirty="0"/>
              <a:t> </a:t>
            </a:r>
            <a:r>
              <a:rPr lang="en-US" altLang="zh-CN" sz="1800" b="0" dirty="0">
                <a:sym typeface="Symbol" panose="05050102010706020507" pitchFamily="18" charset="2"/>
              </a:rPr>
              <a:t> ;</a:t>
            </a:r>
          </a:p>
          <a:p>
            <a:pPr>
              <a:lnSpc>
                <a:spcPct val="90000"/>
              </a:lnSpc>
            </a:pPr>
            <a:r>
              <a:rPr lang="en-US" altLang="zh-CN" sz="1800" b="0" dirty="0">
                <a:sym typeface="Symbol" panose="05050102010706020507" pitchFamily="18" charset="2"/>
              </a:rPr>
              <a:t>disappearance probability &gt; growing up probability</a:t>
            </a:r>
            <a:endParaRPr lang="zh-CN" altLang="en-US" sz="1800" b="0" dirty="0">
              <a:sym typeface="Symbol" panose="05050102010706020507" pitchFamily="18" charset="2"/>
            </a:endParaRPr>
          </a:p>
          <a:p>
            <a:pPr marL="342900" indent="-342900">
              <a:lnSpc>
                <a:spcPct val="90000"/>
              </a:lnSpc>
              <a:buFont typeface="Symbol" panose="05050102010706020507" pitchFamily="18" charset="2"/>
              <a:buChar char="Þ"/>
            </a:pPr>
            <a:r>
              <a:rPr lang="en-US" altLang="zh-CN" sz="1800" b="0" dirty="0">
                <a:sym typeface="Symbol" panose="05050102010706020507" pitchFamily="18" charset="2"/>
              </a:rPr>
              <a:t>embryos can not grow up</a:t>
            </a:r>
          </a:p>
          <a:p>
            <a:pPr>
              <a:lnSpc>
                <a:spcPct val="90000"/>
              </a:lnSpc>
            </a:pPr>
            <a:endParaRPr lang="en-US" altLang="zh-CN" sz="800" b="0" dirty="0">
              <a:sym typeface="Symbol" panose="05050102010706020507" pitchFamily="18" charset="2"/>
            </a:endParaRPr>
          </a:p>
          <a:p>
            <a:pPr>
              <a:lnSpc>
                <a:spcPct val="90000"/>
              </a:lnSpc>
            </a:pPr>
            <a:r>
              <a:rPr lang="en-US" altLang="zh-CN" sz="2400" dirty="0">
                <a:sym typeface="Symbol" panose="05050102010706020507" pitchFamily="18" charset="2"/>
              </a:rPr>
              <a:t>r =r*</a:t>
            </a:r>
            <a:r>
              <a:rPr lang="zh-CN" altLang="en-US" sz="2400" dirty="0">
                <a:sym typeface="Symbol" panose="05050102010706020507" pitchFamily="18" charset="2"/>
              </a:rPr>
              <a:t> (</a:t>
            </a:r>
            <a:r>
              <a:rPr lang="en-US" altLang="zh-CN" sz="2400" dirty="0">
                <a:sym typeface="Symbol" panose="05050102010706020507" pitchFamily="18" charset="2"/>
              </a:rPr>
              <a:t>critical diameter</a:t>
            </a:r>
            <a:r>
              <a:rPr lang="zh-CN" altLang="en-US" sz="2400" dirty="0">
                <a:sym typeface="Symbol" panose="05050102010706020507" pitchFamily="18" charset="2"/>
              </a:rPr>
              <a:t>)</a:t>
            </a:r>
            <a:endParaRPr lang="en-US" altLang="zh-CN" sz="2400" dirty="0">
              <a:sym typeface="Symbol" panose="05050102010706020507" pitchFamily="18" charset="2"/>
            </a:endParaRPr>
          </a:p>
          <a:p>
            <a:pPr>
              <a:lnSpc>
                <a:spcPct val="90000"/>
              </a:lnSpc>
            </a:pPr>
            <a:r>
              <a:rPr lang="en-US" altLang="zh-CN" sz="1800" b="0" dirty="0" err="1"/>
              <a:t>G</a:t>
            </a:r>
            <a:r>
              <a:rPr lang="en-US" altLang="zh-CN" sz="1800" b="0" baseline="-25000" dirty="0" err="1"/>
              <a:t>system</a:t>
            </a:r>
            <a:r>
              <a:rPr lang="en-US" altLang="zh-CN" sz="1800" b="0" dirty="0"/>
              <a:t>= G </a:t>
            </a:r>
            <a:r>
              <a:rPr lang="en-US" altLang="zh-CN" sz="1800" b="0" baseline="-25000" dirty="0"/>
              <a:t>max</a:t>
            </a:r>
            <a:r>
              <a:rPr lang="en-US" altLang="zh-CN" sz="1800" b="0" dirty="0"/>
              <a:t>= G * (critical nucleation energy</a:t>
            </a:r>
            <a:r>
              <a:rPr lang="zh-CN" altLang="en-US" sz="1800" b="0" dirty="0"/>
              <a:t>）；</a:t>
            </a:r>
            <a:r>
              <a:rPr lang="en-US" altLang="zh-CN" sz="1800" b="0" dirty="0">
                <a:sym typeface="Symbol" panose="05050102010706020507" pitchFamily="18" charset="2"/>
              </a:rPr>
              <a:t>disappearance probability = growing up probability</a:t>
            </a:r>
          </a:p>
          <a:p>
            <a:pPr>
              <a:lnSpc>
                <a:spcPct val="90000"/>
              </a:lnSpc>
            </a:pPr>
            <a:r>
              <a:rPr lang="en-US" altLang="zh-CN" sz="1800" b="0" dirty="0">
                <a:sym typeface="Symbol" panose="05050102010706020507" pitchFamily="18" charset="2"/>
              </a:rPr>
              <a:t> </a:t>
            </a:r>
            <a:r>
              <a:rPr lang="zh-CN" altLang="en-US" sz="1800" b="0" dirty="0">
                <a:sym typeface="Symbol" panose="05050102010706020507" pitchFamily="18" charset="2"/>
              </a:rPr>
              <a:t></a:t>
            </a:r>
            <a:r>
              <a:rPr lang="en-US" altLang="zh-CN" sz="1800" b="0" dirty="0">
                <a:sym typeface="Symbol" panose="05050102010706020507" pitchFamily="18" charset="2"/>
              </a:rPr>
              <a:t> Critical state</a:t>
            </a:r>
          </a:p>
          <a:p>
            <a:pPr>
              <a:lnSpc>
                <a:spcPct val="90000"/>
              </a:lnSpc>
            </a:pPr>
            <a:endParaRPr lang="zh-CN" altLang="en-US" sz="800" b="0" dirty="0">
              <a:solidFill>
                <a:srgbClr val="FF0000"/>
              </a:solidFill>
              <a:sym typeface="Symbol" panose="05050102010706020507" pitchFamily="18" charset="2"/>
            </a:endParaRPr>
          </a:p>
          <a:p>
            <a:pPr>
              <a:lnSpc>
                <a:spcPct val="90000"/>
              </a:lnSpc>
            </a:pPr>
            <a:r>
              <a:rPr lang="en-US" altLang="zh-CN" sz="2400" dirty="0">
                <a:sym typeface="Symbol" panose="05050102010706020507" pitchFamily="18" charset="2"/>
              </a:rPr>
              <a:t>r &gt; r*</a:t>
            </a:r>
            <a:r>
              <a:rPr lang="zh-CN" altLang="en-US" sz="2400" dirty="0">
                <a:sym typeface="Symbol" panose="05050102010706020507" pitchFamily="18" charset="2"/>
              </a:rPr>
              <a:t> </a:t>
            </a:r>
            <a:endParaRPr lang="en-US" altLang="zh-CN" sz="2400" dirty="0">
              <a:sym typeface="Symbol" panose="05050102010706020507" pitchFamily="18" charset="2"/>
            </a:endParaRPr>
          </a:p>
          <a:p>
            <a:pPr>
              <a:lnSpc>
                <a:spcPct val="90000"/>
              </a:lnSpc>
            </a:pPr>
            <a:r>
              <a:rPr lang="en-US" altLang="zh-CN" sz="1800" b="0" dirty="0">
                <a:sym typeface="Symbol" panose="05050102010706020507" pitchFamily="18" charset="2"/>
              </a:rPr>
              <a:t>r , </a:t>
            </a:r>
            <a:r>
              <a:rPr lang="en-US" altLang="zh-CN" sz="1800" b="0" dirty="0" err="1"/>
              <a:t>G</a:t>
            </a:r>
            <a:r>
              <a:rPr lang="en-US" altLang="zh-CN" sz="1800" b="0" baseline="-25000" dirty="0" err="1"/>
              <a:t>system</a:t>
            </a:r>
            <a:r>
              <a:rPr lang="en-US" altLang="zh-CN" sz="1800" b="0" dirty="0">
                <a:sym typeface="Symbol" panose="05050102010706020507" pitchFamily="18" charset="2"/>
              </a:rPr>
              <a:t>; </a:t>
            </a:r>
          </a:p>
          <a:p>
            <a:pPr>
              <a:lnSpc>
                <a:spcPct val="90000"/>
              </a:lnSpc>
            </a:pPr>
            <a:r>
              <a:rPr lang="en-US" altLang="zh-CN" sz="1800" b="0" dirty="0">
                <a:sym typeface="Symbol" panose="05050102010706020507" pitchFamily="18" charset="2"/>
              </a:rPr>
              <a:t>disappearance probability &lt; growing up probability</a:t>
            </a:r>
          </a:p>
          <a:p>
            <a:pPr>
              <a:lnSpc>
                <a:spcPct val="90000"/>
              </a:lnSpc>
            </a:pPr>
            <a:r>
              <a:rPr lang="zh-CN" altLang="en-US" sz="1800" b="0" dirty="0">
                <a:sym typeface="Symbol" panose="05050102010706020507" pitchFamily="18" charset="2"/>
              </a:rPr>
              <a:t> </a:t>
            </a:r>
            <a:r>
              <a:rPr lang="en-US" altLang="zh-CN" sz="1800" b="0" dirty="0">
                <a:solidFill>
                  <a:srgbClr val="FF0000"/>
                </a:solidFill>
                <a:sym typeface="Symbol" panose="05050102010706020507" pitchFamily="18" charset="2"/>
              </a:rPr>
              <a:t>Embryos can grow up as nuclei.</a:t>
            </a:r>
            <a:endParaRPr lang="zh-CN" altLang="en-US" sz="1800" b="0" dirty="0">
              <a:solidFill>
                <a:srgbClr val="FF0000"/>
              </a:solidFill>
              <a:sym typeface="Symbol" panose="05050102010706020507" pitchFamily="18" charset="2"/>
            </a:endParaRPr>
          </a:p>
        </p:txBody>
      </p:sp>
      <p:sp>
        <p:nvSpPr>
          <p:cNvPr id="6" name="Rectangle 2"/>
          <p:cNvSpPr>
            <a:spLocks noGrp="1" noChangeArrowheads="1"/>
          </p:cNvSpPr>
          <p:nvPr>
            <p:ph type="title"/>
          </p:nvPr>
        </p:nvSpPr>
        <p:spPr>
          <a:xfrm>
            <a:off x="971550" y="476250"/>
            <a:ext cx="7200900" cy="650875"/>
          </a:xfrm>
        </p:spPr>
        <p:txBody>
          <a:bodyPr>
            <a:normAutofit fontScale="90000"/>
          </a:bodyPr>
          <a:lstStyle/>
          <a:p>
            <a:pPr>
              <a:defRPr/>
            </a:pPr>
            <a:r>
              <a:rPr lang="en-US" altLang="zh-CN" dirty="0"/>
              <a:t>In the system, if there is a crystal embryo with a radius of r...</a:t>
            </a:r>
            <a:endParaRPr lang="zh-CN" altLang="en-US" cap="none" dirty="0"/>
          </a:p>
        </p:txBody>
      </p:sp>
      <p:sp>
        <p:nvSpPr>
          <p:cNvPr id="2" name="Rectangle 1"/>
          <p:cNvSpPr/>
          <p:nvPr/>
        </p:nvSpPr>
        <p:spPr>
          <a:xfrm>
            <a:off x="5636776" y="2398948"/>
            <a:ext cx="1200970" cy="461665"/>
          </a:xfrm>
          <a:prstGeom prst="rect">
            <a:avLst/>
          </a:prstGeom>
          <a:solidFill>
            <a:schemeClr val="bg1"/>
          </a:solidFill>
        </p:spPr>
        <p:txBody>
          <a:bodyPr wrap="none">
            <a:spAutoFit/>
          </a:bodyPr>
          <a:lstStyle/>
          <a:p>
            <a:r>
              <a:rPr lang="en-US" altLang="zh-CN" dirty="0">
                <a:solidFill>
                  <a:srgbClr val="FF0000"/>
                </a:solidFill>
                <a:sym typeface="Symbol" panose="05050102010706020507" pitchFamily="18" charset="2"/>
              </a:rPr>
              <a:t>embryo </a:t>
            </a:r>
            <a:endParaRPr lang="en-US" dirty="0"/>
          </a:p>
        </p:txBody>
      </p:sp>
      <p:sp>
        <p:nvSpPr>
          <p:cNvPr id="13" name="Rectangle 12"/>
          <p:cNvSpPr/>
          <p:nvPr/>
        </p:nvSpPr>
        <p:spPr>
          <a:xfrm>
            <a:off x="7531362" y="2398948"/>
            <a:ext cx="1463862" cy="461665"/>
          </a:xfrm>
          <a:prstGeom prst="rect">
            <a:avLst/>
          </a:prstGeom>
          <a:solidFill>
            <a:schemeClr val="bg1"/>
          </a:solidFill>
        </p:spPr>
        <p:txBody>
          <a:bodyPr wrap="none">
            <a:spAutoFit/>
          </a:bodyPr>
          <a:lstStyle/>
          <a:p>
            <a:r>
              <a:rPr lang="en-US" altLang="zh-CN" dirty="0">
                <a:solidFill>
                  <a:srgbClr val="FF0000"/>
                </a:solidFill>
                <a:sym typeface="Symbol" panose="05050102010706020507" pitchFamily="18" charset="2"/>
              </a:rPr>
              <a:t>nucleation</a:t>
            </a:r>
            <a:endParaRPr lang="en-US" dirty="0"/>
          </a:p>
        </p:txBody>
      </p:sp>
      <p:sp>
        <p:nvSpPr>
          <p:cNvPr id="14" name="Rectangle 13"/>
          <p:cNvSpPr/>
          <p:nvPr/>
        </p:nvSpPr>
        <p:spPr>
          <a:xfrm>
            <a:off x="6175495" y="1331453"/>
            <a:ext cx="2740687" cy="461665"/>
          </a:xfrm>
          <a:prstGeom prst="rect">
            <a:avLst/>
          </a:prstGeom>
          <a:solidFill>
            <a:schemeClr val="bg1"/>
          </a:solidFill>
        </p:spPr>
        <p:txBody>
          <a:bodyPr wrap="none">
            <a:spAutoFit/>
          </a:bodyPr>
          <a:lstStyle/>
          <a:p>
            <a:r>
              <a:rPr lang="en-US" altLang="zh-CN" b="1" dirty="0">
                <a:solidFill>
                  <a:srgbClr val="00B050"/>
                </a:solidFill>
                <a:sym typeface="Symbol" panose="05050102010706020507" pitchFamily="18" charset="2"/>
              </a:rPr>
              <a:t>Surface free energy</a:t>
            </a:r>
            <a:endParaRPr lang="en-US" b="1" dirty="0">
              <a:solidFill>
                <a:srgbClr val="00B050"/>
              </a:solidFill>
            </a:endParaRPr>
          </a:p>
        </p:txBody>
      </p:sp>
      <p:sp>
        <p:nvSpPr>
          <p:cNvPr id="15" name="Rectangle 14"/>
          <p:cNvSpPr/>
          <p:nvPr/>
        </p:nvSpPr>
        <p:spPr>
          <a:xfrm>
            <a:off x="5614172" y="5281900"/>
            <a:ext cx="2730043" cy="461665"/>
          </a:xfrm>
          <a:prstGeom prst="rect">
            <a:avLst/>
          </a:prstGeom>
          <a:solidFill>
            <a:schemeClr val="bg1"/>
          </a:solidFill>
        </p:spPr>
        <p:txBody>
          <a:bodyPr wrap="none">
            <a:spAutoFit/>
          </a:bodyPr>
          <a:lstStyle/>
          <a:p>
            <a:r>
              <a:rPr lang="en-US" altLang="zh-CN" b="1" dirty="0">
                <a:solidFill>
                  <a:srgbClr val="00B050"/>
                </a:solidFill>
                <a:sym typeface="Symbol" panose="05050102010706020507" pitchFamily="18" charset="2"/>
              </a:rPr>
              <a:t>Volume free energy</a:t>
            </a:r>
            <a:endParaRPr lang="en-US" b="1" dirty="0">
              <a:solidFill>
                <a:srgbClr val="00B05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 name="Rectangle 21"/>
          <p:cNvSpPr/>
          <p:nvPr/>
        </p:nvSpPr>
        <p:spPr>
          <a:xfrm>
            <a:off x="4102100" y="6049963"/>
            <a:ext cx="3278188" cy="80803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Rectangle 18"/>
          <p:cNvSpPr/>
          <p:nvPr/>
        </p:nvSpPr>
        <p:spPr>
          <a:xfrm>
            <a:off x="1046163" y="6086475"/>
            <a:ext cx="2311400" cy="71437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Rectangle 2"/>
          <p:cNvSpPr/>
          <p:nvPr/>
        </p:nvSpPr>
        <p:spPr>
          <a:xfrm>
            <a:off x="1030288" y="2951163"/>
            <a:ext cx="2749550" cy="52228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866" name="Rectangle 2"/>
          <p:cNvSpPr>
            <a:spLocks noGrp="1" noChangeArrowheads="1"/>
          </p:cNvSpPr>
          <p:nvPr>
            <p:ph type="title"/>
          </p:nvPr>
        </p:nvSpPr>
        <p:spPr>
          <a:xfrm>
            <a:off x="323850" y="260350"/>
            <a:ext cx="8572500" cy="615950"/>
          </a:xfrm>
        </p:spPr>
        <p:txBody>
          <a:bodyPr>
            <a:noAutofit/>
          </a:bodyPr>
          <a:lstStyle/>
          <a:p>
            <a:pPr>
              <a:defRPr/>
            </a:pPr>
            <a:r>
              <a:rPr lang="en-US" altLang="zh-CN" sz="2800" dirty="0">
                <a:effectLst/>
                <a:latin typeface="Times New Roman" panose="02020603050405020304" pitchFamily="18" charset="0"/>
                <a:cs typeface="Times New Roman" panose="02020603050405020304" pitchFamily="18" charset="0"/>
              </a:rPr>
              <a:t>The relationship between </a:t>
            </a:r>
            <a:r>
              <a:rPr altLang="zh-CN" sz="2800" cap="none" dirty="0">
                <a:effectLst/>
                <a:latin typeface="Times New Roman" panose="02020603050405020304" pitchFamily="18" charset="0"/>
                <a:cs typeface="Times New Roman" panose="02020603050405020304" pitchFamily="18" charset="0"/>
                <a:sym typeface="Symbol" panose="05050102010706020507" pitchFamily="18" charset="2"/>
              </a:rPr>
              <a:t>r*</a:t>
            </a:r>
            <a:r>
              <a:rPr lang="zh-CN" altLang="en-US" sz="2800" cap="none" dirty="0">
                <a:effectLst/>
                <a:latin typeface="Times New Roman" panose="02020603050405020304" pitchFamily="18" charset="0"/>
                <a:cs typeface="Times New Roman" panose="02020603050405020304" pitchFamily="18" charset="0"/>
                <a:sym typeface="Symbol" panose="05050102010706020507" pitchFamily="18" charset="2"/>
              </a:rPr>
              <a:t> 、∆</a:t>
            </a:r>
            <a:r>
              <a:rPr altLang="zh-CN" sz="2800" cap="none" dirty="0">
                <a:effectLst/>
                <a:latin typeface="Times New Roman" panose="02020603050405020304" pitchFamily="18" charset="0"/>
                <a:cs typeface="Times New Roman" panose="02020603050405020304" pitchFamily="18" charset="0"/>
              </a:rPr>
              <a:t>G</a:t>
            </a:r>
            <a:r>
              <a:rPr lang="zh-CN" altLang="en-US" sz="2800" cap="none" dirty="0">
                <a:effectLst/>
                <a:latin typeface="Times New Roman" panose="02020603050405020304" pitchFamily="18" charset="0"/>
                <a:cs typeface="Times New Roman" panose="02020603050405020304" pitchFamily="18" charset="0"/>
              </a:rPr>
              <a:t>* </a:t>
            </a:r>
            <a:r>
              <a:rPr lang="en-US" altLang="zh-CN" sz="2800" cap="none" dirty="0">
                <a:effectLst/>
                <a:latin typeface="Times New Roman" panose="02020603050405020304" pitchFamily="18" charset="0"/>
                <a:cs typeface="Times New Roman" panose="02020603050405020304" pitchFamily="18" charset="0"/>
              </a:rPr>
              <a:t>and </a:t>
            </a:r>
            <a:r>
              <a:rPr lang="zh-CN" altLang="en-US" sz="2800" cap="none" dirty="0">
                <a:effectLst/>
                <a:latin typeface="Times New Roman" panose="02020603050405020304" pitchFamily="18" charset="0"/>
                <a:cs typeface="Times New Roman" panose="02020603050405020304" pitchFamily="18" charset="0"/>
                <a:sym typeface="Symbol" panose="05050102010706020507" pitchFamily="18" charset="2"/>
              </a:rPr>
              <a:t>∆</a:t>
            </a:r>
            <a:r>
              <a:rPr altLang="zh-CN" sz="2800" cap="none" dirty="0">
                <a:effectLst/>
                <a:latin typeface="Times New Roman" panose="02020603050405020304" pitchFamily="18" charset="0"/>
                <a:cs typeface="Times New Roman" panose="02020603050405020304" pitchFamily="18" charset="0"/>
                <a:sym typeface="Symbol" panose="05050102010706020507" pitchFamily="18" charset="2"/>
              </a:rPr>
              <a:t>T</a:t>
            </a:r>
          </a:p>
        </p:txBody>
      </p:sp>
      <p:sp>
        <p:nvSpPr>
          <p:cNvPr id="36867" name="Rectangle 3"/>
          <p:cNvSpPr>
            <a:spLocks noGrp="1" noRot="1" noChangeAspect="1" noMove="1" noResize="1" noEditPoints="1" noAdjustHandles="1" noChangeArrowheads="1" noChangeShapeType="1" noTextEdit="1"/>
          </p:cNvSpPr>
          <p:nvPr>
            <p:ph type="body" idx="1"/>
          </p:nvPr>
        </p:nvSpPr>
        <p:spPr>
          <a:xfrm>
            <a:off x="1002122" y="1093738"/>
            <a:ext cx="7772400" cy="3847430"/>
          </a:xfrm>
          <a:blipFill rotWithShape="1">
            <a:blip r:embed="rId3"/>
            <a:stretch>
              <a:fillRect l="-1569" t="-2057"/>
            </a:stretch>
          </a:blipFill>
        </p:spPr>
        <p:txBody>
          <a:bodyPr/>
          <a:lstStyle/>
          <a:p>
            <a:r>
              <a:rPr lang="en-US" dirty="0">
                <a:noFill/>
              </a:rPr>
              <a:t> </a:t>
            </a:r>
          </a:p>
        </p:txBody>
      </p:sp>
      <p:sp>
        <p:nvSpPr>
          <p:cNvPr id="36871" name="Rectangle 7"/>
          <p:cNvSpPr>
            <a:spLocks noChangeArrowheads="1"/>
          </p:cNvSpPr>
          <p:nvPr/>
        </p:nvSpPr>
        <p:spPr bwMode="auto">
          <a:xfrm>
            <a:off x="1030288" y="2978150"/>
            <a:ext cx="274637"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Aft>
                <a:spcPct val="0"/>
              </a:spcAft>
              <a:buClr>
                <a:srgbClr val="A50021"/>
              </a:buClr>
              <a:buSzPct val="75000"/>
              <a:defRPr/>
            </a:pPr>
            <a:r>
              <a:rPr lang="en-US" altLang="zh-CN" sz="2800" i="1" dirty="0">
                <a:latin typeface="Times New Roman" panose="02020603050405020304" pitchFamily="18" charset="0"/>
                <a:ea typeface="+mn-ea"/>
                <a:cs typeface="Times New Roman" panose="02020603050405020304" pitchFamily="18" charset="0"/>
              </a:rPr>
              <a:t> </a:t>
            </a:r>
            <a:endParaRPr lang="zh-CN" altLang="en-US" sz="2800" i="1" dirty="0">
              <a:latin typeface="Times New Roman" panose="02020603050405020304" pitchFamily="18" charset="0"/>
              <a:ea typeface="+mn-ea"/>
              <a:cs typeface="Times New Roman" panose="02020603050405020304" pitchFamily="18" charset="0"/>
            </a:endParaRPr>
          </a:p>
        </p:txBody>
      </p:sp>
      <p:pic>
        <p:nvPicPr>
          <p:cNvPr id="19464" name="Picture 8" descr="\Delta G_v=\Delta H_v - T \Delta S_v"/>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603625"/>
            <a:ext cx="31877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5" name="Picture 12" descr="\Delta G_v = 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0788" y="4167188"/>
            <a:ext cx="127158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6" name="Picture 14" descr="\Delta S_v=\frac{\Delta H_v}{T_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9563" y="3941763"/>
            <a:ext cx="1728787"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7" name="Picture 18" descr="\Delta G_v=\Delta H_v - T(\frac{\Delta H_v}{T_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9825" y="4684713"/>
            <a:ext cx="2962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8" name="Picture 20" descr="\Delta G_v=\frac{\Delta H_v}{T_m}\Delta 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5327650"/>
            <a:ext cx="19939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9" name="Picture 22" descr="\Delta T = T_m-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16288" y="5511800"/>
            <a:ext cx="1722437"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0" name="TextBox 1"/>
          <p:cNvSpPr txBox="1">
            <a:spLocks noChangeArrowheads="1"/>
          </p:cNvSpPr>
          <p:nvPr/>
        </p:nvSpPr>
        <p:spPr bwMode="auto">
          <a:xfrm>
            <a:off x="3059113" y="5373688"/>
            <a:ext cx="2619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en-US"/>
              <a:t>,</a:t>
            </a:r>
          </a:p>
        </p:txBody>
      </p:sp>
      <p:pic>
        <p:nvPicPr>
          <p:cNvPr id="19471" name="Picture 24" descr="r^* = -\frac{2 \sigma T_m}{\Delta H_v} \frac{1}{\Delta T}"/>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66813" y="6167438"/>
            <a:ext cx="2044700"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2" name="Picture 26" descr="\Delta G^* = \frac{16 \pi \sigma ^3 T_m^2}{3\Delta H_v^2} \frac{1}{(\Delta T)^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30675" y="6102350"/>
            <a:ext cx="31813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urved Left Arrow 3"/>
          <p:cNvSpPr/>
          <p:nvPr/>
        </p:nvSpPr>
        <p:spPr>
          <a:xfrm rot="10800000">
            <a:off x="211138" y="3027363"/>
            <a:ext cx="777875" cy="264477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2" name="Rectangle 1"/>
          <p:cNvSpPr/>
          <p:nvPr/>
        </p:nvSpPr>
        <p:spPr>
          <a:xfrm>
            <a:off x="1844984" y="1211974"/>
            <a:ext cx="432048"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355976" y="1772816"/>
            <a:ext cx="792088" cy="461665"/>
          </a:xfrm>
          <a:prstGeom prst="rect">
            <a:avLst/>
          </a:prstGeom>
          <a:solidFill>
            <a:schemeClr val="bg1"/>
          </a:solidFill>
        </p:spPr>
        <p:txBody>
          <a:bodyPr wrap="square" rtlCol="0">
            <a:spAutoFit/>
          </a:bodyPr>
          <a:lstStyle/>
          <a:p>
            <a:pPr algn="ctr"/>
            <a:r>
              <a:rPr lang="en-US" dirty="0"/>
              <a:t>So</a:t>
            </a:r>
          </a:p>
        </p:txBody>
      </p:sp>
      <p:sp>
        <p:nvSpPr>
          <p:cNvPr id="20" name="TextBox 19"/>
          <p:cNvSpPr txBox="1"/>
          <p:nvPr/>
        </p:nvSpPr>
        <p:spPr>
          <a:xfrm>
            <a:off x="683568" y="4045899"/>
            <a:ext cx="4331965" cy="461665"/>
          </a:xfrm>
          <a:prstGeom prst="rect">
            <a:avLst/>
          </a:prstGeom>
          <a:solidFill>
            <a:schemeClr val="bg1"/>
          </a:solidFill>
        </p:spPr>
        <p:txBody>
          <a:bodyPr wrap="square" rtlCol="0">
            <a:spAutoFit/>
          </a:bodyPr>
          <a:lstStyle/>
          <a:p>
            <a:pPr algn="ctr"/>
            <a:r>
              <a:rPr lang="en-US" b="1" dirty="0"/>
              <a:t>When T= Tm (melting point),</a:t>
            </a:r>
          </a:p>
        </p:txBody>
      </p:sp>
      <p:sp>
        <p:nvSpPr>
          <p:cNvPr id="6" name="TextBox 5"/>
          <p:cNvSpPr txBox="1"/>
          <p:nvPr/>
        </p:nvSpPr>
        <p:spPr>
          <a:xfrm>
            <a:off x="5741194" y="2305259"/>
            <a:ext cx="3067699" cy="1200329"/>
          </a:xfrm>
          <a:prstGeom prst="rect">
            <a:avLst/>
          </a:prstGeom>
          <a:solidFill>
            <a:schemeClr val="bg2"/>
          </a:solidFill>
        </p:spPr>
        <p:txBody>
          <a:bodyPr wrap="none" rtlCol="0">
            <a:spAutoFit/>
          </a:bodyPr>
          <a:lstStyle/>
          <a:p>
            <a:r>
              <a:rPr lang="en-US" altLang="zh-CN" b="1" dirty="0"/>
              <a:t>G</a:t>
            </a:r>
            <a:r>
              <a:rPr lang="zh-CN" altLang="en-US" b="1" dirty="0"/>
              <a:t>：</a:t>
            </a:r>
            <a:r>
              <a:rPr lang="en-US" altLang="zh-CN" b="1" dirty="0"/>
              <a:t>Gibbs free energy</a:t>
            </a:r>
          </a:p>
          <a:p>
            <a:r>
              <a:rPr lang="en-US" altLang="zh-CN" b="1" dirty="0"/>
              <a:t>H</a:t>
            </a:r>
            <a:r>
              <a:rPr lang="zh-CN" altLang="en-US" b="1" dirty="0"/>
              <a:t>：</a:t>
            </a:r>
            <a:r>
              <a:rPr lang="en-US" altLang="zh-CN" b="1" dirty="0"/>
              <a:t>Enthalpy </a:t>
            </a:r>
            <a:r>
              <a:rPr lang="zh-CN" altLang="en-US" b="1" dirty="0"/>
              <a:t>（焓）</a:t>
            </a:r>
            <a:endParaRPr lang="en-US" b="1" dirty="0"/>
          </a:p>
          <a:p>
            <a:r>
              <a:rPr lang="en-US" altLang="zh-CN" b="1" dirty="0"/>
              <a:t>S</a:t>
            </a:r>
            <a:r>
              <a:rPr lang="zh-CN" altLang="en-US" b="1" dirty="0"/>
              <a:t>：</a:t>
            </a:r>
            <a:r>
              <a:rPr lang="en-US" altLang="zh-CN" b="1" dirty="0"/>
              <a:t> E</a:t>
            </a:r>
            <a:r>
              <a:rPr lang="en-US" b="1" dirty="0"/>
              <a:t>ntropy </a:t>
            </a:r>
            <a:r>
              <a:rPr lang="zh-CN" altLang="en-US" b="1" dirty="0"/>
              <a:t>（熵）</a:t>
            </a:r>
            <a:endParaRPr lang="en-US" b="1" dirty="0"/>
          </a:p>
        </p:txBody>
      </p:sp>
      <p:sp>
        <p:nvSpPr>
          <p:cNvPr id="23" name="TextBox 22"/>
          <p:cNvSpPr txBox="1"/>
          <p:nvPr/>
        </p:nvSpPr>
        <p:spPr>
          <a:xfrm>
            <a:off x="5764246" y="4733414"/>
            <a:ext cx="3044647" cy="1200329"/>
          </a:xfrm>
          <a:prstGeom prst="rect">
            <a:avLst/>
          </a:prstGeom>
          <a:solidFill>
            <a:schemeClr val="tx2"/>
          </a:solidFill>
        </p:spPr>
        <p:txBody>
          <a:bodyPr wrap="square" rtlCol="0">
            <a:spAutoFit/>
          </a:bodyPr>
          <a:lstStyle/>
          <a:p>
            <a:r>
              <a:rPr lang="en-US" altLang="zh-CN" b="1" dirty="0">
                <a:solidFill>
                  <a:schemeClr val="bg1"/>
                </a:solidFill>
              </a:rPr>
              <a:t>MP</a:t>
            </a:r>
            <a:r>
              <a:rPr lang="zh-CN" altLang="en-US" b="1" dirty="0">
                <a:solidFill>
                  <a:schemeClr val="bg1"/>
                </a:solidFill>
              </a:rPr>
              <a:t>：</a:t>
            </a:r>
            <a:r>
              <a:rPr lang="en-US" altLang="zh-CN" b="1" dirty="0">
                <a:solidFill>
                  <a:schemeClr val="bg1"/>
                </a:solidFill>
              </a:rPr>
              <a:t>learn and share the knowledge about G, H and S </a:t>
            </a:r>
            <a:endParaRPr lang="en-US" b="1" dirty="0">
              <a:solidFill>
                <a:schemeClr val="bg1"/>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81063" y="3519780"/>
            <a:ext cx="4339009" cy="156540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8312" y="476673"/>
            <a:ext cx="8136135" cy="1118766"/>
          </a:xfrm>
        </p:spPr>
        <p:txBody>
          <a:bodyPr>
            <a:normAutofit/>
          </a:bodyPr>
          <a:lstStyle/>
          <a:p>
            <a:pPr>
              <a:defRPr/>
            </a:pPr>
            <a:r>
              <a:rPr lang="en-US" altLang="zh-CN" dirty="0"/>
              <a:t>Critical nucleation energy Δ</a:t>
            </a:r>
            <a:r>
              <a:rPr kumimoji="0" lang="en-US" altLang="zh-CN" i="1" dirty="0">
                <a:latin typeface="Arial" panose="020B0604020202020204" pitchFamily="34" charset="0"/>
                <a:ea typeface="黑体" panose="02010609060101010101" pitchFamily="49" charset="-122"/>
              </a:rPr>
              <a:t>G </a:t>
            </a:r>
            <a:r>
              <a:rPr lang="zh-CN" altLang="en-US" dirty="0">
                <a:effectLst>
                  <a:outerShdw blurRad="38100" dist="38100" dir="2700000" algn="tl">
                    <a:srgbClr val="000000">
                      <a:alpha val="43137"/>
                    </a:srgbClr>
                  </a:outerShdw>
                </a:effectLst>
              </a:rPr>
              <a:t>*</a:t>
            </a:r>
            <a:r>
              <a:rPr lang="en-US" altLang="zh-CN" dirty="0"/>
              <a:t> and nucleus surface energy Δ</a:t>
            </a:r>
            <a:r>
              <a:rPr kumimoji="0" lang="en-US" altLang="zh-CN" i="1" dirty="0">
                <a:latin typeface="Arial" panose="020B0604020202020204" pitchFamily="34" charset="0"/>
                <a:ea typeface="黑体" panose="02010609060101010101" pitchFamily="49" charset="-122"/>
              </a:rPr>
              <a:t>G</a:t>
            </a:r>
            <a:r>
              <a:rPr kumimoji="0" lang="en-US" altLang="zh-CN" i="1" baseline="-25000" dirty="0">
                <a:latin typeface="Arial" panose="020B0604020202020204" pitchFamily="34" charset="0"/>
                <a:ea typeface="黑体" panose="02010609060101010101" pitchFamily="49" charset="-122"/>
              </a:rPr>
              <a:t>S</a:t>
            </a:r>
            <a:r>
              <a:rPr lang="zh-CN" altLang="en-US" dirty="0">
                <a:effectLst>
                  <a:outerShdw blurRad="38100" dist="38100" dir="2700000" algn="tl">
                    <a:srgbClr val="000000">
                      <a:alpha val="43137"/>
                    </a:srgbClr>
                  </a:outerShdw>
                </a:effectLst>
              </a:rPr>
              <a:t> *</a:t>
            </a:r>
            <a:endParaRPr dirty="0"/>
          </a:p>
        </p:txBody>
      </p:sp>
      <p:pic>
        <p:nvPicPr>
          <p:cNvPr id="20483" name="Picture 26" descr="\Delta G^* = \frac{16 \pi \sigma ^3 T_m^2}{3\Delta H_v^2} \frac{1}{(\Delta T)^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063" y="1953270"/>
            <a:ext cx="318293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24" descr="r^* = -\frac{2 \sigma T_m}{\Delta H_v} \frac{1}{\Delta 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2015183"/>
            <a:ext cx="2044700"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Box 6"/>
          <p:cNvSpPr txBox="1">
            <a:spLocks noChangeArrowheads="1"/>
          </p:cNvSpPr>
          <p:nvPr/>
        </p:nvSpPr>
        <p:spPr bwMode="auto">
          <a:xfrm>
            <a:off x="4064000" y="210090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a:t>
            </a:r>
            <a:endParaRPr lang="en-US" altLang="en-US"/>
          </a:p>
        </p:txBody>
      </p:sp>
      <p:sp>
        <p:nvSpPr>
          <p:cNvPr id="8" name="TextBox 7"/>
          <p:cNvSpPr txBox="1"/>
          <p:nvPr/>
        </p:nvSpPr>
        <p:spPr>
          <a:xfrm>
            <a:off x="881063" y="3519780"/>
            <a:ext cx="8083425" cy="3026470"/>
          </a:xfrm>
          <a:prstGeom prst="rect">
            <a:avLst/>
          </a:prstGeom>
          <a:noFill/>
        </p:spPr>
        <p:txBody>
          <a:bodyPr wrap="square">
            <a:spAutoFit/>
          </a:bodyPr>
          <a:lstStyle/>
          <a:p>
            <a:pPr>
              <a:defRPr/>
            </a:pPr>
            <a:r>
              <a:rPr lang="en-US" sz="2800" b="1" dirty="0">
                <a:solidFill>
                  <a:srgbClr val="FF0066"/>
                </a:solidFill>
                <a:effectLst>
                  <a:outerShdw blurRad="38100" dist="38100" dir="2700000" algn="tl">
                    <a:srgbClr val="000000">
                      <a:alpha val="43137"/>
                    </a:srgbClr>
                  </a:outerShdw>
                </a:effectLst>
              </a:rPr>
              <a:t>∆</a:t>
            </a:r>
            <a:r>
              <a:rPr lang="en-US" altLang="zh-CN" sz="2800" b="1" dirty="0">
                <a:solidFill>
                  <a:srgbClr val="FF0066"/>
                </a:solidFill>
                <a:effectLst>
                  <a:outerShdw blurRad="38100" dist="38100" dir="2700000" algn="tl">
                    <a:srgbClr val="000000">
                      <a:alpha val="43137"/>
                    </a:srgbClr>
                  </a:outerShdw>
                </a:effectLst>
              </a:rPr>
              <a:t>G</a:t>
            </a:r>
            <a:r>
              <a:rPr lang="zh-CN" altLang="en-US" sz="2800" b="1" dirty="0">
                <a:solidFill>
                  <a:srgbClr val="FF0066"/>
                </a:solidFill>
                <a:effectLst>
                  <a:outerShdw blurRad="38100" dist="38100" dir="2700000" algn="tl">
                    <a:srgbClr val="000000">
                      <a:alpha val="43137"/>
                    </a:srgbClr>
                  </a:outerShdw>
                </a:effectLst>
              </a:rPr>
              <a:t>* </a:t>
            </a:r>
            <a:r>
              <a:rPr lang="en-US" altLang="zh-CN" sz="2800" b="1" dirty="0">
                <a:solidFill>
                  <a:srgbClr val="FF0066"/>
                </a:solidFill>
                <a:effectLst>
                  <a:outerShdw blurRad="38100" dist="38100" dir="2700000" algn="tl">
                    <a:srgbClr val="000000">
                      <a:alpha val="43137"/>
                    </a:srgbClr>
                  </a:outerShdw>
                </a:effectLst>
              </a:rPr>
              <a:t>= 4</a:t>
            </a:r>
            <a:r>
              <a:rPr lang="el-GR" altLang="zh-CN" sz="2800" b="1" dirty="0">
                <a:solidFill>
                  <a:srgbClr val="FF0066"/>
                </a:solidFill>
                <a:effectLst>
                  <a:outerShdw blurRad="38100" dist="38100" dir="2700000" algn="tl">
                    <a:srgbClr val="000000">
                      <a:alpha val="43137"/>
                    </a:srgbClr>
                  </a:outerShdw>
                </a:effectLst>
              </a:rPr>
              <a:t>π</a:t>
            </a:r>
            <a:r>
              <a:rPr lang="en-US" altLang="zh-CN" sz="2800" b="1" dirty="0">
                <a:solidFill>
                  <a:srgbClr val="FF0066"/>
                </a:solidFill>
                <a:effectLst>
                  <a:outerShdw blurRad="38100" dist="38100" dir="2700000" algn="tl">
                    <a:srgbClr val="000000">
                      <a:alpha val="43137"/>
                    </a:srgbClr>
                  </a:outerShdw>
                </a:effectLst>
              </a:rPr>
              <a:t>(</a:t>
            </a:r>
            <a:r>
              <a:rPr lang="en-US" altLang="zh-CN" sz="2800" b="1" i="1" dirty="0">
                <a:solidFill>
                  <a:srgbClr val="FF0066"/>
                </a:solidFill>
                <a:effectLst>
                  <a:outerShdw blurRad="38100" dist="38100" dir="2700000" algn="tl">
                    <a:srgbClr val="000000">
                      <a:alpha val="43137"/>
                    </a:srgbClr>
                  </a:outerShdw>
                </a:effectLst>
              </a:rPr>
              <a:t>r</a:t>
            </a:r>
            <a:r>
              <a:rPr lang="zh-CN" altLang="en-US" sz="2800" b="1" baseline="30000" dirty="0">
                <a:solidFill>
                  <a:srgbClr val="FF0066"/>
                </a:solidFill>
                <a:effectLst>
                  <a:outerShdw blurRad="38100" dist="38100" dir="2700000" algn="tl">
                    <a:srgbClr val="000000">
                      <a:alpha val="43137"/>
                    </a:srgbClr>
                  </a:outerShdw>
                </a:effectLst>
              </a:rPr>
              <a:t>*</a:t>
            </a:r>
            <a:r>
              <a:rPr lang="en-US" altLang="zh-CN" sz="2800" b="1" dirty="0">
                <a:solidFill>
                  <a:srgbClr val="FF0066"/>
                </a:solidFill>
                <a:effectLst>
                  <a:outerShdw blurRad="38100" dist="38100" dir="2700000" algn="tl">
                    <a:srgbClr val="000000">
                      <a:alpha val="43137"/>
                    </a:srgbClr>
                  </a:outerShdw>
                </a:effectLst>
              </a:rPr>
              <a:t>)</a:t>
            </a:r>
            <a:r>
              <a:rPr lang="en-US" altLang="zh-CN" sz="2800" b="1" baseline="30000" dirty="0">
                <a:solidFill>
                  <a:srgbClr val="FF0066"/>
                </a:solidFill>
                <a:effectLst>
                  <a:outerShdw blurRad="38100" dist="38100" dir="2700000" algn="tl">
                    <a:srgbClr val="000000">
                      <a:alpha val="43137"/>
                    </a:srgbClr>
                  </a:outerShdw>
                </a:effectLst>
              </a:rPr>
              <a:t>2</a:t>
            </a:r>
            <a:r>
              <a:rPr lang="en-US" altLang="zh-CN" sz="2800" b="1" dirty="0">
                <a:solidFill>
                  <a:srgbClr val="FF0066"/>
                </a:solidFill>
                <a:effectLst>
                  <a:outerShdw blurRad="38100" dist="38100" dir="2700000" algn="tl">
                    <a:srgbClr val="000000">
                      <a:alpha val="43137"/>
                    </a:srgbClr>
                  </a:outerShdw>
                </a:effectLst>
              </a:rPr>
              <a:t>∙</a:t>
            </a:r>
            <a:r>
              <a:rPr lang="el-GR" altLang="zh-CN" sz="2800" b="1" dirty="0">
                <a:solidFill>
                  <a:srgbClr val="FF0066"/>
                </a:solidFill>
                <a:effectLst>
                  <a:outerShdw blurRad="38100" dist="38100" dir="2700000" algn="tl">
                    <a:srgbClr val="000000">
                      <a:alpha val="43137"/>
                    </a:srgbClr>
                  </a:outerShdw>
                </a:effectLst>
              </a:rPr>
              <a:t>σ</a:t>
            </a:r>
            <a:r>
              <a:rPr lang="en-US" altLang="zh-CN" sz="2800" b="1" dirty="0">
                <a:solidFill>
                  <a:srgbClr val="FF0066"/>
                </a:solidFill>
                <a:effectLst>
                  <a:outerShdw blurRad="38100" dist="38100" dir="2700000" algn="tl">
                    <a:srgbClr val="000000">
                      <a:alpha val="43137"/>
                    </a:srgbClr>
                  </a:outerShdw>
                </a:effectLst>
              </a:rPr>
              <a:t>/3 = A</a:t>
            </a:r>
            <a:r>
              <a:rPr lang="en-US" altLang="zh-CN" sz="2800" b="1" baseline="30000" dirty="0">
                <a:solidFill>
                  <a:srgbClr val="FF0066"/>
                </a:solidFill>
                <a:effectLst>
                  <a:outerShdw blurRad="38100" dist="38100" dir="2700000" algn="tl">
                    <a:srgbClr val="000000">
                      <a:alpha val="43137"/>
                    </a:srgbClr>
                  </a:outerShdw>
                </a:effectLst>
              </a:rPr>
              <a:t>*</a:t>
            </a:r>
            <a:r>
              <a:rPr lang="en-US" altLang="zh-CN" sz="2800" b="1" dirty="0">
                <a:solidFill>
                  <a:srgbClr val="FF0066"/>
                </a:solidFill>
                <a:effectLst>
                  <a:outerShdw blurRad="38100" dist="38100" dir="2700000" algn="tl">
                    <a:srgbClr val="000000">
                      <a:alpha val="43137"/>
                    </a:srgbClr>
                  </a:outerShdw>
                </a:effectLst>
              </a:rPr>
              <a:t> ∙</a:t>
            </a:r>
            <a:r>
              <a:rPr lang="el-GR" altLang="zh-CN" sz="2800" b="1" dirty="0">
                <a:solidFill>
                  <a:srgbClr val="FF0066"/>
                </a:solidFill>
                <a:effectLst>
                  <a:outerShdw blurRad="38100" dist="38100" dir="2700000" algn="tl">
                    <a:srgbClr val="000000">
                      <a:alpha val="43137"/>
                    </a:srgbClr>
                  </a:outerShdw>
                </a:effectLst>
              </a:rPr>
              <a:t>σ</a:t>
            </a:r>
            <a:r>
              <a:rPr lang="en-US" altLang="zh-CN" sz="2800" b="1" dirty="0">
                <a:solidFill>
                  <a:srgbClr val="FF0066"/>
                </a:solidFill>
                <a:effectLst>
                  <a:outerShdw blurRad="38100" dist="38100" dir="2700000" algn="tl">
                    <a:srgbClr val="000000">
                      <a:alpha val="43137"/>
                    </a:srgbClr>
                  </a:outerShdw>
                </a:effectLst>
              </a:rPr>
              <a:t>/3</a:t>
            </a:r>
          </a:p>
          <a:p>
            <a:pPr>
              <a:defRPr/>
            </a:pPr>
            <a:r>
              <a:rPr lang="en-US" altLang="zh-CN" sz="2800" b="1" dirty="0">
                <a:solidFill>
                  <a:srgbClr val="FF0066"/>
                </a:solidFill>
                <a:effectLst>
                  <a:outerShdw blurRad="38100" dist="38100" dir="2700000" algn="tl">
                    <a:srgbClr val="000000">
                      <a:alpha val="43137"/>
                    </a:srgbClr>
                  </a:outerShdw>
                </a:effectLst>
              </a:rPr>
              <a:t>        </a:t>
            </a:r>
          </a:p>
          <a:p>
            <a:pPr>
              <a:defRPr/>
            </a:pPr>
            <a:r>
              <a:rPr lang="en-US" altLang="zh-CN" sz="2800" b="1" dirty="0">
                <a:solidFill>
                  <a:srgbClr val="FF0066"/>
                </a:solidFill>
                <a:effectLst>
                  <a:outerShdw blurRad="38100" dist="38100" dir="2700000" algn="tl">
                    <a:srgbClr val="000000">
                      <a:alpha val="43137"/>
                    </a:srgbClr>
                  </a:outerShdw>
                </a:effectLst>
              </a:rPr>
              <a:t>        =</a:t>
            </a:r>
            <a:r>
              <a:rPr lang="en-US" altLang="zh-CN" sz="2800" b="1" dirty="0">
                <a:solidFill>
                  <a:srgbClr val="FF0066"/>
                </a:solidFill>
              </a:rPr>
              <a:t> Δ</a:t>
            </a:r>
            <a:r>
              <a:rPr kumimoji="0" lang="en-US" altLang="zh-CN" sz="2800" b="1" i="1" dirty="0">
                <a:solidFill>
                  <a:srgbClr val="FF0066"/>
                </a:solidFill>
                <a:latin typeface="Arial" panose="020B0604020202020204" pitchFamily="34" charset="0"/>
                <a:ea typeface="黑体" panose="02010609060101010101" pitchFamily="49" charset="-122"/>
              </a:rPr>
              <a:t>G</a:t>
            </a:r>
            <a:r>
              <a:rPr kumimoji="0" lang="en-US" altLang="zh-CN" sz="2800" b="1" i="1" baseline="-25000" dirty="0">
                <a:solidFill>
                  <a:srgbClr val="FF0066"/>
                </a:solidFill>
                <a:latin typeface="Arial" panose="020B0604020202020204" pitchFamily="34" charset="0"/>
                <a:ea typeface="黑体" panose="02010609060101010101" pitchFamily="49" charset="-122"/>
              </a:rPr>
              <a:t>S</a:t>
            </a:r>
            <a:r>
              <a:rPr lang="zh-CN" altLang="en-US" sz="2800" b="1" dirty="0">
                <a:solidFill>
                  <a:srgbClr val="FF0066"/>
                </a:solidFill>
                <a:effectLst>
                  <a:outerShdw blurRad="38100" dist="38100" dir="2700000" algn="tl">
                    <a:srgbClr val="000000">
                      <a:alpha val="43137"/>
                    </a:srgbClr>
                  </a:outerShdw>
                </a:effectLst>
              </a:rPr>
              <a:t> *</a:t>
            </a:r>
            <a:r>
              <a:rPr lang="en-US" altLang="zh-CN" sz="2800" b="1" dirty="0">
                <a:solidFill>
                  <a:srgbClr val="FF0066"/>
                </a:solidFill>
                <a:effectLst>
                  <a:outerShdw blurRad="38100" dist="38100" dir="2700000" algn="tl">
                    <a:srgbClr val="000000">
                      <a:alpha val="43137"/>
                    </a:srgbClr>
                  </a:outerShdw>
                </a:effectLst>
              </a:rPr>
              <a:t>/3</a:t>
            </a:r>
          </a:p>
          <a:p>
            <a:pPr>
              <a:defRPr/>
            </a:pPr>
            <a:endParaRPr lang="en-US" altLang="zh-CN" sz="2800" baseline="30000" dirty="0"/>
          </a:p>
          <a:p>
            <a:pPr>
              <a:defRPr/>
            </a:pPr>
            <a:r>
              <a:rPr lang="en-US" altLang="zh-CN" sz="2800" dirty="0"/>
              <a:t>Δ</a:t>
            </a:r>
            <a:r>
              <a:rPr kumimoji="0" lang="en-US" altLang="zh-CN" sz="2800" b="1" i="1" dirty="0">
                <a:latin typeface="Arial" panose="020B0604020202020204" pitchFamily="34" charset="0"/>
                <a:ea typeface="黑体" panose="02010609060101010101" pitchFamily="49" charset="-122"/>
              </a:rPr>
              <a:t>G </a:t>
            </a:r>
            <a:r>
              <a:rPr lang="zh-CN" altLang="en-US" sz="2800" b="1" dirty="0">
                <a:solidFill>
                  <a:srgbClr val="FF0066"/>
                </a:solidFill>
                <a:effectLst>
                  <a:outerShdw blurRad="38100" dist="38100" dir="2700000" algn="tl">
                    <a:srgbClr val="000000">
                      <a:alpha val="43137"/>
                    </a:srgbClr>
                  </a:outerShdw>
                </a:effectLst>
              </a:rPr>
              <a:t>*</a:t>
            </a:r>
            <a:r>
              <a:rPr kumimoji="0" lang="en-US" altLang="zh-CN" sz="2800" b="1" i="1" dirty="0">
                <a:latin typeface="Arial" panose="020B0604020202020204" pitchFamily="34" charset="0"/>
                <a:ea typeface="黑体" panose="02010609060101010101" pitchFamily="49" charset="-122"/>
              </a:rPr>
              <a:t>  </a:t>
            </a:r>
            <a:r>
              <a:rPr kumimoji="0" lang="zh-CN" altLang="en-US" sz="2800" b="1" i="1" dirty="0">
                <a:latin typeface="Arial" panose="020B0604020202020204" pitchFamily="34" charset="0"/>
                <a:ea typeface="黑体" panose="02010609060101010101" pitchFamily="49" charset="-122"/>
              </a:rPr>
              <a:t>=    </a:t>
            </a:r>
            <a:r>
              <a:rPr lang="en-US" altLang="zh-CN" sz="2800" dirty="0"/>
              <a:t>Δ</a:t>
            </a:r>
            <a:r>
              <a:rPr kumimoji="0" lang="en-US" altLang="zh-CN" sz="2800" b="1" i="1" dirty="0">
                <a:latin typeface="Arial" panose="020B0604020202020204" pitchFamily="34" charset="0"/>
                <a:ea typeface="黑体" panose="02010609060101010101" pitchFamily="49" charset="-122"/>
              </a:rPr>
              <a:t>G</a:t>
            </a:r>
            <a:r>
              <a:rPr kumimoji="0" lang="en-US" altLang="zh-CN" sz="2800" b="1" i="1" baseline="-25000" dirty="0">
                <a:latin typeface="Arial" panose="020B0604020202020204" pitchFamily="34" charset="0"/>
                <a:ea typeface="黑体" panose="02010609060101010101" pitchFamily="49" charset="-122"/>
              </a:rPr>
              <a:t>V </a:t>
            </a:r>
            <a:r>
              <a:rPr lang="zh-CN" altLang="en-US" sz="2800" b="1" dirty="0">
                <a:solidFill>
                  <a:srgbClr val="FF0066"/>
                </a:solidFill>
                <a:effectLst>
                  <a:outerShdw blurRad="38100" dist="38100" dir="2700000" algn="tl">
                    <a:srgbClr val="000000">
                      <a:alpha val="43137"/>
                    </a:srgbClr>
                  </a:outerShdw>
                </a:effectLst>
              </a:rPr>
              <a:t>*</a:t>
            </a:r>
            <a:r>
              <a:rPr kumimoji="0" lang="en-US" altLang="zh-CN" sz="2800" b="1" i="1" baseline="-25000" dirty="0">
                <a:latin typeface="Arial" panose="020B0604020202020204" pitchFamily="34" charset="0"/>
                <a:ea typeface="黑体" panose="02010609060101010101" pitchFamily="49" charset="-122"/>
              </a:rPr>
              <a:t>   </a:t>
            </a:r>
            <a:r>
              <a:rPr kumimoji="0" lang="en-US" altLang="zh-CN" sz="2800" b="1" i="1" dirty="0">
                <a:latin typeface="Arial" panose="020B0604020202020204" pitchFamily="34" charset="0"/>
                <a:ea typeface="黑体" panose="02010609060101010101" pitchFamily="49" charset="-122"/>
              </a:rPr>
              <a:t>+  </a:t>
            </a:r>
            <a:r>
              <a:rPr lang="en-US" altLang="zh-CN" sz="2800" dirty="0"/>
              <a:t>Δ</a:t>
            </a:r>
            <a:r>
              <a:rPr kumimoji="0" lang="en-US" altLang="zh-CN" sz="2800" b="1" i="1" dirty="0">
                <a:latin typeface="Arial" panose="020B0604020202020204" pitchFamily="34" charset="0"/>
                <a:ea typeface="黑体" panose="02010609060101010101" pitchFamily="49" charset="-122"/>
              </a:rPr>
              <a:t>G</a:t>
            </a:r>
            <a:r>
              <a:rPr kumimoji="0" lang="en-US" altLang="zh-CN" sz="2800" b="1" i="1" baseline="-25000" dirty="0">
                <a:latin typeface="Arial" panose="020B0604020202020204" pitchFamily="34" charset="0"/>
                <a:ea typeface="黑体" panose="02010609060101010101" pitchFamily="49" charset="-122"/>
              </a:rPr>
              <a:t>S</a:t>
            </a:r>
            <a:r>
              <a:rPr lang="zh-CN" altLang="en-US" sz="2800" b="1" dirty="0">
                <a:solidFill>
                  <a:srgbClr val="FF0066"/>
                </a:solidFill>
                <a:effectLst>
                  <a:outerShdw blurRad="38100" dist="38100" dir="2700000" algn="tl">
                    <a:srgbClr val="000000">
                      <a:alpha val="43137"/>
                    </a:srgbClr>
                  </a:outerShdw>
                </a:effectLst>
              </a:rPr>
              <a:t> *</a:t>
            </a:r>
            <a:endParaRPr kumimoji="0" lang="zh-CN" altLang="en-US" sz="2800" b="1" i="1" baseline="-25000" dirty="0">
              <a:latin typeface="Arial" panose="020B0604020202020204" pitchFamily="34" charset="0"/>
              <a:ea typeface="黑体" panose="02010609060101010101" pitchFamily="49" charset="-122"/>
            </a:endParaRPr>
          </a:p>
          <a:p>
            <a:pPr>
              <a:defRPr/>
            </a:pPr>
            <a:r>
              <a:rPr lang="en-US" sz="2000" dirty="0"/>
              <a:t>∆</a:t>
            </a:r>
            <a:r>
              <a:rPr lang="en-US" altLang="zh-CN" sz="2000" dirty="0"/>
              <a:t>G</a:t>
            </a:r>
            <a:r>
              <a:rPr lang="zh-CN" altLang="en-US" sz="2000" dirty="0"/>
              <a:t>* </a:t>
            </a:r>
            <a:r>
              <a:rPr lang="en-US" sz="2000" dirty="0"/>
              <a:t>is equivalent to 1/3 </a:t>
            </a:r>
            <a:r>
              <a:rPr lang="en-US" altLang="zh-CN" sz="2000" dirty="0"/>
              <a:t>Δ</a:t>
            </a:r>
            <a:r>
              <a:rPr kumimoji="0" lang="en-US" altLang="zh-CN" sz="2000" i="1" dirty="0">
                <a:latin typeface="Arial" panose="020B0604020202020204" pitchFamily="34" charset="0"/>
                <a:ea typeface="黑体" panose="02010609060101010101" pitchFamily="49" charset="-122"/>
              </a:rPr>
              <a:t>G</a:t>
            </a:r>
            <a:r>
              <a:rPr kumimoji="0" lang="en-US" altLang="zh-CN" sz="2000" i="1" baseline="-25000" dirty="0">
                <a:latin typeface="Arial" panose="020B0604020202020204" pitchFamily="34" charset="0"/>
                <a:ea typeface="黑体" panose="02010609060101010101" pitchFamily="49" charset="-122"/>
              </a:rPr>
              <a:t>S</a:t>
            </a:r>
            <a:r>
              <a:rPr lang="zh-CN" altLang="en-US" sz="2000" dirty="0"/>
              <a:t> *</a:t>
            </a:r>
            <a:r>
              <a:rPr lang="en-US" sz="2000" dirty="0"/>
              <a:t>, which means that the free energy difference between solid and liquid (</a:t>
            </a:r>
            <a:r>
              <a:rPr lang="en-US" altLang="zh-CN" sz="2000" dirty="0"/>
              <a:t>Δ</a:t>
            </a:r>
            <a:r>
              <a:rPr kumimoji="0" lang="en-US" altLang="zh-CN" sz="2000" i="1" dirty="0">
                <a:latin typeface="Arial" panose="020B0604020202020204" pitchFamily="34" charset="0"/>
                <a:ea typeface="黑体" panose="02010609060101010101" pitchFamily="49" charset="-122"/>
              </a:rPr>
              <a:t>G</a:t>
            </a:r>
            <a:r>
              <a:rPr kumimoji="0" lang="en-US" altLang="zh-CN" sz="2000" i="1" baseline="-25000" dirty="0">
                <a:latin typeface="Arial" panose="020B0604020202020204" pitchFamily="34" charset="0"/>
                <a:ea typeface="黑体" panose="02010609060101010101" pitchFamily="49" charset="-122"/>
              </a:rPr>
              <a:t>V </a:t>
            </a:r>
            <a:r>
              <a:rPr lang="zh-CN" altLang="en-US" sz="2000" dirty="0"/>
              <a:t>*</a:t>
            </a:r>
            <a:r>
              <a:rPr lang="en-US" altLang="zh-CN" sz="2000" dirty="0"/>
              <a:t>)</a:t>
            </a:r>
            <a:r>
              <a:rPr kumimoji="0" lang="en-US" altLang="zh-CN" sz="2000" i="1" baseline="-25000" dirty="0">
                <a:latin typeface="Arial" panose="020B0604020202020204" pitchFamily="34" charset="0"/>
                <a:ea typeface="黑体" panose="02010609060101010101" pitchFamily="49" charset="-122"/>
              </a:rPr>
              <a:t>  </a:t>
            </a:r>
            <a:r>
              <a:rPr lang="en-US" sz="2000" dirty="0"/>
              <a:t>only supplies 2/3 surface energy </a:t>
            </a:r>
            <a:r>
              <a:rPr lang="en-US" altLang="zh-CN" sz="2000" dirty="0"/>
              <a:t>Δ</a:t>
            </a:r>
            <a:r>
              <a:rPr kumimoji="0" lang="en-US" altLang="zh-CN" sz="2000" i="1" dirty="0">
                <a:latin typeface="Arial" panose="020B0604020202020204" pitchFamily="34" charset="0"/>
                <a:ea typeface="黑体" panose="02010609060101010101" pitchFamily="49" charset="-122"/>
              </a:rPr>
              <a:t>G</a:t>
            </a:r>
            <a:r>
              <a:rPr kumimoji="0" lang="en-US" altLang="zh-CN" sz="2000" i="1" baseline="-25000" dirty="0">
                <a:latin typeface="Arial" panose="020B0604020202020204" pitchFamily="34" charset="0"/>
                <a:ea typeface="黑体" panose="02010609060101010101" pitchFamily="49" charset="-122"/>
              </a:rPr>
              <a:t>S</a:t>
            </a:r>
            <a:r>
              <a:rPr lang="zh-CN" altLang="en-US" sz="2000" dirty="0"/>
              <a:t> * </a:t>
            </a:r>
            <a:r>
              <a:rPr lang="en-US" sz="2000" dirty="0"/>
              <a:t>required for the critical nucleus formation. </a:t>
            </a:r>
          </a:p>
        </p:txBody>
      </p:sp>
      <p:sp>
        <p:nvSpPr>
          <p:cNvPr id="4" name="Down Arrow 3"/>
          <p:cNvSpPr/>
          <p:nvPr/>
        </p:nvSpPr>
        <p:spPr>
          <a:xfrm>
            <a:off x="1763688" y="2960365"/>
            <a:ext cx="4032448" cy="324619"/>
          </a:xfrm>
          <a:prstGeom prst="downArrow">
            <a:avLst/>
          </a:prstGeom>
          <a:solidFill>
            <a:schemeClr val="bg1">
              <a:lumMod val="95000"/>
            </a:schemeClr>
          </a:solid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animEffect transition="in" filter="barn(inVertical)">
                                      <p:cBhvr>
                                        <p:cTn id="7"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12" y="476673"/>
            <a:ext cx="8136135" cy="1118766"/>
          </a:xfrm>
        </p:spPr>
        <p:txBody>
          <a:bodyPr>
            <a:normAutofit/>
          </a:bodyPr>
          <a:lstStyle/>
          <a:p>
            <a:pPr>
              <a:defRPr/>
            </a:pPr>
            <a:r>
              <a:rPr lang="en-US" altLang="zh-CN" dirty="0"/>
              <a:t>Critical nucleation energy Δ</a:t>
            </a:r>
            <a:r>
              <a:rPr kumimoji="0" lang="en-US" altLang="zh-CN" i="1" dirty="0">
                <a:latin typeface="Arial" panose="020B0604020202020204" pitchFamily="34" charset="0"/>
                <a:ea typeface="黑体" panose="02010609060101010101" pitchFamily="49" charset="-122"/>
              </a:rPr>
              <a:t>G </a:t>
            </a:r>
            <a:r>
              <a:rPr lang="zh-CN" altLang="en-US" dirty="0">
                <a:effectLst>
                  <a:outerShdw blurRad="38100" dist="38100" dir="2700000" algn="tl">
                    <a:srgbClr val="000000">
                      <a:alpha val="43137"/>
                    </a:srgbClr>
                  </a:outerShdw>
                </a:effectLst>
              </a:rPr>
              <a:t>*</a:t>
            </a:r>
            <a:r>
              <a:rPr lang="en-US" altLang="zh-CN" dirty="0"/>
              <a:t> and nucleus surface energy Δ</a:t>
            </a:r>
            <a:r>
              <a:rPr kumimoji="0" lang="en-US" altLang="zh-CN" i="1" dirty="0">
                <a:latin typeface="Arial" panose="020B0604020202020204" pitchFamily="34" charset="0"/>
                <a:ea typeface="黑体" panose="02010609060101010101" pitchFamily="49" charset="-122"/>
              </a:rPr>
              <a:t>G</a:t>
            </a:r>
            <a:r>
              <a:rPr kumimoji="0" lang="en-US" altLang="zh-CN" i="1" baseline="-25000" dirty="0">
                <a:latin typeface="Arial" panose="020B0604020202020204" pitchFamily="34" charset="0"/>
                <a:ea typeface="黑体" panose="02010609060101010101" pitchFamily="49" charset="-122"/>
              </a:rPr>
              <a:t>S</a:t>
            </a:r>
            <a:r>
              <a:rPr lang="zh-CN" altLang="en-US" dirty="0">
                <a:effectLst>
                  <a:outerShdw blurRad="38100" dist="38100" dir="2700000" algn="tl">
                    <a:srgbClr val="000000">
                      <a:alpha val="43137"/>
                    </a:srgbClr>
                  </a:outerShdw>
                </a:effectLst>
              </a:rPr>
              <a:t> *</a:t>
            </a:r>
            <a:endParaRPr dirty="0"/>
          </a:p>
        </p:txBody>
      </p:sp>
      <p:sp>
        <p:nvSpPr>
          <p:cNvPr id="4" name="Rectangle 3"/>
          <p:cNvSpPr/>
          <p:nvPr/>
        </p:nvSpPr>
        <p:spPr>
          <a:xfrm>
            <a:off x="467544" y="2060848"/>
            <a:ext cx="4176464" cy="1944216"/>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287016" y="2743200"/>
            <a:ext cx="548680" cy="548680"/>
          </a:xfrm>
          <a:prstGeom prst="ellipse">
            <a:avLst/>
          </a:prstGeom>
          <a:solidFill>
            <a:schemeClr val="bg2">
              <a:lumMod val="40000"/>
              <a:lumOff val="6000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a:off x="3594366" y="3005076"/>
            <a:ext cx="1944217"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652120" y="1889569"/>
            <a:ext cx="3024336" cy="1323439"/>
          </a:xfrm>
          <a:prstGeom prst="rect">
            <a:avLst/>
          </a:prstGeom>
          <a:noFill/>
        </p:spPr>
        <p:txBody>
          <a:bodyPr wrap="square" rtlCol="0">
            <a:spAutoFit/>
          </a:bodyPr>
          <a:lstStyle/>
          <a:p>
            <a:r>
              <a:rPr lang="en-US" altLang="zh-CN" sz="2000" dirty="0"/>
              <a:t>Δ</a:t>
            </a:r>
            <a:r>
              <a:rPr kumimoji="0" lang="en-US" altLang="zh-CN" sz="2000" i="1" dirty="0">
                <a:latin typeface="Arial" panose="020B0604020202020204" pitchFamily="34" charset="0"/>
                <a:ea typeface="黑体" panose="02010609060101010101" pitchFamily="49" charset="-122"/>
              </a:rPr>
              <a:t>G </a:t>
            </a:r>
            <a:r>
              <a:rPr lang="zh-CN" altLang="en-US" sz="2000" dirty="0">
                <a:effectLst>
                  <a:outerShdw blurRad="38100" dist="38100" dir="2700000" algn="tl">
                    <a:srgbClr val="000000">
                      <a:alpha val="43137"/>
                    </a:srgbClr>
                  </a:outerShdw>
                </a:effectLst>
              </a:rPr>
              <a:t>*</a:t>
            </a:r>
            <a:r>
              <a:rPr lang="en-US" altLang="zh-CN" sz="2000" dirty="0"/>
              <a:t> : critical e</a:t>
            </a:r>
            <a:r>
              <a:rPr lang="en-US" sz="2000" dirty="0"/>
              <a:t>nergy required for the formation of the nucleus with radius r*; it equals 1/3 </a:t>
            </a:r>
            <a:r>
              <a:rPr lang="en-US" altLang="zh-CN" sz="2000" dirty="0"/>
              <a:t>Δ</a:t>
            </a:r>
            <a:r>
              <a:rPr kumimoji="0" lang="en-US" altLang="zh-CN" sz="2000" i="1" dirty="0">
                <a:latin typeface="Arial" panose="020B0604020202020204" pitchFamily="34" charset="0"/>
                <a:ea typeface="黑体" panose="02010609060101010101" pitchFamily="49" charset="-122"/>
              </a:rPr>
              <a:t>G</a:t>
            </a:r>
            <a:r>
              <a:rPr kumimoji="0" lang="en-US" altLang="zh-CN" sz="2000" i="1" baseline="-25000" dirty="0">
                <a:latin typeface="Arial" panose="020B0604020202020204" pitchFamily="34" charset="0"/>
                <a:ea typeface="黑体" panose="02010609060101010101" pitchFamily="49" charset="-122"/>
              </a:rPr>
              <a:t>S</a:t>
            </a:r>
            <a:r>
              <a:rPr lang="zh-CN" altLang="en-US" sz="2000" dirty="0">
                <a:effectLst>
                  <a:outerShdw blurRad="38100" dist="38100" dir="2700000" algn="tl">
                    <a:srgbClr val="000000">
                      <a:alpha val="43137"/>
                    </a:srgbClr>
                  </a:outerShdw>
                </a:effectLst>
              </a:rPr>
              <a:t> *</a:t>
            </a:r>
            <a:r>
              <a:rPr lang="en-US" altLang="zh-CN" sz="2000" dirty="0">
                <a:effectLst>
                  <a:outerShdw blurRad="38100" dist="38100" dir="2700000" algn="tl">
                    <a:srgbClr val="000000">
                      <a:alpha val="43137"/>
                    </a:srgbClr>
                  </a:outerShdw>
                </a:effectLst>
              </a:rPr>
              <a:t>.</a:t>
            </a:r>
            <a:endParaRPr lang="en-US" sz="2000" dirty="0"/>
          </a:p>
        </p:txBody>
      </p:sp>
      <p:sp>
        <p:nvSpPr>
          <p:cNvPr id="11" name="Right Arrow 10"/>
          <p:cNvSpPr/>
          <p:nvPr/>
        </p:nvSpPr>
        <p:spPr>
          <a:xfrm>
            <a:off x="971600" y="2955826"/>
            <a:ext cx="216024" cy="12342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2265278">
            <a:off x="1047079" y="2681485"/>
            <a:ext cx="216024" cy="12342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rot="4904473">
            <a:off x="1425840" y="2474931"/>
            <a:ext cx="216024" cy="12342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rot="8134269">
            <a:off x="1807111" y="2602195"/>
            <a:ext cx="216024" cy="12342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p:cNvSpPr/>
          <p:nvPr/>
        </p:nvSpPr>
        <p:spPr>
          <a:xfrm rot="19669099">
            <a:off x="1037620" y="3230166"/>
            <a:ext cx="216024" cy="12342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rot="18206818">
            <a:off x="1248844" y="3419418"/>
            <a:ext cx="216024" cy="12342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rot="13590445">
            <a:off x="1845915" y="3272097"/>
            <a:ext cx="216024" cy="12342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rot="11425167">
            <a:off x="1919789" y="2986546"/>
            <a:ext cx="216024" cy="12342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rot="15077963">
            <a:off x="1538908" y="3434073"/>
            <a:ext cx="216024" cy="12342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652120" y="3270463"/>
            <a:ext cx="3096344" cy="2246769"/>
          </a:xfrm>
          <a:prstGeom prst="rect">
            <a:avLst/>
          </a:prstGeom>
        </p:spPr>
        <p:txBody>
          <a:bodyPr wrap="square">
            <a:spAutoFit/>
          </a:bodyPr>
          <a:lstStyle/>
          <a:p>
            <a:r>
              <a:rPr lang="en-US" altLang="zh-CN" sz="2000" dirty="0"/>
              <a:t>This </a:t>
            </a:r>
            <a:r>
              <a:rPr lang="en-US" sz="2000" dirty="0"/>
              <a:t>energy is complemented by the </a:t>
            </a:r>
            <a:r>
              <a:rPr lang="en-US" sz="2000" b="1" dirty="0">
                <a:solidFill>
                  <a:srgbClr val="FF0000"/>
                </a:solidFill>
              </a:rPr>
              <a:t>energy fluctuations of the system</a:t>
            </a:r>
            <a:r>
              <a:rPr lang="en-US" sz="2000" dirty="0"/>
              <a:t>, and this is also </a:t>
            </a:r>
            <a:r>
              <a:rPr lang="en-US" altLang="zh-CN" sz="2000" dirty="0"/>
              <a:t>the</a:t>
            </a:r>
            <a:r>
              <a:rPr lang="en-US" sz="2000" dirty="0"/>
              <a:t> energy barrier that must be overcome by homogeneous nucleation.</a:t>
            </a:r>
          </a:p>
        </p:txBody>
      </p:sp>
      <p:pic>
        <p:nvPicPr>
          <p:cNvPr id="389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236" y="4149080"/>
            <a:ext cx="3133130" cy="22091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ectangle 13"/>
          <p:cNvSpPr/>
          <p:nvPr/>
        </p:nvSpPr>
        <p:spPr>
          <a:xfrm>
            <a:off x="3707903" y="4797152"/>
            <a:ext cx="1556067" cy="830997"/>
          </a:xfrm>
          <a:prstGeom prst="rect">
            <a:avLst/>
          </a:prstGeom>
        </p:spPr>
        <p:txBody>
          <a:bodyPr wrap="none">
            <a:spAutoFit/>
          </a:bodyPr>
          <a:lstStyle/>
          <a:p>
            <a:r>
              <a:rPr lang="en-US" b="1" dirty="0">
                <a:solidFill>
                  <a:srgbClr val="FF0000"/>
                </a:solidFill>
                <a:effectLst>
                  <a:outerShdw blurRad="38100" dist="38100" dir="2700000" algn="tl">
                    <a:srgbClr val="000000">
                      <a:alpha val="43137"/>
                    </a:srgbClr>
                  </a:outerShdw>
                </a:effectLst>
              </a:rPr>
              <a:t>Brownian </a:t>
            </a:r>
          </a:p>
          <a:p>
            <a:r>
              <a:rPr lang="en-US" b="1" dirty="0">
                <a:solidFill>
                  <a:srgbClr val="FF0000"/>
                </a:solidFill>
                <a:effectLst>
                  <a:outerShdw blurRad="38100" dist="38100" dir="2700000" algn="tl">
                    <a:srgbClr val="000000">
                      <a:alpha val="43137"/>
                    </a:srgbClr>
                  </a:outerShdw>
                </a:effectLst>
              </a:rPr>
              <a:t>movement</a:t>
            </a:r>
          </a:p>
        </p:txBody>
      </p:sp>
      <p:sp>
        <p:nvSpPr>
          <p:cNvPr id="23" name="TextBox 22"/>
          <p:cNvSpPr txBox="1"/>
          <p:nvPr/>
        </p:nvSpPr>
        <p:spPr>
          <a:xfrm>
            <a:off x="1595323" y="2089475"/>
            <a:ext cx="1141659" cy="461665"/>
          </a:xfrm>
          <a:prstGeom prst="rect">
            <a:avLst/>
          </a:prstGeom>
          <a:noFill/>
        </p:spPr>
        <p:txBody>
          <a:bodyPr wrap="none" rtlCol="0">
            <a:spAutoFit/>
          </a:bodyPr>
          <a:lstStyle/>
          <a:p>
            <a:r>
              <a:rPr lang="en-US" b="1" dirty="0">
                <a:solidFill>
                  <a:srgbClr val="FF0000"/>
                </a:solidFill>
              </a:rPr>
              <a:t>Energy</a:t>
            </a:r>
          </a:p>
        </p:txBody>
      </p:sp>
      <p:sp>
        <p:nvSpPr>
          <p:cNvPr id="24" name="TextBox 23"/>
          <p:cNvSpPr txBox="1"/>
          <p:nvPr/>
        </p:nvSpPr>
        <p:spPr>
          <a:xfrm>
            <a:off x="991529" y="6396335"/>
            <a:ext cx="7540911" cy="461665"/>
          </a:xfrm>
          <a:prstGeom prst="rect">
            <a:avLst/>
          </a:prstGeom>
          <a:noFill/>
        </p:spPr>
        <p:txBody>
          <a:bodyPr wrap="none" rtlCol="0">
            <a:spAutoFit/>
          </a:bodyPr>
          <a:lstStyle/>
          <a:p>
            <a:r>
              <a:rPr lang="en-US" b="1" dirty="0"/>
              <a:t>How energy is transferred from ambient to the nucleus?</a:t>
            </a:r>
          </a:p>
        </p:txBody>
      </p:sp>
      <p:sp>
        <p:nvSpPr>
          <p:cNvPr id="29" name="Oval 28"/>
          <p:cNvSpPr/>
          <p:nvPr/>
        </p:nvSpPr>
        <p:spPr>
          <a:xfrm>
            <a:off x="2627784" y="2775569"/>
            <a:ext cx="548680" cy="548680"/>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p:cNvSpPr/>
          <p:nvPr/>
        </p:nvSpPr>
        <p:spPr>
          <a:xfrm>
            <a:off x="2238160" y="2860196"/>
            <a:ext cx="317616" cy="345519"/>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3779912" y="6038705"/>
            <a:ext cx="4572000" cy="307777"/>
          </a:xfrm>
          <a:prstGeom prst="rect">
            <a:avLst/>
          </a:prstGeom>
        </p:spPr>
        <p:txBody>
          <a:bodyPr>
            <a:spAutoFit/>
          </a:bodyPr>
          <a:lstStyle/>
          <a:p>
            <a:r>
              <a:rPr lang="en-US" sz="1400" dirty="0"/>
              <a:t>http://xd.ku6.com/watch/7185429895035635084.html</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412776"/>
            <a:ext cx="7772400" cy="4321175"/>
          </a:xfrm>
        </p:spPr>
        <p:txBody>
          <a:bodyPr>
            <a:normAutofit/>
          </a:bodyPr>
          <a:lstStyle/>
          <a:p>
            <a:pPr algn="l">
              <a:defRPr/>
            </a:pPr>
            <a:r>
              <a:rPr lang="en-US" b="0" cap="none" dirty="0">
                <a:effectLst/>
                <a:latin typeface="+mn-lt"/>
              </a:rPr>
              <a:t>1. roughly evaluate </a:t>
            </a:r>
            <a:r>
              <a:rPr lang="en-US" altLang="zh-CN" b="0" cap="none" dirty="0">
                <a:effectLst/>
                <a:latin typeface="+mn-lt"/>
              </a:rPr>
              <a:t>Δ</a:t>
            </a:r>
            <a:r>
              <a:rPr kumimoji="0" lang="en-US" altLang="zh-CN" b="0" i="1" cap="none" dirty="0">
                <a:effectLst/>
                <a:latin typeface="+mn-lt"/>
                <a:ea typeface="黑体" panose="02010609060101010101" pitchFamily="49" charset="-122"/>
              </a:rPr>
              <a:t>G </a:t>
            </a:r>
            <a:r>
              <a:rPr lang="zh-CN" altLang="en-US" b="0" cap="none" dirty="0">
                <a:effectLst/>
                <a:latin typeface="+mn-lt"/>
              </a:rPr>
              <a:t>* </a:t>
            </a:r>
            <a:r>
              <a:rPr lang="en-US" altLang="zh-CN" b="0" cap="none" dirty="0">
                <a:effectLst/>
                <a:latin typeface="+mn-lt"/>
              </a:rPr>
              <a:t>and r* in one certain crystal formation;</a:t>
            </a:r>
            <a:br>
              <a:rPr lang="en-US" altLang="zh-CN" b="0" cap="none" dirty="0">
                <a:effectLst/>
                <a:latin typeface="+mn-lt"/>
              </a:rPr>
            </a:br>
            <a:r>
              <a:rPr lang="en-US" altLang="zh-CN" b="0" cap="none" dirty="0">
                <a:effectLst/>
                <a:latin typeface="+mn-lt"/>
              </a:rPr>
              <a:t>2. compare the above values and </a:t>
            </a:r>
            <a:r>
              <a:rPr lang="en-US" altLang="zh-CN" b="0" cap="none" dirty="0" err="1">
                <a:effectLst/>
                <a:latin typeface="+mn-lt"/>
              </a:rPr>
              <a:t>kT</a:t>
            </a:r>
            <a:r>
              <a:rPr lang="en-US" altLang="zh-CN" b="0" cap="none" dirty="0">
                <a:effectLst/>
                <a:latin typeface="+mn-lt"/>
              </a:rPr>
              <a:t/>
            </a:r>
            <a:br>
              <a:rPr lang="en-US" altLang="zh-CN" b="0" cap="none" dirty="0">
                <a:effectLst/>
                <a:latin typeface="+mn-lt"/>
              </a:rPr>
            </a:br>
            <a:r>
              <a:rPr lang="en-US" altLang="zh-CN" b="0" cap="none" dirty="0">
                <a:effectLst/>
                <a:latin typeface="+mn-lt"/>
              </a:rPr>
              <a:t>3. what’s your conclusion?</a:t>
            </a:r>
            <a:br>
              <a:rPr lang="en-US" altLang="zh-CN" b="0" cap="none" dirty="0">
                <a:effectLst/>
                <a:latin typeface="+mn-lt"/>
              </a:rPr>
            </a:br>
            <a:r>
              <a:rPr lang="en-US" altLang="zh-CN" b="0" cap="none" dirty="0">
                <a:effectLst/>
                <a:latin typeface="+mn-lt"/>
              </a:rPr>
              <a:t>4. try to use above study to explain why it is hard to get crystal from solid-reaction or it requires quite high temperature or pressure.</a:t>
            </a:r>
            <a:endParaRPr lang="en-US" b="0" cap="none" dirty="0">
              <a:effectLst/>
              <a:latin typeface="+mn-lt"/>
            </a:endParaRPr>
          </a:p>
        </p:txBody>
      </p:sp>
      <p:sp>
        <p:nvSpPr>
          <p:cNvPr id="3" name="Text Placeholder 2"/>
          <p:cNvSpPr>
            <a:spLocks noGrp="1"/>
          </p:cNvSpPr>
          <p:nvPr>
            <p:ph type="body" idx="1"/>
          </p:nvPr>
        </p:nvSpPr>
        <p:spPr/>
        <p:txBody>
          <a:bodyPr/>
          <a:lstStyle/>
          <a:p>
            <a:r>
              <a:rPr lang="en-US" altLang="zh-CN" dirty="0"/>
              <a:t>Mini project releases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8291264" cy="4321175"/>
          </a:xfrm>
        </p:spPr>
        <p:txBody>
          <a:bodyPr>
            <a:noAutofit/>
          </a:bodyPr>
          <a:lstStyle/>
          <a:p>
            <a:pPr algn="l">
              <a:defRPr/>
            </a:pPr>
            <a:r>
              <a:rPr lang="en-US" sz="2800" cap="none" dirty="0">
                <a:solidFill>
                  <a:schemeClr val="tx1"/>
                </a:solidFill>
                <a:effectLst/>
                <a:latin typeface="+mn-lt"/>
              </a:rPr>
              <a:t>The whole nucleation process requires to </a:t>
            </a:r>
            <a:r>
              <a:rPr lang="en-US" sz="2800" cap="none" dirty="0">
                <a:solidFill>
                  <a:srgbClr val="FF0000"/>
                </a:solidFill>
                <a:effectLst/>
                <a:latin typeface="+mn-lt"/>
              </a:rPr>
              <a:t>absorb energy from ambient </a:t>
            </a:r>
            <a:r>
              <a:rPr lang="zh-CN" altLang="en-US" sz="2800" cap="none" dirty="0">
                <a:solidFill>
                  <a:srgbClr val="FF0000"/>
                </a:solidFill>
                <a:effectLst/>
                <a:latin typeface="+mn-lt"/>
              </a:rPr>
              <a:t>（</a:t>
            </a:r>
            <a:r>
              <a:rPr lang="en-US" altLang="zh-CN" sz="2800" cap="none" dirty="0">
                <a:solidFill>
                  <a:srgbClr val="FF0000"/>
                </a:solidFill>
                <a:effectLst/>
                <a:latin typeface="+mn-lt"/>
              </a:rPr>
              <a:t>high T is better</a:t>
            </a:r>
            <a:r>
              <a:rPr lang="zh-CN" altLang="en-US" sz="2800" cap="none" dirty="0">
                <a:solidFill>
                  <a:srgbClr val="FF0000"/>
                </a:solidFill>
                <a:effectLst/>
                <a:latin typeface="+mn-lt"/>
              </a:rPr>
              <a:t>）</a:t>
            </a:r>
            <a:r>
              <a:rPr lang="en-US" sz="2800" cap="none" dirty="0">
                <a:solidFill>
                  <a:schemeClr val="tx1"/>
                </a:solidFill>
                <a:effectLst/>
                <a:latin typeface="+mn-lt"/>
              </a:rPr>
              <a:t>. </a:t>
            </a:r>
            <a:br>
              <a:rPr lang="en-US" sz="2800" cap="none" dirty="0">
                <a:solidFill>
                  <a:schemeClr val="tx1"/>
                </a:solidFill>
                <a:effectLst/>
                <a:latin typeface="+mn-lt"/>
              </a:rPr>
            </a:br>
            <a:r>
              <a:rPr lang="en-US" sz="2800" cap="none" dirty="0">
                <a:solidFill>
                  <a:schemeClr val="tx1"/>
                </a:solidFill>
                <a:effectLst/>
                <a:latin typeface="+mn-lt"/>
              </a:rPr>
              <a:t/>
            </a:r>
            <a:br>
              <a:rPr lang="en-US" sz="2800" cap="none" dirty="0">
                <a:solidFill>
                  <a:schemeClr val="tx1"/>
                </a:solidFill>
                <a:effectLst/>
                <a:latin typeface="+mn-lt"/>
              </a:rPr>
            </a:br>
            <a:r>
              <a:rPr lang="en-US" sz="2800" cap="none" dirty="0">
                <a:solidFill>
                  <a:schemeClr val="tx1"/>
                </a:solidFill>
                <a:effectLst/>
                <a:latin typeface="+mn-lt"/>
              </a:rPr>
              <a:t>However it also need the condition of </a:t>
            </a:r>
            <a:r>
              <a:rPr lang="en-US" sz="2800" cap="none" dirty="0">
                <a:solidFill>
                  <a:srgbClr val="FF0000"/>
                </a:solidFill>
                <a:effectLst/>
                <a:latin typeface="+mn-lt"/>
              </a:rPr>
              <a:t>supercooling </a:t>
            </a:r>
            <a:r>
              <a:rPr lang="zh-CN" altLang="en-US" sz="2800" cap="none" dirty="0">
                <a:solidFill>
                  <a:srgbClr val="FF0000"/>
                </a:solidFill>
                <a:effectLst/>
                <a:latin typeface="+mn-lt"/>
              </a:rPr>
              <a:t>（</a:t>
            </a:r>
            <a:r>
              <a:rPr lang="en-US" altLang="zh-CN" sz="2800" cap="none" dirty="0">
                <a:solidFill>
                  <a:srgbClr val="FF0000"/>
                </a:solidFill>
                <a:effectLst/>
                <a:latin typeface="+mn-lt"/>
              </a:rPr>
              <a:t>low T is desired</a:t>
            </a:r>
            <a:r>
              <a:rPr lang="zh-CN" altLang="en-US" sz="2800" cap="none" dirty="0">
                <a:solidFill>
                  <a:srgbClr val="FF0000"/>
                </a:solidFill>
                <a:effectLst/>
                <a:latin typeface="+mn-lt"/>
              </a:rPr>
              <a:t> </a:t>
            </a:r>
            <a:r>
              <a:rPr lang="en-US" altLang="zh-CN" sz="2800" cap="none" dirty="0">
                <a:solidFill>
                  <a:srgbClr val="FF0000"/>
                </a:solidFill>
                <a:effectLst/>
                <a:latin typeface="+mn-lt"/>
              </a:rPr>
              <a:t>and at the same time </a:t>
            </a:r>
            <a:r>
              <a:rPr lang="en-US" altLang="zh-CN" sz="2800" u="sng" cap="none" dirty="0">
                <a:solidFill>
                  <a:srgbClr val="FF0000"/>
                </a:solidFill>
                <a:effectLst/>
                <a:latin typeface="+mn-lt"/>
              </a:rPr>
              <a:t>decrease the require ΔG </a:t>
            </a:r>
            <a:r>
              <a:rPr lang="zh-CN" altLang="en-US" sz="2800" u="sng" cap="none" dirty="0">
                <a:solidFill>
                  <a:srgbClr val="FF0000"/>
                </a:solidFill>
                <a:effectLst/>
                <a:latin typeface="+mn-lt"/>
              </a:rPr>
              <a:t>*</a:t>
            </a:r>
            <a:r>
              <a:rPr lang="zh-CN" altLang="en-US" sz="2800" b="0" u="sng" cap="none" dirty="0">
                <a:effectLst/>
              </a:rPr>
              <a:t> </a:t>
            </a:r>
            <a:r>
              <a:rPr lang="zh-CN" altLang="en-US" sz="2800" cap="none" dirty="0">
                <a:solidFill>
                  <a:srgbClr val="FF0000"/>
                </a:solidFill>
                <a:effectLst/>
                <a:latin typeface="+mn-lt"/>
              </a:rPr>
              <a:t>）</a:t>
            </a:r>
            <a:r>
              <a:rPr lang="en-US" sz="2800" cap="none" dirty="0">
                <a:solidFill>
                  <a:srgbClr val="FF0000"/>
                </a:solidFill>
                <a:effectLst/>
                <a:latin typeface="+mn-lt"/>
              </a:rPr>
              <a:t> </a:t>
            </a:r>
            <a:r>
              <a:rPr lang="en-US" sz="2800" cap="none" dirty="0">
                <a:solidFill>
                  <a:schemeClr val="tx1"/>
                </a:solidFill>
                <a:effectLst/>
                <a:latin typeface="+mn-lt"/>
              </a:rPr>
              <a:t>to create an environment favoring for the </a:t>
            </a:r>
            <a:r>
              <a:rPr lang="en-US" sz="2800" cap="none" dirty="0">
                <a:solidFill>
                  <a:srgbClr val="FF0000"/>
                </a:solidFill>
                <a:effectLst/>
                <a:latin typeface="+mn-lt"/>
              </a:rPr>
              <a:t>alignment/period of atoms or molecules </a:t>
            </a:r>
            <a:r>
              <a:rPr lang="en-US" sz="2800" cap="none" dirty="0">
                <a:solidFill>
                  <a:schemeClr val="tx1"/>
                </a:solidFill>
                <a:effectLst/>
                <a:latin typeface="+mn-lt"/>
              </a:rPr>
              <a:t>occasionally. </a:t>
            </a:r>
            <a:br>
              <a:rPr lang="en-US" sz="2800" cap="none" dirty="0">
                <a:solidFill>
                  <a:schemeClr val="tx1"/>
                </a:solidFill>
                <a:effectLst/>
                <a:latin typeface="+mn-lt"/>
              </a:rPr>
            </a:br>
            <a:r>
              <a:rPr lang="en-US" sz="2800" cap="none" dirty="0">
                <a:solidFill>
                  <a:schemeClr val="tx1"/>
                </a:solidFill>
                <a:effectLst/>
                <a:latin typeface="+mn-lt"/>
              </a:rPr>
              <a:t/>
            </a:r>
            <a:br>
              <a:rPr lang="en-US" sz="2800" cap="none" dirty="0">
                <a:solidFill>
                  <a:schemeClr val="tx1"/>
                </a:solidFill>
                <a:effectLst/>
                <a:latin typeface="+mn-lt"/>
              </a:rPr>
            </a:br>
            <a:r>
              <a:rPr lang="zh-CN" altLang="en-US" sz="2800" cap="none" dirty="0">
                <a:solidFill>
                  <a:schemeClr val="tx1"/>
                </a:solidFill>
                <a:effectLst/>
                <a:latin typeface="+mn-lt"/>
              </a:rPr>
              <a:t>（两个方面是相互冲突又统一）</a:t>
            </a:r>
            <a:endParaRPr lang="en-US" sz="2800" cap="none" dirty="0">
              <a:solidFill>
                <a:schemeClr val="tx1"/>
              </a:solidFill>
              <a:effectLst/>
              <a:latin typeface="+mn-lt"/>
            </a:endParaRPr>
          </a:p>
        </p:txBody>
      </p:sp>
      <p:sp>
        <p:nvSpPr>
          <p:cNvPr id="3" name="Text Placeholder 2"/>
          <p:cNvSpPr>
            <a:spLocks noGrp="1"/>
          </p:cNvSpPr>
          <p:nvPr>
            <p:ph type="body" idx="1"/>
          </p:nvPr>
        </p:nvSpPr>
        <p:spPr/>
        <p:txBody>
          <a:bodyPr/>
          <a:lstStyle/>
          <a:p>
            <a:r>
              <a:rPr lang="en-US" altLang="zh-CN" sz="4400" dirty="0"/>
              <a:t>Some thoughts</a:t>
            </a:r>
            <a:endParaRPr lang="en-US" sz="4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77400"/>
            <a:ext cx="6912619" cy="1092200"/>
          </a:xfrm>
        </p:spPr>
        <p:txBody>
          <a:bodyPr>
            <a:noAutofit/>
          </a:bodyPr>
          <a:lstStyle/>
          <a:p>
            <a:pPr>
              <a:defRPr/>
            </a:pPr>
            <a:r>
              <a:rPr lang="en-US" altLang="zh-CN" dirty="0"/>
              <a:t>Embryos and nuclei formation in homogeneous nucleation?</a:t>
            </a:r>
            <a:endParaRPr dirty="0"/>
          </a:p>
        </p:txBody>
      </p:sp>
      <p:sp>
        <p:nvSpPr>
          <p:cNvPr id="3" name="Content Placeholder 2"/>
          <p:cNvSpPr>
            <a:spLocks noGrp="1"/>
          </p:cNvSpPr>
          <p:nvPr>
            <p:ph idx="1"/>
          </p:nvPr>
        </p:nvSpPr>
        <p:spPr>
          <a:xfrm>
            <a:off x="611188" y="1556717"/>
            <a:ext cx="7921625" cy="5400675"/>
          </a:xfrm>
        </p:spPr>
        <p:txBody>
          <a:bodyPr/>
          <a:lstStyle/>
          <a:p>
            <a:pPr>
              <a:defRPr/>
            </a:pPr>
            <a:r>
              <a:rPr lang="en-US" altLang="zh-CN" sz="2400" dirty="0">
                <a:solidFill>
                  <a:srgbClr val="FF0066"/>
                </a:solidFill>
              </a:rPr>
              <a:t>* Taking crystallization in melts as an example</a:t>
            </a:r>
          </a:p>
          <a:p>
            <a:pPr>
              <a:defRPr/>
            </a:pPr>
            <a:r>
              <a:rPr lang="en-US" altLang="zh-CN" b="0" dirty="0"/>
              <a:t>When the melt is in the vicinity of the melting point, although the overall atom arrangement is in the liquid state, in disorder, but the local area is not static. The atomic motion can cause local energy changing, so the instantaneous energy is fluctuated in the mean values. The corresponding structure (atomic arrangement) changes and can be </a:t>
            </a:r>
            <a:r>
              <a:rPr lang="en-US" altLang="zh-CN" dirty="0">
                <a:solidFill>
                  <a:srgbClr val="FF0000"/>
                </a:solidFill>
              </a:rPr>
              <a:t>as close to the crystal arrangement </a:t>
            </a:r>
            <a:r>
              <a:rPr lang="en-US" altLang="zh-CN" b="0" dirty="0"/>
              <a:t>in the small part at some point. </a:t>
            </a:r>
          </a:p>
          <a:p>
            <a:pPr>
              <a:defRPr/>
            </a:pPr>
            <a:r>
              <a:rPr lang="en-US" altLang="zh-CN" b="0" dirty="0"/>
              <a:t>The difference between the corresponding energy of the small part and the average energy (</a:t>
            </a:r>
            <a:r>
              <a:rPr lang="el-GR" altLang="zh-CN" b="0" dirty="0"/>
              <a:t>Δ</a:t>
            </a:r>
            <a:r>
              <a:rPr lang="en-US" altLang="zh-CN" b="0" dirty="0"/>
              <a:t>G) is as mentioned above and as so called "</a:t>
            </a:r>
            <a:r>
              <a:rPr lang="en-US" altLang="zh-CN" dirty="0">
                <a:solidFill>
                  <a:srgbClr val="FF0000"/>
                </a:solidFill>
              </a:rPr>
              <a:t>energy fluctuation</a:t>
            </a:r>
            <a:r>
              <a:rPr lang="en-US" altLang="zh-CN" b="0" dirty="0"/>
              <a:t>" and "</a:t>
            </a:r>
            <a:r>
              <a:rPr lang="en-US" altLang="zh-CN" dirty="0">
                <a:solidFill>
                  <a:srgbClr val="FF0000"/>
                </a:solidFill>
              </a:rPr>
              <a:t>structure fluctuation</a:t>
            </a:r>
            <a:r>
              <a:rPr lang="en-US" altLang="zh-CN" b="0" dirty="0"/>
              <a: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77400"/>
            <a:ext cx="6912619" cy="1092200"/>
          </a:xfrm>
        </p:spPr>
        <p:txBody>
          <a:bodyPr>
            <a:noAutofit/>
          </a:bodyPr>
          <a:lstStyle/>
          <a:p>
            <a:pPr>
              <a:defRPr/>
            </a:pPr>
            <a:r>
              <a:rPr lang="en-US" altLang="zh-CN" dirty="0"/>
              <a:t>Embryos and nuclei formation in homogeneous nucleation?</a:t>
            </a:r>
            <a:endParaRPr dirty="0"/>
          </a:p>
        </p:txBody>
      </p:sp>
      <p:sp>
        <p:nvSpPr>
          <p:cNvPr id="3" name="Content Placeholder 2"/>
          <p:cNvSpPr>
            <a:spLocks noGrp="1"/>
          </p:cNvSpPr>
          <p:nvPr>
            <p:ph idx="1"/>
          </p:nvPr>
        </p:nvSpPr>
        <p:spPr>
          <a:xfrm>
            <a:off x="611188" y="1556717"/>
            <a:ext cx="7921625" cy="5400675"/>
          </a:xfrm>
        </p:spPr>
        <p:txBody>
          <a:bodyPr/>
          <a:lstStyle/>
          <a:p>
            <a:pPr>
              <a:defRPr/>
            </a:pPr>
            <a:r>
              <a:rPr lang="en-US" altLang="zh-CN" b="0" dirty="0"/>
              <a:t>The aggregation with regular atom arrangement will disappear if its size smaller than the critical size (also known as </a:t>
            </a:r>
            <a:r>
              <a:rPr lang="en-US" altLang="zh-CN" dirty="0">
                <a:solidFill>
                  <a:srgbClr val="FF0000"/>
                </a:solidFill>
              </a:rPr>
              <a:t>crystal embryos</a:t>
            </a:r>
            <a:r>
              <a:rPr lang="en-US" altLang="zh-CN" b="0" dirty="0"/>
              <a:t>), and may grow up if its size larger than the critical size, that is, the </a:t>
            </a:r>
            <a:r>
              <a:rPr lang="en-US" altLang="zh-CN" dirty="0">
                <a:solidFill>
                  <a:srgbClr val="FF0000"/>
                </a:solidFill>
              </a:rPr>
              <a:t>nucleus</a:t>
            </a:r>
            <a:r>
              <a:rPr lang="en-US" altLang="zh-CN" b="0" dirty="0"/>
              <a:t>. </a:t>
            </a:r>
          </a:p>
          <a:p>
            <a:pPr>
              <a:defRPr/>
            </a:pPr>
            <a:r>
              <a:rPr lang="en-US" altLang="zh-CN" b="0" dirty="0"/>
              <a:t>The part that the energy of the nucleus with the certain size beyond the average system energy is called the</a:t>
            </a:r>
            <a:r>
              <a:rPr lang="en-US" altLang="zh-CN" b="0" dirty="0">
                <a:solidFill>
                  <a:srgbClr val="FF0066"/>
                </a:solidFill>
              </a:rPr>
              <a:t> </a:t>
            </a:r>
            <a:r>
              <a:rPr lang="en-US" altLang="zh-CN" dirty="0">
                <a:solidFill>
                  <a:srgbClr val="FF0000"/>
                </a:solidFill>
              </a:rPr>
              <a:t>nucleation work</a:t>
            </a:r>
            <a:r>
              <a:rPr lang="en-US" altLang="zh-CN" b="0" dirty="0">
                <a:solidFill>
                  <a:srgbClr val="FF0000"/>
                </a:solidFill>
              </a:rPr>
              <a:t>.</a:t>
            </a:r>
          </a:p>
          <a:p>
            <a:pPr>
              <a:defRPr/>
            </a:pPr>
            <a:r>
              <a:rPr lang="en-US" altLang="zh-CN" b="0" dirty="0"/>
              <a:t>The smaller the supercooling, the smaller the difference between the free energy of solid and that of liquid; the larger the critical size, the higher the nucleation work, and the smaller the probability of occurrence. Nucleation can not be carried out in a limited time and space range if there is a rather small supercooling , i.e. </a:t>
            </a:r>
            <a:r>
              <a:rPr lang="en-US" altLang="zh-CN" dirty="0">
                <a:solidFill>
                  <a:srgbClr val="FF0000"/>
                </a:solidFill>
              </a:rPr>
              <a:t>nucleation requires certain supercooling</a:t>
            </a:r>
            <a:r>
              <a:rPr lang="en-US" altLang="zh-CN" b="0" dirty="0"/>
              <a:t>.</a:t>
            </a:r>
            <a:endParaRPr lang="en-US" b="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3989186" y="-238535"/>
            <a:ext cx="4058613" cy="4058613"/>
          </a:xfrm>
          <a:prstGeom prst="ellipse">
            <a:avLst/>
          </a:prstGeom>
          <a:solidFill>
            <a:srgbClr val="D60093">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own Arrow 3"/>
          <p:cNvSpPr/>
          <p:nvPr/>
        </p:nvSpPr>
        <p:spPr>
          <a:xfrm rot="10800000">
            <a:off x="5707874" y="2584837"/>
            <a:ext cx="648072" cy="4125068"/>
          </a:xfrm>
          <a:prstGeom prst="downArrow">
            <a:avLst/>
          </a:prstGeom>
          <a:solidFill>
            <a:srgbClr val="00B05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650303" y="2498268"/>
            <a:ext cx="576064"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963392" y="3144654"/>
            <a:ext cx="822815" cy="8228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587241" y="4059054"/>
            <a:ext cx="351094" cy="3510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073752" y="5083813"/>
            <a:ext cx="856471" cy="8564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760662" y="5509482"/>
            <a:ext cx="177673" cy="1776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3083674" y="3307301"/>
            <a:ext cx="829116" cy="8291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602691" y="4745555"/>
            <a:ext cx="470800" cy="470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603935" y="1910627"/>
            <a:ext cx="829116" cy="829116"/>
          </a:xfrm>
          <a:prstGeom prst="ellipse">
            <a:avLst/>
          </a:prstGeom>
          <a:solidFill>
            <a:srgbClr val="D6009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5943074" y="6272684"/>
            <a:ext cx="177673" cy="1776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343981" y="4621896"/>
            <a:ext cx="559769" cy="461665"/>
          </a:xfrm>
          <a:prstGeom prst="rect">
            <a:avLst/>
          </a:prstGeom>
          <a:noFill/>
        </p:spPr>
        <p:txBody>
          <a:bodyPr wrap="none" rtlCol="0">
            <a:spAutoFit/>
          </a:bodyPr>
          <a:lstStyle/>
          <a:p>
            <a:r>
              <a:rPr lang="en-US" altLang="zh-CN" i="1" dirty="0"/>
              <a:t>∆T</a:t>
            </a:r>
            <a:endParaRPr lang="en-US" i="1" dirty="0"/>
          </a:p>
        </p:txBody>
      </p:sp>
      <p:sp>
        <p:nvSpPr>
          <p:cNvPr id="18" name="Oval 17"/>
          <p:cNvSpPr/>
          <p:nvPr/>
        </p:nvSpPr>
        <p:spPr>
          <a:xfrm>
            <a:off x="5750918" y="4058904"/>
            <a:ext cx="561984" cy="561984"/>
          </a:xfrm>
          <a:prstGeom prst="ellipse">
            <a:avLst/>
          </a:prstGeom>
          <a:solidFill>
            <a:srgbClr val="FF3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6493588" y="4108343"/>
            <a:ext cx="2260555" cy="461665"/>
          </a:xfrm>
          <a:prstGeom prst="rect">
            <a:avLst/>
          </a:prstGeom>
          <a:noFill/>
        </p:spPr>
        <p:txBody>
          <a:bodyPr wrap="none" rtlCol="0">
            <a:spAutoFit/>
          </a:bodyPr>
          <a:lstStyle/>
          <a:p>
            <a:pPr algn="ctr"/>
            <a:r>
              <a:rPr lang="en-US" altLang="zh-CN" b="1" dirty="0">
                <a:effectLst>
                  <a:outerShdw blurRad="38100" dist="38100" dir="2700000" algn="tl">
                    <a:srgbClr val="000000">
                      <a:alpha val="43137"/>
                    </a:srgbClr>
                  </a:outerShdw>
                </a:effectLst>
              </a:rPr>
              <a:t>Critical nucleus</a:t>
            </a:r>
            <a:endParaRPr lang="en-US" b="1" dirty="0">
              <a:effectLst>
                <a:outerShdw blurRad="38100" dist="38100" dir="2700000" algn="tl">
                  <a:srgbClr val="000000">
                    <a:alpha val="43137"/>
                  </a:srgbClr>
                </a:outerShdw>
              </a:effectLst>
            </a:endParaRPr>
          </a:p>
        </p:txBody>
      </p:sp>
      <p:sp>
        <p:nvSpPr>
          <p:cNvPr id="21" name="TextBox 20"/>
          <p:cNvSpPr txBox="1"/>
          <p:nvPr/>
        </p:nvSpPr>
        <p:spPr>
          <a:xfrm>
            <a:off x="4616429" y="1053937"/>
            <a:ext cx="2653290" cy="830997"/>
          </a:xfrm>
          <a:prstGeom prst="rect">
            <a:avLst/>
          </a:prstGeom>
          <a:noFill/>
        </p:spPr>
        <p:txBody>
          <a:bodyPr wrap="none" rtlCol="0">
            <a:spAutoFit/>
          </a:bodyPr>
          <a:lstStyle/>
          <a:p>
            <a:pPr algn="ctr"/>
            <a:r>
              <a:rPr lang="en-US" altLang="zh-CN" b="1" dirty="0">
                <a:effectLst>
                  <a:outerShdw blurRad="38100" dist="38100" dir="2700000" algn="tl">
                    <a:srgbClr val="000000">
                      <a:alpha val="43137"/>
                    </a:srgbClr>
                  </a:outerShdw>
                </a:effectLst>
              </a:rPr>
              <a:t>An infinitely large </a:t>
            </a:r>
          </a:p>
          <a:p>
            <a:pPr algn="ctr"/>
            <a:r>
              <a:rPr lang="en-US" altLang="zh-CN" b="1" dirty="0">
                <a:effectLst>
                  <a:outerShdw blurRad="38100" dist="38100" dir="2700000" algn="tl">
                    <a:srgbClr val="000000">
                      <a:alpha val="43137"/>
                    </a:srgbClr>
                  </a:outerShdw>
                </a:effectLst>
              </a:rPr>
              <a:t>critical nucleus</a:t>
            </a:r>
            <a:endParaRPr lang="en-US" b="1" dirty="0">
              <a:effectLst>
                <a:outerShdw blurRad="38100" dist="38100" dir="2700000" algn="tl">
                  <a:srgbClr val="000000">
                    <a:alpha val="43137"/>
                  </a:srgbClr>
                </a:outerShdw>
              </a:effectLst>
            </a:endParaRPr>
          </a:p>
        </p:txBody>
      </p:sp>
      <p:sp>
        <p:nvSpPr>
          <p:cNvPr id="22" name="TextBox 21"/>
          <p:cNvSpPr txBox="1"/>
          <p:nvPr/>
        </p:nvSpPr>
        <p:spPr>
          <a:xfrm>
            <a:off x="7170857" y="2682989"/>
            <a:ext cx="906017" cy="461665"/>
          </a:xfrm>
          <a:prstGeom prst="rect">
            <a:avLst/>
          </a:prstGeom>
          <a:noFill/>
        </p:spPr>
        <p:txBody>
          <a:bodyPr wrap="none" rtlCol="0">
            <a:spAutoFit/>
          </a:bodyPr>
          <a:lstStyle/>
          <a:p>
            <a:r>
              <a:rPr lang="en-US" altLang="zh-CN" i="1" dirty="0"/>
              <a:t>∆T=0</a:t>
            </a:r>
            <a:endParaRPr lang="en-US"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260648"/>
            <a:ext cx="6923112" cy="1371600"/>
          </a:xfrm>
        </p:spPr>
        <p:txBody>
          <a:bodyPr>
            <a:noAutofit/>
          </a:bodyPr>
          <a:lstStyle/>
          <a:p>
            <a:pPr algn="l"/>
            <a:r>
              <a:rPr lang="en-US" altLang="zh-CN" sz="2800" dirty="0"/>
              <a:t>Three stages of spontaneous nucleation and growth of crystals</a:t>
            </a:r>
            <a:endParaRPr lang="en-US" sz="2800" dirty="0"/>
          </a:p>
        </p:txBody>
      </p:sp>
      <p:graphicFrame>
        <p:nvGraphicFramePr>
          <p:cNvPr id="4" name="Diagram 3"/>
          <p:cNvGraphicFramePr/>
          <p:nvPr/>
        </p:nvGraphicFramePr>
        <p:xfrm>
          <a:off x="971600" y="1844824"/>
          <a:ext cx="7200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569893"/>
            <a:ext cx="7931224" cy="95410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rtlCol="0" anchor="b">
            <a:spAutoFit/>
          </a:bodyPr>
          <a:lstStyle/>
          <a:p>
            <a:r>
              <a:rPr lang="zh-CN" altLang="en-US" sz="2800" dirty="0">
                <a:effectLst/>
                <a:latin typeface="+mn-lt"/>
              </a:rPr>
              <a:t>（</a:t>
            </a:r>
            <a:r>
              <a:rPr lang="en-US" altLang="zh-CN" sz="2800" dirty="0">
                <a:effectLst/>
                <a:latin typeface="+mn-lt"/>
              </a:rPr>
              <a:t>II</a:t>
            </a:r>
            <a:r>
              <a:rPr lang="zh-CN" altLang="en-US" sz="2800" dirty="0">
                <a:effectLst/>
                <a:latin typeface="+mn-lt"/>
              </a:rPr>
              <a:t>）</a:t>
            </a:r>
            <a:r>
              <a:rPr lang="en-US" altLang="zh-CN" sz="2800" dirty="0">
                <a:effectLst/>
                <a:latin typeface="+mn-lt"/>
              </a:rPr>
              <a:t>Heterogeneous nucleation (non spontaneous nucleation)</a:t>
            </a:r>
            <a:endParaRPr lang="zh-CN" altLang="en-US" sz="2800" dirty="0">
              <a:effectLst/>
              <a:latin typeface="+mn-lt"/>
            </a:endParaRPr>
          </a:p>
        </p:txBody>
      </p:sp>
      <p:sp>
        <p:nvSpPr>
          <p:cNvPr id="39939" name="Rectangle 3"/>
          <p:cNvSpPr>
            <a:spLocks noGrp="1" noChangeArrowheads="1"/>
          </p:cNvSpPr>
          <p:nvPr>
            <p:ph type="body" idx="1"/>
          </p:nvPr>
        </p:nvSpPr>
        <p:spPr>
          <a:xfrm>
            <a:off x="467544" y="1916832"/>
            <a:ext cx="8077200" cy="4484712"/>
          </a:xfrm>
        </p:spPr>
        <p:txBody>
          <a:bodyPr/>
          <a:lstStyle/>
          <a:p>
            <a:pPr>
              <a:defRPr/>
            </a:pPr>
            <a:r>
              <a:rPr lang="en-US" altLang="zh-CN" sz="2400" b="0" u="sng" dirty="0"/>
              <a:t>On the phase boundary surface</a:t>
            </a:r>
            <a:r>
              <a:rPr lang="en-US" altLang="zh-CN" sz="2400" b="0" dirty="0"/>
              <a:t>, such as foreign particles, the container wall and the original crystal surface, the formed nuclei are called non spontaneous nucleation </a:t>
            </a:r>
            <a:r>
              <a:rPr lang="zh-CN" altLang="en-US" sz="2400" b="0" dirty="0"/>
              <a:t>（非均匀成核、非自发成核或者异相成核）</a:t>
            </a:r>
            <a:r>
              <a:rPr lang="en-US" altLang="zh-CN" sz="2400" b="0" dirty="0"/>
              <a:t>.</a:t>
            </a:r>
          </a:p>
          <a:p>
            <a:pPr>
              <a:defRPr/>
            </a:pPr>
            <a:r>
              <a:rPr lang="en-US" altLang="zh-CN" sz="2400" dirty="0">
                <a:solidFill>
                  <a:srgbClr val="FF0000"/>
                </a:solidFill>
              </a:rPr>
              <a:t>In nature</a:t>
            </a:r>
            <a:r>
              <a:rPr lang="en-US" altLang="zh-CN" sz="2400" b="0" dirty="0"/>
              <a:t>: rain, snow, and hail (</a:t>
            </a:r>
            <a:r>
              <a:rPr lang="zh-CN" altLang="en-US" sz="2400" b="0" dirty="0"/>
              <a:t>冰雹</a:t>
            </a:r>
            <a:r>
              <a:rPr lang="en-US" altLang="zh-CN" sz="2400" b="0" dirty="0"/>
              <a:t>)</a:t>
            </a:r>
          </a:p>
          <a:p>
            <a:pPr>
              <a:defRPr/>
            </a:pPr>
            <a:r>
              <a:rPr lang="en-US" altLang="zh-CN" sz="2400" dirty="0">
                <a:solidFill>
                  <a:srgbClr val="FF0000"/>
                </a:solidFill>
              </a:rPr>
              <a:t>In industrial production</a:t>
            </a:r>
            <a:r>
              <a:rPr lang="en-US" altLang="zh-CN" sz="2400" b="0" dirty="0"/>
              <a:t>: ingot</a:t>
            </a:r>
            <a:r>
              <a:rPr lang="zh-CN" altLang="en-US" sz="2400" b="0" dirty="0"/>
              <a:t>（铸锭）</a:t>
            </a:r>
            <a:r>
              <a:rPr lang="en-US" altLang="zh-CN" sz="2400" b="0" dirty="0"/>
              <a:t>, casting(</a:t>
            </a:r>
            <a:r>
              <a:rPr lang="zh-CN" altLang="en-US" sz="2400" b="0" dirty="0"/>
              <a:t>铸件）</a:t>
            </a:r>
            <a:r>
              <a:rPr lang="en-US" altLang="zh-CN" sz="2400" b="0" dirty="0"/>
              <a:t>, sugar making and salt making</a:t>
            </a:r>
          </a:p>
          <a:p>
            <a:pPr>
              <a:defRPr/>
            </a:pPr>
            <a:r>
              <a:rPr lang="en-US" altLang="zh-CN" sz="2400" dirty="0">
                <a:solidFill>
                  <a:srgbClr val="FF0000"/>
                </a:solidFill>
              </a:rPr>
              <a:t>Single crystal growth</a:t>
            </a:r>
            <a:r>
              <a:rPr lang="en-US" altLang="zh-CN" sz="2400" b="0" dirty="0"/>
              <a:t>: the epitaxial growth of thin films and big crystals</a:t>
            </a:r>
          </a:p>
          <a:p>
            <a:pPr eaLnBrk="1" hangingPunct="1">
              <a:lnSpc>
                <a:spcPct val="120000"/>
              </a:lnSpc>
              <a:spcAft>
                <a:spcPct val="0"/>
              </a:spcAft>
              <a:buFontTx/>
              <a:buNone/>
              <a:defRPr/>
            </a:pPr>
            <a:endParaRPr lang="zh-CN" altLang="en-US" sz="2400" b="0" dirty="0"/>
          </a:p>
          <a:p>
            <a:pPr>
              <a:defRPr/>
            </a:pPr>
            <a:endParaRPr lang="zh-CN" altLang="en-US" b="0" dirty="0">
              <a:solidFill>
                <a:srgbClr val="2B0FFB"/>
              </a:solidFill>
            </a:endParaRPr>
          </a:p>
        </p:txBody>
      </p:sp>
      <p:sp>
        <p:nvSpPr>
          <p:cNvPr id="2" name="TextBox 1"/>
          <p:cNvSpPr txBox="1"/>
          <p:nvPr/>
        </p:nvSpPr>
        <p:spPr>
          <a:xfrm>
            <a:off x="467544" y="6021287"/>
            <a:ext cx="8097374" cy="830997"/>
          </a:xfrm>
          <a:prstGeom prst="rect">
            <a:avLst/>
          </a:prstGeom>
          <a:solidFill>
            <a:schemeClr val="tx2">
              <a:lumMod val="20000"/>
              <a:lumOff val="80000"/>
            </a:schemeClr>
          </a:solidFill>
        </p:spPr>
        <p:txBody>
          <a:bodyPr wrap="square" rtlCol="0">
            <a:spAutoFit/>
          </a:bodyPr>
          <a:lstStyle/>
          <a:p>
            <a:r>
              <a:rPr lang="en-US" b="1" dirty="0"/>
              <a:t>MP: find some pics and videos for above cases of non-spontaneous nucleation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72078" y="1052736"/>
            <a:ext cx="3450827" cy="2164853"/>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245130"/>
            <a:ext cx="8634884"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rtlCol="0" anchor="b">
            <a:spAutoFit/>
          </a:bodyPr>
          <a:lstStyle/>
          <a:p>
            <a:r>
              <a:rPr lang="en-US" altLang="zh-CN" sz="2800" dirty="0">
                <a:effectLst/>
                <a:latin typeface="+mn-lt"/>
              </a:rPr>
              <a:t>Heterogeneous nucleation on substrate surface</a:t>
            </a:r>
            <a:endParaRPr sz="2800" dirty="0">
              <a:effectLst/>
              <a:latin typeface="+mn-lt"/>
            </a:endParaRPr>
          </a:p>
        </p:txBody>
      </p:sp>
      <p:sp>
        <p:nvSpPr>
          <p:cNvPr id="3" name="Content Placeholder 2"/>
          <p:cNvSpPr>
            <a:spLocks noGrp="1"/>
          </p:cNvSpPr>
          <p:nvPr>
            <p:ph idx="1"/>
          </p:nvPr>
        </p:nvSpPr>
        <p:spPr>
          <a:xfrm>
            <a:off x="457200" y="1124744"/>
            <a:ext cx="3835400" cy="3888432"/>
          </a:xfrm>
        </p:spPr>
        <p:txBody>
          <a:bodyPr/>
          <a:lstStyle/>
          <a:p>
            <a:pPr>
              <a:defRPr/>
            </a:pPr>
            <a:r>
              <a:rPr lang="en-US" altLang="zh-CN" dirty="0">
                <a:solidFill>
                  <a:srgbClr val="FF0000"/>
                </a:solidFill>
              </a:rPr>
              <a:t>Features of nucleation on substrate surface:</a:t>
            </a:r>
          </a:p>
          <a:p>
            <a:pPr>
              <a:defRPr/>
            </a:pPr>
            <a:r>
              <a:rPr lang="en-US" altLang="zh-CN" dirty="0"/>
              <a:t>Spherical cap nucleus;</a:t>
            </a:r>
          </a:p>
          <a:p>
            <a:pPr>
              <a:defRPr/>
            </a:pPr>
            <a:r>
              <a:rPr lang="en-US" altLang="zh-CN" dirty="0"/>
              <a:t>Catalytic function;</a:t>
            </a:r>
          </a:p>
          <a:p>
            <a:pPr>
              <a:defRPr/>
            </a:pPr>
            <a:r>
              <a:rPr lang="en-US" altLang="zh-CN" dirty="0"/>
              <a:t>Larger nucleation rate.</a:t>
            </a:r>
          </a:p>
        </p:txBody>
      </p:sp>
      <p:grpSp>
        <p:nvGrpSpPr>
          <p:cNvPr id="30" name="Group 29"/>
          <p:cNvGrpSpPr/>
          <p:nvPr/>
        </p:nvGrpSpPr>
        <p:grpSpPr>
          <a:xfrm>
            <a:off x="466521" y="1196752"/>
            <a:ext cx="8632156" cy="3600400"/>
            <a:chOff x="395536" y="647750"/>
            <a:chExt cx="8632156" cy="3600400"/>
          </a:xfrm>
        </p:grpSpPr>
        <p:pic>
          <p:nvPicPr>
            <p:cNvPr id="235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1152525"/>
              <a:ext cx="3914775" cy="309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a:spLocks noRot="1" noChangeAspect="1" noMove="1" noResize="1" noEditPoints="1" noAdjustHandles="1" noChangeArrowheads="1" noChangeShapeType="1" noTextEdit="1"/>
            </p:cNvSpPr>
            <p:nvPr/>
          </p:nvSpPr>
          <p:spPr>
            <a:xfrm>
              <a:off x="7006791" y="1248377"/>
              <a:ext cx="676019" cy="461665"/>
            </a:xfrm>
            <a:prstGeom prst="rect">
              <a:avLst/>
            </a:prstGeom>
            <a:blipFill rotWithShape="1">
              <a:blip r:embed="rId4"/>
              <a:stretch>
                <a:fillRect/>
              </a:stretch>
            </a:blipFill>
          </p:spPr>
          <p:txBody>
            <a:bodyPr/>
            <a:lstStyle/>
            <a:p>
              <a:r>
                <a:rPr lang="en-US">
                  <a:noFill/>
                </a:rPr>
                <a:t> </a:t>
              </a:r>
            </a:p>
          </p:txBody>
        </p:sp>
        <p:sp>
          <p:nvSpPr>
            <p:cNvPr id="7" name="Rectangle 6"/>
            <p:cNvSpPr>
              <a:spLocks noRot="1" noChangeAspect="1" noMove="1" noResize="1" noEditPoints="1" noAdjustHandles="1" noChangeArrowheads="1" noChangeShapeType="1" noTextEdit="1"/>
            </p:cNvSpPr>
            <p:nvPr/>
          </p:nvSpPr>
          <p:spPr>
            <a:xfrm>
              <a:off x="7936616" y="1754441"/>
              <a:ext cx="698268" cy="461665"/>
            </a:xfrm>
            <a:prstGeom prst="rect">
              <a:avLst/>
            </a:prstGeom>
            <a:blipFill rotWithShape="1">
              <a:blip r:embed="rId5"/>
              <a:stretch>
                <a:fillRect/>
              </a:stretch>
            </a:blipFill>
          </p:spPr>
          <p:txBody>
            <a:bodyPr/>
            <a:lstStyle/>
            <a:p>
              <a:r>
                <a:rPr lang="en-US">
                  <a:noFill/>
                </a:rPr>
                <a:t> </a:t>
              </a:r>
            </a:p>
          </p:txBody>
        </p:sp>
        <p:sp>
          <p:nvSpPr>
            <p:cNvPr id="6" name="Rectangle 5"/>
            <p:cNvSpPr/>
            <p:nvPr/>
          </p:nvSpPr>
          <p:spPr>
            <a:xfrm>
              <a:off x="6961188" y="1985963"/>
              <a:ext cx="384175" cy="230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a:spLocks noRot="1" noChangeAspect="1" noMove="1" noResize="1" noEditPoints="1" noAdjustHandles="1" noChangeArrowheads="1" noChangeShapeType="1" noTextEdit="1"/>
            </p:cNvSpPr>
            <p:nvPr/>
          </p:nvSpPr>
          <p:spPr>
            <a:xfrm>
              <a:off x="6867590" y="1822681"/>
              <a:ext cx="518522" cy="461665"/>
            </a:xfrm>
            <a:prstGeom prst="rect">
              <a:avLst/>
            </a:prstGeom>
            <a:blipFill rotWithShape="1">
              <a:blip r:embed="rId6"/>
              <a:stretch>
                <a:fillRect r="-7059"/>
              </a:stretch>
            </a:blipFill>
          </p:spPr>
          <p:txBody>
            <a:bodyPr/>
            <a:lstStyle/>
            <a:p>
              <a:r>
                <a:rPr lang="en-US">
                  <a:noFill/>
                </a:rPr>
                <a:t> </a:t>
              </a:r>
            </a:p>
          </p:txBody>
        </p:sp>
        <p:sp>
          <p:nvSpPr>
            <p:cNvPr id="9" name="Oval 8"/>
            <p:cNvSpPr/>
            <p:nvPr/>
          </p:nvSpPr>
          <p:spPr>
            <a:xfrm>
              <a:off x="7820025" y="2170113"/>
              <a:ext cx="123825" cy="12541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29" name="Group 28"/>
            <p:cNvGrpSpPr/>
            <p:nvPr/>
          </p:nvGrpSpPr>
          <p:grpSpPr>
            <a:xfrm>
              <a:off x="395536" y="2232025"/>
              <a:ext cx="7352481" cy="1857480"/>
              <a:chOff x="467544" y="2232025"/>
              <a:chExt cx="7352481" cy="1857480"/>
            </a:xfrm>
          </p:grpSpPr>
          <p:sp>
            <p:nvSpPr>
              <p:cNvPr id="4" name="TextBox 3"/>
              <p:cNvSpPr txBox="1">
                <a:spLocks noRot="1" noChangeAspect="1" noMove="1" noResize="1" noEditPoints="1" noAdjustHandles="1" noChangeArrowheads="1" noChangeShapeType="1" noTextEdit="1"/>
              </p:cNvSpPr>
              <p:nvPr/>
            </p:nvSpPr>
            <p:spPr>
              <a:xfrm>
                <a:off x="467544" y="2889176"/>
                <a:ext cx="3456384" cy="1200329"/>
              </a:xfrm>
              <a:prstGeom prst="rect">
                <a:avLst/>
              </a:prstGeom>
              <a:blipFill rotWithShape="1">
                <a:blip r:embed="rId7"/>
                <a:stretch>
                  <a:fillRect t="-4061" b="-10660"/>
                </a:stretch>
              </a:blipFill>
            </p:spPr>
            <p:txBody>
              <a:bodyPr/>
              <a:lstStyle/>
              <a:p>
                <a:r>
                  <a:rPr lang="en-US">
                    <a:noFill/>
                  </a:rPr>
                  <a:t> </a:t>
                </a:r>
              </a:p>
            </p:txBody>
          </p:sp>
          <p:cxnSp>
            <p:nvCxnSpPr>
              <p:cNvPr id="11" name="Straight Arrow Connector 10"/>
              <p:cNvCxnSpPr>
                <a:stCxn id="9" idx="2"/>
              </p:cNvCxnSpPr>
              <p:nvPr/>
            </p:nvCxnSpPr>
            <p:spPr>
              <a:xfrm flipH="1">
                <a:off x="3492500" y="2232025"/>
                <a:ext cx="4327525" cy="8731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5" name="TextBox 14"/>
            <p:cNvSpPr txBox="1"/>
            <p:nvPr/>
          </p:nvSpPr>
          <p:spPr>
            <a:xfrm>
              <a:off x="4159052" y="647750"/>
              <a:ext cx="4868640" cy="400110"/>
            </a:xfrm>
            <a:prstGeom prst="rect">
              <a:avLst/>
            </a:prstGeom>
            <a:noFill/>
          </p:spPr>
          <p:txBody>
            <a:bodyPr wrap="none" rtlCol="0">
              <a:spAutoFit/>
            </a:bodyPr>
            <a:lstStyle/>
            <a:p>
              <a:r>
                <a:rPr lang="el-GR" altLang="zh-CN" sz="2000" b="1" dirty="0"/>
                <a:t>ϴ</a:t>
              </a:r>
              <a:r>
                <a:rPr lang="zh-CN" altLang="en-US" sz="2000" b="1" dirty="0"/>
                <a:t>： </a:t>
              </a:r>
              <a:r>
                <a:rPr lang="en-US" altLang="zh-CN" sz="2000" b="1" dirty="0"/>
                <a:t>contact angle of substrate and nucleus</a:t>
              </a:r>
              <a:endParaRPr lang="zh-CN" altLang="en-US" sz="2000" b="1" dirty="0"/>
            </a:p>
          </p:txBody>
        </p:sp>
        <p:sp>
          <p:nvSpPr>
            <p:cNvPr id="25" name="Rectangle 24"/>
            <p:cNvSpPr/>
            <p:nvPr/>
          </p:nvSpPr>
          <p:spPr>
            <a:xfrm>
              <a:off x="7236296" y="2889175"/>
              <a:ext cx="1597618" cy="1200329"/>
            </a:xfrm>
            <a:prstGeom prst="rect">
              <a:avLst/>
            </a:prstGeom>
            <a:solidFill>
              <a:schemeClr val="accent4">
                <a:lumMod val="20000"/>
                <a:lumOff val="80000"/>
              </a:schemeClr>
            </a:solidFill>
          </p:spPr>
          <p:txBody>
            <a:bodyPr wrap="square">
              <a:spAutoFit/>
            </a:bodyPr>
            <a:lstStyle/>
            <a:p>
              <a:r>
                <a:rPr lang="en-US" altLang="zh-CN" dirty="0"/>
                <a:t>c nucleus</a:t>
              </a:r>
              <a:endParaRPr lang="zh-CN" altLang="en-US" dirty="0"/>
            </a:p>
            <a:p>
              <a:r>
                <a:rPr lang="en-US" altLang="zh-CN" dirty="0"/>
                <a:t>v media</a:t>
              </a:r>
              <a:endParaRPr lang="zh-CN" altLang="en-US" dirty="0"/>
            </a:p>
            <a:p>
              <a:r>
                <a:rPr lang="en-US" altLang="zh-CN" dirty="0"/>
                <a:t>x substrate</a:t>
              </a:r>
              <a:endParaRPr lang="zh-CN" altLang="en-US" dirty="0"/>
            </a:p>
          </p:txBody>
        </p:sp>
        <p:cxnSp>
          <p:nvCxnSpPr>
            <p:cNvPr id="27" name="直接箭头连接符 26"/>
            <p:cNvCxnSpPr>
              <a:stCxn id="9" idx="5"/>
            </p:cNvCxnSpPr>
            <p:nvPr/>
          </p:nvCxnSpPr>
          <p:spPr>
            <a:xfrm>
              <a:off x="7925716" y="2277159"/>
              <a:ext cx="631430" cy="2017"/>
            </a:xfrm>
            <a:prstGeom prst="straightConnector1">
              <a:avLst/>
            </a:prstGeom>
            <a:ln>
              <a:solidFill>
                <a:srgbClr val="FF3300"/>
              </a:solidFill>
              <a:tailEnd type="arrow"/>
            </a:ln>
          </p:spPr>
          <p:style>
            <a:lnRef idx="1">
              <a:schemeClr val="accent1"/>
            </a:lnRef>
            <a:fillRef idx="0">
              <a:schemeClr val="accent1"/>
            </a:fillRef>
            <a:effectRef idx="0">
              <a:schemeClr val="accent1"/>
            </a:effectRef>
            <a:fontRef idx="minor">
              <a:schemeClr val="tx1"/>
            </a:fontRef>
          </p:style>
        </p:cxnSp>
      </p:grpSp>
      <p:sp>
        <p:nvSpPr>
          <p:cNvPr id="28" name="TextBox 27"/>
          <p:cNvSpPr txBox="1"/>
          <p:nvPr/>
        </p:nvSpPr>
        <p:spPr>
          <a:xfrm>
            <a:off x="472078" y="4894515"/>
            <a:ext cx="6311343" cy="1323439"/>
          </a:xfrm>
          <a:prstGeom prst="rect">
            <a:avLst/>
          </a:prstGeom>
          <a:noFill/>
        </p:spPr>
        <p:txBody>
          <a:bodyPr wrap="none" rtlCol="0">
            <a:spAutoFit/>
          </a:bodyPr>
          <a:lstStyle/>
          <a:p>
            <a:r>
              <a:rPr lang="el-GR" sz="2000" i="1" dirty="0"/>
              <a:t>σ</a:t>
            </a:r>
            <a:r>
              <a:rPr lang="en-US" sz="2000" i="1" baseline="-25000" dirty="0"/>
              <a:t>cv</a:t>
            </a:r>
            <a:r>
              <a:rPr lang="en-US" sz="2000" i="1" dirty="0"/>
              <a:t> </a:t>
            </a:r>
            <a:r>
              <a:rPr lang="en-US" sz="2000" dirty="0"/>
              <a:t>is the </a:t>
            </a:r>
            <a:r>
              <a:rPr lang="en-US" altLang="zh-CN" sz="2000" dirty="0"/>
              <a:t>surface tension </a:t>
            </a:r>
            <a:r>
              <a:rPr lang="en-US" sz="2000" dirty="0"/>
              <a:t>between nucleus and fluid media;</a:t>
            </a:r>
          </a:p>
          <a:p>
            <a:r>
              <a:rPr lang="el-GR" sz="2000" i="1" dirty="0"/>
              <a:t>σ</a:t>
            </a:r>
            <a:r>
              <a:rPr lang="en-US" sz="2000" i="1" baseline="-25000" dirty="0"/>
              <a:t>cx</a:t>
            </a:r>
            <a:r>
              <a:rPr lang="en-US" sz="2000" i="1" dirty="0"/>
              <a:t> </a:t>
            </a:r>
            <a:r>
              <a:rPr lang="en-US" sz="2000" dirty="0"/>
              <a:t>is the </a:t>
            </a:r>
            <a:r>
              <a:rPr lang="en-US" altLang="zh-CN" sz="2000" dirty="0"/>
              <a:t>surface tension </a:t>
            </a:r>
            <a:r>
              <a:rPr lang="en-US" sz="2000" dirty="0"/>
              <a:t>between nucleus and substrate;</a:t>
            </a:r>
            <a:endParaRPr lang="en-US" sz="2000" baseline="-25000" dirty="0"/>
          </a:p>
          <a:p>
            <a:r>
              <a:rPr lang="el-GR" sz="2000" i="1" dirty="0"/>
              <a:t>σ</a:t>
            </a:r>
            <a:r>
              <a:rPr lang="en-US" sz="2000" i="1" baseline="-25000" dirty="0"/>
              <a:t>xv</a:t>
            </a:r>
            <a:r>
              <a:rPr lang="en-US" sz="2000" i="1" dirty="0"/>
              <a:t> </a:t>
            </a:r>
            <a:r>
              <a:rPr lang="en-US" sz="2000" dirty="0"/>
              <a:t>is the </a:t>
            </a:r>
            <a:r>
              <a:rPr lang="en-US" altLang="zh-CN" sz="2000" dirty="0"/>
              <a:t>surface tension </a:t>
            </a:r>
            <a:r>
              <a:rPr lang="en-US" sz="2000" dirty="0"/>
              <a:t>between substrate and fluid media;</a:t>
            </a:r>
            <a:endParaRPr lang="en-US" sz="2000" baseline="-25000" dirty="0"/>
          </a:p>
          <a:p>
            <a:r>
              <a:rPr lang="en-US" sz="2000" i="1" dirty="0"/>
              <a:t>r </a:t>
            </a:r>
            <a:r>
              <a:rPr lang="en-US" sz="2000" dirty="0"/>
              <a:t>is the radius of the spherical cap nucleus;</a:t>
            </a:r>
            <a:endParaRPr lang="en-US" sz="2000" baseline="-250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5130"/>
            <a:ext cx="8634884"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effectLst/>
                <a:latin typeface="+mn-lt"/>
              </a:rPr>
              <a:t>Heterogeneous nucleation on substrate surface</a:t>
            </a:r>
            <a:endParaRPr sz="2800" dirty="0">
              <a:effectLst/>
              <a:latin typeface="+mn-lt"/>
            </a:endParaRPr>
          </a:p>
        </p:txBody>
      </p:sp>
      <p:sp>
        <p:nvSpPr>
          <p:cNvPr id="13" name="TextBox 12"/>
          <p:cNvSpPr txBox="1"/>
          <p:nvPr/>
        </p:nvSpPr>
        <p:spPr>
          <a:xfrm>
            <a:off x="395536" y="879605"/>
            <a:ext cx="8424862" cy="1015663"/>
          </a:xfrm>
          <a:prstGeom prst="rect">
            <a:avLst/>
          </a:prstGeom>
          <a:noFill/>
        </p:spPr>
        <p:txBody>
          <a:bodyPr wrap="square">
            <a:spAutoFit/>
          </a:bodyPr>
          <a:lstStyle/>
          <a:p>
            <a:pPr>
              <a:defRPr/>
            </a:pPr>
            <a:r>
              <a:rPr lang="en-US" altLang="zh-CN" sz="2000" b="1" dirty="0">
                <a:latin typeface="+mn-lt"/>
                <a:ea typeface="+mn-ea"/>
              </a:rPr>
              <a:t>When the spherical cap nucleus is formed on the substrate, two interfaces are created: CV interface and CX interface. Original XV interface disappears.</a:t>
            </a:r>
            <a:endParaRPr lang="en-US" sz="2000" b="1" dirty="0">
              <a:latin typeface="+mn-lt"/>
              <a:ea typeface="+mn-ea"/>
            </a:endParaRPr>
          </a:p>
        </p:txBody>
      </p:sp>
      <p:grpSp>
        <p:nvGrpSpPr>
          <p:cNvPr id="23562" name="Group 23561"/>
          <p:cNvGrpSpPr/>
          <p:nvPr/>
        </p:nvGrpSpPr>
        <p:grpSpPr>
          <a:xfrm>
            <a:off x="0" y="2223104"/>
            <a:ext cx="8834665" cy="4149942"/>
            <a:chOff x="0" y="2223104"/>
            <a:chExt cx="8834665" cy="4149942"/>
          </a:xfrm>
        </p:grpSpPr>
        <p:grpSp>
          <p:nvGrpSpPr>
            <p:cNvPr id="23559" name="Group 23558"/>
            <p:cNvGrpSpPr/>
            <p:nvPr/>
          </p:nvGrpSpPr>
          <p:grpSpPr>
            <a:xfrm>
              <a:off x="4919890" y="3277421"/>
              <a:ext cx="3914775" cy="3095625"/>
              <a:chOff x="4919890" y="3277421"/>
              <a:chExt cx="3914775" cy="3095625"/>
            </a:xfrm>
          </p:grpSpPr>
          <p:pic>
            <p:nvPicPr>
              <p:cNvPr id="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9890" y="3277421"/>
                <a:ext cx="3914775" cy="309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 name="Rectangle 31"/>
              <p:cNvSpPr>
                <a:spLocks noRot="1" noChangeAspect="1" noMove="1" noResize="1" noEditPoints="1" noAdjustHandles="1" noChangeArrowheads="1" noChangeShapeType="1" noTextEdit="1"/>
              </p:cNvSpPr>
              <p:nvPr/>
            </p:nvSpPr>
            <p:spPr>
              <a:xfrm>
                <a:off x="6922881" y="3373273"/>
                <a:ext cx="676019" cy="461665"/>
              </a:xfrm>
              <a:prstGeom prst="rect">
                <a:avLst/>
              </a:prstGeom>
              <a:blipFill rotWithShape="1">
                <a:blip r:embed="rId4"/>
                <a:stretch>
                  <a:fillRect/>
                </a:stretch>
              </a:blipFill>
            </p:spPr>
            <p:txBody>
              <a:bodyPr/>
              <a:lstStyle/>
              <a:p>
                <a:r>
                  <a:rPr lang="en-US">
                    <a:noFill/>
                  </a:rPr>
                  <a:t> </a:t>
                </a:r>
              </a:p>
            </p:txBody>
          </p:sp>
          <p:sp>
            <p:nvSpPr>
              <p:cNvPr id="33" name="Rectangle 32"/>
              <p:cNvSpPr>
                <a:spLocks noRot="1" noChangeAspect="1" noMove="1" noResize="1" noEditPoints="1" noAdjustHandles="1" noChangeArrowheads="1" noChangeShapeType="1" noTextEdit="1"/>
              </p:cNvSpPr>
              <p:nvPr/>
            </p:nvSpPr>
            <p:spPr>
              <a:xfrm>
                <a:off x="7852706" y="3879337"/>
                <a:ext cx="698268" cy="461665"/>
              </a:xfrm>
              <a:prstGeom prst="rect">
                <a:avLst/>
              </a:prstGeom>
              <a:blipFill rotWithShape="1">
                <a:blip r:embed="rId5"/>
                <a:stretch>
                  <a:fillRect/>
                </a:stretch>
              </a:blipFill>
            </p:spPr>
            <p:txBody>
              <a:bodyPr/>
              <a:lstStyle/>
              <a:p>
                <a:r>
                  <a:rPr lang="en-US">
                    <a:noFill/>
                  </a:rPr>
                  <a:t> </a:t>
                </a:r>
              </a:p>
            </p:txBody>
          </p:sp>
          <p:sp>
            <p:nvSpPr>
              <p:cNvPr id="34" name="Rectangle 33"/>
              <p:cNvSpPr/>
              <p:nvPr/>
            </p:nvSpPr>
            <p:spPr>
              <a:xfrm>
                <a:off x="6877278" y="4110859"/>
                <a:ext cx="384175" cy="230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Rectangle 34"/>
              <p:cNvSpPr>
                <a:spLocks noRot="1" noChangeAspect="1" noMove="1" noResize="1" noEditPoints="1" noAdjustHandles="1" noChangeArrowheads="1" noChangeShapeType="1" noTextEdit="1"/>
              </p:cNvSpPr>
              <p:nvPr/>
            </p:nvSpPr>
            <p:spPr>
              <a:xfrm>
                <a:off x="6783680" y="3947577"/>
                <a:ext cx="518522" cy="461665"/>
              </a:xfrm>
              <a:prstGeom prst="rect">
                <a:avLst/>
              </a:prstGeom>
              <a:blipFill rotWithShape="1">
                <a:blip r:embed="rId6"/>
                <a:stretch>
                  <a:fillRect r="-7059"/>
                </a:stretch>
              </a:blipFill>
            </p:spPr>
            <p:txBody>
              <a:bodyPr/>
              <a:lstStyle/>
              <a:p>
                <a:r>
                  <a:rPr lang="en-US">
                    <a:noFill/>
                  </a:rPr>
                  <a:t> </a:t>
                </a:r>
              </a:p>
            </p:txBody>
          </p:sp>
          <p:sp>
            <p:nvSpPr>
              <p:cNvPr id="36" name="Oval 35"/>
              <p:cNvSpPr/>
              <p:nvPr/>
            </p:nvSpPr>
            <p:spPr>
              <a:xfrm>
                <a:off x="7736115" y="4295009"/>
                <a:ext cx="123825" cy="12541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9" name="Rectangle 38"/>
              <p:cNvSpPr/>
              <p:nvPr/>
            </p:nvSpPr>
            <p:spPr>
              <a:xfrm>
                <a:off x="7230946" y="4605404"/>
                <a:ext cx="1597618" cy="1200329"/>
              </a:xfrm>
              <a:prstGeom prst="rect">
                <a:avLst/>
              </a:prstGeom>
            </p:spPr>
            <p:txBody>
              <a:bodyPr wrap="square">
                <a:spAutoFit/>
              </a:bodyPr>
              <a:lstStyle/>
              <a:p>
                <a:r>
                  <a:rPr lang="en-US" altLang="zh-CN" dirty="0"/>
                  <a:t>c nucleus</a:t>
                </a:r>
                <a:endParaRPr lang="zh-CN" altLang="en-US" dirty="0"/>
              </a:p>
              <a:p>
                <a:r>
                  <a:rPr lang="en-US" altLang="zh-CN" dirty="0"/>
                  <a:t>v media</a:t>
                </a:r>
                <a:endParaRPr lang="zh-CN" altLang="en-US" dirty="0"/>
              </a:p>
              <a:p>
                <a:r>
                  <a:rPr lang="en-US" altLang="zh-CN" dirty="0"/>
                  <a:t>x substrate</a:t>
                </a:r>
                <a:endParaRPr lang="zh-CN" altLang="en-US" dirty="0"/>
              </a:p>
            </p:txBody>
          </p:sp>
          <p:cxnSp>
            <p:nvCxnSpPr>
              <p:cNvPr id="40" name="直接箭头连接符 26"/>
              <p:cNvCxnSpPr>
                <a:stCxn id="36" idx="5"/>
              </p:cNvCxnSpPr>
              <p:nvPr/>
            </p:nvCxnSpPr>
            <p:spPr>
              <a:xfrm>
                <a:off x="7841806" y="4402055"/>
                <a:ext cx="631430" cy="2017"/>
              </a:xfrm>
              <a:prstGeom prst="straightConnector1">
                <a:avLst/>
              </a:prstGeom>
              <a:ln>
                <a:solidFill>
                  <a:srgbClr val="FF3300"/>
                </a:solidFill>
                <a:tailEnd type="arrow"/>
              </a:ln>
            </p:spPr>
            <p:style>
              <a:lnRef idx="1">
                <a:schemeClr val="accent1"/>
              </a:lnRef>
              <a:fillRef idx="0">
                <a:schemeClr val="accent1"/>
              </a:fillRef>
              <a:effectRef idx="0">
                <a:schemeClr val="accent1"/>
              </a:effectRef>
              <a:fontRef idx="minor">
                <a:schemeClr val="tx1"/>
              </a:fontRef>
            </p:style>
          </p:cxnSp>
          <p:cxnSp>
            <p:nvCxnSpPr>
              <p:cNvPr id="23552" name="Straight Arrow Connector 23551"/>
              <p:cNvCxnSpPr/>
              <p:nvPr/>
            </p:nvCxnSpPr>
            <p:spPr>
              <a:xfrm flipV="1">
                <a:off x="5699852" y="3309642"/>
                <a:ext cx="927525" cy="985369"/>
              </a:xfrm>
              <a:prstGeom prst="straightConnector1">
                <a:avLst/>
              </a:prstGeom>
              <a:ln w="57150">
                <a:solidFill>
                  <a:schemeClr val="bg1"/>
                </a:solidFill>
                <a:tailEnd type="arrow"/>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936844" y="2223104"/>
              <a:ext cx="6623834" cy="493485"/>
              <a:chOff x="484020" y="5441813"/>
              <a:chExt cx="6623834" cy="493485"/>
            </a:xfrm>
          </p:grpSpPr>
          <p:grpSp>
            <p:nvGrpSpPr>
              <p:cNvPr id="18" name="Group 17"/>
              <p:cNvGrpSpPr/>
              <p:nvPr/>
            </p:nvGrpSpPr>
            <p:grpSpPr>
              <a:xfrm>
                <a:off x="484020" y="5441813"/>
                <a:ext cx="6623834" cy="493485"/>
                <a:chOff x="51972" y="5441813"/>
                <a:chExt cx="6623834" cy="493485"/>
              </a:xfrm>
            </p:grpSpPr>
            <p:sp>
              <p:nvSpPr>
                <p:cNvPr id="17" name="Rectangle 16"/>
                <p:cNvSpPr>
                  <a:spLocks noRot="1" noChangeAspect="1" noMove="1" noResize="1" noEditPoints="1" noAdjustHandles="1" noChangeArrowheads="1" noChangeShapeType="1" noTextEdit="1"/>
                </p:cNvSpPr>
                <p:nvPr/>
              </p:nvSpPr>
              <p:spPr>
                <a:xfrm>
                  <a:off x="1400955" y="5441813"/>
                  <a:ext cx="5274851" cy="461665"/>
                </a:xfrm>
                <a:prstGeom prst="rect">
                  <a:avLst/>
                </a:prstGeom>
                <a:blipFill rotWithShape="1">
                  <a:blip r:embed="rId7"/>
                  <a:srcRect/>
                  <a:stretch>
                    <a:fillRect l="-16736" t="-12000" b="-37333"/>
                  </a:stretch>
                </a:blipFill>
              </p:spPr>
              <p:txBody>
                <a:bodyPr/>
                <a:lstStyle/>
                <a:p>
                  <a:r>
                    <a:rPr lang="en-US">
                      <a:noFill/>
                    </a:rPr>
                    <a:t> </a:t>
                  </a:r>
                </a:p>
              </p:txBody>
            </p:sp>
            <p:sp>
              <p:nvSpPr>
                <p:cNvPr id="10" name="TextBox 9"/>
                <p:cNvSpPr txBox="1"/>
                <p:nvPr/>
              </p:nvSpPr>
              <p:spPr>
                <a:xfrm>
                  <a:off x="4132723" y="5460053"/>
                  <a:ext cx="2348408" cy="461665"/>
                </a:xfrm>
                <a:prstGeom prst="rect">
                  <a:avLst/>
                </a:prstGeom>
                <a:solidFill>
                  <a:schemeClr val="bg1"/>
                </a:solidFill>
              </p:spPr>
              <p:txBody>
                <a:bodyPr wrap="square" rtlCol="0">
                  <a:spAutoFit/>
                </a:bodyPr>
                <a:lstStyle/>
                <a:p>
                  <a:r>
                    <a:rPr lang="en-US" altLang="zh-CN" b="1" i="1" dirty="0">
                      <a:solidFill>
                        <a:srgbClr val="FF0066"/>
                      </a:solidFill>
                      <a:effectLst>
                        <a:outerShdw blurRad="38100" dist="38100" dir="2700000" algn="tl">
                          <a:srgbClr val="000000">
                            <a:alpha val="43137"/>
                          </a:srgbClr>
                        </a:outerShdw>
                      </a:effectLst>
                    </a:rPr>
                    <a:t>+ </a:t>
                  </a:r>
                  <a:r>
                    <a:rPr lang="en-US" altLang="zh-CN" b="1" i="1" dirty="0" err="1">
                      <a:solidFill>
                        <a:srgbClr val="FF0066"/>
                      </a:solidFill>
                      <a:effectLst>
                        <a:outerShdw blurRad="38100" dist="38100" dir="2700000" algn="tl">
                          <a:srgbClr val="000000">
                            <a:alpha val="43137"/>
                          </a:srgbClr>
                        </a:outerShdw>
                      </a:effectLst>
                    </a:rPr>
                    <a:t>A</a:t>
                  </a:r>
                  <a:r>
                    <a:rPr lang="en-US" altLang="zh-CN" b="1" i="1" baseline="-25000" dirty="0" err="1">
                      <a:solidFill>
                        <a:srgbClr val="FF0066"/>
                      </a:solidFill>
                      <a:effectLst>
                        <a:outerShdw blurRad="38100" dist="38100" dir="2700000" algn="tl">
                          <a:srgbClr val="000000">
                            <a:alpha val="43137"/>
                          </a:srgbClr>
                        </a:outerShdw>
                      </a:effectLst>
                    </a:rPr>
                    <a:t>cx</a:t>
                  </a:r>
                  <a:r>
                    <a:rPr lang="el-GR" altLang="zh-CN" b="1" i="1" dirty="0">
                      <a:solidFill>
                        <a:srgbClr val="FF0066"/>
                      </a:solidFill>
                      <a:effectLst>
                        <a:outerShdw blurRad="38100" dist="38100" dir="2700000" algn="tl">
                          <a:srgbClr val="000000">
                            <a:alpha val="43137"/>
                          </a:srgbClr>
                        </a:outerShdw>
                      </a:effectLst>
                    </a:rPr>
                    <a:t>σ</a:t>
                  </a:r>
                  <a:r>
                    <a:rPr lang="en-US" altLang="zh-CN" b="1" i="1" baseline="-25000" dirty="0">
                      <a:solidFill>
                        <a:srgbClr val="FF0066"/>
                      </a:solidFill>
                      <a:effectLst>
                        <a:outerShdw blurRad="38100" dist="38100" dir="2700000" algn="tl">
                          <a:srgbClr val="000000">
                            <a:alpha val="43137"/>
                          </a:srgbClr>
                        </a:outerShdw>
                      </a:effectLst>
                    </a:rPr>
                    <a:t>cx </a:t>
                  </a:r>
                  <a:r>
                    <a:rPr lang="en-US" altLang="zh-CN" b="1" i="1" dirty="0">
                      <a:solidFill>
                        <a:srgbClr val="FF0066"/>
                      </a:solidFill>
                      <a:effectLst>
                        <a:outerShdw blurRad="38100" dist="38100" dir="2700000" algn="tl">
                          <a:srgbClr val="000000">
                            <a:alpha val="43137"/>
                          </a:srgbClr>
                        </a:outerShdw>
                      </a:effectLst>
                    </a:rPr>
                    <a:t>- </a:t>
                  </a:r>
                  <a:r>
                    <a:rPr lang="en-US" altLang="zh-CN" b="1" i="1" dirty="0" err="1">
                      <a:solidFill>
                        <a:srgbClr val="FF0066"/>
                      </a:solidFill>
                      <a:effectLst>
                        <a:outerShdw blurRad="38100" dist="38100" dir="2700000" algn="tl">
                          <a:srgbClr val="000000">
                            <a:alpha val="43137"/>
                          </a:srgbClr>
                        </a:outerShdw>
                      </a:effectLst>
                    </a:rPr>
                    <a:t>A</a:t>
                  </a:r>
                  <a:r>
                    <a:rPr lang="en-US" altLang="zh-CN" b="1" i="1" baseline="-25000" dirty="0" err="1">
                      <a:solidFill>
                        <a:srgbClr val="FF0066"/>
                      </a:solidFill>
                      <a:effectLst>
                        <a:outerShdw blurRad="38100" dist="38100" dir="2700000" algn="tl">
                          <a:srgbClr val="000000">
                            <a:alpha val="43137"/>
                          </a:srgbClr>
                        </a:outerShdw>
                      </a:effectLst>
                    </a:rPr>
                    <a:t>xv</a:t>
                  </a:r>
                  <a:r>
                    <a:rPr lang="el-GR" altLang="zh-CN" b="1" i="1" dirty="0">
                      <a:solidFill>
                        <a:srgbClr val="FF0066"/>
                      </a:solidFill>
                      <a:effectLst>
                        <a:outerShdw blurRad="38100" dist="38100" dir="2700000" algn="tl">
                          <a:srgbClr val="000000">
                            <a:alpha val="43137"/>
                          </a:srgbClr>
                        </a:outerShdw>
                      </a:effectLst>
                    </a:rPr>
                    <a:t>σ</a:t>
                  </a:r>
                  <a:r>
                    <a:rPr lang="en-US" altLang="zh-CN" b="1" i="1" baseline="-25000" dirty="0">
                      <a:solidFill>
                        <a:srgbClr val="FF0066"/>
                      </a:solidFill>
                      <a:effectLst>
                        <a:outerShdw blurRad="38100" dist="38100" dir="2700000" algn="tl">
                          <a:srgbClr val="000000">
                            <a:alpha val="43137"/>
                          </a:srgbClr>
                        </a:outerShdw>
                      </a:effectLst>
                    </a:rPr>
                    <a:t>xv </a:t>
                  </a:r>
                  <a:r>
                    <a:rPr lang="zh-CN" altLang="en-US" b="1" i="1" dirty="0">
                      <a:solidFill>
                        <a:srgbClr val="FF0066"/>
                      </a:solidFill>
                      <a:effectLst>
                        <a:outerShdw blurRad="38100" dist="38100" dir="2700000" algn="tl">
                          <a:srgbClr val="000000">
                            <a:alpha val="43137"/>
                          </a:srgbClr>
                        </a:outerShdw>
                      </a:effectLst>
                    </a:rPr>
                    <a:t>）</a:t>
                  </a:r>
                  <a:endParaRPr lang="en-US" b="1" i="1" baseline="-25000" dirty="0">
                    <a:solidFill>
                      <a:srgbClr val="FF0066"/>
                    </a:solidFill>
                    <a:effectLst>
                      <a:outerShdw blurRad="38100" dist="38100" dir="2700000" algn="tl">
                        <a:srgbClr val="000000">
                          <a:alpha val="43137"/>
                        </a:srgbClr>
                      </a:outerShdw>
                    </a:effectLst>
                  </a:endParaRPr>
                </a:p>
              </p:txBody>
            </p:sp>
            <p:sp>
              <p:nvSpPr>
                <p:cNvPr id="16" name="Rectangle 15"/>
                <p:cNvSpPr/>
                <p:nvPr/>
              </p:nvSpPr>
              <p:spPr>
                <a:xfrm>
                  <a:off x="51972" y="5473633"/>
                  <a:ext cx="1563248" cy="461665"/>
                </a:xfrm>
                <a:prstGeom prst="rect">
                  <a:avLst/>
                </a:prstGeom>
                <a:solidFill>
                  <a:schemeClr val="bg1"/>
                </a:solidFill>
              </p:spPr>
              <p:txBody>
                <a:bodyPr wrap="none">
                  <a:spAutoFit/>
                </a:bodyPr>
                <a:lstStyle/>
                <a:p>
                  <a:r>
                    <a:rPr kumimoji="0" lang="en-US" b="1" i="1" dirty="0">
                      <a:solidFill>
                        <a:srgbClr val="FF0066"/>
                      </a:solidFill>
                      <a:effectLst>
                        <a:outerShdw blurRad="38100" dist="38100" dir="2700000" algn="tl">
                          <a:srgbClr val="000000">
                            <a:alpha val="43137"/>
                          </a:srgbClr>
                        </a:outerShdw>
                      </a:effectLst>
                      <a:latin typeface="Arial" panose="020B0604020202020204"/>
                    </a:rPr>
                    <a:t>∆</a:t>
                  </a:r>
                  <a:r>
                    <a:rPr kumimoji="0" lang="en-US" b="1" i="1" dirty="0" err="1">
                      <a:solidFill>
                        <a:srgbClr val="FF0066"/>
                      </a:solidFill>
                      <a:effectLst>
                        <a:outerShdw blurRad="38100" dist="38100" dir="2700000" algn="tl">
                          <a:srgbClr val="000000">
                            <a:alpha val="43137"/>
                          </a:srgbClr>
                        </a:outerShdw>
                      </a:effectLst>
                      <a:latin typeface="Arial" panose="020B0604020202020204"/>
                    </a:rPr>
                    <a:t>G</a:t>
                  </a:r>
                  <a:r>
                    <a:rPr kumimoji="0" lang="en-US" b="1" baseline="-25000" dirty="0" err="1">
                      <a:solidFill>
                        <a:srgbClr val="FF0066"/>
                      </a:solidFill>
                      <a:effectLst>
                        <a:outerShdw blurRad="38100" dist="38100" dir="2700000" algn="tl">
                          <a:srgbClr val="000000">
                            <a:alpha val="43137"/>
                          </a:srgbClr>
                        </a:outerShdw>
                      </a:effectLst>
                      <a:latin typeface="Arial" panose="020B0604020202020204"/>
                    </a:rPr>
                    <a:t>hetero</a:t>
                  </a:r>
                  <a:r>
                    <a:rPr kumimoji="0" lang="en-US" b="1" i="1" dirty="0">
                      <a:solidFill>
                        <a:srgbClr val="FF0066"/>
                      </a:solidFill>
                      <a:effectLst>
                        <a:outerShdw blurRad="38100" dist="38100" dir="2700000" algn="tl">
                          <a:srgbClr val="000000">
                            <a:alpha val="43137"/>
                          </a:srgbClr>
                        </a:outerShdw>
                      </a:effectLst>
                      <a:latin typeface="Arial" panose="020B0604020202020204"/>
                    </a:rPr>
                    <a:t>(r)</a:t>
                  </a:r>
                  <a:endParaRPr lang="en-US" sz="1400" dirty="0"/>
                </a:p>
              </p:txBody>
            </p:sp>
          </p:grpSp>
          <p:sp>
            <p:nvSpPr>
              <p:cNvPr id="19" name="TextBox 18"/>
              <p:cNvSpPr txBox="1"/>
              <p:nvPr/>
            </p:nvSpPr>
            <p:spPr>
              <a:xfrm>
                <a:off x="2047268" y="5473633"/>
                <a:ext cx="805116" cy="461665"/>
              </a:xfrm>
              <a:prstGeom prst="rect">
                <a:avLst/>
              </a:prstGeom>
              <a:solidFill>
                <a:schemeClr val="bg1"/>
              </a:solidFill>
            </p:spPr>
            <p:txBody>
              <a:bodyPr wrap="square" rtlCol="0">
                <a:spAutoFit/>
              </a:bodyPr>
              <a:lstStyle/>
              <a:p>
                <a:r>
                  <a:rPr lang="en-US" altLang="zh-CN" b="1" i="1" dirty="0">
                    <a:solidFill>
                      <a:srgbClr val="FF0066"/>
                    </a:solidFill>
                    <a:effectLst>
                      <a:outerShdw blurRad="38100" dist="38100" dir="2700000" algn="tl">
                        <a:srgbClr val="000000">
                          <a:alpha val="43137"/>
                        </a:srgbClr>
                      </a:outerShdw>
                    </a:effectLst>
                  </a:rPr>
                  <a:t>= </a:t>
                </a:r>
                <a:r>
                  <a:rPr lang="en-US" altLang="zh-CN" b="1" i="1" dirty="0" err="1">
                    <a:solidFill>
                      <a:srgbClr val="FF0066"/>
                    </a:solidFill>
                    <a:effectLst>
                      <a:outerShdw blurRad="38100" dist="38100" dir="2700000" algn="tl">
                        <a:srgbClr val="000000">
                          <a:alpha val="43137"/>
                        </a:srgbClr>
                      </a:outerShdw>
                    </a:effectLst>
                  </a:rPr>
                  <a:t>V</a:t>
                </a:r>
                <a:r>
                  <a:rPr lang="en-US" altLang="zh-CN" b="1" i="1" baseline="-25000" dirty="0" err="1">
                    <a:solidFill>
                      <a:srgbClr val="FF0066"/>
                    </a:solidFill>
                    <a:effectLst>
                      <a:outerShdw blurRad="38100" dist="38100" dir="2700000" algn="tl">
                        <a:srgbClr val="000000">
                          <a:alpha val="43137"/>
                        </a:srgbClr>
                      </a:outerShdw>
                    </a:effectLst>
                  </a:rPr>
                  <a:t>c</a:t>
                </a:r>
                <a:r>
                  <a:rPr lang="en-US" altLang="zh-CN" b="1" i="1" dirty="0">
                    <a:solidFill>
                      <a:srgbClr val="FF0066"/>
                    </a:solidFill>
                    <a:effectLst>
                      <a:outerShdw blurRad="38100" dist="38100" dir="2700000" algn="tl">
                        <a:srgbClr val="000000">
                          <a:alpha val="43137"/>
                        </a:srgbClr>
                      </a:outerShdw>
                    </a:effectLst>
                  </a:rPr>
                  <a:t>∙</a:t>
                </a:r>
                <a:endParaRPr lang="en-US" b="1" i="1" baseline="-25000" dirty="0">
                  <a:solidFill>
                    <a:srgbClr val="FF0066"/>
                  </a:solidFill>
                  <a:effectLst>
                    <a:outerShdw blurRad="38100" dist="38100" dir="2700000" algn="tl">
                      <a:srgbClr val="000000">
                        <a:alpha val="43137"/>
                      </a:srgbClr>
                    </a:outerShdw>
                  </a:effectLst>
                </a:endParaRPr>
              </a:p>
            </p:txBody>
          </p:sp>
        </p:grpSp>
        <p:grpSp>
          <p:nvGrpSpPr>
            <p:cNvPr id="23560" name="Group 23559"/>
            <p:cNvGrpSpPr/>
            <p:nvPr/>
          </p:nvGrpSpPr>
          <p:grpSpPr>
            <a:xfrm>
              <a:off x="819473" y="3102578"/>
              <a:ext cx="4472607" cy="1722655"/>
              <a:chOff x="611560" y="2321318"/>
              <a:chExt cx="4472607" cy="1722655"/>
            </a:xfrm>
          </p:grpSpPr>
          <p:sp>
            <p:nvSpPr>
              <p:cNvPr id="14" name="Rectangle 13"/>
              <p:cNvSpPr>
                <a:spLocks noRot="1" noChangeAspect="1" noMove="1" noResize="1" noEditPoints="1" noAdjustHandles="1" noChangeArrowheads="1" noChangeShapeType="1" noTextEdit="1"/>
              </p:cNvSpPr>
              <p:nvPr/>
            </p:nvSpPr>
            <p:spPr>
              <a:xfrm>
                <a:off x="629101" y="2321318"/>
                <a:ext cx="4455066" cy="461665"/>
              </a:xfrm>
              <a:prstGeom prst="rect">
                <a:avLst/>
              </a:prstGeom>
              <a:blipFill rotWithShape="1">
                <a:blip r:embed="rId8"/>
                <a:stretch>
                  <a:fillRect l="-2189" t="-11842" b="-28947"/>
                </a:stretch>
              </a:blipFill>
            </p:spPr>
            <p:txBody>
              <a:bodyPr/>
              <a:lstStyle/>
              <a:p>
                <a:r>
                  <a:rPr lang="en-US">
                    <a:noFill/>
                  </a:rPr>
                  <a:t> </a:t>
                </a:r>
              </a:p>
            </p:txBody>
          </p:sp>
          <p:sp>
            <p:nvSpPr>
              <p:cNvPr id="20" name="Rectangle 19"/>
              <p:cNvSpPr>
                <a:spLocks noRot="1" noChangeAspect="1" noMove="1" noResize="1" noEditPoints="1" noAdjustHandles="1" noChangeArrowheads="1" noChangeShapeType="1" noTextEdit="1"/>
              </p:cNvSpPr>
              <p:nvPr/>
            </p:nvSpPr>
            <p:spPr>
              <a:xfrm>
                <a:off x="618572" y="2730351"/>
                <a:ext cx="2918684" cy="830997"/>
              </a:xfrm>
              <a:prstGeom prst="rect">
                <a:avLst/>
              </a:prstGeom>
              <a:blipFill rotWithShape="1">
                <a:blip r:embed="rId9"/>
                <a:stretch>
                  <a:fillRect l="-3132" t="-6618" r="-2505"/>
                </a:stretch>
              </a:blipFill>
            </p:spPr>
            <p:txBody>
              <a:bodyPr/>
              <a:lstStyle/>
              <a:p>
                <a:r>
                  <a:rPr lang="en-US">
                    <a:noFill/>
                  </a:rPr>
                  <a:t> </a:t>
                </a:r>
              </a:p>
            </p:txBody>
          </p:sp>
          <p:grpSp>
            <p:nvGrpSpPr>
              <p:cNvPr id="22" name="Group 21"/>
              <p:cNvGrpSpPr/>
              <p:nvPr/>
            </p:nvGrpSpPr>
            <p:grpSpPr>
              <a:xfrm>
                <a:off x="611560" y="3212976"/>
                <a:ext cx="2825838" cy="830997"/>
                <a:chOff x="3334216" y="6330750"/>
                <a:chExt cx="2825838" cy="830997"/>
              </a:xfrm>
            </p:grpSpPr>
            <p:sp>
              <p:nvSpPr>
                <p:cNvPr id="23" name="Rectangle 22"/>
                <p:cNvSpPr>
                  <a:spLocks noRot="1" noChangeAspect="1" noMove="1" noResize="1" noEditPoints="1" noAdjustHandles="1" noChangeArrowheads="1" noChangeShapeType="1" noTextEdit="1"/>
                </p:cNvSpPr>
                <p:nvPr/>
              </p:nvSpPr>
              <p:spPr>
                <a:xfrm>
                  <a:off x="3334216" y="6330750"/>
                  <a:ext cx="2825838" cy="830997"/>
                </a:xfrm>
                <a:prstGeom prst="rect">
                  <a:avLst/>
                </a:prstGeom>
                <a:blipFill rotWithShape="1">
                  <a:blip r:embed="rId10"/>
                  <a:stretch>
                    <a:fillRect l="-3448" t="-6618" r="-216"/>
                  </a:stretch>
                </a:blipFill>
              </p:spPr>
              <p:txBody>
                <a:bodyPr/>
                <a:lstStyle/>
                <a:p>
                  <a:r>
                    <a:rPr lang="en-US">
                      <a:noFill/>
                    </a:rPr>
                    <a:t> </a:t>
                  </a:r>
                </a:p>
              </p:txBody>
            </p:sp>
            <p:sp>
              <p:nvSpPr>
                <p:cNvPr id="24" name="TextBox 23"/>
                <p:cNvSpPr txBox="1"/>
                <p:nvPr/>
              </p:nvSpPr>
              <p:spPr>
                <a:xfrm>
                  <a:off x="3334216" y="6341029"/>
                  <a:ext cx="805736" cy="461665"/>
                </a:xfrm>
                <a:prstGeom prst="rect">
                  <a:avLst/>
                </a:prstGeom>
                <a:solidFill>
                  <a:schemeClr val="bg1"/>
                </a:solidFill>
              </p:spPr>
              <p:txBody>
                <a:bodyPr wrap="square" rtlCol="0">
                  <a:spAutoFit/>
                </a:bodyPr>
                <a:lstStyle/>
                <a:p>
                  <a:r>
                    <a:rPr lang="en-US" altLang="zh-CN" i="1" dirty="0" err="1"/>
                    <a:t>A</a:t>
                  </a:r>
                  <a:r>
                    <a:rPr lang="en-US" altLang="zh-CN" i="1" baseline="-25000" dirty="0" err="1"/>
                    <a:t>cx</a:t>
                  </a:r>
                  <a:r>
                    <a:rPr lang="en-US" altLang="zh-CN" i="1" dirty="0"/>
                    <a:t>=</a:t>
                  </a:r>
                  <a:endParaRPr lang="en-US" i="1" baseline="-25000" dirty="0"/>
                </a:p>
              </p:txBody>
            </p:sp>
          </p:grpSp>
        </p:grpSp>
        <p:sp>
          <p:nvSpPr>
            <p:cNvPr id="52" name="Rectangle 51"/>
            <p:cNvSpPr/>
            <p:nvPr/>
          </p:nvSpPr>
          <p:spPr>
            <a:xfrm>
              <a:off x="0" y="4855387"/>
              <a:ext cx="5301122" cy="461665"/>
            </a:xfrm>
            <a:prstGeom prst="rect">
              <a:avLst/>
            </a:prstGeom>
          </p:spPr>
          <p:txBody>
            <a:bodyPr wrap="square">
              <a:spAutoFit/>
            </a:bodyPr>
            <a:lstStyle/>
            <a:p>
              <a:pPr algn="ctr" eaLnBrk="0" hangingPunct="0">
                <a:spcBef>
                  <a:spcPct val="20000"/>
                </a:spcBef>
                <a:spcAft>
                  <a:spcPts val="600"/>
                </a:spcAft>
                <a:defRPr/>
              </a:pPr>
              <a:r>
                <a:rPr kumimoji="0" lang="en-US" b="1" i="1" dirty="0">
                  <a:solidFill>
                    <a:srgbClr val="FF0000"/>
                  </a:solidFill>
                  <a:latin typeface="Arial" panose="020B0604020202020204"/>
                </a:rPr>
                <a:t>∆</a:t>
              </a:r>
              <a:r>
                <a:rPr kumimoji="0" lang="en-US" b="1" i="1" dirty="0" err="1">
                  <a:solidFill>
                    <a:srgbClr val="FF0000"/>
                  </a:solidFill>
                  <a:latin typeface="Arial" panose="020B0604020202020204"/>
                </a:rPr>
                <a:t>G</a:t>
              </a:r>
              <a:r>
                <a:rPr kumimoji="0" lang="en-US" b="1" baseline="-25000" dirty="0" err="1">
                  <a:solidFill>
                    <a:srgbClr val="FF0000"/>
                  </a:solidFill>
                  <a:latin typeface="Arial" panose="020B0604020202020204"/>
                </a:rPr>
                <a:t>hetero</a:t>
              </a:r>
              <a:r>
                <a:rPr kumimoji="0" lang="en-US" b="1" i="1" dirty="0">
                  <a:solidFill>
                    <a:srgbClr val="FF0000"/>
                  </a:solidFill>
                  <a:latin typeface="Arial" panose="020B0604020202020204"/>
                  <a:ea typeface="+mn-ea"/>
                </a:rPr>
                <a:t>(r)=∆</a:t>
              </a:r>
              <a:r>
                <a:rPr kumimoji="0" lang="en-US" b="1" i="1" dirty="0" err="1">
                  <a:solidFill>
                    <a:srgbClr val="FF0000"/>
                  </a:solidFill>
                  <a:latin typeface="Arial" panose="020B0604020202020204"/>
                  <a:ea typeface="+mn-ea"/>
                </a:rPr>
                <a:t>G</a:t>
              </a:r>
              <a:r>
                <a:rPr kumimoji="0" lang="en-US" altLang="zh-CN" b="1" baseline="-25000" dirty="0" err="1">
                  <a:solidFill>
                    <a:srgbClr val="FF0000"/>
                  </a:solidFill>
                  <a:latin typeface="Arial" panose="020B0604020202020204"/>
                  <a:ea typeface="+mn-ea"/>
                </a:rPr>
                <a:t>homo</a:t>
              </a:r>
              <a:r>
                <a:rPr kumimoji="0" lang="en-US" b="1" dirty="0">
                  <a:solidFill>
                    <a:srgbClr val="FF0000"/>
                  </a:solidFill>
                  <a:latin typeface="Arial" panose="020B0604020202020204"/>
                  <a:ea typeface="+mn-ea"/>
                </a:rPr>
                <a:t> </a:t>
              </a:r>
              <a:r>
                <a:rPr kumimoji="0" lang="en-US" b="1" i="1" dirty="0">
                  <a:solidFill>
                    <a:srgbClr val="FF0000"/>
                  </a:solidFill>
                  <a:latin typeface="Arial" panose="020B0604020202020204"/>
                  <a:ea typeface="+mn-ea"/>
                </a:rPr>
                <a:t>(r) ∙ f(</a:t>
              </a:r>
              <a:r>
                <a:rPr kumimoji="0" lang="el-GR" b="1" i="1" dirty="0">
                  <a:solidFill>
                    <a:srgbClr val="FF0000"/>
                  </a:solidFill>
                  <a:latin typeface="Arial" panose="020B0604020202020204"/>
                  <a:ea typeface="+mn-ea"/>
                </a:rPr>
                <a:t>θ</a:t>
              </a:r>
              <a:r>
                <a:rPr kumimoji="0" lang="en-US" b="1" i="1" dirty="0">
                  <a:solidFill>
                    <a:srgbClr val="FF0000"/>
                  </a:solidFill>
                  <a:latin typeface="Arial" panose="020B0604020202020204"/>
                  <a:ea typeface="+mn-ea"/>
                </a:rPr>
                <a:t>) </a:t>
              </a:r>
            </a:p>
          </p:txBody>
        </p:sp>
        <p:sp>
          <p:nvSpPr>
            <p:cNvPr id="23561" name="Rectangle 23560"/>
            <p:cNvSpPr/>
            <p:nvPr/>
          </p:nvSpPr>
          <p:spPr>
            <a:xfrm>
              <a:off x="842739" y="5445224"/>
              <a:ext cx="4517972" cy="923330"/>
            </a:xfrm>
            <a:prstGeom prst="rect">
              <a:avLst/>
            </a:prstGeom>
          </p:spPr>
          <p:txBody>
            <a:bodyPr wrap="square">
              <a:spAutoFit/>
            </a:bodyPr>
            <a:lstStyle/>
            <a:p>
              <a:r>
                <a:rPr kumimoji="0" lang="en-US" sz="1800" b="1" i="1" dirty="0">
                  <a:latin typeface="Arial" panose="020B0604020202020204"/>
                </a:rPr>
                <a:t>∆</a:t>
              </a:r>
              <a:r>
                <a:rPr kumimoji="0" lang="en-US" sz="1800" b="1" i="1" dirty="0" err="1">
                  <a:latin typeface="Arial" panose="020B0604020202020204"/>
                </a:rPr>
                <a:t>G</a:t>
              </a:r>
              <a:r>
                <a:rPr kumimoji="0" lang="en-US" sz="1800" b="1" baseline="-25000" dirty="0" err="1">
                  <a:latin typeface="Arial" panose="020B0604020202020204"/>
                </a:rPr>
                <a:t>homo</a:t>
              </a:r>
              <a:r>
                <a:rPr kumimoji="0" lang="en-US" sz="1800" b="1" dirty="0">
                  <a:latin typeface="Arial" panose="020B0604020202020204"/>
                </a:rPr>
                <a:t> </a:t>
              </a:r>
              <a:r>
                <a:rPr kumimoji="0" lang="en-US" sz="1800" b="1" i="1" dirty="0">
                  <a:latin typeface="Arial" panose="020B0604020202020204"/>
                </a:rPr>
                <a:t>(r) the free energy change in homogeneous nucleation case;</a:t>
              </a:r>
            </a:p>
            <a:p>
              <a:r>
                <a:rPr kumimoji="0" lang="en-US" sz="1800" b="1" i="1" dirty="0">
                  <a:latin typeface="Arial" panose="020B0604020202020204"/>
                </a:rPr>
                <a:t>f(</a:t>
              </a:r>
              <a:r>
                <a:rPr kumimoji="0" lang="el-GR" sz="1800" b="1" i="1" dirty="0">
                  <a:latin typeface="Arial" panose="020B0604020202020204"/>
                </a:rPr>
                <a:t>θ</a:t>
              </a:r>
              <a:r>
                <a:rPr kumimoji="0" lang="en-US" sz="1800" b="1" i="1" dirty="0">
                  <a:latin typeface="Arial" panose="020B0604020202020204"/>
                </a:rPr>
                <a:t>) = (2-3cos</a:t>
              </a:r>
              <a:r>
                <a:rPr kumimoji="0" lang="el-GR" sz="1800" b="1" i="1" dirty="0">
                  <a:latin typeface="Arial" panose="020B0604020202020204"/>
                </a:rPr>
                <a:t> θ</a:t>
              </a:r>
              <a:r>
                <a:rPr kumimoji="0" lang="en-US" sz="1800" b="1" i="1" dirty="0">
                  <a:latin typeface="Arial" panose="020B0604020202020204"/>
                </a:rPr>
                <a:t> +cos</a:t>
              </a:r>
              <a:r>
                <a:rPr kumimoji="0" lang="en-US" sz="1800" b="1" i="1" baseline="30000" dirty="0">
                  <a:latin typeface="Arial" panose="020B0604020202020204"/>
                </a:rPr>
                <a:t>3</a:t>
              </a:r>
              <a:r>
                <a:rPr kumimoji="0" lang="el-GR" sz="1800" b="1" i="1" dirty="0">
                  <a:latin typeface="Arial" panose="020B0604020202020204"/>
                </a:rPr>
                <a:t> θ</a:t>
              </a:r>
              <a:r>
                <a:rPr kumimoji="0" lang="en-US" sz="1800" b="1" i="1" dirty="0">
                  <a:latin typeface="Arial" panose="020B0604020202020204"/>
                </a:rPr>
                <a:t>)/4, 0≤  f(</a:t>
              </a:r>
              <a:r>
                <a:rPr kumimoji="0" lang="el-GR" sz="1800" b="1" i="1" dirty="0">
                  <a:latin typeface="Arial" panose="020B0604020202020204"/>
                </a:rPr>
                <a:t>θ</a:t>
              </a:r>
              <a:r>
                <a:rPr kumimoji="0" lang="en-US" sz="1800" b="1" i="1" dirty="0">
                  <a:latin typeface="Arial" panose="020B0604020202020204"/>
                </a:rPr>
                <a:t>) ≤1.</a:t>
              </a:r>
              <a:endParaRPr lang="en-US" sz="1800" dirty="0"/>
            </a:p>
          </p:txBody>
        </p:sp>
      </p:grpSp>
      <p:sp>
        <p:nvSpPr>
          <p:cNvPr id="23563" name="TextBox 23562"/>
          <p:cNvSpPr txBox="1"/>
          <p:nvPr/>
        </p:nvSpPr>
        <p:spPr>
          <a:xfrm>
            <a:off x="712265" y="4466180"/>
            <a:ext cx="1680268" cy="461665"/>
          </a:xfrm>
          <a:prstGeom prst="rect">
            <a:avLst/>
          </a:prstGeom>
          <a:noFill/>
        </p:spPr>
        <p:txBody>
          <a:bodyPr wrap="none" rtlCol="0">
            <a:spAutoFit/>
          </a:bodyPr>
          <a:lstStyle/>
          <a:p>
            <a:r>
              <a:rPr lang="en-US" dirty="0"/>
              <a:t>So, we have</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06990" y="168720"/>
            <a:ext cx="5301122" cy="461665"/>
          </a:xfrm>
          <a:prstGeom prst="rect">
            <a:avLst/>
          </a:prstGeom>
        </p:spPr>
        <p:txBody>
          <a:bodyPr wrap="square">
            <a:spAutoFit/>
          </a:bodyPr>
          <a:lstStyle/>
          <a:p>
            <a:pPr algn="ctr" eaLnBrk="0" hangingPunct="0">
              <a:spcBef>
                <a:spcPct val="20000"/>
              </a:spcBef>
              <a:spcAft>
                <a:spcPts val="600"/>
              </a:spcAft>
              <a:defRPr/>
            </a:pPr>
            <a:r>
              <a:rPr kumimoji="0" lang="en-US" b="1" i="1" dirty="0">
                <a:solidFill>
                  <a:srgbClr val="FF0000"/>
                </a:solidFill>
                <a:latin typeface="Arial" panose="020B0604020202020204"/>
              </a:rPr>
              <a:t>∆</a:t>
            </a:r>
            <a:r>
              <a:rPr kumimoji="0" lang="en-US" b="1" i="1" dirty="0" err="1">
                <a:solidFill>
                  <a:srgbClr val="FF0000"/>
                </a:solidFill>
                <a:latin typeface="Arial" panose="020B0604020202020204"/>
              </a:rPr>
              <a:t>G</a:t>
            </a:r>
            <a:r>
              <a:rPr kumimoji="0" lang="en-US" b="1" baseline="-25000" dirty="0" err="1">
                <a:solidFill>
                  <a:srgbClr val="FF0000"/>
                </a:solidFill>
                <a:latin typeface="Arial" panose="020B0604020202020204"/>
              </a:rPr>
              <a:t>hetero</a:t>
            </a:r>
            <a:r>
              <a:rPr kumimoji="0" lang="en-US" b="1" i="1" dirty="0">
                <a:solidFill>
                  <a:srgbClr val="FF0000"/>
                </a:solidFill>
                <a:latin typeface="Arial" panose="020B0604020202020204"/>
                <a:ea typeface="+mn-ea"/>
              </a:rPr>
              <a:t>(r) = ∆</a:t>
            </a:r>
            <a:r>
              <a:rPr kumimoji="0" lang="en-US" b="1" i="1" dirty="0" err="1">
                <a:solidFill>
                  <a:srgbClr val="FF0000"/>
                </a:solidFill>
                <a:latin typeface="Arial" panose="020B0604020202020204"/>
                <a:ea typeface="+mn-ea"/>
              </a:rPr>
              <a:t>G</a:t>
            </a:r>
            <a:r>
              <a:rPr kumimoji="0" lang="en-US" b="1" baseline="-25000" dirty="0" err="1">
                <a:solidFill>
                  <a:srgbClr val="FF0000"/>
                </a:solidFill>
                <a:latin typeface="Arial" panose="020B0604020202020204"/>
                <a:ea typeface="+mn-ea"/>
              </a:rPr>
              <a:t>homo</a:t>
            </a:r>
            <a:r>
              <a:rPr kumimoji="0" lang="en-US" b="1" dirty="0">
                <a:solidFill>
                  <a:srgbClr val="FF0000"/>
                </a:solidFill>
                <a:latin typeface="Arial" panose="020B0604020202020204"/>
                <a:ea typeface="+mn-ea"/>
              </a:rPr>
              <a:t> </a:t>
            </a:r>
            <a:r>
              <a:rPr kumimoji="0" lang="en-US" b="1" i="1" dirty="0">
                <a:solidFill>
                  <a:srgbClr val="FF0000"/>
                </a:solidFill>
                <a:latin typeface="Arial" panose="020B0604020202020204"/>
                <a:ea typeface="+mn-ea"/>
              </a:rPr>
              <a:t>(r) ∙ f(</a:t>
            </a:r>
            <a:r>
              <a:rPr kumimoji="0" lang="el-GR" b="1" i="1" dirty="0">
                <a:solidFill>
                  <a:srgbClr val="FF0000"/>
                </a:solidFill>
                <a:latin typeface="Arial" panose="020B0604020202020204"/>
                <a:ea typeface="+mn-ea"/>
              </a:rPr>
              <a:t>θ</a:t>
            </a:r>
            <a:r>
              <a:rPr kumimoji="0" lang="en-US" b="1" i="1" dirty="0">
                <a:solidFill>
                  <a:srgbClr val="FF0000"/>
                </a:solidFill>
                <a:latin typeface="Arial" panose="020B0604020202020204"/>
                <a:ea typeface="+mn-ea"/>
              </a:rPr>
              <a:t>) </a:t>
            </a:r>
          </a:p>
        </p:txBody>
      </p:sp>
      <p:sp>
        <p:nvSpPr>
          <p:cNvPr id="2" name="TextBox 1"/>
          <p:cNvSpPr txBox="1"/>
          <p:nvPr/>
        </p:nvSpPr>
        <p:spPr>
          <a:xfrm>
            <a:off x="1403648" y="1248840"/>
            <a:ext cx="4751814" cy="1015663"/>
          </a:xfrm>
          <a:prstGeom prst="rect">
            <a:avLst/>
          </a:prstGeom>
          <a:noFill/>
        </p:spPr>
        <p:txBody>
          <a:bodyPr wrap="none" rtlCol="0">
            <a:spAutoFit/>
          </a:bodyPr>
          <a:lstStyle/>
          <a:p>
            <a:r>
              <a:rPr lang="en-US" altLang="zh-CN" sz="2000" dirty="0">
                <a:latin typeface="+mn-lt"/>
              </a:rPr>
              <a:t>Similarly,  from                                         </a:t>
            </a:r>
          </a:p>
          <a:p>
            <a:endParaRPr lang="en-US" altLang="zh-CN" sz="2000" dirty="0">
              <a:latin typeface="+mn-lt"/>
            </a:endParaRPr>
          </a:p>
          <a:p>
            <a:r>
              <a:rPr lang="en-US" altLang="zh-CN" sz="2000" dirty="0">
                <a:latin typeface="+mn-lt"/>
              </a:rPr>
              <a:t>we can get </a:t>
            </a:r>
            <a:r>
              <a:rPr lang="en-US" altLang="zh-CN" sz="2000" b="1" i="1" dirty="0">
                <a:latin typeface="+mn-lt"/>
              </a:rPr>
              <a:t>r*</a:t>
            </a:r>
            <a:r>
              <a:rPr lang="en-US" altLang="zh-CN" sz="2000" b="1" i="1" baseline="-25000" dirty="0">
                <a:latin typeface="+mn-lt"/>
              </a:rPr>
              <a:t>hetero </a:t>
            </a:r>
            <a:r>
              <a:rPr lang="en-US" altLang="zh-CN" sz="2000" b="1" i="1" dirty="0">
                <a:latin typeface="+mn-lt"/>
              </a:rPr>
              <a:t>,</a:t>
            </a:r>
            <a:endParaRPr lang="en-US" sz="2000" b="1" i="1" dirty="0">
              <a:latin typeface="+mn-lt"/>
            </a:endParaRPr>
          </a:p>
        </p:txBody>
      </p:sp>
      <mc:AlternateContent xmlns:mc="http://schemas.openxmlformats.org/markup-compatibility/2006" xmlns:a14="http://schemas.microsoft.com/office/drawing/2010/main">
        <mc:Choice Requires="a14">
          <p:sp>
            <p:nvSpPr>
              <p:cNvPr id="3" name="TextBox 2"/>
              <p:cNvSpPr txBox="1"/>
              <p:nvPr/>
            </p:nvSpPr>
            <p:spPr>
              <a:xfrm>
                <a:off x="3203134" y="1032816"/>
                <a:ext cx="2548005" cy="79579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𝑑</m:t>
                          </m:r>
                          <m:r>
                            <a:rPr lang="en-US" b="0" i="1" smtClean="0">
                              <a:latin typeface="Cambria Math"/>
                              <a:ea typeface="Cambria Math"/>
                            </a:rPr>
                            <m:t>∆</m:t>
                          </m:r>
                          <m:sSub>
                            <m:sSubPr>
                              <m:ctrlPr>
                                <a:rPr lang="en-US" b="0" i="1" smtClean="0">
                                  <a:latin typeface="Cambria Math" panose="02040503050406030204" pitchFamily="18" charset="0"/>
                                  <a:ea typeface="Cambria Math"/>
                                </a:rPr>
                              </m:ctrlPr>
                            </m:sSubPr>
                            <m:e>
                              <m:r>
                                <a:rPr lang="en-US" i="1">
                                  <a:latin typeface="Cambria Math"/>
                                  <a:ea typeface="Cambria Math"/>
                                </a:rPr>
                                <m:t>𝐺</m:t>
                              </m:r>
                            </m:e>
                            <m:sub>
                              <m:r>
                                <a:rPr lang="en-US" b="0" i="1" smtClean="0">
                                  <a:latin typeface="Cambria Math"/>
                                  <a:ea typeface="Cambria Math"/>
                                </a:rPr>
                                <m:t>h𝑒𝑡𝑒𝑟𝑜</m:t>
                              </m:r>
                            </m:sub>
                          </m:sSub>
                          <m:r>
                            <a:rPr lang="en-US" b="0" i="1" smtClean="0">
                              <a:latin typeface="Cambria Math"/>
                              <a:ea typeface="Cambria Math"/>
                            </a:rPr>
                            <m:t>(</m:t>
                          </m:r>
                          <m:r>
                            <a:rPr lang="en-US" b="0" i="1" smtClean="0">
                              <a:latin typeface="Cambria Math"/>
                              <a:ea typeface="Cambria Math"/>
                            </a:rPr>
                            <m:t>𝑟</m:t>
                          </m:r>
                          <m:r>
                            <a:rPr lang="en-US" b="0" i="1" smtClean="0">
                              <a:latin typeface="Cambria Math"/>
                              <a:ea typeface="Cambria Math"/>
                            </a:rPr>
                            <m:t>)</m:t>
                          </m:r>
                        </m:num>
                        <m:den>
                          <m:r>
                            <a:rPr lang="en-US" b="0" i="1" smtClean="0">
                              <a:latin typeface="Cambria Math"/>
                            </a:rPr>
                            <m:t>𝑑𝑟</m:t>
                          </m:r>
                        </m:den>
                      </m:f>
                      <m:r>
                        <a:rPr lang="en-US" b="0" i="1" smtClean="0">
                          <a:latin typeface="Cambria Math"/>
                        </a:rPr>
                        <m:t>=0</m:t>
                      </m:r>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3203134" y="1032816"/>
                <a:ext cx="2548005" cy="795795"/>
              </a:xfrm>
              <a:prstGeom prst="rect">
                <a:avLst/>
              </a:prstGeom>
              <a:blipFill rotWithShape="1">
                <a:blip r:embed="rId3"/>
                <a:stretch>
                  <a:fillRect/>
                </a:stretch>
              </a:blipFill>
            </p:spPr>
            <p:txBody>
              <a:bodyPr/>
              <a:lstStyle/>
              <a:p>
                <a:r>
                  <a:rPr lang="en-US">
                    <a:noFill/>
                  </a:rPr>
                  <a:t> </a:t>
                </a:r>
                <a:endParaRPr lang="en-US">
                  <a:noFill/>
                </a:endParaRPr>
              </a:p>
            </p:txBody>
          </p:sp>
        </mc:Fallback>
      </mc:AlternateContent>
      <p:pic>
        <p:nvPicPr>
          <p:cNvPr id="9"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27352" t="43609" r="26097" b="37374"/>
          <a:stretch>
            <a:fillRect/>
          </a:stretch>
        </p:blipFill>
        <p:spPr bwMode="auto">
          <a:xfrm>
            <a:off x="2799762" y="2613217"/>
            <a:ext cx="2827715"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2632223" y="2581669"/>
            <a:ext cx="1003673" cy="400110"/>
          </a:xfrm>
          <a:prstGeom prst="rect">
            <a:avLst/>
          </a:prstGeom>
          <a:solidFill>
            <a:schemeClr val="bg1"/>
          </a:solidFill>
        </p:spPr>
        <p:txBody>
          <a:bodyPr wrap="none" rtlCol="0">
            <a:spAutoFit/>
          </a:bodyPr>
          <a:lstStyle/>
          <a:p>
            <a:r>
              <a:rPr lang="en-US" sz="2000" b="1" i="1" spc="-60" dirty="0">
                <a:solidFill>
                  <a:srgbClr val="FF0066"/>
                </a:solidFill>
                <a:latin typeface="+mj-lt"/>
                <a:ea typeface="+mj-ea"/>
                <a:cs typeface="+mj-cs"/>
              </a:rPr>
              <a:t>r*</a:t>
            </a:r>
            <a:r>
              <a:rPr lang="en-US" sz="2000" b="1" i="1" spc="-60" baseline="-25000" dirty="0">
                <a:solidFill>
                  <a:srgbClr val="FF0066"/>
                </a:solidFill>
                <a:latin typeface="+mj-lt"/>
                <a:ea typeface="+mj-ea"/>
                <a:cs typeface="+mj-cs"/>
              </a:rPr>
              <a:t>hetero</a:t>
            </a:r>
          </a:p>
        </p:txBody>
      </p:sp>
      <p:sp>
        <p:nvSpPr>
          <p:cNvPr id="11" name="Rectangle 10"/>
          <p:cNvSpPr/>
          <p:nvPr/>
        </p:nvSpPr>
        <p:spPr>
          <a:xfrm>
            <a:off x="2051720" y="3189281"/>
            <a:ext cx="4004978" cy="400110"/>
          </a:xfrm>
          <a:prstGeom prst="rect">
            <a:avLst/>
          </a:prstGeom>
        </p:spPr>
        <p:txBody>
          <a:bodyPr wrap="square">
            <a:spAutoFit/>
          </a:bodyPr>
          <a:lstStyle/>
          <a:p>
            <a:pPr algn="ctr" eaLnBrk="0" hangingPunct="0">
              <a:spcBef>
                <a:spcPct val="20000"/>
              </a:spcBef>
              <a:spcAft>
                <a:spcPts val="600"/>
              </a:spcAft>
              <a:defRPr/>
            </a:pPr>
            <a:r>
              <a:rPr kumimoji="0" lang="en-US" sz="2000" b="1" i="1" dirty="0">
                <a:solidFill>
                  <a:srgbClr val="FF0000"/>
                </a:solidFill>
                <a:latin typeface="Arial" panose="020B0604020202020204"/>
              </a:rPr>
              <a:t>∆G*</a:t>
            </a:r>
            <a:r>
              <a:rPr kumimoji="0" lang="en-US" sz="2000" b="1" baseline="-25000" dirty="0">
                <a:solidFill>
                  <a:srgbClr val="FF0000"/>
                </a:solidFill>
                <a:latin typeface="Arial" panose="020B0604020202020204"/>
              </a:rPr>
              <a:t>hetero</a:t>
            </a:r>
            <a:r>
              <a:rPr kumimoji="0" lang="en-US" sz="2000" b="1" i="1" dirty="0">
                <a:solidFill>
                  <a:srgbClr val="FF0000"/>
                </a:solidFill>
                <a:latin typeface="Arial" panose="020B0604020202020204"/>
                <a:ea typeface="+mn-ea"/>
              </a:rPr>
              <a:t>(r) = ∆G*</a:t>
            </a:r>
            <a:r>
              <a:rPr kumimoji="0" lang="en-US" sz="2000" b="1" i="1" baseline="-25000" dirty="0">
                <a:solidFill>
                  <a:srgbClr val="FF0000"/>
                </a:solidFill>
                <a:latin typeface="Arial" panose="020B0604020202020204"/>
                <a:ea typeface="+mn-ea"/>
              </a:rPr>
              <a:t>homo</a:t>
            </a:r>
            <a:r>
              <a:rPr kumimoji="0" lang="en-US" sz="2000" b="1" dirty="0">
                <a:solidFill>
                  <a:srgbClr val="FF0000"/>
                </a:solidFill>
                <a:latin typeface="Arial" panose="020B0604020202020204"/>
                <a:ea typeface="+mn-ea"/>
              </a:rPr>
              <a:t> </a:t>
            </a:r>
            <a:r>
              <a:rPr kumimoji="0" lang="en-US" sz="2000" b="1" i="1" dirty="0">
                <a:solidFill>
                  <a:srgbClr val="FF0000"/>
                </a:solidFill>
                <a:latin typeface="Arial" panose="020B0604020202020204"/>
                <a:ea typeface="+mn-ea"/>
              </a:rPr>
              <a:t>(r) ∙ f(</a:t>
            </a:r>
            <a:r>
              <a:rPr kumimoji="0" lang="el-GR" sz="2000" b="1" i="1" dirty="0">
                <a:solidFill>
                  <a:srgbClr val="FF0000"/>
                </a:solidFill>
                <a:latin typeface="Arial" panose="020B0604020202020204"/>
                <a:ea typeface="+mn-ea"/>
              </a:rPr>
              <a:t>θ</a:t>
            </a:r>
            <a:r>
              <a:rPr kumimoji="0" lang="en-US" sz="2000" b="1" i="1" dirty="0">
                <a:solidFill>
                  <a:srgbClr val="FF0000"/>
                </a:solidFill>
                <a:latin typeface="Arial" panose="020B0604020202020204"/>
                <a:ea typeface="+mn-ea"/>
              </a:rPr>
              <a:t>) </a:t>
            </a:r>
          </a:p>
        </p:txBody>
      </p:sp>
      <p:sp>
        <p:nvSpPr>
          <p:cNvPr id="12" name="TextBox 11"/>
          <p:cNvSpPr txBox="1"/>
          <p:nvPr/>
        </p:nvSpPr>
        <p:spPr>
          <a:xfrm>
            <a:off x="1475656" y="3733095"/>
            <a:ext cx="6192688" cy="2138045"/>
          </a:xfrm>
          <a:prstGeom prst="rect">
            <a:avLst/>
          </a:prstGeom>
          <a:noFill/>
        </p:spPr>
        <p:txBody>
          <a:bodyPr wrap="square" rtlCol="0">
            <a:spAutoFit/>
          </a:bodyPr>
          <a:lstStyle/>
          <a:p>
            <a:r>
              <a:rPr lang="en-US" altLang="zh-CN" sz="2000" dirty="0">
                <a:latin typeface="+mn-lt"/>
              </a:rPr>
              <a:t>It is found that </a:t>
            </a:r>
          </a:p>
          <a:p>
            <a:r>
              <a:rPr lang="en-US" altLang="zh-CN" sz="2000" b="1" i="1" dirty="0">
                <a:solidFill>
                  <a:srgbClr val="FF0000"/>
                </a:solidFill>
                <a:latin typeface="+mn-lt"/>
              </a:rPr>
              <a:t>		r*</a:t>
            </a:r>
            <a:r>
              <a:rPr kumimoji="0" lang="en-US" sz="2000" b="1" i="1" baseline="-25000" dirty="0">
                <a:solidFill>
                  <a:srgbClr val="FF0000"/>
                </a:solidFill>
                <a:latin typeface="Arial" panose="020B0604020202020204"/>
              </a:rPr>
              <a:t>hetero</a:t>
            </a:r>
            <a:r>
              <a:rPr lang="en-US" altLang="zh-CN" sz="2000" b="1" i="1" dirty="0">
                <a:solidFill>
                  <a:srgbClr val="FF0000"/>
                </a:solidFill>
                <a:latin typeface="+mn-lt"/>
              </a:rPr>
              <a:t> = r* </a:t>
            </a:r>
            <a:r>
              <a:rPr kumimoji="0" lang="en-US" sz="2000" b="1" i="1" baseline="-25000" dirty="0">
                <a:solidFill>
                  <a:srgbClr val="FF0000"/>
                </a:solidFill>
                <a:latin typeface="Arial" panose="020B0604020202020204"/>
              </a:rPr>
              <a:t>homo</a:t>
            </a:r>
            <a:r>
              <a:rPr kumimoji="0" lang="en-US" sz="2000" b="1" dirty="0">
                <a:solidFill>
                  <a:srgbClr val="FF0000"/>
                </a:solidFill>
                <a:latin typeface="Arial" panose="020B0604020202020204"/>
              </a:rPr>
              <a:t> </a:t>
            </a:r>
          </a:p>
          <a:p>
            <a:endParaRPr lang="en-US" sz="2000" b="1" i="1" baseline="-25000" dirty="0">
              <a:solidFill>
                <a:srgbClr val="FF0000"/>
              </a:solidFill>
              <a:latin typeface="+mn-lt"/>
            </a:endParaRPr>
          </a:p>
          <a:p>
            <a:r>
              <a:rPr lang="en-US" sz="2000" b="1" i="1" dirty="0">
                <a:solidFill>
                  <a:srgbClr val="FF0000"/>
                </a:solidFill>
                <a:latin typeface="+mn-lt"/>
              </a:rPr>
              <a:t>	       </a:t>
            </a:r>
            <a:r>
              <a:rPr kumimoji="0" lang="en-US" sz="2000" b="1" i="1" dirty="0">
                <a:solidFill>
                  <a:srgbClr val="FF0000"/>
                </a:solidFill>
                <a:latin typeface="Arial" panose="020B0604020202020204"/>
              </a:rPr>
              <a:t> ∆</a:t>
            </a:r>
            <a:r>
              <a:rPr kumimoji="0" lang="en-US" sz="2000" b="1" i="1" dirty="0" err="1">
                <a:solidFill>
                  <a:srgbClr val="FF0000"/>
                </a:solidFill>
                <a:latin typeface="Arial" panose="020B0604020202020204"/>
              </a:rPr>
              <a:t>G</a:t>
            </a:r>
            <a:r>
              <a:rPr lang="en-US" altLang="zh-CN" sz="2000" dirty="0">
                <a:sym typeface="+mn-ea"/>
              </a:rPr>
              <a:t>*</a:t>
            </a:r>
            <a:r>
              <a:rPr kumimoji="0" lang="en-US" sz="2000" b="1" baseline="-25000" dirty="0" err="1">
                <a:solidFill>
                  <a:srgbClr val="FF0000"/>
                </a:solidFill>
                <a:latin typeface="Arial" panose="020B0604020202020204"/>
              </a:rPr>
              <a:t>hetero</a:t>
            </a:r>
            <a:r>
              <a:rPr kumimoji="0" lang="en-US" sz="2000" b="1" i="1" dirty="0">
                <a:solidFill>
                  <a:srgbClr val="FF0000"/>
                </a:solidFill>
                <a:latin typeface="Arial" panose="020B0604020202020204"/>
              </a:rPr>
              <a:t>(r) ≤ ∆</a:t>
            </a:r>
            <a:r>
              <a:rPr kumimoji="0" lang="en-US" sz="2000" b="1" i="1" dirty="0" err="1">
                <a:solidFill>
                  <a:srgbClr val="FF0000"/>
                </a:solidFill>
                <a:latin typeface="Arial" panose="020B0604020202020204"/>
              </a:rPr>
              <a:t>G</a:t>
            </a:r>
            <a:r>
              <a:rPr lang="en-US" altLang="zh-CN" sz="2000" dirty="0">
                <a:sym typeface="+mn-ea"/>
              </a:rPr>
              <a:t>*</a:t>
            </a:r>
            <a:r>
              <a:rPr kumimoji="0" lang="en-US" sz="2000" b="1" i="1" baseline="-25000" dirty="0" err="1">
                <a:solidFill>
                  <a:srgbClr val="FF0000"/>
                </a:solidFill>
                <a:latin typeface="Arial" panose="020B0604020202020204"/>
              </a:rPr>
              <a:t>homo</a:t>
            </a:r>
            <a:r>
              <a:rPr kumimoji="0" lang="en-US" sz="2000" b="1" dirty="0">
                <a:solidFill>
                  <a:srgbClr val="FF0000"/>
                </a:solidFill>
                <a:latin typeface="Arial" panose="020B0604020202020204"/>
              </a:rPr>
              <a:t>  </a:t>
            </a:r>
            <a:r>
              <a:rPr kumimoji="0" lang="en-US" sz="2000" b="1" i="1" dirty="0">
                <a:solidFill>
                  <a:srgbClr val="FF0000"/>
                </a:solidFill>
                <a:latin typeface="Arial" panose="020B0604020202020204"/>
              </a:rPr>
              <a:t>(r) </a:t>
            </a:r>
          </a:p>
          <a:p>
            <a:endParaRPr kumimoji="0" lang="en-US" sz="2000" b="1" i="1" dirty="0">
              <a:solidFill>
                <a:srgbClr val="FF0000"/>
              </a:solidFill>
              <a:latin typeface="Arial" panose="020B0604020202020204"/>
            </a:endParaRPr>
          </a:p>
          <a:p>
            <a:r>
              <a:rPr kumimoji="0" lang="en-US" sz="2000" dirty="0">
                <a:latin typeface="Arial" panose="020B0604020202020204"/>
              </a:rPr>
              <a:t>So heterogeneous nucleation is easier than homogeneous nucleation.</a:t>
            </a:r>
            <a:endParaRPr lang="en-US" sz="2000" dirty="0">
              <a:latin typeface="+mn-lt"/>
            </a:endParaRPr>
          </a:p>
        </p:txBody>
      </p:sp>
      <p:sp>
        <p:nvSpPr>
          <p:cNvPr id="13" name="TextBox 12"/>
          <p:cNvSpPr txBox="1"/>
          <p:nvPr/>
        </p:nvSpPr>
        <p:spPr>
          <a:xfrm>
            <a:off x="311223" y="6165304"/>
            <a:ext cx="8077202" cy="400110"/>
          </a:xfrm>
          <a:prstGeom prst="rect">
            <a:avLst/>
          </a:prstGeom>
          <a:solidFill>
            <a:schemeClr val="accent4">
              <a:lumMod val="20000"/>
              <a:lumOff val="80000"/>
            </a:schemeClr>
          </a:solidFill>
        </p:spPr>
        <p:txBody>
          <a:bodyPr wrap="square" rtlCol="0">
            <a:spAutoFit/>
          </a:bodyPr>
          <a:lstStyle/>
          <a:p>
            <a:r>
              <a:rPr lang="en-US" altLang="zh-CN" sz="2000" dirty="0">
                <a:latin typeface="+mn-lt"/>
              </a:rPr>
              <a:t>Homework: drive the series of formulas in heterogeneous nucleation.</a:t>
            </a:r>
            <a:endParaRPr lang="en-US" sz="2000" b="1" i="1" dirty="0">
              <a:latin typeface="+mn-lt"/>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8" name="Picture 9" descr="rshi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6100" y="1009650"/>
            <a:ext cx="4032250" cy="285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70" name="Rectangle 1082"/>
          <p:cNvSpPr>
            <a:spLocks noChangeArrowheads="1"/>
          </p:cNvSpPr>
          <p:nvPr/>
        </p:nvSpPr>
        <p:spPr bwMode="auto">
          <a:xfrm>
            <a:off x="890624" y="5661248"/>
            <a:ext cx="7627937"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1027430" indent="-45593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37033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71323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marL="0" indent="0" eaLnBrk="1" hangingPunct="1">
              <a:spcAft>
                <a:spcPct val="0"/>
              </a:spcAft>
              <a:buClr>
                <a:srgbClr val="A50021"/>
              </a:buClr>
              <a:buSzPct val="75000"/>
              <a:defRPr/>
            </a:pPr>
            <a:r>
              <a:rPr lang="en-US" altLang="zh-CN" b="0" dirty="0">
                <a:latin typeface="Times New Roman" panose="02020603050405020304" pitchFamily="18" charset="0"/>
                <a:ea typeface="宋体" panose="02010600030101010101" pitchFamily="2" charset="-122"/>
                <a:sym typeface="Symbol" panose="05050102010706020507" pitchFamily="18" charset="2"/>
              </a:rPr>
              <a:t>The smaller </a:t>
            </a:r>
            <a:r>
              <a:rPr lang="el-GR" altLang="zh-CN" dirty="0">
                <a:latin typeface="Times New Roman" panose="02020603050405020304" pitchFamily="18" charset="0"/>
                <a:ea typeface="宋体" panose="02010600030101010101" pitchFamily="2" charset="-122"/>
                <a:sym typeface="Symbol" panose="05050102010706020507" pitchFamily="18" charset="2"/>
              </a:rPr>
              <a:t>θ</a:t>
            </a:r>
            <a:r>
              <a:rPr lang="en-US" altLang="zh-CN" b="0" dirty="0">
                <a:latin typeface="Times New Roman" panose="02020603050405020304" pitchFamily="18" charset="0"/>
                <a:ea typeface="宋体" panose="02010600030101010101" pitchFamily="2" charset="-122"/>
                <a:sym typeface="Symbol" panose="05050102010706020507" pitchFamily="18" charset="2"/>
              </a:rPr>
              <a:t>, the smaller the critical nucleation work for heterogeneous nucleation, and the smaller the critical supercooling required.</a:t>
            </a:r>
          </a:p>
        </p:txBody>
      </p:sp>
      <p:grpSp>
        <p:nvGrpSpPr>
          <p:cNvPr id="26629" name="Group 8"/>
          <p:cNvGrpSpPr/>
          <p:nvPr/>
        </p:nvGrpSpPr>
        <p:grpSpPr bwMode="auto">
          <a:xfrm>
            <a:off x="1370856" y="3747512"/>
            <a:ext cx="6513512" cy="2033587"/>
            <a:chOff x="96" y="480"/>
            <a:chExt cx="5664" cy="1636"/>
          </a:xfrm>
        </p:grpSpPr>
        <p:pic>
          <p:nvPicPr>
            <p:cNvPr id="26631" name="Picture 2" descr="E:\SHI\Course\MetalScience\Fig\table9-1.jpg"/>
            <p:cNvPicPr>
              <a:picLocks noChangeAspect="1" noChangeArrowheads="1"/>
            </p:cNvPicPr>
            <p:nvPr/>
          </p:nvPicPr>
          <p:blipFill>
            <a:blip r:embed="rId3">
              <a:extLst>
                <a:ext uri="{28A0092B-C50C-407E-A947-70E740481C1C}">
                  <a14:useLocalDpi xmlns:a14="http://schemas.microsoft.com/office/drawing/2010/main" val="0"/>
                </a:ext>
              </a:extLst>
            </a:blip>
            <a:srcRect l="4884" r="3487"/>
            <a:stretch>
              <a:fillRect/>
            </a:stretch>
          </p:blipFill>
          <p:spPr bwMode="auto">
            <a:xfrm>
              <a:off x="189" y="864"/>
              <a:ext cx="5571" cy="1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2" name="Text Box 3"/>
            <p:cNvSpPr txBox="1">
              <a:spLocks noChangeArrowheads="1"/>
            </p:cNvSpPr>
            <p:nvPr/>
          </p:nvSpPr>
          <p:spPr bwMode="auto">
            <a:xfrm>
              <a:off x="1680" y="480"/>
              <a:ext cx="185" cy="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2400">
                <a:solidFill>
                  <a:srgbClr val="FB4E1F"/>
                </a:solidFill>
                <a:latin typeface="Times New Roman" panose="02020603050405020304" pitchFamily="18" charset="0"/>
                <a:ea typeface="楷体_GB2312" pitchFamily="49" charset="-122"/>
              </a:endParaRPr>
            </a:p>
          </p:txBody>
        </p:sp>
        <p:sp>
          <p:nvSpPr>
            <p:cNvPr id="26633" name="Line 4"/>
            <p:cNvSpPr>
              <a:spLocks noChangeShapeType="1"/>
            </p:cNvSpPr>
            <p:nvPr/>
          </p:nvSpPr>
          <p:spPr bwMode="auto">
            <a:xfrm>
              <a:off x="144" y="1872"/>
              <a:ext cx="552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4" name="Line 5"/>
            <p:cNvSpPr>
              <a:spLocks noChangeShapeType="1"/>
            </p:cNvSpPr>
            <p:nvPr/>
          </p:nvSpPr>
          <p:spPr bwMode="auto">
            <a:xfrm>
              <a:off x="144" y="1200"/>
              <a:ext cx="552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635" name="Line 6"/>
            <p:cNvSpPr>
              <a:spLocks noChangeShapeType="1"/>
            </p:cNvSpPr>
            <p:nvPr/>
          </p:nvSpPr>
          <p:spPr bwMode="auto">
            <a:xfrm>
              <a:off x="96" y="1488"/>
              <a:ext cx="552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5" name="Rectangle 4"/>
          <p:cNvSpPr/>
          <p:nvPr/>
        </p:nvSpPr>
        <p:spPr>
          <a:xfrm>
            <a:off x="769259" y="375047"/>
            <a:ext cx="79265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auto">
              <a:spcAft>
                <a:spcPts val="0"/>
              </a:spcAft>
            </a:pPr>
            <a:r>
              <a:rPr lang="en-US" altLang="zh-CN" sz="2800" b="1" spc="-60" dirty="0">
                <a:solidFill>
                  <a:srgbClr val="FF0066"/>
                </a:solidFill>
                <a:latin typeface="+mn-lt"/>
                <a:ea typeface="+mj-ea"/>
                <a:cs typeface="+mj-cs"/>
              </a:rPr>
              <a:t>Influence of contact angle on nucleation barrier</a:t>
            </a:r>
            <a:endParaRPr lang="zh-CN" altLang="en-US" sz="2800" b="1" spc="-60" dirty="0">
              <a:solidFill>
                <a:srgbClr val="FF0066"/>
              </a:solidFill>
              <a:latin typeface="+mn-lt"/>
              <a:ea typeface="+mj-ea"/>
              <a:cs typeface="+mj-cs"/>
            </a:endParaRPr>
          </a:p>
        </p:txBody>
      </p:sp>
      <p:sp>
        <p:nvSpPr>
          <p:cNvPr id="2" name="TextBox 1"/>
          <p:cNvSpPr txBox="1"/>
          <p:nvPr/>
        </p:nvSpPr>
        <p:spPr>
          <a:xfrm>
            <a:off x="5652120" y="1040217"/>
            <a:ext cx="543739" cy="369332"/>
          </a:xfrm>
          <a:prstGeom prst="rect">
            <a:avLst/>
          </a:prstGeom>
          <a:solidFill>
            <a:schemeClr val="bg1"/>
          </a:solidFill>
        </p:spPr>
        <p:txBody>
          <a:bodyPr wrap="none" rtlCol="0">
            <a:spAutoFit/>
          </a:bodyPr>
          <a:lstStyle/>
          <a:p>
            <a:r>
              <a:rPr lang="en-US" sz="1800" dirty="0"/>
              <a:t>Gas</a:t>
            </a:r>
          </a:p>
        </p:txBody>
      </p:sp>
      <p:sp>
        <p:nvSpPr>
          <p:cNvPr id="13" name="TextBox 12"/>
          <p:cNvSpPr txBox="1"/>
          <p:nvPr/>
        </p:nvSpPr>
        <p:spPr>
          <a:xfrm>
            <a:off x="5567161" y="1700808"/>
            <a:ext cx="671979" cy="369332"/>
          </a:xfrm>
          <a:prstGeom prst="rect">
            <a:avLst/>
          </a:prstGeom>
          <a:solidFill>
            <a:schemeClr val="bg1"/>
          </a:solidFill>
        </p:spPr>
        <p:txBody>
          <a:bodyPr wrap="none" rtlCol="0">
            <a:spAutoFit/>
          </a:bodyPr>
          <a:lstStyle/>
          <a:p>
            <a:r>
              <a:rPr lang="en-US" sz="1800" dirty="0"/>
              <a:t>Solid</a:t>
            </a:r>
          </a:p>
        </p:txBody>
      </p:sp>
      <p:grpSp>
        <p:nvGrpSpPr>
          <p:cNvPr id="3" name="Group 2"/>
          <p:cNvGrpSpPr/>
          <p:nvPr/>
        </p:nvGrpSpPr>
        <p:grpSpPr>
          <a:xfrm>
            <a:off x="7596336" y="1046289"/>
            <a:ext cx="671979" cy="1029923"/>
            <a:chOff x="7596336" y="1046289"/>
            <a:chExt cx="671979" cy="1029923"/>
          </a:xfrm>
        </p:grpSpPr>
        <p:sp>
          <p:nvSpPr>
            <p:cNvPr id="14" name="TextBox 13"/>
            <p:cNvSpPr txBox="1"/>
            <p:nvPr/>
          </p:nvSpPr>
          <p:spPr>
            <a:xfrm>
              <a:off x="7681295" y="1046289"/>
              <a:ext cx="543739" cy="369332"/>
            </a:xfrm>
            <a:prstGeom prst="rect">
              <a:avLst/>
            </a:prstGeom>
            <a:solidFill>
              <a:schemeClr val="bg1"/>
            </a:solidFill>
          </p:spPr>
          <p:txBody>
            <a:bodyPr wrap="none" rtlCol="0">
              <a:spAutoFit/>
            </a:bodyPr>
            <a:lstStyle/>
            <a:p>
              <a:r>
                <a:rPr lang="en-US" sz="1800" dirty="0"/>
                <a:t>Gas</a:t>
              </a:r>
            </a:p>
          </p:txBody>
        </p:sp>
        <p:sp>
          <p:nvSpPr>
            <p:cNvPr id="15" name="TextBox 14"/>
            <p:cNvSpPr txBox="1"/>
            <p:nvPr/>
          </p:nvSpPr>
          <p:spPr>
            <a:xfrm>
              <a:off x="7596336" y="1706880"/>
              <a:ext cx="671979" cy="369332"/>
            </a:xfrm>
            <a:prstGeom prst="rect">
              <a:avLst/>
            </a:prstGeom>
            <a:solidFill>
              <a:schemeClr val="bg1"/>
            </a:solidFill>
          </p:spPr>
          <p:txBody>
            <a:bodyPr wrap="none" rtlCol="0">
              <a:spAutoFit/>
            </a:bodyPr>
            <a:lstStyle/>
            <a:p>
              <a:r>
                <a:rPr lang="en-US" sz="1800" dirty="0"/>
                <a:t>Solid</a:t>
              </a:r>
            </a:p>
          </p:txBody>
        </p:sp>
      </p:grpSp>
      <p:grpSp>
        <p:nvGrpSpPr>
          <p:cNvPr id="17" name="Group 16"/>
          <p:cNvGrpSpPr/>
          <p:nvPr/>
        </p:nvGrpSpPr>
        <p:grpSpPr>
          <a:xfrm>
            <a:off x="5759444" y="2656604"/>
            <a:ext cx="671979" cy="1029923"/>
            <a:chOff x="7596336" y="1046289"/>
            <a:chExt cx="671979" cy="1029923"/>
          </a:xfrm>
        </p:grpSpPr>
        <p:sp>
          <p:nvSpPr>
            <p:cNvPr id="18" name="TextBox 17"/>
            <p:cNvSpPr txBox="1"/>
            <p:nvPr/>
          </p:nvSpPr>
          <p:spPr>
            <a:xfrm>
              <a:off x="7681295" y="1046289"/>
              <a:ext cx="543739" cy="369332"/>
            </a:xfrm>
            <a:prstGeom prst="rect">
              <a:avLst/>
            </a:prstGeom>
            <a:solidFill>
              <a:schemeClr val="bg1"/>
            </a:solidFill>
          </p:spPr>
          <p:txBody>
            <a:bodyPr wrap="none" rtlCol="0">
              <a:spAutoFit/>
            </a:bodyPr>
            <a:lstStyle/>
            <a:p>
              <a:r>
                <a:rPr lang="en-US" sz="1800" dirty="0"/>
                <a:t>Gas</a:t>
              </a:r>
            </a:p>
          </p:txBody>
        </p:sp>
        <p:sp>
          <p:nvSpPr>
            <p:cNvPr id="19" name="TextBox 18"/>
            <p:cNvSpPr txBox="1"/>
            <p:nvPr/>
          </p:nvSpPr>
          <p:spPr>
            <a:xfrm>
              <a:off x="7596336" y="1706880"/>
              <a:ext cx="671979" cy="369332"/>
            </a:xfrm>
            <a:prstGeom prst="rect">
              <a:avLst/>
            </a:prstGeom>
            <a:solidFill>
              <a:schemeClr val="bg1"/>
            </a:solidFill>
          </p:spPr>
          <p:txBody>
            <a:bodyPr wrap="none" rtlCol="0">
              <a:spAutoFit/>
            </a:bodyPr>
            <a:lstStyle/>
            <a:p>
              <a:r>
                <a:rPr lang="en-US" sz="1800" dirty="0"/>
                <a:t>Solid</a:t>
              </a:r>
            </a:p>
          </p:txBody>
        </p:sp>
      </p:grpSp>
      <p:sp>
        <p:nvSpPr>
          <p:cNvPr id="20" name="TextBox 19"/>
          <p:cNvSpPr txBox="1"/>
          <p:nvPr/>
        </p:nvSpPr>
        <p:spPr>
          <a:xfrm>
            <a:off x="7801404" y="2661255"/>
            <a:ext cx="543739" cy="369332"/>
          </a:xfrm>
          <a:prstGeom prst="rect">
            <a:avLst/>
          </a:prstGeom>
          <a:solidFill>
            <a:schemeClr val="bg1"/>
          </a:solidFill>
        </p:spPr>
        <p:txBody>
          <a:bodyPr wrap="none" rtlCol="0">
            <a:spAutoFit/>
          </a:bodyPr>
          <a:lstStyle/>
          <a:p>
            <a:r>
              <a:rPr lang="en-US" sz="1800" dirty="0"/>
              <a:t>Gas</a:t>
            </a:r>
          </a:p>
        </p:txBody>
      </p:sp>
      <p:sp>
        <p:nvSpPr>
          <p:cNvPr id="21" name="TextBox 20"/>
          <p:cNvSpPr txBox="1"/>
          <p:nvPr/>
        </p:nvSpPr>
        <p:spPr>
          <a:xfrm>
            <a:off x="7716445" y="3321846"/>
            <a:ext cx="671979" cy="369332"/>
          </a:xfrm>
          <a:prstGeom prst="rect">
            <a:avLst/>
          </a:prstGeom>
          <a:solidFill>
            <a:schemeClr val="bg1"/>
          </a:solidFill>
        </p:spPr>
        <p:txBody>
          <a:bodyPr wrap="none" rtlCol="0">
            <a:spAutoFit/>
          </a:bodyPr>
          <a:lstStyle/>
          <a:p>
            <a:r>
              <a:rPr lang="en-US" sz="1800" dirty="0"/>
              <a:t>Solid</a:t>
            </a:r>
          </a:p>
        </p:txBody>
      </p:sp>
      <p:sp>
        <p:nvSpPr>
          <p:cNvPr id="22" name="TextBox 21"/>
          <p:cNvSpPr txBox="1"/>
          <p:nvPr/>
        </p:nvSpPr>
        <p:spPr>
          <a:xfrm>
            <a:off x="1517090" y="4656847"/>
            <a:ext cx="748988" cy="307777"/>
          </a:xfrm>
          <a:prstGeom prst="rect">
            <a:avLst/>
          </a:prstGeom>
          <a:solidFill>
            <a:schemeClr val="bg1"/>
          </a:solidFill>
        </p:spPr>
        <p:txBody>
          <a:bodyPr wrap="none" rtlCol="0">
            <a:spAutoFit/>
          </a:bodyPr>
          <a:lstStyle/>
          <a:p>
            <a:r>
              <a:rPr lang="en-US" altLang="zh-CN" sz="1400" dirty="0"/>
              <a:t>Wetting</a:t>
            </a:r>
            <a:endParaRPr lang="en-US" sz="1400" dirty="0"/>
          </a:p>
        </p:txBody>
      </p:sp>
      <p:sp>
        <p:nvSpPr>
          <p:cNvPr id="23" name="TextBox 22"/>
          <p:cNvSpPr txBox="1"/>
          <p:nvPr/>
        </p:nvSpPr>
        <p:spPr>
          <a:xfrm>
            <a:off x="1403648" y="5085184"/>
            <a:ext cx="1091966" cy="307777"/>
          </a:xfrm>
          <a:prstGeom prst="rect">
            <a:avLst/>
          </a:prstGeom>
          <a:solidFill>
            <a:schemeClr val="bg1"/>
          </a:solidFill>
        </p:spPr>
        <p:txBody>
          <a:bodyPr wrap="none" rtlCol="0">
            <a:spAutoFit/>
          </a:bodyPr>
          <a:lstStyle/>
          <a:p>
            <a:r>
              <a:rPr lang="en-US" altLang="zh-CN" sz="1400" dirty="0"/>
              <a:t>Non-wetting</a:t>
            </a:r>
            <a:endParaRPr lang="en-US" sz="1400" dirty="0"/>
          </a:p>
        </p:txBody>
      </p:sp>
      <p:sp>
        <p:nvSpPr>
          <p:cNvPr id="64533" name="Rectangle 1045"/>
          <p:cNvSpPr>
            <a:spLocks noChangeArrowheads="1"/>
          </p:cNvSpPr>
          <p:nvPr/>
        </p:nvSpPr>
        <p:spPr bwMode="auto">
          <a:xfrm>
            <a:off x="395536" y="1160463"/>
            <a:ext cx="4536504" cy="3322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marL="342900" indent="-342900" eaLnBrk="1" hangingPunct="1">
              <a:spcBef>
                <a:spcPct val="50000"/>
              </a:spcBef>
              <a:spcAft>
                <a:spcPct val="0"/>
              </a:spcAft>
              <a:buFont typeface="Arial" panose="020B0604020202020204" pitchFamily="34" charset="0"/>
              <a:buChar char="•"/>
              <a:defRPr/>
            </a:pPr>
            <a:r>
              <a:rPr lang="en-US" altLang="zh-CN" dirty="0">
                <a:latin typeface="Times New Roman" panose="02020603050405020304" pitchFamily="18" charset="0"/>
                <a:ea typeface="宋体" panose="02010600030101010101" pitchFamily="2" charset="-122"/>
              </a:rPr>
              <a:t>θ=0</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G*</a:t>
            </a:r>
            <a:r>
              <a:rPr lang="en-US" altLang="zh-CN" baseline="-25000" dirty="0">
                <a:latin typeface="Times New Roman" panose="02020603050405020304" pitchFamily="18" charset="0"/>
                <a:ea typeface="宋体" panose="02010600030101010101" pitchFamily="2" charset="-122"/>
              </a:rPr>
              <a:t> </a:t>
            </a:r>
            <a:r>
              <a:rPr lang="en-US" altLang="zh-CN" baseline="-30000" dirty="0">
                <a:latin typeface="Times New Roman" panose="02020603050405020304" pitchFamily="18" charset="0"/>
                <a:ea typeface="宋体" panose="02010600030101010101" pitchFamily="2" charset="-122"/>
              </a:rPr>
              <a:t>hetero</a:t>
            </a:r>
            <a:r>
              <a:rPr lang="zh-CN" altLang="en-US" dirty="0">
                <a:latin typeface="Times New Roman" panose="02020603050405020304" pitchFamily="18" charset="0"/>
                <a:ea typeface="宋体" panose="02010600030101010101" pitchFamily="2" charset="-122"/>
              </a:rPr>
              <a:t>＝0，</a:t>
            </a:r>
            <a:endParaRPr lang="en-US" altLang="zh-CN" dirty="0">
              <a:latin typeface="Times New Roman" panose="02020603050405020304" pitchFamily="18" charset="0"/>
              <a:ea typeface="宋体" panose="02010600030101010101" pitchFamily="2" charset="-122"/>
            </a:endParaRPr>
          </a:p>
          <a:p>
            <a:pPr eaLnBrk="1" hangingPunct="1">
              <a:spcBef>
                <a:spcPct val="50000"/>
              </a:spcBef>
              <a:spcAft>
                <a:spcPct val="0"/>
              </a:spcAft>
              <a:defRPr/>
            </a:pPr>
            <a:r>
              <a:rPr lang="en-US" altLang="zh-CN" dirty="0">
                <a:latin typeface="Times New Roman" panose="02020603050405020304" pitchFamily="18" charset="0"/>
                <a:ea typeface="宋体" panose="02010600030101010101" pitchFamily="2" charset="-122"/>
              </a:rPr>
              <a:t>	Impurity</a:t>
            </a:r>
            <a:r>
              <a:rPr lang="en-US" altLang="zh-CN" dirty="0">
                <a:solidFill>
                  <a:srgbClr val="FF0066"/>
                </a:solidFill>
                <a:latin typeface="Times New Roman" panose="02020603050405020304" pitchFamily="18" charset="0"/>
                <a:ea typeface="宋体" panose="02010600030101010101" pitchFamily="2" charset="-122"/>
              </a:rPr>
              <a:t> is the same material to nucleus</a:t>
            </a:r>
            <a:r>
              <a:rPr lang="zh-CN" altLang="en-US" dirty="0">
                <a:solidFill>
                  <a:srgbClr val="FF0066"/>
                </a:solidFill>
                <a:latin typeface="Times New Roman" panose="02020603050405020304" pitchFamily="18" charset="0"/>
                <a:ea typeface="宋体" panose="02010600030101010101" pitchFamily="2" charset="-122"/>
              </a:rPr>
              <a:t>；</a:t>
            </a:r>
          </a:p>
          <a:p>
            <a:pPr marL="342900" indent="-342900" eaLnBrk="1" hangingPunct="1">
              <a:spcBef>
                <a:spcPct val="50000"/>
              </a:spcBef>
              <a:spcAft>
                <a:spcPct val="0"/>
              </a:spcAft>
              <a:buFont typeface="Arial" panose="020B0604020202020204" pitchFamily="34" charset="0"/>
              <a:buChar char="•"/>
              <a:defRPr/>
            </a:pPr>
            <a:r>
              <a:rPr lang="en-US" altLang="zh-CN" dirty="0">
                <a:latin typeface="Times New Roman" panose="02020603050405020304" pitchFamily="18" charset="0"/>
                <a:ea typeface="宋体" panose="02010600030101010101" pitchFamily="2" charset="-122"/>
              </a:rPr>
              <a:t>180&gt;θ&gt;0</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G*</a:t>
            </a:r>
            <a:r>
              <a:rPr lang="en-US" altLang="zh-CN" baseline="-25000" dirty="0">
                <a:latin typeface="Times New Roman" panose="02020603050405020304" pitchFamily="18" charset="0"/>
                <a:ea typeface="宋体" panose="02010600030101010101" pitchFamily="2" charset="-122"/>
              </a:rPr>
              <a:t>hetero</a:t>
            </a:r>
            <a:r>
              <a:rPr lang="zh-CN" altLang="en-US" dirty="0">
                <a:latin typeface="Times New Roman" panose="02020603050405020304" pitchFamily="18" charset="0"/>
                <a:ea typeface="宋体" panose="02010600030101010101" pitchFamily="2" charset="-122"/>
              </a:rPr>
              <a:t>&lt;△</a:t>
            </a:r>
            <a:r>
              <a:rPr lang="en-US" altLang="zh-CN" dirty="0">
                <a:latin typeface="Times New Roman" panose="02020603050405020304" pitchFamily="18" charset="0"/>
                <a:ea typeface="宋体" panose="02010600030101010101" pitchFamily="2" charset="-122"/>
              </a:rPr>
              <a:t>G</a:t>
            </a:r>
            <a:r>
              <a:rPr lang="en-US" altLang="zh-CN" dirty="0">
                <a:latin typeface="Times New Roman" panose="02020603050405020304" pitchFamily="18" charset="0"/>
                <a:ea typeface="宋体" panose="02010600030101010101" pitchFamily="2" charset="-122"/>
                <a:sym typeface="+mn-ea"/>
              </a:rPr>
              <a:t>*</a:t>
            </a:r>
            <a:r>
              <a:rPr lang="en-US" altLang="zh-CN" dirty="0">
                <a:latin typeface="Times New Roman" panose="02020603050405020304" pitchFamily="18" charset="0"/>
                <a:ea typeface="宋体" panose="02010600030101010101" pitchFamily="2" charset="-122"/>
              </a:rPr>
              <a:t> </a:t>
            </a:r>
            <a:r>
              <a:rPr lang="en-US" altLang="zh-CN" baseline="-25000" dirty="0">
                <a:latin typeface="Times New Roman" panose="02020603050405020304" pitchFamily="18" charset="0"/>
                <a:ea typeface="宋体" panose="02010600030101010101" pitchFamily="2" charset="-122"/>
              </a:rPr>
              <a:t>homo</a:t>
            </a:r>
            <a:r>
              <a:rPr lang="en-US" altLang="zh-CN" dirty="0">
                <a:latin typeface="Times New Roman" panose="02020603050405020304" pitchFamily="18" charset="0"/>
                <a:ea typeface="宋体" panose="02010600030101010101" pitchFamily="2" charset="-122"/>
              </a:rPr>
              <a:t>,</a:t>
            </a:r>
          </a:p>
          <a:p>
            <a:pPr eaLnBrk="1" hangingPunct="1">
              <a:spcBef>
                <a:spcPct val="50000"/>
              </a:spcBef>
              <a:spcAft>
                <a:spcPct val="0"/>
              </a:spcAft>
              <a:defRPr/>
            </a:pPr>
            <a:r>
              <a:rPr lang="en-US" altLang="zh-CN" dirty="0">
                <a:latin typeface="Times New Roman" panose="02020603050405020304" pitchFamily="18" charset="0"/>
                <a:ea typeface="宋体" panose="02010600030101010101" pitchFamily="2" charset="-122"/>
              </a:rPr>
              <a:t> 	 Impurity  </a:t>
            </a:r>
            <a:r>
              <a:rPr lang="en-US" altLang="zh-CN" dirty="0">
                <a:solidFill>
                  <a:srgbClr val="FF0066"/>
                </a:solidFill>
                <a:latin typeface="Times New Roman" panose="02020603050405020304" pitchFamily="18" charset="0"/>
                <a:ea typeface="宋体" panose="02010600030101010101" pitchFamily="2" charset="-122"/>
              </a:rPr>
              <a:t>promotes the nucleus</a:t>
            </a:r>
            <a:r>
              <a:rPr lang="zh-CN" altLang="en-US" dirty="0">
                <a:solidFill>
                  <a:srgbClr val="FF0066"/>
                </a:solidFill>
                <a:latin typeface="Times New Roman" panose="02020603050405020304" pitchFamily="18" charset="0"/>
                <a:ea typeface="宋体" panose="02010600030101010101" pitchFamily="2" charset="-122"/>
              </a:rPr>
              <a:t>；</a:t>
            </a:r>
          </a:p>
          <a:p>
            <a:pPr marL="342900" indent="-342900" eaLnBrk="1" hangingPunct="1">
              <a:spcBef>
                <a:spcPct val="50000"/>
              </a:spcBef>
              <a:spcAft>
                <a:spcPct val="0"/>
              </a:spcAft>
              <a:buFont typeface="Arial" panose="020B0604020202020204" pitchFamily="34" charset="0"/>
              <a:buChar char="•"/>
              <a:defRPr/>
            </a:pPr>
            <a:r>
              <a:rPr lang="en-US" altLang="zh-CN" dirty="0">
                <a:latin typeface="Times New Roman" panose="02020603050405020304" pitchFamily="18" charset="0"/>
                <a:ea typeface="宋体" panose="02010600030101010101" pitchFamily="2" charset="-122"/>
              </a:rPr>
              <a:t>θ=180,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G*</a:t>
            </a:r>
            <a:r>
              <a:rPr lang="en-US" altLang="zh-CN" baseline="-25000" dirty="0">
                <a:latin typeface="Times New Roman" panose="02020603050405020304" pitchFamily="18" charset="0"/>
                <a:ea typeface="宋体" panose="02010600030101010101" pitchFamily="2" charset="-122"/>
              </a:rPr>
              <a:t> </a:t>
            </a:r>
            <a:r>
              <a:rPr lang="en-US" altLang="zh-CN" baseline="-30000" dirty="0">
                <a:latin typeface="Times New Roman" panose="02020603050405020304" pitchFamily="18" charset="0"/>
                <a:ea typeface="宋体" panose="02010600030101010101" pitchFamily="2" charset="-122"/>
              </a:rPr>
              <a:t>hetero</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G</a:t>
            </a:r>
            <a:r>
              <a:rPr lang="en-US" altLang="zh-CN" dirty="0">
                <a:latin typeface="Times New Roman" panose="02020603050405020304" pitchFamily="18" charset="0"/>
                <a:ea typeface="宋体" panose="02010600030101010101" pitchFamily="2" charset="-122"/>
                <a:sym typeface="+mn-ea"/>
              </a:rPr>
              <a:t>*</a:t>
            </a:r>
            <a:r>
              <a:rPr lang="en-US" altLang="zh-CN" dirty="0">
                <a:latin typeface="Times New Roman" panose="02020603050405020304" pitchFamily="18" charset="0"/>
                <a:ea typeface="宋体" panose="02010600030101010101" pitchFamily="2" charset="-122"/>
              </a:rPr>
              <a:t> </a:t>
            </a:r>
            <a:r>
              <a:rPr lang="en-US" altLang="zh-CN" baseline="-25000" dirty="0">
                <a:latin typeface="Times New Roman" panose="02020603050405020304" pitchFamily="18" charset="0"/>
                <a:ea typeface="宋体" panose="02010600030101010101" pitchFamily="2" charset="-122"/>
              </a:rPr>
              <a:t>homo</a:t>
            </a:r>
            <a:r>
              <a:rPr lang="en-US" altLang="zh-CN" dirty="0">
                <a:latin typeface="Times New Roman" panose="02020603050405020304" pitchFamily="18" charset="0"/>
                <a:ea typeface="宋体" panose="02010600030101010101" pitchFamily="2" charset="-122"/>
              </a:rPr>
              <a:t>，</a:t>
            </a:r>
          </a:p>
          <a:p>
            <a:pPr eaLnBrk="1" hangingPunct="1">
              <a:spcBef>
                <a:spcPct val="50000"/>
              </a:spcBef>
              <a:spcAft>
                <a:spcPct val="0"/>
              </a:spcAft>
              <a:defRPr/>
            </a:pPr>
            <a:r>
              <a:rPr lang="en-US" altLang="zh-CN" dirty="0">
                <a:latin typeface="Times New Roman" panose="02020603050405020304" pitchFamily="18" charset="0"/>
                <a:ea typeface="宋体" panose="02010600030101010101" pitchFamily="2" charset="-122"/>
              </a:rPr>
              <a:t>	 Impurity</a:t>
            </a:r>
            <a:r>
              <a:rPr lang="en-US" altLang="zh-CN" dirty="0">
                <a:solidFill>
                  <a:srgbClr val="FF0066"/>
                </a:solidFill>
                <a:latin typeface="Times New Roman" panose="02020603050405020304" pitchFamily="18" charset="0"/>
                <a:ea typeface="宋体" panose="02010600030101010101" pitchFamily="2" charset="-122"/>
              </a:rPr>
              <a:t> does not work.</a:t>
            </a:r>
            <a:endParaRPr lang="zh-CN" altLang="en-US" dirty="0">
              <a:solidFill>
                <a:srgbClr val="FF0066"/>
              </a:solidFill>
              <a:latin typeface="Times New Roman" panose="02020603050405020304" pitchFamily="18" charset="0"/>
              <a:ea typeface="宋体" panose="02010600030101010101" pitchFamily="2" charset="-122"/>
            </a:endParaRPr>
          </a:p>
        </p:txBody>
      </p:sp>
    </p:spTree>
  </p:cSld>
  <p:clrMapOvr>
    <a:masterClrMapping/>
  </p:clrMapOvr>
  <p:transition spd="slow">
    <p:split orient="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412776"/>
            <a:ext cx="7772400" cy="4321175"/>
          </a:xfrm>
        </p:spPr>
        <p:txBody>
          <a:bodyPr>
            <a:normAutofit/>
          </a:bodyPr>
          <a:lstStyle/>
          <a:p>
            <a:pPr algn="l">
              <a:defRPr/>
            </a:pPr>
            <a:r>
              <a:rPr lang="en-US" b="0" cap="none" dirty="0">
                <a:effectLst/>
                <a:latin typeface="+mn-lt"/>
              </a:rPr>
              <a:t>Surface energy and surface tension</a:t>
            </a:r>
            <a:br>
              <a:rPr lang="en-US" b="0" cap="none" dirty="0">
                <a:effectLst/>
                <a:latin typeface="+mn-lt"/>
              </a:rPr>
            </a:br>
            <a:r>
              <a:rPr lang="en-US" b="0" cap="none" dirty="0">
                <a:effectLst/>
                <a:latin typeface="+mn-lt"/>
              </a:rPr>
              <a:t/>
            </a:r>
            <a:br>
              <a:rPr lang="en-US" b="0" cap="none" dirty="0">
                <a:effectLst/>
                <a:latin typeface="+mn-lt"/>
              </a:rPr>
            </a:br>
            <a:r>
              <a:rPr lang="en-US" b="0" cap="none" dirty="0">
                <a:effectLst/>
                <a:latin typeface="+mn-lt"/>
              </a:rPr>
              <a:t>1. concept, application and the relationship between these two concepts</a:t>
            </a:r>
            <a:br>
              <a:rPr lang="en-US" b="0" cap="none" dirty="0">
                <a:effectLst/>
                <a:latin typeface="+mn-lt"/>
              </a:rPr>
            </a:br>
            <a:r>
              <a:rPr lang="en-US" b="0" cap="none" dirty="0">
                <a:effectLst/>
                <a:latin typeface="+mn-lt"/>
              </a:rPr>
              <a:t>2. values of common materials</a:t>
            </a:r>
            <a:br>
              <a:rPr lang="en-US" b="0" cap="none" dirty="0">
                <a:effectLst/>
                <a:latin typeface="+mn-lt"/>
              </a:rPr>
            </a:br>
            <a:r>
              <a:rPr lang="en-US" b="0" cap="none" dirty="0">
                <a:effectLst/>
                <a:latin typeface="+mn-lt"/>
              </a:rPr>
              <a:t>3. Any relationship between surface energy and crystal growth?</a:t>
            </a:r>
          </a:p>
        </p:txBody>
      </p:sp>
      <p:sp>
        <p:nvSpPr>
          <p:cNvPr id="3" name="Text Placeholder 2"/>
          <p:cNvSpPr>
            <a:spLocks noGrp="1"/>
          </p:cNvSpPr>
          <p:nvPr>
            <p:ph type="body" idx="1"/>
          </p:nvPr>
        </p:nvSpPr>
        <p:spPr/>
        <p:txBody>
          <a:bodyPr/>
          <a:lstStyle/>
          <a:p>
            <a:r>
              <a:rPr lang="en-US" altLang="zh-CN" dirty="0"/>
              <a:t>Mini project releases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412776"/>
            <a:ext cx="7772400" cy="4321175"/>
          </a:xfrm>
        </p:spPr>
        <p:txBody>
          <a:bodyPr>
            <a:normAutofit/>
          </a:bodyPr>
          <a:lstStyle/>
          <a:p>
            <a:pPr algn="l">
              <a:defRPr/>
            </a:pPr>
            <a:r>
              <a:rPr lang="en-US" b="0" cap="none" dirty="0">
                <a:effectLst/>
                <a:latin typeface="+mn-lt"/>
              </a:rPr>
              <a:t>The nucleation rate in homogeneous and heterogeneous nucleation progress.</a:t>
            </a:r>
          </a:p>
        </p:txBody>
      </p:sp>
      <p:sp>
        <p:nvSpPr>
          <p:cNvPr id="3" name="Text Placeholder 2"/>
          <p:cNvSpPr>
            <a:spLocks noGrp="1"/>
          </p:cNvSpPr>
          <p:nvPr>
            <p:ph type="body" idx="1"/>
          </p:nvPr>
        </p:nvSpPr>
        <p:spPr/>
        <p:txBody>
          <a:bodyPr/>
          <a:lstStyle/>
          <a:p>
            <a:r>
              <a:rPr lang="en-US" altLang="zh-CN" dirty="0"/>
              <a:t>Mini project releases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842603" y="1412776"/>
            <a:ext cx="7344494" cy="5256584"/>
          </a:xfrm>
        </p:spPr>
        <p:txBody>
          <a:bodyPr>
            <a:noAutofit/>
          </a:bodyPr>
          <a:lstStyle/>
          <a:p>
            <a:pPr algn="l" eaLnBrk="1" fontAlgn="auto" hangingPunct="1">
              <a:spcAft>
                <a:spcPts val="0"/>
              </a:spcAft>
              <a:defRPr/>
            </a:pPr>
            <a:r>
              <a:rPr lang="en-US" altLang="zh-CN" sz="2000" cap="none" dirty="0">
                <a:solidFill>
                  <a:schemeClr val="tx1"/>
                </a:solidFill>
                <a:effectLst/>
                <a:latin typeface="+mn-lt"/>
              </a:rPr>
              <a:t/>
            </a:r>
            <a:br>
              <a:rPr lang="en-US" altLang="zh-CN" sz="2000" cap="none" dirty="0">
                <a:solidFill>
                  <a:schemeClr val="tx1"/>
                </a:solidFill>
                <a:effectLst/>
                <a:latin typeface="+mn-lt"/>
              </a:rPr>
            </a:br>
            <a:r>
              <a:rPr lang="zh-CN" altLang="en-US" sz="2000" cap="none" dirty="0">
                <a:solidFill>
                  <a:schemeClr val="tx1"/>
                </a:solidFill>
                <a:effectLst/>
                <a:latin typeface="+mn-lt"/>
              </a:rPr>
              <a:t/>
            </a:r>
            <a:br>
              <a:rPr lang="zh-CN" altLang="en-US" sz="2000" cap="none" dirty="0">
                <a:solidFill>
                  <a:schemeClr val="tx1"/>
                </a:solidFill>
                <a:effectLst/>
                <a:latin typeface="+mn-lt"/>
              </a:rPr>
            </a:br>
            <a:endParaRPr lang="zh-CN" altLang="en-US" sz="2000" cap="none" dirty="0">
              <a:solidFill>
                <a:schemeClr val="tx1"/>
              </a:solidFill>
              <a:effectLst/>
              <a:latin typeface="+mn-lt"/>
            </a:endParaRPr>
          </a:p>
        </p:txBody>
      </p:sp>
      <p:sp>
        <p:nvSpPr>
          <p:cNvPr id="17411" name="Text Box 3"/>
          <p:cNvSpPr txBox="1">
            <a:spLocks noChangeArrowheads="1"/>
          </p:cNvSpPr>
          <p:nvPr/>
        </p:nvSpPr>
        <p:spPr bwMode="auto">
          <a:xfrm>
            <a:off x="827584" y="478752"/>
            <a:ext cx="73875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auto">
              <a:spcAft>
                <a:spcPts val="0"/>
              </a:spcAft>
              <a:defRPr/>
            </a:pPr>
            <a:r>
              <a:rPr lang="en-US" altLang="zh-CN" sz="2800" b="1" spc="-60" dirty="0">
                <a:solidFill>
                  <a:srgbClr val="FF0066"/>
                </a:solidFill>
                <a:latin typeface="+mn-lt"/>
                <a:ea typeface="+mj-ea"/>
                <a:cs typeface="+mj-cs"/>
              </a:rPr>
              <a:t>III</a:t>
            </a:r>
            <a:r>
              <a:rPr lang="zh-CN" altLang="en-US" sz="2800" b="1" spc="-60" dirty="0">
                <a:solidFill>
                  <a:srgbClr val="FF0066"/>
                </a:solidFill>
                <a:latin typeface="+mn-lt"/>
                <a:ea typeface="+mj-ea"/>
                <a:cs typeface="+mj-cs"/>
              </a:rPr>
              <a:t>、</a:t>
            </a:r>
            <a:r>
              <a:rPr lang="en-US" altLang="zh-CN" sz="2800" b="1" spc="-60" dirty="0">
                <a:solidFill>
                  <a:srgbClr val="FF0066"/>
                </a:solidFill>
                <a:latin typeface="+mn-lt"/>
                <a:ea typeface="+mj-ea"/>
                <a:cs typeface="+mj-cs"/>
              </a:rPr>
              <a:t>Theoretical model of crystal growth</a:t>
            </a:r>
            <a:endParaRPr lang="zh-CN" altLang="en-US" sz="2800" b="1" spc="-60" dirty="0">
              <a:solidFill>
                <a:srgbClr val="FF0066"/>
              </a:solidFill>
              <a:latin typeface="+mn-lt"/>
              <a:ea typeface="+mj-ea"/>
              <a:cs typeface="+mj-cs"/>
            </a:endParaRPr>
          </a:p>
        </p:txBody>
      </p:sp>
      <p:sp>
        <p:nvSpPr>
          <p:cNvPr id="2" name="Rectangle 1"/>
          <p:cNvSpPr/>
          <p:nvPr/>
        </p:nvSpPr>
        <p:spPr>
          <a:xfrm>
            <a:off x="611560" y="1412775"/>
            <a:ext cx="7920880" cy="5078313"/>
          </a:xfrm>
          <a:prstGeom prst="rect">
            <a:avLst/>
          </a:prstGeom>
        </p:spPr>
        <p:txBody>
          <a:bodyPr wrap="square">
            <a:spAutoFit/>
          </a:bodyPr>
          <a:lstStyle/>
          <a:p>
            <a:pPr algn="just"/>
            <a:r>
              <a:rPr lang="en-US" altLang="zh-CN" sz="2000" spc="-60" dirty="0">
                <a:solidFill>
                  <a:srgbClr val="000000"/>
                </a:solidFill>
                <a:latin typeface="+mn-lt"/>
                <a:ea typeface="微软雅黑" panose="020B0503020204020204" pitchFamily="34" charset="-122"/>
                <a:cs typeface="+mj-cs"/>
              </a:rPr>
              <a:t>Once nucleus is formed, the crystal growth carries out at the crystal-liquid interface. That is, the atoms are piled up in accordance with the arrangement of the crystal structures to form crystals. </a:t>
            </a:r>
          </a:p>
          <a:p>
            <a:pPr algn="just"/>
            <a:endParaRPr lang="en-US" altLang="zh-CN" sz="2000" spc="-60" dirty="0">
              <a:solidFill>
                <a:srgbClr val="000000"/>
              </a:solidFill>
              <a:latin typeface="+mn-lt"/>
              <a:ea typeface="微软雅黑" panose="020B0503020204020204" pitchFamily="34" charset="-122"/>
              <a:cs typeface="+mj-cs"/>
            </a:endParaRPr>
          </a:p>
          <a:p>
            <a:pPr algn="just"/>
            <a:r>
              <a:rPr lang="en-US" altLang="zh-CN" sz="2000" b="1" spc="-60" dirty="0">
                <a:solidFill>
                  <a:srgbClr val="FF0000"/>
                </a:solidFill>
                <a:latin typeface="+mn-lt"/>
                <a:ea typeface="微软雅黑" panose="020B0503020204020204" pitchFamily="34" charset="-122"/>
                <a:cs typeface="+mj-cs"/>
              </a:rPr>
              <a:t>How crystals grow up?</a:t>
            </a:r>
          </a:p>
          <a:p>
            <a:pPr algn="just"/>
            <a:r>
              <a:rPr lang="en-US" altLang="zh-CN" sz="2000" b="1" spc="-60" dirty="0">
                <a:solidFill>
                  <a:srgbClr val="FF0000"/>
                </a:solidFill>
                <a:latin typeface="+mn-lt"/>
                <a:ea typeface="微软雅黑" panose="020B0503020204020204" pitchFamily="34" charset="-122"/>
                <a:cs typeface="+mj-cs"/>
              </a:rPr>
              <a:t>What’s the dominant factors that determine the final morphology of crystals ? </a:t>
            </a:r>
          </a:p>
          <a:p>
            <a:pPr algn="just"/>
            <a:endParaRPr lang="en-US" altLang="zh-CN" sz="2000" spc="-60" dirty="0">
              <a:solidFill>
                <a:srgbClr val="000000"/>
              </a:solidFill>
              <a:latin typeface="+mn-lt"/>
              <a:ea typeface="微软雅黑" panose="020B0503020204020204" pitchFamily="34" charset="-122"/>
              <a:cs typeface="+mj-cs"/>
            </a:endParaRPr>
          </a:p>
          <a:p>
            <a:pPr algn="just"/>
            <a:r>
              <a:rPr lang="en-US" altLang="zh-CN" sz="2000" spc="-60" dirty="0">
                <a:solidFill>
                  <a:srgbClr val="000000"/>
                </a:solidFill>
                <a:latin typeface="+mn-lt"/>
                <a:ea typeface="微软雅黑" panose="020B0503020204020204" pitchFamily="34" charset="-122"/>
                <a:cs typeface="+mj-cs"/>
              </a:rPr>
              <a:t>There are five general crystal growth models/theories:</a:t>
            </a:r>
          </a:p>
          <a:p>
            <a:pPr marL="457200" indent="-457200" algn="just">
              <a:buAutoNum type="arabicPeriod"/>
            </a:pPr>
            <a:r>
              <a:rPr lang="en-US" altLang="zh-CN" sz="2000" spc="-60" dirty="0">
                <a:solidFill>
                  <a:srgbClr val="FF0000"/>
                </a:solidFill>
                <a:latin typeface="+mn-lt"/>
                <a:ea typeface="微软雅黑" panose="020B0503020204020204" pitchFamily="34" charset="-122"/>
                <a:cs typeface="+mj-cs"/>
              </a:rPr>
              <a:t>Layer growth model </a:t>
            </a:r>
            <a:r>
              <a:rPr lang="zh-CN" altLang="en-US" sz="2000" spc="-60" dirty="0">
                <a:solidFill>
                  <a:srgbClr val="FF0000"/>
                </a:solidFill>
                <a:latin typeface="+mn-lt"/>
                <a:ea typeface="微软雅黑" panose="020B0503020204020204" pitchFamily="34" charset="-122"/>
                <a:cs typeface="+mj-cs"/>
              </a:rPr>
              <a:t>（科赛尔</a:t>
            </a:r>
            <a:r>
              <a:rPr lang="en-US" altLang="zh-CN" sz="2000" spc="-60" dirty="0">
                <a:solidFill>
                  <a:srgbClr val="FF0000"/>
                </a:solidFill>
                <a:latin typeface="+mn-lt"/>
                <a:ea typeface="微软雅黑" panose="020B0503020204020204" pitchFamily="34" charset="-122"/>
                <a:cs typeface="+mj-cs"/>
              </a:rPr>
              <a:t>-</a:t>
            </a:r>
            <a:r>
              <a:rPr lang="zh-CN" altLang="en-US" sz="2000" spc="-60" dirty="0">
                <a:solidFill>
                  <a:srgbClr val="FF0000"/>
                </a:solidFill>
                <a:latin typeface="+mn-lt"/>
                <a:ea typeface="微软雅黑" panose="020B0503020204020204" pitchFamily="34" charset="-122"/>
                <a:cs typeface="+mj-cs"/>
              </a:rPr>
              <a:t>斯特兰斯基模型）</a:t>
            </a:r>
            <a:endParaRPr lang="en-US" altLang="zh-CN" sz="2000" spc="-60" dirty="0">
              <a:solidFill>
                <a:srgbClr val="FF0000"/>
              </a:solidFill>
              <a:latin typeface="+mn-lt"/>
              <a:ea typeface="微软雅黑" panose="020B0503020204020204" pitchFamily="34" charset="-122"/>
              <a:cs typeface="+mj-cs"/>
            </a:endParaRPr>
          </a:p>
          <a:p>
            <a:pPr marL="457200" indent="-457200" algn="just">
              <a:buAutoNum type="arabicPeriod"/>
            </a:pPr>
            <a:r>
              <a:rPr lang="en-US" altLang="zh-CN" sz="2000" spc="-60" dirty="0">
                <a:solidFill>
                  <a:srgbClr val="000000"/>
                </a:solidFill>
                <a:latin typeface="+mn-lt"/>
                <a:ea typeface="微软雅黑" panose="020B0503020204020204" pitchFamily="34" charset="-122"/>
                <a:cs typeface="+mj-cs"/>
              </a:rPr>
              <a:t>Screw dislocation model </a:t>
            </a:r>
          </a:p>
          <a:p>
            <a:pPr marL="457200" indent="-457200" algn="just">
              <a:buAutoNum type="arabicPeriod"/>
            </a:pPr>
            <a:r>
              <a:rPr lang="en-US" altLang="zh-CN" sz="2000" spc="-60" dirty="0">
                <a:solidFill>
                  <a:srgbClr val="FF0000"/>
                </a:solidFill>
                <a:latin typeface="+mn-lt"/>
                <a:ea typeface="微软雅黑" panose="020B0503020204020204" pitchFamily="34" charset="-122"/>
                <a:cs typeface="+mj-cs"/>
              </a:rPr>
              <a:t>Curie Wolfe principle</a:t>
            </a:r>
            <a:r>
              <a:rPr lang="zh-CN" altLang="en-US" sz="2000" spc="-60" dirty="0">
                <a:solidFill>
                  <a:srgbClr val="FF0000"/>
                </a:solidFill>
                <a:latin typeface="+mn-lt"/>
                <a:ea typeface="微软雅黑" panose="020B0503020204020204" pitchFamily="34" charset="-122"/>
                <a:cs typeface="+mj-cs"/>
              </a:rPr>
              <a:t>（居里</a:t>
            </a:r>
            <a:r>
              <a:rPr lang="en-US" altLang="zh-CN" sz="2000" spc="-60" dirty="0">
                <a:solidFill>
                  <a:srgbClr val="FF0000"/>
                </a:solidFill>
                <a:latin typeface="+mn-lt"/>
                <a:ea typeface="微软雅黑" panose="020B0503020204020204" pitchFamily="34" charset="-122"/>
                <a:cs typeface="+mj-cs"/>
              </a:rPr>
              <a:t>-</a:t>
            </a:r>
            <a:r>
              <a:rPr lang="zh-CN" altLang="en-US" sz="2000" spc="-60" dirty="0">
                <a:solidFill>
                  <a:srgbClr val="FF0000"/>
                </a:solidFill>
                <a:latin typeface="+mn-lt"/>
                <a:ea typeface="微软雅黑" panose="020B0503020204020204" pitchFamily="34" charset="-122"/>
                <a:cs typeface="+mj-cs"/>
              </a:rPr>
              <a:t>乌尔夫原理）</a:t>
            </a:r>
            <a:endParaRPr lang="en-US" altLang="zh-CN" sz="2000" spc="-60" dirty="0">
              <a:solidFill>
                <a:srgbClr val="FF0000"/>
              </a:solidFill>
              <a:latin typeface="+mn-lt"/>
              <a:ea typeface="微软雅黑" panose="020B0503020204020204" pitchFamily="34" charset="-122"/>
              <a:cs typeface="+mj-cs"/>
            </a:endParaRPr>
          </a:p>
          <a:p>
            <a:pPr marL="457200" indent="-457200" algn="just">
              <a:buAutoNum type="arabicPeriod"/>
            </a:pPr>
            <a:r>
              <a:rPr lang="en-US" altLang="zh-CN" sz="2000" spc="-60" dirty="0">
                <a:solidFill>
                  <a:srgbClr val="FF0000"/>
                </a:solidFill>
                <a:latin typeface="+mn-lt"/>
                <a:ea typeface="微软雅黑" panose="020B0503020204020204" pitchFamily="34" charset="-122"/>
                <a:cs typeface="+mj-cs"/>
              </a:rPr>
              <a:t>Bravais law </a:t>
            </a:r>
            <a:r>
              <a:rPr lang="zh-CN" altLang="en-US" sz="2000" spc="-60" dirty="0">
                <a:solidFill>
                  <a:srgbClr val="FF0000"/>
                </a:solidFill>
                <a:latin typeface="+mn-lt"/>
                <a:ea typeface="微软雅黑" panose="020B0503020204020204" pitchFamily="34" charset="-122"/>
                <a:cs typeface="+mj-cs"/>
              </a:rPr>
              <a:t>（布拉维法则）</a:t>
            </a:r>
            <a:endParaRPr lang="en-US" altLang="zh-CN" sz="2000" spc="-60" dirty="0">
              <a:solidFill>
                <a:srgbClr val="FF0000"/>
              </a:solidFill>
              <a:latin typeface="+mn-lt"/>
              <a:ea typeface="微软雅黑" panose="020B0503020204020204" pitchFamily="34" charset="-122"/>
              <a:cs typeface="+mj-cs"/>
            </a:endParaRPr>
          </a:p>
          <a:p>
            <a:pPr marL="457200" indent="-457200" algn="just">
              <a:buAutoNum type="arabicPeriod"/>
            </a:pPr>
            <a:r>
              <a:rPr lang="en-US" altLang="zh-CN" sz="2000" spc="-60" dirty="0">
                <a:solidFill>
                  <a:srgbClr val="000000"/>
                </a:solidFill>
                <a:latin typeface="+mn-lt"/>
                <a:ea typeface="微软雅黑" panose="020B0503020204020204" pitchFamily="34" charset="-122"/>
                <a:cs typeface="+mj-cs"/>
              </a:rPr>
              <a:t>Periodic bond chain (PBC) theory</a:t>
            </a:r>
          </a:p>
          <a:p>
            <a:pPr algn="just"/>
            <a:r>
              <a:rPr lang="en-US" altLang="zh-CN" sz="2000" spc="-60" dirty="0">
                <a:solidFill>
                  <a:srgbClr val="000000"/>
                </a:solidFill>
                <a:latin typeface="+mn-lt"/>
                <a:ea typeface="微软雅黑" panose="020B0503020204020204" pitchFamily="34" charset="-122"/>
                <a:cs typeface="+mj-cs"/>
              </a:rPr>
              <a:t/>
            </a:r>
            <a:br>
              <a:rPr lang="en-US" altLang="zh-CN" sz="2000" spc="-60" dirty="0">
                <a:solidFill>
                  <a:srgbClr val="000000"/>
                </a:solidFill>
                <a:latin typeface="+mn-lt"/>
                <a:ea typeface="微软雅黑" panose="020B0503020204020204" pitchFamily="34" charset="-122"/>
                <a:cs typeface="+mj-cs"/>
              </a:rPr>
            </a:br>
            <a:endParaRPr lang="en-US" dirty="0">
              <a:latin typeface="+mn-lt"/>
            </a:endParaRPr>
          </a:p>
        </p:txBody>
      </p:sp>
      <p:sp>
        <p:nvSpPr>
          <p:cNvPr id="3" name="TextBox 2"/>
          <p:cNvSpPr txBox="1"/>
          <p:nvPr/>
        </p:nvSpPr>
        <p:spPr>
          <a:xfrm>
            <a:off x="683569" y="5899919"/>
            <a:ext cx="7920879" cy="769441"/>
          </a:xfrm>
          <a:prstGeom prst="rect">
            <a:avLst/>
          </a:prstGeom>
          <a:noFill/>
        </p:spPr>
        <p:txBody>
          <a:bodyPr wrap="square" rtlCol="0">
            <a:spAutoFit/>
          </a:bodyPr>
          <a:lstStyle/>
          <a:p>
            <a:pPr algn="just"/>
            <a:r>
              <a:rPr lang="en-US" b="1" i="1" dirty="0">
                <a:solidFill>
                  <a:srgbClr val="FF0000"/>
                </a:solidFill>
              </a:rPr>
              <a:t>MP: </a:t>
            </a:r>
            <a:r>
              <a:rPr lang="en-US" sz="2000" b="1" i="1" dirty="0"/>
              <a:t>Please find the scientists mentioned above and the oldest documents about the discovery of the five model/theories!</a:t>
            </a:r>
          </a:p>
        </p:txBody>
      </p:sp>
    </p:spTree>
  </p:cSld>
  <p:clrMapOvr>
    <a:masterClrMapping/>
  </p:clrMapOvr>
  <p:transition spd="slow"/>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ube 35"/>
          <p:cNvSpPr/>
          <p:nvPr/>
        </p:nvSpPr>
        <p:spPr>
          <a:xfrm>
            <a:off x="817044" y="2447515"/>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ube 36"/>
          <p:cNvSpPr/>
          <p:nvPr/>
        </p:nvSpPr>
        <p:spPr>
          <a:xfrm>
            <a:off x="1143047" y="2447515"/>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Cube 37"/>
          <p:cNvSpPr/>
          <p:nvPr/>
        </p:nvSpPr>
        <p:spPr>
          <a:xfrm>
            <a:off x="1470634" y="2448846"/>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Cube 38"/>
          <p:cNvSpPr/>
          <p:nvPr/>
        </p:nvSpPr>
        <p:spPr>
          <a:xfrm>
            <a:off x="1796637" y="2448846"/>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Cube 39"/>
          <p:cNvSpPr/>
          <p:nvPr/>
        </p:nvSpPr>
        <p:spPr>
          <a:xfrm>
            <a:off x="2121650" y="2447515"/>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Cube 40"/>
          <p:cNvSpPr/>
          <p:nvPr/>
        </p:nvSpPr>
        <p:spPr>
          <a:xfrm>
            <a:off x="2447653" y="2447515"/>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Cube 41"/>
          <p:cNvSpPr/>
          <p:nvPr/>
        </p:nvSpPr>
        <p:spPr>
          <a:xfrm>
            <a:off x="2775240" y="2448846"/>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ube 42"/>
          <p:cNvSpPr/>
          <p:nvPr/>
        </p:nvSpPr>
        <p:spPr>
          <a:xfrm>
            <a:off x="3101243" y="2448846"/>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p:nvGrpSpPr>
        <p:grpSpPr>
          <a:xfrm>
            <a:off x="817044" y="2124292"/>
            <a:ext cx="2716247" cy="433379"/>
            <a:chOff x="1088029" y="2050408"/>
            <a:chExt cx="2716247" cy="433379"/>
          </a:xfrm>
          <a:solidFill>
            <a:schemeClr val="bg1">
              <a:lumMod val="85000"/>
            </a:schemeClr>
          </a:solidFill>
        </p:grpSpPr>
        <p:sp>
          <p:nvSpPr>
            <p:cNvPr id="45" name="Cube 44"/>
            <p:cNvSpPr/>
            <p:nvPr/>
          </p:nvSpPr>
          <p:spPr>
            <a:xfrm>
              <a:off x="1088029"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Cube 45"/>
            <p:cNvSpPr/>
            <p:nvPr/>
          </p:nvSpPr>
          <p:spPr>
            <a:xfrm>
              <a:off x="1414032"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Cube 46"/>
            <p:cNvSpPr/>
            <p:nvPr/>
          </p:nvSpPr>
          <p:spPr>
            <a:xfrm>
              <a:off x="1741619"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ube 47"/>
            <p:cNvSpPr/>
            <p:nvPr/>
          </p:nvSpPr>
          <p:spPr>
            <a:xfrm>
              <a:off x="2067622"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Cube 48"/>
            <p:cNvSpPr/>
            <p:nvPr/>
          </p:nvSpPr>
          <p:spPr>
            <a:xfrm>
              <a:off x="2392635"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ube 49"/>
            <p:cNvSpPr/>
            <p:nvPr/>
          </p:nvSpPr>
          <p:spPr>
            <a:xfrm>
              <a:off x="2718638"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Cube 50"/>
            <p:cNvSpPr/>
            <p:nvPr/>
          </p:nvSpPr>
          <p:spPr>
            <a:xfrm>
              <a:off x="3046225"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Cube 51"/>
            <p:cNvSpPr/>
            <p:nvPr/>
          </p:nvSpPr>
          <p:spPr>
            <a:xfrm>
              <a:off x="3372228"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Cube 52"/>
          <p:cNvSpPr/>
          <p:nvPr/>
        </p:nvSpPr>
        <p:spPr>
          <a:xfrm>
            <a:off x="708566" y="256016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Cube 53"/>
          <p:cNvSpPr/>
          <p:nvPr/>
        </p:nvSpPr>
        <p:spPr>
          <a:xfrm>
            <a:off x="1034569" y="256016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Cube 54"/>
          <p:cNvSpPr/>
          <p:nvPr/>
        </p:nvSpPr>
        <p:spPr>
          <a:xfrm>
            <a:off x="1362156" y="2561491"/>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ube 55"/>
          <p:cNvSpPr/>
          <p:nvPr/>
        </p:nvSpPr>
        <p:spPr>
          <a:xfrm>
            <a:off x="1688159" y="2561491"/>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Cube 56"/>
          <p:cNvSpPr/>
          <p:nvPr/>
        </p:nvSpPr>
        <p:spPr>
          <a:xfrm>
            <a:off x="2013172" y="256016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Cube 57"/>
          <p:cNvSpPr/>
          <p:nvPr/>
        </p:nvSpPr>
        <p:spPr>
          <a:xfrm>
            <a:off x="2339175" y="256016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Cube 58"/>
          <p:cNvSpPr/>
          <p:nvPr/>
        </p:nvSpPr>
        <p:spPr>
          <a:xfrm>
            <a:off x="2666762" y="2561491"/>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Cube 59"/>
          <p:cNvSpPr/>
          <p:nvPr/>
        </p:nvSpPr>
        <p:spPr>
          <a:xfrm>
            <a:off x="2992765" y="2561491"/>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p:cNvGrpSpPr/>
          <p:nvPr/>
        </p:nvGrpSpPr>
        <p:grpSpPr>
          <a:xfrm>
            <a:off x="708566" y="2236937"/>
            <a:ext cx="2716247" cy="433379"/>
            <a:chOff x="1088029" y="2050408"/>
            <a:chExt cx="2716247" cy="433379"/>
          </a:xfrm>
          <a:solidFill>
            <a:schemeClr val="bg1">
              <a:lumMod val="85000"/>
            </a:schemeClr>
          </a:solidFill>
        </p:grpSpPr>
        <p:sp>
          <p:nvSpPr>
            <p:cNvPr id="62" name="Cube 61"/>
            <p:cNvSpPr/>
            <p:nvPr/>
          </p:nvSpPr>
          <p:spPr>
            <a:xfrm>
              <a:off x="1088029"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Cube 62"/>
            <p:cNvSpPr/>
            <p:nvPr/>
          </p:nvSpPr>
          <p:spPr>
            <a:xfrm>
              <a:off x="1414032"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Cube 63"/>
            <p:cNvSpPr/>
            <p:nvPr/>
          </p:nvSpPr>
          <p:spPr>
            <a:xfrm>
              <a:off x="1741619"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Cube 64"/>
            <p:cNvSpPr/>
            <p:nvPr/>
          </p:nvSpPr>
          <p:spPr>
            <a:xfrm>
              <a:off x="2067622"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Cube 65"/>
            <p:cNvSpPr/>
            <p:nvPr/>
          </p:nvSpPr>
          <p:spPr>
            <a:xfrm>
              <a:off x="2392635"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Cube 66"/>
            <p:cNvSpPr/>
            <p:nvPr/>
          </p:nvSpPr>
          <p:spPr>
            <a:xfrm>
              <a:off x="2718638"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Cube 67"/>
            <p:cNvSpPr/>
            <p:nvPr/>
          </p:nvSpPr>
          <p:spPr>
            <a:xfrm>
              <a:off x="3046225"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Cube 68"/>
            <p:cNvSpPr/>
            <p:nvPr/>
          </p:nvSpPr>
          <p:spPr>
            <a:xfrm>
              <a:off x="3372228"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Cube 69"/>
          <p:cNvSpPr/>
          <p:nvPr/>
        </p:nvSpPr>
        <p:spPr>
          <a:xfrm>
            <a:off x="601222" y="2672103"/>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Cube 70"/>
          <p:cNvSpPr/>
          <p:nvPr/>
        </p:nvSpPr>
        <p:spPr>
          <a:xfrm>
            <a:off x="927225" y="2672103"/>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Cube 71"/>
          <p:cNvSpPr/>
          <p:nvPr/>
        </p:nvSpPr>
        <p:spPr>
          <a:xfrm>
            <a:off x="1254812" y="267343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Cube 72"/>
          <p:cNvSpPr/>
          <p:nvPr/>
        </p:nvSpPr>
        <p:spPr>
          <a:xfrm>
            <a:off x="1580815" y="267343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Cube 73"/>
          <p:cNvSpPr/>
          <p:nvPr/>
        </p:nvSpPr>
        <p:spPr>
          <a:xfrm>
            <a:off x="1905828" y="2672103"/>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Cube 74"/>
          <p:cNvSpPr/>
          <p:nvPr/>
        </p:nvSpPr>
        <p:spPr>
          <a:xfrm>
            <a:off x="2231831" y="2672103"/>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Cube 75"/>
          <p:cNvSpPr/>
          <p:nvPr/>
        </p:nvSpPr>
        <p:spPr>
          <a:xfrm>
            <a:off x="2559418" y="267343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ube 76"/>
          <p:cNvSpPr/>
          <p:nvPr/>
        </p:nvSpPr>
        <p:spPr>
          <a:xfrm>
            <a:off x="2885421" y="267343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77"/>
          <p:cNvGrpSpPr/>
          <p:nvPr/>
        </p:nvGrpSpPr>
        <p:grpSpPr>
          <a:xfrm>
            <a:off x="601222" y="2348880"/>
            <a:ext cx="2716247" cy="433379"/>
            <a:chOff x="1088029" y="2050408"/>
            <a:chExt cx="2716247" cy="433379"/>
          </a:xfrm>
          <a:solidFill>
            <a:schemeClr val="bg1">
              <a:lumMod val="85000"/>
            </a:schemeClr>
          </a:solidFill>
        </p:grpSpPr>
        <p:sp>
          <p:nvSpPr>
            <p:cNvPr id="79" name="Cube 78"/>
            <p:cNvSpPr/>
            <p:nvPr/>
          </p:nvSpPr>
          <p:spPr>
            <a:xfrm>
              <a:off x="1088029"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Cube 79"/>
            <p:cNvSpPr/>
            <p:nvPr/>
          </p:nvSpPr>
          <p:spPr>
            <a:xfrm>
              <a:off x="1414032"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Cube 80"/>
            <p:cNvSpPr/>
            <p:nvPr/>
          </p:nvSpPr>
          <p:spPr>
            <a:xfrm>
              <a:off x="1741619"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Cube 81"/>
            <p:cNvSpPr/>
            <p:nvPr/>
          </p:nvSpPr>
          <p:spPr>
            <a:xfrm>
              <a:off x="2067622"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Cube 82"/>
            <p:cNvSpPr/>
            <p:nvPr/>
          </p:nvSpPr>
          <p:spPr>
            <a:xfrm>
              <a:off x="2392635"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Cube 83"/>
            <p:cNvSpPr/>
            <p:nvPr/>
          </p:nvSpPr>
          <p:spPr>
            <a:xfrm>
              <a:off x="2718638"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Cube 84"/>
            <p:cNvSpPr/>
            <p:nvPr/>
          </p:nvSpPr>
          <p:spPr>
            <a:xfrm>
              <a:off x="3046225"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Cube 85"/>
            <p:cNvSpPr/>
            <p:nvPr/>
          </p:nvSpPr>
          <p:spPr>
            <a:xfrm>
              <a:off x="3372228"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7" name="Cube 86"/>
          <p:cNvSpPr/>
          <p:nvPr/>
        </p:nvSpPr>
        <p:spPr>
          <a:xfrm>
            <a:off x="492744" y="2784748"/>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Cube 87"/>
          <p:cNvSpPr/>
          <p:nvPr/>
        </p:nvSpPr>
        <p:spPr>
          <a:xfrm>
            <a:off x="818747" y="2784748"/>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Cube 88"/>
          <p:cNvSpPr/>
          <p:nvPr/>
        </p:nvSpPr>
        <p:spPr>
          <a:xfrm>
            <a:off x="1146334" y="2786079"/>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Cube 89"/>
          <p:cNvSpPr/>
          <p:nvPr/>
        </p:nvSpPr>
        <p:spPr>
          <a:xfrm>
            <a:off x="1472337" y="2786079"/>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Cube 90"/>
          <p:cNvSpPr/>
          <p:nvPr/>
        </p:nvSpPr>
        <p:spPr>
          <a:xfrm>
            <a:off x="1797350" y="2784748"/>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Cube 91"/>
          <p:cNvSpPr/>
          <p:nvPr/>
        </p:nvSpPr>
        <p:spPr>
          <a:xfrm>
            <a:off x="2123353" y="2784748"/>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Cube 92"/>
          <p:cNvSpPr/>
          <p:nvPr/>
        </p:nvSpPr>
        <p:spPr>
          <a:xfrm>
            <a:off x="2450940" y="2786079"/>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Cube 93"/>
          <p:cNvSpPr/>
          <p:nvPr/>
        </p:nvSpPr>
        <p:spPr>
          <a:xfrm>
            <a:off x="2776943" y="2786079"/>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p:cNvGrpSpPr/>
          <p:nvPr/>
        </p:nvGrpSpPr>
        <p:grpSpPr>
          <a:xfrm>
            <a:off x="492744" y="2461525"/>
            <a:ext cx="2716247" cy="433379"/>
            <a:chOff x="1088029" y="2050408"/>
            <a:chExt cx="2716247" cy="433379"/>
          </a:xfrm>
          <a:solidFill>
            <a:schemeClr val="bg1">
              <a:lumMod val="85000"/>
            </a:schemeClr>
          </a:solidFill>
        </p:grpSpPr>
        <p:sp>
          <p:nvSpPr>
            <p:cNvPr id="96" name="Cube 95"/>
            <p:cNvSpPr/>
            <p:nvPr/>
          </p:nvSpPr>
          <p:spPr>
            <a:xfrm>
              <a:off x="1088029"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 96"/>
            <p:cNvSpPr/>
            <p:nvPr/>
          </p:nvSpPr>
          <p:spPr>
            <a:xfrm>
              <a:off x="1414032"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Cube 97"/>
            <p:cNvSpPr/>
            <p:nvPr/>
          </p:nvSpPr>
          <p:spPr>
            <a:xfrm>
              <a:off x="1741619"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Cube 98"/>
            <p:cNvSpPr/>
            <p:nvPr/>
          </p:nvSpPr>
          <p:spPr>
            <a:xfrm>
              <a:off x="2067622"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Cube 99"/>
            <p:cNvSpPr/>
            <p:nvPr/>
          </p:nvSpPr>
          <p:spPr>
            <a:xfrm>
              <a:off x="2392635"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Cube 100"/>
            <p:cNvSpPr/>
            <p:nvPr/>
          </p:nvSpPr>
          <p:spPr>
            <a:xfrm>
              <a:off x="2718638"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Cube 101"/>
            <p:cNvSpPr/>
            <p:nvPr/>
          </p:nvSpPr>
          <p:spPr>
            <a:xfrm>
              <a:off x="3046225"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Cube 102"/>
            <p:cNvSpPr/>
            <p:nvPr/>
          </p:nvSpPr>
          <p:spPr>
            <a:xfrm>
              <a:off x="3372228"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Cube 103"/>
          <p:cNvSpPr/>
          <p:nvPr/>
        </p:nvSpPr>
        <p:spPr>
          <a:xfrm>
            <a:off x="387585" y="2897393"/>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Cube 104"/>
          <p:cNvSpPr/>
          <p:nvPr/>
        </p:nvSpPr>
        <p:spPr>
          <a:xfrm>
            <a:off x="713588" y="2897393"/>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Cube 105"/>
          <p:cNvSpPr/>
          <p:nvPr/>
        </p:nvSpPr>
        <p:spPr>
          <a:xfrm>
            <a:off x="1041175" y="289872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Cube 106"/>
          <p:cNvSpPr/>
          <p:nvPr/>
        </p:nvSpPr>
        <p:spPr>
          <a:xfrm>
            <a:off x="1367178" y="289872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Cube 107"/>
          <p:cNvSpPr/>
          <p:nvPr/>
        </p:nvSpPr>
        <p:spPr>
          <a:xfrm>
            <a:off x="1692191" y="2897393"/>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Cube 108"/>
          <p:cNvSpPr/>
          <p:nvPr/>
        </p:nvSpPr>
        <p:spPr>
          <a:xfrm>
            <a:off x="2018194" y="2897393"/>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Cube 109"/>
          <p:cNvSpPr/>
          <p:nvPr/>
        </p:nvSpPr>
        <p:spPr>
          <a:xfrm>
            <a:off x="2345781" y="289872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Cube 110"/>
          <p:cNvSpPr/>
          <p:nvPr/>
        </p:nvSpPr>
        <p:spPr>
          <a:xfrm>
            <a:off x="2671784" y="289872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2" name="Group 111"/>
          <p:cNvGrpSpPr/>
          <p:nvPr/>
        </p:nvGrpSpPr>
        <p:grpSpPr>
          <a:xfrm>
            <a:off x="387585" y="2574170"/>
            <a:ext cx="2716247" cy="433379"/>
            <a:chOff x="1088029" y="2050408"/>
            <a:chExt cx="2716247" cy="433379"/>
          </a:xfrm>
          <a:solidFill>
            <a:schemeClr val="bg1">
              <a:lumMod val="85000"/>
            </a:schemeClr>
          </a:solidFill>
        </p:grpSpPr>
        <p:sp>
          <p:nvSpPr>
            <p:cNvPr id="113" name="Cube 112"/>
            <p:cNvSpPr/>
            <p:nvPr/>
          </p:nvSpPr>
          <p:spPr>
            <a:xfrm>
              <a:off x="1088029"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Cube 113"/>
            <p:cNvSpPr/>
            <p:nvPr/>
          </p:nvSpPr>
          <p:spPr>
            <a:xfrm>
              <a:off x="1414032"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Cube 114"/>
            <p:cNvSpPr/>
            <p:nvPr/>
          </p:nvSpPr>
          <p:spPr>
            <a:xfrm>
              <a:off x="1741619"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Cube 115"/>
            <p:cNvSpPr/>
            <p:nvPr/>
          </p:nvSpPr>
          <p:spPr>
            <a:xfrm>
              <a:off x="2067622"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Cube 116"/>
            <p:cNvSpPr/>
            <p:nvPr/>
          </p:nvSpPr>
          <p:spPr>
            <a:xfrm>
              <a:off x="2392635"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Cube 117"/>
            <p:cNvSpPr/>
            <p:nvPr/>
          </p:nvSpPr>
          <p:spPr>
            <a:xfrm>
              <a:off x="2718638"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Cube 118"/>
            <p:cNvSpPr/>
            <p:nvPr/>
          </p:nvSpPr>
          <p:spPr>
            <a:xfrm>
              <a:off x="3046225"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Cube 119"/>
            <p:cNvSpPr/>
            <p:nvPr/>
          </p:nvSpPr>
          <p:spPr>
            <a:xfrm>
              <a:off x="3372228"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p:cNvGrpSpPr/>
          <p:nvPr/>
        </p:nvGrpSpPr>
        <p:grpSpPr>
          <a:xfrm>
            <a:off x="374959" y="1810701"/>
            <a:ext cx="861507" cy="881926"/>
            <a:chOff x="2824184" y="2601246"/>
            <a:chExt cx="861507" cy="881926"/>
          </a:xfrm>
        </p:grpSpPr>
        <p:sp>
          <p:nvSpPr>
            <p:cNvPr id="121" name="Cube 120"/>
            <p:cNvSpPr/>
            <p:nvPr/>
          </p:nvSpPr>
          <p:spPr>
            <a:xfrm>
              <a:off x="3253643" y="2601246"/>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Cube 121"/>
            <p:cNvSpPr/>
            <p:nvPr/>
          </p:nvSpPr>
          <p:spPr>
            <a:xfrm>
              <a:off x="3145165" y="2713891"/>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Cube 122"/>
            <p:cNvSpPr/>
            <p:nvPr/>
          </p:nvSpPr>
          <p:spPr>
            <a:xfrm>
              <a:off x="3037821" y="282583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Cube 123"/>
            <p:cNvSpPr/>
            <p:nvPr/>
          </p:nvSpPr>
          <p:spPr>
            <a:xfrm>
              <a:off x="2929343" y="2938479"/>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Cube 124"/>
            <p:cNvSpPr/>
            <p:nvPr/>
          </p:nvSpPr>
          <p:spPr>
            <a:xfrm>
              <a:off x="2824184" y="305112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p:cNvGrpSpPr/>
          <p:nvPr/>
        </p:nvGrpSpPr>
        <p:grpSpPr>
          <a:xfrm>
            <a:off x="701424" y="1812571"/>
            <a:ext cx="854191" cy="877444"/>
            <a:chOff x="2831500" y="2601246"/>
            <a:chExt cx="854191" cy="877444"/>
          </a:xfrm>
        </p:grpSpPr>
        <p:sp>
          <p:nvSpPr>
            <p:cNvPr id="128" name="Cube 127"/>
            <p:cNvSpPr/>
            <p:nvPr/>
          </p:nvSpPr>
          <p:spPr>
            <a:xfrm>
              <a:off x="3253643" y="2601246"/>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Cube 128"/>
            <p:cNvSpPr/>
            <p:nvPr/>
          </p:nvSpPr>
          <p:spPr>
            <a:xfrm>
              <a:off x="3145165" y="2713891"/>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Cube 129"/>
            <p:cNvSpPr/>
            <p:nvPr/>
          </p:nvSpPr>
          <p:spPr>
            <a:xfrm>
              <a:off x="3041479" y="2822176"/>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Cube 130"/>
            <p:cNvSpPr/>
            <p:nvPr/>
          </p:nvSpPr>
          <p:spPr>
            <a:xfrm>
              <a:off x="2929343" y="2933997"/>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Cube 131"/>
            <p:cNvSpPr/>
            <p:nvPr/>
          </p:nvSpPr>
          <p:spPr>
            <a:xfrm>
              <a:off x="2831500" y="3046642"/>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 name="Cube 132"/>
          <p:cNvSpPr/>
          <p:nvPr/>
        </p:nvSpPr>
        <p:spPr>
          <a:xfrm>
            <a:off x="1449416" y="1811705"/>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Cube 133"/>
          <p:cNvSpPr/>
          <p:nvPr/>
        </p:nvSpPr>
        <p:spPr>
          <a:xfrm>
            <a:off x="1340938" y="192435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5" name="Group 144"/>
          <p:cNvGrpSpPr/>
          <p:nvPr/>
        </p:nvGrpSpPr>
        <p:grpSpPr>
          <a:xfrm>
            <a:off x="271577" y="2996952"/>
            <a:ext cx="2723563" cy="433379"/>
            <a:chOff x="1088029" y="2050408"/>
            <a:chExt cx="2723563" cy="433379"/>
          </a:xfrm>
          <a:solidFill>
            <a:schemeClr val="bg1">
              <a:lumMod val="85000"/>
            </a:schemeClr>
          </a:solidFill>
        </p:grpSpPr>
        <p:sp>
          <p:nvSpPr>
            <p:cNvPr id="146" name="Cube 145"/>
            <p:cNvSpPr/>
            <p:nvPr/>
          </p:nvSpPr>
          <p:spPr>
            <a:xfrm>
              <a:off x="1088029"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Cube 146"/>
            <p:cNvSpPr/>
            <p:nvPr/>
          </p:nvSpPr>
          <p:spPr>
            <a:xfrm>
              <a:off x="1414032"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Cube 147"/>
            <p:cNvSpPr/>
            <p:nvPr/>
          </p:nvSpPr>
          <p:spPr>
            <a:xfrm>
              <a:off x="1741619"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Cube 148"/>
            <p:cNvSpPr/>
            <p:nvPr/>
          </p:nvSpPr>
          <p:spPr>
            <a:xfrm>
              <a:off x="2067622"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Cube 149"/>
            <p:cNvSpPr/>
            <p:nvPr/>
          </p:nvSpPr>
          <p:spPr>
            <a:xfrm>
              <a:off x="2392635"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Cube 150"/>
            <p:cNvSpPr/>
            <p:nvPr/>
          </p:nvSpPr>
          <p:spPr>
            <a:xfrm>
              <a:off x="2722296"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Cube 151"/>
            <p:cNvSpPr/>
            <p:nvPr/>
          </p:nvSpPr>
          <p:spPr>
            <a:xfrm>
              <a:off x="3049883"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Cube 152"/>
            <p:cNvSpPr/>
            <p:nvPr/>
          </p:nvSpPr>
          <p:spPr>
            <a:xfrm>
              <a:off x="3379544"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6" name="Group 135"/>
          <p:cNvGrpSpPr/>
          <p:nvPr/>
        </p:nvGrpSpPr>
        <p:grpSpPr>
          <a:xfrm>
            <a:off x="276720" y="2685533"/>
            <a:ext cx="2716247" cy="433379"/>
            <a:chOff x="1088029" y="2050408"/>
            <a:chExt cx="2716247" cy="433379"/>
          </a:xfrm>
          <a:solidFill>
            <a:schemeClr val="bg1">
              <a:lumMod val="85000"/>
            </a:schemeClr>
          </a:solidFill>
        </p:grpSpPr>
        <p:sp>
          <p:nvSpPr>
            <p:cNvPr id="137" name="Cube 136"/>
            <p:cNvSpPr/>
            <p:nvPr/>
          </p:nvSpPr>
          <p:spPr>
            <a:xfrm>
              <a:off x="1088029"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Cube 137"/>
            <p:cNvSpPr/>
            <p:nvPr/>
          </p:nvSpPr>
          <p:spPr>
            <a:xfrm>
              <a:off x="1414032"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Cube 138"/>
            <p:cNvSpPr/>
            <p:nvPr/>
          </p:nvSpPr>
          <p:spPr>
            <a:xfrm>
              <a:off x="1741619"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Cube 139"/>
            <p:cNvSpPr/>
            <p:nvPr/>
          </p:nvSpPr>
          <p:spPr>
            <a:xfrm>
              <a:off x="2067622"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Cube 140"/>
            <p:cNvSpPr/>
            <p:nvPr/>
          </p:nvSpPr>
          <p:spPr>
            <a:xfrm>
              <a:off x="2392635"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Cube 141"/>
            <p:cNvSpPr/>
            <p:nvPr/>
          </p:nvSpPr>
          <p:spPr>
            <a:xfrm>
              <a:off x="2718638" y="2050408"/>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Cube 142"/>
            <p:cNvSpPr/>
            <p:nvPr/>
          </p:nvSpPr>
          <p:spPr>
            <a:xfrm>
              <a:off x="3046225"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Cube 143"/>
            <p:cNvSpPr/>
            <p:nvPr/>
          </p:nvSpPr>
          <p:spPr>
            <a:xfrm>
              <a:off x="3372228" y="2051739"/>
              <a:ext cx="432048" cy="432048"/>
            </a:xfrm>
            <a:prstGeom prst="cube">
              <a:avLst/>
            </a:prstGeom>
            <a:grp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4" name="Cube 153"/>
          <p:cNvSpPr/>
          <p:nvPr/>
        </p:nvSpPr>
        <p:spPr>
          <a:xfrm>
            <a:off x="277058" y="2356864"/>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Cube 154"/>
          <p:cNvSpPr/>
          <p:nvPr/>
        </p:nvSpPr>
        <p:spPr>
          <a:xfrm>
            <a:off x="597580" y="2359477"/>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p:cNvSpPr/>
          <p:nvPr/>
        </p:nvSpPr>
        <p:spPr>
          <a:xfrm>
            <a:off x="2756256" y="1562700"/>
            <a:ext cx="45719" cy="45719"/>
          </a:xfrm>
          <a:prstGeom prst="ellipse">
            <a:avLst/>
          </a:prstGeom>
          <a:solidFill>
            <a:srgbClr val="0070C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8" name="Group 167"/>
          <p:cNvGrpSpPr/>
          <p:nvPr/>
        </p:nvGrpSpPr>
        <p:grpSpPr>
          <a:xfrm>
            <a:off x="264018" y="1786308"/>
            <a:ext cx="666292" cy="697992"/>
            <a:chOff x="1378126" y="1946632"/>
            <a:chExt cx="666292" cy="697992"/>
          </a:xfrm>
          <a:solidFill>
            <a:srgbClr val="00B0F0"/>
          </a:solidFill>
        </p:grpSpPr>
        <p:sp>
          <p:nvSpPr>
            <p:cNvPr id="164" name="Oval 163"/>
            <p:cNvSpPr/>
            <p:nvPr/>
          </p:nvSpPr>
          <p:spPr>
            <a:xfrm>
              <a:off x="1685365" y="2277036"/>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p:cNvSpPr/>
            <p:nvPr/>
          </p:nvSpPr>
          <p:spPr>
            <a:xfrm>
              <a:off x="1797531" y="2162431"/>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a:off x="1903602" y="205636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p:cNvSpPr/>
            <p:nvPr/>
          </p:nvSpPr>
          <p:spPr>
            <a:xfrm>
              <a:off x="1998699" y="1946632"/>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p:cNvSpPr/>
            <p:nvPr/>
          </p:nvSpPr>
          <p:spPr>
            <a:xfrm>
              <a:off x="1575637" y="2397737"/>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p:cNvSpPr/>
            <p:nvPr/>
          </p:nvSpPr>
          <p:spPr>
            <a:xfrm>
              <a:off x="1484197" y="250015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p:cNvSpPr/>
            <p:nvPr/>
          </p:nvSpPr>
          <p:spPr>
            <a:xfrm>
              <a:off x="1378126" y="2598905"/>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0" name="Group 179"/>
          <p:cNvGrpSpPr/>
          <p:nvPr/>
        </p:nvGrpSpPr>
        <p:grpSpPr>
          <a:xfrm>
            <a:off x="584503" y="1778312"/>
            <a:ext cx="666292" cy="697992"/>
            <a:chOff x="1378126" y="1946632"/>
            <a:chExt cx="666292" cy="697992"/>
          </a:xfrm>
          <a:solidFill>
            <a:srgbClr val="00B0F0"/>
          </a:solidFill>
        </p:grpSpPr>
        <p:sp>
          <p:nvSpPr>
            <p:cNvPr id="181" name="Oval 180"/>
            <p:cNvSpPr/>
            <p:nvPr/>
          </p:nvSpPr>
          <p:spPr>
            <a:xfrm>
              <a:off x="1685365" y="2277036"/>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p:cNvSpPr/>
            <p:nvPr/>
          </p:nvSpPr>
          <p:spPr>
            <a:xfrm>
              <a:off x="1797531" y="2162431"/>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p:cNvSpPr/>
            <p:nvPr/>
          </p:nvSpPr>
          <p:spPr>
            <a:xfrm>
              <a:off x="1903602" y="205636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p:cNvSpPr/>
            <p:nvPr/>
          </p:nvSpPr>
          <p:spPr>
            <a:xfrm>
              <a:off x="1998699" y="1946632"/>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p:cNvSpPr/>
            <p:nvPr/>
          </p:nvSpPr>
          <p:spPr>
            <a:xfrm>
              <a:off x="1575637" y="2397737"/>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p:cNvSpPr/>
            <p:nvPr/>
          </p:nvSpPr>
          <p:spPr>
            <a:xfrm>
              <a:off x="1484197" y="250015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p:cNvSpPr/>
            <p:nvPr/>
          </p:nvSpPr>
          <p:spPr>
            <a:xfrm>
              <a:off x="1378126" y="2598905"/>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8" name="Group 187"/>
          <p:cNvGrpSpPr/>
          <p:nvPr/>
        </p:nvGrpSpPr>
        <p:grpSpPr>
          <a:xfrm>
            <a:off x="903320" y="1779400"/>
            <a:ext cx="991819" cy="1023519"/>
            <a:chOff x="1378126" y="1946632"/>
            <a:chExt cx="991819" cy="1023519"/>
          </a:xfrm>
          <a:solidFill>
            <a:srgbClr val="00B0F0"/>
          </a:solidFill>
        </p:grpSpPr>
        <p:sp>
          <p:nvSpPr>
            <p:cNvPr id="189" name="Oval 188"/>
            <p:cNvSpPr/>
            <p:nvPr/>
          </p:nvSpPr>
          <p:spPr>
            <a:xfrm>
              <a:off x="1685365" y="2277036"/>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p:cNvSpPr/>
            <p:nvPr/>
          </p:nvSpPr>
          <p:spPr>
            <a:xfrm>
              <a:off x="1797531" y="2162431"/>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p:cNvSpPr/>
            <p:nvPr/>
          </p:nvSpPr>
          <p:spPr>
            <a:xfrm>
              <a:off x="1903602" y="205636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p:cNvSpPr/>
            <p:nvPr/>
          </p:nvSpPr>
          <p:spPr>
            <a:xfrm>
              <a:off x="1998699" y="1946632"/>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p:cNvSpPr/>
            <p:nvPr/>
          </p:nvSpPr>
          <p:spPr>
            <a:xfrm>
              <a:off x="1575637" y="2397737"/>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a:off x="1484197" y="250015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p:cNvSpPr/>
            <p:nvPr/>
          </p:nvSpPr>
          <p:spPr>
            <a:xfrm>
              <a:off x="1378126" y="2598905"/>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p:cNvSpPr/>
            <p:nvPr/>
          </p:nvSpPr>
          <p:spPr>
            <a:xfrm>
              <a:off x="2123058" y="2180719"/>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p:cNvSpPr/>
            <p:nvPr/>
          </p:nvSpPr>
          <p:spPr>
            <a:xfrm>
              <a:off x="2229129" y="2074648"/>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p:cNvSpPr/>
            <p:nvPr/>
          </p:nvSpPr>
          <p:spPr>
            <a:xfrm>
              <a:off x="2324226" y="196492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p:cNvSpPr/>
            <p:nvPr/>
          </p:nvSpPr>
          <p:spPr>
            <a:xfrm>
              <a:off x="1696338" y="2602563"/>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p:cNvSpPr/>
            <p:nvPr/>
          </p:nvSpPr>
          <p:spPr>
            <a:xfrm>
              <a:off x="1586610" y="2723264"/>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p:cNvSpPr/>
            <p:nvPr/>
          </p:nvSpPr>
          <p:spPr>
            <a:xfrm>
              <a:off x="1495170" y="2825677"/>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Oval 249"/>
            <p:cNvSpPr/>
            <p:nvPr/>
          </p:nvSpPr>
          <p:spPr>
            <a:xfrm>
              <a:off x="1389099" y="2924432"/>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6" name="Group 195"/>
          <p:cNvGrpSpPr/>
          <p:nvPr/>
        </p:nvGrpSpPr>
        <p:grpSpPr>
          <a:xfrm>
            <a:off x="1893923" y="2111154"/>
            <a:ext cx="666292" cy="697992"/>
            <a:chOff x="1378126" y="1946632"/>
            <a:chExt cx="666292" cy="697992"/>
          </a:xfrm>
          <a:solidFill>
            <a:srgbClr val="00B0F0"/>
          </a:solidFill>
        </p:grpSpPr>
        <p:sp>
          <p:nvSpPr>
            <p:cNvPr id="197" name="Oval 196"/>
            <p:cNvSpPr/>
            <p:nvPr/>
          </p:nvSpPr>
          <p:spPr>
            <a:xfrm>
              <a:off x="1685365" y="2277036"/>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p:cNvSpPr/>
            <p:nvPr/>
          </p:nvSpPr>
          <p:spPr>
            <a:xfrm>
              <a:off x="1797531" y="2162431"/>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p:cNvSpPr/>
            <p:nvPr/>
          </p:nvSpPr>
          <p:spPr>
            <a:xfrm>
              <a:off x="1903602" y="205636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a:off x="1998699" y="1946632"/>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p:cNvSpPr/>
            <p:nvPr/>
          </p:nvSpPr>
          <p:spPr>
            <a:xfrm>
              <a:off x="1575637" y="2397737"/>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a:off x="1484197" y="250015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p:cNvSpPr/>
            <p:nvPr/>
          </p:nvSpPr>
          <p:spPr>
            <a:xfrm>
              <a:off x="1378126" y="2598905"/>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4" name="Group 203"/>
          <p:cNvGrpSpPr/>
          <p:nvPr/>
        </p:nvGrpSpPr>
        <p:grpSpPr>
          <a:xfrm>
            <a:off x="2212740" y="2112242"/>
            <a:ext cx="666292" cy="697992"/>
            <a:chOff x="1378126" y="1946632"/>
            <a:chExt cx="666292" cy="697992"/>
          </a:xfrm>
          <a:solidFill>
            <a:srgbClr val="00B0F0"/>
          </a:solidFill>
        </p:grpSpPr>
        <p:sp>
          <p:nvSpPr>
            <p:cNvPr id="205" name="Oval 204"/>
            <p:cNvSpPr/>
            <p:nvPr/>
          </p:nvSpPr>
          <p:spPr>
            <a:xfrm>
              <a:off x="1685365" y="2277036"/>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p:cNvSpPr/>
            <p:nvPr/>
          </p:nvSpPr>
          <p:spPr>
            <a:xfrm>
              <a:off x="1797531" y="2162431"/>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p:cNvSpPr/>
            <p:nvPr/>
          </p:nvSpPr>
          <p:spPr>
            <a:xfrm>
              <a:off x="1903602" y="205636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p:cNvSpPr/>
            <p:nvPr/>
          </p:nvSpPr>
          <p:spPr>
            <a:xfrm>
              <a:off x="1998699" y="1946632"/>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p:cNvSpPr/>
            <p:nvPr/>
          </p:nvSpPr>
          <p:spPr>
            <a:xfrm>
              <a:off x="1575637" y="2397737"/>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p:cNvSpPr/>
            <p:nvPr/>
          </p:nvSpPr>
          <p:spPr>
            <a:xfrm>
              <a:off x="1484197" y="250015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p:cNvSpPr/>
            <p:nvPr/>
          </p:nvSpPr>
          <p:spPr>
            <a:xfrm>
              <a:off x="1378126" y="2598905"/>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2" name="Group 211"/>
          <p:cNvGrpSpPr/>
          <p:nvPr/>
        </p:nvGrpSpPr>
        <p:grpSpPr>
          <a:xfrm>
            <a:off x="1246528" y="2107496"/>
            <a:ext cx="666292" cy="697992"/>
            <a:chOff x="1378126" y="1946632"/>
            <a:chExt cx="666292" cy="697992"/>
          </a:xfrm>
          <a:solidFill>
            <a:srgbClr val="00B0F0"/>
          </a:solidFill>
        </p:grpSpPr>
        <p:sp>
          <p:nvSpPr>
            <p:cNvPr id="213" name="Oval 212"/>
            <p:cNvSpPr/>
            <p:nvPr/>
          </p:nvSpPr>
          <p:spPr>
            <a:xfrm>
              <a:off x="1685365" y="2277036"/>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1797531" y="2162431"/>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p:cNvSpPr/>
            <p:nvPr/>
          </p:nvSpPr>
          <p:spPr>
            <a:xfrm>
              <a:off x="1903602" y="205636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1998699" y="1946632"/>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Oval 216"/>
            <p:cNvSpPr/>
            <p:nvPr/>
          </p:nvSpPr>
          <p:spPr>
            <a:xfrm>
              <a:off x="1575637" y="2397737"/>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p:cNvSpPr/>
            <p:nvPr/>
          </p:nvSpPr>
          <p:spPr>
            <a:xfrm>
              <a:off x="1484197" y="250015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p:cNvSpPr/>
            <p:nvPr/>
          </p:nvSpPr>
          <p:spPr>
            <a:xfrm>
              <a:off x="1378126" y="2598905"/>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0" name="Group 219"/>
          <p:cNvGrpSpPr/>
          <p:nvPr/>
        </p:nvGrpSpPr>
        <p:grpSpPr>
          <a:xfrm>
            <a:off x="1565345" y="2108584"/>
            <a:ext cx="666292" cy="697992"/>
            <a:chOff x="1378126" y="1946632"/>
            <a:chExt cx="666292" cy="697992"/>
          </a:xfrm>
          <a:solidFill>
            <a:srgbClr val="00B0F0"/>
          </a:solidFill>
        </p:grpSpPr>
        <p:sp>
          <p:nvSpPr>
            <p:cNvPr id="221" name="Oval 220"/>
            <p:cNvSpPr/>
            <p:nvPr/>
          </p:nvSpPr>
          <p:spPr>
            <a:xfrm>
              <a:off x="1685365" y="2277036"/>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p:cNvSpPr/>
            <p:nvPr/>
          </p:nvSpPr>
          <p:spPr>
            <a:xfrm>
              <a:off x="1797531" y="2162431"/>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p:cNvSpPr/>
            <p:nvPr/>
          </p:nvSpPr>
          <p:spPr>
            <a:xfrm>
              <a:off x="1903602" y="205636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1998699" y="1946632"/>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p:cNvSpPr/>
            <p:nvPr/>
          </p:nvSpPr>
          <p:spPr>
            <a:xfrm>
              <a:off x="1575637" y="2397737"/>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1484197" y="250015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p:cNvSpPr/>
            <p:nvPr/>
          </p:nvSpPr>
          <p:spPr>
            <a:xfrm>
              <a:off x="1378126" y="2598905"/>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8" name="Group 227"/>
          <p:cNvGrpSpPr/>
          <p:nvPr/>
        </p:nvGrpSpPr>
        <p:grpSpPr>
          <a:xfrm>
            <a:off x="2541924" y="2112242"/>
            <a:ext cx="666292" cy="697992"/>
            <a:chOff x="1378126" y="1946632"/>
            <a:chExt cx="666292" cy="697992"/>
          </a:xfrm>
          <a:solidFill>
            <a:srgbClr val="00B0F0"/>
          </a:solidFill>
        </p:grpSpPr>
        <p:sp>
          <p:nvSpPr>
            <p:cNvPr id="229" name="Oval 228"/>
            <p:cNvSpPr/>
            <p:nvPr/>
          </p:nvSpPr>
          <p:spPr>
            <a:xfrm>
              <a:off x="1685365" y="2277036"/>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1797531" y="2162431"/>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p:cNvSpPr/>
            <p:nvPr/>
          </p:nvSpPr>
          <p:spPr>
            <a:xfrm>
              <a:off x="1903602" y="205636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1998699" y="1946632"/>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p:cNvSpPr/>
            <p:nvPr/>
          </p:nvSpPr>
          <p:spPr>
            <a:xfrm>
              <a:off x="1575637" y="2397737"/>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p:cNvSpPr/>
            <p:nvPr/>
          </p:nvSpPr>
          <p:spPr>
            <a:xfrm>
              <a:off x="1484197" y="250015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p:cNvSpPr/>
            <p:nvPr/>
          </p:nvSpPr>
          <p:spPr>
            <a:xfrm>
              <a:off x="1378126" y="2598905"/>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6" name="Group 235"/>
          <p:cNvGrpSpPr/>
          <p:nvPr/>
        </p:nvGrpSpPr>
        <p:grpSpPr>
          <a:xfrm>
            <a:off x="2871108" y="2119557"/>
            <a:ext cx="666292" cy="697992"/>
            <a:chOff x="1378126" y="1946632"/>
            <a:chExt cx="666292" cy="697992"/>
          </a:xfrm>
          <a:solidFill>
            <a:srgbClr val="00B0F0"/>
          </a:solidFill>
        </p:grpSpPr>
        <p:sp>
          <p:nvSpPr>
            <p:cNvPr id="237" name="Oval 236"/>
            <p:cNvSpPr/>
            <p:nvPr/>
          </p:nvSpPr>
          <p:spPr>
            <a:xfrm>
              <a:off x="1685365" y="2277036"/>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p:cNvSpPr/>
            <p:nvPr/>
          </p:nvSpPr>
          <p:spPr>
            <a:xfrm>
              <a:off x="1797531" y="2162431"/>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p:cNvSpPr/>
            <p:nvPr/>
          </p:nvSpPr>
          <p:spPr>
            <a:xfrm>
              <a:off x="1903602" y="205636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1998699" y="1946632"/>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p:cNvSpPr/>
            <p:nvPr/>
          </p:nvSpPr>
          <p:spPr>
            <a:xfrm>
              <a:off x="1575637" y="2397737"/>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p:cNvSpPr/>
            <p:nvPr/>
          </p:nvSpPr>
          <p:spPr>
            <a:xfrm>
              <a:off x="1484197" y="2500150"/>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p:cNvSpPr/>
            <p:nvPr/>
          </p:nvSpPr>
          <p:spPr>
            <a:xfrm>
              <a:off x="1378126" y="2598905"/>
              <a:ext cx="45719" cy="45719"/>
            </a:xfrm>
            <a:prstGeom prst="ellipse">
              <a:avLst/>
            </a:prstGeom>
            <a:grp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55" name="Straight Connector 254"/>
          <p:cNvCxnSpPr>
            <a:stCxn id="158" idx="7"/>
          </p:cNvCxnSpPr>
          <p:nvPr/>
        </p:nvCxnSpPr>
        <p:spPr>
          <a:xfrm flipV="1">
            <a:off x="1582186" y="2063509"/>
            <a:ext cx="76263" cy="67822"/>
          </a:xfrm>
          <a:prstGeom prst="line">
            <a:avLst/>
          </a:prstGeom>
        </p:spPr>
        <p:style>
          <a:lnRef idx="1">
            <a:schemeClr val="accent1"/>
          </a:lnRef>
          <a:fillRef idx="0">
            <a:schemeClr val="accent1"/>
          </a:fillRef>
          <a:effectRef idx="0">
            <a:schemeClr val="accent1"/>
          </a:effectRef>
          <a:fontRef idx="minor">
            <a:schemeClr val="tx1"/>
          </a:fontRef>
        </p:style>
      </p:cxnSp>
      <p:grpSp>
        <p:nvGrpSpPr>
          <p:cNvPr id="262" name="Group 261"/>
          <p:cNvGrpSpPr/>
          <p:nvPr/>
        </p:nvGrpSpPr>
        <p:grpSpPr>
          <a:xfrm>
            <a:off x="998302" y="1708871"/>
            <a:ext cx="45719" cy="319724"/>
            <a:chOff x="1695562" y="2277036"/>
            <a:chExt cx="45719" cy="319724"/>
          </a:xfrm>
        </p:grpSpPr>
        <p:sp>
          <p:nvSpPr>
            <p:cNvPr id="260" name="Oval 259"/>
            <p:cNvSpPr/>
            <p:nvPr/>
          </p:nvSpPr>
          <p:spPr>
            <a:xfrm>
              <a:off x="1695562" y="2277036"/>
              <a:ext cx="45719" cy="45719"/>
            </a:xfrm>
            <a:prstGeom prst="ellipse">
              <a:avLst/>
            </a:prstGeom>
            <a:solidFill>
              <a:srgbClr val="FF0066"/>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1" name="Straight Connector 260"/>
            <p:cNvCxnSpPr/>
            <p:nvPr/>
          </p:nvCxnSpPr>
          <p:spPr>
            <a:xfrm>
              <a:off x="1724495" y="2315531"/>
              <a:ext cx="1" cy="28122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63" name="Group 262"/>
          <p:cNvGrpSpPr/>
          <p:nvPr/>
        </p:nvGrpSpPr>
        <p:grpSpPr>
          <a:xfrm>
            <a:off x="1249583" y="2124636"/>
            <a:ext cx="339298" cy="319724"/>
            <a:chOff x="1249583" y="2124636"/>
            <a:chExt cx="339298" cy="319724"/>
          </a:xfrm>
        </p:grpSpPr>
        <p:sp>
          <p:nvSpPr>
            <p:cNvPr id="158" name="Oval 157"/>
            <p:cNvSpPr/>
            <p:nvPr/>
          </p:nvSpPr>
          <p:spPr>
            <a:xfrm>
              <a:off x="1543162" y="2124636"/>
              <a:ext cx="45719" cy="45719"/>
            </a:xfrm>
            <a:prstGeom prst="ellipse">
              <a:avLst/>
            </a:prstGeom>
            <a:solidFill>
              <a:srgbClr val="FF0066"/>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2" name="Straight Connector 251"/>
            <p:cNvCxnSpPr>
              <a:stCxn id="189" idx="5"/>
              <a:endCxn id="158" idx="2"/>
            </p:cNvCxnSpPr>
            <p:nvPr/>
          </p:nvCxnSpPr>
          <p:spPr>
            <a:xfrm flipV="1">
              <a:off x="1249583" y="2147496"/>
              <a:ext cx="293579" cy="13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1572095" y="2163131"/>
              <a:ext cx="1" cy="28122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69" name="Group 268"/>
          <p:cNvGrpSpPr/>
          <p:nvPr/>
        </p:nvGrpSpPr>
        <p:grpSpPr>
          <a:xfrm>
            <a:off x="1794204" y="1902246"/>
            <a:ext cx="339298" cy="319724"/>
            <a:chOff x="1401983" y="2277036"/>
            <a:chExt cx="339298" cy="319724"/>
          </a:xfrm>
        </p:grpSpPr>
        <p:sp>
          <p:nvSpPr>
            <p:cNvPr id="266" name="Oval 265"/>
            <p:cNvSpPr/>
            <p:nvPr/>
          </p:nvSpPr>
          <p:spPr>
            <a:xfrm>
              <a:off x="1695562" y="2277036"/>
              <a:ext cx="45719" cy="45719"/>
            </a:xfrm>
            <a:prstGeom prst="ellipse">
              <a:avLst/>
            </a:prstGeom>
            <a:solidFill>
              <a:srgbClr val="FF0066"/>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7" name="Straight Connector 266"/>
            <p:cNvCxnSpPr>
              <a:endCxn id="266" idx="2"/>
            </p:cNvCxnSpPr>
            <p:nvPr/>
          </p:nvCxnSpPr>
          <p:spPr>
            <a:xfrm flipV="1">
              <a:off x="1401983" y="2299896"/>
              <a:ext cx="293579" cy="13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a:off x="1724495" y="2315531"/>
              <a:ext cx="1" cy="281229"/>
            </a:xfrm>
            <a:prstGeom prst="line">
              <a:avLst/>
            </a:prstGeom>
          </p:spPr>
          <p:style>
            <a:lnRef idx="1">
              <a:schemeClr val="accent1"/>
            </a:lnRef>
            <a:fillRef idx="0">
              <a:schemeClr val="accent1"/>
            </a:fillRef>
            <a:effectRef idx="0">
              <a:schemeClr val="accent1"/>
            </a:effectRef>
            <a:fontRef idx="minor">
              <a:schemeClr val="tx1"/>
            </a:fontRef>
          </p:style>
        </p:cxnSp>
      </p:grpSp>
      <p:sp>
        <p:nvSpPr>
          <p:cNvPr id="271" name="TextBox 270"/>
          <p:cNvSpPr txBox="1"/>
          <p:nvPr/>
        </p:nvSpPr>
        <p:spPr>
          <a:xfrm>
            <a:off x="844675" y="1378034"/>
            <a:ext cx="351378" cy="369332"/>
          </a:xfrm>
          <a:prstGeom prst="rect">
            <a:avLst/>
          </a:prstGeom>
          <a:noFill/>
        </p:spPr>
        <p:txBody>
          <a:bodyPr wrap="none" rtlCol="0">
            <a:spAutoFit/>
          </a:bodyPr>
          <a:lstStyle/>
          <a:p>
            <a:r>
              <a:rPr lang="en-US" altLang="zh-CN" sz="1800" b="1" dirty="0"/>
              <a:t>C</a:t>
            </a:r>
            <a:endParaRPr lang="en-US" sz="1800" b="1" dirty="0"/>
          </a:p>
        </p:txBody>
      </p:sp>
      <p:sp>
        <p:nvSpPr>
          <p:cNvPr id="272" name="TextBox 271"/>
          <p:cNvSpPr txBox="1"/>
          <p:nvPr/>
        </p:nvSpPr>
        <p:spPr>
          <a:xfrm>
            <a:off x="1949081" y="1556164"/>
            <a:ext cx="338554" cy="369332"/>
          </a:xfrm>
          <a:prstGeom prst="rect">
            <a:avLst/>
          </a:prstGeom>
          <a:noFill/>
        </p:spPr>
        <p:txBody>
          <a:bodyPr wrap="none" rtlCol="0">
            <a:spAutoFit/>
          </a:bodyPr>
          <a:lstStyle/>
          <a:p>
            <a:r>
              <a:rPr lang="en-US" altLang="zh-CN" sz="1800" b="1" dirty="0"/>
              <a:t>B</a:t>
            </a:r>
            <a:endParaRPr lang="en-US" sz="1800" b="1" dirty="0"/>
          </a:p>
        </p:txBody>
      </p:sp>
      <p:sp>
        <p:nvSpPr>
          <p:cNvPr id="273" name="Rectangle 272"/>
          <p:cNvSpPr/>
          <p:nvPr/>
        </p:nvSpPr>
        <p:spPr>
          <a:xfrm>
            <a:off x="3876905" y="1166812"/>
            <a:ext cx="4682480" cy="2893100"/>
          </a:xfrm>
          <a:prstGeom prst="rect">
            <a:avLst/>
          </a:prstGeom>
        </p:spPr>
        <p:txBody>
          <a:bodyPr wrap="square">
            <a:spAutoFit/>
          </a:bodyPr>
          <a:lstStyle/>
          <a:p>
            <a:r>
              <a:rPr lang="en-US" altLang="zh-CN" sz="2000" b="1" dirty="0">
                <a:latin typeface="+mn-lt"/>
              </a:rPr>
              <a:t>Nucleus positions on crystal surface:</a:t>
            </a:r>
          </a:p>
          <a:p>
            <a:pPr marL="285750" indent="-285750">
              <a:lnSpc>
                <a:spcPct val="150000"/>
              </a:lnSpc>
              <a:buFont typeface="Arial" panose="020B0604020202020204" pitchFamily="34" charset="0"/>
              <a:buChar char="•"/>
            </a:pPr>
            <a:r>
              <a:rPr lang="en-US" altLang="zh-CN" sz="1800" dirty="0">
                <a:latin typeface="+mn-lt"/>
              </a:rPr>
              <a:t>Three side concave </a:t>
            </a:r>
            <a:r>
              <a:rPr lang="en-US" altLang="zh-CN" sz="1800" b="1" dirty="0">
                <a:latin typeface="+mn-lt"/>
              </a:rPr>
              <a:t>A</a:t>
            </a:r>
            <a:r>
              <a:rPr lang="en-US" altLang="zh-CN" sz="1800" dirty="0">
                <a:latin typeface="+mn-lt"/>
              </a:rPr>
              <a:t> (bonding in three directions, </a:t>
            </a:r>
            <a:r>
              <a:rPr lang="en-US" altLang="zh-CN" sz="1800" b="1" dirty="0">
                <a:solidFill>
                  <a:srgbClr val="FF0000"/>
                </a:solidFill>
                <a:latin typeface="+mn-lt"/>
              </a:rPr>
              <a:t>Type A site</a:t>
            </a:r>
            <a:r>
              <a:rPr lang="en-US" altLang="zh-CN" sz="1800" dirty="0">
                <a:latin typeface="+mn-lt"/>
              </a:rPr>
              <a:t>)</a:t>
            </a:r>
          </a:p>
          <a:p>
            <a:pPr marL="285750" indent="-285750">
              <a:lnSpc>
                <a:spcPct val="150000"/>
              </a:lnSpc>
              <a:buFont typeface="Arial" panose="020B0604020202020204" pitchFamily="34" charset="0"/>
              <a:buChar char="•"/>
            </a:pPr>
            <a:r>
              <a:rPr lang="en-US" altLang="zh-CN" sz="1800" dirty="0">
                <a:latin typeface="+mn-lt"/>
              </a:rPr>
              <a:t>Two side concave </a:t>
            </a:r>
            <a:r>
              <a:rPr lang="en-US" altLang="zh-CN" sz="1800" b="1" dirty="0">
                <a:latin typeface="+mn-lt"/>
              </a:rPr>
              <a:t>B</a:t>
            </a:r>
            <a:r>
              <a:rPr lang="en-US" altLang="zh-CN" sz="1800" dirty="0">
                <a:latin typeface="+mn-lt"/>
              </a:rPr>
              <a:t> (bonding in two directions</a:t>
            </a:r>
            <a:r>
              <a:rPr lang="en-US" altLang="zh-CN" sz="1800" dirty="0"/>
              <a:t> , </a:t>
            </a:r>
            <a:r>
              <a:rPr lang="en-US" altLang="zh-CN" sz="1800" b="1" dirty="0">
                <a:solidFill>
                  <a:srgbClr val="FF0000"/>
                </a:solidFill>
              </a:rPr>
              <a:t>Type B site</a:t>
            </a:r>
            <a:r>
              <a:rPr lang="en-US" altLang="zh-CN" sz="1800" dirty="0">
                <a:latin typeface="+mn-lt"/>
              </a:rPr>
              <a:t>)</a:t>
            </a:r>
          </a:p>
          <a:p>
            <a:pPr marL="285750" indent="-285750">
              <a:lnSpc>
                <a:spcPct val="150000"/>
              </a:lnSpc>
              <a:buFont typeface="Arial" panose="020B0604020202020204" pitchFamily="34" charset="0"/>
              <a:buChar char="•"/>
            </a:pPr>
            <a:r>
              <a:rPr lang="en-US" altLang="zh-CN" sz="1800" dirty="0">
                <a:latin typeface="+mn-lt"/>
              </a:rPr>
              <a:t>Flat surface </a:t>
            </a:r>
            <a:r>
              <a:rPr lang="en-US" altLang="zh-CN" sz="1800" b="1" dirty="0">
                <a:latin typeface="+mn-lt"/>
              </a:rPr>
              <a:t>C</a:t>
            </a:r>
            <a:r>
              <a:rPr lang="en-US" altLang="zh-CN" sz="1800" dirty="0">
                <a:latin typeface="+mn-lt"/>
              </a:rPr>
              <a:t> (bonding only in one direction</a:t>
            </a:r>
            <a:r>
              <a:rPr lang="en-US" altLang="zh-CN" sz="1800" dirty="0"/>
              <a:t> , </a:t>
            </a:r>
            <a:r>
              <a:rPr lang="en-US" altLang="zh-CN" sz="1800" b="1" dirty="0">
                <a:solidFill>
                  <a:srgbClr val="FF0000"/>
                </a:solidFill>
              </a:rPr>
              <a:t>Type C site</a:t>
            </a:r>
            <a:r>
              <a:rPr lang="en-US" altLang="zh-CN" sz="1800" dirty="0">
                <a:latin typeface="+mn-lt"/>
              </a:rPr>
              <a:t>)</a:t>
            </a:r>
          </a:p>
        </p:txBody>
      </p:sp>
      <p:sp>
        <p:nvSpPr>
          <p:cNvPr id="274" name="Rectangle 273"/>
          <p:cNvSpPr/>
          <p:nvPr/>
        </p:nvSpPr>
        <p:spPr>
          <a:xfrm>
            <a:off x="1599486" y="458603"/>
            <a:ext cx="6225819" cy="523220"/>
          </a:xfrm>
          <a:prstGeom prst="rect">
            <a:avLst/>
          </a:prstGeom>
        </p:spPr>
        <p:txBody>
          <a:bodyPr wrap="square">
            <a:spAutoFit/>
          </a:bodyPr>
          <a:lstStyle/>
          <a:p>
            <a:r>
              <a:rPr lang="en-US" altLang="zh-CN" sz="2800" b="1" spc="-60" dirty="0">
                <a:solidFill>
                  <a:srgbClr val="FF0066"/>
                </a:solidFill>
                <a:effectLst>
                  <a:outerShdw blurRad="38100" dist="38100" dir="2700000" algn="tl">
                    <a:srgbClr val="000000"/>
                  </a:outerShdw>
                </a:effectLst>
                <a:latin typeface="+mj-lt"/>
                <a:ea typeface="+mj-ea"/>
                <a:cs typeface="+mj-cs"/>
              </a:rPr>
              <a:t>1</a:t>
            </a:r>
            <a:r>
              <a:rPr lang="zh-CN" altLang="en-US" sz="2800" b="1" spc="-60" dirty="0">
                <a:solidFill>
                  <a:srgbClr val="FF0066"/>
                </a:solidFill>
                <a:effectLst>
                  <a:outerShdw blurRad="38100" dist="38100" dir="2700000" algn="tl">
                    <a:srgbClr val="000000"/>
                  </a:outerShdw>
                </a:effectLst>
                <a:latin typeface="+mj-lt"/>
                <a:ea typeface="+mj-ea"/>
                <a:cs typeface="+mj-cs"/>
              </a:rPr>
              <a:t>．</a:t>
            </a:r>
            <a:r>
              <a:rPr lang="en-US" altLang="zh-CN" sz="2800" b="1" spc="-60" dirty="0">
                <a:solidFill>
                  <a:srgbClr val="FF0066"/>
                </a:solidFill>
                <a:effectLst>
                  <a:outerShdw blurRad="38100" dist="38100" dir="2700000" algn="tl">
                    <a:srgbClr val="000000"/>
                  </a:outerShdw>
                </a:effectLst>
                <a:latin typeface="+mj-lt"/>
                <a:ea typeface="+mj-ea"/>
                <a:cs typeface="+mj-cs"/>
              </a:rPr>
              <a:t>layer growth theory model</a:t>
            </a:r>
            <a:endParaRPr lang="en-US" sz="2800" b="1" spc="-60" dirty="0">
              <a:solidFill>
                <a:srgbClr val="FF0066"/>
              </a:solidFill>
              <a:effectLst>
                <a:outerShdw blurRad="38100" dist="38100" dir="2700000" algn="tl">
                  <a:srgbClr val="000000"/>
                </a:outerShdw>
              </a:effectLst>
              <a:latin typeface="+mj-lt"/>
              <a:ea typeface="+mj-ea"/>
              <a:cs typeface="+mj-cs"/>
            </a:endParaRPr>
          </a:p>
        </p:txBody>
      </p:sp>
      <p:cxnSp>
        <p:nvCxnSpPr>
          <p:cNvPr id="276" name="Curved Connector 275"/>
          <p:cNvCxnSpPr>
            <a:stCxn id="159" idx="0"/>
          </p:cNvCxnSpPr>
          <p:nvPr/>
        </p:nvCxnSpPr>
        <p:spPr>
          <a:xfrm rot="16200000" flipH="1">
            <a:off x="2900398" y="1441417"/>
            <a:ext cx="45719" cy="288284"/>
          </a:xfrm>
          <a:prstGeom prst="curvedConnector4">
            <a:avLst>
              <a:gd name="adj1" fmla="val -500011"/>
              <a:gd name="adj2" fmla="val 53964"/>
            </a:avLst>
          </a:prstGeom>
          <a:ln>
            <a:tailEnd type="arrow"/>
          </a:ln>
        </p:spPr>
        <p:style>
          <a:lnRef idx="1">
            <a:schemeClr val="accent1"/>
          </a:lnRef>
          <a:fillRef idx="0">
            <a:schemeClr val="accent1"/>
          </a:fillRef>
          <a:effectRef idx="0">
            <a:schemeClr val="accent1"/>
          </a:effectRef>
          <a:fontRef idx="minor">
            <a:schemeClr val="tx1"/>
          </a:fontRef>
        </p:style>
      </p:cxnSp>
      <p:sp>
        <p:nvSpPr>
          <p:cNvPr id="277" name="Oval 276"/>
          <p:cNvSpPr/>
          <p:nvPr/>
        </p:nvSpPr>
        <p:spPr>
          <a:xfrm>
            <a:off x="2908656" y="1715100"/>
            <a:ext cx="45719" cy="45719"/>
          </a:xfrm>
          <a:prstGeom prst="ellipse">
            <a:avLst/>
          </a:prstGeom>
          <a:solidFill>
            <a:srgbClr val="0070C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9" name="Curved Connector 278"/>
          <p:cNvCxnSpPr>
            <a:stCxn id="277" idx="2"/>
          </p:cNvCxnSpPr>
          <p:nvPr/>
        </p:nvCxnSpPr>
        <p:spPr>
          <a:xfrm rot="10800000" flipV="1">
            <a:off x="2693714" y="1737959"/>
            <a:ext cx="214942" cy="105447"/>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280" name="Oval 279"/>
          <p:cNvSpPr/>
          <p:nvPr/>
        </p:nvSpPr>
        <p:spPr>
          <a:xfrm>
            <a:off x="3061056" y="1867500"/>
            <a:ext cx="45719" cy="45719"/>
          </a:xfrm>
          <a:prstGeom prst="ellipse">
            <a:avLst/>
          </a:prstGeom>
          <a:solidFill>
            <a:srgbClr val="FF0066"/>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2" name="Straight Arrow Connector 281"/>
          <p:cNvCxnSpPr>
            <a:stCxn id="280" idx="5"/>
          </p:cNvCxnSpPr>
          <p:nvPr/>
        </p:nvCxnSpPr>
        <p:spPr>
          <a:xfrm>
            <a:off x="3100080" y="1906524"/>
            <a:ext cx="108911" cy="1115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3" name="Oval 282"/>
          <p:cNvSpPr/>
          <p:nvPr/>
        </p:nvSpPr>
        <p:spPr>
          <a:xfrm>
            <a:off x="1584300" y="1400981"/>
            <a:ext cx="45719" cy="45719"/>
          </a:xfrm>
          <a:prstGeom prst="ellipse">
            <a:avLst/>
          </a:prstGeom>
          <a:solidFill>
            <a:srgbClr val="0070C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4" name="Curved Connector 283"/>
          <p:cNvCxnSpPr>
            <a:stCxn id="283" idx="0"/>
          </p:cNvCxnSpPr>
          <p:nvPr/>
        </p:nvCxnSpPr>
        <p:spPr>
          <a:xfrm rot="16200000" flipH="1">
            <a:off x="1728442" y="1279698"/>
            <a:ext cx="45719" cy="288284"/>
          </a:xfrm>
          <a:prstGeom prst="curvedConnector4">
            <a:avLst>
              <a:gd name="adj1" fmla="val -500011"/>
              <a:gd name="adj2" fmla="val 53964"/>
            </a:avLst>
          </a:prstGeom>
          <a:ln>
            <a:tailEnd type="arrow"/>
          </a:ln>
        </p:spPr>
        <p:style>
          <a:lnRef idx="1">
            <a:schemeClr val="accent1"/>
          </a:lnRef>
          <a:fillRef idx="0">
            <a:schemeClr val="accent1"/>
          </a:fillRef>
          <a:effectRef idx="0">
            <a:schemeClr val="accent1"/>
          </a:effectRef>
          <a:fontRef idx="minor">
            <a:schemeClr val="tx1"/>
          </a:fontRef>
        </p:style>
      </p:cxnSp>
      <p:sp>
        <p:nvSpPr>
          <p:cNvPr id="285" name="Oval 284"/>
          <p:cNvSpPr/>
          <p:nvPr/>
        </p:nvSpPr>
        <p:spPr>
          <a:xfrm>
            <a:off x="2345781" y="1355175"/>
            <a:ext cx="45719" cy="45719"/>
          </a:xfrm>
          <a:prstGeom prst="ellipse">
            <a:avLst/>
          </a:prstGeom>
          <a:solidFill>
            <a:srgbClr val="0070C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6" name="Curved Connector 285"/>
          <p:cNvCxnSpPr>
            <a:stCxn id="285" idx="2"/>
          </p:cNvCxnSpPr>
          <p:nvPr/>
        </p:nvCxnSpPr>
        <p:spPr>
          <a:xfrm rot="10800000" flipH="1" flipV="1">
            <a:off x="2345780" y="1378035"/>
            <a:ext cx="45719" cy="207524"/>
          </a:xfrm>
          <a:prstGeom prst="curvedConnector4">
            <a:avLst>
              <a:gd name="adj1" fmla="val 250005"/>
              <a:gd name="adj2" fmla="val 55507"/>
            </a:avLst>
          </a:prstGeom>
          <a:ln>
            <a:tailEnd type="arrow"/>
          </a:ln>
        </p:spPr>
        <p:style>
          <a:lnRef idx="1">
            <a:schemeClr val="accent1"/>
          </a:lnRef>
          <a:fillRef idx="0">
            <a:schemeClr val="accent1"/>
          </a:fillRef>
          <a:effectRef idx="0">
            <a:schemeClr val="accent1"/>
          </a:effectRef>
          <a:fontRef idx="minor">
            <a:schemeClr val="tx1"/>
          </a:fontRef>
        </p:style>
      </p:cxnSp>
      <p:sp>
        <p:nvSpPr>
          <p:cNvPr id="288" name="Oval 287"/>
          <p:cNvSpPr/>
          <p:nvPr/>
        </p:nvSpPr>
        <p:spPr>
          <a:xfrm>
            <a:off x="1299130" y="1286522"/>
            <a:ext cx="45719" cy="45719"/>
          </a:xfrm>
          <a:prstGeom prst="ellipse">
            <a:avLst/>
          </a:prstGeom>
          <a:solidFill>
            <a:srgbClr val="0070C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9" name="Straight Arrow Connector 288"/>
          <p:cNvCxnSpPr>
            <a:stCxn id="288" idx="5"/>
          </p:cNvCxnSpPr>
          <p:nvPr/>
        </p:nvCxnSpPr>
        <p:spPr>
          <a:xfrm>
            <a:off x="1338154" y="1325546"/>
            <a:ext cx="30290" cy="2306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3" name="Rectangle 3"/>
          <p:cNvSpPr txBox="1">
            <a:spLocks noChangeArrowheads="1"/>
          </p:cNvSpPr>
          <p:nvPr/>
        </p:nvSpPr>
        <p:spPr>
          <a:xfrm>
            <a:off x="609600" y="4293096"/>
            <a:ext cx="7924800" cy="2376264"/>
          </a:xfrm>
          <a:prstGeom prst="rect">
            <a:avLst/>
          </a:prstGeom>
        </p:spPr>
        <p:txBody>
          <a:bodyPr/>
          <a:lstStyle>
            <a:lvl1pPr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880"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anose="020B0604020202020204" pitchFamily="34" charset="0"/>
              <a:buChar char="•"/>
              <a:defRPr sz="1600" kern="1200">
                <a:solidFill>
                  <a:schemeClr val="tx1"/>
                </a:solidFill>
                <a:latin typeface="+mn-lt"/>
                <a:ea typeface="+mn-ea"/>
                <a:cs typeface="+mn-cs"/>
              </a:defRPr>
            </a:lvl9pPr>
          </a:lstStyle>
          <a:p>
            <a:pPr algn="just">
              <a:defRPr/>
            </a:pPr>
            <a:r>
              <a:rPr lang="en-US" altLang="zh-CN" b="0" dirty="0">
                <a:ea typeface="宋体" panose="02010600030101010101" pitchFamily="2" charset="-122"/>
              </a:rPr>
              <a:t>    Therefore, the best growth position is </a:t>
            </a:r>
            <a:r>
              <a:rPr lang="en-US" altLang="zh-CN" dirty="0">
                <a:solidFill>
                  <a:srgbClr val="FF0000"/>
                </a:solidFill>
                <a:ea typeface="宋体" panose="02010600030101010101" pitchFamily="2" charset="-122"/>
              </a:rPr>
              <a:t>A</a:t>
            </a:r>
            <a:r>
              <a:rPr lang="en-US" altLang="zh-CN" b="0" dirty="0">
                <a:ea typeface="宋体" panose="02010600030101010101" pitchFamily="2" charset="-122"/>
              </a:rPr>
              <a:t>, followed </a:t>
            </a:r>
            <a:r>
              <a:rPr lang="en-US" altLang="zh-CN" dirty="0">
                <a:solidFill>
                  <a:srgbClr val="FF0000"/>
                </a:solidFill>
                <a:ea typeface="宋体" panose="02010600030101010101" pitchFamily="2" charset="-122"/>
              </a:rPr>
              <a:t>B</a:t>
            </a:r>
            <a:r>
              <a:rPr lang="en-US" altLang="zh-CN" b="0" dirty="0">
                <a:ea typeface="宋体" panose="02010600030101010101" pitchFamily="2" charset="-122"/>
              </a:rPr>
              <a:t>. Position </a:t>
            </a:r>
            <a:r>
              <a:rPr lang="en-US" altLang="zh-CN" dirty="0">
                <a:solidFill>
                  <a:srgbClr val="FF0000"/>
                </a:solidFill>
                <a:ea typeface="宋体" panose="02010600030101010101" pitchFamily="2" charset="-122"/>
              </a:rPr>
              <a:t>C </a:t>
            </a:r>
            <a:r>
              <a:rPr lang="en-US" altLang="zh-CN" b="0" dirty="0">
                <a:ea typeface="宋体" panose="02010600030101010101" pitchFamily="2" charset="-122"/>
              </a:rPr>
              <a:t>is not a preferred place for crystal growth.</a:t>
            </a:r>
          </a:p>
          <a:p>
            <a:pPr algn="just">
              <a:defRPr/>
            </a:pPr>
            <a:r>
              <a:rPr kumimoji="0" lang="en-US" altLang="zh-CN" dirty="0">
                <a:solidFill>
                  <a:srgbClr val="FF0000"/>
                </a:solidFill>
              </a:rPr>
              <a:t>    The most ideal </a:t>
            </a:r>
            <a:r>
              <a:rPr lang="en-US" altLang="zh-CN" dirty="0">
                <a:solidFill>
                  <a:srgbClr val="FF0000"/>
                </a:solidFill>
                <a:ea typeface="宋体" panose="02010600030101010101" pitchFamily="2" charset="-122"/>
              </a:rPr>
              <a:t>way of crystal growth</a:t>
            </a:r>
            <a:r>
              <a:rPr lang="en-US" altLang="zh-CN" b="0" dirty="0">
                <a:ea typeface="宋体" panose="02010600030101010101" pitchFamily="2" charset="-122"/>
              </a:rPr>
              <a:t>: firstly a row forms from position A, so that three side concave position disappear. New position A can be formed by attracting a mass point in position B. </a:t>
            </a:r>
            <a:r>
              <a:rPr lang="en-US" altLang="zh-CN" dirty="0">
                <a:solidFill>
                  <a:srgbClr val="FF0000"/>
                </a:solidFill>
                <a:ea typeface="宋体" panose="02010600030101010101" pitchFamily="2" charset="-122"/>
              </a:rPr>
              <a:t>Then repeat the growth of rows to finally complete the layer growth.</a:t>
            </a:r>
            <a:endParaRPr lang="zh-CN" altLang="en-US" dirty="0">
              <a:solidFill>
                <a:srgbClr val="FF0000"/>
              </a:solidFill>
              <a:ea typeface="宋体" panose="02010600030101010101" pitchFamily="2" charset="-122"/>
            </a:endParaRPr>
          </a:p>
        </p:txBody>
      </p:sp>
      <p:grpSp>
        <p:nvGrpSpPr>
          <p:cNvPr id="300" name="Group 299"/>
          <p:cNvGrpSpPr/>
          <p:nvPr/>
        </p:nvGrpSpPr>
        <p:grpSpPr>
          <a:xfrm>
            <a:off x="1246701" y="2007890"/>
            <a:ext cx="452657" cy="450973"/>
            <a:chOff x="2281271" y="3628515"/>
            <a:chExt cx="452657" cy="450973"/>
          </a:xfrm>
        </p:grpSpPr>
        <p:sp>
          <p:nvSpPr>
            <p:cNvPr id="294" name="Cube 293"/>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Oval 296"/>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Oval 297"/>
            <p:cNvSpPr/>
            <p:nvPr/>
          </p:nvSpPr>
          <p:spPr>
            <a:xfrm>
              <a:off x="2688209" y="3628515"/>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1" name="Group 300"/>
          <p:cNvGrpSpPr/>
          <p:nvPr/>
        </p:nvGrpSpPr>
        <p:grpSpPr>
          <a:xfrm>
            <a:off x="1140101" y="2140923"/>
            <a:ext cx="432048" cy="432048"/>
            <a:chOff x="2281271" y="3647440"/>
            <a:chExt cx="432048" cy="432048"/>
          </a:xfrm>
        </p:grpSpPr>
        <p:sp>
          <p:nvSpPr>
            <p:cNvPr id="302" name="Cube 301"/>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Oval 303"/>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6" name="Group 305"/>
          <p:cNvGrpSpPr/>
          <p:nvPr/>
        </p:nvGrpSpPr>
        <p:grpSpPr>
          <a:xfrm>
            <a:off x="1033653" y="2245823"/>
            <a:ext cx="432048" cy="432048"/>
            <a:chOff x="2281271" y="3647440"/>
            <a:chExt cx="432048" cy="432048"/>
          </a:xfrm>
        </p:grpSpPr>
        <p:sp>
          <p:nvSpPr>
            <p:cNvPr id="307" name="Cube 306"/>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307"/>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2" name="Group 311"/>
          <p:cNvGrpSpPr/>
          <p:nvPr/>
        </p:nvGrpSpPr>
        <p:grpSpPr>
          <a:xfrm>
            <a:off x="931308" y="2354166"/>
            <a:ext cx="432048" cy="432048"/>
            <a:chOff x="2281271" y="3647440"/>
            <a:chExt cx="432048" cy="432048"/>
          </a:xfrm>
        </p:grpSpPr>
        <p:sp>
          <p:nvSpPr>
            <p:cNvPr id="313" name="Cube 312"/>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Oval 313"/>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5" name="Group 314"/>
          <p:cNvGrpSpPr/>
          <p:nvPr/>
        </p:nvGrpSpPr>
        <p:grpSpPr>
          <a:xfrm>
            <a:off x="1785186" y="1790340"/>
            <a:ext cx="452657" cy="450973"/>
            <a:chOff x="2281271" y="3628515"/>
            <a:chExt cx="452657" cy="450973"/>
          </a:xfrm>
        </p:grpSpPr>
        <p:sp>
          <p:nvSpPr>
            <p:cNvPr id="316" name="Cube 315"/>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Oval 316"/>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Oval 317"/>
            <p:cNvSpPr/>
            <p:nvPr/>
          </p:nvSpPr>
          <p:spPr>
            <a:xfrm>
              <a:off x="2688209" y="3628515"/>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9" name="Group 318"/>
          <p:cNvGrpSpPr/>
          <p:nvPr/>
        </p:nvGrpSpPr>
        <p:grpSpPr>
          <a:xfrm>
            <a:off x="1678586" y="1923373"/>
            <a:ext cx="432048" cy="432048"/>
            <a:chOff x="2281271" y="3647440"/>
            <a:chExt cx="432048" cy="432048"/>
          </a:xfrm>
        </p:grpSpPr>
        <p:sp>
          <p:nvSpPr>
            <p:cNvPr id="320" name="Cube 319"/>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Oval 320"/>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2" name="Group 321"/>
          <p:cNvGrpSpPr/>
          <p:nvPr/>
        </p:nvGrpSpPr>
        <p:grpSpPr>
          <a:xfrm>
            <a:off x="1572138" y="2028273"/>
            <a:ext cx="432048" cy="432048"/>
            <a:chOff x="2281271" y="3647440"/>
            <a:chExt cx="432048" cy="432048"/>
          </a:xfrm>
        </p:grpSpPr>
        <p:sp>
          <p:nvSpPr>
            <p:cNvPr id="323" name="Cube 322"/>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Oval 323"/>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5" name="Group 324"/>
          <p:cNvGrpSpPr/>
          <p:nvPr/>
        </p:nvGrpSpPr>
        <p:grpSpPr>
          <a:xfrm>
            <a:off x="1469793" y="2136616"/>
            <a:ext cx="432048" cy="432048"/>
            <a:chOff x="2281271" y="3647440"/>
            <a:chExt cx="432048" cy="432048"/>
          </a:xfrm>
        </p:grpSpPr>
        <p:sp>
          <p:nvSpPr>
            <p:cNvPr id="326" name="Cube 325"/>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Oval 326"/>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8" name="Group 327"/>
          <p:cNvGrpSpPr/>
          <p:nvPr/>
        </p:nvGrpSpPr>
        <p:grpSpPr>
          <a:xfrm>
            <a:off x="1361977" y="2251109"/>
            <a:ext cx="432048" cy="432048"/>
            <a:chOff x="2281271" y="3647440"/>
            <a:chExt cx="432048" cy="432048"/>
          </a:xfrm>
        </p:grpSpPr>
        <p:sp>
          <p:nvSpPr>
            <p:cNvPr id="329" name="Cube 328"/>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Oval 329"/>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 name="Group 330"/>
          <p:cNvGrpSpPr/>
          <p:nvPr/>
        </p:nvGrpSpPr>
        <p:grpSpPr>
          <a:xfrm>
            <a:off x="1259632" y="2359452"/>
            <a:ext cx="432048" cy="432048"/>
            <a:chOff x="2281271" y="3647440"/>
            <a:chExt cx="432048" cy="432048"/>
          </a:xfrm>
        </p:grpSpPr>
        <p:sp>
          <p:nvSpPr>
            <p:cNvPr id="332" name="Cube 331"/>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Oval 332"/>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4" name="Group 333"/>
          <p:cNvGrpSpPr/>
          <p:nvPr/>
        </p:nvGrpSpPr>
        <p:grpSpPr>
          <a:xfrm>
            <a:off x="2107024" y="1794714"/>
            <a:ext cx="452657" cy="450973"/>
            <a:chOff x="2281271" y="3628515"/>
            <a:chExt cx="452657" cy="450973"/>
          </a:xfrm>
        </p:grpSpPr>
        <p:sp>
          <p:nvSpPr>
            <p:cNvPr id="335" name="Cube 334"/>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Oval 335"/>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Oval 336"/>
            <p:cNvSpPr/>
            <p:nvPr/>
          </p:nvSpPr>
          <p:spPr>
            <a:xfrm>
              <a:off x="2688209" y="3628515"/>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8" name="Group 337"/>
          <p:cNvGrpSpPr/>
          <p:nvPr/>
        </p:nvGrpSpPr>
        <p:grpSpPr>
          <a:xfrm>
            <a:off x="2000424" y="1927747"/>
            <a:ext cx="432048" cy="432048"/>
            <a:chOff x="2281271" y="3647440"/>
            <a:chExt cx="432048" cy="432048"/>
          </a:xfrm>
        </p:grpSpPr>
        <p:sp>
          <p:nvSpPr>
            <p:cNvPr id="339" name="Cube 338"/>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Oval 339"/>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1" name="Group 340"/>
          <p:cNvGrpSpPr/>
          <p:nvPr/>
        </p:nvGrpSpPr>
        <p:grpSpPr>
          <a:xfrm>
            <a:off x="1893976" y="2032647"/>
            <a:ext cx="432048" cy="432048"/>
            <a:chOff x="2281271" y="3647440"/>
            <a:chExt cx="432048" cy="432048"/>
          </a:xfrm>
        </p:grpSpPr>
        <p:sp>
          <p:nvSpPr>
            <p:cNvPr id="342" name="Cube 341"/>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Oval 342"/>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4" name="Group 343"/>
          <p:cNvGrpSpPr/>
          <p:nvPr/>
        </p:nvGrpSpPr>
        <p:grpSpPr>
          <a:xfrm>
            <a:off x="1791631" y="2140990"/>
            <a:ext cx="432048" cy="432048"/>
            <a:chOff x="2281271" y="3647440"/>
            <a:chExt cx="432048" cy="432048"/>
          </a:xfrm>
        </p:grpSpPr>
        <p:sp>
          <p:nvSpPr>
            <p:cNvPr id="345" name="Cube 344"/>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Oval 345"/>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7" name="Group 346"/>
          <p:cNvGrpSpPr/>
          <p:nvPr/>
        </p:nvGrpSpPr>
        <p:grpSpPr>
          <a:xfrm>
            <a:off x="1683815" y="2255483"/>
            <a:ext cx="432048" cy="432048"/>
            <a:chOff x="2281271" y="3647440"/>
            <a:chExt cx="432048" cy="432048"/>
          </a:xfrm>
        </p:grpSpPr>
        <p:sp>
          <p:nvSpPr>
            <p:cNvPr id="348" name="Cube 347"/>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Oval 348"/>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0" name="Group 349"/>
          <p:cNvGrpSpPr/>
          <p:nvPr/>
        </p:nvGrpSpPr>
        <p:grpSpPr>
          <a:xfrm>
            <a:off x="1581470" y="2363826"/>
            <a:ext cx="432048" cy="432048"/>
            <a:chOff x="2281271" y="3647440"/>
            <a:chExt cx="432048" cy="432048"/>
          </a:xfrm>
        </p:grpSpPr>
        <p:sp>
          <p:nvSpPr>
            <p:cNvPr id="351" name="Cube 350"/>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Oval 351"/>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3" name="Group 352"/>
          <p:cNvGrpSpPr/>
          <p:nvPr/>
        </p:nvGrpSpPr>
        <p:grpSpPr>
          <a:xfrm>
            <a:off x="2440013" y="1784143"/>
            <a:ext cx="452657" cy="450973"/>
            <a:chOff x="2281271" y="3628515"/>
            <a:chExt cx="452657" cy="450973"/>
          </a:xfrm>
        </p:grpSpPr>
        <p:sp>
          <p:nvSpPr>
            <p:cNvPr id="354" name="Cube 353"/>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Oval 354"/>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Oval 355"/>
            <p:cNvSpPr/>
            <p:nvPr/>
          </p:nvSpPr>
          <p:spPr>
            <a:xfrm>
              <a:off x="2688209" y="3628515"/>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7" name="Group 356"/>
          <p:cNvGrpSpPr/>
          <p:nvPr/>
        </p:nvGrpSpPr>
        <p:grpSpPr>
          <a:xfrm>
            <a:off x="2333413" y="1917176"/>
            <a:ext cx="432048" cy="432048"/>
            <a:chOff x="2281271" y="3647440"/>
            <a:chExt cx="432048" cy="432048"/>
          </a:xfrm>
        </p:grpSpPr>
        <p:sp>
          <p:nvSpPr>
            <p:cNvPr id="358" name="Cube 357"/>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Oval 358"/>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0" name="Group 359"/>
          <p:cNvGrpSpPr/>
          <p:nvPr/>
        </p:nvGrpSpPr>
        <p:grpSpPr>
          <a:xfrm>
            <a:off x="2226965" y="2022076"/>
            <a:ext cx="432048" cy="432048"/>
            <a:chOff x="2281271" y="3647440"/>
            <a:chExt cx="432048" cy="432048"/>
          </a:xfrm>
        </p:grpSpPr>
        <p:sp>
          <p:nvSpPr>
            <p:cNvPr id="361" name="Cube 360"/>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Oval 361"/>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3" name="Group 362"/>
          <p:cNvGrpSpPr/>
          <p:nvPr/>
        </p:nvGrpSpPr>
        <p:grpSpPr>
          <a:xfrm>
            <a:off x="2124620" y="2130419"/>
            <a:ext cx="432048" cy="432048"/>
            <a:chOff x="2281271" y="3647440"/>
            <a:chExt cx="432048" cy="432048"/>
          </a:xfrm>
        </p:grpSpPr>
        <p:sp>
          <p:nvSpPr>
            <p:cNvPr id="364" name="Cube 363"/>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Oval 364"/>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 name="Group 365"/>
          <p:cNvGrpSpPr/>
          <p:nvPr/>
        </p:nvGrpSpPr>
        <p:grpSpPr>
          <a:xfrm>
            <a:off x="2016804" y="2244912"/>
            <a:ext cx="432048" cy="432048"/>
            <a:chOff x="2281271" y="3647440"/>
            <a:chExt cx="432048" cy="432048"/>
          </a:xfrm>
        </p:grpSpPr>
        <p:sp>
          <p:nvSpPr>
            <p:cNvPr id="367" name="Cube 366"/>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Oval 367"/>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9" name="Group 368"/>
          <p:cNvGrpSpPr/>
          <p:nvPr/>
        </p:nvGrpSpPr>
        <p:grpSpPr>
          <a:xfrm>
            <a:off x="1914459" y="2353255"/>
            <a:ext cx="432048" cy="432048"/>
            <a:chOff x="2281271" y="3647440"/>
            <a:chExt cx="432048" cy="432048"/>
          </a:xfrm>
        </p:grpSpPr>
        <p:sp>
          <p:nvSpPr>
            <p:cNvPr id="370" name="Cube 369"/>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Oval 370"/>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2" name="Group 371"/>
          <p:cNvGrpSpPr/>
          <p:nvPr/>
        </p:nvGrpSpPr>
        <p:grpSpPr>
          <a:xfrm>
            <a:off x="2773003" y="1794714"/>
            <a:ext cx="452657" cy="450973"/>
            <a:chOff x="2281271" y="3628515"/>
            <a:chExt cx="452657" cy="450973"/>
          </a:xfrm>
        </p:grpSpPr>
        <p:sp>
          <p:nvSpPr>
            <p:cNvPr id="373" name="Cube 372"/>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Oval 373"/>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Oval 374"/>
            <p:cNvSpPr/>
            <p:nvPr/>
          </p:nvSpPr>
          <p:spPr>
            <a:xfrm>
              <a:off x="2688209" y="3628515"/>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6" name="Group 375"/>
          <p:cNvGrpSpPr/>
          <p:nvPr/>
        </p:nvGrpSpPr>
        <p:grpSpPr>
          <a:xfrm>
            <a:off x="2666403" y="1927747"/>
            <a:ext cx="432048" cy="432048"/>
            <a:chOff x="2281271" y="3647440"/>
            <a:chExt cx="432048" cy="432048"/>
          </a:xfrm>
        </p:grpSpPr>
        <p:sp>
          <p:nvSpPr>
            <p:cNvPr id="377" name="Cube 376"/>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Oval 377"/>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9" name="Group 378"/>
          <p:cNvGrpSpPr/>
          <p:nvPr/>
        </p:nvGrpSpPr>
        <p:grpSpPr>
          <a:xfrm>
            <a:off x="2559955" y="2032647"/>
            <a:ext cx="432048" cy="432048"/>
            <a:chOff x="2281271" y="3647440"/>
            <a:chExt cx="432048" cy="432048"/>
          </a:xfrm>
        </p:grpSpPr>
        <p:sp>
          <p:nvSpPr>
            <p:cNvPr id="380" name="Cube 379"/>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Oval 380"/>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2" name="Group 381"/>
          <p:cNvGrpSpPr/>
          <p:nvPr/>
        </p:nvGrpSpPr>
        <p:grpSpPr>
          <a:xfrm>
            <a:off x="2457610" y="2140990"/>
            <a:ext cx="432048" cy="432048"/>
            <a:chOff x="2281271" y="3647440"/>
            <a:chExt cx="432048" cy="432048"/>
          </a:xfrm>
        </p:grpSpPr>
        <p:sp>
          <p:nvSpPr>
            <p:cNvPr id="383" name="Cube 382"/>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Oval 383"/>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5" name="Group 384"/>
          <p:cNvGrpSpPr/>
          <p:nvPr/>
        </p:nvGrpSpPr>
        <p:grpSpPr>
          <a:xfrm>
            <a:off x="2349794" y="2255483"/>
            <a:ext cx="432048" cy="432048"/>
            <a:chOff x="2281271" y="3647440"/>
            <a:chExt cx="432048" cy="432048"/>
          </a:xfrm>
        </p:grpSpPr>
        <p:sp>
          <p:nvSpPr>
            <p:cNvPr id="386" name="Cube 385"/>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Oval 386"/>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8" name="Group 387"/>
          <p:cNvGrpSpPr/>
          <p:nvPr/>
        </p:nvGrpSpPr>
        <p:grpSpPr>
          <a:xfrm>
            <a:off x="2247449" y="2363826"/>
            <a:ext cx="432048" cy="432048"/>
            <a:chOff x="2281271" y="3647440"/>
            <a:chExt cx="432048" cy="432048"/>
          </a:xfrm>
        </p:grpSpPr>
        <p:sp>
          <p:nvSpPr>
            <p:cNvPr id="389" name="Cube 388"/>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Oval 389"/>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1" name="Group 390"/>
          <p:cNvGrpSpPr/>
          <p:nvPr/>
        </p:nvGrpSpPr>
        <p:grpSpPr>
          <a:xfrm>
            <a:off x="3084851" y="1789428"/>
            <a:ext cx="452657" cy="450973"/>
            <a:chOff x="2281271" y="3628515"/>
            <a:chExt cx="452657" cy="450973"/>
          </a:xfrm>
        </p:grpSpPr>
        <p:sp>
          <p:nvSpPr>
            <p:cNvPr id="392" name="Cube 391"/>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Oval 392"/>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Oval 393"/>
            <p:cNvSpPr/>
            <p:nvPr/>
          </p:nvSpPr>
          <p:spPr>
            <a:xfrm>
              <a:off x="2688209" y="3628515"/>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5" name="Group 394"/>
          <p:cNvGrpSpPr/>
          <p:nvPr/>
        </p:nvGrpSpPr>
        <p:grpSpPr>
          <a:xfrm>
            <a:off x="2978251" y="1922461"/>
            <a:ext cx="432048" cy="432048"/>
            <a:chOff x="2281271" y="3647440"/>
            <a:chExt cx="432048" cy="432048"/>
          </a:xfrm>
        </p:grpSpPr>
        <p:sp>
          <p:nvSpPr>
            <p:cNvPr id="396" name="Cube 395"/>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Oval 396"/>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8" name="Group 397"/>
          <p:cNvGrpSpPr/>
          <p:nvPr/>
        </p:nvGrpSpPr>
        <p:grpSpPr>
          <a:xfrm>
            <a:off x="2871803" y="2027361"/>
            <a:ext cx="432048" cy="432048"/>
            <a:chOff x="2281271" y="3647440"/>
            <a:chExt cx="432048" cy="432048"/>
          </a:xfrm>
        </p:grpSpPr>
        <p:sp>
          <p:nvSpPr>
            <p:cNvPr id="399" name="Cube 398"/>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Oval 399"/>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1" name="Group 400"/>
          <p:cNvGrpSpPr/>
          <p:nvPr/>
        </p:nvGrpSpPr>
        <p:grpSpPr>
          <a:xfrm>
            <a:off x="2769458" y="2135704"/>
            <a:ext cx="432048" cy="432048"/>
            <a:chOff x="2281271" y="3647440"/>
            <a:chExt cx="432048" cy="432048"/>
          </a:xfrm>
        </p:grpSpPr>
        <p:sp>
          <p:nvSpPr>
            <p:cNvPr id="402" name="Cube 401"/>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Oval 402"/>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4" name="Group 403"/>
          <p:cNvGrpSpPr/>
          <p:nvPr/>
        </p:nvGrpSpPr>
        <p:grpSpPr>
          <a:xfrm>
            <a:off x="2661642" y="2250197"/>
            <a:ext cx="432048" cy="432048"/>
            <a:chOff x="2281271" y="3647440"/>
            <a:chExt cx="432048" cy="432048"/>
          </a:xfrm>
        </p:grpSpPr>
        <p:sp>
          <p:nvSpPr>
            <p:cNvPr id="405" name="Cube 404"/>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Oval 405"/>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7" name="Group 406"/>
          <p:cNvGrpSpPr/>
          <p:nvPr/>
        </p:nvGrpSpPr>
        <p:grpSpPr>
          <a:xfrm>
            <a:off x="2559297" y="2358540"/>
            <a:ext cx="432048" cy="432048"/>
            <a:chOff x="2281271" y="3647440"/>
            <a:chExt cx="432048" cy="432048"/>
          </a:xfrm>
        </p:grpSpPr>
        <p:sp>
          <p:nvSpPr>
            <p:cNvPr id="408" name="Cube 407"/>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Oval 408"/>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6" name="Group 415"/>
          <p:cNvGrpSpPr/>
          <p:nvPr/>
        </p:nvGrpSpPr>
        <p:grpSpPr>
          <a:xfrm>
            <a:off x="884942" y="1663316"/>
            <a:ext cx="478855" cy="454954"/>
            <a:chOff x="884942" y="1663316"/>
            <a:chExt cx="478855" cy="454954"/>
          </a:xfrm>
        </p:grpSpPr>
        <p:grpSp>
          <p:nvGrpSpPr>
            <p:cNvPr id="410" name="Group 409"/>
            <p:cNvGrpSpPr/>
            <p:nvPr/>
          </p:nvGrpSpPr>
          <p:grpSpPr>
            <a:xfrm>
              <a:off x="914293" y="1686222"/>
              <a:ext cx="432048" cy="432048"/>
              <a:chOff x="2281271" y="3647440"/>
              <a:chExt cx="432048" cy="432048"/>
            </a:xfrm>
          </p:grpSpPr>
          <p:sp>
            <p:nvSpPr>
              <p:cNvPr id="411" name="Cube 410"/>
              <p:cNvSpPr/>
              <p:nvPr/>
            </p:nvSpPr>
            <p:spPr>
              <a:xfrm>
                <a:off x="2281271" y="3647440"/>
                <a:ext cx="432048" cy="432048"/>
              </a:xfrm>
              <a:prstGeom prst="cube">
                <a:avLst/>
              </a:prstGeom>
              <a:solidFill>
                <a:schemeClr val="bg1">
                  <a:lumMod val="8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Oval 411"/>
              <p:cNvSpPr/>
              <p:nvPr/>
            </p:nvSpPr>
            <p:spPr>
              <a:xfrm>
                <a:off x="2575963" y="373254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3" name="Oval 412"/>
            <p:cNvSpPr/>
            <p:nvPr/>
          </p:nvSpPr>
          <p:spPr>
            <a:xfrm>
              <a:off x="1318078" y="1668978"/>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Oval 413"/>
            <p:cNvSpPr/>
            <p:nvPr/>
          </p:nvSpPr>
          <p:spPr>
            <a:xfrm>
              <a:off x="1001011" y="1663316"/>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Oval 414"/>
            <p:cNvSpPr/>
            <p:nvPr/>
          </p:nvSpPr>
          <p:spPr>
            <a:xfrm>
              <a:off x="884942" y="1776554"/>
              <a:ext cx="45719" cy="45719"/>
            </a:xfrm>
            <a:prstGeom prst="ellipse">
              <a:avLst/>
            </a:prstGeom>
            <a:solidFill>
              <a:srgbClr val="00B0F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0" name="TextBox 269"/>
          <p:cNvSpPr txBox="1"/>
          <p:nvPr/>
        </p:nvSpPr>
        <p:spPr>
          <a:xfrm>
            <a:off x="1379926" y="1831567"/>
            <a:ext cx="351378" cy="369332"/>
          </a:xfrm>
          <a:prstGeom prst="rect">
            <a:avLst/>
          </a:prstGeom>
          <a:noFill/>
        </p:spPr>
        <p:txBody>
          <a:bodyPr wrap="none" rtlCol="0">
            <a:spAutoFit/>
          </a:bodyPr>
          <a:lstStyle/>
          <a:p>
            <a:r>
              <a:rPr lang="en-US" altLang="zh-CN" sz="1800" b="1" dirty="0"/>
              <a:t>A</a:t>
            </a:r>
            <a:endParaRPr lang="en-US" sz="1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3">
                                            <p:txEl>
                                              <p:pRg st="0" end="0"/>
                                            </p:txEl>
                                          </p:spTgt>
                                        </p:tgtEl>
                                        <p:attrNameLst>
                                          <p:attrName>style.visibility</p:attrName>
                                        </p:attrNameLst>
                                      </p:cBhvr>
                                      <p:to>
                                        <p:strVal val="visible"/>
                                      </p:to>
                                    </p:set>
                                    <p:animEffect transition="in" filter="fade">
                                      <p:cBhvr>
                                        <p:cTn id="7" dur="1000"/>
                                        <p:tgtEl>
                                          <p:spTgt spid="293">
                                            <p:txEl>
                                              <p:pRg st="0" end="0"/>
                                            </p:txEl>
                                          </p:spTgt>
                                        </p:tgtEl>
                                      </p:cBhvr>
                                    </p:animEffect>
                                    <p:anim calcmode="lin" valueType="num">
                                      <p:cBhvr>
                                        <p:cTn id="8" dur="1000" fill="hold"/>
                                        <p:tgtEl>
                                          <p:spTgt spid="29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9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93">
                                            <p:txEl>
                                              <p:pRg st="1" end="1"/>
                                            </p:txEl>
                                          </p:spTgt>
                                        </p:tgtEl>
                                        <p:attrNameLst>
                                          <p:attrName>style.visibility</p:attrName>
                                        </p:attrNameLst>
                                      </p:cBhvr>
                                      <p:to>
                                        <p:strVal val="visible"/>
                                      </p:to>
                                    </p:set>
                                    <p:animEffect transition="in" filter="fade">
                                      <p:cBhvr>
                                        <p:cTn id="14" dur="1000"/>
                                        <p:tgtEl>
                                          <p:spTgt spid="293">
                                            <p:txEl>
                                              <p:pRg st="1" end="1"/>
                                            </p:txEl>
                                          </p:spTgt>
                                        </p:tgtEl>
                                      </p:cBhvr>
                                    </p:animEffect>
                                    <p:anim calcmode="lin" valueType="num">
                                      <p:cBhvr>
                                        <p:cTn id="15" dur="1000" fill="hold"/>
                                        <p:tgtEl>
                                          <p:spTgt spid="29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9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00"/>
                                        </p:tgtEl>
                                        <p:attrNameLst>
                                          <p:attrName>style.visibility</p:attrName>
                                        </p:attrNameLst>
                                      </p:cBhvr>
                                      <p:to>
                                        <p:strVal val="visible"/>
                                      </p:to>
                                    </p:set>
                                    <p:animEffect transition="in" filter="fade">
                                      <p:cBhvr>
                                        <p:cTn id="21" dur="500"/>
                                        <p:tgtEl>
                                          <p:spTgt spid="30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01"/>
                                        </p:tgtEl>
                                        <p:attrNameLst>
                                          <p:attrName>style.visibility</p:attrName>
                                        </p:attrNameLst>
                                      </p:cBhvr>
                                      <p:to>
                                        <p:strVal val="visible"/>
                                      </p:to>
                                    </p:set>
                                    <p:animEffect transition="in" filter="fade">
                                      <p:cBhvr>
                                        <p:cTn id="26" dur="500"/>
                                        <p:tgtEl>
                                          <p:spTgt spid="30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06"/>
                                        </p:tgtEl>
                                        <p:attrNameLst>
                                          <p:attrName>style.visibility</p:attrName>
                                        </p:attrNameLst>
                                      </p:cBhvr>
                                      <p:to>
                                        <p:strVal val="visible"/>
                                      </p:to>
                                    </p:set>
                                    <p:animEffect transition="in" filter="fade">
                                      <p:cBhvr>
                                        <p:cTn id="31" dur="500"/>
                                        <p:tgtEl>
                                          <p:spTgt spid="30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12"/>
                                        </p:tgtEl>
                                        <p:attrNameLst>
                                          <p:attrName>style.visibility</p:attrName>
                                        </p:attrNameLst>
                                      </p:cBhvr>
                                      <p:to>
                                        <p:strVal val="visible"/>
                                      </p:to>
                                    </p:set>
                                    <p:animEffect transition="in" filter="fade">
                                      <p:cBhvr>
                                        <p:cTn id="36" dur="500"/>
                                        <p:tgtEl>
                                          <p:spTgt spid="3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15"/>
                                        </p:tgtEl>
                                        <p:attrNameLst>
                                          <p:attrName>style.visibility</p:attrName>
                                        </p:attrNameLst>
                                      </p:cBhvr>
                                      <p:to>
                                        <p:strVal val="visible"/>
                                      </p:to>
                                    </p:set>
                                    <p:animEffect transition="in" filter="fade">
                                      <p:cBhvr>
                                        <p:cTn id="41" dur="500"/>
                                        <p:tgtEl>
                                          <p:spTgt spid="3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19"/>
                                        </p:tgtEl>
                                        <p:attrNameLst>
                                          <p:attrName>style.visibility</p:attrName>
                                        </p:attrNameLst>
                                      </p:cBhvr>
                                      <p:to>
                                        <p:strVal val="visible"/>
                                      </p:to>
                                    </p:set>
                                    <p:animEffect transition="in" filter="fade">
                                      <p:cBhvr>
                                        <p:cTn id="46" dur="500"/>
                                        <p:tgtEl>
                                          <p:spTgt spid="31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22"/>
                                        </p:tgtEl>
                                        <p:attrNameLst>
                                          <p:attrName>style.visibility</p:attrName>
                                        </p:attrNameLst>
                                      </p:cBhvr>
                                      <p:to>
                                        <p:strVal val="visible"/>
                                      </p:to>
                                    </p:set>
                                    <p:animEffect transition="in" filter="fade">
                                      <p:cBhvr>
                                        <p:cTn id="51" dur="500"/>
                                        <p:tgtEl>
                                          <p:spTgt spid="32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25"/>
                                        </p:tgtEl>
                                        <p:attrNameLst>
                                          <p:attrName>style.visibility</p:attrName>
                                        </p:attrNameLst>
                                      </p:cBhvr>
                                      <p:to>
                                        <p:strVal val="visible"/>
                                      </p:to>
                                    </p:set>
                                    <p:animEffect transition="in" filter="fade">
                                      <p:cBhvr>
                                        <p:cTn id="56" dur="500"/>
                                        <p:tgtEl>
                                          <p:spTgt spid="32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28"/>
                                        </p:tgtEl>
                                        <p:attrNameLst>
                                          <p:attrName>style.visibility</p:attrName>
                                        </p:attrNameLst>
                                      </p:cBhvr>
                                      <p:to>
                                        <p:strVal val="visible"/>
                                      </p:to>
                                    </p:set>
                                    <p:animEffect transition="in" filter="fade">
                                      <p:cBhvr>
                                        <p:cTn id="61" dur="500"/>
                                        <p:tgtEl>
                                          <p:spTgt spid="32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31"/>
                                        </p:tgtEl>
                                        <p:attrNameLst>
                                          <p:attrName>style.visibility</p:attrName>
                                        </p:attrNameLst>
                                      </p:cBhvr>
                                      <p:to>
                                        <p:strVal val="visible"/>
                                      </p:to>
                                    </p:set>
                                    <p:animEffect transition="in" filter="fade">
                                      <p:cBhvr>
                                        <p:cTn id="66" dur="500"/>
                                        <p:tgtEl>
                                          <p:spTgt spid="33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34"/>
                                        </p:tgtEl>
                                        <p:attrNameLst>
                                          <p:attrName>style.visibility</p:attrName>
                                        </p:attrNameLst>
                                      </p:cBhvr>
                                      <p:to>
                                        <p:strVal val="visible"/>
                                      </p:to>
                                    </p:set>
                                    <p:animEffect transition="in" filter="fade">
                                      <p:cBhvr>
                                        <p:cTn id="71" dur="500"/>
                                        <p:tgtEl>
                                          <p:spTgt spid="334"/>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338"/>
                                        </p:tgtEl>
                                        <p:attrNameLst>
                                          <p:attrName>style.visibility</p:attrName>
                                        </p:attrNameLst>
                                      </p:cBhvr>
                                      <p:to>
                                        <p:strVal val="visible"/>
                                      </p:to>
                                    </p:set>
                                    <p:animEffect transition="in" filter="fade">
                                      <p:cBhvr>
                                        <p:cTn id="76" dur="500"/>
                                        <p:tgtEl>
                                          <p:spTgt spid="338"/>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41"/>
                                        </p:tgtEl>
                                        <p:attrNameLst>
                                          <p:attrName>style.visibility</p:attrName>
                                        </p:attrNameLst>
                                      </p:cBhvr>
                                      <p:to>
                                        <p:strVal val="visible"/>
                                      </p:to>
                                    </p:set>
                                    <p:animEffect transition="in" filter="fade">
                                      <p:cBhvr>
                                        <p:cTn id="81" dur="500"/>
                                        <p:tgtEl>
                                          <p:spTgt spid="341"/>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44"/>
                                        </p:tgtEl>
                                        <p:attrNameLst>
                                          <p:attrName>style.visibility</p:attrName>
                                        </p:attrNameLst>
                                      </p:cBhvr>
                                      <p:to>
                                        <p:strVal val="visible"/>
                                      </p:to>
                                    </p:set>
                                    <p:animEffect transition="in" filter="fade">
                                      <p:cBhvr>
                                        <p:cTn id="86" dur="500"/>
                                        <p:tgtEl>
                                          <p:spTgt spid="34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347"/>
                                        </p:tgtEl>
                                        <p:attrNameLst>
                                          <p:attrName>style.visibility</p:attrName>
                                        </p:attrNameLst>
                                      </p:cBhvr>
                                      <p:to>
                                        <p:strVal val="visible"/>
                                      </p:to>
                                    </p:set>
                                    <p:animEffect transition="in" filter="fade">
                                      <p:cBhvr>
                                        <p:cTn id="91" dur="500"/>
                                        <p:tgtEl>
                                          <p:spTgt spid="347"/>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350"/>
                                        </p:tgtEl>
                                        <p:attrNameLst>
                                          <p:attrName>style.visibility</p:attrName>
                                        </p:attrNameLst>
                                      </p:cBhvr>
                                      <p:to>
                                        <p:strVal val="visible"/>
                                      </p:to>
                                    </p:set>
                                    <p:animEffect transition="in" filter="fade">
                                      <p:cBhvr>
                                        <p:cTn id="96" dur="500"/>
                                        <p:tgtEl>
                                          <p:spTgt spid="350"/>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353"/>
                                        </p:tgtEl>
                                        <p:attrNameLst>
                                          <p:attrName>style.visibility</p:attrName>
                                        </p:attrNameLst>
                                      </p:cBhvr>
                                      <p:to>
                                        <p:strVal val="visible"/>
                                      </p:to>
                                    </p:set>
                                    <p:animEffect transition="in" filter="fade">
                                      <p:cBhvr>
                                        <p:cTn id="101" dur="500"/>
                                        <p:tgtEl>
                                          <p:spTgt spid="353"/>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357"/>
                                        </p:tgtEl>
                                        <p:attrNameLst>
                                          <p:attrName>style.visibility</p:attrName>
                                        </p:attrNameLst>
                                      </p:cBhvr>
                                      <p:to>
                                        <p:strVal val="visible"/>
                                      </p:to>
                                    </p:set>
                                    <p:animEffect transition="in" filter="fade">
                                      <p:cBhvr>
                                        <p:cTn id="106" dur="500"/>
                                        <p:tgtEl>
                                          <p:spTgt spid="357"/>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360"/>
                                        </p:tgtEl>
                                        <p:attrNameLst>
                                          <p:attrName>style.visibility</p:attrName>
                                        </p:attrNameLst>
                                      </p:cBhvr>
                                      <p:to>
                                        <p:strVal val="visible"/>
                                      </p:to>
                                    </p:set>
                                    <p:animEffect transition="in" filter="fade">
                                      <p:cBhvr>
                                        <p:cTn id="111" dur="500"/>
                                        <p:tgtEl>
                                          <p:spTgt spid="360"/>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363"/>
                                        </p:tgtEl>
                                        <p:attrNameLst>
                                          <p:attrName>style.visibility</p:attrName>
                                        </p:attrNameLst>
                                      </p:cBhvr>
                                      <p:to>
                                        <p:strVal val="visible"/>
                                      </p:to>
                                    </p:set>
                                    <p:animEffect transition="in" filter="fade">
                                      <p:cBhvr>
                                        <p:cTn id="116" dur="500"/>
                                        <p:tgtEl>
                                          <p:spTgt spid="363"/>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366"/>
                                        </p:tgtEl>
                                        <p:attrNameLst>
                                          <p:attrName>style.visibility</p:attrName>
                                        </p:attrNameLst>
                                      </p:cBhvr>
                                      <p:to>
                                        <p:strVal val="visible"/>
                                      </p:to>
                                    </p:set>
                                    <p:animEffect transition="in" filter="fade">
                                      <p:cBhvr>
                                        <p:cTn id="121" dur="500"/>
                                        <p:tgtEl>
                                          <p:spTgt spid="366"/>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369"/>
                                        </p:tgtEl>
                                        <p:attrNameLst>
                                          <p:attrName>style.visibility</p:attrName>
                                        </p:attrNameLst>
                                      </p:cBhvr>
                                      <p:to>
                                        <p:strVal val="visible"/>
                                      </p:to>
                                    </p:set>
                                    <p:animEffect transition="in" filter="fade">
                                      <p:cBhvr>
                                        <p:cTn id="126" dur="500"/>
                                        <p:tgtEl>
                                          <p:spTgt spid="369"/>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372"/>
                                        </p:tgtEl>
                                        <p:attrNameLst>
                                          <p:attrName>style.visibility</p:attrName>
                                        </p:attrNameLst>
                                      </p:cBhvr>
                                      <p:to>
                                        <p:strVal val="visible"/>
                                      </p:to>
                                    </p:set>
                                    <p:animEffect transition="in" filter="fade">
                                      <p:cBhvr>
                                        <p:cTn id="131" dur="500"/>
                                        <p:tgtEl>
                                          <p:spTgt spid="372"/>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376"/>
                                        </p:tgtEl>
                                        <p:attrNameLst>
                                          <p:attrName>style.visibility</p:attrName>
                                        </p:attrNameLst>
                                      </p:cBhvr>
                                      <p:to>
                                        <p:strVal val="visible"/>
                                      </p:to>
                                    </p:set>
                                    <p:animEffect transition="in" filter="fade">
                                      <p:cBhvr>
                                        <p:cTn id="136" dur="500"/>
                                        <p:tgtEl>
                                          <p:spTgt spid="376"/>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379"/>
                                        </p:tgtEl>
                                        <p:attrNameLst>
                                          <p:attrName>style.visibility</p:attrName>
                                        </p:attrNameLst>
                                      </p:cBhvr>
                                      <p:to>
                                        <p:strVal val="visible"/>
                                      </p:to>
                                    </p:set>
                                    <p:animEffect transition="in" filter="fade">
                                      <p:cBhvr>
                                        <p:cTn id="141" dur="500"/>
                                        <p:tgtEl>
                                          <p:spTgt spid="379"/>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nodeType="clickEffect">
                                  <p:stCondLst>
                                    <p:cond delay="0"/>
                                  </p:stCondLst>
                                  <p:childTnLst>
                                    <p:set>
                                      <p:cBhvr>
                                        <p:cTn id="145" dur="1" fill="hold">
                                          <p:stCondLst>
                                            <p:cond delay="0"/>
                                          </p:stCondLst>
                                        </p:cTn>
                                        <p:tgtEl>
                                          <p:spTgt spid="382"/>
                                        </p:tgtEl>
                                        <p:attrNameLst>
                                          <p:attrName>style.visibility</p:attrName>
                                        </p:attrNameLst>
                                      </p:cBhvr>
                                      <p:to>
                                        <p:strVal val="visible"/>
                                      </p:to>
                                    </p:set>
                                    <p:animEffect transition="in" filter="fade">
                                      <p:cBhvr>
                                        <p:cTn id="146" dur="500"/>
                                        <p:tgtEl>
                                          <p:spTgt spid="382"/>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nodeType="clickEffect">
                                  <p:stCondLst>
                                    <p:cond delay="0"/>
                                  </p:stCondLst>
                                  <p:childTnLst>
                                    <p:set>
                                      <p:cBhvr>
                                        <p:cTn id="150" dur="1" fill="hold">
                                          <p:stCondLst>
                                            <p:cond delay="0"/>
                                          </p:stCondLst>
                                        </p:cTn>
                                        <p:tgtEl>
                                          <p:spTgt spid="385"/>
                                        </p:tgtEl>
                                        <p:attrNameLst>
                                          <p:attrName>style.visibility</p:attrName>
                                        </p:attrNameLst>
                                      </p:cBhvr>
                                      <p:to>
                                        <p:strVal val="visible"/>
                                      </p:to>
                                    </p:set>
                                    <p:animEffect transition="in" filter="fade">
                                      <p:cBhvr>
                                        <p:cTn id="151" dur="500"/>
                                        <p:tgtEl>
                                          <p:spTgt spid="385"/>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388"/>
                                        </p:tgtEl>
                                        <p:attrNameLst>
                                          <p:attrName>style.visibility</p:attrName>
                                        </p:attrNameLst>
                                      </p:cBhvr>
                                      <p:to>
                                        <p:strVal val="visible"/>
                                      </p:to>
                                    </p:set>
                                    <p:animEffect transition="in" filter="fade">
                                      <p:cBhvr>
                                        <p:cTn id="156" dur="500"/>
                                        <p:tgtEl>
                                          <p:spTgt spid="388"/>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nodeType="clickEffect">
                                  <p:stCondLst>
                                    <p:cond delay="0"/>
                                  </p:stCondLst>
                                  <p:childTnLst>
                                    <p:set>
                                      <p:cBhvr>
                                        <p:cTn id="160" dur="1" fill="hold">
                                          <p:stCondLst>
                                            <p:cond delay="0"/>
                                          </p:stCondLst>
                                        </p:cTn>
                                        <p:tgtEl>
                                          <p:spTgt spid="391"/>
                                        </p:tgtEl>
                                        <p:attrNameLst>
                                          <p:attrName>style.visibility</p:attrName>
                                        </p:attrNameLst>
                                      </p:cBhvr>
                                      <p:to>
                                        <p:strVal val="visible"/>
                                      </p:to>
                                    </p:set>
                                    <p:animEffect transition="in" filter="fade">
                                      <p:cBhvr>
                                        <p:cTn id="161" dur="500"/>
                                        <p:tgtEl>
                                          <p:spTgt spid="391"/>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nodeType="clickEffect">
                                  <p:stCondLst>
                                    <p:cond delay="0"/>
                                  </p:stCondLst>
                                  <p:childTnLst>
                                    <p:set>
                                      <p:cBhvr>
                                        <p:cTn id="165" dur="1" fill="hold">
                                          <p:stCondLst>
                                            <p:cond delay="0"/>
                                          </p:stCondLst>
                                        </p:cTn>
                                        <p:tgtEl>
                                          <p:spTgt spid="395"/>
                                        </p:tgtEl>
                                        <p:attrNameLst>
                                          <p:attrName>style.visibility</p:attrName>
                                        </p:attrNameLst>
                                      </p:cBhvr>
                                      <p:to>
                                        <p:strVal val="visible"/>
                                      </p:to>
                                    </p:set>
                                    <p:animEffect transition="in" filter="fade">
                                      <p:cBhvr>
                                        <p:cTn id="166" dur="500"/>
                                        <p:tgtEl>
                                          <p:spTgt spid="395"/>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nodeType="clickEffect">
                                  <p:stCondLst>
                                    <p:cond delay="0"/>
                                  </p:stCondLst>
                                  <p:childTnLst>
                                    <p:set>
                                      <p:cBhvr>
                                        <p:cTn id="170" dur="1" fill="hold">
                                          <p:stCondLst>
                                            <p:cond delay="0"/>
                                          </p:stCondLst>
                                        </p:cTn>
                                        <p:tgtEl>
                                          <p:spTgt spid="398"/>
                                        </p:tgtEl>
                                        <p:attrNameLst>
                                          <p:attrName>style.visibility</p:attrName>
                                        </p:attrNameLst>
                                      </p:cBhvr>
                                      <p:to>
                                        <p:strVal val="visible"/>
                                      </p:to>
                                    </p:set>
                                    <p:animEffect transition="in" filter="fade">
                                      <p:cBhvr>
                                        <p:cTn id="171" dur="500"/>
                                        <p:tgtEl>
                                          <p:spTgt spid="398"/>
                                        </p:tgtEl>
                                      </p:cBhvr>
                                    </p:animEffect>
                                  </p:childTnLst>
                                </p:cTn>
                              </p:par>
                            </p:childTnLst>
                          </p:cTn>
                        </p:par>
                      </p:childTnLst>
                    </p:cTn>
                  </p:par>
                  <p:par>
                    <p:cTn id="172" fill="hold">
                      <p:stCondLst>
                        <p:cond delay="indefinite"/>
                      </p:stCondLst>
                      <p:childTnLst>
                        <p:par>
                          <p:cTn id="173" fill="hold">
                            <p:stCondLst>
                              <p:cond delay="0"/>
                            </p:stCondLst>
                            <p:childTnLst>
                              <p:par>
                                <p:cTn id="174" presetID="10" presetClass="entr" presetSubtype="0" fill="hold" nodeType="clickEffect">
                                  <p:stCondLst>
                                    <p:cond delay="0"/>
                                  </p:stCondLst>
                                  <p:childTnLst>
                                    <p:set>
                                      <p:cBhvr>
                                        <p:cTn id="175" dur="1" fill="hold">
                                          <p:stCondLst>
                                            <p:cond delay="0"/>
                                          </p:stCondLst>
                                        </p:cTn>
                                        <p:tgtEl>
                                          <p:spTgt spid="401"/>
                                        </p:tgtEl>
                                        <p:attrNameLst>
                                          <p:attrName>style.visibility</p:attrName>
                                        </p:attrNameLst>
                                      </p:cBhvr>
                                      <p:to>
                                        <p:strVal val="visible"/>
                                      </p:to>
                                    </p:set>
                                    <p:animEffect transition="in" filter="fade">
                                      <p:cBhvr>
                                        <p:cTn id="176" dur="500"/>
                                        <p:tgtEl>
                                          <p:spTgt spid="401"/>
                                        </p:tgtEl>
                                      </p:cBhvr>
                                    </p:animEffect>
                                  </p:childTnLst>
                                </p:cTn>
                              </p:par>
                            </p:childTnLst>
                          </p:cTn>
                        </p:par>
                      </p:childTnLst>
                    </p:cTn>
                  </p:par>
                  <p:par>
                    <p:cTn id="177" fill="hold">
                      <p:stCondLst>
                        <p:cond delay="indefinite"/>
                      </p:stCondLst>
                      <p:childTnLst>
                        <p:par>
                          <p:cTn id="178" fill="hold">
                            <p:stCondLst>
                              <p:cond delay="0"/>
                            </p:stCondLst>
                            <p:childTnLst>
                              <p:par>
                                <p:cTn id="179" presetID="10" presetClass="entr" presetSubtype="0" fill="hold" nodeType="clickEffect">
                                  <p:stCondLst>
                                    <p:cond delay="0"/>
                                  </p:stCondLst>
                                  <p:childTnLst>
                                    <p:set>
                                      <p:cBhvr>
                                        <p:cTn id="180" dur="1" fill="hold">
                                          <p:stCondLst>
                                            <p:cond delay="0"/>
                                          </p:stCondLst>
                                        </p:cTn>
                                        <p:tgtEl>
                                          <p:spTgt spid="404"/>
                                        </p:tgtEl>
                                        <p:attrNameLst>
                                          <p:attrName>style.visibility</p:attrName>
                                        </p:attrNameLst>
                                      </p:cBhvr>
                                      <p:to>
                                        <p:strVal val="visible"/>
                                      </p:to>
                                    </p:set>
                                    <p:animEffect transition="in" filter="fade">
                                      <p:cBhvr>
                                        <p:cTn id="181" dur="500"/>
                                        <p:tgtEl>
                                          <p:spTgt spid="404"/>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ntr" presetSubtype="0" fill="hold" nodeType="clickEffect">
                                  <p:stCondLst>
                                    <p:cond delay="0"/>
                                  </p:stCondLst>
                                  <p:childTnLst>
                                    <p:set>
                                      <p:cBhvr>
                                        <p:cTn id="185" dur="1" fill="hold">
                                          <p:stCondLst>
                                            <p:cond delay="0"/>
                                          </p:stCondLst>
                                        </p:cTn>
                                        <p:tgtEl>
                                          <p:spTgt spid="407"/>
                                        </p:tgtEl>
                                        <p:attrNameLst>
                                          <p:attrName>style.visibility</p:attrName>
                                        </p:attrNameLst>
                                      </p:cBhvr>
                                      <p:to>
                                        <p:strVal val="visible"/>
                                      </p:to>
                                    </p:set>
                                    <p:animEffect transition="in" filter="fade">
                                      <p:cBhvr>
                                        <p:cTn id="186" dur="500"/>
                                        <p:tgtEl>
                                          <p:spTgt spid="407"/>
                                        </p:tgtEl>
                                      </p:cBhvr>
                                    </p:animEffec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0077" y="836712"/>
            <a:ext cx="8152168" cy="1569660"/>
          </a:xfrm>
          <a:prstGeom prst="rect">
            <a:avLst/>
          </a:prstGeom>
        </p:spPr>
        <p:txBody>
          <a:bodyPr wrap="none">
            <a:spAutoFit/>
          </a:bodyPr>
          <a:lstStyle/>
          <a:p>
            <a:pPr algn="ctr"/>
            <a:r>
              <a:rPr lang="en-US" altLang="zh-CN" sz="3200" b="1" dirty="0">
                <a:solidFill>
                  <a:srgbClr val="FF3300"/>
                </a:solidFill>
              </a:rPr>
              <a:t>Simulation of crystal growth on smooth plane</a:t>
            </a:r>
          </a:p>
          <a:p>
            <a:pPr algn="ctr"/>
            <a:r>
              <a:rPr lang="en-US" altLang="zh-CN" sz="3200" b="1" dirty="0">
                <a:solidFill>
                  <a:srgbClr val="FF3300"/>
                </a:solidFill>
              </a:rPr>
              <a:t>Simulation of stepped growth</a:t>
            </a:r>
          </a:p>
          <a:p>
            <a:pPr algn="ctr"/>
            <a:r>
              <a:rPr lang="zh-CN" altLang="en-US" sz="3200" b="1" dirty="0">
                <a:solidFill>
                  <a:srgbClr val="FF3300"/>
                </a:solidFill>
              </a:rPr>
              <a:t>（</a:t>
            </a:r>
            <a:r>
              <a:rPr lang="en-US" altLang="zh-CN" sz="3200" b="1" dirty="0">
                <a:solidFill>
                  <a:srgbClr val="FF3300"/>
                </a:solidFill>
              </a:rPr>
              <a:t>see videos</a:t>
            </a:r>
            <a:r>
              <a:rPr lang="zh-CN" altLang="en-US" sz="3200" b="1" dirty="0">
                <a:solidFill>
                  <a:srgbClr val="FF3300"/>
                </a:solidFill>
              </a:rPr>
              <a:t>）</a:t>
            </a:r>
            <a:endParaRPr lang="en-US" sz="3200" b="1" dirty="0">
              <a:solidFill>
                <a:srgbClr val="FF3300"/>
              </a:solidFill>
            </a:endParaRPr>
          </a:p>
        </p:txBody>
      </p:sp>
      <p:sp>
        <p:nvSpPr>
          <p:cNvPr id="5" name="TextBox 4"/>
          <p:cNvSpPr txBox="1"/>
          <p:nvPr/>
        </p:nvSpPr>
        <p:spPr>
          <a:xfrm>
            <a:off x="2173178" y="2689756"/>
            <a:ext cx="4991110" cy="523220"/>
          </a:xfrm>
          <a:prstGeom prst="rect">
            <a:avLst/>
          </a:prstGeom>
          <a:noFill/>
        </p:spPr>
        <p:txBody>
          <a:bodyPr wrap="none" rtlCol="0">
            <a:spAutoFit/>
          </a:bodyPr>
          <a:lstStyle/>
          <a:p>
            <a:r>
              <a:rPr lang="en-US" altLang="zh-CN" sz="2800" b="1" spc="-60" dirty="0">
                <a:latin typeface="+mn-lt"/>
                <a:ea typeface="黑体" panose="02010609060101010101" pitchFamily="49" charset="-122"/>
              </a:rPr>
              <a:t>Examples of stepped growth:</a:t>
            </a:r>
            <a:endParaRPr lang="en-US" sz="2000" dirty="0">
              <a:latin typeface="+mn-lt"/>
            </a:endParaRPr>
          </a:p>
        </p:txBody>
      </p:sp>
      <p:sp>
        <p:nvSpPr>
          <p:cNvPr id="7" name="Rectangle 6"/>
          <p:cNvSpPr/>
          <p:nvPr/>
        </p:nvSpPr>
        <p:spPr>
          <a:xfrm>
            <a:off x="1331640" y="5559623"/>
            <a:ext cx="6752168" cy="461665"/>
          </a:xfrm>
          <a:prstGeom prst="rect">
            <a:avLst/>
          </a:prstGeom>
        </p:spPr>
        <p:txBody>
          <a:bodyPr wrap="none">
            <a:spAutoFit/>
          </a:bodyPr>
          <a:lstStyle/>
          <a:p>
            <a:pPr lvl="0" indent="317500" algn="ctr" eaLnBrk="0" hangingPunct="0"/>
            <a:r>
              <a:rPr lang="en-US" altLang="zh-CN" dirty="0">
                <a:solidFill>
                  <a:srgbClr val="333333"/>
                </a:solidFill>
                <a:latin typeface="+mn-lt"/>
              </a:rPr>
              <a:t>Surface growth steps of silicon carbide crystal</a:t>
            </a:r>
            <a:endParaRPr lang="zh-CN" altLang="en-US" dirty="0">
              <a:solidFill>
                <a:srgbClr val="333333"/>
              </a:solidFill>
              <a:latin typeface="+mn-lt"/>
            </a:endParaRPr>
          </a:p>
        </p:txBody>
      </p:sp>
      <p:grpSp>
        <p:nvGrpSpPr>
          <p:cNvPr id="8" name="Group 7"/>
          <p:cNvGrpSpPr/>
          <p:nvPr/>
        </p:nvGrpSpPr>
        <p:grpSpPr>
          <a:xfrm>
            <a:off x="134088" y="3248042"/>
            <a:ext cx="8654741" cy="2125563"/>
            <a:chOff x="669089" y="3232844"/>
            <a:chExt cx="6980999" cy="1714500"/>
          </a:xfrm>
        </p:grpSpPr>
        <p:pic>
          <p:nvPicPr>
            <p:cNvPr id="6" name="Picture 1" descr="碳化硅晶体表面生长台阶640X48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9089" y="3232844"/>
              <a:ext cx="22860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76802" name="Picture 2" descr="碳化硅晶体表面生长台阶640X48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12754" y="3232844"/>
              <a:ext cx="22860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7680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4088" y="3234432"/>
              <a:ext cx="2286000" cy="171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 name="矩形 2"/>
          <p:cNvSpPr/>
          <p:nvPr/>
        </p:nvSpPr>
        <p:spPr>
          <a:xfrm>
            <a:off x="6228184" y="4725144"/>
            <a:ext cx="2419252" cy="461665"/>
          </a:xfrm>
          <a:prstGeom prst="rect">
            <a:avLst/>
          </a:prstGeom>
        </p:spPr>
        <p:txBody>
          <a:bodyPr wrap="none">
            <a:spAutoFit/>
          </a:bodyPr>
          <a:lstStyle/>
          <a:p>
            <a:r>
              <a:rPr lang="en-US" altLang="zh-CN" dirty="0">
                <a:solidFill>
                  <a:schemeClr val="bg1"/>
                </a:solidFill>
              </a:rPr>
              <a:t> concentric circles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7" name="Rectangle 3"/>
          <p:cNvSpPr>
            <a:spLocks noGrp="1" noChangeArrowheads="1"/>
          </p:cNvSpPr>
          <p:nvPr>
            <p:ph type="subTitle" idx="1"/>
          </p:nvPr>
        </p:nvSpPr>
        <p:spPr>
          <a:xfrm>
            <a:off x="468313" y="692150"/>
            <a:ext cx="8208962" cy="5689178"/>
          </a:xfrm>
        </p:spPr>
        <p:txBody>
          <a:bodyPr/>
          <a:lstStyle/>
          <a:p>
            <a:pPr>
              <a:lnSpc>
                <a:spcPct val="90000"/>
              </a:lnSpc>
              <a:defRPr/>
            </a:pPr>
            <a:r>
              <a:rPr lang="en-US" altLang="zh-CN" b="1" cap="none" dirty="0">
                <a:solidFill>
                  <a:schemeClr val="tx1"/>
                </a:solidFill>
                <a:latin typeface="+mn-lt"/>
              </a:rPr>
              <a:t>The idea of layer growth theory is:</a:t>
            </a:r>
          </a:p>
          <a:p>
            <a:pPr algn="ctr">
              <a:lnSpc>
                <a:spcPct val="90000"/>
              </a:lnSpc>
              <a:defRPr/>
            </a:pPr>
            <a:r>
              <a:rPr lang="en-US" altLang="zh-CN" b="1" cap="none" dirty="0">
                <a:solidFill>
                  <a:srgbClr val="FF0000"/>
                </a:solidFill>
                <a:latin typeface="+mn-lt"/>
              </a:rPr>
              <a:t>Crystal growth is the process of pushing crystal surface outward layer by layer.</a:t>
            </a:r>
          </a:p>
          <a:p>
            <a:pPr algn="ctr">
              <a:lnSpc>
                <a:spcPct val="90000"/>
              </a:lnSpc>
              <a:defRPr/>
            </a:pPr>
            <a:endParaRPr lang="en-US" altLang="zh-CN" b="1" cap="none" dirty="0">
              <a:solidFill>
                <a:srgbClr val="FF0000"/>
              </a:solidFill>
              <a:latin typeface="+mn-lt"/>
            </a:endParaRPr>
          </a:p>
          <a:p>
            <a:pPr>
              <a:lnSpc>
                <a:spcPct val="90000"/>
              </a:lnSpc>
              <a:defRPr/>
            </a:pPr>
            <a:r>
              <a:rPr lang="en-US" altLang="zh-CN" b="1" cap="none" dirty="0">
                <a:solidFill>
                  <a:schemeClr val="tx1"/>
                </a:solidFill>
                <a:latin typeface="+mn-lt"/>
              </a:rPr>
              <a:t>Shortcomings in layer growth theory:</a:t>
            </a:r>
          </a:p>
          <a:p>
            <a:pPr>
              <a:lnSpc>
                <a:spcPct val="90000"/>
              </a:lnSpc>
              <a:defRPr/>
            </a:pPr>
            <a:r>
              <a:rPr lang="en-US" altLang="zh-CN" cap="none" dirty="0">
                <a:solidFill>
                  <a:schemeClr val="tx1"/>
                </a:solidFill>
                <a:latin typeface="+mn-lt"/>
              </a:rPr>
              <a:t>  When all the preferred growth positions (A,B sites) on certain interface are finished, if crystal continues to grow, it is necessary to grow a mass point on the flat surface, thereby providing new preferred growth positions. The mass point that grows on a flat surface is equivalent to a two-dimensional nucleus, which requires a rather high supersaturation. However, in practice many crystals can grow at very low supersaturation.</a:t>
            </a:r>
          </a:p>
          <a:p>
            <a:pPr>
              <a:lnSpc>
                <a:spcPct val="90000"/>
              </a:lnSpc>
              <a:defRPr/>
            </a:pPr>
            <a:endParaRPr lang="en-US" altLang="zh-CN" cap="none" dirty="0">
              <a:solidFill>
                <a:schemeClr val="tx1"/>
              </a:solidFill>
              <a:latin typeface="+mn-lt"/>
            </a:endParaRPr>
          </a:p>
          <a:p>
            <a:pPr>
              <a:lnSpc>
                <a:spcPct val="90000"/>
              </a:lnSpc>
              <a:defRPr/>
            </a:pPr>
            <a:r>
              <a:rPr lang="en-US" altLang="zh-CN" cap="none" dirty="0">
                <a:solidFill>
                  <a:schemeClr val="tx1"/>
                </a:solidFill>
                <a:latin typeface="+mn-lt"/>
              </a:rPr>
              <a:t>  In order to solve the difference between the theoretical model and the reality, </a:t>
            </a:r>
            <a:r>
              <a:rPr lang="en-US" altLang="zh-CN" b="1" cap="none" dirty="0">
                <a:solidFill>
                  <a:srgbClr val="FF0000"/>
                </a:solidFill>
                <a:latin typeface="+mn-lt"/>
              </a:rPr>
              <a:t>the mechanism of screw dislocation growth </a:t>
            </a:r>
            <a:r>
              <a:rPr lang="en-US" altLang="zh-CN" cap="none" dirty="0">
                <a:solidFill>
                  <a:schemeClr val="tx1"/>
                </a:solidFill>
                <a:latin typeface="+mn-lt"/>
              </a:rPr>
              <a:t>was proposed in 1949 by </a:t>
            </a:r>
            <a:r>
              <a:rPr lang="en-US" altLang="zh-CN" b="1" cap="none" dirty="0">
                <a:solidFill>
                  <a:srgbClr val="FF0000"/>
                </a:solidFill>
                <a:latin typeface="+mn-lt"/>
              </a:rPr>
              <a:t>Frank(?)</a:t>
            </a:r>
            <a:r>
              <a:rPr lang="en-US" altLang="zh-CN" cap="none" dirty="0">
                <a:solidFill>
                  <a:schemeClr val="tx1"/>
                </a:solidFill>
                <a:latin typeface="+mn-lt"/>
              </a:rPr>
              <a:t>.</a:t>
            </a:r>
            <a:endParaRPr lang="zh-CN" altLang="en-US" cap="none" dirty="0">
              <a:solidFill>
                <a:schemeClr val="tx1"/>
              </a:solidFill>
              <a:latin typeface="+mn-lt"/>
            </a:endParaRPr>
          </a:p>
        </p:txBody>
      </p:sp>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403646" y="442085"/>
            <a:ext cx="7344818" cy="461665"/>
          </a:xfrm>
          <a:prstGeom prst="rect">
            <a:avLst/>
          </a:prstGeom>
        </p:spPr>
        <p:txBody>
          <a:bodyPr wrap="square">
            <a:spAutoFit/>
          </a:bodyPr>
          <a:lstStyle/>
          <a:p>
            <a:r>
              <a:rPr lang="en-US" altLang="zh-CN" b="1" cap="all"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2</a:t>
            </a:r>
            <a:r>
              <a:rPr lang="zh-CN" altLang="en-US" b="1" cap="all"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a:t>
            </a:r>
            <a:r>
              <a:rPr lang="en-US" altLang="zh-CN" b="1" spc="-60" dirty="0">
                <a:solidFill>
                  <a:srgbClr val="FF0066"/>
                </a:solidFill>
                <a:latin typeface="Arial Black" panose="020B0A04020102020204"/>
                <a:ea typeface="微软雅黑" panose="020B0503020204020204" pitchFamily="34" charset="-122"/>
              </a:rPr>
              <a:t>Screw dislocation growth mechanism</a:t>
            </a:r>
            <a:endParaRPr lang="en-US" sz="2000" dirty="0"/>
          </a:p>
        </p:txBody>
      </p:sp>
      <p:pic>
        <p:nvPicPr>
          <p:cNvPr id="31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999234"/>
            <a:ext cx="3456384" cy="26268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539553" y="3626086"/>
            <a:ext cx="3672407" cy="707886"/>
          </a:xfrm>
          <a:prstGeom prst="rect">
            <a:avLst/>
          </a:prstGeom>
          <a:noFill/>
        </p:spPr>
        <p:txBody>
          <a:bodyPr wrap="square" rtlCol="0">
            <a:spAutoFit/>
          </a:bodyPr>
          <a:lstStyle/>
          <a:p>
            <a:pPr algn="ctr"/>
            <a:r>
              <a:rPr lang="en-US" altLang="zh-CN" sz="2000" dirty="0"/>
              <a:t>Schematic diagram of </a:t>
            </a:r>
            <a:r>
              <a:rPr lang="en-US" altLang="zh-CN" sz="2000" b="1" dirty="0">
                <a:solidFill>
                  <a:srgbClr val="FF0000"/>
                </a:solidFill>
              </a:rPr>
              <a:t>screw dislocation formation</a:t>
            </a:r>
            <a:endParaRPr lang="en-US" sz="2000" b="1" dirty="0">
              <a:solidFill>
                <a:srgbClr val="FF0000"/>
              </a:solidFill>
            </a:endParaRPr>
          </a:p>
        </p:txBody>
      </p:sp>
      <p:grpSp>
        <p:nvGrpSpPr>
          <p:cNvPr id="11" name="Group 10"/>
          <p:cNvGrpSpPr/>
          <p:nvPr/>
        </p:nvGrpSpPr>
        <p:grpSpPr>
          <a:xfrm>
            <a:off x="4211960" y="1011866"/>
            <a:ext cx="4494048" cy="3322106"/>
            <a:chOff x="4355976" y="1011866"/>
            <a:chExt cx="4494048" cy="3322106"/>
          </a:xfrm>
        </p:grpSpPr>
        <p:sp>
          <p:nvSpPr>
            <p:cNvPr id="3" name="TextBox 2"/>
            <p:cNvSpPr txBox="1"/>
            <p:nvPr/>
          </p:nvSpPr>
          <p:spPr>
            <a:xfrm>
              <a:off x="5160966" y="3626086"/>
              <a:ext cx="3689058" cy="707886"/>
            </a:xfrm>
            <a:prstGeom prst="rect">
              <a:avLst/>
            </a:prstGeom>
            <a:noFill/>
          </p:spPr>
          <p:txBody>
            <a:bodyPr wrap="square" rtlCol="0">
              <a:spAutoFit/>
            </a:bodyPr>
            <a:lstStyle/>
            <a:p>
              <a:r>
                <a:rPr lang="en-US" altLang="zh-CN" sz="2000" dirty="0"/>
                <a:t>The screw dislocation forms </a:t>
              </a:r>
              <a:r>
                <a:rPr lang="en-US" altLang="zh-CN" sz="2000" b="1" dirty="0">
                  <a:solidFill>
                    <a:srgbClr val="FF0000"/>
                  </a:solidFill>
                </a:rPr>
                <a:t>a step source</a:t>
              </a:r>
              <a:r>
                <a:rPr lang="en-US" altLang="zh-CN" sz="2000" dirty="0"/>
                <a:t> on the crystal plane</a:t>
              </a:r>
              <a:endParaRPr lang="en-US" sz="2000" dirty="0"/>
            </a:p>
          </p:txBody>
        </p:sp>
        <p:pic>
          <p:nvPicPr>
            <p:cNvPr id="8" name="Picture 2" descr="msotw9_temp0"/>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6796" r="3796"/>
            <a:stretch>
              <a:fillRect/>
            </a:stretch>
          </p:blipFill>
          <p:spPr>
            <a:xfrm>
              <a:off x="5176695" y="1011866"/>
              <a:ext cx="3657600" cy="23383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Right Arrow 4"/>
            <p:cNvSpPr/>
            <p:nvPr/>
          </p:nvSpPr>
          <p:spPr>
            <a:xfrm>
              <a:off x="4355976" y="1965717"/>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p:cNvSpPr/>
          <p:nvPr/>
        </p:nvSpPr>
        <p:spPr>
          <a:xfrm>
            <a:off x="899592" y="4581128"/>
            <a:ext cx="7632847" cy="1938992"/>
          </a:xfrm>
          <a:prstGeom prst="rect">
            <a:avLst/>
          </a:prstGeom>
        </p:spPr>
        <p:txBody>
          <a:bodyPr wrap="square">
            <a:spAutoFit/>
          </a:bodyPr>
          <a:lstStyle/>
          <a:p>
            <a:r>
              <a:rPr lang="en-US" altLang="zh-CN" sz="2000" dirty="0"/>
              <a:t>The three side concave position A and the two side concave along line AB locating at the screw dislocation on the crystal growth interface can work as a step source for crystal growth and plays a catalytic role for the flat growth. The step source never disappears, so there is no need to form a two-dimensional nuclear, so that the crystal growth phenomena in a very low supersaturation can be successfully explained .</a:t>
            </a:r>
            <a:endParaRPr lang="zh-CN" altLang="en-US" sz="2000" dirty="0"/>
          </a:p>
        </p:txBody>
      </p:sp>
      <p:grpSp>
        <p:nvGrpSpPr>
          <p:cNvPr id="6" name="组合 5">
            <a:extLst>
              <a:ext uri="{FF2B5EF4-FFF2-40B4-BE49-F238E27FC236}">
                <a16:creationId xmlns:a16="http://schemas.microsoft.com/office/drawing/2014/main" id="{AC8E82A0-849C-451D-AE49-7DBBD81C86D5}"/>
              </a:ext>
            </a:extLst>
          </p:cNvPr>
          <p:cNvGrpSpPr/>
          <p:nvPr/>
        </p:nvGrpSpPr>
        <p:grpSpPr>
          <a:xfrm>
            <a:off x="5006231" y="889306"/>
            <a:ext cx="2054639" cy="1185383"/>
            <a:chOff x="5006231" y="889306"/>
            <a:chExt cx="2054639" cy="1185383"/>
          </a:xfrm>
        </p:grpSpPr>
        <p:sp>
          <p:nvSpPr>
            <p:cNvPr id="4" name="Rectangle 3"/>
            <p:cNvSpPr/>
            <p:nvPr/>
          </p:nvSpPr>
          <p:spPr>
            <a:xfrm>
              <a:off x="5006231" y="889306"/>
              <a:ext cx="1735668" cy="461665"/>
            </a:xfrm>
            <a:prstGeom prst="rect">
              <a:avLst/>
            </a:prstGeom>
            <a:solidFill>
              <a:schemeClr val="bg2"/>
            </a:solidFill>
          </p:spPr>
          <p:txBody>
            <a:bodyPr wrap="none">
              <a:spAutoFit/>
            </a:bodyPr>
            <a:lstStyle/>
            <a:p>
              <a:r>
                <a:rPr lang="en-US" altLang="zh-CN" b="1" dirty="0">
                  <a:solidFill>
                    <a:srgbClr val="FF0000"/>
                  </a:solidFill>
                </a:rPr>
                <a:t>Type A sites</a:t>
              </a:r>
              <a:endParaRPr lang="en-US" dirty="0"/>
            </a:p>
          </p:txBody>
        </p:sp>
        <p:cxnSp>
          <p:nvCxnSpPr>
            <p:cNvPr id="9" name="Straight Arrow Connector 8"/>
            <p:cNvCxnSpPr>
              <a:cxnSpLocks/>
            </p:cNvCxnSpPr>
            <p:nvPr/>
          </p:nvCxnSpPr>
          <p:spPr>
            <a:xfrm>
              <a:off x="6228184" y="1402955"/>
              <a:ext cx="832686" cy="38866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a:off x="6211101" y="1402955"/>
              <a:ext cx="389485" cy="67173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5984C9C4-CD02-4F1C-B0B2-5CEDC011D634}"/>
              </a:ext>
            </a:extLst>
          </p:cNvPr>
          <p:cNvGrpSpPr/>
          <p:nvPr/>
        </p:nvGrpSpPr>
        <p:grpSpPr>
          <a:xfrm>
            <a:off x="6455756" y="1745827"/>
            <a:ext cx="695191" cy="466777"/>
            <a:chOff x="6455756" y="1745827"/>
            <a:chExt cx="695191" cy="466777"/>
          </a:xfrm>
        </p:grpSpPr>
        <p:grpSp>
          <p:nvGrpSpPr>
            <p:cNvPr id="30" name="组合 29">
              <a:extLst>
                <a:ext uri="{FF2B5EF4-FFF2-40B4-BE49-F238E27FC236}">
                  <a16:creationId xmlns:a16="http://schemas.microsoft.com/office/drawing/2014/main" id="{D8420408-F803-48E3-974D-D772E4770432}"/>
                </a:ext>
              </a:extLst>
            </p:cNvPr>
            <p:cNvGrpSpPr/>
            <p:nvPr/>
          </p:nvGrpSpPr>
          <p:grpSpPr>
            <a:xfrm>
              <a:off x="6455756" y="1988840"/>
              <a:ext cx="204476" cy="223764"/>
              <a:chOff x="6455756" y="1988840"/>
              <a:chExt cx="204476" cy="223764"/>
            </a:xfrm>
          </p:grpSpPr>
          <p:grpSp>
            <p:nvGrpSpPr>
              <p:cNvPr id="21" name="组合 20">
                <a:extLst>
                  <a:ext uri="{FF2B5EF4-FFF2-40B4-BE49-F238E27FC236}">
                    <a16:creationId xmlns:a16="http://schemas.microsoft.com/office/drawing/2014/main" id="{6659207F-39FB-4415-A863-46B1DD748DCA}"/>
                  </a:ext>
                </a:extLst>
              </p:cNvPr>
              <p:cNvGrpSpPr/>
              <p:nvPr/>
            </p:nvGrpSpPr>
            <p:grpSpPr>
              <a:xfrm>
                <a:off x="6455756" y="2068729"/>
                <a:ext cx="156377" cy="143875"/>
                <a:chOff x="8679027" y="3209312"/>
                <a:chExt cx="156377" cy="143875"/>
              </a:xfrm>
            </p:grpSpPr>
            <p:cxnSp>
              <p:nvCxnSpPr>
                <p:cNvPr id="13" name="直接连接符 12">
                  <a:extLst>
                    <a:ext uri="{FF2B5EF4-FFF2-40B4-BE49-F238E27FC236}">
                      <a16:creationId xmlns:a16="http://schemas.microsoft.com/office/drawing/2014/main" id="{20AECDAB-1517-4C2E-B4CD-4CF3229E0405}"/>
                    </a:ext>
                  </a:extLst>
                </p:cNvPr>
                <p:cNvCxnSpPr>
                  <a:cxnSpLocks/>
                </p:cNvCxnSpPr>
                <p:nvPr/>
              </p:nvCxnSpPr>
              <p:spPr>
                <a:xfrm>
                  <a:off x="8679027" y="3212976"/>
                  <a:ext cx="156377" cy="0"/>
                </a:xfrm>
                <a:prstGeom prst="line">
                  <a:avLst/>
                </a:prstGeom>
                <a:ln>
                  <a:prstDash val="sysDash"/>
                </a:ln>
              </p:spPr>
              <p:style>
                <a:lnRef idx="1">
                  <a:schemeClr val="accent5"/>
                </a:lnRef>
                <a:fillRef idx="0">
                  <a:schemeClr val="accent5"/>
                </a:fillRef>
                <a:effectRef idx="0">
                  <a:schemeClr val="accent5"/>
                </a:effectRef>
                <a:fontRef idx="minor">
                  <a:schemeClr val="tx1"/>
                </a:fontRef>
              </p:style>
            </p:cxnSp>
            <p:cxnSp>
              <p:nvCxnSpPr>
                <p:cNvPr id="16" name="直接连接符 15">
                  <a:extLst>
                    <a:ext uri="{FF2B5EF4-FFF2-40B4-BE49-F238E27FC236}">
                      <a16:creationId xmlns:a16="http://schemas.microsoft.com/office/drawing/2014/main" id="{11EA0704-1439-4C9E-8578-630D70A22A65}"/>
                    </a:ext>
                  </a:extLst>
                </p:cNvPr>
                <p:cNvCxnSpPr>
                  <a:cxnSpLocks/>
                </p:cNvCxnSpPr>
                <p:nvPr/>
              </p:nvCxnSpPr>
              <p:spPr>
                <a:xfrm>
                  <a:off x="8831740" y="3209312"/>
                  <a:ext cx="0" cy="143875"/>
                </a:xfrm>
                <a:prstGeom prst="line">
                  <a:avLst/>
                </a:prstGeom>
                <a:ln>
                  <a:prstDash val="sysDash"/>
                </a:ln>
              </p:spPr>
              <p:style>
                <a:lnRef idx="1">
                  <a:schemeClr val="accent5"/>
                </a:lnRef>
                <a:fillRef idx="0">
                  <a:schemeClr val="accent5"/>
                </a:fillRef>
                <a:effectRef idx="0">
                  <a:schemeClr val="accent5"/>
                </a:effectRef>
                <a:fontRef idx="minor">
                  <a:schemeClr val="tx1"/>
                </a:fontRef>
              </p:style>
            </p:cxnSp>
          </p:grpSp>
          <p:cxnSp>
            <p:nvCxnSpPr>
              <p:cNvPr id="29" name="直接连接符 28">
                <a:extLst>
                  <a:ext uri="{FF2B5EF4-FFF2-40B4-BE49-F238E27FC236}">
                    <a16:creationId xmlns:a16="http://schemas.microsoft.com/office/drawing/2014/main" id="{7225F16F-C601-4755-92DA-9725BA827E85}"/>
                  </a:ext>
                </a:extLst>
              </p:cNvPr>
              <p:cNvCxnSpPr>
                <a:cxnSpLocks/>
              </p:cNvCxnSpPr>
              <p:nvPr/>
            </p:nvCxnSpPr>
            <p:spPr>
              <a:xfrm flipH="1">
                <a:off x="6606747" y="1988840"/>
                <a:ext cx="53485" cy="79889"/>
              </a:xfrm>
              <a:prstGeom prst="line">
                <a:avLst/>
              </a:prstGeom>
              <a:ln>
                <a:prstDash val="sysDash"/>
              </a:ln>
            </p:spPr>
            <p:style>
              <a:lnRef idx="1">
                <a:schemeClr val="accent5"/>
              </a:lnRef>
              <a:fillRef idx="0">
                <a:schemeClr val="accent5"/>
              </a:fillRef>
              <a:effectRef idx="0">
                <a:schemeClr val="accent5"/>
              </a:effectRef>
              <a:fontRef idx="minor">
                <a:schemeClr val="tx1"/>
              </a:fontRef>
            </p:style>
          </p:cxnSp>
        </p:grpSp>
        <p:grpSp>
          <p:nvGrpSpPr>
            <p:cNvPr id="33" name="组合 32">
              <a:extLst>
                <a:ext uri="{FF2B5EF4-FFF2-40B4-BE49-F238E27FC236}">
                  <a16:creationId xmlns:a16="http://schemas.microsoft.com/office/drawing/2014/main" id="{D44953F8-3086-45BB-853E-2C7F0BBC4CFA}"/>
                </a:ext>
              </a:extLst>
            </p:cNvPr>
            <p:cNvGrpSpPr/>
            <p:nvPr/>
          </p:nvGrpSpPr>
          <p:grpSpPr>
            <a:xfrm>
              <a:off x="6876256" y="1745827"/>
              <a:ext cx="274691" cy="165842"/>
              <a:chOff x="6876256" y="1745827"/>
              <a:chExt cx="274691" cy="165842"/>
            </a:xfrm>
          </p:grpSpPr>
          <p:grpSp>
            <p:nvGrpSpPr>
              <p:cNvPr id="25" name="组合 24">
                <a:extLst>
                  <a:ext uri="{FF2B5EF4-FFF2-40B4-BE49-F238E27FC236}">
                    <a16:creationId xmlns:a16="http://schemas.microsoft.com/office/drawing/2014/main" id="{39D169C0-4872-4760-B57F-A274DED3111C}"/>
                  </a:ext>
                </a:extLst>
              </p:cNvPr>
              <p:cNvGrpSpPr/>
              <p:nvPr/>
            </p:nvGrpSpPr>
            <p:grpSpPr>
              <a:xfrm>
                <a:off x="6876256" y="1767794"/>
                <a:ext cx="193776" cy="143875"/>
                <a:chOff x="8647126" y="3209312"/>
                <a:chExt cx="193776" cy="143875"/>
              </a:xfrm>
            </p:grpSpPr>
            <p:cxnSp>
              <p:nvCxnSpPr>
                <p:cNvPr id="26" name="直接连接符 25">
                  <a:extLst>
                    <a:ext uri="{FF2B5EF4-FFF2-40B4-BE49-F238E27FC236}">
                      <a16:creationId xmlns:a16="http://schemas.microsoft.com/office/drawing/2014/main" id="{C7EE4892-2A40-4764-BF9B-E444FE54FCAF}"/>
                    </a:ext>
                  </a:extLst>
                </p:cNvPr>
                <p:cNvCxnSpPr>
                  <a:cxnSpLocks/>
                </p:cNvCxnSpPr>
                <p:nvPr/>
              </p:nvCxnSpPr>
              <p:spPr>
                <a:xfrm>
                  <a:off x="8647126" y="3233133"/>
                  <a:ext cx="193776" cy="0"/>
                </a:xfrm>
                <a:prstGeom prst="line">
                  <a:avLst/>
                </a:prstGeom>
                <a:ln>
                  <a:prstDash val="sysDash"/>
                </a:ln>
              </p:spPr>
              <p:style>
                <a:lnRef idx="1">
                  <a:schemeClr val="accent5"/>
                </a:lnRef>
                <a:fillRef idx="0">
                  <a:schemeClr val="accent5"/>
                </a:fillRef>
                <a:effectRef idx="0">
                  <a:schemeClr val="accent5"/>
                </a:effectRef>
                <a:fontRef idx="minor">
                  <a:schemeClr val="tx1"/>
                </a:fontRef>
              </p:style>
            </p:cxnSp>
            <p:cxnSp>
              <p:nvCxnSpPr>
                <p:cNvPr id="27" name="直接连接符 26">
                  <a:extLst>
                    <a:ext uri="{FF2B5EF4-FFF2-40B4-BE49-F238E27FC236}">
                      <a16:creationId xmlns:a16="http://schemas.microsoft.com/office/drawing/2014/main" id="{5ADF8FBD-53F2-409A-A28C-C05C7FA5D93F}"/>
                    </a:ext>
                  </a:extLst>
                </p:cNvPr>
                <p:cNvCxnSpPr>
                  <a:cxnSpLocks/>
                </p:cNvCxnSpPr>
                <p:nvPr/>
              </p:nvCxnSpPr>
              <p:spPr>
                <a:xfrm>
                  <a:off x="8831740" y="3209312"/>
                  <a:ext cx="0" cy="143875"/>
                </a:xfrm>
                <a:prstGeom prst="line">
                  <a:avLst/>
                </a:prstGeom>
                <a:ln>
                  <a:prstDash val="sysDash"/>
                </a:ln>
              </p:spPr>
              <p:style>
                <a:lnRef idx="1">
                  <a:schemeClr val="accent5"/>
                </a:lnRef>
                <a:fillRef idx="0">
                  <a:schemeClr val="accent5"/>
                </a:fillRef>
                <a:effectRef idx="0">
                  <a:schemeClr val="accent5"/>
                </a:effectRef>
                <a:fontRef idx="minor">
                  <a:schemeClr val="tx1"/>
                </a:fontRef>
              </p:style>
            </p:cxnSp>
          </p:grpSp>
          <p:cxnSp>
            <p:nvCxnSpPr>
              <p:cNvPr id="32" name="直接连接符 31">
                <a:extLst>
                  <a:ext uri="{FF2B5EF4-FFF2-40B4-BE49-F238E27FC236}">
                    <a16:creationId xmlns:a16="http://schemas.microsoft.com/office/drawing/2014/main" id="{4E4B7518-8E3C-4BC0-9FE1-27EB0EC3D92B}"/>
                  </a:ext>
                </a:extLst>
              </p:cNvPr>
              <p:cNvCxnSpPr>
                <a:cxnSpLocks/>
              </p:cNvCxnSpPr>
              <p:nvPr/>
            </p:nvCxnSpPr>
            <p:spPr>
              <a:xfrm flipH="1">
                <a:off x="7067338" y="1745827"/>
                <a:ext cx="83609" cy="45788"/>
              </a:xfrm>
              <a:prstGeom prst="line">
                <a:avLst/>
              </a:prstGeom>
              <a:ln>
                <a:prstDash val="sysDash"/>
              </a:ln>
            </p:spPr>
            <p:style>
              <a:lnRef idx="1">
                <a:schemeClr val="accent5"/>
              </a:lnRef>
              <a:fillRef idx="0">
                <a:schemeClr val="accent5"/>
              </a:fillRef>
              <a:effectRef idx="0">
                <a:schemeClr val="accent5"/>
              </a:effectRef>
              <a:fontRef idx="minor">
                <a:schemeClr val="tx1"/>
              </a:fontRef>
            </p:style>
          </p:cxnSp>
        </p:gr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barn(inVertical)">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1750"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291" y="1268762"/>
            <a:ext cx="2016224" cy="1512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75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2116" y="1268761"/>
            <a:ext cx="2016224" cy="15121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753" name="Picture 9" descr="http://amuseum.cdstm.cn/AMuseum/crystal/image/c4/4303_3.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83677" y="1268760"/>
            <a:ext cx="2016225" cy="1512169"/>
          </a:xfrm>
          <a:prstGeom prst="rect">
            <a:avLst/>
          </a:prstGeom>
          <a:noFill/>
          <a:extLst>
            <a:ext uri="{909E8E84-426E-40DD-AFC4-6F175D3DCCD1}">
              <a14:hiddenFill xmlns:a14="http://schemas.microsoft.com/office/drawing/2010/main">
                <a:solidFill>
                  <a:srgbClr val="FFFFFF"/>
                </a:solidFill>
              </a14:hiddenFill>
            </a:ext>
          </a:extLst>
        </p:spPr>
      </p:pic>
      <p:pic>
        <p:nvPicPr>
          <p:cNvPr id="31754" name="Picture 1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30011" y="1268762"/>
            <a:ext cx="2016224" cy="1512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 Box 3"/>
          <p:cNvSpPr txBox="1">
            <a:spLocks noChangeArrowheads="1"/>
          </p:cNvSpPr>
          <p:nvPr/>
        </p:nvSpPr>
        <p:spPr bwMode="auto">
          <a:xfrm>
            <a:off x="2015044" y="669965"/>
            <a:ext cx="50934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b="1" dirty="0">
                <a:effectLst>
                  <a:outerShdw blurRad="38100" dist="38100" dir="2700000" algn="tl">
                    <a:srgbClr val="000000">
                      <a:alpha val="43137"/>
                    </a:srgbClr>
                  </a:outerShdw>
                </a:effectLst>
                <a:latin typeface="Tahoma" panose="020B0604030504040204" pitchFamily="34" charset="0"/>
              </a:rPr>
              <a:t>Screw growth model of crystal</a:t>
            </a:r>
            <a:endParaRPr lang="zh-CN" altLang="en-US" sz="2800" b="1" cap="all"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endParaRPr>
          </a:p>
        </p:txBody>
      </p:sp>
      <p:cxnSp>
        <p:nvCxnSpPr>
          <p:cNvPr id="9" name="Straight Arrow Connector 8"/>
          <p:cNvCxnSpPr/>
          <p:nvPr/>
        </p:nvCxnSpPr>
        <p:spPr>
          <a:xfrm>
            <a:off x="1861459" y="3284984"/>
            <a:ext cx="5400600" cy="0"/>
          </a:xfrm>
          <a:prstGeom prst="straightConnector1">
            <a:avLst/>
          </a:prstGeom>
          <a:ln w="76200">
            <a:prstDash val="dash"/>
            <a:tailEnd type="arrow"/>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349291" y="3501008"/>
            <a:ext cx="8629329" cy="1323439"/>
          </a:xfrm>
          <a:prstGeom prst="rect">
            <a:avLst/>
          </a:prstGeom>
        </p:spPr>
        <p:txBody>
          <a:bodyPr wrap="square">
            <a:spAutoFit/>
          </a:bodyPr>
          <a:lstStyle/>
          <a:p>
            <a:r>
              <a:rPr lang="en-US" altLang="zh-CN" sz="2000" dirty="0"/>
              <a:t>In screw growth, </a:t>
            </a:r>
            <a:r>
              <a:rPr lang="en-US" altLang="zh-CN" sz="2000" dirty="0">
                <a:solidFill>
                  <a:srgbClr val="FF0000"/>
                </a:solidFill>
              </a:rPr>
              <a:t>the dislocation point in the crystal is the step source of crystal growth</a:t>
            </a:r>
            <a:r>
              <a:rPr lang="en-US" altLang="zh-CN" sz="2000" dirty="0"/>
              <a:t>, and the growth form is different from the step type growth. As shown below, the simulation of spiral growth shows that, as crystals grow, spiral dislocations appear, and spiral dislocations continue to move forward.</a:t>
            </a:r>
            <a:endParaRPr lang="en-US" sz="2000" dirty="0"/>
          </a:p>
        </p:txBody>
      </p:sp>
      <p:sp>
        <p:nvSpPr>
          <p:cNvPr id="6" name="Rectangle 5"/>
          <p:cNvSpPr/>
          <p:nvPr/>
        </p:nvSpPr>
        <p:spPr>
          <a:xfrm>
            <a:off x="1538561" y="5085184"/>
            <a:ext cx="6307432" cy="523220"/>
          </a:xfrm>
          <a:prstGeom prst="rect">
            <a:avLst/>
          </a:prstGeom>
        </p:spPr>
        <p:txBody>
          <a:bodyPr wrap="none">
            <a:spAutoFit/>
          </a:bodyPr>
          <a:lstStyle/>
          <a:p>
            <a:r>
              <a:rPr lang="en-US" altLang="zh-CN" sz="2800" b="1"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Screw growth simulation (video)</a:t>
            </a:r>
            <a:endParaRPr lang="en-US" sz="2800" b="1"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endParaRPr>
          </a:p>
        </p:txBody>
      </p:sp>
    </p:spTree>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28807" y="476672"/>
            <a:ext cx="3831625" cy="57439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3880" y="381225"/>
            <a:ext cx="4042792" cy="687288"/>
          </a:xfrm>
        </p:spPr>
        <p:txBody>
          <a:bodyPr>
            <a:normAutofit/>
          </a:bodyPr>
          <a:lstStyle/>
          <a:p>
            <a:r>
              <a:rPr lang="en-US" altLang="zh-CN" dirty="0"/>
              <a:t>Examples </a:t>
            </a:r>
            <a:endParaRPr lang="en-US" dirty="0"/>
          </a:p>
        </p:txBody>
      </p:sp>
      <p:pic>
        <p:nvPicPr>
          <p:cNvPr id="788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249" y="1268760"/>
            <a:ext cx="2359321" cy="18033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294704" y="3356992"/>
            <a:ext cx="1662635" cy="461665"/>
          </a:xfrm>
          <a:prstGeom prst="rect">
            <a:avLst/>
          </a:prstGeom>
          <a:noFill/>
        </p:spPr>
        <p:txBody>
          <a:bodyPr wrap="none" rtlCol="0">
            <a:spAutoFit/>
          </a:bodyPr>
          <a:lstStyle/>
          <a:p>
            <a:r>
              <a:rPr lang="en-US" altLang="zh-CN" dirty="0" err="1"/>
              <a:t>SiC</a:t>
            </a:r>
            <a:r>
              <a:rPr lang="en-US" altLang="zh-CN" dirty="0"/>
              <a:t> crystals</a:t>
            </a:r>
            <a:endParaRPr lang="en-US" dirty="0"/>
          </a:p>
        </p:txBody>
      </p:sp>
      <p:pic>
        <p:nvPicPr>
          <p:cNvPr id="788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50168" y="724869"/>
            <a:ext cx="3364276"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5220072" y="5758931"/>
            <a:ext cx="2738250" cy="461665"/>
          </a:xfrm>
          <a:prstGeom prst="rect">
            <a:avLst/>
          </a:prstGeom>
          <a:noFill/>
        </p:spPr>
        <p:txBody>
          <a:bodyPr wrap="none" rtlCol="0">
            <a:spAutoFit/>
          </a:bodyPr>
          <a:lstStyle/>
          <a:p>
            <a:r>
              <a:rPr lang="en-US" altLang="zh-CN" dirty="0"/>
              <a:t>ZnO microstructures</a:t>
            </a:r>
            <a:endParaRPr lang="en-US" dirty="0"/>
          </a:p>
        </p:txBody>
      </p:sp>
      <p:pic>
        <p:nvPicPr>
          <p:cNvPr id="788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0168" y="3216532"/>
            <a:ext cx="3364276" cy="2334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9316" y="3879665"/>
            <a:ext cx="1752600" cy="1879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5"/>
          <p:cNvSpPr>
            <a:spLocks noChangeArrowheads="1"/>
          </p:cNvSpPr>
          <p:nvPr/>
        </p:nvSpPr>
        <p:spPr bwMode="auto">
          <a:xfrm>
            <a:off x="580776" y="6006479"/>
            <a:ext cx="34290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80000"/>
              </a:lnSpc>
            </a:pPr>
            <a:r>
              <a:rPr lang="en-US" altLang="zh-CN" dirty="0"/>
              <a:t>Graphite</a:t>
            </a:r>
            <a:endParaRPr lang="zh-CN" altLang="en-US" dirty="0"/>
          </a:p>
        </p:txBody>
      </p:sp>
      <p:pic>
        <p:nvPicPr>
          <p:cNvPr id="12"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l="9442" t="7048" r="9401" b="6636"/>
          <a:stretch>
            <a:fillRect/>
          </a:stretch>
        </p:blipFill>
        <p:spPr bwMode="auto">
          <a:xfrm>
            <a:off x="2065910" y="3881129"/>
            <a:ext cx="2115833" cy="1877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7784" y="1628800"/>
            <a:ext cx="2358464" cy="176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258420" y="6401557"/>
            <a:ext cx="5347233" cy="461665"/>
          </a:xfrm>
          <a:prstGeom prst="rect">
            <a:avLst/>
          </a:prstGeom>
          <a:noFill/>
        </p:spPr>
        <p:txBody>
          <a:bodyPr wrap="none" rtlCol="0">
            <a:spAutoFit/>
          </a:bodyPr>
          <a:lstStyle/>
          <a:p>
            <a:r>
              <a:rPr lang="en-US" b="1" dirty="0">
                <a:solidFill>
                  <a:srgbClr val="FF0000"/>
                </a:solidFill>
              </a:rPr>
              <a:t>MP: find three videos of screw growth?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2160796" y="274585"/>
            <a:ext cx="5112570" cy="830997"/>
          </a:xfrm>
          <a:prstGeom prst="rect">
            <a:avLst/>
          </a:prstGeom>
        </p:spPr>
        <p:txBody>
          <a:bodyPr wrap="square">
            <a:spAutoFit/>
          </a:bodyPr>
          <a:lstStyle/>
          <a:p>
            <a:pPr algn="ctr"/>
            <a:r>
              <a:rPr lang="en-US" altLang="zh-CN" dirty="0"/>
              <a:t>ZnO</a:t>
            </a:r>
            <a:r>
              <a:rPr lang="zh-CN" altLang="en-US" dirty="0"/>
              <a:t> </a:t>
            </a:r>
            <a:r>
              <a:rPr lang="en-US" altLang="zh-CN" dirty="0"/>
              <a:t>microcrystals by different </a:t>
            </a:r>
          </a:p>
          <a:p>
            <a:pPr algn="ctr"/>
            <a:r>
              <a:rPr lang="en-US" altLang="zh-CN" dirty="0"/>
              <a:t>growth mechanisms</a:t>
            </a:r>
            <a:endParaRPr lang="en-US" dirty="0"/>
          </a:p>
        </p:txBody>
      </p:sp>
      <p:pic>
        <p:nvPicPr>
          <p:cNvPr id="778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407" y="1124744"/>
            <a:ext cx="7539894"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55114" y="5661248"/>
            <a:ext cx="8892480" cy="461665"/>
          </a:xfrm>
          <a:prstGeom prst="rect">
            <a:avLst/>
          </a:prstGeom>
        </p:spPr>
        <p:txBody>
          <a:bodyPr wrap="square">
            <a:spAutoFit/>
          </a:bodyPr>
          <a:lstStyle/>
          <a:p>
            <a:r>
              <a:rPr lang="en-US" dirty="0"/>
              <a:t>N. Wang et al. / Materials Science and Engineering R 60 (2008) 1–51</a:t>
            </a:r>
          </a:p>
        </p:txBody>
      </p:sp>
      <p:sp>
        <p:nvSpPr>
          <p:cNvPr id="6" name="Rectangle 5"/>
          <p:cNvSpPr/>
          <p:nvPr/>
        </p:nvSpPr>
        <p:spPr>
          <a:xfrm>
            <a:off x="4752021" y="1124744"/>
            <a:ext cx="1908211" cy="4464496"/>
          </a:xfrm>
          <a:prstGeom prst="rect">
            <a:avLst/>
          </a:prstGeom>
          <a:noFill/>
          <a:ln w="76200">
            <a:solidFill>
              <a:srgbClr val="FF0066">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0" y="1610"/>
            <a:ext cx="2706190" cy="461665"/>
          </a:xfrm>
          <a:prstGeom prst="rect">
            <a:avLst/>
          </a:prstGeom>
          <a:solidFill>
            <a:schemeClr val="tx2">
              <a:lumMod val="20000"/>
              <a:lumOff val="80000"/>
            </a:schemeClr>
          </a:solidFill>
        </p:spPr>
        <p:txBody>
          <a:bodyPr wrap="none">
            <a:spAutoFit/>
          </a:bodyPr>
          <a:lstStyle/>
          <a:p>
            <a:r>
              <a:rPr lang="en-US" b="1" dirty="0"/>
              <a:t>Expansive learning</a:t>
            </a:r>
          </a:p>
        </p:txBody>
      </p:sp>
    </p:spTree>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772816"/>
            <a:ext cx="4724400" cy="410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le 3"/>
          <p:cNvSpPr>
            <a:spLocks noGrp="1"/>
          </p:cNvSpPr>
          <p:nvPr>
            <p:ph type="title"/>
          </p:nvPr>
        </p:nvSpPr>
        <p:spPr>
          <a:xfrm>
            <a:off x="457200" y="152400"/>
            <a:ext cx="8291264" cy="1371600"/>
          </a:xfrm>
        </p:spPr>
        <p:txBody>
          <a:bodyPr>
            <a:noAutofit/>
          </a:bodyPr>
          <a:lstStyle/>
          <a:p>
            <a:r>
              <a:rPr lang="en-US" sz="2800" dirty="0"/>
              <a:t>Direct Observation of Vapor−Liquid−Solid Nanowire Growth</a:t>
            </a:r>
          </a:p>
        </p:txBody>
      </p:sp>
      <p:sp>
        <p:nvSpPr>
          <p:cNvPr id="5" name="Rectangle 4"/>
          <p:cNvSpPr/>
          <p:nvPr/>
        </p:nvSpPr>
        <p:spPr>
          <a:xfrm>
            <a:off x="1331640" y="6161964"/>
            <a:ext cx="6821760" cy="461665"/>
          </a:xfrm>
          <a:prstGeom prst="rect">
            <a:avLst/>
          </a:prstGeom>
        </p:spPr>
        <p:txBody>
          <a:bodyPr wrap="square">
            <a:spAutoFit/>
          </a:bodyPr>
          <a:lstStyle/>
          <a:p>
            <a:r>
              <a:rPr lang="de-DE" i="1" dirty="0"/>
              <a:t>J. Am. Chem. Soc.</a:t>
            </a:r>
            <a:r>
              <a:rPr lang="de-DE" dirty="0"/>
              <a:t>, </a:t>
            </a:r>
            <a:r>
              <a:rPr lang="de-DE" b="1" dirty="0"/>
              <a:t>2001</a:t>
            </a:r>
            <a:r>
              <a:rPr lang="de-DE" dirty="0"/>
              <a:t>, </a:t>
            </a:r>
            <a:r>
              <a:rPr lang="de-DE" i="1" dirty="0"/>
              <a:t>123</a:t>
            </a:r>
            <a:r>
              <a:rPr lang="de-DE" dirty="0"/>
              <a:t> (13), pp 3165–3166</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Freeform 58"/>
          <p:cNvSpPr/>
          <p:nvPr/>
        </p:nvSpPr>
        <p:spPr>
          <a:xfrm>
            <a:off x="6101340" y="2646833"/>
            <a:ext cx="786235" cy="705549"/>
          </a:xfrm>
          <a:custGeom>
            <a:avLst/>
            <a:gdLst>
              <a:gd name="connsiteX0" fmla="*/ 0 w 600501"/>
              <a:gd name="connsiteY0" fmla="*/ 27296 h 805218"/>
              <a:gd name="connsiteX1" fmla="*/ 450376 w 600501"/>
              <a:gd name="connsiteY1" fmla="*/ 0 h 805218"/>
              <a:gd name="connsiteX2" fmla="*/ 600501 w 600501"/>
              <a:gd name="connsiteY2" fmla="*/ 464024 h 805218"/>
              <a:gd name="connsiteX3" fmla="*/ 245659 w 600501"/>
              <a:gd name="connsiteY3" fmla="*/ 805218 h 805218"/>
              <a:gd name="connsiteX4" fmla="*/ 54591 w 600501"/>
              <a:gd name="connsiteY4" fmla="*/ 395785 h 805218"/>
              <a:gd name="connsiteX5" fmla="*/ 68238 w 600501"/>
              <a:gd name="connsiteY5" fmla="*/ 13648 h 80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501" h="805218">
                <a:moveTo>
                  <a:pt x="0" y="27296"/>
                </a:moveTo>
                <a:lnTo>
                  <a:pt x="450376" y="0"/>
                </a:lnTo>
                <a:lnTo>
                  <a:pt x="600501" y="464024"/>
                </a:lnTo>
                <a:lnTo>
                  <a:pt x="245659" y="805218"/>
                </a:lnTo>
                <a:lnTo>
                  <a:pt x="54591" y="395785"/>
                </a:lnTo>
                <a:lnTo>
                  <a:pt x="68238" y="13648"/>
                </a:lnTo>
              </a:path>
            </a:pathLst>
          </a:cu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2" name="Title 1"/>
          <p:cNvSpPr>
            <a:spLocks noGrp="1"/>
          </p:cNvSpPr>
          <p:nvPr>
            <p:ph type="title"/>
          </p:nvPr>
        </p:nvSpPr>
        <p:spPr>
          <a:xfrm>
            <a:off x="457200" y="152400"/>
            <a:ext cx="8363272" cy="1371600"/>
          </a:xfrm>
        </p:spPr>
        <p:txBody>
          <a:bodyPr>
            <a:normAutofit/>
          </a:bodyPr>
          <a:lstStyle/>
          <a:p>
            <a:r>
              <a:rPr lang="en-US" sz="3200" dirty="0"/>
              <a:t>Metal-assisted Vapor-Liquid-Solid (VLS) Growth </a:t>
            </a:r>
          </a:p>
        </p:txBody>
      </p:sp>
      <p:pic>
        <p:nvPicPr>
          <p:cNvPr id="4"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529254"/>
            <a:ext cx="5486400" cy="4715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609600" y="4495800"/>
            <a:ext cx="492443" cy="369332"/>
          </a:xfrm>
          <a:prstGeom prst="rect">
            <a:avLst/>
          </a:prstGeom>
          <a:solidFill>
            <a:schemeClr val="bg1"/>
          </a:solidFill>
        </p:spPr>
        <p:txBody>
          <a:bodyPr wrap="none" rtlCol="0">
            <a:spAutoFit/>
          </a:bodyPr>
          <a:lstStyle/>
          <a:p>
            <a:r>
              <a:rPr lang="en-US" b="1" dirty="0"/>
              <a:t>Au</a:t>
            </a:r>
          </a:p>
        </p:txBody>
      </p:sp>
      <p:sp>
        <p:nvSpPr>
          <p:cNvPr id="8" name="TextBox 7"/>
          <p:cNvSpPr txBox="1"/>
          <p:nvPr/>
        </p:nvSpPr>
        <p:spPr>
          <a:xfrm>
            <a:off x="4038600" y="4463534"/>
            <a:ext cx="402674" cy="369332"/>
          </a:xfrm>
          <a:prstGeom prst="rect">
            <a:avLst/>
          </a:prstGeom>
          <a:solidFill>
            <a:schemeClr val="bg1"/>
          </a:solidFill>
        </p:spPr>
        <p:txBody>
          <a:bodyPr wrap="none" rtlCol="0">
            <a:spAutoFit/>
          </a:bodyPr>
          <a:lstStyle/>
          <a:p>
            <a:r>
              <a:rPr lang="en-US" b="1" dirty="0"/>
              <a:t>Si</a:t>
            </a:r>
          </a:p>
        </p:txBody>
      </p:sp>
      <p:sp>
        <p:nvSpPr>
          <p:cNvPr id="9" name="TextBox 8"/>
          <p:cNvSpPr txBox="1"/>
          <p:nvPr/>
        </p:nvSpPr>
        <p:spPr>
          <a:xfrm>
            <a:off x="1170263" y="4469050"/>
            <a:ext cx="2868337" cy="400110"/>
          </a:xfrm>
          <a:prstGeom prst="rect">
            <a:avLst/>
          </a:prstGeom>
          <a:solidFill>
            <a:schemeClr val="bg1"/>
          </a:solidFill>
        </p:spPr>
        <p:txBody>
          <a:bodyPr wrap="square" rtlCol="0">
            <a:spAutoFit/>
          </a:bodyPr>
          <a:lstStyle/>
          <a:p>
            <a:r>
              <a:rPr lang="en-US" sz="2000" b="1" dirty="0"/>
              <a:t>Atomic percent silicon</a:t>
            </a:r>
          </a:p>
        </p:txBody>
      </p:sp>
      <p:sp>
        <p:nvSpPr>
          <p:cNvPr id="10" name="TextBox 9"/>
          <p:cNvSpPr txBox="1"/>
          <p:nvPr/>
        </p:nvSpPr>
        <p:spPr>
          <a:xfrm rot="16200000">
            <a:off x="-338622" y="2539961"/>
            <a:ext cx="1896444" cy="461665"/>
          </a:xfrm>
          <a:prstGeom prst="rect">
            <a:avLst/>
          </a:prstGeom>
          <a:solidFill>
            <a:schemeClr val="bg1"/>
          </a:solidFill>
        </p:spPr>
        <p:txBody>
          <a:bodyPr wrap="square" rtlCol="0">
            <a:spAutoFit/>
          </a:bodyPr>
          <a:lstStyle/>
          <a:p>
            <a:r>
              <a:rPr lang="en-US" b="1" dirty="0"/>
              <a:t>Temperature</a:t>
            </a:r>
          </a:p>
        </p:txBody>
      </p:sp>
      <p:sp>
        <p:nvSpPr>
          <p:cNvPr id="27" name="Rectangle 26"/>
          <p:cNvSpPr/>
          <p:nvPr/>
        </p:nvSpPr>
        <p:spPr>
          <a:xfrm>
            <a:off x="6471823" y="5571268"/>
            <a:ext cx="1376647" cy="6434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23" name="Oval 22"/>
          <p:cNvSpPr/>
          <p:nvPr/>
        </p:nvSpPr>
        <p:spPr>
          <a:xfrm>
            <a:off x="6130728" y="3434457"/>
            <a:ext cx="643486" cy="643486"/>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25" name="Oval 24"/>
          <p:cNvSpPr/>
          <p:nvPr/>
        </p:nvSpPr>
        <p:spPr>
          <a:xfrm>
            <a:off x="6338255" y="2825719"/>
            <a:ext cx="347777" cy="347777"/>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26" name="Oval 25"/>
          <p:cNvSpPr/>
          <p:nvPr/>
        </p:nvSpPr>
        <p:spPr>
          <a:xfrm>
            <a:off x="6130728" y="5571268"/>
            <a:ext cx="643486" cy="64348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30" name="Down Arrow 29"/>
          <p:cNvSpPr/>
          <p:nvPr/>
        </p:nvSpPr>
        <p:spPr>
          <a:xfrm>
            <a:off x="6194802" y="4281556"/>
            <a:ext cx="555304" cy="363956"/>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31" name="TextBox 30"/>
          <p:cNvSpPr txBox="1"/>
          <p:nvPr/>
        </p:nvSpPr>
        <p:spPr>
          <a:xfrm>
            <a:off x="7212108" y="4197145"/>
            <a:ext cx="1460143" cy="338554"/>
          </a:xfrm>
          <a:prstGeom prst="rect">
            <a:avLst/>
          </a:prstGeom>
          <a:noFill/>
        </p:spPr>
        <p:txBody>
          <a:bodyPr wrap="none" rtlCol="0">
            <a:spAutoFit/>
          </a:bodyPr>
          <a:lstStyle/>
          <a:p>
            <a:r>
              <a:rPr lang="en-US" sz="1600" b="1" dirty="0">
                <a:solidFill>
                  <a:srgbClr val="FF0000"/>
                </a:solidFill>
              </a:rPr>
              <a:t>Si </a:t>
            </a:r>
            <a:r>
              <a:rPr lang="en-US" altLang="zh-CN" sz="1600" b="1" dirty="0">
                <a:solidFill>
                  <a:srgbClr val="FF0000"/>
                </a:solidFill>
              </a:rPr>
              <a:t>% </a:t>
            </a:r>
            <a:r>
              <a:rPr lang="en-US" sz="1600" b="1" dirty="0">
                <a:solidFill>
                  <a:srgbClr val="FF0000"/>
                </a:solidFill>
              </a:rPr>
              <a:t>increases</a:t>
            </a:r>
          </a:p>
        </p:txBody>
      </p:sp>
      <p:sp>
        <p:nvSpPr>
          <p:cNvPr id="32" name="Rectangle 31"/>
          <p:cNvSpPr/>
          <p:nvPr/>
        </p:nvSpPr>
        <p:spPr>
          <a:xfrm>
            <a:off x="6537058" y="4731088"/>
            <a:ext cx="350517" cy="6434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33" name="Oval 32"/>
          <p:cNvSpPr/>
          <p:nvPr/>
        </p:nvSpPr>
        <p:spPr>
          <a:xfrm>
            <a:off x="6148321" y="4731088"/>
            <a:ext cx="643486" cy="643486"/>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35" name="TextBox 34"/>
          <p:cNvSpPr txBox="1"/>
          <p:nvPr/>
        </p:nvSpPr>
        <p:spPr>
          <a:xfrm>
            <a:off x="7212108" y="3586951"/>
            <a:ext cx="889987" cy="338554"/>
          </a:xfrm>
          <a:prstGeom prst="rect">
            <a:avLst/>
          </a:prstGeom>
          <a:noFill/>
        </p:spPr>
        <p:txBody>
          <a:bodyPr wrap="none" rtlCol="0">
            <a:spAutoFit/>
          </a:bodyPr>
          <a:lstStyle/>
          <a:p>
            <a:r>
              <a:rPr lang="en-US" sz="1600" b="1" dirty="0"/>
              <a:t>L1</a:t>
            </a:r>
            <a:r>
              <a:rPr lang="en-US" sz="1600" b="1" baseline="-25000" dirty="0"/>
              <a:t>Au@Si</a:t>
            </a:r>
            <a:r>
              <a:rPr lang="en-US" sz="1600" b="1" dirty="0"/>
              <a:t> </a:t>
            </a:r>
          </a:p>
        </p:txBody>
      </p:sp>
      <p:sp>
        <p:nvSpPr>
          <p:cNvPr id="36" name="TextBox 35"/>
          <p:cNvSpPr txBox="1"/>
          <p:nvPr/>
        </p:nvSpPr>
        <p:spPr>
          <a:xfrm>
            <a:off x="7212108" y="2812420"/>
            <a:ext cx="1277914" cy="338554"/>
          </a:xfrm>
          <a:prstGeom prst="rect">
            <a:avLst/>
          </a:prstGeom>
          <a:noFill/>
        </p:spPr>
        <p:txBody>
          <a:bodyPr wrap="none" rtlCol="0">
            <a:spAutoFit/>
          </a:bodyPr>
          <a:lstStyle/>
          <a:p>
            <a:r>
              <a:rPr lang="en-US" sz="1600" b="1" dirty="0" err="1"/>
              <a:t>S</a:t>
            </a:r>
            <a:r>
              <a:rPr lang="en-US" sz="1600" b="1" baseline="-25000" dirty="0" err="1"/>
              <a:t>Au</a:t>
            </a:r>
            <a:r>
              <a:rPr lang="en-US" sz="1600" b="1" baseline="-25000" dirty="0"/>
              <a:t> </a:t>
            </a:r>
            <a:r>
              <a:rPr lang="en-US" sz="1600" b="1" dirty="0"/>
              <a:t>+ </a:t>
            </a:r>
            <a:r>
              <a:rPr lang="en-US" sz="1600" b="1" dirty="0" err="1"/>
              <a:t>L</a:t>
            </a:r>
            <a:r>
              <a:rPr lang="en-US" sz="1600" b="1" baseline="-25000" dirty="0" err="1"/>
              <a:t>Au@Si</a:t>
            </a:r>
            <a:r>
              <a:rPr lang="en-US" sz="1600" b="1" dirty="0"/>
              <a:t> </a:t>
            </a:r>
          </a:p>
        </p:txBody>
      </p:sp>
      <p:sp>
        <p:nvSpPr>
          <p:cNvPr id="37" name="TextBox 36"/>
          <p:cNvSpPr txBox="1"/>
          <p:nvPr/>
        </p:nvSpPr>
        <p:spPr>
          <a:xfrm>
            <a:off x="7212108" y="4843185"/>
            <a:ext cx="889987" cy="338554"/>
          </a:xfrm>
          <a:prstGeom prst="rect">
            <a:avLst/>
          </a:prstGeom>
          <a:noFill/>
        </p:spPr>
        <p:txBody>
          <a:bodyPr wrap="none" rtlCol="0">
            <a:spAutoFit/>
          </a:bodyPr>
          <a:lstStyle/>
          <a:p>
            <a:r>
              <a:rPr lang="en-US" sz="1600" b="1" dirty="0"/>
              <a:t>L2</a:t>
            </a:r>
            <a:r>
              <a:rPr lang="en-US" sz="1600" b="1" baseline="-25000" dirty="0"/>
              <a:t>Au@Si</a:t>
            </a:r>
            <a:r>
              <a:rPr lang="en-US" sz="1600" b="1" dirty="0"/>
              <a:t> </a:t>
            </a:r>
          </a:p>
        </p:txBody>
      </p:sp>
      <p:sp>
        <p:nvSpPr>
          <p:cNvPr id="38" name="TextBox 37"/>
          <p:cNvSpPr txBox="1"/>
          <p:nvPr/>
        </p:nvSpPr>
        <p:spPr>
          <a:xfrm>
            <a:off x="7848470" y="5678669"/>
            <a:ext cx="1257075" cy="338554"/>
          </a:xfrm>
          <a:prstGeom prst="rect">
            <a:avLst/>
          </a:prstGeom>
          <a:noFill/>
        </p:spPr>
        <p:txBody>
          <a:bodyPr wrap="none" rtlCol="0">
            <a:spAutoFit/>
          </a:bodyPr>
          <a:lstStyle/>
          <a:p>
            <a:r>
              <a:rPr lang="en-US" sz="1600" b="1" dirty="0"/>
              <a:t>L2</a:t>
            </a:r>
            <a:r>
              <a:rPr lang="en-US" sz="1600" b="1" baseline="-25000" dirty="0"/>
              <a:t>Au@Si</a:t>
            </a:r>
            <a:r>
              <a:rPr lang="en-US" sz="1600" b="1" dirty="0"/>
              <a:t>+S</a:t>
            </a:r>
            <a:r>
              <a:rPr lang="en-US" sz="1600" b="1" baseline="-25000" dirty="0"/>
              <a:t>Si</a:t>
            </a:r>
            <a:r>
              <a:rPr lang="en-US" sz="1600" b="1" dirty="0"/>
              <a:t> </a:t>
            </a:r>
          </a:p>
        </p:txBody>
      </p:sp>
      <p:sp>
        <p:nvSpPr>
          <p:cNvPr id="39" name="Oval 38"/>
          <p:cNvSpPr/>
          <p:nvPr/>
        </p:nvSpPr>
        <p:spPr>
          <a:xfrm>
            <a:off x="1115704" y="3159048"/>
            <a:ext cx="272534" cy="2725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2</a:t>
            </a:r>
          </a:p>
        </p:txBody>
      </p:sp>
      <p:sp>
        <p:nvSpPr>
          <p:cNvPr id="40" name="Oval 39"/>
          <p:cNvSpPr/>
          <p:nvPr/>
        </p:nvSpPr>
        <p:spPr>
          <a:xfrm>
            <a:off x="794266" y="3159048"/>
            <a:ext cx="272534" cy="2725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1</a:t>
            </a:r>
          </a:p>
        </p:txBody>
      </p:sp>
      <p:sp>
        <p:nvSpPr>
          <p:cNvPr id="41" name="Oval 40"/>
          <p:cNvSpPr/>
          <p:nvPr/>
        </p:nvSpPr>
        <p:spPr>
          <a:xfrm>
            <a:off x="1945164" y="3159048"/>
            <a:ext cx="272534" cy="2725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4</a:t>
            </a:r>
          </a:p>
        </p:txBody>
      </p:sp>
      <p:sp>
        <p:nvSpPr>
          <p:cNvPr id="42" name="Oval 41"/>
          <p:cNvSpPr/>
          <p:nvPr/>
        </p:nvSpPr>
        <p:spPr>
          <a:xfrm>
            <a:off x="1465480" y="3159048"/>
            <a:ext cx="272534" cy="2725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3</a:t>
            </a:r>
          </a:p>
        </p:txBody>
      </p:sp>
      <p:sp>
        <p:nvSpPr>
          <p:cNvPr id="43" name="Oval 42"/>
          <p:cNvSpPr/>
          <p:nvPr/>
        </p:nvSpPr>
        <p:spPr>
          <a:xfrm>
            <a:off x="3505200" y="3159048"/>
            <a:ext cx="272534" cy="2725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t>5</a:t>
            </a:r>
          </a:p>
        </p:txBody>
      </p:sp>
      <p:sp>
        <p:nvSpPr>
          <p:cNvPr id="45" name="Oval 44"/>
          <p:cNvSpPr/>
          <p:nvPr/>
        </p:nvSpPr>
        <p:spPr>
          <a:xfrm>
            <a:off x="5594946" y="2863341"/>
            <a:ext cx="272534" cy="2725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2</a:t>
            </a:r>
          </a:p>
        </p:txBody>
      </p:sp>
      <p:sp>
        <p:nvSpPr>
          <p:cNvPr id="46" name="Oval 45"/>
          <p:cNvSpPr/>
          <p:nvPr/>
        </p:nvSpPr>
        <p:spPr>
          <a:xfrm>
            <a:off x="5594866" y="1955743"/>
            <a:ext cx="272534" cy="2725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1</a:t>
            </a:r>
          </a:p>
        </p:txBody>
      </p:sp>
      <p:sp>
        <p:nvSpPr>
          <p:cNvPr id="47" name="Oval 46"/>
          <p:cNvSpPr/>
          <p:nvPr/>
        </p:nvSpPr>
        <p:spPr>
          <a:xfrm>
            <a:off x="5594866" y="4960317"/>
            <a:ext cx="272534" cy="2725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4</a:t>
            </a:r>
          </a:p>
        </p:txBody>
      </p:sp>
      <p:sp>
        <p:nvSpPr>
          <p:cNvPr id="48" name="Oval 47"/>
          <p:cNvSpPr/>
          <p:nvPr/>
        </p:nvSpPr>
        <p:spPr>
          <a:xfrm>
            <a:off x="5594866" y="3570736"/>
            <a:ext cx="272534" cy="2725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3</a:t>
            </a:r>
          </a:p>
        </p:txBody>
      </p:sp>
      <p:sp>
        <p:nvSpPr>
          <p:cNvPr id="49" name="Oval 48"/>
          <p:cNvSpPr/>
          <p:nvPr/>
        </p:nvSpPr>
        <p:spPr>
          <a:xfrm>
            <a:off x="5594866" y="5756744"/>
            <a:ext cx="272534" cy="27253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5</a:t>
            </a:r>
          </a:p>
        </p:txBody>
      </p:sp>
      <p:sp>
        <p:nvSpPr>
          <p:cNvPr id="50" name="Freeform 49"/>
          <p:cNvSpPr/>
          <p:nvPr/>
        </p:nvSpPr>
        <p:spPr>
          <a:xfrm>
            <a:off x="6101340" y="1822571"/>
            <a:ext cx="786235" cy="705549"/>
          </a:xfrm>
          <a:custGeom>
            <a:avLst/>
            <a:gdLst>
              <a:gd name="connsiteX0" fmla="*/ 0 w 600501"/>
              <a:gd name="connsiteY0" fmla="*/ 27296 h 805218"/>
              <a:gd name="connsiteX1" fmla="*/ 450376 w 600501"/>
              <a:gd name="connsiteY1" fmla="*/ 0 h 805218"/>
              <a:gd name="connsiteX2" fmla="*/ 600501 w 600501"/>
              <a:gd name="connsiteY2" fmla="*/ 464024 h 805218"/>
              <a:gd name="connsiteX3" fmla="*/ 245659 w 600501"/>
              <a:gd name="connsiteY3" fmla="*/ 805218 h 805218"/>
              <a:gd name="connsiteX4" fmla="*/ 54591 w 600501"/>
              <a:gd name="connsiteY4" fmla="*/ 395785 h 805218"/>
              <a:gd name="connsiteX5" fmla="*/ 68238 w 600501"/>
              <a:gd name="connsiteY5" fmla="*/ 13648 h 80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501" h="805218">
                <a:moveTo>
                  <a:pt x="0" y="27296"/>
                </a:moveTo>
                <a:lnTo>
                  <a:pt x="450376" y="0"/>
                </a:lnTo>
                <a:lnTo>
                  <a:pt x="600501" y="464024"/>
                </a:lnTo>
                <a:lnTo>
                  <a:pt x="245659" y="805218"/>
                </a:lnTo>
                <a:lnTo>
                  <a:pt x="54591" y="395785"/>
                </a:lnTo>
                <a:lnTo>
                  <a:pt x="68238" y="13648"/>
                </a:lnTo>
              </a:path>
            </a:pathLst>
          </a:cu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51" name="Rectangle 50"/>
          <p:cNvSpPr/>
          <p:nvPr/>
        </p:nvSpPr>
        <p:spPr>
          <a:xfrm>
            <a:off x="7212108" y="1907344"/>
            <a:ext cx="473206" cy="338554"/>
          </a:xfrm>
          <a:prstGeom prst="rect">
            <a:avLst/>
          </a:prstGeom>
        </p:spPr>
        <p:txBody>
          <a:bodyPr wrap="none">
            <a:spAutoFit/>
          </a:bodyPr>
          <a:lstStyle/>
          <a:p>
            <a:r>
              <a:rPr lang="en-US" sz="1600" b="1" dirty="0" err="1"/>
              <a:t>S</a:t>
            </a:r>
            <a:r>
              <a:rPr lang="en-US" sz="1600" b="1" baseline="-25000" dirty="0" err="1"/>
              <a:t>Au</a:t>
            </a:r>
            <a:endParaRPr lang="en-US" sz="1600" b="1" dirty="0"/>
          </a:p>
        </p:txBody>
      </p:sp>
      <p:sp>
        <p:nvSpPr>
          <p:cNvPr id="56" name="Cloud 55"/>
          <p:cNvSpPr/>
          <p:nvPr/>
        </p:nvSpPr>
        <p:spPr>
          <a:xfrm>
            <a:off x="1388238" y="4843185"/>
            <a:ext cx="2116962" cy="577334"/>
          </a:xfrm>
          <a:prstGeom prst="cloud">
            <a:avLst/>
          </a:prstGeom>
          <a:solidFill>
            <a:schemeClr val="accent6">
              <a:lumMod val="20000"/>
              <a:lumOff val="80000"/>
              <a:alpha val="5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2081431" y="4946236"/>
            <a:ext cx="978401" cy="461665"/>
          </a:xfrm>
          <a:prstGeom prst="rect">
            <a:avLst/>
          </a:prstGeom>
          <a:noFill/>
        </p:spPr>
        <p:txBody>
          <a:bodyPr wrap="square" rtlCol="0">
            <a:spAutoFit/>
          </a:bodyPr>
          <a:lstStyle/>
          <a:p>
            <a:r>
              <a:rPr lang="en-US" b="1" dirty="0">
                <a:solidFill>
                  <a:srgbClr val="FF0000"/>
                </a:solidFill>
              </a:rPr>
              <a:t>SiH</a:t>
            </a:r>
            <a:r>
              <a:rPr lang="en-US" b="1" baseline="-25000" dirty="0">
                <a:solidFill>
                  <a:srgbClr val="FF0000"/>
                </a:solidFill>
              </a:rPr>
              <a:t>4</a:t>
            </a:r>
          </a:p>
        </p:txBody>
      </p:sp>
      <p:sp>
        <p:nvSpPr>
          <p:cNvPr id="3" name="TextBox 2"/>
          <p:cNvSpPr txBox="1"/>
          <p:nvPr/>
        </p:nvSpPr>
        <p:spPr>
          <a:xfrm>
            <a:off x="873502" y="3416653"/>
            <a:ext cx="718466" cy="461665"/>
          </a:xfrm>
          <a:prstGeom prst="rect">
            <a:avLst/>
          </a:prstGeom>
          <a:noFill/>
        </p:spPr>
        <p:txBody>
          <a:bodyPr wrap="none" rtlCol="0">
            <a:spAutoFit/>
          </a:bodyPr>
          <a:lstStyle/>
          <a:p>
            <a:r>
              <a:rPr lang="en-US" sz="2400" b="1" i="1" dirty="0">
                <a:solidFill>
                  <a:srgbClr val="FF0000"/>
                </a:solidFill>
                <a:effectLst>
                  <a:outerShdw blurRad="38100" dist="38100" dir="2700000" algn="tl">
                    <a:srgbClr val="000000">
                      <a:alpha val="43137"/>
                    </a:srgbClr>
                  </a:outerShdw>
                </a:effectLst>
              </a:rPr>
              <a:t>S+L</a:t>
            </a:r>
          </a:p>
        </p:txBody>
      </p:sp>
      <p:cxnSp>
        <p:nvCxnSpPr>
          <p:cNvPr id="6" name="Straight Arrow Connector 5"/>
          <p:cNvCxnSpPr/>
          <p:nvPr/>
        </p:nvCxnSpPr>
        <p:spPr>
          <a:xfrm>
            <a:off x="3124200" y="1955743"/>
            <a:ext cx="0" cy="242606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24932" y="6377207"/>
            <a:ext cx="7963491" cy="461665"/>
          </a:xfrm>
          <a:prstGeom prst="rect">
            <a:avLst/>
          </a:prstGeom>
          <a:noFill/>
        </p:spPr>
        <p:txBody>
          <a:bodyPr wrap="square" rtlCol="0">
            <a:spAutoFit/>
          </a:bodyPr>
          <a:lstStyle/>
          <a:p>
            <a:r>
              <a:rPr lang="en-US" sz="2400" b="1" dirty="0">
                <a:solidFill>
                  <a:srgbClr val="00B050"/>
                </a:solidFill>
                <a:effectLst>
                  <a:outerShdw blurRad="38100" dist="38100" dir="2700000" algn="tl">
                    <a:srgbClr val="000000">
                      <a:alpha val="43137"/>
                    </a:srgbClr>
                  </a:outerShdw>
                </a:effectLst>
              </a:rPr>
              <a:t>Homework: How about the progress for green line?</a:t>
            </a:r>
          </a:p>
        </p:txBody>
      </p:sp>
      <p:sp>
        <p:nvSpPr>
          <p:cNvPr id="44" name="TextBox 43"/>
          <p:cNvSpPr txBox="1"/>
          <p:nvPr/>
        </p:nvSpPr>
        <p:spPr>
          <a:xfrm>
            <a:off x="7163556" y="3234193"/>
            <a:ext cx="1406154" cy="338554"/>
          </a:xfrm>
          <a:prstGeom prst="rect">
            <a:avLst/>
          </a:prstGeom>
          <a:noFill/>
        </p:spPr>
        <p:txBody>
          <a:bodyPr wrap="none" rtlCol="0">
            <a:spAutoFit/>
          </a:bodyPr>
          <a:lstStyle/>
          <a:p>
            <a:r>
              <a:rPr lang="en-US" sz="1600" b="1" dirty="0">
                <a:solidFill>
                  <a:srgbClr val="FF0000"/>
                </a:solidFill>
              </a:rPr>
              <a:t>Si </a:t>
            </a:r>
            <a:r>
              <a:rPr lang="en-US" altLang="zh-CN" sz="1600" b="1" dirty="0">
                <a:solidFill>
                  <a:srgbClr val="FF0000"/>
                </a:solidFill>
              </a:rPr>
              <a:t>% </a:t>
            </a:r>
            <a:r>
              <a:rPr lang="en-US" sz="1600" b="1" dirty="0">
                <a:solidFill>
                  <a:srgbClr val="FF0000"/>
                </a:solidFill>
              </a:rPr>
              <a:t>constant</a:t>
            </a:r>
          </a:p>
        </p:txBody>
      </p:sp>
      <p:sp>
        <p:nvSpPr>
          <p:cNvPr id="53" name="TextBox 52"/>
          <p:cNvSpPr txBox="1"/>
          <p:nvPr/>
        </p:nvSpPr>
        <p:spPr>
          <a:xfrm>
            <a:off x="7212108" y="5232925"/>
            <a:ext cx="1406154" cy="338554"/>
          </a:xfrm>
          <a:prstGeom prst="rect">
            <a:avLst/>
          </a:prstGeom>
          <a:noFill/>
        </p:spPr>
        <p:txBody>
          <a:bodyPr wrap="none" rtlCol="0">
            <a:spAutoFit/>
          </a:bodyPr>
          <a:lstStyle/>
          <a:p>
            <a:r>
              <a:rPr lang="en-US" sz="1600" b="1" dirty="0">
                <a:solidFill>
                  <a:srgbClr val="FF0000"/>
                </a:solidFill>
              </a:rPr>
              <a:t>Si </a:t>
            </a:r>
            <a:r>
              <a:rPr lang="en-US" altLang="zh-CN" sz="1600" b="1" dirty="0">
                <a:solidFill>
                  <a:srgbClr val="FF0000"/>
                </a:solidFill>
              </a:rPr>
              <a:t>% </a:t>
            </a:r>
            <a:r>
              <a:rPr lang="en-US" sz="1600" b="1" dirty="0">
                <a:solidFill>
                  <a:srgbClr val="FF0000"/>
                </a:solidFill>
              </a:rPr>
              <a:t>constant</a:t>
            </a:r>
          </a:p>
        </p:txBody>
      </p:sp>
      <p:sp>
        <p:nvSpPr>
          <p:cNvPr id="54" name="Rectangle 53"/>
          <p:cNvSpPr/>
          <p:nvPr/>
        </p:nvSpPr>
        <p:spPr>
          <a:xfrm>
            <a:off x="0" y="1610"/>
            <a:ext cx="2706190" cy="461665"/>
          </a:xfrm>
          <a:prstGeom prst="rect">
            <a:avLst/>
          </a:prstGeom>
          <a:solidFill>
            <a:schemeClr val="tx2">
              <a:lumMod val="20000"/>
              <a:lumOff val="80000"/>
            </a:schemeClr>
          </a:solidFill>
        </p:spPr>
        <p:txBody>
          <a:bodyPr wrap="none">
            <a:spAutoFit/>
          </a:bodyPr>
          <a:lstStyle/>
          <a:p>
            <a:r>
              <a:rPr lang="en-US" b="1" dirty="0"/>
              <a:t>Expansive learning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98"/>
          <p:cNvGrpSpPr/>
          <p:nvPr/>
        </p:nvGrpSpPr>
        <p:grpSpPr bwMode="auto">
          <a:xfrm>
            <a:off x="4207321" y="3855169"/>
            <a:ext cx="4829175" cy="1831975"/>
            <a:chOff x="2526" y="2350"/>
            <a:chExt cx="3042" cy="1154"/>
          </a:xfrm>
        </p:grpSpPr>
        <p:sp>
          <p:nvSpPr>
            <p:cNvPr id="5" name="Rectangle 17"/>
            <p:cNvSpPr>
              <a:spLocks noChangeArrowheads="1"/>
            </p:cNvSpPr>
            <p:nvPr/>
          </p:nvSpPr>
          <p:spPr bwMode="auto">
            <a:xfrm>
              <a:off x="3408" y="2736"/>
              <a:ext cx="2160"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ym typeface="Wingdings" panose="05000000000000000000" pitchFamily="2" charset="2"/>
                </a:rPr>
                <a:t>Self-catalytic</a:t>
              </a:r>
            </a:p>
            <a:p>
              <a:pPr algn="ctr" eaLnBrk="1" hangingPunct="1"/>
              <a:r>
                <a:rPr lang="en-US" altLang="zh-CN" sz="1400" b="1">
                  <a:sym typeface="Wingdings" panose="05000000000000000000" pitchFamily="2" charset="2"/>
                </a:rPr>
                <a:t>vapor liquid solid (</a:t>
              </a:r>
              <a:r>
                <a:rPr lang="en-US" altLang="zh-CN" sz="1400" b="1">
                  <a:solidFill>
                    <a:srgbClr val="800000"/>
                  </a:solidFill>
                  <a:sym typeface="Wingdings" panose="05000000000000000000" pitchFamily="2" charset="2"/>
                </a:rPr>
                <a:t>VLS</a:t>
              </a:r>
              <a:r>
                <a:rPr lang="en-US" altLang="zh-CN" sz="1400" b="1">
                  <a:sym typeface="Wingdings" panose="05000000000000000000" pitchFamily="2" charset="2"/>
                </a:rPr>
                <a:t>) growth</a:t>
              </a:r>
            </a:p>
            <a:p>
              <a:pPr algn="ctr" eaLnBrk="1" hangingPunct="1"/>
              <a:r>
                <a:rPr lang="en-US" altLang="zh-CN" sz="1400" b="1">
                  <a:sym typeface="Wingdings" panose="05000000000000000000" pitchFamily="2" charset="2"/>
                </a:rPr>
                <a:t>With </a:t>
              </a:r>
              <a:r>
                <a:rPr lang="en-US" altLang="zh-CN" sz="1400" b="1">
                  <a:solidFill>
                    <a:srgbClr val="800000"/>
                  </a:solidFill>
                  <a:sym typeface="Wingdings" panose="05000000000000000000" pitchFamily="2" charset="2"/>
                </a:rPr>
                <a:t>Zn-terminated (0001) surfaces</a:t>
              </a:r>
              <a:r>
                <a:rPr lang="en-US" altLang="zh-CN" sz="1400" b="1">
                  <a:sym typeface="Wingdings" panose="05000000000000000000" pitchFamily="2" charset="2"/>
                </a:rPr>
                <a:t> as the fast growth front.</a:t>
              </a:r>
              <a:endParaRPr lang="en-US" altLang="zh-CN" sz="1400" b="1"/>
            </a:p>
          </p:txBody>
        </p:sp>
        <p:sp>
          <p:nvSpPr>
            <p:cNvPr id="6" name="Rectangle 14"/>
            <p:cNvSpPr>
              <a:spLocks noChangeArrowheads="1"/>
            </p:cNvSpPr>
            <p:nvPr/>
          </p:nvSpPr>
          <p:spPr bwMode="auto">
            <a:xfrm>
              <a:off x="3966" y="3312"/>
              <a:ext cx="9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b="1">
                  <a:sym typeface="Wingdings" panose="05000000000000000000" pitchFamily="2" charset="2"/>
                </a:rPr>
                <a:t>Zn(l)+O</a:t>
              </a:r>
              <a:r>
                <a:rPr lang="en-US" altLang="zh-CN" sz="1400" b="1" baseline="-25000">
                  <a:sym typeface="Wingdings" panose="05000000000000000000" pitchFamily="2" charset="2"/>
                </a:rPr>
                <a:t>2</a:t>
              </a:r>
              <a:r>
                <a:rPr lang="en-US" altLang="zh-CN" sz="1400" b="1">
                  <a:sym typeface="Wingdings" panose="05000000000000000000" pitchFamily="2" charset="2"/>
                </a:rPr>
                <a:t></a:t>
              </a:r>
              <a:r>
                <a:rPr lang="en-US" altLang="zh-CN" sz="1400" b="1"/>
                <a:t>ZnO</a:t>
              </a:r>
            </a:p>
          </p:txBody>
        </p:sp>
        <p:grpSp>
          <p:nvGrpSpPr>
            <p:cNvPr id="7" name="Group 95"/>
            <p:cNvGrpSpPr/>
            <p:nvPr/>
          </p:nvGrpSpPr>
          <p:grpSpPr bwMode="auto">
            <a:xfrm>
              <a:off x="2526" y="2350"/>
              <a:ext cx="864" cy="818"/>
              <a:chOff x="2526" y="2350"/>
              <a:chExt cx="864" cy="818"/>
            </a:xfrm>
          </p:grpSpPr>
          <p:sp>
            <p:nvSpPr>
              <p:cNvPr id="9" name="AutoShape 44"/>
              <p:cNvSpPr>
                <a:spLocks noChangeArrowheads="1"/>
              </p:cNvSpPr>
              <p:nvPr/>
            </p:nvSpPr>
            <p:spPr bwMode="auto">
              <a:xfrm>
                <a:off x="2526" y="2915"/>
                <a:ext cx="864" cy="253"/>
              </a:xfrm>
              <a:prstGeom prst="cube">
                <a:avLst>
                  <a:gd name="adj" fmla="val 76032"/>
                </a:avLst>
              </a:prstGeom>
              <a:solidFill>
                <a:srgbClr val="66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0" name="AutoShape 45"/>
              <p:cNvSpPr>
                <a:spLocks noChangeArrowheads="1"/>
              </p:cNvSpPr>
              <p:nvPr/>
            </p:nvSpPr>
            <p:spPr bwMode="auto">
              <a:xfrm>
                <a:off x="2528" y="2886"/>
                <a:ext cx="670" cy="221"/>
              </a:xfrm>
              <a:prstGeom prst="cube">
                <a:avLst>
                  <a:gd name="adj" fmla="val 86120"/>
                </a:avLst>
              </a:prstGeom>
              <a:solidFill>
                <a:srgbClr val="7A7A7A"/>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11" name="Group 46"/>
              <p:cNvGrpSpPr/>
              <p:nvPr/>
            </p:nvGrpSpPr>
            <p:grpSpPr bwMode="auto">
              <a:xfrm>
                <a:off x="2839" y="2671"/>
                <a:ext cx="167" cy="263"/>
                <a:chOff x="433" y="2039"/>
                <a:chExt cx="185" cy="263"/>
              </a:xfrm>
            </p:grpSpPr>
            <p:grpSp>
              <p:nvGrpSpPr>
                <p:cNvPr id="15" name="Group 47"/>
                <p:cNvGrpSpPr/>
                <p:nvPr/>
              </p:nvGrpSpPr>
              <p:grpSpPr bwMode="auto">
                <a:xfrm>
                  <a:off x="433" y="2039"/>
                  <a:ext cx="185" cy="197"/>
                  <a:chOff x="1247" y="2614"/>
                  <a:chExt cx="607" cy="464"/>
                </a:xfrm>
              </p:grpSpPr>
              <p:sp>
                <p:nvSpPr>
                  <p:cNvPr id="17" name="Oval 48"/>
                  <p:cNvSpPr>
                    <a:spLocks noChangeArrowheads="1"/>
                  </p:cNvSpPr>
                  <p:nvPr/>
                </p:nvSpPr>
                <p:spPr bwMode="auto">
                  <a:xfrm>
                    <a:off x="1247" y="2614"/>
                    <a:ext cx="590" cy="363"/>
                  </a:xfrm>
                  <a:prstGeom prst="ellipse">
                    <a:avLst/>
                  </a:prstGeom>
                  <a:solidFill>
                    <a:srgbClr val="FF33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18" name="Line 49"/>
                  <p:cNvSpPr>
                    <a:spLocks noChangeShapeType="1"/>
                  </p:cNvSpPr>
                  <p:nvPr/>
                </p:nvSpPr>
                <p:spPr bwMode="auto">
                  <a:xfrm>
                    <a:off x="1338" y="2931"/>
                    <a:ext cx="40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Rectangle 50"/>
                  <p:cNvSpPr>
                    <a:spLocks noChangeArrowheads="1"/>
                  </p:cNvSpPr>
                  <p:nvPr/>
                </p:nvSpPr>
                <p:spPr bwMode="auto">
                  <a:xfrm>
                    <a:off x="1247" y="2931"/>
                    <a:ext cx="607" cy="14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16" name="Rectangle 51"/>
                <p:cNvSpPr>
                  <a:spLocks noChangeArrowheads="1"/>
                </p:cNvSpPr>
                <p:nvPr/>
              </p:nvSpPr>
              <p:spPr bwMode="auto">
                <a:xfrm>
                  <a:off x="449" y="2160"/>
                  <a:ext cx="153" cy="142"/>
                </a:xfrm>
                <a:prstGeom prst="rect">
                  <a:avLst/>
                </a:prstGeom>
                <a:solidFill>
                  <a:srgbClr val="CC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12" name="Group 80"/>
              <p:cNvGrpSpPr/>
              <p:nvPr/>
            </p:nvGrpSpPr>
            <p:grpSpPr bwMode="auto">
              <a:xfrm>
                <a:off x="2610" y="2350"/>
                <a:ext cx="624" cy="290"/>
                <a:chOff x="3024" y="2256"/>
                <a:chExt cx="624" cy="290"/>
              </a:xfrm>
            </p:grpSpPr>
            <p:sp>
              <p:nvSpPr>
                <p:cNvPr id="13" name="Text Box 75"/>
                <p:cNvSpPr txBox="1">
                  <a:spLocks noChangeArrowheads="1"/>
                </p:cNvSpPr>
                <p:nvPr/>
              </p:nvSpPr>
              <p:spPr bwMode="auto">
                <a:xfrm>
                  <a:off x="3024" y="2256"/>
                  <a:ext cx="610"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Zn,O</a:t>
                  </a:r>
                  <a:r>
                    <a:rPr lang="en-US" altLang="zh-CN" sz="1200" b="1" baseline="-25000"/>
                    <a:t>2,</a:t>
                  </a:r>
                  <a:r>
                    <a:rPr lang="en-US" altLang="zh-CN" sz="1200" b="1"/>
                    <a:t> ZnO</a:t>
                  </a:r>
                  <a:endParaRPr lang="en-US" altLang="zh-CN" sz="1200" b="1" baseline="-25000"/>
                </a:p>
              </p:txBody>
            </p:sp>
            <p:sp>
              <p:nvSpPr>
                <p:cNvPr id="14" name="AutoShape 76"/>
                <p:cNvSpPr>
                  <a:spLocks noChangeArrowheads="1"/>
                </p:cNvSpPr>
                <p:nvPr/>
              </p:nvSpPr>
              <p:spPr bwMode="auto">
                <a:xfrm>
                  <a:off x="3024" y="2258"/>
                  <a:ext cx="624" cy="288"/>
                </a:xfrm>
                <a:prstGeom prst="downArrowCallout">
                  <a:avLst>
                    <a:gd name="adj1" fmla="val 54167"/>
                    <a:gd name="adj2" fmla="val 54167"/>
                    <a:gd name="adj3" fmla="val 16667"/>
                    <a:gd name="adj4" fmla="val 66667"/>
                  </a:avLst>
                </a:prstGeom>
                <a:noFill/>
                <a:ln w="12700">
                  <a:solidFill>
                    <a:schemeClr val="tx1"/>
                  </a:solidFill>
                  <a:prstDash val="dash"/>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sp>
          <p:nvSpPr>
            <p:cNvPr id="8" name="AutoShape 82"/>
            <p:cNvSpPr>
              <a:spLocks noChangeArrowheads="1"/>
            </p:cNvSpPr>
            <p:nvPr/>
          </p:nvSpPr>
          <p:spPr bwMode="auto">
            <a:xfrm>
              <a:off x="4302" y="2592"/>
              <a:ext cx="192" cy="144"/>
            </a:xfrm>
            <a:prstGeom prst="downArrow">
              <a:avLst>
                <a:gd name="adj1" fmla="val 50000"/>
                <a:gd name="adj2" fmla="val 25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20" name="Group 99"/>
          <p:cNvGrpSpPr/>
          <p:nvPr/>
        </p:nvGrpSpPr>
        <p:grpSpPr bwMode="auto">
          <a:xfrm>
            <a:off x="4207321" y="5658569"/>
            <a:ext cx="4606925" cy="866775"/>
            <a:chOff x="2526" y="3486"/>
            <a:chExt cx="2902" cy="546"/>
          </a:xfrm>
        </p:grpSpPr>
        <p:grpSp>
          <p:nvGrpSpPr>
            <p:cNvPr id="21" name="Group 96"/>
            <p:cNvGrpSpPr/>
            <p:nvPr/>
          </p:nvGrpSpPr>
          <p:grpSpPr bwMode="auto">
            <a:xfrm>
              <a:off x="2526" y="3486"/>
              <a:ext cx="864" cy="546"/>
              <a:chOff x="2526" y="3486"/>
              <a:chExt cx="864" cy="546"/>
            </a:xfrm>
          </p:grpSpPr>
          <p:sp>
            <p:nvSpPr>
              <p:cNvPr id="24" name="AutoShape 53"/>
              <p:cNvSpPr>
                <a:spLocks noChangeArrowheads="1"/>
              </p:cNvSpPr>
              <p:nvPr/>
            </p:nvSpPr>
            <p:spPr bwMode="auto">
              <a:xfrm>
                <a:off x="2526" y="3779"/>
                <a:ext cx="864" cy="253"/>
              </a:xfrm>
              <a:prstGeom prst="cube">
                <a:avLst>
                  <a:gd name="adj" fmla="val 76032"/>
                </a:avLst>
              </a:prstGeom>
              <a:solidFill>
                <a:srgbClr val="66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25" name="AutoShape 54"/>
              <p:cNvSpPr>
                <a:spLocks noChangeArrowheads="1"/>
              </p:cNvSpPr>
              <p:nvPr/>
            </p:nvSpPr>
            <p:spPr bwMode="auto">
              <a:xfrm>
                <a:off x="2528" y="3750"/>
                <a:ext cx="670" cy="221"/>
              </a:xfrm>
              <a:prstGeom prst="cube">
                <a:avLst>
                  <a:gd name="adj" fmla="val 86120"/>
                </a:avLst>
              </a:prstGeom>
              <a:solidFill>
                <a:srgbClr val="7A7A7A"/>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26" name="Group 55"/>
              <p:cNvGrpSpPr/>
              <p:nvPr/>
            </p:nvGrpSpPr>
            <p:grpSpPr bwMode="auto">
              <a:xfrm>
                <a:off x="2858" y="3486"/>
                <a:ext cx="136" cy="318"/>
                <a:chOff x="612" y="3612"/>
                <a:chExt cx="184" cy="408"/>
              </a:xfrm>
            </p:grpSpPr>
            <p:sp>
              <p:nvSpPr>
                <p:cNvPr id="27" name="AutoShape 56"/>
                <p:cNvSpPr>
                  <a:spLocks noChangeArrowheads="1"/>
                </p:cNvSpPr>
                <p:nvPr/>
              </p:nvSpPr>
              <p:spPr bwMode="auto">
                <a:xfrm>
                  <a:off x="612" y="3612"/>
                  <a:ext cx="184" cy="145"/>
                </a:xfrm>
                <a:prstGeom prst="hexagon">
                  <a:avLst>
                    <a:gd name="adj" fmla="val 31724"/>
                    <a:gd name="vf" fmla="val 115470"/>
                  </a:avLst>
                </a:prstGeom>
                <a:solidFill>
                  <a:srgbClr val="CC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28" name="Rectangle 57"/>
                <p:cNvSpPr>
                  <a:spLocks noChangeArrowheads="1"/>
                </p:cNvSpPr>
                <p:nvPr/>
              </p:nvSpPr>
              <p:spPr bwMode="auto">
                <a:xfrm>
                  <a:off x="613" y="3684"/>
                  <a:ext cx="180" cy="336"/>
                </a:xfrm>
                <a:prstGeom prst="rect">
                  <a:avLst/>
                </a:prstGeom>
                <a:solidFill>
                  <a:srgbClr val="CC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29" name="Line 58"/>
                <p:cNvSpPr>
                  <a:spLocks noChangeShapeType="1"/>
                </p:cNvSpPr>
                <p:nvPr/>
              </p:nvSpPr>
              <p:spPr bwMode="auto">
                <a:xfrm flipH="1">
                  <a:off x="617" y="3687"/>
                  <a:ext cx="170" cy="1"/>
                </a:xfrm>
                <a:prstGeom prst="line">
                  <a:avLst/>
                </a:prstGeom>
                <a:noFill/>
                <a:ln w="38100">
                  <a:solidFill>
                    <a:srgbClr val="CCFF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2" name="Rectangle 17"/>
            <p:cNvSpPr>
              <a:spLocks noChangeArrowheads="1"/>
            </p:cNvSpPr>
            <p:nvPr/>
          </p:nvSpPr>
          <p:spPr bwMode="auto">
            <a:xfrm>
              <a:off x="3484" y="3706"/>
              <a:ext cx="194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ym typeface="Wingdings" panose="05000000000000000000" pitchFamily="2" charset="2"/>
                </a:rPr>
                <a:t>Zn catalysts are consumed due to </a:t>
              </a:r>
            </a:p>
            <a:p>
              <a:pPr algn="ctr" eaLnBrk="1" hangingPunct="1"/>
              <a:r>
                <a:rPr lang="en-US" altLang="zh-CN" sz="1400" b="1">
                  <a:sym typeface="Wingdings" panose="05000000000000000000" pitchFamily="2" charset="2"/>
                </a:rPr>
                <a:t>high temperature</a:t>
              </a:r>
              <a:endParaRPr lang="en-US" altLang="zh-CN" sz="1400" b="1"/>
            </a:p>
          </p:txBody>
        </p:sp>
        <p:sp>
          <p:nvSpPr>
            <p:cNvPr id="23" name="AutoShape 83"/>
            <p:cNvSpPr>
              <a:spLocks noChangeArrowheads="1"/>
            </p:cNvSpPr>
            <p:nvPr/>
          </p:nvSpPr>
          <p:spPr bwMode="auto">
            <a:xfrm>
              <a:off x="4302" y="3524"/>
              <a:ext cx="192" cy="144"/>
            </a:xfrm>
            <a:prstGeom prst="downArrow">
              <a:avLst>
                <a:gd name="adj1" fmla="val 50000"/>
                <a:gd name="adj2" fmla="val 25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30" name="Group 97"/>
          <p:cNvGrpSpPr/>
          <p:nvPr/>
        </p:nvGrpSpPr>
        <p:grpSpPr bwMode="auto">
          <a:xfrm>
            <a:off x="4207321" y="2562944"/>
            <a:ext cx="4562475" cy="1600200"/>
            <a:chOff x="2526" y="1536"/>
            <a:chExt cx="2874" cy="1008"/>
          </a:xfrm>
        </p:grpSpPr>
        <p:sp>
          <p:nvSpPr>
            <p:cNvPr id="31" name="Rectangle 20"/>
            <p:cNvSpPr>
              <a:spLocks noChangeArrowheads="1"/>
            </p:cNvSpPr>
            <p:nvPr/>
          </p:nvSpPr>
          <p:spPr bwMode="auto">
            <a:xfrm>
              <a:off x="3516" y="1872"/>
              <a:ext cx="1878" cy="192"/>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b="1" dirty="0"/>
                <a:t>(Zn, C and Si are of </a:t>
              </a:r>
              <a:r>
                <a:rPr lang="en-US" altLang="zh-CN" sz="1400" b="1" dirty="0">
                  <a:solidFill>
                    <a:srgbClr val="800000"/>
                  </a:solidFill>
                </a:rPr>
                <a:t>immiscibility</a:t>
              </a:r>
              <a:r>
                <a:rPr lang="en-US" altLang="zh-CN" sz="1400" b="1" dirty="0"/>
                <a:t>)</a:t>
              </a:r>
              <a:endParaRPr lang="zh-CN" altLang="en-US" sz="1400" b="1" dirty="0"/>
            </a:p>
          </p:txBody>
        </p:sp>
        <p:sp>
          <p:nvSpPr>
            <p:cNvPr id="32" name="Rectangle 17"/>
            <p:cNvSpPr>
              <a:spLocks noChangeArrowheads="1"/>
            </p:cNvSpPr>
            <p:nvPr/>
          </p:nvSpPr>
          <p:spPr bwMode="auto">
            <a:xfrm>
              <a:off x="3510" y="2064"/>
              <a:ext cx="189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i="1" u="sng" dirty="0">
                  <a:sym typeface="Wingdings" panose="05000000000000000000" pitchFamily="2" charset="2"/>
                </a:rPr>
                <a:t>Local carbon thermal reaction for</a:t>
              </a:r>
            </a:p>
            <a:p>
              <a:pPr algn="ctr" eaLnBrk="1" hangingPunct="1"/>
              <a:r>
                <a:rPr lang="en-US" altLang="zh-CN" sz="1400" b="1" i="1" u="sng" dirty="0">
                  <a:sym typeface="Wingdings" panose="05000000000000000000" pitchFamily="2" charset="2"/>
                </a:rPr>
                <a:t>the extraction of Zn droplets</a:t>
              </a:r>
              <a:endParaRPr lang="en-US" altLang="zh-CN" sz="1400" b="1" i="1" u="sng" dirty="0"/>
            </a:p>
          </p:txBody>
        </p:sp>
        <p:sp>
          <p:nvSpPr>
            <p:cNvPr id="33" name="Text Box 13"/>
            <p:cNvSpPr txBox="1">
              <a:spLocks noChangeArrowheads="1"/>
            </p:cNvSpPr>
            <p:nvPr/>
          </p:nvSpPr>
          <p:spPr bwMode="auto">
            <a:xfrm>
              <a:off x="3510" y="2352"/>
              <a:ext cx="18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b="1"/>
                <a:t>C(s)+ZnO(g)</a:t>
              </a:r>
              <a:r>
                <a:rPr lang="en-US" altLang="zh-CN" sz="1400" b="1">
                  <a:sym typeface="Wingdings" panose="05000000000000000000" pitchFamily="2" charset="2"/>
                </a:rPr>
                <a:t></a:t>
              </a:r>
              <a:r>
                <a:rPr lang="en-US" altLang="zh-CN" sz="1400" b="1"/>
                <a:t>Zn(l)+CO</a:t>
              </a:r>
              <a:r>
                <a:rPr lang="en-US" altLang="zh-CN" sz="1400" b="1" baseline="-25000"/>
                <a:t>2</a:t>
              </a:r>
              <a:r>
                <a:rPr lang="en-US" altLang="zh-CN" sz="1400" b="1"/>
                <a:t>/CO(g)</a:t>
              </a:r>
              <a:endParaRPr lang="en-US" altLang="zh-CN" sz="1400" b="1" baseline="-25000"/>
            </a:p>
          </p:txBody>
        </p:sp>
        <p:sp>
          <p:nvSpPr>
            <p:cNvPr id="34" name="AutoShape 81"/>
            <p:cNvSpPr>
              <a:spLocks noChangeArrowheads="1"/>
            </p:cNvSpPr>
            <p:nvPr/>
          </p:nvSpPr>
          <p:spPr bwMode="auto">
            <a:xfrm>
              <a:off x="4302" y="1536"/>
              <a:ext cx="192" cy="144"/>
            </a:xfrm>
            <a:prstGeom prst="downArrow">
              <a:avLst>
                <a:gd name="adj1" fmla="val 50000"/>
                <a:gd name="adj2" fmla="val 25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35" name="Group 94"/>
            <p:cNvGrpSpPr/>
            <p:nvPr/>
          </p:nvGrpSpPr>
          <p:grpSpPr bwMode="auto">
            <a:xfrm>
              <a:off x="2526" y="1644"/>
              <a:ext cx="864" cy="660"/>
              <a:chOff x="2526" y="1644"/>
              <a:chExt cx="864" cy="660"/>
            </a:xfrm>
          </p:grpSpPr>
          <p:sp>
            <p:nvSpPr>
              <p:cNvPr id="36" name="AutoShape 37"/>
              <p:cNvSpPr>
                <a:spLocks noChangeArrowheads="1"/>
              </p:cNvSpPr>
              <p:nvPr/>
            </p:nvSpPr>
            <p:spPr bwMode="auto">
              <a:xfrm>
                <a:off x="2526" y="2051"/>
                <a:ext cx="864" cy="253"/>
              </a:xfrm>
              <a:prstGeom prst="cube">
                <a:avLst>
                  <a:gd name="adj" fmla="val 76032"/>
                </a:avLst>
              </a:prstGeom>
              <a:solidFill>
                <a:srgbClr val="66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37" name="AutoShape 38"/>
              <p:cNvSpPr>
                <a:spLocks noChangeArrowheads="1"/>
              </p:cNvSpPr>
              <p:nvPr/>
            </p:nvSpPr>
            <p:spPr bwMode="auto">
              <a:xfrm>
                <a:off x="2528" y="2022"/>
                <a:ext cx="670" cy="221"/>
              </a:xfrm>
              <a:prstGeom prst="cube">
                <a:avLst>
                  <a:gd name="adj" fmla="val 86120"/>
                </a:avLst>
              </a:prstGeom>
              <a:solidFill>
                <a:schemeClr val="tx1">
                  <a:lumMod val="50000"/>
                  <a:lumOff val="50000"/>
                </a:schemeClr>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nvGrpSpPr>
              <p:cNvPr id="38" name="Group 39"/>
              <p:cNvGrpSpPr/>
              <p:nvPr/>
            </p:nvGrpSpPr>
            <p:grpSpPr bwMode="auto">
              <a:xfrm>
                <a:off x="2831" y="1981"/>
                <a:ext cx="175" cy="185"/>
                <a:chOff x="1247" y="2614"/>
                <a:chExt cx="607" cy="464"/>
              </a:xfrm>
            </p:grpSpPr>
            <p:sp>
              <p:nvSpPr>
                <p:cNvPr id="46" name="Oval 40"/>
                <p:cNvSpPr>
                  <a:spLocks noChangeArrowheads="1"/>
                </p:cNvSpPr>
                <p:nvPr/>
              </p:nvSpPr>
              <p:spPr bwMode="auto">
                <a:xfrm>
                  <a:off x="1247" y="2614"/>
                  <a:ext cx="590" cy="363"/>
                </a:xfrm>
                <a:prstGeom prst="ellipse">
                  <a:avLst/>
                </a:prstGeom>
                <a:solidFill>
                  <a:srgbClr val="FF3300"/>
                </a:solidFill>
                <a:ln w="127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47" name="Line 41"/>
                <p:cNvSpPr>
                  <a:spLocks noChangeShapeType="1"/>
                </p:cNvSpPr>
                <p:nvPr/>
              </p:nvSpPr>
              <p:spPr bwMode="auto">
                <a:xfrm>
                  <a:off x="1338" y="2931"/>
                  <a:ext cx="40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Rectangle 42"/>
                <p:cNvSpPr>
                  <a:spLocks noChangeArrowheads="1"/>
                </p:cNvSpPr>
                <p:nvPr/>
              </p:nvSpPr>
              <p:spPr bwMode="auto">
                <a:xfrm>
                  <a:off x="1247" y="2931"/>
                  <a:ext cx="607" cy="14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grpSp>
            <p:nvGrpSpPr>
              <p:cNvPr id="39" name="Group 71"/>
              <p:cNvGrpSpPr/>
              <p:nvPr/>
            </p:nvGrpSpPr>
            <p:grpSpPr bwMode="auto">
              <a:xfrm>
                <a:off x="2610" y="1644"/>
                <a:ext cx="624" cy="290"/>
                <a:chOff x="4416" y="3502"/>
                <a:chExt cx="624" cy="290"/>
              </a:xfrm>
            </p:grpSpPr>
            <p:sp>
              <p:nvSpPr>
                <p:cNvPr id="44" name="Text Box 72"/>
                <p:cNvSpPr txBox="1">
                  <a:spLocks noChangeArrowheads="1"/>
                </p:cNvSpPr>
                <p:nvPr/>
              </p:nvSpPr>
              <p:spPr bwMode="auto">
                <a:xfrm>
                  <a:off x="4416" y="3502"/>
                  <a:ext cx="610"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Zn,O</a:t>
                  </a:r>
                  <a:r>
                    <a:rPr lang="en-US" altLang="zh-CN" sz="1200" b="1" baseline="-25000"/>
                    <a:t>2,</a:t>
                  </a:r>
                  <a:r>
                    <a:rPr lang="en-US" altLang="zh-CN" sz="1200" b="1"/>
                    <a:t> ZnO</a:t>
                  </a:r>
                  <a:endParaRPr lang="en-US" altLang="zh-CN" sz="1200" b="1" baseline="-25000"/>
                </a:p>
              </p:txBody>
            </p:sp>
            <p:sp>
              <p:nvSpPr>
                <p:cNvPr id="45" name="AutoShape 73"/>
                <p:cNvSpPr>
                  <a:spLocks noChangeArrowheads="1"/>
                </p:cNvSpPr>
                <p:nvPr/>
              </p:nvSpPr>
              <p:spPr bwMode="auto">
                <a:xfrm>
                  <a:off x="4416" y="3504"/>
                  <a:ext cx="624" cy="288"/>
                </a:xfrm>
                <a:prstGeom prst="downArrowCallout">
                  <a:avLst>
                    <a:gd name="adj1" fmla="val 54167"/>
                    <a:gd name="adj2" fmla="val 54167"/>
                    <a:gd name="adj3" fmla="val 16667"/>
                    <a:gd name="adj4" fmla="val 66667"/>
                  </a:avLst>
                </a:prstGeom>
                <a:noFill/>
                <a:ln w="12700">
                  <a:solidFill>
                    <a:schemeClr val="tx1"/>
                  </a:solidFill>
                  <a:prstDash val="dash"/>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grpSp>
          <p:sp>
            <p:nvSpPr>
              <p:cNvPr id="40" name="Line 90"/>
              <p:cNvSpPr>
                <a:spLocks noChangeShapeType="1"/>
              </p:cNvSpPr>
              <p:nvPr/>
            </p:nvSpPr>
            <p:spPr bwMode="auto">
              <a:xfrm>
                <a:off x="2736" y="2088"/>
                <a:ext cx="96"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91"/>
              <p:cNvSpPr>
                <a:spLocks noChangeShapeType="1"/>
              </p:cNvSpPr>
              <p:nvPr/>
            </p:nvSpPr>
            <p:spPr bwMode="auto">
              <a:xfrm flipH="1">
                <a:off x="2982" y="2094"/>
                <a:ext cx="96"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92"/>
              <p:cNvSpPr>
                <a:spLocks noChangeShapeType="1"/>
              </p:cNvSpPr>
              <p:nvPr/>
            </p:nvSpPr>
            <p:spPr bwMode="auto">
              <a:xfrm flipH="1" flipV="1">
                <a:off x="2928" y="2112"/>
                <a:ext cx="66" cy="8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93"/>
              <p:cNvSpPr>
                <a:spLocks noChangeShapeType="1"/>
              </p:cNvSpPr>
              <p:nvPr/>
            </p:nvSpPr>
            <p:spPr bwMode="auto">
              <a:xfrm flipV="1">
                <a:off x="2796" y="2118"/>
                <a:ext cx="78" cy="6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49" name="Title 48"/>
          <p:cNvSpPr>
            <a:spLocks noGrp="1"/>
          </p:cNvSpPr>
          <p:nvPr>
            <p:ph type="title"/>
          </p:nvPr>
        </p:nvSpPr>
        <p:spPr>
          <a:xfrm>
            <a:off x="457200" y="152400"/>
            <a:ext cx="5791200" cy="900336"/>
          </a:xfrm>
        </p:spPr>
        <p:txBody>
          <a:bodyPr>
            <a:normAutofit/>
          </a:bodyPr>
          <a:lstStyle/>
          <a:p>
            <a:r>
              <a:rPr lang="en-US" dirty="0"/>
              <a:t>Self-catalytic VLS Growth </a:t>
            </a:r>
          </a:p>
        </p:txBody>
      </p:sp>
      <p:pic>
        <p:nvPicPr>
          <p:cNvPr id="51" name="Picture 523" descr="nanoarray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417" y="1298847"/>
            <a:ext cx="3659973"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2"/>
          <p:cNvPicPr>
            <a:picLocks noChangeAspect="1" noChangeArrowheads="1"/>
          </p:cNvPicPr>
          <p:nvPr/>
        </p:nvPicPr>
        <p:blipFill rotWithShape="1">
          <a:blip r:embed="rId3">
            <a:lum bright="-30000" contrast="66000"/>
            <a:extLst>
              <a:ext uri="{28A0092B-C50C-407E-A947-70E740481C1C}">
                <a14:useLocalDpi xmlns:a14="http://schemas.microsoft.com/office/drawing/2010/main" val="0"/>
              </a:ext>
            </a:extLst>
          </a:blip>
          <a:srcRect l="2815" t="-1086" r="49867" b="2887"/>
          <a:stretch>
            <a:fillRect/>
          </a:stretch>
        </p:blipFill>
        <p:spPr bwMode="auto">
          <a:xfrm>
            <a:off x="61937" y="3723343"/>
            <a:ext cx="1944571" cy="2744293"/>
          </a:xfrm>
          <a:prstGeom prst="rect">
            <a:avLst/>
          </a:prstGeom>
          <a:noFill/>
          <a:ln w="28575">
            <a:noFill/>
            <a:miter lim="800000"/>
            <a:headEnd/>
            <a:tailEnd/>
          </a:ln>
          <a:extLst>
            <a:ext uri="{909E8E84-426E-40DD-AFC4-6F175D3DCCD1}">
              <a14:hiddenFill xmlns:a14="http://schemas.microsoft.com/office/drawing/2010/main">
                <a:solidFill>
                  <a:srgbClr val="FFFFFF"/>
                </a:solidFill>
              </a14:hiddenFill>
            </a:ext>
          </a:extLst>
        </p:spPr>
      </p:pic>
      <p:sp>
        <p:nvSpPr>
          <p:cNvPr id="53" name="AutoShape 34"/>
          <p:cNvSpPr>
            <a:spLocks noChangeArrowheads="1"/>
          </p:cNvSpPr>
          <p:nvPr/>
        </p:nvSpPr>
        <p:spPr bwMode="auto">
          <a:xfrm>
            <a:off x="4265798" y="2216869"/>
            <a:ext cx="1371600" cy="401637"/>
          </a:xfrm>
          <a:prstGeom prst="cube">
            <a:avLst>
              <a:gd name="adj" fmla="val 76032"/>
            </a:avLst>
          </a:prstGeom>
          <a:solidFill>
            <a:srgbClr val="66FFFF"/>
          </a:solidFill>
          <a:ln w="12700">
            <a:solidFill>
              <a:schemeClr val="tx1"/>
            </a:solidFill>
            <a:miter lim="800000"/>
          </a:ln>
          <a:effec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en-US" altLang="en-US"/>
          </a:p>
        </p:txBody>
      </p:sp>
      <p:sp>
        <p:nvSpPr>
          <p:cNvPr id="54" name="AutoShape 35"/>
          <p:cNvSpPr>
            <a:spLocks noChangeArrowheads="1"/>
          </p:cNvSpPr>
          <p:nvPr/>
        </p:nvSpPr>
        <p:spPr bwMode="auto">
          <a:xfrm>
            <a:off x="4268973" y="2170831"/>
            <a:ext cx="1063625" cy="350838"/>
          </a:xfrm>
          <a:prstGeom prst="cube">
            <a:avLst>
              <a:gd name="adj" fmla="val 86120"/>
            </a:avLst>
          </a:prstGeom>
          <a:solidFill>
            <a:schemeClr val="accent2"/>
          </a:solidFill>
          <a:ln w="12700">
            <a:solidFill>
              <a:schemeClr val="tx1"/>
            </a:solidFill>
            <a:miter lim="800000"/>
          </a:ln>
          <a:effectLst/>
        </p:spPr>
        <p:txBody>
          <a:bodyPr wrap="none" anchor="ctr"/>
          <a:lstStyle/>
          <a:p>
            <a:endParaRPr lang="en-US" altLang="en-US" sz="800">
              <a:latin typeface="Arial" panose="020B0604020202020204" pitchFamily="34" charset="0"/>
            </a:endParaRPr>
          </a:p>
        </p:txBody>
      </p:sp>
      <p:sp>
        <p:nvSpPr>
          <p:cNvPr id="55" name="Rectangle 17"/>
          <p:cNvSpPr>
            <a:spLocks noChangeArrowheads="1"/>
          </p:cNvSpPr>
          <p:nvPr/>
        </p:nvSpPr>
        <p:spPr bwMode="auto">
          <a:xfrm>
            <a:off x="6386698" y="2221631"/>
            <a:ext cx="1612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ym typeface="Wingdings" panose="05000000000000000000" pitchFamily="2" charset="2"/>
              </a:rPr>
              <a:t>PR is</a:t>
            </a:r>
            <a:r>
              <a:rPr lang="en-US" altLang="zh-CN" sz="1400" b="1">
                <a:solidFill>
                  <a:srgbClr val="800000"/>
                </a:solidFill>
                <a:sym typeface="Wingdings" panose="05000000000000000000" pitchFamily="2" charset="2"/>
              </a:rPr>
              <a:t> carbonized</a:t>
            </a:r>
            <a:endParaRPr lang="en-US" altLang="zh-CN" sz="1400" b="1">
              <a:solidFill>
                <a:srgbClr val="800000"/>
              </a:solidFill>
            </a:endParaRPr>
          </a:p>
        </p:txBody>
      </p:sp>
      <p:sp>
        <p:nvSpPr>
          <p:cNvPr id="56" name="Rectangle 17"/>
          <p:cNvSpPr>
            <a:spLocks noChangeArrowheads="1"/>
          </p:cNvSpPr>
          <p:nvPr/>
        </p:nvSpPr>
        <p:spPr bwMode="auto">
          <a:xfrm>
            <a:off x="4265798" y="1580281"/>
            <a:ext cx="1731963" cy="33655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solidFill>
                  <a:srgbClr val="800000"/>
                </a:solidFill>
                <a:sym typeface="Wingdings" panose="05000000000000000000" pitchFamily="2" charset="2"/>
              </a:rPr>
              <a:t>Growth process</a:t>
            </a:r>
            <a:endParaRPr lang="en-US" altLang="zh-CN" sz="1600" b="1">
              <a:solidFill>
                <a:srgbClr val="800000"/>
              </a:solidFill>
            </a:endParaRPr>
          </a:p>
        </p:txBody>
      </p:sp>
      <p:pic>
        <p:nvPicPr>
          <p:cNvPr id="6144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b="1437"/>
          <a:stretch>
            <a:fillRect/>
          </a:stretch>
        </p:blipFill>
        <p:spPr bwMode="auto">
          <a:xfrm>
            <a:off x="2353801" y="3703414"/>
            <a:ext cx="1176338" cy="2858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箭头: 右 1"/>
          <p:cNvSpPr/>
          <p:nvPr/>
        </p:nvSpPr>
        <p:spPr>
          <a:xfrm>
            <a:off x="1790484" y="2010682"/>
            <a:ext cx="216024" cy="181991"/>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700" name="Rectangle 4"/>
          <p:cNvSpPr>
            <a:spLocks noChangeArrowheads="1"/>
          </p:cNvSpPr>
          <p:nvPr/>
        </p:nvSpPr>
        <p:spPr bwMode="auto">
          <a:xfrm>
            <a:off x="179512" y="627063"/>
            <a:ext cx="51001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800" b="1" cap="all"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3. </a:t>
            </a:r>
            <a:r>
              <a:rPr lang="en-US" altLang="zh-CN" sz="2800" b="1"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Bravais Law </a:t>
            </a:r>
            <a:r>
              <a:rPr lang="en-US" altLang="zh-CN" sz="2800" b="1" cap="all"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a:t>
            </a:r>
            <a:r>
              <a:rPr lang="zh-CN" altLang="en-US" sz="2800" b="1" cap="all"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布拉维法则</a:t>
            </a:r>
            <a:r>
              <a:rPr lang="en-US" altLang="zh-CN" sz="2800" b="1" cap="all"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a:t>
            </a:r>
            <a:endParaRPr lang="zh-CN" altLang="en-US" sz="2800" b="1" cap="all"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endParaRPr>
          </a:p>
        </p:txBody>
      </p:sp>
      <p:grpSp>
        <p:nvGrpSpPr>
          <p:cNvPr id="9" name="Group 8"/>
          <p:cNvGrpSpPr/>
          <p:nvPr/>
        </p:nvGrpSpPr>
        <p:grpSpPr>
          <a:xfrm>
            <a:off x="236231" y="1870528"/>
            <a:ext cx="4098597" cy="2405987"/>
            <a:chOff x="3347864" y="1988840"/>
            <a:chExt cx="5244076" cy="3078414"/>
          </a:xfrm>
        </p:grpSpPr>
        <p:pic>
          <p:nvPicPr>
            <p:cNvPr id="348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1988840"/>
              <a:ext cx="5244076" cy="30784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Arrow Connector 2"/>
            <p:cNvCxnSpPr/>
            <p:nvPr/>
          </p:nvCxnSpPr>
          <p:spPr>
            <a:xfrm flipH="1">
              <a:off x="6586695" y="3094080"/>
              <a:ext cx="1529" cy="23192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V="1">
              <a:off x="7119257" y="3461657"/>
              <a:ext cx="356717" cy="27130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7465925" y="4441371"/>
              <a:ext cx="246185"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564696" y="3020293"/>
              <a:ext cx="400357" cy="354415"/>
            </a:xfrm>
            <a:prstGeom prst="rect">
              <a:avLst/>
            </a:prstGeom>
            <a:noFill/>
          </p:spPr>
          <p:txBody>
            <a:bodyPr wrap="none" rtlCol="0">
              <a:spAutoFit/>
            </a:bodyPr>
            <a:lstStyle/>
            <a:p>
              <a:r>
                <a:rPr lang="en-US" altLang="zh-CN" sz="1200" dirty="0"/>
                <a:t>h</a:t>
              </a:r>
              <a:r>
                <a:rPr lang="en-US" altLang="zh-CN" sz="1200" baseline="-25000" dirty="0"/>
                <a:t>1</a:t>
              </a:r>
              <a:endParaRPr lang="en-US" sz="1200" baseline="-25000" dirty="0"/>
            </a:p>
          </p:txBody>
        </p:sp>
        <p:sp>
          <p:nvSpPr>
            <p:cNvPr id="12" name="TextBox 11"/>
            <p:cNvSpPr txBox="1"/>
            <p:nvPr/>
          </p:nvSpPr>
          <p:spPr>
            <a:xfrm>
              <a:off x="7424506" y="4098467"/>
              <a:ext cx="400357" cy="354415"/>
            </a:xfrm>
            <a:prstGeom prst="rect">
              <a:avLst/>
            </a:prstGeom>
            <a:noFill/>
          </p:spPr>
          <p:txBody>
            <a:bodyPr wrap="none" rtlCol="0">
              <a:spAutoFit/>
            </a:bodyPr>
            <a:lstStyle/>
            <a:p>
              <a:r>
                <a:rPr lang="en-US" altLang="zh-CN" sz="1200" dirty="0"/>
                <a:t>h</a:t>
              </a:r>
              <a:r>
                <a:rPr lang="en-US" altLang="zh-CN" sz="1200" baseline="-25000" dirty="0"/>
                <a:t>2</a:t>
              </a:r>
              <a:endParaRPr lang="en-US" sz="1200" baseline="-25000" dirty="0"/>
            </a:p>
          </p:txBody>
        </p:sp>
        <p:sp>
          <p:nvSpPr>
            <p:cNvPr id="13" name="TextBox 12"/>
            <p:cNvSpPr txBox="1"/>
            <p:nvPr/>
          </p:nvSpPr>
          <p:spPr>
            <a:xfrm>
              <a:off x="7233439" y="3511613"/>
              <a:ext cx="400357" cy="354415"/>
            </a:xfrm>
            <a:prstGeom prst="rect">
              <a:avLst/>
            </a:prstGeom>
            <a:noFill/>
          </p:spPr>
          <p:txBody>
            <a:bodyPr wrap="none" rtlCol="0">
              <a:spAutoFit/>
            </a:bodyPr>
            <a:lstStyle/>
            <a:p>
              <a:r>
                <a:rPr lang="en-US" altLang="zh-CN" sz="1200" dirty="0"/>
                <a:t>h</a:t>
              </a:r>
              <a:r>
                <a:rPr lang="en-US" altLang="zh-CN" sz="1200" baseline="-25000" dirty="0"/>
                <a:t>3</a:t>
              </a:r>
              <a:endParaRPr lang="en-US" sz="1200" baseline="-25000" dirty="0"/>
            </a:p>
          </p:txBody>
        </p:sp>
      </p:grpSp>
      <p:sp>
        <p:nvSpPr>
          <p:cNvPr id="10" name="Rectangle 9"/>
          <p:cNvSpPr/>
          <p:nvPr/>
        </p:nvSpPr>
        <p:spPr>
          <a:xfrm>
            <a:off x="611560" y="1124744"/>
            <a:ext cx="8064896" cy="830997"/>
          </a:xfrm>
          <a:prstGeom prst="rect">
            <a:avLst/>
          </a:prstGeom>
        </p:spPr>
        <p:txBody>
          <a:bodyPr wrap="square">
            <a:spAutoFit/>
          </a:bodyPr>
          <a:lstStyle/>
          <a:p>
            <a:r>
              <a:rPr lang="en-US" altLang="zh-CN" b="1" dirty="0"/>
              <a:t>The exposed facets on ideal crystals are often parallel to the nets with large net density (net spacing is also large).</a:t>
            </a:r>
            <a:endParaRPr lang="en-US" b="1" dirty="0"/>
          </a:p>
        </p:txBody>
      </p:sp>
      <p:sp>
        <p:nvSpPr>
          <p:cNvPr id="11" name="Rectangle 10"/>
          <p:cNvSpPr/>
          <p:nvPr/>
        </p:nvSpPr>
        <p:spPr>
          <a:xfrm>
            <a:off x="4447329" y="2132856"/>
            <a:ext cx="4572000" cy="4401205"/>
          </a:xfrm>
          <a:prstGeom prst="rect">
            <a:avLst/>
          </a:prstGeom>
        </p:spPr>
        <p:txBody>
          <a:bodyPr>
            <a:spAutoFit/>
          </a:bodyPr>
          <a:lstStyle/>
          <a:p>
            <a:r>
              <a:rPr lang="en-US" altLang="zh-CN" sz="2000" b="1" dirty="0">
                <a:solidFill>
                  <a:srgbClr val="FF0000"/>
                </a:solidFill>
              </a:rPr>
              <a:t>The relative growth rate of crystal faces is inversely proportional to the density of the nodes on the net surface. (</a:t>
            </a:r>
            <a:r>
              <a:rPr lang="zh-CN" altLang="en-US" sz="2000" b="1" dirty="0">
                <a:solidFill>
                  <a:srgbClr val="FF0000"/>
                </a:solidFill>
              </a:rPr>
              <a:t>晶面法向生长速度和该晶面的面间距</a:t>
            </a:r>
            <a:r>
              <a:rPr lang="en-US" altLang="zh-CN" sz="2000" b="1" dirty="0">
                <a:solidFill>
                  <a:srgbClr val="FF0000"/>
                </a:solidFill>
              </a:rPr>
              <a:t>/</a:t>
            </a:r>
            <a:r>
              <a:rPr lang="zh-CN" altLang="en-US" sz="2000" b="1" dirty="0">
                <a:solidFill>
                  <a:srgbClr val="FF0000"/>
                </a:solidFill>
              </a:rPr>
              <a:t>面密度成反比）</a:t>
            </a:r>
            <a:endParaRPr lang="en-US" altLang="zh-CN" sz="2000" b="1" dirty="0">
              <a:solidFill>
                <a:srgbClr val="FF0000"/>
              </a:solidFill>
            </a:endParaRPr>
          </a:p>
          <a:p>
            <a:endParaRPr lang="en-US" altLang="zh-CN" sz="2000" dirty="0"/>
          </a:p>
          <a:p>
            <a:r>
              <a:rPr lang="en-US" altLang="zh-CN" sz="2000" b="1" dirty="0"/>
              <a:t>Why?</a:t>
            </a:r>
          </a:p>
          <a:p>
            <a:r>
              <a:rPr lang="en-US" altLang="zh-CN" sz="2000" dirty="0"/>
              <a:t>The larger net density </a:t>
            </a:r>
            <a:r>
              <a:rPr lang="en-US" altLang="zh-CN" sz="2000" dirty="0">
                <a:sym typeface="Wingdings" panose="05000000000000000000" pitchFamily="2" charset="2"/>
              </a:rPr>
              <a:t></a:t>
            </a:r>
            <a:r>
              <a:rPr lang="en-US" altLang="zh-CN" sz="2000" b="1" dirty="0">
                <a:solidFill>
                  <a:srgbClr val="FF0000"/>
                </a:solidFill>
                <a:sym typeface="Wingdings" panose="05000000000000000000" pitchFamily="2" charset="2"/>
              </a:rPr>
              <a:t>the larger net</a:t>
            </a:r>
            <a:r>
              <a:rPr lang="en-US" altLang="zh-CN" sz="2000" b="1" dirty="0">
                <a:solidFill>
                  <a:srgbClr val="FF0000"/>
                </a:solidFill>
              </a:rPr>
              <a:t> spacing </a:t>
            </a:r>
            <a:r>
              <a:rPr lang="en-US" altLang="zh-CN" sz="2000" b="1" dirty="0">
                <a:solidFill>
                  <a:srgbClr val="FF0000"/>
                </a:solidFill>
                <a:sym typeface="Wingdings" panose="05000000000000000000" pitchFamily="2" charset="2"/>
              </a:rPr>
              <a:t></a:t>
            </a:r>
            <a:r>
              <a:rPr lang="en-US" altLang="zh-CN" sz="2000" b="1" dirty="0">
                <a:solidFill>
                  <a:srgbClr val="FF0000"/>
                </a:solidFill>
              </a:rPr>
              <a:t> the smaller the attraction to growth particles</a:t>
            </a:r>
            <a:r>
              <a:rPr lang="en-US" altLang="zh-CN" sz="2000" dirty="0"/>
              <a:t> </a:t>
            </a:r>
            <a:r>
              <a:rPr lang="en-US" altLang="zh-CN" sz="2000" dirty="0">
                <a:sym typeface="Wingdings" panose="05000000000000000000" pitchFamily="2" charset="2"/>
              </a:rPr>
              <a:t> the slower the</a:t>
            </a:r>
            <a:r>
              <a:rPr lang="en-US" altLang="zh-CN" sz="2000" dirty="0"/>
              <a:t> growth rate normal to the net </a:t>
            </a:r>
            <a:r>
              <a:rPr lang="en-US" altLang="zh-CN" sz="2000" dirty="0">
                <a:sym typeface="Wingdings" panose="05000000000000000000" pitchFamily="2" charset="2"/>
              </a:rPr>
              <a:t></a:t>
            </a:r>
            <a:r>
              <a:rPr lang="en-US" altLang="zh-CN" sz="2000" dirty="0"/>
              <a:t> The net/facet retains.</a:t>
            </a:r>
          </a:p>
          <a:p>
            <a:endParaRPr lang="en-US" altLang="zh-CN" sz="2000" dirty="0"/>
          </a:p>
          <a:p>
            <a:r>
              <a:rPr lang="en-US" altLang="zh-CN" sz="2000" b="1" dirty="0">
                <a:solidFill>
                  <a:srgbClr val="FF0000"/>
                </a:solidFill>
              </a:rPr>
              <a:t>And vice versa</a:t>
            </a:r>
            <a:r>
              <a:rPr lang="zh-CN" altLang="en-US" sz="2000" b="1" dirty="0">
                <a:solidFill>
                  <a:srgbClr val="FF0000"/>
                </a:solidFill>
              </a:rPr>
              <a:t>！</a:t>
            </a:r>
            <a:endParaRPr lang="en-US" altLang="zh-CN" sz="2000" b="1" dirty="0">
              <a:solidFill>
                <a:srgbClr val="FF0000"/>
              </a:solidFill>
            </a:endParaRPr>
          </a:p>
        </p:txBody>
      </p:sp>
      <p:sp>
        <p:nvSpPr>
          <p:cNvPr id="14" name="TextBox 13"/>
          <p:cNvSpPr txBox="1"/>
          <p:nvPr/>
        </p:nvSpPr>
        <p:spPr>
          <a:xfrm>
            <a:off x="739900" y="4781470"/>
            <a:ext cx="2539861" cy="1815882"/>
          </a:xfrm>
          <a:prstGeom prst="rect">
            <a:avLst/>
          </a:prstGeom>
          <a:noFill/>
        </p:spPr>
        <p:txBody>
          <a:bodyPr wrap="square" rtlCol="0">
            <a:spAutoFit/>
          </a:bodyPr>
          <a:lstStyle/>
          <a:p>
            <a:r>
              <a:rPr lang="en-US" altLang="zh-CN" dirty="0"/>
              <a:t>Net density</a:t>
            </a:r>
            <a:r>
              <a:rPr lang="zh-CN" altLang="en-US" dirty="0"/>
              <a:t>（</a:t>
            </a:r>
            <a:r>
              <a:rPr lang="en-US" altLang="zh-CN" dirty="0"/>
              <a:t>D</a:t>
            </a:r>
            <a:r>
              <a:rPr lang="zh-CN" altLang="en-US" dirty="0"/>
              <a:t>）</a:t>
            </a:r>
            <a:endParaRPr lang="en-US" altLang="zh-CN" dirty="0"/>
          </a:p>
          <a:p>
            <a:r>
              <a:rPr lang="en-US" altLang="zh-CN" dirty="0"/>
              <a:t>D</a:t>
            </a:r>
            <a:r>
              <a:rPr lang="en-US" altLang="zh-CN" baseline="-25000" dirty="0"/>
              <a:t>AB</a:t>
            </a:r>
            <a:r>
              <a:rPr lang="en-US" altLang="zh-CN" dirty="0"/>
              <a:t>&gt;D</a:t>
            </a:r>
            <a:r>
              <a:rPr lang="en-US" altLang="zh-CN" baseline="-25000" dirty="0"/>
              <a:t>CD</a:t>
            </a:r>
            <a:r>
              <a:rPr lang="en-US" altLang="zh-CN" dirty="0"/>
              <a:t>&gt;D</a:t>
            </a:r>
            <a:r>
              <a:rPr lang="en-US" altLang="zh-CN" baseline="-25000" dirty="0"/>
              <a:t>BC</a:t>
            </a:r>
            <a:r>
              <a:rPr lang="en-US" altLang="zh-CN" dirty="0"/>
              <a:t>;</a:t>
            </a:r>
          </a:p>
          <a:p>
            <a:endParaRPr lang="en-US" altLang="zh-CN" baseline="-25000" dirty="0"/>
          </a:p>
          <a:p>
            <a:r>
              <a:rPr lang="en-US" altLang="zh-CN" dirty="0"/>
              <a:t>Net spacing</a:t>
            </a:r>
            <a:r>
              <a:rPr lang="zh-CN" altLang="en-US" dirty="0"/>
              <a:t>（</a:t>
            </a:r>
            <a:r>
              <a:rPr lang="en-US" altLang="zh-CN" dirty="0"/>
              <a:t>d</a:t>
            </a:r>
            <a:r>
              <a:rPr lang="zh-CN" altLang="en-US" dirty="0"/>
              <a:t>）</a:t>
            </a:r>
            <a:endParaRPr lang="en-US" altLang="zh-CN" dirty="0"/>
          </a:p>
          <a:p>
            <a:r>
              <a:rPr lang="en-US" altLang="zh-CN" dirty="0" err="1"/>
              <a:t>d</a:t>
            </a:r>
            <a:r>
              <a:rPr lang="en-US" altLang="zh-CN" baseline="-25000" dirty="0" err="1"/>
              <a:t>AB</a:t>
            </a:r>
            <a:r>
              <a:rPr lang="en-US" altLang="zh-CN" dirty="0"/>
              <a:t>&gt;</a:t>
            </a:r>
            <a:r>
              <a:rPr lang="en-US" altLang="zh-CN" dirty="0" err="1"/>
              <a:t>d</a:t>
            </a:r>
            <a:r>
              <a:rPr lang="en-US" altLang="zh-CN" baseline="-25000" dirty="0" err="1"/>
              <a:t>CD</a:t>
            </a:r>
            <a:r>
              <a:rPr lang="en-US" altLang="zh-CN" dirty="0"/>
              <a:t>&gt;</a:t>
            </a:r>
            <a:r>
              <a:rPr lang="en-US" altLang="zh-CN" dirty="0" err="1"/>
              <a:t>d</a:t>
            </a:r>
            <a:r>
              <a:rPr lang="en-US" altLang="zh-CN" baseline="-25000" dirty="0" err="1"/>
              <a:t>BC</a:t>
            </a:r>
            <a:r>
              <a:rPr lang="en-US" altLang="zh-CN" dirty="0"/>
              <a:t>;</a:t>
            </a:r>
          </a:p>
        </p:txBody>
      </p:sp>
      <p:sp>
        <p:nvSpPr>
          <p:cNvPr id="15" name="Rectangle 14"/>
          <p:cNvSpPr/>
          <p:nvPr/>
        </p:nvSpPr>
        <p:spPr>
          <a:xfrm>
            <a:off x="529744" y="4442916"/>
            <a:ext cx="3182410" cy="338554"/>
          </a:xfrm>
          <a:prstGeom prst="rect">
            <a:avLst/>
          </a:prstGeom>
        </p:spPr>
        <p:txBody>
          <a:bodyPr wrap="none">
            <a:spAutoFit/>
          </a:bodyPr>
          <a:lstStyle/>
          <a:p>
            <a:r>
              <a:rPr lang="en-US" altLang="zh-CN" sz="1600" b="1" spc="-60" dirty="0">
                <a:latin typeface="Arial Black" panose="020B0A04020102020204"/>
                <a:ea typeface="微软雅黑" panose="020B0503020204020204" pitchFamily="34" charset="-122"/>
              </a:rPr>
              <a:t>Sketch map for Bravais law </a:t>
            </a:r>
            <a:r>
              <a:rPr lang="zh-CN" altLang="en-US" sz="1600" b="1" spc="-60" dirty="0">
                <a:latin typeface="Arial Black" panose="020B0A04020102020204"/>
                <a:ea typeface="微软雅黑" panose="020B0503020204020204" pitchFamily="34" charset="-122"/>
              </a:rPr>
              <a:t> </a:t>
            </a:r>
            <a:endParaRPr lang="en-US" sz="1600" dirty="0"/>
          </a:p>
        </p:txBody>
      </p:sp>
      <p:cxnSp>
        <p:nvCxnSpPr>
          <p:cNvPr id="6" name="Straight Connector 5"/>
          <p:cNvCxnSpPr/>
          <p:nvPr/>
        </p:nvCxnSpPr>
        <p:spPr>
          <a:xfrm>
            <a:off x="1311382" y="2424916"/>
            <a:ext cx="497092" cy="63576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80253" y="2440284"/>
            <a:ext cx="826859"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818541" y="3060677"/>
            <a:ext cx="0" cy="87237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3" name="Text Box 6"/>
          <p:cNvSpPr txBox="1">
            <a:spLocks noChangeArrowheads="1"/>
          </p:cNvSpPr>
          <p:nvPr/>
        </p:nvSpPr>
        <p:spPr bwMode="auto">
          <a:xfrm>
            <a:off x="107504" y="1077956"/>
            <a:ext cx="5832648"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eaLnBrk="0" hangingPunct="0">
              <a:spcBef>
                <a:spcPct val="20000"/>
              </a:spcBef>
              <a:buClr>
                <a:schemeClr val="tx2"/>
              </a:buClr>
              <a:buFont typeface="Arial" panose="020B0604020202020204" pitchFamily="34" charset="0"/>
              <a:buChar char="•"/>
              <a:defRPr sz="2000">
                <a:solidFill>
                  <a:schemeClr val="tx1"/>
                </a:solidFill>
                <a:latin typeface="Arial" panose="020B0604020202020204" pitchFamily="34" charset="0"/>
                <a:ea typeface="黑体" panose="02010609060101010101" pitchFamily="49" charset="-122"/>
              </a:defRPr>
            </a:lvl2pPr>
            <a:lvl3pPr marL="11430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3pPr>
            <a:lvl4pPr marL="16002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4pPr>
            <a:lvl5pPr marL="2057400" indent="-228600" eaLnBrk="0" hangingPunct="0">
              <a:spcBef>
                <a:spcPct val="20000"/>
              </a:spcBef>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Arial" panose="020B0604020202020204" pitchFamily="34" charset="0"/>
                <a:ea typeface="黑体" panose="02010609060101010101" pitchFamily="49" charset="-122"/>
              </a:defRPr>
            </a:lvl9pPr>
          </a:lstStyle>
          <a:p>
            <a:pPr marL="514350" indent="-514350" eaLnBrk="1" hangingPunct="1">
              <a:lnSpc>
                <a:spcPct val="160000"/>
              </a:lnSpc>
              <a:spcBef>
                <a:spcPct val="50000"/>
              </a:spcBef>
              <a:spcAft>
                <a:spcPct val="0"/>
              </a:spcAft>
              <a:buFont typeface="+mj-lt"/>
              <a:buAutoNum type="arabicPeriod"/>
            </a:pPr>
            <a:r>
              <a:rPr lang="en-US" altLang="zh-CN" b="0" dirty="0">
                <a:latin typeface="+mn-lt"/>
                <a:ea typeface="宋体" panose="02010600030101010101" pitchFamily="2" charset="-122"/>
              </a:rPr>
              <a:t>It can be used to explain the phenomena that why the facets of big crystals are few and simple, and the facets of small crystals are various and complex.</a:t>
            </a:r>
          </a:p>
          <a:p>
            <a:pPr marL="514350" indent="-514350" eaLnBrk="1" hangingPunct="1">
              <a:lnSpc>
                <a:spcPct val="160000"/>
              </a:lnSpc>
              <a:spcBef>
                <a:spcPct val="50000"/>
              </a:spcBef>
              <a:spcAft>
                <a:spcPct val="0"/>
              </a:spcAft>
              <a:buFont typeface="+mj-lt"/>
              <a:buAutoNum type="arabicPeriod"/>
            </a:pPr>
            <a:r>
              <a:rPr lang="en-US" altLang="zh-CN" b="0" dirty="0">
                <a:latin typeface="+mn-lt"/>
                <a:ea typeface="宋体" panose="02010600030101010101" pitchFamily="2" charset="-122"/>
              </a:rPr>
              <a:t>Bravais law is based on space lattice constructed by the abstract nodes instead of  real crystal structures. Therefore, in some cases, there may be some deviations from the actual situation.</a:t>
            </a:r>
          </a:p>
          <a:p>
            <a:pPr marL="514350" indent="-514350" eaLnBrk="1" hangingPunct="1">
              <a:lnSpc>
                <a:spcPct val="160000"/>
              </a:lnSpc>
              <a:spcBef>
                <a:spcPct val="50000"/>
              </a:spcBef>
              <a:spcAft>
                <a:spcPct val="0"/>
              </a:spcAft>
              <a:buFont typeface="+mj-lt"/>
              <a:buAutoNum type="arabicPeriod"/>
            </a:pPr>
            <a:r>
              <a:rPr lang="en-US" altLang="zh-CN" b="0" dirty="0">
                <a:latin typeface="+mn-lt"/>
                <a:ea typeface="宋体" panose="02010600030101010101" pitchFamily="2" charset="-122"/>
              </a:rPr>
              <a:t>Only consider crystals and ignore the practical growth conditions.</a:t>
            </a:r>
            <a:endParaRPr lang="zh-CN" altLang="en-US" b="0" dirty="0">
              <a:latin typeface="+mn-lt"/>
              <a:ea typeface="宋体" panose="02010600030101010101" pitchFamily="2" charset="-122"/>
            </a:endParaRPr>
          </a:p>
        </p:txBody>
      </p:sp>
      <p:sp>
        <p:nvSpPr>
          <p:cNvPr id="2" name="Title 1"/>
          <p:cNvSpPr>
            <a:spLocks noGrp="1"/>
          </p:cNvSpPr>
          <p:nvPr>
            <p:ph type="title"/>
          </p:nvPr>
        </p:nvSpPr>
        <p:spPr>
          <a:xfrm>
            <a:off x="35496" y="540585"/>
            <a:ext cx="6120680" cy="543272"/>
          </a:xfrm>
        </p:spPr>
        <p:txBody>
          <a:bodyPr>
            <a:normAutofit fontScale="90000"/>
          </a:bodyPr>
          <a:lstStyle/>
          <a:p>
            <a:r>
              <a:rPr lang="en-US" altLang="zh-CN" sz="2800" cap="none" dirty="0">
                <a:latin typeface="Arial Black" panose="020B0A04020102020204"/>
                <a:ea typeface="微软雅黑" panose="020B0503020204020204" pitchFamily="34" charset="-122"/>
                <a:cs typeface="+mn-cs"/>
              </a:rPr>
              <a:t>Advantages and shortcoming of Bravais law</a:t>
            </a:r>
            <a:endParaRPr lang="en-US" sz="2800" cap="none" dirty="0">
              <a:latin typeface="Arial Black" panose="020B0A04020102020204"/>
              <a:ea typeface="微软雅黑" panose="020B0503020204020204" pitchFamily="34" charset="-122"/>
              <a:cs typeface="+mn-cs"/>
            </a:endParaRPr>
          </a:p>
        </p:txBody>
      </p:sp>
      <p:pic>
        <p:nvPicPr>
          <p:cNvPr id="6" name="Picture 133" descr="Schematic representation of cross section of crystal at three stages of regular growth."/>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228184" y="4451176"/>
            <a:ext cx="225425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Line 416"/>
          <p:cNvSpPr>
            <a:spLocks noChangeShapeType="1"/>
          </p:cNvSpPr>
          <p:nvPr/>
        </p:nvSpPr>
        <p:spPr bwMode="auto">
          <a:xfrm flipV="1">
            <a:off x="8060283" y="3727276"/>
            <a:ext cx="342900" cy="1181100"/>
          </a:xfrm>
          <a:prstGeom prst="line">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17"/>
          <p:cNvSpPr>
            <a:spLocks noChangeShapeType="1"/>
          </p:cNvSpPr>
          <p:nvPr/>
        </p:nvSpPr>
        <p:spPr bwMode="auto">
          <a:xfrm flipH="1" flipV="1">
            <a:off x="6876256" y="4070176"/>
            <a:ext cx="422027" cy="533400"/>
          </a:xfrm>
          <a:prstGeom prst="line">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Rectangle 418"/>
          <p:cNvSpPr>
            <a:spLocks noChangeArrowheads="1"/>
          </p:cNvSpPr>
          <p:nvPr/>
        </p:nvSpPr>
        <p:spPr bwMode="auto">
          <a:xfrm>
            <a:off x="7317081" y="2661450"/>
            <a:ext cx="1981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dirty="0">
                <a:effectLst>
                  <a:outerShdw blurRad="38100" dist="38100" dir="2700000" algn="tl">
                    <a:srgbClr val="000000">
                      <a:alpha val="43137"/>
                    </a:srgbClr>
                  </a:outerShdw>
                </a:effectLst>
              </a:rPr>
              <a:t>Fast growth speed</a:t>
            </a:r>
            <a:endParaRPr lang="zh-CN" altLang="en-US" b="1" dirty="0">
              <a:effectLst>
                <a:outerShdw blurRad="38100" dist="38100" dir="2700000" algn="tl">
                  <a:srgbClr val="000000">
                    <a:alpha val="43137"/>
                  </a:srgbClr>
                </a:outerShdw>
              </a:effectLst>
            </a:endParaRPr>
          </a:p>
        </p:txBody>
      </p:sp>
      <p:sp>
        <p:nvSpPr>
          <p:cNvPr id="10" name="Rectangle 419"/>
          <p:cNvSpPr>
            <a:spLocks noChangeArrowheads="1"/>
          </p:cNvSpPr>
          <p:nvPr/>
        </p:nvSpPr>
        <p:spPr bwMode="auto">
          <a:xfrm>
            <a:off x="5885668" y="3498676"/>
            <a:ext cx="1828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dirty="0">
                <a:effectLst>
                  <a:outerShdw blurRad="38100" dist="38100" dir="2700000" algn="tl">
                    <a:srgbClr val="000000">
                      <a:alpha val="43137"/>
                    </a:srgbClr>
                  </a:outerShdw>
                </a:effectLst>
              </a:rPr>
              <a:t>Slow growth speed</a:t>
            </a:r>
            <a:endParaRPr lang="zh-CN" altLang="en-US" b="1" dirty="0">
              <a:effectLst>
                <a:outerShdw blurRad="38100" dist="38100" dir="2700000" algn="tl">
                  <a:srgbClr val="000000">
                    <a:alpha val="43137"/>
                  </a:srgbClr>
                </a:outerShdw>
              </a:effectLs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3" presetClass="entr" presetSubtype="32"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plus(out)">
                                      <p:cBhvr>
                                        <p:cTn id="13" dur="10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3" presetClass="entr" presetSubtype="32"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plus(out)">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linds(horizontal)">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540585"/>
            <a:ext cx="6120680" cy="543272"/>
          </a:xfrm>
        </p:spPr>
        <p:txBody>
          <a:bodyPr>
            <a:normAutofit/>
          </a:bodyPr>
          <a:lstStyle/>
          <a:p>
            <a:pPr algn="l"/>
            <a:r>
              <a:rPr lang="en-US" altLang="zh-CN" sz="2800" cap="none" dirty="0">
                <a:latin typeface="Arial Black" panose="020B0A04020102020204"/>
                <a:ea typeface="微软雅黑" panose="020B0503020204020204" pitchFamily="34" charset="-122"/>
                <a:cs typeface="+mn-cs"/>
              </a:rPr>
              <a:t>Exercise</a:t>
            </a:r>
            <a:endParaRPr lang="en-US" sz="2800" cap="none" dirty="0">
              <a:latin typeface="Arial Black" panose="020B0A04020102020204"/>
              <a:ea typeface="微软雅黑" panose="020B0503020204020204" pitchFamily="34" charset="-122"/>
              <a:cs typeface="+mn-cs"/>
            </a:endParaRPr>
          </a:p>
        </p:txBody>
      </p:sp>
      <p:grpSp>
        <p:nvGrpSpPr>
          <p:cNvPr id="11" name="Group 10"/>
          <p:cNvGrpSpPr/>
          <p:nvPr/>
        </p:nvGrpSpPr>
        <p:grpSpPr>
          <a:xfrm>
            <a:off x="1547664" y="2348880"/>
            <a:ext cx="1839433" cy="1293852"/>
            <a:chOff x="803535" y="2468750"/>
            <a:chExt cx="1839433" cy="1293852"/>
          </a:xfrm>
        </p:grpSpPr>
        <p:sp>
          <p:nvSpPr>
            <p:cNvPr id="12" name="Freeform 11"/>
            <p:cNvSpPr/>
            <p:nvPr/>
          </p:nvSpPr>
          <p:spPr>
            <a:xfrm>
              <a:off x="814168" y="2468750"/>
              <a:ext cx="1828800" cy="1293852"/>
            </a:xfrm>
            <a:custGeom>
              <a:avLst/>
              <a:gdLst>
                <a:gd name="connsiteX0" fmla="*/ 489098 w 1828800"/>
                <a:gd name="connsiteY0" fmla="*/ 0 h 1818167"/>
                <a:gd name="connsiteX1" fmla="*/ 1329070 w 1828800"/>
                <a:gd name="connsiteY1" fmla="*/ 0 h 1818167"/>
                <a:gd name="connsiteX2" fmla="*/ 1828800 w 1828800"/>
                <a:gd name="connsiteY2" fmla="*/ 510362 h 1818167"/>
                <a:gd name="connsiteX3" fmla="*/ 1818167 w 1828800"/>
                <a:gd name="connsiteY3" fmla="*/ 1339702 h 1818167"/>
                <a:gd name="connsiteX4" fmla="*/ 1318437 w 1828800"/>
                <a:gd name="connsiteY4" fmla="*/ 1818167 h 1818167"/>
                <a:gd name="connsiteX5" fmla="*/ 510363 w 1828800"/>
                <a:gd name="connsiteY5" fmla="*/ 1818167 h 1818167"/>
                <a:gd name="connsiteX6" fmla="*/ 0 w 1828800"/>
                <a:gd name="connsiteY6" fmla="*/ 1339702 h 1818167"/>
                <a:gd name="connsiteX7" fmla="*/ 0 w 1828800"/>
                <a:gd name="connsiteY7" fmla="*/ 499730 h 1818167"/>
                <a:gd name="connsiteX8" fmla="*/ 489098 w 1828800"/>
                <a:gd name="connsiteY8" fmla="*/ 0 h 181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8800" h="1818167">
                  <a:moveTo>
                    <a:pt x="489098" y="0"/>
                  </a:moveTo>
                  <a:lnTo>
                    <a:pt x="1329070" y="0"/>
                  </a:lnTo>
                  <a:lnTo>
                    <a:pt x="1828800" y="510362"/>
                  </a:lnTo>
                  <a:lnTo>
                    <a:pt x="1818167" y="1339702"/>
                  </a:lnTo>
                  <a:lnTo>
                    <a:pt x="1318437" y="1818167"/>
                  </a:lnTo>
                  <a:lnTo>
                    <a:pt x="510363" y="1818167"/>
                  </a:lnTo>
                  <a:lnTo>
                    <a:pt x="0" y="1339702"/>
                  </a:lnTo>
                  <a:lnTo>
                    <a:pt x="0" y="499730"/>
                  </a:lnTo>
                  <a:lnTo>
                    <a:pt x="489098"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a:stCxn id="12" idx="0"/>
              <a:endCxn id="12" idx="1"/>
            </p:cNvCxnSpPr>
            <p:nvPr/>
          </p:nvCxnSpPr>
          <p:spPr>
            <a:xfrm>
              <a:off x="1303266" y="2468750"/>
              <a:ext cx="839972" cy="0"/>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308582" y="3762602"/>
              <a:ext cx="839972" cy="0"/>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2" idx="2"/>
              <a:endCxn id="12" idx="3"/>
            </p:cNvCxnSpPr>
            <p:nvPr/>
          </p:nvCxnSpPr>
          <p:spPr>
            <a:xfrm flipH="1">
              <a:off x="2632335" y="2831936"/>
              <a:ext cx="10633" cy="590179"/>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803535" y="2820586"/>
              <a:ext cx="10633" cy="590179"/>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5381465" y="2348230"/>
            <a:ext cx="1828800" cy="1293852"/>
            <a:chOff x="954940" y="4149080"/>
            <a:chExt cx="1828800" cy="1293852"/>
          </a:xfrm>
        </p:grpSpPr>
        <p:sp>
          <p:nvSpPr>
            <p:cNvPr id="18" name="Freeform 17"/>
            <p:cNvSpPr/>
            <p:nvPr/>
          </p:nvSpPr>
          <p:spPr>
            <a:xfrm>
              <a:off x="954940" y="4149080"/>
              <a:ext cx="1828800" cy="1293852"/>
            </a:xfrm>
            <a:custGeom>
              <a:avLst/>
              <a:gdLst>
                <a:gd name="connsiteX0" fmla="*/ 489098 w 1828800"/>
                <a:gd name="connsiteY0" fmla="*/ 0 h 1818167"/>
                <a:gd name="connsiteX1" fmla="*/ 1329070 w 1828800"/>
                <a:gd name="connsiteY1" fmla="*/ 0 h 1818167"/>
                <a:gd name="connsiteX2" fmla="*/ 1828800 w 1828800"/>
                <a:gd name="connsiteY2" fmla="*/ 510362 h 1818167"/>
                <a:gd name="connsiteX3" fmla="*/ 1818167 w 1828800"/>
                <a:gd name="connsiteY3" fmla="*/ 1339702 h 1818167"/>
                <a:gd name="connsiteX4" fmla="*/ 1318437 w 1828800"/>
                <a:gd name="connsiteY4" fmla="*/ 1818167 h 1818167"/>
                <a:gd name="connsiteX5" fmla="*/ 510363 w 1828800"/>
                <a:gd name="connsiteY5" fmla="*/ 1818167 h 1818167"/>
                <a:gd name="connsiteX6" fmla="*/ 0 w 1828800"/>
                <a:gd name="connsiteY6" fmla="*/ 1339702 h 1818167"/>
                <a:gd name="connsiteX7" fmla="*/ 0 w 1828800"/>
                <a:gd name="connsiteY7" fmla="*/ 499730 h 1818167"/>
                <a:gd name="connsiteX8" fmla="*/ 489098 w 1828800"/>
                <a:gd name="connsiteY8" fmla="*/ 0 h 181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8800" h="1818167">
                  <a:moveTo>
                    <a:pt x="489098" y="0"/>
                  </a:moveTo>
                  <a:lnTo>
                    <a:pt x="1329070" y="0"/>
                  </a:lnTo>
                  <a:lnTo>
                    <a:pt x="1828800" y="510362"/>
                  </a:lnTo>
                  <a:lnTo>
                    <a:pt x="1818167" y="1339702"/>
                  </a:lnTo>
                  <a:lnTo>
                    <a:pt x="1318437" y="1818167"/>
                  </a:lnTo>
                  <a:lnTo>
                    <a:pt x="510363" y="1818167"/>
                  </a:lnTo>
                  <a:lnTo>
                    <a:pt x="0" y="1339702"/>
                  </a:lnTo>
                  <a:lnTo>
                    <a:pt x="0" y="499730"/>
                  </a:lnTo>
                  <a:lnTo>
                    <a:pt x="489098" y="0"/>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18" idx="1"/>
              <a:endCxn id="18" idx="2"/>
            </p:cNvCxnSpPr>
            <p:nvPr/>
          </p:nvCxnSpPr>
          <p:spPr>
            <a:xfrm>
              <a:off x="2284010" y="4149080"/>
              <a:ext cx="499730" cy="363186"/>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8" idx="4"/>
              <a:endCxn id="18" idx="3"/>
            </p:cNvCxnSpPr>
            <p:nvPr/>
          </p:nvCxnSpPr>
          <p:spPr>
            <a:xfrm flipV="1">
              <a:off x="2273377" y="5102445"/>
              <a:ext cx="499730" cy="340487"/>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954940" y="4149080"/>
              <a:ext cx="499730" cy="340487"/>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8" idx="5"/>
            </p:cNvCxnSpPr>
            <p:nvPr/>
          </p:nvCxnSpPr>
          <p:spPr>
            <a:xfrm>
              <a:off x="954940" y="5102445"/>
              <a:ext cx="510363" cy="340487"/>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135075" y="1193369"/>
            <a:ext cx="8818779" cy="830997"/>
          </a:xfrm>
          <a:prstGeom prst="rect">
            <a:avLst/>
          </a:prstGeom>
          <a:noFill/>
        </p:spPr>
        <p:txBody>
          <a:bodyPr wrap="square" rtlCol="0">
            <a:spAutoFit/>
          </a:bodyPr>
          <a:lstStyle/>
          <a:p>
            <a:r>
              <a:rPr lang="en-US" altLang="zh-CN" dirty="0"/>
              <a:t>Please give the final crystal morphology of nuclei below. Red color indicates facets with fast growth speed at their normal directions. </a:t>
            </a:r>
            <a:endParaRPr lang="en-US" dirty="0"/>
          </a:p>
        </p:txBody>
      </p:sp>
      <p:sp>
        <p:nvSpPr>
          <p:cNvPr id="4" name="任意多边形: 形状 3">
            <a:extLst>
              <a:ext uri="{FF2B5EF4-FFF2-40B4-BE49-F238E27FC236}">
                <a16:creationId xmlns:a16="http://schemas.microsoft.com/office/drawing/2014/main" id="{2566AD15-4ED3-438B-BFD3-B72B3694DD3C}"/>
              </a:ext>
            </a:extLst>
          </p:cNvPr>
          <p:cNvSpPr/>
          <p:nvPr/>
        </p:nvSpPr>
        <p:spPr>
          <a:xfrm>
            <a:off x="3707904" y="4509120"/>
            <a:ext cx="1269710" cy="1243584"/>
          </a:xfrm>
          <a:custGeom>
            <a:avLst/>
            <a:gdLst>
              <a:gd name="connsiteX0" fmla="*/ 135854 w 1269710"/>
              <a:gd name="connsiteY0" fmla="*/ 214231 h 1243584"/>
              <a:gd name="connsiteX1" fmla="*/ 627018 w 1269710"/>
              <a:gd name="connsiteY1" fmla="*/ 0 h 1243584"/>
              <a:gd name="connsiteX2" fmla="*/ 1055479 w 1269710"/>
              <a:gd name="connsiteY2" fmla="*/ 57477 h 1243584"/>
              <a:gd name="connsiteX3" fmla="*/ 1269710 w 1269710"/>
              <a:gd name="connsiteY3" fmla="*/ 548640 h 1243584"/>
              <a:gd name="connsiteX4" fmla="*/ 1217459 w 1269710"/>
              <a:gd name="connsiteY4" fmla="*/ 1018903 h 1243584"/>
              <a:gd name="connsiteX5" fmla="*/ 663594 w 1269710"/>
              <a:gd name="connsiteY5" fmla="*/ 1243584 h 1243584"/>
              <a:gd name="connsiteX6" fmla="*/ 303059 w 1269710"/>
              <a:gd name="connsiteY6" fmla="*/ 1086830 h 1243584"/>
              <a:gd name="connsiteX7" fmla="*/ 0 w 1269710"/>
              <a:gd name="connsiteY7" fmla="*/ 736745 h 1243584"/>
              <a:gd name="connsiteX8" fmla="*/ 135854 w 1269710"/>
              <a:gd name="connsiteY8" fmla="*/ 214231 h 1243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9710" h="1243584">
                <a:moveTo>
                  <a:pt x="135854" y="214231"/>
                </a:moveTo>
                <a:lnTo>
                  <a:pt x="627018" y="0"/>
                </a:lnTo>
                <a:lnTo>
                  <a:pt x="1055479" y="57477"/>
                </a:lnTo>
                <a:lnTo>
                  <a:pt x="1269710" y="548640"/>
                </a:lnTo>
                <a:lnTo>
                  <a:pt x="1217459" y="1018903"/>
                </a:lnTo>
                <a:lnTo>
                  <a:pt x="663594" y="1243584"/>
                </a:lnTo>
                <a:lnTo>
                  <a:pt x="303059" y="1086830"/>
                </a:lnTo>
                <a:lnTo>
                  <a:pt x="0" y="736745"/>
                </a:lnTo>
                <a:lnTo>
                  <a:pt x="135854" y="214231"/>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 name="直接连接符 5">
            <a:extLst>
              <a:ext uri="{FF2B5EF4-FFF2-40B4-BE49-F238E27FC236}">
                <a16:creationId xmlns:a16="http://schemas.microsoft.com/office/drawing/2014/main" id="{4E427D4F-F080-42C0-AA20-1D5841ECAD4C}"/>
              </a:ext>
            </a:extLst>
          </p:cNvPr>
          <p:cNvCxnSpPr>
            <a:cxnSpLocks/>
            <a:stCxn id="4" idx="0"/>
            <a:endCxn id="4" idx="1"/>
          </p:cNvCxnSpPr>
          <p:nvPr/>
        </p:nvCxnSpPr>
        <p:spPr>
          <a:xfrm flipV="1">
            <a:off x="3843758" y="4509120"/>
            <a:ext cx="491164" cy="214231"/>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38E79B4-1278-4199-9664-7787C09E9029}"/>
              </a:ext>
            </a:extLst>
          </p:cNvPr>
          <p:cNvCxnSpPr>
            <a:cxnSpLocks/>
            <a:endCxn id="4" idx="6"/>
          </p:cNvCxnSpPr>
          <p:nvPr/>
        </p:nvCxnSpPr>
        <p:spPr>
          <a:xfrm>
            <a:off x="3702062" y="5238328"/>
            <a:ext cx="308901" cy="357622"/>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424F2917-7495-4D04-B22A-89EAA60A2593}"/>
              </a:ext>
            </a:extLst>
          </p:cNvPr>
          <p:cNvCxnSpPr>
            <a:cxnSpLocks/>
            <a:endCxn id="4" idx="3"/>
          </p:cNvCxnSpPr>
          <p:nvPr/>
        </p:nvCxnSpPr>
        <p:spPr>
          <a:xfrm>
            <a:off x="4752933" y="4566597"/>
            <a:ext cx="224681" cy="491163"/>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7CE82C7A-E068-47C2-B39A-8A56D0983D41}"/>
              </a:ext>
            </a:extLst>
          </p:cNvPr>
          <p:cNvCxnSpPr>
            <a:cxnSpLocks/>
            <a:stCxn id="4" idx="4"/>
            <a:endCxn id="4" idx="5"/>
          </p:cNvCxnSpPr>
          <p:nvPr/>
        </p:nvCxnSpPr>
        <p:spPr>
          <a:xfrm flipH="1">
            <a:off x="4371498" y="5528023"/>
            <a:ext cx="553865" cy="224681"/>
          </a:xfrm>
          <a:prstGeom prst="line">
            <a:avLst/>
          </a:prstGeom>
          <a:ln w="57150">
            <a:solidFill>
              <a:srgbClr val="FF33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83568" y="516876"/>
            <a:ext cx="7704856" cy="523220"/>
          </a:xfrm>
          <a:prstGeom prst="rect">
            <a:avLst/>
          </a:prstGeom>
        </p:spPr>
        <p:txBody>
          <a:bodyPr wrap="square">
            <a:spAutoFit/>
          </a:bodyPr>
          <a:lstStyle/>
          <a:p>
            <a:pPr lvl="0" eaLnBrk="0" hangingPunct="0">
              <a:spcBef>
                <a:spcPct val="20000"/>
              </a:spcBef>
              <a:spcAft>
                <a:spcPts val="600"/>
              </a:spcAft>
              <a:defRPr/>
            </a:pPr>
            <a:r>
              <a:rPr lang="en-US" altLang="zh-CN" sz="2800" b="1"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4. Periodic bond chain (PBC) theory</a:t>
            </a:r>
            <a:r>
              <a:rPr lang="zh-CN" altLang="en-US" sz="2800" b="1"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a:t>
            </a:r>
          </a:p>
        </p:txBody>
      </p:sp>
      <p:sp>
        <p:nvSpPr>
          <p:cNvPr id="3" name="Rectangle 2"/>
          <p:cNvSpPr/>
          <p:nvPr/>
        </p:nvSpPr>
        <p:spPr>
          <a:xfrm>
            <a:off x="683568" y="1470934"/>
            <a:ext cx="7920880" cy="4708981"/>
          </a:xfrm>
          <a:prstGeom prst="rect">
            <a:avLst/>
          </a:prstGeom>
        </p:spPr>
        <p:txBody>
          <a:bodyPr wrap="square">
            <a:spAutoFit/>
          </a:bodyPr>
          <a:lstStyle/>
          <a:p>
            <a:pPr>
              <a:lnSpc>
                <a:spcPct val="150000"/>
              </a:lnSpc>
            </a:pPr>
            <a:r>
              <a:rPr lang="zh-CN" altLang="en-US" sz="2000" dirty="0">
                <a:latin typeface="+mn-lt"/>
              </a:rPr>
              <a:t>    </a:t>
            </a:r>
            <a:r>
              <a:rPr lang="en-US" altLang="zh-CN" sz="2000" dirty="0">
                <a:latin typeface="+mn-lt"/>
              </a:rPr>
              <a:t>Hartman (</a:t>
            </a:r>
            <a:r>
              <a:rPr lang="zh-CN" altLang="en-US" sz="2000" dirty="0"/>
              <a:t>哈特曼</a:t>
            </a:r>
            <a:r>
              <a:rPr lang="en-US" altLang="zh-CN" sz="2000" dirty="0">
                <a:latin typeface="+mn-lt"/>
              </a:rPr>
              <a:t>) and </a:t>
            </a:r>
            <a:r>
              <a:rPr lang="en-US" altLang="zh-CN" sz="2000" dirty="0" err="1">
                <a:latin typeface="+mn-lt"/>
              </a:rPr>
              <a:t>Perdok</a:t>
            </a:r>
            <a:r>
              <a:rPr lang="en-US" altLang="zh-CN" sz="2000" dirty="0">
                <a:latin typeface="+mn-lt"/>
              </a:rPr>
              <a:t> (</a:t>
            </a:r>
            <a:r>
              <a:rPr lang="zh-CN" altLang="en-US" sz="2000" dirty="0"/>
              <a:t>柏多克</a:t>
            </a:r>
            <a:r>
              <a:rPr lang="en-US" altLang="zh-CN" sz="2000" dirty="0">
                <a:latin typeface="+mn-lt"/>
              </a:rPr>
              <a:t>)  thought that there are a series of strong periodic bond chains repeating in crystal structure. These chains have the same periodic repetition characteristic  as those of mass points in crystals. These chains are called </a:t>
            </a:r>
            <a:r>
              <a:rPr lang="en-US" altLang="zh-CN" sz="2000" b="1" dirty="0">
                <a:solidFill>
                  <a:srgbClr val="FF0000"/>
                </a:solidFill>
                <a:latin typeface="+mn-lt"/>
              </a:rPr>
              <a:t>periodic bond chains (PBC for short). </a:t>
            </a:r>
          </a:p>
          <a:p>
            <a:pPr>
              <a:lnSpc>
                <a:spcPct val="150000"/>
              </a:lnSpc>
            </a:pPr>
            <a:r>
              <a:rPr lang="en-US" altLang="zh-CN" sz="2000" dirty="0">
                <a:latin typeface="+mn-lt"/>
              </a:rPr>
              <a:t>     </a:t>
            </a:r>
            <a:r>
              <a:rPr lang="en-US" altLang="zh-CN" sz="2000" u="sng" dirty="0">
                <a:latin typeface="+mn-lt"/>
              </a:rPr>
              <a:t>It is found that crystals always grow parallel to the PBC chains and the growth speed </a:t>
            </a:r>
            <a:r>
              <a:rPr lang="en-US" altLang="zh-CN" sz="2000" b="1" u="sng" dirty="0">
                <a:latin typeface="+mn-lt"/>
              </a:rPr>
              <a:t>along the direction with the strongest bonding force</a:t>
            </a:r>
            <a:r>
              <a:rPr lang="en-US" altLang="zh-CN" sz="2000" u="sng" dirty="0">
                <a:latin typeface="+mn-lt"/>
              </a:rPr>
              <a:t> is the fastest. </a:t>
            </a:r>
            <a:r>
              <a:rPr lang="en-US" altLang="zh-CN" sz="2000" dirty="0">
                <a:latin typeface="+mn-lt"/>
              </a:rPr>
              <a:t>Based on this consideration, the crystal facets appearing in the process of crystal growth  can be divided into three types, that is F, S and K, respectively .</a:t>
            </a:r>
            <a:endParaRPr lang="en-US" sz="2000" dirty="0">
              <a:latin typeface="+mn-lt"/>
            </a:endParaRPr>
          </a:p>
        </p:txBody>
      </p:sp>
    </p:spTree>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3" name="Rectangle 3"/>
          <p:cNvSpPr>
            <a:spLocks noGrp="1" noChangeArrowheads="1"/>
          </p:cNvSpPr>
          <p:nvPr>
            <p:ph type="subTitle" idx="1"/>
          </p:nvPr>
        </p:nvSpPr>
        <p:spPr>
          <a:xfrm>
            <a:off x="323528" y="375264"/>
            <a:ext cx="4536504" cy="5315383"/>
          </a:xfrm>
        </p:spPr>
        <p:txBody>
          <a:bodyPr/>
          <a:lstStyle/>
          <a:p>
            <a:pPr>
              <a:defRPr/>
            </a:pPr>
            <a:r>
              <a:rPr lang="en-US" altLang="zh-CN" sz="2800" b="1" cap="none" dirty="0">
                <a:solidFill>
                  <a:schemeClr val="tx1"/>
                </a:solidFill>
              </a:rPr>
              <a:t>Three types of growth facets</a:t>
            </a:r>
            <a:r>
              <a:rPr lang="zh-CN" altLang="en-US" sz="2800" b="1" cap="none" dirty="0">
                <a:solidFill>
                  <a:schemeClr val="tx1"/>
                </a:solidFill>
              </a:rPr>
              <a:t>：</a:t>
            </a:r>
            <a:endParaRPr lang="en-US" altLang="zh-CN" sz="2800" b="1" cap="none" dirty="0">
              <a:solidFill>
                <a:schemeClr val="tx1"/>
              </a:solidFill>
            </a:endParaRPr>
          </a:p>
          <a:p>
            <a:pPr>
              <a:defRPr/>
            </a:pPr>
            <a:endParaRPr lang="zh-CN" altLang="en-US" sz="1000" b="1" dirty="0">
              <a:solidFill>
                <a:schemeClr val="tx1"/>
              </a:solidFill>
            </a:endParaRPr>
          </a:p>
          <a:p>
            <a:pPr>
              <a:defRPr/>
            </a:pPr>
            <a:r>
              <a:rPr lang="en-US" altLang="zh-CN" sz="2400" b="1" cap="none" dirty="0">
                <a:latin typeface="+mn-lt"/>
              </a:rPr>
              <a:t>F surface </a:t>
            </a:r>
            <a:r>
              <a:rPr lang="en-US" altLang="zh-CN" sz="2400" cap="none" dirty="0">
                <a:solidFill>
                  <a:schemeClr val="tx1"/>
                </a:solidFill>
                <a:latin typeface="+mn-lt"/>
              </a:rPr>
              <a:t>(flat surface, two PBC), easy to retains on crystals.</a:t>
            </a:r>
          </a:p>
          <a:p>
            <a:pPr>
              <a:defRPr/>
            </a:pPr>
            <a:r>
              <a:rPr lang="en-US" altLang="zh-CN" sz="2400" b="1" cap="none" dirty="0">
                <a:solidFill>
                  <a:schemeClr val="bg1">
                    <a:lumMod val="50000"/>
                  </a:schemeClr>
                </a:solidFill>
                <a:latin typeface="+mn-lt"/>
              </a:rPr>
              <a:t>S surface </a:t>
            </a:r>
            <a:r>
              <a:rPr lang="en-US" altLang="zh-CN" sz="2400" cap="none" dirty="0">
                <a:solidFill>
                  <a:schemeClr val="tx1"/>
                </a:solidFill>
                <a:latin typeface="+mn-lt"/>
              </a:rPr>
              <a:t>(ladder surface, one PBC) may be retained or not retained.</a:t>
            </a:r>
          </a:p>
          <a:p>
            <a:pPr>
              <a:defRPr/>
            </a:pPr>
            <a:r>
              <a:rPr lang="en-US" altLang="zh-CN" sz="2400" b="1" cap="none" dirty="0">
                <a:solidFill>
                  <a:srgbClr val="92D050"/>
                </a:solidFill>
                <a:latin typeface="+mn-lt"/>
              </a:rPr>
              <a:t>K surface </a:t>
            </a:r>
            <a:r>
              <a:rPr lang="en-US" altLang="zh-CN" sz="2400" cap="none" dirty="0">
                <a:solidFill>
                  <a:schemeClr val="tx1"/>
                </a:solidFill>
                <a:latin typeface="+mn-lt"/>
              </a:rPr>
              <a:t>(kink surface, No PBC) is difficult to retain on crystals.</a:t>
            </a:r>
            <a:endParaRPr lang="zh-CN" altLang="en-US" sz="2800" dirty="0">
              <a:solidFill>
                <a:schemeClr val="tx1"/>
              </a:solidFill>
              <a:latin typeface="+mn-lt"/>
            </a:endParaRPr>
          </a:p>
        </p:txBody>
      </p:sp>
      <p:pic>
        <p:nvPicPr>
          <p:cNvPr id="798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44624"/>
            <a:ext cx="4404489" cy="4536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Freeform 5"/>
          <p:cNvSpPr/>
          <p:nvPr/>
        </p:nvSpPr>
        <p:spPr>
          <a:xfrm>
            <a:off x="5096786" y="591885"/>
            <a:ext cx="1932167" cy="1796995"/>
          </a:xfrm>
          <a:custGeom>
            <a:avLst/>
            <a:gdLst>
              <a:gd name="connsiteX0" fmla="*/ 763325 w 1932167"/>
              <a:gd name="connsiteY0" fmla="*/ 0 h 1796995"/>
              <a:gd name="connsiteX1" fmla="*/ 1932167 w 1932167"/>
              <a:gd name="connsiteY1" fmla="*/ 349858 h 1796995"/>
              <a:gd name="connsiteX2" fmla="*/ 1160891 w 1932167"/>
              <a:gd name="connsiteY2" fmla="*/ 1796995 h 1796995"/>
              <a:gd name="connsiteX3" fmla="*/ 0 w 1932167"/>
              <a:gd name="connsiteY3" fmla="*/ 1447138 h 1796995"/>
              <a:gd name="connsiteX4" fmla="*/ 763325 w 1932167"/>
              <a:gd name="connsiteY4" fmla="*/ 0 h 1796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167" h="1796995">
                <a:moveTo>
                  <a:pt x="763325" y="0"/>
                </a:moveTo>
                <a:lnTo>
                  <a:pt x="1932167" y="349858"/>
                </a:lnTo>
                <a:lnTo>
                  <a:pt x="1160891" y="1796995"/>
                </a:lnTo>
                <a:lnTo>
                  <a:pt x="0" y="1447138"/>
                </a:lnTo>
                <a:lnTo>
                  <a:pt x="763325" y="0"/>
                </a:lnTo>
                <a:close/>
              </a:path>
            </a:pathLst>
          </a:custGeom>
          <a:solidFill>
            <a:srgbClr val="7A7A7A">
              <a:alpha val="50196"/>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7005099" y="560080"/>
            <a:ext cx="1447138" cy="1622066"/>
          </a:xfrm>
          <a:custGeom>
            <a:avLst/>
            <a:gdLst>
              <a:gd name="connsiteX0" fmla="*/ 0 w 1447138"/>
              <a:gd name="connsiteY0" fmla="*/ 373711 h 1622066"/>
              <a:gd name="connsiteX1" fmla="*/ 604299 w 1447138"/>
              <a:gd name="connsiteY1" fmla="*/ 0 h 1622066"/>
              <a:gd name="connsiteX2" fmla="*/ 1447138 w 1447138"/>
              <a:gd name="connsiteY2" fmla="*/ 1264257 h 1622066"/>
              <a:gd name="connsiteX3" fmla="*/ 874644 w 1447138"/>
              <a:gd name="connsiteY3" fmla="*/ 1622066 h 1622066"/>
              <a:gd name="connsiteX4" fmla="*/ 0 w 1447138"/>
              <a:gd name="connsiteY4" fmla="*/ 373711 h 1622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7138" h="1622066">
                <a:moveTo>
                  <a:pt x="0" y="373711"/>
                </a:moveTo>
                <a:lnTo>
                  <a:pt x="604299" y="0"/>
                </a:lnTo>
                <a:lnTo>
                  <a:pt x="1447138" y="1264257"/>
                </a:lnTo>
                <a:lnTo>
                  <a:pt x="874644" y="1622066"/>
                </a:lnTo>
                <a:lnTo>
                  <a:pt x="0" y="373711"/>
                </a:lnTo>
                <a:close/>
              </a:path>
            </a:pathLst>
          </a:custGeom>
          <a:solidFill>
            <a:srgbClr val="7A7A7A">
              <a:alpha val="50196"/>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6254151" y="2195648"/>
            <a:ext cx="1630392" cy="2147978"/>
          </a:xfrm>
          <a:custGeom>
            <a:avLst/>
            <a:gdLst>
              <a:gd name="connsiteX0" fmla="*/ 0 w 1630392"/>
              <a:gd name="connsiteY0" fmla="*/ 189781 h 2147978"/>
              <a:gd name="connsiteX1" fmla="*/ 1630392 w 1630392"/>
              <a:gd name="connsiteY1" fmla="*/ 0 h 2147978"/>
              <a:gd name="connsiteX2" fmla="*/ 1630392 w 1630392"/>
              <a:gd name="connsiteY2" fmla="*/ 1940944 h 2147978"/>
              <a:gd name="connsiteX3" fmla="*/ 0 w 1630392"/>
              <a:gd name="connsiteY3" fmla="*/ 2147978 h 2147978"/>
              <a:gd name="connsiteX4" fmla="*/ 0 w 1630392"/>
              <a:gd name="connsiteY4" fmla="*/ 189781 h 2147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0392" h="2147978">
                <a:moveTo>
                  <a:pt x="0" y="189781"/>
                </a:moveTo>
                <a:lnTo>
                  <a:pt x="1630392" y="0"/>
                </a:lnTo>
                <a:lnTo>
                  <a:pt x="1630392" y="1940944"/>
                </a:lnTo>
                <a:lnTo>
                  <a:pt x="0" y="2147978"/>
                </a:lnTo>
                <a:lnTo>
                  <a:pt x="0" y="189781"/>
                </a:lnTo>
                <a:close/>
              </a:path>
            </a:pathLst>
          </a:custGeom>
          <a:solidFill>
            <a:srgbClr val="7A7A7A">
              <a:alpha val="50196"/>
            </a:srgbClr>
          </a:solidFill>
          <a:ln>
            <a:solidFill>
              <a:srgbClr val="585858">
                <a:alpha val="49804"/>
              </a:srgb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p:cNvGrpSpPr/>
          <p:nvPr/>
        </p:nvGrpSpPr>
        <p:grpSpPr>
          <a:xfrm>
            <a:off x="7252814" y="4819757"/>
            <a:ext cx="1263458" cy="1296827"/>
            <a:chOff x="6853646" y="2276872"/>
            <a:chExt cx="400594" cy="411174"/>
          </a:xfrm>
        </p:grpSpPr>
        <p:cxnSp>
          <p:nvCxnSpPr>
            <p:cNvPr id="13" name="Straight Arrow Connector 12"/>
            <p:cNvCxnSpPr/>
            <p:nvPr/>
          </p:nvCxnSpPr>
          <p:spPr>
            <a:xfrm flipV="1">
              <a:off x="7028953" y="2276872"/>
              <a:ext cx="0" cy="28803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6853646" y="2564904"/>
              <a:ext cx="175307" cy="123142"/>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7033623" y="2566126"/>
              <a:ext cx="220617" cy="6966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sp>
        <p:nvSpPr>
          <p:cNvPr id="19" name="TextBox 18"/>
          <p:cNvSpPr txBox="1"/>
          <p:nvPr/>
        </p:nvSpPr>
        <p:spPr>
          <a:xfrm>
            <a:off x="6801357" y="5960731"/>
            <a:ext cx="407484" cy="461665"/>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A</a:t>
            </a:r>
          </a:p>
        </p:txBody>
      </p:sp>
      <p:sp>
        <p:nvSpPr>
          <p:cNvPr id="22" name="TextBox 21"/>
          <p:cNvSpPr txBox="1"/>
          <p:nvPr/>
        </p:nvSpPr>
        <p:spPr>
          <a:xfrm>
            <a:off x="8587081" y="5767368"/>
            <a:ext cx="389850" cy="461665"/>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B</a:t>
            </a:r>
          </a:p>
        </p:txBody>
      </p:sp>
      <p:sp>
        <p:nvSpPr>
          <p:cNvPr id="23" name="TextBox 22"/>
          <p:cNvSpPr txBox="1"/>
          <p:nvPr/>
        </p:nvSpPr>
        <p:spPr>
          <a:xfrm>
            <a:off x="7617125" y="4293096"/>
            <a:ext cx="407484" cy="461665"/>
          </a:xfrm>
          <a:prstGeom prst="rect">
            <a:avLst/>
          </a:prstGeom>
          <a:noFill/>
        </p:spPr>
        <p:txBody>
          <a:bodyPr wrap="none" rtlCol="0">
            <a:spAutoFit/>
          </a:bodyPr>
          <a:lstStyle/>
          <a:p>
            <a:r>
              <a:rPr lang="en-US" b="1" dirty="0">
                <a:effectLst>
                  <a:outerShdw blurRad="38100" dist="38100" dir="2700000" algn="tl">
                    <a:srgbClr val="000000">
                      <a:alpha val="43137"/>
                    </a:srgbClr>
                  </a:outerShdw>
                </a:effectLst>
              </a:rPr>
              <a:t>C</a:t>
            </a:r>
          </a:p>
        </p:txBody>
      </p:sp>
      <p:sp>
        <p:nvSpPr>
          <p:cNvPr id="20" name="Freeform 19"/>
          <p:cNvSpPr/>
          <p:nvPr/>
        </p:nvSpPr>
        <p:spPr>
          <a:xfrm>
            <a:off x="5865962" y="211573"/>
            <a:ext cx="1751163" cy="715992"/>
          </a:xfrm>
          <a:custGeom>
            <a:avLst/>
            <a:gdLst>
              <a:gd name="connsiteX0" fmla="*/ 0 w 1751163"/>
              <a:gd name="connsiteY0" fmla="*/ 379562 h 715992"/>
              <a:gd name="connsiteX1" fmla="*/ 586596 w 1751163"/>
              <a:gd name="connsiteY1" fmla="*/ 0 h 715992"/>
              <a:gd name="connsiteX2" fmla="*/ 1751163 w 1751163"/>
              <a:gd name="connsiteY2" fmla="*/ 336430 h 715992"/>
              <a:gd name="connsiteX3" fmla="*/ 1155940 w 1751163"/>
              <a:gd name="connsiteY3" fmla="*/ 715992 h 715992"/>
              <a:gd name="connsiteX4" fmla="*/ 0 w 1751163"/>
              <a:gd name="connsiteY4" fmla="*/ 379562 h 715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1163" h="715992">
                <a:moveTo>
                  <a:pt x="0" y="379562"/>
                </a:moveTo>
                <a:lnTo>
                  <a:pt x="586596" y="0"/>
                </a:lnTo>
                <a:lnTo>
                  <a:pt x="1751163" y="336430"/>
                </a:lnTo>
                <a:lnTo>
                  <a:pt x="1155940" y="715992"/>
                </a:lnTo>
                <a:lnTo>
                  <a:pt x="0" y="379562"/>
                </a:lnTo>
                <a:close/>
              </a:path>
            </a:pathLst>
          </a:custGeom>
          <a:solidFill>
            <a:srgbClr val="FF3300">
              <a:alpha val="50196"/>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5098211" y="2031746"/>
            <a:ext cx="1155940" cy="2311880"/>
          </a:xfrm>
          <a:custGeom>
            <a:avLst/>
            <a:gdLst>
              <a:gd name="connsiteX0" fmla="*/ 0 w 1155940"/>
              <a:gd name="connsiteY0" fmla="*/ 0 h 2311880"/>
              <a:gd name="connsiteX1" fmla="*/ 1155940 w 1155940"/>
              <a:gd name="connsiteY1" fmla="*/ 353683 h 2311880"/>
              <a:gd name="connsiteX2" fmla="*/ 1155940 w 1155940"/>
              <a:gd name="connsiteY2" fmla="*/ 2311880 h 2311880"/>
              <a:gd name="connsiteX3" fmla="*/ 8627 w 1155940"/>
              <a:gd name="connsiteY3" fmla="*/ 1984076 h 2311880"/>
              <a:gd name="connsiteX4" fmla="*/ 0 w 1155940"/>
              <a:gd name="connsiteY4" fmla="*/ 0 h 2311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940" h="2311880">
                <a:moveTo>
                  <a:pt x="0" y="0"/>
                </a:moveTo>
                <a:lnTo>
                  <a:pt x="1155940" y="353683"/>
                </a:lnTo>
                <a:lnTo>
                  <a:pt x="1155940" y="2311880"/>
                </a:lnTo>
                <a:lnTo>
                  <a:pt x="8627" y="1984076"/>
                </a:lnTo>
                <a:cubicBezTo>
                  <a:pt x="5751" y="1322717"/>
                  <a:pt x="2876" y="661359"/>
                  <a:pt x="0" y="0"/>
                </a:cubicBezTo>
                <a:close/>
              </a:path>
            </a:pathLst>
          </a:custGeom>
          <a:solidFill>
            <a:srgbClr val="FF3300">
              <a:alpha val="50196"/>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7875917" y="1824714"/>
            <a:ext cx="569343" cy="2294626"/>
          </a:xfrm>
          <a:custGeom>
            <a:avLst/>
            <a:gdLst>
              <a:gd name="connsiteX0" fmla="*/ 0 w 569343"/>
              <a:gd name="connsiteY0" fmla="*/ 362309 h 2294626"/>
              <a:gd name="connsiteX1" fmla="*/ 560717 w 569343"/>
              <a:gd name="connsiteY1" fmla="*/ 0 h 2294626"/>
              <a:gd name="connsiteX2" fmla="*/ 569343 w 569343"/>
              <a:gd name="connsiteY2" fmla="*/ 1940943 h 2294626"/>
              <a:gd name="connsiteX3" fmla="*/ 8626 w 569343"/>
              <a:gd name="connsiteY3" fmla="*/ 2294626 h 2294626"/>
              <a:gd name="connsiteX4" fmla="*/ 0 w 569343"/>
              <a:gd name="connsiteY4" fmla="*/ 362309 h 229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9343" h="2294626">
                <a:moveTo>
                  <a:pt x="0" y="362309"/>
                </a:moveTo>
                <a:lnTo>
                  <a:pt x="560717" y="0"/>
                </a:lnTo>
                <a:cubicBezTo>
                  <a:pt x="563592" y="646981"/>
                  <a:pt x="566468" y="1293962"/>
                  <a:pt x="569343" y="1940943"/>
                </a:cubicBezTo>
                <a:lnTo>
                  <a:pt x="8626" y="2294626"/>
                </a:lnTo>
                <a:cubicBezTo>
                  <a:pt x="5751" y="1650520"/>
                  <a:pt x="2875" y="1006415"/>
                  <a:pt x="0" y="362309"/>
                </a:cubicBezTo>
                <a:close/>
              </a:path>
            </a:pathLst>
          </a:custGeom>
          <a:solidFill>
            <a:srgbClr val="FF3300">
              <a:alpha val="50196"/>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6258910" y="919534"/>
            <a:ext cx="1623849" cy="1481958"/>
          </a:xfrm>
          <a:custGeom>
            <a:avLst/>
            <a:gdLst>
              <a:gd name="connsiteX0" fmla="*/ 756745 w 1623849"/>
              <a:gd name="connsiteY0" fmla="*/ 0 h 1481958"/>
              <a:gd name="connsiteX1" fmla="*/ 1623849 w 1623849"/>
              <a:gd name="connsiteY1" fmla="*/ 1277007 h 1481958"/>
              <a:gd name="connsiteX2" fmla="*/ 0 w 1623849"/>
              <a:gd name="connsiteY2" fmla="*/ 1481958 h 1481958"/>
              <a:gd name="connsiteX3" fmla="*/ 756745 w 1623849"/>
              <a:gd name="connsiteY3" fmla="*/ 0 h 1481958"/>
            </a:gdLst>
            <a:ahLst/>
            <a:cxnLst>
              <a:cxn ang="0">
                <a:pos x="connsiteX0" y="connsiteY0"/>
              </a:cxn>
              <a:cxn ang="0">
                <a:pos x="connsiteX1" y="connsiteY1"/>
              </a:cxn>
              <a:cxn ang="0">
                <a:pos x="connsiteX2" y="connsiteY2"/>
              </a:cxn>
              <a:cxn ang="0">
                <a:pos x="connsiteX3" y="connsiteY3"/>
              </a:cxn>
            </a:cxnLst>
            <a:rect l="l" t="t" r="r" b="b"/>
            <a:pathLst>
              <a:path w="1623849" h="1481958">
                <a:moveTo>
                  <a:pt x="756745" y="0"/>
                </a:moveTo>
                <a:lnTo>
                  <a:pt x="1623849" y="1277007"/>
                </a:lnTo>
                <a:lnTo>
                  <a:pt x="0" y="1481958"/>
                </a:lnTo>
                <a:lnTo>
                  <a:pt x="756745" y="0"/>
                </a:lnTo>
                <a:close/>
              </a:path>
            </a:pathLst>
          </a:custGeom>
          <a:solidFill>
            <a:srgbClr val="92D050">
              <a:alpha val="50196"/>
            </a:srgb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395536" y="5575332"/>
            <a:ext cx="5748497" cy="523220"/>
          </a:xfrm>
          <a:prstGeom prst="rect">
            <a:avLst/>
          </a:prstGeom>
          <a:noFill/>
        </p:spPr>
        <p:txBody>
          <a:bodyPr wrap="none" rtlCol="0">
            <a:spAutoFit/>
          </a:bodyPr>
          <a:lstStyle/>
          <a:p>
            <a:r>
              <a:rPr lang="en-US" altLang="zh-CN" sz="2800" b="1" dirty="0"/>
              <a:t>A, B and C are three PBC directions</a:t>
            </a:r>
            <a:endParaRPr lang="en-US" sz="28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arn(inVertical)">
                                      <p:cBhvr>
                                        <p:cTn id="10" dur="500"/>
                                        <p:tgtEl>
                                          <p:spTgt spid="24"/>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barn(inVertical)">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arn(inVertical)">
                                      <p:cBhvr>
                                        <p:cTn id="18" dur="500"/>
                                        <p:tgtEl>
                                          <p:spTgt spid="6"/>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500"/>
                                        <p:tgtEl>
                                          <p:spTgt spid="7"/>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arn(inVertical)">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barn(inVertical)">
                                      <p:cBhvr>
                                        <p:cTn id="2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20" grpId="0" animBg="1"/>
      <p:bldP spid="24" grpId="0" animBg="1"/>
      <p:bldP spid="25" grpId="0" animBg="1"/>
      <p:bldP spid="26"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3"/>
          <p:cNvSpPr>
            <a:spLocks noGrp="1" noChangeArrowheads="1"/>
          </p:cNvSpPr>
          <p:nvPr>
            <p:ph type="body" sz="half" idx="1"/>
          </p:nvPr>
        </p:nvSpPr>
        <p:spPr>
          <a:xfrm>
            <a:off x="539552" y="692696"/>
            <a:ext cx="7993062" cy="6121102"/>
          </a:xfrm>
        </p:spPr>
        <p:txBody>
          <a:bodyPr/>
          <a:lstStyle/>
          <a:p>
            <a:pPr algn="just">
              <a:buFont typeface="Wingdings" panose="05000000000000000000" pitchFamily="2" charset="2"/>
              <a:buNone/>
            </a:pPr>
            <a:r>
              <a:rPr lang="zh-CN" altLang="en-US" dirty="0">
                <a:solidFill>
                  <a:schemeClr val="accent2"/>
                </a:solidFill>
              </a:rPr>
              <a:t>      </a:t>
            </a:r>
          </a:p>
          <a:p>
            <a:pPr algn="just">
              <a:buFont typeface="Wingdings" panose="05000000000000000000" pitchFamily="2" charset="2"/>
              <a:buNone/>
            </a:pPr>
            <a:r>
              <a:rPr lang="en-US" altLang="zh-CN" b="0" u="sng" dirty="0"/>
              <a:t>When the sum of surface energy of a crystal is minimal, the crystal morphology is the most stable. </a:t>
            </a:r>
            <a:r>
              <a:rPr lang="en-US" altLang="zh-CN" b="0" dirty="0"/>
              <a:t>(The equilibrium shape of crystal growth has the minimum surface energy)</a:t>
            </a:r>
          </a:p>
          <a:p>
            <a:pPr algn="just">
              <a:buFont typeface="Wingdings" panose="05000000000000000000" pitchFamily="2" charset="2"/>
              <a:buNone/>
            </a:pPr>
            <a:endParaRPr lang="en-US" altLang="zh-CN" b="0" dirty="0"/>
          </a:p>
          <a:p>
            <a:pPr algn="just">
              <a:buFont typeface="Wingdings" panose="05000000000000000000" pitchFamily="2" charset="2"/>
              <a:buNone/>
            </a:pPr>
            <a:endParaRPr lang="en-US" altLang="zh-CN" b="0" dirty="0"/>
          </a:p>
          <a:p>
            <a:pPr algn="just">
              <a:buFont typeface="Wingdings" panose="05000000000000000000" pitchFamily="2" charset="2"/>
              <a:buNone/>
            </a:pPr>
            <a:r>
              <a:rPr lang="en-US" altLang="zh-CN" b="0" dirty="0"/>
              <a:t>Wolfe also pointed out that when the surface energy of a crystal reaches the minimum value with a fixed crystal volume, </a:t>
            </a:r>
            <a:r>
              <a:rPr lang="en-US" altLang="zh-CN" dirty="0">
                <a:solidFill>
                  <a:srgbClr val="FF0000"/>
                </a:solidFill>
              </a:rPr>
              <a:t>the distance (m) </a:t>
            </a:r>
            <a:r>
              <a:rPr lang="en-US" altLang="zh-CN" b="0" dirty="0"/>
              <a:t>between the crystal faces and the center of the crystal is proportional to the surface tension (or </a:t>
            </a:r>
            <a:r>
              <a:rPr lang="en-US" altLang="zh-CN" dirty="0">
                <a:solidFill>
                  <a:srgbClr val="FF0000"/>
                </a:solidFill>
              </a:rPr>
              <a:t>the surface energy </a:t>
            </a:r>
            <a:r>
              <a:rPr lang="el-GR" altLang="zh-CN" dirty="0">
                <a:solidFill>
                  <a:srgbClr val="FF0000"/>
                </a:solidFill>
              </a:rPr>
              <a:t>σ</a:t>
            </a:r>
            <a:r>
              <a:rPr lang="en-US" altLang="zh-CN" b="0" dirty="0"/>
              <a:t>) of each crystal surface.</a:t>
            </a:r>
          </a:p>
          <a:p>
            <a:pPr algn="ctr">
              <a:buFont typeface="Wingdings" panose="05000000000000000000" pitchFamily="2" charset="2"/>
              <a:buNone/>
            </a:pPr>
            <a:r>
              <a:rPr lang="en-US" altLang="zh-CN" b="0" dirty="0"/>
              <a:t>m</a:t>
            </a:r>
            <a:r>
              <a:rPr lang="en-US" altLang="zh-CN" b="0" baseline="-25000" dirty="0"/>
              <a:t>1</a:t>
            </a:r>
            <a:r>
              <a:rPr lang="en-US" altLang="zh-CN" b="0" dirty="0"/>
              <a:t>: m</a:t>
            </a:r>
            <a:r>
              <a:rPr lang="en-US" altLang="zh-CN" b="0" baseline="-25000" dirty="0"/>
              <a:t>2</a:t>
            </a:r>
            <a:r>
              <a:rPr lang="en-US" altLang="zh-CN" b="0" dirty="0"/>
              <a:t>: m</a:t>
            </a:r>
            <a:r>
              <a:rPr lang="en-US" altLang="zh-CN" b="0" baseline="-25000" dirty="0"/>
              <a:t>3</a:t>
            </a:r>
            <a:r>
              <a:rPr lang="en-US" altLang="zh-CN" b="0" dirty="0"/>
              <a:t>:··· = </a:t>
            </a:r>
            <a:r>
              <a:rPr lang="el-GR" altLang="zh-CN" b="0" dirty="0"/>
              <a:t>σ</a:t>
            </a:r>
            <a:r>
              <a:rPr lang="en-US" altLang="zh-CN" b="0" baseline="-25000" dirty="0"/>
              <a:t>1</a:t>
            </a:r>
            <a:r>
              <a:rPr lang="en-US" altLang="zh-CN" b="0" dirty="0"/>
              <a:t>:</a:t>
            </a:r>
            <a:r>
              <a:rPr lang="el-GR" altLang="zh-CN" b="0" dirty="0"/>
              <a:t> σ</a:t>
            </a:r>
            <a:r>
              <a:rPr lang="en-US" altLang="zh-CN" b="0" baseline="-25000" dirty="0"/>
              <a:t>2</a:t>
            </a:r>
            <a:r>
              <a:rPr lang="en-US" altLang="zh-CN" b="0" dirty="0"/>
              <a:t>:</a:t>
            </a:r>
            <a:r>
              <a:rPr lang="el-GR" altLang="zh-CN" b="0" dirty="0"/>
              <a:t> σ</a:t>
            </a:r>
            <a:r>
              <a:rPr lang="en-US" altLang="zh-CN" b="0" baseline="-25000" dirty="0"/>
              <a:t>3</a:t>
            </a:r>
            <a:r>
              <a:rPr lang="en-US" altLang="zh-CN" b="0" dirty="0"/>
              <a:t>:··· </a:t>
            </a:r>
          </a:p>
          <a:p>
            <a:pPr algn="just">
              <a:buFont typeface="Wingdings" panose="05000000000000000000" pitchFamily="2" charset="2"/>
              <a:buNone/>
            </a:pPr>
            <a:r>
              <a:rPr lang="en-US" altLang="zh-CN" b="0" dirty="0"/>
              <a:t>that is, </a:t>
            </a:r>
            <a:r>
              <a:rPr lang="en-US" altLang="zh-CN" b="0" u="sng" dirty="0"/>
              <a:t>the growth rate normal to a crystal face is proportional to its specific surface energy.</a:t>
            </a:r>
          </a:p>
          <a:p>
            <a:pPr algn="just">
              <a:buFont typeface="Wingdings" panose="05000000000000000000" pitchFamily="2" charset="2"/>
              <a:buNone/>
            </a:pPr>
            <a:r>
              <a:rPr lang="en-US" altLang="zh-CN" dirty="0"/>
              <a:t>Note: </a:t>
            </a:r>
            <a:r>
              <a:rPr lang="en-US" altLang="zh-CN" b="0" dirty="0"/>
              <a:t>the surface energy of a crystal will change with environment medium. Crystals in different media have different crystalline forms.</a:t>
            </a:r>
            <a:endParaRPr lang="en-US" altLang="zh-CN" b="0" dirty="0">
              <a:effectLst>
                <a:outerShdw blurRad="38100" dist="38100" dir="2700000" algn="tl">
                  <a:srgbClr val="000000">
                    <a:alpha val="43137"/>
                  </a:srgbClr>
                </a:outerShdw>
              </a:effectLst>
            </a:endParaRPr>
          </a:p>
          <a:p>
            <a:endParaRPr lang="zh-CN" altLang="en-US" dirty="0">
              <a:solidFill>
                <a:srgbClr val="FF0066"/>
              </a:solidFill>
              <a:effectLst>
                <a:outerShdw blurRad="38100" dist="38100" dir="2700000" algn="tl">
                  <a:srgbClr val="000000">
                    <a:alpha val="43137"/>
                  </a:srgbClr>
                </a:outerShdw>
              </a:effectLst>
            </a:endParaRPr>
          </a:p>
          <a:p>
            <a:pPr algn="just">
              <a:buFont typeface="Wingdings" panose="05000000000000000000" pitchFamily="2" charset="2"/>
              <a:buNone/>
            </a:pPr>
            <a:endParaRPr lang="zh-CN" altLang="en-US" baseline="-25000" dirty="0"/>
          </a:p>
        </p:txBody>
      </p:sp>
      <p:graphicFrame>
        <p:nvGraphicFramePr>
          <p:cNvPr id="37891" name="Object 4"/>
          <p:cNvGraphicFramePr>
            <a:graphicFrameLocks noGrp="1" noChangeAspect="1"/>
          </p:cNvGraphicFramePr>
          <p:nvPr>
            <p:ph sz="half" idx="2"/>
          </p:nvPr>
        </p:nvGraphicFramePr>
        <p:xfrm>
          <a:off x="3660775" y="2235200"/>
          <a:ext cx="1822450" cy="666750"/>
        </p:xfrm>
        <a:graphic>
          <a:graphicData uri="http://schemas.openxmlformats.org/presentationml/2006/ole">
            <mc:AlternateContent xmlns:mc="http://schemas.openxmlformats.org/markup-compatibility/2006">
              <mc:Choice xmlns:v="urn:schemas-microsoft-com:vml" Requires="v">
                <p:oleObj spid="_x0000_s1036" name="Equation" r:id="rId3" imgW="28346400" imgH="10363200" progId="Equation.3">
                  <p:embed/>
                </p:oleObj>
              </mc:Choice>
              <mc:Fallback>
                <p:oleObj name="Equation" r:id="rId3" imgW="28346400" imgH="10363200" progId="Equation.3">
                  <p:embed/>
                  <p:pic>
                    <p:nvPicPr>
                      <p:cNvPr id="0" name="图片 39206"/>
                      <p:cNvPicPr>
                        <a:picLocks noGrp="1" noChangeAspect="1" noChangeArrowheads="1"/>
                      </p:cNvPicPr>
                      <p:nvPr/>
                    </p:nvPicPr>
                    <p:blipFill>
                      <a:blip r:embed="rId4"/>
                      <a:srcRect/>
                      <a:stretch>
                        <a:fillRect/>
                      </a:stretch>
                    </p:blipFill>
                    <p:spPr bwMode="auto">
                      <a:xfrm>
                        <a:off x="3660775" y="2235200"/>
                        <a:ext cx="1822450" cy="666750"/>
                      </a:xfrm>
                      <a:prstGeom prst="rect">
                        <a:avLst/>
                      </a:prstGeom>
                      <a:noFill/>
                      <a:ln>
                        <a:noFill/>
                      </a:ln>
                      <a:effectLst/>
                    </p:spPr>
                  </p:pic>
                </p:oleObj>
              </mc:Fallback>
            </mc:AlternateContent>
          </a:graphicData>
        </a:graphic>
      </p:graphicFrame>
      <p:sp>
        <p:nvSpPr>
          <p:cNvPr id="4" name="Rectangle 4"/>
          <p:cNvSpPr>
            <a:spLocks noChangeArrowheads="1"/>
          </p:cNvSpPr>
          <p:nvPr/>
        </p:nvSpPr>
        <p:spPr bwMode="auto">
          <a:xfrm>
            <a:off x="179512" y="260648"/>
            <a:ext cx="651781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5. Curie Wolfe principle </a:t>
            </a:r>
          </a:p>
          <a:p>
            <a:pPr>
              <a:defRPr/>
            </a:pPr>
            <a:r>
              <a:rPr lang="en-US" altLang="zh-CN" b="1"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rPr>
              <a:t>(the minimum surface energy principle)</a:t>
            </a:r>
            <a:endParaRPr lang="zh-CN" altLang="en-US" b="1" spc="-60" dirty="0">
              <a:solidFill>
                <a:srgbClr val="FF0066"/>
              </a:solidFill>
              <a:effectLst>
                <a:outerShdw blurRad="38100" dist="38100" dir="2700000" algn="tl">
                  <a:srgbClr val="000000"/>
                </a:outerShdw>
              </a:effectLst>
              <a:latin typeface="Arial Black" panose="020B0A04020102020204"/>
              <a:ea typeface="微软雅黑" panose="020B0503020204020204" pitchFamily="34" charset="-122"/>
            </a:endParaRPr>
          </a:p>
        </p:txBody>
      </p:sp>
    </p:spTree>
  </p:cSld>
  <p:clrMapOvr>
    <a:masterClrMapping/>
  </p:clrMapOvr>
  <p:transition spd="med">
    <p:zoom dir="in"/>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3"/>
          <p:cNvSpPr>
            <a:spLocks noGrp="1" noChangeArrowheads="1"/>
          </p:cNvSpPr>
          <p:nvPr>
            <p:ph type="body" sz="half" idx="1"/>
          </p:nvPr>
        </p:nvSpPr>
        <p:spPr>
          <a:xfrm>
            <a:off x="611188" y="908769"/>
            <a:ext cx="7993062" cy="5616575"/>
          </a:xfrm>
        </p:spPr>
        <p:txBody>
          <a:bodyPr/>
          <a:lstStyle/>
          <a:p>
            <a:pPr algn="just">
              <a:buFont typeface="Wingdings" panose="05000000000000000000" pitchFamily="2" charset="2"/>
              <a:buNone/>
            </a:pPr>
            <a:r>
              <a:rPr lang="en-US" altLang="zh-CN" sz="2400" dirty="0">
                <a:solidFill>
                  <a:srgbClr val="FF0000"/>
                </a:solidFill>
              </a:rPr>
              <a:t>Advantages: </a:t>
            </a:r>
          </a:p>
          <a:p>
            <a:pPr algn="just">
              <a:buFont typeface="Wingdings" panose="05000000000000000000" pitchFamily="2" charset="2"/>
              <a:buNone/>
            </a:pPr>
            <a:r>
              <a:rPr lang="en-US" altLang="zh-CN" sz="2400" b="0" dirty="0">
                <a:solidFill>
                  <a:srgbClr val="FF0000"/>
                </a:solidFill>
              </a:rPr>
              <a:t>	</a:t>
            </a:r>
            <a:r>
              <a:rPr lang="en-US" altLang="zh-CN" sz="2400" b="0" dirty="0"/>
              <a:t>Curie Wolfe principle considers the crystal growth from the aspect of surface energy, which is determined by two key factors: crystal and media. However, in practical crystals always </a:t>
            </a:r>
            <a:r>
              <a:rPr lang="en-US" altLang="zh-CN" sz="2400" b="0" dirty="0">
                <a:solidFill>
                  <a:srgbClr val="FF0000"/>
                </a:solidFill>
              </a:rPr>
              <a:t>can not reach their equilibrium morphologies</a:t>
            </a:r>
            <a:r>
              <a:rPr lang="en-US" altLang="zh-CN" sz="2400" b="0" dirty="0"/>
              <a:t>, thus affect the application of this principle.</a:t>
            </a:r>
          </a:p>
          <a:p>
            <a:pPr algn="just">
              <a:buFont typeface="Wingdings" panose="05000000000000000000" pitchFamily="2" charset="2"/>
              <a:buNone/>
            </a:pPr>
            <a:endParaRPr lang="en-US" altLang="zh-CN" sz="2400" dirty="0"/>
          </a:p>
          <a:p>
            <a:pPr algn="just">
              <a:buFont typeface="Wingdings" panose="05000000000000000000" pitchFamily="2" charset="2"/>
              <a:buNone/>
            </a:pPr>
            <a:r>
              <a:rPr lang="en-US" altLang="zh-CN" sz="2400" dirty="0">
                <a:solidFill>
                  <a:srgbClr val="FF0000"/>
                </a:solidFill>
              </a:rPr>
              <a:t>Exercise</a:t>
            </a:r>
            <a:r>
              <a:rPr lang="zh-CN" altLang="en-US" sz="2400" dirty="0">
                <a:solidFill>
                  <a:srgbClr val="FF0000"/>
                </a:solidFill>
              </a:rPr>
              <a:t>：</a:t>
            </a:r>
            <a:endParaRPr lang="en-US" altLang="zh-CN" sz="2400" dirty="0">
              <a:solidFill>
                <a:srgbClr val="FF0000"/>
              </a:solidFill>
            </a:endParaRPr>
          </a:p>
          <a:p>
            <a:pPr algn="just">
              <a:buFont typeface="Wingdings" panose="05000000000000000000" pitchFamily="2" charset="2"/>
              <a:buNone/>
            </a:pPr>
            <a:r>
              <a:rPr lang="en-US" altLang="zh-CN" sz="2400" dirty="0"/>
              <a:t>	</a:t>
            </a:r>
            <a:r>
              <a:rPr lang="en-US" altLang="zh-CN" sz="2400" b="0" dirty="0"/>
              <a:t>Think about the relationship between the mentioned  five crystal growth models/theories. </a:t>
            </a:r>
            <a:endParaRPr lang="zh-CN" altLang="en-US" sz="2400" b="0" dirty="0"/>
          </a:p>
        </p:txBody>
      </p:sp>
    </p:spTree>
  </p:cSld>
  <p:clrMapOvr>
    <a:masterClrMapping/>
  </p:clrMapOvr>
  <p:transition spd="med">
    <p:zoom dir="in"/>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68313" y="615950"/>
            <a:ext cx="8229600" cy="652463"/>
          </a:xfrm>
        </p:spPr>
        <p:txBody>
          <a:bodyPr>
            <a:normAutofit fontScale="90000"/>
          </a:bodyPr>
          <a:lstStyle/>
          <a:p>
            <a:pPr>
              <a:defRPr/>
            </a:pPr>
            <a:r>
              <a:rPr lang="en-US" altLang="zh-CN" sz="2800" dirty="0">
                <a:latin typeface="Arial Black" panose="020B0A04020102020204"/>
                <a:ea typeface="微软雅黑" panose="020B0503020204020204" pitchFamily="34" charset="-122"/>
                <a:cs typeface="+mn-cs"/>
              </a:rPr>
              <a:t>IV</a:t>
            </a:r>
            <a:r>
              <a:rPr lang="zh-CN" altLang="en-US" sz="2800" dirty="0">
                <a:latin typeface="Arial Black" panose="020B0A04020102020204"/>
                <a:ea typeface="微软雅黑" panose="020B0503020204020204" pitchFamily="34" charset="-122"/>
                <a:cs typeface="+mn-cs"/>
              </a:rPr>
              <a:t>、</a:t>
            </a:r>
            <a:r>
              <a:rPr kumimoji="0" lang="en-US" altLang="zh-CN" sz="2800" dirty="0">
                <a:effectLst>
                  <a:outerShdw blurRad="38100" dist="38100" dir="2700000" algn="tl">
                    <a:srgbClr val="000000">
                      <a:alpha val="43137"/>
                    </a:srgbClr>
                  </a:outerShdw>
                </a:effectLst>
              </a:rPr>
              <a:t>External factors affecting crystal growth</a:t>
            </a:r>
            <a:endParaRPr lang="zh-CN" altLang="en-US" sz="2800" dirty="0">
              <a:latin typeface="Arial Black" panose="020B0A04020102020204"/>
              <a:ea typeface="微软雅黑" panose="020B0503020204020204" pitchFamily="34" charset="-122"/>
              <a:cs typeface="+mn-cs"/>
            </a:endParaRPr>
          </a:p>
        </p:txBody>
      </p:sp>
      <p:sp>
        <p:nvSpPr>
          <p:cNvPr id="38915" name="Rectangle 3"/>
          <p:cNvSpPr>
            <a:spLocks noGrp="1" noChangeArrowheads="1"/>
          </p:cNvSpPr>
          <p:nvPr>
            <p:ph idx="1"/>
          </p:nvPr>
        </p:nvSpPr>
        <p:spPr>
          <a:xfrm>
            <a:off x="755576" y="1600200"/>
            <a:ext cx="8136904" cy="4525963"/>
          </a:xfrm>
        </p:spPr>
        <p:txBody>
          <a:bodyPr/>
          <a:lstStyle/>
          <a:p>
            <a:r>
              <a:rPr lang="en-US" altLang="zh-CN" sz="2400" b="0" dirty="0"/>
              <a:t>The internal factors (structure, component and defects) are the fundamental reasons  determining crystal morphology during growth;</a:t>
            </a:r>
          </a:p>
          <a:p>
            <a:r>
              <a:rPr lang="en-US" altLang="zh-CN" sz="2400" b="0" dirty="0"/>
              <a:t>However, the external environment also has a great influence on crystal morphology;</a:t>
            </a:r>
          </a:p>
          <a:p>
            <a:r>
              <a:rPr lang="en-US" altLang="zh-CN" sz="2400" b="0" dirty="0"/>
              <a:t>Crystal morphology may vary when crystals grow in different conditions.</a:t>
            </a:r>
          </a:p>
          <a:p>
            <a:pPr algn="ctr"/>
            <a:r>
              <a:rPr lang="en-US" altLang="zh-CN" sz="2400" dirty="0">
                <a:solidFill>
                  <a:srgbClr val="FF0000"/>
                </a:solidFill>
              </a:rPr>
              <a:t>Temperature; impurities; viscosity</a:t>
            </a:r>
            <a:r>
              <a:rPr lang="zh-CN" altLang="en-US" sz="2400" dirty="0">
                <a:solidFill>
                  <a:srgbClr val="FF0000"/>
                </a:solidFill>
              </a:rPr>
              <a:t>（黏度）</a:t>
            </a:r>
            <a:r>
              <a:rPr lang="en-US" altLang="zh-CN" sz="2400" dirty="0">
                <a:solidFill>
                  <a:srgbClr val="FF0000"/>
                </a:solidFill>
              </a:rPr>
              <a:t>;</a:t>
            </a:r>
          </a:p>
          <a:p>
            <a:pPr algn="ctr"/>
            <a:r>
              <a:rPr lang="en-US" altLang="zh-CN" sz="2400" dirty="0">
                <a:solidFill>
                  <a:srgbClr val="FF0000"/>
                </a:solidFill>
              </a:rPr>
              <a:t> nucleation rate; v</a:t>
            </a:r>
            <a:r>
              <a:rPr lang="en-US" altLang="zh-CN" sz="2400" spc="-60" dirty="0">
                <a:solidFill>
                  <a:srgbClr val="FF0000"/>
                </a:solidFill>
              </a:rPr>
              <a:t>ortex </a:t>
            </a:r>
            <a:r>
              <a:rPr lang="en-US" altLang="zh-CN" sz="2400" dirty="0">
                <a:solidFill>
                  <a:srgbClr val="FF0000"/>
                </a:solidFill>
              </a:rPr>
              <a:t>(</a:t>
            </a:r>
            <a:r>
              <a:rPr lang="zh-CN" altLang="en-US" sz="2400" dirty="0">
                <a:solidFill>
                  <a:srgbClr val="FF0000"/>
                </a:solidFill>
              </a:rPr>
              <a:t>涡流</a:t>
            </a:r>
            <a:r>
              <a:rPr lang="en-US" altLang="zh-CN" sz="2400" dirty="0">
                <a:solidFill>
                  <a:srgbClr val="FF0000"/>
                </a:solidFill>
              </a:rPr>
              <a:t>) </a:t>
            </a:r>
            <a:r>
              <a:rPr lang="en-US" altLang="zh-CN" sz="2400" i="1" dirty="0">
                <a:solidFill>
                  <a:srgbClr val="FF0000"/>
                </a:solidFill>
              </a:rPr>
              <a:t>etc.</a:t>
            </a:r>
          </a:p>
          <a:p>
            <a:r>
              <a:rPr lang="en-US" altLang="zh-CN" sz="2400" dirty="0"/>
              <a:t>All these external factors affect crystal growth through internal factors.</a:t>
            </a:r>
            <a:endParaRPr lang="zh-CN" altLang="en-US" sz="3200" dirty="0"/>
          </a:p>
        </p:txBody>
      </p:sp>
    </p:spTree>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 name="Group 3"/>
          <p:cNvGrpSpPr/>
          <p:nvPr/>
        </p:nvGrpSpPr>
        <p:grpSpPr>
          <a:xfrm>
            <a:off x="1115616" y="2359968"/>
            <a:ext cx="6912768" cy="4050977"/>
            <a:chOff x="1115616" y="2359968"/>
            <a:chExt cx="6912768" cy="4050977"/>
          </a:xfrm>
        </p:grpSpPr>
        <p:pic>
          <p:nvPicPr>
            <p:cNvPr id="1445896" name="Picture 8" descr="zno2"/>
            <p:cNvPicPr>
              <a:picLocks noChangeAspect="1" noChangeArrowheads="1"/>
            </p:cNvPicPr>
            <p:nvPr/>
          </p:nvPicPr>
          <p:blipFill>
            <a:blip r:embed="rId2">
              <a:extLst>
                <a:ext uri="{28A0092B-C50C-407E-A947-70E740481C1C}">
                  <a14:useLocalDpi xmlns:a14="http://schemas.microsoft.com/office/drawing/2010/main" val="0"/>
                </a:ext>
              </a:extLst>
            </a:blip>
            <a:srcRect l="15152" r="6061"/>
            <a:stretch>
              <a:fillRect/>
            </a:stretch>
          </p:blipFill>
          <p:spPr bwMode="auto">
            <a:xfrm>
              <a:off x="1115616" y="2359968"/>
              <a:ext cx="2961556" cy="255583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p:cNvGrpSpPr/>
            <p:nvPr/>
          </p:nvGrpSpPr>
          <p:grpSpPr>
            <a:xfrm>
              <a:off x="1115616" y="5404909"/>
              <a:ext cx="6912768" cy="1006036"/>
              <a:chOff x="1115616" y="5404909"/>
              <a:chExt cx="6912768" cy="1006036"/>
            </a:xfrm>
          </p:grpSpPr>
          <p:sp>
            <p:nvSpPr>
              <p:cNvPr id="1445898" name="Rectangle 10"/>
              <p:cNvSpPr>
                <a:spLocks noChangeArrowheads="1"/>
              </p:cNvSpPr>
              <p:nvPr/>
            </p:nvSpPr>
            <p:spPr bwMode="auto">
              <a:xfrm>
                <a:off x="1115616" y="5404909"/>
                <a:ext cx="69127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b="1" dirty="0">
                    <a:latin typeface="Arial" panose="020B0604020202020204" pitchFamily="34" charset="0"/>
                  </a:rPr>
                  <a:t>Left</a:t>
                </a:r>
                <a:r>
                  <a:rPr lang="zh-CN" altLang="en-US" sz="2000" b="1" dirty="0">
                    <a:latin typeface="Arial" panose="020B0604020202020204" pitchFamily="34" charset="0"/>
                  </a:rPr>
                  <a:t>：</a:t>
                </a:r>
                <a:r>
                  <a:rPr lang="en-US" altLang="zh-CN" sz="2000" b="1" dirty="0">
                    <a:latin typeface="Arial" panose="020B0604020202020204" pitchFamily="34" charset="0"/>
                  </a:rPr>
                  <a:t>High Temperature</a:t>
                </a:r>
                <a:r>
                  <a:rPr lang="zh-CN" altLang="en-US" sz="2000" b="1" dirty="0">
                    <a:latin typeface="Arial" panose="020B0604020202020204" pitchFamily="34" charset="0"/>
                  </a:rPr>
                  <a:t>；   </a:t>
                </a:r>
                <a:r>
                  <a:rPr lang="en-US" altLang="zh-CN" sz="2000" b="1" dirty="0">
                    <a:latin typeface="Arial" panose="020B0604020202020204" pitchFamily="34" charset="0"/>
                  </a:rPr>
                  <a:t>Right</a:t>
                </a:r>
                <a:r>
                  <a:rPr lang="zh-CN" altLang="en-US" sz="2000" b="1" dirty="0">
                    <a:latin typeface="Arial" panose="020B0604020202020204" pitchFamily="34" charset="0"/>
                  </a:rPr>
                  <a:t>：</a:t>
                </a:r>
                <a:r>
                  <a:rPr lang="en-US" altLang="zh-CN" sz="2000" b="1" dirty="0">
                    <a:latin typeface="Arial" panose="020B0604020202020204" pitchFamily="34" charset="0"/>
                  </a:rPr>
                  <a:t>Room Temperature</a:t>
                </a:r>
                <a:endParaRPr lang="zh-CN" altLang="en-US" sz="2000" b="1" dirty="0">
                  <a:latin typeface="Arial" panose="020B0604020202020204" pitchFamily="34" charset="0"/>
                </a:endParaRPr>
              </a:p>
            </p:txBody>
          </p:sp>
          <p:sp>
            <p:nvSpPr>
              <p:cNvPr id="1445900" name="Rectangle 12"/>
              <p:cNvSpPr>
                <a:spLocks noChangeArrowheads="1"/>
              </p:cNvSpPr>
              <p:nvPr/>
            </p:nvSpPr>
            <p:spPr bwMode="auto">
              <a:xfrm>
                <a:off x="1764804" y="5949280"/>
                <a:ext cx="58272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Arial" panose="020B0604020202020204" pitchFamily="34" charset="0"/>
                  </a:rPr>
                  <a:t>Crystal morphology of calcite (CaCO3)</a:t>
                </a:r>
                <a:endParaRPr lang="zh-CN" altLang="en-US" b="1" dirty="0">
                  <a:latin typeface="Arial" panose="020B0604020202020204" pitchFamily="34" charset="0"/>
                </a:endParaRPr>
              </a:p>
            </p:txBody>
          </p:sp>
        </p:grpSp>
        <p:pic>
          <p:nvPicPr>
            <p:cNvPr id="1445903" name="Picture 15" descr="23-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0437" y="2359968"/>
              <a:ext cx="3195722" cy="2555838"/>
            </a:xfrm>
            <a:prstGeom prst="rect">
              <a:avLst/>
            </a:prstGeom>
            <a:noFill/>
            <a:extLst>
              <a:ext uri="{909E8E84-426E-40DD-AFC4-6F175D3DCCD1}">
                <a14:hiddenFill xmlns:a14="http://schemas.microsoft.com/office/drawing/2010/main">
                  <a:solidFill>
                    <a:srgbClr val="FFFFFF"/>
                  </a:solidFill>
                </a14:hiddenFill>
              </a:ext>
            </a:extLst>
          </p:spPr>
        </p:pic>
      </p:grpSp>
      <p:sp>
        <p:nvSpPr>
          <p:cNvPr id="1445904" name="Rectangle 16"/>
          <p:cNvSpPr>
            <a:spLocks noChangeArrowheads="1"/>
          </p:cNvSpPr>
          <p:nvPr/>
        </p:nvSpPr>
        <p:spPr bwMode="auto">
          <a:xfrm>
            <a:off x="757808" y="404664"/>
            <a:ext cx="20139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b="1" dirty="0">
                <a:solidFill>
                  <a:srgbClr val="FF0000"/>
                </a:solidFill>
                <a:latin typeface="+mn-lt"/>
                <a:ea typeface="黑体" panose="02010609060101010101" pitchFamily="49" charset="-122"/>
              </a:rPr>
              <a:t>Temperature</a:t>
            </a:r>
            <a:endParaRPr kumimoji="0" lang="zh-CN" altLang="en-US" sz="2800" b="1" cap="all" spc="-60" dirty="0">
              <a:solidFill>
                <a:srgbClr val="FF0000"/>
              </a:solidFill>
              <a:effectLst>
                <a:outerShdw blurRad="38100" dist="38100" dir="2700000" algn="tl">
                  <a:srgbClr val="000000">
                    <a:alpha val="43137"/>
                  </a:srgbClr>
                </a:outerShdw>
              </a:effectLst>
              <a:latin typeface="+mn-lt"/>
              <a:ea typeface="+mj-ea"/>
              <a:cs typeface="+mj-cs"/>
            </a:endParaRPr>
          </a:p>
        </p:txBody>
      </p:sp>
      <p:sp>
        <p:nvSpPr>
          <p:cNvPr id="2" name="Rectangle 1"/>
          <p:cNvSpPr/>
          <p:nvPr/>
        </p:nvSpPr>
        <p:spPr>
          <a:xfrm>
            <a:off x="755576" y="980728"/>
            <a:ext cx="7704857" cy="1015663"/>
          </a:xfrm>
          <a:prstGeom prst="rect">
            <a:avLst/>
          </a:prstGeom>
        </p:spPr>
        <p:txBody>
          <a:bodyPr wrap="square">
            <a:spAutoFit/>
          </a:bodyPr>
          <a:lstStyle/>
          <a:p>
            <a:r>
              <a:rPr lang="en-US" altLang="zh-CN" sz="2000" b="1" dirty="0">
                <a:solidFill>
                  <a:srgbClr val="003399"/>
                </a:solidFill>
                <a:latin typeface="+mn-lt"/>
                <a:ea typeface="+mn-ea"/>
              </a:rPr>
              <a:t>Under different temperature conditions, the relative growth rate of different crystal faces of the same crystal will change, and thus affects the final growth morphology.</a:t>
            </a:r>
            <a:endParaRPr lang="en-US" sz="2000" b="1" dirty="0">
              <a:solidFill>
                <a:srgbClr val="003399"/>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6515" name="Rectangle 3"/>
          <p:cNvSpPr>
            <a:spLocks noGrp="1" noChangeArrowheads="1"/>
          </p:cNvSpPr>
          <p:nvPr>
            <p:ph type="body" idx="1"/>
          </p:nvPr>
        </p:nvSpPr>
        <p:spPr>
          <a:xfrm>
            <a:off x="818714" y="1268760"/>
            <a:ext cx="7713726" cy="990600"/>
          </a:xfrm>
        </p:spPr>
        <p:txBody>
          <a:bodyPr/>
          <a:lstStyle/>
          <a:p>
            <a:pPr>
              <a:buFont typeface="Wingdings" panose="05000000000000000000" pitchFamily="2" charset="2"/>
              <a:buNone/>
            </a:pPr>
            <a:r>
              <a:rPr lang="en-US" altLang="zh-CN" dirty="0">
                <a:solidFill>
                  <a:srgbClr val="003399"/>
                </a:solidFill>
              </a:rPr>
              <a:t>The adsorption of impurities will change the specific surface free energy of crystal surfaces, which results in the change of the growth rate of crystal surfaces..</a:t>
            </a:r>
            <a:endParaRPr lang="zh-CN" altLang="en-US" sz="2400" b="1" dirty="0">
              <a:solidFill>
                <a:srgbClr val="003399"/>
              </a:solidFill>
            </a:endParaRPr>
          </a:p>
        </p:txBody>
      </p:sp>
      <p:grpSp>
        <p:nvGrpSpPr>
          <p:cNvPr id="2" name="Group 1"/>
          <p:cNvGrpSpPr/>
          <p:nvPr/>
        </p:nvGrpSpPr>
        <p:grpSpPr>
          <a:xfrm>
            <a:off x="1447800" y="2778174"/>
            <a:ext cx="6406468" cy="3165426"/>
            <a:chOff x="1447800" y="2778174"/>
            <a:chExt cx="6406468" cy="3165426"/>
          </a:xfrm>
        </p:grpSpPr>
        <p:pic>
          <p:nvPicPr>
            <p:cNvPr id="1216520" name="Picture 8" descr="sEMplv-1Ct5tvM">
              <a:hlinkClick r:id="" action="ppaction://noaction"/>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819400"/>
              <a:ext cx="2514600" cy="1571625"/>
            </a:xfrm>
            <a:prstGeom prst="rect">
              <a:avLst/>
            </a:prstGeom>
            <a:noFill/>
            <a:extLst>
              <a:ext uri="{909E8E84-426E-40DD-AFC4-6F175D3DCCD1}">
                <a14:hiddenFill xmlns:a14="http://schemas.microsoft.com/office/drawing/2010/main">
                  <a:solidFill>
                    <a:srgbClr val="FFFFFF"/>
                  </a:solidFill>
                </a14:hiddenFill>
              </a:ext>
            </a:extLst>
          </p:spPr>
        </p:pic>
        <p:pic>
          <p:nvPicPr>
            <p:cNvPr id="1216523" name="Picture 11" descr="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2778174"/>
              <a:ext cx="1828800" cy="165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6527" name="Rectangle 15"/>
            <p:cNvSpPr>
              <a:spLocks noChangeArrowheads="1"/>
            </p:cNvSpPr>
            <p:nvPr/>
          </p:nvSpPr>
          <p:spPr bwMode="auto">
            <a:xfrm>
              <a:off x="4514892" y="4581127"/>
              <a:ext cx="3339376"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zh-CN" sz="1800" b="1" dirty="0">
                  <a:latin typeface="Arial" panose="020B0604020202020204" pitchFamily="34" charset="0"/>
                </a:rPr>
                <a:t>Small amount of </a:t>
              </a:r>
            </a:p>
            <a:p>
              <a:pPr algn="ctr">
                <a:spcBef>
                  <a:spcPct val="20000"/>
                </a:spcBef>
              </a:pPr>
              <a:r>
                <a:rPr lang="en-US" altLang="zh-CN" sz="1800" b="1" dirty="0">
                  <a:latin typeface="Arial" panose="020B0604020202020204" pitchFamily="34" charset="0"/>
                </a:rPr>
                <a:t>boric acid in growth solution</a:t>
              </a:r>
              <a:endParaRPr lang="zh-CN" altLang="en-US" sz="1800" b="1" dirty="0">
                <a:latin typeface="Arial" panose="020B0604020202020204" pitchFamily="34" charset="0"/>
              </a:endParaRPr>
            </a:p>
          </p:txBody>
        </p:sp>
        <p:sp>
          <p:nvSpPr>
            <p:cNvPr id="1216528" name="Rectangle 16"/>
            <p:cNvSpPr>
              <a:spLocks noChangeArrowheads="1"/>
            </p:cNvSpPr>
            <p:nvPr/>
          </p:nvSpPr>
          <p:spPr bwMode="auto">
            <a:xfrm>
              <a:off x="3581400" y="5486400"/>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b="1" dirty="0" err="1">
                  <a:effectLst>
                    <a:outerShdw blurRad="38100" dist="38100" dir="2700000" algn="tl">
                      <a:srgbClr val="000000">
                        <a:alpha val="43137"/>
                      </a:srgbClr>
                    </a:outerShdw>
                  </a:effectLst>
                  <a:latin typeface="Arial" panose="020B0604020202020204" pitchFamily="34" charset="0"/>
                </a:rPr>
                <a:t>NaCl</a:t>
              </a:r>
              <a:r>
                <a:rPr lang="zh-CN" altLang="en-US" b="1" dirty="0">
                  <a:effectLst>
                    <a:outerShdw blurRad="38100" dist="38100" dir="2700000" algn="tl">
                      <a:srgbClr val="000000">
                        <a:alpha val="43137"/>
                      </a:srgbClr>
                    </a:outerShdw>
                  </a:effectLst>
                  <a:latin typeface="Arial" panose="020B0604020202020204" pitchFamily="34" charset="0"/>
                </a:rPr>
                <a:t> </a:t>
              </a:r>
              <a:r>
                <a:rPr lang="en-US" altLang="zh-CN" b="1" dirty="0">
                  <a:effectLst>
                    <a:outerShdw blurRad="38100" dist="38100" dir="2700000" algn="tl">
                      <a:srgbClr val="000000">
                        <a:alpha val="43137"/>
                      </a:srgbClr>
                    </a:outerShdw>
                  </a:effectLst>
                  <a:latin typeface="Arial" panose="020B0604020202020204" pitchFamily="34" charset="0"/>
                </a:rPr>
                <a:t>crystal</a:t>
              </a:r>
              <a:endParaRPr lang="zh-CN" altLang="en-US" b="1" dirty="0">
                <a:effectLst>
                  <a:outerShdw blurRad="38100" dist="38100" dir="2700000" algn="tl">
                    <a:srgbClr val="000000">
                      <a:alpha val="43137"/>
                    </a:srgbClr>
                  </a:outerShdw>
                </a:effectLst>
                <a:latin typeface="Arial" panose="020B0604020202020204" pitchFamily="34" charset="0"/>
              </a:endParaRPr>
            </a:p>
          </p:txBody>
        </p:sp>
        <p:sp>
          <p:nvSpPr>
            <p:cNvPr id="1216529" name="Rectangle 17"/>
            <p:cNvSpPr>
              <a:spLocks noChangeArrowheads="1"/>
            </p:cNvSpPr>
            <p:nvPr/>
          </p:nvSpPr>
          <p:spPr bwMode="auto">
            <a:xfrm>
              <a:off x="1665490" y="4581128"/>
              <a:ext cx="191591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zh-CN" sz="1800" b="1" dirty="0">
                  <a:latin typeface="Arial" panose="020B0604020202020204" pitchFamily="34" charset="0"/>
                </a:rPr>
                <a:t>No impurity in </a:t>
              </a:r>
            </a:p>
            <a:p>
              <a:pPr algn="ctr">
                <a:spcBef>
                  <a:spcPct val="20000"/>
                </a:spcBef>
              </a:pPr>
              <a:r>
                <a:rPr lang="en-US" altLang="zh-CN" sz="1800" b="1" dirty="0">
                  <a:latin typeface="Arial" panose="020B0604020202020204" pitchFamily="34" charset="0"/>
                </a:rPr>
                <a:t>growth solution</a:t>
              </a:r>
              <a:endParaRPr lang="zh-CN" altLang="en-US" sz="1800" b="1" dirty="0">
                <a:latin typeface="Arial" panose="020B0604020202020204" pitchFamily="34" charset="0"/>
              </a:endParaRPr>
            </a:p>
          </p:txBody>
        </p:sp>
      </p:grpSp>
      <p:sp>
        <p:nvSpPr>
          <p:cNvPr id="1216534" name="Rectangle 22"/>
          <p:cNvSpPr>
            <a:spLocks noChangeArrowheads="1"/>
          </p:cNvSpPr>
          <p:nvPr/>
        </p:nvSpPr>
        <p:spPr bwMode="auto">
          <a:xfrm>
            <a:off x="818714" y="609600"/>
            <a:ext cx="288919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accent2"/>
              </a:buClr>
              <a:buFont typeface="Wingdings" panose="05000000000000000000" pitchFamily="2" charset="2"/>
              <a:buNone/>
            </a:pPr>
            <a:r>
              <a:rPr kumimoji="0" lang="en-US" altLang="zh-CN" sz="2800" b="1" spc="-60" dirty="0">
                <a:solidFill>
                  <a:srgbClr val="FF0000"/>
                </a:solidFill>
                <a:latin typeface="+mn-lt"/>
                <a:ea typeface="+mj-ea"/>
                <a:cs typeface="+mj-cs"/>
              </a:rPr>
              <a:t>Impurity</a:t>
            </a:r>
            <a:endParaRPr kumimoji="0" lang="zh-CN" altLang="en-US" sz="2800" b="1" spc="-60" dirty="0">
              <a:solidFill>
                <a:srgbClr val="FF0000"/>
              </a:solidFill>
              <a:latin typeface="+mn-lt"/>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16515">
                                            <p:txEl>
                                              <p:pRg st="0" end="0"/>
                                            </p:txEl>
                                          </p:spTgt>
                                        </p:tgtEl>
                                        <p:attrNameLst>
                                          <p:attrName>style.visibility</p:attrName>
                                        </p:attrNameLst>
                                      </p:cBhvr>
                                      <p:to>
                                        <p:strVal val="visible"/>
                                      </p:to>
                                    </p:set>
                                    <p:animEffect transition="in" filter="blinds(horizontal)">
                                      <p:cBhvr>
                                        <p:cTn id="7" dur="500"/>
                                        <p:tgtEl>
                                          <p:spTgt spid="12165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6515"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7539" name="Rectangle 3"/>
          <p:cNvSpPr>
            <a:spLocks noGrp="1" noChangeArrowheads="1"/>
          </p:cNvSpPr>
          <p:nvPr>
            <p:ph type="body" idx="1"/>
          </p:nvPr>
        </p:nvSpPr>
        <p:spPr>
          <a:xfrm>
            <a:off x="669032" y="1196752"/>
            <a:ext cx="7935416" cy="18288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buFont typeface="Wingdings" panose="05000000000000000000" pitchFamily="2" charset="2"/>
              <a:buNone/>
            </a:pPr>
            <a:r>
              <a:rPr lang="en-US" altLang="zh-CN" dirty="0">
                <a:solidFill>
                  <a:srgbClr val="003399"/>
                </a:solidFill>
              </a:rPr>
              <a:t>Medium viscosity can largely affect the transport and supply of materials. Because the edges and corners at the top of crystals can easily received solute, the growth at these position is faster; There is quite slow growth or almost no growth at crystal surface center, resulting in the formation of skeleton crystals</a:t>
            </a:r>
            <a:r>
              <a:rPr lang="zh-CN" altLang="en-US" dirty="0">
                <a:solidFill>
                  <a:srgbClr val="003399"/>
                </a:solidFill>
              </a:rPr>
              <a:t>（骸晶）</a:t>
            </a:r>
            <a:r>
              <a:rPr lang="en-US" altLang="zh-CN" dirty="0">
                <a:solidFill>
                  <a:srgbClr val="003399"/>
                </a:solidFill>
              </a:rPr>
              <a:t>.</a:t>
            </a:r>
            <a:endParaRPr lang="zh-CN" altLang="en-US" dirty="0">
              <a:solidFill>
                <a:srgbClr val="003399"/>
              </a:solidFill>
            </a:endParaRPr>
          </a:p>
        </p:txBody>
      </p:sp>
      <p:pic>
        <p:nvPicPr>
          <p:cNvPr id="1217542" name="Picture 6" descr="ECH4X0775IMG"/>
          <p:cNvPicPr>
            <a:picLocks noChangeAspect="1" noChangeArrowheads="1"/>
          </p:cNvPicPr>
          <p:nvPr/>
        </p:nvPicPr>
        <p:blipFill>
          <a:blip r:embed="rId2" cstate="print">
            <a:extLst>
              <a:ext uri="{28A0092B-C50C-407E-A947-70E740481C1C}">
                <a14:useLocalDpi xmlns:a14="http://schemas.microsoft.com/office/drawing/2010/main" val="0"/>
              </a:ext>
            </a:extLst>
          </a:blip>
          <a:srcRect l="34756" t="20325" r="21951" b="26830"/>
          <a:stretch>
            <a:fillRect/>
          </a:stretch>
        </p:blipFill>
        <p:spPr bwMode="auto">
          <a:xfrm>
            <a:off x="6394376" y="3212976"/>
            <a:ext cx="2286000" cy="2092325"/>
          </a:xfrm>
          <a:prstGeom prst="rect">
            <a:avLst/>
          </a:prstGeom>
          <a:noFill/>
          <a:extLst>
            <a:ext uri="{909E8E84-426E-40DD-AFC4-6F175D3DCCD1}">
              <a14:hiddenFill xmlns:a14="http://schemas.microsoft.com/office/drawing/2010/main">
                <a:solidFill>
                  <a:srgbClr val="FFFFFF"/>
                </a:solidFill>
              </a14:hiddenFill>
            </a:ext>
          </a:extLst>
        </p:spPr>
      </p:pic>
      <p:pic>
        <p:nvPicPr>
          <p:cNvPr id="1217544" name="Picture 8" descr="ECH4X0811IM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576" y="3212976"/>
            <a:ext cx="2667000" cy="2000250"/>
          </a:xfrm>
          <a:prstGeom prst="rect">
            <a:avLst/>
          </a:prstGeom>
          <a:noFill/>
          <a:extLst>
            <a:ext uri="{909E8E84-426E-40DD-AFC4-6F175D3DCCD1}">
              <a14:hiddenFill xmlns:a14="http://schemas.microsoft.com/office/drawing/2010/main">
                <a:solidFill>
                  <a:srgbClr val="FFFFFF"/>
                </a:solidFill>
              </a14:hiddenFill>
            </a:ext>
          </a:extLst>
        </p:spPr>
      </p:pic>
      <p:pic>
        <p:nvPicPr>
          <p:cNvPr id="1217545" name="Picture 9" descr="ECH4X0805IM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74976" y="3212976"/>
            <a:ext cx="2743200" cy="2057400"/>
          </a:xfrm>
          <a:prstGeom prst="rect">
            <a:avLst/>
          </a:prstGeom>
          <a:noFill/>
          <a:extLst>
            <a:ext uri="{909E8E84-426E-40DD-AFC4-6F175D3DCCD1}">
              <a14:hiddenFill xmlns:a14="http://schemas.microsoft.com/office/drawing/2010/main">
                <a:solidFill>
                  <a:srgbClr val="FFFFFF"/>
                </a:solidFill>
              </a14:hiddenFill>
            </a:ext>
          </a:extLst>
        </p:spPr>
      </p:pic>
      <p:sp>
        <p:nvSpPr>
          <p:cNvPr id="1217550" name="Rectangle 14"/>
          <p:cNvSpPr>
            <a:spLocks noChangeArrowheads="1"/>
          </p:cNvSpPr>
          <p:nvPr/>
        </p:nvSpPr>
        <p:spPr bwMode="auto">
          <a:xfrm>
            <a:off x="685800" y="609600"/>
            <a:ext cx="3505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accent2"/>
              </a:buClr>
              <a:buFont typeface="Wingdings" panose="05000000000000000000" pitchFamily="2" charset="2"/>
              <a:buNone/>
            </a:pPr>
            <a:r>
              <a:rPr kumimoji="0" lang="en-US" sz="2800" b="1" spc="-60" dirty="0">
                <a:solidFill>
                  <a:srgbClr val="FF0000"/>
                </a:solidFill>
                <a:latin typeface="+mn-lt"/>
                <a:ea typeface="+mj-ea"/>
                <a:cs typeface="+mj-cs"/>
              </a:rPr>
              <a:t>Medium viscosity</a:t>
            </a:r>
            <a:endParaRPr kumimoji="0" lang="zh-CN" altLang="en-US" sz="2800" b="1" spc="-60" dirty="0">
              <a:solidFill>
                <a:srgbClr val="FF0000"/>
              </a:solidFill>
              <a:latin typeface="+mn-lt"/>
              <a:ea typeface="+mj-ea"/>
              <a:cs typeface="+mj-cs"/>
            </a:endParaRPr>
          </a:p>
        </p:txBody>
      </p:sp>
      <p:pic>
        <p:nvPicPr>
          <p:cNvPr id="39938"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t="9747" r="2992" b="9855"/>
          <a:stretch>
            <a:fillRect/>
          </a:stretch>
        </p:blipFill>
        <p:spPr bwMode="auto">
          <a:xfrm>
            <a:off x="3527640" y="5332637"/>
            <a:ext cx="2525414" cy="14608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939"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09126" y="5332637"/>
            <a:ext cx="1963274" cy="14803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940" name="Picture 4"/>
          <p:cNvPicPr>
            <a:picLocks noChangeAspect="1" noChangeArrowheads="1"/>
          </p:cNvPicPr>
          <p:nvPr/>
        </p:nvPicPr>
        <p:blipFill rotWithShape="1">
          <a:blip r:embed="rId7">
            <a:extLst>
              <a:ext uri="{28A0092B-C50C-407E-A947-70E740481C1C}">
                <a14:useLocalDpi xmlns:a14="http://schemas.microsoft.com/office/drawing/2010/main" val="0"/>
              </a:ext>
            </a:extLst>
          </a:blip>
          <a:srcRect r="1758" b="8925"/>
          <a:stretch>
            <a:fillRect/>
          </a:stretch>
        </p:blipFill>
        <p:spPr bwMode="auto">
          <a:xfrm>
            <a:off x="1223384" y="5332636"/>
            <a:ext cx="2219531" cy="14608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217539">
                                            <p:txEl>
                                              <p:pRg st="0" end="0"/>
                                            </p:txEl>
                                          </p:spTgt>
                                        </p:tgtEl>
                                        <p:attrNameLst>
                                          <p:attrName>style.visibility</p:attrName>
                                        </p:attrNameLst>
                                      </p:cBhvr>
                                      <p:to>
                                        <p:strVal val="visible"/>
                                      </p:to>
                                    </p:set>
                                    <p:animEffect transition="in" filter="blinds(horizontal)">
                                      <p:cBhvr>
                                        <p:cTn id="7" dur="500"/>
                                        <p:tgtEl>
                                          <p:spTgt spid="1217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17544"/>
                                        </p:tgtEl>
                                        <p:attrNameLst>
                                          <p:attrName>style.visibility</p:attrName>
                                        </p:attrNameLst>
                                      </p:cBhvr>
                                      <p:to>
                                        <p:strVal val="visible"/>
                                      </p:to>
                                    </p:set>
                                    <p:anim calcmode="lin" valueType="num">
                                      <p:cBhvr additive="base">
                                        <p:cTn id="12" dur="500" fill="hold"/>
                                        <p:tgtEl>
                                          <p:spTgt spid="1217544"/>
                                        </p:tgtEl>
                                        <p:attrNameLst>
                                          <p:attrName>ppt_x</p:attrName>
                                        </p:attrNameLst>
                                      </p:cBhvr>
                                      <p:tavLst>
                                        <p:tav tm="0">
                                          <p:val>
                                            <p:strVal val="#ppt_x"/>
                                          </p:val>
                                        </p:tav>
                                        <p:tav tm="100000">
                                          <p:val>
                                            <p:strVal val="#ppt_x"/>
                                          </p:val>
                                        </p:tav>
                                      </p:tavLst>
                                    </p:anim>
                                    <p:anim calcmode="lin" valueType="num">
                                      <p:cBhvr additive="base">
                                        <p:cTn id="13" dur="500" fill="hold"/>
                                        <p:tgtEl>
                                          <p:spTgt spid="121754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217545"/>
                                        </p:tgtEl>
                                        <p:attrNameLst>
                                          <p:attrName>style.visibility</p:attrName>
                                        </p:attrNameLst>
                                      </p:cBhvr>
                                      <p:to>
                                        <p:strVal val="visible"/>
                                      </p:to>
                                    </p:set>
                                    <p:anim calcmode="lin" valueType="num">
                                      <p:cBhvr additive="base">
                                        <p:cTn id="18" dur="500" fill="hold"/>
                                        <p:tgtEl>
                                          <p:spTgt spid="1217545"/>
                                        </p:tgtEl>
                                        <p:attrNameLst>
                                          <p:attrName>ppt_x</p:attrName>
                                        </p:attrNameLst>
                                      </p:cBhvr>
                                      <p:tavLst>
                                        <p:tav tm="0">
                                          <p:val>
                                            <p:strVal val="#ppt_x"/>
                                          </p:val>
                                        </p:tav>
                                        <p:tav tm="100000">
                                          <p:val>
                                            <p:strVal val="#ppt_x"/>
                                          </p:val>
                                        </p:tav>
                                      </p:tavLst>
                                    </p:anim>
                                    <p:anim calcmode="lin" valueType="num">
                                      <p:cBhvr additive="base">
                                        <p:cTn id="19" dur="500" fill="hold"/>
                                        <p:tgtEl>
                                          <p:spTgt spid="1217545"/>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1217542"/>
                                        </p:tgtEl>
                                        <p:attrNameLst>
                                          <p:attrName>style.visibility</p:attrName>
                                        </p:attrNameLst>
                                      </p:cBhvr>
                                      <p:to>
                                        <p:strVal val="visible"/>
                                      </p:to>
                                    </p:set>
                                    <p:anim calcmode="lin" valueType="num">
                                      <p:cBhvr additive="base">
                                        <p:cTn id="23" dur="500" fill="hold"/>
                                        <p:tgtEl>
                                          <p:spTgt spid="1217542"/>
                                        </p:tgtEl>
                                        <p:attrNameLst>
                                          <p:attrName>ppt_x</p:attrName>
                                        </p:attrNameLst>
                                      </p:cBhvr>
                                      <p:tavLst>
                                        <p:tav tm="0">
                                          <p:val>
                                            <p:strVal val="#ppt_x"/>
                                          </p:val>
                                        </p:tav>
                                        <p:tav tm="100000">
                                          <p:val>
                                            <p:strVal val="#ppt_x"/>
                                          </p:val>
                                        </p:tav>
                                      </p:tavLst>
                                    </p:anim>
                                    <p:anim calcmode="lin" valueType="num">
                                      <p:cBhvr additive="base">
                                        <p:cTn id="24" dur="500" fill="hold"/>
                                        <p:tgtEl>
                                          <p:spTgt spid="12175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19588" name="Picture 4" descr="2-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672" y="1988840"/>
            <a:ext cx="1647825"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9589" name="Picture 5" descr="2-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5218" y="2020293"/>
            <a:ext cx="1676400" cy="180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9592" name="Rectangle 8"/>
          <p:cNvSpPr>
            <a:spLocks noChangeArrowheads="1"/>
          </p:cNvSpPr>
          <p:nvPr/>
        </p:nvSpPr>
        <p:spPr bwMode="auto">
          <a:xfrm>
            <a:off x="990600" y="4070131"/>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b="1" dirty="0">
                <a:latin typeface="Arial" panose="020B0604020202020204" pitchFamily="34" charset="0"/>
                <a:cs typeface="Times New Roman" panose="02020603050405020304" pitchFamily="18" charset="0"/>
              </a:rPr>
              <a:t>      </a:t>
            </a:r>
            <a:r>
              <a:rPr lang="zh-CN" altLang="en-US" b="1" dirty="0">
                <a:latin typeface="Arial" panose="020B0604020202020204" pitchFamily="34" charset="0"/>
                <a:cs typeface="Times New Roman" panose="02020603050405020304" pitchFamily="18" charset="0"/>
              </a:rPr>
              <a:t> </a:t>
            </a:r>
            <a:r>
              <a:rPr lang="en-US" altLang="zh-CN" b="1" dirty="0">
                <a:latin typeface="Arial" panose="020B0604020202020204" pitchFamily="34" charset="0"/>
                <a:cs typeface="Times New Roman" panose="02020603050405020304" pitchFamily="18" charset="0"/>
              </a:rPr>
              <a:t>More Al</a:t>
            </a:r>
            <a:r>
              <a:rPr lang="en-US" altLang="zh-CN" b="1" baseline="-30000" dirty="0">
                <a:latin typeface="Arial" panose="020B0604020202020204" pitchFamily="34" charset="0"/>
                <a:cs typeface="Times New Roman" panose="02020603050405020304" pitchFamily="18" charset="0"/>
              </a:rPr>
              <a:t>2</a:t>
            </a:r>
            <a:r>
              <a:rPr lang="en-US" altLang="zh-CN" b="1" dirty="0">
                <a:latin typeface="Arial" panose="020B0604020202020204" pitchFamily="34" charset="0"/>
                <a:cs typeface="Times New Roman" panose="02020603050405020304" pitchFamily="18" charset="0"/>
              </a:rPr>
              <a:t>O</a:t>
            </a:r>
            <a:r>
              <a:rPr lang="en-US" altLang="zh-CN" b="1" baseline="-30000" dirty="0">
                <a:latin typeface="Arial" panose="020B0604020202020204" pitchFamily="34" charset="0"/>
                <a:cs typeface="Times New Roman" panose="02020603050405020304" pitchFamily="18" charset="0"/>
              </a:rPr>
              <a:t>3</a:t>
            </a:r>
            <a:endParaRPr lang="zh-CN" altLang="en-US" b="1" dirty="0">
              <a:latin typeface="Arial" panose="020B0604020202020204" pitchFamily="34" charset="0"/>
              <a:cs typeface="Times New Roman" panose="02020603050405020304" pitchFamily="18" charset="0"/>
            </a:endParaRPr>
          </a:p>
        </p:txBody>
      </p:sp>
      <p:sp>
        <p:nvSpPr>
          <p:cNvPr id="1219594" name="Rectangle 10"/>
          <p:cNvSpPr>
            <a:spLocks noChangeArrowheads="1"/>
          </p:cNvSpPr>
          <p:nvPr/>
        </p:nvSpPr>
        <p:spPr bwMode="auto">
          <a:xfrm>
            <a:off x="2010542" y="5013176"/>
            <a:ext cx="51010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dirty="0">
                <a:latin typeface="Arial" panose="020B0604020202020204" pitchFamily="34" charset="0"/>
                <a:cs typeface="Times New Roman" panose="02020603050405020304" pitchFamily="18" charset="0"/>
              </a:rPr>
              <a:t>Y</a:t>
            </a:r>
            <a:r>
              <a:rPr lang="en-US" altLang="zh-CN" b="1" baseline="-30000" dirty="0">
                <a:latin typeface="Arial" panose="020B0604020202020204" pitchFamily="34" charset="0"/>
                <a:cs typeface="Times New Roman" panose="02020603050405020304" pitchFamily="18" charset="0"/>
              </a:rPr>
              <a:t>3</a:t>
            </a:r>
            <a:r>
              <a:rPr lang="en-US" altLang="zh-CN" b="1" dirty="0">
                <a:latin typeface="Arial" panose="020B0604020202020204" pitchFamily="34" charset="0"/>
                <a:cs typeface="Times New Roman" panose="02020603050405020304" pitchFamily="18" charset="0"/>
              </a:rPr>
              <a:t>Al</a:t>
            </a:r>
            <a:r>
              <a:rPr lang="en-US" altLang="zh-CN" b="1" baseline="-30000" dirty="0">
                <a:latin typeface="Arial" panose="020B0604020202020204" pitchFamily="34" charset="0"/>
                <a:cs typeface="Times New Roman" panose="02020603050405020304" pitchFamily="18" charset="0"/>
              </a:rPr>
              <a:t>2</a:t>
            </a:r>
            <a:r>
              <a:rPr lang="en-US" altLang="zh-CN" b="1" dirty="0">
                <a:latin typeface="Arial" panose="020B0604020202020204" pitchFamily="34" charset="0"/>
                <a:cs typeface="Times New Roman" panose="02020603050405020304" pitchFamily="18" charset="0"/>
              </a:rPr>
              <a:t>[AlO</a:t>
            </a:r>
            <a:r>
              <a:rPr lang="en-US" altLang="zh-CN" b="1" baseline="-30000" dirty="0">
                <a:latin typeface="Arial" panose="020B0604020202020204" pitchFamily="34" charset="0"/>
                <a:cs typeface="Times New Roman" panose="02020603050405020304" pitchFamily="18" charset="0"/>
              </a:rPr>
              <a:t>4</a:t>
            </a:r>
            <a:r>
              <a:rPr lang="en-US" altLang="zh-CN" b="1" dirty="0">
                <a:latin typeface="Arial" panose="020B0604020202020204" pitchFamily="34" charset="0"/>
                <a:cs typeface="Times New Roman" panose="02020603050405020304" pitchFamily="18" charset="0"/>
              </a:rPr>
              <a:t>]</a:t>
            </a:r>
            <a:r>
              <a:rPr lang="en-US" altLang="zh-CN" b="1" baseline="-30000" dirty="0">
                <a:latin typeface="Arial" panose="020B0604020202020204" pitchFamily="34" charset="0"/>
                <a:cs typeface="Times New Roman" panose="02020603050405020304" pitchFamily="18" charset="0"/>
              </a:rPr>
              <a:t>3</a:t>
            </a:r>
            <a:r>
              <a:rPr lang="zh-CN" altLang="en-US" b="1" dirty="0">
                <a:latin typeface="Arial" panose="020B0604020202020204" pitchFamily="34" charset="0"/>
                <a:cs typeface="Times New Roman" panose="02020603050405020304" pitchFamily="18" charset="0"/>
              </a:rPr>
              <a:t> </a:t>
            </a:r>
            <a:r>
              <a:rPr lang="en-US" altLang="zh-CN" b="1" dirty="0">
                <a:latin typeface="Arial" panose="020B0604020202020204" pitchFamily="34" charset="0"/>
                <a:cs typeface="Times New Roman" panose="02020603050405020304" pitchFamily="18" charset="0"/>
              </a:rPr>
              <a:t>crystal morphologies</a:t>
            </a:r>
            <a:endParaRPr lang="zh-CN" altLang="en-US" b="1" dirty="0">
              <a:latin typeface="Arial" panose="020B0604020202020204" pitchFamily="34" charset="0"/>
              <a:cs typeface="Times New Roman" panose="02020603050405020304" pitchFamily="18" charset="0"/>
            </a:endParaRPr>
          </a:p>
        </p:txBody>
      </p:sp>
      <p:sp>
        <p:nvSpPr>
          <p:cNvPr id="1219596" name="Rectangle 12"/>
          <p:cNvSpPr>
            <a:spLocks noChangeArrowheads="1"/>
          </p:cNvSpPr>
          <p:nvPr/>
        </p:nvSpPr>
        <p:spPr bwMode="auto">
          <a:xfrm>
            <a:off x="5462221" y="4101662"/>
            <a:ext cx="17740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pPr>
            <a:r>
              <a:rPr lang="en-US" altLang="zh-CN" b="1" dirty="0">
                <a:latin typeface="Arial" panose="020B0604020202020204" pitchFamily="34" charset="0"/>
              </a:rPr>
              <a:t>More </a:t>
            </a:r>
            <a:r>
              <a:rPr lang="en-US" altLang="zh-CN" b="1" dirty="0">
                <a:latin typeface="Arial" panose="020B0604020202020204" pitchFamily="34" charset="0"/>
                <a:cs typeface="Times New Roman" panose="02020603050405020304" pitchFamily="18" charset="0"/>
              </a:rPr>
              <a:t>Y</a:t>
            </a:r>
            <a:r>
              <a:rPr lang="en-US" altLang="zh-CN" b="1" baseline="-30000" dirty="0">
                <a:latin typeface="Arial" panose="020B0604020202020204" pitchFamily="34" charset="0"/>
                <a:cs typeface="Times New Roman" panose="02020603050405020304" pitchFamily="18" charset="0"/>
              </a:rPr>
              <a:t>2</a:t>
            </a:r>
            <a:r>
              <a:rPr lang="en-US" altLang="zh-CN" b="1" dirty="0">
                <a:latin typeface="Arial" panose="020B0604020202020204" pitchFamily="34" charset="0"/>
                <a:cs typeface="Times New Roman" panose="02020603050405020304" pitchFamily="18" charset="0"/>
              </a:rPr>
              <a:t>O</a:t>
            </a:r>
            <a:r>
              <a:rPr lang="en-US" altLang="zh-CN" b="1" baseline="-30000" dirty="0">
                <a:latin typeface="Arial" panose="020B0604020202020204" pitchFamily="34" charset="0"/>
                <a:cs typeface="Times New Roman" panose="02020603050405020304" pitchFamily="18" charset="0"/>
              </a:rPr>
              <a:t>3</a:t>
            </a:r>
            <a:r>
              <a:rPr lang="en-US" altLang="zh-CN" b="1" dirty="0">
                <a:latin typeface="Arial" panose="020B0604020202020204" pitchFamily="34" charset="0"/>
              </a:rPr>
              <a:t> </a:t>
            </a:r>
          </a:p>
        </p:txBody>
      </p:sp>
      <p:sp>
        <p:nvSpPr>
          <p:cNvPr id="1219602" name="Rectangle 18"/>
          <p:cNvSpPr>
            <a:spLocks noChangeArrowheads="1"/>
          </p:cNvSpPr>
          <p:nvPr/>
        </p:nvSpPr>
        <p:spPr bwMode="auto">
          <a:xfrm>
            <a:off x="990600" y="533400"/>
            <a:ext cx="73258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accent2"/>
              </a:buClr>
              <a:buFont typeface="Wingdings" panose="05000000000000000000" pitchFamily="2" charset="2"/>
              <a:buNone/>
            </a:pPr>
            <a:r>
              <a:rPr kumimoji="0" lang="en-US" altLang="zh-CN" sz="2800" b="1" spc="-60" dirty="0">
                <a:solidFill>
                  <a:srgbClr val="FF0000"/>
                </a:solidFill>
                <a:latin typeface="+mn-lt"/>
                <a:ea typeface="+mj-ea"/>
                <a:cs typeface="+mj-cs"/>
              </a:rPr>
              <a:t>Relative concentration of components</a:t>
            </a:r>
            <a:endParaRPr kumimoji="0" lang="zh-CN" altLang="en-US" sz="2800" b="1" spc="-60" dirty="0">
              <a:solidFill>
                <a:srgbClr val="FF0000"/>
              </a:solidFill>
              <a:latin typeface="+mn-lt"/>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19588"/>
                                        </p:tgtEl>
                                        <p:attrNameLst>
                                          <p:attrName>style.visibility</p:attrName>
                                        </p:attrNameLst>
                                      </p:cBhvr>
                                      <p:to>
                                        <p:strVal val="visible"/>
                                      </p:to>
                                    </p:set>
                                    <p:anim calcmode="lin" valueType="num">
                                      <p:cBhvr additive="base">
                                        <p:cTn id="7" dur="500" fill="hold"/>
                                        <p:tgtEl>
                                          <p:spTgt spid="1219588"/>
                                        </p:tgtEl>
                                        <p:attrNameLst>
                                          <p:attrName>ppt_x</p:attrName>
                                        </p:attrNameLst>
                                      </p:cBhvr>
                                      <p:tavLst>
                                        <p:tav tm="0">
                                          <p:val>
                                            <p:strVal val="0-#ppt_w/2"/>
                                          </p:val>
                                        </p:tav>
                                        <p:tav tm="100000">
                                          <p:val>
                                            <p:strVal val="#ppt_x"/>
                                          </p:val>
                                        </p:tav>
                                      </p:tavLst>
                                    </p:anim>
                                    <p:anim calcmode="lin" valueType="num">
                                      <p:cBhvr additive="base">
                                        <p:cTn id="8" dur="500" fill="hold"/>
                                        <p:tgtEl>
                                          <p:spTgt spid="121958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219592">
                                            <p:txEl>
                                              <p:pRg st="0" end="0"/>
                                            </p:txEl>
                                          </p:spTgt>
                                        </p:tgtEl>
                                        <p:attrNameLst>
                                          <p:attrName>style.visibility</p:attrName>
                                        </p:attrNameLst>
                                      </p:cBhvr>
                                      <p:to>
                                        <p:strVal val="visible"/>
                                      </p:to>
                                    </p:set>
                                    <p:anim calcmode="lin" valueType="num">
                                      <p:cBhvr additive="base">
                                        <p:cTn id="13" dur="500" fill="hold"/>
                                        <p:tgtEl>
                                          <p:spTgt spid="1219592">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195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219589"/>
                                        </p:tgtEl>
                                        <p:attrNameLst>
                                          <p:attrName>style.visibility</p:attrName>
                                        </p:attrNameLst>
                                      </p:cBhvr>
                                      <p:to>
                                        <p:strVal val="visible"/>
                                      </p:to>
                                    </p:set>
                                    <p:anim calcmode="lin" valueType="num">
                                      <p:cBhvr additive="base">
                                        <p:cTn id="19" dur="500" fill="hold"/>
                                        <p:tgtEl>
                                          <p:spTgt spid="1219589"/>
                                        </p:tgtEl>
                                        <p:attrNameLst>
                                          <p:attrName>ppt_x</p:attrName>
                                        </p:attrNameLst>
                                      </p:cBhvr>
                                      <p:tavLst>
                                        <p:tav tm="0">
                                          <p:val>
                                            <p:strVal val="1+#ppt_w/2"/>
                                          </p:val>
                                        </p:tav>
                                        <p:tav tm="100000">
                                          <p:val>
                                            <p:strVal val="#ppt_x"/>
                                          </p:val>
                                        </p:tav>
                                      </p:tavLst>
                                    </p:anim>
                                    <p:anim calcmode="lin" valueType="num">
                                      <p:cBhvr additive="base">
                                        <p:cTn id="20" dur="500" fill="hold"/>
                                        <p:tgtEl>
                                          <p:spTgt spid="121958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19596"/>
                                        </p:tgtEl>
                                        <p:attrNameLst>
                                          <p:attrName>style.visibility</p:attrName>
                                        </p:attrNameLst>
                                      </p:cBhvr>
                                      <p:to>
                                        <p:strVal val="visible"/>
                                      </p:to>
                                    </p:set>
                                    <p:anim calcmode="lin" valueType="num">
                                      <p:cBhvr additive="base">
                                        <p:cTn id="25" dur="500" fill="hold"/>
                                        <p:tgtEl>
                                          <p:spTgt spid="1219596"/>
                                        </p:tgtEl>
                                        <p:attrNameLst>
                                          <p:attrName>ppt_x</p:attrName>
                                        </p:attrNameLst>
                                      </p:cBhvr>
                                      <p:tavLst>
                                        <p:tav tm="0">
                                          <p:val>
                                            <p:strVal val="#ppt_x"/>
                                          </p:val>
                                        </p:tav>
                                        <p:tav tm="100000">
                                          <p:val>
                                            <p:strVal val="#ppt_x"/>
                                          </p:val>
                                        </p:tav>
                                      </p:tavLst>
                                    </p:anim>
                                    <p:anim calcmode="lin" valueType="num">
                                      <p:cBhvr additive="base">
                                        <p:cTn id="26" dur="500" fill="hold"/>
                                        <p:tgtEl>
                                          <p:spTgt spid="1219596"/>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grpId="0" nodeType="afterEffect">
                                  <p:stCondLst>
                                    <p:cond delay="0"/>
                                  </p:stCondLst>
                                  <p:childTnLst>
                                    <p:set>
                                      <p:cBhvr>
                                        <p:cTn id="29" dur="1" fill="hold">
                                          <p:stCondLst>
                                            <p:cond delay="0"/>
                                          </p:stCondLst>
                                        </p:cTn>
                                        <p:tgtEl>
                                          <p:spTgt spid="1219594"/>
                                        </p:tgtEl>
                                        <p:attrNameLst>
                                          <p:attrName>style.visibility</p:attrName>
                                        </p:attrNameLst>
                                      </p:cBhvr>
                                      <p:to>
                                        <p:strVal val="visible"/>
                                      </p:to>
                                    </p:set>
                                    <p:anim calcmode="lin" valueType="num">
                                      <p:cBhvr additive="base">
                                        <p:cTn id="30" dur="500" fill="hold"/>
                                        <p:tgtEl>
                                          <p:spTgt spid="1219594"/>
                                        </p:tgtEl>
                                        <p:attrNameLst>
                                          <p:attrName>ppt_x</p:attrName>
                                        </p:attrNameLst>
                                      </p:cBhvr>
                                      <p:tavLst>
                                        <p:tav tm="0">
                                          <p:val>
                                            <p:strVal val="#ppt_x"/>
                                          </p:val>
                                        </p:tav>
                                        <p:tav tm="100000">
                                          <p:val>
                                            <p:strVal val="#ppt_x"/>
                                          </p:val>
                                        </p:tav>
                                      </p:tavLst>
                                    </p:anim>
                                    <p:anim calcmode="lin" valueType="num">
                                      <p:cBhvr additive="base">
                                        <p:cTn id="31" dur="500" fill="hold"/>
                                        <p:tgtEl>
                                          <p:spTgt spid="12195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9594" grpId="0"/>
      <p:bldP spid="1219596" grpId="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682" name="Rectangle 2"/>
          <p:cNvSpPr>
            <a:spLocks noGrp="1" noChangeArrowheads="1"/>
          </p:cNvSpPr>
          <p:nvPr>
            <p:ph type="body" idx="1"/>
          </p:nvPr>
        </p:nvSpPr>
        <p:spPr>
          <a:xfrm>
            <a:off x="609600" y="1219861"/>
            <a:ext cx="7846640" cy="2676879"/>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gn="just">
              <a:buFont typeface="Wingdings" panose="05000000000000000000" pitchFamily="2" charset="2"/>
              <a:buNone/>
            </a:pPr>
            <a:r>
              <a:rPr lang="en-US" altLang="zh-CN" dirty="0">
                <a:solidFill>
                  <a:srgbClr val="003399"/>
                </a:solidFill>
              </a:rPr>
              <a:t>	In the process of crystal growth, with the increasing adhesion of  surrounding solute to crystal and heat release increased from crystal growth , the solution around crystal ascends due to the temperature increases and the density decreases around crystal under the action of gravity. The heavy cold solution far away from the crystal thus flows to crystal, so as to form a vortex. A vortex that causes the growth of crystals to be unevenly supplied (</a:t>
            </a:r>
            <a:r>
              <a:rPr lang="zh-CN" altLang="en-US" dirty="0">
                <a:solidFill>
                  <a:srgbClr val="003399"/>
                </a:solidFill>
              </a:rPr>
              <a:t>生长物料供应不均匀）</a:t>
            </a:r>
            <a:r>
              <a:rPr lang="en-US" altLang="zh-CN" dirty="0">
                <a:solidFill>
                  <a:srgbClr val="003399"/>
                </a:solidFill>
              </a:rPr>
              <a:t>.</a:t>
            </a:r>
            <a:endParaRPr lang="zh-CN" altLang="en-US" dirty="0">
              <a:solidFill>
                <a:srgbClr val="003399"/>
              </a:solidFill>
            </a:endParaRPr>
          </a:p>
        </p:txBody>
      </p:sp>
      <p:pic>
        <p:nvPicPr>
          <p:cNvPr id="1351683" name="Picture 3" descr="图4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1680" y="3882677"/>
            <a:ext cx="1981200" cy="170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684" name="Picture 4" descr="图4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0032" y="3955702"/>
            <a:ext cx="2057400" cy="163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685" name="Text Box 5"/>
          <p:cNvSpPr txBox="1">
            <a:spLocks noChangeArrowheads="1"/>
          </p:cNvSpPr>
          <p:nvPr/>
        </p:nvSpPr>
        <p:spPr bwMode="auto">
          <a:xfrm>
            <a:off x="899592" y="5805264"/>
            <a:ext cx="7127134" cy="44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430" indent="-398780" fontAlgn="base">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630" indent="-398780" fontAlgn="base">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830" indent="-398780" fontAlgn="base">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3030" indent="-398780" fontAlgn="base">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zh-CN" sz="2400" b="1" dirty="0">
                <a:latin typeface="+mn-lt"/>
              </a:rPr>
              <a:t>The impact of vortex on crystal morphology</a:t>
            </a:r>
            <a:endParaRPr lang="zh-CN" altLang="en-US" sz="2400" b="1" dirty="0">
              <a:latin typeface="+mn-lt"/>
            </a:endParaRPr>
          </a:p>
        </p:txBody>
      </p:sp>
      <p:sp>
        <p:nvSpPr>
          <p:cNvPr id="1351687" name="Rectangle 7"/>
          <p:cNvSpPr>
            <a:spLocks noChangeArrowheads="1"/>
          </p:cNvSpPr>
          <p:nvPr/>
        </p:nvSpPr>
        <p:spPr bwMode="auto">
          <a:xfrm>
            <a:off x="179512" y="672353"/>
            <a:ext cx="27382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0" algn="ctr" eaLnBrk="0" hangingPunct="0">
              <a:spcBef>
                <a:spcPct val="20000"/>
              </a:spcBef>
              <a:spcAft>
                <a:spcPts val="600"/>
              </a:spcAft>
            </a:pPr>
            <a:r>
              <a:rPr kumimoji="0" lang="en-US" altLang="zh-CN" b="1" dirty="0">
                <a:solidFill>
                  <a:srgbClr val="FF0000"/>
                </a:solidFill>
                <a:latin typeface="Arial" panose="020B0604020202020204"/>
                <a:ea typeface="黑体" panose="02010609060101010101" pitchFamily="49" charset="-122"/>
              </a:rPr>
              <a:t>V</a:t>
            </a:r>
            <a:r>
              <a:rPr kumimoji="0" lang="en-US" altLang="zh-CN" b="1" spc="-60" dirty="0">
                <a:solidFill>
                  <a:srgbClr val="FF0000"/>
                </a:solidFill>
                <a:latin typeface="Arial" panose="020B0604020202020204"/>
                <a:ea typeface="黑体" panose="02010609060101010101" pitchFamily="49" charset="-122"/>
              </a:rPr>
              <a:t>ortex </a:t>
            </a:r>
            <a:r>
              <a:rPr kumimoji="0" lang="en-US" altLang="zh-CN" b="1" dirty="0">
                <a:solidFill>
                  <a:srgbClr val="FF0000"/>
                </a:solidFill>
                <a:latin typeface="Arial" panose="020B0604020202020204"/>
                <a:ea typeface="黑体" panose="02010609060101010101" pitchFamily="49" charset="-122"/>
              </a:rPr>
              <a:t>(</a:t>
            </a:r>
            <a:r>
              <a:rPr kumimoji="0" lang="zh-CN" altLang="en-US" b="1" dirty="0">
                <a:solidFill>
                  <a:srgbClr val="FF0000"/>
                </a:solidFill>
                <a:latin typeface="Arial" panose="020B0604020202020204"/>
                <a:ea typeface="黑体" panose="02010609060101010101" pitchFamily="49" charset="-122"/>
              </a:rPr>
              <a:t>涡流</a:t>
            </a:r>
            <a:r>
              <a:rPr kumimoji="0" lang="en-US" altLang="zh-CN" b="1" dirty="0">
                <a:solidFill>
                  <a:srgbClr val="FF0000"/>
                </a:solidFill>
                <a:latin typeface="Arial" panose="020B0604020202020204"/>
                <a:ea typeface="黑体" panose="02010609060101010101" pitchFamily="49" charset="-122"/>
              </a:rPr>
              <a:t>)</a:t>
            </a:r>
          </a:p>
        </p:txBody>
      </p:sp>
      <p:sp>
        <p:nvSpPr>
          <p:cNvPr id="2" name="TextBox 1"/>
          <p:cNvSpPr txBox="1"/>
          <p:nvPr/>
        </p:nvSpPr>
        <p:spPr>
          <a:xfrm>
            <a:off x="2969444" y="4684431"/>
            <a:ext cx="596638" cy="400110"/>
          </a:xfrm>
          <a:prstGeom prst="rect">
            <a:avLst/>
          </a:prstGeom>
          <a:noFill/>
        </p:spPr>
        <p:txBody>
          <a:bodyPr wrap="none" rtlCol="0">
            <a:spAutoFit/>
          </a:bodyPr>
          <a:lstStyle/>
          <a:p>
            <a:r>
              <a:rPr lang="en-US" sz="2000" b="1" dirty="0">
                <a:solidFill>
                  <a:srgbClr val="FF0000"/>
                </a:solidFill>
              </a:rPr>
              <a:t>Hot</a:t>
            </a:r>
          </a:p>
        </p:txBody>
      </p:sp>
      <p:sp>
        <p:nvSpPr>
          <p:cNvPr id="8" name="TextBox 7"/>
          <p:cNvSpPr txBox="1"/>
          <p:nvPr/>
        </p:nvSpPr>
        <p:spPr>
          <a:xfrm>
            <a:off x="2931024" y="5153157"/>
            <a:ext cx="712054" cy="400110"/>
          </a:xfrm>
          <a:prstGeom prst="rect">
            <a:avLst/>
          </a:prstGeom>
          <a:noFill/>
        </p:spPr>
        <p:txBody>
          <a:bodyPr wrap="none" rtlCol="0">
            <a:spAutoFit/>
          </a:bodyPr>
          <a:lstStyle/>
          <a:p>
            <a:r>
              <a:rPr lang="en-US" sz="2000" b="1" dirty="0">
                <a:solidFill>
                  <a:srgbClr val="FF0000"/>
                </a:solidFill>
              </a:rPr>
              <a:t>Cold</a:t>
            </a: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3234" name="Picture 2"/>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1000760" y="2481452"/>
            <a:ext cx="2724150" cy="2971800"/>
          </a:xfrm>
          <a:noFill/>
        </p:spPr>
      </p:pic>
      <p:sp>
        <p:nvSpPr>
          <p:cNvPr id="1503235" name="Rectangle 3"/>
          <p:cNvSpPr>
            <a:spLocks noChangeArrowheads="1"/>
          </p:cNvSpPr>
          <p:nvPr/>
        </p:nvSpPr>
        <p:spPr bwMode="auto">
          <a:xfrm>
            <a:off x="1000760" y="5702290"/>
            <a:ext cx="26642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dirty="0"/>
              <a:t>Love and thanks</a:t>
            </a:r>
            <a:endParaRPr lang="zh-CN" altLang="en-US" dirty="0">
              <a:solidFill>
                <a:srgbClr val="003399"/>
              </a:solidFill>
            </a:endParaRPr>
          </a:p>
        </p:txBody>
      </p:sp>
      <p:pic>
        <p:nvPicPr>
          <p:cNvPr id="15032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6183" y="2511441"/>
            <a:ext cx="3264209" cy="2981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03237" name="Rectangle 5"/>
          <p:cNvSpPr>
            <a:spLocks noChangeArrowheads="1"/>
          </p:cNvSpPr>
          <p:nvPr/>
        </p:nvSpPr>
        <p:spPr bwMode="auto">
          <a:xfrm>
            <a:off x="4836183" y="5703639"/>
            <a:ext cx="32642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dirty="0"/>
              <a:t>I want to kill you</a:t>
            </a:r>
            <a:endParaRPr lang="zh-CN" altLang="en-US" dirty="0"/>
          </a:p>
        </p:txBody>
      </p:sp>
      <p:sp>
        <p:nvSpPr>
          <p:cNvPr id="1503238" name="Rectangle 6"/>
          <p:cNvSpPr>
            <a:spLocks noGrp="1" noChangeArrowheads="1"/>
          </p:cNvSpPr>
          <p:nvPr>
            <p:ph type="title"/>
          </p:nvPr>
        </p:nvSpPr>
        <p:spPr>
          <a:xfrm>
            <a:off x="611560" y="988839"/>
            <a:ext cx="8001000" cy="1216025"/>
          </a:xfrm>
        </p:spPr>
        <p:txBody>
          <a:bodyPr>
            <a:normAutofit/>
          </a:bodyPr>
          <a:lstStyle/>
          <a:p>
            <a:r>
              <a:rPr lang="en-US" altLang="zh-CN" sz="2400" dirty="0">
                <a:effectLst/>
                <a:latin typeface="+mn-lt"/>
              </a:rPr>
              <a:t>Good messages can produce beautiful water crystals</a:t>
            </a:r>
            <a:r>
              <a:rPr lang="en-US" altLang="zh-CN" sz="2800" dirty="0">
                <a:effectLst/>
              </a:rPr>
              <a:t/>
            </a:r>
            <a:br>
              <a:rPr lang="en-US" altLang="zh-CN" sz="2800" dirty="0">
                <a:effectLst/>
              </a:rPr>
            </a:br>
            <a:r>
              <a:rPr lang="zh-CN" altLang="en-US" sz="2800" b="1" dirty="0">
                <a:solidFill>
                  <a:srgbClr val="003399"/>
                </a:solidFill>
              </a:rPr>
              <a:t> </a:t>
            </a:r>
            <a:r>
              <a:rPr lang="en-US" altLang="zh-CN" sz="2000" dirty="0">
                <a:solidFill>
                  <a:schemeClr val="tx1"/>
                </a:solidFill>
                <a:effectLst/>
                <a:latin typeface="+mj-ea"/>
              </a:rPr>
              <a:t>Photo/Dr. </a:t>
            </a:r>
            <a:r>
              <a:rPr lang="en-US" altLang="zh-CN" sz="2000" dirty="0" err="1">
                <a:solidFill>
                  <a:schemeClr val="tx1"/>
                </a:solidFill>
                <a:effectLst/>
                <a:latin typeface="+mj-ea"/>
              </a:rPr>
              <a:t>Katsuo</a:t>
            </a:r>
            <a:r>
              <a:rPr lang="en-US" altLang="zh-CN" sz="2000" dirty="0">
                <a:solidFill>
                  <a:schemeClr val="tx1"/>
                </a:solidFill>
                <a:effectLst/>
                <a:latin typeface="+mj-ea"/>
              </a:rPr>
              <a:t> Jiang, IHM research institute, Japan</a:t>
            </a:r>
            <a:r>
              <a:rPr lang="zh-CN" altLang="en-US" sz="2000" dirty="0">
                <a:solidFill>
                  <a:schemeClr val="tx1"/>
                </a:solidFill>
                <a:effectLst/>
                <a:latin typeface="+mj-ea"/>
              </a:rPr>
              <a:t/>
            </a:r>
            <a:br>
              <a:rPr lang="zh-CN" altLang="en-US" sz="2000" dirty="0">
                <a:solidFill>
                  <a:schemeClr val="tx1"/>
                </a:solidFill>
                <a:effectLst/>
                <a:latin typeface="+mj-ea"/>
              </a:rPr>
            </a:br>
            <a:r>
              <a:rPr lang="zh-CN" altLang="en-US" sz="2000" dirty="0">
                <a:solidFill>
                  <a:schemeClr val="tx1"/>
                </a:solidFill>
                <a:effectLst/>
                <a:latin typeface="+mj-ea"/>
              </a:rPr>
              <a:t>照</a:t>
            </a:r>
            <a:r>
              <a:rPr lang="zh-CN" altLang="en-US" sz="2000" b="1" dirty="0">
                <a:solidFill>
                  <a:schemeClr val="tx1"/>
                </a:solidFill>
                <a:effectLst/>
                <a:latin typeface="+mj-ea"/>
              </a:rPr>
              <a:t>片／日本</a:t>
            </a:r>
            <a:r>
              <a:rPr lang="en-US" altLang="zh-CN" sz="2000" b="1" dirty="0">
                <a:solidFill>
                  <a:schemeClr val="tx1"/>
                </a:solidFill>
                <a:effectLst/>
                <a:latin typeface="+mj-ea"/>
              </a:rPr>
              <a:t>IHM</a:t>
            </a:r>
            <a:r>
              <a:rPr lang="zh-CN" altLang="en-US" sz="2000" b="1" dirty="0">
                <a:solidFill>
                  <a:schemeClr val="tx1"/>
                </a:solidFill>
                <a:effectLst/>
                <a:latin typeface="+mj-ea"/>
              </a:rPr>
              <a:t>研究所江本勝博士	</a:t>
            </a:r>
          </a:p>
        </p:txBody>
      </p:sp>
      <p:sp>
        <p:nvSpPr>
          <p:cNvPr id="2" name="TextBox 1"/>
          <p:cNvSpPr txBox="1"/>
          <p:nvPr/>
        </p:nvSpPr>
        <p:spPr>
          <a:xfrm>
            <a:off x="755576" y="6228059"/>
            <a:ext cx="7822270" cy="461665"/>
          </a:xfrm>
          <a:prstGeom prst="rect">
            <a:avLst/>
          </a:prstGeom>
          <a:noFill/>
        </p:spPr>
        <p:txBody>
          <a:bodyPr wrap="none" rtlCol="0">
            <a:spAutoFit/>
          </a:bodyPr>
          <a:lstStyle/>
          <a:p>
            <a:r>
              <a:rPr lang="en-US" altLang="zh-CN" b="1" dirty="0">
                <a:effectLst>
                  <a:outerShdw blurRad="38100" dist="38100" dir="2700000" algn="tl">
                    <a:srgbClr val="000000">
                      <a:alpha val="43137"/>
                    </a:srgbClr>
                  </a:outerShdw>
                </a:effectLst>
              </a:rPr>
              <a:t>The ice crystal with the water reading different characters</a:t>
            </a:r>
            <a:endParaRPr lang="en-US" b="1" dirty="0">
              <a:effectLst>
                <a:outerShdw blurRad="38100" dist="38100" dir="2700000" algn="tl">
                  <a:srgbClr val="000000">
                    <a:alpha val="43137"/>
                  </a:srgbClr>
                </a:outerShdw>
              </a:effectLst>
            </a:endParaRPr>
          </a:p>
        </p:txBody>
      </p:sp>
      <p:sp>
        <p:nvSpPr>
          <p:cNvPr id="3" name="TextBox 2"/>
          <p:cNvSpPr txBox="1"/>
          <p:nvPr/>
        </p:nvSpPr>
        <p:spPr>
          <a:xfrm>
            <a:off x="1648832" y="2744883"/>
            <a:ext cx="5679807" cy="2646878"/>
          </a:xfrm>
          <a:prstGeom prst="rect">
            <a:avLst/>
          </a:prstGeom>
          <a:solidFill>
            <a:srgbClr val="FF0000"/>
          </a:solidFill>
        </p:spPr>
        <p:txBody>
          <a:bodyPr wrap="square" rtlCol="0">
            <a:spAutoFit/>
          </a:bodyPr>
          <a:lstStyle/>
          <a:p>
            <a:r>
              <a:rPr lang="en-US" altLang="zh-CN" sz="16600" b="1" i="1" dirty="0">
                <a:solidFill>
                  <a:schemeClr val="bg1"/>
                </a:solidFill>
              </a:rPr>
              <a:t>FAKE</a:t>
            </a:r>
            <a:endParaRPr lang="en-US" sz="16600" b="1" i="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4259" name="Rectangle 3"/>
          <p:cNvSpPr>
            <a:spLocks noChangeArrowheads="1"/>
          </p:cNvSpPr>
          <p:nvPr/>
        </p:nvSpPr>
        <p:spPr bwMode="auto">
          <a:xfrm>
            <a:off x="10708" y="4191000"/>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t>「田园交响曲」</a:t>
            </a:r>
            <a:r>
              <a:rPr lang="zh-CN" altLang="en-US" dirty="0">
                <a:solidFill>
                  <a:srgbClr val="003399"/>
                </a:solidFill>
              </a:rPr>
              <a:t> </a:t>
            </a:r>
          </a:p>
        </p:txBody>
      </p:sp>
      <p:sp>
        <p:nvSpPr>
          <p:cNvPr id="1504261" name="Rectangle 5"/>
          <p:cNvSpPr>
            <a:spLocks noChangeArrowheads="1"/>
          </p:cNvSpPr>
          <p:nvPr/>
        </p:nvSpPr>
        <p:spPr bwMode="auto">
          <a:xfrm>
            <a:off x="3493247" y="4183117"/>
            <a:ext cx="201485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dirty="0"/>
              <a:t>「离别曲」</a:t>
            </a:r>
            <a:endParaRPr lang="zh-CN" altLang="en-US" dirty="0">
              <a:solidFill>
                <a:srgbClr val="003399"/>
              </a:solidFill>
            </a:endParaRPr>
          </a:p>
        </p:txBody>
      </p:sp>
      <p:grpSp>
        <p:nvGrpSpPr>
          <p:cNvPr id="2" name="Group 1"/>
          <p:cNvGrpSpPr/>
          <p:nvPr/>
        </p:nvGrpSpPr>
        <p:grpSpPr>
          <a:xfrm>
            <a:off x="52551" y="1562738"/>
            <a:ext cx="8828657" cy="2520531"/>
            <a:chOff x="52551" y="1562738"/>
            <a:chExt cx="9101997" cy="2598568"/>
          </a:xfrm>
        </p:grpSpPr>
        <p:pic>
          <p:nvPicPr>
            <p:cNvPr id="1504258" name="Picture 2"/>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52551" y="1562738"/>
              <a:ext cx="2864069" cy="2598568"/>
            </a:xfrm>
            <a:noFill/>
          </p:spPr>
        </p:pic>
        <p:pic>
          <p:nvPicPr>
            <p:cNvPr id="15042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2172" y="1573266"/>
              <a:ext cx="3175138" cy="2586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0426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1573265"/>
              <a:ext cx="2829948" cy="2586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504263" name="Rectangle 7"/>
          <p:cNvSpPr>
            <a:spLocks noChangeArrowheads="1"/>
          </p:cNvSpPr>
          <p:nvPr/>
        </p:nvSpPr>
        <p:spPr bwMode="auto">
          <a:xfrm>
            <a:off x="6332588" y="4133193"/>
            <a:ext cx="2438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dirty="0"/>
              <a:t>「重金属音乐」</a:t>
            </a:r>
            <a:endParaRPr lang="zh-CN" altLang="en-US" dirty="0">
              <a:solidFill>
                <a:srgbClr val="003399"/>
              </a:solidFill>
            </a:endParaRPr>
          </a:p>
        </p:txBody>
      </p:sp>
      <p:sp>
        <p:nvSpPr>
          <p:cNvPr id="3" name="Rectangle 2"/>
          <p:cNvSpPr/>
          <p:nvPr/>
        </p:nvSpPr>
        <p:spPr>
          <a:xfrm>
            <a:off x="752110" y="4941167"/>
            <a:ext cx="1112805" cy="830997"/>
          </a:xfrm>
          <a:prstGeom prst="rect">
            <a:avLst/>
          </a:prstGeom>
        </p:spPr>
        <p:txBody>
          <a:bodyPr wrap="none">
            <a:spAutoFit/>
          </a:bodyPr>
          <a:lstStyle/>
          <a:p>
            <a:r>
              <a:rPr lang="zh-CN" altLang="en-US" b="1" dirty="0">
                <a:effectLst>
                  <a:outerShdw blurRad="38100" dist="38100" dir="2700000" algn="tl">
                    <a:srgbClr val="000000">
                      <a:alpha val="43137"/>
                    </a:srgbClr>
                  </a:outerShdw>
                </a:effectLst>
              </a:rPr>
              <a:t>愉快！</a:t>
            </a:r>
            <a:endParaRPr lang="en-US" altLang="zh-CN"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Happy</a:t>
            </a:r>
          </a:p>
        </p:txBody>
      </p:sp>
      <p:sp>
        <p:nvSpPr>
          <p:cNvPr id="4" name="Rectangle 3"/>
          <p:cNvSpPr/>
          <p:nvPr/>
        </p:nvSpPr>
        <p:spPr>
          <a:xfrm>
            <a:off x="3784398" y="4954701"/>
            <a:ext cx="1729961" cy="830997"/>
          </a:xfrm>
          <a:prstGeom prst="rect">
            <a:avLst/>
          </a:prstGeom>
        </p:spPr>
        <p:txBody>
          <a:bodyPr wrap="none">
            <a:spAutoFit/>
          </a:bodyPr>
          <a:lstStyle/>
          <a:p>
            <a:r>
              <a:rPr lang="zh-CN" altLang="en-US" b="1" dirty="0">
                <a:effectLst>
                  <a:outerShdw blurRad="38100" dist="38100" dir="2700000" algn="tl">
                    <a:srgbClr val="000000">
                      <a:alpha val="43137"/>
                    </a:srgbClr>
                  </a:outerShdw>
                </a:effectLst>
              </a:rPr>
              <a:t>凄然心碎</a:t>
            </a:r>
            <a:r>
              <a:rPr lang="en-US" altLang="zh-CN" b="1" dirty="0">
                <a:effectLst>
                  <a:outerShdw blurRad="38100" dist="38100" dir="2700000" algn="tl">
                    <a:srgbClr val="000000">
                      <a:alpha val="43137"/>
                    </a:srgbClr>
                  </a:outerShdw>
                </a:effectLst>
              </a:rPr>
              <a:t>…</a:t>
            </a:r>
          </a:p>
          <a:p>
            <a:pPr algn="ctr"/>
            <a:r>
              <a:rPr lang="en-US" b="1" dirty="0">
                <a:effectLst>
                  <a:outerShdw blurRad="38100" dist="38100" dir="2700000" algn="tl">
                    <a:srgbClr val="000000">
                      <a:alpha val="43137"/>
                    </a:srgbClr>
                  </a:outerShdw>
                </a:effectLst>
              </a:rPr>
              <a:t>Sad</a:t>
            </a:r>
          </a:p>
        </p:txBody>
      </p:sp>
      <p:sp>
        <p:nvSpPr>
          <p:cNvPr id="5" name="Rectangle 4"/>
          <p:cNvSpPr/>
          <p:nvPr/>
        </p:nvSpPr>
        <p:spPr>
          <a:xfrm>
            <a:off x="6974931" y="4941166"/>
            <a:ext cx="1153714" cy="830997"/>
          </a:xfrm>
          <a:prstGeom prst="rect">
            <a:avLst/>
          </a:prstGeom>
        </p:spPr>
        <p:txBody>
          <a:bodyPr wrap="none">
            <a:spAutoFit/>
          </a:bodyPr>
          <a:lstStyle/>
          <a:p>
            <a:pPr algn="ctr"/>
            <a:r>
              <a:rPr lang="zh-CN" altLang="en-US" b="1" dirty="0">
                <a:effectLst>
                  <a:outerShdw blurRad="38100" dist="38100" dir="2700000" algn="tl">
                    <a:srgbClr val="000000">
                      <a:alpha val="43137"/>
                    </a:srgbClr>
                  </a:outerShdw>
                </a:effectLst>
              </a:rPr>
              <a:t>解体？</a:t>
            </a:r>
            <a:endParaRPr lang="en-US" altLang="zh-CN" b="1" dirty="0">
              <a:effectLst>
                <a:outerShdw blurRad="38100" dist="38100" dir="2700000" algn="tl">
                  <a:srgbClr val="000000">
                    <a:alpha val="43137"/>
                  </a:srgbClr>
                </a:outerShdw>
              </a:effectLst>
            </a:endParaRPr>
          </a:p>
          <a:p>
            <a:pPr algn="ctr"/>
            <a:r>
              <a:rPr lang="en-US" b="1" dirty="0">
                <a:effectLst>
                  <a:outerShdw blurRad="38100" dist="38100" dir="2700000" algn="tl">
                    <a:srgbClr val="000000">
                      <a:alpha val="43137"/>
                    </a:srgbClr>
                  </a:outerShdw>
                </a:effectLst>
              </a:rPr>
              <a:t>Broken</a:t>
            </a:r>
          </a:p>
        </p:txBody>
      </p:sp>
      <p:sp>
        <p:nvSpPr>
          <p:cNvPr id="13" name="TextBox 12"/>
          <p:cNvSpPr txBox="1"/>
          <p:nvPr/>
        </p:nvSpPr>
        <p:spPr>
          <a:xfrm>
            <a:off x="755576" y="6228059"/>
            <a:ext cx="7334124" cy="461665"/>
          </a:xfrm>
          <a:prstGeom prst="rect">
            <a:avLst/>
          </a:prstGeom>
          <a:noFill/>
        </p:spPr>
        <p:txBody>
          <a:bodyPr wrap="none" rtlCol="0">
            <a:spAutoFit/>
          </a:bodyPr>
          <a:lstStyle/>
          <a:p>
            <a:r>
              <a:rPr lang="en-US" altLang="zh-CN" b="1" dirty="0">
                <a:effectLst>
                  <a:outerShdw blurRad="38100" dist="38100" dir="2700000" algn="tl">
                    <a:srgbClr val="000000">
                      <a:alpha val="43137"/>
                    </a:srgbClr>
                  </a:outerShdw>
                </a:effectLst>
              </a:rPr>
              <a:t>The ice crystal with the water hearing different music</a:t>
            </a:r>
            <a:endParaRPr lang="en-US" b="1" dirty="0">
              <a:effectLst>
                <a:outerShdw blurRad="38100" dist="38100" dir="2700000" algn="tl">
                  <a:srgbClr val="000000">
                    <a:alpha val="43137"/>
                  </a:srgbClr>
                </a:outerShdw>
              </a:effectLst>
            </a:endParaRPr>
          </a:p>
        </p:txBody>
      </p:sp>
      <p:sp>
        <p:nvSpPr>
          <p:cNvPr id="14" name="Title 1"/>
          <p:cNvSpPr>
            <a:spLocks noGrp="1"/>
          </p:cNvSpPr>
          <p:nvPr>
            <p:ph type="title"/>
          </p:nvPr>
        </p:nvSpPr>
        <p:spPr>
          <a:xfrm>
            <a:off x="35496" y="378760"/>
            <a:ext cx="8712040" cy="745984"/>
          </a:xfrm>
        </p:spPr>
        <p:txBody>
          <a:bodyPr>
            <a:noAutofit/>
          </a:bodyPr>
          <a:lstStyle/>
          <a:p>
            <a:pPr algn="l"/>
            <a:r>
              <a:rPr lang="en-US" altLang="zh-CN" sz="2400" dirty="0"/>
              <a:t>Superstition (</a:t>
            </a:r>
            <a:r>
              <a:rPr lang="zh-CN" altLang="en-US" sz="2400" dirty="0"/>
              <a:t>迷信）</a:t>
            </a:r>
            <a:r>
              <a:rPr lang="en-US" altLang="zh-CN" sz="2400" dirty="0"/>
              <a:t>? No, it is still some science.  Different kinds of music have various frequencies.</a:t>
            </a:r>
            <a:endParaRPr lang="en-US" sz="2400"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490370" y="1700808"/>
            <a:ext cx="7993062" cy="4045663"/>
            <a:chOff x="179388" y="1222375"/>
            <a:chExt cx="8785225" cy="4446613"/>
          </a:xfrm>
        </p:grpSpPr>
        <p:pic>
          <p:nvPicPr>
            <p:cNvPr id="4" name="Picture 2" descr="E:\实验数据\SEM照片\氧化锌\HKUST（新）\20111230\ULTRASONIC\7-06.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5025" y="1773238"/>
              <a:ext cx="4319588" cy="3240087"/>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pic>
        <p:pic>
          <p:nvPicPr>
            <p:cNvPr id="5" name="Picture 3" descr="E:\实验数据\SEM照片\氧化锌\HKUST（新）\20111230\DIRECT PRECIPITATION\9-03.t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388" y="1773238"/>
              <a:ext cx="4321175" cy="3240087"/>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6" name="Text Box 11"/>
            <p:cNvSpPr txBox="1">
              <a:spLocks noChangeArrowheads="1"/>
            </p:cNvSpPr>
            <p:nvPr/>
          </p:nvSpPr>
          <p:spPr bwMode="auto">
            <a:xfrm>
              <a:off x="5292725" y="1222375"/>
              <a:ext cx="2879725" cy="43976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solidFill>
                    <a:schemeClr val="bg1"/>
                  </a:solidFill>
                </a:rPr>
                <a:t>Sonochemistry</a:t>
              </a:r>
            </a:p>
          </p:txBody>
        </p:sp>
        <p:sp>
          <p:nvSpPr>
            <p:cNvPr id="7" name="Text Box 11"/>
            <p:cNvSpPr txBox="1">
              <a:spLocks noChangeArrowheads="1"/>
            </p:cNvSpPr>
            <p:nvPr/>
          </p:nvSpPr>
          <p:spPr bwMode="auto">
            <a:xfrm>
              <a:off x="900113" y="1222375"/>
              <a:ext cx="2879725" cy="439763"/>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solidFill>
                    <a:schemeClr val="bg1"/>
                  </a:solidFill>
                </a:rPr>
                <a:t>Direct precipitation</a:t>
              </a:r>
            </a:p>
          </p:txBody>
        </p:sp>
        <p:sp>
          <p:nvSpPr>
            <p:cNvPr id="8" name="Text Box 11"/>
            <p:cNvSpPr txBox="1">
              <a:spLocks noChangeArrowheads="1"/>
            </p:cNvSpPr>
            <p:nvPr/>
          </p:nvSpPr>
          <p:spPr bwMode="auto">
            <a:xfrm>
              <a:off x="1204864" y="5229225"/>
              <a:ext cx="6967586" cy="43976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chemeClr val="bg1"/>
                  </a:solidFill>
                </a:rPr>
                <a:t>Largely improving the controllability and homogeneity </a:t>
              </a:r>
            </a:p>
          </p:txBody>
        </p:sp>
      </p:grpSp>
      <p:sp>
        <p:nvSpPr>
          <p:cNvPr id="3" name="TextBox 2"/>
          <p:cNvSpPr txBox="1"/>
          <p:nvPr/>
        </p:nvSpPr>
        <p:spPr>
          <a:xfrm>
            <a:off x="363001" y="6396335"/>
            <a:ext cx="7882992" cy="369332"/>
          </a:xfrm>
          <a:prstGeom prst="rect">
            <a:avLst/>
          </a:prstGeom>
          <a:noFill/>
        </p:spPr>
        <p:txBody>
          <a:bodyPr wrap="none" rtlCol="0">
            <a:spAutoFit/>
          </a:bodyPr>
          <a:lstStyle/>
          <a:p>
            <a:r>
              <a:rPr lang="en-US" altLang="zh-CN" sz="1800" b="1" dirty="0">
                <a:solidFill>
                  <a:srgbClr val="FF0000"/>
                </a:solidFill>
              </a:rPr>
              <a:t>MP</a:t>
            </a:r>
            <a:r>
              <a:rPr lang="zh-CN" altLang="en-US" sz="1800" b="1" dirty="0">
                <a:solidFill>
                  <a:srgbClr val="FF0000"/>
                </a:solidFill>
              </a:rPr>
              <a:t>：</a:t>
            </a:r>
            <a:r>
              <a:rPr lang="en-US" altLang="zh-CN" sz="1800" b="1" dirty="0" err="1">
                <a:solidFill>
                  <a:srgbClr val="FF0000"/>
                </a:solidFill>
              </a:rPr>
              <a:t>sonochemistry</a:t>
            </a:r>
            <a:r>
              <a:rPr lang="en-US" altLang="zh-CN" sz="1800" b="1" dirty="0">
                <a:solidFill>
                  <a:srgbClr val="FF0000"/>
                </a:solidFill>
              </a:rPr>
              <a:t>, principles of equipment and the crystal growth examples</a:t>
            </a:r>
            <a:endParaRPr lang="en-US" sz="1800" b="1" dirty="0">
              <a:solidFill>
                <a:srgbClr val="FF0000"/>
              </a:solidFill>
            </a:endParaRPr>
          </a:p>
        </p:txBody>
      </p:sp>
      <p:sp>
        <p:nvSpPr>
          <p:cNvPr id="10" name="Title 9"/>
          <p:cNvSpPr>
            <a:spLocks noGrp="1"/>
          </p:cNvSpPr>
          <p:nvPr>
            <p:ph type="title"/>
          </p:nvPr>
        </p:nvSpPr>
        <p:spPr>
          <a:xfrm>
            <a:off x="457200" y="152400"/>
            <a:ext cx="8219256" cy="1371600"/>
          </a:xfrm>
        </p:spPr>
        <p:txBody>
          <a:bodyPr>
            <a:normAutofit/>
          </a:bodyPr>
          <a:lstStyle/>
          <a:p>
            <a:r>
              <a:rPr lang="en-US" dirty="0"/>
              <a:t>Ultrasound is applied to the synthesis of nanometer materials</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1972" name="Rectangle 4"/>
          <p:cNvSpPr>
            <a:spLocks noChangeArrowheads="1"/>
          </p:cNvSpPr>
          <p:nvPr/>
        </p:nvSpPr>
        <p:spPr bwMode="auto">
          <a:xfrm>
            <a:off x="539552" y="683985"/>
            <a:ext cx="76328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auto">
              <a:spcAft>
                <a:spcPts val="0"/>
              </a:spcAft>
              <a:buClr>
                <a:schemeClr val="accent2"/>
              </a:buClr>
              <a:buFont typeface="Wingdings" panose="05000000000000000000" pitchFamily="2" charset="2"/>
              <a:buNone/>
            </a:pPr>
            <a:r>
              <a:rPr lang="zh-CN" altLang="en-US" sz="3200" spc="-60" dirty="0">
                <a:solidFill>
                  <a:srgbClr val="FF0066"/>
                </a:solidFill>
                <a:latin typeface="+mn-lt"/>
                <a:ea typeface="+mj-ea"/>
                <a:cs typeface="+mj-cs"/>
              </a:rPr>
              <a:t>五、</a:t>
            </a:r>
            <a:r>
              <a:rPr lang="en-US" altLang="zh-CN" sz="3200" spc="-60" dirty="0">
                <a:solidFill>
                  <a:srgbClr val="FF0066"/>
                </a:solidFill>
                <a:latin typeface="+mn-lt"/>
                <a:ea typeface="+mj-ea"/>
                <a:cs typeface="+mj-cs"/>
              </a:rPr>
              <a:t> Growth technique of crystals</a:t>
            </a:r>
            <a:endParaRPr lang="zh-CN" altLang="en-US" sz="3200" spc="-60" dirty="0">
              <a:solidFill>
                <a:srgbClr val="FF0066"/>
              </a:solidFill>
              <a:latin typeface="+mn-lt"/>
              <a:ea typeface="+mj-ea"/>
              <a:cs typeface="+mj-cs"/>
            </a:endParaRPr>
          </a:p>
        </p:txBody>
      </p:sp>
      <p:sp>
        <p:nvSpPr>
          <p:cNvPr id="3" name="Content Placeholder 2"/>
          <p:cNvSpPr>
            <a:spLocks noGrp="1"/>
          </p:cNvSpPr>
          <p:nvPr>
            <p:ph idx="1"/>
          </p:nvPr>
        </p:nvSpPr>
        <p:spPr>
          <a:xfrm>
            <a:off x="899592" y="1556792"/>
            <a:ext cx="7848872" cy="3888431"/>
          </a:xfrm>
        </p:spPr>
        <p:txBody>
          <a:bodyPr/>
          <a:lstStyle/>
          <a:p>
            <a:r>
              <a:rPr lang="en-US" altLang="zh-CN" sz="3600" b="0" dirty="0" err="1"/>
              <a:t>Czochralski</a:t>
            </a:r>
            <a:r>
              <a:rPr lang="en-US" altLang="zh-CN" sz="3600" b="0" dirty="0"/>
              <a:t> (CZ) method (</a:t>
            </a:r>
            <a:r>
              <a:rPr lang="zh-CN" altLang="en-US" sz="3600" b="0" dirty="0"/>
              <a:t>提拉法</a:t>
            </a:r>
            <a:r>
              <a:rPr lang="en-US" altLang="zh-CN" sz="3600" b="0" dirty="0"/>
              <a:t>)</a:t>
            </a:r>
          </a:p>
          <a:p>
            <a:r>
              <a:rPr lang="en-US" altLang="zh-CN" sz="3600" b="0" dirty="0"/>
              <a:t>Flame fusion method (</a:t>
            </a:r>
            <a:r>
              <a:rPr lang="zh-CN" altLang="en-US" sz="3600" b="0" dirty="0"/>
              <a:t>焰熔法</a:t>
            </a:r>
            <a:r>
              <a:rPr lang="en-US" altLang="zh-CN" sz="3600" b="0" dirty="0"/>
              <a:t>)</a:t>
            </a:r>
          </a:p>
          <a:p>
            <a:r>
              <a:rPr lang="en-US" altLang="zh-CN" sz="3600" b="0" dirty="0"/>
              <a:t>Hydrothermal method (</a:t>
            </a:r>
            <a:r>
              <a:rPr lang="zh-CN" altLang="en-US" sz="3600" b="0" dirty="0"/>
              <a:t>水热法</a:t>
            </a:r>
            <a:r>
              <a:rPr lang="en-US" altLang="zh-CN" sz="3600" b="0" dirty="0"/>
              <a:t>)</a:t>
            </a:r>
          </a:p>
          <a:p>
            <a:endParaRPr lang="en-US" sz="3600" b="0" dirty="0"/>
          </a:p>
          <a:p>
            <a:endParaRPr lang="en-US" sz="3600" b="0"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7161" name="Rectangle 9"/>
          <p:cNvSpPr>
            <a:spLocks noChangeArrowheads="1"/>
          </p:cNvSpPr>
          <p:nvPr/>
        </p:nvSpPr>
        <p:spPr bwMode="auto">
          <a:xfrm>
            <a:off x="611560" y="685800"/>
            <a:ext cx="71287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cap="all" spc="-60" dirty="0">
                <a:solidFill>
                  <a:srgbClr val="FF0066"/>
                </a:solidFill>
                <a:effectLst>
                  <a:outerShdw blurRad="38100" dist="38100" dir="2700000" algn="tl">
                    <a:srgbClr val="000000"/>
                  </a:outerShdw>
                </a:effectLst>
                <a:latin typeface="+mj-lt"/>
                <a:ea typeface="+mj-ea"/>
                <a:cs typeface="+mj-cs"/>
              </a:rPr>
              <a:t>CZ </a:t>
            </a:r>
            <a:r>
              <a:rPr lang="en-US" altLang="zh-CN" sz="3200" b="1" spc="-60" dirty="0">
                <a:solidFill>
                  <a:srgbClr val="FF0066"/>
                </a:solidFill>
                <a:effectLst>
                  <a:outerShdw blurRad="38100" dist="38100" dir="2700000" algn="tl">
                    <a:srgbClr val="000000"/>
                  </a:outerShdw>
                </a:effectLst>
                <a:latin typeface="+mj-lt"/>
                <a:ea typeface="+mj-ea"/>
                <a:cs typeface="+mj-cs"/>
              </a:rPr>
              <a:t>Method</a:t>
            </a:r>
            <a:r>
              <a:rPr lang="en-US" altLang="zh-CN" sz="3200" b="1" cap="all" spc="-60" dirty="0">
                <a:solidFill>
                  <a:srgbClr val="FF0066"/>
                </a:solidFill>
                <a:effectLst>
                  <a:outerShdw blurRad="38100" dist="38100" dir="2700000" algn="tl">
                    <a:srgbClr val="000000"/>
                  </a:outerShdw>
                </a:effectLst>
                <a:latin typeface="+mj-lt"/>
                <a:ea typeface="+mj-ea"/>
                <a:cs typeface="+mj-cs"/>
              </a:rPr>
              <a:t> (</a:t>
            </a:r>
            <a:r>
              <a:rPr lang="zh-CN" altLang="en-US" sz="3200" b="1" cap="all" spc="-60" dirty="0">
                <a:solidFill>
                  <a:srgbClr val="FF0066"/>
                </a:solidFill>
                <a:effectLst>
                  <a:outerShdw blurRad="38100" dist="38100" dir="2700000" algn="tl">
                    <a:srgbClr val="000000"/>
                  </a:outerShdw>
                </a:effectLst>
                <a:latin typeface="+mj-lt"/>
                <a:ea typeface="+mj-ea"/>
                <a:cs typeface="+mj-cs"/>
              </a:rPr>
              <a:t>提拉法</a:t>
            </a:r>
            <a:r>
              <a:rPr lang="en-US" altLang="zh-CN" sz="3200" b="1" cap="all" spc="-60" dirty="0">
                <a:solidFill>
                  <a:srgbClr val="FF0066"/>
                </a:solidFill>
                <a:effectLst>
                  <a:outerShdw blurRad="38100" dist="38100" dir="2700000" algn="tl">
                    <a:srgbClr val="000000"/>
                  </a:outerShdw>
                </a:effectLst>
                <a:latin typeface="+mj-lt"/>
                <a:ea typeface="+mj-ea"/>
                <a:cs typeface="+mj-cs"/>
              </a:rPr>
              <a:t>)</a:t>
            </a:r>
            <a:r>
              <a:rPr lang="en-US" altLang="zh-CN" dirty="0">
                <a:solidFill>
                  <a:srgbClr val="0000FF"/>
                </a:solidFill>
                <a:latin typeface="Arial" panose="020B0604020202020204" pitchFamily="34" charset="0"/>
                <a:ea typeface="黑体" panose="02010609060101010101" pitchFamily="49" charset="-122"/>
              </a:rPr>
              <a:t>	</a:t>
            </a:r>
          </a:p>
        </p:txBody>
      </p:sp>
      <p:sp>
        <p:nvSpPr>
          <p:cNvPr id="1457163" name="Rectangle 11"/>
          <p:cNvSpPr>
            <a:spLocks noChangeArrowheads="1"/>
          </p:cNvSpPr>
          <p:nvPr/>
        </p:nvSpPr>
        <p:spPr bwMode="auto">
          <a:xfrm>
            <a:off x="107504" y="1336462"/>
            <a:ext cx="8393009" cy="533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430" indent="-398780" fontAlgn="base">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630" indent="-398780" fontAlgn="base">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830" indent="-398780" fontAlgn="base">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3030" indent="-398780" fontAlgn="base">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indent="-28575">
              <a:buNone/>
            </a:pPr>
            <a:r>
              <a:rPr lang="en-US" altLang="zh-CN" sz="2800" b="1" dirty="0">
                <a:latin typeface="Arial" panose="020B0604020202020204" pitchFamily="34" charset="0"/>
              </a:rPr>
              <a:t>		</a:t>
            </a:r>
            <a:r>
              <a:rPr lang="en-US" altLang="zh-CN" sz="2000" dirty="0">
                <a:latin typeface="+mn-lt"/>
              </a:rPr>
              <a:t>In CZ method, raw material is heated and melted in a crucible and  crystal seeds contact the melt surface and are used to pull out single crystals. </a:t>
            </a:r>
          </a:p>
          <a:p>
            <a:pPr indent="-28575">
              <a:buNone/>
            </a:pPr>
            <a:r>
              <a:rPr lang="en-US" altLang="zh-CN" sz="2000" dirty="0">
                <a:latin typeface="+mn-lt"/>
              </a:rPr>
              <a:t>		Between the interface of seeds and melt, atoms or molecules are rearranged with the decrease of temperature and gradually solidified as single crystals. </a:t>
            </a:r>
          </a:p>
          <a:p>
            <a:pPr indent="-28575">
              <a:buNone/>
            </a:pPr>
            <a:endParaRPr lang="en-US" altLang="zh-CN" sz="2000" dirty="0">
              <a:latin typeface="+mn-lt"/>
            </a:endParaRPr>
          </a:p>
          <a:p>
            <a:pPr indent="-28575">
              <a:buNone/>
            </a:pPr>
            <a:r>
              <a:rPr lang="en-US" altLang="zh-CN" sz="2000" dirty="0">
                <a:latin typeface="+mn-lt"/>
              </a:rPr>
              <a:t>This method is used primarily for the growth of high quality crystals.</a:t>
            </a:r>
          </a:p>
          <a:p>
            <a:pPr marL="898525" indent="-457200">
              <a:buFont typeface="+mj-lt"/>
              <a:buAutoNum type="arabicPeriod"/>
            </a:pPr>
            <a:r>
              <a:rPr lang="en-US" altLang="zh-CN" sz="2000" b="1" dirty="0">
                <a:solidFill>
                  <a:srgbClr val="FF0000"/>
                </a:solidFill>
                <a:latin typeface="+mn-lt"/>
              </a:rPr>
              <a:t>Semiconductor</a:t>
            </a:r>
            <a:r>
              <a:rPr lang="en-US" altLang="zh-CN" sz="2000" dirty="0">
                <a:latin typeface="+mn-lt"/>
              </a:rPr>
              <a:t>: single crystal Si, single crystal Ge;</a:t>
            </a:r>
          </a:p>
          <a:p>
            <a:pPr marL="898525" indent="-457200">
              <a:buFont typeface="+mj-lt"/>
              <a:buAutoNum type="arabicPeriod"/>
            </a:pPr>
            <a:r>
              <a:rPr lang="en-US" altLang="zh-CN" sz="2000" b="1" dirty="0">
                <a:solidFill>
                  <a:srgbClr val="FF0000"/>
                </a:solidFill>
                <a:latin typeface="+mn-lt"/>
              </a:rPr>
              <a:t>Crystals for solid state lasers: </a:t>
            </a:r>
            <a:r>
              <a:rPr lang="en-US" altLang="zh-CN" sz="2000" dirty="0">
                <a:latin typeface="+mn-lt"/>
              </a:rPr>
              <a:t>Ruby (Al2O3) and neodymium</a:t>
            </a:r>
            <a:r>
              <a:rPr lang="zh-CN" altLang="en-US" sz="2000" dirty="0">
                <a:latin typeface="+mn-lt"/>
              </a:rPr>
              <a:t>（钕）</a:t>
            </a:r>
            <a:r>
              <a:rPr lang="en-US" altLang="zh-CN" sz="2000" dirty="0">
                <a:latin typeface="+mn-lt"/>
              </a:rPr>
              <a:t> doped yttrium aluminum garnet (Nd:Y3Al5O12)</a:t>
            </a:r>
            <a:r>
              <a:rPr lang="zh-CN" altLang="en-US" sz="2000" dirty="0">
                <a:latin typeface="+mn-lt"/>
              </a:rPr>
              <a:t>（榴石）</a:t>
            </a:r>
            <a:endParaRPr lang="en-US" altLang="zh-CN" sz="2000" dirty="0">
              <a:latin typeface="+mn-lt"/>
            </a:endParaRPr>
          </a:p>
          <a:p>
            <a:pPr marL="898525" indent="-457200">
              <a:buFont typeface="+mj-lt"/>
              <a:buAutoNum type="arabicPeriod"/>
            </a:pPr>
            <a:r>
              <a:rPr lang="en-US" altLang="zh-CN" sz="2000" b="1" dirty="0">
                <a:solidFill>
                  <a:srgbClr val="FF0000"/>
                </a:solidFill>
                <a:latin typeface="+mn-lt"/>
              </a:rPr>
              <a:t>Piezoelectric materials: </a:t>
            </a:r>
            <a:r>
              <a:rPr lang="en-US" altLang="zh-CN" sz="2000" dirty="0">
                <a:latin typeface="+mn-lt"/>
              </a:rPr>
              <a:t>barium </a:t>
            </a:r>
            <a:r>
              <a:rPr lang="en-US" altLang="zh-CN" sz="2000" dirty="0" err="1">
                <a:latin typeface="+mn-lt"/>
              </a:rPr>
              <a:t>titanate</a:t>
            </a:r>
            <a:r>
              <a:rPr lang="en-US" altLang="zh-CN" sz="2000" dirty="0">
                <a:latin typeface="+mn-lt"/>
              </a:rPr>
              <a:t> (BaTiO3), lithium </a:t>
            </a:r>
            <a:r>
              <a:rPr lang="en-US" altLang="zh-CN" sz="2000" dirty="0" err="1">
                <a:latin typeface="+mn-lt"/>
              </a:rPr>
              <a:t>tantalate</a:t>
            </a:r>
            <a:r>
              <a:rPr lang="en-US" altLang="zh-CN" sz="2000" dirty="0">
                <a:latin typeface="+mn-lt"/>
              </a:rPr>
              <a:t> (LiTaO3);</a:t>
            </a:r>
          </a:p>
          <a:p>
            <a:pPr marL="898525" indent="-457200">
              <a:buFont typeface="+mj-lt"/>
              <a:buAutoNum type="arabicPeriod"/>
            </a:pPr>
            <a:r>
              <a:rPr lang="en-US" altLang="zh-CN" sz="2000" b="1" dirty="0">
                <a:solidFill>
                  <a:srgbClr val="FF0000"/>
                </a:solidFill>
                <a:latin typeface="+mn-lt"/>
              </a:rPr>
              <a:t>Pyroelectric materials: </a:t>
            </a:r>
            <a:r>
              <a:rPr lang="en-US" altLang="zh-CN" sz="2000" dirty="0">
                <a:latin typeface="+mn-lt"/>
              </a:rPr>
              <a:t>lithium </a:t>
            </a:r>
            <a:r>
              <a:rPr lang="en-US" altLang="zh-CN" sz="2000" dirty="0" err="1">
                <a:latin typeface="+mn-lt"/>
              </a:rPr>
              <a:t>niobate</a:t>
            </a:r>
            <a:r>
              <a:rPr lang="en-US" altLang="zh-CN" sz="2000" dirty="0">
                <a:latin typeface="+mn-lt"/>
              </a:rPr>
              <a:t> (LiNbO3), used for infrared detection and infrared photography.</a:t>
            </a:r>
          </a:p>
        </p:txBody>
      </p:sp>
    </p:spTree>
  </p:cSld>
  <p:clrMapOvr>
    <a:masterClrMapping/>
  </p:clrMapOvr>
  <p:transition spd="med">
    <p:zoom dir="in"/>
  </p:transition>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401862" name="Picture 6" descr="nm02_czillust_e"/>
          <p:cNvPicPr>
            <a:picLocks noChangeAspect="1" noChangeArrowheads="1"/>
          </p:cNvPicPr>
          <p:nvPr/>
        </p:nvPicPr>
        <p:blipFill>
          <a:blip r:embed="rId2">
            <a:extLst>
              <a:ext uri="{28A0092B-C50C-407E-A947-70E740481C1C}">
                <a14:useLocalDpi xmlns:a14="http://schemas.microsoft.com/office/drawing/2010/main" val="0"/>
              </a:ext>
            </a:extLst>
          </a:blip>
          <a:srcRect t="6433" r="30595" b="16875"/>
          <a:stretch>
            <a:fillRect/>
          </a:stretch>
        </p:blipFill>
        <p:spPr bwMode="auto">
          <a:xfrm>
            <a:off x="1151384" y="2100808"/>
            <a:ext cx="1905000" cy="3200400"/>
          </a:xfrm>
          <a:prstGeom prst="rect">
            <a:avLst/>
          </a:prstGeom>
          <a:noFill/>
          <a:extLst>
            <a:ext uri="{909E8E84-426E-40DD-AFC4-6F175D3DCCD1}">
              <a14:hiddenFill xmlns:a14="http://schemas.microsoft.com/office/drawing/2010/main">
                <a:solidFill>
                  <a:srgbClr val="FFFFFF"/>
                </a:solidFill>
              </a14:hiddenFill>
            </a:ext>
          </a:extLst>
        </p:spPr>
      </p:pic>
      <p:sp>
        <p:nvSpPr>
          <p:cNvPr id="1401861" name="Text Box 5"/>
          <p:cNvSpPr txBox="1">
            <a:spLocks noChangeArrowheads="1"/>
          </p:cNvSpPr>
          <p:nvPr/>
        </p:nvSpPr>
        <p:spPr bwMode="auto">
          <a:xfrm>
            <a:off x="3056384" y="2786608"/>
            <a:ext cx="2595736" cy="2046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800" dirty="0">
                <a:latin typeface="Arial" panose="020B0604020202020204" pitchFamily="34" charset="0"/>
              </a:rPr>
              <a:t>Insulation material</a:t>
            </a:r>
          </a:p>
          <a:p>
            <a:endParaRPr lang="en-US" altLang="zh-CN" sz="800" dirty="0">
              <a:latin typeface="Arial" panose="020B0604020202020204" pitchFamily="34" charset="0"/>
            </a:endParaRPr>
          </a:p>
          <a:p>
            <a:r>
              <a:rPr lang="en-US" altLang="zh-CN" sz="1800" dirty="0">
                <a:latin typeface="Arial" panose="020B0604020202020204" pitchFamily="34" charset="0"/>
              </a:rPr>
              <a:t>Crystal</a:t>
            </a:r>
          </a:p>
          <a:p>
            <a:r>
              <a:rPr lang="en-US" altLang="zh-CN" sz="1800" dirty="0">
                <a:latin typeface="Arial" panose="020B0604020202020204" pitchFamily="34" charset="0"/>
              </a:rPr>
              <a:t>Window</a:t>
            </a:r>
          </a:p>
          <a:p>
            <a:endParaRPr lang="en-US" altLang="zh-CN" sz="1100" dirty="0">
              <a:latin typeface="Arial" panose="020B0604020202020204" pitchFamily="34" charset="0"/>
            </a:endParaRPr>
          </a:p>
          <a:p>
            <a:r>
              <a:rPr lang="en-US" altLang="zh-CN" sz="1800" dirty="0">
                <a:latin typeface="Arial" panose="020B0604020202020204" pitchFamily="34" charset="0"/>
              </a:rPr>
              <a:t>Iridium crucible</a:t>
            </a:r>
          </a:p>
          <a:p>
            <a:r>
              <a:rPr lang="en-US" altLang="zh-CN" sz="1800" dirty="0">
                <a:latin typeface="Arial" panose="020B0604020202020204" pitchFamily="34" charset="0"/>
              </a:rPr>
              <a:t>Refractory material</a:t>
            </a:r>
          </a:p>
          <a:p>
            <a:r>
              <a:rPr lang="en-US" altLang="zh-CN" sz="1800" dirty="0">
                <a:latin typeface="Arial" panose="020B0604020202020204" pitchFamily="34" charset="0"/>
              </a:rPr>
              <a:t>Radio-frequency coil</a:t>
            </a:r>
            <a:endParaRPr lang="zh-CN" altLang="en-US" sz="1800" dirty="0">
              <a:latin typeface="Arial" panose="020B0604020202020204" pitchFamily="34" charset="0"/>
            </a:endParaRPr>
          </a:p>
        </p:txBody>
      </p:sp>
      <p:sp>
        <p:nvSpPr>
          <p:cNvPr id="1401863" name="Text Box 7"/>
          <p:cNvSpPr txBox="1">
            <a:spLocks noChangeArrowheads="1"/>
          </p:cNvSpPr>
          <p:nvPr/>
        </p:nvSpPr>
        <p:spPr bwMode="auto">
          <a:xfrm>
            <a:off x="1475656" y="754934"/>
            <a:ext cx="55900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3200" b="1" cap="all" spc="-60">
                <a:solidFill>
                  <a:srgbClr val="FF0066"/>
                </a:solidFill>
                <a:effectLst>
                  <a:outerShdw blurRad="38100" dist="38100" dir="2700000" algn="tl">
                    <a:srgbClr val="000000"/>
                  </a:outerShdw>
                </a:effectLst>
                <a:latin typeface="+mj-lt"/>
                <a:ea typeface="+mj-ea"/>
                <a:cs typeface="+mj-cs"/>
              </a:defRPr>
            </a:lvl1pPr>
          </a:lstStyle>
          <a:p>
            <a:pPr algn="ctr"/>
            <a:r>
              <a:rPr lang="en-US" altLang="zh-CN" cap="none" dirty="0">
                <a:effectLst/>
                <a:latin typeface="+mn-lt"/>
              </a:rPr>
              <a:t>Sketch map of CZ method</a:t>
            </a:r>
            <a:endParaRPr lang="zh-CN" altLang="en-US" cap="none" dirty="0">
              <a:effectLst/>
              <a:latin typeface="+mn-lt"/>
            </a:endParaRPr>
          </a:p>
        </p:txBody>
      </p:sp>
      <p:pic>
        <p:nvPicPr>
          <p:cNvPr id="1401877" name="Picture 21" descr="Czochralski proc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1667359"/>
            <a:ext cx="2987675" cy="3905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6309" name="Picture 5" descr="&amp;t=1&amp;usg=__B7RCr3tFyzkzn_1l6bL4EBRhtj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90600"/>
            <a:ext cx="7772400" cy="3810000"/>
          </a:xfrm>
          <a:prstGeom prst="rect">
            <a:avLst/>
          </a:prstGeom>
          <a:noFill/>
          <a:extLst>
            <a:ext uri="{909E8E84-426E-40DD-AFC4-6F175D3DCCD1}">
              <a14:hiddenFill xmlns:a14="http://schemas.microsoft.com/office/drawing/2010/main">
                <a:solidFill>
                  <a:srgbClr val="FFFFFF"/>
                </a:solidFill>
              </a14:hiddenFill>
            </a:ext>
          </a:extLst>
        </p:spPr>
      </p:pic>
      <p:sp>
        <p:nvSpPr>
          <p:cNvPr id="1506310" name="Text Box 6"/>
          <p:cNvSpPr txBox="1">
            <a:spLocks noChangeArrowheads="1"/>
          </p:cNvSpPr>
          <p:nvPr/>
        </p:nvSpPr>
        <p:spPr bwMode="auto">
          <a:xfrm>
            <a:off x="609600" y="5373216"/>
            <a:ext cx="785083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800" b="1" dirty="0">
                <a:latin typeface="Arial" panose="020B0604020202020204" pitchFamily="34" charset="0"/>
              </a:rPr>
              <a:t>Sketch map for single crystal Si grown by </a:t>
            </a:r>
          </a:p>
          <a:p>
            <a:pPr algn="ctr"/>
            <a:r>
              <a:rPr lang="en-US" altLang="zh-CN" sz="2800" b="1" dirty="0">
                <a:latin typeface="Arial" panose="020B0604020202020204" pitchFamily="34" charset="0"/>
              </a:rPr>
              <a:t>CZ method</a:t>
            </a:r>
            <a:endParaRPr lang="zh-CN" altLang="en-US" b="1" dirty="0">
              <a:latin typeface="Arial" panose="020B0604020202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8356" name="Picture 4" descr="nm02_cz"/>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838200" y="1371600"/>
            <a:ext cx="4343400" cy="3257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08357" name="Rectangle 5"/>
          <p:cNvSpPr>
            <a:spLocks noChangeArrowheads="1"/>
          </p:cNvSpPr>
          <p:nvPr/>
        </p:nvSpPr>
        <p:spPr bwMode="auto">
          <a:xfrm>
            <a:off x="1115616" y="5161261"/>
            <a:ext cx="68407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b="1" dirty="0">
                <a:effectLst>
                  <a:outerShdw blurRad="38100" dist="38100" dir="2700000" algn="tl">
                    <a:srgbClr val="000000">
                      <a:alpha val="43137"/>
                    </a:srgbClr>
                  </a:outerShdw>
                </a:effectLst>
                <a:latin typeface="Arial" panose="020B0604020202020204" pitchFamily="34" charset="0"/>
              </a:rPr>
              <a:t>Crystal Production Equipment by CZ method</a:t>
            </a:r>
            <a:endParaRPr lang="zh-CN" altLang="en-US" b="1" dirty="0">
              <a:effectLst>
                <a:outerShdw blurRad="38100" dist="38100" dir="2700000" algn="tl">
                  <a:srgbClr val="000000">
                    <a:alpha val="43137"/>
                  </a:srgbClr>
                </a:outerShdw>
              </a:effectLst>
              <a:latin typeface="Arial" panose="020B0604020202020204" pitchFamily="34" charset="0"/>
            </a:endParaRPr>
          </a:p>
        </p:txBody>
      </p:sp>
      <p:pic>
        <p:nvPicPr>
          <p:cNvPr id="1508359" name="Picture 7" descr="gt-synt-pull-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600200"/>
            <a:ext cx="2312988"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1014" name="Rectangle 6"/>
          <p:cNvSpPr>
            <a:spLocks noChangeArrowheads="1"/>
          </p:cNvSpPr>
          <p:nvPr/>
        </p:nvSpPr>
        <p:spPr bwMode="auto">
          <a:xfrm>
            <a:off x="533400" y="1524000"/>
            <a:ext cx="4724400" cy="4641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2600">
                <a:solidFill>
                  <a:schemeClr val="tx1"/>
                </a:solidFill>
                <a:latin typeface="Verdana" panose="020B0604030504040204" pitchFamily="34" charset="0"/>
                <a:ea typeface="宋体" panose="02010600030101010101" pitchFamily="2" charset="-122"/>
              </a:defRPr>
            </a:lvl1pPr>
            <a:lvl2pPr marL="908050" indent="-436880">
              <a:spcBef>
                <a:spcPct val="20000"/>
              </a:spcBef>
              <a:buClr>
                <a:schemeClr val="accent2"/>
              </a:buClr>
              <a:buFont typeface="Wingdings" panose="05000000000000000000" pitchFamily="2" charset="2"/>
              <a:buChar char="n"/>
              <a:defRPr sz="2200">
                <a:solidFill>
                  <a:schemeClr val="tx1"/>
                </a:solidFill>
                <a:latin typeface="Verdana" panose="020B0604030504040204" pitchFamily="34" charset="0"/>
                <a:ea typeface="宋体" panose="02010600030101010101" pitchFamily="2" charset="-122"/>
              </a:defRPr>
            </a:lvl2pPr>
            <a:lvl3pPr marL="1304925" indent="-395605">
              <a:spcBef>
                <a:spcPct val="20000"/>
              </a:spcBef>
              <a:buClr>
                <a:schemeClr val="accent2"/>
              </a:buClr>
              <a:buFont typeface="Wingdings" panose="05000000000000000000" pitchFamily="2" charset="2"/>
              <a:buChar char="o"/>
              <a:defRPr sz="2100">
                <a:solidFill>
                  <a:schemeClr val="tx1"/>
                </a:solidFill>
                <a:latin typeface="Verdana" panose="020B0604030504040204" pitchFamily="34" charset="0"/>
                <a:ea typeface="宋体" panose="02010600030101010101" pitchFamily="2" charset="-122"/>
              </a:defRPr>
            </a:lvl3pPr>
            <a:lvl4pPr marL="1694180" indent="-387350">
              <a:spcBef>
                <a:spcPct val="20000"/>
              </a:spcBef>
              <a:buClr>
                <a:schemeClr val="accent2"/>
              </a:buClr>
              <a:buFont typeface="Wingdings" panose="05000000000000000000" pitchFamily="2" charset="2"/>
              <a:buChar char="n"/>
              <a:defRPr>
                <a:solidFill>
                  <a:schemeClr val="tx1"/>
                </a:solidFill>
                <a:latin typeface="Verdana" panose="020B0604030504040204" pitchFamily="34" charset="0"/>
                <a:ea typeface="宋体" panose="02010600030101010101" pitchFamily="2" charset="-122"/>
              </a:defRPr>
            </a:lvl4pPr>
            <a:lvl5pPr marL="2094230" indent="-398780">
              <a:spcBef>
                <a:spcPct val="25000"/>
              </a:spcBef>
              <a:buClr>
                <a:schemeClr val="accent2"/>
              </a:buClr>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5pPr>
            <a:lvl6pPr marL="2551430" indent="-398780" fontAlgn="base">
              <a:spcBef>
                <a:spcPct val="25000"/>
              </a:spcBef>
              <a:spcAft>
                <a:spcPct val="0"/>
              </a:spcAft>
              <a:buClr>
                <a:schemeClr val="accent2"/>
              </a:buClr>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6pPr>
            <a:lvl7pPr marL="3008630" indent="-398780" fontAlgn="base">
              <a:spcBef>
                <a:spcPct val="25000"/>
              </a:spcBef>
              <a:spcAft>
                <a:spcPct val="0"/>
              </a:spcAft>
              <a:buClr>
                <a:schemeClr val="accent2"/>
              </a:buClr>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7pPr>
            <a:lvl8pPr marL="3465830" indent="-398780" fontAlgn="base">
              <a:spcBef>
                <a:spcPct val="25000"/>
              </a:spcBef>
              <a:spcAft>
                <a:spcPct val="0"/>
              </a:spcAft>
              <a:buClr>
                <a:schemeClr val="accent2"/>
              </a:buClr>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8pPr>
            <a:lvl9pPr marL="3923030" indent="-398780" fontAlgn="base">
              <a:spcBef>
                <a:spcPct val="25000"/>
              </a:spcBef>
              <a:spcAft>
                <a:spcPct val="0"/>
              </a:spcAft>
              <a:buClr>
                <a:schemeClr val="accent2"/>
              </a:buClr>
              <a:buFont typeface="Wingdings" panose="05000000000000000000" pitchFamily="2" charset="2"/>
              <a:buChar char="§"/>
              <a:defRPr>
                <a:solidFill>
                  <a:schemeClr val="tx1"/>
                </a:solidFill>
                <a:latin typeface="Verdana" panose="020B0604030504040204" pitchFamily="34" charset="0"/>
                <a:ea typeface="宋体" panose="02010600030101010101" pitchFamily="2" charset="-122"/>
              </a:defRPr>
            </a:lvl9pPr>
          </a:lstStyle>
          <a:p>
            <a:pPr marL="0" indent="0">
              <a:buNone/>
            </a:pPr>
            <a:r>
              <a:rPr lang="en-US" altLang="zh-CN" sz="2000" dirty="0">
                <a:latin typeface="+mn-lt"/>
              </a:rPr>
              <a:t>Flame fusion is the method of growing a single crystal from a melt. The powder of the raw material is melted by a high temperature oxyhydrogen flame. The droplet is cooled in the process of falling, and is gradually consolidated on the seed crystal to form a crystal.</a:t>
            </a:r>
          </a:p>
          <a:p>
            <a:pPr marL="0" indent="0">
              <a:buNone/>
            </a:pPr>
            <a:endParaRPr lang="en-US" altLang="zh-CN" sz="1050" dirty="0">
              <a:latin typeface="+mn-lt"/>
            </a:endParaRPr>
          </a:p>
          <a:p>
            <a:pPr marL="0" indent="0">
              <a:buNone/>
            </a:pPr>
            <a:r>
              <a:rPr lang="en-US" altLang="zh-CN" sz="2000" b="1" dirty="0">
                <a:latin typeface="+mn-lt"/>
              </a:rPr>
              <a:t>Equipment and production process </a:t>
            </a:r>
            <a:r>
              <a:rPr lang="en-US" altLang="zh-CN" sz="2000" dirty="0">
                <a:latin typeface="+mn-lt"/>
              </a:rPr>
              <a:t>(Taking corundum as an example)</a:t>
            </a:r>
          </a:p>
          <a:p>
            <a:pPr marL="0" indent="0">
              <a:buNone/>
            </a:pPr>
            <a:r>
              <a:rPr lang="en-US" altLang="zh-CN" sz="2000" dirty="0">
                <a:latin typeface="+mn-lt"/>
              </a:rPr>
              <a:t>Combustion temperature: 2200 ℃ Celsius (corundum melting point is 2050 ℃).</a:t>
            </a:r>
          </a:p>
          <a:p>
            <a:pPr marL="0" indent="0">
              <a:buNone/>
            </a:pPr>
            <a:r>
              <a:rPr lang="en-US" altLang="zh-CN" sz="2000" dirty="0">
                <a:latin typeface="+mn-lt"/>
              </a:rPr>
              <a:t>Crystal growth rate: l cm/h.</a:t>
            </a:r>
            <a:endParaRPr lang="zh-CN" altLang="en-US" sz="1600" dirty="0">
              <a:latin typeface="+mn-lt"/>
              <a:ea typeface="华文新魏" panose="02010800040101010101" pitchFamily="2" charset="-122"/>
            </a:endParaRPr>
          </a:p>
        </p:txBody>
      </p:sp>
      <p:sp>
        <p:nvSpPr>
          <p:cNvPr id="1451017" name="Rectangle 9"/>
          <p:cNvSpPr>
            <a:spLocks noChangeArrowheads="1"/>
          </p:cNvSpPr>
          <p:nvPr/>
        </p:nvSpPr>
        <p:spPr bwMode="auto">
          <a:xfrm>
            <a:off x="571084" y="609600"/>
            <a:ext cx="709726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b="1" spc="-60" dirty="0">
                <a:solidFill>
                  <a:srgbClr val="FF0066"/>
                </a:solidFill>
                <a:latin typeface="+mn-lt"/>
                <a:ea typeface="+mj-ea"/>
                <a:cs typeface="+mj-cs"/>
              </a:rPr>
              <a:t>Flame fusion method (</a:t>
            </a:r>
            <a:r>
              <a:rPr lang="zh-CN" altLang="en-US" sz="3200" b="1" spc="-60" dirty="0">
                <a:solidFill>
                  <a:srgbClr val="FF0066"/>
                </a:solidFill>
                <a:latin typeface="+mn-lt"/>
                <a:ea typeface="+mj-ea"/>
                <a:cs typeface="+mj-cs"/>
              </a:rPr>
              <a:t>焰熔法</a:t>
            </a:r>
            <a:r>
              <a:rPr lang="en-US" altLang="zh-CN" sz="3200" b="1" spc="-60" dirty="0">
                <a:solidFill>
                  <a:srgbClr val="FF0066"/>
                </a:solidFill>
                <a:latin typeface="+mn-lt"/>
                <a:ea typeface="+mj-ea"/>
                <a:cs typeface="+mj-cs"/>
              </a:rPr>
              <a:t>)</a:t>
            </a:r>
          </a:p>
          <a:p>
            <a:endParaRPr lang="zh-CN" altLang="en-US" sz="3200" b="1" spc="-60" dirty="0">
              <a:solidFill>
                <a:srgbClr val="FF0066"/>
              </a:solidFill>
              <a:latin typeface="+mn-lt"/>
              <a:ea typeface="+mj-ea"/>
              <a:cs typeface="+mj-cs"/>
            </a:endParaRPr>
          </a:p>
        </p:txBody>
      </p:sp>
      <p:pic>
        <p:nvPicPr>
          <p:cNvPr id="1451019" name="Picture 11" descr="Simplified flame fusion (Verneuil process) diagram to grow synthetic corundum.">
            <a:hlinkClick r:id="rId2" tooltip="Simplified flame fusion (Verneuil process) diagram to grow synthetic corundum."/>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600200"/>
            <a:ext cx="3019425" cy="4276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zoom dir="in"/>
  </p:transition>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393666" name="Picture 2" descr="nm02_ve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292080" y="1295400"/>
            <a:ext cx="3200400" cy="3170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393668" name="Picture 4" descr="gt-rby-syn-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295400"/>
            <a:ext cx="4572000" cy="3133725"/>
          </a:xfrm>
          <a:prstGeom prst="rect">
            <a:avLst/>
          </a:prstGeom>
          <a:noFill/>
          <a:extLst>
            <a:ext uri="{909E8E84-426E-40DD-AFC4-6F175D3DCCD1}">
              <a14:hiddenFill xmlns:a14="http://schemas.microsoft.com/office/drawing/2010/main">
                <a:solidFill>
                  <a:srgbClr val="FFFFFF"/>
                </a:solidFill>
              </a14:hiddenFill>
            </a:ext>
          </a:extLst>
        </p:spPr>
      </p:pic>
      <p:sp>
        <p:nvSpPr>
          <p:cNvPr id="1393669" name="Text Box 5"/>
          <p:cNvSpPr txBox="1">
            <a:spLocks noChangeArrowheads="1"/>
          </p:cNvSpPr>
          <p:nvPr/>
        </p:nvSpPr>
        <p:spPr bwMode="auto">
          <a:xfrm>
            <a:off x="304800" y="4648200"/>
            <a:ext cx="4572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a:latin typeface="+mn-lt"/>
              </a:rPr>
              <a:t>In the process of crystal production by flame fusion method</a:t>
            </a:r>
            <a:endParaRPr lang="zh-CN" altLang="en-US" sz="2000" b="1" dirty="0">
              <a:latin typeface="+mn-lt"/>
            </a:endParaRPr>
          </a:p>
        </p:txBody>
      </p:sp>
      <p:sp>
        <p:nvSpPr>
          <p:cNvPr id="1393670" name="Text Box 6"/>
          <p:cNvSpPr txBox="1">
            <a:spLocks noChangeArrowheads="1"/>
          </p:cNvSpPr>
          <p:nvPr/>
        </p:nvSpPr>
        <p:spPr bwMode="auto">
          <a:xfrm>
            <a:off x="5220072" y="4755921"/>
            <a:ext cx="33123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a:latin typeface="+mn-lt"/>
              </a:rPr>
              <a:t>End of crystal growth</a:t>
            </a:r>
            <a:endParaRPr lang="zh-CN" altLang="en-US" sz="2000" b="1" dirty="0">
              <a:latin typeface="+mn-lt"/>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395714" name="Picture 2" descr="Ver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43000"/>
            <a:ext cx="3962400" cy="3260725"/>
          </a:xfrm>
          <a:prstGeom prst="rect">
            <a:avLst/>
          </a:prstGeom>
          <a:noFill/>
          <a:extLst>
            <a:ext uri="{909E8E84-426E-40DD-AFC4-6F175D3DCCD1}">
              <a14:hiddenFill xmlns:a14="http://schemas.microsoft.com/office/drawing/2010/main">
                <a:solidFill>
                  <a:srgbClr val="FFFFFF"/>
                </a:solidFill>
              </a14:hiddenFill>
            </a:ext>
          </a:extLst>
        </p:spPr>
      </p:pic>
      <p:sp>
        <p:nvSpPr>
          <p:cNvPr id="1395715" name="Text Box 3"/>
          <p:cNvSpPr txBox="1">
            <a:spLocks noChangeArrowheads="1"/>
          </p:cNvSpPr>
          <p:nvPr/>
        </p:nvSpPr>
        <p:spPr bwMode="auto">
          <a:xfrm>
            <a:off x="381000" y="4800600"/>
            <a:ext cx="46230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a:latin typeface="+mn-lt"/>
              </a:rPr>
              <a:t>End of production process</a:t>
            </a:r>
            <a:endParaRPr lang="zh-CN" altLang="en-US" b="1" dirty="0">
              <a:latin typeface="+mn-lt"/>
            </a:endParaRPr>
          </a:p>
        </p:txBody>
      </p:sp>
      <p:pic>
        <p:nvPicPr>
          <p:cNvPr id="1395716" name="Picture 4" descr="Man-Made Rub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3200400"/>
            <a:ext cx="2895600" cy="1792288"/>
          </a:xfrm>
          <a:prstGeom prst="rect">
            <a:avLst/>
          </a:prstGeom>
          <a:noFill/>
          <a:extLst>
            <a:ext uri="{909E8E84-426E-40DD-AFC4-6F175D3DCCD1}">
              <a14:hiddenFill xmlns:a14="http://schemas.microsoft.com/office/drawing/2010/main">
                <a:solidFill>
                  <a:srgbClr val="FFFFFF"/>
                </a:solidFill>
              </a14:hiddenFill>
            </a:ext>
          </a:extLst>
        </p:spPr>
      </p:pic>
      <p:pic>
        <p:nvPicPr>
          <p:cNvPr id="1395717" name="Picture 5" descr="Man-Made Ceylon"/>
          <p:cNvPicPr>
            <a:picLocks noChangeAspect="1" noChangeArrowheads="1"/>
          </p:cNvPicPr>
          <p:nvPr/>
        </p:nvPicPr>
        <p:blipFill>
          <a:blip r:embed="rId4">
            <a:clrChange>
              <a:clrFrom>
                <a:srgbClr val="FBFFFE"/>
              </a:clrFrom>
              <a:clrTo>
                <a:srgbClr val="FBFFFE">
                  <a:alpha val="0"/>
                </a:srgbClr>
              </a:clrTo>
            </a:clrChange>
            <a:extLst>
              <a:ext uri="{28A0092B-C50C-407E-A947-70E740481C1C}">
                <a14:useLocalDpi xmlns:a14="http://schemas.microsoft.com/office/drawing/2010/main" val="0"/>
              </a:ext>
            </a:extLst>
          </a:blip>
          <a:srcRect/>
          <a:stretch>
            <a:fillRect/>
          </a:stretch>
        </p:blipFill>
        <p:spPr bwMode="auto">
          <a:xfrm>
            <a:off x="5181600" y="1066800"/>
            <a:ext cx="2438400" cy="16589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6018" name="Rectangle 2"/>
          <p:cNvSpPr>
            <a:spLocks noGrp="1" noChangeArrowheads="1"/>
          </p:cNvSpPr>
          <p:nvPr>
            <p:ph type="body" sz="half" idx="1"/>
          </p:nvPr>
        </p:nvSpPr>
        <p:spPr>
          <a:xfrm>
            <a:off x="457200" y="2492896"/>
            <a:ext cx="4474840" cy="4090467"/>
          </a:xfrm>
        </p:spPr>
        <p:txBody>
          <a:bodyPr/>
          <a:lstStyle/>
          <a:p>
            <a:r>
              <a:rPr kumimoji="1" lang="en-US" altLang="zh-CN" sz="2400" b="0" dirty="0">
                <a:ea typeface="宋体" panose="02010600030101010101" pitchFamily="2" charset="-122"/>
              </a:rPr>
              <a:t>Under high temperature and high pressure conditions, the components are dissolved in the hot zone of the closed autoclave and then crystallized on the seed crystals at cooler locations.</a:t>
            </a:r>
            <a:endParaRPr kumimoji="1" lang="zh-CN" altLang="en-US" sz="2400" b="0" dirty="0">
              <a:ea typeface="宋体" panose="02010600030101010101" pitchFamily="2" charset="-122"/>
            </a:endParaRPr>
          </a:p>
          <a:p>
            <a:endParaRPr kumimoji="1" lang="zh-CN" altLang="en-US" b="0" dirty="0">
              <a:ea typeface="宋体" panose="02010600030101010101" pitchFamily="2" charset="-122"/>
            </a:endParaRPr>
          </a:p>
          <a:p>
            <a:pPr>
              <a:buFont typeface="Wingdings" panose="05000000000000000000" pitchFamily="2" charset="2"/>
              <a:buNone/>
            </a:pPr>
            <a:endParaRPr lang="zh-CN" altLang="en-US" sz="2400" b="0" dirty="0"/>
          </a:p>
        </p:txBody>
      </p:sp>
      <p:sp>
        <p:nvSpPr>
          <p:cNvPr id="1366023" name="Rectangle 7"/>
          <p:cNvSpPr>
            <a:spLocks noChangeArrowheads="1"/>
          </p:cNvSpPr>
          <p:nvPr/>
        </p:nvSpPr>
        <p:spPr bwMode="auto">
          <a:xfrm>
            <a:off x="416070" y="609598"/>
            <a:ext cx="5596089" cy="138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0" eaLnBrk="0" hangingPunct="0">
              <a:spcBef>
                <a:spcPct val="20000"/>
              </a:spcBef>
              <a:spcAft>
                <a:spcPts val="600"/>
              </a:spcAft>
            </a:pPr>
            <a:r>
              <a:rPr kumimoji="0" lang="en-US" altLang="zh-CN" sz="3600" dirty="0">
                <a:solidFill>
                  <a:srgbClr val="FF0000"/>
                </a:solidFill>
                <a:latin typeface="Arial" panose="020B0604020202020204"/>
                <a:ea typeface="黑体" panose="02010609060101010101" pitchFamily="49" charset="-122"/>
              </a:rPr>
              <a:t>Hydrothermal method </a:t>
            </a:r>
          </a:p>
          <a:p>
            <a:pPr lvl="0" eaLnBrk="0" hangingPunct="0">
              <a:spcBef>
                <a:spcPct val="20000"/>
              </a:spcBef>
              <a:spcAft>
                <a:spcPts val="600"/>
              </a:spcAft>
            </a:pPr>
            <a:r>
              <a:rPr kumimoji="0" lang="en-US" altLang="zh-CN" sz="3600" dirty="0">
                <a:solidFill>
                  <a:srgbClr val="FF0000"/>
                </a:solidFill>
                <a:latin typeface="Arial" panose="020B0604020202020204"/>
                <a:ea typeface="黑体" panose="02010609060101010101" pitchFamily="49" charset="-122"/>
              </a:rPr>
              <a:t>(</a:t>
            </a:r>
            <a:r>
              <a:rPr kumimoji="0" lang="zh-CN" altLang="en-US" sz="3600" dirty="0">
                <a:solidFill>
                  <a:srgbClr val="FF0000"/>
                </a:solidFill>
                <a:latin typeface="Arial" panose="020B0604020202020204"/>
                <a:ea typeface="黑体" panose="02010609060101010101" pitchFamily="49" charset="-122"/>
              </a:rPr>
              <a:t>水热法</a:t>
            </a:r>
            <a:r>
              <a:rPr kumimoji="0" lang="en-US" altLang="zh-CN" sz="3600" dirty="0">
                <a:solidFill>
                  <a:srgbClr val="FF0000"/>
                </a:solidFill>
                <a:latin typeface="Arial" panose="020B0604020202020204"/>
                <a:ea typeface="黑体" panose="02010609060101010101" pitchFamily="49" charset="-122"/>
              </a:rPr>
              <a:t>)</a:t>
            </a:r>
          </a:p>
        </p:txBody>
      </p:sp>
      <p:pic>
        <p:nvPicPr>
          <p:cNvPr id="82948" name="Picture 4"/>
          <p:cNvPicPr>
            <a:picLocks noChangeAspect="1" noChangeArrowheads="1"/>
          </p:cNvPicPr>
          <p:nvPr/>
        </p:nvPicPr>
        <p:blipFill rotWithShape="1">
          <a:blip r:embed="rId2">
            <a:lum bright="-20000" contrast="40000"/>
            <a:extLst>
              <a:ext uri="{28A0092B-C50C-407E-A947-70E740481C1C}">
                <a14:useLocalDpi xmlns:a14="http://schemas.microsoft.com/office/drawing/2010/main" val="0"/>
              </a:ext>
            </a:extLst>
          </a:blip>
          <a:srcRect l="1" r="2053"/>
          <a:stretch>
            <a:fillRect/>
          </a:stretch>
        </p:blipFill>
        <p:spPr bwMode="auto">
          <a:xfrm>
            <a:off x="5868144" y="20200"/>
            <a:ext cx="2879362" cy="6751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372162" name="Picture 2" descr="人工水晶の取り出し作業風景"/>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4087" y="404664"/>
            <a:ext cx="5158193" cy="52313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a:xfrm>
            <a:off x="899592" y="692696"/>
            <a:ext cx="7128792" cy="762000"/>
          </a:xfrm>
        </p:spPr>
        <p:txBody>
          <a:bodyPr/>
          <a:lstStyle/>
          <a:p>
            <a:pPr fontAlgn="base">
              <a:spcAft>
                <a:spcPct val="0"/>
              </a:spcAft>
              <a:buClr>
                <a:schemeClr val="accent2"/>
              </a:buClr>
              <a:defRPr/>
            </a:pPr>
            <a:r>
              <a:rPr lang="en-US" altLang="zh-CN" dirty="0"/>
              <a:t>Quiz 2.1</a:t>
            </a:r>
            <a:endParaRPr lang="zh-CN" altLang="en-US" dirty="0"/>
          </a:p>
        </p:txBody>
      </p:sp>
      <p:sp>
        <p:nvSpPr>
          <p:cNvPr id="36867" name="Rectangle 3"/>
          <p:cNvSpPr>
            <a:spLocks noGrp="1" noChangeArrowheads="1"/>
          </p:cNvSpPr>
          <p:nvPr>
            <p:ph type="subTitle" idx="1"/>
          </p:nvPr>
        </p:nvSpPr>
        <p:spPr>
          <a:xfrm>
            <a:off x="827584" y="1700808"/>
            <a:ext cx="7776344" cy="4752528"/>
          </a:xfrm>
        </p:spPr>
        <p:txBody>
          <a:bodyPr/>
          <a:lstStyle/>
          <a:p>
            <a:pPr marL="514350" indent="-514350">
              <a:buFont typeface="+mj-lt"/>
              <a:buAutoNum type="arabicPeriod"/>
              <a:defRPr/>
            </a:pPr>
            <a:r>
              <a:rPr lang="en-US" altLang="zh-CN" sz="2400" b="1" cap="none" dirty="0">
                <a:solidFill>
                  <a:schemeClr val="tx1"/>
                </a:solidFill>
                <a:latin typeface="+mn-lt"/>
              </a:rPr>
              <a:t>What are the three stages of crystal growth?</a:t>
            </a:r>
            <a:endParaRPr lang="zh-CN" altLang="en-US" sz="2400" b="1" cap="none" dirty="0">
              <a:solidFill>
                <a:schemeClr val="tx1"/>
              </a:solidFill>
              <a:latin typeface="+mn-lt"/>
            </a:endParaRPr>
          </a:p>
          <a:p>
            <a:pPr marL="514350" indent="-514350">
              <a:buFont typeface="+mj-lt"/>
              <a:buAutoNum type="arabicPeriod"/>
              <a:defRPr/>
            </a:pPr>
            <a:r>
              <a:rPr lang="en-US" altLang="zh-CN" sz="2400" b="1" cap="none" dirty="0">
                <a:solidFill>
                  <a:schemeClr val="tx1"/>
                </a:solidFill>
                <a:latin typeface="+mn-lt"/>
              </a:rPr>
              <a:t>The two growth models of crystal growth and their relationships?</a:t>
            </a:r>
          </a:p>
          <a:p>
            <a:pPr marL="514350" indent="-514350">
              <a:buFont typeface="+mj-lt"/>
              <a:buAutoNum type="arabicPeriod"/>
              <a:defRPr/>
            </a:pPr>
            <a:r>
              <a:rPr lang="en-US" altLang="zh-CN" sz="2400" b="1" cap="none" dirty="0">
                <a:solidFill>
                  <a:schemeClr val="tx1"/>
                </a:solidFill>
                <a:latin typeface="+mn-lt"/>
              </a:rPr>
              <a:t>The internal factors that affect growth morphology of crystals.</a:t>
            </a:r>
          </a:p>
          <a:p>
            <a:pPr marL="514350" indent="-514350">
              <a:buFont typeface="+mj-lt"/>
              <a:buAutoNum type="arabicPeriod"/>
              <a:defRPr/>
            </a:pPr>
            <a:r>
              <a:rPr lang="en-US" altLang="zh-CN" sz="2400" b="1" cap="none" dirty="0">
                <a:solidFill>
                  <a:schemeClr val="tx1"/>
                </a:solidFill>
                <a:latin typeface="+mn-lt"/>
              </a:rPr>
              <a:t>Except the three growth methods for single crystals, please find at least five growth methods. </a:t>
            </a:r>
            <a:endParaRPr lang="en-US" altLang="zh-CN" sz="3600" b="1" dirty="0">
              <a:solidFill>
                <a:schemeClr val="tx1"/>
              </a:solidFill>
              <a:latin typeface="+mn-lt"/>
            </a:endParaRPr>
          </a:p>
          <a:p>
            <a:pPr marL="609600" indent="-609600">
              <a:defRPr/>
            </a:pPr>
            <a:endParaRPr lang="zh-CN" altLang="en-US" sz="3600" b="1" dirty="0">
              <a:latin typeface="+mn-lt"/>
            </a:endParaRP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a:xfrm>
            <a:off x="899592" y="692696"/>
            <a:ext cx="7128792" cy="762000"/>
          </a:xfrm>
        </p:spPr>
        <p:txBody>
          <a:bodyPr/>
          <a:lstStyle/>
          <a:p>
            <a:pPr fontAlgn="base">
              <a:spcAft>
                <a:spcPct val="0"/>
              </a:spcAft>
              <a:buClr>
                <a:schemeClr val="accent2"/>
              </a:buClr>
              <a:defRPr/>
            </a:pPr>
            <a:r>
              <a:rPr lang="en-US" altLang="zh-CN" dirty="0"/>
              <a:t>Homework</a:t>
            </a:r>
            <a:endParaRPr lang="zh-CN" altLang="en-US" dirty="0"/>
          </a:p>
        </p:txBody>
      </p:sp>
      <p:sp>
        <p:nvSpPr>
          <p:cNvPr id="36867" name="Rectangle 3"/>
          <p:cNvSpPr>
            <a:spLocks noGrp="1" noChangeArrowheads="1"/>
          </p:cNvSpPr>
          <p:nvPr>
            <p:ph type="subTitle" idx="1"/>
          </p:nvPr>
        </p:nvSpPr>
        <p:spPr>
          <a:xfrm>
            <a:off x="827584" y="1700808"/>
            <a:ext cx="7776344" cy="4752528"/>
          </a:xfrm>
        </p:spPr>
        <p:txBody>
          <a:bodyPr/>
          <a:lstStyle/>
          <a:p>
            <a:pPr marL="514350" indent="-514350">
              <a:buFont typeface="+mj-lt"/>
              <a:buAutoNum type="arabicPeriod"/>
              <a:defRPr/>
            </a:pPr>
            <a:r>
              <a:rPr lang="en-US" altLang="zh-CN" sz="2400" b="1" cap="none" dirty="0">
                <a:solidFill>
                  <a:schemeClr val="tx1"/>
                </a:solidFill>
                <a:latin typeface="+mn-lt"/>
              </a:rPr>
              <a:t>Search papers and find at least one example for each external factor that affects crystal growth. Write a short review to explain how these external factors affect crystal growth based on these examples.</a:t>
            </a:r>
          </a:p>
          <a:p>
            <a:pPr marL="514350" indent="-514350">
              <a:buFont typeface="+mj-lt"/>
              <a:buAutoNum type="arabicPeriod"/>
              <a:defRPr/>
            </a:pPr>
            <a:endParaRPr lang="en-US" altLang="zh-CN" sz="2400" b="1" cap="none" dirty="0">
              <a:solidFill>
                <a:schemeClr val="tx1"/>
              </a:solidFill>
              <a:latin typeface="+mn-lt"/>
            </a:endParaRPr>
          </a:p>
          <a:p>
            <a:pPr marL="514350" indent="-514350">
              <a:buFont typeface="+mj-lt"/>
              <a:buAutoNum type="arabicPeriod"/>
              <a:defRPr/>
            </a:pPr>
            <a:r>
              <a:rPr lang="en-US" altLang="zh-CN" sz="2400" b="1" cap="none" dirty="0">
                <a:solidFill>
                  <a:schemeClr val="tx1"/>
                </a:solidFill>
                <a:latin typeface="+mn-lt"/>
              </a:rPr>
              <a:t>Find other external factors that affect crystal growth (not listed in the lecture)</a:t>
            </a:r>
            <a:endParaRPr lang="en-US" altLang="zh-CN" sz="3600" b="1" dirty="0">
              <a:solidFill>
                <a:schemeClr val="tx1"/>
              </a:solidFill>
              <a:latin typeface="+mn-lt"/>
            </a:endParaRPr>
          </a:p>
          <a:p>
            <a:pPr marL="609600" indent="-609600">
              <a:defRPr/>
            </a:pPr>
            <a:endParaRPr lang="zh-CN" altLang="en-US" sz="3600" b="1" dirty="0">
              <a:latin typeface="+mn-lt"/>
            </a:endParaRP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1321222"/>
            <a:ext cx="3960440" cy="2461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pPr algn="l"/>
            <a:r>
              <a:rPr lang="en-US" altLang="zh-CN" dirty="0"/>
              <a:t>UC-</a:t>
            </a:r>
            <a:r>
              <a:rPr lang="en-US" altLang="zh-CN" dirty="0" err="1"/>
              <a:t>berkeley</a:t>
            </a:r>
            <a:endParaRPr lang="en-US" dirty="0"/>
          </a:p>
        </p:txBody>
      </p:sp>
      <p:pic>
        <p:nvPicPr>
          <p:cNvPr id="389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700807"/>
            <a:ext cx="4680520" cy="3120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864" y="3501008"/>
            <a:ext cx="4512398" cy="3063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1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73" y="4994603"/>
            <a:ext cx="3816424" cy="18412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1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2508365"/>
            <a:ext cx="5610702" cy="33633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19"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688" y="2044766"/>
            <a:ext cx="6096574" cy="45776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2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8127" y="2021558"/>
            <a:ext cx="6907695" cy="4619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21"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95780" y="1585879"/>
            <a:ext cx="5888801" cy="4976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22"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2331" y="1700806"/>
            <a:ext cx="7291664" cy="48611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23"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2330" y="1700806"/>
            <a:ext cx="7409819" cy="49398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24" name="Picture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2330" y="1719762"/>
            <a:ext cx="7453491" cy="49689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25" name="Picture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61240" y="1673069"/>
            <a:ext cx="6711998" cy="5022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26" name="Picture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61240" y="1672310"/>
            <a:ext cx="6680993" cy="50164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927" name="Picture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7746" y="1568198"/>
            <a:ext cx="7922586" cy="52721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8918"/>
                                        </p:tgtEl>
                                        <p:attrNameLst>
                                          <p:attrName>style.visibility</p:attrName>
                                        </p:attrNameLst>
                                      </p:cBhvr>
                                      <p:to>
                                        <p:strVal val="visible"/>
                                      </p:to>
                                    </p:set>
                                    <p:animEffect transition="in" filter="barn(inVertical)">
                                      <p:cBhvr>
                                        <p:cTn id="7" dur="500"/>
                                        <p:tgtEl>
                                          <p:spTgt spid="3891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8919"/>
                                        </p:tgtEl>
                                        <p:attrNameLst>
                                          <p:attrName>style.visibility</p:attrName>
                                        </p:attrNameLst>
                                      </p:cBhvr>
                                      <p:to>
                                        <p:strVal val="visible"/>
                                      </p:to>
                                    </p:set>
                                    <p:animEffect transition="in" filter="barn(inVertical)">
                                      <p:cBhvr>
                                        <p:cTn id="12" dur="500"/>
                                        <p:tgtEl>
                                          <p:spTgt spid="3891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8920"/>
                                        </p:tgtEl>
                                        <p:attrNameLst>
                                          <p:attrName>style.visibility</p:attrName>
                                        </p:attrNameLst>
                                      </p:cBhvr>
                                      <p:to>
                                        <p:strVal val="visible"/>
                                      </p:to>
                                    </p:set>
                                    <p:animEffect transition="in" filter="barn(inVertical)">
                                      <p:cBhvr>
                                        <p:cTn id="17" dur="500"/>
                                        <p:tgtEl>
                                          <p:spTgt spid="3892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8921"/>
                                        </p:tgtEl>
                                        <p:attrNameLst>
                                          <p:attrName>style.visibility</p:attrName>
                                        </p:attrNameLst>
                                      </p:cBhvr>
                                      <p:to>
                                        <p:strVal val="visible"/>
                                      </p:to>
                                    </p:set>
                                    <p:animEffect transition="in" filter="barn(inVertical)">
                                      <p:cBhvr>
                                        <p:cTn id="22" dur="500"/>
                                        <p:tgtEl>
                                          <p:spTgt spid="3892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8922"/>
                                        </p:tgtEl>
                                        <p:attrNameLst>
                                          <p:attrName>style.visibility</p:attrName>
                                        </p:attrNameLst>
                                      </p:cBhvr>
                                      <p:to>
                                        <p:strVal val="visible"/>
                                      </p:to>
                                    </p:set>
                                    <p:animEffect transition="in" filter="barn(inVertical)">
                                      <p:cBhvr>
                                        <p:cTn id="27" dur="500"/>
                                        <p:tgtEl>
                                          <p:spTgt spid="3892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8923"/>
                                        </p:tgtEl>
                                        <p:attrNameLst>
                                          <p:attrName>style.visibility</p:attrName>
                                        </p:attrNameLst>
                                      </p:cBhvr>
                                      <p:to>
                                        <p:strVal val="visible"/>
                                      </p:to>
                                    </p:set>
                                    <p:animEffect transition="in" filter="barn(inVertical)">
                                      <p:cBhvr>
                                        <p:cTn id="32" dur="500"/>
                                        <p:tgtEl>
                                          <p:spTgt spid="3892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8924"/>
                                        </p:tgtEl>
                                        <p:attrNameLst>
                                          <p:attrName>style.visibility</p:attrName>
                                        </p:attrNameLst>
                                      </p:cBhvr>
                                      <p:to>
                                        <p:strVal val="visible"/>
                                      </p:to>
                                    </p:set>
                                    <p:animEffect transition="in" filter="barn(inVertical)">
                                      <p:cBhvr>
                                        <p:cTn id="37" dur="500"/>
                                        <p:tgtEl>
                                          <p:spTgt spid="3892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8925"/>
                                        </p:tgtEl>
                                        <p:attrNameLst>
                                          <p:attrName>style.visibility</p:attrName>
                                        </p:attrNameLst>
                                      </p:cBhvr>
                                      <p:to>
                                        <p:strVal val="visible"/>
                                      </p:to>
                                    </p:set>
                                    <p:animEffect transition="in" filter="barn(inVertical)">
                                      <p:cBhvr>
                                        <p:cTn id="42" dur="500"/>
                                        <p:tgtEl>
                                          <p:spTgt spid="38925"/>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38926"/>
                                        </p:tgtEl>
                                        <p:attrNameLst>
                                          <p:attrName>style.visibility</p:attrName>
                                        </p:attrNameLst>
                                      </p:cBhvr>
                                      <p:to>
                                        <p:strVal val="visible"/>
                                      </p:to>
                                    </p:set>
                                    <p:animEffect transition="in" filter="barn(inVertical)">
                                      <p:cBhvr>
                                        <p:cTn id="47" dur="500"/>
                                        <p:tgtEl>
                                          <p:spTgt spid="38926"/>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38927"/>
                                        </p:tgtEl>
                                        <p:attrNameLst>
                                          <p:attrName>style.visibility</p:attrName>
                                        </p:attrNameLst>
                                      </p:cBhvr>
                                      <p:to>
                                        <p:strVal val="visible"/>
                                      </p:to>
                                    </p:set>
                                    <p:animEffect transition="in" filter="barn(inVertical)">
                                      <p:cBhvr>
                                        <p:cTn id="52" dur="500"/>
                                        <p:tgtEl>
                                          <p:spTgt spid="38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92278D7-47D8-4064-9F54-8CF135AFFEC3}"/>
              </a:ext>
            </a:extLst>
          </p:cNvPr>
          <p:cNvSpPr txBox="1"/>
          <p:nvPr/>
        </p:nvSpPr>
        <p:spPr>
          <a:xfrm>
            <a:off x="395536" y="332656"/>
            <a:ext cx="8208912" cy="2431435"/>
          </a:xfrm>
          <a:prstGeom prst="rect">
            <a:avLst/>
          </a:prstGeom>
          <a:noFill/>
        </p:spPr>
        <p:txBody>
          <a:bodyPr wrap="square">
            <a:spAutoFit/>
          </a:bodyPr>
          <a:lstStyle/>
          <a:p>
            <a:r>
              <a:rPr lang="zh-CN" altLang="en-US" sz="2000" dirty="0"/>
              <a:t>加州大学伯克利分校（</a:t>
            </a:r>
            <a:r>
              <a:rPr lang="en-US" altLang="zh-CN" sz="2000" dirty="0"/>
              <a:t>University of California, Berkeley</a:t>
            </a:r>
            <a:r>
              <a:rPr lang="zh-CN" altLang="en-US" sz="2000" dirty="0"/>
              <a:t>），简称“伯克利”，英文简称“</a:t>
            </a:r>
            <a:r>
              <a:rPr lang="en-US" altLang="zh-CN" sz="2000" dirty="0"/>
              <a:t>Berkeley”</a:t>
            </a:r>
            <a:r>
              <a:rPr lang="zh-CN" altLang="en-US" sz="2000" dirty="0"/>
              <a:t>或“</a:t>
            </a:r>
            <a:r>
              <a:rPr lang="en-US" altLang="zh-CN" sz="2000" dirty="0"/>
              <a:t>Cal”</a:t>
            </a:r>
            <a:r>
              <a:rPr lang="zh-CN" altLang="en-US" sz="2000" dirty="0"/>
              <a:t>，坐落在美国旧金山湾区的伯克利市，是世界著名研究型大学和最顶尖公立大学，在学术界享有盛誉，位列</a:t>
            </a:r>
            <a:r>
              <a:rPr lang="en-US" altLang="zh-CN" sz="2000" dirty="0"/>
              <a:t>2020</a:t>
            </a:r>
            <a:r>
              <a:rPr lang="zh-CN" altLang="en-US" sz="2000" dirty="0"/>
              <a:t>年</a:t>
            </a:r>
            <a:r>
              <a:rPr lang="en-US" altLang="zh-CN" sz="2000" dirty="0"/>
              <a:t>U.S. News</a:t>
            </a:r>
            <a:r>
              <a:rPr lang="zh-CN" altLang="en-US" sz="2000" dirty="0"/>
              <a:t>世界大学排名第</a:t>
            </a:r>
            <a:r>
              <a:rPr lang="en-US" altLang="zh-CN" sz="2000" dirty="0"/>
              <a:t>4</a:t>
            </a:r>
            <a:r>
              <a:rPr lang="zh-CN" altLang="en-US" sz="2000" dirty="0"/>
              <a:t>位、世界大学学术排名第</a:t>
            </a:r>
            <a:r>
              <a:rPr lang="en-US" altLang="zh-CN" sz="2000" dirty="0"/>
              <a:t>5</a:t>
            </a:r>
            <a:r>
              <a:rPr lang="zh-CN" altLang="en-US" sz="2000" dirty="0"/>
              <a:t>位。</a:t>
            </a:r>
            <a:endParaRPr lang="en-US" altLang="zh-CN" sz="2000" dirty="0"/>
          </a:p>
          <a:p>
            <a:endParaRPr lang="en-US" altLang="zh-CN" dirty="0"/>
          </a:p>
          <a:p>
            <a:r>
              <a:rPr lang="en-US" altLang="zh-CN" b="0" i="0" dirty="0">
                <a:solidFill>
                  <a:srgbClr val="121212"/>
                </a:solidFill>
                <a:effectLst/>
                <a:latin typeface="-apple-system"/>
              </a:rPr>
              <a:t>2020</a:t>
            </a:r>
            <a:r>
              <a:rPr lang="zh-CN" altLang="en-US" b="0" i="0" dirty="0">
                <a:solidFill>
                  <a:srgbClr val="121212"/>
                </a:solidFill>
                <a:effectLst/>
                <a:latin typeface="-apple-system"/>
              </a:rPr>
              <a:t>年诺贝尔奖，加州大学伯克利分校和斯坦福大学可以说是平分秋色，各拥有两名诺奖得主。</a:t>
            </a:r>
            <a:endParaRPr lang="zh-CN" altLang="en-US" dirty="0"/>
          </a:p>
        </p:txBody>
      </p:sp>
      <p:pic>
        <p:nvPicPr>
          <p:cNvPr id="5" name="图片 4">
            <a:extLst>
              <a:ext uri="{FF2B5EF4-FFF2-40B4-BE49-F238E27FC236}">
                <a16:creationId xmlns:a16="http://schemas.microsoft.com/office/drawing/2014/main" id="{596B45D0-7E17-4647-85C4-D6598EBC120D}"/>
              </a:ext>
            </a:extLst>
          </p:cNvPr>
          <p:cNvPicPr>
            <a:picLocks noChangeAspect="1"/>
          </p:cNvPicPr>
          <p:nvPr/>
        </p:nvPicPr>
        <p:blipFill>
          <a:blip r:embed="rId3"/>
          <a:stretch>
            <a:fillRect/>
          </a:stretch>
        </p:blipFill>
        <p:spPr>
          <a:xfrm>
            <a:off x="539552" y="2881282"/>
            <a:ext cx="3636106" cy="2425255"/>
          </a:xfrm>
          <a:prstGeom prst="rect">
            <a:avLst/>
          </a:prstGeom>
        </p:spPr>
      </p:pic>
      <p:sp>
        <p:nvSpPr>
          <p:cNvPr id="7" name="箭头: 右 6">
            <a:extLst>
              <a:ext uri="{FF2B5EF4-FFF2-40B4-BE49-F238E27FC236}">
                <a16:creationId xmlns:a16="http://schemas.microsoft.com/office/drawing/2014/main" id="{6F20C10B-EF78-4256-B3F8-7C5E26C5858E}"/>
              </a:ext>
            </a:extLst>
          </p:cNvPr>
          <p:cNvSpPr/>
          <p:nvPr/>
        </p:nvSpPr>
        <p:spPr>
          <a:xfrm rot="5400000">
            <a:off x="2333683" y="2786623"/>
            <a:ext cx="288032" cy="288032"/>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F6C1D446-5186-4170-A678-58C340059F97}"/>
              </a:ext>
            </a:extLst>
          </p:cNvPr>
          <p:cNvSpPr txBox="1"/>
          <p:nvPr/>
        </p:nvSpPr>
        <p:spPr>
          <a:xfrm>
            <a:off x="1403648" y="5274355"/>
            <a:ext cx="2358008" cy="461665"/>
          </a:xfrm>
          <a:prstGeom prst="rect">
            <a:avLst/>
          </a:prstGeom>
          <a:noFill/>
        </p:spPr>
        <p:txBody>
          <a:bodyPr wrap="square">
            <a:spAutoFit/>
          </a:bodyPr>
          <a:lstStyle/>
          <a:p>
            <a:r>
              <a:rPr lang="en-US" altLang="zh-CN" dirty="0"/>
              <a:t>Reinhard Genzel</a:t>
            </a:r>
            <a:endParaRPr lang="zh-CN" altLang="en-US" dirty="0"/>
          </a:p>
        </p:txBody>
      </p:sp>
      <p:pic>
        <p:nvPicPr>
          <p:cNvPr id="9" name="图片 8">
            <a:extLst>
              <a:ext uri="{FF2B5EF4-FFF2-40B4-BE49-F238E27FC236}">
                <a16:creationId xmlns:a16="http://schemas.microsoft.com/office/drawing/2014/main" id="{57ED2F41-2ACD-427F-BE31-7E0C7C496E7C}"/>
              </a:ext>
            </a:extLst>
          </p:cNvPr>
          <p:cNvPicPr>
            <a:picLocks noChangeAspect="1"/>
          </p:cNvPicPr>
          <p:nvPr/>
        </p:nvPicPr>
        <p:blipFill>
          <a:blip r:embed="rId4"/>
          <a:stretch>
            <a:fillRect/>
          </a:stretch>
        </p:blipFill>
        <p:spPr>
          <a:xfrm>
            <a:off x="4572000" y="2882796"/>
            <a:ext cx="3873762" cy="2153791"/>
          </a:xfrm>
          <a:prstGeom prst="rect">
            <a:avLst/>
          </a:prstGeom>
        </p:spPr>
      </p:pic>
      <p:sp>
        <p:nvSpPr>
          <p:cNvPr id="13" name="文本框 12">
            <a:extLst>
              <a:ext uri="{FF2B5EF4-FFF2-40B4-BE49-F238E27FC236}">
                <a16:creationId xmlns:a16="http://schemas.microsoft.com/office/drawing/2014/main" id="{592DAD66-17D0-4A59-BF38-061E1B0B9015}"/>
              </a:ext>
            </a:extLst>
          </p:cNvPr>
          <p:cNvSpPr txBox="1"/>
          <p:nvPr/>
        </p:nvSpPr>
        <p:spPr>
          <a:xfrm>
            <a:off x="5030972" y="5261974"/>
            <a:ext cx="3069420" cy="461665"/>
          </a:xfrm>
          <a:prstGeom prst="rect">
            <a:avLst/>
          </a:prstGeom>
          <a:noFill/>
        </p:spPr>
        <p:txBody>
          <a:bodyPr wrap="square">
            <a:spAutoFit/>
          </a:bodyPr>
          <a:lstStyle/>
          <a:p>
            <a:r>
              <a:rPr lang="en-US" altLang="zh-CN" dirty="0"/>
              <a:t>Jennifer Anne </a:t>
            </a:r>
            <a:r>
              <a:rPr lang="en-US" altLang="zh-CN" dirty="0" err="1"/>
              <a:t>Doudna</a:t>
            </a:r>
            <a:endParaRPr lang="zh-CN" altLang="en-US" dirty="0"/>
          </a:p>
        </p:txBody>
      </p:sp>
      <p:sp>
        <p:nvSpPr>
          <p:cNvPr id="14" name="箭头: 右 13">
            <a:extLst>
              <a:ext uri="{FF2B5EF4-FFF2-40B4-BE49-F238E27FC236}">
                <a16:creationId xmlns:a16="http://schemas.microsoft.com/office/drawing/2014/main" id="{A4211DC0-EBBF-4D3A-B839-9D2DA52C87C3}"/>
              </a:ext>
            </a:extLst>
          </p:cNvPr>
          <p:cNvSpPr/>
          <p:nvPr/>
        </p:nvSpPr>
        <p:spPr>
          <a:xfrm rot="5400000">
            <a:off x="6766404" y="2956180"/>
            <a:ext cx="288032" cy="288032"/>
          </a:xfrm>
          <a:prstGeom prst="rightArrow">
            <a:avLst/>
          </a:prstGeom>
          <a:solidFill>
            <a:srgbClr val="FF3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48F4AFAC-2F91-4C0D-91E2-578A80BAED7C}"/>
              </a:ext>
            </a:extLst>
          </p:cNvPr>
          <p:cNvSpPr txBox="1"/>
          <p:nvPr/>
        </p:nvSpPr>
        <p:spPr>
          <a:xfrm>
            <a:off x="1318943" y="5736020"/>
            <a:ext cx="2441694" cy="461665"/>
          </a:xfrm>
          <a:prstGeom prst="rect">
            <a:avLst/>
          </a:prstGeom>
          <a:noFill/>
        </p:spPr>
        <p:txBody>
          <a:bodyPr wrap="none" rtlCol="0">
            <a:spAutoFit/>
          </a:bodyPr>
          <a:lstStyle/>
          <a:p>
            <a:r>
              <a:rPr lang="zh-CN" altLang="en-US" dirty="0"/>
              <a:t>物理奖</a:t>
            </a:r>
            <a:r>
              <a:rPr lang="en-US" altLang="zh-CN" dirty="0"/>
              <a:t>-</a:t>
            </a:r>
            <a:r>
              <a:rPr lang="zh-CN" altLang="en-US" dirty="0"/>
              <a:t>黑洞研究</a:t>
            </a:r>
          </a:p>
        </p:txBody>
      </p:sp>
      <p:sp>
        <p:nvSpPr>
          <p:cNvPr id="16" name="文本框 15">
            <a:extLst>
              <a:ext uri="{FF2B5EF4-FFF2-40B4-BE49-F238E27FC236}">
                <a16:creationId xmlns:a16="http://schemas.microsoft.com/office/drawing/2014/main" id="{FD98FDBF-C1C5-4591-B7EC-3F616E582D8B}"/>
              </a:ext>
            </a:extLst>
          </p:cNvPr>
          <p:cNvSpPr txBox="1"/>
          <p:nvPr/>
        </p:nvSpPr>
        <p:spPr>
          <a:xfrm>
            <a:off x="4814241" y="5701019"/>
            <a:ext cx="3502882" cy="461665"/>
          </a:xfrm>
          <a:prstGeom prst="rect">
            <a:avLst/>
          </a:prstGeom>
          <a:noFill/>
        </p:spPr>
        <p:txBody>
          <a:bodyPr wrap="none" rtlCol="0">
            <a:spAutoFit/>
          </a:bodyPr>
          <a:lstStyle/>
          <a:p>
            <a:r>
              <a:rPr lang="zh-CN" altLang="en-US" dirty="0"/>
              <a:t>化学奖</a:t>
            </a:r>
            <a:r>
              <a:rPr lang="en-US" altLang="zh-CN" dirty="0"/>
              <a:t>-CRISPR</a:t>
            </a:r>
            <a:r>
              <a:rPr lang="zh-CN" altLang="en-US" dirty="0"/>
              <a:t>基因剪刀</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1955</TotalTime>
  <Words>6646</Words>
  <Application>Microsoft Office PowerPoint</Application>
  <PresentationFormat>全屏显示(4:3)</PresentationFormat>
  <Paragraphs>680</Paragraphs>
  <Slides>75</Slides>
  <Notes>42</Notes>
  <HiddenSlides>8</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75</vt:i4>
      </vt:variant>
    </vt:vector>
  </HeadingPairs>
  <TitlesOfParts>
    <vt:vector size="94" baseType="lpstr">
      <vt:lpstr>-apple-system</vt:lpstr>
      <vt:lpstr>Gulim</vt:lpstr>
      <vt:lpstr>PingFang SC</vt:lpstr>
      <vt:lpstr>黑体</vt:lpstr>
      <vt:lpstr>华文新魏</vt:lpstr>
      <vt:lpstr>楷体_GB2312</vt:lpstr>
      <vt:lpstr>宋体</vt:lpstr>
      <vt:lpstr>微软雅黑</vt:lpstr>
      <vt:lpstr>Arial</vt:lpstr>
      <vt:lpstr>Arial Black</vt:lpstr>
      <vt:lpstr>Calibri</vt:lpstr>
      <vt:lpstr>Cambria Math</vt:lpstr>
      <vt:lpstr>Showcard Gothic</vt:lpstr>
      <vt:lpstr>Symbol</vt:lpstr>
      <vt:lpstr>Tahoma</vt:lpstr>
      <vt:lpstr>Times New Roman</vt:lpstr>
      <vt:lpstr>Wingdings</vt:lpstr>
      <vt:lpstr>Essential</vt:lpstr>
      <vt:lpstr>Equation</vt:lpstr>
      <vt:lpstr>Quiz 1.1 for chapter I</vt:lpstr>
      <vt:lpstr>PowerPoint 演示文稿</vt:lpstr>
      <vt:lpstr>I、Three paths toward crystal</vt:lpstr>
      <vt:lpstr>The paths for crystal formation</vt:lpstr>
      <vt:lpstr>The paths for crystal formation</vt:lpstr>
      <vt:lpstr>The paths for crystal formation</vt:lpstr>
      <vt:lpstr>The paths for crystal formation</vt:lpstr>
      <vt:lpstr>Three stages for the crystal formation</vt:lpstr>
      <vt:lpstr>Analysis whether the ball can roll down the small hill from the thermodynamics and dynamics views</vt:lpstr>
      <vt:lpstr>General rules for crystal growth</vt:lpstr>
      <vt:lpstr>（I）、Homogeneous nucleation (spontaneous nucleation)</vt:lpstr>
      <vt:lpstr>Energy changes during nucleation</vt:lpstr>
      <vt:lpstr>Driving force for crystallization</vt:lpstr>
      <vt:lpstr>PowerPoint 演示文稿</vt:lpstr>
      <vt:lpstr>PowerPoint 演示文稿</vt:lpstr>
      <vt:lpstr>Classification of nuclei</vt:lpstr>
      <vt:lpstr>In the system, if there is a crystal embryo with a radius of r...</vt:lpstr>
      <vt:lpstr>In the system, if there is a crystal embryo with a radius of r...</vt:lpstr>
      <vt:lpstr>The relationship between r* 、∆G* and ∆T</vt:lpstr>
      <vt:lpstr>Critical nucleation energy ΔG * and nucleus surface energy ΔGS *</vt:lpstr>
      <vt:lpstr>Critical nucleation energy ΔG * and nucleus surface energy ΔGS *</vt:lpstr>
      <vt:lpstr>1. roughly evaluate ΔG * and r* in one certain crystal formation; 2. compare the above values and kT 3. what’s your conclusion? 4. try to use above study to explain why it is hard to get crystal from solid-reaction or it requires quite high temperature or pressure.</vt:lpstr>
      <vt:lpstr>The whole nucleation process requires to absorb energy from ambient （high T is better）.   However it also need the condition of supercooling （low T is desired and at the same time decrease the require ΔG * ） to create an environment favoring for the alignment/period of atoms or molecules occasionally.   （两个方面是相互冲突又统一）</vt:lpstr>
      <vt:lpstr>Embryos and nuclei formation in homogeneous nucleation?</vt:lpstr>
      <vt:lpstr>Embryos and nuclei formation in homogeneous nucleation?</vt:lpstr>
      <vt:lpstr>PowerPoint 演示文稿</vt:lpstr>
      <vt:lpstr>Three stages of spontaneous nucleation and growth of crystals</vt:lpstr>
      <vt:lpstr>（II）Heterogeneous nucleation (non spontaneous nucleation)</vt:lpstr>
      <vt:lpstr>Heterogeneous nucleation on substrate surface</vt:lpstr>
      <vt:lpstr>Heterogeneous nucleation on substrate surface</vt:lpstr>
      <vt:lpstr>PowerPoint 演示文稿</vt:lpstr>
      <vt:lpstr>PowerPoint 演示文稿</vt:lpstr>
      <vt:lpstr>Surface energy and surface tension  1. concept, application and the relationship between these two concepts 2. values of common materials 3. Any relationship between surface energy and crystal growth?</vt:lpstr>
      <vt:lpstr>The nucleation rate in homogeneous and heterogeneous nucleation progress.</vt:lpstr>
      <vt:lpstr>  </vt:lpstr>
      <vt:lpstr>PowerPoint 演示文稿</vt:lpstr>
      <vt:lpstr>PowerPoint 演示文稿</vt:lpstr>
      <vt:lpstr>PowerPoint 演示文稿</vt:lpstr>
      <vt:lpstr>PowerPoint 演示文稿</vt:lpstr>
      <vt:lpstr>PowerPoint 演示文稿</vt:lpstr>
      <vt:lpstr>Examples </vt:lpstr>
      <vt:lpstr>PowerPoint 演示文稿</vt:lpstr>
      <vt:lpstr>Direct Observation of Vapor−Liquid−Solid Nanowire Growth</vt:lpstr>
      <vt:lpstr>Metal-assisted Vapor-Liquid-Solid (VLS) Growth </vt:lpstr>
      <vt:lpstr>Self-catalytic VLS Growth </vt:lpstr>
      <vt:lpstr>PowerPoint 演示文稿</vt:lpstr>
      <vt:lpstr>Advantages and shortcoming of Bravais law</vt:lpstr>
      <vt:lpstr>Exercise</vt:lpstr>
      <vt:lpstr>PowerPoint 演示文稿</vt:lpstr>
      <vt:lpstr>PowerPoint 演示文稿</vt:lpstr>
      <vt:lpstr>PowerPoint 演示文稿</vt:lpstr>
      <vt:lpstr>PowerPoint 演示文稿</vt:lpstr>
      <vt:lpstr>IV、External factors affecting crystal growth</vt:lpstr>
      <vt:lpstr>PowerPoint 演示文稿</vt:lpstr>
      <vt:lpstr>PowerPoint 演示文稿</vt:lpstr>
      <vt:lpstr>PowerPoint 演示文稿</vt:lpstr>
      <vt:lpstr>PowerPoint 演示文稿</vt:lpstr>
      <vt:lpstr>PowerPoint 演示文稿</vt:lpstr>
      <vt:lpstr>Good messages can produce beautiful water crystals  Photo/Dr. Katsuo Jiang, IHM research institute, Japan 照片／日本IHM研究所江本勝博士 </vt:lpstr>
      <vt:lpstr>Superstition (迷信）? No, it is still some science.  Different kinds of music have various frequencies.</vt:lpstr>
      <vt:lpstr>Ultrasound is applied to the synthesis of nanometer materials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Quiz 2.1</vt:lpstr>
      <vt:lpstr>Homework</vt:lpstr>
      <vt:lpstr>UC-berkeley</vt:lpstr>
      <vt:lpstr>PowerPoint 演示文稿</vt:lpstr>
    </vt:vector>
  </TitlesOfParts>
  <Company>PKU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sqin</dc:creator>
  <cp:lastModifiedBy>5</cp:lastModifiedBy>
  <cp:revision>745</cp:revision>
  <dcterms:created xsi:type="dcterms:W3CDTF">2001-02-12T06:44:00Z</dcterms:created>
  <dcterms:modified xsi:type="dcterms:W3CDTF">2021-10-12T07:50:51Z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