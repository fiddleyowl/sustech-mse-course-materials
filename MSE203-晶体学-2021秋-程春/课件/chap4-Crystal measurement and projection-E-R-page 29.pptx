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2"/>
  </p:notesMasterIdLst>
  <p:sldIdLst>
    <p:sldId id="290" r:id="rId2"/>
    <p:sldId id="302" r:id="rId3"/>
    <p:sldId id="303" r:id="rId4"/>
    <p:sldId id="304" r:id="rId5"/>
    <p:sldId id="305" r:id="rId6"/>
    <p:sldId id="307" r:id="rId7"/>
    <p:sldId id="308" r:id="rId8"/>
    <p:sldId id="309" r:id="rId9"/>
    <p:sldId id="310" r:id="rId10"/>
    <p:sldId id="311" r:id="rId11"/>
    <p:sldId id="316" r:id="rId12"/>
    <p:sldId id="313" r:id="rId13"/>
    <p:sldId id="314" r:id="rId14"/>
    <p:sldId id="315" r:id="rId15"/>
    <p:sldId id="272" r:id="rId16"/>
    <p:sldId id="274" r:id="rId17"/>
    <p:sldId id="273" r:id="rId18"/>
    <p:sldId id="317" r:id="rId19"/>
    <p:sldId id="294" r:id="rId20"/>
    <p:sldId id="277" r:id="rId21"/>
    <p:sldId id="280" r:id="rId22"/>
    <p:sldId id="318" r:id="rId23"/>
    <p:sldId id="319" r:id="rId24"/>
    <p:sldId id="320" r:id="rId25"/>
    <p:sldId id="324" r:id="rId26"/>
    <p:sldId id="321" r:id="rId27"/>
    <p:sldId id="282" r:id="rId28"/>
    <p:sldId id="322" r:id="rId29"/>
    <p:sldId id="323" r:id="rId30"/>
    <p:sldId id="300"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7A7A"/>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ECE14B-1BA2-F044-BCD9-D9D5ADBB1D8D}" v="20" dt="2021-12-07T06:49:59.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5801" autoAdjust="0"/>
  </p:normalViewPr>
  <p:slideViewPr>
    <p:cSldViewPr>
      <p:cViewPr>
        <p:scale>
          <a:sx n="115" d="100"/>
          <a:sy n="115" d="100"/>
        </p:scale>
        <p:origin x="1368"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 Zhan" userId="fd0cb2f6-9dd6-4afa-a340-ca04f7968bbe" providerId="ADAL" clId="{78ECE14B-1BA2-F044-BCD9-D9D5ADBB1D8D}"/>
    <pc:docChg chg="modSld">
      <pc:chgData name="Philip Zhan" userId="fd0cb2f6-9dd6-4afa-a340-ca04f7968bbe" providerId="ADAL" clId="{78ECE14B-1BA2-F044-BCD9-D9D5ADBB1D8D}" dt="2021-12-07T06:49:59.266" v="19" actId="1076"/>
      <pc:docMkLst>
        <pc:docMk/>
      </pc:docMkLst>
      <pc:sldChg chg="modSp">
        <pc:chgData name="Philip Zhan" userId="fd0cb2f6-9dd6-4afa-a340-ca04f7968bbe" providerId="ADAL" clId="{78ECE14B-1BA2-F044-BCD9-D9D5ADBB1D8D}" dt="2021-12-07T06:49:18.996" v="5" actId="1076"/>
        <pc:sldMkLst>
          <pc:docMk/>
          <pc:sldMk cId="3700569382" sldId="282"/>
        </pc:sldMkLst>
        <pc:spChg chg="mod">
          <ac:chgData name="Philip Zhan" userId="fd0cb2f6-9dd6-4afa-a340-ca04f7968bbe" providerId="ADAL" clId="{78ECE14B-1BA2-F044-BCD9-D9D5ADBB1D8D}" dt="2021-12-07T06:49:18.996" v="5" actId="1076"/>
          <ac:spMkLst>
            <pc:docMk/>
            <pc:sldMk cId="3700569382" sldId="282"/>
            <ac:spMk id="13" creationId="{00000000-0000-0000-0000-000000000000}"/>
          </ac:spMkLst>
        </pc:spChg>
        <pc:spChg chg="mod">
          <ac:chgData name="Philip Zhan" userId="fd0cb2f6-9dd6-4afa-a340-ca04f7968bbe" providerId="ADAL" clId="{78ECE14B-1BA2-F044-BCD9-D9D5ADBB1D8D}" dt="2021-12-07T06:49:18.996" v="5" actId="1076"/>
          <ac:spMkLst>
            <pc:docMk/>
            <pc:sldMk cId="3700569382" sldId="282"/>
            <ac:spMk id="14" creationId="{00000000-0000-0000-0000-000000000000}"/>
          </ac:spMkLst>
        </pc:spChg>
        <pc:spChg chg="mod">
          <ac:chgData name="Philip Zhan" userId="fd0cb2f6-9dd6-4afa-a340-ca04f7968bbe" providerId="ADAL" clId="{78ECE14B-1BA2-F044-BCD9-D9D5ADBB1D8D}" dt="2021-12-07T06:49:18.996" v="5" actId="1076"/>
          <ac:spMkLst>
            <pc:docMk/>
            <pc:sldMk cId="3700569382" sldId="282"/>
            <ac:spMk id="15" creationId="{00000000-0000-0000-0000-000000000000}"/>
          </ac:spMkLst>
        </pc:spChg>
        <pc:grpChg chg="mod">
          <ac:chgData name="Philip Zhan" userId="fd0cb2f6-9dd6-4afa-a340-ca04f7968bbe" providerId="ADAL" clId="{78ECE14B-1BA2-F044-BCD9-D9D5ADBB1D8D}" dt="2021-12-07T06:49:18.996" v="5" actId="1076"/>
          <ac:grpSpMkLst>
            <pc:docMk/>
            <pc:sldMk cId="3700569382" sldId="282"/>
            <ac:grpSpMk id="12" creationId="{00000000-0000-0000-0000-000000000000}"/>
          </ac:grpSpMkLst>
        </pc:grpChg>
        <pc:picChg chg="mod">
          <ac:chgData name="Philip Zhan" userId="fd0cb2f6-9dd6-4afa-a340-ca04f7968bbe" providerId="ADAL" clId="{78ECE14B-1BA2-F044-BCD9-D9D5ADBB1D8D}" dt="2021-12-07T06:49:18.302" v="4" actId="1076"/>
          <ac:picMkLst>
            <pc:docMk/>
            <pc:sldMk cId="3700569382" sldId="282"/>
            <ac:picMk id="10" creationId="{00000000-0000-0000-0000-000000000000}"/>
          </ac:picMkLst>
        </pc:picChg>
      </pc:sldChg>
      <pc:sldChg chg="modSp">
        <pc:chgData name="Philip Zhan" userId="fd0cb2f6-9dd6-4afa-a340-ca04f7968bbe" providerId="ADAL" clId="{78ECE14B-1BA2-F044-BCD9-D9D5ADBB1D8D}" dt="2021-12-07T06:49:59.266" v="19" actId="1076"/>
        <pc:sldMkLst>
          <pc:docMk/>
          <pc:sldMk cId="1299052979" sldId="322"/>
        </pc:sldMkLst>
        <pc:picChg chg="mod">
          <ac:chgData name="Philip Zhan" userId="fd0cb2f6-9dd6-4afa-a340-ca04f7968bbe" providerId="ADAL" clId="{78ECE14B-1BA2-F044-BCD9-D9D5ADBB1D8D}" dt="2021-12-07T06:49:48.425" v="16" actId="1076"/>
          <ac:picMkLst>
            <pc:docMk/>
            <pc:sldMk cId="1299052979" sldId="322"/>
            <ac:picMk id="21" creationId="{00000000-0000-0000-0000-000000000000}"/>
          </ac:picMkLst>
        </pc:picChg>
        <pc:picChg chg="mod">
          <ac:chgData name="Philip Zhan" userId="fd0cb2f6-9dd6-4afa-a340-ca04f7968bbe" providerId="ADAL" clId="{78ECE14B-1BA2-F044-BCD9-D9D5ADBB1D8D}" dt="2021-12-07T06:49:59.266" v="19" actId="1076"/>
          <ac:picMkLst>
            <pc:docMk/>
            <pc:sldMk cId="1299052979" sldId="322"/>
            <ac:picMk id="30" creationId="{00000000-0000-0000-0000-000000000000}"/>
          </ac:picMkLst>
        </pc:picChg>
      </pc:sldChg>
      <pc:sldChg chg="modSp">
        <pc:chgData name="Philip Zhan" userId="fd0cb2f6-9dd6-4afa-a340-ca04f7968bbe" providerId="ADAL" clId="{78ECE14B-1BA2-F044-BCD9-D9D5ADBB1D8D}" dt="2021-12-07T05:31:54.861" v="1" actId="1036"/>
        <pc:sldMkLst>
          <pc:docMk/>
          <pc:sldMk cId="731101738" sldId="323"/>
        </pc:sldMkLst>
        <pc:picChg chg="mod">
          <ac:chgData name="Philip Zhan" userId="fd0cb2f6-9dd6-4afa-a340-ca04f7968bbe" providerId="ADAL" clId="{78ECE14B-1BA2-F044-BCD9-D9D5ADBB1D8D}" dt="2021-12-07T05:31:54.861" v="1" actId="1036"/>
          <ac:picMkLst>
            <pc:docMk/>
            <pc:sldMk cId="731101738" sldId="323"/>
            <ac:picMk id="4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859309-0F22-4640-A24E-F5F60047D701}" type="datetimeFigureOut">
              <a:rPr lang="en-US" smtClean="0"/>
              <a:t>12/7/21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BA4D8-6BF3-40BE-9FC2-7BDDD005A2CF}" type="slidenum">
              <a:rPr lang="en-US" smtClean="0"/>
              <a:t>‹#›</a:t>
            </a:fld>
            <a:endParaRPr lang="en-US"/>
          </a:p>
        </p:txBody>
      </p:sp>
    </p:spTree>
    <p:extLst>
      <p:ext uri="{BB962C8B-B14F-4D97-AF65-F5344CB8AC3E}">
        <p14:creationId xmlns:p14="http://schemas.microsoft.com/office/powerpoint/2010/main" val="161036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Crystallographers have developed a method of graphic representation, which enables the spatial orientation of crystal planes and directions to be drawn on a piece of paper. The method uses stereographic projection and it is possible to measure stereo angles directly from the drawing. </a:t>
            </a:r>
          </a:p>
        </p:txBody>
      </p:sp>
      <p:sp>
        <p:nvSpPr>
          <p:cNvPr id="4" name="Slide Number Placeholder 3"/>
          <p:cNvSpPr>
            <a:spLocks noGrp="1"/>
          </p:cNvSpPr>
          <p:nvPr>
            <p:ph type="sldNum" sz="quarter" idx="10"/>
          </p:nvPr>
        </p:nvSpPr>
        <p:spPr/>
        <p:txBody>
          <a:bodyPr/>
          <a:lstStyle/>
          <a:p>
            <a:fld id="{545BA4D8-6BF3-40BE-9FC2-7BDDD005A2CF}" type="slidenum">
              <a:rPr lang="en-US" smtClean="0"/>
              <a:t>6</a:t>
            </a:fld>
            <a:endParaRPr lang="en-US"/>
          </a:p>
        </p:txBody>
      </p:sp>
    </p:spTree>
    <p:extLst>
      <p:ext uri="{BB962C8B-B14F-4D97-AF65-F5344CB8AC3E}">
        <p14:creationId xmlns:p14="http://schemas.microsoft.com/office/powerpoint/2010/main" val="3650383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equatorial </a:t>
            </a:r>
          </a:p>
          <a:p>
            <a:r>
              <a:rPr lang="zh-CN" altLang="en-US" dirty="0"/>
              <a:t>英 </a:t>
            </a:r>
            <a:r>
              <a:rPr lang="en-US" altLang="zh-CN" dirty="0"/>
              <a:t>/ˌ</a:t>
            </a:r>
            <a:r>
              <a:rPr lang="en-US" dirty="0" err="1"/>
              <a:t>ekwəˈtɔːriəl</a:t>
            </a:r>
            <a:r>
              <a:rPr lang="en-US" dirty="0"/>
              <a:t>/  </a:t>
            </a:r>
            <a:r>
              <a:rPr lang="zh-CN" altLang="en-US" dirty="0"/>
              <a:t>美 </a:t>
            </a:r>
            <a:r>
              <a:rPr lang="en-US" altLang="zh-CN" dirty="0"/>
              <a:t>/ˌ</a:t>
            </a:r>
            <a:r>
              <a:rPr lang="en-US" dirty="0" err="1"/>
              <a:t>ekwəˈtɔːriəl</a:t>
            </a:r>
            <a:r>
              <a:rPr lang="en-US" dirty="0"/>
              <a:t>,ˌ</a:t>
            </a:r>
            <a:r>
              <a:rPr lang="en-US" dirty="0" err="1"/>
              <a:t>iːkwəˈtɔːriəl</a:t>
            </a:r>
            <a:r>
              <a:rPr lang="en-US" dirty="0"/>
              <a:t>/ </a:t>
            </a:r>
          </a:p>
        </p:txBody>
      </p:sp>
      <p:sp>
        <p:nvSpPr>
          <p:cNvPr id="4" name="Slide Number Placeholder 3"/>
          <p:cNvSpPr>
            <a:spLocks noGrp="1"/>
          </p:cNvSpPr>
          <p:nvPr>
            <p:ph type="sldNum" sz="quarter" idx="10"/>
          </p:nvPr>
        </p:nvSpPr>
        <p:spPr/>
        <p:txBody>
          <a:bodyPr/>
          <a:lstStyle/>
          <a:p>
            <a:fld id="{545BA4D8-6BF3-40BE-9FC2-7BDDD005A2CF}" type="slidenum">
              <a:rPr lang="en-US" smtClean="0"/>
              <a:t>10</a:t>
            </a:fld>
            <a:endParaRPr lang="en-US"/>
          </a:p>
        </p:txBody>
      </p:sp>
    </p:spTree>
    <p:extLst>
      <p:ext uri="{BB962C8B-B14F-4D97-AF65-F5344CB8AC3E}">
        <p14:creationId xmlns:p14="http://schemas.microsoft.com/office/powerpoint/2010/main" val="2217578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17</a:t>
            </a:fld>
            <a:endParaRPr lang="en-US"/>
          </a:p>
        </p:txBody>
      </p:sp>
    </p:spTree>
    <p:extLst>
      <p:ext uri="{BB962C8B-B14F-4D97-AF65-F5344CB8AC3E}">
        <p14:creationId xmlns:p14="http://schemas.microsoft.com/office/powerpoint/2010/main" val="2719439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68288" lvl="1" indent="-268288">
              <a:buFont typeface="Wingdings" pitchFamily="2" charset="2"/>
              <a:buChar char="n"/>
            </a:pPr>
            <a:r>
              <a:rPr lang="en-US" altLang="zh-CN" sz="2000" dirty="0">
                <a:effectLst/>
                <a:latin typeface="+mn-lt"/>
                <a:ea typeface="+mn-ea"/>
              </a:rPr>
              <a:t>For instance (the green points in the right figure )</a:t>
            </a:r>
          </a:p>
          <a:p>
            <a:pPr marL="268288" lvl="1" indent="-268288">
              <a:buFont typeface="Wingdings" pitchFamily="2" charset="2"/>
              <a:buChar char="n"/>
            </a:pPr>
            <a:r>
              <a:rPr lang="en-US" altLang="zh-CN" sz="2000" dirty="0">
                <a:effectLst/>
                <a:latin typeface="+mn-lt"/>
                <a:ea typeface="+mn-ea"/>
              </a:rPr>
              <a:t>It is not directly used like system of rectangular coordinates.</a:t>
            </a:r>
            <a:endParaRPr kumimoji="0" lang="zh-CN" altLang="en-US" sz="2000" dirty="0">
              <a:effectLst/>
              <a:latin typeface="+mn-lt"/>
              <a:ea typeface="+mn-ea"/>
            </a:endParaRPr>
          </a:p>
          <a:p>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19</a:t>
            </a:fld>
            <a:endParaRPr lang="en-US"/>
          </a:p>
        </p:txBody>
      </p:sp>
    </p:spTree>
    <p:extLst>
      <p:ext uri="{BB962C8B-B14F-4D97-AF65-F5344CB8AC3E}">
        <p14:creationId xmlns:p14="http://schemas.microsoft.com/office/powerpoint/2010/main" val="843072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球面上的大圆可以把其两个交点放到赤平面上，这样其投影就是赤平面上的大圆弧，大圆弧之间的交角直接从赤平面上可以读取。</a:t>
            </a:r>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20</a:t>
            </a:fld>
            <a:endParaRPr lang="en-US"/>
          </a:p>
        </p:txBody>
      </p:sp>
    </p:spTree>
    <p:extLst>
      <p:ext uri="{BB962C8B-B14F-4D97-AF65-F5344CB8AC3E}">
        <p14:creationId xmlns:p14="http://schemas.microsoft.com/office/powerpoint/2010/main" val="788550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绕中心点旋转，极距角不变。。。</a:t>
            </a:r>
          </a:p>
        </p:txBody>
      </p:sp>
      <p:sp>
        <p:nvSpPr>
          <p:cNvPr id="4" name="灯片编号占位符 3"/>
          <p:cNvSpPr>
            <a:spLocks noGrp="1"/>
          </p:cNvSpPr>
          <p:nvPr>
            <p:ph type="sldNum" sz="quarter" idx="5"/>
          </p:nvPr>
        </p:nvSpPr>
        <p:spPr/>
        <p:txBody>
          <a:bodyPr/>
          <a:lstStyle/>
          <a:p>
            <a:fld id="{545BA4D8-6BF3-40BE-9FC2-7BDDD005A2CF}" type="slidenum">
              <a:rPr lang="en-US" smtClean="0"/>
              <a:t>22</a:t>
            </a:fld>
            <a:endParaRPr lang="en-US"/>
          </a:p>
        </p:txBody>
      </p:sp>
    </p:spTree>
    <p:extLst>
      <p:ext uri="{BB962C8B-B14F-4D97-AF65-F5344CB8AC3E}">
        <p14:creationId xmlns:p14="http://schemas.microsoft.com/office/powerpoint/2010/main" val="1233124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27</a:t>
            </a:fld>
            <a:endParaRPr lang="en-US"/>
          </a:p>
        </p:txBody>
      </p:sp>
    </p:spTree>
    <p:extLst>
      <p:ext uri="{BB962C8B-B14F-4D97-AF65-F5344CB8AC3E}">
        <p14:creationId xmlns:p14="http://schemas.microsoft.com/office/powerpoint/2010/main" val="1010190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28</a:t>
            </a:fld>
            <a:endParaRPr lang="en-US"/>
          </a:p>
        </p:txBody>
      </p:sp>
    </p:spTree>
    <p:extLst>
      <p:ext uri="{BB962C8B-B14F-4D97-AF65-F5344CB8AC3E}">
        <p14:creationId xmlns:p14="http://schemas.microsoft.com/office/powerpoint/2010/main" val="1010190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5BA4D8-6BF3-40BE-9FC2-7BDDD005A2CF}" type="slidenum">
              <a:rPr lang="en-US" smtClean="0"/>
              <a:t>29</a:t>
            </a:fld>
            <a:endParaRPr lang="en-US"/>
          </a:p>
        </p:txBody>
      </p:sp>
    </p:spTree>
    <p:extLst>
      <p:ext uri="{BB962C8B-B14F-4D97-AF65-F5344CB8AC3E}">
        <p14:creationId xmlns:p14="http://schemas.microsoft.com/office/powerpoint/2010/main" val="1010190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326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9312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6046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02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93163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4713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59678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274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916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7604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84794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BB0EF46A-D6A8-47B4-AA0C-7C89A732B7A2}" type="slidenum">
              <a:rPr lang="en-US" altLang="zh-CN"/>
              <a:pPr/>
              <a:t>‹#›</a:t>
            </a:fld>
            <a:endParaRPr lang="en-US" altLang="zh-CN"/>
          </a:p>
        </p:txBody>
      </p:sp>
    </p:spTree>
    <p:extLst>
      <p:ext uri="{BB962C8B-B14F-4D97-AF65-F5344CB8AC3E}">
        <p14:creationId xmlns:p14="http://schemas.microsoft.com/office/powerpoint/2010/main" val="2741446175"/>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4936034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jpe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microsoft.com/office/2007/relationships/hdphoto" Target="../media/hdphoto3.wdp"/></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altLang="zh-CN" sz="2800" b="1" dirty="0"/>
              <a:t>Question: </a:t>
            </a:r>
            <a:r>
              <a:rPr lang="en-US" altLang="zh-CN" sz="2800" dirty="0"/>
              <a:t>Is the crystal direction with the same miller index as one crystal plane also the normal direction of the crystal plane?</a:t>
            </a:r>
            <a:endParaRPr lang="en-US" sz="2800" dirty="0"/>
          </a:p>
        </p:txBody>
      </p:sp>
      <p:sp>
        <p:nvSpPr>
          <p:cNvPr id="44" name="TextBox 43"/>
          <p:cNvSpPr txBox="1"/>
          <p:nvPr/>
        </p:nvSpPr>
        <p:spPr>
          <a:xfrm>
            <a:off x="2204485" y="2362200"/>
            <a:ext cx="7141892" cy="830997"/>
          </a:xfrm>
          <a:prstGeom prst="rect">
            <a:avLst/>
          </a:prstGeom>
          <a:noFill/>
        </p:spPr>
        <p:txBody>
          <a:bodyPr wrap="none" rtlCol="0">
            <a:spAutoFit/>
          </a:bodyPr>
          <a:lstStyle/>
          <a:p>
            <a:r>
              <a:rPr lang="en-US" altLang="zh-CN" sz="2400" dirty="0"/>
              <a:t>Crystal Cell a, b, c (011) normal direction// [011]</a:t>
            </a:r>
          </a:p>
          <a:p>
            <a:r>
              <a:rPr lang="en-US" altLang="zh-CN" sz="2400" dirty="0"/>
              <a:t>Crystal Cell a, b, c’ (011) normal direction </a:t>
            </a:r>
            <a:r>
              <a:rPr lang="zh-CN" altLang="en-US" sz="2400" dirty="0"/>
              <a:t>？</a:t>
            </a:r>
            <a:r>
              <a:rPr lang="en-US" altLang="zh-CN" sz="2400" dirty="0"/>
              <a:t>// [011]</a:t>
            </a:r>
            <a:r>
              <a:rPr lang="zh-CN" altLang="en-US" sz="2400" dirty="0"/>
              <a:t>  </a:t>
            </a:r>
            <a:endParaRPr lang="en-US" altLang="zh-CN" sz="2400" dirty="0"/>
          </a:p>
        </p:txBody>
      </p:sp>
      <p:sp>
        <p:nvSpPr>
          <p:cNvPr id="4" name="Rectangle 3"/>
          <p:cNvSpPr/>
          <p:nvPr/>
        </p:nvSpPr>
        <p:spPr>
          <a:xfrm>
            <a:off x="1135235" y="5202046"/>
            <a:ext cx="6741461" cy="523220"/>
          </a:xfrm>
          <a:prstGeom prst="rect">
            <a:avLst/>
          </a:prstGeom>
        </p:spPr>
        <p:txBody>
          <a:bodyPr wrap="none">
            <a:spAutoFit/>
          </a:bodyPr>
          <a:lstStyle/>
          <a:p>
            <a:r>
              <a:rPr lang="en-US" sz="2800" dirty="0"/>
              <a:t>This relationship only exists in cubic system</a:t>
            </a:r>
          </a:p>
        </p:txBody>
      </p:sp>
      <p:sp>
        <p:nvSpPr>
          <p:cNvPr id="34" name="Cube 33"/>
          <p:cNvSpPr/>
          <p:nvPr/>
        </p:nvSpPr>
        <p:spPr>
          <a:xfrm>
            <a:off x="528086" y="2185915"/>
            <a:ext cx="1524000" cy="2667000"/>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Cube 34"/>
          <p:cNvSpPr/>
          <p:nvPr/>
        </p:nvSpPr>
        <p:spPr>
          <a:xfrm>
            <a:off x="528086" y="2196305"/>
            <a:ext cx="1524000" cy="1524000"/>
          </a:xfrm>
          <a:prstGeom prst="cub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p:nvPr/>
        </p:nvCxnSpPr>
        <p:spPr>
          <a:xfrm>
            <a:off x="902159" y="2185915"/>
            <a:ext cx="6927" cy="228253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902159" y="4451133"/>
            <a:ext cx="1149927"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28086" y="4468450"/>
            <a:ext cx="381000" cy="38446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02158" y="3306402"/>
            <a:ext cx="1149927"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528085" y="3323719"/>
            <a:ext cx="381000" cy="384465"/>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sp>
        <p:nvSpPr>
          <p:cNvPr id="45" name="Freeform 44"/>
          <p:cNvSpPr/>
          <p:nvPr/>
        </p:nvSpPr>
        <p:spPr>
          <a:xfrm>
            <a:off x="528086" y="3306402"/>
            <a:ext cx="1531088" cy="1541721"/>
          </a:xfrm>
          <a:custGeom>
            <a:avLst/>
            <a:gdLst>
              <a:gd name="connsiteX0" fmla="*/ 361507 w 1531088"/>
              <a:gd name="connsiteY0" fmla="*/ 0 h 1541721"/>
              <a:gd name="connsiteX1" fmla="*/ 1531088 w 1531088"/>
              <a:gd name="connsiteY1" fmla="*/ 1148316 h 1541721"/>
              <a:gd name="connsiteX2" fmla="*/ 1148316 w 1531088"/>
              <a:gd name="connsiteY2" fmla="*/ 1541721 h 1541721"/>
              <a:gd name="connsiteX3" fmla="*/ 0 w 1531088"/>
              <a:gd name="connsiteY3" fmla="*/ 404037 h 1541721"/>
              <a:gd name="connsiteX4" fmla="*/ 361507 w 1531088"/>
              <a:gd name="connsiteY4" fmla="*/ 0 h 1541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088" h="1541721">
                <a:moveTo>
                  <a:pt x="361507" y="0"/>
                </a:moveTo>
                <a:lnTo>
                  <a:pt x="1531088" y="1148316"/>
                </a:lnTo>
                <a:lnTo>
                  <a:pt x="1148316" y="1541721"/>
                </a:lnTo>
                <a:lnTo>
                  <a:pt x="0" y="404037"/>
                </a:lnTo>
                <a:lnTo>
                  <a:pt x="361507" y="0"/>
                </a:lnTo>
                <a:close/>
              </a:path>
            </a:pathLst>
          </a:custGeom>
          <a:solidFill>
            <a:srgbClr val="00B0F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540490" y="2194775"/>
            <a:ext cx="1520455" cy="2658140"/>
          </a:xfrm>
          <a:custGeom>
            <a:avLst/>
            <a:gdLst>
              <a:gd name="connsiteX0" fmla="*/ 350874 w 1520455"/>
              <a:gd name="connsiteY0" fmla="*/ 0 h 2658140"/>
              <a:gd name="connsiteX1" fmla="*/ 1520455 w 1520455"/>
              <a:gd name="connsiteY1" fmla="*/ 2275368 h 2658140"/>
              <a:gd name="connsiteX2" fmla="*/ 1137683 w 1520455"/>
              <a:gd name="connsiteY2" fmla="*/ 2658140 h 2658140"/>
              <a:gd name="connsiteX3" fmla="*/ 0 w 1520455"/>
              <a:gd name="connsiteY3" fmla="*/ 372140 h 2658140"/>
              <a:gd name="connsiteX4" fmla="*/ 350874 w 1520455"/>
              <a:gd name="connsiteY4" fmla="*/ 0 h 2658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455" h="2658140">
                <a:moveTo>
                  <a:pt x="350874" y="0"/>
                </a:moveTo>
                <a:lnTo>
                  <a:pt x="1520455" y="2275368"/>
                </a:lnTo>
                <a:lnTo>
                  <a:pt x="1137683" y="2658140"/>
                </a:lnTo>
                <a:lnTo>
                  <a:pt x="0" y="372140"/>
                </a:lnTo>
                <a:lnTo>
                  <a:pt x="350874" y="0"/>
                </a:lnTo>
                <a:close/>
              </a:path>
            </a:pathLst>
          </a:cu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p:cNvCxnSpPr/>
          <p:nvPr/>
        </p:nvCxnSpPr>
        <p:spPr>
          <a:xfrm flipV="1">
            <a:off x="528086" y="3720305"/>
            <a:ext cx="1142999" cy="1132610"/>
          </a:xfrm>
          <a:prstGeom prst="line">
            <a:avLst/>
          </a:prstGeom>
          <a:ln w="28575">
            <a:solidFill>
              <a:srgbClr val="00B0F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40490" y="4395715"/>
            <a:ext cx="936631" cy="451561"/>
          </a:xfrm>
          <a:prstGeom prst="line">
            <a:avLst/>
          </a:prstGeom>
          <a:ln w="28575">
            <a:solidFill>
              <a:srgbClr val="FF000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563527" y="2566915"/>
            <a:ext cx="1107558" cy="2280361"/>
          </a:xfrm>
          <a:prstGeom prst="line">
            <a:avLst/>
          </a:prstGeom>
          <a:ln w="28575">
            <a:solidFill>
              <a:schemeClr val="tx1"/>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41769" y="4802928"/>
            <a:ext cx="312906" cy="369332"/>
          </a:xfrm>
          <a:prstGeom prst="rect">
            <a:avLst/>
          </a:prstGeom>
          <a:noFill/>
        </p:spPr>
        <p:txBody>
          <a:bodyPr wrap="none" rtlCol="0">
            <a:spAutoFit/>
          </a:bodyPr>
          <a:lstStyle/>
          <a:p>
            <a:r>
              <a:rPr lang="en-US" altLang="zh-CN" dirty="0"/>
              <a:t>a</a:t>
            </a:r>
            <a:endParaRPr lang="en-US" dirty="0"/>
          </a:p>
        </p:txBody>
      </p:sp>
      <p:sp>
        <p:nvSpPr>
          <p:cNvPr id="51" name="TextBox 50"/>
          <p:cNvSpPr txBox="1"/>
          <p:nvPr/>
        </p:nvSpPr>
        <p:spPr>
          <a:xfrm>
            <a:off x="2204485" y="4266467"/>
            <a:ext cx="312906" cy="369332"/>
          </a:xfrm>
          <a:prstGeom prst="rect">
            <a:avLst/>
          </a:prstGeom>
          <a:noFill/>
        </p:spPr>
        <p:txBody>
          <a:bodyPr wrap="none" rtlCol="0">
            <a:spAutoFit/>
          </a:bodyPr>
          <a:lstStyle/>
          <a:p>
            <a:r>
              <a:rPr lang="en-US" altLang="zh-CN" dirty="0"/>
              <a:t>b</a:t>
            </a:r>
            <a:endParaRPr lang="en-US" dirty="0"/>
          </a:p>
        </p:txBody>
      </p:sp>
      <p:sp>
        <p:nvSpPr>
          <p:cNvPr id="52" name="TextBox 51"/>
          <p:cNvSpPr txBox="1"/>
          <p:nvPr/>
        </p:nvSpPr>
        <p:spPr>
          <a:xfrm>
            <a:off x="596679" y="3121736"/>
            <a:ext cx="300082" cy="369332"/>
          </a:xfrm>
          <a:prstGeom prst="rect">
            <a:avLst/>
          </a:prstGeom>
          <a:noFill/>
        </p:spPr>
        <p:txBody>
          <a:bodyPr wrap="none" rtlCol="0">
            <a:spAutoFit/>
          </a:bodyPr>
          <a:lstStyle/>
          <a:p>
            <a:r>
              <a:rPr lang="en-US" altLang="zh-CN" dirty="0"/>
              <a:t>c</a:t>
            </a:r>
            <a:endParaRPr lang="en-US" dirty="0"/>
          </a:p>
        </p:txBody>
      </p:sp>
      <p:sp>
        <p:nvSpPr>
          <p:cNvPr id="53" name="TextBox 52"/>
          <p:cNvSpPr txBox="1"/>
          <p:nvPr/>
        </p:nvSpPr>
        <p:spPr>
          <a:xfrm>
            <a:off x="596679" y="1935313"/>
            <a:ext cx="351378" cy="369332"/>
          </a:xfrm>
          <a:prstGeom prst="rect">
            <a:avLst/>
          </a:prstGeom>
          <a:noFill/>
        </p:spPr>
        <p:txBody>
          <a:bodyPr wrap="none" rtlCol="0">
            <a:spAutoFit/>
          </a:bodyPr>
          <a:lstStyle/>
          <a:p>
            <a:r>
              <a:rPr lang="en-US" altLang="zh-CN" dirty="0"/>
              <a:t>c’</a:t>
            </a:r>
            <a:endParaRPr lang="en-US" dirty="0"/>
          </a:p>
        </p:txBody>
      </p:sp>
      <p:cxnSp>
        <p:nvCxnSpPr>
          <p:cNvPr id="54" name="Straight Connector 53"/>
          <p:cNvCxnSpPr/>
          <p:nvPr/>
        </p:nvCxnSpPr>
        <p:spPr>
          <a:xfrm>
            <a:off x="909086" y="4451133"/>
            <a:ext cx="1151859" cy="0"/>
          </a:xfrm>
          <a:prstGeom prst="line">
            <a:avLst/>
          </a:prstGeom>
          <a:ln w="28575">
            <a:solidFill>
              <a:srgbClr val="FF000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517202" y="4451133"/>
            <a:ext cx="391884" cy="401782"/>
          </a:xfrm>
          <a:prstGeom prst="line">
            <a:avLst/>
          </a:prstGeom>
          <a:ln w="28575">
            <a:solidFill>
              <a:srgbClr val="FF000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902158" y="3306402"/>
            <a:ext cx="0" cy="1144731"/>
          </a:xfrm>
          <a:prstGeom prst="line">
            <a:avLst/>
          </a:prstGeom>
          <a:ln w="28575">
            <a:solidFill>
              <a:srgbClr val="FF000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endCxn id="46" idx="0"/>
          </p:cNvCxnSpPr>
          <p:nvPr/>
        </p:nvCxnSpPr>
        <p:spPr>
          <a:xfrm flipH="1" flipV="1">
            <a:off x="891364" y="2194775"/>
            <a:ext cx="10794" cy="2277140"/>
          </a:xfrm>
          <a:prstGeom prst="line">
            <a:avLst/>
          </a:prstGeom>
          <a:ln w="28575">
            <a:solidFill>
              <a:srgbClr val="FF0000"/>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033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Chapter 4. Crystal measurement and projection</a:t>
            </a:r>
          </a:p>
        </p:txBody>
      </p:sp>
      <p:sp>
        <p:nvSpPr>
          <p:cNvPr id="3" name="Content Placeholder 2"/>
          <p:cNvSpPr>
            <a:spLocks noGrp="1"/>
          </p:cNvSpPr>
          <p:nvPr>
            <p:ph idx="1"/>
          </p:nvPr>
        </p:nvSpPr>
        <p:spPr/>
        <p:txBody>
          <a:bodyPr>
            <a:normAutofit/>
          </a:bodyPr>
          <a:lstStyle/>
          <a:p>
            <a:pPr marL="514350" indent="-514350">
              <a:lnSpc>
                <a:spcPct val="150000"/>
              </a:lnSpc>
              <a:buFont typeface="+mj-lt"/>
              <a:buAutoNum type="arabicPeriod"/>
            </a:pPr>
            <a:r>
              <a:rPr lang="en-US" sz="2800" dirty="0"/>
              <a:t>Law of </a:t>
            </a:r>
            <a:r>
              <a:rPr lang="en-US" altLang="zh-CN" sz="2800" dirty="0"/>
              <a:t>constancy of angle </a:t>
            </a:r>
            <a:r>
              <a:rPr lang="en-US" sz="2800" dirty="0"/>
              <a:t>(</a:t>
            </a:r>
            <a:r>
              <a:rPr lang="zh-CN" altLang="en-US" sz="2800" dirty="0"/>
              <a:t>面角守恒定律</a:t>
            </a:r>
            <a:r>
              <a:rPr lang="en-US" altLang="zh-CN" sz="2800" dirty="0"/>
              <a:t>)</a:t>
            </a:r>
            <a:endParaRPr lang="en-US" sz="2800" dirty="0"/>
          </a:p>
          <a:p>
            <a:pPr marL="514350" indent="-514350">
              <a:lnSpc>
                <a:spcPct val="150000"/>
              </a:lnSpc>
              <a:buFont typeface="+mj-lt"/>
              <a:buAutoNum type="arabicPeriod"/>
            </a:pPr>
            <a:r>
              <a:rPr lang="en-US" sz="2800" dirty="0"/>
              <a:t>Measurement of Crystal</a:t>
            </a:r>
            <a:r>
              <a:rPr lang="en-US" altLang="zh-CN" sz="2800" dirty="0"/>
              <a:t>s</a:t>
            </a:r>
            <a:endParaRPr lang="en-US" sz="2800" dirty="0"/>
          </a:p>
          <a:p>
            <a:pPr marL="514350" indent="-514350">
              <a:lnSpc>
                <a:spcPct val="150000"/>
              </a:lnSpc>
              <a:buFont typeface="+mj-lt"/>
              <a:buAutoNum type="arabicPeriod"/>
            </a:pPr>
            <a:r>
              <a:rPr lang="en-US" sz="2800" dirty="0"/>
              <a:t>The spherical projection of crystals and their coordinates</a:t>
            </a:r>
          </a:p>
          <a:p>
            <a:pPr marL="514350" indent="-514350">
              <a:lnSpc>
                <a:spcPct val="150000"/>
              </a:lnSpc>
              <a:buFont typeface="+mj-lt"/>
              <a:buAutoNum type="arabicPeriod"/>
            </a:pPr>
            <a:r>
              <a:rPr lang="en-US" sz="2800" dirty="0"/>
              <a:t>Stereographic polar projection (</a:t>
            </a:r>
            <a:r>
              <a:rPr lang="zh-CN" altLang="en-US" sz="2800" dirty="0"/>
              <a:t>极射赤平投影</a:t>
            </a:r>
            <a:r>
              <a:rPr lang="en-US" sz="2800" dirty="0"/>
              <a:t>)</a:t>
            </a:r>
          </a:p>
          <a:p>
            <a:pPr marL="514350" indent="-514350">
              <a:lnSpc>
                <a:spcPct val="150000"/>
              </a:lnSpc>
              <a:buFont typeface="+mj-lt"/>
              <a:buAutoNum type="arabicPeriod"/>
            </a:pPr>
            <a:r>
              <a:rPr lang="en-US" sz="2800" dirty="0" err="1"/>
              <a:t>Wulff</a:t>
            </a:r>
            <a:r>
              <a:rPr lang="en-US" sz="2800" dirty="0"/>
              <a:t> net and its application examples </a:t>
            </a:r>
          </a:p>
          <a:p>
            <a:pPr marL="514350" indent="-514350">
              <a:lnSpc>
                <a:spcPct val="150000"/>
              </a:lnSpc>
              <a:buFont typeface="+mj-lt"/>
              <a:buAutoNum type="arabicPeriod"/>
            </a:pPr>
            <a:endParaRPr lang="en-US" sz="2800" dirty="0"/>
          </a:p>
        </p:txBody>
      </p:sp>
    </p:spTree>
    <p:extLst>
      <p:ext uri="{BB962C8B-B14F-4D97-AF65-F5344CB8AC3E}">
        <p14:creationId xmlns:p14="http://schemas.microsoft.com/office/powerpoint/2010/main" val="3247912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1. Law of constant angle </a:t>
            </a:r>
          </a:p>
        </p:txBody>
      </p:sp>
      <p:sp>
        <p:nvSpPr>
          <p:cNvPr id="3" name="Content Placeholder 2"/>
          <p:cNvSpPr>
            <a:spLocks noGrp="1"/>
          </p:cNvSpPr>
          <p:nvPr>
            <p:ph idx="1"/>
          </p:nvPr>
        </p:nvSpPr>
        <p:spPr/>
        <p:txBody>
          <a:bodyPr/>
          <a:lstStyle/>
          <a:p>
            <a:pPr marL="0" indent="0">
              <a:buNone/>
            </a:pPr>
            <a:r>
              <a:rPr lang="en-US" sz="2400" b="1" dirty="0"/>
              <a:t>Practical </a:t>
            </a:r>
            <a:r>
              <a:rPr lang="en-US" altLang="zh-CN" sz="2400" b="1" dirty="0"/>
              <a:t>morphologies </a:t>
            </a:r>
            <a:r>
              <a:rPr lang="en-US" sz="2400" b="1" dirty="0"/>
              <a:t>of crystals (distorted crystals) is always deviated from those of ideal crystals.</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60" y="2743200"/>
            <a:ext cx="1501558" cy="297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699" y="2743200"/>
            <a:ext cx="1514475" cy="2920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14169" y="5777657"/>
            <a:ext cx="1924231" cy="400110"/>
          </a:xfrm>
          <a:prstGeom prst="rect">
            <a:avLst/>
          </a:prstGeom>
        </p:spPr>
        <p:txBody>
          <a:bodyPr wrap="square">
            <a:spAutoFit/>
          </a:bodyPr>
          <a:lstStyle/>
          <a:p>
            <a:r>
              <a:rPr lang="en-US" altLang="zh-CN" sz="2000" b="1" spc="120" dirty="0">
                <a:solidFill>
                  <a:srgbClr val="000000"/>
                </a:solidFill>
              </a:rPr>
              <a:t>ideal </a:t>
            </a:r>
            <a:r>
              <a:rPr lang="en-US" altLang="zh-CN" sz="2000" b="1" i="1" spc="120" dirty="0">
                <a:solidFill>
                  <a:srgbClr val="000000"/>
                </a:solidFill>
              </a:rPr>
              <a:t>a</a:t>
            </a:r>
            <a:r>
              <a:rPr lang="en-US" altLang="zh-CN" sz="2000" b="1" spc="120" dirty="0">
                <a:solidFill>
                  <a:srgbClr val="000000"/>
                </a:solidFill>
              </a:rPr>
              <a:t>-quartz</a:t>
            </a:r>
          </a:p>
        </p:txBody>
      </p:sp>
      <p:sp>
        <p:nvSpPr>
          <p:cNvPr id="7" name="Rectangle 6"/>
          <p:cNvSpPr/>
          <p:nvPr/>
        </p:nvSpPr>
        <p:spPr>
          <a:xfrm>
            <a:off x="2472267" y="5762269"/>
            <a:ext cx="2657475" cy="430887"/>
          </a:xfrm>
          <a:prstGeom prst="rect">
            <a:avLst/>
          </a:prstGeom>
        </p:spPr>
        <p:txBody>
          <a:bodyPr wrap="square">
            <a:spAutoFit/>
          </a:bodyPr>
          <a:lstStyle/>
          <a:p>
            <a:pPr lvl="0">
              <a:lnSpc>
                <a:spcPct val="110000"/>
              </a:lnSpc>
              <a:spcBef>
                <a:spcPct val="20000"/>
              </a:spcBef>
              <a:spcAft>
                <a:spcPts val="600"/>
              </a:spcAft>
            </a:pPr>
            <a:r>
              <a:rPr lang="en-US" altLang="zh-CN" sz="2000" b="1" spc="120" dirty="0">
                <a:solidFill>
                  <a:srgbClr val="000000"/>
                </a:solidFill>
              </a:rPr>
              <a:t>distorted </a:t>
            </a:r>
            <a:r>
              <a:rPr lang="en-US" altLang="zh-CN" sz="2000" b="1" i="1" spc="120" dirty="0">
                <a:solidFill>
                  <a:srgbClr val="000000"/>
                </a:solidFill>
              </a:rPr>
              <a:t>a</a:t>
            </a:r>
            <a:r>
              <a:rPr lang="en-US" altLang="zh-CN" sz="2000" b="1" spc="120" dirty="0">
                <a:solidFill>
                  <a:srgbClr val="000000"/>
                </a:solidFill>
              </a:rPr>
              <a:t>-quartz</a:t>
            </a:r>
          </a:p>
        </p:txBody>
      </p:sp>
      <p:sp>
        <p:nvSpPr>
          <p:cNvPr id="8" name="Rectangle 7"/>
          <p:cNvSpPr/>
          <p:nvPr/>
        </p:nvSpPr>
        <p:spPr>
          <a:xfrm>
            <a:off x="5129742" y="2743200"/>
            <a:ext cx="3971925" cy="3416320"/>
          </a:xfrm>
          <a:prstGeom prst="rect">
            <a:avLst/>
          </a:prstGeom>
        </p:spPr>
        <p:txBody>
          <a:bodyPr wrap="square">
            <a:spAutoFit/>
          </a:bodyPr>
          <a:lstStyle/>
          <a:p>
            <a:pPr lvl="0">
              <a:lnSpc>
                <a:spcPct val="110000"/>
              </a:lnSpc>
              <a:spcBef>
                <a:spcPct val="20000"/>
              </a:spcBef>
              <a:spcAft>
                <a:spcPts val="600"/>
              </a:spcAft>
            </a:pPr>
            <a:r>
              <a:rPr lang="en-US" altLang="zh-CN" sz="2000" spc="120" dirty="0"/>
              <a:t>The corresponding facial angles of crystal faces is equal although the practical crystal morphology is different and seemingly random, namely </a:t>
            </a:r>
          </a:p>
          <a:p>
            <a:pPr lvl="0">
              <a:lnSpc>
                <a:spcPct val="110000"/>
              </a:lnSpc>
              <a:spcBef>
                <a:spcPct val="20000"/>
              </a:spcBef>
              <a:spcAft>
                <a:spcPts val="600"/>
              </a:spcAft>
            </a:pPr>
            <a:r>
              <a:rPr lang="en-US" altLang="zh-CN" sz="2000" b="1" spc="120" dirty="0"/>
              <a:t>“law of  constancy of angle ”.</a:t>
            </a:r>
          </a:p>
          <a:p>
            <a:pPr lvl="0">
              <a:lnSpc>
                <a:spcPct val="110000"/>
              </a:lnSpc>
              <a:spcBef>
                <a:spcPct val="20000"/>
              </a:spcBef>
              <a:spcAft>
                <a:spcPts val="600"/>
              </a:spcAft>
            </a:pPr>
            <a:r>
              <a:rPr lang="en-US" altLang="zh-CN" sz="2000" spc="120" dirty="0"/>
              <a:t>Significance: foundation stone for the development of crystallography</a:t>
            </a:r>
            <a:endParaRPr lang="zh-CN" altLang="en-US" sz="2000" spc="120" dirty="0"/>
          </a:p>
        </p:txBody>
      </p:sp>
    </p:spTree>
    <p:extLst>
      <p:ext uri="{BB962C8B-B14F-4D97-AF65-F5344CB8AC3E}">
        <p14:creationId xmlns:p14="http://schemas.microsoft.com/office/powerpoint/2010/main" val="3731723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6949888" y="1788319"/>
            <a:ext cx="1999240" cy="1828800"/>
            <a:chOff x="820160" y="2743200"/>
            <a:chExt cx="3628014" cy="297788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160" y="2743200"/>
              <a:ext cx="1501558" cy="297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699" y="2743200"/>
              <a:ext cx="1514475" cy="2920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 name="Title 1"/>
          <p:cNvSpPr>
            <a:spLocks noGrp="1"/>
          </p:cNvSpPr>
          <p:nvPr>
            <p:ph type="title"/>
          </p:nvPr>
        </p:nvSpPr>
        <p:spPr/>
        <p:txBody>
          <a:bodyPr>
            <a:normAutofit/>
          </a:bodyPr>
          <a:lstStyle/>
          <a:p>
            <a:pPr algn="l"/>
            <a:r>
              <a:rPr lang="en-US" sz="2800" dirty="0"/>
              <a:t>2. Measurement of </a:t>
            </a:r>
            <a:r>
              <a:rPr lang="en-US" altLang="zh-CN" sz="2800" dirty="0"/>
              <a:t>c</a:t>
            </a:r>
            <a:r>
              <a:rPr lang="en-US" sz="2800" dirty="0"/>
              <a:t>rystal </a:t>
            </a:r>
          </a:p>
        </p:txBody>
      </p:sp>
      <p:sp>
        <p:nvSpPr>
          <p:cNvPr id="3" name="Content Placeholder 2"/>
          <p:cNvSpPr>
            <a:spLocks noGrp="1"/>
          </p:cNvSpPr>
          <p:nvPr>
            <p:ph idx="1"/>
          </p:nvPr>
        </p:nvSpPr>
        <p:spPr/>
        <p:txBody>
          <a:bodyPr>
            <a:normAutofit/>
          </a:bodyPr>
          <a:lstStyle/>
          <a:p>
            <a:pPr marL="0" indent="0">
              <a:buNone/>
            </a:pPr>
            <a:r>
              <a:rPr lang="en-US" sz="2800" b="1" dirty="0"/>
              <a:t>Law of constancy of angle </a:t>
            </a:r>
          </a:p>
          <a:p>
            <a:pPr marL="0" indent="0">
              <a:buNone/>
            </a:pPr>
            <a:r>
              <a:rPr lang="en-US" sz="2400" u="sng" dirty="0"/>
              <a:t>In the same crystals, the </a:t>
            </a:r>
            <a:r>
              <a:rPr lang="en-US" altLang="zh-CN" sz="2400" u="sng" dirty="0"/>
              <a:t>interfacial angles </a:t>
            </a:r>
            <a:r>
              <a:rPr lang="en-US" sz="2400" u="sng" dirty="0"/>
              <a:t>of the corresponding naked crystal planes is identical.</a:t>
            </a:r>
          </a:p>
          <a:p>
            <a:pPr marL="0" indent="0">
              <a:buNone/>
            </a:pPr>
            <a:endParaRPr lang="en-US" sz="2400" b="1" dirty="0"/>
          </a:p>
          <a:p>
            <a:pPr marL="0" indent="0">
              <a:buNone/>
            </a:pPr>
            <a:r>
              <a:rPr lang="en-US" altLang="zh-CN" sz="2400" dirty="0"/>
              <a:t>Interfacial angle : the angle between the normal </a:t>
            </a:r>
          </a:p>
          <a:p>
            <a:pPr marL="0" indent="0">
              <a:buNone/>
            </a:pPr>
            <a:r>
              <a:rPr lang="en-US" altLang="zh-CN" sz="2400" dirty="0"/>
              <a:t>directions of naked crystal planes.</a:t>
            </a:r>
          </a:p>
          <a:p>
            <a:pPr marL="0" indent="0">
              <a:buNone/>
            </a:pPr>
            <a:endParaRPr lang="en-US" altLang="zh-CN" sz="2400" b="1" dirty="0">
              <a:solidFill>
                <a:srgbClr val="C00000"/>
              </a:solidFill>
            </a:endParaRPr>
          </a:p>
          <a:p>
            <a:pPr marL="0" indent="0">
              <a:buNone/>
            </a:pPr>
            <a:r>
              <a:rPr lang="en-US" altLang="zh-CN" sz="2400" dirty="0"/>
              <a:t>Interfacial angle </a:t>
            </a:r>
            <a:r>
              <a:rPr lang="el-GR" altLang="zh-CN" sz="2400" dirty="0"/>
              <a:t>α</a:t>
            </a:r>
            <a:r>
              <a:rPr lang="en-US" altLang="zh-CN" sz="2400" dirty="0"/>
              <a:t> and intersection angle </a:t>
            </a:r>
            <a:r>
              <a:rPr lang="el-GR" altLang="zh-CN" sz="2400" dirty="0"/>
              <a:t>β</a:t>
            </a:r>
            <a:endParaRPr lang="en-US" altLang="zh-CN" sz="2400" dirty="0"/>
          </a:p>
          <a:p>
            <a:pPr marL="0" indent="0">
              <a:buNone/>
            </a:pPr>
            <a:r>
              <a:rPr lang="en-US" altLang="zh-CN" sz="2400" dirty="0">
                <a:solidFill>
                  <a:srgbClr val="C00000"/>
                </a:solidFill>
              </a:rPr>
              <a:t>(</a:t>
            </a:r>
            <a:r>
              <a:rPr lang="zh-CN" altLang="en-US" sz="2400" dirty="0">
                <a:solidFill>
                  <a:srgbClr val="C00000"/>
                </a:solidFill>
              </a:rPr>
              <a:t>面角和面的夹角</a:t>
            </a:r>
            <a:r>
              <a:rPr lang="en-US" altLang="zh-CN" sz="2400" dirty="0">
                <a:solidFill>
                  <a:srgbClr val="C00000"/>
                </a:solidFill>
              </a:rPr>
              <a:t>)</a:t>
            </a:r>
            <a:br>
              <a:rPr lang="zh-CN" altLang="en-US" sz="2400" dirty="0">
                <a:solidFill>
                  <a:srgbClr val="C00000"/>
                </a:solidFill>
              </a:rPr>
            </a:br>
            <a:r>
              <a:rPr lang="en-US" altLang="zh-CN" sz="2400" dirty="0"/>
              <a:t>The relationship between them is complementary.</a:t>
            </a:r>
            <a:endParaRPr lang="en-US" sz="2400" dirty="0"/>
          </a:p>
          <a:p>
            <a:pPr marL="0" indent="0">
              <a:buNone/>
            </a:pPr>
            <a:endParaRPr lang="en-US" sz="2400" b="1" dirty="0"/>
          </a:p>
          <a:p>
            <a:endParaRPr lang="en-US" dirty="0"/>
          </a:p>
        </p:txBody>
      </p:sp>
      <p:pic>
        <p:nvPicPr>
          <p:cNvPr id="10" name="Picture 7" descr="图片1"/>
          <p:cNvPicPr>
            <a:picLocks noChangeAspect="1" noChangeArrowheads="1"/>
          </p:cNvPicPr>
          <p:nvPr/>
        </p:nvPicPr>
        <p:blipFill rotWithShape="1">
          <a:blip r:embed="rId4">
            <a:extLst>
              <a:ext uri="{28A0092B-C50C-407E-A947-70E740481C1C}">
                <a14:useLocalDpi xmlns:a14="http://schemas.microsoft.com/office/drawing/2010/main" val="0"/>
              </a:ext>
            </a:extLst>
          </a:blip>
          <a:srcRect r="17324" b="19812"/>
          <a:stretch/>
        </p:blipFill>
        <p:spPr>
          <a:xfrm>
            <a:off x="7086600" y="4648200"/>
            <a:ext cx="1826968" cy="179664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038806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Measurement of </a:t>
            </a:r>
            <a:r>
              <a:rPr lang="en-US" altLang="zh-CN" sz="2800" dirty="0"/>
              <a:t>c</a:t>
            </a:r>
            <a:r>
              <a:rPr lang="en-US" sz="2800" dirty="0"/>
              <a:t>rystal </a:t>
            </a:r>
          </a:p>
        </p:txBody>
      </p:sp>
      <p:sp>
        <p:nvSpPr>
          <p:cNvPr id="6" name="Content Placeholder 5"/>
          <p:cNvSpPr>
            <a:spLocks noGrp="1"/>
          </p:cNvSpPr>
          <p:nvPr>
            <p:ph idx="1"/>
          </p:nvPr>
        </p:nvSpPr>
        <p:spPr>
          <a:xfrm>
            <a:off x="457200" y="1600201"/>
            <a:ext cx="8229600" cy="609600"/>
          </a:xfrm>
        </p:spPr>
        <p:txBody>
          <a:bodyPr>
            <a:normAutofit/>
          </a:bodyPr>
          <a:lstStyle/>
          <a:p>
            <a:pPr marL="0" indent="0">
              <a:buNone/>
            </a:pPr>
            <a:r>
              <a:rPr lang="en-US" sz="2400" b="1" dirty="0"/>
              <a:t>Instruments for measuring the </a:t>
            </a:r>
            <a:r>
              <a:rPr lang="en-US" altLang="zh-CN" sz="2400" b="1" dirty="0"/>
              <a:t>interfacial angles </a:t>
            </a:r>
            <a:r>
              <a:rPr lang="en-US" sz="2400" b="1" dirty="0"/>
              <a:t>of crystals</a:t>
            </a:r>
          </a:p>
        </p:txBody>
      </p:sp>
      <p:pic>
        <p:nvPicPr>
          <p:cNvPr id="11" name="Picture 4" descr="35"/>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2747" b="13692"/>
          <a:stretch/>
        </p:blipFill>
        <p:spPr bwMode="auto">
          <a:xfrm>
            <a:off x="620098" y="2286000"/>
            <a:ext cx="4114800" cy="238247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 descr="36"/>
          <p:cNvPicPr>
            <a:picLocks noChangeAspect="1" noChangeArrowheads="1"/>
          </p:cNvPicPr>
          <p:nvPr/>
        </p:nvPicPr>
        <p:blipFill rotWithShape="1">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b="19810"/>
          <a:stretch/>
        </p:blipFill>
        <p:spPr bwMode="auto">
          <a:xfrm>
            <a:off x="5105400" y="2286000"/>
            <a:ext cx="2487613" cy="274969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33400" y="5692914"/>
            <a:ext cx="8153400" cy="830997"/>
          </a:xfrm>
          <a:prstGeom prst="rect">
            <a:avLst/>
          </a:prstGeom>
          <a:noFill/>
        </p:spPr>
        <p:txBody>
          <a:bodyPr wrap="square" rtlCol="0">
            <a:spAutoFit/>
          </a:bodyPr>
          <a:lstStyle/>
          <a:p>
            <a:r>
              <a:rPr lang="en-US" altLang="zh-CN" sz="2400" b="1" dirty="0">
                <a:ea typeface="+mj-ea"/>
              </a:rPr>
              <a:t>E</a:t>
            </a:r>
            <a:r>
              <a:rPr lang="en-US" sz="2400" b="1" dirty="0">
                <a:ea typeface="+mj-ea"/>
              </a:rPr>
              <a:t>arly and traditional methods to study the internal structure of crystals by means of crystal external characteristic</a:t>
            </a:r>
            <a:r>
              <a:rPr lang="en-US" altLang="zh-CN" sz="2400" b="1" dirty="0">
                <a:ea typeface="+mj-ea"/>
              </a:rPr>
              <a:t>s</a:t>
            </a:r>
            <a:r>
              <a:rPr lang="en-US" sz="2400" b="1" dirty="0">
                <a:ea typeface="+mj-ea"/>
              </a:rPr>
              <a:t>.</a:t>
            </a:r>
          </a:p>
        </p:txBody>
      </p:sp>
      <p:sp>
        <p:nvSpPr>
          <p:cNvPr id="7" name="Rectangle 6"/>
          <p:cNvSpPr/>
          <p:nvPr/>
        </p:nvSpPr>
        <p:spPr>
          <a:xfrm>
            <a:off x="1613905" y="4800600"/>
            <a:ext cx="2127185" cy="369332"/>
          </a:xfrm>
          <a:prstGeom prst="rect">
            <a:avLst/>
          </a:prstGeom>
        </p:spPr>
        <p:txBody>
          <a:bodyPr wrap="none">
            <a:spAutoFit/>
          </a:bodyPr>
          <a:lstStyle/>
          <a:p>
            <a:r>
              <a:rPr lang="en-US" b="1" dirty="0"/>
              <a:t>Contact Goniometer</a:t>
            </a:r>
          </a:p>
        </p:txBody>
      </p:sp>
      <p:sp>
        <p:nvSpPr>
          <p:cNvPr id="8" name="Rectangle 7"/>
          <p:cNvSpPr/>
          <p:nvPr/>
        </p:nvSpPr>
        <p:spPr>
          <a:xfrm>
            <a:off x="5410200" y="5032124"/>
            <a:ext cx="2318776" cy="369332"/>
          </a:xfrm>
          <a:prstGeom prst="rect">
            <a:avLst/>
          </a:prstGeom>
        </p:spPr>
        <p:txBody>
          <a:bodyPr wrap="none">
            <a:spAutoFit/>
          </a:bodyPr>
          <a:lstStyle/>
          <a:p>
            <a:r>
              <a:rPr lang="en-US" b="1" dirty="0"/>
              <a:t>Reflection goniometer</a:t>
            </a:r>
          </a:p>
        </p:txBody>
      </p:sp>
    </p:spTree>
    <p:extLst>
      <p:ext uri="{BB962C8B-B14F-4D97-AF65-F5344CB8AC3E}">
        <p14:creationId xmlns:p14="http://schemas.microsoft.com/office/powerpoint/2010/main" val="959307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3. </a:t>
            </a:r>
            <a:r>
              <a:rPr lang="en-US" altLang="zh-CN" sz="2800" dirty="0"/>
              <a:t>Projection </a:t>
            </a:r>
            <a:r>
              <a:rPr lang="en-US" sz="2800" dirty="0"/>
              <a:t>of </a:t>
            </a:r>
            <a:r>
              <a:rPr lang="en-US" altLang="zh-CN" sz="2800" dirty="0"/>
              <a:t>c</a:t>
            </a:r>
            <a:r>
              <a:rPr lang="en-US" sz="2800" dirty="0"/>
              <a:t>rystal </a:t>
            </a:r>
          </a:p>
        </p:txBody>
      </p:sp>
      <p:sp>
        <p:nvSpPr>
          <p:cNvPr id="4" name="Content Placeholder 3"/>
          <p:cNvSpPr>
            <a:spLocks noGrp="1"/>
          </p:cNvSpPr>
          <p:nvPr>
            <p:ph idx="1"/>
          </p:nvPr>
        </p:nvSpPr>
        <p:spPr/>
        <p:txBody>
          <a:bodyPr/>
          <a:lstStyle/>
          <a:p>
            <a:pPr marL="0" indent="0">
              <a:buNone/>
            </a:pPr>
            <a:r>
              <a:rPr lang="en-US" altLang="zh-CN" sz="2800" b="1" dirty="0"/>
              <a:t>Stereographic projection represents 3-D crystals on 2-D plane(</a:t>
            </a:r>
            <a:r>
              <a:rPr lang="zh-CN" altLang="en-US" sz="2800" b="1" dirty="0"/>
              <a:t>降维处理）</a:t>
            </a:r>
            <a:endParaRPr lang="en-US" altLang="zh-CN" sz="2800" b="1" dirty="0"/>
          </a:p>
          <a:p>
            <a:pPr marL="0" indent="0">
              <a:buNone/>
            </a:pPr>
            <a:endParaRPr lang="en-US" sz="2800" b="1" dirty="0"/>
          </a:p>
          <a:p>
            <a:pPr marL="0" indent="0">
              <a:buNone/>
            </a:pPr>
            <a:endParaRPr lang="en-US" dirty="0"/>
          </a:p>
        </p:txBody>
      </p:sp>
      <p:pic>
        <p:nvPicPr>
          <p:cNvPr id="9" name="Picture 6" descr="pic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2438401"/>
            <a:ext cx="2438400" cy="2466064"/>
          </a:xfrm>
          <a:prstGeom prst="rect">
            <a:avLst/>
          </a:prstGeom>
          <a:solidFill>
            <a:schemeClr val="bg1"/>
          </a:solidFill>
          <a:ln w="9525">
            <a:solidFill>
              <a:schemeClr val="tx1"/>
            </a:solidFill>
            <a:miter lim="800000"/>
            <a:headEnd/>
            <a:tailEnd/>
          </a:ln>
        </p:spPr>
      </p:pic>
      <p:sp>
        <p:nvSpPr>
          <p:cNvPr id="5" name="Rectangle 4"/>
          <p:cNvSpPr/>
          <p:nvPr/>
        </p:nvSpPr>
        <p:spPr>
          <a:xfrm>
            <a:off x="457200" y="2819400"/>
            <a:ext cx="4648199" cy="2308324"/>
          </a:xfrm>
          <a:prstGeom prst="rect">
            <a:avLst/>
          </a:prstGeom>
        </p:spPr>
        <p:txBody>
          <a:bodyPr wrap="square">
            <a:spAutoFit/>
          </a:bodyPr>
          <a:lstStyle/>
          <a:p>
            <a:r>
              <a:rPr lang="en-US" sz="2400" dirty="0">
                <a:solidFill>
                  <a:prstClr val="black"/>
                </a:solidFill>
              </a:rPr>
              <a:t>As for crystals with the same structure</a:t>
            </a:r>
            <a:r>
              <a:rPr lang="en-US" altLang="zh-CN" sz="2400" dirty="0">
                <a:solidFill>
                  <a:prstClr val="black"/>
                </a:solidFill>
              </a:rPr>
              <a:t>s</a:t>
            </a:r>
            <a:r>
              <a:rPr lang="en-US" sz="2400" dirty="0">
                <a:solidFill>
                  <a:prstClr val="black"/>
                </a:solidFill>
              </a:rPr>
              <a:t>, although the shape is different, the spherical projection points of each surface are in the same positions. </a:t>
            </a:r>
            <a:r>
              <a:rPr lang="zh-CN" altLang="en-US" sz="2400" dirty="0">
                <a:solidFill>
                  <a:prstClr val="black"/>
                </a:solidFill>
              </a:rPr>
              <a:t>（投影不依赖晶体形貌）</a:t>
            </a:r>
            <a:endParaRPr lang="en-US" dirty="0"/>
          </a:p>
        </p:txBody>
      </p:sp>
      <p:grpSp>
        <p:nvGrpSpPr>
          <p:cNvPr id="7" name="Group 6"/>
          <p:cNvGrpSpPr/>
          <p:nvPr/>
        </p:nvGrpSpPr>
        <p:grpSpPr>
          <a:xfrm>
            <a:off x="1649568" y="5093469"/>
            <a:ext cx="3426903" cy="1541774"/>
            <a:chOff x="1371600" y="2338552"/>
            <a:chExt cx="6097314" cy="2743200"/>
          </a:xfrm>
          <a:noFill/>
        </p:grpSpPr>
        <p:sp>
          <p:nvSpPr>
            <p:cNvPr id="14" name="Freeform 13"/>
            <p:cNvSpPr/>
            <p:nvPr/>
          </p:nvSpPr>
          <p:spPr>
            <a:xfrm>
              <a:off x="5490341" y="3100552"/>
              <a:ext cx="1213945" cy="1213945"/>
            </a:xfrm>
            <a:custGeom>
              <a:avLst/>
              <a:gdLst>
                <a:gd name="connsiteX0" fmla="*/ 819807 w 1213945"/>
                <a:gd name="connsiteY0" fmla="*/ 0 h 1213945"/>
                <a:gd name="connsiteX1" fmla="*/ 1213945 w 1213945"/>
                <a:gd name="connsiteY1" fmla="*/ 252248 h 1213945"/>
                <a:gd name="connsiteX2" fmla="*/ 1213945 w 1213945"/>
                <a:gd name="connsiteY2" fmla="*/ 945931 h 1213945"/>
                <a:gd name="connsiteX3" fmla="*/ 725214 w 1213945"/>
                <a:gd name="connsiteY3" fmla="*/ 1213945 h 1213945"/>
                <a:gd name="connsiteX4" fmla="*/ 331076 w 1213945"/>
                <a:gd name="connsiteY4" fmla="*/ 1213945 h 1213945"/>
                <a:gd name="connsiteX5" fmla="*/ 0 w 1213945"/>
                <a:gd name="connsiteY5" fmla="*/ 599090 h 1213945"/>
                <a:gd name="connsiteX6" fmla="*/ 394138 w 1213945"/>
                <a:gd name="connsiteY6" fmla="*/ 0 h 1213945"/>
                <a:gd name="connsiteX7" fmla="*/ 819807 w 1213945"/>
                <a:gd name="connsiteY7" fmla="*/ 0 h 121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3945" h="1213945">
                  <a:moveTo>
                    <a:pt x="819807" y="0"/>
                  </a:moveTo>
                  <a:lnTo>
                    <a:pt x="1213945" y="252248"/>
                  </a:lnTo>
                  <a:lnTo>
                    <a:pt x="1213945" y="945931"/>
                  </a:lnTo>
                  <a:lnTo>
                    <a:pt x="725214" y="1213945"/>
                  </a:lnTo>
                  <a:lnTo>
                    <a:pt x="331076" y="1213945"/>
                  </a:lnTo>
                  <a:lnTo>
                    <a:pt x="0" y="599090"/>
                  </a:lnTo>
                  <a:lnTo>
                    <a:pt x="394138" y="0"/>
                  </a:lnTo>
                  <a:lnTo>
                    <a:pt x="819807" y="0"/>
                  </a:lnTo>
                  <a:close/>
                </a:path>
              </a:pathLst>
            </a:cu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5" name="Oval 14"/>
            <p:cNvSpPr/>
            <p:nvPr/>
          </p:nvSpPr>
          <p:spPr>
            <a:xfrm>
              <a:off x="1371600" y="2338552"/>
              <a:ext cx="2743200" cy="27432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6" name="Rectangle 15"/>
            <p:cNvSpPr/>
            <p:nvPr/>
          </p:nvSpPr>
          <p:spPr>
            <a:xfrm>
              <a:off x="2133600" y="3100552"/>
              <a:ext cx="1219200" cy="12192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cxnSp>
          <p:nvCxnSpPr>
            <p:cNvPr id="17" name="Straight Connector 16"/>
            <p:cNvCxnSpPr>
              <a:stCxn id="15" idx="0"/>
              <a:endCxn id="15" idx="4"/>
            </p:cNvCxnSpPr>
            <p:nvPr/>
          </p:nvCxnSpPr>
          <p:spPr>
            <a:xfrm>
              <a:off x="2743200" y="2338552"/>
              <a:ext cx="0" cy="2743200"/>
            </a:xfrm>
            <a:prstGeom prst="line">
              <a:avLst/>
            </a:prstGeom>
            <a:grpFill/>
            <a:ln w="381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5" idx="6"/>
              <a:endCxn id="15" idx="2"/>
            </p:cNvCxnSpPr>
            <p:nvPr/>
          </p:nvCxnSpPr>
          <p:spPr>
            <a:xfrm flipH="1">
              <a:off x="1371600" y="3710152"/>
              <a:ext cx="2743200" cy="0"/>
            </a:xfrm>
            <a:prstGeom prst="line">
              <a:avLst/>
            </a:prstGeom>
            <a:grpFill/>
            <a:ln w="381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4725714" y="2338552"/>
              <a:ext cx="2743200" cy="27432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cxnSp>
          <p:nvCxnSpPr>
            <p:cNvPr id="20" name="Straight Connector 19"/>
            <p:cNvCxnSpPr>
              <a:stCxn id="19" idx="0"/>
              <a:endCxn id="19" idx="4"/>
            </p:cNvCxnSpPr>
            <p:nvPr/>
          </p:nvCxnSpPr>
          <p:spPr>
            <a:xfrm>
              <a:off x="6097314" y="2338552"/>
              <a:ext cx="0" cy="2743200"/>
            </a:xfrm>
            <a:prstGeom prst="line">
              <a:avLst/>
            </a:prstGeom>
            <a:grpFill/>
            <a:ln w="381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9" idx="6"/>
              <a:endCxn id="19" idx="2"/>
            </p:cNvCxnSpPr>
            <p:nvPr/>
          </p:nvCxnSpPr>
          <p:spPr>
            <a:xfrm flipH="1">
              <a:off x="4725714" y="3710152"/>
              <a:ext cx="2743200" cy="0"/>
            </a:xfrm>
            <a:prstGeom prst="line">
              <a:avLst/>
            </a:prstGeom>
            <a:grpFill/>
            <a:ln w="38100">
              <a:solidFill>
                <a:schemeClr val="tx1"/>
              </a:solidFill>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2667000" y="3633952"/>
              <a:ext cx="152400" cy="152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3" name="Oval 22"/>
            <p:cNvSpPr/>
            <p:nvPr/>
          </p:nvSpPr>
          <p:spPr>
            <a:xfrm>
              <a:off x="6021113" y="3633952"/>
              <a:ext cx="152400" cy="1524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spTree>
    <p:extLst>
      <p:ext uri="{BB962C8B-B14F-4D97-AF65-F5344CB8AC3E}">
        <p14:creationId xmlns:p14="http://schemas.microsoft.com/office/powerpoint/2010/main" val="409255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3. </a:t>
            </a:r>
            <a:r>
              <a:rPr lang="en-US" altLang="zh-CN" sz="2800" dirty="0"/>
              <a:t>Projection </a:t>
            </a:r>
            <a:r>
              <a:rPr lang="en-US" sz="2800" dirty="0"/>
              <a:t>of </a:t>
            </a:r>
            <a:r>
              <a:rPr lang="en-US" altLang="zh-CN" sz="2800" dirty="0"/>
              <a:t>c</a:t>
            </a:r>
            <a:r>
              <a:rPr lang="en-US" sz="2800" dirty="0"/>
              <a:t>rystal </a:t>
            </a:r>
          </a:p>
        </p:txBody>
      </p:sp>
      <p:sp>
        <p:nvSpPr>
          <p:cNvPr id="4" name="Content Placeholder 3"/>
          <p:cNvSpPr>
            <a:spLocks noGrp="1"/>
          </p:cNvSpPr>
          <p:nvPr>
            <p:ph idx="1"/>
          </p:nvPr>
        </p:nvSpPr>
        <p:spPr>
          <a:xfrm>
            <a:off x="457200" y="1371600"/>
            <a:ext cx="4114800" cy="4525963"/>
          </a:xfrm>
        </p:spPr>
        <p:txBody>
          <a:bodyPr>
            <a:normAutofit/>
          </a:bodyPr>
          <a:lstStyle/>
          <a:p>
            <a:pPr marL="0" indent="0">
              <a:buNone/>
            </a:pPr>
            <a:r>
              <a:rPr lang="en-US" altLang="zh-CN" sz="2400" b="1" dirty="0"/>
              <a:t>Projection system includes </a:t>
            </a:r>
            <a:r>
              <a:rPr lang="en-US" altLang="zh-CN" sz="2000" dirty="0"/>
              <a:t>projective sphere, projective plane (equatorial plane), projection axes, North Pole and South Pole (visual point).</a:t>
            </a:r>
          </a:p>
          <a:p>
            <a:pPr marL="0" indent="0">
              <a:buNone/>
            </a:pPr>
            <a:endParaRPr lang="en-US" sz="2400" b="1" dirty="0"/>
          </a:p>
          <a:p>
            <a:pPr marL="0" indent="0">
              <a:buNone/>
            </a:pPr>
            <a:r>
              <a:rPr lang="en-US" sz="2800" b="1" dirty="0"/>
              <a:t>Projection Procedure</a:t>
            </a:r>
          </a:p>
          <a:p>
            <a:r>
              <a:rPr lang="en-US" sz="2000" dirty="0"/>
              <a:t>Projection onto the projective sphere</a:t>
            </a:r>
          </a:p>
          <a:p>
            <a:r>
              <a:rPr lang="en-US" sz="2000" dirty="0"/>
              <a:t>Projection onto 2</a:t>
            </a:r>
            <a:r>
              <a:rPr lang="en-US" altLang="zh-CN" sz="2000" dirty="0"/>
              <a:t>D</a:t>
            </a:r>
            <a:r>
              <a:rPr lang="en-US" sz="2000" dirty="0"/>
              <a:t> polar equatorial plane</a:t>
            </a:r>
            <a:endParaRPr lang="en-US" sz="2400" dirty="0"/>
          </a:p>
        </p:txBody>
      </p:sp>
      <p:pic>
        <p:nvPicPr>
          <p:cNvPr id="25" name="Picture 15" descr="pic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799" y="1676400"/>
            <a:ext cx="4465251"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277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1) Spherical p</a:t>
            </a:r>
            <a:r>
              <a:rPr lang="en-US" altLang="zh-CN" sz="2800" dirty="0"/>
              <a:t>rojection </a:t>
            </a:r>
            <a:r>
              <a:rPr lang="en-US" sz="2800" dirty="0"/>
              <a:t>of </a:t>
            </a:r>
            <a:r>
              <a:rPr lang="en-US" altLang="zh-CN" sz="2800" dirty="0"/>
              <a:t>c</a:t>
            </a:r>
            <a:r>
              <a:rPr lang="en-US" sz="2800" dirty="0"/>
              <a:t>rystal </a:t>
            </a:r>
          </a:p>
        </p:txBody>
      </p:sp>
      <p:sp>
        <p:nvSpPr>
          <p:cNvPr id="4" name="Content Placeholder 3"/>
          <p:cNvSpPr>
            <a:spLocks noGrp="1"/>
          </p:cNvSpPr>
          <p:nvPr>
            <p:ph idx="1"/>
          </p:nvPr>
        </p:nvSpPr>
        <p:spPr>
          <a:xfrm>
            <a:off x="457200" y="1600200"/>
            <a:ext cx="5257800" cy="4525963"/>
          </a:xfrm>
        </p:spPr>
        <p:txBody>
          <a:bodyPr>
            <a:normAutofit/>
          </a:bodyPr>
          <a:lstStyle/>
          <a:p>
            <a:pPr>
              <a:lnSpc>
                <a:spcPct val="120000"/>
              </a:lnSpc>
            </a:pPr>
            <a:r>
              <a:rPr lang="en-US" altLang="zh-CN" sz="2200" dirty="0"/>
              <a:t>Make a sphere surface with the center of crystal and unit length as radius;</a:t>
            </a:r>
          </a:p>
          <a:p>
            <a:pPr>
              <a:lnSpc>
                <a:spcPct val="120000"/>
              </a:lnSpc>
            </a:pPr>
            <a:r>
              <a:rPr lang="en-US" altLang="zh-CN" sz="2200" dirty="0"/>
              <a:t>Then create the normal lines of every crystal surface from the center and intersect with the sphere surface at points. </a:t>
            </a:r>
          </a:p>
          <a:p>
            <a:pPr>
              <a:lnSpc>
                <a:spcPct val="120000"/>
              </a:lnSpc>
            </a:pPr>
            <a:r>
              <a:rPr lang="en-US" altLang="zh-CN" sz="2200" dirty="0"/>
              <a:t>These points are the spherical projection points of the corresponding crystal surfaces.</a:t>
            </a:r>
            <a:r>
              <a:rPr lang="zh-CN" altLang="en-US" sz="2400" dirty="0"/>
              <a:t>	</a:t>
            </a:r>
          </a:p>
          <a:p>
            <a:pPr>
              <a:lnSpc>
                <a:spcPct val="60000"/>
              </a:lnSpc>
              <a:buNone/>
            </a:pPr>
            <a:endParaRPr lang="en-US" altLang="zh-CN" sz="2400" b="1" dirty="0"/>
          </a:p>
          <a:p>
            <a:pPr>
              <a:lnSpc>
                <a:spcPct val="60000"/>
              </a:lnSpc>
              <a:buNone/>
            </a:pPr>
            <a:r>
              <a:rPr lang="en-US" altLang="zh-CN" sz="2400" b="1" dirty="0"/>
              <a:t>Now, planes = points. But still 3-D.</a:t>
            </a:r>
            <a:endParaRPr lang="en-US" sz="2800" b="1" dirty="0"/>
          </a:p>
        </p:txBody>
      </p:sp>
      <p:pic>
        <p:nvPicPr>
          <p:cNvPr id="6" name="Picture 6" descr="pic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2048933"/>
            <a:ext cx="3028537" cy="3062288"/>
          </a:xfrm>
          <a:prstGeom prst="rect">
            <a:avLst/>
          </a:prstGeom>
          <a:solidFill>
            <a:schemeClr val="bg1"/>
          </a:solidFill>
          <a:ln w="9525">
            <a:solidFill>
              <a:schemeClr val="tx1"/>
            </a:solidFill>
            <a:miter lim="800000"/>
            <a:headEnd/>
            <a:tailEnd/>
          </a:ln>
        </p:spPr>
      </p:pic>
    </p:spTree>
    <p:extLst>
      <p:ext uri="{BB962C8B-B14F-4D97-AF65-F5344CB8AC3E}">
        <p14:creationId xmlns:p14="http://schemas.microsoft.com/office/powerpoint/2010/main" val="417784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Spherical coordinates - the point </a:t>
            </a:r>
            <a:r>
              <a:rPr lang="en-US" altLang="zh-CN" sz="2800" dirty="0"/>
              <a:t>label</a:t>
            </a:r>
            <a:r>
              <a:rPr lang="en-US" sz="2800" dirty="0"/>
              <a:t> on the sphere surface</a:t>
            </a:r>
          </a:p>
        </p:txBody>
      </p:sp>
      <p:sp>
        <p:nvSpPr>
          <p:cNvPr id="4" name="Content Placeholder 3"/>
          <p:cNvSpPr>
            <a:spLocks noGrp="1"/>
          </p:cNvSpPr>
          <p:nvPr>
            <p:ph idx="1"/>
          </p:nvPr>
        </p:nvSpPr>
        <p:spPr>
          <a:xfrm>
            <a:off x="457200" y="1600200"/>
            <a:ext cx="5257800" cy="4525963"/>
          </a:xfrm>
        </p:spPr>
        <p:txBody>
          <a:bodyPr>
            <a:normAutofit fontScale="85000" lnSpcReduction="20000"/>
          </a:bodyPr>
          <a:lstStyle/>
          <a:p>
            <a:pPr>
              <a:lnSpc>
                <a:spcPct val="120000"/>
              </a:lnSpc>
            </a:pPr>
            <a:r>
              <a:rPr lang="en-US" altLang="zh-CN" sz="2400" b="1" dirty="0"/>
              <a:t>Similar to earth's longitude and latitude </a:t>
            </a:r>
            <a:r>
              <a:rPr lang="en-US" altLang="zh-CN" sz="2400" dirty="0"/>
              <a:t>(</a:t>
            </a:r>
            <a:r>
              <a:rPr lang="en-US" altLang="zh-CN" sz="2400" u="sng" dirty="0"/>
              <a:t>Counting method is different</a:t>
            </a:r>
            <a:r>
              <a:rPr lang="en-US" altLang="zh-CN" sz="2400" dirty="0"/>
              <a:t>)</a:t>
            </a:r>
          </a:p>
          <a:p>
            <a:pPr>
              <a:lnSpc>
                <a:spcPct val="120000"/>
              </a:lnSpc>
            </a:pPr>
            <a:r>
              <a:rPr lang="en-US" altLang="zh-CN" sz="2400" b="1" dirty="0">
                <a:sym typeface="Symbol" pitchFamily="18" charset="2"/>
              </a:rPr>
              <a:t>Polar distance angle  (</a:t>
            </a:r>
            <a:r>
              <a:rPr lang="zh-CN" altLang="en-US" sz="2400" b="1" dirty="0">
                <a:sym typeface="Symbol" pitchFamily="18" charset="2"/>
              </a:rPr>
              <a:t>极距角，</a:t>
            </a:r>
            <a:r>
              <a:rPr lang="en-US" altLang="zh-CN" sz="2400" b="1" dirty="0">
                <a:sym typeface="Symbol" pitchFamily="18" charset="2"/>
              </a:rPr>
              <a:t>latitude) </a:t>
            </a:r>
            <a:r>
              <a:rPr lang="en-US" altLang="zh-CN" sz="2400" i="1" dirty="0">
                <a:sym typeface="Symbol" pitchFamily="18" charset="2"/>
              </a:rPr>
              <a:t>:</a:t>
            </a:r>
            <a:r>
              <a:rPr lang="en-US" altLang="zh-CN" sz="2400" dirty="0">
                <a:sym typeface="Symbol" pitchFamily="18" charset="2"/>
              </a:rPr>
              <a:t> the angle between the projection axis and the normal direction of crystal surface. It is counted from the north pole.</a:t>
            </a:r>
            <a:endParaRPr lang="zh-CN" altLang="en-US" sz="2400" dirty="0">
              <a:sym typeface="Symbol" pitchFamily="18" charset="2"/>
            </a:endParaRPr>
          </a:p>
          <a:p>
            <a:pPr>
              <a:lnSpc>
                <a:spcPct val="120000"/>
              </a:lnSpc>
            </a:pPr>
            <a:r>
              <a:rPr lang="en-US" altLang="zh-CN" sz="2400" b="1" dirty="0">
                <a:sym typeface="Symbol" pitchFamily="18" charset="2"/>
              </a:rPr>
              <a:t>Azimuth  (</a:t>
            </a:r>
            <a:r>
              <a:rPr lang="zh-CN" altLang="en-US" sz="2400" b="1" dirty="0">
                <a:sym typeface="Symbol" pitchFamily="18" charset="2"/>
              </a:rPr>
              <a:t>方位角，</a:t>
            </a:r>
            <a:r>
              <a:rPr lang="en-US" altLang="zh-CN" sz="2400" b="1" dirty="0">
                <a:sym typeface="Symbol" pitchFamily="18" charset="2"/>
              </a:rPr>
              <a:t>longitude): </a:t>
            </a:r>
            <a:r>
              <a:rPr lang="en-US" altLang="zh-CN" sz="2400" dirty="0">
                <a:sym typeface="Symbol" pitchFamily="18" charset="2"/>
              </a:rPr>
              <a:t>The angle between the meridional surface</a:t>
            </a:r>
            <a:r>
              <a:rPr lang="zh-CN" altLang="en-US" sz="2400" dirty="0">
                <a:sym typeface="Symbol" pitchFamily="18" charset="2"/>
              </a:rPr>
              <a:t>（子午面）</a:t>
            </a:r>
            <a:r>
              <a:rPr lang="en-US" altLang="zh-CN" sz="2400" dirty="0">
                <a:sym typeface="Symbol" pitchFamily="18" charset="2"/>
              </a:rPr>
              <a:t> containing the normal line of the studied crystal surface and the meridian plane of zero degree. The right east is set as </a:t>
            </a:r>
            <a:r>
              <a:rPr lang="en-US" altLang="zh-CN" sz="2400" b="1" dirty="0">
                <a:sym typeface="Symbol" pitchFamily="18" charset="2"/>
              </a:rPr>
              <a:t>=0.</a:t>
            </a:r>
            <a:endParaRPr lang="zh-CN" altLang="en-US" sz="2400" dirty="0">
              <a:sym typeface="Symbol" pitchFamily="18" charset="2"/>
            </a:endParaRPr>
          </a:p>
          <a:p>
            <a:pPr>
              <a:lnSpc>
                <a:spcPct val="120000"/>
              </a:lnSpc>
            </a:pPr>
            <a:r>
              <a:rPr lang="en-US" altLang="zh-CN" sz="2400" dirty="0">
                <a:sym typeface="Symbol" pitchFamily="18" charset="2"/>
              </a:rPr>
              <a:t>The coordinates of point M on the sphere  is</a:t>
            </a:r>
            <a:r>
              <a:rPr lang="zh-CN" altLang="en-US" sz="2400" dirty="0">
                <a:sym typeface="Symbol" pitchFamily="18" charset="2"/>
              </a:rPr>
              <a:t>（</a:t>
            </a:r>
            <a:r>
              <a:rPr lang="en-US" altLang="zh-CN" sz="2400" i="1" dirty="0">
                <a:sym typeface="Symbol" pitchFamily="18" charset="2"/>
              </a:rPr>
              <a:t>r,</a:t>
            </a:r>
            <a:r>
              <a:rPr lang="el-GR" altLang="zh-CN" sz="2400" i="1" dirty="0">
                <a:sym typeface="Symbol" pitchFamily="18" charset="2"/>
              </a:rPr>
              <a:t>ρ</a:t>
            </a:r>
            <a:r>
              <a:rPr lang="en-US" altLang="zh-CN" sz="2400" i="1" dirty="0">
                <a:sym typeface="Symbol" pitchFamily="18" charset="2"/>
              </a:rPr>
              <a:t>,</a:t>
            </a:r>
            <a:r>
              <a:rPr lang="el-GR" altLang="zh-CN" sz="2400" i="1" dirty="0">
                <a:sym typeface="Symbol" pitchFamily="18" charset="2"/>
              </a:rPr>
              <a:t> </a:t>
            </a:r>
            <a:r>
              <a:rPr lang="en-US" altLang="zh-CN" sz="2400" dirty="0">
                <a:sym typeface="Symbol" pitchFamily="18" charset="2"/>
              </a:rPr>
              <a:t>)</a:t>
            </a:r>
            <a:endParaRPr lang="en-US" sz="2800" dirty="0"/>
          </a:p>
        </p:txBody>
      </p:sp>
      <p:pic>
        <p:nvPicPr>
          <p:cNvPr id="5" name="Picture 6" descr="pic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1889601"/>
            <a:ext cx="2527258" cy="2891474"/>
          </a:xfrm>
          <a:prstGeom prst="rect">
            <a:avLst/>
          </a:prstGeom>
          <a:solidFill>
            <a:schemeClr val="bg1"/>
          </a:solidFill>
        </p:spPr>
      </p:pic>
      <p:cxnSp>
        <p:nvCxnSpPr>
          <p:cNvPr id="7" name="Straight Connector 6"/>
          <p:cNvCxnSpPr/>
          <p:nvPr/>
        </p:nvCxnSpPr>
        <p:spPr>
          <a:xfrm>
            <a:off x="7196668" y="1066800"/>
            <a:ext cx="0" cy="4597062"/>
          </a:xfrm>
          <a:prstGeom prst="line">
            <a:avLst/>
          </a:prstGeom>
          <a:ln w="28575">
            <a:solidFill>
              <a:srgbClr val="0070C0"/>
            </a:solidFill>
            <a:prstDash val="dashDot"/>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166984" y="5820715"/>
            <a:ext cx="2062616" cy="461665"/>
          </a:xfrm>
          <a:prstGeom prst="rect">
            <a:avLst/>
          </a:prstGeom>
        </p:spPr>
        <p:txBody>
          <a:bodyPr wrap="none">
            <a:spAutoFit/>
          </a:bodyPr>
          <a:lstStyle/>
          <a:p>
            <a:r>
              <a:rPr lang="en-US" sz="2400" b="1" dirty="0"/>
              <a:t>Projection axis</a:t>
            </a:r>
            <a:endParaRPr lang="en-US" sz="2400" dirty="0"/>
          </a:p>
        </p:txBody>
      </p:sp>
    </p:spTree>
    <p:extLst>
      <p:ext uri="{BB962C8B-B14F-4D97-AF65-F5344CB8AC3E}">
        <p14:creationId xmlns:p14="http://schemas.microsoft.com/office/powerpoint/2010/main" val="417706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4. Stereographic polar projection</a:t>
            </a:r>
          </a:p>
        </p:txBody>
      </p:sp>
      <p:sp>
        <p:nvSpPr>
          <p:cNvPr id="4" name="Content Placeholder 3"/>
          <p:cNvSpPr>
            <a:spLocks noGrp="1"/>
          </p:cNvSpPr>
          <p:nvPr>
            <p:ph idx="1"/>
          </p:nvPr>
        </p:nvSpPr>
        <p:spPr>
          <a:xfrm>
            <a:off x="457200" y="1295401"/>
            <a:ext cx="5257800" cy="2743200"/>
          </a:xfrm>
        </p:spPr>
        <p:txBody>
          <a:bodyPr>
            <a:noAutofit/>
          </a:bodyPr>
          <a:lstStyle/>
          <a:p>
            <a:pPr marL="0" indent="0">
              <a:lnSpc>
                <a:spcPct val="120000"/>
              </a:lnSpc>
              <a:buNone/>
            </a:pPr>
            <a:r>
              <a:rPr lang="en-US" sz="2000" dirty="0"/>
              <a:t>Project all the points on the sphere surface to the polar equatorial plane(</a:t>
            </a:r>
            <a:r>
              <a:rPr lang="zh-CN" altLang="en-US" sz="2000" dirty="0"/>
              <a:t>赤道平面</a:t>
            </a:r>
            <a:r>
              <a:rPr lang="en-US" sz="2000" dirty="0"/>
              <a:t>) </a:t>
            </a:r>
            <a:r>
              <a:rPr lang="en-US" altLang="zh-CN" sz="2000" dirty="0"/>
              <a:t>with south pole (S) as view point. That is, connect the points on sphere surface with south pole point. Then the intersection point of this connection line and the equatorial plane is </a:t>
            </a:r>
            <a:r>
              <a:rPr lang="en-US" sz="2000" dirty="0"/>
              <a:t>the point of stereographic projection.</a:t>
            </a:r>
          </a:p>
          <a:p>
            <a:pPr>
              <a:lnSpc>
                <a:spcPct val="120000"/>
              </a:lnSpc>
            </a:pPr>
            <a:endParaRPr lang="en-US" sz="2000" dirty="0"/>
          </a:p>
          <a:p>
            <a:pPr>
              <a:lnSpc>
                <a:spcPct val="120000"/>
              </a:lnSpc>
            </a:pPr>
            <a:endParaRPr lang="en-US" sz="2000" dirty="0"/>
          </a:p>
        </p:txBody>
      </p:sp>
      <p:sp>
        <p:nvSpPr>
          <p:cNvPr id="9" name="Rectangle 8"/>
          <p:cNvSpPr>
            <a:spLocks noChangeArrowheads="1"/>
          </p:cNvSpPr>
          <p:nvPr/>
        </p:nvSpPr>
        <p:spPr bwMode="auto">
          <a:xfrm>
            <a:off x="494241" y="5105400"/>
            <a:ext cx="7894108" cy="79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sz="2000" b="1" dirty="0"/>
              <a:t>Thus, the distribution of all crystal faces is reflected by the distribution of corresponding points on the equatorial plane.</a:t>
            </a:r>
            <a:endParaRPr kumimoji="0" lang="zh-CN" altLang="en-US" sz="2000" b="1" dirty="0"/>
          </a:p>
        </p:txBody>
      </p:sp>
      <p:sp>
        <p:nvSpPr>
          <p:cNvPr id="10" name="Rectangle 9"/>
          <p:cNvSpPr/>
          <p:nvPr/>
        </p:nvSpPr>
        <p:spPr>
          <a:xfrm>
            <a:off x="5989620" y="2971800"/>
            <a:ext cx="2895600" cy="701731"/>
          </a:xfrm>
          <a:prstGeom prst="rect">
            <a:avLst/>
          </a:prstGeom>
        </p:spPr>
        <p:txBody>
          <a:bodyPr wrap="square">
            <a:spAutoFit/>
          </a:bodyPr>
          <a:lstStyle/>
          <a:p>
            <a:pPr lvl="0">
              <a:lnSpc>
                <a:spcPct val="60000"/>
              </a:lnSpc>
            </a:pPr>
            <a:r>
              <a:rPr lang="en-US" altLang="zh-CN" sz="2200" b="1" dirty="0">
                <a:solidFill>
                  <a:srgbClr val="000000"/>
                </a:solidFill>
              </a:rPr>
              <a:t>Now, planes = points. </a:t>
            </a:r>
          </a:p>
          <a:p>
            <a:pPr lvl="0">
              <a:lnSpc>
                <a:spcPct val="60000"/>
              </a:lnSpc>
            </a:pPr>
            <a:r>
              <a:rPr lang="en-US" altLang="zh-CN" sz="2200" b="1" dirty="0">
                <a:solidFill>
                  <a:srgbClr val="000000"/>
                </a:solidFill>
              </a:rPr>
              <a:t> </a:t>
            </a:r>
          </a:p>
          <a:p>
            <a:pPr lvl="0" algn="ctr">
              <a:lnSpc>
                <a:spcPct val="60000"/>
              </a:lnSpc>
            </a:pPr>
            <a:r>
              <a:rPr lang="en-US" altLang="zh-CN" sz="2200" b="1" dirty="0">
                <a:solidFill>
                  <a:srgbClr val="000000"/>
                </a:solidFill>
              </a:rPr>
              <a:t>But 3D</a:t>
            </a:r>
            <a:r>
              <a:rPr lang="en-US" altLang="zh-CN" sz="2200" b="1" dirty="0">
                <a:solidFill>
                  <a:srgbClr val="000000"/>
                </a:solidFill>
                <a:sym typeface="Wingdings" panose="05000000000000000000" pitchFamily="2" charset="2"/>
              </a:rPr>
              <a:t></a:t>
            </a:r>
            <a:r>
              <a:rPr lang="en-US" altLang="zh-CN" sz="2200" b="1" dirty="0">
                <a:solidFill>
                  <a:srgbClr val="000000"/>
                </a:solidFill>
              </a:rPr>
              <a:t>2D</a:t>
            </a:r>
            <a:r>
              <a:rPr lang="zh-CN" altLang="en-US" sz="2200" b="1" dirty="0">
                <a:solidFill>
                  <a:srgbClr val="000000"/>
                </a:solidFill>
              </a:rPr>
              <a:t>！</a:t>
            </a:r>
          </a:p>
        </p:txBody>
      </p:sp>
      <p:pic>
        <p:nvPicPr>
          <p:cNvPr id="11" name="Picture 6" descr="pic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620" y="838200"/>
            <a:ext cx="2830530" cy="20290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02708" y="4038600"/>
            <a:ext cx="8001000" cy="830997"/>
          </a:xfrm>
          <a:prstGeom prst="rect">
            <a:avLst/>
          </a:prstGeom>
        </p:spPr>
        <p:txBody>
          <a:bodyPr wrap="square">
            <a:spAutoFit/>
          </a:bodyPr>
          <a:lstStyle/>
          <a:p>
            <a:pPr lvl="0">
              <a:lnSpc>
                <a:spcPct val="120000"/>
              </a:lnSpc>
              <a:spcBef>
                <a:spcPct val="20000"/>
              </a:spcBef>
            </a:pPr>
            <a:r>
              <a:rPr lang="en-US" sz="2000" dirty="0">
                <a:solidFill>
                  <a:prstClr val="black"/>
                </a:solidFill>
              </a:rPr>
              <a:t>e.g. Connect A, the projection point of crystal surface on sphere surface, and  south pole point S. </a:t>
            </a:r>
            <a:r>
              <a:rPr lang="en-US" altLang="zh-CN" sz="2000" dirty="0">
                <a:solidFill>
                  <a:prstClr val="black"/>
                </a:solidFill>
              </a:rPr>
              <a:t>AS line intersect with equatorial plane at point a.</a:t>
            </a:r>
            <a:endParaRPr lang="en-US" sz="2000" dirty="0">
              <a:solidFill>
                <a:prstClr val="black"/>
              </a:solidFill>
            </a:endParaRPr>
          </a:p>
        </p:txBody>
      </p:sp>
    </p:spTree>
    <p:extLst>
      <p:ext uri="{BB962C8B-B14F-4D97-AF65-F5344CB8AC3E}">
        <p14:creationId xmlns:p14="http://schemas.microsoft.com/office/powerpoint/2010/main" val="2061108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Stereographic polar projection</a:t>
            </a:r>
          </a:p>
        </p:txBody>
      </p:sp>
      <p:sp>
        <p:nvSpPr>
          <p:cNvPr id="5" name="Content Placeholder 4"/>
          <p:cNvSpPr>
            <a:spLocks noGrp="1"/>
          </p:cNvSpPr>
          <p:nvPr>
            <p:ph idx="1"/>
          </p:nvPr>
        </p:nvSpPr>
        <p:spPr/>
        <p:txBody>
          <a:bodyPr/>
          <a:lstStyle/>
          <a:p>
            <a:pPr marL="0" indent="0">
              <a:buNone/>
            </a:pPr>
            <a:r>
              <a:rPr lang="en-US" sz="2800" b="1" dirty="0"/>
              <a:t>Projection ground circle </a:t>
            </a:r>
          </a:p>
          <a:p>
            <a:pPr marL="0" indent="0">
              <a:buNone/>
            </a:pPr>
            <a:r>
              <a:rPr lang="en-US" dirty="0"/>
              <a:t>	</a:t>
            </a:r>
            <a:r>
              <a:rPr lang="en-US" sz="2400" b="1" dirty="0"/>
              <a:t>Large circle </a:t>
            </a:r>
            <a:r>
              <a:rPr lang="en-US" sz="2400" dirty="0"/>
              <a:t>and large arc</a:t>
            </a:r>
          </a:p>
          <a:p>
            <a:pPr marL="0" indent="0">
              <a:buNone/>
            </a:pPr>
            <a:r>
              <a:rPr lang="en-US" sz="2400" dirty="0"/>
              <a:t>	</a:t>
            </a:r>
            <a:r>
              <a:rPr lang="en-US" sz="2400" b="1" dirty="0"/>
              <a:t>Small circle </a:t>
            </a:r>
            <a:r>
              <a:rPr lang="en-US" sz="2400" dirty="0"/>
              <a:t>and small arc </a:t>
            </a:r>
          </a:p>
          <a:p>
            <a:endParaRPr lang="en-US" dirty="0"/>
          </a:p>
        </p:txBody>
      </p:sp>
      <p:pic>
        <p:nvPicPr>
          <p:cNvPr id="12" name="Picture 6" descr="pic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3581399"/>
            <a:ext cx="8294687" cy="2220913"/>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FC5C3DB-1BE3-41ED-891F-46768933C63E}"/>
              </a:ext>
            </a:extLst>
          </p:cNvPr>
          <p:cNvSpPr txBox="1"/>
          <p:nvPr/>
        </p:nvSpPr>
        <p:spPr>
          <a:xfrm>
            <a:off x="1295400" y="6126163"/>
            <a:ext cx="7315200" cy="369332"/>
          </a:xfrm>
          <a:prstGeom prst="rect">
            <a:avLst/>
          </a:prstGeom>
          <a:noFill/>
        </p:spPr>
        <p:txBody>
          <a:bodyPr wrap="square">
            <a:spAutoFit/>
          </a:bodyPr>
          <a:lstStyle/>
          <a:p>
            <a:r>
              <a:rPr lang="en-US" altLang="zh-CN" sz="1800" b="1" dirty="0"/>
              <a:t>Large circle</a:t>
            </a:r>
            <a:r>
              <a:rPr lang="en-US" altLang="zh-CN" b="1" dirty="0"/>
              <a:t>:</a:t>
            </a:r>
            <a:r>
              <a:rPr lang="zh-CN" altLang="en-US" b="1" dirty="0"/>
              <a:t> </a:t>
            </a:r>
            <a:r>
              <a:rPr lang="en-US" altLang="zh-CN" b="1" dirty="0"/>
              <a:t>a circle whose center coincides with that of the sphere</a:t>
            </a:r>
            <a:r>
              <a:rPr lang="en-US" altLang="zh-CN" sz="1800" b="1" dirty="0"/>
              <a:t> </a:t>
            </a:r>
            <a:endParaRPr lang="zh-CN" altLang="en-US" dirty="0"/>
          </a:p>
        </p:txBody>
      </p:sp>
    </p:spTree>
    <p:extLst>
      <p:ext uri="{BB962C8B-B14F-4D97-AF65-F5344CB8AC3E}">
        <p14:creationId xmlns:p14="http://schemas.microsoft.com/office/powerpoint/2010/main" val="2150588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Stereographic polar projection</a:t>
            </a:r>
          </a:p>
        </p:txBody>
      </p:sp>
      <p:sp>
        <p:nvSpPr>
          <p:cNvPr id="9" name="Rectangle 8"/>
          <p:cNvSpPr>
            <a:spLocks noChangeArrowheads="1"/>
          </p:cNvSpPr>
          <p:nvPr/>
        </p:nvSpPr>
        <p:spPr bwMode="auto">
          <a:xfrm>
            <a:off x="635000" y="5105400"/>
            <a:ext cx="7894108" cy="79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sz="2000" dirty="0"/>
              <a:t>The projection of the horizontal large circle forms the ground circle.</a:t>
            </a:r>
          </a:p>
          <a:p>
            <a:pPr>
              <a:lnSpc>
                <a:spcPct val="120000"/>
              </a:lnSpc>
            </a:pPr>
            <a:r>
              <a:rPr lang="en-US" altLang="zh-CN" sz="2000" dirty="0"/>
              <a:t>The projection of the perpendicular large circle forms diameter.</a:t>
            </a:r>
          </a:p>
        </p:txBody>
      </p:sp>
      <p:pic>
        <p:nvPicPr>
          <p:cNvPr id="12" name="Picture 2" descr="2-7a"/>
          <p:cNvPicPr>
            <a:picLocks noGrp="1" noChangeAspect="1" noChangeArrowheads="1" noCrop="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286001" y="1524000"/>
            <a:ext cx="4012100" cy="344961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22579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Stereographic polar projection</a:t>
            </a:r>
          </a:p>
        </p:txBody>
      </p:sp>
      <p:sp>
        <p:nvSpPr>
          <p:cNvPr id="9" name="Rectangle 8"/>
          <p:cNvSpPr>
            <a:spLocks noChangeArrowheads="1"/>
          </p:cNvSpPr>
          <p:nvPr/>
        </p:nvSpPr>
        <p:spPr bwMode="auto">
          <a:xfrm>
            <a:off x="635000" y="5105400"/>
            <a:ext cx="7894108" cy="438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sz="2000" dirty="0"/>
              <a:t>A large circular arc is formed by the projection of a inclined large circle.</a:t>
            </a:r>
          </a:p>
        </p:txBody>
      </p:sp>
      <p:pic>
        <p:nvPicPr>
          <p:cNvPr id="6" name="Picture 4" descr="2-7b"/>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47800"/>
            <a:ext cx="4032250" cy="3486150"/>
          </a:xfrm>
          <a:prstGeom prst="rect">
            <a:avLst/>
          </a:prstGeom>
          <a:noFill/>
          <a:ln>
            <a:noFill/>
          </a:ln>
        </p:spPr>
      </p:pic>
    </p:spTree>
    <p:extLst>
      <p:ext uri="{BB962C8B-B14F-4D97-AF65-F5344CB8AC3E}">
        <p14:creationId xmlns:p14="http://schemas.microsoft.com/office/powerpoint/2010/main" val="174973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2) Stereographic polar projection</a:t>
            </a:r>
          </a:p>
        </p:txBody>
      </p:sp>
      <p:pic>
        <p:nvPicPr>
          <p:cNvPr id="5" name="Picture 4" descr="2-7c"/>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66950" y="1409700"/>
            <a:ext cx="4176713"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1066800" y="5573713"/>
            <a:ext cx="7391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000" dirty="0"/>
              <a:t>The projection of the perpendicular small circle forms a small arc.</a:t>
            </a:r>
            <a:endParaRPr lang="zh-CN" altLang="en-US" sz="2000" dirty="0"/>
          </a:p>
        </p:txBody>
      </p:sp>
    </p:spTree>
    <p:extLst>
      <p:ext uri="{BB962C8B-B14F-4D97-AF65-F5344CB8AC3E}">
        <p14:creationId xmlns:p14="http://schemas.microsoft.com/office/powerpoint/2010/main" val="2322968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sz="half" idx="1"/>
          </p:nvPr>
        </p:nvSpPr>
        <p:spPr>
          <a:xfrm>
            <a:off x="468313" y="609600"/>
            <a:ext cx="8135937" cy="1079500"/>
          </a:xfrm>
        </p:spPr>
        <p:txBody>
          <a:bodyPr>
            <a:noAutofit/>
          </a:bodyPr>
          <a:lstStyle/>
          <a:p>
            <a:pPr marL="0" indent="0">
              <a:lnSpc>
                <a:spcPct val="80000"/>
              </a:lnSpc>
              <a:buNone/>
            </a:pPr>
            <a:r>
              <a:rPr lang="en-US" altLang="zh-CN" sz="2400" dirty="0">
                <a:ea typeface="楷体_GB2312" pitchFamily="49" charset="-122"/>
              </a:rPr>
              <a:t>How to express the point on the surface of sphere, namely azimuth and polar distance angle?</a:t>
            </a:r>
          </a:p>
        </p:txBody>
      </p:sp>
      <p:pic>
        <p:nvPicPr>
          <p:cNvPr id="60425" name="Picture 9" descr="2-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33400" y="1344554"/>
            <a:ext cx="4537075" cy="3168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8" name="Text Box 12"/>
          <p:cNvSpPr txBox="1">
            <a:spLocks noChangeArrowheads="1"/>
          </p:cNvSpPr>
          <p:nvPr/>
        </p:nvSpPr>
        <p:spPr bwMode="auto">
          <a:xfrm>
            <a:off x="304800" y="4639487"/>
            <a:ext cx="8659813" cy="179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US" altLang="zh-CN" dirty="0"/>
              <a:t>Azimuth </a:t>
            </a:r>
            <a:r>
              <a:rPr lang="en-US" altLang="zh-CN" dirty="0">
                <a:sym typeface="Symbol" pitchFamily="18" charset="2"/>
              </a:rPr>
              <a:t> </a:t>
            </a:r>
            <a:r>
              <a:rPr lang="en-US" altLang="zh-CN" dirty="0"/>
              <a:t>is measured on the ground circle and the projection of the points with the same azimuth forms a straight line in the equatorial plane; Polar distance angle </a:t>
            </a:r>
            <a:r>
              <a:rPr lang="el-GR" altLang="zh-CN" dirty="0"/>
              <a:t>ρ</a:t>
            </a:r>
            <a:r>
              <a:rPr lang="en-US" altLang="zh-CN" dirty="0"/>
              <a:t> is shown as the distance from the projection point to the center of the circle, h = r tan (</a:t>
            </a:r>
            <a:r>
              <a:rPr lang="en-US" altLang="zh-CN" dirty="0">
                <a:sym typeface="Symbol" pitchFamily="18" charset="2"/>
              </a:rPr>
              <a:t></a:t>
            </a:r>
            <a:r>
              <a:rPr lang="en-US" altLang="zh-CN" dirty="0"/>
              <a:t> /2). The projection of the point with the same polar distance angle forms a circle with the center of O in the equatorial plane.</a:t>
            </a:r>
            <a:endParaRPr lang="zh-CN" altLang="en-US" dirty="0"/>
          </a:p>
        </p:txBody>
      </p:sp>
      <p:sp>
        <p:nvSpPr>
          <p:cNvPr id="60429" name="Oval 13"/>
          <p:cNvSpPr>
            <a:spLocks noChangeArrowheads="1"/>
          </p:cNvSpPr>
          <p:nvPr/>
        </p:nvSpPr>
        <p:spPr bwMode="auto">
          <a:xfrm>
            <a:off x="5410200" y="1604962"/>
            <a:ext cx="2665413" cy="2665412"/>
          </a:xfrm>
          <a:prstGeom prst="ellipse">
            <a:avLst/>
          </a:prstGeom>
          <a:noFill/>
          <a:ln w="28575">
            <a:solidFill>
              <a:srgbClr val="080808"/>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30" name="Line 14"/>
          <p:cNvSpPr>
            <a:spLocks noChangeShapeType="1"/>
          </p:cNvSpPr>
          <p:nvPr/>
        </p:nvSpPr>
        <p:spPr bwMode="auto">
          <a:xfrm>
            <a:off x="5410200" y="2973387"/>
            <a:ext cx="2665413" cy="0"/>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31" name="Line 15"/>
          <p:cNvSpPr>
            <a:spLocks noChangeShapeType="1"/>
          </p:cNvSpPr>
          <p:nvPr/>
        </p:nvSpPr>
        <p:spPr bwMode="auto">
          <a:xfrm>
            <a:off x="6778625" y="1604962"/>
            <a:ext cx="0" cy="2663825"/>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32" name="Oval 16"/>
          <p:cNvSpPr>
            <a:spLocks noChangeArrowheads="1"/>
          </p:cNvSpPr>
          <p:nvPr/>
        </p:nvSpPr>
        <p:spPr bwMode="auto">
          <a:xfrm>
            <a:off x="7210425" y="3405187"/>
            <a:ext cx="144463" cy="144462"/>
          </a:xfrm>
          <a:prstGeom prst="ellipse">
            <a:avLst/>
          </a:prstGeom>
          <a:solidFill>
            <a:srgbClr val="080808"/>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33" name="Line 17"/>
          <p:cNvSpPr>
            <a:spLocks noChangeShapeType="1"/>
          </p:cNvSpPr>
          <p:nvPr/>
        </p:nvSpPr>
        <p:spPr bwMode="auto">
          <a:xfrm>
            <a:off x="6778625" y="2973387"/>
            <a:ext cx="936625" cy="935037"/>
          </a:xfrm>
          <a:prstGeom prst="line">
            <a:avLst/>
          </a:prstGeom>
          <a:noFill/>
          <a:ln w="9525">
            <a:solidFill>
              <a:srgbClr val="CC33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34" name="Text Box 18"/>
          <p:cNvSpPr txBox="1">
            <a:spLocks noChangeArrowheads="1"/>
          </p:cNvSpPr>
          <p:nvPr/>
        </p:nvSpPr>
        <p:spPr bwMode="auto">
          <a:xfrm>
            <a:off x="8002588" y="2468562"/>
            <a:ext cx="9001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bg1"/>
                </a:solidFill>
                <a:sym typeface="Symbol" pitchFamily="18" charset="2"/>
              </a:rPr>
              <a:t>= 0</a:t>
            </a:r>
          </a:p>
        </p:txBody>
      </p:sp>
      <p:sp>
        <p:nvSpPr>
          <p:cNvPr id="60435" name="Text Box 19"/>
          <p:cNvSpPr txBox="1">
            <a:spLocks noChangeArrowheads="1"/>
          </p:cNvSpPr>
          <p:nvPr/>
        </p:nvSpPr>
        <p:spPr bwMode="auto">
          <a:xfrm>
            <a:off x="7138988" y="2468562"/>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bg1"/>
                </a:solidFill>
                <a:sym typeface="Symbol" pitchFamily="18" charset="2"/>
              </a:rPr>
              <a:t></a:t>
            </a:r>
          </a:p>
        </p:txBody>
      </p:sp>
      <p:sp>
        <p:nvSpPr>
          <p:cNvPr id="60436" name="AutoShape 20"/>
          <p:cNvSpPr>
            <a:spLocks/>
          </p:cNvSpPr>
          <p:nvPr/>
        </p:nvSpPr>
        <p:spPr bwMode="auto">
          <a:xfrm rot="1618780">
            <a:off x="7931150" y="3116262"/>
            <a:ext cx="271463" cy="792162"/>
          </a:xfrm>
          <a:prstGeom prst="rightBrace">
            <a:avLst>
              <a:gd name="adj1" fmla="val 24318"/>
              <a:gd name="adj2" fmla="val 50616"/>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solidFill>
                <a:schemeClr val="bg1"/>
              </a:solidFill>
            </a:endParaRPr>
          </a:p>
        </p:txBody>
      </p:sp>
      <p:sp>
        <p:nvSpPr>
          <p:cNvPr id="60437" name="Text Box 21"/>
          <p:cNvSpPr txBox="1">
            <a:spLocks noChangeArrowheads="1"/>
          </p:cNvSpPr>
          <p:nvPr/>
        </p:nvSpPr>
        <p:spPr bwMode="auto">
          <a:xfrm>
            <a:off x="8218488" y="3476624"/>
            <a:ext cx="504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chemeClr val="bg1"/>
                </a:solidFill>
                <a:sym typeface="Symbol" pitchFamily="18" charset="2"/>
              </a:rPr>
              <a:t></a:t>
            </a:r>
          </a:p>
        </p:txBody>
      </p:sp>
      <p:sp>
        <p:nvSpPr>
          <p:cNvPr id="60439" name="AutoShape 23"/>
          <p:cNvSpPr>
            <a:spLocks/>
          </p:cNvSpPr>
          <p:nvPr/>
        </p:nvSpPr>
        <p:spPr bwMode="auto">
          <a:xfrm rot="-2388526">
            <a:off x="7067550" y="2828924"/>
            <a:ext cx="173038" cy="614363"/>
          </a:xfrm>
          <a:prstGeom prst="rightBrace">
            <a:avLst>
              <a:gd name="adj1" fmla="val 29587"/>
              <a:gd name="adj2" fmla="val 47880"/>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0449" name="Group 33"/>
          <p:cNvGrpSpPr>
            <a:grpSpLocks/>
          </p:cNvGrpSpPr>
          <p:nvPr/>
        </p:nvGrpSpPr>
        <p:grpSpPr bwMode="auto">
          <a:xfrm>
            <a:off x="5410201" y="1604962"/>
            <a:ext cx="3313113" cy="2665412"/>
            <a:chOff x="3560" y="1253"/>
            <a:chExt cx="2087" cy="1679"/>
          </a:xfrm>
        </p:grpSpPr>
        <p:sp>
          <p:nvSpPr>
            <p:cNvPr id="60440" name="Oval 24"/>
            <p:cNvSpPr>
              <a:spLocks noChangeArrowheads="1"/>
            </p:cNvSpPr>
            <p:nvPr/>
          </p:nvSpPr>
          <p:spPr bwMode="auto">
            <a:xfrm>
              <a:off x="3560" y="1253"/>
              <a:ext cx="1679" cy="1679"/>
            </a:xfrm>
            <a:prstGeom prst="ellipse">
              <a:avLst/>
            </a:prstGeom>
            <a:noFill/>
            <a:ln w="28575">
              <a:solidFill>
                <a:srgbClr val="080808"/>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41" name="Line 25"/>
            <p:cNvSpPr>
              <a:spLocks noChangeShapeType="1"/>
            </p:cNvSpPr>
            <p:nvPr/>
          </p:nvSpPr>
          <p:spPr bwMode="auto">
            <a:xfrm>
              <a:off x="3560" y="2115"/>
              <a:ext cx="1679" cy="0"/>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42" name="Line 26"/>
            <p:cNvSpPr>
              <a:spLocks noChangeShapeType="1"/>
            </p:cNvSpPr>
            <p:nvPr/>
          </p:nvSpPr>
          <p:spPr bwMode="auto">
            <a:xfrm>
              <a:off x="4422" y="1253"/>
              <a:ext cx="0" cy="1678"/>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43" name="Line 27"/>
            <p:cNvSpPr>
              <a:spLocks noChangeShapeType="1"/>
            </p:cNvSpPr>
            <p:nvPr/>
          </p:nvSpPr>
          <p:spPr bwMode="auto">
            <a:xfrm>
              <a:off x="4422" y="2115"/>
              <a:ext cx="590" cy="589"/>
            </a:xfrm>
            <a:prstGeom prst="line">
              <a:avLst/>
            </a:prstGeom>
            <a:noFill/>
            <a:ln w="9525">
              <a:solidFill>
                <a:srgbClr val="CC3300"/>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46" name="AutoShape 30"/>
            <p:cNvSpPr>
              <a:spLocks/>
            </p:cNvSpPr>
            <p:nvPr/>
          </p:nvSpPr>
          <p:spPr bwMode="auto">
            <a:xfrm rot="1618780">
              <a:off x="5148" y="2205"/>
              <a:ext cx="171" cy="499"/>
            </a:xfrm>
            <a:prstGeom prst="rightBrace">
              <a:avLst>
                <a:gd name="adj1" fmla="val 24318"/>
                <a:gd name="adj2" fmla="val 50616"/>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solidFill>
                  <a:schemeClr val="bg1"/>
                </a:solidFill>
              </a:endParaRPr>
            </a:p>
          </p:txBody>
        </p:sp>
        <p:sp>
          <p:nvSpPr>
            <p:cNvPr id="60447" name="Text Box 31"/>
            <p:cNvSpPr txBox="1">
              <a:spLocks noChangeArrowheads="1"/>
            </p:cNvSpPr>
            <p:nvPr/>
          </p:nvSpPr>
          <p:spPr bwMode="auto">
            <a:xfrm>
              <a:off x="5329" y="2432"/>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a:solidFill>
                    <a:srgbClr val="FFFF66"/>
                  </a:solidFill>
                  <a:sym typeface="Symbol" pitchFamily="18" charset="2"/>
                </a:rPr>
                <a:t></a:t>
              </a:r>
            </a:p>
          </p:txBody>
        </p:sp>
        <p:sp>
          <p:nvSpPr>
            <p:cNvPr id="60448" name="AutoShape 32"/>
            <p:cNvSpPr>
              <a:spLocks/>
            </p:cNvSpPr>
            <p:nvPr/>
          </p:nvSpPr>
          <p:spPr bwMode="auto">
            <a:xfrm rot="-2388526">
              <a:off x="4604" y="2024"/>
              <a:ext cx="109" cy="387"/>
            </a:xfrm>
            <a:prstGeom prst="rightBrace">
              <a:avLst>
                <a:gd name="adj1" fmla="val 29587"/>
                <a:gd name="adj2" fmla="val 47880"/>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0450" name="Group 34"/>
          <p:cNvGrpSpPr>
            <a:grpSpLocks/>
          </p:cNvGrpSpPr>
          <p:nvPr/>
        </p:nvGrpSpPr>
        <p:grpSpPr bwMode="auto">
          <a:xfrm>
            <a:off x="5410200" y="1608057"/>
            <a:ext cx="3609975" cy="2665412"/>
            <a:chOff x="3560" y="1253"/>
            <a:chExt cx="2274" cy="1679"/>
          </a:xfrm>
        </p:grpSpPr>
        <p:sp>
          <p:nvSpPr>
            <p:cNvPr id="60451" name="Oval 35"/>
            <p:cNvSpPr>
              <a:spLocks noChangeArrowheads="1"/>
            </p:cNvSpPr>
            <p:nvPr/>
          </p:nvSpPr>
          <p:spPr bwMode="auto">
            <a:xfrm>
              <a:off x="3560" y="1253"/>
              <a:ext cx="1679" cy="1679"/>
            </a:xfrm>
            <a:prstGeom prst="ellipse">
              <a:avLst/>
            </a:prstGeom>
            <a:noFill/>
            <a:ln w="28575">
              <a:solidFill>
                <a:srgbClr val="080808"/>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452" name="Line 36"/>
            <p:cNvSpPr>
              <a:spLocks noChangeShapeType="1"/>
            </p:cNvSpPr>
            <p:nvPr/>
          </p:nvSpPr>
          <p:spPr bwMode="auto">
            <a:xfrm>
              <a:off x="3560" y="2115"/>
              <a:ext cx="1679" cy="0"/>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53" name="Line 37"/>
            <p:cNvSpPr>
              <a:spLocks noChangeShapeType="1"/>
            </p:cNvSpPr>
            <p:nvPr/>
          </p:nvSpPr>
          <p:spPr bwMode="auto">
            <a:xfrm>
              <a:off x="4422" y="1253"/>
              <a:ext cx="0" cy="1678"/>
            </a:xfrm>
            <a:prstGeom prst="line">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54" name="Line 38"/>
            <p:cNvSpPr>
              <a:spLocks noChangeShapeType="1"/>
            </p:cNvSpPr>
            <p:nvPr/>
          </p:nvSpPr>
          <p:spPr bwMode="auto">
            <a:xfrm>
              <a:off x="4422" y="2115"/>
              <a:ext cx="590" cy="589"/>
            </a:xfrm>
            <a:prstGeom prst="line">
              <a:avLst/>
            </a:prstGeom>
            <a:noFill/>
            <a:ln w="28575">
              <a:solidFill>
                <a:srgbClr val="00B0F0"/>
              </a:solidFill>
              <a:prstDash val="dash"/>
              <a:miter lim="800000"/>
              <a:headEnd type="none"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55" name="Text Box 39"/>
            <p:cNvSpPr txBox="1">
              <a:spLocks noChangeArrowheads="1"/>
            </p:cNvSpPr>
            <p:nvPr/>
          </p:nvSpPr>
          <p:spPr bwMode="auto">
            <a:xfrm>
              <a:off x="5267" y="1956"/>
              <a:ext cx="56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ym typeface="Symbol" pitchFamily="18" charset="2"/>
                </a:rPr>
                <a:t>= 0</a:t>
              </a:r>
            </a:p>
          </p:txBody>
        </p:sp>
        <p:sp>
          <p:nvSpPr>
            <p:cNvPr id="60456" name="Text Box 40"/>
            <p:cNvSpPr txBox="1">
              <a:spLocks noChangeArrowheads="1"/>
            </p:cNvSpPr>
            <p:nvPr/>
          </p:nvSpPr>
          <p:spPr bwMode="auto">
            <a:xfrm>
              <a:off x="4615" y="1877"/>
              <a:ext cx="31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dirty="0">
                  <a:effectLst>
                    <a:outerShdw blurRad="38100" dist="38100" dir="2700000" algn="tl">
                      <a:srgbClr val="000000">
                        <a:alpha val="43137"/>
                      </a:srgbClr>
                    </a:outerShdw>
                  </a:effectLst>
                  <a:sym typeface="Symbol" pitchFamily="18" charset="2"/>
                </a:rPr>
                <a:t>h</a:t>
              </a:r>
            </a:p>
          </p:txBody>
        </p:sp>
        <p:sp>
          <p:nvSpPr>
            <p:cNvPr id="60457" name="AutoShape 41"/>
            <p:cNvSpPr>
              <a:spLocks/>
            </p:cNvSpPr>
            <p:nvPr/>
          </p:nvSpPr>
          <p:spPr bwMode="auto">
            <a:xfrm rot="1618780">
              <a:off x="5148" y="2205"/>
              <a:ext cx="171" cy="499"/>
            </a:xfrm>
            <a:prstGeom prst="rightBrace">
              <a:avLst>
                <a:gd name="adj1" fmla="val 24318"/>
                <a:gd name="adj2" fmla="val 50616"/>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solidFill>
                  <a:schemeClr val="bg1"/>
                </a:solidFill>
              </a:endParaRPr>
            </a:p>
          </p:txBody>
        </p:sp>
        <p:sp>
          <p:nvSpPr>
            <p:cNvPr id="60458" name="Text Box 42"/>
            <p:cNvSpPr txBox="1">
              <a:spLocks noChangeArrowheads="1"/>
            </p:cNvSpPr>
            <p:nvPr/>
          </p:nvSpPr>
          <p:spPr bwMode="auto">
            <a:xfrm>
              <a:off x="5329" y="2432"/>
              <a:ext cx="3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sym typeface="Symbol" pitchFamily="18" charset="2"/>
                </a:rPr>
                <a:t></a:t>
              </a:r>
            </a:p>
          </p:txBody>
        </p:sp>
        <p:sp>
          <p:nvSpPr>
            <p:cNvPr id="60459" name="AutoShape 43"/>
            <p:cNvSpPr>
              <a:spLocks/>
            </p:cNvSpPr>
            <p:nvPr/>
          </p:nvSpPr>
          <p:spPr bwMode="auto">
            <a:xfrm rot="-2388526">
              <a:off x="4604" y="2024"/>
              <a:ext cx="109" cy="387"/>
            </a:xfrm>
            <a:prstGeom prst="rightBrace">
              <a:avLst>
                <a:gd name="adj1" fmla="val 29587"/>
                <a:gd name="adj2" fmla="val 47880"/>
              </a:avLst>
            </a:prstGeom>
            <a:noFill/>
            <a:ln w="2857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extBox 1"/>
          <p:cNvSpPr txBox="1"/>
          <p:nvPr/>
        </p:nvSpPr>
        <p:spPr>
          <a:xfrm>
            <a:off x="6436834" y="2586335"/>
            <a:ext cx="344966" cy="461665"/>
          </a:xfrm>
          <a:prstGeom prst="rect">
            <a:avLst/>
          </a:prstGeom>
          <a:noFill/>
        </p:spPr>
        <p:txBody>
          <a:bodyPr wrap="none" rtlCol="0">
            <a:spAutoFit/>
          </a:bodyPr>
          <a:lstStyle/>
          <a:p>
            <a:r>
              <a:rPr lang="en-US" sz="2400" dirty="0"/>
              <a:t>o</a:t>
            </a:r>
          </a:p>
        </p:txBody>
      </p:sp>
      <p:sp>
        <p:nvSpPr>
          <p:cNvPr id="3" name="Oval 2"/>
          <p:cNvSpPr/>
          <p:nvPr/>
        </p:nvSpPr>
        <p:spPr>
          <a:xfrm>
            <a:off x="6041348" y="2226342"/>
            <a:ext cx="1482725" cy="1482725"/>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1">
            <a:extLst>
              <a:ext uri="{FF2B5EF4-FFF2-40B4-BE49-F238E27FC236}">
                <a16:creationId xmlns:a16="http://schemas.microsoft.com/office/drawing/2014/main" id="{B922074C-F3B2-4F8A-9DBB-7C98ECB5EABA}"/>
              </a:ext>
            </a:extLst>
          </p:cNvPr>
          <p:cNvSpPr txBox="1"/>
          <p:nvPr/>
        </p:nvSpPr>
        <p:spPr>
          <a:xfrm>
            <a:off x="7092154" y="3480415"/>
            <a:ext cx="405880" cy="461665"/>
          </a:xfrm>
          <a:prstGeom prst="rect">
            <a:avLst/>
          </a:prstGeom>
          <a:noFill/>
        </p:spPr>
        <p:txBody>
          <a:bodyPr wrap="none" rtlCol="0">
            <a:spAutoFit/>
          </a:bodyPr>
          <a:lstStyle/>
          <a:p>
            <a:r>
              <a:rPr lang="en-US" sz="2400" dirty="0"/>
              <a:t>A’</a:t>
            </a:r>
          </a:p>
        </p:txBody>
      </p:sp>
      <p:cxnSp>
        <p:nvCxnSpPr>
          <p:cNvPr id="9" name="直接连接符 8">
            <a:extLst>
              <a:ext uri="{FF2B5EF4-FFF2-40B4-BE49-F238E27FC236}">
                <a16:creationId xmlns:a16="http://schemas.microsoft.com/office/drawing/2014/main" id="{92A46C01-9D60-4211-96E0-A44F93B293B6}"/>
              </a:ext>
            </a:extLst>
          </p:cNvPr>
          <p:cNvCxnSpPr/>
          <p:nvPr/>
        </p:nvCxnSpPr>
        <p:spPr>
          <a:xfrm>
            <a:off x="2893811" y="2969493"/>
            <a:ext cx="0" cy="156496"/>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1" name="直接连接符 10">
            <a:extLst>
              <a:ext uri="{FF2B5EF4-FFF2-40B4-BE49-F238E27FC236}">
                <a16:creationId xmlns:a16="http://schemas.microsoft.com/office/drawing/2014/main" id="{5E93A6F9-E876-480C-8B2E-ECF133EA77C2}"/>
              </a:ext>
            </a:extLst>
          </p:cNvPr>
          <p:cNvCxnSpPr/>
          <p:nvPr/>
        </p:nvCxnSpPr>
        <p:spPr>
          <a:xfrm>
            <a:off x="2743200" y="3079845"/>
            <a:ext cx="152400" cy="42149"/>
          </a:xfrm>
          <a:prstGeom prst="line">
            <a:avLst/>
          </a:prstGeom>
          <a:ln w="28575"/>
        </p:spPr>
        <p:style>
          <a:lnRef idx="1">
            <a:schemeClr val="accent6"/>
          </a:lnRef>
          <a:fillRef idx="0">
            <a:schemeClr val="accent6"/>
          </a:fillRef>
          <a:effectRef idx="0">
            <a:schemeClr val="accent6"/>
          </a:effectRef>
          <a:fontRef idx="minor">
            <a:schemeClr val="tx1"/>
          </a:fontRef>
        </p:style>
      </p:cxnSp>
      <p:sp>
        <p:nvSpPr>
          <p:cNvPr id="12" name="弧形 11">
            <a:extLst>
              <a:ext uri="{FF2B5EF4-FFF2-40B4-BE49-F238E27FC236}">
                <a16:creationId xmlns:a16="http://schemas.microsoft.com/office/drawing/2014/main" id="{BD29E5CF-43D7-4060-82C1-479B35D8CE67}"/>
              </a:ext>
            </a:extLst>
          </p:cNvPr>
          <p:cNvSpPr/>
          <p:nvPr/>
        </p:nvSpPr>
        <p:spPr>
          <a:xfrm>
            <a:off x="2580468" y="3664662"/>
            <a:ext cx="304794" cy="170823"/>
          </a:xfrm>
          <a:prstGeom prst="arc">
            <a:avLst/>
          </a:prstGeom>
          <a:ln w="1905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D636AC74-A5BB-460D-98CB-3FAEB11298AA}"/>
              </a:ext>
            </a:extLst>
          </p:cNvPr>
          <p:cNvCxnSpPr/>
          <p:nvPr/>
        </p:nvCxnSpPr>
        <p:spPr>
          <a:xfrm>
            <a:off x="2885262" y="3549649"/>
            <a:ext cx="1000938" cy="377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FAE3E4D6-4D5E-48C5-8BCD-8849AD430782}"/>
              </a:ext>
            </a:extLst>
          </p:cNvPr>
          <p:cNvSpPr txBox="1"/>
          <p:nvPr/>
        </p:nvSpPr>
        <p:spPr>
          <a:xfrm>
            <a:off x="3824399" y="3835485"/>
            <a:ext cx="545342" cy="369332"/>
          </a:xfrm>
          <a:prstGeom prst="rect">
            <a:avLst/>
          </a:prstGeom>
          <a:noFill/>
        </p:spPr>
        <p:txBody>
          <a:bodyPr wrap="none" rtlCol="0">
            <a:spAutoFit/>
          </a:bodyPr>
          <a:lstStyle/>
          <a:p>
            <a:r>
              <a:rPr lang="el-GR" altLang="zh-CN" dirty="0"/>
              <a:t>ρ</a:t>
            </a:r>
            <a:r>
              <a:rPr lang="en-US" altLang="zh-CN" dirty="0"/>
              <a:t>/2</a:t>
            </a:r>
            <a:endParaRPr lang="zh-CN" altLang="en-US" dirty="0"/>
          </a:p>
        </p:txBody>
      </p:sp>
    </p:spTree>
    <p:extLst>
      <p:ext uri="{BB962C8B-B14F-4D97-AF65-F5344CB8AC3E}">
        <p14:creationId xmlns:p14="http://schemas.microsoft.com/office/powerpoint/2010/main" val="3460157635"/>
      </p:ext>
    </p:extLst>
  </p:cSld>
  <p:clrMapOvr>
    <a:masterClrMapping/>
  </p:clrMapOvr>
  <p:transition spd="slow">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163" name="Group 11"/>
          <p:cNvGrpSpPr>
            <a:grpSpLocks/>
          </p:cNvGrpSpPr>
          <p:nvPr/>
        </p:nvGrpSpPr>
        <p:grpSpPr bwMode="auto">
          <a:xfrm>
            <a:off x="327025" y="1600200"/>
            <a:ext cx="8493125" cy="4008437"/>
            <a:chOff x="206" y="1541"/>
            <a:chExt cx="5350" cy="2525"/>
          </a:xfrm>
        </p:grpSpPr>
        <p:pic>
          <p:nvPicPr>
            <p:cNvPr id="177157" name="Picture 5" descr="sph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 y="1541"/>
              <a:ext cx="2780" cy="2515"/>
            </a:xfrm>
            <a:prstGeom prst="rect">
              <a:avLst/>
            </a:prstGeom>
            <a:noFill/>
            <a:extLst>
              <a:ext uri="{909E8E84-426E-40DD-AFC4-6F175D3DCCD1}">
                <a14:hiddenFill xmlns:a14="http://schemas.microsoft.com/office/drawing/2010/main">
                  <a:solidFill>
                    <a:srgbClr val="FFFFFF"/>
                  </a:solidFill>
                </a14:hiddenFill>
              </a:ext>
            </a:extLst>
          </p:spPr>
        </p:pic>
        <p:sp>
          <p:nvSpPr>
            <p:cNvPr id="177158" name="Rectangle 6"/>
            <p:cNvSpPr>
              <a:spLocks noChangeAspect="1" noChangeArrowheads="1"/>
            </p:cNvSpPr>
            <p:nvPr/>
          </p:nvSpPr>
          <p:spPr bwMode="auto">
            <a:xfrm>
              <a:off x="214" y="1549"/>
              <a:ext cx="621" cy="344"/>
            </a:xfrm>
            <a:prstGeom prst="rect">
              <a:avLst/>
            </a:prstGeom>
            <a:solidFill>
              <a:srgbClr val="FFFFFF"/>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77159" name="Picture 7" descr="sec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6" y="1545"/>
              <a:ext cx="2570" cy="2521"/>
            </a:xfrm>
            <a:prstGeom prst="rect">
              <a:avLst/>
            </a:prstGeom>
            <a:noFill/>
            <a:extLst>
              <a:ext uri="{909E8E84-426E-40DD-AFC4-6F175D3DCCD1}">
                <a14:hiddenFill xmlns:a14="http://schemas.microsoft.com/office/drawing/2010/main">
                  <a:solidFill>
                    <a:srgbClr val="FFFFFF"/>
                  </a:solidFill>
                </a14:hiddenFill>
              </a:ext>
            </a:extLst>
          </p:spPr>
        </p:pic>
      </p:grpSp>
      <p:sp>
        <p:nvSpPr>
          <p:cNvPr id="177162" name="Rectangle 10"/>
          <p:cNvSpPr>
            <a:spLocks noGrp="1" noChangeArrowheads="1"/>
          </p:cNvSpPr>
          <p:nvPr>
            <p:ph type="title"/>
          </p:nvPr>
        </p:nvSpPr>
        <p:spPr>
          <a:xfrm>
            <a:off x="575734" y="533400"/>
            <a:ext cx="7958666" cy="542925"/>
          </a:xfrm>
          <a:noFill/>
          <a:ln/>
        </p:spPr>
        <p:txBody>
          <a:bodyPr anchor="b" anchorCtr="0">
            <a:noAutofit/>
          </a:bodyPr>
          <a:lstStyle/>
          <a:p>
            <a:pPr algn="l"/>
            <a:r>
              <a:rPr lang="en-US" altLang="zh-CN" sz="2800" b="1" dirty="0"/>
              <a:t>Stereographic polar projection (3D and Side view)</a:t>
            </a:r>
            <a:endParaRPr lang="zh-CN" altLang="en-US" sz="2800" b="1" dirty="0"/>
          </a:p>
        </p:txBody>
      </p:sp>
      <p:sp>
        <p:nvSpPr>
          <p:cNvPr id="2" name="TextBox 1"/>
          <p:cNvSpPr txBox="1"/>
          <p:nvPr/>
        </p:nvSpPr>
        <p:spPr>
          <a:xfrm>
            <a:off x="457201" y="5791200"/>
            <a:ext cx="4038600" cy="923330"/>
          </a:xfrm>
          <a:prstGeom prst="rect">
            <a:avLst/>
          </a:prstGeom>
          <a:noFill/>
        </p:spPr>
        <p:txBody>
          <a:bodyPr wrap="square" rtlCol="0">
            <a:spAutoFit/>
          </a:bodyPr>
          <a:lstStyle/>
          <a:p>
            <a:r>
              <a:rPr lang="en-US" altLang="zh-CN" dirty="0"/>
              <a:t>The projection of crystal surface on the sphere surface and its stereographic projection on the equatorial plane  </a:t>
            </a:r>
            <a:endParaRPr lang="en-US" dirty="0"/>
          </a:p>
        </p:txBody>
      </p:sp>
      <p:cxnSp>
        <p:nvCxnSpPr>
          <p:cNvPr id="4" name="直接连接符 3">
            <a:extLst>
              <a:ext uri="{FF2B5EF4-FFF2-40B4-BE49-F238E27FC236}">
                <a16:creationId xmlns:a16="http://schemas.microsoft.com/office/drawing/2014/main" id="{77C516F3-59F4-417F-A857-AB28042A489E}"/>
              </a:ext>
            </a:extLst>
          </p:cNvPr>
          <p:cNvCxnSpPr/>
          <p:nvPr/>
        </p:nvCxnSpPr>
        <p:spPr>
          <a:xfrm>
            <a:off x="762000" y="3520698"/>
            <a:ext cx="3479369" cy="152400"/>
          </a:xfrm>
          <a:prstGeom prst="line">
            <a:avLst/>
          </a:prstGeom>
          <a:ln>
            <a:prstDash val="dashDot"/>
          </a:ln>
        </p:spPr>
        <p:style>
          <a:lnRef idx="2">
            <a:schemeClr val="accent2"/>
          </a:lnRef>
          <a:fillRef idx="0">
            <a:schemeClr val="accent2"/>
          </a:fillRef>
          <a:effectRef idx="1">
            <a:schemeClr val="accent2"/>
          </a:effectRef>
          <a:fontRef idx="minor">
            <a:schemeClr val="tx1"/>
          </a:fontRef>
        </p:style>
      </p:cxnSp>
      <p:sp>
        <p:nvSpPr>
          <p:cNvPr id="10" name="TextBox 1">
            <a:extLst>
              <a:ext uri="{FF2B5EF4-FFF2-40B4-BE49-F238E27FC236}">
                <a16:creationId xmlns:a16="http://schemas.microsoft.com/office/drawing/2014/main" id="{B338FBB1-F7AF-4D22-8985-BAAE4D212976}"/>
              </a:ext>
            </a:extLst>
          </p:cNvPr>
          <p:cNvSpPr txBox="1"/>
          <p:nvPr/>
        </p:nvSpPr>
        <p:spPr>
          <a:xfrm>
            <a:off x="4858719" y="5791200"/>
            <a:ext cx="4038600" cy="923330"/>
          </a:xfrm>
          <a:prstGeom prst="rect">
            <a:avLst/>
          </a:prstGeom>
          <a:noFill/>
        </p:spPr>
        <p:txBody>
          <a:bodyPr wrap="square" rtlCol="0">
            <a:spAutoFit/>
          </a:bodyPr>
          <a:lstStyle/>
          <a:p>
            <a:r>
              <a:rPr lang="en-US" altLang="zh-CN" dirty="0"/>
              <a:t>A cross section of the great circle passing through the north and south poles</a:t>
            </a:r>
            <a:endParaRPr lang="en-US" dirty="0"/>
          </a:p>
        </p:txBody>
      </p:sp>
      <p:pic>
        <p:nvPicPr>
          <p:cNvPr id="6" name="图片 5">
            <a:extLst>
              <a:ext uri="{FF2B5EF4-FFF2-40B4-BE49-F238E27FC236}">
                <a16:creationId xmlns:a16="http://schemas.microsoft.com/office/drawing/2014/main" id="{F3092C98-3EB2-4A33-B250-60CB5CFAF9A4}"/>
              </a:ext>
            </a:extLst>
          </p:cNvPr>
          <p:cNvPicPr>
            <a:picLocks noChangeAspect="1"/>
          </p:cNvPicPr>
          <p:nvPr/>
        </p:nvPicPr>
        <p:blipFill>
          <a:blip r:embed="rId4"/>
          <a:stretch>
            <a:fillRect/>
          </a:stretch>
        </p:blipFill>
        <p:spPr>
          <a:xfrm>
            <a:off x="2196884" y="3314055"/>
            <a:ext cx="609600" cy="587229"/>
          </a:xfrm>
          <a:prstGeom prst="rect">
            <a:avLst/>
          </a:prstGeom>
        </p:spPr>
      </p:pic>
    </p:spTree>
    <p:extLst>
      <p:ext uri="{BB962C8B-B14F-4D97-AF65-F5344CB8AC3E}">
        <p14:creationId xmlns:p14="http://schemas.microsoft.com/office/powerpoint/2010/main" val="3901636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752600"/>
            <a:ext cx="2274852" cy="47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8" name="Text Box 8"/>
          <p:cNvSpPr txBox="1">
            <a:spLocks noChangeArrowheads="1"/>
          </p:cNvSpPr>
          <p:nvPr/>
        </p:nvSpPr>
        <p:spPr bwMode="auto">
          <a:xfrm>
            <a:off x="755650" y="2099679"/>
            <a:ext cx="419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t>Example: galena (</a:t>
            </a:r>
            <a:r>
              <a:rPr lang="zh-CN" altLang="en-US" sz="2400" dirty="0"/>
              <a:t>方铅矿</a:t>
            </a:r>
            <a:r>
              <a:rPr lang="en-US" altLang="zh-CN" sz="2400" dirty="0"/>
              <a:t>)</a:t>
            </a:r>
          </a:p>
          <a:p>
            <a:pPr>
              <a:spcBef>
                <a:spcPct val="50000"/>
              </a:spcBef>
            </a:pPr>
            <a:r>
              <a:rPr lang="en-US" altLang="zh-CN" sz="2400" dirty="0"/>
              <a:t>Projection of [001] crystal zone on the large circle of equator.</a:t>
            </a:r>
            <a:endParaRPr lang="zh-CN" altLang="en-US" sz="2400" dirty="0"/>
          </a:p>
        </p:txBody>
      </p:sp>
      <p:sp>
        <p:nvSpPr>
          <p:cNvPr id="168969" name="Rectangle 9"/>
          <p:cNvSpPr>
            <a:spLocks noGrp="1" noChangeArrowheads="1"/>
          </p:cNvSpPr>
          <p:nvPr>
            <p:ph type="title"/>
          </p:nvPr>
        </p:nvSpPr>
        <p:spPr>
          <a:xfrm>
            <a:off x="755650" y="838200"/>
            <a:ext cx="7550150" cy="800100"/>
          </a:xfrm>
          <a:noFill/>
          <a:ln/>
        </p:spPr>
        <p:txBody>
          <a:bodyPr anchor="b" anchorCtr="0">
            <a:noAutofit/>
          </a:bodyPr>
          <a:lstStyle/>
          <a:p>
            <a:pPr algn="l"/>
            <a:r>
              <a:rPr lang="en-US" altLang="zh-CN" sz="2800" dirty="0"/>
              <a:t>The projections of crystal surfaces of  the same crystal zone distribute in a large circle.</a:t>
            </a:r>
            <a:endParaRPr lang="zh-CN" altLang="en-US" sz="2800" dirty="0">
              <a:solidFill>
                <a:srgbClr val="C00000"/>
              </a:solidFill>
            </a:endParaRPr>
          </a:p>
        </p:txBody>
      </p:sp>
      <p:sp>
        <p:nvSpPr>
          <p:cNvPr id="2" name="Rectangle 1"/>
          <p:cNvSpPr/>
          <p:nvPr/>
        </p:nvSpPr>
        <p:spPr>
          <a:xfrm>
            <a:off x="755650" y="3905071"/>
            <a:ext cx="4191000" cy="1200329"/>
          </a:xfrm>
          <a:prstGeom prst="rect">
            <a:avLst/>
          </a:prstGeom>
        </p:spPr>
        <p:txBody>
          <a:bodyPr wrap="square">
            <a:spAutoFit/>
          </a:bodyPr>
          <a:lstStyle/>
          <a:p>
            <a:pPr lvl="0">
              <a:spcBef>
                <a:spcPct val="50000"/>
              </a:spcBef>
              <a:buClr>
                <a:srgbClr val="FFFF66"/>
              </a:buClr>
            </a:pPr>
            <a:r>
              <a:rPr lang="en-US" altLang="zh-CN" sz="2400" dirty="0"/>
              <a:t>Which large circle or large arc do the [010],[100], [110] crystal zones project on?</a:t>
            </a:r>
          </a:p>
        </p:txBody>
      </p:sp>
      <p:sp>
        <p:nvSpPr>
          <p:cNvPr id="3" name="Oval 2"/>
          <p:cNvSpPr/>
          <p:nvPr/>
        </p:nvSpPr>
        <p:spPr>
          <a:xfrm>
            <a:off x="6071532" y="4436379"/>
            <a:ext cx="1699490" cy="16994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八边形 4">
            <a:extLst>
              <a:ext uri="{FF2B5EF4-FFF2-40B4-BE49-F238E27FC236}">
                <a16:creationId xmlns:a16="http://schemas.microsoft.com/office/drawing/2014/main" id="{EA3821EF-E18B-4918-AA03-7FF6059394FF}"/>
              </a:ext>
            </a:extLst>
          </p:cNvPr>
          <p:cNvSpPr/>
          <p:nvPr/>
        </p:nvSpPr>
        <p:spPr>
          <a:xfrm>
            <a:off x="6692677" y="5057524"/>
            <a:ext cx="457200" cy="457200"/>
          </a:xfrm>
          <a:prstGeom prst="octagon">
            <a:avLst>
              <a:gd name="adj" fmla="val 1596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5842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F61B6C9-464E-47BF-9174-0C318848D0B3}"/>
              </a:ext>
            </a:extLst>
          </p:cNvPr>
          <p:cNvPicPr>
            <a:picLocks noChangeAspect="1"/>
          </p:cNvPicPr>
          <p:nvPr/>
        </p:nvPicPr>
        <p:blipFill rotWithShape="1">
          <a:blip r:embed="rId2"/>
          <a:srcRect l="6666" t="5556" r="25555" b="5556"/>
          <a:stretch/>
        </p:blipFill>
        <p:spPr>
          <a:xfrm>
            <a:off x="5758486" y="1127006"/>
            <a:ext cx="2976389" cy="2927587"/>
          </a:xfrm>
          <a:prstGeom prst="rect">
            <a:avLst/>
          </a:prstGeom>
        </p:spPr>
      </p:pic>
      <p:grpSp>
        <p:nvGrpSpPr>
          <p:cNvPr id="7" name="Group 6"/>
          <p:cNvGrpSpPr/>
          <p:nvPr/>
        </p:nvGrpSpPr>
        <p:grpSpPr>
          <a:xfrm>
            <a:off x="5712389" y="765433"/>
            <a:ext cx="3507811" cy="3616332"/>
            <a:chOff x="4233421" y="1331972"/>
            <a:chExt cx="4820092" cy="4969211"/>
          </a:xfrm>
        </p:grpSpPr>
        <p:sp>
          <p:nvSpPr>
            <p:cNvPr id="9" name="Text Box 39"/>
            <p:cNvSpPr txBox="1">
              <a:spLocks noChangeArrowheads="1"/>
            </p:cNvSpPr>
            <p:nvPr/>
          </p:nvSpPr>
          <p:spPr bwMode="auto">
            <a:xfrm>
              <a:off x="8153400" y="3581400"/>
              <a:ext cx="900113" cy="465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1600" b="1" dirty="0">
                  <a:effectLst>
                    <a:outerShdw blurRad="38100" dist="38100" dir="2700000" algn="tl">
                      <a:srgbClr val="000000">
                        <a:alpha val="43137"/>
                      </a:srgbClr>
                    </a:outerShdw>
                  </a:effectLst>
                  <a:sym typeface="Symbol" pitchFamily="18" charset="2"/>
                </a:rPr>
                <a:t>= 0</a:t>
              </a:r>
            </a:p>
          </p:txBody>
        </p:sp>
        <p:sp>
          <p:nvSpPr>
            <p:cNvPr id="10" name="Text Box 40"/>
            <p:cNvSpPr txBox="1">
              <a:spLocks noChangeArrowheads="1"/>
            </p:cNvSpPr>
            <p:nvPr/>
          </p:nvSpPr>
          <p:spPr bwMode="auto">
            <a:xfrm>
              <a:off x="6225364" y="3276600"/>
              <a:ext cx="838200" cy="465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1600" b="1" dirty="0">
                  <a:effectLst>
                    <a:outerShdw blurRad="38100" dist="38100" dir="2700000" algn="tl">
                      <a:srgbClr val="000000">
                        <a:alpha val="43137"/>
                      </a:srgbClr>
                    </a:outerShdw>
                  </a:effectLst>
                  <a:sym typeface="Symbol" pitchFamily="18" charset="2"/>
                </a:rPr>
                <a:t>= 0</a:t>
              </a:r>
            </a:p>
          </p:txBody>
        </p:sp>
        <p:sp>
          <p:nvSpPr>
            <p:cNvPr id="2" name="Arc 1"/>
            <p:cNvSpPr/>
            <p:nvPr/>
          </p:nvSpPr>
          <p:spPr>
            <a:xfrm rot="5918135">
              <a:off x="4233421" y="1746081"/>
              <a:ext cx="4169554" cy="4169554"/>
            </a:xfrm>
            <a:prstGeom prst="arc">
              <a:avLst>
                <a:gd name="adj1" fmla="val 16200000"/>
                <a:gd name="adj2" fmla="val 15373420"/>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cxnSp>
          <p:nvCxnSpPr>
            <p:cNvPr id="4" name="Straight Arrow Connector 3"/>
            <p:cNvCxnSpPr/>
            <p:nvPr/>
          </p:nvCxnSpPr>
          <p:spPr>
            <a:xfrm>
              <a:off x="6330074" y="3866356"/>
              <a:ext cx="1670926" cy="0"/>
            </a:xfrm>
            <a:prstGeom prst="straightConnector1">
              <a:avLst/>
            </a:prstGeom>
            <a:ln w="571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121937" y="1331972"/>
              <a:ext cx="392521" cy="380625"/>
            </a:xfrm>
            <a:prstGeom prst="rect">
              <a:avLst/>
            </a:prstGeom>
            <a:noFill/>
          </p:spPr>
          <p:txBody>
            <a:bodyPr wrap="none" rtlCol="0">
              <a:spAutoFit/>
            </a:bodyPr>
            <a:lstStyle/>
            <a:p>
              <a:r>
                <a:rPr lang="en-US" altLang="zh-CN" sz="1200" b="1" dirty="0"/>
                <a:t>N</a:t>
              </a:r>
              <a:endParaRPr lang="en-US" sz="1200" b="1" dirty="0"/>
            </a:p>
          </p:txBody>
        </p:sp>
        <p:sp>
          <p:nvSpPr>
            <p:cNvPr id="15" name="TextBox 14"/>
            <p:cNvSpPr txBox="1"/>
            <p:nvPr/>
          </p:nvSpPr>
          <p:spPr>
            <a:xfrm>
              <a:off x="6202393" y="5920558"/>
              <a:ext cx="374899" cy="380625"/>
            </a:xfrm>
            <a:prstGeom prst="rect">
              <a:avLst/>
            </a:prstGeom>
            <a:noFill/>
          </p:spPr>
          <p:txBody>
            <a:bodyPr wrap="none" rtlCol="0">
              <a:spAutoFit/>
            </a:bodyPr>
            <a:lstStyle/>
            <a:p>
              <a:r>
                <a:rPr lang="en-US" altLang="zh-CN" sz="1200" b="1" dirty="0"/>
                <a:t>S</a:t>
              </a:r>
              <a:endParaRPr lang="en-US" sz="1200" b="1" dirty="0"/>
            </a:p>
          </p:txBody>
        </p:sp>
      </p:grpSp>
      <p:sp>
        <p:nvSpPr>
          <p:cNvPr id="157701" name="Rectangle 5"/>
          <p:cNvSpPr>
            <a:spLocks noChangeArrowheads="1"/>
          </p:cNvSpPr>
          <p:nvPr/>
        </p:nvSpPr>
        <p:spPr bwMode="auto">
          <a:xfrm>
            <a:off x="607504" y="1502074"/>
            <a:ext cx="5336096" cy="29641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20000"/>
              </a:spcBef>
              <a:buClr>
                <a:schemeClr val="hlink"/>
              </a:buClr>
              <a:buSzPct val="80000"/>
              <a:buFont typeface="Wingdings" pitchFamily="2" charset="2"/>
              <a:buChar char="Ø"/>
              <a:defRPr sz="2800">
                <a:solidFill>
                  <a:schemeClr val="tx1"/>
                </a:solidFill>
                <a:effectLst>
                  <a:outerShdw blurRad="38100" dist="38100" dir="2700000" algn="tl">
                    <a:srgbClr val="000000"/>
                  </a:outerShdw>
                </a:effectLst>
                <a:latin typeface="Arial" charset="0"/>
                <a:ea typeface="宋体" pitchFamily="2" charset="-122"/>
              </a:defRPr>
            </a:lvl1pPr>
            <a:lvl2pPr marL="742950" indent="-285750" algn="l">
              <a:spcBef>
                <a:spcPct val="20000"/>
              </a:spcBef>
              <a:buClr>
                <a:schemeClr val="tx2"/>
              </a:buClr>
              <a:buSzPct val="50000"/>
              <a:buFont typeface="Wingdings" pitchFamily="2" charset="2"/>
              <a:buChar char="l"/>
              <a:defRPr sz="2400">
                <a:solidFill>
                  <a:schemeClr val="tx1"/>
                </a:solidFill>
                <a:effectLst>
                  <a:outerShdw blurRad="38100" dist="38100" dir="2700000" algn="tl">
                    <a:srgbClr val="000000"/>
                  </a:outerShdw>
                </a:effectLst>
                <a:latin typeface="Arial" charset="0"/>
                <a:ea typeface="宋体" pitchFamily="2" charset="-122"/>
              </a:defRPr>
            </a:lvl2pPr>
            <a:lvl3pPr marL="1143000" indent="-228600" algn="l">
              <a:spcBef>
                <a:spcPct val="20000"/>
              </a:spcBef>
              <a:buClr>
                <a:schemeClr val="accent2"/>
              </a:buClr>
              <a:buChar char="•"/>
              <a:defRPr sz="2000">
                <a:solidFill>
                  <a:schemeClr val="tx1"/>
                </a:solidFill>
                <a:effectLst>
                  <a:outerShdw blurRad="38100" dist="38100" dir="2700000" algn="tl">
                    <a:srgbClr val="000000"/>
                  </a:outerShdw>
                </a:effectLst>
                <a:latin typeface="Arial" charset="0"/>
                <a:ea typeface="宋体" pitchFamily="2" charset="-122"/>
              </a:defRPr>
            </a:lvl3pPr>
            <a:lvl4pPr marL="1600200" indent="-228600" algn="l">
              <a:spcBef>
                <a:spcPct val="20000"/>
              </a:spcBef>
              <a:buClr>
                <a:schemeClr val="folHlink"/>
              </a:buClr>
              <a:buSzPct val="50000"/>
              <a:buFont typeface="Wingdings" pitchFamily="2" charset="2"/>
              <a:buChar char="l"/>
              <a:defRPr>
                <a:solidFill>
                  <a:schemeClr val="tx1"/>
                </a:solidFill>
                <a:effectLst>
                  <a:outerShdw blurRad="38100" dist="38100" dir="2700000" algn="tl">
                    <a:srgbClr val="000000"/>
                  </a:outerShdw>
                </a:effectLst>
                <a:latin typeface="Arial" charset="0"/>
                <a:ea typeface="宋体" pitchFamily="2" charset="-122"/>
              </a:defRPr>
            </a:lvl4pPr>
            <a:lvl5pPr marL="2057400" indent="-228600" algn="l">
              <a:spcBef>
                <a:spcPct val="20000"/>
              </a:spcBef>
              <a:buClr>
                <a:schemeClr val="hlink"/>
              </a:buClr>
              <a:buChar char="•"/>
              <a:defRPr>
                <a:solidFill>
                  <a:schemeClr val="tx1"/>
                </a:solidFill>
                <a:effectLst>
                  <a:outerShdw blurRad="38100" dist="38100" dir="2700000" algn="tl">
                    <a:srgbClr val="000000"/>
                  </a:outerShdw>
                </a:effectLst>
                <a:latin typeface="Arial" charset="0"/>
                <a:ea typeface="宋体" pitchFamily="2" charset="-122"/>
              </a:defRPr>
            </a:lvl5pPr>
            <a:lvl6pPr marL="2514600" indent="-228600" fontAlgn="base">
              <a:spcBef>
                <a:spcPct val="20000"/>
              </a:spcBef>
              <a:spcAft>
                <a:spcPct val="0"/>
              </a:spcAft>
              <a:buClr>
                <a:schemeClr val="hlink"/>
              </a:buClr>
              <a:buChar char="•"/>
              <a:defRPr>
                <a:solidFill>
                  <a:schemeClr val="tx1"/>
                </a:solidFill>
                <a:effectLst>
                  <a:outerShdw blurRad="38100" dist="38100" dir="2700000" algn="tl">
                    <a:srgbClr val="000000"/>
                  </a:outerShdw>
                </a:effectLst>
                <a:latin typeface="Arial" charset="0"/>
                <a:ea typeface="宋体" pitchFamily="2" charset="-122"/>
              </a:defRPr>
            </a:lvl6pPr>
            <a:lvl7pPr marL="2971800" indent="-228600" fontAlgn="base">
              <a:spcBef>
                <a:spcPct val="20000"/>
              </a:spcBef>
              <a:spcAft>
                <a:spcPct val="0"/>
              </a:spcAft>
              <a:buClr>
                <a:schemeClr val="hlink"/>
              </a:buClr>
              <a:buChar char="•"/>
              <a:defRPr>
                <a:solidFill>
                  <a:schemeClr val="tx1"/>
                </a:solidFill>
                <a:effectLst>
                  <a:outerShdw blurRad="38100" dist="38100" dir="2700000" algn="tl">
                    <a:srgbClr val="000000"/>
                  </a:outerShdw>
                </a:effectLst>
                <a:latin typeface="Arial" charset="0"/>
                <a:ea typeface="宋体" pitchFamily="2" charset="-122"/>
              </a:defRPr>
            </a:lvl7pPr>
            <a:lvl8pPr marL="3429000" indent="-228600" fontAlgn="base">
              <a:spcBef>
                <a:spcPct val="20000"/>
              </a:spcBef>
              <a:spcAft>
                <a:spcPct val="0"/>
              </a:spcAft>
              <a:buClr>
                <a:schemeClr val="hlink"/>
              </a:buClr>
              <a:buChar char="•"/>
              <a:defRPr>
                <a:solidFill>
                  <a:schemeClr val="tx1"/>
                </a:solidFill>
                <a:effectLst>
                  <a:outerShdw blurRad="38100" dist="38100" dir="2700000" algn="tl">
                    <a:srgbClr val="000000"/>
                  </a:outerShdw>
                </a:effectLst>
                <a:latin typeface="Arial" charset="0"/>
                <a:ea typeface="宋体" pitchFamily="2" charset="-122"/>
              </a:defRPr>
            </a:lvl8pPr>
            <a:lvl9pPr marL="3886200" indent="-228600" fontAlgn="base">
              <a:spcBef>
                <a:spcPct val="20000"/>
              </a:spcBef>
              <a:spcAft>
                <a:spcPct val="0"/>
              </a:spcAft>
              <a:buClr>
                <a:schemeClr val="hlink"/>
              </a:buClr>
              <a:buChar char="•"/>
              <a:defRPr>
                <a:solidFill>
                  <a:schemeClr val="tx1"/>
                </a:solidFill>
                <a:effectLst>
                  <a:outerShdw blurRad="38100" dist="38100" dir="2700000" algn="tl">
                    <a:srgbClr val="000000"/>
                  </a:outerShdw>
                </a:effectLst>
                <a:latin typeface="Arial" charset="0"/>
                <a:ea typeface="宋体" pitchFamily="2" charset="-122"/>
              </a:defRPr>
            </a:lvl9pPr>
          </a:lstStyle>
          <a:p>
            <a:pPr marL="0" indent="0">
              <a:buNone/>
            </a:pPr>
            <a:r>
              <a:rPr lang="en-US" altLang="zh-CN" sz="2400" dirty="0">
                <a:effectLst/>
                <a:latin typeface="+mn-lt"/>
                <a:ea typeface="+mn-ea"/>
              </a:rPr>
              <a:t>Mark the scale on the projection plane (similar to coordinate paper)</a:t>
            </a:r>
            <a:endParaRPr kumimoji="0" lang="zh-CN" altLang="en-US" sz="2400" dirty="0">
              <a:effectLst/>
              <a:latin typeface="+mn-lt"/>
              <a:ea typeface="+mn-ea"/>
            </a:endParaRPr>
          </a:p>
          <a:p>
            <a:pPr marL="0" indent="0">
              <a:buNone/>
            </a:pPr>
            <a:r>
              <a:rPr lang="en-US" altLang="zh-CN" sz="2400" dirty="0" err="1">
                <a:effectLst/>
                <a:latin typeface="+mn-lt"/>
                <a:ea typeface="+mn-ea"/>
              </a:rPr>
              <a:t>Wulff</a:t>
            </a:r>
            <a:r>
              <a:rPr lang="en-US" altLang="zh-CN" sz="2400" dirty="0">
                <a:effectLst/>
                <a:latin typeface="+mn-lt"/>
                <a:ea typeface="+mn-ea"/>
              </a:rPr>
              <a:t> net consists of ground circle, diameter, large arc and small arc.</a:t>
            </a:r>
            <a:endParaRPr kumimoji="0" lang="en-US" altLang="zh-CN" sz="2400" dirty="0">
              <a:effectLst/>
              <a:latin typeface="+mn-lt"/>
              <a:ea typeface="+mn-ea"/>
            </a:endParaRPr>
          </a:p>
          <a:p>
            <a:pPr marL="0" indent="0">
              <a:buNone/>
            </a:pPr>
            <a:r>
              <a:rPr kumimoji="0" lang="en-US" altLang="zh-CN" sz="2400" b="1" dirty="0">
                <a:effectLst/>
                <a:latin typeface="+mn-lt"/>
                <a:ea typeface="+mn-ea"/>
              </a:rPr>
              <a:t>Rules</a:t>
            </a:r>
            <a:r>
              <a:rPr kumimoji="0" lang="zh-CN" altLang="en-US" sz="2400" b="1" dirty="0">
                <a:effectLst/>
                <a:latin typeface="+mn-lt"/>
                <a:ea typeface="+mn-ea"/>
              </a:rPr>
              <a:t>：</a:t>
            </a:r>
          </a:p>
          <a:p>
            <a:pPr marL="538163" lvl="1" indent="-182563">
              <a:lnSpc>
                <a:spcPct val="80000"/>
              </a:lnSpc>
            </a:pPr>
            <a:r>
              <a:rPr lang="en-US" altLang="zh-CN" sz="2000" dirty="0">
                <a:effectLst/>
                <a:latin typeface="+mn-lt"/>
                <a:ea typeface="+mn-ea"/>
              </a:rPr>
              <a:t>azimuth </a:t>
            </a:r>
            <a:r>
              <a:rPr lang="en-US" altLang="zh-CN" sz="2000" i="1" dirty="0">
                <a:effectLst/>
                <a:latin typeface="+mn-lt"/>
                <a:sym typeface="Symbol" pitchFamily="18" charset="2"/>
              </a:rPr>
              <a:t>  </a:t>
            </a:r>
            <a:r>
              <a:rPr lang="en-US" altLang="zh-CN" sz="2000" dirty="0">
                <a:effectLst/>
                <a:latin typeface="+mn-lt"/>
                <a:ea typeface="+mn-ea"/>
              </a:rPr>
              <a:t>begins in the right east</a:t>
            </a:r>
            <a:endParaRPr kumimoji="0" lang="en-US" altLang="zh-CN" sz="2000" dirty="0">
              <a:effectLst/>
              <a:latin typeface="+mn-lt"/>
              <a:ea typeface="+mn-ea"/>
            </a:endParaRPr>
          </a:p>
          <a:p>
            <a:pPr marL="538163" lvl="1" indent="-182563">
              <a:lnSpc>
                <a:spcPct val="80000"/>
              </a:lnSpc>
            </a:pPr>
            <a:r>
              <a:rPr lang="en-US" altLang="zh-CN" sz="2000" dirty="0">
                <a:effectLst/>
                <a:latin typeface="+mn-lt"/>
                <a:ea typeface="+mn-ea"/>
              </a:rPr>
              <a:t>Polar distance angle </a:t>
            </a:r>
            <a:r>
              <a:rPr lang="en-US" altLang="zh-CN" sz="2000" i="1" dirty="0">
                <a:effectLst/>
                <a:sym typeface="Symbol" pitchFamily="18" charset="2"/>
              </a:rPr>
              <a:t></a:t>
            </a:r>
            <a:r>
              <a:rPr lang="en-US" altLang="zh-CN" sz="2000" dirty="0">
                <a:effectLst/>
                <a:latin typeface="+mn-lt"/>
                <a:ea typeface="+mn-ea"/>
              </a:rPr>
              <a:t> starts from center O</a:t>
            </a:r>
            <a:endParaRPr kumimoji="0" lang="zh-CN" altLang="en-US" sz="2000" dirty="0">
              <a:effectLst/>
              <a:latin typeface="+mn-lt"/>
              <a:ea typeface="+mn-ea"/>
            </a:endParaRPr>
          </a:p>
        </p:txBody>
      </p:sp>
      <p:sp>
        <p:nvSpPr>
          <p:cNvPr id="13" name="Title 1"/>
          <p:cNvSpPr>
            <a:spLocks noGrp="1"/>
          </p:cNvSpPr>
          <p:nvPr>
            <p:ph type="title"/>
          </p:nvPr>
        </p:nvSpPr>
        <p:spPr>
          <a:xfrm>
            <a:off x="457200" y="274638"/>
            <a:ext cx="8229600" cy="1143000"/>
          </a:xfrm>
        </p:spPr>
        <p:txBody>
          <a:bodyPr>
            <a:normAutofit/>
          </a:bodyPr>
          <a:lstStyle/>
          <a:p>
            <a:pPr algn="l"/>
            <a:r>
              <a:rPr lang="en-US" sz="2800" dirty="0"/>
              <a:t>5. </a:t>
            </a:r>
            <a:r>
              <a:rPr lang="en-US" sz="2800" dirty="0" err="1"/>
              <a:t>Wulff</a:t>
            </a:r>
            <a:r>
              <a:rPr lang="en-US" sz="2800" dirty="0"/>
              <a:t> net and application examples </a:t>
            </a:r>
          </a:p>
        </p:txBody>
      </p:sp>
      <p:sp>
        <p:nvSpPr>
          <p:cNvPr id="11" name="Rectangle 10"/>
          <p:cNvSpPr/>
          <p:nvPr/>
        </p:nvSpPr>
        <p:spPr>
          <a:xfrm>
            <a:off x="607504" y="4267200"/>
            <a:ext cx="8285168" cy="2431435"/>
          </a:xfrm>
          <a:prstGeom prst="rect">
            <a:avLst/>
          </a:prstGeom>
        </p:spPr>
        <p:txBody>
          <a:bodyPr wrap="square">
            <a:spAutoFit/>
          </a:bodyPr>
          <a:lstStyle/>
          <a:p>
            <a:pPr lvl="0"/>
            <a:r>
              <a:rPr lang="en-US" altLang="zh-CN" sz="2200" b="1" dirty="0">
                <a:solidFill>
                  <a:prstClr val="black"/>
                </a:solidFill>
              </a:rPr>
              <a:t>How to </a:t>
            </a:r>
            <a:r>
              <a:rPr lang="en-US" altLang="zh-CN" sz="2200" b="1" dirty="0" err="1">
                <a:solidFill>
                  <a:prstClr val="black"/>
                </a:solidFill>
              </a:rPr>
              <a:t>creat</a:t>
            </a:r>
            <a:r>
              <a:rPr lang="en-US" altLang="zh-CN" sz="2200" b="1" dirty="0">
                <a:solidFill>
                  <a:prstClr val="black"/>
                </a:solidFill>
              </a:rPr>
              <a:t> the </a:t>
            </a:r>
            <a:r>
              <a:rPr lang="en-US" altLang="zh-CN" sz="2200" b="1" dirty="0" err="1">
                <a:solidFill>
                  <a:prstClr val="black"/>
                </a:solidFill>
              </a:rPr>
              <a:t>Wulff</a:t>
            </a:r>
            <a:r>
              <a:rPr lang="en-US" altLang="zh-CN" sz="2200" b="1" dirty="0">
                <a:solidFill>
                  <a:prstClr val="black"/>
                </a:solidFill>
              </a:rPr>
              <a:t> net?</a:t>
            </a:r>
          </a:p>
          <a:p>
            <a:pPr lvl="0"/>
            <a:endParaRPr lang="en-US" altLang="zh-CN" sz="1000" dirty="0">
              <a:solidFill>
                <a:prstClr val="black"/>
              </a:solidFill>
            </a:endParaRPr>
          </a:p>
          <a:p>
            <a:pPr lvl="1"/>
            <a:r>
              <a:rPr lang="en-US" altLang="zh-CN" sz="2000" dirty="0">
                <a:solidFill>
                  <a:prstClr val="black"/>
                </a:solidFill>
              </a:rPr>
              <a:t>The “longitude </a:t>
            </a:r>
            <a:r>
              <a:rPr lang="zh-CN" altLang="en-US" sz="2000" dirty="0">
                <a:solidFill>
                  <a:prstClr val="black"/>
                </a:solidFill>
              </a:rPr>
              <a:t>（经线）</a:t>
            </a:r>
            <a:r>
              <a:rPr lang="en-US" altLang="zh-CN" sz="2000" dirty="0">
                <a:solidFill>
                  <a:prstClr val="black"/>
                </a:solidFill>
              </a:rPr>
              <a:t>" is formed by the projection of large circle through the South and North Poles, </a:t>
            </a:r>
            <a:r>
              <a:rPr lang="en-US" altLang="zh-CN" sz="2000" dirty="0">
                <a:solidFill>
                  <a:srgbClr val="FF0000"/>
                </a:solidFill>
              </a:rPr>
              <a:t>in the equidistant distribution along east-west diameter according to polar distance angle </a:t>
            </a:r>
            <a:r>
              <a:rPr lang="en-US" altLang="zh-CN" sz="2000" i="1" dirty="0">
                <a:solidFill>
                  <a:srgbClr val="FF0000"/>
                </a:solidFill>
                <a:effectLst/>
                <a:sym typeface="Symbol" pitchFamily="18" charset="2"/>
              </a:rPr>
              <a:t></a:t>
            </a:r>
            <a:r>
              <a:rPr lang="en-US" altLang="zh-CN" sz="2000" dirty="0">
                <a:solidFill>
                  <a:srgbClr val="FF0000"/>
                </a:solidFill>
              </a:rPr>
              <a:t> </a:t>
            </a:r>
            <a:r>
              <a:rPr lang="en-US" altLang="zh-CN" sz="2000" dirty="0">
                <a:solidFill>
                  <a:prstClr val="black"/>
                </a:solidFill>
              </a:rPr>
              <a:t>. </a:t>
            </a:r>
          </a:p>
          <a:p>
            <a:pPr lvl="1"/>
            <a:r>
              <a:rPr lang="en-US" altLang="zh-CN" sz="2000" dirty="0">
                <a:solidFill>
                  <a:prstClr val="black"/>
                </a:solidFill>
              </a:rPr>
              <a:t>The “latitude</a:t>
            </a:r>
            <a:r>
              <a:rPr lang="zh-CN" altLang="en-US" sz="2000" dirty="0">
                <a:solidFill>
                  <a:prstClr val="black"/>
                </a:solidFill>
              </a:rPr>
              <a:t>（纬线）</a:t>
            </a:r>
            <a:r>
              <a:rPr lang="en-US" altLang="zh-CN" sz="2000" dirty="0">
                <a:solidFill>
                  <a:prstClr val="black"/>
                </a:solidFill>
              </a:rPr>
              <a:t>" is projection from large and small circle perpendicular to North and South Axes, </a:t>
            </a:r>
            <a:r>
              <a:rPr lang="en-US" altLang="zh-CN" sz="2000" dirty="0">
                <a:solidFill>
                  <a:srgbClr val="FF0000"/>
                </a:solidFill>
              </a:rPr>
              <a:t>in the equidistant distribution along the ground circle according to </a:t>
            </a:r>
            <a:r>
              <a:rPr lang="en-US" altLang="zh-CN" sz="2000" dirty="0">
                <a:solidFill>
                  <a:srgbClr val="FF0000"/>
                </a:solidFill>
                <a:effectLst/>
                <a:latin typeface="+mn-lt"/>
                <a:ea typeface="+mn-ea"/>
              </a:rPr>
              <a:t>azimuth </a:t>
            </a:r>
            <a:r>
              <a:rPr lang="en-US" altLang="zh-CN" sz="2000" i="1" dirty="0">
                <a:solidFill>
                  <a:srgbClr val="FF0000"/>
                </a:solidFill>
                <a:effectLst/>
                <a:latin typeface="+mn-lt"/>
                <a:sym typeface="Symbol" pitchFamily="18" charset="2"/>
              </a:rPr>
              <a:t> </a:t>
            </a:r>
            <a:r>
              <a:rPr lang="en-US" altLang="zh-CN" sz="2000" dirty="0">
                <a:solidFill>
                  <a:prstClr val="black"/>
                </a:solidFill>
              </a:rPr>
              <a:t>.</a:t>
            </a:r>
          </a:p>
        </p:txBody>
      </p:sp>
      <p:grpSp>
        <p:nvGrpSpPr>
          <p:cNvPr id="27" name="组合 26">
            <a:extLst>
              <a:ext uri="{FF2B5EF4-FFF2-40B4-BE49-F238E27FC236}">
                <a16:creationId xmlns:a16="http://schemas.microsoft.com/office/drawing/2014/main" id="{097E08DD-5550-438A-8EEF-58F96798C901}"/>
              </a:ext>
            </a:extLst>
          </p:cNvPr>
          <p:cNvGrpSpPr/>
          <p:nvPr/>
        </p:nvGrpSpPr>
        <p:grpSpPr>
          <a:xfrm>
            <a:off x="5333223" y="1219164"/>
            <a:ext cx="3810777" cy="2763556"/>
            <a:chOff x="5333223" y="1219164"/>
            <a:chExt cx="3810777" cy="2763556"/>
          </a:xfrm>
        </p:grpSpPr>
        <p:grpSp>
          <p:nvGrpSpPr>
            <p:cNvPr id="18" name="组合 17">
              <a:extLst>
                <a:ext uri="{FF2B5EF4-FFF2-40B4-BE49-F238E27FC236}">
                  <a16:creationId xmlns:a16="http://schemas.microsoft.com/office/drawing/2014/main" id="{26B027CD-D124-493F-B2A4-BAA978E7410D}"/>
                </a:ext>
              </a:extLst>
            </p:cNvPr>
            <p:cNvGrpSpPr/>
            <p:nvPr/>
          </p:nvGrpSpPr>
          <p:grpSpPr>
            <a:xfrm flipV="1">
              <a:off x="5333223" y="1219164"/>
              <a:ext cx="3810000" cy="1381760"/>
              <a:chOff x="5318760" y="2606040"/>
              <a:chExt cx="3810000" cy="1381760"/>
            </a:xfrm>
          </p:grpSpPr>
          <p:cxnSp>
            <p:nvCxnSpPr>
              <p:cNvPr id="16" name="直接连接符 15">
                <a:extLst>
                  <a:ext uri="{FF2B5EF4-FFF2-40B4-BE49-F238E27FC236}">
                    <a16:creationId xmlns:a16="http://schemas.microsoft.com/office/drawing/2014/main" id="{37BA151A-1026-45EE-8B99-F578368047D6}"/>
                  </a:ext>
                </a:extLst>
              </p:cNvPr>
              <p:cNvCxnSpPr>
                <a:cxnSpLocks/>
              </p:cNvCxnSpPr>
              <p:nvPr/>
            </p:nvCxnSpPr>
            <p:spPr>
              <a:xfrm>
                <a:off x="5318760" y="285496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19" name="直接连接符 18">
                <a:extLst>
                  <a:ext uri="{FF2B5EF4-FFF2-40B4-BE49-F238E27FC236}">
                    <a16:creationId xmlns:a16="http://schemas.microsoft.com/office/drawing/2014/main" id="{A786C241-5DF2-4A40-BF44-DCC7418417E8}"/>
                  </a:ext>
                </a:extLst>
              </p:cNvPr>
              <p:cNvCxnSpPr>
                <a:cxnSpLocks/>
              </p:cNvCxnSpPr>
              <p:nvPr/>
            </p:nvCxnSpPr>
            <p:spPr>
              <a:xfrm>
                <a:off x="5318760" y="30734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0" name="直接连接符 19">
                <a:extLst>
                  <a:ext uri="{FF2B5EF4-FFF2-40B4-BE49-F238E27FC236}">
                    <a16:creationId xmlns:a16="http://schemas.microsoft.com/office/drawing/2014/main" id="{476F11BD-285A-4987-80F0-E4A723AC5DA4}"/>
                  </a:ext>
                </a:extLst>
              </p:cNvPr>
              <p:cNvCxnSpPr>
                <a:cxnSpLocks/>
              </p:cNvCxnSpPr>
              <p:nvPr/>
            </p:nvCxnSpPr>
            <p:spPr>
              <a:xfrm>
                <a:off x="5318760" y="32918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1" name="直接连接符 20">
                <a:extLst>
                  <a:ext uri="{FF2B5EF4-FFF2-40B4-BE49-F238E27FC236}">
                    <a16:creationId xmlns:a16="http://schemas.microsoft.com/office/drawing/2014/main" id="{6B84E008-0C7A-4812-994F-E42134C75CF8}"/>
                  </a:ext>
                </a:extLst>
              </p:cNvPr>
              <p:cNvCxnSpPr>
                <a:cxnSpLocks/>
              </p:cNvCxnSpPr>
              <p:nvPr/>
            </p:nvCxnSpPr>
            <p:spPr>
              <a:xfrm>
                <a:off x="5318760" y="35052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2" name="直接连接符 21">
                <a:extLst>
                  <a:ext uri="{FF2B5EF4-FFF2-40B4-BE49-F238E27FC236}">
                    <a16:creationId xmlns:a16="http://schemas.microsoft.com/office/drawing/2014/main" id="{969DD8D6-406A-4B6D-9A81-EAA49882862F}"/>
                  </a:ext>
                </a:extLst>
              </p:cNvPr>
              <p:cNvCxnSpPr>
                <a:cxnSpLocks/>
              </p:cNvCxnSpPr>
              <p:nvPr/>
            </p:nvCxnSpPr>
            <p:spPr>
              <a:xfrm>
                <a:off x="5318760" y="36576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3" name="直接连接符 22">
                <a:extLst>
                  <a:ext uri="{FF2B5EF4-FFF2-40B4-BE49-F238E27FC236}">
                    <a16:creationId xmlns:a16="http://schemas.microsoft.com/office/drawing/2014/main" id="{FEE6DC0B-A398-4C51-8D9C-58E00E984193}"/>
                  </a:ext>
                </a:extLst>
              </p:cNvPr>
              <p:cNvCxnSpPr>
                <a:cxnSpLocks/>
              </p:cNvCxnSpPr>
              <p:nvPr/>
            </p:nvCxnSpPr>
            <p:spPr>
              <a:xfrm>
                <a:off x="5318760" y="38100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4" name="直接连接符 23">
                <a:extLst>
                  <a:ext uri="{FF2B5EF4-FFF2-40B4-BE49-F238E27FC236}">
                    <a16:creationId xmlns:a16="http://schemas.microsoft.com/office/drawing/2014/main" id="{7951867E-1140-477C-BAE6-97B50ACA723D}"/>
                  </a:ext>
                </a:extLst>
              </p:cNvPr>
              <p:cNvCxnSpPr>
                <a:cxnSpLocks/>
              </p:cNvCxnSpPr>
              <p:nvPr/>
            </p:nvCxnSpPr>
            <p:spPr>
              <a:xfrm>
                <a:off x="5318760" y="39014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5" name="直接连接符 24">
                <a:extLst>
                  <a:ext uri="{FF2B5EF4-FFF2-40B4-BE49-F238E27FC236}">
                    <a16:creationId xmlns:a16="http://schemas.microsoft.com/office/drawing/2014/main" id="{03C026D9-9446-4223-A608-5ACE255A027B}"/>
                  </a:ext>
                </a:extLst>
              </p:cNvPr>
              <p:cNvCxnSpPr>
                <a:cxnSpLocks/>
              </p:cNvCxnSpPr>
              <p:nvPr/>
            </p:nvCxnSpPr>
            <p:spPr>
              <a:xfrm>
                <a:off x="5318760" y="39878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26" name="直接连接符 25">
                <a:extLst>
                  <a:ext uri="{FF2B5EF4-FFF2-40B4-BE49-F238E27FC236}">
                    <a16:creationId xmlns:a16="http://schemas.microsoft.com/office/drawing/2014/main" id="{811831AE-D4BD-4B9E-A93A-9FC6FFB777C0}"/>
                  </a:ext>
                </a:extLst>
              </p:cNvPr>
              <p:cNvCxnSpPr>
                <a:cxnSpLocks/>
              </p:cNvCxnSpPr>
              <p:nvPr/>
            </p:nvCxnSpPr>
            <p:spPr>
              <a:xfrm>
                <a:off x="5318760" y="26060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grpSp>
        <p:grpSp>
          <p:nvGrpSpPr>
            <p:cNvPr id="28" name="组合 27">
              <a:extLst>
                <a:ext uri="{FF2B5EF4-FFF2-40B4-BE49-F238E27FC236}">
                  <a16:creationId xmlns:a16="http://schemas.microsoft.com/office/drawing/2014/main" id="{76AE5D17-9940-4EAC-BCDE-D3CAE953D9CF}"/>
                </a:ext>
              </a:extLst>
            </p:cNvPr>
            <p:cNvGrpSpPr/>
            <p:nvPr/>
          </p:nvGrpSpPr>
          <p:grpSpPr>
            <a:xfrm>
              <a:off x="5334000" y="2600960"/>
              <a:ext cx="3810000" cy="1381760"/>
              <a:chOff x="5318760" y="2606040"/>
              <a:chExt cx="3810000" cy="1381760"/>
            </a:xfrm>
          </p:grpSpPr>
          <p:cxnSp>
            <p:nvCxnSpPr>
              <p:cNvPr id="29" name="直接连接符 28">
                <a:extLst>
                  <a:ext uri="{FF2B5EF4-FFF2-40B4-BE49-F238E27FC236}">
                    <a16:creationId xmlns:a16="http://schemas.microsoft.com/office/drawing/2014/main" id="{77AC091C-BE7B-42C3-A913-F06C20325CEE}"/>
                  </a:ext>
                </a:extLst>
              </p:cNvPr>
              <p:cNvCxnSpPr>
                <a:cxnSpLocks/>
              </p:cNvCxnSpPr>
              <p:nvPr/>
            </p:nvCxnSpPr>
            <p:spPr>
              <a:xfrm>
                <a:off x="5318760" y="285496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0" name="直接连接符 29">
                <a:extLst>
                  <a:ext uri="{FF2B5EF4-FFF2-40B4-BE49-F238E27FC236}">
                    <a16:creationId xmlns:a16="http://schemas.microsoft.com/office/drawing/2014/main" id="{82D0849C-554F-4EE0-ABC4-2E56588E7863}"/>
                  </a:ext>
                </a:extLst>
              </p:cNvPr>
              <p:cNvCxnSpPr>
                <a:cxnSpLocks/>
              </p:cNvCxnSpPr>
              <p:nvPr/>
            </p:nvCxnSpPr>
            <p:spPr>
              <a:xfrm>
                <a:off x="5318760" y="30734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1" name="直接连接符 30">
                <a:extLst>
                  <a:ext uri="{FF2B5EF4-FFF2-40B4-BE49-F238E27FC236}">
                    <a16:creationId xmlns:a16="http://schemas.microsoft.com/office/drawing/2014/main" id="{7A0102B8-B0B6-44A1-AE2E-3899DAD3DC7D}"/>
                  </a:ext>
                </a:extLst>
              </p:cNvPr>
              <p:cNvCxnSpPr>
                <a:cxnSpLocks/>
              </p:cNvCxnSpPr>
              <p:nvPr/>
            </p:nvCxnSpPr>
            <p:spPr>
              <a:xfrm>
                <a:off x="5318760" y="32918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2" name="直接连接符 31">
                <a:extLst>
                  <a:ext uri="{FF2B5EF4-FFF2-40B4-BE49-F238E27FC236}">
                    <a16:creationId xmlns:a16="http://schemas.microsoft.com/office/drawing/2014/main" id="{24379EC8-D621-4724-A3F3-74E058E49095}"/>
                  </a:ext>
                </a:extLst>
              </p:cNvPr>
              <p:cNvCxnSpPr>
                <a:cxnSpLocks/>
              </p:cNvCxnSpPr>
              <p:nvPr/>
            </p:nvCxnSpPr>
            <p:spPr>
              <a:xfrm>
                <a:off x="5318760" y="35052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3" name="直接连接符 32">
                <a:extLst>
                  <a:ext uri="{FF2B5EF4-FFF2-40B4-BE49-F238E27FC236}">
                    <a16:creationId xmlns:a16="http://schemas.microsoft.com/office/drawing/2014/main" id="{58C4E564-F7CB-4256-B123-4BD2B30733DD}"/>
                  </a:ext>
                </a:extLst>
              </p:cNvPr>
              <p:cNvCxnSpPr>
                <a:cxnSpLocks/>
              </p:cNvCxnSpPr>
              <p:nvPr/>
            </p:nvCxnSpPr>
            <p:spPr>
              <a:xfrm>
                <a:off x="5318760" y="36576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4" name="直接连接符 33">
                <a:extLst>
                  <a:ext uri="{FF2B5EF4-FFF2-40B4-BE49-F238E27FC236}">
                    <a16:creationId xmlns:a16="http://schemas.microsoft.com/office/drawing/2014/main" id="{EA21EDD9-63C3-4BC8-8EB6-DF8E9FE9ED39}"/>
                  </a:ext>
                </a:extLst>
              </p:cNvPr>
              <p:cNvCxnSpPr>
                <a:cxnSpLocks/>
              </p:cNvCxnSpPr>
              <p:nvPr/>
            </p:nvCxnSpPr>
            <p:spPr>
              <a:xfrm>
                <a:off x="5318760" y="38100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5" name="直接连接符 34">
                <a:extLst>
                  <a:ext uri="{FF2B5EF4-FFF2-40B4-BE49-F238E27FC236}">
                    <a16:creationId xmlns:a16="http://schemas.microsoft.com/office/drawing/2014/main" id="{45184C58-0F5B-4BD5-9F90-044BE0EBC53D}"/>
                  </a:ext>
                </a:extLst>
              </p:cNvPr>
              <p:cNvCxnSpPr>
                <a:cxnSpLocks/>
              </p:cNvCxnSpPr>
              <p:nvPr/>
            </p:nvCxnSpPr>
            <p:spPr>
              <a:xfrm>
                <a:off x="5318760" y="39014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6" name="直接连接符 35">
                <a:extLst>
                  <a:ext uri="{FF2B5EF4-FFF2-40B4-BE49-F238E27FC236}">
                    <a16:creationId xmlns:a16="http://schemas.microsoft.com/office/drawing/2014/main" id="{C6CA2DBF-73AD-4880-B728-A5C11B487DD4}"/>
                  </a:ext>
                </a:extLst>
              </p:cNvPr>
              <p:cNvCxnSpPr>
                <a:cxnSpLocks/>
              </p:cNvCxnSpPr>
              <p:nvPr/>
            </p:nvCxnSpPr>
            <p:spPr>
              <a:xfrm>
                <a:off x="5318760" y="398780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cxnSp>
            <p:nvCxnSpPr>
              <p:cNvPr id="37" name="直接连接符 36">
                <a:extLst>
                  <a:ext uri="{FF2B5EF4-FFF2-40B4-BE49-F238E27FC236}">
                    <a16:creationId xmlns:a16="http://schemas.microsoft.com/office/drawing/2014/main" id="{31CB6AA4-C8DF-4390-B804-018F4BE8B5AF}"/>
                  </a:ext>
                </a:extLst>
              </p:cNvPr>
              <p:cNvCxnSpPr>
                <a:cxnSpLocks/>
              </p:cNvCxnSpPr>
              <p:nvPr/>
            </p:nvCxnSpPr>
            <p:spPr>
              <a:xfrm>
                <a:off x="5318760" y="2606040"/>
                <a:ext cx="3810000" cy="0"/>
              </a:xfrm>
              <a:prstGeom prst="line">
                <a:avLst/>
              </a:prstGeom>
              <a:ln w="19050">
                <a:prstDash val="sysDot"/>
              </a:ln>
            </p:spPr>
            <p:style>
              <a:lnRef idx="1">
                <a:schemeClr val="accent6"/>
              </a:lnRef>
              <a:fillRef idx="0">
                <a:schemeClr val="accent6"/>
              </a:fillRef>
              <a:effectRef idx="0">
                <a:schemeClr val="accent6"/>
              </a:effectRef>
              <a:fontRef idx="minor">
                <a:schemeClr val="tx1"/>
              </a:fontRef>
            </p:style>
          </p:cxnSp>
        </p:grpSp>
      </p:grpSp>
      <p:sp>
        <p:nvSpPr>
          <p:cNvPr id="38" name="文本框 37">
            <a:extLst>
              <a:ext uri="{FF2B5EF4-FFF2-40B4-BE49-F238E27FC236}">
                <a16:creationId xmlns:a16="http://schemas.microsoft.com/office/drawing/2014/main" id="{5FB89ACB-691B-4484-8F56-E4D4012029A2}"/>
              </a:ext>
            </a:extLst>
          </p:cNvPr>
          <p:cNvSpPr txBox="1"/>
          <p:nvPr/>
        </p:nvSpPr>
        <p:spPr>
          <a:xfrm>
            <a:off x="3455007" y="8668"/>
            <a:ext cx="5688993" cy="369332"/>
          </a:xfrm>
          <a:prstGeom prst="rect">
            <a:avLst/>
          </a:prstGeom>
          <a:noFill/>
        </p:spPr>
        <p:txBody>
          <a:bodyPr wrap="none" rtlCol="0">
            <a:spAutoFit/>
          </a:bodyPr>
          <a:lstStyle/>
          <a:p>
            <a:r>
              <a:rPr lang="en-US" altLang="zh-CN" b="1" dirty="0"/>
              <a:t>MJ</a:t>
            </a:r>
            <a:r>
              <a:rPr lang="zh-CN" altLang="en-US" b="1" dirty="0"/>
              <a:t>：</a:t>
            </a:r>
            <a:r>
              <a:rPr lang="en-US" altLang="zh-CN" dirty="0"/>
              <a:t>How are the earth's latitude and longitude defined?</a:t>
            </a:r>
            <a:endParaRPr lang="zh-CN" altLang="en-US" dirty="0"/>
          </a:p>
        </p:txBody>
      </p:sp>
    </p:spTree>
    <p:extLst>
      <p:ext uri="{BB962C8B-B14F-4D97-AF65-F5344CB8AC3E}">
        <p14:creationId xmlns:p14="http://schemas.microsoft.com/office/powerpoint/2010/main" val="22284178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701"/>
                                        </p:tgtEl>
                                        <p:attrNameLst>
                                          <p:attrName>style.visibility</p:attrName>
                                        </p:attrNameLst>
                                      </p:cBhvr>
                                      <p:to>
                                        <p:strVal val="visible"/>
                                      </p:to>
                                    </p:set>
                                    <p:anim calcmode="lin" valueType="num">
                                      <p:cBhvr additive="base">
                                        <p:cTn id="7" dur="500" fill="hold"/>
                                        <p:tgtEl>
                                          <p:spTgt spid="157701"/>
                                        </p:tgtEl>
                                        <p:attrNameLst>
                                          <p:attrName>ppt_x</p:attrName>
                                        </p:attrNameLst>
                                      </p:cBhvr>
                                      <p:tavLst>
                                        <p:tav tm="0">
                                          <p:val>
                                            <p:strVal val="0-#ppt_w/2"/>
                                          </p:val>
                                        </p:tav>
                                        <p:tav tm="100000">
                                          <p:val>
                                            <p:strVal val="#ppt_x"/>
                                          </p:val>
                                        </p:tav>
                                      </p:tavLst>
                                    </p:anim>
                                    <p:anim calcmode="lin" valueType="num">
                                      <p:cBhvr additive="base">
                                        <p:cTn id="8" dur="500" fill="hold"/>
                                        <p:tgtEl>
                                          <p:spTgt spid="1577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down)">
                                      <p:cBhvr>
                                        <p:cTn id="1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1" grpId="0" autoUpdateAnimBg="0"/>
      <p:bldP spid="3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4DC327F-2D8E-42D3-9B21-E87F903A04C2}"/>
              </a:ext>
            </a:extLst>
          </p:cNvPr>
          <p:cNvPicPr>
            <a:picLocks noChangeAspect="1"/>
          </p:cNvPicPr>
          <p:nvPr/>
        </p:nvPicPr>
        <p:blipFill>
          <a:blip r:embed="rId3"/>
          <a:stretch>
            <a:fillRect/>
          </a:stretch>
        </p:blipFill>
        <p:spPr>
          <a:xfrm>
            <a:off x="4503230" y="2048723"/>
            <a:ext cx="3665668" cy="3605575"/>
          </a:xfrm>
          <a:prstGeom prst="rect">
            <a:avLst/>
          </a:prstGeom>
        </p:spPr>
      </p:pic>
      <p:sp>
        <p:nvSpPr>
          <p:cNvPr id="9" name="Text Box 39"/>
          <p:cNvSpPr txBox="1">
            <a:spLocks noChangeArrowheads="1"/>
          </p:cNvSpPr>
          <p:nvPr/>
        </p:nvSpPr>
        <p:spPr bwMode="auto">
          <a:xfrm>
            <a:off x="8153400" y="3581400"/>
            <a:ext cx="9001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effectLst>
                  <a:outerShdw blurRad="38100" dist="38100" dir="2700000" algn="tl">
                    <a:srgbClr val="000000">
                      <a:alpha val="43137"/>
                    </a:srgbClr>
                  </a:outerShdw>
                </a:effectLst>
                <a:sym typeface="Symbol" pitchFamily="18" charset="2"/>
              </a:rPr>
              <a:t>= 0</a:t>
            </a:r>
          </a:p>
        </p:txBody>
      </p:sp>
      <p:sp>
        <p:nvSpPr>
          <p:cNvPr id="10" name="Text Box 40"/>
          <p:cNvSpPr txBox="1">
            <a:spLocks noChangeArrowheads="1"/>
          </p:cNvSpPr>
          <p:nvPr/>
        </p:nvSpPr>
        <p:spPr bwMode="auto">
          <a:xfrm>
            <a:off x="6225364" y="3276600"/>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a:effectLst>
                  <a:outerShdw blurRad="38100" dist="38100" dir="2700000" algn="tl">
                    <a:srgbClr val="000000">
                      <a:alpha val="43137"/>
                    </a:srgbClr>
                  </a:outerShdw>
                </a:effectLst>
                <a:sym typeface="Symbol" pitchFamily="18" charset="2"/>
              </a:rPr>
              <a:t>= 0</a:t>
            </a:r>
          </a:p>
        </p:txBody>
      </p:sp>
      <p:sp>
        <p:nvSpPr>
          <p:cNvPr id="2" name="Arc 1"/>
          <p:cNvSpPr/>
          <p:nvPr/>
        </p:nvSpPr>
        <p:spPr>
          <a:xfrm rot="5918135">
            <a:off x="4233421" y="1746081"/>
            <a:ext cx="4169554" cy="4169554"/>
          </a:xfrm>
          <a:prstGeom prst="arc">
            <a:avLst>
              <a:gd name="adj1" fmla="val 16200000"/>
              <a:gd name="adj2" fmla="val 15373420"/>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 name="Straight Arrow Connector 3"/>
          <p:cNvCxnSpPr/>
          <p:nvPr/>
        </p:nvCxnSpPr>
        <p:spPr>
          <a:xfrm>
            <a:off x="6330074" y="3866356"/>
            <a:ext cx="1670926" cy="0"/>
          </a:xfrm>
          <a:prstGeom prst="straightConnector1">
            <a:avLst/>
          </a:prstGeom>
          <a:ln w="571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154114" y="1751400"/>
            <a:ext cx="351378" cy="369332"/>
          </a:xfrm>
          <a:prstGeom prst="rect">
            <a:avLst/>
          </a:prstGeom>
          <a:noFill/>
        </p:spPr>
        <p:txBody>
          <a:bodyPr wrap="none" rtlCol="0">
            <a:spAutoFit/>
          </a:bodyPr>
          <a:lstStyle/>
          <a:p>
            <a:r>
              <a:rPr lang="en-US" altLang="zh-CN" b="1" dirty="0"/>
              <a:t>N</a:t>
            </a:r>
            <a:endParaRPr lang="en-US" b="1" dirty="0"/>
          </a:p>
        </p:txBody>
      </p:sp>
      <p:sp>
        <p:nvSpPr>
          <p:cNvPr id="15" name="TextBox 14"/>
          <p:cNvSpPr txBox="1"/>
          <p:nvPr/>
        </p:nvSpPr>
        <p:spPr>
          <a:xfrm>
            <a:off x="6189739" y="5599005"/>
            <a:ext cx="338554" cy="369332"/>
          </a:xfrm>
          <a:prstGeom prst="rect">
            <a:avLst/>
          </a:prstGeom>
          <a:noFill/>
        </p:spPr>
        <p:txBody>
          <a:bodyPr wrap="none" rtlCol="0">
            <a:spAutoFit/>
          </a:bodyPr>
          <a:lstStyle/>
          <a:p>
            <a:r>
              <a:rPr lang="en-US" altLang="zh-CN" b="1" dirty="0"/>
              <a:t>S</a:t>
            </a:r>
            <a:endParaRPr lang="en-US" b="1" dirty="0"/>
          </a:p>
        </p:txBody>
      </p:sp>
      <p:sp>
        <p:nvSpPr>
          <p:cNvPr id="3" name="Oval 2"/>
          <p:cNvSpPr/>
          <p:nvPr/>
        </p:nvSpPr>
        <p:spPr>
          <a:xfrm>
            <a:off x="6787738" y="4361214"/>
            <a:ext cx="152400" cy="152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6869875" y="3871356"/>
            <a:ext cx="53439" cy="558140"/>
          </a:xfrm>
          <a:custGeom>
            <a:avLst/>
            <a:gdLst>
              <a:gd name="connsiteX0" fmla="*/ 53439 w 53439"/>
              <a:gd name="connsiteY0" fmla="*/ 0 h 558140"/>
              <a:gd name="connsiteX1" fmla="*/ 41564 w 53439"/>
              <a:gd name="connsiteY1" fmla="*/ 195943 h 558140"/>
              <a:gd name="connsiteX2" fmla="*/ 23751 w 53439"/>
              <a:gd name="connsiteY2" fmla="*/ 374073 h 558140"/>
              <a:gd name="connsiteX3" fmla="*/ 0 w 53439"/>
              <a:gd name="connsiteY3" fmla="*/ 558140 h 558140"/>
            </a:gdLst>
            <a:ahLst/>
            <a:cxnLst>
              <a:cxn ang="0">
                <a:pos x="connsiteX0" y="connsiteY0"/>
              </a:cxn>
              <a:cxn ang="0">
                <a:pos x="connsiteX1" y="connsiteY1"/>
              </a:cxn>
              <a:cxn ang="0">
                <a:pos x="connsiteX2" y="connsiteY2"/>
              </a:cxn>
              <a:cxn ang="0">
                <a:pos x="connsiteX3" y="connsiteY3"/>
              </a:cxn>
            </a:cxnLst>
            <a:rect l="l" t="t" r="r" b="b"/>
            <a:pathLst>
              <a:path w="53439" h="558140">
                <a:moveTo>
                  <a:pt x="53439" y="0"/>
                </a:moveTo>
                <a:lnTo>
                  <a:pt x="41564" y="195943"/>
                </a:lnTo>
                <a:lnTo>
                  <a:pt x="23751" y="374073"/>
                </a:lnTo>
                <a:lnTo>
                  <a:pt x="0" y="558140"/>
                </a:lnTo>
              </a:path>
            </a:pathLst>
          </a:custGeom>
          <a:noFill/>
          <a:ln>
            <a:solidFill>
              <a:srgbClr val="FFFF00"/>
            </a:solidFill>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rot="167969">
            <a:off x="6842506" y="4441371"/>
            <a:ext cx="955963" cy="302821"/>
          </a:xfrm>
          <a:custGeom>
            <a:avLst/>
            <a:gdLst>
              <a:gd name="connsiteX0" fmla="*/ 955963 w 955963"/>
              <a:gd name="connsiteY0" fmla="*/ 302821 h 302821"/>
              <a:gd name="connsiteX1" fmla="*/ 771896 w 955963"/>
              <a:gd name="connsiteY1" fmla="*/ 207819 h 302821"/>
              <a:gd name="connsiteX2" fmla="*/ 611579 w 955963"/>
              <a:gd name="connsiteY2" fmla="*/ 148442 h 302821"/>
              <a:gd name="connsiteX3" fmla="*/ 409698 w 955963"/>
              <a:gd name="connsiteY3" fmla="*/ 83128 h 302821"/>
              <a:gd name="connsiteX4" fmla="*/ 190005 w 955963"/>
              <a:gd name="connsiteY4" fmla="*/ 29689 h 302821"/>
              <a:gd name="connsiteX5" fmla="*/ 0 w 955963"/>
              <a:gd name="connsiteY5" fmla="*/ 0 h 302821"/>
              <a:gd name="connsiteX6" fmla="*/ 0 w 955963"/>
              <a:gd name="connsiteY6" fmla="*/ 0 h 30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5963" h="302821">
                <a:moveTo>
                  <a:pt x="955963" y="302821"/>
                </a:moveTo>
                <a:lnTo>
                  <a:pt x="771896" y="207819"/>
                </a:lnTo>
                <a:lnTo>
                  <a:pt x="611579" y="148442"/>
                </a:lnTo>
                <a:lnTo>
                  <a:pt x="409698" y="83128"/>
                </a:lnTo>
                <a:lnTo>
                  <a:pt x="190005" y="29689"/>
                </a:lnTo>
                <a:lnTo>
                  <a:pt x="0" y="0"/>
                </a:lnTo>
                <a:lnTo>
                  <a:pt x="0" y="0"/>
                </a:lnTo>
              </a:path>
            </a:pathLst>
          </a:custGeom>
          <a:noFill/>
          <a:ln>
            <a:solidFill>
              <a:srgbClr val="FFFF00"/>
            </a:solidFill>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6330074" y="3871356"/>
            <a:ext cx="1204201" cy="1253094"/>
          </a:xfrm>
          <a:prstGeom prst="straightConnector1">
            <a:avLst/>
          </a:prstGeom>
          <a:ln w="57150">
            <a:solidFill>
              <a:srgbClr val="FF000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553074" y="3048000"/>
            <a:ext cx="1583888" cy="1602638"/>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2" idx="2"/>
          </p:cNvCxnSpPr>
          <p:nvPr/>
        </p:nvCxnSpPr>
        <p:spPr>
          <a:xfrm>
            <a:off x="7454071" y="4596342"/>
            <a:ext cx="449297" cy="1371995"/>
          </a:xfrm>
          <a:prstGeom prst="straightConnector1">
            <a:avLst/>
          </a:prstGeom>
          <a:ln w="57150">
            <a:solidFill>
              <a:srgbClr val="00B05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334000" y="5968337"/>
            <a:ext cx="3505201" cy="707886"/>
          </a:xfrm>
          <a:prstGeom prst="rect">
            <a:avLst/>
          </a:prstGeom>
          <a:noFill/>
        </p:spPr>
        <p:txBody>
          <a:bodyPr wrap="square" rtlCol="0">
            <a:spAutoFit/>
          </a:bodyPr>
          <a:lstStyle/>
          <a:p>
            <a:r>
              <a:rPr lang="en-US" altLang="zh-CN" sz="2000" dirty="0">
                <a:solidFill>
                  <a:schemeClr val="tx1">
                    <a:lumMod val="95000"/>
                    <a:lumOff val="5000"/>
                  </a:schemeClr>
                </a:solidFill>
              </a:rPr>
              <a:t>Do the points in small arc have the same azimuth </a:t>
            </a:r>
            <a:r>
              <a:rPr lang="el-GR" altLang="zh-CN" sz="2000" dirty="0"/>
              <a:t>φ</a:t>
            </a:r>
            <a:r>
              <a:rPr lang="en-US" altLang="zh-CN" sz="2000" dirty="0">
                <a:solidFill>
                  <a:schemeClr val="tx1">
                    <a:lumMod val="95000"/>
                    <a:lumOff val="5000"/>
                  </a:schemeClr>
                </a:solidFill>
              </a:rPr>
              <a:t>? </a:t>
            </a:r>
            <a:r>
              <a:rPr lang="en-US" altLang="zh-CN" sz="2000" dirty="0">
                <a:solidFill>
                  <a:srgbClr val="FF0000"/>
                </a:solidFill>
              </a:rPr>
              <a:t>No</a:t>
            </a:r>
            <a:endParaRPr lang="zh-CN" altLang="en-US" sz="2000" dirty="0">
              <a:solidFill>
                <a:srgbClr val="FF0000"/>
              </a:solidFill>
            </a:endParaRPr>
          </a:p>
        </p:txBody>
      </p:sp>
      <p:sp>
        <p:nvSpPr>
          <p:cNvPr id="23" name="TextBox 22"/>
          <p:cNvSpPr txBox="1"/>
          <p:nvPr/>
        </p:nvSpPr>
        <p:spPr>
          <a:xfrm>
            <a:off x="4991003" y="540246"/>
            <a:ext cx="4062509" cy="707886"/>
          </a:xfrm>
          <a:prstGeom prst="rect">
            <a:avLst/>
          </a:prstGeom>
          <a:noFill/>
        </p:spPr>
        <p:txBody>
          <a:bodyPr wrap="square" rtlCol="0">
            <a:spAutoFit/>
          </a:bodyPr>
          <a:lstStyle/>
          <a:p>
            <a:r>
              <a:rPr lang="en-US" altLang="zh-CN" sz="2000" dirty="0">
                <a:solidFill>
                  <a:schemeClr val="tx1">
                    <a:lumMod val="95000"/>
                    <a:lumOff val="5000"/>
                  </a:schemeClr>
                </a:solidFill>
                <a:ea typeface="+mj-ea"/>
              </a:rPr>
              <a:t>Do the points in large arc have </a:t>
            </a:r>
          </a:p>
          <a:p>
            <a:r>
              <a:rPr lang="en-US" altLang="zh-CN" sz="2000" dirty="0">
                <a:solidFill>
                  <a:schemeClr val="tx1">
                    <a:lumMod val="95000"/>
                    <a:lumOff val="5000"/>
                  </a:schemeClr>
                </a:solidFill>
                <a:ea typeface="+mj-ea"/>
              </a:rPr>
              <a:t>the same polar distance angle? </a:t>
            </a:r>
            <a:r>
              <a:rPr lang="en-US" altLang="zh-CN" sz="2000" dirty="0">
                <a:solidFill>
                  <a:srgbClr val="FF0000"/>
                </a:solidFill>
                <a:ea typeface="+mj-ea"/>
              </a:rPr>
              <a:t>No</a:t>
            </a:r>
            <a:endParaRPr lang="zh-CN" altLang="en-US" sz="2000" dirty="0">
              <a:solidFill>
                <a:srgbClr val="FF0000"/>
              </a:solidFill>
              <a:ea typeface="+mj-ea"/>
            </a:endParaRPr>
          </a:p>
        </p:txBody>
      </p:sp>
      <p:cxnSp>
        <p:nvCxnSpPr>
          <p:cNvPr id="24" name="Straight Arrow Connector 23"/>
          <p:cNvCxnSpPr>
            <a:cxnSpLocks/>
            <a:endCxn id="23" idx="2"/>
          </p:cNvCxnSpPr>
          <p:nvPr/>
        </p:nvCxnSpPr>
        <p:spPr>
          <a:xfrm flipV="1">
            <a:off x="6787738" y="1248132"/>
            <a:ext cx="234520" cy="1723670"/>
          </a:xfrm>
          <a:prstGeom prst="straightConnector1">
            <a:avLst/>
          </a:prstGeom>
          <a:ln w="57150">
            <a:solidFill>
              <a:srgbClr val="00B050"/>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62559" y="545326"/>
            <a:ext cx="4017882" cy="5632311"/>
          </a:xfrm>
          <a:prstGeom prst="rect">
            <a:avLst/>
          </a:prstGeom>
        </p:spPr>
        <p:txBody>
          <a:bodyPr wrap="square">
            <a:spAutoFit/>
          </a:bodyPr>
          <a:lstStyle/>
          <a:p>
            <a:r>
              <a:rPr lang="en-US" sz="2400" b="1" dirty="0"/>
              <a:t>Angle gauge of spherical coordinate</a:t>
            </a:r>
            <a:r>
              <a:rPr lang="zh-CN" altLang="en-US" sz="2400" b="1" dirty="0"/>
              <a:t>：</a:t>
            </a:r>
            <a:endParaRPr lang="en-US" sz="2400" b="1" dirty="0"/>
          </a:p>
          <a:p>
            <a:pPr marL="285750" indent="-285750">
              <a:buFont typeface="Arial" panose="020B0604020202020204" pitchFamily="34" charset="0"/>
              <a:buChar char="•"/>
            </a:pPr>
            <a:r>
              <a:rPr lang="en-US" sz="2400" dirty="0">
                <a:solidFill>
                  <a:srgbClr val="FF0000"/>
                </a:solidFill>
              </a:rPr>
              <a:t>Scale on the ground circle </a:t>
            </a:r>
            <a:r>
              <a:rPr lang="en-US" sz="2400" dirty="0"/>
              <a:t>is used to measure azimuth </a:t>
            </a:r>
            <a:r>
              <a:rPr lang="el-GR" sz="2400" dirty="0"/>
              <a:t>φ</a:t>
            </a:r>
            <a:r>
              <a:rPr lang="en-US" sz="2400" dirty="0"/>
              <a:t>, 360° per round;</a:t>
            </a:r>
          </a:p>
          <a:p>
            <a:pPr marL="285750" indent="-285750">
              <a:buFont typeface="Arial" panose="020B0604020202020204" pitchFamily="34" charset="0"/>
              <a:buChar char="•"/>
            </a:pPr>
            <a:r>
              <a:rPr lang="en-US" sz="2400" dirty="0">
                <a:solidFill>
                  <a:srgbClr val="FF0000"/>
                </a:solidFill>
              </a:rPr>
              <a:t>Scale on the left and right diameter </a:t>
            </a:r>
            <a:r>
              <a:rPr lang="en-US" sz="2400" dirty="0"/>
              <a:t>is used to measure polar distance angle ρ, from circle center to ground circle with ρ from 0°to 90 °;</a:t>
            </a:r>
          </a:p>
          <a:p>
            <a:pPr marL="285750" indent="-285750">
              <a:buFont typeface="Arial" panose="020B0604020202020204" pitchFamily="34" charset="0"/>
              <a:buChar char="•"/>
            </a:pPr>
            <a:r>
              <a:rPr lang="en-US" altLang="zh-CN" sz="2400" dirty="0">
                <a:solidFill>
                  <a:srgbClr val="FF0000"/>
                </a:solidFill>
              </a:rPr>
              <a:t>S</a:t>
            </a:r>
            <a:r>
              <a:rPr lang="en-US" sz="2400" dirty="0">
                <a:solidFill>
                  <a:srgbClr val="FF0000"/>
                </a:solidFill>
              </a:rPr>
              <a:t>cale on its large arc </a:t>
            </a:r>
            <a:r>
              <a:rPr lang="en-US" sz="2400" dirty="0"/>
              <a:t>is used to measure the facial angle of crystal planes.</a:t>
            </a:r>
          </a:p>
        </p:txBody>
      </p:sp>
    </p:spTree>
    <p:extLst>
      <p:ext uri="{BB962C8B-B14F-4D97-AF65-F5344CB8AC3E}">
        <p14:creationId xmlns:p14="http://schemas.microsoft.com/office/powerpoint/2010/main" val="363190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arn(inVertical)">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arn(inVertical)">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arn(inVertic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down)">
                                      <p:cBhvr>
                                        <p:cTn id="30" dur="500"/>
                                        <p:tgtEl>
                                          <p:spTgt spid="1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barn(inVertical)">
                                      <p:cBhvr>
                                        <p:cTn id="33" dur="500"/>
                                        <p:tgtEl>
                                          <p:spTgt spid="23"/>
                                        </p:tgtEl>
                                      </p:cBhvr>
                                    </p:animEffect>
                                  </p:childTnLst>
                                </p:cTn>
                              </p:par>
                              <p:par>
                                <p:cTn id="34" presetID="16" presetClass="entr" presetSubtype="21"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arn(inVertical)">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inVertical)">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16" grpId="0"/>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sz="half" idx="1"/>
          </p:nvPr>
        </p:nvSpPr>
        <p:spPr>
          <a:xfrm>
            <a:off x="685800" y="685800"/>
            <a:ext cx="7903177" cy="4952999"/>
          </a:xfrm>
        </p:spPr>
        <p:txBody>
          <a:bodyPr>
            <a:noAutofit/>
          </a:bodyPr>
          <a:lstStyle/>
          <a:p>
            <a:pPr marL="0" indent="0">
              <a:lnSpc>
                <a:spcPct val="140000"/>
              </a:lnSpc>
              <a:buNone/>
            </a:pPr>
            <a:r>
              <a:rPr lang="en-US" altLang="zh-CN" sz="2000" b="1" dirty="0">
                <a:solidFill>
                  <a:srgbClr val="FF0000"/>
                </a:solidFill>
              </a:rPr>
              <a:t>Wulff net is a plane net, however, we should see it as a sphere</a:t>
            </a:r>
            <a:r>
              <a:rPr lang="en-US" altLang="zh-CN" sz="2000" dirty="0">
                <a:solidFill>
                  <a:srgbClr val="00000C"/>
                </a:solidFill>
              </a:rPr>
              <a:t>. The grid is able to measure azimuth and polar distance angle of any point on the sphere surface. Thus, it is easy to get the projection on </a:t>
            </a:r>
            <a:r>
              <a:rPr lang="en-US" altLang="zh-CN" sz="2000" dirty="0" err="1">
                <a:solidFill>
                  <a:srgbClr val="00000C"/>
                </a:solidFill>
              </a:rPr>
              <a:t>Wulff</a:t>
            </a:r>
            <a:r>
              <a:rPr lang="en-US" altLang="zh-CN" sz="2000" dirty="0">
                <a:solidFill>
                  <a:srgbClr val="00000C"/>
                </a:solidFill>
              </a:rPr>
              <a:t> net if knowing azimuth and the polar distance angles of certain points</a:t>
            </a:r>
          </a:p>
          <a:p>
            <a:pPr marL="0" indent="0">
              <a:lnSpc>
                <a:spcPct val="140000"/>
              </a:lnSpc>
              <a:buNone/>
            </a:pPr>
            <a:r>
              <a:rPr lang="en-US" altLang="zh-CN" sz="2000" b="1" dirty="0"/>
              <a:t>Conclusion </a:t>
            </a:r>
            <a:r>
              <a:rPr lang="zh-CN" altLang="en-US" sz="2000" b="1" dirty="0"/>
              <a:t>：</a:t>
            </a:r>
          </a:p>
          <a:p>
            <a:pPr marL="457200" indent="-457200">
              <a:lnSpc>
                <a:spcPct val="140000"/>
              </a:lnSpc>
              <a:buAutoNum type="arabicPeriod"/>
            </a:pPr>
            <a:r>
              <a:rPr lang="en-US" altLang="zh-CN" sz="2000" dirty="0"/>
              <a:t>Stereographic projection of various circle on the sphere surface is circle or arc.</a:t>
            </a:r>
          </a:p>
          <a:p>
            <a:pPr marL="457200" indent="-457200">
              <a:lnSpc>
                <a:spcPct val="140000"/>
              </a:lnSpc>
              <a:buAutoNum type="arabicPeriod"/>
            </a:pPr>
            <a:r>
              <a:rPr lang="en-US" altLang="zh-CN" sz="2000" dirty="0" err="1"/>
              <a:t>Intersective</a:t>
            </a:r>
            <a:r>
              <a:rPr lang="en-US" altLang="zh-CN" sz="2000" dirty="0"/>
              <a:t> angle of large circle on sphere surface equals to </a:t>
            </a:r>
            <a:r>
              <a:rPr lang="en-US" altLang="zh-CN" sz="2000" dirty="0" err="1"/>
              <a:t>intersective</a:t>
            </a:r>
            <a:r>
              <a:rPr lang="en-US" altLang="zh-CN" sz="2000" dirty="0"/>
              <a:t> angle of large circle  on stereographic projection.</a:t>
            </a:r>
            <a:endParaRPr lang="zh-CN" altLang="en-US" sz="2000" dirty="0"/>
          </a:p>
          <a:p>
            <a:pPr marL="0" indent="0">
              <a:lnSpc>
                <a:spcPct val="120000"/>
              </a:lnSpc>
              <a:buNone/>
            </a:pPr>
            <a:endParaRPr lang="zh-CN" altLang="en-US" sz="2000" b="1" dirty="0">
              <a:solidFill>
                <a:srgbClr val="00000C"/>
              </a:solidFill>
            </a:endParaRPr>
          </a:p>
        </p:txBody>
      </p:sp>
      <p:sp>
        <p:nvSpPr>
          <p:cNvPr id="55307" name="Rectangle 11"/>
          <p:cNvSpPr>
            <a:spLocks noChangeArrowheads="1"/>
          </p:cNvSpPr>
          <p:nvPr/>
        </p:nvSpPr>
        <p:spPr bwMode="auto">
          <a:xfrm>
            <a:off x="685800" y="4953000"/>
            <a:ext cx="748823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en-US" altLang="zh-CN" sz="2000" b="1" dirty="0"/>
              <a:t>Explanation:</a:t>
            </a:r>
          </a:p>
          <a:p>
            <a:pPr>
              <a:lnSpc>
                <a:spcPct val="130000"/>
              </a:lnSpc>
            </a:pPr>
            <a:r>
              <a:rPr lang="en-US" altLang="zh-CN" sz="2000" dirty="0"/>
              <a:t>Except for line and arc, there is no complex graph, retaining intersective angle of large circle on the sphere surface.</a:t>
            </a:r>
            <a:endParaRPr kumimoji="0" lang="zh-CN" altLang="en-US" sz="2000" dirty="0"/>
          </a:p>
        </p:txBody>
      </p:sp>
    </p:spTree>
    <p:extLst>
      <p:ext uri="{BB962C8B-B14F-4D97-AF65-F5344CB8AC3E}">
        <p14:creationId xmlns:p14="http://schemas.microsoft.com/office/powerpoint/2010/main" val="2124524714"/>
      </p:ext>
    </p:extLst>
  </p:cSld>
  <p:clrMapOvr>
    <a:masterClrMapping/>
  </p:clrMapOvr>
  <p:transition spd="slow">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3" name="Rectangle 5"/>
          <p:cNvSpPr>
            <a:spLocks noChangeArrowheads="1"/>
          </p:cNvSpPr>
          <p:nvPr/>
        </p:nvSpPr>
        <p:spPr bwMode="auto">
          <a:xfrm>
            <a:off x="337950" y="1445350"/>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0" lang="en-US" altLang="zh-CN" sz="2400" b="1" dirty="0"/>
              <a:t>Example I</a:t>
            </a:r>
            <a:r>
              <a:rPr lang="en-US" altLang="zh-CN" sz="2400" b="1" dirty="0"/>
              <a:t>: </a:t>
            </a:r>
            <a:r>
              <a:rPr lang="en-US" altLang="zh-CN" sz="2400" dirty="0"/>
              <a:t>Coordinates of M on crystal surface</a:t>
            </a:r>
            <a:r>
              <a:rPr lang="zh-CN" altLang="en-US" sz="2400" dirty="0"/>
              <a:t> </a:t>
            </a:r>
            <a:r>
              <a:rPr lang="en-US" altLang="zh-CN" sz="2400" dirty="0"/>
              <a:t>is </a:t>
            </a:r>
            <a:r>
              <a:rPr lang="el-GR" altLang="zh-CN" sz="2400" dirty="0"/>
              <a:t>ρ</a:t>
            </a:r>
            <a:r>
              <a:rPr lang="pt-BR" altLang="zh-CN" sz="2400" dirty="0"/>
              <a:t>=30º</a:t>
            </a:r>
            <a:r>
              <a:rPr lang="zh-CN" altLang="en-US" sz="2400" dirty="0"/>
              <a:t> </a:t>
            </a:r>
            <a:r>
              <a:rPr lang="en-US" altLang="zh-CN" sz="2400" dirty="0"/>
              <a:t>and </a:t>
            </a:r>
            <a:r>
              <a:rPr lang="el-GR" altLang="zh-CN" sz="2400" dirty="0"/>
              <a:t>φ</a:t>
            </a:r>
            <a:r>
              <a:rPr lang="pt-BR" altLang="zh-CN" sz="2400" dirty="0"/>
              <a:t> = 40º. </a:t>
            </a:r>
            <a:r>
              <a:rPr lang="en-US" altLang="zh-CN" sz="2400" dirty="0"/>
              <a:t>Make the stereographic projection of M.</a:t>
            </a:r>
            <a:endParaRPr kumimoji="0" lang="zh-CN" altLang="en-US" sz="2400" dirty="0"/>
          </a:p>
        </p:txBody>
      </p:sp>
      <p:pic>
        <p:nvPicPr>
          <p:cNvPr id="160774" name="Picture 6" descr="pic2-8"/>
          <p:cNvPicPr>
            <a:picLocks noChangeAspect="1" noChangeArrowheads="1"/>
          </p:cNvPicPr>
          <p:nvPr/>
        </p:nvPicPr>
        <p:blipFill rotWithShape="1">
          <a:blip r:embed="rId2">
            <a:extLst>
              <a:ext uri="{28A0092B-C50C-407E-A947-70E740481C1C}">
                <a14:useLocalDpi xmlns:a14="http://schemas.microsoft.com/office/drawing/2010/main" val="0"/>
              </a:ext>
            </a:extLst>
          </a:blip>
          <a:srcRect r="58589"/>
          <a:stretch/>
        </p:blipFill>
        <p:spPr bwMode="auto">
          <a:xfrm>
            <a:off x="2847295" y="2471260"/>
            <a:ext cx="3439510" cy="406876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p:cNvCxnSpPr/>
          <p:nvPr/>
        </p:nvCxnSpPr>
        <p:spPr>
          <a:xfrm>
            <a:off x="4415827" y="4432132"/>
            <a:ext cx="896587" cy="742208"/>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091895" y="4100035"/>
            <a:ext cx="628650" cy="636092"/>
          </a:xfrm>
          <a:prstGeom prst="ellipse">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4590566" y="4572088"/>
            <a:ext cx="112644" cy="106017"/>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842821" y="6389673"/>
            <a:ext cx="1335750" cy="461665"/>
          </a:xfrm>
          <a:prstGeom prst="rect">
            <a:avLst/>
          </a:prstGeom>
          <a:noFill/>
        </p:spPr>
        <p:txBody>
          <a:bodyPr wrap="none" rtlCol="0">
            <a:spAutoFit/>
          </a:bodyPr>
          <a:lstStyle/>
          <a:p>
            <a:r>
              <a:rPr lang="en-US" altLang="zh-CN" sz="2400" b="1" dirty="0">
                <a:ea typeface="+mj-ea"/>
              </a:rPr>
              <a:t>Method I</a:t>
            </a:r>
            <a:endParaRPr lang="en-US" sz="2400" b="1" dirty="0">
              <a:ea typeface="+mj-ea"/>
            </a:endParaRPr>
          </a:p>
        </p:txBody>
      </p:sp>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spTree>
    <p:extLst>
      <p:ext uri="{BB962C8B-B14F-4D97-AF65-F5344CB8AC3E}">
        <p14:creationId xmlns:p14="http://schemas.microsoft.com/office/powerpoint/2010/main" val="64238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3" name="Rectangle 5"/>
          <p:cNvSpPr>
            <a:spLocks noChangeArrowheads="1"/>
          </p:cNvSpPr>
          <p:nvPr/>
        </p:nvSpPr>
        <p:spPr bwMode="auto">
          <a:xfrm>
            <a:off x="337950" y="1445350"/>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kumimoji="0" lang="en-US" altLang="zh-CN" sz="2400" b="1" dirty="0"/>
              <a:t>Example I</a:t>
            </a:r>
            <a:r>
              <a:rPr lang="en-US" altLang="zh-CN" sz="2400" b="1" dirty="0"/>
              <a:t>: </a:t>
            </a:r>
            <a:r>
              <a:rPr lang="en-US" altLang="zh-CN" sz="2400" dirty="0"/>
              <a:t>Coordinates of M on crystal surface</a:t>
            </a:r>
            <a:r>
              <a:rPr lang="zh-CN" altLang="en-US" sz="2400" dirty="0"/>
              <a:t> </a:t>
            </a:r>
            <a:r>
              <a:rPr lang="en-US" altLang="zh-CN" sz="2400" dirty="0"/>
              <a:t>is </a:t>
            </a:r>
            <a:r>
              <a:rPr lang="el-GR" altLang="zh-CN" sz="2400" dirty="0"/>
              <a:t>ρ</a:t>
            </a:r>
            <a:r>
              <a:rPr lang="pt-BR" altLang="zh-CN" sz="2400" dirty="0"/>
              <a:t>=30º</a:t>
            </a:r>
            <a:r>
              <a:rPr lang="zh-CN" altLang="en-US" sz="2400" dirty="0"/>
              <a:t> </a:t>
            </a:r>
            <a:r>
              <a:rPr lang="en-US" altLang="zh-CN" sz="2400" dirty="0"/>
              <a:t>and </a:t>
            </a:r>
            <a:r>
              <a:rPr lang="el-GR" altLang="zh-CN" sz="2400" dirty="0"/>
              <a:t>φ</a:t>
            </a:r>
            <a:r>
              <a:rPr lang="pt-BR" altLang="zh-CN" sz="2400" dirty="0"/>
              <a:t> = 40º. </a:t>
            </a:r>
            <a:r>
              <a:rPr lang="en-US" altLang="zh-CN" sz="2400" dirty="0"/>
              <a:t>Make the stereographic projection of M.</a:t>
            </a:r>
            <a:endParaRPr kumimoji="0" lang="zh-CN" altLang="en-US" sz="2400" dirty="0"/>
          </a:p>
        </p:txBody>
      </p:sp>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pic>
        <p:nvPicPr>
          <p:cNvPr id="9" name="Picture 6" descr="pic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92375"/>
            <a:ext cx="8305800" cy="406876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p:cNvCxnSpPr/>
          <p:nvPr/>
        </p:nvCxnSpPr>
        <p:spPr>
          <a:xfrm>
            <a:off x="457200" y="4445888"/>
            <a:ext cx="3352800" cy="0"/>
          </a:xfrm>
          <a:prstGeom prst="straightConnector1">
            <a:avLst/>
          </a:prstGeom>
          <a:ln w="28575">
            <a:solidFill>
              <a:schemeClr val="accent5"/>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308270" y="3253840"/>
            <a:ext cx="2885704" cy="2339438"/>
          </a:xfrm>
          <a:prstGeom prst="straightConnector1">
            <a:avLst/>
          </a:prstGeom>
          <a:ln w="28575">
            <a:solidFill>
              <a:schemeClr val="accent5"/>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101932" y="4453247"/>
            <a:ext cx="896587" cy="742208"/>
          </a:xfrm>
          <a:prstGeom prst="line">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2276671" y="4593203"/>
            <a:ext cx="112644" cy="106017"/>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2743200" y="2386485"/>
            <a:ext cx="3194462" cy="879229"/>
          </a:xfrm>
          <a:custGeom>
            <a:avLst/>
            <a:gdLst>
              <a:gd name="connsiteX0" fmla="*/ 0 w 3194462"/>
              <a:gd name="connsiteY0" fmla="*/ 784227 h 879229"/>
              <a:gd name="connsiteX1" fmla="*/ 1520042 w 3194462"/>
              <a:gd name="connsiteY1" fmla="*/ 455 h 879229"/>
              <a:gd name="connsiteX2" fmla="*/ 3194462 w 3194462"/>
              <a:gd name="connsiteY2" fmla="*/ 879229 h 879229"/>
              <a:gd name="connsiteX3" fmla="*/ 3194462 w 3194462"/>
              <a:gd name="connsiteY3" fmla="*/ 879229 h 879229"/>
            </a:gdLst>
            <a:ahLst/>
            <a:cxnLst>
              <a:cxn ang="0">
                <a:pos x="connsiteX0" y="connsiteY0"/>
              </a:cxn>
              <a:cxn ang="0">
                <a:pos x="connsiteX1" y="connsiteY1"/>
              </a:cxn>
              <a:cxn ang="0">
                <a:pos x="connsiteX2" y="connsiteY2"/>
              </a:cxn>
              <a:cxn ang="0">
                <a:pos x="connsiteX3" y="connsiteY3"/>
              </a:cxn>
            </a:cxnLst>
            <a:rect l="l" t="t" r="r" b="b"/>
            <a:pathLst>
              <a:path w="3194462" h="879229">
                <a:moveTo>
                  <a:pt x="0" y="784227"/>
                </a:moveTo>
                <a:cubicBezTo>
                  <a:pt x="493816" y="384424"/>
                  <a:pt x="987632" y="-15379"/>
                  <a:pt x="1520042" y="455"/>
                </a:cubicBezTo>
                <a:cubicBezTo>
                  <a:pt x="2052452" y="16289"/>
                  <a:pt x="3194462" y="879229"/>
                  <a:pt x="3194462" y="879229"/>
                </a:cubicBezTo>
                <a:lnTo>
                  <a:pt x="3194462" y="879229"/>
                </a:ln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8001000" y="3515096"/>
            <a:ext cx="238576" cy="938151"/>
          </a:xfrm>
          <a:custGeom>
            <a:avLst/>
            <a:gdLst>
              <a:gd name="connsiteX0" fmla="*/ 71252 w 238576"/>
              <a:gd name="connsiteY0" fmla="*/ 938151 h 938151"/>
              <a:gd name="connsiteX1" fmla="*/ 237507 w 238576"/>
              <a:gd name="connsiteY1" fmla="*/ 368135 h 938151"/>
              <a:gd name="connsiteX2" fmla="*/ 0 w 238576"/>
              <a:gd name="connsiteY2" fmla="*/ 0 h 938151"/>
            </a:gdLst>
            <a:ahLst/>
            <a:cxnLst>
              <a:cxn ang="0">
                <a:pos x="connsiteX0" y="connsiteY0"/>
              </a:cxn>
              <a:cxn ang="0">
                <a:pos x="connsiteX1" y="connsiteY1"/>
              </a:cxn>
              <a:cxn ang="0">
                <a:pos x="connsiteX2" y="connsiteY2"/>
              </a:cxn>
            </a:cxnLst>
            <a:rect l="l" t="t" r="r" b="b"/>
            <a:pathLst>
              <a:path w="238576" h="938151">
                <a:moveTo>
                  <a:pt x="71252" y="938151"/>
                </a:moveTo>
                <a:cubicBezTo>
                  <a:pt x="160317" y="731322"/>
                  <a:pt x="249382" y="524494"/>
                  <a:pt x="237507" y="368135"/>
                </a:cubicBezTo>
                <a:cubicBezTo>
                  <a:pt x="225632" y="211776"/>
                  <a:pt x="112816" y="105888"/>
                  <a:pt x="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rot="249424">
            <a:off x="2767445" y="5486400"/>
            <a:ext cx="3221183" cy="653754"/>
          </a:xfrm>
          <a:custGeom>
            <a:avLst/>
            <a:gdLst>
              <a:gd name="connsiteX0" fmla="*/ 2719450 w 2719450"/>
              <a:gd name="connsiteY0" fmla="*/ 0 h 273744"/>
              <a:gd name="connsiteX1" fmla="*/ 1389413 w 2719450"/>
              <a:gd name="connsiteY1" fmla="*/ 273133 h 273744"/>
              <a:gd name="connsiteX2" fmla="*/ 0 w 2719450"/>
              <a:gd name="connsiteY2" fmla="*/ 59377 h 273744"/>
            </a:gdLst>
            <a:ahLst/>
            <a:cxnLst>
              <a:cxn ang="0">
                <a:pos x="connsiteX0" y="connsiteY0"/>
              </a:cxn>
              <a:cxn ang="0">
                <a:pos x="connsiteX1" y="connsiteY1"/>
              </a:cxn>
              <a:cxn ang="0">
                <a:pos x="connsiteX2" y="connsiteY2"/>
              </a:cxn>
            </a:cxnLst>
            <a:rect l="l" t="t" r="r" b="b"/>
            <a:pathLst>
              <a:path w="2719450" h="273744">
                <a:moveTo>
                  <a:pt x="2719450" y="0"/>
                </a:moveTo>
                <a:cubicBezTo>
                  <a:pt x="2281052" y="131618"/>
                  <a:pt x="1842655" y="263237"/>
                  <a:pt x="1389413" y="273133"/>
                </a:cubicBezTo>
                <a:cubicBezTo>
                  <a:pt x="936171" y="283029"/>
                  <a:pt x="468085" y="171203"/>
                  <a:pt x="0" y="59377"/>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671689" y="6370674"/>
            <a:ext cx="1412694" cy="461665"/>
          </a:xfrm>
          <a:prstGeom prst="rect">
            <a:avLst/>
          </a:prstGeom>
          <a:noFill/>
        </p:spPr>
        <p:txBody>
          <a:bodyPr wrap="none" rtlCol="0">
            <a:spAutoFit/>
          </a:bodyPr>
          <a:lstStyle/>
          <a:p>
            <a:r>
              <a:rPr lang="en-US" altLang="zh-CN" sz="2400" b="1" dirty="0">
                <a:ea typeface="+mj-ea"/>
              </a:rPr>
              <a:t>Method II</a:t>
            </a:r>
            <a:endParaRPr lang="en-US" sz="2400" b="1" dirty="0">
              <a:ea typeface="+mj-ea"/>
            </a:endParaRPr>
          </a:p>
        </p:txBody>
      </p:sp>
      <p:sp>
        <p:nvSpPr>
          <p:cNvPr id="20" name="Freeform 19"/>
          <p:cNvSpPr/>
          <p:nvPr/>
        </p:nvSpPr>
        <p:spPr>
          <a:xfrm>
            <a:off x="2438399" y="4526628"/>
            <a:ext cx="4577255" cy="718107"/>
          </a:xfrm>
          <a:custGeom>
            <a:avLst/>
            <a:gdLst>
              <a:gd name="connsiteX0" fmla="*/ 2719450 w 2719450"/>
              <a:gd name="connsiteY0" fmla="*/ 0 h 273744"/>
              <a:gd name="connsiteX1" fmla="*/ 1389413 w 2719450"/>
              <a:gd name="connsiteY1" fmla="*/ 273133 h 273744"/>
              <a:gd name="connsiteX2" fmla="*/ 0 w 2719450"/>
              <a:gd name="connsiteY2" fmla="*/ 59377 h 273744"/>
            </a:gdLst>
            <a:ahLst/>
            <a:cxnLst>
              <a:cxn ang="0">
                <a:pos x="connsiteX0" y="connsiteY0"/>
              </a:cxn>
              <a:cxn ang="0">
                <a:pos x="connsiteX1" y="connsiteY1"/>
              </a:cxn>
              <a:cxn ang="0">
                <a:pos x="connsiteX2" y="connsiteY2"/>
              </a:cxn>
            </a:cxnLst>
            <a:rect l="l" t="t" r="r" b="b"/>
            <a:pathLst>
              <a:path w="2719450" h="273744">
                <a:moveTo>
                  <a:pt x="2719450" y="0"/>
                </a:moveTo>
                <a:cubicBezTo>
                  <a:pt x="2281052" y="131618"/>
                  <a:pt x="1842655" y="263237"/>
                  <a:pt x="1389413" y="273133"/>
                </a:cubicBezTo>
                <a:cubicBezTo>
                  <a:pt x="936171" y="283029"/>
                  <a:pt x="468085" y="171203"/>
                  <a:pt x="0" y="59377"/>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a:extLst>
              <a:ext uri="{FF2B5EF4-FFF2-40B4-BE49-F238E27FC236}">
                <a16:creationId xmlns:a16="http://schemas.microsoft.com/office/drawing/2014/main" id="{1D241AE9-ADF5-4FC7-BA8F-2A94C9AB5872}"/>
              </a:ext>
            </a:extLst>
          </p:cNvPr>
          <p:cNvSpPr txBox="1"/>
          <p:nvPr/>
        </p:nvSpPr>
        <p:spPr>
          <a:xfrm>
            <a:off x="8268198" y="3733800"/>
            <a:ext cx="684803" cy="369332"/>
          </a:xfrm>
          <a:prstGeom prst="rect">
            <a:avLst/>
          </a:prstGeom>
          <a:noFill/>
        </p:spPr>
        <p:txBody>
          <a:bodyPr wrap="none" rtlCol="0">
            <a:spAutoFit/>
          </a:bodyPr>
          <a:lstStyle/>
          <a:p>
            <a:r>
              <a:rPr lang="en-US" altLang="zh-CN" dirty="0"/>
              <a:t>40°</a:t>
            </a:r>
            <a:endParaRPr lang="zh-CN" altLang="en-US" dirty="0"/>
          </a:p>
        </p:txBody>
      </p:sp>
    </p:spTree>
    <p:extLst>
      <p:ext uri="{BB962C8B-B14F-4D97-AF65-F5344CB8AC3E}">
        <p14:creationId xmlns:p14="http://schemas.microsoft.com/office/powerpoint/2010/main" val="163362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par>
                                <p:cTn id="13" presetID="16" presetClass="entr" presetSubtype="21"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arn(inVertical)">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barn(inVertical)">
                                      <p:cBhvr>
                                        <p:cTn id="35" dur="500"/>
                                        <p:tgtEl>
                                          <p:spTgt spid="20"/>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arn(inVertical)">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20" grpId="0" animBg="1"/>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sp>
        <p:nvSpPr>
          <p:cNvPr id="21" name="Rectangle 5"/>
          <p:cNvSpPr>
            <a:spLocks noChangeArrowheads="1"/>
          </p:cNvSpPr>
          <p:nvPr/>
        </p:nvSpPr>
        <p:spPr bwMode="auto">
          <a:xfrm>
            <a:off x="495300" y="1454399"/>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b="1" dirty="0">
                <a:cs typeface="Times New Roman" panose="02020603050405020304" pitchFamily="18" charset="0"/>
              </a:rPr>
              <a:t>Example II:  </a:t>
            </a:r>
            <a:r>
              <a:rPr lang="en-US" altLang="zh-CN" sz="2400" dirty="0">
                <a:cs typeface="Times New Roman" panose="02020603050405020304" pitchFamily="18" charset="0"/>
              </a:rPr>
              <a:t>give the interfacial angle between the crystal surfaces M </a:t>
            </a:r>
            <a:r>
              <a:rPr lang="en-US" altLang="zh-CN" sz="2400" dirty="0"/>
              <a:t>(</a:t>
            </a:r>
            <a:r>
              <a:rPr lang="en-US" altLang="zh-CN" sz="2400" i="1" dirty="0"/>
              <a:t>r</a:t>
            </a:r>
            <a:r>
              <a:rPr lang="en-US" altLang="zh-CN" sz="2400" baseline="-30000" dirty="0"/>
              <a:t>1</a:t>
            </a:r>
            <a:r>
              <a:rPr lang="en-US" altLang="zh-CN" sz="2400" dirty="0"/>
              <a:t>, </a:t>
            </a:r>
            <a:r>
              <a:rPr lang="en-US" altLang="zh-CN" sz="2400" i="1" dirty="0"/>
              <a:t>j</a:t>
            </a:r>
            <a:r>
              <a:rPr lang="en-US" altLang="zh-CN" sz="2400" baseline="-30000" dirty="0"/>
              <a:t>1</a:t>
            </a:r>
            <a:r>
              <a:rPr lang="en-US" altLang="zh-CN" sz="2400" dirty="0"/>
              <a:t>) </a:t>
            </a:r>
            <a:r>
              <a:rPr lang="en-US" altLang="zh-CN" sz="2400" dirty="0">
                <a:cs typeface="Times New Roman" panose="02020603050405020304" pitchFamily="18" charset="0"/>
              </a:rPr>
              <a:t>and P </a:t>
            </a:r>
            <a:r>
              <a:rPr lang="en-US" altLang="zh-CN" sz="2400" dirty="0"/>
              <a:t>(</a:t>
            </a:r>
            <a:r>
              <a:rPr lang="en-US" altLang="zh-CN" sz="2400" i="1" dirty="0"/>
              <a:t>r</a:t>
            </a:r>
            <a:r>
              <a:rPr lang="en-US" altLang="zh-CN" sz="2400" baseline="-30000" dirty="0"/>
              <a:t>2</a:t>
            </a:r>
            <a:r>
              <a:rPr lang="en-US" altLang="zh-CN" sz="2400" dirty="0"/>
              <a:t>, </a:t>
            </a:r>
            <a:r>
              <a:rPr lang="en-US" altLang="zh-CN" sz="2400" i="1" dirty="0"/>
              <a:t>j</a:t>
            </a:r>
            <a:r>
              <a:rPr lang="en-US" altLang="zh-CN" sz="2400" baseline="-30000" dirty="0"/>
              <a:t>2</a:t>
            </a:r>
            <a:r>
              <a:rPr lang="en-US" altLang="zh-CN" sz="2400" dirty="0"/>
              <a:t>)</a:t>
            </a:r>
            <a:r>
              <a:rPr lang="en-US" altLang="zh-CN" sz="2400" dirty="0">
                <a:cs typeface="Times New Roman" panose="02020603050405020304" pitchFamily="18" charset="0"/>
              </a:rPr>
              <a:t>.</a:t>
            </a:r>
          </a:p>
        </p:txBody>
      </p: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743200"/>
            <a:ext cx="5504543"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框 4">
            <a:extLst>
              <a:ext uri="{FF2B5EF4-FFF2-40B4-BE49-F238E27FC236}">
                <a16:creationId xmlns:a16="http://schemas.microsoft.com/office/drawing/2014/main" id="{FA8F5CD0-8E50-4F1F-8E2C-DCD57D3453F8}"/>
              </a:ext>
            </a:extLst>
          </p:cNvPr>
          <p:cNvSpPr txBox="1"/>
          <p:nvPr/>
        </p:nvSpPr>
        <p:spPr>
          <a:xfrm>
            <a:off x="514522" y="18153"/>
            <a:ext cx="8629478" cy="369332"/>
          </a:xfrm>
          <a:prstGeom prst="rect">
            <a:avLst/>
          </a:prstGeom>
          <a:noFill/>
        </p:spPr>
        <p:txBody>
          <a:bodyPr wrap="none" rtlCol="0">
            <a:spAutoFit/>
          </a:bodyPr>
          <a:lstStyle/>
          <a:p>
            <a:r>
              <a:rPr lang="en-US" altLang="zh-CN" b="1" dirty="0"/>
              <a:t>MJ</a:t>
            </a:r>
            <a:r>
              <a:rPr lang="zh-CN" altLang="en-US" b="1" dirty="0"/>
              <a:t>：</a:t>
            </a:r>
            <a:r>
              <a:rPr lang="en-US" altLang="zh-CN" dirty="0"/>
              <a:t>How to calculate the Angle between two directions with high school mathematics?</a:t>
            </a:r>
            <a:endParaRPr lang="zh-CN" altLang="en-US" dirty="0"/>
          </a:p>
        </p:txBody>
      </p:sp>
    </p:spTree>
    <p:extLst>
      <p:ext uri="{BB962C8B-B14F-4D97-AF65-F5344CB8AC3E}">
        <p14:creationId xmlns:p14="http://schemas.microsoft.com/office/powerpoint/2010/main" val="376931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pic>
        <p:nvPicPr>
          <p:cNvPr id="5" name="Picture 6" descr="pic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366962"/>
            <a:ext cx="8458200" cy="418623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41268" y="2540441"/>
            <a:ext cx="3004457" cy="3277588"/>
          </a:xfrm>
          <a:prstGeom prst="rect">
            <a:avLst/>
          </a:prstGeom>
          <a:solidFill>
            <a:srgbClr val="7A7A7A">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5"/>
          <p:cNvSpPr>
            <a:spLocks noChangeArrowheads="1"/>
          </p:cNvSpPr>
          <p:nvPr/>
        </p:nvSpPr>
        <p:spPr bwMode="auto">
          <a:xfrm>
            <a:off x="495300" y="1454399"/>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b="1" dirty="0">
                <a:cs typeface="Times New Roman" panose="02020603050405020304" pitchFamily="18" charset="0"/>
              </a:rPr>
              <a:t>Example II:  </a:t>
            </a:r>
            <a:r>
              <a:rPr lang="en-US" altLang="zh-CN" sz="2400" dirty="0">
                <a:cs typeface="Times New Roman" panose="02020603050405020304" pitchFamily="18" charset="0"/>
              </a:rPr>
              <a:t>give the interfacial angle between the crystal surfaces M </a:t>
            </a:r>
            <a:r>
              <a:rPr lang="en-US" altLang="zh-CN" sz="2400" dirty="0"/>
              <a:t>(</a:t>
            </a:r>
            <a:r>
              <a:rPr lang="en-US" altLang="zh-CN" sz="2400" i="1" dirty="0"/>
              <a:t>r</a:t>
            </a:r>
            <a:r>
              <a:rPr lang="en-US" altLang="zh-CN" sz="2400" baseline="-30000" dirty="0"/>
              <a:t>1</a:t>
            </a:r>
            <a:r>
              <a:rPr lang="en-US" altLang="zh-CN" sz="2400" dirty="0"/>
              <a:t>, </a:t>
            </a:r>
            <a:r>
              <a:rPr lang="en-US" altLang="zh-CN" sz="2400" i="1" dirty="0"/>
              <a:t>j</a:t>
            </a:r>
            <a:r>
              <a:rPr lang="en-US" altLang="zh-CN" sz="2400" baseline="-30000" dirty="0"/>
              <a:t>1</a:t>
            </a:r>
            <a:r>
              <a:rPr lang="en-US" altLang="zh-CN" sz="2400" dirty="0"/>
              <a:t>) </a:t>
            </a:r>
            <a:r>
              <a:rPr lang="en-US" altLang="zh-CN" sz="2400" dirty="0">
                <a:cs typeface="Times New Roman" panose="02020603050405020304" pitchFamily="18" charset="0"/>
              </a:rPr>
              <a:t>and P </a:t>
            </a:r>
            <a:r>
              <a:rPr lang="en-US" altLang="zh-CN" sz="2400" dirty="0"/>
              <a:t>(</a:t>
            </a:r>
            <a:r>
              <a:rPr lang="en-US" altLang="zh-CN" sz="2400" i="1" dirty="0"/>
              <a:t>r</a:t>
            </a:r>
            <a:r>
              <a:rPr lang="en-US" altLang="zh-CN" sz="2400" baseline="-30000" dirty="0"/>
              <a:t>2</a:t>
            </a:r>
            <a:r>
              <a:rPr lang="en-US" altLang="zh-CN" sz="2400" dirty="0"/>
              <a:t>, </a:t>
            </a:r>
            <a:r>
              <a:rPr lang="en-US" altLang="zh-CN" sz="2400" i="1" dirty="0"/>
              <a:t>j</a:t>
            </a:r>
            <a:r>
              <a:rPr lang="en-US" altLang="zh-CN" sz="2400" baseline="-30000" dirty="0"/>
              <a:t>2</a:t>
            </a:r>
            <a:r>
              <a:rPr lang="en-US" altLang="zh-CN" sz="2400" dirty="0"/>
              <a:t>)</a:t>
            </a:r>
            <a:r>
              <a:rPr lang="en-US" altLang="zh-CN" sz="2400" dirty="0">
                <a:cs typeface="Times New Roman" panose="02020603050405020304" pitchFamily="18" charset="0"/>
              </a:rPr>
              <a:t>.</a:t>
            </a:r>
          </a:p>
        </p:txBody>
      </p:sp>
    </p:spTree>
    <p:extLst>
      <p:ext uri="{BB962C8B-B14F-4D97-AF65-F5344CB8AC3E}">
        <p14:creationId xmlns:p14="http://schemas.microsoft.com/office/powerpoint/2010/main" val="808335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pic>
        <p:nvPicPr>
          <p:cNvPr id="5" name="Picture 6" descr="pic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366962"/>
            <a:ext cx="8458200" cy="418623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5"/>
          <p:cNvSpPr>
            <a:spLocks noChangeArrowheads="1"/>
          </p:cNvSpPr>
          <p:nvPr/>
        </p:nvSpPr>
        <p:spPr bwMode="auto">
          <a:xfrm>
            <a:off x="495300" y="1454399"/>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b="1" dirty="0">
                <a:cs typeface="Times New Roman" panose="02020603050405020304" pitchFamily="18" charset="0"/>
              </a:rPr>
              <a:t>Example II:  </a:t>
            </a:r>
            <a:r>
              <a:rPr lang="en-US" altLang="zh-CN" sz="2400" dirty="0">
                <a:cs typeface="Times New Roman" panose="02020603050405020304" pitchFamily="18" charset="0"/>
              </a:rPr>
              <a:t>give the interfacial angle between the crystal surfaces M </a:t>
            </a:r>
            <a:r>
              <a:rPr lang="en-US" altLang="zh-CN" sz="2400" dirty="0"/>
              <a:t>(</a:t>
            </a:r>
            <a:r>
              <a:rPr lang="en-US" altLang="zh-CN" sz="2400" i="1" dirty="0"/>
              <a:t>r</a:t>
            </a:r>
            <a:r>
              <a:rPr lang="en-US" altLang="zh-CN" sz="2400" baseline="-30000" dirty="0"/>
              <a:t>1</a:t>
            </a:r>
            <a:r>
              <a:rPr lang="en-US" altLang="zh-CN" sz="2400" dirty="0"/>
              <a:t>, </a:t>
            </a:r>
            <a:r>
              <a:rPr lang="en-US" altLang="zh-CN" sz="2400" i="1" dirty="0"/>
              <a:t>j</a:t>
            </a:r>
            <a:r>
              <a:rPr lang="en-US" altLang="zh-CN" sz="2400" baseline="-30000" dirty="0"/>
              <a:t>1</a:t>
            </a:r>
            <a:r>
              <a:rPr lang="en-US" altLang="zh-CN" sz="2400" dirty="0"/>
              <a:t>) </a:t>
            </a:r>
            <a:r>
              <a:rPr lang="en-US" altLang="zh-CN" sz="2400" dirty="0">
                <a:cs typeface="Times New Roman" panose="02020603050405020304" pitchFamily="18" charset="0"/>
              </a:rPr>
              <a:t>and P </a:t>
            </a:r>
            <a:r>
              <a:rPr lang="en-US" altLang="zh-CN" sz="2400" dirty="0"/>
              <a:t>(</a:t>
            </a:r>
            <a:r>
              <a:rPr lang="en-US" altLang="zh-CN" sz="2400" i="1" dirty="0"/>
              <a:t>r</a:t>
            </a:r>
            <a:r>
              <a:rPr lang="en-US" altLang="zh-CN" sz="2400" baseline="-30000" dirty="0"/>
              <a:t>2</a:t>
            </a:r>
            <a:r>
              <a:rPr lang="en-US" altLang="zh-CN" sz="2400" dirty="0"/>
              <a:t>, </a:t>
            </a:r>
            <a:r>
              <a:rPr lang="en-US" altLang="zh-CN" sz="2400" i="1" dirty="0"/>
              <a:t>j</a:t>
            </a:r>
            <a:r>
              <a:rPr lang="en-US" altLang="zh-CN" sz="2400" baseline="-30000" dirty="0"/>
              <a:t>2</a:t>
            </a:r>
            <a:r>
              <a:rPr lang="en-US" altLang="zh-CN" sz="2400" dirty="0"/>
              <a:t>)</a:t>
            </a:r>
            <a:r>
              <a:rPr lang="en-US" altLang="zh-CN" sz="2400" dirty="0">
                <a:cs typeface="Times New Roman" panose="02020603050405020304" pitchFamily="18" charset="0"/>
              </a:rPr>
              <a:t>.</a:t>
            </a:r>
          </a:p>
        </p:txBody>
      </p:sp>
    </p:spTree>
    <p:extLst>
      <p:ext uri="{BB962C8B-B14F-4D97-AF65-F5344CB8AC3E}">
        <p14:creationId xmlns:p14="http://schemas.microsoft.com/office/powerpoint/2010/main" val="3055635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a:t>5. Wulff net and application examples </a:t>
            </a:r>
            <a:endParaRPr lang="en-US" sz="2800" dirty="0"/>
          </a:p>
        </p:txBody>
      </p:sp>
      <p:sp>
        <p:nvSpPr>
          <p:cNvPr id="11" name="Rectangle 5"/>
          <p:cNvSpPr>
            <a:spLocks noChangeArrowheads="1"/>
          </p:cNvSpPr>
          <p:nvPr/>
        </p:nvSpPr>
        <p:spPr bwMode="auto">
          <a:xfrm>
            <a:off x="495300" y="1454399"/>
            <a:ext cx="8458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zh-CN" sz="2400" b="1" dirty="0">
                <a:cs typeface="Times New Roman" panose="02020603050405020304" pitchFamily="18" charset="0"/>
              </a:rPr>
              <a:t>Example II:  </a:t>
            </a:r>
            <a:r>
              <a:rPr lang="en-US" altLang="zh-CN" sz="2400" dirty="0">
                <a:cs typeface="Times New Roman" panose="02020603050405020304" pitchFamily="18" charset="0"/>
              </a:rPr>
              <a:t>give the interfacial angle between the crystal surfaces M </a:t>
            </a:r>
            <a:r>
              <a:rPr lang="en-US" altLang="zh-CN" sz="2400" dirty="0"/>
              <a:t>(</a:t>
            </a:r>
            <a:r>
              <a:rPr lang="en-US" altLang="zh-CN" sz="2400" i="1" dirty="0"/>
              <a:t>r</a:t>
            </a:r>
            <a:r>
              <a:rPr lang="en-US" altLang="zh-CN" sz="2400" baseline="-30000" dirty="0"/>
              <a:t>1</a:t>
            </a:r>
            <a:r>
              <a:rPr lang="en-US" altLang="zh-CN" sz="2400" dirty="0"/>
              <a:t>, </a:t>
            </a:r>
            <a:r>
              <a:rPr lang="en-US" altLang="zh-CN" sz="2400" i="1" dirty="0"/>
              <a:t>j</a:t>
            </a:r>
            <a:r>
              <a:rPr lang="en-US" altLang="zh-CN" sz="2400" baseline="-30000" dirty="0"/>
              <a:t>1</a:t>
            </a:r>
            <a:r>
              <a:rPr lang="en-US" altLang="zh-CN" sz="2400" dirty="0"/>
              <a:t>) </a:t>
            </a:r>
            <a:r>
              <a:rPr lang="en-US" altLang="zh-CN" sz="2400" dirty="0">
                <a:cs typeface="Times New Roman" panose="02020603050405020304" pitchFamily="18" charset="0"/>
              </a:rPr>
              <a:t>and P </a:t>
            </a:r>
            <a:r>
              <a:rPr lang="en-US" altLang="zh-CN" sz="2400" dirty="0"/>
              <a:t>(</a:t>
            </a:r>
            <a:r>
              <a:rPr lang="en-US" altLang="zh-CN" sz="2400" i="1" dirty="0"/>
              <a:t>r</a:t>
            </a:r>
            <a:r>
              <a:rPr lang="en-US" altLang="zh-CN" sz="2400" baseline="-30000" dirty="0"/>
              <a:t>2</a:t>
            </a:r>
            <a:r>
              <a:rPr lang="en-US" altLang="zh-CN" sz="2400" dirty="0"/>
              <a:t>, </a:t>
            </a:r>
            <a:r>
              <a:rPr lang="en-US" altLang="zh-CN" sz="2400" i="1" dirty="0"/>
              <a:t>j</a:t>
            </a:r>
            <a:r>
              <a:rPr lang="en-US" altLang="zh-CN" sz="2400" baseline="-30000" dirty="0"/>
              <a:t>2</a:t>
            </a:r>
            <a:r>
              <a:rPr lang="en-US" altLang="zh-CN" sz="2400" dirty="0"/>
              <a:t>)</a:t>
            </a:r>
            <a:r>
              <a:rPr lang="en-US" altLang="zh-CN" sz="2400" dirty="0">
                <a:cs typeface="Times New Roman" panose="02020603050405020304" pitchFamily="18" charset="0"/>
              </a:rPr>
              <a:t>.</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57" y="2514600"/>
            <a:ext cx="5034643" cy="285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Oval 12"/>
          <p:cNvSpPr/>
          <p:nvPr/>
        </p:nvSpPr>
        <p:spPr>
          <a:xfrm>
            <a:off x="761999" y="3733800"/>
            <a:ext cx="2471943" cy="2363460"/>
          </a:xfrm>
          <a:prstGeom prst="ellipse">
            <a:avLst/>
          </a:prstGeom>
          <a:noFill/>
          <a:ln>
            <a:solidFill>
              <a:srgbClr val="00B0F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57200" y="2576511"/>
            <a:ext cx="4515457" cy="4237750"/>
          </a:xfrm>
          <a:prstGeom prst="ellipse">
            <a:avLst/>
          </a:prstGeom>
          <a:noFill/>
          <a:ln>
            <a:solidFill>
              <a:srgbClr val="00B0F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flipV="1">
            <a:off x="2816678" y="2353638"/>
            <a:ext cx="0" cy="264666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788214" y="5008728"/>
            <a:ext cx="445729" cy="363372"/>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p:cNvCxnSpPr>
          <p:nvPr/>
        </p:nvCxnSpPr>
        <p:spPr>
          <a:xfrm>
            <a:off x="2837101" y="5017258"/>
            <a:ext cx="2076087" cy="150725"/>
          </a:xfrm>
          <a:prstGeom prst="straightConnector1">
            <a:avLst/>
          </a:prstGeom>
          <a:ln w="381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3111210" y="5280546"/>
            <a:ext cx="152400" cy="1524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4820257" y="5128146"/>
            <a:ext cx="152400" cy="1524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p:cNvSpPr/>
          <p:nvPr/>
        </p:nvSpPr>
        <p:spPr>
          <a:xfrm>
            <a:off x="3118594" y="3053751"/>
            <a:ext cx="903100" cy="2260121"/>
          </a:xfrm>
          <a:custGeom>
            <a:avLst/>
            <a:gdLst>
              <a:gd name="connsiteX0" fmla="*/ 0 w 1112221"/>
              <a:gd name="connsiteY0" fmla="*/ 0 h 2260121"/>
              <a:gd name="connsiteX1" fmla="*/ 1026543 w 1112221"/>
              <a:gd name="connsiteY1" fmla="*/ 931653 h 2260121"/>
              <a:gd name="connsiteX2" fmla="*/ 983411 w 1112221"/>
              <a:gd name="connsiteY2" fmla="*/ 2260121 h 2260121"/>
            </a:gdLst>
            <a:ahLst/>
            <a:cxnLst>
              <a:cxn ang="0">
                <a:pos x="connsiteX0" y="connsiteY0"/>
              </a:cxn>
              <a:cxn ang="0">
                <a:pos x="connsiteX1" y="connsiteY1"/>
              </a:cxn>
              <a:cxn ang="0">
                <a:pos x="connsiteX2" y="connsiteY2"/>
              </a:cxn>
            </a:cxnLst>
            <a:rect l="l" t="t" r="r" b="b"/>
            <a:pathLst>
              <a:path w="1112221" h="2260121">
                <a:moveTo>
                  <a:pt x="0" y="0"/>
                </a:moveTo>
                <a:cubicBezTo>
                  <a:pt x="431320" y="277483"/>
                  <a:pt x="862641" y="554966"/>
                  <a:pt x="1026543" y="931653"/>
                </a:cubicBezTo>
                <a:cubicBezTo>
                  <a:pt x="1190445" y="1308340"/>
                  <a:pt x="1086928" y="1784230"/>
                  <a:pt x="983411" y="2260121"/>
                </a:cubicBezTo>
              </a:path>
            </a:pathLst>
          </a:custGeom>
          <a:noFill/>
          <a:ln w="57150">
            <a:solidFill>
              <a:srgbClr val="FF0000"/>
            </a:solidFill>
            <a:prstDash val="sys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619644" y="2380595"/>
            <a:ext cx="3524356" cy="3477875"/>
          </a:xfrm>
          <a:prstGeom prst="rect">
            <a:avLst/>
          </a:prstGeom>
          <a:noFill/>
        </p:spPr>
        <p:txBody>
          <a:bodyPr wrap="square" rtlCol="0">
            <a:spAutoFit/>
          </a:bodyPr>
          <a:lstStyle/>
          <a:p>
            <a:pPr>
              <a:buFont typeface="+mj-lt"/>
              <a:buAutoNum type="arabicPeriod"/>
            </a:pPr>
            <a:r>
              <a:rPr lang="en-US" altLang="zh-CN" sz="2000" dirty="0"/>
              <a:t> Any two points on the sphere can pass through a large circle (OP, OM determine a large circle plane);</a:t>
            </a:r>
          </a:p>
          <a:p>
            <a:pPr marL="457200" indent="-457200">
              <a:buFont typeface="+mj-lt"/>
              <a:buAutoNum type="arabicPeriod"/>
            </a:pPr>
            <a:endParaRPr lang="en-US" altLang="zh-CN" sz="2000" dirty="0"/>
          </a:p>
          <a:p>
            <a:pPr>
              <a:buFont typeface="+mj-lt"/>
              <a:buAutoNum type="arabicPeriod"/>
            </a:pPr>
            <a:r>
              <a:rPr lang="en-US" altLang="zh-CN" sz="2000" dirty="0"/>
              <a:t>The angle between any two points in big circle is the same as the angle between two corresponding points with the same azimuth on the large circle of </a:t>
            </a:r>
            <a:r>
              <a:rPr lang="en-US" altLang="zh-CN" sz="2000" dirty="0" err="1"/>
              <a:t>Wulff</a:t>
            </a:r>
            <a:r>
              <a:rPr lang="en-US" altLang="zh-CN" sz="2000" dirty="0"/>
              <a:t> net.</a:t>
            </a:r>
            <a:endParaRPr lang="en-US" sz="2000" dirty="0"/>
          </a:p>
        </p:txBody>
      </p:sp>
      <p:sp>
        <p:nvSpPr>
          <p:cNvPr id="22" name="TextBox 21"/>
          <p:cNvSpPr txBox="1"/>
          <p:nvPr/>
        </p:nvSpPr>
        <p:spPr>
          <a:xfrm>
            <a:off x="3187410" y="5465021"/>
            <a:ext cx="391454" cy="400110"/>
          </a:xfrm>
          <a:prstGeom prst="rect">
            <a:avLst/>
          </a:prstGeom>
          <a:noFill/>
        </p:spPr>
        <p:txBody>
          <a:bodyPr wrap="none" rtlCol="0">
            <a:spAutoFit/>
          </a:bodyPr>
          <a:lstStyle/>
          <a:p>
            <a:r>
              <a:rPr lang="en-US" altLang="zh-CN" sz="2000" b="1" i="1" dirty="0">
                <a:solidFill>
                  <a:srgbClr val="C00000"/>
                </a:solidFill>
                <a:effectLst>
                  <a:outerShdw blurRad="38100" dist="38100" dir="2700000" algn="tl">
                    <a:srgbClr val="000000">
                      <a:alpha val="43137"/>
                    </a:srgbClr>
                  </a:outerShdw>
                </a:effectLst>
              </a:rPr>
              <a:t>P’</a:t>
            </a:r>
            <a:endParaRPr lang="en-US" sz="2000" b="1" i="1" dirty="0">
              <a:solidFill>
                <a:srgbClr val="C00000"/>
              </a:solidFill>
              <a:effectLst>
                <a:outerShdw blurRad="38100" dist="38100" dir="2700000" algn="tl">
                  <a:srgbClr val="000000">
                    <a:alpha val="43137"/>
                  </a:srgbClr>
                </a:outerShdw>
              </a:effectLst>
            </a:endParaRPr>
          </a:p>
        </p:txBody>
      </p:sp>
      <p:sp>
        <p:nvSpPr>
          <p:cNvPr id="23" name="TextBox 22"/>
          <p:cNvSpPr txBox="1"/>
          <p:nvPr/>
        </p:nvSpPr>
        <p:spPr>
          <a:xfrm>
            <a:off x="4668680" y="5271785"/>
            <a:ext cx="458780" cy="400110"/>
          </a:xfrm>
          <a:prstGeom prst="rect">
            <a:avLst/>
          </a:prstGeom>
          <a:noFill/>
        </p:spPr>
        <p:txBody>
          <a:bodyPr wrap="none" rtlCol="0">
            <a:spAutoFit/>
          </a:bodyPr>
          <a:lstStyle/>
          <a:p>
            <a:r>
              <a:rPr lang="en-US" altLang="zh-CN" sz="2000" b="1" i="1" dirty="0">
                <a:solidFill>
                  <a:srgbClr val="C00000"/>
                </a:solidFill>
                <a:effectLst>
                  <a:outerShdw blurRad="38100" dist="38100" dir="2700000" algn="tl">
                    <a:srgbClr val="000000">
                      <a:alpha val="43137"/>
                    </a:srgbClr>
                  </a:outerShdw>
                </a:effectLst>
              </a:rPr>
              <a:t>M’</a:t>
            </a:r>
            <a:endParaRPr lang="en-US" sz="2000" b="1" i="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06561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p:cNvSpPr>
            <a:spLocks noChangeArrowheads="1"/>
          </p:cNvSpPr>
          <p:nvPr/>
        </p:nvSpPr>
        <p:spPr bwMode="auto">
          <a:xfrm>
            <a:off x="209506" y="646173"/>
            <a:ext cx="89548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3200" b="1" dirty="0"/>
              <a:t>Projection of symmetry </a:t>
            </a:r>
            <a:r>
              <a:rPr lang="en-US" altLang="zh-CN" sz="3200" b="1" dirty="0">
                <a:solidFill>
                  <a:prstClr val="black"/>
                </a:solidFill>
              </a:rPr>
              <a:t>element (complement)</a:t>
            </a:r>
            <a:endParaRPr kumimoji="0" lang="zh-CN" altLang="en-US" sz="3200" b="1" dirty="0"/>
          </a:p>
        </p:txBody>
      </p:sp>
      <p:sp>
        <p:nvSpPr>
          <p:cNvPr id="2" name="AutoShape 5" descr="data:image/png;base64,iVBORw0KGgoAAAANSUhEUgAAAGkAAABVCAYAAABKOsrsAAAUDklEQVR4Xu3cA5AlyxIG4Npr27Zt27Zt27Zt27Zt27Ztv3e/ilcbPSdmd6rm9NmZfTEZcWPnznR3VVdWZv75Z1b3+s+/EnqkW69Arx4ldWv9xMn1KKn766hHSf2BjrqXkj799NPw/vvvh5lnnjkMOOCA/WT9fv311zDQQAOFgQceuJ+M15lBWuLubr755vDzzz+HVVZZJXtO//zzT9hhhx3CRx99FK644oowwAADZN/7448/hjPOOCPMO++8YaaZZsq+z4XGoqh111236L5+eXHtSvruu+/CIossEsYcc8xw9dVXZy82kLn55puHb7/9Nlx++eVFa/DGG2+ESSedNBx55JFhp512Krr3rLPOCtddd11U1hBDDJF9r03I6scZZ5ww1FBDZd/XmQtbpqThhx8+XH/99WGwwQbLntc+++wTnnjiiXDDDTeEQQYZJPu+d999N0wxxRRhxx13DAceeGDo1atX9r0XXXRRePjhh8Mpp5xSdN+TTz4Zlllmmfjf8ccfX/Se2ZP734W1K8lz99hjj3DccceFt956K4wxxhjZc7rqqquiy7vtttvioucKd7X88ssHbu/2228v2tm33nprOP3008P5558fhh122Nwhw9dffx1mm2228MUXX4QXXnghjDvuuNn3ll7YEiUdddRRYeeddw7vvfde0eRffvnl6LL233//ovv+/vvvsPbaa4dnn302PPTQQ2HEEUfMXofXXnstWsLuu+8eXVeufPXVV2HuuecO33zzTWBVJffmjpGua4mSDj/88LDbbrv19tm5k7LYAEQp0vrrr7/CWmutFV566aXwwAMPhBFGGCF3yPDDDz+EN998M0w++eRFMYklzTXXXP2vko444oiw6667Fispe2UbLgQ61lxzzfDiiy9GSypxW50d8/vvvw+zzz57VNJTTz0VxhprrM4+qsP7WmJJXNYuu+wS5D2jjTZah5NIF6RF3nDDDYuAw4cffhhmmGGGONY999wTRh555Owxv/zyy/DKK6/E3KwE3Z122mkxftoQjz32WJF7zp5cq4DDJ598EtZZZ51w9913h+effz5MM8002XO65ZZbghzrmGOOCYMOOmj2fayW9UqADzjggAhccgX0PvbYY8ONN94YRhpppKzb/vzzz7DwwguH+++/P6YYhx12WIzBrZJaLUk82WSTTcLZZ58d57vccsuFCy+8MBttsUCKBYtLZNppp40Ii/j5kUceybaKK6+8Mrrm++67Lzv4X3PNNTEGQpVkkkkmifePPvroJdPOvrZWJfHPFglrQIYeeuiYg0w99dTtTkjAT2JHciGQkn9RNR1VUeRDzz33XFhyySXD559/Hh8FdFj4ZZddNmsRQPYlllgi5mczzjhjm3sAmcY5mOdBBx0U9t13397XGvOcc86JimuFNKUkSrHzKUXyedNNN7WxAj7eLp1++unjy1pUi0F5klwKpAxuyr8ff/xxfBYXaTG4lUZxbUJ/fna9XVxV+IorrhhdbkdK9myJswXeb7/92syT0u+6666INqvJsfd89dVXwzPPPNNmahNNNFGYZ555wvbbbx+mmmqqWnXVaSW98847Yeuttw6SwZzFaG/WYoB8o1EoaMghhwwTTjhhXKQkFCnmffbZZ7UuQnsPMxYPwJqSUJaNA7I3biCwX67Ewrj5OqXTSpJfcE0SUDsaj3XBBRf0djtpknbVfPPNF/7444/4Yn4ee+yxw++//x6VgOtjkRTDx7OmKaecMiK0UUYZpc0GcI38xAaxYHb1o48+GqmgFB+MO//888c8jVSV3LhwrNk7AA+QmjFZpE2H1hJrGu/3/zhJFuMdCO6ONS6wwALx5xLQk6PMTiupvYfL3L1sejG7ETu9/vrr58wlXHvttdEdHnrooVnXu4jSxBKbhNgwxtxggw2yngFNQoY8Qi4EB/mx7SghYnzQf5hhhskas/SiWpVkF4KmYgThzvh1YCJHttlmm5iQCuYlBKsdfO+998YhRh111BjrWGmOsIo999wzwmn35girPfPMMyN9xaNcfPHFRWWZnDGq19SqJA+2WCuttFJ0YSxrs802y1pwsWbBBRcMGO3VVlstLkIuPYQKWnrppeOCAQzI0lyBJMXWjTbaKJx88snZpZWffvopWhDrMz4w1CqpXUkmyiJOPPHEIsbh6KOPblMLAqMpO1cksBacFZck0CuvvHLAvnOTrGnOOefMGhItNN1008XNccIJJ2Td09mLalcSl7flllvGuMA6chO89dZbr40FiCkpKc55ub333jumAGJargUCIICMGEOMlxvLQP9ZZpklLLTQQuHcc89tY4El9aycd2tKSVAQpVQXRU3HxC2WiunEE0/cZh4qr1yhEoHAS4mqnKggTAGB4jbddNNAcZiE8cYbLz7HePhAXJudDx6DyTi7bbfdNl5rwZCd/t6n1ACwGXzwweP4mGyui0CF8iWxCep8/fXXI4IzLzGStXsmFIsVefzxx6O7m3XWWWPKIFbhEFUB6pSmlKQ0gCtDMoKdFteCQ0ySQUwAtzf++OOH3377LVrKpZdeGvMcO9FLeTmKrkJoKGmvvfaKZfSnn346DDfccBG2W1iK8TtjWTAwHbvgX0yABQafLWp7SvK7X375JSLOpZZaKvZFiGWEBWC2uUtzEGfMG4EqUVVzsskogYLMQ35kfONKMZTx1bbqlKaUJKnTI+Clid3LkmTxklT9BohHC0gJYoadxzIsskVJTAQUmHYgpYtJrqV0YgFsBH+zy5NL8XsKPO+882K+wyLlKn2yIr+naPmbexXuEpTWjIIhsSkg0+QhKKqxDYCLZIWLLrpodO2tlKaU1N7EBFQwXJJYUqrgArkbLmvjjTcOp556alFb1worrBDefvvtuLvlZznC7blPLwblm3Oje+7TcxJw4C1OOumknOE6fU3tSrLYiy++eIxJdltJMUzwtyu5OQE9V7hLRT/sR2llNlWRJeFiTq6wZvEHupNqtFJqV5Idtthii0U/Lu5o7coVvBfCVotViaQeBzESjBaTckXTC7fMRU8wwQS5t0WSFWDQMAMVorJaJbUrCaLTuQOBKSs30v99exFgQZwr7bvzTMEbYsQ25Bbv3IfhECtZcW4VmeVKgN1H/NzKXKl2JaFYDjnkkDh5JfQSOEpJYC8AUJJrQIxbbbVVBBkIV6WRXKFYMQVgAEByRD4m0U4EK4sCfFrVJFmrkkwaTc+FEK5OFVPSlyOaI8UVfFqJUIriH8E8HHzwwdm3S2ilCZSUY0nYfApSbk+CPcc3lmyO7An+e2GtSjIwv45/S4Ii6iiwYrLBYUQld4m4zLEkMP7BBx+MfdwpIbUxoDW1nT6VKcBw6YI8CMDR48DiNTjKr4xNGeZVnYd7WCoqyd+rIvm2ySTnOXPvZ0qSBAr0/pMXWSjoTK6UBBu9xRZbxJeabLLJIphAFxGL7B4gQy4iL7IQacE7ehHXQpPKFFWFWCjKqlZr03gpCQbT5W+6bIEA5K5kWXINhrNMm616usM9uosSjVSdn+dKZLUda0ypU5qyJB2qdtAdd9yRNaeUEMryCSuQCKfdm3x8SdGMctors7f3DBulb1XkRCV5JtelYbJamTVn90OQqacivbjkWEkGM6EZp05pSkleAMXDH7MErkrje3XR7GiWBBazEAmr/MLLCvTVRRBL7GxVzlyXoZKLK6wumsZ9AKZRWIDmScoCEox95513hssuuyzCcK45Caui6KpSkxvkXqsIlOWKw3jE3HmXKLEpJTUORFGaDOUrSUrgqTwJ2iqF4Liy1AbGGtyvGSVHJL82h3JFbk0IBVWtNhvL/a2SWpVk1ylToHSIExVph+W8AAaaNV5yySU5l/e+RvzgZsRCMdDC557mkMQqnwMbuY3+EnZ5FejOitxbenit5AVrVZKBWRHuDpBQ6Szxz3IdEByLnttvYExuCwcHecn+UTU5wt2yAgiPYktasQAIbDkKjHtupdSuJJyWGCGx09zBt+cIhDbHHHNEUlanDxeU69+huFVXXTUiupLMn8WLlwRjAZlCfDmiZCG29pcEKwsCZ7kdzEEuIy034u6IWo6dndvAAqiwCEpOrVw5C+3YKOCQhEXkdjZhzJHAKrmS4VZK7ZaUKrNKDvKMnCzeC+L7ErEKVYkVFjFXVl999Zgr6T3P7TQSx6QBScwBQ0LEVzWwPrldm1HXqhMgJex57vtUr2taSRCdBNUCpWTPxMUWPFxKKtOZoQ8++CAW7ZKFKawJ/LqKJKbEwgjG3CZx2kIltFptrbpCMQmM9iz9b3Y5orW9XMm1no/akeNVLUkFWdeQayToNhy0ymVzbxhvliOJ1xvoRGMqV5hPtRApsWXduf0WfVNe00piMfIG+ZKF53rsMi8K8VCeF+ESJLNezIKmFwKZoSWoLrEGrmNVqp4CtJzHURo/Q22pB9yLQWQW11FMjAayFTudlNr48uYnZ+NewfZGdkDVmFLEVO5Mwk5B4p5i5BprrBFzMv/aEOgnna5AhDO0qVNX6cJ71/E9iqaVZPLyBots10hYKUFJGhy34KmXgGK8sKSy2gjvGkqEBtPCg+5JyRbWfZSkDIGCsRE8T25DUZpW0DtausS0jr4DYfG4Rn16SXyiAEFrPjacMnoqtxsrLbjf6bZlKfJA3F8dyuiTNTWtpMYHW3x9AzpsuItc+p57UiykZDsQM5CLDM1BZZZVizEWN0dYMOvQTyHfAcVzK8lYcDydnnB9Fa2U2pXEzdidLMvCQ1w5wk3Ik3QU6V6t7vCO7rcx7Gr9DeJbycFmDAcAwYK22267jobq/XfsiE4pLk5cy92M2QNULqxVSVyfA1kpGOvRFktyRZxgCfKrkoBrJ2vn4hKxByVHI4Eelu9bDrloUvVYuQK4YO3cZi4NlbsW1etqVZIShNZbsYPY0cjXXMpETYfLKSn6KX9bZK6LQJE2Rm7ZXnwEEMRD7jZHIDxNmEnU0PCFue+ZM0bLlMR1WLDqwTAUEThdjS8gbHvHRChUJ6qgrEyQI+IJgjWVOdxjl1u0XMZCfmShG/Mdmy31Baa5GEf8k2xXRfkFYwHE5HKAOe/nmqYtyc7HtclJ5EWQXbVqCWXJ4hXSuEPlaihMYyGXZhFcA7LrE9C8YtGwDdWFTy9k4d0HfcnRuFZzqIpFUsbXVdpYbqheB5EZAxTnKiE11yeIzyIbj2O6n/VVO27TM8Fx8N78lT4UEOuQppWk4CcplE+kjtS+TUyeI1B7+Wo11cIAG/IdVuRlJcLVek7KqSC/vlVvkwXlHhOV3Londcuav74FeVqq5MYd/e81NpNNIS5VBSrUkML6pBzSjxKSuG9r1rSSPBxTAG57CahM5TKJ3ax3IR1tNHGxqvryaQHsUB+O4k4oiotsLLrJmfQesFbPQOM0ojKfGkC45kq1Iusem0euRFHVjZd+hiApAhlMvKN6EiWZV10W1Nt7/LsItX7NGJStHqcEq1tJQNr94iALJBruxaPc9qxcRVavo0RxMNW9sA82YqukFkuqTk5M4SZYF4oFpM5NEDv7kvIx31DgcvXEKR+UCMAgBiauMOdeqNI4IDxrrvvEeXUOtSvJw5GUim9yj5KiH/JVtRPZWtLya0zgBD1VkkCnhTBfMLzkYxncO6vF47HiVm7EligpHa0sOVVhwaApZC3InpvnpIXWAIMFEA9LPmjofi4Z2nRWN1fS9+7ER96jv/veXWc/pYY50DugD69Pn7ppbxHFCJDXoWpKKjmqLyT7DoSgz03nSlKSJBoV1soY2BJLQv9bbEW/EjegZI4Pw8GV9BtQkjI4S0TslnxKTUsYpgHbgdLKFUpSa3IQGt/YX7HgXhIHp7IKNJTkCpTkXt/tKVFSOp8kgLPCElcpiQUAwPiST2RTErCBCU/dUbkKLr2uJZaE7JRLgMIlO8xuBuEF4pJj/lxW+s4Rl1caHzAgWOwSlyUWgf5cpHpSK6UlStKFirIpsQYviXFA0UCEJW7SvY5igv1cUL8QLhbkV3Qsca+dmVtLlNSZifTc0+cV6FFSf7A7epTUo6TmVgAvh2VXp3JaUJKqDKFMoJ0Zwsr9jGdzM+nau7ulJVGOyqdKr3YtbLf8Rz+djh6HptExEKSiIkK3JIHt2iUvH73bKUkRTp8dAhO0TRQPXg/qU4IAsaE4ZCrOThsXHu3/VbqdkuRWWAcldDWoqii0yWXSiUGWxpKUQjS9qOWA4s6+4g0luTpJQfvUyyBv4ya1ffnXdU71yXsU9FJfX3dSeLdSEmbZERZJokPCHQl3pzNIxq8vW8WWgrEAinCSXKSpv1OgRFfhTiMJKki8Qwvh7rD2aCztZP0q1+ro/dLfu5WSMA2OaypXdFQ2YCXYCUlvOkZpgcUsChbH8IfatIAN7VfIV7wgBVEeF6mKi39DsCqtaM/qUVJfto8OVEpSQu/oc2RIXFk/S9KYwlIU3vyrMUb8ohDdRD5RoNnf2SUxjEVxpw6dOSqjz49VOqqDpM09rpNrCc1e160sCZXkCIuKbpUP4wYtPotgQdxT+tyMfgJxRhcSFps1sQrK9oUV5KnzUg47a7vCtSnyUaJ4hiNE7OpEBfPVpXqU1MG2ArUtqEopV0VhIDdEB+khYaE/gCB9R89ncpwUVDLQuwftqWlh4rlQiJAViVG+xgXKi0V6E7hAsQjwUBHGwuf2kjdrIbn3dytLSpOmFK6IYpTRWQplQV+CffrCfvoUAWuR4HJ/ECE0pwTBopC9mutZkFxKbHI9tKckIhmWc7Fcvwdaupt0SyV1t0Xq6vn0KKmrNZAxfo+SMhapqy/pUVJXayBj/B4lZSxSV1/So6Su1kDG+D1Kylikrr6kR0ldrYGM8XuUlLFIXX3JfwH4TibF4xA8UgAAAABJRU5ErkJggg=="/>
          <p:cNvSpPr>
            <a:spLocks noChangeAspect="1" noChangeArrowheads="1"/>
          </p:cNvSpPr>
          <p:nvPr/>
        </p:nvSpPr>
        <p:spPr bwMode="auto">
          <a:xfrm>
            <a:off x="155575" y="-3889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l="72806" t="56163" r="1421" b="12680"/>
          <a:stretch/>
        </p:blipFill>
        <p:spPr bwMode="auto">
          <a:xfrm>
            <a:off x="162264" y="1945193"/>
            <a:ext cx="3776423" cy="365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ight Arrow 2"/>
          <p:cNvSpPr/>
          <p:nvPr/>
        </p:nvSpPr>
        <p:spPr>
          <a:xfrm>
            <a:off x="4046256" y="3492403"/>
            <a:ext cx="415816" cy="5262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6049492" y="1252250"/>
            <a:ext cx="287258" cy="584775"/>
          </a:xfrm>
          <a:prstGeom prst="rect">
            <a:avLst/>
          </a:prstGeom>
        </p:spPr>
        <p:txBody>
          <a:bodyPr wrap="none">
            <a:spAutoFit/>
          </a:bodyPr>
          <a:lstStyle/>
          <a:p>
            <a:r>
              <a:rPr lang="en-US" altLang="zh-CN" sz="3200" b="1" dirty="0">
                <a:solidFill>
                  <a:prstClr val="black"/>
                </a:solidFill>
              </a:rPr>
              <a:t> </a:t>
            </a:r>
            <a:endParaRPr lang="en-US" dirty="0"/>
          </a:p>
        </p:txBody>
      </p:sp>
      <p:pic>
        <p:nvPicPr>
          <p:cNvPr id="10" name="Picture 1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8858" y="1227430"/>
            <a:ext cx="4167188" cy="4608513"/>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42"/>
          <p:cNvSpPr>
            <a:spLocks noChangeArrowheads="1"/>
          </p:cNvSpPr>
          <p:nvPr/>
        </p:nvSpPr>
        <p:spPr bwMode="auto">
          <a:xfrm>
            <a:off x="8672833" y="3675355"/>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nvGrpSpPr>
          <p:cNvPr id="12" name="Group 148"/>
          <p:cNvGrpSpPr>
            <a:grpSpLocks/>
          </p:cNvGrpSpPr>
          <p:nvPr/>
        </p:nvGrpSpPr>
        <p:grpSpPr bwMode="auto">
          <a:xfrm>
            <a:off x="6832921" y="3670593"/>
            <a:ext cx="136525" cy="149225"/>
            <a:chOff x="5239" y="799"/>
            <a:chExt cx="136" cy="136"/>
          </a:xfrm>
        </p:grpSpPr>
        <p:sp>
          <p:nvSpPr>
            <p:cNvPr id="13" name="Oval 143"/>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45"/>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147"/>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6" name="Oval 149"/>
          <p:cNvSpPr>
            <a:spLocks noChangeArrowheads="1"/>
          </p:cNvSpPr>
          <p:nvPr/>
        </p:nvSpPr>
        <p:spPr bwMode="auto">
          <a:xfrm>
            <a:off x="6824983" y="5523205"/>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17" name="Oval 150"/>
          <p:cNvSpPr>
            <a:spLocks noChangeArrowheads="1"/>
          </p:cNvSpPr>
          <p:nvPr/>
        </p:nvSpPr>
        <p:spPr bwMode="auto">
          <a:xfrm>
            <a:off x="4961258" y="3675355"/>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18" name="Oval 151"/>
          <p:cNvSpPr>
            <a:spLocks noChangeArrowheads="1"/>
          </p:cNvSpPr>
          <p:nvPr/>
        </p:nvSpPr>
        <p:spPr bwMode="auto">
          <a:xfrm>
            <a:off x="6824983" y="1803693"/>
            <a:ext cx="144463" cy="1603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19" name="Rectangle 18"/>
          <p:cNvSpPr/>
          <p:nvPr/>
        </p:nvSpPr>
        <p:spPr>
          <a:xfrm>
            <a:off x="220348" y="6150114"/>
            <a:ext cx="8766540" cy="707886"/>
          </a:xfrm>
          <a:prstGeom prst="rect">
            <a:avLst/>
          </a:prstGeom>
        </p:spPr>
        <p:txBody>
          <a:bodyPr wrap="square">
            <a:spAutoFit/>
          </a:bodyPr>
          <a:lstStyle/>
          <a:p>
            <a:r>
              <a:rPr lang="en-US" altLang="zh-CN" sz="2000" dirty="0"/>
              <a:t>The projection of the pole point on upper hemispherical labeled as “</a:t>
            </a:r>
            <a:r>
              <a:rPr lang="zh-CN" altLang="en-US" sz="2000" dirty="0"/>
              <a:t>⊙</a:t>
            </a:r>
            <a:r>
              <a:rPr lang="en-US" altLang="zh-CN" sz="2000" dirty="0"/>
              <a:t>”, those on the lower hemisphere poles labeled as</a:t>
            </a:r>
            <a:r>
              <a:rPr lang="zh-CN" altLang="en-US" sz="2000" dirty="0"/>
              <a:t>  </a:t>
            </a:r>
            <a:r>
              <a:rPr lang="en-US" altLang="zh-CN" sz="2000" dirty="0"/>
              <a:t>“×”</a:t>
            </a:r>
            <a:r>
              <a:rPr lang="zh-CN" altLang="en-US" sz="2000" dirty="0"/>
              <a:t> ，</a:t>
            </a:r>
            <a:r>
              <a:rPr lang="en-US" altLang="zh-CN" sz="2000" dirty="0"/>
              <a:t>overlap</a:t>
            </a:r>
            <a:r>
              <a:rPr lang="zh-CN" altLang="en-US" sz="2000" dirty="0"/>
              <a:t> </a:t>
            </a:r>
            <a:r>
              <a:rPr lang="en-US" altLang="zh-CN" sz="2000" dirty="0"/>
              <a:t>labeled as “</a:t>
            </a:r>
            <a:r>
              <a:rPr lang="zh-CN" altLang="en-US" sz="2000" dirty="0"/>
              <a:t>⊙</a:t>
            </a:r>
            <a:r>
              <a:rPr lang="en-US" altLang="zh-CN" sz="2000" dirty="0"/>
              <a:t>”</a:t>
            </a:r>
            <a:endParaRPr lang="zh-CN" altLang="en-US" sz="2000" dirty="0"/>
          </a:p>
        </p:txBody>
      </p:sp>
      <p:sp>
        <p:nvSpPr>
          <p:cNvPr id="5" name="Rectangle 4"/>
          <p:cNvSpPr/>
          <p:nvPr/>
        </p:nvSpPr>
        <p:spPr>
          <a:xfrm>
            <a:off x="7701280" y="6478508"/>
            <a:ext cx="415498" cy="369332"/>
          </a:xfrm>
          <a:prstGeom prst="rect">
            <a:avLst/>
          </a:prstGeom>
        </p:spPr>
        <p:txBody>
          <a:bodyPr wrap="none">
            <a:spAutoFit/>
          </a:bodyPr>
          <a:lstStyle/>
          <a:p>
            <a:r>
              <a:rPr lang="en-US" altLang="zh-CN" dirty="0"/>
              <a:t>×</a:t>
            </a:r>
            <a:endParaRPr lang="en-US" dirty="0"/>
          </a:p>
        </p:txBody>
      </p:sp>
    </p:spTree>
    <p:extLst>
      <p:ext uri="{BB962C8B-B14F-4D97-AF65-F5344CB8AC3E}">
        <p14:creationId xmlns:p14="http://schemas.microsoft.com/office/powerpoint/2010/main" val="3700569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p:cNvSpPr>
            <a:spLocks noChangeArrowheads="1"/>
          </p:cNvSpPr>
          <p:nvPr/>
        </p:nvSpPr>
        <p:spPr bwMode="auto">
          <a:xfrm>
            <a:off x="209506" y="646173"/>
            <a:ext cx="89548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3200" b="1" dirty="0"/>
              <a:t>Projection of symmetry </a:t>
            </a:r>
            <a:r>
              <a:rPr lang="en-US" altLang="zh-CN" sz="3200" b="1" dirty="0">
                <a:solidFill>
                  <a:prstClr val="black"/>
                </a:solidFill>
              </a:rPr>
              <a:t>element (complement)</a:t>
            </a:r>
            <a:endParaRPr kumimoji="0" lang="zh-CN" altLang="en-US" sz="3200" b="1" dirty="0"/>
          </a:p>
        </p:txBody>
      </p:sp>
      <p:sp>
        <p:nvSpPr>
          <p:cNvPr id="2" name="AutoShape 5" descr="data:image/png;base64,iVBORw0KGgoAAAANSUhEUgAAAGkAAABVCAYAAABKOsrsAAAUDklEQVR4Xu3cA5AlyxIG4Npr27Zt27Zt27Zt27Zt27Ztv3e/ilcbPSdmd6rm9NmZfTEZcWPnznR3VVdWZv75Z1b3+s+/EnqkW69Arx4ldWv9xMn1KKn766hHSf2BjrqXkj799NPw/vvvh5lnnjkMOOCA/WT9fv311zDQQAOFgQceuJ+M15lBWuLubr755vDzzz+HVVZZJXtO//zzT9hhhx3CRx99FK644oowwAADZN/7448/hjPOOCPMO++8YaaZZsq+z4XGoqh111236L5+eXHtSvruu+/CIossEsYcc8xw9dVXZy82kLn55puHb7/9Nlx++eVFa/DGG2+ESSedNBx55JFhp512Krr3rLPOCtddd11U1hBDDJF9r03I6scZZ5ww1FBDZd/XmQtbpqThhx8+XH/99WGwwQbLntc+++wTnnjiiXDDDTeEQQYZJPu+d999N0wxxRRhxx13DAceeGDo1atX9r0XXXRRePjhh8Mpp5xSdN+TTz4Zlllmmfjf8ccfX/Se2ZP734W1K8lz99hjj3DccceFt956K4wxxhjZc7rqqquiy7vtttvioucKd7X88ssHbu/2228v2tm33nprOP3008P5558fhh122Nwhw9dffx1mm2228MUXX4QXXnghjDvuuNn3ll7YEiUdddRRYeeddw7vvfde0eRffvnl6LL233//ovv+/vvvsPbaa4dnn302PPTQQ2HEEUfMXofXXnstWsLuu+8eXVeufPXVV2HuuecO33zzTWBVJffmjpGua4mSDj/88LDbbrv19tm5k7LYAEQp0vrrr7/CWmutFV566aXwwAMPhBFGGCF3yPDDDz+EN998M0w++eRFMYklzTXXXP2vko444oiw6667Fispe2UbLgQ61lxzzfDiiy9GSypxW50d8/vvvw+zzz57VNJTTz0VxhprrM4+qsP7WmJJXNYuu+wS5D2jjTZah5NIF6RF3nDDDYuAw4cffhhmmGGGONY999wTRh555Owxv/zyy/DKK6/E3KwE3Z122mkxftoQjz32WJF7zp5cq4DDJ598EtZZZ51w9913h+effz5MM8002XO65ZZbghzrmGOOCYMOOmj2fayW9UqADzjggAhccgX0PvbYY8ONN94YRhpppKzb/vzzz7DwwguH+++/P6YYhx12WIzBrZJaLUk82WSTTcLZZ58d57vccsuFCy+8MBttsUCKBYtLZNppp40Ii/j5kUceybaKK6+8Mrrm++67Lzv4X3PNNTEGQpVkkkkmifePPvroJdPOvrZWJfHPFglrQIYeeuiYg0w99dTtTkjAT2JHciGQkn9RNR1VUeRDzz33XFhyySXD559/Hh8FdFj4ZZddNmsRQPYlllgi5mczzjhjm3sAmcY5mOdBBx0U9t13397XGvOcc86JimuFNKUkSrHzKUXyedNNN7WxAj7eLp1++unjy1pUi0F5klwKpAxuyr8ff/xxfBYXaTG4lUZxbUJ/fna9XVxV+IorrhhdbkdK9myJswXeb7/92syT0u+6666INqvJsfd89dVXwzPPPNNmahNNNFGYZ555wvbbbx+mmmqqWnXVaSW98847Yeuttw6SwZzFaG/WYoB8o1EoaMghhwwTTjhhXKQkFCnmffbZZ7UuQnsPMxYPwJqSUJaNA7I3biCwX67Ewrj5OqXTSpJfcE0SUDsaj3XBBRf0djtpknbVfPPNF/7444/4Yn4ee+yxw++//x6VgOtjkRTDx7OmKaecMiK0UUYZpc0GcI38xAaxYHb1o48+GqmgFB+MO//888c8jVSV3LhwrNk7AA+QmjFZpE2H1hJrGu/3/zhJFuMdCO6ONS6wwALx5xLQk6PMTiupvYfL3L1sejG7ETu9/vrr58wlXHvttdEdHnrooVnXu4jSxBKbhNgwxtxggw2yngFNQoY8Qi4EB/mx7SghYnzQf5hhhskas/SiWpVkF4KmYgThzvh1YCJHttlmm5iQCuYlBKsdfO+998YhRh111BjrWGmOsIo999wzwmn35girPfPMMyN9xaNcfPHFRWWZnDGq19SqJA+2WCuttFJ0YSxrs802y1pwsWbBBRcMGO3VVlstLkIuPYQKWnrppeOCAQzI0lyBJMXWjTbaKJx88snZpZWffvopWhDrMz4w1CqpXUkmyiJOPPHEIsbh6KOPblMLAqMpO1cksBacFZck0CuvvHLAvnOTrGnOOefMGhItNN1008XNccIJJ2Td09mLalcSl7flllvGuMA6chO89dZbr40FiCkpKc55ub333jumAGJargUCIICMGEOMlxvLQP9ZZpklLLTQQuHcc89tY4El9aycd2tKSVAQpVQXRU3HxC2WiunEE0/cZh4qr1yhEoHAS4mqnKggTAGB4jbddNNAcZiE8cYbLz7HePhAXJudDx6DyTi7bbfdNl5rwZCd/t6n1ACwGXzwweP4mGyui0CF8iWxCep8/fXXI4IzLzGStXsmFIsVefzxx6O7m3XWWWPKIFbhEFUB6pSmlKQ0gCtDMoKdFteCQ0ySQUwAtzf++OOH3377LVrKpZdeGvMcO9FLeTmKrkJoKGmvvfaKZfSnn346DDfccBG2W1iK8TtjWTAwHbvgX0yABQafLWp7SvK7X375JSLOpZZaKvZFiGWEBWC2uUtzEGfMG4EqUVVzsskogYLMQ35kfONKMZTx1bbqlKaUJKnTI+Clid3LkmTxklT9BohHC0gJYoadxzIsskVJTAQUmHYgpYtJrqV0YgFsBH+zy5NL8XsKPO+882K+wyLlKn2yIr+naPmbexXuEpTWjIIhsSkg0+QhKKqxDYCLZIWLLrpodO2tlKaU1N7EBFQwXJJYUqrgArkbLmvjjTcOp556alFb1worrBDefvvtuLvlZznC7blPLwblm3Oje+7TcxJw4C1OOumknOE6fU3tSrLYiy++eIxJdltJMUzwtyu5OQE9V7hLRT/sR2llNlWRJeFiTq6wZvEHupNqtFJqV5Idtthii0U/Lu5o7coVvBfCVotViaQeBzESjBaTckXTC7fMRU8wwQS5t0WSFWDQMAMVorJaJbUrCaLTuQOBKSs30v99exFgQZwr7bvzTMEbYsQ25Bbv3IfhECtZcW4VmeVKgN1H/NzKXKl2JaFYDjnkkDh5JfQSOEpJYC8AUJJrQIxbbbVVBBkIV6WRXKFYMQVgAEByRD4m0U4EK4sCfFrVJFmrkkwaTc+FEK5OFVPSlyOaI8UVfFqJUIriH8E8HHzwwdm3S2ilCZSUY0nYfApSbk+CPcc3lmyO7An+e2GtSjIwv45/S4Ii6iiwYrLBYUQld4m4zLEkMP7BBx+MfdwpIbUxoDW1nT6VKcBw6YI8CMDR48DiNTjKr4xNGeZVnYd7WCoqyd+rIvm2ySTnOXPvZ0qSBAr0/pMXWSjoTK6UBBu9xRZbxJeabLLJIphAFxGL7B4gQy4iL7IQacE7ehHXQpPKFFWFWCjKqlZr03gpCQbT5W+6bIEA5K5kWXINhrNMm616usM9uosSjVSdn+dKZLUda0ypU5qyJB2qdtAdd9yRNaeUEMryCSuQCKfdm3x8SdGMctors7f3DBulb1XkRCV5JtelYbJamTVn90OQqacivbjkWEkGM6EZp05pSkleAMXDH7MErkrje3XR7GiWBBazEAmr/MLLCvTVRRBL7GxVzlyXoZKLK6wumsZ9AKZRWIDmScoCEox95513hssuuyzCcK45Caui6KpSkxvkXqsIlOWKw3jE3HmXKLEpJTUORFGaDOUrSUrgqTwJ2iqF4Liy1AbGGtyvGSVHJL82h3JFbk0IBVWtNhvL/a2SWpVk1ylToHSIExVph+W8AAaaNV5yySU5l/e+RvzgZsRCMdDC557mkMQqnwMbuY3+EnZ5FejOitxbenit5AVrVZKBWRHuDpBQ6Szxz3IdEByLnttvYExuCwcHecn+UTU5wt2yAgiPYktasQAIbDkKjHtupdSuJJyWGCGx09zBt+cIhDbHHHNEUlanDxeU69+huFVXXTUiupLMn8WLlwRjAZlCfDmiZCG29pcEKwsCZ7kdzEEuIy034u6IWo6dndvAAqiwCEpOrVw5C+3YKOCQhEXkdjZhzJHAKrmS4VZK7ZaUKrNKDvKMnCzeC+L7ErEKVYkVFjFXVl999Zgr6T3P7TQSx6QBScwBQ0LEVzWwPrldm1HXqhMgJex57vtUr2taSRCdBNUCpWTPxMUWPFxKKtOZoQ8++CAW7ZKFKawJ/LqKJKbEwgjG3CZx2kIltFptrbpCMQmM9iz9b3Y5orW9XMm1no/akeNVLUkFWdeQayToNhy0ymVzbxhvliOJ1xvoRGMqV5hPtRApsWXduf0WfVNe00piMfIG+ZKF53rsMi8K8VCeF+ESJLNezIKmFwKZoSWoLrEGrmNVqp4CtJzHURo/Q22pB9yLQWQW11FMjAayFTudlNr48uYnZ+NewfZGdkDVmFLEVO5Mwk5B4p5i5BprrBFzMv/aEOgnna5AhDO0qVNX6cJ71/E9iqaVZPLyBots10hYKUFJGhy34KmXgGK8sKSy2gjvGkqEBtPCg+5JyRbWfZSkDIGCsRE8T25DUZpW0DtausS0jr4DYfG4Rn16SXyiAEFrPjacMnoqtxsrLbjf6bZlKfJA3F8dyuiTNTWtpMYHW3x9AzpsuItc+p57UiykZDsQM5CLDM1BZZZVizEWN0dYMOvQTyHfAcVzK8lYcDydnnB9Fa2U2pXEzdidLMvCQ1w5wk3Ik3QU6V6t7vCO7rcx7Gr9DeJbycFmDAcAwYK22267jobq/XfsiE4pLk5cy92M2QNULqxVSVyfA1kpGOvRFktyRZxgCfKrkoBrJ2vn4hKxByVHI4Eelu9bDrloUvVYuQK4YO3cZi4NlbsW1etqVZIShNZbsYPY0cjXXMpETYfLKSn6KX9bZK6LQJE2Rm7ZXnwEEMRD7jZHIDxNmEnU0PCFue+ZM0bLlMR1WLDqwTAUEThdjS8gbHvHRChUJ6qgrEyQI+IJgjWVOdxjl1u0XMZCfmShG/Mdmy31Baa5GEf8k2xXRfkFYwHE5HKAOe/nmqYtyc7HtclJ5EWQXbVqCWXJ4hXSuEPlaihMYyGXZhFcA7LrE9C8YtGwDdWFTy9k4d0HfcnRuFZzqIpFUsbXVdpYbqheB5EZAxTnKiE11yeIzyIbj2O6n/VVO27TM8Fx8N78lT4UEOuQppWk4CcplE+kjtS+TUyeI1B7+Wo11cIAG/IdVuRlJcLVek7KqSC/vlVvkwXlHhOV3Londcuav74FeVqq5MYd/e81NpNNIS5VBSrUkML6pBzSjxKSuG9r1rSSPBxTAG57CahM5TKJ3ax3IR1tNHGxqvryaQHsUB+O4k4oiotsLLrJmfQesFbPQOM0ojKfGkC45kq1Iusem0euRFHVjZd+hiApAhlMvKN6EiWZV10W1Nt7/LsItX7NGJStHqcEq1tJQNr94iALJBruxaPc9qxcRVavo0RxMNW9sA82YqukFkuqTk5M4SZYF4oFpM5NEDv7kvIx31DgcvXEKR+UCMAgBiauMOdeqNI4IDxrrvvEeXUOtSvJw5GUim9yj5KiH/JVtRPZWtLya0zgBD1VkkCnhTBfMLzkYxncO6vF47HiVm7EligpHa0sOVVhwaApZC3InpvnpIXWAIMFEA9LPmjofi4Z2nRWN1fS9+7ER96jv/veXWc/pYY50DugD69Pn7ppbxHFCJDXoWpKKjmqLyT7DoSgz03nSlKSJBoV1soY2BJLQv9bbEW/EjegZI4Pw8GV9BtQkjI4S0TslnxKTUsYpgHbgdLKFUpSa3IQGt/YX7HgXhIHp7IKNJTkCpTkXt/tKVFSOp8kgLPCElcpiQUAwPiST2RTErCBCU/dUbkKLr2uJZaE7JRLgMIlO8xuBuEF4pJj/lxW+s4Rl1caHzAgWOwSlyUWgf5cpHpSK6UlStKFirIpsQYviXFA0UCEJW7SvY5igv1cUL8QLhbkV3Qsca+dmVtLlNSZifTc0+cV6FFSf7A7epTUo6TmVgAvh2VXp3JaUJKqDKFMoJ0Zwsr9jGdzM+nau7ulJVGOyqdKr3YtbLf8Rz+djh6HptExEKSiIkK3JIHt2iUvH73bKUkRTp8dAhO0TRQPXg/qU4IAsaE4ZCrOThsXHu3/VbqdkuRWWAcldDWoqii0yWXSiUGWxpKUQjS9qOWA4s6+4g0luTpJQfvUyyBv4ya1ffnXdU71yXsU9FJfX3dSeLdSEmbZERZJokPCHQl3pzNIxq8vW8WWgrEAinCSXKSpv1OgRFfhTiMJKki8Qwvh7rD2aCztZP0q1+ro/dLfu5WSMA2OaypXdFQ2YCXYCUlvOkZpgcUsChbH8IfatIAN7VfIV7wgBVEeF6mKi39DsCqtaM/qUVJfto8OVEpSQu/oc2RIXFk/S9KYwlIU3vyrMUb8ohDdRD5RoNnf2SUxjEVxpw6dOSqjz49VOqqDpM09rpNrCc1e160sCZXkCIuKbpUP4wYtPotgQdxT+tyMfgJxRhcSFps1sQrK9oUV5KnzUg47a7vCtSnyUaJ4hiNE7OpEBfPVpXqU1MG2ArUtqEopV0VhIDdEB+khYaE/gCB9R89ncpwUVDLQuwftqWlh4rlQiJAViVG+xgXKi0V6E7hAsQjwUBHGwuf2kjdrIbn3dytLSpOmFK6IYpTRWQplQV+CffrCfvoUAWuR4HJ/ECE0pwTBopC9mutZkFxKbHI9tKckIhmWc7Fcvwdaupt0SyV1t0Xq6vn0KKmrNZAxfo+SMhapqy/pUVJXayBj/B4lZSxSV1/So6Su1kDG+D1Kylikrr6kR0ldrYGM8XuUlLFIXX3JfwH4TibF4xA8UgAAAABJRU5ErkJggg=="/>
          <p:cNvSpPr>
            <a:spLocks noChangeAspect="1" noChangeArrowheads="1"/>
          </p:cNvSpPr>
          <p:nvPr/>
        </p:nvSpPr>
        <p:spPr bwMode="auto">
          <a:xfrm>
            <a:off x="155575" y="-3889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1038462" y="1649750"/>
            <a:ext cx="1693925" cy="461665"/>
          </a:xfrm>
          <a:prstGeom prst="rect">
            <a:avLst/>
          </a:prstGeom>
        </p:spPr>
        <p:txBody>
          <a:bodyPr wrap="none">
            <a:spAutoFit/>
          </a:bodyPr>
          <a:lstStyle/>
          <a:p>
            <a:pPr eaLnBrk="0" hangingPunct="0"/>
            <a:r>
              <a:rPr lang="en-US" altLang="zh-CN" sz="2400" b="1" dirty="0"/>
              <a:t>Octahedron</a:t>
            </a:r>
          </a:p>
        </p:txBody>
      </p:sp>
      <p:pic>
        <p:nvPicPr>
          <p:cNvPr id="20"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21390" t="21635" r="22738" b="21907"/>
          <a:stretch/>
        </p:blipFill>
        <p:spPr bwMode="auto">
          <a:xfrm>
            <a:off x="685800" y="2894805"/>
            <a:ext cx="2399251" cy="2424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192" y="1498752"/>
            <a:ext cx="4167188" cy="4608513"/>
          </a:xfrm>
          <a:prstGeom prst="rect">
            <a:avLst/>
          </a:prstGeom>
          <a:noFill/>
          <a:extLst>
            <a:ext uri="{909E8E84-426E-40DD-AFC4-6F175D3DCCD1}">
              <a14:hiddenFill xmlns:a14="http://schemas.microsoft.com/office/drawing/2010/main">
                <a:solidFill>
                  <a:srgbClr val="FFFFFF"/>
                </a:solidFill>
              </a14:hiddenFill>
            </a:ext>
          </a:extLst>
        </p:spPr>
      </p:pic>
      <p:sp>
        <p:nvSpPr>
          <p:cNvPr id="22" name="Oval 7"/>
          <p:cNvSpPr>
            <a:spLocks noChangeArrowheads="1"/>
          </p:cNvSpPr>
          <p:nvPr/>
        </p:nvSpPr>
        <p:spPr bwMode="auto">
          <a:xfrm>
            <a:off x="7831167" y="3946677"/>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nvGrpSpPr>
          <p:cNvPr id="23" name="Group 8"/>
          <p:cNvGrpSpPr>
            <a:grpSpLocks/>
          </p:cNvGrpSpPr>
          <p:nvPr/>
        </p:nvGrpSpPr>
        <p:grpSpPr bwMode="auto">
          <a:xfrm>
            <a:off x="6775480" y="3154515"/>
            <a:ext cx="136525" cy="149225"/>
            <a:chOff x="5239" y="799"/>
            <a:chExt cx="136" cy="136"/>
          </a:xfrm>
        </p:grpSpPr>
        <p:sp>
          <p:nvSpPr>
            <p:cNvPr id="24" name="Oval 9"/>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10"/>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11"/>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7" name="Oval 12"/>
          <p:cNvSpPr>
            <a:spLocks noChangeArrowheads="1"/>
          </p:cNvSpPr>
          <p:nvPr/>
        </p:nvSpPr>
        <p:spPr bwMode="auto">
          <a:xfrm>
            <a:off x="5983317" y="5794527"/>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8" name="Oval 13"/>
          <p:cNvSpPr>
            <a:spLocks noChangeArrowheads="1"/>
          </p:cNvSpPr>
          <p:nvPr/>
        </p:nvSpPr>
        <p:spPr bwMode="auto">
          <a:xfrm>
            <a:off x="4119592" y="3946677"/>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9" name="Oval 14"/>
          <p:cNvSpPr>
            <a:spLocks noChangeArrowheads="1"/>
          </p:cNvSpPr>
          <p:nvPr/>
        </p:nvSpPr>
        <p:spPr bwMode="auto">
          <a:xfrm>
            <a:off x="5983317" y="2075015"/>
            <a:ext cx="144463" cy="1603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pic>
        <p:nvPicPr>
          <p:cNvPr id="3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7192" y="1498752"/>
            <a:ext cx="4167188" cy="4608513"/>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16"/>
          <p:cNvGrpSpPr>
            <a:grpSpLocks/>
          </p:cNvGrpSpPr>
          <p:nvPr/>
        </p:nvGrpSpPr>
        <p:grpSpPr bwMode="auto">
          <a:xfrm>
            <a:off x="6775480" y="3170390"/>
            <a:ext cx="136525" cy="149225"/>
            <a:chOff x="5239" y="799"/>
            <a:chExt cx="136" cy="136"/>
          </a:xfrm>
        </p:grpSpPr>
        <p:sp>
          <p:nvSpPr>
            <p:cNvPr id="32" name="Oval 17"/>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18"/>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Line 19"/>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5" name="Group 20"/>
          <p:cNvGrpSpPr>
            <a:grpSpLocks/>
          </p:cNvGrpSpPr>
          <p:nvPr/>
        </p:nvGrpSpPr>
        <p:grpSpPr bwMode="auto">
          <a:xfrm>
            <a:off x="5222905" y="3170390"/>
            <a:ext cx="136525" cy="149225"/>
            <a:chOff x="5239" y="799"/>
            <a:chExt cx="136" cy="136"/>
          </a:xfrm>
        </p:grpSpPr>
        <p:sp>
          <p:nvSpPr>
            <p:cNvPr id="36" name="Oval 21"/>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22"/>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Line 23"/>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39" name="Group 24"/>
          <p:cNvGrpSpPr>
            <a:grpSpLocks/>
          </p:cNvGrpSpPr>
          <p:nvPr/>
        </p:nvGrpSpPr>
        <p:grpSpPr bwMode="auto">
          <a:xfrm>
            <a:off x="5216555" y="4722965"/>
            <a:ext cx="136525" cy="149225"/>
            <a:chOff x="5239" y="799"/>
            <a:chExt cx="136" cy="136"/>
          </a:xfrm>
        </p:grpSpPr>
        <p:sp>
          <p:nvSpPr>
            <p:cNvPr id="40" name="Oval 25"/>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26"/>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 name="Line 27"/>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3" name="Group 28"/>
          <p:cNvGrpSpPr>
            <a:grpSpLocks/>
          </p:cNvGrpSpPr>
          <p:nvPr/>
        </p:nvGrpSpPr>
        <p:grpSpPr bwMode="auto">
          <a:xfrm>
            <a:off x="6775480" y="4722965"/>
            <a:ext cx="136525" cy="149225"/>
            <a:chOff x="5239" y="799"/>
            <a:chExt cx="136" cy="136"/>
          </a:xfrm>
        </p:grpSpPr>
        <p:sp>
          <p:nvSpPr>
            <p:cNvPr id="44" name="Oval 29"/>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Line 30"/>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Line 31"/>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7" name="Right Arrow 46"/>
          <p:cNvSpPr/>
          <p:nvPr/>
        </p:nvSpPr>
        <p:spPr>
          <a:xfrm>
            <a:off x="3352800" y="3755523"/>
            <a:ext cx="415816" cy="5262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9052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p:cNvSpPr>
            <a:spLocks noChangeArrowheads="1"/>
          </p:cNvSpPr>
          <p:nvPr/>
        </p:nvSpPr>
        <p:spPr bwMode="auto">
          <a:xfrm>
            <a:off x="209506" y="646173"/>
            <a:ext cx="89548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3200" b="1" dirty="0"/>
              <a:t>Projection of symmetry </a:t>
            </a:r>
            <a:r>
              <a:rPr lang="en-US" altLang="zh-CN" sz="3200" b="1" dirty="0">
                <a:solidFill>
                  <a:prstClr val="black"/>
                </a:solidFill>
              </a:rPr>
              <a:t>element (complement)</a:t>
            </a:r>
            <a:endParaRPr kumimoji="0" lang="zh-CN" altLang="en-US" sz="3200" b="1" dirty="0"/>
          </a:p>
        </p:txBody>
      </p:sp>
      <p:sp>
        <p:nvSpPr>
          <p:cNvPr id="2" name="AutoShape 5" descr="data:image/png;base64,iVBORw0KGgoAAAANSUhEUgAAAGkAAABVCAYAAABKOsrsAAAUDklEQVR4Xu3cA5AlyxIG4Npr27Zt27Zt27Zt27Zt27Ztv3e/ilcbPSdmd6rm9NmZfTEZcWPnznR3VVdWZv75Z1b3+s+/EnqkW69Arx4ldWv9xMn1KKn766hHSf2BjrqXkj799NPw/vvvh5lnnjkMOOCA/WT9fv311zDQQAOFgQceuJ+M15lBWuLubr755vDzzz+HVVZZJXtO//zzT9hhhx3CRx99FK644oowwAADZN/7448/hjPOOCPMO++8YaaZZsq+z4XGoqh111236L5+eXHtSvruu+/CIossEsYcc8xw9dVXZy82kLn55puHb7/9Nlx++eVFa/DGG2+ESSedNBx55JFhp512Krr3rLPOCtddd11U1hBDDJF9r03I6scZZ5ww1FBDZd/XmQtbpqThhx8+XH/99WGwwQbLntc+++wTnnjiiXDDDTeEQQYZJPu+d999N0wxxRRhxx13DAceeGDo1atX9r0XXXRRePjhh8Mpp5xSdN+TTz4Zlllmmfjf8ccfX/Se2ZP734W1K8lz99hjj3DccceFt956K4wxxhjZc7rqqquiy7vtttvioucKd7X88ssHbu/2228v2tm33nprOP3008P5558fhh122Nwhw9dffx1mm2228MUXX4QXXnghjDvuuNn3ll7YEiUdddRRYeeddw7vvfde0eRffvnl6LL233//ovv+/vvvsPbaa4dnn302PPTQQ2HEEUfMXofXXnstWsLuu+8eXVeufPXVV2HuuecO33zzTWBVJffmjpGua4mSDj/88LDbbrv19tm5k7LYAEQp0vrrr7/CWmutFV566aXwwAMPhBFGGCF3yPDDDz+EN998M0w++eRFMYklzTXXXP2vko444oiw6667Fispe2UbLgQ61lxzzfDiiy9GSypxW50d8/vvvw+zzz57VNJTTz0VxhprrM4+qsP7WmJJXNYuu+wS5D2jjTZah5NIF6RF3nDDDYuAw4cffhhmmGGGONY999wTRh555Owxv/zyy/DKK6/E3KwE3Z122mkxftoQjz32WJF7zp5cq4DDJ598EtZZZ51w9913h+effz5MM8002XO65ZZbghzrmGOOCYMOOmj2fayW9UqADzjggAhccgX0PvbYY8ONN94YRhpppKzb/vzzz7DwwguH+++/P6YYhx12WIzBrZJaLUk82WSTTcLZZ58d57vccsuFCy+8MBttsUCKBYtLZNppp40Ii/j5kUceybaKK6+8Mrrm++67Lzv4X3PNNTEGQpVkkkkmifePPvroJdPOvrZWJfHPFglrQIYeeuiYg0w99dTtTkjAT2JHciGQkn9RNR1VUeRDzz33XFhyySXD559/Hh8FdFj4ZZddNmsRQPYlllgi5mczzjhjm3sAmcY5mOdBBx0U9t13397XGvOcc86JimuFNKUkSrHzKUXyedNNN7WxAj7eLp1++unjy1pUi0F5klwKpAxuyr8ff/xxfBYXaTG4lUZxbUJ/fna9XVxV+IorrhhdbkdK9myJswXeb7/92syT0u+6666INqvJsfd89dVXwzPPPNNmahNNNFGYZ555wvbbbx+mmmqqWnXVaSW98847Yeuttw6SwZzFaG/WYoB8o1EoaMghhwwTTjhhXKQkFCnmffbZZ7UuQnsPMxYPwJqSUJaNA7I3biCwX67Ewrj5OqXTSpJfcE0SUDsaj3XBBRf0djtpknbVfPPNF/7444/4Yn4ee+yxw++//x6VgOtjkRTDx7OmKaecMiK0UUYZpc0GcI38xAaxYHb1o48+GqmgFB+MO//888c8jVSV3LhwrNk7AA+QmjFZpE2H1hJrGu/3/zhJFuMdCO6ONS6wwALx5xLQk6PMTiupvYfL3L1sejG7ETu9/vrr58wlXHvttdEdHnrooVnXu4jSxBKbhNgwxtxggw2yngFNQoY8Qi4EB/mx7SghYnzQf5hhhskas/SiWpVkF4KmYgThzvh1YCJHttlmm5iQCuYlBKsdfO+998YhRh111BjrWGmOsIo999wzwmn35girPfPMMyN9xaNcfPHFRWWZnDGq19SqJA+2WCuttFJ0YSxrs802y1pwsWbBBRcMGO3VVlstLkIuPYQKWnrppeOCAQzI0lyBJMXWjTbaKJx88snZpZWffvopWhDrMz4w1CqpXUkmyiJOPPHEIsbh6KOPblMLAqMpO1cksBacFZck0CuvvHLAvnOTrGnOOefMGhItNN1008XNccIJJ2Td09mLalcSl7flllvGuMA6chO89dZbr40FiCkpKc55ub333jumAGJargUCIICMGEOMlxvLQP9ZZpklLLTQQuHcc89tY4El9aycd2tKSVAQpVQXRU3HxC2WiunEE0/cZh4qr1yhEoHAS4mqnKggTAGB4jbddNNAcZiE8cYbLz7HePhAXJudDx6DyTi7bbfdNl5rwZCd/t6n1ACwGXzwweP4mGyui0CF8iWxCep8/fXXI4IzLzGStXsmFIsVefzxx6O7m3XWWWPKIFbhEFUB6pSmlKQ0gCtDMoKdFteCQ0ySQUwAtzf++OOH3377LVrKpZdeGvMcO9FLeTmKrkJoKGmvvfaKZfSnn346DDfccBG2W1iK8TtjWTAwHbvgX0yABQafLWp7SvK7X375JSLOpZZaKvZFiGWEBWC2uUtzEGfMG4EqUVVzsskogYLMQ35kfONKMZTx1bbqlKaUJKnTI+Clid3LkmTxklT9BohHC0gJYoadxzIsskVJTAQUmHYgpYtJrqV0YgFsBH+zy5NL8XsKPO+882K+wyLlKn2yIr+naPmbexXuEpTWjIIhsSkg0+QhKKqxDYCLZIWLLrpodO2tlKaU1N7EBFQwXJJYUqrgArkbLmvjjTcOp556alFb1worrBDefvvtuLvlZznC7blPLwblm3Oje+7TcxJw4C1OOumknOE6fU3tSrLYiy++eIxJdltJMUzwtyu5OQE9V7hLRT/sR2llNlWRJeFiTq6wZvEHupNqtFJqV5Idtthii0U/Lu5o7coVvBfCVotViaQeBzESjBaTckXTC7fMRU8wwQS5t0WSFWDQMAMVorJaJbUrCaLTuQOBKSs30v99exFgQZwr7bvzTMEbYsQ25Bbv3IfhECtZcW4VmeVKgN1H/NzKXKl2JaFYDjnkkDh5JfQSOEpJYC8AUJJrQIxbbbVVBBkIV6WRXKFYMQVgAEByRD4m0U4EK4sCfFrVJFmrkkwaTc+FEK5OFVPSlyOaI8UVfFqJUIriH8E8HHzwwdm3S2ilCZSUY0nYfApSbk+CPcc3lmyO7An+e2GtSjIwv45/S4Ii6iiwYrLBYUQld4m4zLEkMP7BBx+MfdwpIbUxoDW1nT6VKcBw6YI8CMDR48DiNTjKr4xNGeZVnYd7WCoqyd+rIvm2ySTnOXPvZ0qSBAr0/pMXWSjoTK6UBBu9xRZbxJeabLLJIphAFxGL7B4gQy4iL7IQacE7ehHXQpPKFFWFWCjKqlZr03gpCQbT5W+6bIEA5K5kWXINhrNMm616usM9uosSjVSdn+dKZLUda0ypU5qyJB2qdtAdd9yRNaeUEMryCSuQCKfdm3x8SdGMctors7f3DBulb1XkRCV5JtelYbJamTVn90OQqacivbjkWEkGM6EZp05pSkleAMXDH7MErkrje3XR7GiWBBazEAmr/MLLCvTVRRBL7GxVzlyXoZKLK6wumsZ9AKZRWIDmScoCEox95513hssuuyzCcK45Caui6KpSkxvkXqsIlOWKw3jE3HmXKLEpJTUORFGaDOUrSUrgqTwJ2iqF4Liy1AbGGtyvGSVHJL82h3JFbk0IBVWtNhvL/a2SWpVk1ylToHSIExVph+W8AAaaNV5yySU5l/e+RvzgZsRCMdDC557mkMQqnwMbuY3+EnZ5FejOitxbenit5AVrVZKBWRHuDpBQ6Szxz3IdEByLnttvYExuCwcHecn+UTU5wt2yAgiPYktasQAIbDkKjHtupdSuJJyWGCGx09zBt+cIhDbHHHNEUlanDxeU69+huFVXXTUiupLMn8WLlwRjAZlCfDmiZCG29pcEKwsCZ7kdzEEuIy034u6IWo6dndvAAqiwCEpOrVw5C+3YKOCQhEXkdjZhzJHAKrmS4VZK7ZaUKrNKDvKMnCzeC+L7ErEKVYkVFjFXVl999Zgr6T3P7TQSx6QBScwBQ0LEVzWwPrldm1HXqhMgJex57vtUr2taSRCdBNUCpWTPxMUWPFxKKtOZoQ8++CAW7ZKFKawJ/LqKJKbEwgjG3CZx2kIltFptrbpCMQmM9iz9b3Y5orW9XMm1no/akeNVLUkFWdeQayToNhy0ymVzbxhvliOJ1xvoRGMqV5hPtRApsWXduf0WfVNe00piMfIG+ZKF53rsMi8K8VCeF+ESJLNezIKmFwKZoSWoLrEGrmNVqp4CtJzHURo/Q22pB9yLQWQW11FMjAayFTudlNr48uYnZ+NewfZGdkDVmFLEVO5Mwk5B4p5i5BprrBFzMv/aEOgnna5AhDO0qVNX6cJ71/E9iqaVZPLyBots10hYKUFJGhy34KmXgGK8sKSy2gjvGkqEBtPCg+5JyRbWfZSkDIGCsRE8T25DUZpW0DtausS0jr4DYfG4Rn16SXyiAEFrPjacMnoqtxsrLbjf6bZlKfJA3F8dyuiTNTWtpMYHW3x9AzpsuItc+p57UiykZDsQM5CLDM1BZZZVizEWN0dYMOvQTyHfAcVzK8lYcDydnnB9Fa2U2pXEzdidLMvCQ1w5wk3Ik3QU6V6t7vCO7rcx7Gr9DeJbycFmDAcAwYK22267jobq/XfsiE4pLk5cy92M2QNULqxVSVyfA1kpGOvRFktyRZxgCfKrkoBrJ2vn4hKxByVHI4Eelu9bDrloUvVYuQK4YO3cZi4NlbsW1etqVZIShNZbsYPY0cjXXMpETYfLKSn6KX9bZK6LQJE2Rm7ZXnwEEMRD7jZHIDxNmEnU0PCFue+ZM0bLlMR1WLDqwTAUEThdjS8gbHvHRChUJ6qgrEyQI+IJgjWVOdxjl1u0XMZCfmShG/Mdmy31Baa5GEf8k2xXRfkFYwHE5HKAOe/nmqYtyc7HtclJ5EWQXbVqCWXJ4hXSuEPlaihMYyGXZhFcA7LrE9C8YtGwDdWFTy9k4d0HfcnRuFZzqIpFUsbXVdpYbqheB5EZAxTnKiE11yeIzyIbj2O6n/VVO27TM8Fx8N78lT4UEOuQppWk4CcplE+kjtS+TUyeI1B7+Wo11cIAG/IdVuRlJcLVek7KqSC/vlVvkwXlHhOV3Londcuav74FeVqq5MYd/e81NpNNIS5VBSrUkML6pBzSjxKSuG9r1rSSPBxTAG57CahM5TKJ3ax3IR1tNHGxqvryaQHsUB+O4k4oiotsLLrJmfQesFbPQOM0ojKfGkC45kq1Iusem0euRFHVjZd+hiApAhlMvKN6EiWZV10W1Nt7/LsItX7NGJStHqcEq1tJQNr94iALJBruxaPc9qxcRVavo0RxMNW9sA82YqukFkuqTk5M4SZYF4oFpM5NEDv7kvIx31DgcvXEKR+UCMAgBiauMOdeqNI4IDxrrvvEeXUOtSvJw5GUim9yj5KiH/JVtRPZWtLya0zgBD1VkkCnhTBfMLzkYxncO6vF47HiVm7EligpHa0sOVVhwaApZC3InpvnpIXWAIMFEA9LPmjofi4Z2nRWN1fS9+7ER96jv/veXWc/pYY50DugD69Pn7ppbxHFCJDXoWpKKjmqLyT7DoSgz03nSlKSJBoV1soY2BJLQv9bbEW/EjegZI4Pw8GV9BtQkjI4S0TslnxKTUsYpgHbgdLKFUpSa3IQGt/YX7HgXhIHp7IKNJTkCpTkXt/tKVFSOp8kgLPCElcpiQUAwPiST2RTErCBCU/dUbkKLr2uJZaE7JRLgMIlO8xuBuEF4pJj/lxW+s4Rl1caHzAgWOwSlyUWgf5cpHpSK6UlStKFirIpsQYviXFA0UCEJW7SvY5igv1cUL8QLhbkV3Qsca+dmVtLlNSZifTc0+cV6FFSf7A7epTUo6TmVgAvh2VXp3JaUJKqDKFMoJ0Zwsr9jGdzM+nau7ulJVGOyqdKr3YtbLf8Rz+djh6HptExEKSiIkK3JIHt2iUvH73bKUkRTp8dAhO0TRQPXg/qU4IAsaE4ZCrOThsXHu3/VbqdkuRWWAcldDWoqii0yWXSiUGWxpKUQjS9qOWA4s6+4g0luTpJQfvUyyBv4ya1ffnXdU71yXsU9FJfX3dSeLdSEmbZERZJokPCHQl3pzNIxq8vW8WWgrEAinCSXKSpv1OgRFfhTiMJKki8Qwvh7rD2aCztZP0q1+ro/dLfu5WSMA2OaypXdFQ2YCXYCUlvOkZpgcUsChbH8IfatIAN7VfIV7wgBVEeF6mKi39DsCqtaM/qUVJfto8OVEpSQu/oc2RIXFk/S9KYwlIU3vyrMUb8ohDdRD5RoNnf2SUxjEVxpw6dOSqjz49VOqqDpM09rpNrCc1e160sCZXkCIuKbpUP4wYtPotgQdxT+tyMfgJxRhcSFps1sQrK9oUV5KnzUg47a7vCtSnyUaJ4hiNE7OpEBfPVpXqU1MG2ArUtqEopV0VhIDdEB+khYaE/gCB9R89ncpwUVDLQuwftqWlh4rlQiJAViVG+xgXKi0V6E7hAsQjwUBHGwuf2kjdrIbn3dytLSpOmFK6IYpTRWQplQV+CffrCfvoUAWuR4HJ/ECE0pwTBopC9mutZkFxKbHI9tKckIhmWc7Fcvwdaupt0SyV1t0Xq6vn0KKmrNZAxfo+SMhapqy/pUVJXayBj/B4lZSxSV1/So6Su1kDG+D1Kylikrr6kR0ldrYGM8XuUlLFIXX3JfwH4TibF4xA8UgAAAABJRU5ErkJggg=="/>
          <p:cNvSpPr>
            <a:spLocks noChangeAspect="1" noChangeArrowheads="1"/>
          </p:cNvSpPr>
          <p:nvPr/>
        </p:nvSpPr>
        <p:spPr bwMode="auto">
          <a:xfrm>
            <a:off x="155575" y="-3889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1524000" y="1828800"/>
            <a:ext cx="1107996" cy="461665"/>
          </a:xfrm>
          <a:prstGeom prst="rect">
            <a:avLst/>
          </a:prstGeom>
        </p:spPr>
        <p:txBody>
          <a:bodyPr wrap="none">
            <a:spAutoFit/>
          </a:bodyPr>
          <a:lstStyle/>
          <a:p>
            <a:pPr eaLnBrk="0" hangingPunct="0"/>
            <a:r>
              <a:rPr lang="en-US" altLang="zh-CN" sz="2400" dirty="0"/>
              <a:t>Galena</a:t>
            </a:r>
          </a:p>
        </p:txBody>
      </p:sp>
      <p:pic>
        <p:nvPicPr>
          <p:cNvPr id="48"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7140" r="13268"/>
          <a:stretch/>
        </p:blipFill>
        <p:spPr bwMode="auto">
          <a:xfrm>
            <a:off x="612396" y="2667000"/>
            <a:ext cx="3103927" cy="2548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9" name="Group 48"/>
          <p:cNvGrpSpPr/>
          <p:nvPr/>
        </p:nvGrpSpPr>
        <p:grpSpPr>
          <a:xfrm>
            <a:off x="4431629" y="1335881"/>
            <a:ext cx="4167188" cy="4608513"/>
            <a:chOff x="3635375" y="1196975"/>
            <a:chExt cx="4167188" cy="4608513"/>
          </a:xfrm>
        </p:grpSpPr>
        <p:pic>
          <p:nvPicPr>
            <p:cNvPr id="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1196975"/>
              <a:ext cx="4167188" cy="4608513"/>
            </a:xfrm>
            <a:prstGeom prst="rect">
              <a:avLst/>
            </a:prstGeom>
            <a:noFill/>
            <a:extLst>
              <a:ext uri="{909E8E84-426E-40DD-AFC4-6F175D3DCCD1}">
                <a14:hiddenFill xmlns:a14="http://schemas.microsoft.com/office/drawing/2010/main">
                  <a:solidFill>
                    <a:srgbClr val="FFFFFF"/>
                  </a:solidFill>
                </a14:hiddenFill>
              </a:ext>
            </a:extLst>
          </p:spPr>
        </p:pic>
        <p:sp>
          <p:nvSpPr>
            <p:cNvPr id="51" name="Oval 7"/>
            <p:cNvSpPr>
              <a:spLocks noChangeArrowheads="1"/>
            </p:cNvSpPr>
            <p:nvPr/>
          </p:nvSpPr>
          <p:spPr bwMode="auto">
            <a:xfrm>
              <a:off x="7499350" y="3644900"/>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nvGrpSpPr>
            <p:cNvPr id="52" name="Group 8"/>
            <p:cNvGrpSpPr>
              <a:grpSpLocks/>
            </p:cNvGrpSpPr>
            <p:nvPr/>
          </p:nvGrpSpPr>
          <p:grpSpPr bwMode="auto">
            <a:xfrm>
              <a:off x="5659438" y="3640138"/>
              <a:ext cx="136525" cy="149225"/>
              <a:chOff x="5239" y="799"/>
              <a:chExt cx="136" cy="136"/>
            </a:xfrm>
          </p:grpSpPr>
          <p:sp>
            <p:nvSpPr>
              <p:cNvPr id="92" name="Oval 9"/>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 name="Line 10"/>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4" name="Line 11"/>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3" name="Oval 12"/>
            <p:cNvSpPr>
              <a:spLocks noChangeArrowheads="1"/>
            </p:cNvSpPr>
            <p:nvPr/>
          </p:nvSpPr>
          <p:spPr bwMode="auto">
            <a:xfrm>
              <a:off x="5651500" y="5492750"/>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54" name="Oval 13"/>
            <p:cNvSpPr>
              <a:spLocks noChangeArrowheads="1"/>
            </p:cNvSpPr>
            <p:nvPr/>
          </p:nvSpPr>
          <p:spPr bwMode="auto">
            <a:xfrm>
              <a:off x="3787775" y="3644900"/>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55" name="Oval 14"/>
            <p:cNvSpPr>
              <a:spLocks noChangeArrowheads="1"/>
            </p:cNvSpPr>
            <p:nvPr/>
          </p:nvSpPr>
          <p:spPr bwMode="auto">
            <a:xfrm>
              <a:off x="5651500" y="1773238"/>
              <a:ext cx="144463" cy="16033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nvGrpSpPr>
            <p:cNvPr id="56" name="Group 15"/>
            <p:cNvGrpSpPr>
              <a:grpSpLocks/>
            </p:cNvGrpSpPr>
            <p:nvPr/>
          </p:nvGrpSpPr>
          <p:grpSpPr bwMode="auto">
            <a:xfrm>
              <a:off x="6443663" y="2852738"/>
              <a:ext cx="136525" cy="149225"/>
              <a:chOff x="5239" y="799"/>
              <a:chExt cx="136" cy="136"/>
            </a:xfrm>
          </p:grpSpPr>
          <p:sp>
            <p:nvSpPr>
              <p:cNvPr id="89" name="Oval 16"/>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 name="Line 17"/>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91" name="Line 18"/>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7" name="Group 19"/>
            <p:cNvGrpSpPr>
              <a:grpSpLocks/>
            </p:cNvGrpSpPr>
            <p:nvPr/>
          </p:nvGrpSpPr>
          <p:grpSpPr bwMode="auto">
            <a:xfrm>
              <a:off x="5664200" y="2720975"/>
              <a:ext cx="136525" cy="149225"/>
              <a:chOff x="5239" y="799"/>
              <a:chExt cx="136" cy="136"/>
            </a:xfrm>
          </p:grpSpPr>
          <p:sp>
            <p:nvSpPr>
              <p:cNvPr id="86" name="Oval 20"/>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7" name="Line 21"/>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8" name="Line 22"/>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8" name="Group 23"/>
            <p:cNvGrpSpPr>
              <a:grpSpLocks/>
            </p:cNvGrpSpPr>
            <p:nvPr/>
          </p:nvGrpSpPr>
          <p:grpSpPr bwMode="auto">
            <a:xfrm>
              <a:off x="4906963" y="2865438"/>
              <a:ext cx="136525" cy="149225"/>
              <a:chOff x="5239" y="799"/>
              <a:chExt cx="136" cy="136"/>
            </a:xfrm>
          </p:grpSpPr>
          <p:sp>
            <p:nvSpPr>
              <p:cNvPr id="83" name="Oval 24"/>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4" name="Line 25"/>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5" name="Line 26"/>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59" name="Group 27"/>
            <p:cNvGrpSpPr>
              <a:grpSpLocks/>
            </p:cNvGrpSpPr>
            <p:nvPr/>
          </p:nvGrpSpPr>
          <p:grpSpPr bwMode="auto">
            <a:xfrm>
              <a:off x="4775200" y="3644900"/>
              <a:ext cx="136525" cy="149225"/>
              <a:chOff x="5239" y="799"/>
              <a:chExt cx="136" cy="136"/>
            </a:xfrm>
          </p:grpSpPr>
          <p:sp>
            <p:nvSpPr>
              <p:cNvPr id="80" name="Oval 28"/>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29"/>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82" name="Line 30"/>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0" name="Group 31"/>
            <p:cNvGrpSpPr>
              <a:grpSpLocks/>
            </p:cNvGrpSpPr>
            <p:nvPr/>
          </p:nvGrpSpPr>
          <p:grpSpPr bwMode="auto">
            <a:xfrm>
              <a:off x="4884738" y="4403725"/>
              <a:ext cx="136525" cy="149225"/>
              <a:chOff x="5239" y="799"/>
              <a:chExt cx="136" cy="136"/>
            </a:xfrm>
          </p:grpSpPr>
          <p:sp>
            <p:nvSpPr>
              <p:cNvPr id="77" name="Oval 32"/>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33"/>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9" name="Line 34"/>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1" name="Group 35"/>
            <p:cNvGrpSpPr>
              <a:grpSpLocks/>
            </p:cNvGrpSpPr>
            <p:nvPr/>
          </p:nvGrpSpPr>
          <p:grpSpPr bwMode="auto">
            <a:xfrm>
              <a:off x="5664200" y="4568825"/>
              <a:ext cx="136525" cy="149225"/>
              <a:chOff x="5239" y="799"/>
              <a:chExt cx="136" cy="136"/>
            </a:xfrm>
          </p:grpSpPr>
          <p:sp>
            <p:nvSpPr>
              <p:cNvPr id="74" name="Oval 36"/>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5" name="Line 37"/>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6" name="Line 38"/>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2" name="Group 39"/>
            <p:cNvGrpSpPr>
              <a:grpSpLocks/>
            </p:cNvGrpSpPr>
            <p:nvPr/>
          </p:nvGrpSpPr>
          <p:grpSpPr bwMode="auto">
            <a:xfrm>
              <a:off x="6443663" y="4424363"/>
              <a:ext cx="136525" cy="149225"/>
              <a:chOff x="5239" y="799"/>
              <a:chExt cx="136" cy="136"/>
            </a:xfrm>
          </p:grpSpPr>
          <p:sp>
            <p:nvSpPr>
              <p:cNvPr id="71" name="Oval 40"/>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2" name="Line 41"/>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3" name="Line 42"/>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63" name="Group 43"/>
            <p:cNvGrpSpPr>
              <a:grpSpLocks/>
            </p:cNvGrpSpPr>
            <p:nvPr/>
          </p:nvGrpSpPr>
          <p:grpSpPr bwMode="auto">
            <a:xfrm>
              <a:off x="6575425" y="3644900"/>
              <a:ext cx="136525" cy="149225"/>
              <a:chOff x="5239" y="799"/>
              <a:chExt cx="136" cy="136"/>
            </a:xfrm>
          </p:grpSpPr>
          <p:sp>
            <p:nvSpPr>
              <p:cNvPr id="68" name="Oval 44"/>
              <p:cNvSpPr>
                <a:spLocks noChangeArrowheads="1"/>
              </p:cNvSpPr>
              <p:nvPr/>
            </p:nvSpPr>
            <p:spPr bwMode="auto">
              <a:xfrm>
                <a:off x="5239" y="799"/>
                <a:ext cx="136" cy="13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9" name="Line 45"/>
              <p:cNvSpPr>
                <a:spLocks noChangeShapeType="1"/>
              </p:cNvSpPr>
              <p:nvPr/>
            </p:nvSpPr>
            <p:spPr bwMode="auto">
              <a:xfrm flipH="1">
                <a:off x="5284" y="799"/>
                <a:ext cx="45" cy="136"/>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70" name="Line 46"/>
              <p:cNvSpPr>
                <a:spLocks noChangeShapeType="1"/>
              </p:cNvSpPr>
              <p:nvPr/>
            </p:nvSpPr>
            <p:spPr bwMode="auto">
              <a:xfrm>
                <a:off x="5239" y="845"/>
                <a:ext cx="136" cy="45"/>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64" name="Oval 47"/>
            <p:cNvSpPr>
              <a:spLocks noChangeArrowheads="1"/>
            </p:cNvSpPr>
            <p:nvPr/>
          </p:nvSpPr>
          <p:spPr bwMode="auto">
            <a:xfrm>
              <a:off x="6981825" y="2314575"/>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65" name="Oval 48"/>
            <p:cNvSpPr>
              <a:spLocks noChangeArrowheads="1"/>
            </p:cNvSpPr>
            <p:nvPr/>
          </p:nvSpPr>
          <p:spPr bwMode="auto">
            <a:xfrm>
              <a:off x="6981825" y="4949825"/>
              <a:ext cx="144463"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66" name="Oval 49"/>
            <p:cNvSpPr>
              <a:spLocks noChangeArrowheads="1"/>
            </p:cNvSpPr>
            <p:nvPr/>
          </p:nvSpPr>
          <p:spPr bwMode="auto">
            <a:xfrm>
              <a:off x="4322763" y="4949825"/>
              <a:ext cx="144462"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67" name="Oval 50"/>
            <p:cNvSpPr>
              <a:spLocks noChangeArrowheads="1"/>
            </p:cNvSpPr>
            <p:nvPr/>
          </p:nvSpPr>
          <p:spPr bwMode="auto">
            <a:xfrm>
              <a:off x="4310063" y="2301875"/>
              <a:ext cx="144462" cy="16033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95" name="Right Arrow 94"/>
          <p:cNvSpPr/>
          <p:nvPr/>
        </p:nvSpPr>
        <p:spPr>
          <a:xfrm>
            <a:off x="3886200" y="3640137"/>
            <a:ext cx="415816" cy="5262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81000" y="6096000"/>
            <a:ext cx="8500019" cy="461665"/>
          </a:xfrm>
          <a:prstGeom prst="rect">
            <a:avLst/>
          </a:prstGeom>
          <a:noFill/>
        </p:spPr>
        <p:txBody>
          <a:bodyPr wrap="none" rtlCol="0">
            <a:spAutoFit/>
          </a:bodyPr>
          <a:lstStyle/>
          <a:p>
            <a:r>
              <a:rPr lang="en-US" sz="2400" dirty="0"/>
              <a:t>All the planes with low indexes are projected on equatorial plane</a:t>
            </a:r>
          </a:p>
        </p:txBody>
      </p:sp>
    </p:spTree>
    <p:extLst>
      <p:ext uri="{BB962C8B-B14F-4D97-AF65-F5344CB8AC3E}">
        <p14:creationId xmlns:p14="http://schemas.microsoft.com/office/powerpoint/2010/main" val="731101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1027"/>
          <p:cNvSpPr>
            <a:spLocks noGrp="1" noChangeArrowheads="1"/>
          </p:cNvSpPr>
          <p:nvPr>
            <p:ph idx="1"/>
          </p:nvPr>
        </p:nvSpPr>
        <p:spPr>
          <a:xfrm>
            <a:off x="514350" y="620713"/>
            <a:ext cx="8305800" cy="5400675"/>
          </a:xfrm>
        </p:spPr>
        <p:txBody>
          <a:bodyPr/>
          <a:lstStyle/>
          <a:p>
            <a:pPr marL="0" indent="0" algn="ctr">
              <a:lnSpc>
                <a:spcPct val="120000"/>
              </a:lnSpc>
              <a:buNone/>
            </a:pPr>
            <a:r>
              <a:rPr lang="en-US" altLang="zh-CN" sz="4000" b="1" dirty="0"/>
              <a:t>Homework</a:t>
            </a:r>
          </a:p>
          <a:p>
            <a:pPr marL="0" indent="0">
              <a:lnSpc>
                <a:spcPct val="120000"/>
              </a:lnSpc>
              <a:buNone/>
            </a:pPr>
            <a:r>
              <a:rPr lang="en-US" altLang="zh-CN" sz="4000" dirty="0"/>
              <a:t>All the exercises or examples in this chapter</a:t>
            </a:r>
            <a:endParaRPr lang="zh-CN" altLang="en-US" sz="4000" dirty="0"/>
          </a:p>
        </p:txBody>
      </p:sp>
    </p:spTree>
    <p:extLst>
      <p:ext uri="{BB962C8B-B14F-4D97-AF65-F5344CB8AC3E}">
        <p14:creationId xmlns:p14="http://schemas.microsoft.com/office/powerpoint/2010/main" val="4209131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5914</TotalTime>
  <Words>1873</Words>
  <Application>Microsoft Macintosh PowerPoint</Application>
  <PresentationFormat>On-screen Show (4:3)</PresentationFormat>
  <Paragraphs>174</Paragraphs>
  <Slides>30</Slides>
  <Notes>9</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Franklin Gothic Book</vt:lpstr>
      <vt:lpstr>Franklin Gothic Medium</vt:lpstr>
      <vt:lpstr>Wingdings</vt:lpstr>
      <vt:lpstr>Office Theme</vt:lpstr>
      <vt:lpstr>Question: Is the crystal direction with the same miller index as one crystal plane also the normal direction of the crystal plane?</vt:lpstr>
      <vt:lpstr>Chapter 4. Crystal measurement and projection</vt:lpstr>
      <vt:lpstr>1. Law of constant angle </vt:lpstr>
      <vt:lpstr>2. Measurement of crystal </vt:lpstr>
      <vt:lpstr>2. Measurement of crystal </vt:lpstr>
      <vt:lpstr>3. Projection of crystal </vt:lpstr>
      <vt:lpstr>3. Projection of crystal </vt:lpstr>
      <vt:lpstr>1) Spherical projection of crystal </vt:lpstr>
      <vt:lpstr>2) Spherical coordinates - the point label on the sphere surface</vt:lpstr>
      <vt:lpstr>4. Stereographic polar projection</vt:lpstr>
      <vt:lpstr>2) Stereographic polar projection</vt:lpstr>
      <vt:lpstr>2) Stereographic polar projection</vt:lpstr>
      <vt:lpstr>2) Stereographic polar projection</vt:lpstr>
      <vt:lpstr>2) Stereographic polar projection</vt:lpstr>
      <vt:lpstr>PowerPoint Presentation</vt:lpstr>
      <vt:lpstr>Stereographic polar projection (3D and Side view)</vt:lpstr>
      <vt:lpstr>The projections of crystal surfaces of  the same crystal zone distribute in a large circle.</vt:lpstr>
      <vt:lpstr>5. Wulff net and application examples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Lenovo's User</dc:creator>
  <cp:lastModifiedBy>Philip Zhan</cp:lastModifiedBy>
  <cp:revision>254</cp:revision>
  <dcterms:created xsi:type="dcterms:W3CDTF">2006-08-16T00:00:00Z</dcterms:created>
  <dcterms:modified xsi:type="dcterms:W3CDTF">2021-12-07T06:50:16Z</dcterms:modified>
</cp:coreProperties>
</file>