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113"/>
  </p:notesMasterIdLst>
  <p:sldIdLst>
    <p:sldId id="507" r:id="rId2"/>
    <p:sldId id="508" r:id="rId3"/>
    <p:sldId id="509" r:id="rId4"/>
    <p:sldId id="510" r:id="rId5"/>
    <p:sldId id="511" r:id="rId6"/>
    <p:sldId id="512" r:id="rId7"/>
    <p:sldId id="513" r:id="rId8"/>
    <p:sldId id="514" r:id="rId9"/>
    <p:sldId id="515" r:id="rId10"/>
    <p:sldId id="516" r:id="rId11"/>
    <p:sldId id="517" r:id="rId12"/>
    <p:sldId id="518" r:id="rId13"/>
    <p:sldId id="362" r:id="rId14"/>
    <p:sldId id="363" r:id="rId15"/>
    <p:sldId id="364" r:id="rId16"/>
    <p:sldId id="365" r:id="rId17"/>
    <p:sldId id="366" r:id="rId18"/>
    <p:sldId id="519" r:id="rId19"/>
    <p:sldId id="487" r:id="rId20"/>
    <p:sldId id="520" r:id="rId21"/>
    <p:sldId id="521" r:id="rId22"/>
    <p:sldId id="522" r:id="rId23"/>
    <p:sldId id="523" r:id="rId24"/>
    <p:sldId id="524" r:id="rId25"/>
    <p:sldId id="525" r:id="rId26"/>
    <p:sldId id="527" r:id="rId27"/>
    <p:sldId id="529" r:id="rId28"/>
    <p:sldId id="528" r:id="rId29"/>
    <p:sldId id="530" r:id="rId30"/>
    <p:sldId id="386" r:id="rId31"/>
    <p:sldId id="536" r:id="rId32"/>
    <p:sldId id="387" r:id="rId33"/>
    <p:sldId id="388" r:id="rId34"/>
    <p:sldId id="531" r:id="rId35"/>
    <p:sldId id="377" r:id="rId36"/>
    <p:sldId id="378" r:id="rId37"/>
    <p:sldId id="379" r:id="rId38"/>
    <p:sldId id="380" r:id="rId39"/>
    <p:sldId id="381" r:id="rId40"/>
    <p:sldId id="382" r:id="rId41"/>
    <p:sldId id="532" r:id="rId42"/>
    <p:sldId id="533" r:id="rId43"/>
    <p:sldId id="534" r:id="rId44"/>
    <p:sldId id="311" r:id="rId45"/>
    <p:sldId id="537" r:id="rId46"/>
    <p:sldId id="538" r:id="rId47"/>
    <p:sldId id="539" r:id="rId48"/>
    <p:sldId id="541" r:id="rId49"/>
    <p:sldId id="542" r:id="rId50"/>
    <p:sldId id="452" r:id="rId51"/>
    <p:sldId id="393" r:id="rId52"/>
    <p:sldId id="399" r:id="rId53"/>
    <p:sldId id="458" r:id="rId54"/>
    <p:sldId id="392" r:id="rId55"/>
    <p:sldId id="400" r:id="rId56"/>
    <p:sldId id="543" r:id="rId57"/>
    <p:sldId id="471" r:id="rId58"/>
    <p:sldId id="544" r:id="rId59"/>
    <p:sldId id="394" r:id="rId60"/>
    <p:sldId id="470" r:id="rId61"/>
    <p:sldId id="453" r:id="rId62"/>
    <p:sldId id="398" r:id="rId63"/>
    <p:sldId id="449" r:id="rId64"/>
    <p:sldId id="461" r:id="rId65"/>
    <p:sldId id="462" r:id="rId66"/>
    <p:sldId id="545" r:id="rId67"/>
    <p:sldId id="402" r:id="rId68"/>
    <p:sldId id="454" r:id="rId69"/>
    <p:sldId id="403" r:id="rId70"/>
    <p:sldId id="554" r:id="rId71"/>
    <p:sldId id="556" r:id="rId72"/>
    <p:sldId id="404" r:id="rId73"/>
    <p:sldId id="456" r:id="rId74"/>
    <p:sldId id="557" r:id="rId75"/>
    <p:sldId id="546" r:id="rId76"/>
    <p:sldId id="547" r:id="rId77"/>
    <p:sldId id="548" r:id="rId78"/>
    <p:sldId id="549" r:id="rId79"/>
    <p:sldId id="551" r:id="rId80"/>
    <p:sldId id="414" r:id="rId81"/>
    <p:sldId id="502" r:id="rId82"/>
    <p:sldId id="504" r:id="rId83"/>
    <p:sldId id="505" r:id="rId84"/>
    <p:sldId id="503" r:id="rId85"/>
    <p:sldId id="552" r:id="rId86"/>
    <p:sldId id="464" r:id="rId87"/>
    <p:sldId id="484" r:id="rId88"/>
    <p:sldId id="485" r:id="rId89"/>
    <p:sldId id="555" r:id="rId90"/>
    <p:sldId id="483" r:id="rId91"/>
    <p:sldId id="422" r:id="rId92"/>
    <p:sldId id="423" r:id="rId93"/>
    <p:sldId id="424" r:id="rId94"/>
    <p:sldId id="425" r:id="rId95"/>
    <p:sldId id="442" r:id="rId96"/>
    <p:sldId id="446" r:id="rId97"/>
    <p:sldId id="443" r:id="rId98"/>
    <p:sldId id="444" r:id="rId99"/>
    <p:sldId id="445" r:id="rId100"/>
    <p:sldId id="432" r:id="rId101"/>
    <p:sldId id="433" r:id="rId102"/>
    <p:sldId id="434" r:id="rId103"/>
    <p:sldId id="435" r:id="rId104"/>
    <p:sldId id="436" r:id="rId105"/>
    <p:sldId id="478" r:id="rId106"/>
    <p:sldId id="437" r:id="rId107"/>
    <p:sldId id="438" r:id="rId108"/>
    <p:sldId id="439" r:id="rId109"/>
    <p:sldId id="448" r:id="rId110"/>
    <p:sldId id="440" r:id="rId111"/>
    <p:sldId id="457" r:id="rId112"/>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000FF"/>
    <a:srgbClr val="FF3399"/>
    <a:srgbClr val="E6E6E6"/>
    <a:srgbClr val="3333FF"/>
    <a:srgbClr val="F4F4EF"/>
    <a:srgbClr val="0066FF"/>
    <a:srgbClr val="F5C201"/>
    <a:srgbClr val="0066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73350" autoAdjust="0"/>
  </p:normalViewPr>
  <p:slideViewPr>
    <p:cSldViewPr>
      <p:cViewPr varScale="1">
        <p:scale>
          <a:sx n="61" d="100"/>
          <a:sy n="61" d="100"/>
        </p:scale>
        <p:origin x="1678" y="3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_rels/viewProps.xml.rels><?xml version="1.0" encoding="UTF-8" standalone="yes"?>
<Relationships xmlns="http://schemas.openxmlformats.org/package/2006/relationships"><Relationship Id="rId3" Type="http://schemas.openxmlformats.org/officeDocument/2006/relationships/slide" Target="slides/slide94.xml"/><Relationship Id="rId2" Type="http://schemas.openxmlformats.org/officeDocument/2006/relationships/slide" Target="slides/slide92.xml"/><Relationship Id="rId1" Type="http://schemas.openxmlformats.org/officeDocument/2006/relationships/slide" Target="slides/slide91.xml"/><Relationship Id="rId6" Type="http://schemas.openxmlformats.org/officeDocument/2006/relationships/slide" Target="slides/slide107.xml"/><Relationship Id="rId5" Type="http://schemas.openxmlformats.org/officeDocument/2006/relationships/slide" Target="slides/slide106.xml"/><Relationship Id="rId4"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763FF9-46F0-440B-9FBC-A0C56BD2A6BF}" type="datetimeFigureOut">
              <a:rPr lang="en-US" smtClean="0"/>
              <a:t>12/8/2020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962C5E-5320-4865-A69C-F3779EE33F9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Atom" TargetMode="External"/><Relationship Id="rId2" Type="http://schemas.openxmlformats.org/officeDocument/2006/relationships/slide" Target="../slides/slide50.xml"/><Relationship Id="rId1" Type="http://schemas.openxmlformats.org/officeDocument/2006/relationships/notesMaster" Target="../notesMasters/notesMaster1.xml"/><Relationship Id="rId4" Type="http://schemas.openxmlformats.org/officeDocument/2006/relationships/hyperlink" Target="https://en.wikipedia.org/wiki/Crysta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Ns, s</a:t>
            </a:r>
            <a:r>
              <a:rPr lang="zh-CN" altLang="en-US" dirty="0"/>
              <a:t>为偶数的时候，由于平移的不变性，结构上的点都是成对出现。</a:t>
            </a:r>
          </a:p>
        </p:txBody>
      </p:sp>
      <p:sp>
        <p:nvSpPr>
          <p:cNvPr id="4" name="Slide Number Placeholder 3"/>
          <p:cNvSpPr>
            <a:spLocks noGrp="1"/>
          </p:cNvSpPr>
          <p:nvPr>
            <p:ph type="sldNum" sz="quarter" idx="10"/>
          </p:nvPr>
        </p:nvSpPr>
        <p:spPr/>
        <p:txBody>
          <a:bodyPr/>
          <a:lstStyle/>
          <a:p>
            <a:fld id="{D4962C5E-5320-4865-A69C-F3779EE33F95}" type="slidenum">
              <a:rPr lang="en-US" smtClean="0"/>
              <a:t>30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右图的数字是</a:t>
            </a:r>
            <a:r>
              <a:rPr lang="en-US" altLang="zh-CN" dirty="0"/>
              <a:t>z</a:t>
            </a:r>
            <a:r>
              <a:rPr lang="zh-CN" altLang="en-US" dirty="0"/>
              <a:t>方向的位置，如</a:t>
            </a:r>
            <a:r>
              <a:rPr lang="en-US" altLang="zh-CN" dirty="0"/>
              <a:t>1/4</a:t>
            </a:r>
            <a:r>
              <a:rPr lang="zh-CN" altLang="en-US" dirty="0"/>
              <a:t>代表离地面</a:t>
            </a:r>
            <a:r>
              <a:rPr lang="en-US" altLang="zh-CN" dirty="0"/>
              <a:t>1/4</a:t>
            </a:r>
            <a:r>
              <a:rPr lang="zh-CN" altLang="en-US" dirty="0"/>
              <a:t>周期</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31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６２是旋转６０</a:t>
            </a:r>
            <a:r>
              <a:rPr lang="en-US" altLang="zh-CN" dirty="0"/>
              <a:t>°</a:t>
            </a:r>
            <a:r>
              <a:rPr lang="zh-CN" altLang="en-US" dirty="0"/>
              <a:t>然后在平移</a:t>
            </a:r>
            <a:r>
              <a:rPr lang="en-US" altLang="zh-CN" dirty="0"/>
              <a:t>1/3 t</a:t>
            </a:r>
            <a:r>
              <a:rPr lang="zh-CN" altLang="en-US" dirty="0"/>
              <a:t>单位；</a:t>
            </a:r>
            <a:r>
              <a:rPr lang="en-US" altLang="zh-CN" dirty="0"/>
              <a:t>6</a:t>
            </a:r>
            <a:r>
              <a:rPr lang="en-US" altLang="zh-CN" baseline="0" dirty="0"/>
              <a:t> 4 </a:t>
            </a:r>
            <a:r>
              <a:rPr lang="zh-CN" altLang="en-US" dirty="0"/>
              <a:t>旋转６０</a:t>
            </a:r>
            <a:r>
              <a:rPr lang="en-US" altLang="zh-CN" dirty="0"/>
              <a:t>°</a:t>
            </a:r>
            <a:r>
              <a:rPr lang="zh-CN" altLang="en-US" dirty="0"/>
              <a:t>然后在平移</a:t>
            </a:r>
            <a:r>
              <a:rPr lang="en-US" altLang="zh-CN" dirty="0"/>
              <a:t>2/3 t</a:t>
            </a:r>
            <a:r>
              <a:rPr lang="zh-CN" altLang="en-US" dirty="0"/>
              <a:t>单位；图</a:t>
            </a:r>
            <a:r>
              <a:rPr lang="en-US" altLang="zh-CN" dirty="0"/>
              <a:t>7-4</a:t>
            </a:r>
            <a:r>
              <a:rPr lang="en-US" altLang="zh-CN" baseline="0" dirty="0"/>
              <a:t> </a:t>
            </a:r>
            <a:r>
              <a:rPr lang="zh-CN" altLang="en-US" baseline="0" dirty="0"/>
              <a:t>不仅第二个图和第四个图应该调换，而且虚线和实线也对应错误。</a:t>
            </a:r>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33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auxiliary </a:t>
            </a:r>
          </a:p>
          <a:p>
            <a:r>
              <a:rPr lang="zh-CN" altLang="en-US" dirty="0"/>
              <a:t>英 </a:t>
            </a:r>
            <a:r>
              <a:rPr lang="en-US" altLang="zh-CN" dirty="0"/>
              <a:t>/</a:t>
            </a:r>
            <a:r>
              <a:rPr lang="en-US" dirty="0" err="1"/>
              <a:t>ɔːɡˈzɪliəri</a:t>
            </a:r>
            <a:r>
              <a:rPr lang="en-US" dirty="0"/>
              <a:t>/ </a:t>
            </a:r>
          </a:p>
        </p:txBody>
      </p:sp>
      <p:sp>
        <p:nvSpPr>
          <p:cNvPr id="4" name="Slide Number Placeholder 3"/>
          <p:cNvSpPr>
            <a:spLocks noGrp="1"/>
          </p:cNvSpPr>
          <p:nvPr>
            <p:ph type="sldNum" sz="quarter" idx="10"/>
          </p:nvPr>
        </p:nvSpPr>
        <p:spPr/>
        <p:txBody>
          <a:bodyPr/>
          <a:lstStyle/>
          <a:p>
            <a:fld id="{D4962C5E-5320-4865-A69C-F3779EE33F95}" type="slidenum">
              <a:rPr lang="en-US" smtClean="0"/>
              <a:t>41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其他不垂直和平行于坐标轴的镜面是否存在？我想应该是有的。</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44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Surface reconstruction</a:t>
            </a:r>
            <a:r>
              <a:rPr lang="en-US" sz="1200" b="0" i="0" kern="1200" dirty="0">
                <a:solidFill>
                  <a:schemeClr val="tx1"/>
                </a:solidFill>
                <a:effectLst/>
                <a:latin typeface="+mn-lt"/>
                <a:ea typeface="+mn-ea"/>
                <a:cs typeface="+mn-cs"/>
              </a:rPr>
              <a:t> refers to the process by which </a:t>
            </a:r>
            <a:r>
              <a:rPr lang="en-US" sz="1200" b="0" i="0" u="none" strike="noStrike" kern="1200" dirty="0">
                <a:solidFill>
                  <a:schemeClr val="tx1"/>
                </a:solidFill>
                <a:effectLst/>
                <a:latin typeface="+mn-lt"/>
                <a:ea typeface="+mn-ea"/>
                <a:cs typeface="+mn-cs"/>
                <a:hlinkClick r:id="rId3" tooltip="Atom"/>
              </a:rPr>
              <a:t>atoms</a:t>
            </a:r>
            <a:r>
              <a:rPr lang="en-US" sz="1200" b="0" i="0" kern="1200" dirty="0">
                <a:solidFill>
                  <a:schemeClr val="tx1"/>
                </a:solidFill>
                <a:effectLst/>
                <a:latin typeface="+mn-lt"/>
                <a:ea typeface="+mn-ea"/>
                <a:cs typeface="+mn-cs"/>
              </a:rPr>
              <a:t> at the surface of a </a:t>
            </a:r>
            <a:r>
              <a:rPr lang="en-US" sz="1200" b="0" i="0" u="none" strike="noStrike" kern="1200" dirty="0">
                <a:solidFill>
                  <a:schemeClr val="tx1"/>
                </a:solidFill>
                <a:effectLst/>
                <a:latin typeface="+mn-lt"/>
                <a:ea typeface="+mn-ea"/>
                <a:cs typeface="+mn-cs"/>
                <a:hlinkClick r:id="rId4" tooltip="Crystal"/>
              </a:rPr>
              <a:t>crystal</a:t>
            </a:r>
            <a:r>
              <a:rPr lang="en-US" sz="1200" b="0" i="0" kern="1200" dirty="0">
                <a:solidFill>
                  <a:schemeClr val="tx1"/>
                </a:solidFill>
                <a:effectLst/>
                <a:latin typeface="+mn-lt"/>
                <a:ea typeface="+mn-ea"/>
                <a:cs typeface="+mn-cs"/>
              </a:rPr>
              <a:t> assume a different structure than that of the bulk.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Closest packing</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2 </a:t>
            </a:r>
            <a:r>
              <a:rPr lang="zh-CN" altLang="en-US" dirty="0"/>
              <a:t>次及</a:t>
            </a:r>
            <a:r>
              <a:rPr lang="en-US" altLang="zh-CN" dirty="0"/>
              <a:t>4</a:t>
            </a:r>
            <a:r>
              <a:rPr lang="zh-CN" altLang="en-US" dirty="0"/>
              <a:t>次对称的格子中</a:t>
            </a:r>
            <a:r>
              <a:rPr lang="en-US" altLang="zh-CN" dirty="0"/>
              <a:t>m</a:t>
            </a:r>
            <a:r>
              <a:rPr lang="zh-CN" altLang="en-US" dirty="0"/>
              <a:t>可以转化成</a:t>
            </a:r>
            <a:r>
              <a:rPr lang="en-US" altLang="zh-CN" dirty="0"/>
              <a:t>g</a:t>
            </a:r>
            <a:r>
              <a:rPr lang="zh-CN" altLang="en-US" dirty="0"/>
              <a:t>； </a:t>
            </a:r>
            <a:r>
              <a:rPr lang="en-US" altLang="zh-CN" dirty="0" err="1"/>
              <a:t>cm</a:t>
            </a:r>
            <a:r>
              <a:rPr lang="en-US" altLang="zh-CN" dirty="0" err="1">
                <a:sym typeface="Wingdings" panose="05000000000000000000" pitchFamily="2" charset="2"/>
              </a:rPr>
              <a:t>cg</a:t>
            </a:r>
            <a:r>
              <a:rPr lang="en-US" altLang="zh-CN" dirty="0">
                <a:sym typeface="Wingdings" panose="05000000000000000000" pitchFamily="2" charset="2"/>
              </a:rPr>
              <a:t>? </a:t>
            </a:r>
            <a:endParaRPr 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bg1"/>
                </a:solidFill>
              </a:rPr>
              <a:t>Space lattice(translation groups)+ Point groups</a:t>
            </a:r>
            <a:r>
              <a:rPr lang="zh-CN" altLang="en-US" sz="1200" dirty="0">
                <a:solidFill>
                  <a:schemeClr val="bg1"/>
                </a:solidFill>
              </a:rPr>
              <a:t> </a:t>
            </a:r>
            <a:r>
              <a:rPr lang="en-US" altLang="zh-CN" sz="1200" dirty="0">
                <a:solidFill>
                  <a:schemeClr val="bg1"/>
                </a:solidFill>
                <a:sym typeface="Wingdings" panose="05000000000000000000" pitchFamily="2" charset="2"/>
              </a:rPr>
              <a:t> Space groups</a:t>
            </a:r>
            <a:r>
              <a:rPr lang="zh-CN" altLang="en-US" sz="1200" dirty="0">
                <a:solidFill>
                  <a:schemeClr val="bg1"/>
                </a:solidFill>
              </a:rPr>
              <a:t>；</a:t>
            </a:r>
            <a:r>
              <a:rPr lang="en-US" altLang="zh-CN" sz="1200" dirty="0">
                <a:solidFill>
                  <a:schemeClr val="bg1"/>
                </a:solidFill>
              </a:rPr>
              <a:t>What’s the compatibility of symmetry element and lattice?</a:t>
            </a:r>
          </a:p>
          <a:p>
            <a:pPr marL="0" marR="0" indent="0" algn="l" defTabSz="914400" rtl="0" eaLnBrk="1" fontAlgn="auto" latinLnBrk="0" hangingPunct="1">
              <a:lnSpc>
                <a:spcPct val="100000"/>
              </a:lnSpc>
              <a:spcBef>
                <a:spcPts val="0"/>
              </a:spcBef>
              <a:spcAft>
                <a:spcPts val="0"/>
              </a:spcAft>
              <a:buClrTx/>
              <a:buSzTx/>
              <a:buFontTx/>
              <a:buNone/>
              <a:defRPr/>
            </a:pPr>
            <a:endParaRPr lang="en-US" sz="1200" dirty="0">
              <a:solidFill>
                <a:schemeClr val="bg1"/>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bg1"/>
                </a:solidFill>
              </a:rPr>
              <a:t>格子要和点群也就是宏观对称性保持一致，所以点群在和格子结合的时候，是有选择性的。</a:t>
            </a:r>
            <a:endParaRPr lang="en-US" sz="1200" dirty="0">
              <a:solidFill>
                <a:schemeClr val="bg1"/>
              </a:solidFill>
            </a:endParaRPr>
          </a:p>
          <a:p>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2 </a:t>
            </a:r>
            <a:r>
              <a:rPr lang="zh-CN" altLang="en-US" dirty="0"/>
              <a:t>次及</a:t>
            </a:r>
            <a:r>
              <a:rPr lang="en-US" altLang="zh-CN" dirty="0"/>
              <a:t>4</a:t>
            </a:r>
            <a:r>
              <a:rPr lang="zh-CN" altLang="en-US" dirty="0"/>
              <a:t>次对称的格子中</a:t>
            </a:r>
            <a:r>
              <a:rPr lang="en-US" altLang="zh-CN" dirty="0"/>
              <a:t>m</a:t>
            </a:r>
            <a:r>
              <a:rPr lang="zh-CN" altLang="en-US" dirty="0"/>
              <a:t>可以转化成</a:t>
            </a:r>
            <a:r>
              <a:rPr lang="en-US" altLang="zh-CN" dirty="0"/>
              <a:t>g</a:t>
            </a:r>
            <a:r>
              <a:rPr lang="zh-CN" altLang="en-US" dirty="0"/>
              <a:t>； </a:t>
            </a:r>
            <a:r>
              <a:rPr lang="en-US" altLang="zh-CN" dirty="0" err="1"/>
              <a:t>cm</a:t>
            </a:r>
            <a:r>
              <a:rPr lang="en-US" altLang="zh-CN" dirty="0" err="1">
                <a:sym typeface="Wingdings" panose="05000000000000000000" pitchFamily="2" charset="2"/>
              </a:rPr>
              <a:t>cg</a:t>
            </a:r>
            <a:r>
              <a:rPr lang="en-US" altLang="zh-CN" dirty="0">
                <a:sym typeface="Wingdings" panose="05000000000000000000" pitchFamily="2" charset="2"/>
              </a:rPr>
              <a:t>? </a:t>
            </a:r>
            <a:endParaRPr 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bg1"/>
                </a:solidFill>
              </a:rPr>
              <a:t>Space lattice(translation groups)+ Point groups</a:t>
            </a:r>
            <a:r>
              <a:rPr lang="zh-CN" altLang="en-US" sz="1200" dirty="0">
                <a:solidFill>
                  <a:schemeClr val="bg1"/>
                </a:solidFill>
              </a:rPr>
              <a:t> </a:t>
            </a:r>
            <a:r>
              <a:rPr lang="en-US" altLang="zh-CN" sz="1200" dirty="0">
                <a:solidFill>
                  <a:schemeClr val="bg1"/>
                </a:solidFill>
                <a:sym typeface="Wingdings" panose="05000000000000000000" pitchFamily="2" charset="2"/>
              </a:rPr>
              <a:t> Space groups</a:t>
            </a:r>
            <a:r>
              <a:rPr lang="zh-CN" altLang="en-US" sz="1200" dirty="0">
                <a:solidFill>
                  <a:schemeClr val="bg1"/>
                </a:solidFill>
              </a:rPr>
              <a:t>；</a:t>
            </a:r>
            <a:r>
              <a:rPr lang="en-US" altLang="zh-CN" sz="1200" dirty="0">
                <a:solidFill>
                  <a:schemeClr val="bg1"/>
                </a:solidFill>
              </a:rPr>
              <a:t>What’s the compatibility of symmetry element and lattice?</a:t>
            </a:r>
            <a:endParaRPr lang="en-US" sz="1200" dirty="0">
              <a:solidFill>
                <a:schemeClr val="bg1"/>
              </a:solidFill>
            </a:endParaRPr>
          </a:p>
          <a:p>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二次旋转点对称要素配置到网格格点上；</a:t>
            </a:r>
            <a:endParaRPr lang="en-US" altLang="zh-CN" dirty="0"/>
          </a:p>
          <a:p>
            <a:r>
              <a:rPr lang="zh-CN" altLang="en-US" dirty="0"/>
              <a:t>进行平移对称操作的结果使得网格的每个结点均配置了</a:t>
            </a:r>
            <a:r>
              <a:rPr lang="en-US" altLang="zh-CN" dirty="0"/>
              <a:t>2</a:t>
            </a:r>
            <a:r>
              <a:rPr lang="zh-CN" altLang="en-US" dirty="0"/>
              <a:t>次旋转点。</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59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 </a:t>
            </a:r>
          </a:p>
          <a:p>
            <a:r>
              <a:rPr lang="zh-CN" altLang="en-US" dirty="0"/>
              <a:t>英 </a:t>
            </a:r>
            <a:r>
              <a:rPr lang="en-US" altLang="zh-CN" dirty="0"/>
              <a:t>/ˈ</a:t>
            </a:r>
            <a:r>
              <a:rPr lang="en-US" dirty="0" err="1"/>
              <a:t>kɒmə</a:t>
            </a:r>
            <a:r>
              <a:rPr lang="en-US" dirty="0"/>
              <a:t>/  </a:t>
            </a:r>
            <a:r>
              <a:rPr lang="zh-CN" altLang="en-US" dirty="0"/>
              <a:t>逗号；</a:t>
            </a:r>
            <a:endParaRPr lang="en-US" altLang="zh-CN" dirty="0"/>
          </a:p>
          <a:p>
            <a:endParaRPr lang="en-US" dirty="0"/>
          </a:p>
          <a:p>
            <a:pPr fontAlgn="t"/>
            <a:r>
              <a:rPr lang="en-US" sz="1200" b="1" i="0" kern="1200" dirty="0">
                <a:solidFill>
                  <a:schemeClr val="tx1"/>
                </a:solidFill>
                <a:effectLst/>
                <a:latin typeface="+mn-lt"/>
                <a:ea typeface="+mn-ea"/>
                <a:cs typeface="+mn-cs"/>
              </a:rPr>
              <a:t>chirality </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kaɪˈrælɪtɪ</a:t>
            </a:r>
            <a:r>
              <a:rPr lang="en-US"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手性；</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对称元素的相对位置非常重要，不同的位置对应的空间群不一样</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60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62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i="1" dirty="0">
                <a:solidFill>
                  <a:srgbClr val="FF0066"/>
                </a:solidFill>
                <a:effectLst>
                  <a:outerShdw blurRad="38100" dist="38100" dir="2700000" algn="tl">
                    <a:srgbClr val="000000"/>
                  </a:outerShdw>
                </a:effectLst>
                <a:ea typeface="宋体" panose="02010600030101010101" pitchFamily="2" charset="-122"/>
              </a:rPr>
              <a:t>P2mm; </a:t>
            </a:r>
            <a:r>
              <a:rPr lang="en-US" altLang="zh-CN" sz="1200" i="1" dirty="0">
                <a:effectLst>
                  <a:outerShdw blurRad="38100" dist="38100" dir="2700000" algn="tl">
                    <a:srgbClr val="000000"/>
                  </a:outerShdw>
                </a:effectLst>
                <a:ea typeface="宋体" panose="02010600030101010101" pitchFamily="2" charset="-122"/>
              </a:rPr>
              <a:t>P2mg; P2gg   </a:t>
            </a:r>
            <a:r>
              <a:rPr lang="zh-CN" altLang="en-US" sz="1200" i="1" dirty="0">
                <a:effectLst>
                  <a:outerShdw blurRad="38100" dist="38100" dir="2700000" algn="tl">
                    <a:srgbClr val="000000"/>
                  </a:outerShdw>
                </a:effectLst>
                <a:ea typeface="宋体" panose="02010600030101010101" pitchFamily="2" charset="-122"/>
              </a:rPr>
              <a:t>实际上我也不知道前两个</a:t>
            </a:r>
            <a:r>
              <a:rPr lang="en-US" altLang="zh-CN" sz="1200" i="1" dirty="0">
                <a:effectLst>
                  <a:outerShdw blurRad="38100" dist="38100" dir="2700000" algn="tl">
                    <a:srgbClr val="000000"/>
                  </a:outerShdw>
                </a:effectLst>
                <a:ea typeface="宋体" panose="02010600030101010101" pitchFamily="2" charset="-122"/>
              </a:rPr>
              <a:t>m</a:t>
            </a:r>
            <a:r>
              <a:rPr lang="zh-CN" altLang="en-US" sz="1200" i="1" dirty="0">
                <a:effectLst>
                  <a:outerShdw blurRad="38100" dist="38100" dir="2700000" algn="tl">
                    <a:srgbClr val="000000"/>
                  </a:outerShdw>
                </a:effectLst>
                <a:ea typeface="宋体" panose="02010600030101010101" pitchFamily="2" charset="-122"/>
              </a:rPr>
              <a:t>应该一开始在哪里，晶胞轴上？或者中间</a:t>
            </a:r>
            <a:r>
              <a:rPr lang="en-US" altLang="zh-CN" sz="1200" i="1" dirty="0">
                <a:effectLst>
                  <a:outerShdw blurRad="38100" dist="38100" dir="2700000" algn="tl">
                    <a:srgbClr val="000000"/>
                  </a:outerShdw>
                </a:effectLst>
                <a:ea typeface="宋体" panose="02010600030101010101" pitchFamily="2" charset="-122"/>
              </a:rPr>
              <a:t>1/2</a:t>
            </a:r>
            <a:r>
              <a:rPr lang="zh-CN" altLang="en-US" sz="1200" i="1" dirty="0">
                <a:effectLst>
                  <a:outerShdw blurRad="38100" dist="38100" dir="2700000" algn="tl">
                    <a:srgbClr val="000000"/>
                  </a:outerShdw>
                </a:effectLst>
                <a:ea typeface="宋体" panose="02010600030101010101" pitchFamily="2" charset="-122"/>
              </a:rPr>
              <a:t>处？或者</a:t>
            </a:r>
            <a:r>
              <a:rPr lang="en-US" altLang="zh-CN" sz="1200" i="1" dirty="0">
                <a:effectLst>
                  <a:outerShdw blurRad="38100" dist="38100" dir="2700000" algn="tl">
                    <a:srgbClr val="000000"/>
                  </a:outerShdw>
                </a:effectLst>
                <a:ea typeface="宋体" panose="02010600030101010101" pitchFamily="2" charset="-122"/>
              </a:rPr>
              <a:t>1/4</a:t>
            </a:r>
            <a:r>
              <a:rPr lang="zh-CN" altLang="en-US" sz="1200" i="1" dirty="0">
                <a:effectLst>
                  <a:outerShdw blurRad="38100" dist="38100" dir="2700000" algn="tl">
                    <a:srgbClr val="000000"/>
                  </a:outerShdw>
                </a:effectLst>
                <a:ea typeface="宋体" panose="02010600030101010101" pitchFamily="2" charset="-122"/>
              </a:rPr>
              <a:t>处</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63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i="1" dirty="0">
                <a:solidFill>
                  <a:srgbClr val="FF0066"/>
                </a:solidFill>
                <a:effectLst>
                  <a:outerShdw blurRad="38100" dist="38100" dir="2700000" algn="tl">
                    <a:srgbClr val="000000"/>
                  </a:outerShdw>
                </a:effectLst>
                <a:ea typeface="宋体" panose="02010600030101010101" pitchFamily="2" charset="-122"/>
              </a:rPr>
              <a:t>P2mm; </a:t>
            </a:r>
            <a:r>
              <a:rPr lang="en-US" altLang="zh-CN" sz="1200" i="1" dirty="0">
                <a:effectLst>
                  <a:outerShdw blurRad="38100" dist="38100" dir="2700000" algn="tl">
                    <a:srgbClr val="000000"/>
                  </a:outerShdw>
                </a:effectLst>
                <a:ea typeface="宋体" panose="02010600030101010101" pitchFamily="2" charset="-122"/>
              </a:rPr>
              <a:t>P2mg; P2gg   </a:t>
            </a:r>
            <a:r>
              <a:rPr lang="zh-CN" altLang="en-US" sz="1200" i="1" dirty="0">
                <a:effectLst>
                  <a:outerShdw blurRad="38100" dist="38100" dir="2700000" algn="tl">
                    <a:srgbClr val="000000"/>
                  </a:outerShdw>
                </a:effectLst>
                <a:ea typeface="宋体" panose="02010600030101010101" pitchFamily="2" charset="-122"/>
              </a:rPr>
              <a:t>实际上我也不知道前两个</a:t>
            </a:r>
            <a:r>
              <a:rPr lang="en-US" altLang="zh-CN" sz="1200" i="1" dirty="0">
                <a:effectLst>
                  <a:outerShdw blurRad="38100" dist="38100" dir="2700000" algn="tl">
                    <a:srgbClr val="000000"/>
                  </a:outerShdw>
                </a:effectLst>
                <a:ea typeface="宋体" panose="02010600030101010101" pitchFamily="2" charset="-122"/>
              </a:rPr>
              <a:t>m</a:t>
            </a:r>
            <a:r>
              <a:rPr lang="zh-CN" altLang="en-US" sz="1200" i="1" dirty="0">
                <a:effectLst>
                  <a:outerShdw blurRad="38100" dist="38100" dir="2700000" algn="tl">
                    <a:srgbClr val="000000"/>
                  </a:outerShdw>
                </a:effectLst>
                <a:ea typeface="宋体" panose="02010600030101010101" pitchFamily="2" charset="-122"/>
              </a:rPr>
              <a:t>应该一开始在哪里，晶胞轴上？或者中间</a:t>
            </a:r>
            <a:r>
              <a:rPr lang="en-US" altLang="zh-CN" sz="1200" i="1" dirty="0">
                <a:effectLst>
                  <a:outerShdw blurRad="38100" dist="38100" dir="2700000" algn="tl">
                    <a:srgbClr val="000000"/>
                  </a:outerShdw>
                </a:effectLst>
                <a:ea typeface="宋体" panose="02010600030101010101" pitchFamily="2" charset="-122"/>
              </a:rPr>
              <a:t>1/2</a:t>
            </a:r>
            <a:r>
              <a:rPr lang="zh-CN" altLang="en-US" sz="1200" i="1" dirty="0">
                <a:effectLst>
                  <a:outerShdw blurRad="38100" dist="38100" dir="2700000" algn="tl">
                    <a:srgbClr val="000000"/>
                  </a:outerShdw>
                </a:effectLst>
                <a:ea typeface="宋体" panose="02010600030101010101" pitchFamily="2" charset="-122"/>
              </a:rPr>
              <a:t>处？或者</a:t>
            </a:r>
            <a:r>
              <a:rPr lang="en-US" altLang="zh-CN" sz="1200" i="1" dirty="0">
                <a:effectLst>
                  <a:outerShdw blurRad="38100" dist="38100" dir="2700000" algn="tl">
                    <a:srgbClr val="000000"/>
                  </a:outerShdw>
                </a:effectLst>
                <a:ea typeface="宋体" panose="02010600030101010101" pitchFamily="2" charset="-122"/>
              </a:rPr>
              <a:t>1/4</a:t>
            </a:r>
            <a:r>
              <a:rPr lang="zh-CN" altLang="en-US" sz="1200" i="1" dirty="0">
                <a:effectLst>
                  <a:outerShdw blurRad="38100" dist="38100" dir="2700000" algn="tl">
                    <a:srgbClr val="000000"/>
                  </a:outerShdw>
                </a:effectLst>
                <a:ea typeface="宋体" panose="02010600030101010101" pitchFamily="2" charset="-122"/>
              </a:rPr>
              <a:t>处</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66</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https://en.wikipedia.org/wiki/Wallpaper_group     </a:t>
            </a:r>
            <a:r>
              <a:rPr lang="en-US" b="1" dirty="0"/>
              <a:t>answers</a:t>
            </a:r>
          </a:p>
        </p:txBody>
      </p:sp>
      <p:sp>
        <p:nvSpPr>
          <p:cNvPr id="4" name="Slide Number Placeholder 3"/>
          <p:cNvSpPr>
            <a:spLocks noGrp="1"/>
          </p:cNvSpPr>
          <p:nvPr>
            <p:ph type="sldNum" sz="quarter" idx="10"/>
          </p:nvPr>
        </p:nvSpPr>
        <p:spPr/>
        <p:txBody>
          <a:bodyPr/>
          <a:lstStyle/>
          <a:p>
            <a:fld id="{D4962C5E-5320-4865-A69C-F3779EE33F95}" type="slidenum">
              <a:rPr lang="en-US" smtClean="0"/>
              <a:t>67</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https://en.wikipedia.org/wiki/Wallpaper_group     </a:t>
            </a:r>
            <a:r>
              <a:rPr lang="en-US" b="1" dirty="0"/>
              <a:t>answers</a:t>
            </a:r>
          </a:p>
          <a:p>
            <a:endParaRPr lang="en-US" b="1" dirty="0"/>
          </a:p>
          <a:p>
            <a:r>
              <a:rPr lang="en-US" b="1" dirty="0"/>
              <a:t>P211 </a:t>
            </a:r>
            <a:r>
              <a:rPr lang="zh-CN" altLang="en-US" b="1" dirty="0"/>
              <a:t>中蓝色的格子中白条没有</a:t>
            </a:r>
            <a:r>
              <a:rPr lang="en-US" altLang="zh-CN" b="1" dirty="0"/>
              <a:t>4</a:t>
            </a:r>
            <a:r>
              <a:rPr lang="zh-CN" altLang="en-US" b="1" dirty="0"/>
              <a:t>次对称；</a:t>
            </a:r>
            <a:r>
              <a:rPr lang="en-US" altLang="zh-CN" b="1" dirty="0"/>
              <a:t>P1m1</a:t>
            </a:r>
            <a:r>
              <a:rPr lang="zh-CN" altLang="en-US" b="1" dirty="0"/>
              <a:t>中蓝绿格子不对称，没有</a:t>
            </a:r>
            <a:r>
              <a:rPr lang="en-US" altLang="zh-CN" b="1" dirty="0"/>
              <a:t>m</a:t>
            </a:r>
            <a:r>
              <a:rPr lang="zh-CN" altLang="en-US" b="1" dirty="0"/>
              <a:t>。</a:t>
            </a:r>
            <a:endParaRPr lang="en-US" altLang="zh-CN" b="1" dirty="0"/>
          </a:p>
          <a:p>
            <a:endParaRPr lang="en-US" b="1" dirty="0"/>
          </a:p>
          <a:p>
            <a:r>
              <a:rPr lang="zh-CN" altLang="en-US" b="1" dirty="0"/>
              <a:t>没有</a:t>
            </a:r>
            <a:r>
              <a:rPr lang="en-US" altLang="zh-CN" b="1" dirty="0"/>
              <a:t>C1</a:t>
            </a:r>
            <a:r>
              <a:rPr lang="zh-CN" altLang="en-US" b="1" dirty="0"/>
              <a:t>的原因是因为我们格子的对称性要和宏观对称性保持一致</a:t>
            </a:r>
            <a:endParaRPr lang="en-US" b="1" dirty="0"/>
          </a:p>
        </p:txBody>
      </p:sp>
      <p:sp>
        <p:nvSpPr>
          <p:cNvPr id="4" name="Slide Number Placeholder 3"/>
          <p:cNvSpPr>
            <a:spLocks noGrp="1"/>
          </p:cNvSpPr>
          <p:nvPr>
            <p:ph type="sldNum" sz="quarter" idx="10"/>
          </p:nvPr>
        </p:nvSpPr>
        <p:spPr/>
        <p:txBody>
          <a:bodyPr/>
          <a:lstStyle/>
          <a:p>
            <a:fld id="{D4962C5E-5320-4865-A69C-F3779EE33F95}" type="slidenum">
              <a:rPr lang="en-US" smtClean="0"/>
              <a:t>68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先找点阵（格子），再找旋转对称性最高的位置，然后看</a:t>
            </a:r>
            <a:r>
              <a:rPr lang="en-US" altLang="zh-CN" dirty="0"/>
              <a:t>m</a:t>
            </a:r>
            <a:r>
              <a:rPr lang="zh-CN" altLang="en-US" dirty="0"/>
              <a:t>和</a:t>
            </a:r>
            <a:r>
              <a:rPr lang="en-US" altLang="zh-CN" dirty="0"/>
              <a:t>g</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69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为啥不是</a:t>
            </a:r>
            <a:r>
              <a:rPr lang="en-US" altLang="zh-CN" sz="1200" dirty="0"/>
              <a:t>p4mg</a:t>
            </a:r>
            <a:r>
              <a:rPr lang="zh-CN" altLang="en-US" sz="1200" dirty="0"/>
              <a:t>；龟腚啊，其实换个坐标轴旋转</a:t>
            </a:r>
            <a:r>
              <a:rPr lang="en-US" altLang="zh-CN" sz="1200" dirty="0"/>
              <a:t>90°</a:t>
            </a:r>
            <a:r>
              <a:rPr lang="zh-CN" altLang="en-US" sz="1200" dirty="0"/>
              <a:t>就好了</a:t>
            </a:r>
            <a:r>
              <a:rPr lang="en-US" altLang="zh-CN" sz="1200" dirty="0"/>
              <a:t>; P4mm</a:t>
            </a:r>
            <a:r>
              <a:rPr lang="en-US" altLang="zh-CN" sz="1200" baseline="0" dirty="0"/>
              <a:t> </a:t>
            </a:r>
            <a:r>
              <a:rPr lang="zh-CN" altLang="en-US" sz="1200" baseline="0" dirty="0"/>
              <a:t>里面有</a:t>
            </a:r>
            <a:r>
              <a:rPr lang="en-US" altLang="zh-CN" sz="1200" baseline="0" dirty="0"/>
              <a:t>g</a:t>
            </a:r>
            <a:r>
              <a:rPr lang="zh-CN" altLang="en-US" sz="1200" baseline="0" dirty="0"/>
              <a:t>的，还是要看方向。。。同一个方向是可以既有</a:t>
            </a:r>
            <a:r>
              <a:rPr lang="en-US" altLang="zh-CN" sz="1200" baseline="0" dirty="0"/>
              <a:t>m</a:t>
            </a:r>
            <a:r>
              <a:rPr lang="zh-CN" altLang="en-US" sz="1200" baseline="0" dirty="0"/>
              <a:t>又有</a:t>
            </a:r>
            <a:r>
              <a:rPr lang="en-US" altLang="zh-CN" sz="1200" baseline="0" dirty="0"/>
              <a:t>g</a:t>
            </a:r>
            <a:r>
              <a:rPr lang="zh-CN" altLang="en-US" sz="1200" baseline="0" dirty="0"/>
              <a:t>，但是重合的方向不可以。</a:t>
            </a:r>
            <a:r>
              <a:rPr lang="en-US" altLang="zh-CN" sz="1200" baseline="0" dirty="0"/>
              <a:t>P4mm</a:t>
            </a:r>
            <a:r>
              <a:rPr lang="zh-CN" altLang="en-US" sz="1200" baseline="0" dirty="0"/>
              <a:t>为什么不是</a:t>
            </a:r>
            <a:r>
              <a:rPr lang="en-US" altLang="zh-CN" sz="1200" baseline="0" dirty="0"/>
              <a:t>P4mg</a:t>
            </a:r>
            <a:r>
              <a:rPr lang="zh-CN" altLang="en-US" sz="1200" baseline="0" dirty="0"/>
              <a:t>，简单起见。</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70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为啥不是</a:t>
            </a:r>
            <a:r>
              <a:rPr lang="en-US" altLang="zh-CN" sz="1200" dirty="0"/>
              <a:t>p4mg</a:t>
            </a:r>
            <a:r>
              <a:rPr lang="zh-CN" altLang="en-US" sz="1200" dirty="0"/>
              <a:t>；龟腚啊，其实换个坐标轴旋转</a:t>
            </a:r>
            <a:r>
              <a:rPr lang="en-US" altLang="zh-CN" sz="1200" dirty="0"/>
              <a:t>90°</a:t>
            </a:r>
            <a:r>
              <a:rPr lang="zh-CN" altLang="en-US" sz="1200" dirty="0"/>
              <a:t>就好了</a:t>
            </a:r>
            <a:r>
              <a:rPr lang="en-US" altLang="zh-CN" sz="1200" dirty="0"/>
              <a:t>; P4mm</a:t>
            </a:r>
            <a:r>
              <a:rPr lang="en-US" altLang="zh-CN" sz="1200" baseline="0" dirty="0"/>
              <a:t> </a:t>
            </a:r>
            <a:r>
              <a:rPr lang="zh-CN" altLang="en-US" sz="1200" baseline="0" dirty="0"/>
              <a:t>里面有</a:t>
            </a:r>
            <a:r>
              <a:rPr lang="en-US" altLang="zh-CN" sz="1200" baseline="0" dirty="0"/>
              <a:t>g</a:t>
            </a:r>
            <a:r>
              <a:rPr lang="zh-CN" altLang="en-US" sz="1200" baseline="0" dirty="0"/>
              <a:t>的，还是要看方向。。。同一个方向是可以既有</a:t>
            </a:r>
            <a:r>
              <a:rPr lang="en-US" altLang="zh-CN" sz="1200" baseline="0" dirty="0"/>
              <a:t>m</a:t>
            </a:r>
            <a:r>
              <a:rPr lang="zh-CN" altLang="en-US" sz="1200" baseline="0" dirty="0"/>
              <a:t>又有</a:t>
            </a:r>
            <a:r>
              <a:rPr lang="en-US" altLang="zh-CN" sz="1200" baseline="0" dirty="0"/>
              <a:t>g</a:t>
            </a:r>
            <a:r>
              <a:rPr lang="zh-CN" altLang="en-US" sz="1200" baseline="0" dirty="0"/>
              <a:t>，但是重合的方向不可以。</a:t>
            </a:r>
            <a:r>
              <a:rPr lang="en-US" altLang="zh-CN" sz="1200" baseline="0" dirty="0"/>
              <a:t>P4mm</a:t>
            </a:r>
            <a:r>
              <a:rPr lang="zh-CN" altLang="en-US" sz="1200" baseline="0" dirty="0"/>
              <a:t>为什么不是</a:t>
            </a:r>
            <a:r>
              <a:rPr lang="en-US" altLang="zh-CN" sz="1200" baseline="0" dirty="0"/>
              <a:t>P4mg</a:t>
            </a:r>
            <a:r>
              <a:rPr lang="zh-CN" altLang="en-US" sz="1200" baseline="0" dirty="0"/>
              <a:t>，简单起见。</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71</a:t>
            </a:fld>
            <a:endParaRPr lang="en-US"/>
          </a:p>
        </p:txBody>
      </p:sp>
    </p:spTree>
    <p:extLst>
      <p:ext uri="{BB962C8B-B14F-4D97-AF65-F5344CB8AC3E}">
        <p14:creationId xmlns:p14="http://schemas.microsoft.com/office/powerpoint/2010/main" val="2819746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从空间群找对等点的过程，就是一个从空间群到晶体结构的过程。</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74</a:t>
            </a:fld>
            <a:endParaRPr lang="en-US"/>
          </a:p>
        </p:txBody>
      </p:sp>
    </p:spTree>
    <p:extLst>
      <p:ext uri="{BB962C8B-B14F-4D97-AF65-F5344CB8AC3E}">
        <p14:creationId xmlns:p14="http://schemas.microsoft.com/office/powerpoint/2010/main" val="763981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79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 </a:t>
            </a:r>
          </a:p>
          <a:p>
            <a:r>
              <a:rPr lang="zh-CN" altLang="en-US" dirty="0"/>
              <a:t>英 </a:t>
            </a:r>
            <a:r>
              <a:rPr lang="en-US" altLang="zh-CN" dirty="0"/>
              <a:t>/ˈ</a:t>
            </a:r>
            <a:r>
              <a:rPr lang="en-US" dirty="0" err="1"/>
              <a:t>kɒmə</a:t>
            </a:r>
            <a:r>
              <a:rPr lang="en-US" dirty="0"/>
              <a:t>/  </a:t>
            </a:r>
            <a:r>
              <a:rPr lang="zh-CN" altLang="en-US" dirty="0"/>
              <a:t>美 </a:t>
            </a:r>
            <a:r>
              <a:rPr lang="en-US" altLang="zh-CN" dirty="0"/>
              <a:t>/ˈ</a:t>
            </a:r>
            <a:r>
              <a:rPr lang="en-US" dirty="0" err="1"/>
              <a:t>kɑːmə</a:t>
            </a:r>
            <a:r>
              <a:rPr lang="en-US" dirty="0"/>
              <a:t>/ </a:t>
            </a:r>
            <a:r>
              <a:rPr lang="zh-CN" altLang="en-US" dirty="0"/>
              <a:t>逗号</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87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90</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有限群是具有有限多个元素的群。群论的重要内容之一。其所含元素的个数，称为有限群的阶。</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000000"/>
                </a:solidFill>
                <a:latin typeface="Century Schoolbook" panose="02040604050505020304" pitchFamily="18" charset="0"/>
                <a:ea typeface="宋体" panose="02010600030101010101" pitchFamily="2" charset="-122"/>
              </a:rPr>
              <a:t>在一般位置的原子总</a:t>
            </a:r>
            <a:r>
              <a:rPr lang="zh-CN" altLang="en-US" sz="1200" b="1" dirty="0">
                <a:solidFill>
                  <a:srgbClr val="FF0000"/>
                </a:solidFill>
                <a:latin typeface="Century Schoolbook" panose="02040604050505020304" pitchFamily="18" charset="0"/>
                <a:ea typeface="宋体" panose="02010600030101010101" pitchFamily="2" charset="-122"/>
              </a:rPr>
              <a:t>具有三个位置自由度</a:t>
            </a:r>
            <a:r>
              <a:rPr lang="zh-CN" altLang="en-US" sz="1200" b="1" dirty="0">
                <a:solidFill>
                  <a:srgbClr val="000000"/>
                </a:solidFill>
                <a:latin typeface="Century Schoolbook" panose="02040604050505020304" pitchFamily="18" charset="0"/>
                <a:ea typeface="宋体" panose="02010600030101010101" pitchFamily="2" charset="-122"/>
              </a:rPr>
              <a:t>，</a:t>
            </a:r>
            <a:r>
              <a:rPr lang="zh-CN" altLang="en-US" sz="1200" b="1" dirty="0">
                <a:latin typeface="Century Schoolbook" panose="02040604050505020304" pitchFamily="18" charset="0"/>
                <a:ea typeface="宋体" panose="02010600030101010101" pitchFamily="2" charset="-122"/>
              </a:rPr>
              <a:t>它的三个分数坐标都可以独立变化</a:t>
            </a:r>
            <a:r>
              <a:rPr lang="zh-CN" altLang="en-US" sz="1200" b="1" dirty="0">
                <a:solidFill>
                  <a:srgbClr val="000000"/>
                </a:solidFill>
                <a:latin typeface="Century Schoolbook" panose="02040604050505020304" pitchFamily="18" charset="0"/>
                <a:ea typeface="宋体" panose="02010600030101010101" pitchFamily="2" charset="-122"/>
              </a:rPr>
              <a:t>。</a:t>
            </a:r>
          </a:p>
          <a:p>
            <a:r>
              <a:rPr lang="zh-CN" altLang="en-US" dirty="0"/>
              <a:t>这里只有变化是针对特殊位置而言；特殊位置分数坐标必有一个及以上是不变的常数。如课本</a:t>
            </a:r>
            <a:r>
              <a:rPr lang="en-US" altLang="zh-CN" dirty="0"/>
              <a:t>92</a:t>
            </a:r>
            <a:r>
              <a:rPr lang="zh-CN" altLang="en-US" dirty="0"/>
              <a:t>页 表</a:t>
            </a:r>
            <a:r>
              <a:rPr lang="en-US" altLang="zh-CN" dirty="0"/>
              <a:t>7-6</a:t>
            </a:r>
          </a:p>
          <a:p>
            <a:endParaRPr lang="en-US" dirty="0"/>
          </a:p>
          <a:p>
            <a:r>
              <a:rPr lang="zh-CN" altLang="en-US" dirty="0"/>
              <a:t>因为是在一个晶胞里面，所以都是分数坐标</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94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95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97</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晶体学点群</a:t>
            </a:r>
          </a:p>
          <a:p>
            <a:r>
              <a:rPr lang="en-US" dirty="0"/>
              <a:t>http://wenku.baidu.com/link?url=5n3LpRVovfbruKx3cd5r9aahU0H8vZCkCSUn9gESEsXmY9v9HVqQgF_X67x9_n4ZpwDM9quetNCHSBSar1J5O64ZVguDy8WAU4CvObcmrba</a:t>
            </a:r>
          </a:p>
        </p:txBody>
      </p:sp>
      <p:sp>
        <p:nvSpPr>
          <p:cNvPr id="4" name="Slide Number Placeholder 3"/>
          <p:cNvSpPr>
            <a:spLocks noGrp="1"/>
          </p:cNvSpPr>
          <p:nvPr>
            <p:ph type="sldNum" sz="quarter" idx="10"/>
          </p:nvPr>
        </p:nvSpPr>
        <p:spPr/>
        <p:txBody>
          <a:bodyPr/>
          <a:lstStyle/>
          <a:p>
            <a:fld id="{D4962C5E-5320-4865-A69C-F3779EE33F95}" type="slidenum">
              <a:rPr lang="en-US" smtClean="0"/>
              <a:t>98</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102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a:t>
            </a:r>
            <a:r>
              <a:rPr lang="en-US" altLang="zh-CN" dirty="0"/>
              <a:t>2</a:t>
            </a:r>
            <a:r>
              <a:rPr lang="zh-CN" altLang="en-US" dirty="0"/>
              <a:t>）</a:t>
            </a:r>
            <a:r>
              <a:rPr lang="en-US" altLang="zh-CN" dirty="0"/>
              <a:t>21 Screw Axis 2(0, ½,0) </a:t>
            </a:r>
            <a:r>
              <a:rPr lang="zh-CN" altLang="en-US" dirty="0"/>
              <a:t>螺距；</a:t>
            </a:r>
            <a:r>
              <a:rPr lang="en-US" altLang="zh-CN" dirty="0"/>
              <a:t>0,</a:t>
            </a:r>
            <a:r>
              <a:rPr lang="zh-CN" altLang="en-US" dirty="0"/>
              <a:t> </a:t>
            </a:r>
            <a:r>
              <a:rPr lang="en-US" altLang="zh-CN" dirty="0"/>
              <a:t>y,</a:t>
            </a:r>
            <a:r>
              <a:rPr lang="zh-CN" altLang="en-US" dirty="0"/>
              <a:t> </a:t>
            </a:r>
            <a:r>
              <a:rPr lang="en-US" altLang="zh-CN" dirty="0"/>
              <a:t>¼</a:t>
            </a:r>
            <a:r>
              <a:rPr lang="zh-CN" altLang="en-US" dirty="0"/>
              <a:t> 螺旋轴的位置 （</a:t>
            </a:r>
            <a:r>
              <a:rPr lang="en-US" altLang="zh-CN" dirty="0"/>
              <a:t>4</a:t>
            </a:r>
            <a:r>
              <a:rPr lang="zh-CN" altLang="en-US" dirty="0"/>
              <a:t>）</a:t>
            </a:r>
            <a:r>
              <a:rPr lang="en-US" altLang="zh-CN" dirty="0"/>
              <a:t>x</a:t>
            </a:r>
            <a:r>
              <a:rPr lang="zh-CN" altLang="en-US" dirty="0"/>
              <a:t>，</a:t>
            </a:r>
            <a:r>
              <a:rPr lang="en-US" altLang="zh-CN" dirty="0"/>
              <a:t>1/4, z </a:t>
            </a:r>
            <a:r>
              <a:rPr lang="zh-CN" altLang="en-US" dirty="0"/>
              <a:t>滑移面的位置；这些都是在一个不对称单位里面的对称元素</a:t>
            </a:r>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104</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先找晶胞；再把晶胞中心放在最高次对称轴或者把晶胞的对称轴与反映轴或者滑移轴重合；然后有</a:t>
            </a:r>
            <a:r>
              <a:rPr lang="en-US" altLang="zh-CN" dirty="0"/>
              <a:t>n</a:t>
            </a:r>
            <a:r>
              <a:rPr lang="zh-CN" altLang="en-US" dirty="0"/>
              <a:t>次轴取晶胞</a:t>
            </a:r>
            <a:r>
              <a:rPr lang="en-US" altLang="zh-CN" dirty="0"/>
              <a:t>1/n; </a:t>
            </a:r>
            <a:r>
              <a:rPr lang="zh-CN" altLang="en-US" dirty="0"/>
              <a:t>有反映轴或者滑移轴的再取一半；可以叠加。</a:t>
            </a:r>
            <a:endParaRPr lang="en-US" altLang="zh-CN" dirty="0"/>
          </a:p>
          <a:p>
            <a:endParaRPr 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109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110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D4962C5E-5320-4865-A69C-F3779EE33F95}" type="slidenum">
              <a:rPr lang="en-US" smtClean="0"/>
              <a:t>111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13A8FFC8-1A49-4C4D-BA2F-B4D67F87E88B}" type="slidenum">
              <a:rPr lang="en-US" altLang="zh-CN" smtClean="0"/>
              <a:t>‹#›</a:t>
            </a:fld>
            <a:endParaRPr lang="en-US" altLang="zh-CN"/>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13813EA1-19C7-4713-AD0C-7D173D7578BD}" type="slidenum">
              <a:rPr lang="en-US" altLang="zh-CN" smtClean="0"/>
              <a:t>‹#›</a:t>
            </a:fld>
            <a:endParaRPr lang="en-US" altLang="zh-CN"/>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17A1B352-CC03-4F54-8EB1-510CD9B01041}" type="slidenum">
              <a:rPr lang="en-US" altLang="zh-CN" smtClean="0"/>
              <a:t>‹#›</a:t>
            </a:fld>
            <a:endParaRPr lang="en-US" altLang="zh-CN"/>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92A61288-BEC5-4F39-AD7F-C7C089FB69DD}" type="slidenum">
              <a:rPr lang="en-US" altLang="zh-CN" smtClean="0"/>
              <a:t>‹#›</a:t>
            </a:fld>
            <a:endParaRPr lang="en-US" altLang="zh-CN"/>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3B4941DB-CBBD-4A02-A533-D6761588740F}" type="slidenum">
              <a:rPr lang="en-US" altLang="zh-CN" smtClean="0"/>
              <a:t>‹#›</a:t>
            </a:fld>
            <a:endParaRPr lang="en-US" altLang="zh-CN"/>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934A5802-0CDF-4391-8D98-1123D951C3BE}" type="slidenum">
              <a:rPr lang="en-US" altLang="zh-CN" smtClean="0"/>
              <a:t>‹#›</a:t>
            </a:fld>
            <a:endParaRPr lang="en-US" altLang="zh-CN"/>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85189DDA-F19B-4215-BB21-19D9FA9527B3}" type="slidenum">
              <a:rPr lang="en-US" altLang="zh-CN" smtClean="0"/>
              <a:t>‹#›</a:t>
            </a:fld>
            <a:endParaRPr lang="en-US" altLang="zh-CN"/>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608FE158-20A9-465A-95D3-C8FE63B8F7E0}" type="slidenum">
              <a:rPr lang="en-US" altLang="zh-CN" smtClean="0"/>
              <a:t>‹#›</a:t>
            </a:fld>
            <a:endParaRPr lang="en-US" altLang="zh-CN"/>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57EC5CDC-D343-4892-B40D-37D7790EA3C4}" type="slidenum">
              <a:rPr lang="en-US" altLang="zh-CN" smtClean="0"/>
              <a:t>‹#›</a:t>
            </a:fld>
            <a:endParaRPr lang="en-US" altLang="zh-CN"/>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380F24E-E3C6-49B8-AC0A-3341FD5E75D3}" type="slidenum">
              <a:rPr lang="en-US" altLang="zh-CN" smtClean="0"/>
              <a:t>‹#›</a:t>
            </a:fld>
            <a:endParaRPr lang="en-US" altLang="zh-CN"/>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CBE35AA6-6ACF-499D-AEFF-039F2ADC7A54}" type="slidenum">
              <a:rPr lang="en-US" altLang="zh-CN" smtClean="0"/>
              <a:t>‹#›</a:t>
            </a:fld>
            <a:endParaRPr lang="en-US" altLang="zh-CN"/>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a:prstGeom prst="rect">
            <a:avLst/>
          </a:prstGeom>
        </p:spPr>
        <p:txBody>
          <a:bodyPr/>
          <a:lstStyle/>
          <a:p>
            <a:endParaRPr lang="en-US"/>
          </a:p>
        </p:txBody>
      </p:sp>
    </p:spTree>
  </p:cSld>
  <p:clrMapOvr>
    <a:masterClrMapping/>
  </p:clrMapOvr>
  <p:transition>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E136352-1CED-4EEC-95F0-B1865542B1EE}"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zoom/>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9.jpeg"/></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6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6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7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50.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7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50.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7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7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2.xml"/><Relationship Id="rId5" Type="http://schemas.openxmlformats.org/officeDocument/2006/relationships/image" Target="../media/image77.wmf"/><Relationship Id="rId4" Type="http://schemas.openxmlformats.org/officeDocument/2006/relationships/oleObject" Target="../embeddings/oleObject1.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8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8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92.png"/><Relationship Id="rId4" Type="http://schemas.openxmlformats.org/officeDocument/2006/relationships/image" Target="../media/image91.png"/></Relationships>
</file>

<file path=ppt/slides/_rels/slide90.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8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90.png"/><Relationship Id="rId9" Type="http://schemas.openxmlformats.org/officeDocument/2006/relationships/image" Target="../media/image8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4.GI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06.GIF"/><Relationship Id="rId4" Type="http://schemas.openxmlformats.org/officeDocument/2006/relationships/image" Target="../media/image105.GIF"/></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600" cap="none" dirty="0"/>
              <a:t>Chap.6 Microscopic symmetry and space groups of crystals </a:t>
            </a:r>
          </a:p>
        </p:txBody>
      </p:sp>
      <p:sp>
        <p:nvSpPr>
          <p:cNvPr id="9" name="Content Placeholder 8"/>
          <p:cNvSpPr>
            <a:spLocks noGrp="1"/>
          </p:cNvSpPr>
          <p:nvPr>
            <p:ph idx="1"/>
          </p:nvPr>
        </p:nvSpPr>
        <p:spPr/>
        <p:txBody>
          <a:bodyPr>
            <a:normAutofit/>
          </a:bodyPr>
          <a:lstStyle/>
          <a:p>
            <a:pPr>
              <a:lnSpc>
                <a:spcPct val="160000"/>
              </a:lnSpc>
            </a:pPr>
            <a:r>
              <a:rPr lang="en-US" altLang="zh-CN" dirty="0"/>
              <a:t>Macroscopic and microscopic symmetry</a:t>
            </a:r>
          </a:p>
          <a:p>
            <a:pPr>
              <a:lnSpc>
                <a:spcPct val="160000"/>
              </a:lnSpc>
            </a:pPr>
            <a:r>
              <a:rPr lang="en-US" altLang="zh-CN" dirty="0"/>
              <a:t>Microscopic symmetry of crystals</a:t>
            </a:r>
          </a:p>
          <a:p>
            <a:pPr>
              <a:lnSpc>
                <a:spcPct val="160000"/>
              </a:lnSpc>
            </a:pPr>
            <a:r>
              <a:rPr lang="en-US" altLang="zh-CN" dirty="0"/>
              <a:t>2D space groups (plane groups)</a:t>
            </a:r>
          </a:p>
          <a:p>
            <a:pPr>
              <a:lnSpc>
                <a:spcPct val="160000"/>
              </a:lnSpc>
            </a:pPr>
            <a:r>
              <a:rPr lang="en-US" altLang="zh-CN" dirty="0"/>
              <a:t>3D space </a:t>
            </a:r>
            <a:r>
              <a:rPr lang="en-US" altLang="zh-CN"/>
              <a:t>groups </a:t>
            </a:r>
          </a:p>
          <a:p>
            <a:pPr>
              <a:lnSpc>
                <a:spcPct val="160000"/>
              </a:lnSpc>
            </a:pPr>
            <a:r>
              <a:rPr lang="en-US" altLang="zh-CN"/>
              <a:t>Equivalent </a:t>
            </a:r>
            <a:r>
              <a:rPr lang="en-US" altLang="zh-CN" dirty="0"/>
              <a:t>point system</a:t>
            </a:r>
          </a:p>
          <a:p>
            <a:pPr>
              <a:lnSpc>
                <a:spcPct val="160000"/>
              </a:lnSpc>
            </a:pPr>
            <a:endParaRPr lang="en-US" dirty="0"/>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Macroscopic and microscopic symmetry of crystals</a:t>
            </a:r>
          </a:p>
        </p:txBody>
      </p:sp>
      <p:sp>
        <p:nvSpPr>
          <p:cNvPr id="3" name="Content Placeholder 2"/>
          <p:cNvSpPr>
            <a:spLocks noGrp="1"/>
          </p:cNvSpPr>
          <p:nvPr>
            <p:ph idx="1"/>
          </p:nvPr>
        </p:nvSpPr>
        <p:spPr/>
        <p:txBody>
          <a:bodyPr>
            <a:normAutofit lnSpcReduction="10000"/>
          </a:bodyPr>
          <a:lstStyle/>
          <a:p>
            <a:pPr>
              <a:lnSpc>
                <a:spcPct val="150000"/>
              </a:lnSpc>
            </a:pPr>
            <a:r>
              <a:rPr lang="en-US" altLang="zh-CN" dirty="0"/>
              <a:t>C</a:t>
            </a:r>
            <a:r>
              <a:rPr lang="en-US" dirty="0"/>
              <a:t>rystal symmetry </a:t>
            </a:r>
            <a:r>
              <a:rPr lang="en-US" altLang="zh-CN" dirty="0"/>
              <a:t>includes </a:t>
            </a:r>
            <a:r>
              <a:rPr lang="en-US" dirty="0"/>
              <a:t>macroscopic symmetry and microscopic symmetry. </a:t>
            </a:r>
          </a:p>
          <a:p>
            <a:pPr>
              <a:lnSpc>
                <a:spcPct val="150000"/>
              </a:lnSpc>
            </a:pPr>
            <a:r>
              <a:rPr lang="en-US" dirty="0"/>
              <a:t>The former refers to the shape symmetry of the crystals (ideal) , the later refers to the microstructure symmetry of the crystals or the symmetry of the internal structure.</a:t>
            </a:r>
          </a:p>
          <a:p>
            <a:pPr>
              <a:lnSpc>
                <a:spcPct val="150000"/>
              </a:lnSpc>
            </a:pPr>
            <a:endParaRPr lang="en-US" dirty="0"/>
          </a:p>
        </p:txBody>
      </p:sp>
    </p:spTree>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lstStyle/>
          <a:p>
            <a:r>
              <a:rPr lang="en-US" dirty="0"/>
              <a:t>The macroscopic symmetry is the embodiment of the microscopic symmetry in the crystal shape</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8796" y="3409350"/>
            <a:ext cx="2365638" cy="208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xinsrc_58212051108584538370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674" y="3409350"/>
            <a:ext cx="2330801" cy="20038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8"/>
          <p:cNvSpPr>
            <a:spLocks noChangeArrowheads="1"/>
          </p:cNvSpPr>
          <p:nvPr/>
        </p:nvSpPr>
        <p:spPr bwMode="auto">
          <a:xfrm>
            <a:off x="6012160" y="5926144"/>
            <a:ext cx="10593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20000"/>
              </a:spcBef>
            </a:pPr>
            <a:r>
              <a:rPr lang="en-US" altLang="zh-CN" sz="3200" dirty="0">
                <a:solidFill>
                  <a:srgbClr val="FF0000"/>
                </a:solidFill>
                <a:latin typeface="+mn-lt"/>
                <a:ea typeface="+mn-ea"/>
              </a:rPr>
              <a:t>Beryl</a:t>
            </a:r>
            <a:endParaRPr lang="zh-CN" altLang="en-US" sz="3200" dirty="0">
              <a:solidFill>
                <a:srgbClr val="FF0000"/>
              </a:solidFill>
              <a:latin typeface="+mn-lt"/>
              <a:ea typeface="+mn-ea"/>
            </a:endParaRPr>
          </a:p>
        </p:txBody>
      </p:sp>
      <p:sp>
        <p:nvSpPr>
          <p:cNvPr id="7" name="Rectangle 9"/>
          <p:cNvSpPr>
            <a:spLocks noChangeArrowheads="1"/>
          </p:cNvSpPr>
          <p:nvPr/>
        </p:nvSpPr>
        <p:spPr bwMode="auto">
          <a:xfrm>
            <a:off x="1070224" y="5895366"/>
            <a:ext cx="19672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20000"/>
              </a:spcBef>
            </a:pPr>
            <a:r>
              <a:rPr lang="en-US" altLang="zh-CN" sz="3200" dirty="0">
                <a:solidFill>
                  <a:srgbClr val="FF0000"/>
                </a:solidFill>
                <a:latin typeface="+mn-lt"/>
                <a:ea typeface="+mn-ea"/>
              </a:rPr>
              <a:t>Snowflake</a:t>
            </a:r>
            <a:endParaRPr lang="zh-CN" altLang="en-US" sz="3200" dirty="0">
              <a:solidFill>
                <a:srgbClr val="FF0000"/>
              </a:solidFill>
              <a:latin typeface="+mn-lt"/>
              <a:ea typeface="+mn-ea"/>
            </a:endParaRPr>
          </a:p>
        </p:txBody>
      </p:sp>
      <p:sp>
        <p:nvSpPr>
          <p:cNvPr id="8" name="Hexagon 7"/>
          <p:cNvSpPr/>
          <p:nvPr/>
        </p:nvSpPr>
        <p:spPr>
          <a:xfrm>
            <a:off x="1865782" y="4286658"/>
            <a:ext cx="288727" cy="248903"/>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289631" y="4411268"/>
            <a:ext cx="352839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8219" y="3213113"/>
            <a:ext cx="1706166" cy="2477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3995936" y="2924944"/>
            <a:ext cx="4968552" cy="29354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6660232" y="4191866"/>
            <a:ext cx="360040" cy="438486"/>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Macroscopic symmetry element in crystals</a:t>
            </a:r>
          </a:p>
        </p:txBody>
      </p:sp>
      <p:graphicFrame>
        <p:nvGraphicFramePr>
          <p:cNvPr id="20" name="Group 3"/>
          <p:cNvGraphicFramePr>
            <a:graphicFrameLocks noGrp="1"/>
          </p:cNvGraphicFramePr>
          <p:nvPr/>
        </p:nvGraphicFramePr>
        <p:xfrm>
          <a:off x="250824" y="1825109"/>
          <a:ext cx="8713664" cy="3908147"/>
        </p:xfrm>
        <a:graphic>
          <a:graphicData uri="http://schemas.openxmlformats.org/drawingml/2006/table">
            <a:tbl>
              <a:tblPr>
                <a:effectLst/>
              </a:tblPr>
              <a:tblGrid>
                <a:gridCol w="230495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gridCol w="2592288">
                  <a:extLst>
                    <a:ext uri="{9D8B030D-6E8A-4147-A177-3AD203B41FA5}">
                      <a16:colId xmlns:a16="http://schemas.microsoft.com/office/drawing/2014/main" val="20003"/>
                    </a:ext>
                  </a:extLst>
                </a:gridCol>
              </a:tblGrid>
              <a:tr h="892586">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Symmetry</a:t>
                      </a: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 Elements </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International Symbols</a:t>
                      </a:r>
                      <a:endParaRPr lang="zh-CN" altLang="en-US" sz="1800" b="1"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Symmetry </a:t>
                      </a: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Operations</a:t>
                      </a:r>
                      <a:endParaRPr lang="zh-CN" altLang="en-US" sz="1800" b="1"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Equivalent Elements /Compositions</a:t>
                      </a:r>
                      <a:endParaRPr lang="zh-CN" altLang="en-US" sz="1800" b="1"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3176">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 Symmetry center</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err="1">
                          <a:solidFill>
                            <a:schemeClr val="tx1"/>
                          </a:solidFill>
                          <a:latin typeface="+mn-lt"/>
                          <a:ea typeface="+mn-ea"/>
                          <a:cs typeface="+mn-cs"/>
                        </a:rPr>
                        <a:t>i</a:t>
                      </a:r>
                      <a:endParaRPr lang="en-US"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0" i="0" kern="1200" dirty="0">
                          <a:solidFill>
                            <a:schemeClr val="tx1"/>
                          </a:solidFill>
                          <a:latin typeface="+mn-lt"/>
                          <a:ea typeface="+mn-ea"/>
                          <a:cs typeface="+mn-cs"/>
                        </a:rPr>
                        <a:t>I</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en-US" sz="1800" b="0" i="0" kern="1200" dirty="0">
                          <a:solidFill>
                            <a:schemeClr val="tx1"/>
                          </a:solidFill>
                          <a:latin typeface="Arial" panose="020B0604020202020204" pitchFamily="34" charset="0"/>
                          <a:ea typeface="+mn-ea"/>
                          <a:cs typeface="+mn-cs"/>
                          <a:sym typeface="Symbol" panose="05050102010706020507"/>
                        </a:rPr>
                        <a:t>1</a:t>
                      </a:r>
                      <a:endParaRPr lang="en-US" altLang="en-US" sz="1800" b="0" i="0" kern="1200" dirty="0">
                        <a:solidFill>
                          <a:schemeClr val="tx1"/>
                        </a:solidFill>
                        <a:latin typeface="Arial" panose="020B0604020202020204" pitchFamily="34" charset="0"/>
                        <a:ea typeface="+mn-ea"/>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034">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Mirror plane</a:t>
                      </a:r>
                      <a:endParaRPr lang="en-US" altLang="zh-CN"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0" i="0" kern="1200" dirty="0">
                          <a:solidFill>
                            <a:schemeClr val="tx1"/>
                          </a:solidFill>
                          <a:latin typeface="+mn-lt"/>
                          <a:ea typeface="+mn-ea"/>
                          <a:cs typeface="+mn-cs"/>
                        </a:rPr>
                        <a:t>M</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en-US" sz="1800" b="0" i="0" kern="1200" dirty="0">
                          <a:solidFill>
                            <a:schemeClr val="tx1"/>
                          </a:solidFill>
                          <a:latin typeface="Arial" panose="020B0604020202020204" pitchFamily="34" charset="0"/>
                          <a:ea typeface="+mn-ea"/>
                          <a:cs typeface="+mn-cs"/>
                          <a:sym typeface="Symbol" panose="05050102010706020507"/>
                        </a:rPr>
                        <a:t>2</a:t>
                      </a:r>
                      <a:endParaRPr lang="en-US" altLang="en-US" sz="1800" b="0" i="0" kern="1200" dirty="0">
                        <a:solidFill>
                          <a:schemeClr val="tx1"/>
                        </a:solidFill>
                        <a:latin typeface="Arial" panose="020B0604020202020204" pitchFamily="34" charset="0"/>
                        <a:ea typeface="+mn-ea"/>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7034">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1-fold rotation axis</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0" i="0" kern="1200" dirty="0">
                          <a:solidFill>
                            <a:schemeClr val="tx1"/>
                          </a:solidFill>
                          <a:latin typeface="+mn-lt"/>
                          <a:ea typeface="+mn-ea"/>
                          <a:cs typeface="+mn-cs"/>
                        </a:rPr>
                        <a:t>L(0°)</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en-US" sz="1800" b="0"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7034">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2-fold rotation axis</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zh-CN" sz="1800" b="0" i="0" kern="1200" dirty="0">
                          <a:solidFill>
                            <a:schemeClr val="tx1"/>
                          </a:solidFill>
                          <a:latin typeface="+mn-lt"/>
                          <a:ea typeface="+mn-ea"/>
                          <a:cs typeface="+mn-cs"/>
                        </a:rPr>
                        <a:t>L(180°)</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en-US" sz="1800" b="0"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44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3-fold rotation axis</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zh-CN" sz="1800" b="0" i="0" kern="1200" dirty="0">
                          <a:solidFill>
                            <a:schemeClr val="tx1"/>
                          </a:solidFill>
                          <a:latin typeface="+mn-lt"/>
                          <a:ea typeface="+mn-ea"/>
                          <a:cs typeface="+mn-cs"/>
                        </a:rPr>
                        <a:t>L(120°)</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en-US" sz="1800" b="0" i="0" kern="1200" dirty="0">
                          <a:solidFill>
                            <a:schemeClr val="tx1"/>
                          </a:solidFill>
                          <a:latin typeface="+mn-lt"/>
                          <a:ea typeface="+mn-ea"/>
                          <a:cs typeface="+mn-cs"/>
                        </a:rPr>
                        <a:t>3+i=</a:t>
                      </a:r>
                      <a:r>
                        <a:rPr lang="en-US" altLang="en-US" sz="1800" b="0" i="0" kern="1200" dirty="0">
                          <a:solidFill>
                            <a:schemeClr val="tx1"/>
                          </a:solidFill>
                          <a:latin typeface="+mn-lt"/>
                          <a:ea typeface="+mn-ea"/>
                          <a:cs typeface="+mn-cs"/>
                          <a:sym typeface="Symbol" panose="05050102010706020507"/>
                        </a:rPr>
                        <a:t>3;  3+m=6</a:t>
                      </a:r>
                      <a:endParaRPr lang="en-US"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7034">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4-fold rotation axis</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zh-CN" sz="1800" b="0" i="0" kern="1200" dirty="0">
                          <a:solidFill>
                            <a:schemeClr val="tx1"/>
                          </a:solidFill>
                          <a:latin typeface="+mn-lt"/>
                          <a:ea typeface="+mn-ea"/>
                          <a:cs typeface="+mn-cs"/>
                        </a:rPr>
                        <a:t>L(90°)</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en-US" sz="1800" b="0"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3823">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a:solidFill>
                            <a:schemeClr val="tx1"/>
                          </a:solidFill>
                          <a:latin typeface="+mn-lt"/>
                          <a:ea typeface="+mn-ea"/>
                          <a:cs typeface="+mn-cs"/>
                        </a:rPr>
                        <a:t>6-fold rotation axis</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zh-CN" sz="1800" b="0" i="0" kern="1200" dirty="0">
                          <a:solidFill>
                            <a:schemeClr val="tx1"/>
                          </a:solidFill>
                          <a:latin typeface="+mn-lt"/>
                          <a:ea typeface="+mn-ea"/>
                          <a:cs typeface="+mn-cs"/>
                        </a:rPr>
                        <a:t>L(60°)</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en-US" sz="1800" b="0"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9762">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1800" b="1" kern="1200" dirty="0">
                          <a:solidFill>
                            <a:schemeClr val="tx1"/>
                          </a:solidFill>
                          <a:latin typeface="+mn-lt"/>
                          <a:ea typeface="+mn-ea"/>
                          <a:cs typeface="+mn-cs"/>
                        </a:rPr>
                        <a:t>4-fold inversion axis</a:t>
                      </a:r>
                      <a:endParaRPr lang="zh-CN" altLang="en-US" sz="1800" b="1"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en-US" sz="1800" b="0" i="0" kern="1200" dirty="0">
                          <a:solidFill>
                            <a:schemeClr val="tx1"/>
                          </a:solidFill>
                          <a:latin typeface="+mn-lt"/>
                          <a:ea typeface="+mn-ea"/>
                          <a:cs typeface="+mn-cs"/>
                          <a:sym typeface="Symbol" panose="05050102010706020507"/>
                        </a:rPr>
                        <a:t>4</a:t>
                      </a:r>
                      <a:endParaRPr lang="en-US"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lang="en-US" altLang="zh-CN" sz="1800" b="0" i="0" kern="1200" dirty="0">
                          <a:solidFill>
                            <a:schemeClr val="tx1"/>
                          </a:solidFill>
                          <a:latin typeface="+mn-lt"/>
                          <a:ea typeface="+mn-ea"/>
                          <a:cs typeface="+mn-cs"/>
                        </a:rPr>
                        <a:t>L(90°) &amp; I</a:t>
                      </a:r>
                      <a:endParaRPr lang="zh-CN" altLang="en-US" sz="1800" b="0" i="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en-US" sz="1800" b="0" i="0" u="none" strike="noStrike" kern="1200"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Combination of macroscopic symmetry elements</a:t>
            </a:r>
          </a:p>
        </p:txBody>
      </p:sp>
      <p:sp>
        <p:nvSpPr>
          <p:cNvPr id="3" name="Content Placeholder 2"/>
          <p:cNvSpPr>
            <a:spLocks noGrp="1"/>
          </p:cNvSpPr>
          <p:nvPr>
            <p:ph idx="1"/>
          </p:nvPr>
        </p:nvSpPr>
        <p:spPr/>
        <p:txBody>
          <a:bodyPr>
            <a:normAutofit lnSpcReduction="10000"/>
          </a:bodyPr>
          <a:lstStyle/>
          <a:p>
            <a:r>
              <a:rPr lang="en-US" dirty="0"/>
              <a:t>There are </a:t>
            </a:r>
            <a:r>
              <a:rPr lang="en-US" dirty="0">
                <a:solidFill>
                  <a:srgbClr val="FF0000"/>
                </a:solidFill>
              </a:rPr>
              <a:t>eight</a:t>
            </a:r>
            <a:r>
              <a:rPr lang="en-US" dirty="0"/>
              <a:t> kinds of independent macroscopic symmetry elements in crystals.</a:t>
            </a:r>
          </a:p>
          <a:p>
            <a:endParaRPr lang="en-US" dirty="0"/>
          </a:p>
          <a:p>
            <a:r>
              <a:rPr lang="en-US" dirty="0"/>
              <a:t>However  in a crystal, there can be only </a:t>
            </a:r>
            <a:r>
              <a:rPr lang="en-US" dirty="0">
                <a:solidFill>
                  <a:srgbClr val="FF0000"/>
                </a:solidFill>
              </a:rPr>
              <a:t>one independent </a:t>
            </a:r>
            <a:r>
              <a:rPr lang="en-US" dirty="0"/>
              <a:t>macroscopic symmetry element or </a:t>
            </a:r>
            <a:r>
              <a:rPr lang="en-US" altLang="zh-CN" dirty="0"/>
              <a:t>a </a:t>
            </a:r>
            <a:r>
              <a:rPr lang="en-US" dirty="0">
                <a:solidFill>
                  <a:srgbClr val="FF0000"/>
                </a:solidFill>
              </a:rPr>
              <a:t>combined </a:t>
            </a:r>
            <a:r>
              <a:rPr lang="en-US" dirty="0"/>
              <a:t>macroscopic symmetry element based on several symmetry elements according to the combination procedure and laws.</a:t>
            </a:r>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Combination of macroscopic symmetry elements</a:t>
            </a:r>
          </a:p>
        </p:txBody>
      </p:sp>
      <p:sp>
        <p:nvSpPr>
          <p:cNvPr id="3" name="Content Placeholder 2"/>
          <p:cNvSpPr>
            <a:spLocks noGrp="1"/>
          </p:cNvSpPr>
          <p:nvPr>
            <p:ph idx="1"/>
          </p:nvPr>
        </p:nvSpPr>
        <p:spPr/>
        <p:txBody>
          <a:bodyPr>
            <a:normAutofit/>
          </a:bodyPr>
          <a:lstStyle/>
          <a:p>
            <a:pPr marL="0" indent="0">
              <a:buNone/>
            </a:pPr>
            <a:r>
              <a:rPr lang="en-US" b="1" dirty="0"/>
              <a:t>The combination of macroscopic symmetry elements follows two restrictions as below：</a:t>
            </a:r>
          </a:p>
          <a:p>
            <a:pPr marL="514350" indent="-514350">
              <a:buFont typeface="+mj-lt"/>
              <a:buAutoNum type="arabicParenR"/>
            </a:pPr>
            <a:r>
              <a:rPr lang="en-US" sz="2800" dirty="0"/>
              <a:t>The polyhedral shape of crystals is a limited pattern, so the combination of symmetry elements must pass through a common point, namely </a:t>
            </a:r>
            <a:r>
              <a:rPr lang="en-US" sz="2800" dirty="0">
                <a:solidFill>
                  <a:srgbClr val="FF0000"/>
                </a:solidFill>
              </a:rPr>
              <a:t>the center of crystals</a:t>
            </a:r>
            <a:r>
              <a:rPr lang="en-US" sz="2800" dirty="0"/>
              <a:t>.</a:t>
            </a:r>
          </a:p>
          <a:p>
            <a:pPr marL="514350" indent="-514350">
              <a:buFont typeface="+mj-lt"/>
              <a:buAutoNum type="arabicParenR"/>
            </a:pPr>
            <a:r>
              <a:rPr lang="en-US" sz="2800" dirty="0"/>
              <a:t>Those symmetry elements, incompatible with the lattice structure, such as 5,7, et al., are not allowed to generated for any combinations.</a:t>
            </a:r>
          </a:p>
          <a:p>
            <a:pPr marL="514350" indent="-514350">
              <a:buFont typeface="+mj-lt"/>
              <a:buAutoNum type="arabicParenR"/>
            </a:pPr>
            <a:endParaRPr lang="en-US" sz="2800" dirty="0"/>
          </a:p>
          <a:p>
            <a:endParaRPr lang="en-US" dirty="0"/>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Combination of macroscopic symmetry elements</a:t>
            </a:r>
          </a:p>
        </p:txBody>
      </p:sp>
      <p:sp>
        <p:nvSpPr>
          <p:cNvPr id="3" name="Content Placeholder 2"/>
          <p:cNvSpPr>
            <a:spLocks noGrp="1"/>
          </p:cNvSpPr>
          <p:nvPr>
            <p:ph idx="1"/>
          </p:nvPr>
        </p:nvSpPr>
        <p:spPr/>
        <p:txBody>
          <a:bodyPr>
            <a:normAutofit/>
          </a:bodyPr>
          <a:lstStyle/>
          <a:p>
            <a:pPr marL="0" indent="0">
              <a:buNone/>
            </a:pPr>
            <a:r>
              <a:rPr lang="en-US" b="1" dirty="0"/>
              <a:t>Combination Procedures：</a:t>
            </a:r>
          </a:p>
          <a:p>
            <a:pPr marL="514350" indent="-514350">
              <a:buFont typeface="+mj-lt"/>
              <a:buAutoNum type="arabicParenR"/>
            </a:pPr>
            <a:r>
              <a:rPr lang="en-US" sz="2800" dirty="0"/>
              <a:t>Combine one symmetry axis with another symmetry axis;</a:t>
            </a:r>
          </a:p>
          <a:p>
            <a:pPr marL="514350" indent="-514350">
              <a:buFont typeface="+mj-lt"/>
              <a:buAutoNum type="arabicParenR"/>
            </a:pPr>
            <a:r>
              <a:rPr lang="en-US" sz="2800" dirty="0"/>
              <a:t>Then conduct the combination between symmetry axis and symmetry plane upon the first step;</a:t>
            </a:r>
          </a:p>
          <a:p>
            <a:pPr marL="514350" indent="-514350">
              <a:buFont typeface="+mj-lt"/>
              <a:buAutoNum type="arabicParenR"/>
            </a:pPr>
            <a:r>
              <a:rPr lang="en-US" sz="2800" dirty="0"/>
              <a:t>Finally realize the combination of symmetry axis, symmetry plane and symmetry center.</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Combination of macroscopic symmetry elements</a:t>
            </a:r>
          </a:p>
        </p:txBody>
      </p:sp>
      <p:sp>
        <p:nvSpPr>
          <p:cNvPr id="3" name="Content Placeholder 2"/>
          <p:cNvSpPr>
            <a:spLocks noGrp="1"/>
          </p:cNvSpPr>
          <p:nvPr>
            <p:ph idx="1"/>
          </p:nvPr>
        </p:nvSpPr>
        <p:spPr/>
        <p:txBody>
          <a:bodyPr>
            <a:normAutofit/>
          </a:bodyPr>
          <a:lstStyle/>
          <a:p>
            <a:pPr marL="0" indent="0">
              <a:buNone/>
            </a:pPr>
            <a:r>
              <a:rPr lang="en-US" dirty="0"/>
              <a:t>According to above combination procedures and restrictions, 32 kinds of symmetric elements can be got, namely the 32 crystallographic point groups.</a:t>
            </a:r>
          </a:p>
          <a:p>
            <a:pPr marL="0" indent="0">
              <a:buNone/>
            </a:pPr>
            <a:endParaRPr lang="en-US" dirty="0"/>
          </a:p>
          <a:p>
            <a:pPr marL="0" indent="0">
              <a:buNone/>
            </a:pPr>
            <a:r>
              <a:rPr lang="en-US" dirty="0"/>
              <a:t>(There are only 32 crystallographic lattices, although the crystal shapes are diverse in nature.)</a:t>
            </a: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Symmetry elements of 32 crystallographic point groups</a:t>
            </a:r>
          </a:p>
        </p:txBody>
      </p:sp>
      <p:pic>
        <p:nvPicPr>
          <p:cNvPr id="5" name="Picture 4"/>
          <p:cNvPicPr>
            <a:picLocks noChangeAspect="1"/>
          </p:cNvPicPr>
          <p:nvPr/>
        </p:nvPicPr>
        <p:blipFill>
          <a:blip r:embed="rId2"/>
          <a:stretch>
            <a:fillRect/>
          </a:stretch>
        </p:blipFill>
        <p:spPr>
          <a:xfrm>
            <a:off x="341480" y="1452501"/>
            <a:ext cx="8389498" cy="5250702"/>
          </a:xfrm>
          <a:prstGeom prst="rect">
            <a:avLst/>
          </a:prstGeom>
        </p:spPr>
      </p:pic>
      <p:sp>
        <p:nvSpPr>
          <p:cNvPr id="6" name="Rectangle 5"/>
          <p:cNvSpPr/>
          <p:nvPr/>
        </p:nvSpPr>
        <p:spPr>
          <a:xfrm>
            <a:off x="341480" y="2100574"/>
            <a:ext cx="8371546" cy="792088"/>
          </a:xfrm>
          <a:prstGeom prst="rect">
            <a:avLst/>
          </a:prstGeom>
          <a:solidFill>
            <a:srgbClr val="F5C201">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41480" y="4692860"/>
            <a:ext cx="8374792" cy="2010343"/>
          </a:xfrm>
          <a:prstGeom prst="rect">
            <a:avLst/>
          </a:prstGeom>
          <a:solidFill>
            <a:srgbClr val="00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26774" y="3756756"/>
            <a:ext cx="8386252" cy="936103"/>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46349" y="2856658"/>
            <a:ext cx="8386252" cy="936103"/>
          </a:xfrm>
          <a:prstGeom prst="rect">
            <a:avLst/>
          </a:prstGeom>
          <a:solidFill>
            <a:schemeClr val="tx1">
              <a:lumMod val="50000"/>
              <a:lumOff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Symmetry elements of 32 crystallographic point groups</a:t>
            </a:r>
          </a:p>
        </p:txBody>
      </p:sp>
      <p:pic>
        <p:nvPicPr>
          <p:cNvPr id="10" name="Picture 9"/>
          <p:cNvPicPr>
            <a:picLocks noChangeAspect="1"/>
          </p:cNvPicPr>
          <p:nvPr/>
        </p:nvPicPr>
        <p:blipFill>
          <a:blip r:embed="rId2"/>
          <a:stretch>
            <a:fillRect/>
          </a:stretch>
        </p:blipFill>
        <p:spPr>
          <a:xfrm>
            <a:off x="527139" y="1410785"/>
            <a:ext cx="8136904" cy="5474599"/>
          </a:xfrm>
          <a:prstGeom prst="rect">
            <a:avLst/>
          </a:prstGeom>
        </p:spPr>
      </p:pic>
      <p:sp>
        <p:nvSpPr>
          <p:cNvPr id="11" name="Rectangle 10"/>
          <p:cNvSpPr/>
          <p:nvPr/>
        </p:nvSpPr>
        <p:spPr>
          <a:xfrm>
            <a:off x="527139" y="2100509"/>
            <a:ext cx="8136904" cy="3270715"/>
          </a:xfrm>
          <a:prstGeom prst="rect">
            <a:avLst/>
          </a:prstGeom>
          <a:solidFill>
            <a:srgbClr val="00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7139" y="5371224"/>
            <a:ext cx="8136904" cy="1514160"/>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Characteristic symmetry elements</a:t>
            </a:r>
          </a:p>
        </p:txBody>
      </p:sp>
      <p:sp>
        <p:nvSpPr>
          <p:cNvPr id="3" name="Content Placeholder 2"/>
          <p:cNvSpPr>
            <a:spLocks noGrp="1"/>
          </p:cNvSpPr>
          <p:nvPr>
            <p:ph idx="1"/>
          </p:nvPr>
        </p:nvSpPr>
        <p:spPr/>
        <p:txBody>
          <a:bodyPr/>
          <a:lstStyle/>
          <a:p>
            <a:r>
              <a:rPr kumimoji="1" lang="en-US" altLang="zh-CN" dirty="0">
                <a:ea typeface="黑体" panose="02010609060101010101" pitchFamily="49" charset="-122"/>
                <a:cs typeface="Times New Roman" panose="02020603050405020304" pitchFamily="18" charset="0"/>
              </a:rPr>
              <a:t>Among </a:t>
            </a:r>
            <a:r>
              <a:rPr lang="en-US" altLang="zh-CN" dirty="0">
                <a:cs typeface="Times New Roman" panose="02020603050405020304" pitchFamily="18" charset="0"/>
              </a:rPr>
              <a:t>32 point groups, </a:t>
            </a:r>
            <a:r>
              <a:rPr kumimoji="1" lang="en-US" altLang="zh-CN" dirty="0">
                <a:ea typeface="黑体" panose="02010609060101010101" pitchFamily="49" charset="-122"/>
                <a:cs typeface="Times New Roman" panose="02020603050405020304" pitchFamily="18" charset="0"/>
              </a:rPr>
              <a:t>some point groups contain the </a:t>
            </a:r>
            <a:r>
              <a:rPr kumimoji="1" lang="en-US" altLang="zh-CN" dirty="0">
                <a:solidFill>
                  <a:srgbClr val="C00000"/>
                </a:solidFill>
                <a:ea typeface="黑体" panose="02010609060101010101" pitchFamily="49" charset="-122"/>
                <a:cs typeface="Times New Roman" panose="02020603050405020304" pitchFamily="18" charset="0"/>
              </a:rPr>
              <a:t>same symmetry elements</a:t>
            </a:r>
            <a:r>
              <a:rPr kumimoji="1" lang="en-US" altLang="zh-CN" dirty="0">
                <a:ea typeface="黑体" panose="02010609060101010101" pitchFamily="49" charset="-122"/>
                <a:cs typeface="Times New Roman" panose="02020603050405020304" pitchFamily="18" charset="0"/>
              </a:rPr>
              <a:t>, such as </a:t>
            </a:r>
            <a:r>
              <a:rPr kumimoji="1" lang="en-US" altLang="zh-CN" u="sng" dirty="0">
                <a:solidFill>
                  <a:srgbClr val="C00000"/>
                </a:solidFill>
                <a:ea typeface="黑体" panose="02010609060101010101" pitchFamily="49" charset="-122"/>
                <a:cs typeface="Times New Roman" panose="02020603050405020304" pitchFamily="18" charset="0"/>
              </a:rPr>
              <a:t>T, </a:t>
            </a:r>
            <a:r>
              <a:rPr kumimoji="1" lang="en-US" altLang="zh-CN" u="sng" dirty="0" err="1">
                <a:solidFill>
                  <a:srgbClr val="C00000"/>
                </a:solidFill>
                <a:ea typeface="黑体" panose="02010609060101010101" pitchFamily="49" charset="-122"/>
                <a:cs typeface="Times New Roman" panose="02020603050405020304" pitchFamily="18" charset="0"/>
              </a:rPr>
              <a:t>T</a:t>
            </a:r>
            <a:r>
              <a:rPr kumimoji="1" lang="en-US" altLang="zh-CN" u="sng" baseline="-20000" dirty="0" err="1">
                <a:solidFill>
                  <a:srgbClr val="C00000"/>
                </a:solidFill>
                <a:ea typeface="黑体" panose="02010609060101010101" pitchFamily="49" charset="-122"/>
                <a:cs typeface="Times New Roman" panose="02020603050405020304" pitchFamily="18" charset="0"/>
              </a:rPr>
              <a:t>h</a:t>
            </a:r>
            <a:r>
              <a:rPr kumimoji="1" lang="en-US" altLang="zh-CN" u="sng" dirty="0">
                <a:solidFill>
                  <a:srgbClr val="C00000"/>
                </a:solidFill>
                <a:ea typeface="黑体" panose="02010609060101010101" pitchFamily="49" charset="-122"/>
                <a:cs typeface="Times New Roman" panose="02020603050405020304" pitchFamily="18" charset="0"/>
              </a:rPr>
              <a:t>, T</a:t>
            </a:r>
            <a:r>
              <a:rPr kumimoji="1" lang="en-US" altLang="zh-CN" u="sng" baseline="-20000" dirty="0">
                <a:solidFill>
                  <a:srgbClr val="C00000"/>
                </a:solidFill>
                <a:ea typeface="黑体" panose="02010609060101010101" pitchFamily="49" charset="-122"/>
                <a:cs typeface="Times New Roman" panose="02020603050405020304" pitchFamily="18" charset="0"/>
              </a:rPr>
              <a:t>d</a:t>
            </a:r>
            <a:r>
              <a:rPr kumimoji="1" lang="en-US" altLang="zh-CN" u="sng" dirty="0">
                <a:solidFill>
                  <a:srgbClr val="C00000"/>
                </a:solidFill>
                <a:ea typeface="黑体" panose="02010609060101010101" pitchFamily="49" charset="-122"/>
                <a:cs typeface="Times New Roman" panose="02020603050405020304" pitchFamily="18" charset="0"/>
              </a:rPr>
              <a:t> ,O </a:t>
            </a:r>
            <a:r>
              <a:rPr kumimoji="1" lang="en-US" altLang="zh-CN" dirty="0">
                <a:solidFill>
                  <a:srgbClr val="C00000"/>
                </a:solidFill>
                <a:ea typeface="黑体" panose="02010609060101010101" pitchFamily="49" charset="-122"/>
                <a:cs typeface="Times New Roman" panose="02020603050405020304" pitchFamily="18" charset="0"/>
              </a:rPr>
              <a:t>and O</a:t>
            </a:r>
            <a:r>
              <a:rPr kumimoji="1" lang="en-US" altLang="zh-CN" sz="2400" dirty="0">
                <a:solidFill>
                  <a:srgbClr val="C00000"/>
                </a:solidFill>
                <a:ea typeface="黑体" panose="02010609060101010101" pitchFamily="49" charset="-122"/>
                <a:cs typeface="Times New Roman" panose="02020603050405020304" pitchFamily="18" charset="0"/>
              </a:rPr>
              <a:t>h</a:t>
            </a:r>
            <a:r>
              <a:rPr kumimoji="1" lang="en-US" altLang="zh-CN" dirty="0">
                <a:ea typeface="黑体" panose="02010609060101010101" pitchFamily="49" charset="-122"/>
                <a:cs typeface="Times New Roman" panose="02020603050405020304" pitchFamily="18" charset="0"/>
              </a:rPr>
              <a:t>, which have four 3-fold rotation axes; The point groups of C</a:t>
            </a:r>
            <a:r>
              <a:rPr kumimoji="1" lang="en-US" altLang="zh-CN" sz="2000" dirty="0">
                <a:ea typeface="黑体" panose="02010609060101010101" pitchFamily="49" charset="-122"/>
                <a:cs typeface="Times New Roman" panose="02020603050405020304" pitchFamily="18" charset="0"/>
              </a:rPr>
              <a:t>2v</a:t>
            </a:r>
            <a:r>
              <a:rPr kumimoji="1" lang="en-US" altLang="zh-CN" dirty="0">
                <a:ea typeface="黑体" panose="02010609060101010101" pitchFamily="49" charset="-122"/>
                <a:cs typeface="Times New Roman" panose="02020603050405020304" pitchFamily="18" charset="0"/>
              </a:rPr>
              <a:t>, D</a:t>
            </a:r>
            <a:r>
              <a:rPr kumimoji="1" lang="en-US" altLang="zh-CN" sz="1800" dirty="0">
                <a:ea typeface="黑体" panose="02010609060101010101" pitchFamily="49" charset="-122"/>
                <a:cs typeface="Times New Roman" panose="02020603050405020304" pitchFamily="18" charset="0"/>
              </a:rPr>
              <a:t>2</a:t>
            </a:r>
            <a:r>
              <a:rPr kumimoji="1" lang="en-US" altLang="zh-CN" dirty="0">
                <a:ea typeface="黑体" panose="02010609060101010101" pitchFamily="49" charset="-122"/>
                <a:cs typeface="Times New Roman" panose="02020603050405020304" pitchFamily="18" charset="0"/>
              </a:rPr>
              <a:t> and D</a:t>
            </a:r>
            <a:r>
              <a:rPr kumimoji="1" lang="en-US" altLang="zh-CN" sz="2000" dirty="0">
                <a:ea typeface="黑体" panose="02010609060101010101" pitchFamily="49" charset="-122"/>
                <a:cs typeface="Times New Roman" panose="02020603050405020304" pitchFamily="18" charset="0"/>
              </a:rPr>
              <a:t>2h</a:t>
            </a:r>
            <a:r>
              <a:rPr kumimoji="1" lang="en-US" altLang="zh-CN" dirty="0">
                <a:ea typeface="黑体" panose="02010609060101010101" pitchFamily="49" charset="-122"/>
                <a:cs typeface="Times New Roman" panose="02020603050405020304" pitchFamily="18" charset="0"/>
              </a:rPr>
              <a:t> all have two 2-fold rotation axes. </a:t>
            </a:r>
          </a:p>
          <a:p>
            <a:r>
              <a:rPr kumimoji="1" lang="en-US" altLang="zh-CN" dirty="0">
                <a:ea typeface="黑体" panose="02010609060101010101" pitchFamily="49" charset="-122"/>
                <a:cs typeface="Times New Roman" panose="02020603050405020304" pitchFamily="18" charset="0"/>
              </a:rPr>
              <a:t>So the commonly contained symmetry elements are, called the </a:t>
            </a:r>
            <a:r>
              <a:rPr kumimoji="1" lang="en-US" altLang="zh-CN" dirty="0">
                <a:solidFill>
                  <a:srgbClr val="C00000"/>
                </a:solidFill>
                <a:ea typeface="黑体" panose="02010609060101010101" pitchFamily="49" charset="-122"/>
                <a:cs typeface="Times New Roman" panose="02020603050405020304" pitchFamily="18" charset="0"/>
              </a:rPr>
              <a:t>characteristic symmetry elements</a:t>
            </a:r>
            <a:endParaRPr lang="en-US" dirty="0"/>
          </a:p>
        </p:txBody>
      </p:sp>
    </p:spTree>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Characteristic symmetry elements</a:t>
            </a:r>
          </a:p>
        </p:txBody>
      </p:sp>
      <p:sp>
        <p:nvSpPr>
          <p:cNvPr id="3" name="Content Placeholder 2"/>
          <p:cNvSpPr>
            <a:spLocks noGrp="1"/>
          </p:cNvSpPr>
          <p:nvPr>
            <p:ph idx="1"/>
          </p:nvPr>
        </p:nvSpPr>
        <p:spPr/>
        <p:txBody>
          <a:bodyPr>
            <a:normAutofit fontScale="92500"/>
          </a:bodyPr>
          <a:lstStyle/>
          <a:p>
            <a:r>
              <a:rPr lang="en-US" dirty="0"/>
              <a:t>The characteristic symmetry structure can be regarded as the </a:t>
            </a:r>
            <a:r>
              <a:rPr lang="en-US" b="1" dirty="0">
                <a:solidFill>
                  <a:srgbClr val="FF0000"/>
                </a:solidFill>
              </a:rPr>
              <a:t>evidence for the classification </a:t>
            </a:r>
            <a:r>
              <a:rPr lang="en-US" dirty="0"/>
              <a:t>of crystals. </a:t>
            </a:r>
          </a:p>
          <a:p>
            <a:r>
              <a:rPr lang="en-US" dirty="0"/>
              <a:t>Because it is very difficult to directly observe the internal microstructure of unit cells or small parallelepipeds of space lattice.</a:t>
            </a:r>
          </a:p>
          <a:p>
            <a:r>
              <a:rPr lang="en-US" dirty="0"/>
              <a:t>Instead, </a:t>
            </a:r>
            <a:r>
              <a:rPr lang="en-US" b="1" dirty="0">
                <a:solidFill>
                  <a:srgbClr val="FF0000"/>
                </a:solidFill>
              </a:rPr>
              <a:t>the characteristic symmetry elements</a:t>
            </a:r>
            <a:r>
              <a:rPr lang="en-US" dirty="0"/>
              <a:t>, which are their reflections on the whole crystal shapes, </a:t>
            </a:r>
            <a:r>
              <a:rPr lang="en-US" b="1" dirty="0">
                <a:solidFill>
                  <a:srgbClr val="FF0000"/>
                </a:solidFill>
              </a:rPr>
              <a:t>can be directly observed</a:t>
            </a:r>
            <a:r>
              <a:rPr lang="en-US" dirty="0"/>
              <a:t>.</a:t>
            </a:r>
          </a:p>
        </p:txBody>
      </p:sp>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48195" name="Group 3"/>
          <p:cNvGraphicFramePr>
            <a:graphicFrameLocks noGrp="1"/>
          </p:cNvGraphicFramePr>
          <p:nvPr>
            <p:ph sz="half" idx="2"/>
          </p:nvPr>
        </p:nvGraphicFramePr>
        <p:xfrm>
          <a:off x="323528" y="1916832"/>
          <a:ext cx="8568952" cy="3843840"/>
        </p:xfrm>
        <a:graphic>
          <a:graphicData uri="http://schemas.openxmlformats.org/drawingml/2006/table">
            <a:tbl>
              <a:tblPr/>
              <a:tblGrid>
                <a:gridCol w="3319219">
                  <a:extLst>
                    <a:ext uri="{9D8B030D-6E8A-4147-A177-3AD203B41FA5}">
                      <a16:colId xmlns:a16="http://schemas.microsoft.com/office/drawing/2014/main" val="20000"/>
                    </a:ext>
                  </a:extLst>
                </a:gridCol>
                <a:gridCol w="5249733">
                  <a:extLst>
                    <a:ext uri="{9D8B030D-6E8A-4147-A177-3AD203B41FA5}">
                      <a16:colId xmlns:a16="http://schemas.microsoft.com/office/drawing/2014/main" val="20001"/>
                    </a:ext>
                  </a:extLst>
                </a:gridCol>
              </a:tblGrid>
              <a:tr h="36955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algn="l"/>
                      <a:r>
                        <a:rPr lang="en-US" altLang="zh-CN" sz="20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Crystal System</a:t>
                      </a:r>
                      <a:endParaRPr lang="zh-CN" altLang="en-US" sz="20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lang="en-US" altLang="zh-CN" sz="20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Characteristic </a:t>
                      </a:r>
                      <a:r>
                        <a:rPr lang="zh-CN" altLang="en-US" sz="20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Symmetr</a:t>
                      </a:r>
                      <a:r>
                        <a:rPr lang="en-US" altLang="zh-CN" sz="20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y E</a:t>
                      </a:r>
                      <a:r>
                        <a:rPr lang="zh-CN" altLang="en-US" sz="2000" b="1" dirty="0">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lements </a:t>
                      </a:r>
                      <a:endParaRPr kumimoji="0" lang="zh-CN"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955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Triclinic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三斜</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None or only one inversion center</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955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Monoclinic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单斜</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One 2-fold axis or mirror plane</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17680">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Orthorhombic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正交</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Three perpendicular 2-fold axes or rotary-inversion axes</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17680">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Trigonal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三方</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One 3-fold axis or rotary-inversion axis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17680">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Tetragonal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四方</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One 4-fold axis or rotary-inversion axis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17680">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Hexagonal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六方</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kern="1200"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One 6-fold axis or rotary-inversion axis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5292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Cubic (</a:t>
                      </a:r>
                      <a:r>
                        <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立方</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Four 3-folds axes or rotary-inversion axes along space diagonals of unit cells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4" name="Title 1"/>
          <p:cNvSpPr>
            <a:spLocks noGrp="1"/>
          </p:cNvSpPr>
          <p:nvPr>
            <p:ph type="title"/>
          </p:nvPr>
        </p:nvSpPr>
        <p:spPr>
          <a:xfrm>
            <a:off x="457200" y="274638"/>
            <a:ext cx="8229600" cy="1143000"/>
          </a:xfrm>
        </p:spPr>
        <p:txBody>
          <a:bodyPr>
            <a:noAutofit/>
          </a:bodyPr>
          <a:lstStyle/>
          <a:p>
            <a:r>
              <a:rPr lang="en-US" sz="3600" dirty="0"/>
              <a:t>Characteristic symmetry elements of seven crystal systems </a:t>
            </a: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nvGraphicFramePr>
        <p:xfrm>
          <a:off x="323529" y="2019954"/>
          <a:ext cx="8496944" cy="3785310"/>
        </p:xfrm>
        <a:graphic>
          <a:graphicData uri="http://schemas.openxmlformats.org/drawingml/2006/table">
            <a:tbl>
              <a:tblPr firstRow="1" bandRow="1">
                <a:tableStyleId>{F5AB1C69-6EDB-4FF4-983F-18BD219EF322}</a:tableStyleId>
              </a:tblPr>
              <a:tblGrid>
                <a:gridCol w="1397018">
                  <a:extLst>
                    <a:ext uri="{9D8B030D-6E8A-4147-A177-3AD203B41FA5}">
                      <a16:colId xmlns:a16="http://schemas.microsoft.com/office/drawing/2014/main" val="20000"/>
                    </a:ext>
                  </a:extLst>
                </a:gridCol>
                <a:gridCol w="2338910">
                  <a:extLst>
                    <a:ext uri="{9D8B030D-6E8A-4147-A177-3AD203B41FA5}">
                      <a16:colId xmlns:a16="http://schemas.microsoft.com/office/drawing/2014/main" val="20001"/>
                    </a:ext>
                  </a:extLst>
                </a:gridCol>
                <a:gridCol w="909576">
                  <a:extLst>
                    <a:ext uri="{9D8B030D-6E8A-4147-A177-3AD203B41FA5}">
                      <a16:colId xmlns:a16="http://schemas.microsoft.com/office/drawing/2014/main" val="20002"/>
                    </a:ext>
                  </a:extLst>
                </a:gridCol>
                <a:gridCol w="3851440">
                  <a:extLst>
                    <a:ext uri="{9D8B030D-6E8A-4147-A177-3AD203B41FA5}">
                      <a16:colId xmlns:a16="http://schemas.microsoft.com/office/drawing/2014/main" val="20003"/>
                    </a:ext>
                  </a:extLst>
                </a:gridCol>
              </a:tblGrid>
              <a:tr h="828750">
                <a:tc>
                  <a:txBody>
                    <a:bodyPr/>
                    <a:lstStyle/>
                    <a:p>
                      <a:pPr algn="ctr"/>
                      <a:r>
                        <a:rPr lang="en-US" altLang="zh-CN" sz="1600" dirty="0">
                          <a:solidFill>
                            <a:schemeClr val="tx1"/>
                          </a:solidFill>
                          <a:latin typeface="+mn-lt"/>
                        </a:rPr>
                        <a:t>Crystal</a:t>
                      </a:r>
                      <a:r>
                        <a:rPr lang="en-US" altLang="zh-CN" sz="1600" baseline="0" dirty="0">
                          <a:solidFill>
                            <a:schemeClr val="tx1"/>
                          </a:solidFill>
                          <a:latin typeface="+mn-lt"/>
                        </a:rPr>
                        <a:t> system</a:t>
                      </a:r>
                      <a:endParaRPr lang="zh-CN" altLang="en-US" sz="1600" dirty="0">
                        <a:solidFill>
                          <a:schemeClr val="tx1"/>
                        </a:solidFill>
                        <a:latin typeface="+mn-lt"/>
                      </a:endParaRPr>
                    </a:p>
                  </a:txBody>
                  <a:tcPr anchor="ctr">
                    <a:solidFill>
                      <a:schemeClr val="bg1">
                        <a:lumMod val="85000"/>
                      </a:schemeClr>
                    </a:solidFill>
                  </a:tcPr>
                </a:tc>
                <a:tc>
                  <a:txBody>
                    <a:bodyPr/>
                    <a:lstStyle/>
                    <a:p>
                      <a:pPr algn="ctr"/>
                      <a:r>
                        <a:rPr lang="en-US" altLang="zh-CN" sz="1600" kern="1200" dirty="0">
                          <a:solidFill>
                            <a:schemeClr val="tx1"/>
                          </a:solidFill>
                          <a:effectLst/>
                          <a:latin typeface="+mn-lt"/>
                        </a:rPr>
                        <a:t>Characteristic symmetric element</a:t>
                      </a:r>
                      <a:endParaRPr lang="zh-CN" altLang="en-US" sz="1600" dirty="0">
                        <a:solidFill>
                          <a:schemeClr val="tx1"/>
                        </a:solidFill>
                        <a:latin typeface="+mn-lt"/>
                      </a:endParaRPr>
                    </a:p>
                  </a:txBody>
                  <a:tcPr anchor="ctr">
                    <a:solidFill>
                      <a:schemeClr val="bg1">
                        <a:lumMod val="85000"/>
                      </a:schemeClr>
                    </a:solidFill>
                  </a:tcPr>
                </a:tc>
                <a:tc>
                  <a:txBody>
                    <a:bodyPr/>
                    <a:lstStyle/>
                    <a:p>
                      <a:pPr algn="ctr"/>
                      <a:r>
                        <a:rPr lang="en-US" altLang="zh-CN" sz="1600" dirty="0">
                          <a:solidFill>
                            <a:schemeClr val="tx1"/>
                          </a:solidFill>
                          <a:latin typeface="+mn-lt"/>
                        </a:rPr>
                        <a:t>Cell type</a:t>
                      </a:r>
                      <a:endParaRPr lang="zh-CN" altLang="en-US" sz="1600" dirty="0">
                        <a:solidFill>
                          <a:schemeClr val="tx1"/>
                        </a:solidFill>
                        <a:latin typeface="+mn-lt"/>
                      </a:endParaRPr>
                    </a:p>
                  </a:txBody>
                  <a:tcPr anchor="ctr">
                    <a:solidFill>
                      <a:schemeClr val="bg1">
                        <a:lumMod val="85000"/>
                      </a:schemeClr>
                    </a:solidFill>
                  </a:tcPr>
                </a:tc>
                <a:tc>
                  <a:txBody>
                    <a:bodyPr/>
                    <a:lstStyle/>
                    <a:p>
                      <a:pPr algn="ctr"/>
                      <a:r>
                        <a:rPr lang="en-US" altLang="zh-CN" sz="1600" dirty="0">
                          <a:solidFill>
                            <a:schemeClr val="tx1"/>
                          </a:solidFill>
                          <a:latin typeface="+mn-lt"/>
                        </a:rPr>
                        <a:t>Methods</a:t>
                      </a:r>
                      <a:r>
                        <a:rPr lang="en-US" altLang="zh-CN" sz="1600" baseline="0" dirty="0">
                          <a:solidFill>
                            <a:schemeClr val="tx1"/>
                          </a:solidFill>
                          <a:latin typeface="+mn-lt"/>
                        </a:rPr>
                        <a:t> of selecting crystal axis</a:t>
                      </a:r>
                      <a:endParaRPr lang="zh-CN" altLang="en-US" sz="1600" dirty="0">
                        <a:solidFill>
                          <a:schemeClr val="tx1"/>
                        </a:solidFill>
                        <a:latin typeface="+mn-lt"/>
                      </a:endParaRPr>
                    </a:p>
                  </a:txBody>
                  <a:tcPr anchor="ctr">
                    <a:solidFill>
                      <a:schemeClr val="bg1">
                        <a:lumMod val="85000"/>
                      </a:schemeClr>
                    </a:solidFill>
                  </a:tcPr>
                </a:tc>
                <a:extLst>
                  <a:ext uri="{0D108BD9-81ED-4DB2-BD59-A6C34878D82A}">
                    <a16:rowId xmlns:a16="http://schemas.microsoft.com/office/drawing/2014/main" val="10000"/>
                  </a:ext>
                </a:extLst>
              </a:tr>
              <a:tr h="609440">
                <a:tc>
                  <a:txBody>
                    <a:bodyPr/>
                    <a:lstStyle/>
                    <a:p>
                      <a:pPr algn="ctr"/>
                      <a:r>
                        <a:rPr kumimoji="0" lang="en-US" altLang="zh-CN" sz="1600" u="none" strike="noStrike" cap="none" normalizeH="0" baseline="0" dirty="0">
                          <a:ln>
                            <a:noFill/>
                          </a:ln>
                          <a:solidFill>
                            <a:schemeClr val="tx1"/>
                          </a:solidFill>
                          <a:effectLst/>
                          <a:latin typeface="+mn-lt"/>
                        </a:rPr>
                        <a:t>Cubic</a:t>
                      </a:r>
                      <a:endParaRPr lang="zh-CN" altLang="en-US" sz="1600" dirty="0">
                        <a:solidFill>
                          <a:schemeClr val="tx1"/>
                        </a:solidFill>
                        <a:latin typeface="+mn-lt"/>
                      </a:endParaRPr>
                    </a:p>
                  </a:txBody>
                  <a:tcPr anchor="ctr">
                    <a:solidFill>
                      <a:schemeClr val="bg1">
                        <a:lumMod val="85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1600" u="none" strike="noStrike" cap="none" normalizeH="0" baseline="0" dirty="0">
                          <a:ln>
                            <a:noFill/>
                          </a:ln>
                          <a:solidFill>
                            <a:schemeClr val="tx1"/>
                          </a:solidFill>
                          <a:effectLst/>
                          <a:latin typeface="+mn-lt"/>
                        </a:rPr>
                        <a:t>Four 3-folds along space diagonal</a:t>
                      </a:r>
                      <a:endPar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anchor="ctr">
                    <a:solidFill>
                      <a:schemeClr val="bg1">
                        <a:lumMod val="85000"/>
                      </a:schemeClr>
                    </a:solidFill>
                  </a:tcPr>
                </a:tc>
                <a:tc>
                  <a:txBody>
                    <a:bodyPr/>
                    <a:lstStyle/>
                    <a:p>
                      <a:pPr algn="ctr"/>
                      <a:r>
                        <a:rPr lang="en-US" altLang="zh-CN" sz="1600" dirty="0">
                          <a:solidFill>
                            <a:schemeClr val="tx1"/>
                          </a:solidFill>
                          <a:latin typeface="+mn-lt"/>
                        </a:rPr>
                        <a:t>a=</a:t>
                      </a:r>
                      <a:r>
                        <a:rPr lang="en-US" altLang="zh-CN" sz="1600" baseline="0" dirty="0">
                          <a:solidFill>
                            <a:schemeClr val="tx1"/>
                          </a:solidFill>
                          <a:latin typeface="+mn-lt"/>
                        </a:rPr>
                        <a:t>b=c</a:t>
                      </a:r>
                    </a:p>
                    <a:p>
                      <a:pPr algn="ctr"/>
                      <a:r>
                        <a:rPr lang="el-GR" altLang="zh-CN" sz="1600" dirty="0">
                          <a:solidFill>
                            <a:schemeClr val="tx1"/>
                          </a:solidFill>
                          <a:latin typeface="+mn-lt"/>
                        </a:rPr>
                        <a:t>α</a:t>
                      </a:r>
                      <a:r>
                        <a:rPr lang="en-US" altLang="zh-CN" sz="1600" dirty="0">
                          <a:solidFill>
                            <a:schemeClr val="tx1"/>
                          </a:solidFill>
                          <a:latin typeface="+mn-lt"/>
                        </a:rPr>
                        <a:t>=</a:t>
                      </a:r>
                      <a:r>
                        <a:rPr lang="el-GR" altLang="zh-CN" sz="1600" dirty="0">
                          <a:solidFill>
                            <a:schemeClr val="tx1"/>
                          </a:solidFill>
                          <a:latin typeface="+mn-lt"/>
                        </a:rPr>
                        <a:t>β</a:t>
                      </a:r>
                      <a:r>
                        <a:rPr lang="en-US" altLang="zh-CN" sz="1600" dirty="0">
                          <a:solidFill>
                            <a:schemeClr val="tx1"/>
                          </a:solidFill>
                          <a:latin typeface="+mn-lt"/>
                        </a:rPr>
                        <a:t>=</a:t>
                      </a:r>
                      <a:r>
                        <a:rPr lang="el-GR" altLang="zh-CN" sz="1600" dirty="0">
                          <a:solidFill>
                            <a:schemeClr val="tx1"/>
                          </a:solidFill>
                          <a:latin typeface="+mn-lt"/>
                        </a:rPr>
                        <a:t>γ</a:t>
                      </a:r>
                      <a:r>
                        <a:rPr lang="en-US" altLang="zh-CN" sz="1600" dirty="0">
                          <a:solidFill>
                            <a:schemeClr val="tx1"/>
                          </a:solidFill>
                          <a:latin typeface="+mn-lt"/>
                        </a:rPr>
                        <a:t>=90</a:t>
                      </a:r>
                      <a:r>
                        <a:rPr lang="en-US" altLang="zh-CN" sz="1600" baseline="30000" dirty="0">
                          <a:solidFill>
                            <a:schemeClr val="tx1"/>
                          </a:solidFill>
                          <a:latin typeface="+mn-lt"/>
                        </a:rPr>
                        <a:t>o  </a:t>
                      </a:r>
                      <a:endParaRPr lang="zh-CN" altLang="en-US" sz="1600" baseline="30000" dirty="0">
                        <a:solidFill>
                          <a:schemeClr val="tx1"/>
                        </a:solidFill>
                        <a:latin typeface="+mn-lt"/>
                      </a:endParaRPr>
                    </a:p>
                  </a:txBody>
                  <a:tcPr anchor="ctr">
                    <a:solidFill>
                      <a:schemeClr val="bg1">
                        <a:lumMod val="85000"/>
                      </a:schemeClr>
                    </a:solidFill>
                  </a:tcPr>
                </a:tc>
                <a:tc>
                  <a:txBody>
                    <a:bodyPr/>
                    <a:lstStyle/>
                    <a:p>
                      <a:pPr algn="just"/>
                      <a:r>
                        <a:rPr lang="en-US" altLang="zh-CN" sz="1600" dirty="0">
                          <a:solidFill>
                            <a:schemeClr val="tx1"/>
                          </a:solidFill>
                          <a:latin typeface="+mn-lt"/>
                        </a:rPr>
                        <a:t>4 3-folds // 4 diagonals of cubic</a:t>
                      </a:r>
                      <a:r>
                        <a:rPr lang="en-US" altLang="zh-CN" sz="1600" baseline="0" dirty="0">
                          <a:solidFill>
                            <a:schemeClr val="tx1"/>
                          </a:solidFill>
                          <a:latin typeface="+mn-lt"/>
                        </a:rPr>
                        <a:t>, 3 edges perpendicular to each other are the directions of a, b, c. </a:t>
                      </a:r>
                      <a:r>
                        <a:rPr lang="en-US" altLang="zh-CN" sz="1600" kern="1200" dirty="0">
                          <a:solidFill>
                            <a:schemeClr val="tx1"/>
                          </a:solidFill>
                          <a:effectLst/>
                          <a:latin typeface="+mn-lt"/>
                        </a:rPr>
                        <a:t>intersection angle between a, b, c and 3-fold axis is 54</a:t>
                      </a:r>
                      <a:r>
                        <a:rPr lang="en-US" altLang="zh-CN" sz="1600" baseline="30000" dirty="0">
                          <a:solidFill>
                            <a:schemeClr val="tx1"/>
                          </a:solidFill>
                          <a:latin typeface="+mn-lt"/>
                        </a:rPr>
                        <a:t>o</a:t>
                      </a:r>
                      <a:r>
                        <a:rPr lang="en-US" altLang="zh-CN" sz="1600" kern="1200" dirty="0">
                          <a:solidFill>
                            <a:schemeClr val="tx1"/>
                          </a:solidFill>
                          <a:effectLst/>
                          <a:latin typeface="+mn-lt"/>
                        </a:rPr>
                        <a:t>44’</a:t>
                      </a:r>
                      <a:endParaRPr lang="zh-CN" altLang="en-US" sz="1600" dirty="0">
                        <a:solidFill>
                          <a:schemeClr val="tx1"/>
                        </a:solidFill>
                        <a:latin typeface="+mn-lt"/>
                      </a:endParaRPr>
                    </a:p>
                  </a:txBody>
                  <a:tcPr anchor="ctr">
                    <a:solidFill>
                      <a:schemeClr val="bg1">
                        <a:lumMod val="85000"/>
                      </a:schemeClr>
                    </a:solidFill>
                  </a:tcPr>
                </a:tc>
                <a:extLst>
                  <a:ext uri="{0D108BD9-81ED-4DB2-BD59-A6C34878D82A}">
                    <a16:rowId xmlns:a16="http://schemas.microsoft.com/office/drawing/2014/main" val="10001"/>
                  </a:ext>
                </a:extLst>
              </a:tr>
              <a:tr h="704047">
                <a:tc>
                  <a:txBody>
                    <a:bodyPr/>
                    <a:lstStyle/>
                    <a:p>
                      <a:pPr algn="ctr"/>
                      <a:r>
                        <a:rPr kumimoji="0" lang="en-US" altLang="zh-CN" sz="1600" u="none" strike="noStrike" cap="none" normalizeH="0" baseline="0" dirty="0">
                          <a:ln>
                            <a:noFill/>
                          </a:ln>
                          <a:solidFill>
                            <a:schemeClr val="tx1"/>
                          </a:solidFill>
                          <a:effectLst/>
                          <a:latin typeface="+mn-lt"/>
                        </a:rPr>
                        <a:t>Hexagonal </a:t>
                      </a:r>
                      <a:endParaRPr lang="zh-CN" altLang="en-US" sz="1600" dirty="0">
                        <a:solidFill>
                          <a:schemeClr val="tx1"/>
                        </a:solidFill>
                        <a:latin typeface="+mn-lt"/>
                      </a:endParaRPr>
                    </a:p>
                  </a:txBody>
                  <a:tcPr anchor="ctr">
                    <a:solidFill>
                      <a:schemeClr val="bg1">
                        <a:lumMod val="85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1600" u="none" strike="noStrike" kern="1200" cap="none" normalizeH="0" baseline="0" dirty="0">
                          <a:ln>
                            <a:noFill/>
                          </a:ln>
                          <a:solidFill>
                            <a:schemeClr val="tx1"/>
                          </a:solidFill>
                          <a:effectLst/>
                          <a:latin typeface="+mn-lt"/>
                        </a:rPr>
                        <a:t>One 6-fold axis or rotary-inversion axis</a:t>
                      </a:r>
                      <a:endParaRPr kumimoji="0" lang="en-US" altLang="zh-CN" sz="1600" b="1" i="0" u="none" strike="noStrike" kern="1200"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anchor="ctr">
                    <a:solidFill>
                      <a:schemeClr val="bg1">
                        <a:lumMod val="85000"/>
                      </a:schemeClr>
                    </a:solidFill>
                  </a:tcPr>
                </a:tc>
                <a:tc>
                  <a:txBody>
                    <a:bodyPr/>
                    <a:lstStyle/>
                    <a:p>
                      <a:pPr algn="ctr"/>
                      <a:r>
                        <a:rPr lang="en-US" altLang="zh-CN" sz="1600" dirty="0">
                          <a:solidFill>
                            <a:schemeClr val="tx1"/>
                          </a:solidFill>
                          <a:latin typeface="+mn-lt"/>
                        </a:rPr>
                        <a:t>a=</a:t>
                      </a:r>
                      <a:r>
                        <a:rPr lang="en-US" altLang="zh-CN" sz="1600" baseline="0" dirty="0">
                          <a:solidFill>
                            <a:schemeClr val="tx1"/>
                          </a:solidFill>
                          <a:latin typeface="+mn-lt"/>
                        </a:rPr>
                        <a:t>b</a:t>
                      </a:r>
                      <a:r>
                        <a:rPr lang="el-GR" altLang="zh-CN" sz="1600" dirty="0">
                          <a:solidFill>
                            <a:schemeClr val="tx1"/>
                          </a:solidFill>
                          <a:latin typeface="+mn-lt"/>
                        </a:rPr>
                        <a:t>≠</a:t>
                      </a:r>
                      <a:r>
                        <a:rPr lang="en-US" altLang="zh-CN" sz="1600" baseline="0" dirty="0">
                          <a:solidFill>
                            <a:schemeClr val="tx1"/>
                          </a:solidFill>
                          <a:latin typeface="+mn-lt"/>
                        </a:rPr>
                        <a:t>c</a:t>
                      </a:r>
                    </a:p>
                    <a:p>
                      <a:pPr algn="ctr"/>
                      <a:r>
                        <a:rPr lang="el-GR" altLang="zh-CN" sz="1600" dirty="0">
                          <a:solidFill>
                            <a:schemeClr val="tx1"/>
                          </a:solidFill>
                          <a:latin typeface="+mn-lt"/>
                        </a:rPr>
                        <a:t>α</a:t>
                      </a:r>
                      <a:r>
                        <a:rPr lang="en-US" altLang="zh-CN" sz="1600" dirty="0">
                          <a:solidFill>
                            <a:schemeClr val="tx1"/>
                          </a:solidFill>
                          <a:latin typeface="+mn-lt"/>
                        </a:rPr>
                        <a:t>=</a:t>
                      </a:r>
                      <a:r>
                        <a:rPr lang="el-GR" altLang="zh-CN" sz="1600" dirty="0">
                          <a:solidFill>
                            <a:schemeClr val="tx1"/>
                          </a:solidFill>
                          <a:latin typeface="+mn-lt"/>
                        </a:rPr>
                        <a:t>β</a:t>
                      </a:r>
                      <a:r>
                        <a:rPr lang="en-US" altLang="zh-CN" sz="1600" dirty="0">
                          <a:solidFill>
                            <a:schemeClr val="tx1"/>
                          </a:solidFill>
                          <a:latin typeface="+mn-lt"/>
                        </a:rPr>
                        <a:t>=90</a:t>
                      </a:r>
                      <a:r>
                        <a:rPr lang="en-US" altLang="zh-CN" sz="1600" baseline="30000" dirty="0">
                          <a:solidFill>
                            <a:schemeClr val="tx1"/>
                          </a:solidFill>
                          <a:latin typeface="+mn-lt"/>
                        </a:rPr>
                        <a:t>o</a:t>
                      </a:r>
                      <a:endParaRPr lang="en-US" altLang="zh-CN" sz="1600" dirty="0">
                        <a:solidFill>
                          <a:schemeClr val="tx1"/>
                        </a:solidFill>
                        <a:latin typeface="+mn-lt"/>
                      </a:endParaRPr>
                    </a:p>
                    <a:p>
                      <a:pPr algn="ctr"/>
                      <a:r>
                        <a:rPr lang="el-GR" altLang="zh-CN" sz="1600" dirty="0">
                          <a:solidFill>
                            <a:schemeClr val="tx1"/>
                          </a:solidFill>
                          <a:latin typeface="+mn-lt"/>
                        </a:rPr>
                        <a:t>γ</a:t>
                      </a:r>
                      <a:r>
                        <a:rPr lang="en-US" altLang="zh-CN" sz="1600" dirty="0">
                          <a:solidFill>
                            <a:schemeClr val="tx1"/>
                          </a:solidFill>
                          <a:latin typeface="+mn-lt"/>
                        </a:rPr>
                        <a:t>=120</a:t>
                      </a:r>
                      <a:r>
                        <a:rPr lang="en-US" altLang="zh-CN" sz="1600" baseline="30000" dirty="0">
                          <a:solidFill>
                            <a:schemeClr val="tx1"/>
                          </a:solidFill>
                          <a:latin typeface="+mn-lt"/>
                        </a:rPr>
                        <a:t>o</a:t>
                      </a:r>
                      <a:endParaRPr lang="en-US" altLang="zh-CN" sz="1600" baseline="0" dirty="0">
                        <a:solidFill>
                          <a:schemeClr val="tx1"/>
                        </a:solidFill>
                        <a:latin typeface="+mn-lt"/>
                      </a:endParaRPr>
                    </a:p>
                  </a:txBody>
                  <a:tcPr anchor="ctr">
                    <a:solidFill>
                      <a:schemeClr val="bg1">
                        <a:lumMod val="85000"/>
                      </a:schemeClr>
                    </a:solidFill>
                  </a:tcPr>
                </a:tc>
                <a:tc>
                  <a:txBody>
                    <a:bodyPr/>
                    <a:lstStyle/>
                    <a:p>
                      <a:pPr algn="just"/>
                      <a:r>
                        <a:rPr lang="en-US" altLang="zh-CN" sz="1600" kern="1200" dirty="0">
                          <a:solidFill>
                            <a:schemeClr val="tx1"/>
                          </a:solidFill>
                          <a:latin typeface="+mn-lt"/>
                        </a:rPr>
                        <a:t>c // 6-fold axis</a:t>
                      </a:r>
                    </a:p>
                    <a:p>
                      <a:pPr marL="0" marR="0" indent="0" algn="just"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mn-lt"/>
                        </a:rPr>
                        <a:t>a, b // 2-fold axis or</a:t>
                      </a:r>
                      <a:r>
                        <a:rPr lang="zh-CN" altLang="en-US" sz="1600" kern="1200" dirty="0">
                          <a:solidFill>
                            <a:schemeClr val="tx1"/>
                          </a:solidFill>
                          <a:latin typeface="+mn-lt"/>
                        </a:rPr>
                        <a:t>丄 </a:t>
                      </a:r>
                      <a:r>
                        <a:rPr lang="en-US" altLang="zh-CN" sz="1600" kern="1200" dirty="0">
                          <a:solidFill>
                            <a:schemeClr val="tx1"/>
                          </a:solidFill>
                          <a:latin typeface="+mn-lt"/>
                        </a:rPr>
                        <a:t>symmetry plane choose crystal edges of a, b</a:t>
                      </a:r>
                      <a:r>
                        <a:rPr lang="zh-CN" altLang="en-US" sz="1600" kern="1200" dirty="0">
                          <a:solidFill>
                            <a:schemeClr val="tx1"/>
                          </a:solidFill>
                          <a:latin typeface="+mn-lt"/>
                        </a:rPr>
                        <a:t>丄</a:t>
                      </a:r>
                      <a:r>
                        <a:rPr lang="en-US" altLang="zh-CN" sz="1600" kern="1200" dirty="0">
                          <a:solidFill>
                            <a:schemeClr val="tx1"/>
                          </a:solidFill>
                          <a:latin typeface="+mn-lt"/>
                        </a:rPr>
                        <a:t>c</a:t>
                      </a:r>
                      <a:endParaRPr lang="zh-CN" altLang="en-US" sz="1600" kern="1200" dirty="0">
                        <a:solidFill>
                          <a:schemeClr val="tx1"/>
                        </a:solidFill>
                        <a:latin typeface="+mn-lt"/>
                        <a:ea typeface="+mn-ea"/>
                        <a:cs typeface="+mn-cs"/>
                      </a:endParaRPr>
                    </a:p>
                  </a:txBody>
                  <a:tcPr anchor="ctr">
                    <a:solidFill>
                      <a:schemeClr val="bg1">
                        <a:lumMod val="85000"/>
                      </a:schemeClr>
                    </a:solidFill>
                  </a:tcPr>
                </a:tc>
                <a:extLst>
                  <a:ext uri="{0D108BD9-81ED-4DB2-BD59-A6C34878D82A}">
                    <a16:rowId xmlns:a16="http://schemas.microsoft.com/office/drawing/2014/main" val="10002"/>
                  </a:ext>
                </a:extLst>
              </a:tr>
              <a:tr h="651271">
                <a:tc>
                  <a:txBody>
                    <a:bodyPr/>
                    <a:lstStyle/>
                    <a:p>
                      <a:pPr algn="ctr"/>
                      <a:r>
                        <a:rPr kumimoji="0" lang="en-US" altLang="zh-CN" sz="1600" u="none" strike="noStrike" cap="none" normalizeH="0" baseline="0" dirty="0">
                          <a:ln>
                            <a:noFill/>
                          </a:ln>
                          <a:solidFill>
                            <a:schemeClr val="tx1"/>
                          </a:solidFill>
                          <a:effectLst/>
                          <a:latin typeface="+mn-lt"/>
                        </a:rPr>
                        <a:t>Tetragonal</a:t>
                      </a:r>
                      <a:endParaRPr lang="zh-CN" altLang="en-US" sz="1600" dirty="0">
                        <a:solidFill>
                          <a:schemeClr val="tx1"/>
                        </a:solidFill>
                        <a:latin typeface="+mn-lt"/>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200" cap="none" normalizeH="0" baseline="0" dirty="0">
                          <a:ln>
                            <a:noFill/>
                          </a:ln>
                          <a:solidFill>
                            <a:schemeClr val="tx1"/>
                          </a:solidFill>
                          <a:effectLst/>
                          <a:latin typeface="+mn-lt"/>
                        </a:rPr>
                        <a:t>One 4-fold axis or rotary-inversion axis</a:t>
                      </a:r>
                      <a:endParaRPr kumimoji="0" lang="en-US" altLang="zh-CN" sz="1600" b="1" i="0" u="none" strike="noStrike" kern="1200"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txBody>
                  <a:tcPr anchor="ctr">
                    <a:solidFill>
                      <a:schemeClr val="bg1">
                        <a:lumMod val="85000"/>
                      </a:schemeClr>
                    </a:solidFill>
                  </a:tcPr>
                </a:tc>
                <a:tc>
                  <a:txBody>
                    <a:bodyPr/>
                    <a:lstStyle/>
                    <a:p>
                      <a:pPr algn="ctr"/>
                      <a:r>
                        <a:rPr lang="en-US" altLang="zh-CN" sz="1600" dirty="0">
                          <a:solidFill>
                            <a:schemeClr val="tx1"/>
                          </a:solidFill>
                          <a:latin typeface="+mn-lt"/>
                        </a:rPr>
                        <a:t>a=</a:t>
                      </a:r>
                      <a:r>
                        <a:rPr lang="en-US" altLang="zh-CN" sz="1600" baseline="0" dirty="0">
                          <a:solidFill>
                            <a:schemeClr val="tx1"/>
                          </a:solidFill>
                          <a:latin typeface="+mn-lt"/>
                        </a:rPr>
                        <a:t>b</a:t>
                      </a:r>
                      <a:r>
                        <a:rPr lang="el-GR" altLang="zh-CN" sz="1600" dirty="0">
                          <a:solidFill>
                            <a:schemeClr val="tx1"/>
                          </a:solidFill>
                          <a:latin typeface="+mn-lt"/>
                        </a:rPr>
                        <a:t>≠</a:t>
                      </a:r>
                      <a:r>
                        <a:rPr lang="en-US" altLang="zh-CN" sz="1600" baseline="0" dirty="0">
                          <a:solidFill>
                            <a:schemeClr val="tx1"/>
                          </a:solidFill>
                          <a:latin typeface="+mn-lt"/>
                        </a:rPr>
                        <a:t>c</a:t>
                      </a:r>
                    </a:p>
                    <a:p>
                      <a:pPr marL="0" marR="0" indent="0" algn="ctr" defTabSz="914400" rtl="0" eaLnBrk="1" fontAlgn="auto" latinLnBrk="0" hangingPunct="1">
                        <a:lnSpc>
                          <a:spcPct val="100000"/>
                        </a:lnSpc>
                        <a:spcBef>
                          <a:spcPts val="0"/>
                        </a:spcBef>
                        <a:spcAft>
                          <a:spcPts val="0"/>
                        </a:spcAft>
                        <a:buClrTx/>
                        <a:buSzTx/>
                        <a:buFontTx/>
                        <a:buNone/>
                        <a:defRPr/>
                      </a:pPr>
                      <a:r>
                        <a:rPr lang="el-GR" altLang="zh-CN" sz="1600" dirty="0">
                          <a:solidFill>
                            <a:schemeClr val="tx1"/>
                          </a:solidFill>
                          <a:latin typeface="+mn-lt"/>
                        </a:rPr>
                        <a:t>α</a:t>
                      </a:r>
                      <a:r>
                        <a:rPr lang="en-US" altLang="zh-CN" sz="1600" dirty="0">
                          <a:solidFill>
                            <a:schemeClr val="tx1"/>
                          </a:solidFill>
                          <a:latin typeface="+mn-lt"/>
                        </a:rPr>
                        <a:t>=</a:t>
                      </a:r>
                      <a:r>
                        <a:rPr lang="el-GR" altLang="zh-CN" sz="1600" dirty="0">
                          <a:solidFill>
                            <a:schemeClr val="tx1"/>
                          </a:solidFill>
                          <a:latin typeface="+mn-lt"/>
                        </a:rPr>
                        <a:t>β</a:t>
                      </a:r>
                      <a:r>
                        <a:rPr lang="en-US" altLang="zh-CN" sz="1600" dirty="0">
                          <a:solidFill>
                            <a:schemeClr val="tx1"/>
                          </a:solidFill>
                          <a:latin typeface="+mn-lt"/>
                        </a:rPr>
                        <a:t>=</a:t>
                      </a:r>
                      <a:r>
                        <a:rPr lang="el-GR" altLang="zh-CN" sz="1600" dirty="0">
                          <a:solidFill>
                            <a:schemeClr val="tx1"/>
                          </a:solidFill>
                          <a:latin typeface="+mn-lt"/>
                        </a:rPr>
                        <a:t>γ</a:t>
                      </a:r>
                      <a:r>
                        <a:rPr lang="en-US" altLang="zh-CN" sz="1600" dirty="0">
                          <a:solidFill>
                            <a:schemeClr val="tx1"/>
                          </a:solidFill>
                          <a:latin typeface="+mn-lt"/>
                        </a:rPr>
                        <a:t>=90</a:t>
                      </a:r>
                      <a:r>
                        <a:rPr lang="en-US" altLang="zh-CN" sz="1600" baseline="30000" dirty="0">
                          <a:solidFill>
                            <a:schemeClr val="tx1"/>
                          </a:solidFill>
                          <a:latin typeface="+mn-lt"/>
                        </a:rPr>
                        <a:t>o</a:t>
                      </a:r>
                      <a:endParaRPr lang="en-US" altLang="zh-CN" sz="1600" dirty="0">
                        <a:solidFill>
                          <a:schemeClr val="tx1"/>
                        </a:solidFill>
                        <a:latin typeface="+mn-lt"/>
                      </a:endParaRPr>
                    </a:p>
                  </a:txBody>
                  <a:tcPr anchor="ctr">
                    <a:solidFill>
                      <a:schemeClr val="bg1">
                        <a:lumMod val="85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mn-lt"/>
                        </a:rPr>
                        <a:t>c // 4-fold axis</a:t>
                      </a:r>
                    </a:p>
                    <a:p>
                      <a:pPr marL="0" marR="0" indent="0" algn="just"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mn-lt"/>
                        </a:rPr>
                        <a:t>a, b // 2-fold axis or</a:t>
                      </a:r>
                      <a:r>
                        <a:rPr lang="zh-CN" altLang="en-US" sz="1600" kern="1200" dirty="0">
                          <a:solidFill>
                            <a:schemeClr val="tx1"/>
                          </a:solidFill>
                          <a:latin typeface="+mn-lt"/>
                        </a:rPr>
                        <a:t>丄 </a:t>
                      </a:r>
                      <a:r>
                        <a:rPr lang="en-US" altLang="zh-CN" sz="1600" kern="1200" dirty="0">
                          <a:solidFill>
                            <a:schemeClr val="tx1"/>
                          </a:solidFill>
                          <a:latin typeface="+mn-lt"/>
                        </a:rPr>
                        <a:t>symmetry plane or crystal edges of a, b</a:t>
                      </a:r>
                      <a:r>
                        <a:rPr lang="zh-CN" altLang="en-US" sz="1600" kern="1200" dirty="0">
                          <a:solidFill>
                            <a:schemeClr val="tx1"/>
                          </a:solidFill>
                          <a:latin typeface="+mn-lt"/>
                        </a:rPr>
                        <a:t>丄</a:t>
                      </a:r>
                      <a:r>
                        <a:rPr lang="en-US" altLang="zh-CN" sz="1600" kern="1200" dirty="0">
                          <a:solidFill>
                            <a:schemeClr val="tx1"/>
                          </a:solidFill>
                          <a:latin typeface="+mn-lt"/>
                        </a:rPr>
                        <a:t>c</a:t>
                      </a:r>
                      <a:endParaRPr lang="zh-CN" altLang="en-US" sz="1600" kern="1200" dirty="0">
                        <a:solidFill>
                          <a:schemeClr val="tx1"/>
                        </a:solidFill>
                        <a:latin typeface="+mn-lt"/>
                        <a:ea typeface="+mn-ea"/>
                        <a:cs typeface="+mn-cs"/>
                      </a:endParaRPr>
                    </a:p>
                  </a:txBody>
                  <a:tcPr anchor="ctr">
                    <a:solidFill>
                      <a:schemeClr val="bg1">
                        <a:lumMod val="85000"/>
                      </a:schemeClr>
                    </a:solidFill>
                  </a:tcPr>
                </a:tc>
                <a:extLst>
                  <a:ext uri="{0D108BD9-81ED-4DB2-BD59-A6C34878D82A}">
                    <a16:rowId xmlns:a16="http://schemas.microsoft.com/office/drawing/2014/main" val="10003"/>
                  </a:ext>
                </a:extLst>
              </a:tr>
            </a:tbl>
          </a:graphicData>
        </a:graphic>
      </p:graphicFrame>
      <p:sp>
        <p:nvSpPr>
          <p:cNvPr id="2" name="Title 1"/>
          <p:cNvSpPr>
            <a:spLocks noGrp="1"/>
          </p:cNvSpPr>
          <p:nvPr>
            <p:ph type="title"/>
          </p:nvPr>
        </p:nvSpPr>
        <p:spPr/>
        <p:txBody>
          <a:bodyPr>
            <a:noAutofit/>
          </a:bodyPr>
          <a:lstStyle/>
          <a:p>
            <a:r>
              <a:rPr lang="en-US" sz="3600" b="0" dirty="0"/>
              <a:t>Classification of crystal systems and the selection of crystal axis</a:t>
            </a:r>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395534" y="181081"/>
            <a:ext cx="8172468" cy="1446550"/>
          </a:xfrm>
          <a:prstGeom prst="rect">
            <a:avLst/>
          </a:prstGeom>
        </p:spPr>
        <p:txBody>
          <a:bodyPr vert="horz" lIns="91440" tIns="45720" rIns="91440" bIns="45720" rtlCol="0" anchor="ctr">
            <a:normAutofit fontScale="97500"/>
          </a:bodyPr>
          <a:lstStyle>
            <a:lvl1pPr algn="ctr" defTabSz="914400" eaLnBrk="1" latinLnBrk="0" hangingPunct="1">
              <a:buNone/>
              <a:defRPr sz="4400" b="0">
                <a:latin typeface="+mj-lt"/>
                <a:ea typeface="+mj-ea"/>
                <a:cs typeface="+mj-cs"/>
              </a:defRPr>
            </a:lvl1pPr>
          </a:lstStyle>
          <a:p>
            <a:r>
              <a:rPr lang="en-US" sz="3600" dirty="0"/>
              <a:t>Classification of crystal systems and the selection of crystal axis</a:t>
            </a:r>
            <a:endParaRPr lang="zh-CN" altLang="en-US" sz="3600" dirty="0"/>
          </a:p>
        </p:txBody>
      </p:sp>
      <p:graphicFrame>
        <p:nvGraphicFramePr>
          <p:cNvPr id="16" name="Table 15"/>
          <p:cNvGraphicFramePr>
            <a:graphicFrameLocks noGrp="1"/>
          </p:cNvGraphicFramePr>
          <p:nvPr/>
        </p:nvGraphicFramePr>
        <p:xfrm>
          <a:off x="189351" y="2248524"/>
          <a:ext cx="8775137" cy="4602480"/>
        </p:xfrm>
        <a:graphic>
          <a:graphicData uri="http://schemas.openxmlformats.org/drawingml/2006/table">
            <a:tbl>
              <a:tblPr firstRow="1" bandRow="1">
                <a:tableStyleId>{2D5ABB26-0587-4C30-8999-92F81FD0307C}</a:tableStyleId>
              </a:tblPr>
              <a:tblGrid>
                <a:gridCol w="1442757">
                  <a:extLst>
                    <a:ext uri="{9D8B030D-6E8A-4147-A177-3AD203B41FA5}">
                      <a16:colId xmlns:a16="http://schemas.microsoft.com/office/drawing/2014/main" val="20000"/>
                    </a:ext>
                  </a:extLst>
                </a:gridCol>
                <a:gridCol w="2415487">
                  <a:extLst>
                    <a:ext uri="{9D8B030D-6E8A-4147-A177-3AD203B41FA5}">
                      <a16:colId xmlns:a16="http://schemas.microsoft.com/office/drawing/2014/main" val="20001"/>
                    </a:ext>
                  </a:extLst>
                </a:gridCol>
                <a:gridCol w="939356">
                  <a:extLst>
                    <a:ext uri="{9D8B030D-6E8A-4147-A177-3AD203B41FA5}">
                      <a16:colId xmlns:a16="http://schemas.microsoft.com/office/drawing/2014/main" val="20002"/>
                    </a:ext>
                  </a:extLst>
                </a:gridCol>
                <a:gridCol w="3977537">
                  <a:extLst>
                    <a:ext uri="{9D8B030D-6E8A-4147-A177-3AD203B41FA5}">
                      <a16:colId xmlns:a16="http://schemas.microsoft.com/office/drawing/2014/main" val="20003"/>
                    </a:ext>
                  </a:extLst>
                </a:gridCol>
              </a:tblGrid>
              <a:tr h="809364">
                <a:tc rowSpan="2">
                  <a:txBody>
                    <a:bodyPr/>
                    <a:lstStyle/>
                    <a:p>
                      <a:pPr algn="ctr"/>
                      <a:r>
                        <a:rPr kumimoji="0" lang="en-US" altLang="zh-CN" sz="1600" u="none" strike="noStrike" cap="none" normalizeH="0" baseline="0" dirty="0">
                          <a:ln>
                            <a:noFill/>
                          </a:ln>
                          <a:effectLst/>
                        </a:rPr>
                        <a:t>Trigonal</a:t>
                      </a:r>
                      <a:endParaRPr lang="zh-CN" altLang="en-US" sz="1600" dirty="0"/>
                    </a:p>
                  </a:txBody>
                  <a:tcPr anchor="ctr">
                    <a:solidFill>
                      <a:schemeClr val="bg1">
                        <a:lumMod val="8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200" cap="none" normalizeH="0" baseline="0" dirty="0">
                          <a:ln>
                            <a:noFill/>
                          </a:ln>
                          <a:effectLst/>
                        </a:rPr>
                        <a:t>One 3-fold axis or rotary-inversion axis</a:t>
                      </a:r>
                      <a:endParaRPr kumimoji="0" lang="en-US" altLang="zh-CN" sz="1600" b="1" i="0" u="none" strike="noStrike" kern="1200" cap="none" normalizeH="0" baseline="0" dirty="0">
                        <a:ln>
                          <a:noFill/>
                        </a:ln>
                        <a:solidFill>
                          <a:srgbClr val="001A7A"/>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bg1">
                        <a:lumMod val="85000"/>
                      </a:schemeClr>
                    </a:solidFill>
                  </a:tcPr>
                </a:tc>
                <a:tc>
                  <a:txBody>
                    <a:bodyPr/>
                    <a:lstStyle/>
                    <a:p>
                      <a:pPr algn="ctr"/>
                      <a:r>
                        <a:rPr lang="en-US" altLang="zh-CN" sz="1600" dirty="0"/>
                        <a:t>a=</a:t>
                      </a:r>
                      <a:r>
                        <a:rPr lang="en-US" altLang="zh-CN" sz="1600" baseline="0" dirty="0"/>
                        <a:t>b=c</a:t>
                      </a:r>
                    </a:p>
                    <a:p>
                      <a:pPr marL="0" marR="0" indent="0" algn="ctr" defTabSz="914400" rtl="0" eaLnBrk="1" fontAlgn="auto" latinLnBrk="0" hangingPunct="1">
                        <a:lnSpc>
                          <a:spcPct val="100000"/>
                        </a:lnSpc>
                        <a:spcBef>
                          <a:spcPts val="0"/>
                        </a:spcBef>
                        <a:spcAft>
                          <a:spcPts val="0"/>
                        </a:spcAft>
                        <a:buClrTx/>
                        <a:buSzTx/>
                        <a:buFontTx/>
                        <a:buNone/>
                        <a:defRPr/>
                      </a:pPr>
                      <a:r>
                        <a:rPr lang="el-GR" altLang="zh-CN" sz="1600" dirty="0"/>
                        <a:t>α</a:t>
                      </a:r>
                      <a:r>
                        <a:rPr lang="en-US" altLang="zh-CN" sz="1600" dirty="0"/>
                        <a:t>=</a:t>
                      </a:r>
                      <a:r>
                        <a:rPr lang="el-GR" altLang="zh-CN" sz="1600" dirty="0"/>
                        <a:t>β</a:t>
                      </a:r>
                      <a:r>
                        <a:rPr lang="en-US" altLang="zh-CN" sz="1600" dirty="0"/>
                        <a:t>=</a:t>
                      </a:r>
                      <a:r>
                        <a:rPr lang="el-GR" altLang="zh-CN" sz="1600" dirty="0"/>
                        <a:t>γ</a:t>
                      </a:r>
                      <a:r>
                        <a:rPr lang="en-US" altLang="zh-CN" sz="1600" dirty="0"/>
                        <a:t>&lt;120</a:t>
                      </a:r>
                      <a:r>
                        <a:rPr lang="en-US" altLang="zh-CN" sz="1600" baseline="30000" dirty="0"/>
                        <a:t>o</a:t>
                      </a:r>
                      <a:r>
                        <a:rPr lang="el-GR" altLang="zh-CN" sz="1600" dirty="0"/>
                        <a:t>≠</a:t>
                      </a:r>
                      <a:r>
                        <a:rPr lang="en-US" altLang="zh-CN" sz="1600" dirty="0"/>
                        <a:t>90</a:t>
                      </a:r>
                      <a:r>
                        <a:rPr lang="en-US" altLang="zh-CN" sz="1600" baseline="30000" dirty="0"/>
                        <a:t>o</a:t>
                      </a:r>
                      <a:endParaRPr lang="en-US" altLang="zh-CN" sz="1600" dirty="0"/>
                    </a:p>
                  </a:txBody>
                  <a:tcPr anchor="ctr">
                    <a:solidFill>
                      <a:schemeClr val="bg1">
                        <a:lumMod val="85000"/>
                      </a:schemeClr>
                    </a:solidFill>
                  </a:tcPr>
                </a:tc>
                <a:tc>
                  <a:txBody>
                    <a:bodyPr/>
                    <a:lstStyle/>
                    <a:p>
                      <a:pPr algn="just"/>
                      <a:r>
                        <a:rPr lang="en-US" altLang="zh-CN" sz="1600" dirty="0"/>
                        <a:t>Choose three</a:t>
                      </a:r>
                      <a:r>
                        <a:rPr lang="en-US" altLang="zh-CN" sz="1600" baseline="0" dirty="0"/>
                        <a:t> c</a:t>
                      </a:r>
                      <a:r>
                        <a:rPr lang="en-US" altLang="zh-CN" sz="1600" dirty="0"/>
                        <a:t>rystal edges having equal angle with</a:t>
                      </a:r>
                      <a:r>
                        <a:rPr lang="en-US" altLang="zh-CN" sz="1600" baseline="0" dirty="0"/>
                        <a:t> </a:t>
                      </a:r>
                      <a:r>
                        <a:rPr lang="en-US" altLang="zh-CN" sz="1600" dirty="0"/>
                        <a:t>3-folds</a:t>
                      </a:r>
                      <a:r>
                        <a:rPr lang="en-US" altLang="zh-CN" sz="1600" baseline="0" dirty="0"/>
                        <a:t> as a, b, c.</a:t>
                      </a:r>
                      <a:endParaRPr lang="zh-CN" altLang="en-US" sz="1600" dirty="0"/>
                    </a:p>
                  </a:txBody>
                  <a:tcPr anchor="ctr">
                    <a:solidFill>
                      <a:schemeClr val="bg1">
                        <a:lumMod val="85000"/>
                      </a:schemeClr>
                    </a:solidFill>
                  </a:tcPr>
                </a:tc>
                <a:extLst>
                  <a:ext uri="{0D108BD9-81ED-4DB2-BD59-A6C34878D82A}">
                    <a16:rowId xmlns:a16="http://schemas.microsoft.com/office/drawing/2014/main" val="10000"/>
                  </a:ext>
                </a:extLst>
              </a:tr>
              <a:tr h="1049176">
                <a:tc vMerge="1">
                  <a:txBody>
                    <a:bodyPr/>
                    <a:lstStyle/>
                    <a:p>
                      <a:endParaRPr lang="zh-CN"/>
                    </a:p>
                  </a:txBody>
                  <a:tcPr anchor="ctr"/>
                </a:tc>
                <a:tc vMerge="1">
                  <a:txBody>
                    <a:bodyPr/>
                    <a:lstStyle/>
                    <a:p>
                      <a:endParaRPr lang="zh-CN"/>
                    </a:p>
                  </a:txBody>
                  <a:tcPr anchor="ctr"/>
                </a:tc>
                <a:tc>
                  <a:txBody>
                    <a:bodyPr/>
                    <a:lstStyle/>
                    <a:p>
                      <a:pPr algn="ctr"/>
                      <a:r>
                        <a:rPr lang="en-US" altLang="zh-CN" sz="1600" dirty="0"/>
                        <a:t>a=</a:t>
                      </a:r>
                      <a:r>
                        <a:rPr lang="en-US" altLang="zh-CN" sz="1600" baseline="0" dirty="0"/>
                        <a:t>b</a:t>
                      </a:r>
                      <a:r>
                        <a:rPr lang="el-GR" altLang="zh-CN" sz="1600" dirty="0"/>
                        <a:t>≠</a:t>
                      </a:r>
                      <a:r>
                        <a:rPr lang="en-US" altLang="zh-CN" sz="1600" baseline="0" dirty="0"/>
                        <a:t>c</a:t>
                      </a:r>
                    </a:p>
                    <a:p>
                      <a:pPr marL="0" marR="0" indent="0" algn="ctr" defTabSz="914400" rtl="0" eaLnBrk="1" fontAlgn="auto" latinLnBrk="0" hangingPunct="1">
                        <a:lnSpc>
                          <a:spcPct val="100000"/>
                        </a:lnSpc>
                        <a:spcBef>
                          <a:spcPts val="0"/>
                        </a:spcBef>
                        <a:spcAft>
                          <a:spcPts val="0"/>
                        </a:spcAft>
                        <a:buClrTx/>
                        <a:buSzTx/>
                        <a:buFontTx/>
                        <a:buNone/>
                        <a:defRPr/>
                      </a:pPr>
                      <a:r>
                        <a:rPr lang="el-GR" altLang="zh-CN" sz="1600" dirty="0"/>
                        <a:t>α</a:t>
                      </a:r>
                      <a:r>
                        <a:rPr lang="en-US" altLang="zh-CN" sz="1600" dirty="0"/>
                        <a:t>=</a:t>
                      </a:r>
                      <a:r>
                        <a:rPr lang="el-GR" altLang="zh-CN" sz="1600" dirty="0"/>
                        <a:t>β</a:t>
                      </a:r>
                      <a:r>
                        <a:rPr lang="en-US" altLang="zh-CN" sz="1600" dirty="0"/>
                        <a:t>=90</a:t>
                      </a:r>
                      <a:r>
                        <a:rPr lang="en-US" altLang="zh-CN" sz="1600" baseline="30000" dirty="0"/>
                        <a:t>o</a:t>
                      </a:r>
                      <a:r>
                        <a:rPr lang="en-US" altLang="zh-CN" sz="1600" dirty="0"/>
                        <a:t>,</a:t>
                      </a:r>
                      <a:r>
                        <a:rPr lang="el-GR" altLang="zh-CN" sz="1600" dirty="0"/>
                        <a:t>γ</a:t>
                      </a:r>
                      <a:r>
                        <a:rPr lang="en-US" altLang="zh-CN" sz="1600" dirty="0"/>
                        <a:t>=120</a:t>
                      </a:r>
                      <a:r>
                        <a:rPr lang="en-US" altLang="zh-CN" sz="1600" baseline="30000" dirty="0"/>
                        <a:t>o</a:t>
                      </a:r>
                      <a:endParaRPr lang="en-US" altLang="zh-CN" sz="1600" dirty="0"/>
                    </a:p>
                  </a:txBody>
                  <a:tcPr anchor="ctr">
                    <a:solidFill>
                      <a:schemeClr val="bg1">
                        <a:lumMod val="85000"/>
                      </a:schemeClr>
                    </a:solidFill>
                  </a:tcPr>
                </a:tc>
                <a:tc>
                  <a:txBody>
                    <a:bodyPr/>
                    <a:lstStyle/>
                    <a:p>
                      <a:pPr algn="just"/>
                      <a:r>
                        <a:rPr lang="en-US" altLang="zh-CN" sz="1600" dirty="0"/>
                        <a:t>C // 3-fold</a:t>
                      </a:r>
                      <a:r>
                        <a:rPr lang="en-US" altLang="zh-CN" sz="1600" baseline="0" dirty="0"/>
                        <a:t> axis </a:t>
                      </a:r>
                    </a:p>
                    <a:p>
                      <a:pPr algn="just"/>
                      <a:r>
                        <a:rPr lang="en-US" altLang="zh-CN" sz="1600" baseline="0" dirty="0"/>
                        <a:t>a, b // 2-fold axis or</a:t>
                      </a:r>
                      <a:r>
                        <a:rPr kumimoji="0" lang="zh-CN" altLang="en-US" sz="1600" u="none" strike="noStrike" cap="none" normalizeH="0" baseline="0" dirty="0">
                          <a:ln>
                            <a:noFill/>
                          </a:ln>
                          <a:effectLst/>
                        </a:rPr>
                        <a:t>丄 </a:t>
                      </a:r>
                      <a:r>
                        <a:rPr lang="en-US" altLang="zh-CN" sz="1600" kern="1200" dirty="0"/>
                        <a:t>symmetry plane or choose crystal edges perpendicular to c as a, b </a:t>
                      </a:r>
                      <a:endParaRPr lang="zh-CN" altLang="en-US" sz="1600" kern="1200" dirty="0">
                        <a:solidFill>
                          <a:schemeClr val="dk1"/>
                        </a:solidFill>
                        <a:latin typeface="+mn-lt"/>
                        <a:ea typeface="+mn-ea"/>
                        <a:cs typeface="+mn-cs"/>
                      </a:endParaRPr>
                    </a:p>
                  </a:txBody>
                  <a:tcPr anchor="ctr">
                    <a:solidFill>
                      <a:schemeClr val="bg1">
                        <a:lumMod val="85000"/>
                      </a:schemeClr>
                    </a:solidFill>
                  </a:tcPr>
                </a:tc>
                <a:extLst>
                  <a:ext uri="{0D108BD9-81ED-4DB2-BD59-A6C34878D82A}">
                    <a16:rowId xmlns:a16="http://schemas.microsoft.com/office/drawing/2014/main" val="10001"/>
                  </a:ext>
                </a:extLst>
              </a:tr>
              <a:tr h="809364">
                <a:tc>
                  <a:txBody>
                    <a:bodyPr/>
                    <a:lstStyle/>
                    <a:p>
                      <a:pPr algn="ctr"/>
                      <a:r>
                        <a:rPr kumimoji="0" lang="en-US" altLang="zh-CN" sz="1600" u="none" strike="noStrike" cap="none" normalizeH="0" baseline="0" dirty="0">
                          <a:ln>
                            <a:noFill/>
                          </a:ln>
                          <a:effectLst/>
                        </a:rPr>
                        <a:t>Orthorhombic</a:t>
                      </a:r>
                      <a:endParaRPr lang="zh-CN" altLang="en-US" sz="1600" dirty="0"/>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cap="none" normalizeH="0" baseline="0" dirty="0">
                          <a:ln>
                            <a:noFill/>
                          </a:ln>
                          <a:effectLst/>
                        </a:rPr>
                        <a:t>Three perpendicular 2-folds</a:t>
                      </a:r>
                      <a:endParaRPr kumimoji="0" lang="zh-CN" altLang="en-US" sz="1600" b="1" i="0" u="none" strike="noStrike" cap="none" normalizeH="0" baseline="0" dirty="0">
                        <a:ln>
                          <a:noFill/>
                        </a:ln>
                        <a:solidFill>
                          <a:srgbClr val="0F790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t>a</a:t>
                      </a:r>
                      <a:r>
                        <a:rPr lang="el-GR" altLang="zh-CN" sz="1600" dirty="0"/>
                        <a:t>≠</a:t>
                      </a:r>
                      <a:r>
                        <a:rPr lang="en-US" altLang="zh-CN" sz="1600" baseline="0" dirty="0"/>
                        <a:t>b</a:t>
                      </a:r>
                      <a:r>
                        <a:rPr lang="el-GR" altLang="zh-CN" sz="1600" dirty="0"/>
                        <a:t>≠</a:t>
                      </a:r>
                      <a:r>
                        <a:rPr lang="en-US" altLang="zh-CN" sz="1600" baseline="0" dirty="0"/>
                        <a:t>c</a:t>
                      </a:r>
                    </a:p>
                    <a:p>
                      <a:pPr marL="0" marR="0" indent="0" algn="ctr" defTabSz="914400" rtl="0" eaLnBrk="1" fontAlgn="auto" latinLnBrk="0" hangingPunct="1">
                        <a:lnSpc>
                          <a:spcPct val="100000"/>
                        </a:lnSpc>
                        <a:spcBef>
                          <a:spcPts val="0"/>
                        </a:spcBef>
                        <a:spcAft>
                          <a:spcPts val="0"/>
                        </a:spcAft>
                        <a:buClrTx/>
                        <a:buSzTx/>
                        <a:buFontTx/>
                        <a:buNone/>
                        <a:defRPr/>
                      </a:pPr>
                      <a:r>
                        <a:rPr lang="el-GR" altLang="zh-CN" sz="1600" dirty="0"/>
                        <a:t>α</a:t>
                      </a:r>
                      <a:r>
                        <a:rPr lang="en-US" altLang="zh-CN" sz="1600" dirty="0"/>
                        <a:t>=</a:t>
                      </a:r>
                      <a:r>
                        <a:rPr lang="el-GR" altLang="zh-CN" sz="1600" dirty="0"/>
                        <a:t>β</a:t>
                      </a:r>
                      <a:r>
                        <a:rPr lang="en-US" altLang="zh-CN" sz="1600" dirty="0"/>
                        <a:t>=</a:t>
                      </a:r>
                      <a:r>
                        <a:rPr lang="el-GR" altLang="zh-CN" sz="1600" dirty="0"/>
                        <a:t>γ</a:t>
                      </a:r>
                      <a:r>
                        <a:rPr lang="en-US" altLang="zh-CN" sz="1600" dirty="0"/>
                        <a:t>=90</a:t>
                      </a:r>
                      <a:r>
                        <a:rPr lang="en-US" altLang="zh-CN" sz="1600" baseline="30000" dirty="0"/>
                        <a:t>o</a:t>
                      </a:r>
                      <a:endParaRPr lang="en-US" altLang="zh-CN" sz="1600" dirty="0"/>
                    </a:p>
                  </a:txBody>
                  <a:tcPr anchor="ctr">
                    <a:lnB>
                      <a:noFill/>
                    </a:lnB>
                    <a:solidFill>
                      <a:schemeClr val="bg1">
                        <a:lumMod val="85000"/>
                      </a:schemeClr>
                    </a:solidFill>
                  </a:tcPr>
                </a:tc>
                <a:tc>
                  <a:txBody>
                    <a:bodyPr/>
                    <a:lstStyle/>
                    <a:p>
                      <a:pPr algn="just"/>
                      <a:r>
                        <a:rPr lang="en-US" altLang="zh-CN" sz="1600" dirty="0"/>
                        <a:t>a,</a:t>
                      </a:r>
                      <a:r>
                        <a:rPr lang="en-US" altLang="zh-CN" sz="1600" baseline="0" dirty="0"/>
                        <a:t> b, c // 2-fold axis or</a:t>
                      </a:r>
                      <a:r>
                        <a:rPr kumimoji="0" lang="zh-CN" altLang="en-US" sz="1600" u="none" strike="noStrike" cap="none" normalizeH="0" baseline="0" dirty="0">
                          <a:ln>
                            <a:noFill/>
                          </a:ln>
                          <a:effectLst/>
                        </a:rPr>
                        <a:t>丄 </a:t>
                      </a:r>
                      <a:r>
                        <a:rPr lang="en-US" altLang="zh-CN" sz="1600" kern="1200" dirty="0"/>
                        <a:t>symmetry plane</a:t>
                      </a:r>
                      <a:endParaRPr lang="zh-CN" altLang="en-US" sz="1600" dirty="0"/>
                    </a:p>
                  </a:txBody>
                  <a:tcPr anchor="ctr">
                    <a:solidFill>
                      <a:schemeClr val="bg1">
                        <a:lumMod val="85000"/>
                      </a:schemeClr>
                    </a:solidFill>
                  </a:tcPr>
                </a:tc>
                <a:extLst>
                  <a:ext uri="{0D108BD9-81ED-4DB2-BD59-A6C34878D82A}">
                    <a16:rowId xmlns:a16="http://schemas.microsoft.com/office/drawing/2014/main" val="10002"/>
                  </a:ext>
                </a:extLst>
              </a:tr>
              <a:tr h="809364">
                <a:tc>
                  <a:txBody>
                    <a:bodyPr/>
                    <a:lstStyle/>
                    <a:p>
                      <a:pPr algn="ctr"/>
                      <a:r>
                        <a:rPr kumimoji="0" lang="en-US" altLang="zh-CN" sz="1600" u="none" strike="noStrike" cap="none" normalizeH="0" baseline="0" dirty="0">
                          <a:ln>
                            <a:noFill/>
                          </a:ln>
                          <a:effectLst/>
                        </a:rPr>
                        <a:t>Monoclinic</a:t>
                      </a:r>
                      <a:endParaRPr lang="zh-CN" altLang="en-US" sz="1600" dirty="0"/>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cap="none" normalizeH="0" baseline="0" dirty="0">
                          <a:ln>
                            <a:noFill/>
                          </a:ln>
                          <a:effectLst/>
                        </a:rPr>
                        <a:t>One 2-fold axis or mirror plane</a:t>
                      </a:r>
                      <a:endParaRPr kumimoji="0" lang="zh-CN" altLang="en-US" sz="1600" u="none" strike="noStrike" cap="none" normalizeH="0" baseline="0" dirty="0">
                        <a:ln>
                          <a:noFill/>
                        </a:ln>
                        <a:effectLst/>
                      </a:endParaRPr>
                    </a:p>
                    <a:p>
                      <a:pPr algn="ctr"/>
                      <a:endParaRPr lang="zh-CN" altLang="en-US" sz="1600" dirty="0"/>
                    </a:p>
                  </a:txBody>
                  <a:tcPr anchor="ctr">
                    <a:lnR>
                      <a:noFill/>
                    </a:ln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t>a</a:t>
                      </a:r>
                      <a:r>
                        <a:rPr lang="el-GR" altLang="zh-CN" sz="1600" dirty="0"/>
                        <a:t>≠</a:t>
                      </a:r>
                      <a:r>
                        <a:rPr lang="en-US" altLang="zh-CN" sz="1600" baseline="0" dirty="0"/>
                        <a:t>b</a:t>
                      </a:r>
                      <a:r>
                        <a:rPr lang="el-GR" altLang="zh-CN" sz="1600" dirty="0"/>
                        <a:t>≠</a:t>
                      </a:r>
                      <a:r>
                        <a:rPr lang="en-US" altLang="zh-CN" sz="1600" baseline="0" dirty="0"/>
                        <a:t>c</a:t>
                      </a:r>
                    </a:p>
                    <a:p>
                      <a:pPr algn="ctr"/>
                      <a:r>
                        <a:rPr lang="el-GR" altLang="zh-CN" sz="1600" dirty="0"/>
                        <a:t>α</a:t>
                      </a:r>
                      <a:r>
                        <a:rPr lang="en-US" altLang="zh-CN" sz="1600" dirty="0"/>
                        <a:t>=</a:t>
                      </a:r>
                      <a:r>
                        <a:rPr lang="el-GR" altLang="zh-CN" sz="1600" dirty="0"/>
                        <a:t>γ≠β</a:t>
                      </a:r>
                      <a:endParaRPr lang="zh-CN" altLang="en-US" sz="1600" dirty="0"/>
                    </a:p>
                  </a:txBody>
                  <a:tcPr anchor="ctr">
                    <a:lnL>
                      <a:noFill/>
                    </a:lnL>
                    <a:lnR>
                      <a:noFill/>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600" dirty="0"/>
                        <a:t>b // </a:t>
                      </a:r>
                      <a:r>
                        <a:rPr lang="en-US" altLang="zh-CN" sz="1600" baseline="0" dirty="0"/>
                        <a:t>2-fold axis or</a:t>
                      </a:r>
                      <a:r>
                        <a:rPr kumimoji="0" lang="zh-CN" altLang="en-US" sz="1600" u="none" strike="noStrike" cap="none" normalizeH="0" baseline="0" dirty="0">
                          <a:ln>
                            <a:noFill/>
                          </a:ln>
                          <a:effectLst/>
                        </a:rPr>
                        <a:t>丄 </a:t>
                      </a:r>
                      <a:r>
                        <a:rPr lang="en-US" altLang="zh-CN" sz="1600" kern="1200" dirty="0"/>
                        <a:t>symmetry plane</a:t>
                      </a:r>
                      <a:endParaRPr lang="zh-CN" altLang="en-US" sz="1600" dirty="0"/>
                    </a:p>
                    <a:p>
                      <a:pPr algn="just"/>
                      <a:r>
                        <a:rPr lang="en-US" altLang="zh-CN" sz="1600" kern="1200" dirty="0"/>
                        <a:t>choose crystal edges perpendicular to b as a, c</a:t>
                      </a:r>
                      <a:endParaRPr lang="zh-CN" altLang="en-US" sz="1600" kern="1200" dirty="0">
                        <a:solidFill>
                          <a:schemeClr val="dk1"/>
                        </a:solidFill>
                        <a:latin typeface="+mn-lt"/>
                        <a:ea typeface="+mn-ea"/>
                        <a:cs typeface="+mn-cs"/>
                      </a:endParaRPr>
                    </a:p>
                  </a:txBody>
                  <a:tcPr anchor="ctr">
                    <a:lnL>
                      <a:noFill/>
                    </a:lnL>
                    <a:solidFill>
                      <a:schemeClr val="bg1">
                        <a:lumMod val="85000"/>
                      </a:schemeClr>
                    </a:solidFill>
                  </a:tcPr>
                </a:tc>
                <a:extLst>
                  <a:ext uri="{0D108BD9-81ED-4DB2-BD59-A6C34878D82A}">
                    <a16:rowId xmlns:a16="http://schemas.microsoft.com/office/drawing/2014/main" val="10003"/>
                  </a:ext>
                </a:extLst>
              </a:tr>
              <a:tr h="809364">
                <a:tc>
                  <a:txBody>
                    <a:bodyPr/>
                    <a:lstStyle/>
                    <a:p>
                      <a:pPr algn="ctr"/>
                      <a:r>
                        <a:rPr kumimoji="0" lang="en-US" altLang="zh-CN" sz="1600" u="none" strike="noStrike" cap="none" normalizeH="0" baseline="0" dirty="0">
                          <a:ln>
                            <a:noFill/>
                          </a:ln>
                          <a:effectLst/>
                        </a:rPr>
                        <a:t>Triclinic</a:t>
                      </a:r>
                      <a:endParaRPr lang="zh-CN" altLang="en-US" sz="1600" dirty="0"/>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u="none" strike="noStrike" cap="none" normalizeH="0" baseline="0" dirty="0">
                          <a:ln>
                            <a:noFill/>
                          </a:ln>
                          <a:effectLst/>
                        </a:rPr>
                        <a:t>None or only with inversion center</a:t>
                      </a:r>
                      <a:endParaRPr kumimoji="0" lang="zh-CN" altLang="en-US" sz="1600" u="none" strike="noStrike" cap="none" normalizeH="0" baseline="0" dirty="0">
                        <a:ln>
                          <a:noFill/>
                        </a:ln>
                        <a:effectLst/>
                      </a:endParaRPr>
                    </a:p>
                    <a:p>
                      <a:endParaRPr lang="zh-CN" altLang="en-US" sz="1600" dirty="0"/>
                    </a:p>
                  </a:txBody>
                  <a:tcPr anchor="ct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t>a</a:t>
                      </a:r>
                      <a:r>
                        <a:rPr lang="el-GR" altLang="zh-CN" sz="1600" dirty="0"/>
                        <a:t>≠</a:t>
                      </a:r>
                      <a:r>
                        <a:rPr lang="en-US" altLang="zh-CN" sz="1600" baseline="0" dirty="0"/>
                        <a:t>b</a:t>
                      </a:r>
                      <a:r>
                        <a:rPr lang="el-GR" altLang="zh-CN" sz="1600" dirty="0"/>
                        <a:t>≠</a:t>
                      </a:r>
                      <a:r>
                        <a:rPr lang="en-US" altLang="zh-CN" sz="1600" baseline="0" dirty="0"/>
                        <a:t>c</a:t>
                      </a:r>
                    </a:p>
                    <a:p>
                      <a:pPr marL="0" marR="0" indent="0" algn="ctr" defTabSz="914400" rtl="0" eaLnBrk="1" fontAlgn="auto" latinLnBrk="0" hangingPunct="1">
                        <a:lnSpc>
                          <a:spcPct val="100000"/>
                        </a:lnSpc>
                        <a:spcBef>
                          <a:spcPts val="0"/>
                        </a:spcBef>
                        <a:spcAft>
                          <a:spcPts val="0"/>
                        </a:spcAft>
                        <a:buClrTx/>
                        <a:buSzTx/>
                        <a:buFontTx/>
                        <a:buNone/>
                        <a:defRPr/>
                      </a:pPr>
                      <a:r>
                        <a:rPr lang="el-GR" altLang="zh-CN" sz="1600" dirty="0"/>
                        <a:t>α≠β≠γ≠</a:t>
                      </a:r>
                      <a:r>
                        <a:rPr lang="en-US" altLang="zh-CN" sz="1600" dirty="0"/>
                        <a:t>90</a:t>
                      </a:r>
                      <a:r>
                        <a:rPr lang="en-US" altLang="zh-CN" sz="1600" baseline="30000" dirty="0"/>
                        <a:t>o</a:t>
                      </a:r>
                      <a:endParaRPr lang="en-US" altLang="zh-CN" sz="1600" dirty="0"/>
                    </a:p>
                  </a:txBody>
                  <a:tcPr anchor="ctr">
                    <a:lnT>
                      <a:noFill/>
                    </a:lnT>
                    <a:solidFill>
                      <a:schemeClr val="bg1">
                        <a:lumMod val="85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altLang="zh-CN" sz="1600" kern="1200" dirty="0"/>
                        <a:t>choose three non-coplanar crystal</a:t>
                      </a:r>
                      <a:r>
                        <a:rPr lang="en-US" altLang="zh-CN" sz="1600" kern="1200" baseline="0" dirty="0"/>
                        <a:t> </a:t>
                      </a:r>
                      <a:r>
                        <a:rPr lang="en-US" altLang="zh-CN" sz="1600" kern="1200" dirty="0"/>
                        <a:t>edges</a:t>
                      </a:r>
                      <a:r>
                        <a:rPr lang="en-US" altLang="zh-CN" sz="1600" kern="1200" baseline="0" dirty="0"/>
                        <a:t> as </a:t>
                      </a:r>
                      <a:r>
                        <a:rPr lang="en-US" altLang="zh-CN" sz="1600" kern="1200" dirty="0"/>
                        <a:t>a, b, c</a:t>
                      </a:r>
                      <a:endParaRPr lang="zh-CN" altLang="en-US" sz="1600" kern="1200" dirty="0">
                        <a:solidFill>
                          <a:schemeClr val="dk1"/>
                        </a:solidFill>
                        <a:latin typeface="+mn-lt"/>
                        <a:ea typeface="+mn-ea"/>
                        <a:cs typeface="+mn-cs"/>
                      </a:endParaRPr>
                    </a:p>
                  </a:txBody>
                  <a:tcPr anchor="ctr">
                    <a:solidFill>
                      <a:schemeClr val="bg1">
                        <a:lumMod val="85000"/>
                      </a:schemeClr>
                    </a:solidFill>
                  </a:tcPr>
                </a:tc>
                <a:extLst>
                  <a:ext uri="{0D108BD9-81ED-4DB2-BD59-A6C34878D82A}">
                    <a16:rowId xmlns:a16="http://schemas.microsoft.com/office/drawing/2014/main" val="10004"/>
                  </a:ext>
                </a:extLst>
              </a:tr>
            </a:tbl>
          </a:graphicData>
        </a:graphic>
      </p:graphicFrame>
      <p:graphicFrame>
        <p:nvGraphicFramePr>
          <p:cNvPr id="17" name="Table 16"/>
          <p:cNvGraphicFramePr>
            <a:graphicFrameLocks noGrp="1"/>
          </p:cNvGraphicFramePr>
          <p:nvPr/>
        </p:nvGraphicFramePr>
        <p:xfrm>
          <a:off x="189349" y="1412776"/>
          <a:ext cx="8775138" cy="828750"/>
        </p:xfrm>
        <a:graphic>
          <a:graphicData uri="http://schemas.openxmlformats.org/drawingml/2006/table">
            <a:tbl>
              <a:tblPr firstRow="1" bandRow="1">
                <a:tableStyleId>{F5AB1C69-6EDB-4FF4-983F-18BD219EF322}</a:tableStyleId>
              </a:tblPr>
              <a:tblGrid>
                <a:gridCol w="1442757">
                  <a:extLst>
                    <a:ext uri="{9D8B030D-6E8A-4147-A177-3AD203B41FA5}">
                      <a16:colId xmlns:a16="http://schemas.microsoft.com/office/drawing/2014/main" val="20000"/>
                    </a:ext>
                  </a:extLst>
                </a:gridCol>
                <a:gridCol w="2415487">
                  <a:extLst>
                    <a:ext uri="{9D8B030D-6E8A-4147-A177-3AD203B41FA5}">
                      <a16:colId xmlns:a16="http://schemas.microsoft.com/office/drawing/2014/main" val="20001"/>
                    </a:ext>
                  </a:extLst>
                </a:gridCol>
                <a:gridCol w="939356">
                  <a:extLst>
                    <a:ext uri="{9D8B030D-6E8A-4147-A177-3AD203B41FA5}">
                      <a16:colId xmlns:a16="http://schemas.microsoft.com/office/drawing/2014/main" val="20002"/>
                    </a:ext>
                  </a:extLst>
                </a:gridCol>
                <a:gridCol w="3977538">
                  <a:extLst>
                    <a:ext uri="{9D8B030D-6E8A-4147-A177-3AD203B41FA5}">
                      <a16:colId xmlns:a16="http://schemas.microsoft.com/office/drawing/2014/main" val="20003"/>
                    </a:ext>
                  </a:extLst>
                </a:gridCol>
              </a:tblGrid>
              <a:tr h="828750">
                <a:tc>
                  <a:txBody>
                    <a:bodyPr/>
                    <a:lstStyle/>
                    <a:p>
                      <a:pPr algn="ctr"/>
                      <a:r>
                        <a:rPr lang="en-US" altLang="zh-CN" sz="1600" dirty="0">
                          <a:solidFill>
                            <a:schemeClr val="tx1"/>
                          </a:solidFill>
                        </a:rPr>
                        <a:t>Crystal</a:t>
                      </a:r>
                      <a:r>
                        <a:rPr lang="en-US" altLang="zh-CN" sz="1600" baseline="0" dirty="0">
                          <a:solidFill>
                            <a:schemeClr val="tx1"/>
                          </a:solidFill>
                        </a:rPr>
                        <a:t> system</a:t>
                      </a:r>
                      <a:endParaRPr lang="zh-CN" altLang="en-US" sz="1600" dirty="0">
                        <a:solidFill>
                          <a:schemeClr val="tx1"/>
                        </a:solidFill>
                      </a:endParaRPr>
                    </a:p>
                  </a:txBody>
                  <a:tcPr anchor="ctr">
                    <a:solidFill>
                      <a:schemeClr val="bg1">
                        <a:lumMod val="85000"/>
                      </a:schemeClr>
                    </a:solidFill>
                  </a:tcPr>
                </a:tc>
                <a:tc>
                  <a:txBody>
                    <a:bodyPr/>
                    <a:lstStyle/>
                    <a:p>
                      <a:pPr algn="ctr"/>
                      <a:r>
                        <a:rPr lang="en-US" altLang="zh-CN" sz="1600" kern="1200" dirty="0">
                          <a:solidFill>
                            <a:schemeClr val="tx1"/>
                          </a:solidFill>
                          <a:effectLst/>
                        </a:rPr>
                        <a:t>Characteristic symmetric element</a:t>
                      </a:r>
                      <a:endParaRPr lang="zh-CN" altLang="en-US" sz="1600" dirty="0">
                        <a:solidFill>
                          <a:schemeClr val="tx1"/>
                        </a:solidFill>
                      </a:endParaRPr>
                    </a:p>
                  </a:txBody>
                  <a:tcPr anchor="ctr">
                    <a:solidFill>
                      <a:schemeClr val="bg1">
                        <a:lumMod val="85000"/>
                      </a:schemeClr>
                    </a:solidFill>
                  </a:tcPr>
                </a:tc>
                <a:tc>
                  <a:txBody>
                    <a:bodyPr/>
                    <a:lstStyle/>
                    <a:p>
                      <a:pPr algn="ctr"/>
                      <a:r>
                        <a:rPr lang="en-US" altLang="zh-CN" sz="1600" dirty="0">
                          <a:solidFill>
                            <a:schemeClr val="tx1"/>
                          </a:solidFill>
                        </a:rPr>
                        <a:t>Cell type</a:t>
                      </a:r>
                      <a:endParaRPr lang="zh-CN" altLang="en-US" sz="1600" dirty="0">
                        <a:solidFill>
                          <a:schemeClr val="tx1"/>
                        </a:solidFill>
                      </a:endParaRPr>
                    </a:p>
                  </a:txBody>
                  <a:tcPr anchor="ctr">
                    <a:solidFill>
                      <a:schemeClr val="bg1">
                        <a:lumMod val="85000"/>
                      </a:schemeClr>
                    </a:solidFill>
                  </a:tcPr>
                </a:tc>
                <a:tc>
                  <a:txBody>
                    <a:bodyPr/>
                    <a:lstStyle/>
                    <a:p>
                      <a:pPr algn="ctr"/>
                      <a:r>
                        <a:rPr lang="en-US" altLang="zh-CN" sz="1600" dirty="0">
                          <a:solidFill>
                            <a:schemeClr val="tx1"/>
                          </a:solidFill>
                        </a:rPr>
                        <a:t>Methods</a:t>
                      </a:r>
                      <a:r>
                        <a:rPr lang="en-US" altLang="zh-CN" sz="1600" baseline="0" dirty="0">
                          <a:solidFill>
                            <a:schemeClr val="tx1"/>
                          </a:solidFill>
                        </a:rPr>
                        <a:t> of selecting crystal axis</a:t>
                      </a:r>
                      <a:endParaRPr lang="zh-CN" altLang="en-US" sz="1600" dirty="0">
                        <a:solidFill>
                          <a:schemeClr val="tx1"/>
                        </a:solidFill>
                      </a:endParaRP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spTree>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51267" name="Group 3"/>
          <p:cNvGraphicFramePr>
            <a:graphicFrameLocks noGrp="1"/>
          </p:cNvGraphicFramePr>
          <p:nvPr>
            <p:ph type="tbl" idx="1"/>
          </p:nvPr>
        </p:nvGraphicFramePr>
        <p:xfrm>
          <a:off x="100210" y="1210961"/>
          <a:ext cx="8864278" cy="5530407"/>
        </p:xfrm>
        <a:graphic>
          <a:graphicData uri="http://schemas.openxmlformats.org/drawingml/2006/table">
            <a:tbl>
              <a:tblPr/>
              <a:tblGrid>
                <a:gridCol w="1403648">
                  <a:extLst>
                    <a:ext uri="{9D8B030D-6E8A-4147-A177-3AD203B41FA5}">
                      <a16:colId xmlns:a16="http://schemas.microsoft.com/office/drawing/2014/main" val="20000"/>
                    </a:ext>
                  </a:extLst>
                </a:gridCol>
                <a:gridCol w="4598688">
                  <a:extLst>
                    <a:ext uri="{9D8B030D-6E8A-4147-A177-3AD203B41FA5}">
                      <a16:colId xmlns:a16="http://schemas.microsoft.com/office/drawing/2014/main" val="20001"/>
                    </a:ext>
                  </a:extLst>
                </a:gridCol>
                <a:gridCol w="2861942">
                  <a:extLst>
                    <a:ext uri="{9D8B030D-6E8A-4147-A177-3AD203B41FA5}">
                      <a16:colId xmlns:a16="http://schemas.microsoft.com/office/drawing/2014/main" val="20002"/>
                    </a:ext>
                  </a:extLst>
                </a:gridCol>
              </a:tblGrid>
              <a:tr h="574675">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rPr>
                        <a:t>Crystal system</a:t>
                      </a:r>
                      <a:endParaRPr kumimoji="0"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rPr>
                        <a:t>Selection of  standard unit cell</a:t>
                      </a:r>
                      <a:endParaRPr kumimoji="0" lang="zh-CN" altLang="en-US" sz="20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mn-lt"/>
                          <a:ea typeface="宋体" panose="02010600030101010101" pitchFamily="2" charset="-122"/>
                        </a:rPr>
                        <a:t>The option of unit cell selection</a:t>
                      </a:r>
                      <a:endParaRPr kumimoji="0" lang="zh-CN" altLang="en-US" sz="20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7063">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Triclinic</a:t>
                      </a:r>
                      <a:endParaRPr kumimoji="0" lang="zh-CN" altLang="en-US" sz="16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Intersect angles between crystal axes as right angle as possible , but not equal to 90</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a:t>
                      </a:r>
                      <a:endParaRPr kumimoji="0" lang="zh-CN" altLang="en-US"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Allow intersect angle </a:t>
                      </a:r>
                      <a:r>
                        <a:rPr kumimoji="0" lang="zh-CN" altLang="en-US"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90</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848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Monoclinic</a:t>
                      </a:r>
                      <a:endParaRPr kumimoji="0" lang="zh-CN" altLang="en-US" sz="16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Y axis // one 2-fold axis or</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丄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mirror plane</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a:t>
                      </a:r>
                      <a:r>
                        <a:rPr kumimoji="0" lang="el-GR" altLang="zh-CN" sz="1600" b="0" i="0" u="none" strike="noStrike" cap="none" normalizeH="0" baseline="0" dirty="0">
                          <a:ln>
                            <a:noFill/>
                          </a:ln>
                          <a:solidFill>
                            <a:schemeClr val="tx1"/>
                          </a:solidFill>
                          <a:effectLst/>
                          <a:latin typeface="+mn-lt"/>
                          <a:ea typeface="宋体" panose="02010600030101010101" pitchFamily="2" charset="-122"/>
                        </a:rPr>
                        <a:t>β</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 angle nearly close to 90</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Selection as the same standard, but substitute Z axis with Y axis, substitute g</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angle with b angle</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6896">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Orthorhombic</a:t>
                      </a:r>
                      <a:endParaRPr kumimoji="0" lang="zh-CN" altLang="en-US" sz="16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crystal axis // Three perpendicular 2-folds or</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丄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mirror plane</a:t>
                      </a: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None </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848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Tetragonal</a:t>
                      </a:r>
                      <a:endParaRPr kumimoji="0" lang="zh-CN" altLang="en-US" sz="16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Z</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axis // one 4-fold Rotation(inversion) axis, X axis</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丄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Y axis</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丄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Z axis</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None </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0075">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Trigonal</a:t>
                      </a:r>
                      <a:endParaRPr kumimoji="0" lang="zh-CN" altLang="en-US" sz="16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Z</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axis // one 3/6-fold rotation(inversion) axis, both X axis</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and Y axis</a:t>
                      </a:r>
                      <a:r>
                        <a:rPr kumimoji="0" lang="zh-CN" altLang="en-US" sz="1600" b="0" i="0" u="none" strike="noStrike" cap="none" normalizeH="0" baseline="0" dirty="0">
                          <a:ln>
                            <a:noFill/>
                          </a:ln>
                          <a:solidFill>
                            <a:schemeClr val="tx1"/>
                          </a:solidFill>
                          <a:effectLst/>
                          <a:latin typeface="+mn-lt"/>
                          <a:ea typeface="宋体" panose="02010600030101010101" pitchFamily="2" charset="-122"/>
                        </a:rPr>
                        <a:t>丄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Z axis, intersect angle between X axis and  Y axis is 120 </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In </a:t>
                      </a:r>
                      <a:r>
                        <a:rPr kumimoji="0" lang="en-US" altLang="zh-CN" sz="16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Trigonal system, 3-fold axis is selected as the diagonal of primitive cell, then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a=b=c, a=b=g</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 </a:t>
                      </a:r>
                      <a:r>
                        <a:rPr kumimoji="0" lang="en-US" altLang="zh-CN" sz="1600" b="0" i="0" u="none" strike="noStrike" cap="none" normalizeH="0" baseline="0" dirty="0">
                          <a:ln>
                            <a:noFill/>
                          </a:ln>
                          <a:solidFill>
                            <a:schemeClr val="tx1"/>
                          </a:solidFill>
                          <a:effectLst/>
                          <a:latin typeface="+mn-lt"/>
                          <a:ea typeface="宋体" panose="02010600030101010101" pitchFamily="2" charset="-122"/>
                        </a:rPr>
                        <a:t>90</a:t>
                      </a:r>
                      <a:r>
                        <a:rPr kumimoji="0" lang="en-US" altLang="zh-CN" sz="1600" b="0" i="0" u="none" strike="noStrike" cap="none" normalizeH="0" baseline="0" dirty="0">
                          <a:ln>
                            <a:noFill/>
                          </a:ln>
                          <a:solidFill>
                            <a:schemeClr val="tx1"/>
                          </a:solidFill>
                          <a:effectLst/>
                          <a:latin typeface="+mn-lt"/>
                          <a:ea typeface="宋体" panose="02010600030101010101" pitchFamily="2" charset="-122"/>
                          <a:sym typeface="Symbol" panose="05050102010706020507" pitchFamily="18" charset="2"/>
                        </a:rPr>
                        <a:t></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8488">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Cubic</a:t>
                      </a:r>
                      <a:endParaRPr kumimoji="0" lang="zh-CN" altLang="en-US" sz="1600" b="1"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crystal axis // Three perpendicular 2-folds or 4-folds, four 3-folds // body diagonal of cubic cell</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mn-lt"/>
                          <a:ea typeface="宋体" panose="02010600030101010101" pitchFamily="2" charset="-122"/>
                        </a:rPr>
                        <a:t>None</a:t>
                      </a:r>
                      <a:endParaRPr kumimoji="0" lang="zh-CN" altLang="en-US" sz="1600" b="0" i="0" u="none" strike="noStrike" cap="none" normalizeH="0" baseline="0" dirty="0">
                        <a:ln>
                          <a:noFill/>
                        </a:ln>
                        <a:solidFill>
                          <a:schemeClr val="tx1"/>
                        </a:solidFill>
                        <a:effectLst/>
                        <a:latin typeface="+mn-lt"/>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Text Box 3"/>
          <p:cNvSpPr txBox="1">
            <a:spLocks noChangeArrowheads="1"/>
          </p:cNvSpPr>
          <p:nvPr/>
        </p:nvSpPr>
        <p:spPr bwMode="auto">
          <a:xfrm>
            <a:off x="539552" y="-1"/>
            <a:ext cx="8172468" cy="120032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defRPr sz="3600">
                <a:latin typeface="+mn-lt"/>
              </a:defRPr>
            </a:lvl1pPr>
          </a:lstStyle>
          <a:p>
            <a:r>
              <a:rPr lang="en-US" altLang="zh-CN" dirty="0"/>
              <a:t>Selection of unit cells in different </a:t>
            </a:r>
          </a:p>
          <a:p>
            <a:r>
              <a:rPr lang="en-US" altLang="zh-CN" dirty="0"/>
              <a:t>Crystal systems</a:t>
            </a:r>
            <a:endParaRPr lang="zh-CN" altLang="en-US" dirty="0"/>
          </a:p>
        </p:txBody>
      </p:sp>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Significance of the point groups</a:t>
            </a:r>
          </a:p>
        </p:txBody>
      </p:sp>
      <p:sp>
        <p:nvSpPr>
          <p:cNvPr id="3" name="Content Placeholder 2"/>
          <p:cNvSpPr>
            <a:spLocks noGrp="1"/>
          </p:cNvSpPr>
          <p:nvPr>
            <p:ph idx="1"/>
          </p:nvPr>
        </p:nvSpPr>
        <p:spPr/>
        <p:txBody>
          <a:bodyPr/>
          <a:lstStyle/>
          <a:p>
            <a:pPr marL="0" indent="0" algn="just">
              <a:buNone/>
            </a:pPr>
            <a:r>
              <a:rPr lang="en-US" dirty="0"/>
              <a:t>No matter how complicated the shapes and diversities of crystals are, their microscopic symmetry must belong to one of 32 point groups. </a:t>
            </a:r>
          </a:p>
          <a:p>
            <a:pPr marL="0" indent="0" algn="just">
              <a:buNone/>
            </a:pPr>
            <a:r>
              <a:rPr lang="en-US" dirty="0"/>
              <a:t>32 point groups are the basis for studying the macroscopic symmetry, and it is the systematic summary of the macroscopic symmetry of crystals. </a:t>
            </a:r>
          </a:p>
          <a:p>
            <a:pPr marL="0" indent="0" algn="just">
              <a:buNone/>
            </a:pPr>
            <a:endParaRPr lang="en-US" dirty="0"/>
          </a:p>
        </p:txBody>
      </p:sp>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Point groups and physical properties</a:t>
            </a:r>
          </a:p>
        </p:txBody>
      </p:sp>
      <p:sp>
        <p:nvSpPr>
          <p:cNvPr id="3" name="Content Placeholder 2"/>
          <p:cNvSpPr>
            <a:spLocks noGrp="1"/>
          </p:cNvSpPr>
          <p:nvPr>
            <p:ph idx="1"/>
          </p:nvPr>
        </p:nvSpPr>
        <p:spPr>
          <a:xfrm>
            <a:off x="457200" y="1600200"/>
            <a:ext cx="8229600" cy="5141168"/>
          </a:xfrm>
        </p:spPr>
        <p:txBody>
          <a:bodyPr>
            <a:normAutofit fontScale="70000" lnSpcReduction="20000"/>
          </a:bodyPr>
          <a:lstStyle/>
          <a:p>
            <a:pPr marL="0" indent="0" algn="just">
              <a:buNone/>
            </a:pPr>
            <a:r>
              <a:rPr lang="en-US" b="1" dirty="0"/>
              <a:t>According to the symmetry </a:t>
            </a:r>
            <a:r>
              <a:rPr lang="en-US" altLang="zh-CN" b="1" dirty="0"/>
              <a:t>of </a:t>
            </a:r>
            <a:r>
              <a:rPr lang="en-US" b="1" dirty="0"/>
              <a:t>point groups, whether certain crystals have some physical properties, such as enantiomer </a:t>
            </a:r>
            <a:r>
              <a:rPr lang="zh-CN" altLang="en-US" b="1" dirty="0"/>
              <a:t>（对映体）</a:t>
            </a:r>
            <a:r>
              <a:rPr lang="en-US" b="1" dirty="0"/>
              <a:t>, optical rotation</a:t>
            </a:r>
            <a:r>
              <a:rPr lang="zh-CN" altLang="en-US" b="1" dirty="0"/>
              <a:t>（旋光性）</a:t>
            </a:r>
            <a:r>
              <a:rPr lang="en-US" b="1" dirty="0"/>
              <a:t>, piezoelectric effect</a:t>
            </a:r>
            <a:r>
              <a:rPr lang="zh-CN" altLang="en-US" b="1" dirty="0"/>
              <a:t>（压电效应）</a:t>
            </a:r>
            <a:r>
              <a:rPr lang="en-US" b="1" dirty="0"/>
              <a:t>, thermoelectric effect</a:t>
            </a:r>
            <a:r>
              <a:rPr lang="zh-CN" altLang="en-US" b="1" dirty="0"/>
              <a:t>（热电效应）</a:t>
            </a:r>
            <a:r>
              <a:rPr lang="en-US" b="1" dirty="0"/>
              <a:t>, frequency-doubled effect </a:t>
            </a:r>
            <a:r>
              <a:rPr lang="zh-CN" altLang="en-US" b="1" dirty="0"/>
              <a:t>（倍频效应）</a:t>
            </a:r>
            <a:r>
              <a:rPr lang="en-US" b="1" dirty="0"/>
              <a:t>and so on, can be determined. </a:t>
            </a:r>
          </a:p>
          <a:p>
            <a:pPr algn="just"/>
            <a:r>
              <a:rPr lang="en-US" b="1" dirty="0"/>
              <a:t>Optical rotation </a:t>
            </a:r>
            <a:r>
              <a:rPr lang="en-US" dirty="0"/>
              <a:t>appears in 15 point groups without symmetric centers.</a:t>
            </a:r>
          </a:p>
          <a:p>
            <a:pPr algn="just"/>
            <a:r>
              <a:rPr lang="en-US" b="1" dirty="0"/>
              <a:t>Thermoelectricity</a:t>
            </a:r>
            <a:r>
              <a:rPr lang="en-US" dirty="0"/>
              <a:t> exists in 10 point groups only containing one polar axis.</a:t>
            </a:r>
          </a:p>
          <a:p>
            <a:pPr algn="just"/>
            <a:r>
              <a:rPr lang="en-US" b="1" dirty="0"/>
              <a:t>Piezoelectricity</a:t>
            </a:r>
            <a:r>
              <a:rPr lang="en-US" dirty="0"/>
              <a:t> appears in 20 point groups without symmetry </a:t>
            </a:r>
            <a:r>
              <a:rPr lang="en-US" altLang="zh-CN" dirty="0"/>
              <a:t>centers</a:t>
            </a:r>
            <a:r>
              <a:rPr lang="en-US" dirty="0"/>
              <a:t> (except 432).</a:t>
            </a:r>
          </a:p>
          <a:p>
            <a:pPr algn="just"/>
            <a:r>
              <a:rPr lang="en-US" b="1" dirty="0"/>
              <a:t>The  frequency-doubled effect </a:t>
            </a:r>
            <a:r>
              <a:rPr lang="en-US" dirty="0"/>
              <a:t>appears in 18 point groups without symmetric centers.</a:t>
            </a:r>
          </a:p>
          <a:p>
            <a:pPr marL="0" indent="0" algn="just">
              <a:buNone/>
            </a:pPr>
            <a:endParaRPr lang="en-US" dirty="0"/>
          </a:p>
          <a:p>
            <a:pPr marL="0" indent="0" algn="just">
              <a:buNone/>
            </a:pPr>
            <a:r>
              <a:rPr lang="en-US" dirty="0"/>
              <a:t>On the contrary, the measurement of the physical properties towards the crystal structure, can also determine whether the crystal has a symmetrical center.</a:t>
            </a:r>
          </a:p>
        </p:txBody>
      </p:sp>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p:nvPr/>
        </p:nvSpPr>
        <p:spPr>
          <a:xfrm>
            <a:off x="827584" y="190381"/>
            <a:ext cx="7632848" cy="584775"/>
          </a:xfrm>
          <a:prstGeom prst="rect">
            <a:avLst/>
          </a:prstGeom>
          <a:noFill/>
        </p:spPr>
        <p:txBody>
          <a:bodyPr wrap="square" rtlCol="0">
            <a:spAutoFit/>
          </a:bodyPr>
          <a:lstStyle/>
          <a:p>
            <a:r>
              <a:rPr lang="en-US" sz="3200" dirty="0"/>
              <a:t>Point groups and physical properties</a:t>
            </a:r>
            <a:endParaRPr lang="zh-CN" altLang="en-US" sz="3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907704" y="819150"/>
            <a:ext cx="5667375" cy="6038850"/>
          </a:xfrm>
          <a:prstGeom prst="rect">
            <a:avLst/>
          </a:prstGeom>
        </p:spPr>
      </p:pic>
      <p:sp>
        <p:nvSpPr>
          <p:cNvPr id="2" name="TextBox 1"/>
          <p:cNvSpPr txBox="1"/>
          <p:nvPr/>
        </p:nvSpPr>
        <p:spPr>
          <a:xfrm>
            <a:off x="1959547" y="2420888"/>
            <a:ext cx="1008112" cy="1169551"/>
          </a:xfrm>
          <a:prstGeom prst="rect">
            <a:avLst/>
          </a:prstGeom>
          <a:solidFill>
            <a:schemeClr val="bg1"/>
          </a:solidFill>
        </p:spPr>
        <p:txBody>
          <a:bodyPr wrap="square" rtlCol="0">
            <a:spAutoFit/>
          </a:bodyPr>
          <a:lstStyle/>
          <a:p>
            <a:r>
              <a:rPr lang="en-US" sz="1400" b="0" dirty="0"/>
              <a:t>21 </a:t>
            </a:r>
            <a:r>
              <a:rPr lang="en-US" altLang="zh-CN" sz="1400" b="0" dirty="0"/>
              <a:t>non </a:t>
            </a:r>
            <a:r>
              <a:rPr lang="en-US" sz="1400" b="0" dirty="0" err="1"/>
              <a:t>centro</a:t>
            </a:r>
            <a:r>
              <a:rPr lang="en-US" sz="1400" b="0" dirty="0"/>
              <a:t>-symmetric</a:t>
            </a:r>
          </a:p>
          <a:p>
            <a:r>
              <a:rPr lang="en-US" altLang="zh-CN" sz="1400" b="0" dirty="0"/>
              <a:t> point groups</a:t>
            </a:r>
            <a:endParaRPr lang="en-US" sz="1400" b="0" dirty="0"/>
          </a:p>
        </p:txBody>
      </p:sp>
      <p:sp>
        <p:nvSpPr>
          <p:cNvPr id="7" name="TextBox 6"/>
          <p:cNvSpPr txBox="1"/>
          <p:nvPr/>
        </p:nvSpPr>
        <p:spPr>
          <a:xfrm>
            <a:off x="1960662" y="5211197"/>
            <a:ext cx="1008112" cy="954107"/>
          </a:xfrm>
          <a:prstGeom prst="rect">
            <a:avLst/>
          </a:prstGeom>
          <a:solidFill>
            <a:schemeClr val="bg1"/>
          </a:solidFill>
        </p:spPr>
        <p:txBody>
          <a:bodyPr wrap="square" rtlCol="0">
            <a:spAutoFit/>
          </a:bodyPr>
          <a:lstStyle/>
          <a:p>
            <a:r>
              <a:rPr lang="en-US" sz="1400" b="0" dirty="0"/>
              <a:t>11 </a:t>
            </a:r>
            <a:r>
              <a:rPr lang="en-US" altLang="zh-CN" sz="1400" b="0" dirty="0" err="1"/>
              <a:t>centro</a:t>
            </a:r>
            <a:r>
              <a:rPr lang="en-US" altLang="zh-CN" sz="1400" b="0" dirty="0"/>
              <a:t> symmetric point groups</a:t>
            </a:r>
            <a:endParaRPr lang="en-US" sz="1400" b="0" dirty="0"/>
          </a:p>
        </p:txBody>
      </p:sp>
      <p:sp>
        <p:nvSpPr>
          <p:cNvPr id="8" name="TextBox 7"/>
          <p:cNvSpPr txBox="1"/>
          <p:nvPr/>
        </p:nvSpPr>
        <p:spPr>
          <a:xfrm>
            <a:off x="3031257" y="1700808"/>
            <a:ext cx="936104" cy="830997"/>
          </a:xfrm>
          <a:prstGeom prst="rect">
            <a:avLst/>
          </a:prstGeom>
          <a:solidFill>
            <a:schemeClr val="bg1"/>
          </a:solidFill>
        </p:spPr>
        <p:txBody>
          <a:bodyPr wrap="square" rtlCol="0">
            <a:spAutoFit/>
          </a:bodyPr>
          <a:lstStyle/>
          <a:p>
            <a:r>
              <a:rPr lang="en-US" sz="1200" b="0" dirty="0"/>
              <a:t>11 pure rotation </a:t>
            </a:r>
            <a:r>
              <a:rPr lang="en-US" altLang="zh-CN" sz="1200" b="0" dirty="0"/>
              <a:t>point groups</a:t>
            </a:r>
            <a:endParaRPr lang="en-US" sz="1200" b="0" dirty="0"/>
          </a:p>
        </p:txBody>
      </p:sp>
      <p:sp>
        <p:nvSpPr>
          <p:cNvPr id="9" name="TextBox 8"/>
          <p:cNvSpPr txBox="1"/>
          <p:nvPr/>
        </p:nvSpPr>
        <p:spPr>
          <a:xfrm>
            <a:off x="3031257" y="3567708"/>
            <a:ext cx="936104" cy="646331"/>
          </a:xfrm>
          <a:prstGeom prst="rect">
            <a:avLst/>
          </a:prstGeom>
          <a:solidFill>
            <a:schemeClr val="bg1"/>
          </a:solidFill>
        </p:spPr>
        <p:txBody>
          <a:bodyPr wrap="square" rtlCol="0">
            <a:spAutoFit/>
          </a:bodyPr>
          <a:lstStyle/>
          <a:p>
            <a:r>
              <a:rPr lang="en-US" sz="1200" b="0" dirty="0"/>
              <a:t>10 new</a:t>
            </a:r>
          </a:p>
          <a:p>
            <a:r>
              <a:rPr lang="en-US" altLang="zh-CN" sz="1200" b="0" dirty="0"/>
              <a:t>point groups</a:t>
            </a:r>
            <a:endParaRPr lang="en-US" sz="1200" b="0" dirty="0"/>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Microscopic symmetry of crystals</a:t>
            </a:r>
          </a:p>
        </p:txBody>
      </p:sp>
      <p:sp>
        <p:nvSpPr>
          <p:cNvPr id="5" name="Content Placeholder 4"/>
          <p:cNvSpPr>
            <a:spLocks noGrp="1"/>
          </p:cNvSpPr>
          <p:nvPr>
            <p:ph idx="1"/>
          </p:nvPr>
        </p:nvSpPr>
        <p:spPr/>
        <p:txBody>
          <a:bodyPr/>
          <a:lstStyle/>
          <a:p>
            <a:pPr marL="0" indent="0">
              <a:buNone/>
            </a:pPr>
            <a:r>
              <a:rPr lang="zh-CN" altLang="en-US" sz="2400" b="1" dirty="0">
                <a:ea typeface="黑体" panose="02010609060101010101" pitchFamily="49" charset="-122"/>
                <a:cs typeface="Times New Roman" panose="02020603050405020304" pitchFamily="18" charset="0"/>
              </a:rPr>
              <a:t>Microscopic </a:t>
            </a:r>
            <a:r>
              <a:rPr lang="en-US" altLang="zh-CN" sz="2400" b="1" dirty="0">
                <a:ea typeface="黑体" panose="02010609060101010101" pitchFamily="49" charset="-122"/>
                <a:cs typeface="Times New Roman" panose="02020603050405020304" pitchFamily="18" charset="0"/>
              </a:rPr>
              <a:t>S</a:t>
            </a:r>
            <a:r>
              <a:rPr lang="zh-CN" altLang="en-US" sz="2400" b="1" dirty="0">
                <a:ea typeface="黑体" panose="02010609060101010101" pitchFamily="49" charset="-122"/>
                <a:cs typeface="Times New Roman" panose="02020603050405020304" pitchFamily="18" charset="0"/>
              </a:rPr>
              <a:t>ymmetry </a:t>
            </a:r>
            <a:r>
              <a:rPr lang="en-US" altLang="zh-CN" sz="2400" b="1" dirty="0">
                <a:ea typeface="黑体" panose="02010609060101010101" pitchFamily="49" charset="-122"/>
                <a:cs typeface="Times New Roman" panose="02020603050405020304" pitchFamily="18" charset="0"/>
              </a:rPr>
              <a:t>and Symmetry Operation</a:t>
            </a:r>
            <a:r>
              <a:rPr lang="zh-CN" altLang="en-US" sz="2400" b="1" dirty="0">
                <a:ea typeface="黑体" panose="02010609060101010101" pitchFamily="49" charset="-122"/>
                <a:cs typeface="Times New Roman" panose="02020603050405020304" pitchFamily="18" charset="0"/>
              </a:rPr>
              <a:t> of </a:t>
            </a:r>
            <a:r>
              <a:rPr lang="en-US" altLang="zh-CN" sz="2400" b="1" dirty="0">
                <a:ea typeface="黑体" panose="02010609060101010101" pitchFamily="49" charset="-122"/>
                <a:cs typeface="Times New Roman" panose="02020603050405020304" pitchFamily="18" charset="0"/>
              </a:rPr>
              <a:t>C</a:t>
            </a:r>
            <a:r>
              <a:rPr lang="zh-CN" altLang="en-US" sz="2400" b="1" dirty="0">
                <a:ea typeface="黑体" panose="02010609060101010101" pitchFamily="49" charset="-122"/>
                <a:cs typeface="Times New Roman" panose="02020603050405020304" pitchFamily="18" charset="0"/>
              </a:rPr>
              <a:t>rystals</a:t>
            </a:r>
          </a:p>
          <a:p>
            <a:endParaRPr lang="en-US" dirty="0"/>
          </a:p>
        </p:txBody>
      </p:sp>
      <p:grpSp>
        <p:nvGrpSpPr>
          <p:cNvPr id="12" name="Group 11"/>
          <p:cNvGrpSpPr/>
          <p:nvPr/>
        </p:nvGrpSpPr>
        <p:grpSpPr>
          <a:xfrm>
            <a:off x="467544" y="3573016"/>
            <a:ext cx="8118723" cy="1729323"/>
            <a:chOff x="611560" y="2358106"/>
            <a:chExt cx="8118723" cy="1729323"/>
          </a:xfrm>
        </p:grpSpPr>
        <p:sp>
          <p:nvSpPr>
            <p:cNvPr id="7" name="Rectangle 6"/>
            <p:cNvSpPr>
              <a:spLocks noChangeArrowheads="1"/>
            </p:cNvSpPr>
            <p:nvPr/>
          </p:nvSpPr>
          <p:spPr bwMode="auto">
            <a:xfrm>
              <a:off x="629023" y="2948656"/>
              <a:ext cx="3744922"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t">
                <a:spcBef>
                  <a:spcPct val="20000"/>
                </a:spcBef>
              </a:pPr>
              <a:r>
                <a:rPr kumimoji="1" lang="en-US" altLang="zh-CN" sz="2000" b="0" dirty="0">
                  <a:latin typeface="Times New Roman" panose="02020603050405020304" pitchFamily="18" charset="0"/>
                  <a:ea typeface="黑体" panose="02010609060101010101" pitchFamily="49" charset="-122"/>
                  <a:cs typeface="Times New Roman" panose="02020603050405020304" pitchFamily="18" charset="0"/>
                </a:rPr>
                <a:t>Translation Axis </a:t>
              </a:r>
            </a:p>
            <a:p>
              <a:pPr fontAlgn="t">
                <a:spcBef>
                  <a:spcPct val="20000"/>
                </a:spcBef>
              </a:pPr>
              <a:r>
                <a:rPr kumimoji="1" lang="en-US" altLang="zh-CN" sz="2000" b="0" dirty="0">
                  <a:latin typeface="Times New Roman" panose="02020603050405020304" pitchFamily="18" charset="0"/>
                  <a:ea typeface="黑体" panose="02010609060101010101" pitchFamily="49" charset="-122"/>
                  <a:cs typeface="Times New Roman" panose="02020603050405020304" pitchFamily="18" charset="0"/>
                </a:rPr>
                <a:t>Screw Axis</a:t>
              </a:r>
            </a:p>
            <a:p>
              <a:pPr fontAlgn="t">
                <a:spcBef>
                  <a:spcPct val="20000"/>
                </a:spcBef>
              </a:pPr>
              <a:r>
                <a:rPr kumimoji="1" lang="en-US" altLang="zh-CN" sz="2000" b="0" dirty="0">
                  <a:latin typeface="Times New Roman" panose="02020603050405020304" pitchFamily="18" charset="0"/>
                  <a:ea typeface="黑体" panose="02010609060101010101" pitchFamily="49" charset="-122"/>
                  <a:cs typeface="Times New Roman" panose="02020603050405020304" pitchFamily="18" charset="0"/>
                </a:rPr>
                <a:t>Glide Plane</a:t>
              </a:r>
              <a:endParaRPr kumimoji="1" lang="zh-CN" altLang="en-US" sz="2400" b="0" dirty="0">
                <a:latin typeface="黑体" panose="02010609060101010101" pitchFamily="49" charset="-122"/>
                <a:ea typeface="黑体" panose="02010609060101010101" pitchFamily="49" charset="-122"/>
              </a:endParaRPr>
            </a:p>
          </p:txBody>
        </p:sp>
        <p:sp>
          <p:nvSpPr>
            <p:cNvPr id="8" name="Rectangle 7"/>
            <p:cNvSpPr>
              <a:spLocks noChangeArrowheads="1"/>
            </p:cNvSpPr>
            <p:nvPr/>
          </p:nvSpPr>
          <p:spPr bwMode="auto">
            <a:xfrm>
              <a:off x="611560" y="2358106"/>
              <a:ext cx="388779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t">
                <a:spcBef>
                  <a:spcPct val="20000"/>
                </a:spcBef>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Symmetry Elements</a:t>
              </a:r>
              <a:r>
                <a:rPr kumimoji="1"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9" name="Rectangle 8"/>
            <p:cNvSpPr>
              <a:spLocks noChangeArrowheads="1"/>
            </p:cNvSpPr>
            <p:nvPr/>
          </p:nvSpPr>
          <p:spPr bwMode="auto">
            <a:xfrm>
              <a:off x="4805745" y="2372394"/>
              <a:ext cx="3408371"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t">
                <a:spcBef>
                  <a:spcPct val="20000"/>
                </a:spcBef>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Symmetry Operations</a:t>
              </a:r>
              <a:r>
                <a:rPr kumimoji="1"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0" name="Rectangle 9"/>
            <p:cNvSpPr>
              <a:spLocks noChangeArrowheads="1"/>
            </p:cNvSpPr>
            <p:nvPr/>
          </p:nvSpPr>
          <p:spPr bwMode="auto">
            <a:xfrm>
              <a:off x="4877420" y="2948656"/>
              <a:ext cx="3852863"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t">
                <a:spcBef>
                  <a:spcPct val="20000"/>
                </a:spcBef>
              </a:pPr>
              <a:r>
                <a:rPr kumimoji="1" lang="en-US" altLang="zh-CN" sz="2000" b="0" dirty="0">
                  <a:latin typeface="Times New Roman" panose="02020603050405020304" pitchFamily="18" charset="0"/>
                  <a:ea typeface="黑体" panose="02010609060101010101" pitchFamily="49" charset="-122"/>
                  <a:cs typeface="Times New Roman" panose="02020603050405020304" pitchFamily="18" charset="0"/>
                </a:rPr>
                <a:t>Translation Operation</a:t>
              </a:r>
              <a:endParaRPr kumimoji="1" lang="zh-CN" altLang="en-US" sz="2000" b="0" dirty="0">
                <a:latin typeface="Times New Roman" panose="02020603050405020304" pitchFamily="18" charset="0"/>
                <a:ea typeface="黑体" panose="02010609060101010101" pitchFamily="49" charset="-122"/>
                <a:cs typeface="Times New Roman" panose="02020603050405020304" pitchFamily="18" charset="0"/>
              </a:endParaRPr>
            </a:p>
            <a:p>
              <a:pPr fontAlgn="t">
                <a:spcBef>
                  <a:spcPct val="20000"/>
                </a:spcBef>
              </a:pPr>
              <a:r>
                <a:rPr kumimoji="1" lang="en-US" altLang="zh-CN" sz="2000" b="0" dirty="0">
                  <a:latin typeface="Times New Roman" panose="02020603050405020304" pitchFamily="18" charset="0"/>
                  <a:ea typeface="黑体" panose="02010609060101010101" pitchFamily="49" charset="-122"/>
                  <a:cs typeface="Times New Roman" panose="02020603050405020304" pitchFamily="18" charset="0"/>
                </a:rPr>
                <a:t>Screw Rotation Operation</a:t>
              </a:r>
              <a:endParaRPr kumimoji="1" lang="zh-CN" altLang="en-US" sz="2000" b="0" dirty="0">
                <a:latin typeface="Times New Roman" panose="02020603050405020304" pitchFamily="18" charset="0"/>
                <a:ea typeface="黑体" panose="02010609060101010101" pitchFamily="49" charset="-122"/>
                <a:cs typeface="Times New Roman" panose="02020603050405020304" pitchFamily="18" charset="0"/>
              </a:endParaRPr>
            </a:p>
            <a:p>
              <a:pPr fontAlgn="t">
                <a:spcBef>
                  <a:spcPct val="20000"/>
                </a:spcBef>
              </a:pPr>
              <a:r>
                <a:rPr kumimoji="1" lang="en-US" altLang="zh-CN" sz="2000" b="0" dirty="0">
                  <a:latin typeface="Times New Roman" panose="02020603050405020304" pitchFamily="18" charset="0"/>
                  <a:ea typeface="黑体" panose="02010609060101010101" pitchFamily="49" charset="-122"/>
                  <a:cs typeface="Times New Roman" panose="02020603050405020304" pitchFamily="18" charset="0"/>
                </a:rPr>
                <a:t>Glide Reflection Operation</a:t>
              </a:r>
              <a:endParaRPr kumimoji="1" lang="zh-CN" altLang="en-US" sz="2000" b="0"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1" name="Rectangle 10"/>
          <p:cNvSpPr/>
          <p:nvPr/>
        </p:nvSpPr>
        <p:spPr>
          <a:xfrm>
            <a:off x="466993" y="2132855"/>
            <a:ext cx="8194730" cy="1323439"/>
          </a:xfrm>
          <a:prstGeom prst="rect">
            <a:avLst/>
          </a:prstGeom>
        </p:spPr>
        <p:txBody>
          <a:bodyPr wrap="square">
            <a:spAutoFit/>
          </a:bodyPr>
          <a:lstStyle/>
          <a:p>
            <a:pPr algn="just"/>
            <a:r>
              <a:rPr lang="zh-CN" altLang="en-US" sz="2000" dirty="0">
                <a:latin typeface="+mn-lt"/>
                <a:cs typeface="Times New Roman" panose="02020603050405020304" pitchFamily="18" charset="0"/>
              </a:rPr>
              <a:t>The most basic </a:t>
            </a:r>
            <a:r>
              <a:rPr lang="en-US" altLang="zh-CN" sz="2000" dirty="0">
                <a:latin typeface="+mn-lt"/>
                <a:cs typeface="Times New Roman" panose="02020603050405020304" pitchFamily="18" charset="0"/>
              </a:rPr>
              <a:t>characteristic </a:t>
            </a:r>
            <a:r>
              <a:rPr lang="zh-CN" altLang="en-US" sz="2000" dirty="0">
                <a:latin typeface="+mn-lt"/>
                <a:cs typeface="Times New Roman" panose="02020603050405020304" pitchFamily="18" charset="0"/>
              </a:rPr>
              <a:t>of </a:t>
            </a:r>
            <a:r>
              <a:rPr lang="en-US" altLang="zh-CN" sz="2000" dirty="0">
                <a:latin typeface="+mn-lt"/>
                <a:cs typeface="Times New Roman" panose="02020603050405020304" pitchFamily="18" charset="0"/>
              </a:rPr>
              <a:t>a </a:t>
            </a:r>
            <a:r>
              <a:rPr lang="zh-CN" altLang="en-US" sz="2000" dirty="0">
                <a:latin typeface="+mn-lt"/>
                <a:cs typeface="Times New Roman" panose="02020603050405020304" pitchFamily="18" charset="0"/>
              </a:rPr>
              <a:t>crystal structure is the spatial lattice structure. Therefore, </a:t>
            </a:r>
            <a:r>
              <a:rPr lang="en-US" altLang="zh-CN" sz="2000" dirty="0">
                <a:latin typeface="+mn-lt"/>
                <a:cs typeface="Times New Roman" panose="02020603050405020304" pitchFamily="18" charset="0"/>
              </a:rPr>
              <a:t>besides the operations of </a:t>
            </a:r>
            <a:r>
              <a:rPr lang="zh-CN" altLang="en-US" sz="2000" dirty="0">
                <a:latin typeface="+mn-lt"/>
                <a:cs typeface="Times New Roman" panose="02020603050405020304" pitchFamily="18" charset="0"/>
              </a:rPr>
              <a:t>rotation, reflection, inversion </a:t>
            </a:r>
            <a:r>
              <a:rPr lang="en-US" altLang="zh-CN" sz="2000" dirty="0">
                <a:latin typeface="+mn-lt"/>
                <a:cs typeface="Times New Roman" panose="02020603050405020304" pitchFamily="18" charset="0"/>
              </a:rPr>
              <a:t>and </a:t>
            </a:r>
            <a:r>
              <a:rPr lang="zh-CN" altLang="en-US" sz="2000" dirty="0">
                <a:latin typeface="+mn-lt"/>
                <a:cs typeface="Times New Roman" panose="02020603050405020304" pitchFamily="18" charset="0"/>
              </a:rPr>
              <a:t>rotation reflection, crystal structure also includes three types of translation-related symmetric operation</a:t>
            </a:r>
            <a:r>
              <a:rPr lang="en-US" altLang="zh-CN" sz="2000" dirty="0">
                <a:latin typeface="+mn-lt"/>
                <a:cs typeface="Times New Roman" panose="02020603050405020304" pitchFamily="18" charset="0"/>
              </a:rPr>
              <a:t>s.</a:t>
            </a:r>
            <a:endParaRPr lang="zh-CN" altLang="en-US" sz="2000" dirty="0">
              <a:latin typeface="+mn-lt"/>
              <a:cs typeface="Times New Roman" panose="02020603050405020304" pitchFamily="18" charset="0"/>
            </a:endParaRPr>
          </a:p>
        </p:txBody>
      </p:sp>
      <p:sp>
        <p:nvSpPr>
          <p:cNvPr id="13" name="Rectangle 12"/>
          <p:cNvSpPr/>
          <p:nvPr/>
        </p:nvSpPr>
        <p:spPr>
          <a:xfrm>
            <a:off x="485007" y="5373216"/>
            <a:ext cx="8161073" cy="1323439"/>
          </a:xfrm>
          <a:prstGeom prst="rect">
            <a:avLst/>
          </a:prstGeom>
        </p:spPr>
        <p:txBody>
          <a:bodyPr wrap="square">
            <a:spAutoFit/>
          </a:bodyPr>
          <a:lstStyle/>
          <a:p>
            <a:r>
              <a:rPr lang="en-US" sz="2000" dirty="0">
                <a:latin typeface="+mn-lt"/>
              </a:rPr>
              <a:t>Since the microscopic symmetry  operation of crystals is restricted by the lattice structure, the screw axis only have 1,2,3,4,6-fold axis; the slippage (</a:t>
            </a:r>
            <a:r>
              <a:rPr lang="zh-CN" altLang="en-US" sz="2000" dirty="0">
                <a:latin typeface="+mn-lt"/>
              </a:rPr>
              <a:t>滑移量）</a:t>
            </a:r>
            <a:r>
              <a:rPr lang="en-US" sz="2000" dirty="0">
                <a:latin typeface="+mn-lt"/>
              </a:rPr>
              <a:t>for slip plane and screw axis is also restricted by lattice structure.</a:t>
            </a:r>
          </a:p>
        </p:txBody>
      </p:sp>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Microscopic symmetry of crystals</a:t>
            </a:r>
          </a:p>
        </p:txBody>
      </p:sp>
      <p:sp>
        <p:nvSpPr>
          <p:cNvPr id="3" name="Content Placeholder 2"/>
          <p:cNvSpPr>
            <a:spLocks noGrp="1"/>
          </p:cNvSpPr>
          <p:nvPr>
            <p:ph idx="1"/>
          </p:nvPr>
        </p:nvSpPr>
        <p:spPr/>
        <p:txBody>
          <a:bodyPr>
            <a:normAutofit/>
          </a:bodyPr>
          <a:lstStyle/>
          <a:p>
            <a:pPr marL="0" indent="0">
              <a:buNone/>
            </a:pPr>
            <a:r>
              <a:rPr lang="en-US" sz="2800" b="1" dirty="0">
                <a:solidFill>
                  <a:srgbClr val="FF0000"/>
                </a:solidFill>
              </a:rPr>
              <a:t>Microscopic Symmetry Operation ＝</a:t>
            </a:r>
          </a:p>
          <a:p>
            <a:pPr marL="0" indent="0">
              <a:buNone/>
            </a:pPr>
            <a:r>
              <a:rPr lang="en-US" sz="2800" b="1" dirty="0">
                <a:solidFill>
                  <a:srgbClr val="FF0000"/>
                </a:solidFill>
              </a:rPr>
              <a:t>Macroscopic Symmetry Operation + Glide Operation</a:t>
            </a:r>
            <a:r>
              <a:rPr lang="en-US" sz="2800" b="1" dirty="0"/>
              <a:t>;</a:t>
            </a:r>
          </a:p>
          <a:p>
            <a:pPr marL="0" indent="0">
              <a:buNone/>
            </a:pPr>
            <a:endParaRPr lang="en-US" sz="2800" dirty="0"/>
          </a:p>
          <a:p>
            <a:endParaRPr lang="en-US" dirty="0"/>
          </a:p>
        </p:txBody>
      </p:sp>
      <p:sp>
        <p:nvSpPr>
          <p:cNvPr id="4" name="Rectangle 3"/>
          <p:cNvSpPr/>
          <p:nvPr/>
        </p:nvSpPr>
        <p:spPr>
          <a:xfrm>
            <a:off x="448781" y="2780928"/>
            <a:ext cx="7075548" cy="3674852"/>
          </a:xfrm>
          <a:prstGeom prst="rect">
            <a:avLst/>
          </a:prstGeom>
        </p:spPr>
        <p:txBody>
          <a:bodyPr wrap="square">
            <a:spAutoFit/>
          </a:bodyPr>
          <a:lstStyle/>
          <a:p>
            <a:pPr lvl="0" fontAlgn="auto">
              <a:spcBef>
                <a:spcPct val="20000"/>
              </a:spcBef>
              <a:spcAft>
                <a:spcPts val="0"/>
              </a:spcAft>
            </a:pPr>
            <a:r>
              <a:rPr lang="en-US" sz="2200" dirty="0">
                <a:solidFill>
                  <a:prstClr val="black"/>
                </a:solidFill>
                <a:latin typeface="Franklin Gothic Book" panose="020B0503020102020204"/>
                <a:ea typeface="+mn-ea"/>
              </a:rPr>
              <a:t>Differences between Microscopic Symmetry and Macroscopic Symmetry:</a:t>
            </a:r>
          </a:p>
          <a:p>
            <a:pPr marL="342900" lvl="0" indent="-342900" fontAlgn="auto">
              <a:spcBef>
                <a:spcPct val="20000"/>
              </a:spcBef>
              <a:spcAft>
                <a:spcPts val="0"/>
              </a:spcAft>
              <a:buFont typeface="Arial" panose="020B0604020202020204" pitchFamily="34" charset="0"/>
              <a:buChar char="•"/>
            </a:pPr>
            <a:r>
              <a:rPr lang="en-US" sz="2200" b="0" dirty="0">
                <a:solidFill>
                  <a:prstClr val="black"/>
                </a:solidFill>
                <a:latin typeface="Franklin Gothic Book" panose="020B0503020102020204"/>
                <a:ea typeface="+mn-ea"/>
              </a:rPr>
              <a:t>Macroscopic symmetry elements must intersect at certain point. Symmetry elements in microscopic symmetry don’t need to intersect at one point, and can infinitely distribute in 3D space.</a:t>
            </a:r>
          </a:p>
          <a:p>
            <a:pPr marL="342900" lvl="0" indent="-342900" fontAlgn="auto">
              <a:spcBef>
                <a:spcPct val="20000"/>
              </a:spcBef>
              <a:spcAft>
                <a:spcPts val="0"/>
              </a:spcAft>
              <a:buFont typeface="Arial" panose="020B0604020202020204" pitchFamily="34" charset="0"/>
              <a:buChar char="•"/>
            </a:pPr>
            <a:r>
              <a:rPr lang="en-US" sz="2200" b="0" dirty="0">
                <a:solidFill>
                  <a:prstClr val="black"/>
                </a:solidFill>
                <a:latin typeface="Franklin Gothic Book" panose="020B0503020102020204"/>
                <a:ea typeface="+mn-ea"/>
              </a:rPr>
              <a:t>Only direction of symmetry elements in macroscopic symmetry should be considered </a:t>
            </a:r>
            <a:r>
              <a:rPr lang="en-US" altLang="zh-CN" sz="2200" b="0" dirty="0">
                <a:solidFill>
                  <a:prstClr val="black"/>
                </a:solidFill>
                <a:latin typeface="Franklin Gothic Book" panose="020B0503020102020204"/>
                <a:ea typeface="+mn-ea"/>
              </a:rPr>
              <a:t>while </a:t>
            </a:r>
            <a:r>
              <a:rPr lang="en-US" sz="2200" b="0" dirty="0">
                <a:solidFill>
                  <a:prstClr val="black"/>
                </a:solidFill>
                <a:latin typeface="Franklin Gothic Book" panose="020B0503020102020204"/>
                <a:ea typeface="+mn-ea"/>
              </a:rPr>
              <a:t>the relative position of symmetric elements in microscopic symmetry </a:t>
            </a:r>
            <a:r>
              <a:rPr lang="en-US" altLang="zh-CN" sz="2200" b="0" dirty="0">
                <a:solidFill>
                  <a:prstClr val="black"/>
                </a:solidFill>
                <a:latin typeface="Franklin Gothic Book" panose="020B0503020102020204"/>
                <a:ea typeface="+mn-ea"/>
              </a:rPr>
              <a:t>also </a:t>
            </a:r>
            <a:r>
              <a:rPr lang="en-US" sz="2200" b="0" dirty="0">
                <a:solidFill>
                  <a:prstClr val="black"/>
                </a:solidFill>
                <a:latin typeface="Franklin Gothic Book" panose="020B0503020102020204"/>
                <a:ea typeface="+mn-ea"/>
              </a:rPr>
              <a:t>need to be considered.</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5573" y="4789858"/>
            <a:ext cx="1690975" cy="1458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0179" y="3356992"/>
            <a:ext cx="1601762" cy="1314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Microscopic symmetry elements of crystals </a:t>
            </a:r>
          </a:p>
        </p:txBody>
      </p:sp>
      <p:sp>
        <p:nvSpPr>
          <p:cNvPr id="3" name="Content Placeholder 2"/>
          <p:cNvSpPr>
            <a:spLocks noGrp="1"/>
          </p:cNvSpPr>
          <p:nvPr>
            <p:ph idx="1"/>
          </p:nvPr>
        </p:nvSpPr>
        <p:spPr>
          <a:xfrm>
            <a:off x="457200" y="1988840"/>
            <a:ext cx="8229600" cy="3849291"/>
          </a:xfrm>
        </p:spPr>
        <p:txBody>
          <a:bodyPr>
            <a:normAutofit/>
          </a:bodyPr>
          <a:lstStyle/>
          <a:p>
            <a:r>
              <a:rPr lang="en-US" sz="2400" b="1" dirty="0"/>
              <a:t>A direction along one straight line</a:t>
            </a:r>
            <a:r>
              <a:rPr lang="en-US" sz="2400" dirty="0"/>
              <a:t>, the corresponding operation is to move a certain distance along the direction. </a:t>
            </a:r>
          </a:p>
          <a:p>
            <a:endParaRPr lang="en-US" sz="2400" dirty="0"/>
          </a:p>
          <a:p>
            <a:r>
              <a:rPr lang="en-US" sz="2400" dirty="0"/>
              <a:t>For a pattern with translation axes, the same parts of the pattern can be </a:t>
            </a:r>
            <a:r>
              <a:rPr lang="en-US" sz="2400" b="1" dirty="0"/>
              <a:t>repeated</a:t>
            </a:r>
            <a:r>
              <a:rPr lang="en-US" sz="2400" dirty="0"/>
              <a:t> when the above-described symmetry operation is performed.</a:t>
            </a:r>
          </a:p>
          <a:p>
            <a:r>
              <a:rPr lang="en-US" sz="2400" dirty="0"/>
              <a:t>The minimum translation distance in symmetric transformation, which enables </a:t>
            </a:r>
            <a:r>
              <a:rPr lang="en-US" altLang="zh-CN" sz="2400" dirty="0"/>
              <a:t>a </a:t>
            </a:r>
            <a:r>
              <a:rPr lang="en-US" sz="2400" dirty="0"/>
              <a:t>pattern to be restored, is called the </a:t>
            </a:r>
            <a:r>
              <a:rPr lang="en-US" sz="2400" b="1" dirty="0"/>
              <a:t>travel distance (</a:t>
            </a:r>
            <a:r>
              <a:rPr lang="en-US" sz="2400" b="1" dirty="0" err="1"/>
              <a:t>移距</a:t>
            </a:r>
            <a:r>
              <a:rPr lang="en-US" sz="2400" b="1" dirty="0"/>
              <a:t>) </a:t>
            </a:r>
            <a:r>
              <a:rPr lang="en-US" sz="2400" dirty="0"/>
              <a:t>of the translation axis.</a:t>
            </a:r>
          </a:p>
          <a:p>
            <a:endParaRPr lang="en-US" sz="2400" dirty="0"/>
          </a:p>
        </p:txBody>
      </p:sp>
      <p:sp>
        <p:nvSpPr>
          <p:cNvPr id="4" name="Rectangle 3"/>
          <p:cNvSpPr/>
          <p:nvPr/>
        </p:nvSpPr>
        <p:spPr>
          <a:xfrm>
            <a:off x="471949" y="1268760"/>
            <a:ext cx="2874313" cy="584775"/>
          </a:xfrm>
          <a:prstGeom prst="rect">
            <a:avLst/>
          </a:prstGeom>
        </p:spPr>
        <p:txBody>
          <a:bodyPr wrap="none">
            <a:spAutoFit/>
          </a:bodyPr>
          <a:lstStyle/>
          <a:p>
            <a:r>
              <a:rPr lang="en-US" sz="3200" dirty="0">
                <a:latin typeface="+mn-lt"/>
              </a:rPr>
              <a:t>Translation </a:t>
            </a:r>
            <a:r>
              <a:rPr lang="en-US" altLang="zh-CN" sz="3200" dirty="0">
                <a:latin typeface="+mn-lt"/>
              </a:rPr>
              <a:t>a</a:t>
            </a:r>
            <a:r>
              <a:rPr lang="en-US" sz="3200" dirty="0">
                <a:latin typeface="+mn-lt"/>
              </a:rPr>
              <a:t>xis</a:t>
            </a:r>
          </a:p>
        </p:txBody>
      </p:sp>
      <p:cxnSp>
        <p:nvCxnSpPr>
          <p:cNvPr id="5" name="Straight Arrow Connector 4"/>
          <p:cNvCxnSpPr/>
          <p:nvPr/>
        </p:nvCxnSpPr>
        <p:spPr>
          <a:xfrm>
            <a:off x="1187624" y="5949280"/>
            <a:ext cx="6840760" cy="0"/>
          </a:xfrm>
          <a:prstGeom prst="straightConnector1">
            <a:avLst/>
          </a:prstGeom>
          <a:ln>
            <a:prstDash val="lgDash"/>
            <a:tailEnd type="arrow"/>
          </a:ln>
        </p:spPr>
        <p:style>
          <a:lnRef idx="1">
            <a:schemeClr val="accent1"/>
          </a:lnRef>
          <a:fillRef idx="0">
            <a:schemeClr val="accent1"/>
          </a:fillRef>
          <a:effectRef idx="0">
            <a:schemeClr val="accent1"/>
          </a:effectRef>
          <a:fontRef idx="minor">
            <a:schemeClr val="tx1"/>
          </a:fontRef>
        </p:style>
      </p:cxnSp>
      <p:sp>
        <p:nvSpPr>
          <p:cNvPr id="6" name="Smiley Face 5"/>
          <p:cNvSpPr/>
          <p:nvPr/>
        </p:nvSpPr>
        <p:spPr>
          <a:xfrm>
            <a:off x="1403648" y="6229429"/>
            <a:ext cx="432048" cy="432048"/>
          </a:xfrm>
          <a:prstGeom prst="smileyFace">
            <a:avLst/>
          </a:prstGeom>
          <a:solidFill>
            <a:srgbClr val="FF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miley Face 6"/>
          <p:cNvSpPr/>
          <p:nvPr/>
        </p:nvSpPr>
        <p:spPr>
          <a:xfrm>
            <a:off x="3390103" y="6229429"/>
            <a:ext cx="432048" cy="432048"/>
          </a:xfrm>
          <a:prstGeom prst="smileyFace">
            <a:avLst/>
          </a:prstGeom>
          <a:solidFill>
            <a:srgbClr val="FF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miley Face 7"/>
          <p:cNvSpPr/>
          <p:nvPr/>
        </p:nvSpPr>
        <p:spPr>
          <a:xfrm>
            <a:off x="5376558" y="6229429"/>
            <a:ext cx="432048" cy="432048"/>
          </a:xfrm>
          <a:prstGeom prst="smileyFace">
            <a:avLst/>
          </a:prstGeom>
          <a:solidFill>
            <a:srgbClr val="FF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miley Face 8"/>
          <p:cNvSpPr/>
          <p:nvPr/>
        </p:nvSpPr>
        <p:spPr>
          <a:xfrm>
            <a:off x="7363014" y="6229429"/>
            <a:ext cx="432048" cy="432048"/>
          </a:xfrm>
          <a:prstGeom prst="smileyFace">
            <a:avLst/>
          </a:prstGeom>
          <a:solidFill>
            <a:srgbClr val="FF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3593657" y="5949280"/>
            <a:ext cx="1986455" cy="0"/>
          </a:xfrm>
          <a:prstGeom prst="straightConnector1">
            <a:avLst/>
          </a:prstGeom>
          <a:ln w="76200">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339752" y="3140968"/>
            <a:ext cx="439248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521649" y="2969096"/>
            <a:ext cx="1986455" cy="0"/>
          </a:xfrm>
          <a:prstGeom prst="straightConnector1">
            <a:avLst/>
          </a:prstGeom>
          <a:ln w="76200">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Lattice and translation operation</a:t>
            </a:r>
          </a:p>
        </p:txBody>
      </p:sp>
      <p:sp>
        <p:nvSpPr>
          <p:cNvPr id="3" name="Content Placeholder 2"/>
          <p:cNvSpPr>
            <a:spLocks noGrp="1"/>
          </p:cNvSpPr>
          <p:nvPr>
            <p:ph idx="1"/>
          </p:nvPr>
        </p:nvSpPr>
        <p:spPr/>
        <p:txBody>
          <a:bodyPr>
            <a:normAutofit/>
          </a:bodyPr>
          <a:lstStyle/>
          <a:p>
            <a:r>
              <a:rPr lang="en-US" altLang="zh-CN" sz="2800" dirty="0"/>
              <a:t>Crystal l</a:t>
            </a:r>
            <a:r>
              <a:rPr lang="en-US" sz="2800" dirty="0"/>
              <a:t>attice</a:t>
            </a:r>
            <a:r>
              <a:rPr lang="zh-CN" altLang="en-US" sz="2800" dirty="0"/>
              <a:t>（点阵）</a:t>
            </a:r>
            <a:r>
              <a:rPr lang="en-US" sz="2800" dirty="0"/>
              <a:t>reflects the periodicity of crystal structure, which is the characteristic of crystals to translate and restore.</a:t>
            </a:r>
          </a:p>
          <a:p>
            <a:r>
              <a:rPr lang="en-US" sz="2800" dirty="0"/>
              <a:t>Translation operation allows lattice to be restored, namely the same parts </a:t>
            </a:r>
            <a:r>
              <a:rPr lang="en-US" altLang="zh-CN" sz="2800" dirty="0"/>
              <a:t>of </a:t>
            </a:r>
            <a:r>
              <a:rPr lang="en-US" sz="2800" dirty="0"/>
              <a:t>crystal structure</a:t>
            </a:r>
            <a:r>
              <a:rPr lang="en-US" altLang="zh-CN" sz="2800" dirty="0"/>
              <a:t>s</a:t>
            </a:r>
            <a:r>
              <a:rPr lang="en-US" sz="2800" dirty="0"/>
              <a:t>,  infinitely stretch</a:t>
            </a:r>
            <a:r>
              <a:rPr lang="en-US" altLang="zh-CN" sz="2800" dirty="0"/>
              <a:t>ing</a:t>
            </a:r>
            <a:r>
              <a:rPr lang="en-US" sz="2800" dirty="0"/>
              <a:t>  in 3D space, can be repeated.</a:t>
            </a:r>
          </a:p>
          <a:p>
            <a:r>
              <a:rPr lang="en-US" sz="2800" dirty="0"/>
              <a:t>For lattice, a position vector connecting two arbitrary lattice points is expressed as: </a:t>
            </a:r>
          </a:p>
          <a:p>
            <a:pPr marL="0" indent="0" algn="ctr">
              <a:buNone/>
            </a:pPr>
            <a:r>
              <a:rPr lang="en-US" altLang="zh-CN" b="1" dirty="0">
                <a:ea typeface="宋体" panose="02010600030101010101" pitchFamily="2" charset="-122"/>
                <a:cs typeface="Times New Roman" panose="02020603050405020304" pitchFamily="18" charset="0"/>
              </a:rPr>
              <a:t>R = m</a:t>
            </a:r>
            <a:r>
              <a:rPr lang="en-US" altLang="zh-CN" b="1" dirty="0">
                <a:solidFill>
                  <a:srgbClr val="FF0000"/>
                </a:solidFill>
                <a:ea typeface="宋体" panose="02010600030101010101" pitchFamily="2" charset="-122"/>
                <a:cs typeface="Times New Roman" panose="02020603050405020304" pitchFamily="18" charset="0"/>
              </a:rPr>
              <a:t>a</a:t>
            </a:r>
            <a:r>
              <a:rPr lang="en-US" altLang="zh-CN" b="1" dirty="0">
                <a:ea typeface="宋体" panose="02010600030101010101" pitchFamily="2" charset="-122"/>
                <a:cs typeface="Times New Roman" panose="02020603050405020304" pitchFamily="18" charset="0"/>
              </a:rPr>
              <a:t> + </a:t>
            </a:r>
            <a:r>
              <a:rPr lang="en-US" altLang="zh-CN" b="1" dirty="0" err="1">
                <a:ea typeface="宋体" panose="02010600030101010101" pitchFamily="2" charset="-122"/>
                <a:cs typeface="Times New Roman" panose="02020603050405020304" pitchFamily="18" charset="0"/>
              </a:rPr>
              <a:t>n</a:t>
            </a:r>
            <a:r>
              <a:rPr lang="en-US" altLang="zh-CN" b="1" dirty="0" err="1">
                <a:solidFill>
                  <a:srgbClr val="FF0000"/>
                </a:solidFill>
                <a:ea typeface="宋体" panose="02010600030101010101" pitchFamily="2" charset="-122"/>
                <a:cs typeface="Times New Roman" panose="02020603050405020304" pitchFamily="18" charset="0"/>
              </a:rPr>
              <a:t>b</a:t>
            </a:r>
            <a:r>
              <a:rPr lang="en-US" altLang="zh-CN" b="1" dirty="0">
                <a:ea typeface="宋体" panose="02010600030101010101" pitchFamily="2" charset="-122"/>
                <a:cs typeface="Times New Roman" panose="02020603050405020304" pitchFamily="18" charset="0"/>
              </a:rPr>
              <a:t> + p</a:t>
            </a:r>
            <a:r>
              <a:rPr lang="en-US" altLang="zh-CN" b="1" dirty="0">
                <a:solidFill>
                  <a:srgbClr val="FF0000"/>
                </a:solidFill>
                <a:ea typeface="宋体" panose="02010600030101010101" pitchFamily="2" charset="-122"/>
                <a:cs typeface="Times New Roman" panose="02020603050405020304" pitchFamily="18" charset="0"/>
              </a:rPr>
              <a:t>c</a:t>
            </a:r>
          </a:p>
          <a:p>
            <a:endParaRPr lang="en-US" sz="2800" dirty="0"/>
          </a:p>
        </p:txBody>
      </p:sp>
      <p:sp>
        <p:nvSpPr>
          <p:cNvPr id="4" name="Rectangle 3"/>
          <p:cNvSpPr/>
          <p:nvPr/>
        </p:nvSpPr>
        <p:spPr>
          <a:xfrm>
            <a:off x="539552" y="6021288"/>
            <a:ext cx="7992888" cy="461665"/>
          </a:xfrm>
          <a:prstGeom prst="rect">
            <a:avLst/>
          </a:prstGeom>
        </p:spPr>
        <p:txBody>
          <a:bodyPr wrap="square">
            <a:spAutoFit/>
          </a:bodyPr>
          <a:lstStyle/>
          <a:p>
            <a:r>
              <a:rPr lang="en-US" altLang="zh-CN" sz="2400" dirty="0">
                <a:solidFill>
                  <a:srgbClr val="FF0000"/>
                </a:solidFill>
                <a:latin typeface="+mn-lt"/>
              </a:rPr>
              <a:t> </a:t>
            </a:r>
            <a:r>
              <a:rPr lang="en-US" altLang="zh-CN" sz="2400" dirty="0">
                <a:latin typeface="+mn-lt"/>
                <a:cs typeface="Times New Roman" panose="02020603050405020304" pitchFamily="18" charset="0"/>
              </a:rPr>
              <a:t>R  </a:t>
            </a:r>
            <a:r>
              <a:rPr lang="en-US" altLang="zh-CN" sz="2400" b="0" dirty="0">
                <a:latin typeface="+mn-lt"/>
                <a:cs typeface="Times New Roman" panose="02020603050405020304" pitchFamily="18" charset="0"/>
              </a:rPr>
              <a:t>Translation vector of microstructure translation operation</a:t>
            </a:r>
            <a:endParaRPr lang="zh-CN" altLang="en-US" sz="2400" b="0" dirty="0">
              <a:latin typeface="+mn-lt"/>
              <a:cs typeface="Times New Roman" panose="02020603050405020304" pitchFamily="18" charset="0"/>
            </a:endParaRPr>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Translation vector</a:t>
            </a:r>
          </a:p>
        </p:txBody>
      </p:sp>
      <p:sp>
        <p:nvSpPr>
          <p:cNvPr id="3" name="Content Placeholder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14 kinds of space lattices reflect the combination rules of translation symmetry in crystal structure. Each space lattice has </a:t>
            </a:r>
            <a:r>
              <a:rPr lang="en-US" altLang="zh-CN" b="1" dirty="0">
                <a:latin typeface="Times New Roman" panose="02020603050405020304" pitchFamily="18" charset="0"/>
                <a:cs typeface="Times New Roman" panose="02020603050405020304" pitchFamily="18" charset="0"/>
              </a:rPr>
              <a:t>a basic translation vector</a:t>
            </a:r>
            <a:r>
              <a:rPr lang="en-US" altLang="zh-CN" dirty="0">
                <a:latin typeface="Times New Roman" panose="02020603050405020304" pitchFamily="18" charset="0"/>
                <a:cs typeface="Times New Roman" panose="02020603050405020304" pitchFamily="18" charset="0"/>
              </a:rPr>
              <a:t> </a:t>
            </a:r>
            <a:r>
              <a:rPr lang="en-US" altLang="zh-CN" i="1" u="sng" dirty="0">
                <a:solidFill>
                  <a:srgbClr val="FF0000"/>
                </a:solidFill>
              </a:rPr>
              <a:t>a, b, c and </a:t>
            </a:r>
            <a:r>
              <a:rPr lang="en-US" altLang="zh-CN" i="1" u="sng" dirty="0" err="1">
                <a:solidFill>
                  <a:srgbClr val="FF0000"/>
                </a:solidFill>
              </a:rPr>
              <a:t>a+b</a:t>
            </a:r>
            <a:r>
              <a:rPr lang="en-US" altLang="zh-CN" i="1" u="sng" dirty="0">
                <a:solidFill>
                  <a:srgbClr val="FF0000"/>
                </a:solidFill>
              </a:rPr>
              <a:t>, </a:t>
            </a:r>
            <a:r>
              <a:rPr lang="en-US" altLang="zh-CN" i="1" u="sng" dirty="0" err="1">
                <a:solidFill>
                  <a:srgbClr val="FF0000"/>
                </a:solidFill>
              </a:rPr>
              <a:t>a+c</a:t>
            </a:r>
            <a:r>
              <a:rPr lang="en-US" altLang="zh-CN" i="1" u="sng" dirty="0">
                <a:solidFill>
                  <a:srgbClr val="FF0000"/>
                </a:solidFill>
              </a:rPr>
              <a:t>, </a:t>
            </a:r>
            <a:r>
              <a:rPr lang="en-US" altLang="zh-CN" i="1" u="sng" dirty="0" err="1">
                <a:solidFill>
                  <a:srgbClr val="FF0000"/>
                </a:solidFill>
              </a:rPr>
              <a:t>b+c</a:t>
            </a:r>
            <a:r>
              <a:rPr lang="en-US" altLang="zh-CN" i="1" u="sng" dirty="0">
                <a:solidFill>
                  <a:srgbClr val="FF0000"/>
                </a:solidFill>
              </a:rPr>
              <a:t>, </a:t>
            </a:r>
            <a:r>
              <a:rPr lang="en-US" altLang="zh-CN" i="1" u="sng" dirty="0" err="1">
                <a:solidFill>
                  <a:srgbClr val="FF0000"/>
                </a:solidFill>
              </a:rPr>
              <a:t>a+b+c</a:t>
            </a:r>
            <a:r>
              <a:rPr lang="en-US" altLang="zh-CN" i="1" u="sng" dirty="0">
                <a:solidFill>
                  <a:srgbClr val="FF0000"/>
                </a:solidFill>
              </a:rPr>
              <a:t>, and so on.</a:t>
            </a:r>
          </a:p>
          <a:p>
            <a:r>
              <a:rPr lang="en-US" altLang="zh-CN" dirty="0">
                <a:latin typeface="Times New Roman" panose="02020603050405020304" pitchFamily="18" charset="0"/>
                <a:cs typeface="Times New Roman" panose="02020603050405020304" pitchFamily="18" charset="0"/>
              </a:rPr>
              <a:t>In addition, there are </a:t>
            </a:r>
            <a:r>
              <a:rPr lang="en-US" altLang="zh-CN" b="1" dirty="0">
                <a:latin typeface="Times New Roman" panose="02020603050405020304" pitchFamily="18" charset="0"/>
                <a:cs typeface="Times New Roman" panose="02020603050405020304" pitchFamily="18" charset="0"/>
              </a:rPr>
              <a:t>additional translation vectors for the complex lattices</a:t>
            </a:r>
            <a:r>
              <a:rPr lang="en-US" altLang="zh-CN" dirty="0">
                <a:latin typeface="Times New Roman" panose="02020603050405020304" pitchFamily="18" charset="0"/>
                <a:cs typeface="Times New Roman" panose="02020603050405020304" pitchFamily="18" charset="0"/>
              </a:rPr>
              <a:t>:</a:t>
            </a:r>
          </a:p>
          <a:p>
            <a:endParaRPr lang="zh-CN" altLang="en-US" dirty="0">
              <a:latin typeface="Times New Roman" panose="02020603050405020304" pitchFamily="18" charset="0"/>
              <a:cs typeface="Times New Roman" panose="02020603050405020304" pitchFamily="18" charset="0"/>
            </a:endParaRPr>
          </a:p>
          <a:p>
            <a:endParaRPr lang="en-US" dirty="0"/>
          </a:p>
        </p:txBody>
      </p:sp>
      <p:pic>
        <p:nvPicPr>
          <p:cNvPr id="4" name="Picture 3"/>
          <p:cNvPicPr>
            <a:picLocks noChangeAspect="1"/>
          </p:cNvPicPr>
          <p:nvPr/>
        </p:nvPicPr>
        <p:blipFill>
          <a:blip r:embed="rId2"/>
          <a:stretch>
            <a:fillRect/>
          </a:stretch>
        </p:blipFill>
        <p:spPr>
          <a:xfrm>
            <a:off x="860242" y="5301208"/>
            <a:ext cx="7056784" cy="1421450"/>
          </a:xfrm>
          <a:prstGeom prst="rect">
            <a:avLst/>
          </a:prstGeom>
        </p:spPr>
      </p:pic>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translation vector in complex lattice</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r="51617" b="58188"/>
          <a:stretch>
            <a:fillRect/>
          </a:stretch>
        </p:blipFill>
        <p:spPr bwMode="auto">
          <a:xfrm>
            <a:off x="380012" y="2267718"/>
            <a:ext cx="2017713" cy="192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t="57556" r="53029"/>
          <a:stretch>
            <a:fillRect/>
          </a:stretch>
        </p:blipFill>
        <p:spPr bwMode="auto">
          <a:xfrm>
            <a:off x="6842570" y="2269306"/>
            <a:ext cx="1800225"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l="50421" t="41812"/>
          <a:stretch>
            <a:fillRect/>
          </a:stretch>
        </p:blipFill>
        <p:spPr bwMode="auto">
          <a:xfrm>
            <a:off x="2650137" y="2267718"/>
            <a:ext cx="1330325"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l="51582" b="58188"/>
          <a:stretch>
            <a:fillRect/>
          </a:stretch>
        </p:blipFill>
        <p:spPr bwMode="auto">
          <a:xfrm>
            <a:off x="4106291" y="2365300"/>
            <a:ext cx="1944688" cy="185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97725" y="2267718"/>
            <a:ext cx="6406901" cy="18557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V="1">
            <a:off x="4383964" y="3178237"/>
            <a:ext cx="755984" cy="5736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419233" y="3220278"/>
            <a:ext cx="755984" cy="5736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378709" y="2195520"/>
            <a:ext cx="755984" cy="5736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4410579" y="1619822"/>
            <a:ext cx="2469558" cy="2178605"/>
            <a:chOff x="4372232" y="1187774"/>
            <a:chExt cx="2469558" cy="2178605"/>
          </a:xfrm>
        </p:grpSpPr>
        <p:cxnSp>
          <p:nvCxnSpPr>
            <p:cNvPr id="13" name="Straight Connector 12"/>
            <p:cNvCxnSpPr/>
            <p:nvPr/>
          </p:nvCxnSpPr>
          <p:spPr>
            <a:xfrm flipV="1">
              <a:off x="6402310" y="3194131"/>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4372232" y="1187774"/>
              <a:ext cx="2469558" cy="2178605"/>
              <a:chOff x="4372232" y="1187774"/>
              <a:chExt cx="2469558" cy="2178605"/>
            </a:xfrm>
          </p:grpSpPr>
          <p:cxnSp>
            <p:nvCxnSpPr>
              <p:cNvPr id="15" name="Straight Arrow Connector 14"/>
              <p:cNvCxnSpPr/>
              <p:nvPr/>
            </p:nvCxnSpPr>
            <p:spPr>
              <a:xfrm flipV="1">
                <a:off x="5391396" y="1789748"/>
                <a:ext cx="755984" cy="5736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4372232" y="1187774"/>
                <a:ext cx="1448010" cy="1175606"/>
                <a:chOff x="4678203" y="1090192"/>
                <a:chExt cx="1448010" cy="1175606"/>
              </a:xfrm>
            </p:grpSpPr>
            <p:sp>
              <p:nvSpPr>
                <p:cNvPr id="30" name="Rectangle 29"/>
                <p:cNvSpPr/>
                <p:nvPr/>
              </p:nvSpPr>
              <p:spPr>
                <a:xfrm>
                  <a:off x="4678203" y="1267401"/>
                  <a:ext cx="1019164" cy="998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5107049" y="1090192"/>
                  <a:ext cx="1019164" cy="998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flipV="1">
                  <a:off x="4678203" y="1095153"/>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711421" y="1090192"/>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7" name="Oval 16"/>
              <p:cNvSpPr/>
              <p:nvPr/>
            </p:nvSpPr>
            <p:spPr>
              <a:xfrm>
                <a:off x="5063471" y="1727538"/>
                <a:ext cx="74428" cy="850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096519" y="2751348"/>
                <a:ext cx="74428" cy="850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110167" y="1727766"/>
                <a:ext cx="74428" cy="850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5393780" y="1191312"/>
                <a:ext cx="1448010" cy="1175606"/>
                <a:chOff x="4678203" y="1090192"/>
                <a:chExt cx="1448010" cy="1175606"/>
              </a:xfrm>
            </p:grpSpPr>
            <p:sp>
              <p:nvSpPr>
                <p:cNvPr id="26" name="Rectangle 25"/>
                <p:cNvSpPr/>
                <p:nvPr/>
              </p:nvSpPr>
              <p:spPr>
                <a:xfrm>
                  <a:off x="4678203" y="1267401"/>
                  <a:ext cx="1019164" cy="998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5107049" y="1090192"/>
                  <a:ext cx="1019164" cy="998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flipV="1">
                  <a:off x="4678203" y="1095153"/>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711421" y="1090192"/>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5383146" y="2190773"/>
                <a:ext cx="1448010" cy="1175606"/>
                <a:chOff x="4678203" y="1090192"/>
                <a:chExt cx="1448010" cy="1175606"/>
              </a:xfrm>
            </p:grpSpPr>
            <p:sp>
              <p:nvSpPr>
                <p:cNvPr id="22" name="Rectangle 21"/>
                <p:cNvSpPr/>
                <p:nvPr/>
              </p:nvSpPr>
              <p:spPr>
                <a:xfrm>
                  <a:off x="4678203" y="1267401"/>
                  <a:ext cx="1019164" cy="998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5107049" y="1090192"/>
                  <a:ext cx="1019164" cy="9983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flipV="1">
                  <a:off x="4678203" y="1095153"/>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711421" y="1090192"/>
                  <a:ext cx="414792" cy="172248"/>
                </a:xfrm>
                <a:prstGeom prst="line">
                  <a:avLst/>
                </a:prstGeom>
                <a:ln w="28575"/>
              </p:spPr>
              <p:style>
                <a:lnRef idx="1">
                  <a:schemeClr val="accent1"/>
                </a:lnRef>
                <a:fillRef idx="0">
                  <a:schemeClr val="accent1"/>
                </a:fillRef>
                <a:effectRef idx="0">
                  <a:schemeClr val="accent1"/>
                </a:effectRef>
                <a:fontRef idx="minor">
                  <a:schemeClr val="tx1"/>
                </a:fontRef>
              </p:style>
            </p:cxnSp>
          </p:grpSp>
        </p:grpSp>
      </p:grpSp>
      <p:cxnSp>
        <p:nvCxnSpPr>
          <p:cNvPr id="34" name="Straight Arrow Connector 33"/>
          <p:cNvCxnSpPr/>
          <p:nvPr/>
        </p:nvCxnSpPr>
        <p:spPr>
          <a:xfrm flipV="1">
            <a:off x="5109265" y="2635811"/>
            <a:ext cx="755984" cy="573632"/>
          </a:xfrm>
          <a:prstGeom prst="straightConnector1">
            <a:avLst/>
          </a:prstGeom>
          <a:ln w="38100">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35" name="Text Box 6"/>
          <p:cNvSpPr txBox="1">
            <a:spLocks noChangeArrowheads="1"/>
          </p:cNvSpPr>
          <p:nvPr/>
        </p:nvSpPr>
        <p:spPr bwMode="auto">
          <a:xfrm>
            <a:off x="323528" y="4050762"/>
            <a:ext cx="8572573" cy="283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5000"/>
              </a:lnSpc>
            </a:pPr>
            <a:r>
              <a:rPr lang="en-US" altLang="zh-CN" sz="2200" b="0" dirty="0">
                <a:latin typeface="+mn-lt"/>
                <a:ea typeface="ˎ̥"/>
                <a:cs typeface="Times New Roman" panose="02020603050405020304" pitchFamily="18" charset="0"/>
              </a:rPr>
              <a:t>Base-Centered Lattice(C): </a:t>
            </a:r>
          </a:p>
          <a:p>
            <a:pPr>
              <a:lnSpc>
                <a:spcPct val="135000"/>
              </a:lnSpc>
            </a:pPr>
            <a:r>
              <a:rPr lang="en-US" altLang="zh-CN" sz="2200" b="0" dirty="0">
                <a:latin typeface="+mn-lt"/>
                <a:ea typeface="ˎ̥"/>
                <a:cs typeface="Times New Roman" panose="02020603050405020304" pitchFamily="18" charset="0"/>
              </a:rPr>
              <a:t>	 Additional lattice point at </a:t>
            </a:r>
            <a:r>
              <a:rPr lang="en-US" altLang="zh-CN" sz="2200" b="0" dirty="0">
                <a:solidFill>
                  <a:srgbClr val="FF0000"/>
                </a:solidFill>
                <a:latin typeface="+mn-lt"/>
                <a:ea typeface="ˎ̥"/>
                <a:cs typeface="Times New Roman" panose="02020603050405020304" pitchFamily="18" charset="0"/>
              </a:rPr>
              <a:t>[[</a:t>
            </a:r>
            <a:r>
              <a:rPr lang="en-US" altLang="zh-CN" sz="2200" dirty="0">
                <a:solidFill>
                  <a:srgbClr val="FF0000"/>
                </a:solidFill>
                <a:latin typeface="+mn-lt"/>
                <a:ea typeface="ˎ̥"/>
                <a:cs typeface="Times New Roman" panose="02020603050405020304" pitchFamily="18" charset="0"/>
              </a:rPr>
              <a:t>½ ½ 0]]</a:t>
            </a:r>
            <a:endParaRPr lang="zh-CN" altLang="en-US" sz="2200" dirty="0">
              <a:solidFill>
                <a:srgbClr val="FF0000"/>
              </a:solidFill>
              <a:latin typeface="+mn-lt"/>
              <a:ea typeface="ˎ̥"/>
              <a:cs typeface="Times New Roman" panose="02020603050405020304" pitchFamily="18" charset="0"/>
            </a:endParaRPr>
          </a:p>
          <a:p>
            <a:pPr>
              <a:lnSpc>
                <a:spcPct val="135000"/>
              </a:lnSpc>
            </a:pPr>
            <a:r>
              <a:rPr lang="en-US" altLang="zh-CN" sz="2200" b="0" dirty="0">
                <a:latin typeface="+mn-lt"/>
                <a:ea typeface="ˎ̥"/>
                <a:cs typeface="Times New Roman" panose="02020603050405020304" pitchFamily="18" charset="0"/>
              </a:rPr>
              <a:t>Body-Centered Lattice(I): </a:t>
            </a:r>
          </a:p>
          <a:p>
            <a:pPr>
              <a:lnSpc>
                <a:spcPct val="135000"/>
              </a:lnSpc>
            </a:pPr>
            <a:r>
              <a:rPr lang="en-US" altLang="zh-CN" sz="2200" b="0" dirty="0">
                <a:latin typeface="+mn-lt"/>
                <a:ea typeface="ˎ̥"/>
                <a:cs typeface="Times New Roman" panose="02020603050405020304" pitchFamily="18" charset="0"/>
              </a:rPr>
              <a:t>	Additional lattice point at </a:t>
            </a:r>
            <a:r>
              <a:rPr lang="en-US" altLang="zh-CN" sz="2200" b="0" dirty="0">
                <a:solidFill>
                  <a:srgbClr val="FF0000"/>
                </a:solidFill>
                <a:latin typeface="+mn-lt"/>
                <a:ea typeface="ˎ̥"/>
                <a:cs typeface="Times New Roman" panose="02020603050405020304" pitchFamily="18" charset="0"/>
              </a:rPr>
              <a:t>[[</a:t>
            </a:r>
            <a:r>
              <a:rPr lang="en-US" altLang="zh-CN" sz="2200" dirty="0">
                <a:solidFill>
                  <a:srgbClr val="FF0000"/>
                </a:solidFill>
                <a:latin typeface="+mn-lt"/>
                <a:ea typeface="ˎ̥"/>
                <a:cs typeface="Times New Roman" panose="02020603050405020304" pitchFamily="18" charset="0"/>
              </a:rPr>
              <a:t>½ ½ ½]]</a:t>
            </a:r>
            <a:endParaRPr lang="zh-CN" altLang="en-US" sz="2200" dirty="0">
              <a:solidFill>
                <a:srgbClr val="FF0000"/>
              </a:solidFill>
              <a:latin typeface="+mn-lt"/>
              <a:ea typeface="ˎ̥"/>
              <a:cs typeface="Times New Roman" panose="02020603050405020304" pitchFamily="18" charset="0"/>
            </a:endParaRPr>
          </a:p>
          <a:p>
            <a:pPr algn="l">
              <a:lnSpc>
                <a:spcPct val="135000"/>
              </a:lnSpc>
            </a:pPr>
            <a:r>
              <a:rPr lang="en-US" altLang="zh-CN" sz="2200" b="0" dirty="0">
                <a:latin typeface="+mn-lt"/>
                <a:ea typeface="ˎ̥"/>
                <a:cs typeface="Times New Roman" panose="02020603050405020304" pitchFamily="18" charset="0"/>
              </a:rPr>
              <a:t>Face-Centered Lattice(F): </a:t>
            </a:r>
          </a:p>
          <a:p>
            <a:pPr algn="l">
              <a:lnSpc>
                <a:spcPct val="135000"/>
              </a:lnSpc>
            </a:pPr>
            <a:r>
              <a:rPr lang="en-US" altLang="zh-CN" sz="2200" b="0" dirty="0">
                <a:latin typeface="+mn-lt"/>
                <a:ea typeface="ˎ̥"/>
                <a:cs typeface="Times New Roman" panose="02020603050405020304" pitchFamily="18" charset="0"/>
              </a:rPr>
              <a:t>	Additional lattice point at </a:t>
            </a:r>
            <a:r>
              <a:rPr lang="en-US" altLang="zh-CN" sz="2200" b="0" dirty="0">
                <a:solidFill>
                  <a:srgbClr val="FF0000"/>
                </a:solidFill>
                <a:latin typeface="+mn-lt"/>
                <a:ea typeface="ˎ̥"/>
                <a:cs typeface="Times New Roman" panose="02020603050405020304" pitchFamily="18" charset="0"/>
              </a:rPr>
              <a:t>[[</a:t>
            </a:r>
            <a:r>
              <a:rPr lang="en-US" altLang="zh-CN" sz="2200" dirty="0">
                <a:solidFill>
                  <a:srgbClr val="FF0000"/>
                </a:solidFill>
                <a:latin typeface="+mn-lt"/>
                <a:ea typeface="ˎ̥"/>
                <a:cs typeface="Times New Roman" panose="02020603050405020304" pitchFamily="18" charset="0"/>
              </a:rPr>
              <a:t>0 ½ ½]], [[½ 0 ½]] and [[½ ½ 0]]</a:t>
            </a:r>
            <a:r>
              <a:rPr lang="en-US" altLang="zh-CN" sz="2200" b="0" dirty="0">
                <a:latin typeface="+mn-lt"/>
                <a:ea typeface="ˎ̥"/>
                <a:cs typeface="Times New Roman" panose="02020603050405020304" pitchFamily="18" charset="0"/>
              </a:rPr>
              <a:t>.</a:t>
            </a:r>
            <a:endParaRPr lang="zh-CN" altLang="en-US" sz="2200" b="0" dirty="0">
              <a:latin typeface="+mn-lt"/>
              <a:ea typeface="ˎ̥"/>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par>
                                <p:cTn id="18" presetID="22" presetClass="entr" presetSubtype="4"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200" dirty="0"/>
              <a:t>Microscopic symmetry elements of crystals </a:t>
            </a:r>
          </a:p>
        </p:txBody>
      </p:sp>
      <p:sp>
        <p:nvSpPr>
          <p:cNvPr id="6" name="Content Placeholder 5"/>
          <p:cNvSpPr>
            <a:spLocks noGrp="1"/>
          </p:cNvSpPr>
          <p:nvPr>
            <p:ph idx="1"/>
          </p:nvPr>
        </p:nvSpPr>
        <p:spPr>
          <a:xfrm>
            <a:off x="457200" y="1844824"/>
            <a:ext cx="8229600" cy="4752528"/>
          </a:xfrm>
        </p:spPr>
        <p:txBody>
          <a:bodyPr>
            <a:noAutofit/>
          </a:bodyPr>
          <a:lstStyle/>
          <a:p>
            <a:r>
              <a:rPr lang="en-US" sz="2800" dirty="0"/>
              <a:t>A combined symmetry element; its auxiliary geometric elements： a hypothetical straight line (axis) and the direction parallel to  the line.</a:t>
            </a:r>
          </a:p>
          <a:p>
            <a:pPr marL="0" indent="0">
              <a:buNone/>
            </a:pPr>
            <a:endParaRPr lang="en-US" sz="2800" dirty="0"/>
          </a:p>
          <a:p>
            <a:r>
              <a:rPr lang="en-US" sz="2800" dirty="0"/>
              <a:t>The corresponding symmetry operation is </a:t>
            </a:r>
            <a:r>
              <a:rPr lang="en-US" sz="2800" dirty="0">
                <a:solidFill>
                  <a:srgbClr val="FF0000"/>
                </a:solidFill>
              </a:rPr>
              <a:t>screw rotation operation</a:t>
            </a:r>
            <a:r>
              <a:rPr lang="en-US" sz="2800" dirty="0"/>
              <a:t>: around one straight line to rotate a certain angle, then along the straight line each particle will overlap with one same particle after translating a certain distance, which is known as the combined operation of rotation and translation.</a:t>
            </a:r>
          </a:p>
          <a:p>
            <a:endParaRPr lang="en-US" sz="2800" dirty="0"/>
          </a:p>
        </p:txBody>
      </p:sp>
      <p:sp>
        <p:nvSpPr>
          <p:cNvPr id="5" name="Rectangle 4"/>
          <p:cNvSpPr/>
          <p:nvPr/>
        </p:nvSpPr>
        <p:spPr>
          <a:xfrm>
            <a:off x="471949" y="1268760"/>
            <a:ext cx="2005101" cy="584775"/>
          </a:xfrm>
          <a:prstGeom prst="rect">
            <a:avLst/>
          </a:prstGeom>
        </p:spPr>
        <p:txBody>
          <a:bodyPr wrap="none">
            <a:spAutoFit/>
          </a:bodyPr>
          <a:lstStyle/>
          <a:p>
            <a:r>
              <a:rPr lang="en-US" altLang="zh-CN" sz="3200" dirty="0">
                <a:latin typeface="+mn-lt"/>
              </a:rPr>
              <a:t>S</a:t>
            </a:r>
            <a:r>
              <a:rPr lang="en-US" sz="3200" dirty="0">
                <a:latin typeface="+mn-lt"/>
              </a:rPr>
              <a:t>crew axis</a:t>
            </a:r>
          </a:p>
        </p:txBody>
      </p:sp>
      <p:cxnSp>
        <p:nvCxnSpPr>
          <p:cNvPr id="8" name="Straight Arrow Connector 7"/>
          <p:cNvCxnSpPr/>
          <p:nvPr/>
        </p:nvCxnSpPr>
        <p:spPr>
          <a:xfrm>
            <a:off x="3167844" y="3667607"/>
            <a:ext cx="2376264"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907704" y="3356992"/>
            <a:ext cx="4896544"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200" dirty="0"/>
              <a:t>Microscopic symmetry elements of crystals </a:t>
            </a:r>
          </a:p>
        </p:txBody>
      </p:sp>
      <p:sp>
        <p:nvSpPr>
          <p:cNvPr id="6" name="Content Placeholder 5"/>
          <p:cNvSpPr>
            <a:spLocks noGrp="1"/>
          </p:cNvSpPr>
          <p:nvPr>
            <p:ph idx="1"/>
          </p:nvPr>
        </p:nvSpPr>
        <p:spPr>
          <a:xfrm>
            <a:off x="457200" y="1844824"/>
            <a:ext cx="8229600" cy="4752528"/>
          </a:xfrm>
        </p:spPr>
        <p:txBody>
          <a:bodyPr>
            <a:noAutofit/>
          </a:bodyPr>
          <a:lstStyle/>
          <a:p>
            <a:pPr marL="0" lvl="1" indent="0" algn="just" fontAlgn="base">
              <a:lnSpc>
                <a:spcPct val="150000"/>
              </a:lnSpc>
              <a:spcBef>
                <a:spcPct val="0"/>
              </a:spcBef>
              <a:spcAft>
                <a:spcPct val="0"/>
              </a:spcAft>
              <a:buNone/>
            </a:pPr>
            <a:r>
              <a:rPr lang="en-US" altLang="zh-CN" b="1" dirty="0">
                <a:solidFill>
                  <a:srgbClr val="FF0000"/>
                </a:solidFill>
                <a:ea typeface="宋体" panose="02010600030101010101" pitchFamily="2" charset="-122"/>
              </a:rPr>
              <a:t>n</a:t>
            </a:r>
            <a:r>
              <a:rPr lang="en-US" altLang="zh-CN" b="1" baseline="-25000" dirty="0">
                <a:solidFill>
                  <a:srgbClr val="FF0000"/>
                </a:solidFill>
                <a:ea typeface="宋体" panose="02010600030101010101" pitchFamily="2" charset="-122"/>
              </a:rPr>
              <a:t>s</a:t>
            </a:r>
            <a:r>
              <a:rPr lang="en-US" altLang="zh-CN" b="1" dirty="0">
                <a:solidFill>
                  <a:srgbClr val="FF0000"/>
                </a:solidFill>
                <a:ea typeface="宋体" panose="02010600030101010101" pitchFamily="2" charset="-122"/>
              </a:rPr>
              <a:t>, international symbol of screw axis</a:t>
            </a:r>
            <a:endParaRPr lang="en-US" altLang="zh-CN" sz="2000" b="1" dirty="0">
              <a:solidFill>
                <a:srgbClr val="FF0000"/>
              </a:solidFill>
              <a:ea typeface="宋体" panose="02010600030101010101" pitchFamily="2" charset="-122"/>
            </a:endParaRPr>
          </a:p>
          <a:p>
            <a:pPr marL="0" lvl="1" indent="0" algn="just" fontAlgn="base">
              <a:lnSpc>
                <a:spcPct val="150000"/>
              </a:lnSpc>
              <a:spcBef>
                <a:spcPct val="0"/>
              </a:spcBef>
              <a:spcAft>
                <a:spcPct val="0"/>
              </a:spcAft>
              <a:buNone/>
            </a:pPr>
            <a:r>
              <a:rPr lang="en-US" altLang="zh-CN" dirty="0">
                <a:ea typeface="宋体" panose="02010600030101010101" pitchFamily="2" charset="-122"/>
              </a:rPr>
              <a:t>       n, order of axis, </a:t>
            </a:r>
            <a:endParaRPr lang="en-US" altLang="zh-CN" sz="2000" dirty="0">
              <a:ea typeface="宋体" panose="02010600030101010101" pitchFamily="2" charset="-122"/>
            </a:endParaRPr>
          </a:p>
          <a:p>
            <a:pPr marL="0" lvl="1" indent="0" algn="just" fontAlgn="base">
              <a:lnSpc>
                <a:spcPct val="150000"/>
              </a:lnSpc>
              <a:spcBef>
                <a:spcPct val="0"/>
              </a:spcBef>
              <a:spcAft>
                <a:spcPct val="0"/>
              </a:spcAft>
              <a:buNone/>
            </a:pPr>
            <a:r>
              <a:rPr lang="en-US" altLang="zh-CN" dirty="0">
                <a:ea typeface="宋体" panose="02010600030101010101" pitchFamily="2" charset="-122"/>
              </a:rPr>
              <a:t>       s, natural number less than n.</a:t>
            </a:r>
            <a:endParaRPr lang="en-US" altLang="zh-CN" sz="2000" dirty="0">
              <a:ea typeface="宋体" panose="02010600030101010101" pitchFamily="2" charset="-122"/>
            </a:endParaRPr>
          </a:p>
          <a:p>
            <a:pPr marL="0" lvl="1" indent="0" algn="just" fontAlgn="base">
              <a:lnSpc>
                <a:spcPct val="150000"/>
              </a:lnSpc>
              <a:spcBef>
                <a:spcPct val="0"/>
              </a:spcBef>
              <a:spcAft>
                <a:spcPct val="0"/>
              </a:spcAft>
              <a:buNone/>
            </a:pPr>
            <a:r>
              <a:rPr lang="en-US" altLang="zh-CN" dirty="0">
                <a:ea typeface="宋体" panose="02010600030101010101" pitchFamily="2" charset="-122"/>
              </a:rPr>
              <a:t>       n, determine </a:t>
            </a:r>
            <a:r>
              <a:rPr lang="en-US" altLang="zh-CN" dirty="0">
                <a:solidFill>
                  <a:srgbClr val="FF0000"/>
                </a:solidFill>
                <a:ea typeface="宋体" panose="02010600030101010101" pitchFamily="2" charset="-122"/>
              </a:rPr>
              <a:t>rotation angle</a:t>
            </a:r>
            <a:r>
              <a:rPr lang="en-US" altLang="zh-CN" dirty="0">
                <a:ea typeface="宋体" panose="02010600030101010101" pitchFamily="2" charset="-122"/>
              </a:rPr>
              <a:t> (360 °/ n) for each rotation</a:t>
            </a:r>
            <a:endParaRPr lang="en-US" altLang="zh-CN" sz="2000" dirty="0">
              <a:ea typeface="宋体" panose="02010600030101010101" pitchFamily="2" charset="-122"/>
            </a:endParaRPr>
          </a:p>
          <a:p>
            <a:pPr marL="0" lvl="1" indent="0" algn="just" fontAlgn="base">
              <a:lnSpc>
                <a:spcPct val="150000"/>
              </a:lnSpc>
              <a:spcBef>
                <a:spcPct val="0"/>
              </a:spcBef>
              <a:spcAft>
                <a:spcPct val="0"/>
              </a:spcAft>
              <a:buNone/>
            </a:pPr>
            <a:r>
              <a:rPr lang="en-US" altLang="zh-CN" sz="2000" dirty="0">
                <a:ea typeface="宋体" panose="02010600030101010101" pitchFamily="2" charset="-122"/>
              </a:rPr>
              <a:t>          </a:t>
            </a:r>
            <a:r>
              <a:rPr lang="en-US" altLang="zh-CN" dirty="0">
                <a:ea typeface="宋体" panose="02010600030101010101" pitchFamily="2" charset="-122"/>
              </a:rPr>
              <a:t>n and s determine </a:t>
            </a:r>
            <a:r>
              <a:rPr lang="en-US" altLang="zh-CN" dirty="0">
                <a:solidFill>
                  <a:srgbClr val="FF0000"/>
                </a:solidFill>
                <a:ea typeface="宋体" panose="02010600030101010101" pitchFamily="2" charset="-122"/>
              </a:rPr>
              <a:t>translation distance</a:t>
            </a:r>
            <a:r>
              <a:rPr lang="en-US" altLang="zh-CN" dirty="0">
                <a:ea typeface="宋体" panose="02010600030101010101" pitchFamily="2" charset="-122"/>
              </a:rPr>
              <a:t>.</a:t>
            </a:r>
            <a:endParaRPr lang="zh-CN" altLang="zh-CN" sz="2000" dirty="0">
              <a:ea typeface="宋体" panose="02010600030101010101" pitchFamily="2" charset="-122"/>
            </a:endParaRPr>
          </a:p>
          <a:p>
            <a:endParaRPr lang="en-US" sz="4000" dirty="0"/>
          </a:p>
        </p:txBody>
      </p:sp>
      <p:sp>
        <p:nvSpPr>
          <p:cNvPr id="5" name="Rectangle 4"/>
          <p:cNvSpPr/>
          <p:nvPr/>
        </p:nvSpPr>
        <p:spPr>
          <a:xfrm>
            <a:off x="471949" y="1268760"/>
            <a:ext cx="2005101" cy="584775"/>
          </a:xfrm>
          <a:prstGeom prst="rect">
            <a:avLst/>
          </a:prstGeom>
        </p:spPr>
        <p:txBody>
          <a:bodyPr wrap="none">
            <a:spAutoFit/>
          </a:bodyPr>
          <a:lstStyle/>
          <a:p>
            <a:r>
              <a:rPr lang="en-US" altLang="zh-CN" sz="3200" dirty="0">
                <a:latin typeface="+mn-lt"/>
              </a:rPr>
              <a:t>S</a:t>
            </a:r>
            <a:r>
              <a:rPr lang="en-US" sz="3200" dirty="0">
                <a:latin typeface="+mn-lt"/>
              </a:rPr>
              <a:t>crew axis</a:t>
            </a:r>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87213"/>
            <a:ext cx="8229600" cy="5534075"/>
          </a:xfrm>
        </p:spPr>
        <p:txBody>
          <a:bodyPr>
            <a:normAutofit lnSpcReduction="10000"/>
          </a:bodyPr>
          <a:lstStyle/>
          <a:p>
            <a:r>
              <a:rPr lang="en-US" sz="2800" dirty="0"/>
              <a:t>If </a:t>
            </a:r>
            <a:r>
              <a:rPr lang="en-US" altLang="zh-CN" sz="2800" dirty="0"/>
              <a:t>lattice point </a:t>
            </a:r>
            <a:r>
              <a:rPr lang="en-US" sz="2800" dirty="0"/>
              <a:t>spacing in the direction of screw axis is marked as </a:t>
            </a:r>
            <a:r>
              <a:rPr lang="en-US" sz="2800" b="1" i="1" dirty="0"/>
              <a:t>t</a:t>
            </a:r>
            <a:r>
              <a:rPr lang="en-US" sz="2800" dirty="0"/>
              <a:t>, the translation distance or thread pitch</a:t>
            </a:r>
            <a:r>
              <a:rPr lang="zh-CN" altLang="en-US" sz="2800" dirty="0"/>
              <a:t>（螺距）</a:t>
            </a:r>
            <a:r>
              <a:rPr lang="en-US" sz="2800" dirty="0"/>
              <a:t> </a:t>
            </a:r>
            <a:r>
              <a:rPr lang="en-US" altLang="zh-CN" sz="2800" dirty="0"/>
              <a:t>is given by</a:t>
            </a:r>
            <a:r>
              <a:rPr lang="el-GR" altLang="zh-CN" sz="2800" b="1" i="1" spc="120" dirty="0">
                <a:solidFill>
                  <a:srgbClr val="FF0000"/>
                </a:solidFill>
                <a:latin typeface="+mj-ea"/>
              </a:rPr>
              <a:t>τ</a:t>
            </a:r>
            <a:r>
              <a:rPr lang="en-US" sz="2800" b="1" dirty="0">
                <a:solidFill>
                  <a:srgbClr val="FF0000"/>
                </a:solidFill>
              </a:rPr>
              <a:t>= (s / n) </a:t>
            </a:r>
            <a:r>
              <a:rPr lang="en-US" sz="2800" b="1" i="1" dirty="0">
                <a:solidFill>
                  <a:srgbClr val="FF0000"/>
                </a:solidFill>
              </a:rPr>
              <a:t>t</a:t>
            </a:r>
            <a:r>
              <a:rPr lang="en-US" sz="2800" dirty="0"/>
              <a:t>, where</a:t>
            </a:r>
            <a:r>
              <a:rPr lang="en-US" sz="2800" b="1" dirty="0"/>
              <a:t> </a:t>
            </a:r>
            <a:r>
              <a:rPr lang="en-US" sz="2800" b="1" i="1" dirty="0"/>
              <a:t>t</a:t>
            </a:r>
            <a:r>
              <a:rPr lang="en-US" sz="2800" b="1" dirty="0"/>
              <a:t> </a:t>
            </a:r>
            <a:r>
              <a:rPr lang="en-US" sz="2800" dirty="0"/>
              <a:t>is the </a:t>
            </a:r>
            <a:r>
              <a:rPr lang="en-US" sz="2800" b="1" dirty="0">
                <a:solidFill>
                  <a:srgbClr val="FF0000"/>
                </a:solidFill>
              </a:rPr>
              <a:t>unit vector </a:t>
            </a:r>
            <a:r>
              <a:rPr lang="en-US" sz="2800" dirty="0"/>
              <a:t>paralleled to the translation vector.</a:t>
            </a:r>
          </a:p>
          <a:p>
            <a:r>
              <a:rPr lang="en-US" sz="2800" dirty="0"/>
              <a:t>According to axis order and thread pitch, screw axes can be classified as</a:t>
            </a:r>
          </a:p>
          <a:p>
            <a:pPr marL="0" indent="0">
              <a:buNone/>
            </a:pPr>
            <a:r>
              <a:rPr lang="en-US" altLang="zh-CN" sz="2400" b="1" dirty="0"/>
              <a:t>	2</a:t>
            </a:r>
            <a:r>
              <a:rPr lang="en-US" altLang="zh-CN" sz="2400" b="1" baseline="-30000" dirty="0"/>
              <a:t>1</a:t>
            </a:r>
            <a:br>
              <a:rPr lang="en-US" altLang="zh-CN" sz="2400" b="1" baseline="-30000" dirty="0"/>
            </a:br>
            <a:r>
              <a:rPr lang="en-US" altLang="zh-CN" sz="2400" b="1" baseline="-30000" dirty="0"/>
              <a:t>	</a:t>
            </a:r>
            <a:r>
              <a:rPr lang="en-US" altLang="zh-CN" sz="2400" b="1" dirty="0"/>
              <a:t>3</a:t>
            </a:r>
            <a:r>
              <a:rPr lang="en-US" altLang="zh-CN" sz="2400" b="1" baseline="-30000" dirty="0"/>
              <a:t>1</a:t>
            </a:r>
            <a:r>
              <a:rPr lang="zh-CN" altLang="en-US" sz="2400" b="1" dirty="0">
                <a:latin typeface="宋体" panose="02010600030101010101" pitchFamily="2" charset="-122"/>
              </a:rPr>
              <a:t>、</a:t>
            </a:r>
            <a:r>
              <a:rPr lang="en-US" altLang="zh-CN" sz="2400" b="1" dirty="0"/>
              <a:t>3</a:t>
            </a:r>
            <a:r>
              <a:rPr lang="en-US" altLang="zh-CN" sz="2400" b="1" baseline="-30000" dirty="0"/>
              <a:t>2</a:t>
            </a:r>
            <a:br>
              <a:rPr lang="en-US" altLang="zh-CN" sz="2400" b="1" baseline="-30000" dirty="0"/>
            </a:br>
            <a:r>
              <a:rPr lang="en-US" altLang="zh-CN" sz="2400" b="1" baseline="-30000" dirty="0"/>
              <a:t>	</a:t>
            </a:r>
            <a:r>
              <a:rPr lang="en-US" altLang="zh-CN" sz="2400" b="1" dirty="0"/>
              <a:t>4</a:t>
            </a:r>
            <a:r>
              <a:rPr lang="en-US" altLang="zh-CN" sz="2400" b="1" baseline="-30000" dirty="0"/>
              <a:t>1</a:t>
            </a:r>
            <a:r>
              <a:rPr lang="zh-CN" altLang="en-US" sz="2400" b="1" dirty="0">
                <a:latin typeface="宋体" panose="02010600030101010101" pitchFamily="2" charset="-122"/>
              </a:rPr>
              <a:t>、</a:t>
            </a:r>
            <a:r>
              <a:rPr lang="en-US" altLang="zh-CN" sz="2400" b="1" dirty="0"/>
              <a:t>4</a:t>
            </a:r>
            <a:r>
              <a:rPr lang="en-US" altLang="zh-CN" sz="2400" b="1" baseline="-30000" dirty="0"/>
              <a:t>2</a:t>
            </a:r>
            <a:r>
              <a:rPr lang="zh-CN" altLang="en-US" sz="2400" b="1" dirty="0">
                <a:latin typeface="宋体" panose="02010600030101010101" pitchFamily="2" charset="-122"/>
              </a:rPr>
              <a:t>、</a:t>
            </a:r>
            <a:r>
              <a:rPr lang="en-US" altLang="zh-CN" sz="2400" b="1" dirty="0"/>
              <a:t>4</a:t>
            </a:r>
            <a:r>
              <a:rPr lang="en-US" altLang="zh-CN" sz="2400" b="1" baseline="-30000" dirty="0"/>
              <a:t>3</a:t>
            </a:r>
            <a:br>
              <a:rPr lang="en-US" altLang="zh-CN" sz="2400" b="1" baseline="-30000" dirty="0"/>
            </a:br>
            <a:r>
              <a:rPr lang="en-US" altLang="zh-CN" sz="2400" b="1" baseline="-30000" dirty="0"/>
              <a:t>	</a:t>
            </a:r>
            <a:r>
              <a:rPr lang="en-US" altLang="zh-CN" sz="2400" b="1" dirty="0"/>
              <a:t>6</a:t>
            </a:r>
            <a:r>
              <a:rPr lang="en-US" altLang="zh-CN" sz="2400" b="1" baseline="-30000" dirty="0"/>
              <a:t>l</a:t>
            </a:r>
            <a:r>
              <a:rPr lang="zh-CN" altLang="en-US" sz="2400" b="1" dirty="0">
                <a:latin typeface="宋体" panose="02010600030101010101" pitchFamily="2" charset="-122"/>
              </a:rPr>
              <a:t>、</a:t>
            </a:r>
            <a:r>
              <a:rPr lang="en-US" altLang="zh-CN" sz="2400" b="1" dirty="0"/>
              <a:t>6</a:t>
            </a:r>
            <a:r>
              <a:rPr lang="en-US" altLang="zh-CN" sz="2400" b="1" baseline="-30000" dirty="0"/>
              <a:t>2</a:t>
            </a:r>
            <a:r>
              <a:rPr lang="zh-CN" altLang="en-US" sz="2400" b="1" dirty="0">
                <a:latin typeface="宋体" panose="02010600030101010101" pitchFamily="2" charset="-122"/>
              </a:rPr>
              <a:t>、</a:t>
            </a:r>
            <a:r>
              <a:rPr lang="en-US" altLang="zh-CN" sz="2400" b="1" dirty="0"/>
              <a:t>6</a:t>
            </a:r>
            <a:r>
              <a:rPr lang="en-US" altLang="zh-CN" sz="2400" b="1" baseline="-30000" dirty="0"/>
              <a:t>3</a:t>
            </a:r>
            <a:r>
              <a:rPr lang="zh-CN" altLang="en-US" sz="2400" b="1" dirty="0">
                <a:latin typeface="宋体" panose="02010600030101010101" pitchFamily="2" charset="-122"/>
              </a:rPr>
              <a:t>、</a:t>
            </a:r>
            <a:r>
              <a:rPr lang="en-US" altLang="zh-CN" sz="2400" b="1" dirty="0"/>
              <a:t>6</a:t>
            </a:r>
            <a:r>
              <a:rPr lang="en-US" altLang="zh-CN" sz="2400" b="1" baseline="-30000" dirty="0"/>
              <a:t>4</a:t>
            </a:r>
            <a:r>
              <a:rPr lang="zh-CN" altLang="en-US" sz="2400" b="1" dirty="0">
                <a:latin typeface="宋体" panose="02010600030101010101" pitchFamily="2" charset="-122"/>
              </a:rPr>
              <a:t>、</a:t>
            </a:r>
            <a:r>
              <a:rPr lang="en-US" altLang="zh-CN" sz="2400" b="1" dirty="0"/>
              <a:t>6</a:t>
            </a:r>
            <a:r>
              <a:rPr lang="en-US" altLang="zh-CN" sz="2400" b="1" baseline="-30000" dirty="0"/>
              <a:t>5</a:t>
            </a:r>
          </a:p>
          <a:p>
            <a:pPr marL="0" indent="0">
              <a:buNone/>
            </a:pPr>
            <a:endParaRPr lang="en-US" altLang="zh-CN" sz="2400" b="1" baseline="-30000" dirty="0"/>
          </a:p>
          <a:p>
            <a:pPr marL="0" indent="0">
              <a:buNone/>
            </a:pPr>
            <a:endParaRPr lang="en-US" altLang="zh-CN" sz="2400" b="1" baseline="-30000" dirty="0"/>
          </a:p>
          <a:p>
            <a:pPr marL="0" indent="0">
              <a:buNone/>
            </a:pPr>
            <a:endParaRPr lang="en-US" altLang="zh-CN" sz="2400" b="1" baseline="-30000" dirty="0"/>
          </a:p>
          <a:p>
            <a:r>
              <a:rPr lang="en-US" sz="2800" dirty="0"/>
              <a:t>n</a:t>
            </a:r>
            <a:r>
              <a:rPr lang="en-US" sz="2800" baseline="-25000" dirty="0"/>
              <a:t>s</a:t>
            </a:r>
            <a:r>
              <a:rPr lang="en-US" sz="2800" dirty="0"/>
              <a:t> is the international symbol of screw axis which is based on the right-hand system.</a:t>
            </a:r>
          </a:p>
          <a:p>
            <a:pPr marL="0" indent="0">
              <a:buNone/>
            </a:pPr>
            <a:endParaRPr lang="en-US" sz="2400"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450"/>
          <a:stretch>
            <a:fillRect/>
          </a:stretch>
        </p:blipFill>
        <p:spPr bwMode="auto">
          <a:xfrm rot="2474671">
            <a:off x="6235685" y="3054290"/>
            <a:ext cx="1525255" cy="1584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What does  n</a:t>
            </a:r>
            <a:r>
              <a:rPr lang="en-US" altLang="zh-CN" baseline="-25000" dirty="0"/>
              <a:t>s</a:t>
            </a:r>
            <a:r>
              <a:rPr lang="en-US" altLang="zh-CN" dirty="0"/>
              <a:t> mean respectively?</a:t>
            </a:r>
            <a:endParaRPr lang="en-US" dirty="0"/>
          </a:p>
        </p:txBody>
      </p:sp>
      <p:sp>
        <p:nvSpPr>
          <p:cNvPr id="3" name="Content Placeholder 2"/>
          <p:cNvSpPr>
            <a:spLocks noGrp="1"/>
          </p:cNvSpPr>
          <p:nvPr>
            <p:ph idx="1"/>
          </p:nvPr>
        </p:nvSpPr>
        <p:spPr/>
        <p:txBody>
          <a:bodyPr/>
          <a:lstStyle/>
          <a:p>
            <a:pPr marL="0" indent="0">
              <a:lnSpc>
                <a:spcPct val="115000"/>
              </a:lnSpc>
              <a:buNone/>
              <a:defRPr/>
            </a:pPr>
            <a:r>
              <a:rPr lang="en-US" altLang="zh-CN" b="1" dirty="0">
                <a:solidFill>
                  <a:srgbClr val="FF0000"/>
                </a:solidFill>
              </a:rPr>
              <a:t>Examples</a:t>
            </a:r>
            <a:r>
              <a:rPr lang="zh-CN" altLang="en-US" b="1" dirty="0">
                <a:solidFill>
                  <a:srgbClr val="FF0000"/>
                </a:solidFill>
              </a:rPr>
              <a:t>：</a:t>
            </a:r>
            <a:endParaRPr lang="en-US" altLang="zh-CN" b="1" dirty="0">
              <a:solidFill>
                <a:srgbClr val="FF0000"/>
              </a:solidFill>
            </a:endParaRPr>
          </a:p>
          <a:p>
            <a:pPr>
              <a:lnSpc>
                <a:spcPct val="115000"/>
              </a:lnSpc>
              <a:defRPr/>
            </a:pPr>
            <a:r>
              <a:rPr lang="en-US" altLang="zh-CN" sz="2800" dirty="0"/>
              <a:t>4</a:t>
            </a:r>
            <a:r>
              <a:rPr lang="en-US" altLang="zh-CN" sz="2800" baseline="-25000" dirty="0"/>
              <a:t>1</a:t>
            </a:r>
            <a:r>
              <a:rPr lang="en-US" altLang="zh-CN" sz="2800" dirty="0"/>
              <a:t> -translation distance is (1/4)·t after rotating 90 degree along the direction of counter-clockwise</a:t>
            </a:r>
          </a:p>
          <a:p>
            <a:pPr>
              <a:lnSpc>
                <a:spcPct val="115000"/>
              </a:lnSpc>
              <a:defRPr/>
            </a:pPr>
            <a:r>
              <a:rPr lang="en-US" altLang="zh-CN" sz="2800" dirty="0"/>
              <a:t>4</a:t>
            </a:r>
            <a:r>
              <a:rPr lang="en-US" altLang="zh-CN" sz="2800" baseline="-25000" dirty="0"/>
              <a:t>3 </a:t>
            </a:r>
            <a:r>
              <a:rPr lang="en-US" altLang="zh-CN" sz="2800" dirty="0"/>
              <a:t>-translation distance is (3/4)·t after rotating 90 degree along the direction of counter-clockwise</a:t>
            </a:r>
          </a:p>
          <a:p>
            <a:endParaRPr lang="en-US" dirty="0"/>
          </a:p>
        </p:txBody>
      </p:sp>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336921" y="342726"/>
            <a:ext cx="8391525" cy="3724275"/>
          </a:xfrm>
          <a:prstGeom prst="rect">
            <a:avLst/>
          </a:prstGeom>
        </p:spPr>
      </p:pic>
      <p:sp>
        <p:nvSpPr>
          <p:cNvPr id="4" name="Oval 3"/>
          <p:cNvSpPr/>
          <p:nvPr/>
        </p:nvSpPr>
        <p:spPr>
          <a:xfrm>
            <a:off x="3923928" y="3212976"/>
            <a:ext cx="1008112" cy="504056"/>
          </a:xfrm>
          <a:prstGeom prst="ellipse">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2"/>
          <p:cNvSpPr/>
          <p:nvPr/>
        </p:nvSpPr>
        <p:spPr>
          <a:xfrm>
            <a:off x="3452648" y="1545021"/>
            <a:ext cx="1292773" cy="898634"/>
          </a:xfrm>
          <a:custGeom>
            <a:avLst/>
            <a:gdLst>
              <a:gd name="connsiteX0" fmla="*/ 0 w 1292773"/>
              <a:gd name="connsiteY0" fmla="*/ 0 h 898634"/>
              <a:gd name="connsiteX1" fmla="*/ 1024759 w 1292773"/>
              <a:gd name="connsiteY1" fmla="*/ 173420 h 898634"/>
              <a:gd name="connsiteX2" fmla="*/ 1277007 w 1292773"/>
              <a:gd name="connsiteY2" fmla="*/ 898634 h 898634"/>
              <a:gd name="connsiteX3" fmla="*/ 1277007 w 1292773"/>
              <a:gd name="connsiteY3" fmla="*/ 898634 h 898634"/>
              <a:gd name="connsiteX4" fmla="*/ 1292773 w 1292773"/>
              <a:gd name="connsiteY4" fmla="*/ 882869 h 898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773" h="898634">
                <a:moveTo>
                  <a:pt x="0" y="0"/>
                </a:moveTo>
                <a:cubicBezTo>
                  <a:pt x="405962" y="11824"/>
                  <a:pt x="811925" y="23648"/>
                  <a:pt x="1024759" y="173420"/>
                </a:cubicBezTo>
                <a:cubicBezTo>
                  <a:pt x="1237593" y="323192"/>
                  <a:pt x="1277007" y="898634"/>
                  <a:pt x="1277007" y="898634"/>
                </a:cubicBezTo>
                <a:lnTo>
                  <a:pt x="1277007" y="898634"/>
                </a:lnTo>
                <a:lnTo>
                  <a:pt x="1292773" y="882869"/>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2979683" y="2144110"/>
            <a:ext cx="1261241" cy="882869"/>
          </a:xfrm>
          <a:custGeom>
            <a:avLst/>
            <a:gdLst>
              <a:gd name="connsiteX0" fmla="*/ 0 w 1261241"/>
              <a:gd name="connsiteY0" fmla="*/ 0 h 882869"/>
              <a:gd name="connsiteX1" fmla="*/ 882869 w 1261241"/>
              <a:gd name="connsiteY1" fmla="*/ 709449 h 882869"/>
              <a:gd name="connsiteX2" fmla="*/ 1261241 w 1261241"/>
              <a:gd name="connsiteY2" fmla="*/ 882869 h 882869"/>
            </a:gdLst>
            <a:ahLst/>
            <a:cxnLst>
              <a:cxn ang="0">
                <a:pos x="connsiteX0" y="connsiteY0"/>
              </a:cxn>
              <a:cxn ang="0">
                <a:pos x="connsiteX1" y="connsiteY1"/>
              </a:cxn>
              <a:cxn ang="0">
                <a:pos x="connsiteX2" y="connsiteY2"/>
              </a:cxn>
            </a:cxnLst>
            <a:rect l="l" t="t" r="r" b="b"/>
            <a:pathLst>
              <a:path w="1261241" h="882869">
                <a:moveTo>
                  <a:pt x="0" y="0"/>
                </a:moveTo>
                <a:cubicBezTo>
                  <a:pt x="336331" y="281152"/>
                  <a:pt x="672662" y="562304"/>
                  <a:pt x="882869" y="709449"/>
                </a:cubicBezTo>
                <a:cubicBezTo>
                  <a:pt x="1093076" y="856594"/>
                  <a:pt x="1177158" y="869731"/>
                  <a:pt x="1261241" y="88286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837793" y="2538248"/>
            <a:ext cx="1198179" cy="871602"/>
          </a:xfrm>
          <a:custGeom>
            <a:avLst/>
            <a:gdLst>
              <a:gd name="connsiteX0" fmla="*/ 0 w 1198179"/>
              <a:gd name="connsiteY0" fmla="*/ 0 h 871602"/>
              <a:gd name="connsiteX1" fmla="*/ 520262 w 1198179"/>
              <a:gd name="connsiteY1" fmla="*/ 740980 h 871602"/>
              <a:gd name="connsiteX2" fmla="*/ 1198179 w 1198179"/>
              <a:gd name="connsiteY2" fmla="*/ 867104 h 871602"/>
            </a:gdLst>
            <a:ahLst/>
            <a:cxnLst>
              <a:cxn ang="0">
                <a:pos x="connsiteX0" y="connsiteY0"/>
              </a:cxn>
              <a:cxn ang="0">
                <a:pos x="connsiteX1" y="connsiteY1"/>
              </a:cxn>
              <a:cxn ang="0">
                <a:pos x="connsiteX2" y="connsiteY2"/>
              </a:cxn>
            </a:cxnLst>
            <a:rect l="l" t="t" r="r" b="b"/>
            <a:pathLst>
              <a:path w="1198179" h="871602">
                <a:moveTo>
                  <a:pt x="0" y="0"/>
                </a:moveTo>
                <a:cubicBezTo>
                  <a:pt x="160283" y="298231"/>
                  <a:pt x="320566" y="596463"/>
                  <a:pt x="520262" y="740980"/>
                </a:cubicBezTo>
                <a:cubicBezTo>
                  <a:pt x="719958" y="885497"/>
                  <a:pt x="959068" y="876300"/>
                  <a:pt x="1198179" y="867104"/>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559808" y="1251916"/>
            <a:ext cx="2516248" cy="2753148"/>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145352" y="404664"/>
            <a:ext cx="2955039" cy="3600400"/>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532684" y="1251916"/>
            <a:ext cx="612668" cy="646331"/>
          </a:xfrm>
          <a:prstGeom prst="rect">
            <a:avLst/>
          </a:prstGeom>
          <a:noFill/>
        </p:spPr>
        <p:txBody>
          <a:bodyPr wrap="none" rtlCol="0">
            <a:spAutoFit/>
          </a:bodyPr>
          <a:lstStyle/>
          <a:p>
            <a:r>
              <a:rPr lang="en-US" sz="3600" dirty="0">
                <a:solidFill>
                  <a:srgbClr val="3333FF"/>
                </a:solidFill>
              </a:rPr>
              <a:t>4</a:t>
            </a:r>
            <a:r>
              <a:rPr lang="en-US" sz="3600" baseline="-25000" dirty="0">
                <a:solidFill>
                  <a:srgbClr val="3333FF"/>
                </a:solidFill>
              </a:rPr>
              <a:t>2</a:t>
            </a:r>
          </a:p>
        </p:txBody>
      </p:sp>
      <p:sp>
        <p:nvSpPr>
          <p:cNvPr id="13" name="TextBox 12"/>
          <p:cNvSpPr txBox="1"/>
          <p:nvPr/>
        </p:nvSpPr>
        <p:spPr>
          <a:xfrm>
            <a:off x="7487723" y="419111"/>
            <a:ext cx="612668" cy="646331"/>
          </a:xfrm>
          <a:prstGeom prst="rect">
            <a:avLst/>
          </a:prstGeom>
          <a:noFill/>
        </p:spPr>
        <p:txBody>
          <a:bodyPr wrap="none" rtlCol="0">
            <a:spAutoFit/>
          </a:bodyPr>
          <a:lstStyle/>
          <a:p>
            <a:r>
              <a:rPr lang="en-US" sz="3600" dirty="0">
                <a:solidFill>
                  <a:srgbClr val="3333FF"/>
                </a:solidFill>
              </a:rPr>
              <a:t>4</a:t>
            </a:r>
            <a:r>
              <a:rPr lang="en-US" sz="3600" baseline="-25000" dirty="0">
                <a:solidFill>
                  <a:srgbClr val="3333FF"/>
                </a:solidFill>
              </a:rPr>
              <a:t>3</a:t>
            </a:r>
          </a:p>
        </p:txBody>
      </p:sp>
      <p:sp>
        <p:nvSpPr>
          <p:cNvPr id="14" name="Rectangle 13"/>
          <p:cNvSpPr/>
          <p:nvPr/>
        </p:nvSpPr>
        <p:spPr>
          <a:xfrm>
            <a:off x="883241" y="1658308"/>
            <a:ext cx="1592559" cy="2346756"/>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TextBox 15"/>
          <p:cNvSpPr txBox="1"/>
          <p:nvPr/>
        </p:nvSpPr>
        <p:spPr>
          <a:xfrm>
            <a:off x="1876949" y="1657433"/>
            <a:ext cx="750526" cy="646331"/>
          </a:xfrm>
          <a:prstGeom prst="rect">
            <a:avLst/>
          </a:prstGeom>
          <a:noFill/>
        </p:spPr>
        <p:txBody>
          <a:bodyPr wrap="none" rtlCol="0">
            <a:spAutoFit/>
          </a:bodyPr>
          <a:lstStyle/>
          <a:p>
            <a:r>
              <a:rPr lang="en-US" sz="3600" dirty="0">
                <a:solidFill>
                  <a:srgbClr val="3333FF"/>
                </a:solidFill>
              </a:rPr>
              <a:t>4</a:t>
            </a:r>
            <a:r>
              <a:rPr lang="zh-CN" altLang="en-US" sz="3600" baseline="-25000" dirty="0">
                <a:solidFill>
                  <a:srgbClr val="3333FF"/>
                </a:solidFill>
              </a:rPr>
              <a:t>１</a:t>
            </a:r>
            <a:endParaRPr lang="en-US" sz="3600" baseline="-25000" dirty="0">
              <a:solidFill>
                <a:srgbClr val="3333FF"/>
              </a:solidFill>
            </a:endParaRPr>
          </a:p>
        </p:txBody>
      </p:sp>
      <p:sp>
        <p:nvSpPr>
          <p:cNvPr id="18" name="Rectangle 17"/>
          <p:cNvSpPr/>
          <p:nvPr/>
        </p:nvSpPr>
        <p:spPr>
          <a:xfrm>
            <a:off x="1627578" y="3974156"/>
            <a:ext cx="5968758" cy="822996"/>
          </a:xfrm>
          <a:prstGeom prst="rect">
            <a:avLst/>
          </a:prstGeom>
          <a:noFill/>
          <a:ln>
            <a:noFill/>
          </a:ln>
        </p:spPr>
        <p:style>
          <a:lnRef idx="0">
            <a:scrgbClr r="0" g="0" b="0"/>
          </a:lnRef>
          <a:fillRef idx="0">
            <a:scrgbClr r="0" g="0" b="0"/>
          </a:fillRef>
          <a:effectRef idx="0">
            <a:scrgbClr r="0" g="0" b="0"/>
          </a:effectRef>
          <a:fontRef idx="minor">
            <a:schemeClr val="accent5"/>
          </a:fontRef>
        </p:style>
        <p:txBody>
          <a:bodyPr rtlCol="0" anchor="ctr"/>
          <a:lstStyle/>
          <a:p>
            <a:r>
              <a:rPr lang="en-US" altLang="zh-CN" sz="2000" dirty="0">
                <a:solidFill>
                  <a:schemeClr val="tx1"/>
                </a:solidFill>
                <a:cs typeface="Times New Roman" panose="02020603050405020304" pitchFamily="18" charset="0"/>
              </a:rPr>
              <a:t>Combined symmetry operations of 4-fold screw axes</a:t>
            </a:r>
            <a:endParaRPr lang="zh-CN" altLang="zh-CN" sz="2000" dirty="0">
              <a:solidFill>
                <a:schemeClr val="tx1"/>
              </a:solidFill>
              <a:cs typeface="Times New Roman" panose="02020603050405020304" pitchFamily="18" charset="0"/>
            </a:endParaRPr>
          </a:p>
        </p:txBody>
      </p:sp>
      <p:sp>
        <p:nvSpPr>
          <p:cNvPr id="22" name="Rectangle 21"/>
          <p:cNvSpPr/>
          <p:nvPr/>
        </p:nvSpPr>
        <p:spPr>
          <a:xfrm>
            <a:off x="780091" y="4629417"/>
            <a:ext cx="7505183" cy="1692771"/>
          </a:xfrm>
          <a:prstGeom prst="rect">
            <a:avLst/>
          </a:prstGeom>
        </p:spPr>
        <p:txBody>
          <a:bodyPr wrap="square">
            <a:spAutoFit/>
          </a:bodyPr>
          <a:lstStyle/>
          <a:p>
            <a:pPr marL="457200" indent="-457200" algn="just">
              <a:spcAft>
                <a:spcPts val="0"/>
              </a:spcAft>
              <a:buAutoNum type="alphaLcParenR"/>
            </a:pPr>
            <a:r>
              <a:rPr lang="en-US" altLang="zh-CN" sz="2000" b="0" kern="100" dirty="0">
                <a:latin typeface="+mn-lt"/>
                <a:ea typeface="等线" panose="02010600030101010101" pitchFamily="2" charset="-122"/>
                <a:cs typeface="Times New Roman" panose="02020603050405020304" pitchFamily="18" charset="0"/>
              </a:rPr>
              <a:t>4</a:t>
            </a:r>
            <a:r>
              <a:rPr lang="en-US" altLang="zh-CN" sz="2000" b="0" kern="100" baseline="-25000" dirty="0">
                <a:latin typeface="+mn-lt"/>
                <a:ea typeface="等线" panose="02010600030101010101" pitchFamily="2" charset="-122"/>
                <a:cs typeface="Times New Roman" panose="02020603050405020304" pitchFamily="18" charset="0"/>
              </a:rPr>
              <a:t>1</a:t>
            </a:r>
            <a:r>
              <a:rPr lang="en-US" altLang="zh-CN" sz="2000" b="0" kern="100" dirty="0">
                <a:latin typeface="+mn-lt"/>
                <a:ea typeface="等线" panose="02010600030101010101" pitchFamily="2" charset="-122"/>
                <a:cs typeface="Times New Roman" panose="02020603050405020304" pitchFamily="18" charset="0"/>
              </a:rPr>
              <a:t> ;</a:t>
            </a:r>
          </a:p>
          <a:p>
            <a:pPr marL="457200" indent="-457200" algn="just">
              <a:spcAft>
                <a:spcPts val="0"/>
              </a:spcAft>
              <a:buAutoNum type="alphaLcParenR"/>
            </a:pPr>
            <a:r>
              <a:rPr lang="en-US" altLang="zh-CN" sz="2000" b="0" kern="100" dirty="0">
                <a:latin typeface="+mn-lt"/>
                <a:ea typeface="等线" panose="02010600030101010101" pitchFamily="2" charset="-122"/>
                <a:cs typeface="Times New Roman" panose="02020603050405020304" pitchFamily="18" charset="0"/>
              </a:rPr>
              <a:t>4</a:t>
            </a:r>
            <a:r>
              <a:rPr lang="en-US" altLang="zh-CN" sz="2000" b="0" kern="100" baseline="-25000" dirty="0">
                <a:latin typeface="+mn-lt"/>
                <a:ea typeface="等线" panose="02010600030101010101" pitchFamily="2" charset="-122"/>
                <a:cs typeface="Times New Roman" panose="02020603050405020304" pitchFamily="18" charset="0"/>
              </a:rPr>
              <a:t>2</a:t>
            </a:r>
            <a:r>
              <a:rPr lang="en-US" altLang="zh-CN" sz="2000" b="0" kern="100" dirty="0">
                <a:latin typeface="+mn-lt"/>
                <a:ea typeface="等线" panose="02010600030101010101" pitchFamily="2" charset="-122"/>
                <a:cs typeface="Times New Roman" panose="02020603050405020304" pitchFamily="18" charset="0"/>
              </a:rPr>
              <a:t> 2t translation after 4 times’ rotation of 90 degrees;</a:t>
            </a:r>
          </a:p>
          <a:p>
            <a:pPr marL="457200" indent="-457200" algn="just">
              <a:spcAft>
                <a:spcPts val="0"/>
              </a:spcAft>
              <a:buAutoNum type="alphaLcParenR"/>
            </a:pPr>
            <a:r>
              <a:rPr lang="en-US" altLang="zh-CN" sz="2000" b="0" kern="100" dirty="0">
                <a:latin typeface="+mn-lt"/>
                <a:ea typeface="等线" panose="02010600030101010101" pitchFamily="2" charset="-122"/>
                <a:cs typeface="Times New Roman" panose="02020603050405020304" pitchFamily="18" charset="0"/>
              </a:rPr>
              <a:t>4</a:t>
            </a:r>
            <a:r>
              <a:rPr lang="en-US" altLang="zh-CN" sz="2000" b="0" kern="100" baseline="-25000" dirty="0">
                <a:latin typeface="+mn-lt"/>
                <a:ea typeface="等线" panose="02010600030101010101" pitchFamily="2" charset="-122"/>
                <a:cs typeface="Times New Roman" panose="02020603050405020304" pitchFamily="18" charset="0"/>
              </a:rPr>
              <a:t>2</a:t>
            </a:r>
            <a:r>
              <a:rPr lang="en-US" altLang="zh-CN" sz="2000" b="0" kern="100" dirty="0">
                <a:latin typeface="+mn-lt"/>
                <a:ea typeface="等线" panose="02010600030101010101" pitchFamily="2" charset="-122"/>
                <a:cs typeface="Times New Roman" panose="02020603050405020304" pitchFamily="18" charset="0"/>
              </a:rPr>
              <a:t> sketch map after translation equivalence of lattice points;</a:t>
            </a:r>
          </a:p>
          <a:p>
            <a:pPr marL="457200" indent="-457200" algn="just">
              <a:spcAft>
                <a:spcPts val="0"/>
              </a:spcAft>
              <a:buAutoNum type="alphaLcParenR"/>
            </a:pPr>
            <a:r>
              <a:rPr lang="en-US" altLang="zh-CN" sz="2000" b="0" kern="100" dirty="0">
                <a:latin typeface="+mn-lt"/>
                <a:ea typeface="等线" panose="02010600030101010101" pitchFamily="2" charset="-122"/>
                <a:cs typeface="Times New Roman" panose="02020603050405020304" pitchFamily="18" charset="0"/>
              </a:rPr>
              <a:t>4</a:t>
            </a:r>
            <a:r>
              <a:rPr lang="en-US" altLang="zh-CN" sz="2000" b="0" kern="100" baseline="-25000" dirty="0">
                <a:latin typeface="+mn-lt"/>
                <a:ea typeface="等线" panose="02010600030101010101" pitchFamily="2" charset="-122"/>
                <a:cs typeface="Times New Roman" panose="02020603050405020304" pitchFamily="18" charset="0"/>
              </a:rPr>
              <a:t>3</a:t>
            </a:r>
            <a:r>
              <a:rPr lang="en-US" altLang="zh-CN" sz="2000" b="0" kern="100" dirty="0">
                <a:latin typeface="+mn-lt"/>
                <a:ea typeface="等线" panose="02010600030101010101" pitchFamily="2" charset="-122"/>
                <a:cs typeface="Times New Roman" panose="02020603050405020304" pitchFamily="18" charset="0"/>
              </a:rPr>
              <a:t> 3t translation after 4 times’ rotation of 90 degrees;</a:t>
            </a:r>
          </a:p>
          <a:p>
            <a:pPr marL="457200" indent="-457200" algn="just">
              <a:spcAft>
                <a:spcPts val="0"/>
              </a:spcAft>
              <a:buAutoNum type="alphaLcParenR"/>
            </a:pPr>
            <a:r>
              <a:rPr lang="en-US" altLang="zh-CN" sz="2000" b="0" kern="100" dirty="0">
                <a:latin typeface="+mn-lt"/>
                <a:ea typeface="等线" panose="02010600030101010101" pitchFamily="2" charset="-122"/>
                <a:cs typeface="Times New Roman" panose="02020603050405020304" pitchFamily="18" charset="0"/>
              </a:rPr>
              <a:t>4</a:t>
            </a:r>
            <a:r>
              <a:rPr lang="en-US" altLang="zh-CN" sz="2000" b="0" kern="100" baseline="-25000" dirty="0">
                <a:latin typeface="+mn-lt"/>
                <a:ea typeface="等线" panose="02010600030101010101" pitchFamily="2" charset="-122"/>
                <a:cs typeface="Times New Roman" panose="02020603050405020304" pitchFamily="18" charset="0"/>
              </a:rPr>
              <a:t>3 </a:t>
            </a:r>
            <a:r>
              <a:rPr lang="en-US" altLang="zh-CN" sz="2000" b="0" kern="100" dirty="0">
                <a:latin typeface="+mn-lt"/>
                <a:ea typeface="等线" panose="02010600030101010101" pitchFamily="2" charset="-122"/>
                <a:cs typeface="Times New Roman" panose="02020603050405020304" pitchFamily="18" charset="0"/>
              </a:rPr>
              <a:t>sketch map after translation equivalence of lattice points.</a:t>
            </a:r>
            <a:endParaRPr lang="zh-CN" altLang="zh-CN" sz="2000" b="0" kern="100" dirty="0">
              <a:effectLst/>
              <a:latin typeface="+mn-lt"/>
              <a:ea typeface="等线" panose="02010600030101010101" pitchFamily="2" charset="-122"/>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pic>
        <p:nvPicPr>
          <p:cNvPr id="5017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14327"/>
          <a:stretch>
            <a:fillRect/>
          </a:stretch>
        </p:blipFill>
        <p:spPr bwMode="auto">
          <a:xfrm>
            <a:off x="971600" y="1412776"/>
            <a:ext cx="7488832" cy="39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extBox 3"/>
          <p:cNvSpPr txBox="1"/>
          <p:nvPr/>
        </p:nvSpPr>
        <p:spPr>
          <a:xfrm>
            <a:off x="683568" y="5445224"/>
            <a:ext cx="8136904" cy="1200329"/>
          </a:xfrm>
          <a:prstGeom prst="rect">
            <a:avLst/>
          </a:prstGeom>
          <a:noFill/>
        </p:spPr>
        <p:txBody>
          <a:bodyPr wrap="square" rtlCol="0">
            <a:spAutoFit/>
          </a:bodyPr>
          <a:lstStyle/>
          <a:p>
            <a:pPr algn="ctr"/>
            <a:r>
              <a:rPr lang="en-US" sz="2400" dirty="0">
                <a:latin typeface="+mn-lt"/>
              </a:rPr>
              <a:t>4</a:t>
            </a:r>
            <a:r>
              <a:rPr lang="en-US" sz="2400" baseline="-25000" dirty="0">
                <a:latin typeface="+mn-lt"/>
              </a:rPr>
              <a:t>1</a:t>
            </a:r>
            <a:r>
              <a:rPr lang="en-US" sz="2400" dirty="0">
                <a:latin typeface="+mn-lt"/>
              </a:rPr>
              <a:t> </a:t>
            </a:r>
            <a:r>
              <a:rPr lang="en-US" altLang="zh-CN" sz="2400" dirty="0">
                <a:latin typeface="+mn-lt"/>
              </a:rPr>
              <a:t>and 4</a:t>
            </a:r>
            <a:r>
              <a:rPr lang="en-US" altLang="zh-CN" sz="2400" baseline="-25000" dirty="0">
                <a:latin typeface="+mn-lt"/>
              </a:rPr>
              <a:t>3</a:t>
            </a:r>
            <a:r>
              <a:rPr lang="en-US" altLang="zh-CN" sz="2400" dirty="0">
                <a:latin typeface="+mn-lt"/>
              </a:rPr>
              <a:t> in Diamond crystal structure</a:t>
            </a:r>
            <a:r>
              <a:rPr lang="en-US" altLang="zh-CN" sz="2400" b="0" dirty="0">
                <a:latin typeface="+mn-lt"/>
              </a:rPr>
              <a:t>. </a:t>
            </a:r>
          </a:p>
          <a:p>
            <a:r>
              <a:rPr lang="en-US" altLang="zh-CN" sz="2400" b="0" dirty="0">
                <a:latin typeface="+mn-lt"/>
              </a:rPr>
              <a:t>A gives the 4</a:t>
            </a:r>
            <a:r>
              <a:rPr lang="en-US" altLang="zh-CN" sz="2400" b="0" baseline="-25000" dirty="0">
                <a:latin typeface="+mn-lt"/>
              </a:rPr>
              <a:t>1</a:t>
            </a:r>
            <a:r>
              <a:rPr lang="en-US" altLang="zh-CN" sz="2400" b="0" dirty="0">
                <a:latin typeface="+mn-lt"/>
              </a:rPr>
              <a:t> and B gives the projection and screw axis distribution</a:t>
            </a:r>
            <a:endParaRPr lang="en-US" sz="2400" b="0" dirty="0">
              <a:latin typeface="+mn-lt"/>
            </a:endParaRPr>
          </a:p>
        </p:txBody>
      </p:sp>
      <p:sp>
        <p:nvSpPr>
          <p:cNvPr id="3" name="Circular Arrow 2"/>
          <p:cNvSpPr/>
          <p:nvPr/>
        </p:nvSpPr>
        <p:spPr>
          <a:xfrm rot="6751618" flipH="1">
            <a:off x="5927158" y="2967261"/>
            <a:ext cx="1152128" cy="1182812"/>
          </a:xfrm>
          <a:prstGeom prst="circularArrow">
            <a:avLst>
              <a:gd name="adj1" fmla="val 12500"/>
              <a:gd name="adj2" fmla="val 1142319"/>
              <a:gd name="adj3" fmla="val 20457681"/>
              <a:gd name="adj4" fmla="val 2570114"/>
              <a:gd name="adj5" fmla="val 12500"/>
            </a:avLst>
          </a:prstGeom>
          <a:noFill/>
          <a:ln w="571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5083" y="421492"/>
            <a:ext cx="8829405" cy="4591684"/>
          </a:xfrm>
          <a:prstGeom prst="rect">
            <a:avLst/>
          </a:prstGeom>
        </p:spPr>
      </p:pic>
      <p:sp>
        <p:nvSpPr>
          <p:cNvPr id="4" name="Oval 3"/>
          <p:cNvSpPr/>
          <p:nvPr/>
        </p:nvSpPr>
        <p:spPr>
          <a:xfrm>
            <a:off x="3059832" y="4221088"/>
            <a:ext cx="1224136" cy="504056"/>
          </a:xfrm>
          <a:prstGeom prst="ellipse">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583632" y="4221088"/>
            <a:ext cx="1224136" cy="504056"/>
          </a:xfrm>
          <a:prstGeom prst="ellipse">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940152" y="4221088"/>
            <a:ext cx="1224136" cy="504056"/>
          </a:xfrm>
          <a:prstGeom prst="ellipse">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71600" y="5025370"/>
            <a:ext cx="7200800" cy="707886"/>
          </a:xfrm>
          <a:prstGeom prst="rect">
            <a:avLst/>
          </a:prstGeom>
          <a:noFill/>
        </p:spPr>
        <p:txBody>
          <a:bodyPr wrap="square" rtlCol="0">
            <a:spAutoFit/>
          </a:bodyPr>
          <a:lstStyle/>
          <a:p>
            <a:pPr algn="ctr"/>
            <a:r>
              <a:rPr lang="en-US" altLang="zh-CN" sz="2000" b="0" dirty="0">
                <a:latin typeface="+mn-lt"/>
                <a:cs typeface="Times New Roman" panose="02020603050405020304" pitchFamily="18" charset="0"/>
              </a:rPr>
              <a:t>Schematic diagram of 2, 3 and 6-fold screw axis after translation equivalence. </a:t>
            </a:r>
            <a:endParaRPr lang="zh-CN" altLang="en-US" sz="2000" b="0" dirty="0">
              <a:latin typeface="+mn-lt"/>
              <a:cs typeface="Times New Roman" panose="02020603050405020304" pitchFamily="18" charset="0"/>
            </a:endParaRPr>
          </a:p>
        </p:txBody>
      </p:sp>
      <p:sp>
        <p:nvSpPr>
          <p:cNvPr id="8" name="Rectangle 7"/>
          <p:cNvSpPr/>
          <p:nvPr/>
        </p:nvSpPr>
        <p:spPr>
          <a:xfrm>
            <a:off x="481333" y="5734997"/>
            <a:ext cx="8136904" cy="646331"/>
          </a:xfrm>
          <a:prstGeom prst="rect">
            <a:avLst/>
          </a:prstGeom>
        </p:spPr>
        <p:txBody>
          <a:bodyPr wrap="square">
            <a:spAutoFit/>
          </a:bodyPr>
          <a:lstStyle/>
          <a:p>
            <a:pPr algn="just">
              <a:spcAft>
                <a:spcPts val="0"/>
              </a:spcAft>
            </a:pPr>
            <a:r>
              <a:rPr lang="en-US" altLang="zh-CN" b="0" kern="100" dirty="0">
                <a:latin typeface="+mn-lt"/>
                <a:ea typeface="等线" panose="02010600030101010101" pitchFamily="2" charset="-122"/>
                <a:cs typeface="Times New Roman" panose="02020603050405020304" pitchFamily="18" charset="0"/>
              </a:rPr>
              <a:t>Question</a:t>
            </a:r>
            <a:r>
              <a:rPr lang="zh-CN" altLang="en-US" b="0" kern="100" dirty="0">
                <a:latin typeface="+mn-lt"/>
                <a:ea typeface="等线" panose="02010600030101010101" pitchFamily="2" charset="-122"/>
                <a:cs typeface="Times New Roman" panose="02020603050405020304" pitchFamily="18" charset="0"/>
              </a:rPr>
              <a:t>：</a:t>
            </a:r>
            <a:r>
              <a:rPr lang="en-US" altLang="zh-CN" b="0" kern="100" dirty="0">
                <a:latin typeface="+mn-lt"/>
                <a:ea typeface="等线" panose="02010600030101010101" pitchFamily="2" charset="-122"/>
                <a:cs typeface="Times New Roman" panose="02020603050405020304" pitchFamily="18" charset="0"/>
              </a:rPr>
              <a:t>Try to explain why symmetry points in the schematic diagram of 6</a:t>
            </a:r>
            <a:r>
              <a:rPr lang="en-US" altLang="zh-CN" b="0" kern="100" baseline="-25000" dirty="0">
                <a:latin typeface="+mn-lt"/>
                <a:ea typeface="等线" panose="02010600030101010101" pitchFamily="2" charset="-122"/>
                <a:cs typeface="Times New Roman" panose="02020603050405020304" pitchFamily="18" charset="0"/>
              </a:rPr>
              <a:t>3</a:t>
            </a:r>
            <a:r>
              <a:rPr lang="en-US" altLang="zh-CN" b="0" kern="100" dirty="0">
                <a:latin typeface="+mn-lt"/>
                <a:ea typeface="等线" panose="02010600030101010101" pitchFamily="2" charset="-122"/>
                <a:cs typeface="Times New Roman" panose="02020603050405020304" pitchFamily="18" charset="0"/>
              </a:rPr>
              <a:t> must appear in 3-fold symmetry?</a:t>
            </a:r>
            <a:endParaRPr lang="zh-CN" altLang="zh-CN" sz="1800" b="0" kern="100" dirty="0">
              <a:effectLst/>
              <a:latin typeface="+mn-lt"/>
              <a:ea typeface="等线" panose="02010600030101010101" pitchFamily="2" charset="-122"/>
              <a:cs typeface="Times New Roman" panose="02020603050405020304" pitchFamily="18" charset="0"/>
            </a:endParaRPr>
          </a:p>
        </p:txBody>
      </p:sp>
    </p:spTree>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221" y="0"/>
            <a:ext cx="6337895" cy="5840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980496" y="6239053"/>
            <a:ext cx="3031664" cy="646331"/>
          </a:xfrm>
          <a:prstGeom prst="rect">
            <a:avLst/>
          </a:prstGeom>
          <a:noFill/>
        </p:spPr>
        <p:txBody>
          <a:bodyPr wrap="none" rtlCol="0">
            <a:spAutoFit/>
          </a:bodyPr>
          <a:lstStyle/>
          <a:p>
            <a:r>
              <a:rPr lang="en-US" sz="3600" dirty="0">
                <a:solidFill>
                  <a:srgbClr val="FF0000"/>
                </a:solidFill>
                <a:effectLst>
                  <a:outerShdw blurRad="38100" dist="38100" dir="2700000" algn="tl">
                    <a:srgbClr val="000000">
                      <a:alpha val="43137"/>
                    </a:srgbClr>
                  </a:outerShdw>
                </a:effectLst>
                <a:latin typeface="+mn-lt"/>
              </a:rPr>
              <a:t>Any problems?</a:t>
            </a:r>
          </a:p>
        </p:txBody>
      </p:sp>
      <p:sp>
        <p:nvSpPr>
          <p:cNvPr id="3" name="Freeform 2"/>
          <p:cNvSpPr/>
          <p:nvPr/>
        </p:nvSpPr>
        <p:spPr>
          <a:xfrm>
            <a:off x="4094328" y="3166281"/>
            <a:ext cx="513373" cy="1937982"/>
          </a:xfrm>
          <a:custGeom>
            <a:avLst/>
            <a:gdLst>
              <a:gd name="connsiteX0" fmla="*/ 0 w 513373"/>
              <a:gd name="connsiteY0" fmla="*/ 1937982 h 1937982"/>
              <a:gd name="connsiteX1" fmla="*/ 464024 w 513373"/>
              <a:gd name="connsiteY1" fmla="*/ 777922 h 1937982"/>
              <a:gd name="connsiteX2" fmla="*/ 477672 w 513373"/>
              <a:gd name="connsiteY2" fmla="*/ 0 h 1937982"/>
            </a:gdLst>
            <a:ahLst/>
            <a:cxnLst>
              <a:cxn ang="0">
                <a:pos x="connsiteX0" y="connsiteY0"/>
              </a:cxn>
              <a:cxn ang="0">
                <a:pos x="connsiteX1" y="connsiteY1"/>
              </a:cxn>
              <a:cxn ang="0">
                <a:pos x="connsiteX2" y="connsiteY2"/>
              </a:cxn>
            </a:cxnLst>
            <a:rect l="l" t="t" r="r" b="b"/>
            <a:pathLst>
              <a:path w="513373" h="1937982">
                <a:moveTo>
                  <a:pt x="0" y="1937982"/>
                </a:moveTo>
                <a:cubicBezTo>
                  <a:pt x="192206" y="1519450"/>
                  <a:pt x="384412" y="1100919"/>
                  <a:pt x="464024" y="777922"/>
                </a:cubicBezTo>
                <a:cubicBezTo>
                  <a:pt x="543636" y="454925"/>
                  <a:pt x="510654" y="227462"/>
                  <a:pt x="477672" y="0"/>
                </a:cubicBezTo>
              </a:path>
            </a:pathLst>
          </a:custGeom>
          <a:noFill/>
          <a:ln>
            <a:solidFill>
              <a:srgbClr val="FF3399"/>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4575796" y="977004"/>
            <a:ext cx="377528" cy="2088107"/>
          </a:xfrm>
          <a:custGeom>
            <a:avLst/>
            <a:gdLst>
              <a:gd name="connsiteX0" fmla="*/ 0 w 377528"/>
              <a:gd name="connsiteY0" fmla="*/ 2088107 h 2088107"/>
              <a:gd name="connsiteX1" fmla="*/ 368490 w 377528"/>
              <a:gd name="connsiteY1" fmla="*/ 846161 h 2088107"/>
              <a:gd name="connsiteX2" fmla="*/ 272955 w 377528"/>
              <a:gd name="connsiteY2" fmla="*/ 0 h 2088107"/>
              <a:gd name="connsiteX3" fmla="*/ 272955 w 377528"/>
              <a:gd name="connsiteY3" fmla="*/ 0 h 2088107"/>
            </a:gdLst>
            <a:ahLst/>
            <a:cxnLst>
              <a:cxn ang="0">
                <a:pos x="connsiteX0" y="connsiteY0"/>
              </a:cxn>
              <a:cxn ang="0">
                <a:pos x="connsiteX1" y="connsiteY1"/>
              </a:cxn>
              <a:cxn ang="0">
                <a:pos x="connsiteX2" y="connsiteY2"/>
              </a:cxn>
              <a:cxn ang="0">
                <a:pos x="connsiteX3" y="connsiteY3"/>
              </a:cxn>
            </a:cxnLst>
            <a:rect l="l" t="t" r="r" b="b"/>
            <a:pathLst>
              <a:path w="377528" h="2088107">
                <a:moveTo>
                  <a:pt x="0" y="2088107"/>
                </a:moveTo>
                <a:cubicBezTo>
                  <a:pt x="161499" y="1641143"/>
                  <a:pt x="322998" y="1194179"/>
                  <a:pt x="368490" y="846161"/>
                </a:cubicBezTo>
                <a:cubicBezTo>
                  <a:pt x="413982" y="498143"/>
                  <a:pt x="272955" y="0"/>
                  <a:pt x="272955" y="0"/>
                </a:cubicBezTo>
                <a:lnTo>
                  <a:pt x="272955" y="0"/>
                </a:lnTo>
              </a:path>
            </a:pathLst>
          </a:custGeom>
          <a:noFill/>
          <a:ln>
            <a:solidFill>
              <a:srgbClr val="FF3399"/>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4764560" y="1124744"/>
            <a:ext cx="0" cy="3600400"/>
          </a:xfrm>
          <a:prstGeom prst="straightConnector1">
            <a:avLst/>
          </a:prstGeom>
          <a:ln w="28575">
            <a:solidFill>
              <a:srgbClr val="FF3399"/>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4" name="Freeform 3"/>
          <p:cNvSpPr/>
          <p:nvPr/>
        </p:nvSpPr>
        <p:spPr>
          <a:xfrm>
            <a:off x="3121572" y="5252962"/>
            <a:ext cx="2380594" cy="552302"/>
          </a:xfrm>
          <a:custGeom>
            <a:avLst/>
            <a:gdLst>
              <a:gd name="connsiteX0" fmla="*/ 0 w 2380594"/>
              <a:gd name="connsiteY0" fmla="*/ 0 h 552302"/>
              <a:gd name="connsiteX1" fmla="*/ 1277007 w 2380594"/>
              <a:gd name="connsiteY1" fmla="*/ 551793 h 552302"/>
              <a:gd name="connsiteX2" fmla="*/ 2380594 w 2380594"/>
              <a:gd name="connsiteY2" fmla="*/ 78828 h 552302"/>
            </a:gdLst>
            <a:ahLst/>
            <a:cxnLst>
              <a:cxn ang="0">
                <a:pos x="connsiteX0" y="connsiteY0"/>
              </a:cxn>
              <a:cxn ang="0">
                <a:pos x="connsiteX1" y="connsiteY1"/>
              </a:cxn>
              <a:cxn ang="0">
                <a:pos x="connsiteX2" y="connsiteY2"/>
              </a:cxn>
            </a:cxnLst>
            <a:rect l="l" t="t" r="r" b="b"/>
            <a:pathLst>
              <a:path w="2380594" h="552302">
                <a:moveTo>
                  <a:pt x="0" y="0"/>
                </a:moveTo>
                <a:cubicBezTo>
                  <a:pt x="440120" y="269327"/>
                  <a:pt x="880241" y="538655"/>
                  <a:pt x="1277007" y="551793"/>
                </a:cubicBezTo>
                <a:cubicBezTo>
                  <a:pt x="1673773" y="564931"/>
                  <a:pt x="2027183" y="321879"/>
                  <a:pt x="2380594" y="78828"/>
                </a:cubicBezTo>
              </a:path>
            </a:pathLst>
          </a:custGeom>
          <a:noFill/>
          <a:ln>
            <a:solidFill>
              <a:srgbClr val="0000FF"/>
            </a:solidFill>
            <a:headEnd type="arrow"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483768" y="5928581"/>
            <a:ext cx="4721388" cy="400110"/>
          </a:xfrm>
          <a:prstGeom prst="rect">
            <a:avLst/>
          </a:prstGeom>
        </p:spPr>
        <p:txBody>
          <a:bodyPr wrap="square">
            <a:spAutoFit/>
          </a:bodyPr>
          <a:lstStyle/>
          <a:p>
            <a:pPr algn="just">
              <a:spcAft>
                <a:spcPts val="0"/>
              </a:spcAft>
            </a:pPr>
            <a:r>
              <a:rPr lang="en-US" altLang="zh-CN" sz="2000" kern="100" dirty="0">
                <a:latin typeface="+mn-lt"/>
                <a:ea typeface="等线" panose="02010600030101010101" pitchFamily="2" charset="-122"/>
                <a:cs typeface="Times New Roman" panose="02020603050405020304" pitchFamily="18" charset="0"/>
              </a:rPr>
              <a:t>6-fold screw axis of 6</a:t>
            </a:r>
            <a:r>
              <a:rPr lang="en-US" altLang="zh-CN" sz="2000" kern="100" baseline="-25000" dirty="0">
                <a:latin typeface="+mn-lt"/>
                <a:ea typeface="等线" panose="02010600030101010101" pitchFamily="2" charset="-122"/>
                <a:cs typeface="Times New Roman" panose="02020603050405020304" pitchFamily="18" charset="0"/>
              </a:rPr>
              <a:t>1</a:t>
            </a:r>
            <a:r>
              <a:rPr lang="en-US" altLang="zh-CN" sz="2000" kern="100" dirty="0">
                <a:latin typeface="+mn-lt"/>
                <a:ea typeface="等线" panose="02010600030101010101" pitchFamily="2" charset="-122"/>
                <a:cs typeface="Times New Roman" panose="02020603050405020304" pitchFamily="18" charset="0"/>
              </a:rPr>
              <a:t>, 6</a:t>
            </a:r>
            <a:r>
              <a:rPr lang="en-US" altLang="zh-CN" sz="2000" kern="100" baseline="-25000" dirty="0">
                <a:latin typeface="+mn-lt"/>
                <a:ea typeface="等线" panose="02010600030101010101" pitchFamily="2" charset="-122"/>
                <a:cs typeface="Times New Roman" panose="02020603050405020304" pitchFamily="18" charset="0"/>
              </a:rPr>
              <a:t>2</a:t>
            </a:r>
            <a:r>
              <a:rPr lang="en-US" altLang="zh-CN" sz="2000" kern="100" dirty="0">
                <a:latin typeface="+mn-lt"/>
                <a:ea typeface="等线" panose="02010600030101010101" pitchFamily="2" charset="-122"/>
                <a:cs typeface="Times New Roman" panose="02020603050405020304" pitchFamily="18" charset="0"/>
              </a:rPr>
              <a:t>, 6</a:t>
            </a:r>
            <a:r>
              <a:rPr lang="en-US" altLang="zh-CN" sz="2000" kern="100" baseline="-25000" dirty="0">
                <a:latin typeface="+mn-lt"/>
                <a:ea typeface="等线" panose="02010600030101010101" pitchFamily="2" charset="-122"/>
                <a:cs typeface="Times New Roman" panose="02020603050405020304" pitchFamily="18" charset="0"/>
              </a:rPr>
              <a:t>3</a:t>
            </a:r>
            <a:r>
              <a:rPr lang="en-US" altLang="zh-CN" sz="2000" kern="100" dirty="0">
                <a:latin typeface="+mn-lt"/>
                <a:ea typeface="等线" panose="02010600030101010101" pitchFamily="2" charset="-122"/>
                <a:cs typeface="Times New Roman" panose="02020603050405020304" pitchFamily="18" charset="0"/>
              </a:rPr>
              <a:t>, 6</a:t>
            </a:r>
            <a:r>
              <a:rPr lang="en-US" altLang="zh-CN" sz="2000" kern="100" baseline="-25000" dirty="0">
                <a:latin typeface="+mn-lt"/>
                <a:ea typeface="等线" panose="02010600030101010101" pitchFamily="2" charset="-122"/>
                <a:cs typeface="Times New Roman" panose="02020603050405020304" pitchFamily="18" charset="0"/>
              </a:rPr>
              <a:t>4</a:t>
            </a:r>
            <a:r>
              <a:rPr lang="en-US" altLang="zh-CN" sz="2000" kern="100" dirty="0">
                <a:latin typeface="+mn-lt"/>
                <a:ea typeface="等线" panose="02010600030101010101" pitchFamily="2" charset="-122"/>
                <a:cs typeface="Times New Roman" panose="02020603050405020304" pitchFamily="18" charset="0"/>
              </a:rPr>
              <a:t> and 6</a:t>
            </a:r>
            <a:r>
              <a:rPr lang="en-US" altLang="zh-CN" sz="2000" kern="100" baseline="-25000" dirty="0">
                <a:latin typeface="+mn-lt"/>
                <a:ea typeface="等线" panose="02010600030101010101" pitchFamily="2" charset="-122"/>
                <a:cs typeface="Times New Roman" panose="02020603050405020304" pitchFamily="18" charset="0"/>
              </a:rPr>
              <a:t>5</a:t>
            </a:r>
            <a:r>
              <a:rPr lang="en-US" altLang="zh-CN" sz="2000" kern="100" dirty="0">
                <a:latin typeface="+mn-lt"/>
                <a:ea typeface="等线" panose="02010600030101010101" pitchFamily="2" charset="-122"/>
                <a:cs typeface="Times New Roman" panose="02020603050405020304" pitchFamily="18" charset="0"/>
              </a:rPr>
              <a:t>.</a:t>
            </a:r>
            <a:endParaRPr lang="zh-CN" altLang="zh-CN" sz="2000" kern="100" dirty="0">
              <a:effectLst/>
              <a:latin typeface="+mn-lt"/>
              <a:ea typeface="等线" panose="02010600030101010101" pitchFamily="2" charset="-122"/>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80">
                                          <p:stCondLst>
                                            <p:cond delay="0"/>
                                          </p:stCondLst>
                                        </p:cTn>
                                        <p:tgtEl>
                                          <p:spTgt spid="4"/>
                                        </p:tgtEl>
                                      </p:cBhvr>
                                    </p:animEffect>
                                    <p:anim calcmode="lin" valueType="num">
                                      <p:cBhvr>
                                        <p:cTn id="2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3" dur="26">
                                          <p:stCondLst>
                                            <p:cond delay="650"/>
                                          </p:stCondLst>
                                        </p:cTn>
                                        <p:tgtEl>
                                          <p:spTgt spid="4"/>
                                        </p:tgtEl>
                                      </p:cBhvr>
                                      <p:to x="100000" y="60000"/>
                                    </p:animScale>
                                    <p:animScale>
                                      <p:cBhvr>
                                        <p:cTn id="34" dur="166" decel="50000">
                                          <p:stCondLst>
                                            <p:cond delay="676"/>
                                          </p:stCondLst>
                                        </p:cTn>
                                        <p:tgtEl>
                                          <p:spTgt spid="4"/>
                                        </p:tgtEl>
                                      </p:cBhvr>
                                      <p:to x="100000" y="100000"/>
                                    </p:animScale>
                                    <p:animScale>
                                      <p:cBhvr>
                                        <p:cTn id="35" dur="26">
                                          <p:stCondLst>
                                            <p:cond delay="1312"/>
                                          </p:stCondLst>
                                        </p:cTn>
                                        <p:tgtEl>
                                          <p:spTgt spid="4"/>
                                        </p:tgtEl>
                                      </p:cBhvr>
                                      <p:to x="100000" y="80000"/>
                                    </p:animScale>
                                    <p:animScale>
                                      <p:cBhvr>
                                        <p:cTn id="36" dur="166" decel="50000">
                                          <p:stCondLst>
                                            <p:cond delay="1338"/>
                                          </p:stCondLst>
                                        </p:cTn>
                                        <p:tgtEl>
                                          <p:spTgt spid="4"/>
                                        </p:tgtEl>
                                      </p:cBhvr>
                                      <p:to x="100000" y="100000"/>
                                    </p:animScale>
                                    <p:animScale>
                                      <p:cBhvr>
                                        <p:cTn id="37" dur="26">
                                          <p:stCondLst>
                                            <p:cond delay="1642"/>
                                          </p:stCondLst>
                                        </p:cTn>
                                        <p:tgtEl>
                                          <p:spTgt spid="4"/>
                                        </p:tgtEl>
                                      </p:cBhvr>
                                      <p:to x="100000" y="90000"/>
                                    </p:animScale>
                                    <p:animScale>
                                      <p:cBhvr>
                                        <p:cTn id="38" dur="166" decel="50000">
                                          <p:stCondLst>
                                            <p:cond delay="1668"/>
                                          </p:stCondLst>
                                        </p:cTn>
                                        <p:tgtEl>
                                          <p:spTgt spid="4"/>
                                        </p:tgtEl>
                                      </p:cBhvr>
                                      <p:to x="100000" y="100000"/>
                                    </p:animScale>
                                    <p:animScale>
                                      <p:cBhvr>
                                        <p:cTn id="39" dur="26">
                                          <p:stCondLst>
                                            <p:cond delay="1808"/>
                                          </p:stCondLst>
                                        </p:cTn>
                                        <p:tgtEl>
                                          <p:spTgt spid="4"/>
                                        </p:tgtEl>
                                      </p:cBhvr>
                                      <p:to x="100000" y="95000"/>
                                    </p:animScale>
                                    <p:animScale>
                                      <p:cBhvr>
                                        <p:cTn id="4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1143000"/>
          </a:xfrm>
        </p:spPr>
        <p:txBody>
          <a:bodyPr>
            <a:noAutofit/>
          </a:bodyPr>
          <a:lstStyle/>
          <a:p>
            <a:r>
              <a:rPr lang="en-US" sz="3200" dirty="0"/>
              <a:t>Microscopic symmetry elements of crystals </a:t>
            </a:r>
          </a:p>
        </p:txBody>
      </p:sp>
      <p:sp>
        <p:nvSpPr>
          <p:cNvPr id="5" name="Rectangle 4"/>
          <p:cNvSpPr/>
          <p:nvPr/>
        </p:nvSpPr>
        <p:spPr>
          <a:xfrm>
            <a:off x="471949" y="1268760"/>
            <a:ext cx="7556435" cy="1077218"/>
          </a:xfrm>
          <a:prstGeom prst="rect">
            <a:avLst/>
          </a:prstGeom>
        </p:spPr>
        <p:txBody>
          <a:bodyPr wrap="square">
            <a:spAutoFit/>
          </a:bodyPr>
          <a:lstStyle/>
          <a:p>
            <a:r>
              <a:rPr lang="en-US" altLang="zh-CN" sz="3200" dirty="0">
                <a:latin typeface="+mn-lt"/>
              </a:rPr>
              <a:t>S</a:t>
            </a:r>
            <a:r>
              <a:rPr lang="en-US" sz="3200" dirty="0">
                <a:latin typeface="+mn-lt"/>
              </a:rPr>
              <a:t>crew axis </a:t>
            </a:r>
          </a:p>
          <a:p>
            <a:r>
              <a:rPr lang="en-US" altLang="zh-CN" sz="3200" b="0" u="sng" dirty="0">
                <a:latin typeface="+mn-lt"/>
              </a:rPr>
              <a:t>Another way for the symmetry operation</a:t>
            </a:r>
            <a:endParaRPr lang="en-US" sz="3200" b="0" u="sng" dirty="0">
              <a:latin typeface="+mn-lt"/>
            </a:endParaRPr>
          </a:p>
        </p:txBody>
      </p:sp>
      <p:sp>
        <p:nvSpPr>
          <p:cNvPr id="6" name="Rectangle 2"/>
          <p:cNvSpPr>
            <a:spLocks noGrp="1" noChangeArrowheads="1"/>
          </p:cNvSpPr>
          <p:nvPr>
            <p:ph idx="1"/>
          </p:nvPr>
        </p:nvSpPr>
        <p:spPr>
          <a:xfrm>
            <a:off x="467544" y="2276475"/>
            <a:ext cx="8208912" cy="3960837"/>
          </a:xfrm>
        </p:spPr>
        <p:txBody>
          <a:bodyPr>
            <a:noAutofit/>
          </a:bodyPr>
          <a:lstStyle/>
          <a:p>
            <a:pPr eaLnBrk="1" hangingPunct="1">
              <a:lnSpc>
                <a:spcPct val="120000"/>
              </a:lnSpc>
              <a:buFont typeface="Wingdings" panose="05000000000000000000" pitchFamily="2" charset="2"/>
              <a:buNone/>
              <a:defRPr/>
            </a:pPr>
            <a:r>
              <a:rPr lang="en-US" altLang="zh-CN" sz="2800" b="1" dirty="0">
                <a:solidFill>
                  <a:srgbClr val="FF0000"/>
                </a:solidFill>
              </a:rPr>
              <a:t>Regulations</a:t>
            </a:r>
            <a:r>
              <a:rPr lang="zh-CN" altLang="en-US" sz="2800" b="1" dirty="0">
                <a:solidFill>
                  <a:srgbClr val="FF0000"/>
                </a:solidFill>
              </a:rPr>
              <a:t>：</a:t>
            </a:r>
            <a:endParaRPr lang="en-US" altLang="zh-CN" sz="2800" b="1" dirty="0">
              <a:solidFill>
                <a:srgbClr val="FF0000"/>
              </a:solidFill>
            </a:endParaRPr>
          </a:p>
          <a:p>
            <a:pPr algn="just">
              <a:lnSpc>
                <a:spcPct val="120000"/>
              </a:lnSpc>
              <a:defRPr/>
            </a:pPr>
            <a:r>
              <a:rPr lang="en-US" altLang="zh-CN" sz="2400" b="1" i="1" dirty="0"/>
              <a:t>When 0&lt;s&lt;n/2</a:t>
            </a:r>
            <a:r>
              <a:rPr lang="en-US" altLang="zh-CN" sz="2400" dirty="0"/>
              <a:t>, the screw axis is right-handed rotation(including 3</a:t>
            </a:r>
            <a:r>
              <a:rPr lang="en-US" altLang="zh-CN" sz="2400" baseline="-30000" dirty="0"/>
              <a:t>1</a:t>
            </a:r>
            <a:r>
              <a:rPr lang="zh-CN" altLang="en-US" sz="2400" dirty="0"/>
              <a:t> </a:t>
            </a:r>
            <a:r>
              <a:rPr lang="en-US" altLang="zh-CN" sz="2400" dirty="0"/>
              <a:t>, 4</a:t>
            </a:r>
            <a:r>
              <a:rPr lang="en-US" altLang="zh-CN" sz="2400" baseline="-30000" dirty="0"/>
              <a:t>1</a:t>
            </a:r>
            <a:r>
              <a:rPr lang="zh-CN" altLang="en-US" sz="2400" dirty="0"/>
              <a:t> </a:t>
            </a:r>
            <a:r>
              <a:rPr lang="en-US" altLang="zh-CN" sz="2400" dirty="0"/>
              <a:t>, 6</a:t>
            </a:r>
            <a:r>
              <a:rPr lang="en-US" altLang="zh-CN" sz="2400" baseline="-30000" dirty="0"/>
              <a:t>1</a:t>
            </a:r>
            <a:r>
              <a:rPr lang="zh-CN" altLang="en-US" sz="2400" dirty="0"/>
              <a:t> </a:t>
            </a:r>
            <a:r>
              <a:rPr lang="en-US" altLang="zh-CN" sz="2400" dirty="0"/>
              <a:t>, 6</a:t>
            </a:r>
            <a:r>
              <a:rPr lang="en-US" altLang="zh-CN" sz="2400" baseline="-30000" dirty="0"/>
              <a:t>2</a:t>
            </a:r>
            <a:r>
              <a:rPr lang="en-US" altLang="zh-CN" sz="2400" dirty="0"/>
              <a:t>), screw pitch</a:t>
            </a:r>
            <a:r>
              <a:rPr lang="zh-CN" altLang="en-US" sz="2400" dirty="0"/>
              <a:t> </a:t>
            </a:r>
            <a:r>
              <a:rPr lang="en-US" altLang="zh-CN" sz="2400" dirty="0"/>
              <a:t>is</a:t>
            </a:r>
            <a:r>
              <a:rPr lang="zh-CN" altLang="en-US" sz="2400" spc="120" dirty="0"/>
              <a:t>（</a:t>
            </a:r>
            <a:r>
              <a:rPr lang="en-US" altLang="zh-CN" sz="2400" spc="120" dirty="0"/>
              <a:t>s/n</a:t>
            </a:r>
            <a:r>
              <a:rPr lang="zh-CN" altLang="en-US" sz="2400" spc="120" dirty="0"/>
              <a:t>）</a:t>
            </a:r>
            <a:r>
              <a:rPr lang="en-US" altLang="zh-CN" sz="2400" spc="120" dirty="0"/>
              <a:t>·t</a:t>
            </a:r>
            <a:r>
              <a:rPr lang="zh-CN" altLang="en-US" sz="2400" spc="120" dirty="0"/>
              <a:t>；</a:t>
            </a:r>
            <a:endParaRPr lang="zh-CN" altLang="en-US" sz="2400" b="1" dirty="0"/>
          </a:p>
          <a:p>
            <a:pPr algn="just">
              <a:lnSpc>
                <a:spcPct val="120000"/>
              </a:lnSpc>
              <a:defRPr/>
            </a:pPr>
            <a:r>
              <a:rPr lang="en-US" altLang="zh-CN" sz="2400" b="1" i="1" dirty="0"/>
              <a:t>When n/2&lt;s&lt;n</a:t>
            </a:r>
            <a:r>
              <a:rPr lang="en-US" altLang="zh-CN" sz="2400" b="1" dirty="0"/>
              <a:t>, </a:t>
            </a:r>
            <a:r>
              <a:rPr lang="en-US" altLang="zh-CN" sz="2400" dirty="0"/>
              <a:t>the screw axis is left-handed rotation(including 3</a:t>
            </a:r>
            <a:r>
              <a:rPr lang="en-US" altLang="zh-CN" sz="2400" baseline="-30000" dirty="0"/>
              <a:t>2</a:t>
            </a:r>
            <a:r>
              <a:rPr lang="zh-CN" altLang="en-US" sz="2400" dirty="0"/>
              <a:t> </a:t>
            </a:r>
            <a:r>
              <a:rPr lang="en-US" altLang="zh-CN" sz="2400" dirty="0"/>
              <a:t>, 4</a:t>
            </a:r>
            <a:r>
              <a:rPr lang="en-US" altLang="zh-CN" sz="2400" baseline="-30000" dirty="0"/>
              <a:t>3</a:t>
            </a:r>
            <a:r>
              <a:rPr lang="zh-CN" altLang="en-US" sz="2400" dirty="0"/>
              <a:t> </a:t>
            </a:r>
            <a:r>
              <a:rPr lang="en-US" altLang="zh-CN" sz="2400" dirty="0"/>
              <a:t>, 6</a:t>
            </a:r>
            <a:r>
              <a:rPr lang="en-US" altLang="zh-CN" sz="2400" baseline="-30000" dirty="0"/>
              <a:t>4</a:t>
            </a:r>
            <a:r>
              <a:rPr lang="zh-CN" altLang="en-US" sz="2400" dirty="0"/>
              <a:t> </a:t>
            </a:r>
            <a:r>
              <a:rPr lang="en-US" altLang="zh-CN" sz="2400" dirty="0"/>
              <a:t>, 6</a:t>
            </a:r>
            <a:r>
              <a:rPr lang="en-US" altLang="zh-CN" sz="2400" baseline="-30000" dirty="0"/>
              <a:t>5</a:t>
            </a:r>
            <a:r>
              <a:rPr lang="en-US" altLang="zh-CN" sz="2400" dirty="0"/>
              <a:t>), screw pitch</a:t>
            </a:r>
            <a:r>
              <a:rPr lang="zh-CN" altLang="en-US" sz="2400" dirty="0"/>
              <a:t> </a:t>
            </a:r>
            <a:r>
              <a:rPr lang="en-US" altLang="zh-CN" sz="2400" dirty="0"/>
              <a:t>is</a:t>
            </a:r>
            <a:r>
              <a:rPr lang="zh-CN" altLang="en-US" sz="2400" spc="120" dirty="0"/>
              <a:t>（</a:t>
            </a:r>
            <a:r>
              <a:rPr lang="en-US" altLang="zh-CN" sz="2400" spc="120" dirty="0"/>
              <a:t>1-s/n</a:t>
            </a:r>
            <a:r>
              <a:rPr lang="zh-CN" altLang="en-US" sz="2400" spc="120" dirty="0"/>
              <a:t>）</a:t>
            </a:r>
            <a:r>
              <a:rPr lang="en-US" altLang="zh-CN" sz="2400" spc="120" dirty="0"/>
              <a:t>·t</a:t>
            </a:r>
            <a:r>
              <a:rPr lang="zh-CN" altLang="en-US" sz="2400" spc="120" dirty="0"/>
              <a:t>；</a:t>
            </a:r>
            <a:endParaRPr lang="zh-CN" altLang="en-US" sz="2400" b="1" dirty="0"/>
          </a:p>
          <a:p>
            <a:pPr algn="just">
              <a:lnSpc>
                <a:spcPct val="120000"/>
              </a:lnSpc>
              <a:defRPr/>
            </a:pPr>
            <a:r>
              <a:rPr lang="en-US" altLang="zh-CN" sz="2400" b="1" i="1" dirty="0"/>
              <a:t>When s=n/2</a:t>
            </a:r>
            <a:r>
              <a:rPr lang="en-US" altLang="zh-CN" sz="2400" dirty="0"/>
              <a:t>, the screw axis is neutral </a:t>
            </a:r>
            <a:r>
              <a:rPr lang="en-US" altLang="zh-CN" sz="2400" b="1" dirty="0"/>
              <a:t>(</a:t>
            </a:r>
            <a:r>
              <a:rPr lang="en-US" altLang="zh-CN" sz="2400" dirty="0"/>
              <a:t>including </a:t>
            </a:r>
            <a:r>
              <a:rPr lang="en-US" altLang="zh-CN" sz="2400" b="1" dirty="0"/>
              <a:t>2</a:t>
            </a:r>
            <a:r>
              <a:rPr lang="en-US" altLang="zh-CN" sz="2400" b="1" baseline="-30000" dirty="0"/>
              <a:t>1</a:t>
            </a:r>
            <a:r>
              <a:rPr lang="zh-CN" altLang="en-US" sz="2400" dirty="0"/>
              <a:t> </a:t>
            </a:r>
            <a:r>
              <a:rPr lang="en-US" altLang="zh-CN" sz="2400" dirty="0"/>
              <a:t>, 4</a:t>
            </a:r>
            <a:r>
              <a:rPr lang="en-US" altLang="zh-CN" sz="2400" b="1" baseline="-30000" dirty="0"/>
              <a:t>2</a:t>
            </a:r>
            <a:r>
              <a:rPr lang="zh-CN" altLang="en-US" sz="2400" dirty="0"/>
              <a:t> </a:t>
            </a:r>
            <a:r>
              <a:rPr lang="en-US" altLang="zh-CN" sz="2400" dirty="0"/>
              <a:t>, 6</a:t>
            </a:r>
            <a:r>
              <a:rPr lang="en-US" altLang="zh-CN" sz="2400" b="1" baseline="-30000" dirty="0"/>
              <a:t>3</a:t>
            </a:r>
            <a:r>
              <a:rPr lang="en-US" altLang="zh-CN" sz="2400" b="1" dirty="0"/>
              <a:t>), </a:t>
            </a:r>
            <a:r>
              <a:rPr lang="en-US" altLang="zh-CN" sz="2400" dirty="0"/>
              <a:t>screw pitch</a:t>
            </a:r>
            <a:r>
              <a:rPr lang="zh-CN" altLang="en-US" sz="2400" dirty="0"/>
              <a:t> </a:t>
            </a:r>
            <a:r>
              <a:rPr lang="en-US" altLang="zh-CN" sz="2400" dirty="0"/>
              <a:t>is</a:t>
            </a:r>
            <a:r>
              <a:rPr lang="zh-CN" altLang="en-US" sz="2400" dirty="0"/>
              <a:t> </a:t>
            </a:r>
            <a:r>
              <a:rPr lang="en-US" altLang="zh-CN" sz="2400" dirty="0"/>
              <a:t>(1/2)</a:t>
            </a:r>
            <a:r>
              <a:rPr lang="en-US" altLang="zh-CN" sz="2400" spc="120" dirty="0"/>
              <a:t>·t.</a:t>
            </a:r>
            <a:endParaRPr lang="zh-CN" altLang="en-US" sz="2400" b="1" dirty="0">
              <a:solidFill>
                <a:schemeClr val="accent2"/>
              </a:solidFill>
            </a:endParaRPr>
          </a:p>
        </p:txBody>
      </p:sp>
      <p:sp>
        <p:nvSpPr>
          <p:cNvPr id="8" name="TextBox 7"/>
          <p:cNvSpPr txBox="1"/>
          <p:nvPr/>
        </p:nvSpPr>
        <p:spPr>
          <a:xfrm>
            <a:off x="611560" y="6242952"/>
            <a:ext cx="8208912" cy="461665"/>
          </a:xfrm>
          <a:prstGeom prst="rect">
            <a:avLst/>
          </a:prstGeom>
          <a:noFill/>
        </p:spPr>
        <p:txBody>
          <a:bodyPr wrap="square" rtlCol="0">
            <a:spAutoFit/>
          </a:bodyPr>
          <a:lstStyle/>
          <a:p>
            <a:pPr algn="ctr"/>
            <a:r>
              <a:rPr lang="en-US" altLang="zh-CN" sz="2400" dirty="0">
                <a:solidFill>
                  <a:srgbClr val="FF0000"/>
                </a:solidFill>
                <a:latin typeface="+mn-lt"/>
              </a:rPr>
              <a:t>To get all the symmetry points in a short  distance</a:t>
            </a: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4" name="Text Box 4"/>
          <p:cNvSpPr txBox="1">
            <a:spLocks noChangeArrowheads="1"/>
          </p:cNvSpPr>
          <p:nvPr/>
        </p:nvSpPr>
        <p:spPr bwMode="auto">
          <a:xfrm>
            <a:off x="468313" y="2709639"/>
            <a:ext cx="61266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6000" dirty="0">
                <a:solidFill>
                  <a:srgbClr val="FF0000"/>
                </a:solidFill>
              </a:rPr>
              <a:t>2</a:t>
            </a:r>
            <a:endParaRPr lang="en-US" altLang="zh-CN" sz="6000" baseline="-25000" dirty="0">
              <a:solidFill>
                <a:srgbClr val="FF0000"/>
              </a:solidFill>
            </a:endParaRPr>
          </a:p>
        </p:txBody>
      </p:sp>
      <p:pic>
        <p:nvPicPr>
          <p:cNvPr id="7116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420714"/>
            <a:ext cx="2203450"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16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797201"/>
            <a:ext cx="84772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1689" name="Text Box 9"/>
          <p:cNvSpPr txBox="1">
            <a:spLocks noChangeArrowheads="1"/>
          </p:cNvSpPr>
          <p:nvPr/>
        </p:nvSpPr>
        <p:spPr bwMode="auto">
          <a:xfrm>
            <a:off x="1793875" y="3055144"/>
            <a:ext cx="4016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dirty="0">
                <a:solidFill>
                  <a:srgbClr val="FF0000"/>
                </a:solidFill>
                <a:latin typeface="Times New Roman" panose="02020603050405020304" pitchFamily="18" charset="0"/>
              </a:rPr>
              <a:t>t</a:t>
            </a:r>
          </a:p>
        </p:txBody>
      </p:sp>
      <p:sp>
        <p:nvSpPr>
          <p:cNvPr id="711690" name="Line 10"/>
          <p:cNvSpPr>
            <a:spLocks noChangeShapeType="1"/>
          </p:cNvSpPr>
          <p:nvPr/>
        </p:nvSpPr>
        <p:spPr bwMode="auto">
          <a:xfrm flipV="1">
            <a:off x="1979613" y="2709069"/>
            <a:ext cx="0" cy="360362"/>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711691" name="Line 11"/>
          <p:cNvSpPr>
            <a:spLocks noChangeShapeType="1"/>
          </p:cNvSpPr>
          <p:nvPr/>
        </p:nvSpPr>
        <p:spPr bwMode="auto">
          <a:xfrm>
            <a:off x="1979613" y="3501231"/>
            <a:ext cx="0" cy="360363"/>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pic>
        <p:nvPicPr>
          <p:cNvPr id="711686"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r="22213"/>
          <a:stretch>
            <a:fillRect/>
          </a:stretch>
        </p:blipFill>
        <p:spPr bwMode="auto">
          <a:xfrm>
            <a:off x="6011863" y="2420069"/>
            <a:ext cx="1727573"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168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788" y="4941019"/>
            <a:ext cx="646113"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1692" name="Text Box 12"/>
          <p:cNvSpPr txBox="1">
            <a:spLocks noChangeArrowheads="1"/>
          </p:cNvSpPr>
          <p:nvPr/>
        </p:nvSpPr>
        <p:spPr bwMode="auto">
          <a:xfrm>
            <a:off x="7415488" y="2024567"/>
            <a:ext cx="6478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rgbClr val="FF0000"/>
                </a:solidFill>
                <a:latin typeface="Times New Roman" panose="02020603050405020304" pitchFamily="18" charset="0"/>
              </a:rPr>
              <a:t>t/2</a:t>
            </a:r>
          </a:p>
        </p:txBody>
      </p:sp>
      <p:sp>
        <p:nvSpPr>
          <p:cNvPr id="14" name="Text Box 4"/>
          <p:cNvSpPr txBox="1">
            <a:spLocks noChangeArrowheads="1"/>
          </p:cNvSpPr>
          <p:nvPr/>
        </p:nvSpPr>
        <p:spPr bwMode="auto">
          <a:xfrm>
            <a:off x="4726647" y="2815931"/>
            <a:ext cx="8905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6000" dirty="0">
                <a:solidFill>
                  <a:srgbClr val="FF0000"/>
                </a:solidFill>
              </a:rPr>
              <a:t>2</a:t>
            </a:r>
            <a:r>
              <a:rPr lang="en-US" altLang="zh-CN" sz="6000" baseline="-25000" dirty="0">
                <a:solidFill>
                  <a:srgbClr val="FF0000"/>
                </a:solidFill>
              </a:rPr>
              <a:t>1</a:t>
            </a:r>
          </a:p>
        </p:txBody>
      </p:sp>
      <p:sp>
        <p:nvSpPr>
          <p:cNvPr id="2" name="TextBox 1"/>
          <p:cNvSpPr txBox="1"/>
          <p:nvPr/>
        </p:nvSpPr>
        <p:spPr>
          <a:xfrm>
            <a:off x="585317" y="467961"/>
            <a:ext cx="3636316"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Twofold Screw Axis</a:t>
            </a:r>
            <a:endParaRPr lang="zh-CN" altLang="en-US"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08214" y="1340847"/>
            <a:ext cx="6419068"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Schematic diagrams of operations and polar projections</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7" name="Text Box 3"/>
          <p:cNvSpPr txBox="1">
            <a:spLocks noChangeArrowheads="1"/>
          </p:cNvSpPr>
          <p:nvPr/>
        </p:nvSpPr>
        <p:spPr bwMode="auto">
          <a:xfrm>
            <a:off x="1042988" y="5445125"/>
            <a:ext cx="62658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lang="en-US" altLang="en-US" sz="1800">
              <a:solidFill>
                <a:schemeClr val="tx1"/>
              </a:solidFill>
              <a:ea typeface="ˎ̥"/>
            </a:endParaRPr>
          </a:p>
        </p:txBody>
      </p:sp>
      <p:pic>
        <p:nvPicPr>
          <p:cNvPr id="7127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484313"/>
            <a:ext cx="6505575"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27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4365625"/>
            <a:ext cx="5867400"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3419872" y="4964694"/>
            <a:ext cx="4066654" cy="0"/>
          </a:xfrm>
          <a:prstGeom prst="line">
            <a:avLst/>
          </a:prstGeom>
          <a:ln w="28575">
            <a:solidFill>
              <a:srgbClr val="FF3399"/>
            </a:solidFill>
            <a:prstDash val="dash"/>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02444" y="260648"/>
            <a:ext cx="4266406" cy="584775"/>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Screw axis </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and 3</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endParaRPr lang="zh-CN" altLang="en-US"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502444" y="986995"/>
            <a:ext cx="7921426"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Schematic diagrams of operations and polar projections</a:t>
            </a:r>
            <a:endParaRPr lang="zh-CN" altLang="en-US"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331640" y="5837237"/>
            <a:ext cx="6840760" cy="707886"/>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3</a:t>
            </a:r>
            <a:r>
              <a:rPr lang="en-US" altLang="zh-CN" sz="14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and 3</a:t>
            </a:r>
            <a:r>
              <a:rPr lang="en-US" altLang="zh-CN" sz="14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 are opposite to each other. If one is right-handed rotation, another one will be left-handed rotation.</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1" name="Rectangle 3"/>
          <p:cNvSpPr>
            <a:spLocks noGrp="1" noChangeArrowheads="1"/>
          </p:cNvSpPr>
          <p:nvPr>
            <p:ph idx="1"/>
          </p:nvPr>
        </p:nvSpPr>
        <p:spPr bwMode="auto">
          <a:xfrm>
            <a:off x="4284662" y="5157192"/>
            <a:ext cx="4537075"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62500" lnSpcReduction="20000"/>
          </a:bodyPr>
          <a:lstStyle/>
          <a:p>
            <a:pPr algn="just">
              <a:lnSpc>
                <a:spcPct val="120000"/>
              </a:lnSpc>
            </a:pPr>
            <a:r>
              <a:rPr lang="en-US" altLang="zh-CN"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b="1" baseline="-25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and 4</a:t>
            </a:r>
            <a:r>
              <a:rPr lang="en-US" altLang="zh-CN" b="1" baseline="-25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 are opposite to each other. If one is right-handed rotation, another one will be left-handed rotation</a:t>
            </a:r>
            <a:endParaRPr lang="zh-CN" altLang="en-US"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137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492375"/>
            <a:ext cx="3603625" cy="4003675"/>
          </a:xfrm>
          <a:prstGeom prst="rect">
            <a:avLst/>
          </a:prstGeom>
          <a:noFill/>
          <a:extLst>
            <a:ext uri="{909E8E84-426E-40DD-AFC4-6F175D3DCCD1}">
              <a14:hiddenFill xmlns:a14="http://schemas.microsoft.com/office/drawing/2010/main">
                <a:solidFill>
                  <a:srgbClr val="FFFFFF"/>
                </a:solidFill>
              </a14:hiddenFill>
            </a:ext>
          </a:extLst>
        </p:spPr>
      </p:pic>
      <p:pic>
        <p:nvPicPr>
          <p:cNvPr id="7137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0200" y="1618655"/>
            <a:ext cx="4826000" cy="353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57562" y="1702549"/>
            <a:ext cx="4001296" cy="646331"/>
          </a:xfrm>
          <a:prstGeom prst="rect">
            <a:avLst/>
          </a:prstGeom>
          <a:noFill/>
        </p:spPr>
        <p:txBody>
          <a:bodyPr wrap="square" rtlCol="0">
            <a:spAutoFit/>
          </a:bodyPr>
          <a:lstStyle/>
          <a:p>
            <a:r>
              <a:rPr lang="en-US" altLang="zh-CN" dirty="0"/>
              <a:t>+ indicates the outward direction of the paper</a:t>
            </a:r>
            <a:endParaRPr lang="zh-CN" altLang="en-US" dirty="0"/>
          </a:p>
        </p:txBody>
      </p:sp>
      <p:sp>
        <p:nvSpPr>
          <p:cNvPr id="3" name="TextBox 2"/>
          <p:cNvSpPr txBox="1"/>
          <p:nvPr/>
        </p:nvSpPr>
        <p:spPr>
          <a:xfrm>
            <a:off x="323280" y="457508"/>
            <a:ext cx="4392736" cy="523220"/>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Screw Axis of </a:t>
            </a:r>
            <a:r>
              <a:rPr lang="en-US" alt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28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28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28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p:txBody>
      </p:sp>
      <p:sp>
        <p:nvSpPr>
          <p:cNvPr id="10" name="Rectangle 9"/>
          <p:cNvSpPr/>
          <p:nvPr/>
        </p:nvSpPr>
        <p:spPr>
          <a:xfrm>
            <a:off x="4312857" y="920914"/>
            <a:ext cx="4508880" cy="707886"/>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Schematic diagrams of operations and polar projections</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47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462" y="1052513"/>
            <a:ext cx="8477635" cy="580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11560" y="467738"/>
            <a:ext cx="6768752" cy="584775"/>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Screw Axis of </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6</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6</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6</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6</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3200" dirty="0">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1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209774"/>
            <a:ext cx="8208962" cy="423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043608" y="386661"/>
            <a:ext cx="7128792" cy="954107"/>
          </a:xfrm>
          <a:prstGeom prst="rect">
            <a:avLst/>
          </a:prstGeom>
        </p:spPr>
        <p:txBody>
          <a:bodyPr wrap="square">
            <a:spAutoFit/>
          </a:bodyPr>
          <a:lstStyle/>
          <a:p>
            <a:pPr algn="ctr"/>
            <a:r>
              <a:rPr lang="en-US" altLang="zh-CN" sz="2800" dirty="0">
                <a:latin typeface="Times New Roman" panose="02020603050405020304" pitchFamily="18" charset="0"/>
                <a:cs typeface="Times New Roman" panose="02020603050405020304" pitchFamily="18" charset="0"/>
              </a:rPr>
              <a:t>Schematic diagrams of operations and polar projections</a:t>
            </a:r>
            <a:endParaRPr lang="zh-CN" altLang="en-US" sz="2800" dirty="0">
              <a:latin typeface="Times New Roman" panose="02020603050405020304" pitchFamily="18" charset="0"/>
              <a:cs typeface="Times New Roman" panose="02020603050405020304" pitchFamily="18" charset="0"/>
            </a:endParaRPr>
          </a:p>
        </p:txBody>
      </p:sp>
      <p:sp>
        <p:nvSpPr>
          <p:cNvPr id="2" name="Rectangle 1"/>
          <p:cNvSpPr/>
          <p:nvPr/>
        </p:nvSpPr>
        <p:spPr>
          <a:xfrm>
            <a:off x="647341" y="5590981"/>
            <a:ext cx="7704856" cy="707886"/>
          </a:xfrm>
          <a:prstGeom prst="rect">
            <a:avLst/>
          </a:prstGeom>
        </p:spPr>
        <p:txBody>
          <a:bodyPr wrap="square">
            <a:spAutoFit/>
          </a:bodyPr>
          <a:lstStyle/>
          <a:p>
            <a:r>
              <a:rPr lang="en-US" altLang="zh-CN" sz="2000" dirty="0">
                <a:solidFill>
                  <a:srgbClr val="0000FF"/>
                </a:solidFill>
                <a:latin typeface="Times New Roman" panose="02020603050405020304" pitchFamily="18" charset="0"/>
                <a:cs typeface="Times New Roman" panose="02020603050405020304" pitchFamily="18" charset="0"/>
              </a:rPr>
              <a:t>6</a:t>
            </a:r>
            <a:r>
              <a:rPr lang="en-US" altLang="zh-CN" sz="2000" baseline="-25000" dirty="0">
                <a:solidFill>
                  <a:srgbClr val="0000FF"/>
                </a:solidFill>
                <a:latin typeface="Times New Roman" panose="02020603050405020304" pitchFamily="18" charset="0"/>
                <a:cs typeface="Times New Roman" panose="02020603050405020304" pitchFamily="18" charset="0"/>
              </a:rPr>
              <a:t>1</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and 6</a:t>
            </a:r>
            <a:r>
              <a:rPr lang="en-US" altLang="zh-CN" sz="2000" baseline="-25000" dirty="0">
                <a:solidFill>
                  <a:srgbClr val="0000FF"/>
                </a:solidFill>
                <a:latin typeface="Times New Roman" panose="02020603050405020304" pitchFamily="18" charset="0"/>
                <a:cs typeface="Times New Roman" panose="02020603050405020304" pitchFamily="18" charset="0"/>
              </a:rPr>
              <a:t>5</a:t>
            </a:r>
            <a:r>
              <a:rPr lang="en-US" altLang="zh-CN" sz="2000" dirty="0">
                <a:latin typeface="Times New Roman" panose="02020603050405020304" pitchFamily="18" charset="0"/>
                <a:cs typeface="Times New Roman" panose="02020603050405020304" pitchFamily="18" charset="0"/>
              </a:rPr>
              <a:t> , </a:t>
            </a:r>
            <a:r>
              <a:rPr lang="en-US" altLang="zh-CN" sz="2000" dirty="0">
                <a:solidFill>
                  <a:srgbClr val="0000FF"/>
                </a:solidFill>
                <a:latin typeface="Times New Roman" panose="02020603050405020304" pitchFamily="18" charset="0"/>
                <a:cs typeface="Times New Roman" panose="02020603050405020304" pitchFamily="18" charset="0"/>
              </a:rPr>
              <a:t>6</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and 6</a:t>
            </a:r>
            <a:r>
              <a:rPr lang="en-US" altLang="zh-CN" sz="2000" baseline="-25000" dirty="0">
                <a:solidFill>
                  <a:srgbClr val="0000FF"/>
                </a:solidFill>
                <a:latin typeface="Times New Roman" panose="02020603050405020304" pitchFamily="18" charset="0"/>
                <a:cs typeface="Times New Roman" panose="02020603050405020304" pitchFamily="18" charset="0"/>
              </a:rPr>
              <a:t>4</a:t>
            </a:r>
            <a:r>
              <a:rPr lang="en-US" altLang="zh-CN" sz="2000" dirty="0">
                <a:latin typeface="Times New Roman" panose="02020603050405020304" pitchFamily="18" charset="0"/>
                <a:cs typeface="Times New Roman" panose="02020603050405020304" pitchFamily="18" charset="0"/>
              </a:rPr>
              <a:t> are opposite to each other. If one is right-handed rotation, another one will be left-handed rotation</a:t>
            </a:r>
            <a:endParaRPr lang="zh-CN" altLang="en-US" sz="2000" dirty="0"/>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168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292648"/>
            <a:ext cx="6408737" cy="257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5085184"/>
            <a:ext cx="6408737"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flipH="1">
            <a:off x="4247356" y="2060848"/>
            <a:ext cx="1" cy="3960018"/>
          </a:xfrm>
          <a:prstGeom prst="line">
            <a:avLst/>
          </a:prstGeom>
          <a:ln w="28575">
            <a:solidFill>
              <a:srgbClr val="FF3399"/>
            </a:solidFill>
            <a:prstDash val="solid"/>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48072" y="572909"/>
            <a:ext cx="7768344" cy="1323439"/>
          </a:xfrm>
          <a:prstGeom prst="rect">
            <a:avLst/>
          </a:prstGeom>
        </p:spPr>
        <p:txBody>
          <a:bodyPr wrap="square">
            <a:spAutoFit/>
          </a:bodyPr>
          <a:lstStyle/>
          <a:p>
            <a:pPr algn="just">
              <a:spcAft>
                <a:spcPts val="0"/>
              </a:spcAft>
            </a:pPr>
            <a:r>
              <a:rPr lang="en-US" altLang="zh-CN" sz="2000" dirty="0">
                <a:latin typeface="Times New Roman" panose="02020603050405020304" pitchFamily="18" charset="0"/>
                <a:ea typeface="+mn-ea"/>
                <a:cs typeface="Times New Roman" panose="02020603050405020304" pitchFamily="18" charset="0"/>
              </a:rPr>
              <a:t>Unlike the rotation axis, different rotation directions of screw axis result in different symmetrical structures. Such as the structures, gained by the rotation axis of the left-handed </a:t>
            </a:r>
            <a:r>
              <a:rPr lang="en-US" altLang="zh-CN" sz="2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20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 </a:t>
            </a:r>
            <a:r>
              <a:rPr lang="en-US" altLang="zh-CN" sz="2000" dirty="0">
                <a:latin typeface="Times New Roman" panose="02020603050405020304" pitchFamily="18" charset="0"/>
                <a:ea typeface="+mn-ea"/>
                <a:cs typeface="Times New Roman" panose="02020603050405020304" pitchFamily="18" charset="0"/>
              </a:rPr>
              <a:t>and right-handed </a:t>
            </a:r>
            <a:r>
              <a:rPr lang="en-US" altLang="zh-CN" sz="2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20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mn-ea"/>
                <a:cs typeface="Times New Roman" panose="02020603050405020304" pitchFamily="18" charset="0"/>
              </a:rPr>
              <a:t>, are different which are known as the enantiomers</a:t>
            </a:r>
            <a:endParaRPr lang="zh-CN" altLang="zh-CN" sz="2000" dirty="0">
              <a:latin typeface="Times New Roman" panose="02020603050405020304" pitchFamily="18" charset="0"/>
              <a:ea typeface="+mn-ea"/>
              <a:cs typeface="Times New Roman" panose="02020603050405020304" pitchFamily="18" charset="0"/>
            </a:endParaRPr>
          </a:p>
        </p:txBody>
      </p:sp>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Microscopic symmetry elements of crystals </a:t>
            </a:r>
          </a:p>
        </p:txBody>
      </p:sp>
      <p:sp>
        <p:nvSpPr>
          <p:cNvPr id="3" name="Content Placeholder 2"/>
          <p:cNvSpPr>
            <a:spLocks noGrp="1"/>
          </p:cNvSpPr>
          <p:nvPr>
            <p:ph idx="1"/>
          </p:nvPr>
        </p:nvSpPr>
        <p:spPr>
          <a:xfrm>
            <a:off x="467544" y="1970838"/>
            <a:ext cx="7931224" cy="4525963"/>
          </a:xfrm>
        </p:spPr>
        <p:txBody>
          <a:bodyPr>
            <a:normAutofit/>
          </a:bodyPr>
          <a:lstStyle/>
          <a:p>
            <a:pPr marL="0" indent="0">
              <a:buNone/>
            </a:pPr>
            <a:r>
              <a:rPr lang="en-US" sz="3600" b="1" dirty="0"/>
              <a:t>Glide plane:</a:t>
            </a:r>
          </a:p>
          <a:p>
            <a:r>
              <a:rPr lang="en-US" sz="2600" dirty="0"/>
              <a:t>It is a combined symmetry element, which is also called the glide reflection plane </a:t>
            </a:r>
            <a:r>
              <a:rPr lang="zh-CN" altLang="en-US" sz="2600" dirty="0"/>
              <a:t>（反映面）</a:t>
            </a:r>
            <a:r>
              <a:rPr lang="en-US" sz="2600" dirty="0"/>
              <a:t>and image shifting plane</a:t>
            </a:r>
            <a:r>
              <a:rPr lang="zh-CN" altLang="en-US" sz="2600" dirty="0"/>
              <a:t>（像移面）</a:t>
            </a:r>
            <a:r>
              <a:rPr lang="en-US" sz="2600" dirty="0"/>
              <a:t>.</a:t>
            </a:r>
          </a:p>
          <a:p>
            <a:r>
              <a:rPr lang="en-US" sz="2600" dirty="0"/>
              <a:t>Auxiliary geometric elements: a hypothetical plane and a straight line parallel to this plane.</a:t>
            </a:r>
          </a:p>
          <a:p>
            <a:r>
              <a:rPr lang="en-US" sz="2600" dirty="0"/>
              <a:t>Symmetry operation: reflection </a:t>
            </a:r>
            <a:r>
              <a:rPr lang="en-US" altLang="zh-CN" sz="2600" dirty="0"/>
              <a:t>to</a:t>
            </a:r>
            <a:r>
              <a:rPr lang="en-US" sz="2600" dirty="0"/>
              <a:t> the hypothetical plane and the translation along this straight line. its translation distance equals to half of the node spacing along this line (</a:t>
            </a:r>
            <a:r>
              <a:rPr lang="en-US" sz="2600" b="1" dirty="0"/>
              <a:t>basic translation vector</a:t>
            </a:r>
            <a:r>
              <a:rPr lang="en-US" sz="2600" dirty="0"/>
              <a:t>)</a:t>
            </a:r>
          </a:p>
          <a:p>
            <a:endParaRPr lang="en-US" dirty="0"/>
          </a:p>
        </p:txBody>
      </p:sp>
      <p:grpSp>
        <p:nvGrpSpPr>
          <p:cNvPr id="7" name="Group 6"/>
          <p:cNvGrpSpPr/>
          <p:nvPr/>
        </p:nvGrpSpPr>
        <p:grpSpPr>
          <a:xfrm>
            <a:off x="6650264" y="1340768"/>
            <a:ext cx="1574771" cy="1260140"/>
            <a:chOff x="6724465" y="2114465"/>
            <a:chExt cx="1979712" cy="1584176"/>
          </a:xfrm>
        </p:grpSpPr>
        <p:sp>
          <p:nvSpPr>
            <p:cNvPr id="4" name="Parallelogram 3"/>
            <p:cNvSpPr/>
            <p:nvPr/>
          </p:nvSpPr>
          <p:spPr>
            <a:xfrm>
              <a:off x="6724465" y="2438501"/>
              <a:ext cx="1979712" cy="936104"/>
            </a:xfrm>
            <a:prstGeom prst="parallelogram">
              <a:avLst>
                <a:gd name="adj" fmla="val 44769"/>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7372537" y="2114465"/>
              <a:ext cx="683568" cy="1584176"/>
            </a:xfrm>
            <a:prstGeom prst="line">
              <a:avLst/>
            </a:prstGeom>
            <a:ln w="28575"/>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95536" y="404664"/>
            <a:ext cx="8280920" cy="1077218"/>
          </a:xfrm>
          <a:prstGeom prst="rect">
            <a:avLst/>
          </a:prstGeom>
        </p:spPr>
        <p:txBody>
          <a:bodyPr wrap="square">
            <a:spAutoFit/>
          </a:bodyPr>
          <a:lstStyle/>
          <a:p>
            <a:r>
              <a:rPr lang="en-US" sz="3200" dirty="0">
                <a:latin typeface="+mn-lt"/>
              </a:rPr>
              <a:t>The glide reflection operation is the </a:t>
            </a:r>
            <a:r>
              <a:rPr lang="en-US" altLang="zh-CN" sz="3200" dirty="0">
                <a:latin typeface="+mn-lt"/>
              </a:rPr>
              <a:t>combined </a:t>
            </a:r>
            <a:r>
              <a:rPr lang="en-US" sz="3200" dirty="0">
                <a:latin typeface="+mn-lt"/>
              </a:rPr>
              <a:t>operation of reflection and translation</a:t>
            </a:r>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913" y="2348880"/>
            <a:ext cx="3860066" cy="24482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4008" y="1663353"/>
            <a:ext cx="3875111" cy="3387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650913" y="5229200"/>
            <a:ext cx="7868206" cy="954107"/>
          </a:xfrm>
          <a:prstGeom prst="rect">
            <a:avLst/>
          </a:prstGeom>
        </p:spPr>
        <p:txBody>
          <a:bodyPr wrap="square">
            <a:spAutoFit/>
          </a:bodyPr>
          <a:lstStyle/>
          <a:p>
            <a:r>
              <a:rPr lang="en-US" altLang="zh-CN" sz="2800" b="0" dirty="0">
                <a:latin typeface="+mn-lt"/>
                <a:cs typeface="Times New Roman" panose="02020603050405020304" pitchFamily="18" charset="0"/>
              </a:rPr>
              <a:t>The glide reflection operation </a:t>
            </a:r>
            <a:r>
              <a:rPr lang="en-US" altLang="zh-CN" sz="2800" b="0" dirty="0">
                <a:solidFill>
                  <a:srgbClr val="FF0000"/>
                </a:solidFill>
                <a:latin typeface="+mn-lt"/>
                <a:cs typeface="Times New Roman" panose="02020603050405020304" pitchFamily="18" charset="0"/>
              </a:rPr>
              <a:t>changes </a:t>
            </a:r>
            <a:r>
              <a:rPr lang="en-US" altLang="zh-CN" sz="2800" b="0" dirty="0">
                <a:latin typeface="+mn-lt"/>
                <a:cs typeface="Times New Roman" panose="02020603050405020304" pitchFamily="18" charset="0"/>
              </a:rPr>
              <a:t>the </a:t>
            </a:r>
            <a:r>
              <a:rPr lang="en-US" altLang="zh-CN" sz="2800" b="0" dirty="0">
                <a:solidFill>
                  <a:srgbClr val="FF0000"/>
                </a:solidFill>
                <a:latin typeface="+mn-lt"/>
                <a:cs typeface="Times New Roman" panose="02020603050405020304" pitchFamily="18" charset="0"/>
              </a:rPr>
              <a:t>chirality</a:t>
            </a:r>
            <a:r>
              <a:rPr lang="en-US" altLang="zh-CN" sz="2800" b="0" dirty="0">
                <a:latin typeface="+mn-lt"/>
                <a:cs typeface="Times New Roman" panose="02020603050405020304" pitchFamily="18" charset="0"/>
              </a:rPr>
              <a:t> of the asymmetric unit</a:t>
            </a:r>
            <a:endParaRPr lang="en-US" sz="2800" b="0" dirty="0">
              <a:latin typeface="+mn-lt"/>
            </a:endParaRPr>
          </a:p>
        </p:txBody>
      </p:sp>
      <p:sp>
        <p:nvSpPr>
          <p:cNvPr id="13" name="Rectangle 12"/>
          <p:cNvSpPr/>
          <p:nvPr/>
        </p:nvSpPr>
        <p:spPr>
          <a:xfrm>
            <a:off x="3923928" y="6423719"/>
            <a:ext cx="5232586" cy="461665"/>
          </a:xfrm>
          <a:prstGeom prst="rect">
            <a:avLst/>
          </a:prstGeom>
        </p:spPr>
        <p:txBody>
          <a:bodyPr wrap="none">
            <a:spAutoFit/>
          </a:bodyPr>
          <a:lstStyle/>
          <a:p>
            <a:r>
              <a:rPr lang="en-US" altLang="zh-CN" sz="2400" dirty="0">
                <a:solidFill>
                  <a:srgbClr val="FF0000"/>
                </a:solidFill>
                <a:latin typeface="+mn-lt"/>
              </a:rPr>
              <a:t>Mini project</a:t>
            </a:r>
            <a:r>
              <a:rPr lang="zh-CN" altLang="en-US" sz="2400" dirty="0">
                <a:solidFill>
                  <a:srgbClr val="FF0000"/>
                </a:solidFill>
                <a:latin typeface="+mn-lt"/>
              </a:rPr>
              <a:t>：</a:t>
            </a:r>
            <a:r>
              <a:rPr lang="en-US" altLang="zh-CN" sz="2400" dirty="0">
                <a:solidFill>
                  <a:srgbClr val="FF0000"/>
                </a:solidFill>
                <a:latin typeface="+mn-lt"/>
              </a:rPr>
              <a:t> Introduction of chirality?</a:t>
            </a:r>
            <a:endParaRPr lang="zh-CN" altLang="en-US" sz="2400" dirty="0">
              <a:latin typeface="+mn-lt"/>
            </a:endParaRP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idx="1"/>
          </p:nvPr>
        </p:nvSpPr>
        <p:spPr>
          <a:xfrm>
            <a:off x="467544" y="2348880"/>
            <a:ext cx="8172449" cy="3600400"/>
          </a:xfrm>
        </p:spPr>
        <p:txBody>
          <a:bodyPr>
            <a:noAutofit/>
          </a:bodyPr>
          <a:lstStyle/>
          <a:p>
            <a:pPr marL="0" indent="0">
              <a:buNone/>
            </a:pPr>
            <a:endParaRPr lang="en-US" altLang="zh-CN" sz="2800" dirty="0">
              <a:ea typeface="宋体" panose="02010600030101010101" pitchFamily="2" charset="-122"/>
              <a:cs typeface="Times New Roman" panose="02020603050405020304" pitchFamily="18" charset="0"/>
            </a:endParaRPr>
          </a:p>
          <a:p>
            <a:r>
              <a:rPr lang="en-US" altLang="zh-CN" sz="2800" dirty="0">
                <a:ea typeface="宋体" panose="02010600030101010101" pitchFamily="2" charset="-122"/>
                <a:cs typeface="Times New Roman" panose="02020603050405020304" pitchFamily="18" charset="0"/>
              </a:rPr>
              <a:t>a, b, c are axial glide, the glide distance is ½ a, ½ b, ½ c.</a:t>
            </a:r>
          </a:p>
          <a:p>
            <a:r>
              <a:rPr lang="en-US" altLang="zh-CN" sz="2800" dirty="0">
                <a:ea typeface="宋体" panose="02010600030101010101" pitchFamily="2" charset="-122"/>
                <a:cs typeface="Times New Roman" panose="02020603050405020304" pitchFamily="18" charset="0"/>
              </a:rPr>
              <a:t>n is diagonal glide, the glide distance is ½(</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 ½(</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a:t>
            </a:r>
            <a:r>
              <a:rPr lang="en-US" altLang="zh-CN" sz="2800" dirty="0">
                <a:ea typeface="宋体" panose="02010600030101010101" pitchFamily="2" charset="-122"/>
                <a:cs typeface="Times New Roman" panose="02020603050405020304" pitchFamily="18" charset="0"/>
              </a:rPr>
              <a:t>½ (</a:t>
            </a:r>
            <a:r>
              <a:rPr lang="en-US" altLang="zh-CN" sz="2800" dirty="0" err="1">
                <a:ea typeface="宋体" panose="02010600030101010101" pitchFamily="2" charset="-122"/>
                <a:cs typeface="Times New Roman" panose="02020603050405020304" pitchFamily="18" charset="0"/>
              </a:rPr>
              <a:t>a+c</a:t>
            </a:r>
            <a:r>
              <a:rPr lang="en-US" altLang="zh-CN" sz="2800" dirty="0">
                <a:ea typeface="宋体" panose="02010600030101010101" pitchFamily="2" charset="-122"/>
                <a:cs typeface="Times New Roman" panose="02020603050405020304" pitchFamily="18" charset="0"/>
              </a:rPr>
              <a:t>), ½(</a:t>
            </a:r>
            <a:r>
              <a:rPr lang="en-US" altLang="zh-CN" sz="2800" dirty="0" err="1">
                <a:ea typeface="宋体" panose="02010600030101010101" pitchFamily="2" charset="-122"/>
                <a:cs typeface="Times New Roman" panose="02020603050405020304" pitchFamily="18" charset="0"/>
              </a:rPr>
              <a:t>a+b+c</a:t>
            </a:r>
            <a:r>
              <a:rPr lang="en-US" altLang="zh-CN" sz="2800" dirty="0">
                <a:ea typeface="宋体" panose="02010600030101010101" pitchFamily="2" charset="-122"/>
                <a:cs typeface="Times New Roman" panose="02020603050405020304" pitchFamily="18" charset="0"/>
              </a:rPr>
              <a:t>).</a:t>
            </a:r>
          </a:p>
          <a:p>
            <a:r>
              <a:rPr lang="en-US" altLang="zh-CN" sz="2800" dirty="0">
                <a:ea typeface="宋体" panose="02010600030101010101" pitchFamily="2" charset="-122"/>
                <a:cs typeface="Times New Roman" panose="02020603050405020304" pitchFamily="18" charset="0"/>
              </a:rPr>
              <a:t>d is diamond glide, the glide distance is ¼(</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a:t>
            </a:r>
            <a:r>
              <a:rPr lang="en-US" altLang="zh-CN" sz="2800" dirty="0">
                <a:ea typeface="宋体" panose="02010600030101010101" pitchFamily="2" charset="-122"/>
                <a:cs typeface="Times New Roman" panose="02020603050405020304" pitchFamily="18" charset="0"/>
              </a:rPr>
              <a:t>¼ (</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¼ (</a:t>
            </a:r>
            <a:r>
              <a:rPr lang="en-US" altLang="zh-CN" sz="2800" dirty="0" err="1">
                <a:ea typeface="宋体" panose="02010600030101010101" pitchFamily="2" charset="-122"/>
                <a:cs typeface="Times New Roman" panose="02020603050405020304" pitchFamily="18" charset="0"/>
              </a:rPr>
              <a:t>a+c</a:t>
            </a:r>
            <a:r>
              <a:rPr lang="en-US" altLang="zh-CN" sz="2800" dirty="0">
                <a:ea typeface="宋体" panose="02010600030101010101" pitchFamily="2" charset="-122"/>
                <a:cs typeface="Times New Roman" panose="02020603050405020304" pitchFamily="18" charset="0"/>
              </a:rPr>
              <a:t>), ¼(</a:t>
            </a:r>
            <a:r>
              <a:rPr lang="en-US" altLang="zh-CN" sz="2800" dirty="0" err="1">
                <a:ea typeface="宋体" panose="02010600030101010101" pitchFamily="2" charset="-122"/>
                <a:cs typeface="Times New Roman" panose="02020603050405020304" pitchFamily="18" charset="0"/>
              </a:rPr>
              <a:t>a+b+c</a:t>
            </a:r>
            <a:r>
              <a:rPr lang="en-US" altLang="zh-CN" sz="2800" dirty="0">
                <a:ea typeface="宋体" panose="02010600030101010101" pitchFamily="2" charset="-122"/>
                <a:cs typeface="Times New Roman" panose="02020603050405020304" pitchFamily="18" charset="0"/>
              </a:rPr>
              <a:t>).</a:t>
            </a:r>
          </a:p>
        </p:txBody>
      </p:sp>
      <p:sp>
        <p:nvSpPr>
          <p:cNvPr id="2" name="Rectangle 1"/>
          <p:cNvSpPr/>
          <p:nvPr/>
        </p:nvSpPr>
        <p:spPr>
          <a:xfrm>
            <a:off x="611560" y="908720"/>
            <a:ext cx="5400600" cy="1384995"/>
          </a:xfrm>
          <a:prstGeom prst="rect">
            <a:avLst/>
          </a:prstGeom>
        </p:spPr>
        <p:txBody>
          <a:bodyPr wrap="square">
            <a:spAutoFit/>
          </a:bodyPr>
          <a:lstStyle/>
          <a:p>
            <a:pPr lvl="0" fontAlgn="auto">
              <a:spcBef>
                <a:spcPct val="20000"/>
              </a:spcBef>
              <a:spcAft>
                <a:spcPts val="0"/>
              </a:spcAft>
            </a:pPr>
            <a:r>
              <a:rPr lang="en-US" altLang="zh-CN" sz="2800" dirty="0">
                <a:solidFill>
                  <a:prstClr val="black"/>
                </a:solidFill>
                <a:latin typeface="Franklin Gothic Book" panose="020B0503020102020204"/>
                <a:cs typeface="Times New Roman" panose="02020603050405020304" pitchFamily="18" charset="0"/>
              </a:rPr>
              <a:t>According to glide direction and distance, glide plane can be classified into 5 kinds: a, b, c, n, d. </a:t>
            </a:r>
          </a:p>
        </p:txBody>
      </p:sp>
      <p:grpSp>
        <p:nvGrpSpPr>
          <p:cNvPr id="14" name="Group 6"/>
          <p:cNvGrpSpPr/>
          <p:nvPr/>
        </p:nvGrpSpPr>
        <p:grpSpPr bwMode="auto">
          <a:xfrm>
            <a:off x="6228134" y="84082"/>
            <a:ext cx="2592388" cy="2835275"/>
            <a:chOff x="1791" y="1389"/>
            <a:chExt cx="2132" cy="2495"/>
          </a:xfrm>
        </p:grpSpPr>
        <p:pic>
          <p:nvPicPr>
            <p:cNvPr id="15" name="Picture 7" descr="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 y="1534"/>
              <a:ext cx="2132" cy="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Line 8"/>
            <p:cNvSpPr>
              <a:spLocks noChangeShapeType="1"/>
            </p:cNvSpPr>
            <p:nvPr/>
          </p:nvSpPr>
          <p:spPr bwMode="auto">
            <a:xfrm flipH="1">
              <a:off x="2109" y="1389"/>
              <a:ext cx="726" cy="363"/>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 name="Line 9"/>
            <p:cNvSpPr>
              <a:spLocks noChangeShapeType="1"/>
            </p:cNvSpPr>
            <p:nvPr/>
          </p:nvSpPr>
          <p:spPr bwMode="auto">
            <a:xfrm flipH="1">
              <a:off x="2109" y="3521"/>
              <a:ext cx="726" cy="363"/>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Line 10"/>
            <p:cNvSpPr>
              <a:spLocks noChangeShapeType="1"/>
            </p:cNvSpPr>
            <p:nvPr/>
          </p:nvSpPr>
          <p:spPr bwMode="auto">
            <a:xfrm>
              <a:off x="2835" y="1389"/>
              <a:ext cx="0" cy="2132"/>
            </a:xfrm>
            <a:prstGeom prst="line">
              <a:avLst/>
            </a:prstGeom>
            <a:noFill/>
            <a:ln w="19050">
              <a:solidFill>
                <a:schemeClr val="hlink"/>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Line 11"/>
            <p:cNvSpPr>
              <a:spLocks noChangeShapeType="1"/>
            </p:cNvSpPr>
            <p:nvPr/>
          </p:nvSpPr>
          <p:spPr bwMode="auto">
            <a:xfrm>
              <a:off x="2109" y="1752"/>
              <a:ext cx="0" cy="2132"/>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12"/>
            <p:cNvSpPr>
              <a:spLocks noChangeShapeType="1"/>
            </p:cNvSpPr>
            <p:nvPr/>
          </p:nvSpPr>
          <p:spPr bwMode="auto">
            <a:xfrm flipH="1">
              <a:off x="2109" y="1616"/>
              <a:ext cx="726" cy="408"/>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Line 13"/>
            <p:cNvSpPr>
              <a:spLocks noChangeShapeType="1"/>
            </p:cNvSpPr>
            <p:nvPr/>
          </p:nvSpPr>
          <p:spPr bwMode="auto">
            <a:xfrm flipH="1">
              <a:off x="2109" y="1888"/>
              <a:ext cx="726" cy="408"/>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 name="Line 14"/>
            <p:cNvSpPr>
              <a:spLocks noChangeShapeType="1"/>
            </p:cNvSpPr>
            <p:nvPr/>
          </p:nvSpPr>
          <p:spPr bwMode="auto">
            <a:xfrm flipH="1">
              <a:off x="2064" y="2160"/>
              <a:ext cx="726" cy="408"/>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 name="Line 15"/>
            <p:cNvSpPr>
              <a:spLocks noChangeShapeType="1"/>
            </p:cNvSpPr>
            <p:nvPr/>
          </p:nvSpPr>
          <p:spPr bwMode="auto">
            <a:xfrm flipH="1">
              <a:off x="2064" y="2478"/>
              <a:ext cx="726" cy="408"/>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16"/>
            <p:cNvSpPr>
              <a:spLocks noChangeShapeType="1"/>
            </p:cNvSpPr>
            <p:nvPr/>
          </p:nvSpPr>
          <p:spPr bwMode="auto">
            <a:xfrm flipH="1">
              <a:off x="2109" y="2750"/>
              <a:ext cx="726" cy="408"/>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 name="Line 17"/>
            <p:cNvSpPr>
              <a:spLocks noChangeShapeType="1"/>
            </p:cNvSpPr>
            <p:nvPr/>
          </p:nvSpPr>
          <p:spPr bwMode="auto">
            <a:xfrm flipH="1">
              <a:off x="2109" y="3022"/>
              <a:ext cx="726" cy="363"/>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18"/>
            <p:cNvSpPr>
              <a:spLocks noChangeShapeType="1"/>
            </p:cNvSpPr>
            <p:nvPr/>
          </p:nvSpPr>
          <p:spPr bwMode="auto">
            <a:xfrm flipH="1">
              <a:off x="2109" y="3294"/>
              <a:ext cx="726" cy="363"/>
            </a:xfrm>
            <a:prstGeom prst="line">
              <a:avLst/>
            </a:prstGeom>
            <a:noFill/>
            <a:ln w="1905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7" name="Oval 26"/>
          <p:cNvSpPr/>
          <p:nvPr/>
        </p:nvSpPr>
        <p:spPr>
          <a:xfrm>
            <a:off x="6299869" y="558611"/>
            <a:ext cx="432048" cy="432048"/>
          </a:xfrm>
          <a:prstGeom prst="ellipse">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7056191" y="84082"/>
            <a:ext cx="0" cy="2835275"/>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7119676" y="558611"/>
            <a:ext cx="432048" cy="432048"/>
          </a:xfrm>
          <a:prstGeom prst="ellipse">
            <a:avLst/>
          </a:prstGeom>
          <a:noFill/>
          <a:ln>
            <a:solidFill>
              <a:srgbClr val="FF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7151207" y="1331122"/>
            <a:ext cx="432048" cy="432048"/>
          </a:xfrm>
          <a:prstGeom prst="ellipse">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p:cNvCxnSpPr/>
          <p:nvPr/>
        </p:nvCxnSpPr>
        <p:spPr>
          <a:xfrm>
            <a:off x="7740029" y="651137"/>
            <a:ext cx="0" cy="1056836"/>
          </a:xfrm>
          <a:prstGeom prst="straightConnector1">
            <a:avLst/>
          </a:prstGeom>
          <a:ln w="57150">
            <a:solidFill>
              <a:srgbClr val="FF3399"/>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812037" y="830877"/>
            <a:ext cx="684803" cy="523220"/>
          </a:xfrm>
          <a:prstGeom prst="rect">
            <a:avLst/>
          </a:prstGeom>
          <a:noFill/>
        </p:spPr>
        <p:txBody>
          <a:bodyPr wrap="none" rtlCol="0">
            <a:spAutoFit/>
          </a:bodyPr>
          <a:lstStyle/>
          <a:p>
            <a:r>
              <a:rPr lang="en-US" sz="2800" dirty="0">
                <a:solidFill>
                  <a:srgbClr val="FF3399"/>
                </a:solidFill>
              </a:rPr>
              <a:t>a/2</a:t>
            </a:r>
          </a:p>
        </p:txBody>
      </p:sp>
      <p:sp>
        <p:nvSpPr>
          <p:cNvPr id="3" name="Right Arrow 2"/>
          <p:cNvSpPr/>
          <p:nvPr/>
        </p:nvSpPr>
        <p:spPr>
          <a:xfrm>
            <a:off x="6775673" y="689237"/>
            <a:ext cx="346959" cy="179740"/>
          </a:xfrm>
          <a:prstGeom prst="rightArrow">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11560" y="5805264"/>
            <a:ext cx="8457765" cy="400110"/>
          </a:xfrm>
          <a:prstGeom prst="rect">
            <a:avLst/>
          </a:prstGeom>
          <a:noFill/>
        </p:spPr>
        <p:txBody>
          <a:bodyPr wrap="none" rtlCol="0">
            <a:spAutoFit/>
          </a:bodyPr>
          <a:lstStyle/>
          <a:p>
            <a:r>
              <a:rPr lang="en-US" altLang="zh-CN" sz="2000" dirty="0"/>
              <a:t>Exercise</a:t>
            </a:r>
            <a:r>
              <a:rPr lang="zh-CN" altLang="en-US" sz="2000" b="0" dirty="0"/>
              <a:t>：</a:t>
            </a:r>
            <a:r>
              <a:rPr lang="en-US" altLang="zh-CN" sz="2000" b="0" dirty="0"/>
              <a:t>find crystal structures that has </a:t>
            </a:r>
            <a:r>
              <a:rPr lang="en-US" altLang="zh-CN" sz="2000" dirty="0">
                <a:solidFill>
                  <a:srgbClr val="FF0000"/>
                </a:solidFill>
              </a:rPr>
              <a:t>n</a:t>
            </a:r>
            <a:r>
              <a:rPr lang="en-US" altLang="zh-CN" sz="2000" b="0" dirty="0"/>
              <a:t> and </a:t>
            </a:r>
            <a:r>
              <a:rPr lang="en-US" altLang="zh-CN" sz="2000" dirty="0">
                <a:solidFill>
                  <a:srgbClr val="FF0000"/>
                </a:solidFill>
              </a:rPr>
              <a:t>d </a:t>
            </a:r>
            <a:r>
              <a:rPr lang="en-US" altLang="zh-CN" sz="2000" b="0" dirty="0"/>
              <a:t>and show these glides.</a:t>
            </a:r>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pic7-6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513" y="0"/>
            <a:ext cx="58054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7" name="Rectangle 3"/>
          <p:cNvSpPr>
            <a:spLocks noChangeArrowheads="1"/>
          </p:cNvSpPr>
          <p:nvPr/>
        </p:nvSpPr>
        <p:spPr bwMode="auto">
          <a:xfrm>
            <a:off x="179512" y="1772816"/>
            <a:ext cx="45720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
                <a:srgbClr val="00CC00"/>
              </a:buClr>
              <a:buSzPct val="50000"/>
              <a:defRPr/>
            </a:pPr>
            <a:r>
              <a:rPr lang="en-US" altLang="zh-CN" sz="2800" dirty="0">
                <a:latin typeface="+mn-lt"/>
              </a:rPr>
              <a:t>Glide plane</a:t>
            </a:r>
            <a:r>
              <a:rPr lang="en-US" altLang="zh-CN" sz="2400" dirty="0">
                <a:latin typeface="+mn-lt"/>
              </a:rPr>
              <a:t>  (a</a:t>
            </a:r>
            <a:r>
              <a:rPr lang="zh-CN" altLang="en-US" sz="2400" dirty="0">
                <a:latin typeface="+mn-lt"/>
              </a:rPr>
              <a:t>、</a:t>
            </a:r>
            <a:r>
              <a:rPr lang="en-US" altLang="zh-CN" sz="2400" dirty="0">
                <a:latin typeface="+mn-lt"/>
              </a:rPr>
              <a:t>b</a:t>
            </a:r>
            <a:r>
              <a:rPr lang="zh-CN" altLang="en-US" sz="2400" dirty="0">
                <a:latin typeface="+mn-lt"/>
              </a:rPr>
              <a:t>、</a:t>
            </a:r>
            <a:r>
              <a:rPr lang="en-US" altLang="zh-CN" sz="2400" dirty="0">
                <a:latin typeface="+mn-lt"/>
              </a:rPr>
              <a:t>c</a:t>
            </a:r>
            <a:r>
              <a:rPr lang="zh-CN" altLang="en-US" sz="2400" dirty="0">
                <a:latin typeface="+mn-lt"/>
              </a:rPr>
              <a:t>、</a:t>
            </a:r>
            <a:r>
              <a:rPr lang="en-US" altLang="zh-CN" sz="2400" dirty="0">
                <a:latin typeface="+mn-lt"/>
              </a:rPr>
              <a:t>n</a:t>
            </a:r>
            <a:r>
              <a:rPr lang="zh-CN" altLang="en-US" sz="2400" dirty="0">
                <a:latin typeface="+mn-lt"/>
              </a:rPr>
              <a:t>、</a:t>
            </a:r>
            <a:r>
              <a:rPr lang="en-US" altLang="zh-CN" sz="2400" dirty="0">
                <a:latin typeface="+mn-lt"/>
              </a:rPr>
              <a:t>d )</a:t>
            </a:r>
          </a:p>
        </p:txBody>
      </p:sp>
      <p:sp>
        <p:nvSpPr>
          <p:cNvPr id="2" name="Rectangle 1"/>
          <p:cNvSpPr/>
          <p:nvPr/>
        </p:nvSpPr>
        <p:spPr>
          <a:xfrm>
            <a:off x="179512" y="2924944"/>
            <a:ext cx="3019721" cy="3170099"/>
          </a:xfrm>
          <a:prstGeom prst="rect">
            <a:avLst/>
          </a:prstGeom>
        </p:spPr>
        <p:txBody>
          <a:bodyPr wrap="square">
            <a:spAutoFit/>
          </a:bodyPr>
          <a:lstStyle/>
          <a:p>
            <a:r>
              <a:rPr lang="en-US" altLang="zh-CN" sz="2000" dirty="0">
                <a:latin typeface="+mn-lt"/>
                <a:cs typeface="Times New Roman" panose="02020603050405020304" pitchFamily="18" charset="0"/>
              </a:rPr>
              <a:t>A. </a:t>
            </a:r>
            <a:r>
              <a:rPr lang="en-US" altLang="zh-CN" sz="2000" b="0" dirty="0">
                <a:latin typeface="+mn-lt"/>
                <a:cs typeface="Times New Roman" panose="02020603050405020304" pitchFamily="18" charset="0"/>
              </a:rPr>
              <a:t>Glide vector distribution of various glide planes </a:t>
            </a:r>
            <a:r>
              <a:rPr lang="en-US" altLang="zh-CN" sz="2000" b="0" dirty="0">
                <a:solidFill>
                  <a:srgbClr val="FF0000"/>
                </a:solidFill>
                <a:latin typeface="+mn-lt"/>
                <a:cs typeface="Times New Roman" panose="02020603050405020304" pitchFamily="18" charset="0"/>
              </a:rPr>
              <a:t>along</a:t>
            </a:r>
            <a:r>
              <a:rPr lang="en-US" altLang="zh-CN" sz="2000" b="0" dirty="0">
                <a:latin typeface="+mn-lt"/>
                <a:cs typeface="Times New Roman" panose="02020603050405020304" pitchFamily="18" charset="0"/>
              </a:rPr>
              <a:t> coordinate axes.</a:t>
            </a:r>
            <a:endParaRPr lang="zh-CN" altLang="zh-CN" sz="2000" b="0" dirty="0">
              <a:latin typeface="+mn-lt"/>
              <a:cs typeface="Times New Roman" panose="02020603050405020304" pitchFamily="18" charset="0"/>
            </a:endParaRPr>
          </a:p>
          <a:p>
            <a:r>
              <a:rPr lang="en-US" altLang="zh-CN" sz="2000" dirty="0">
                <a:latin typeface="+mn-lt"/>
                <a:cs typeface="Times New Roman" panose="02020603050405020304" pitchFamily="18" charset="0"/>
              </a:rPr>
              <a:t>B. </a:t>
            </a:r>
            <a:r>
              <a:rPr lang="en-US" altLang="zh-CN" sz="2000" b="0" dirty="0">
                <a:latin typeface="+mn-lt"/>
                <a:cs typeface="Times New Roman" panose="02020603050405020304" pitchFamily="18" charset="0"/>
              </a:rPr>
              <a:t>Illustrate marks of glide plane </a:t>
            </a:r>
            <a:r>
              <a:rPr lang="en-US" altLang="zh-CN" sz="2000" b="0" dirty="0">
                <a:solidFill>
                  <a:srgbClr val="C00000"/>
                </a:solidFill>
                <a:latin typeface="+mn-lt"/>
                <a:cs typeface="Times New Roman" panose="02020603050405020304" pitchFamily="18" charset="0"/>
              </a:rPr>
              <a:t>paralleled</a:t>
            </a:r>
            <a:r>
              <a:rPr lang="en-US" altLang="zh-CN" sz="2000" b="0" dirty="0">
                <a:latin typeface="+mn-lt"/>
                <a:cs typeface="Times New Roman" panose="02020603050405020304" pitchFamily="18" charset="0"/>
              </a:rPr>
              <a:t> to projection plane</a:t>
            </a:r>
            <a:endParaRPr lang="zh-CN" altLang="zh-CN" sz="2000" b="0" dirty="0">
              <a:latin typeface="+mn-lt"/>
              <a:cs typeface="Times New Roman" panose="02020603050405020304" pitchFamily="18" charset="0"/>
            </a:endParaRPr>
          </a:p>
          <a:p>
            <a:r>
              <a:rPr lang="en-US" altLang="zh-CN" sz="2000" dirty="0">
                <a:latin typeface="+mn-lt"/>
                <a:cs typeface="Times New Roman" panose="02020603050405020304" pitchFamily="18" charset="0"/>
              </a:rPr>
              <a:t>C. </a:t>
            </a:r>
            <a:r>
              <a:rPr lang="en-US" altLang="zh-CN" sz="2000" b="0" dirty="0">
                <a:latin typeface="+mn-lt"/>
                <a:cs typeface="Times New Roman" panose="02020603050405020304" pitchFamily="18" charset="0"/>
              </a:rPr>
              <a:t>Illustrate marks of glide plane </a:t>
            </a:r>
            <a:r>
              <a:rPr lang="en-US" altLang="zh-CN" sz="2000" b="0" dirty="0">
                <a:solidFill>
                  <a:srgbClr val="C00000"/>
                </a:solidFill>
                <a:latin typeface="+mn-lt"/>
                <a:cs typeface="Times New Roman" panose="02020603050405020304" pitchFamily="18" charset="0"/>
              </a:rPr>
              <a:t>vertical</a:t>
            </a:r>
            <a:r>
              <a:rPr lang="en-US" altLang="zh-CN" sz="2000" b="0" dirty="0">
                <a:latin typeface="+mn-lt"/>
                <a:cs typeface="Times New Roman" panose="02020603050405020304" pitchFamily="18" charset="0"/>
              </a:rPr>
              <a:t> to projection plane </a:t>
            </a:r>
            <a:endParaRPr lang="zh-CN" altLang="zh-CN" sz="2000" b="0" dirty="0">
              <a:latin typeface="+mn-lt"/>
              <a:cs typeface="Times New Roman" panose="02020603050405020304" pitchFamily="18" charset="0"/>
            </a:endParaRPr>
          </a:p>
          <a:p>
            <a:endParaRPr lang="en-US" sz="2000" b="0" dirty="0">
              <a:latin typeface="+mn-lt"/>
            </a:endParaRPr>
          </a:p>
        </p:txBody>
      </p:sp>
      <p:sp>
        <p:nvSpPr>
          <p:cNvPr id="6" name="Rectangle 5"/>
          <p:cNvSpPr/>
          <p:nvPr/>
        </p:nvSpPr>
        <p:spPr>
          <a:xfrm>
            <a:off x="154410" y="421382"/>
            <a:ext cx="5436096" cy="1077218"/>
          </a:xfrm>
          <a:prstGeom prst="rect">
            <a:avLst/>
          </a:prstGeom>
        </p:spPr>
        <p:txBody>
          <a:bodyPr wrap="square">
            <a:spAutoFit/>
          </a:bodyPr>
          <a:lstStyle/>
          <a:p>
            <a:r>
              <a:rPr lang="en-US" altLang="zh-CN" sz="3200" dirty="0">
                <a:latin typeface="+mn-lt"/>
                <a:cs typeface="Times New Roman" panose="02020603050405020304" pitchFamily="18" charset="0"/>
              </a:rPr>
              <a:t>Microscopic Symmetry Elements of Crystals </a:t>
            </a:r>
            <a:endParaRPr lang="zh-CN" altLang="en-US" sz="3200" dirty="0">
              <a:latin typeface="+mn-lt"/>
              <a:cs typeface="Times New Roman" panose="02020603050405020304" pitchFamily="18" charset="0"/>
            </a:endParaRPr>
          </a:p>
        </p:txBody>
      </p:sp>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200" b="0" dirty="0"/>
              <a:t>S</a:t>
            </a:r>
            <a:r>
              <a:rPr lang="en-US" sz="3200" b="0" dirty="0"/>
              <a:t>ymmetry elements and symbols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58875"/>
            <a:ext cx="7704137" cy="569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4840982" y="1086644"/>
            <a:ext cx="187220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6812657" y="1081311"/>
            <a:ext cx="187220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0" name="Picture 2" descr="tab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0" y="0"/>
            <a:ext cx="60515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3"/>
          <p:cNvSpPr>
            <a:spLocks noChangeArrowheads="1"/>
          </p:cNvSpPr>
          <p:nvPr/>
        </p:nvSpPr>
        <p:spPr bwMode="auto">
          <a:xfrm>
            <a:off x="4206875" y="1508125"/>
            <a:ext cx="4937125" cy="2209800"/>
          </a:xfrm>
          <a:prstGeom prst="rect">
            <a:avLst/>
          </a:prstGeom>
          <a:noFill/>
          <a:ln w="57150">
            <a:solidFill>
              <a:srgbClr val="FF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p>
        </p:txBody>
      </p:sp>
      <p:sp>
        <p:nvSpPr>
          <p:cNvPr id="160772" name="Rectangle 4"/>
          <p:cNvSpPr>
            <a:spLocks noChangeArrowheads="1"/>
          </p:cNvSpPr>
          <p:nvPr/>
        </p:nvSpPr>
        <p:spPr bwMode="auto">
          <a:xfrm>
            <a:off x="4191000" y="4784725"/>
            <a:ext cx="4953000" cy="1250950"/>
          </a:xfrm>
          <a:prstGeom prst="rect">
            <a:avLst/>
          </a:prstGeom>
          <a:noFill/>
          <a:ln w="57150">
            <a:solidFill>
              <a:srgbClr val="FF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lang="en-US" altLang="en-US" sz="2400" b="0">
              <a:effectLst>
                <a:outerShdw blurRad="38100" dist="38100" dir="2700000" algn="tl">
                  <a:srgbClr val="000000"/>
                </a:outerShdw>
              </a:effectLst>
              <a:latin typeface="Times New Roman" panose="02020603050405020304" pitchFamily="18" charset="0"/>
            </a:endParaRPr>
          </a:p>
        </p:txBody>
      </p:sp>
      <p:sp>
        <p:nvSpPr>
          <p:cNvPr id="160773" name="Rectangle 5"/>
          <p:cNvSpPr>
            <a:spLocks noChangeArrowheads="1"/>
          </p:cNvSpPr>
          <p:nvPr/>
        </p:nvSpPr>
        <p:spPr bwMode="auto">
          <a:xfrm>
            <a:off x="307975" y="754063"/>
            <a:ext cx="289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zh-CN" altLang="en-US" sz="3200" u="sng" dirty="0">
                <a:solidFill>
                  <a:srgbClr val="FF0000"/>
                </a:solidFill>
                <a:effectLst>
                  <a:outerShdw blurRad="38100" dist="38100" dir="2700000" algn="tl">
                    <a:srgbClr val="000000"/>
                  </a:outerShdw>
                </a:effectLst>
                <a:latin typeface="Times New Roman" panose="02020603050405020304" pitchFamily="18" charset="0"/>
              </a:rPr>
              <a:t>晶体中可能的对称元素及其符号 </a:t>
            </a:r>
          </a:p>
        </p:txBody>
      </p:sp>
      <p:cxnSp>
        <p:nvCxnSpPr>
          <p:cNvPr id="3" name="Straight Arrow Connector 2"/>
          <p:cNvCxnSpPr>
            <a:endCxn id="4" idx="3"/>
          </p:cNvCxnSpPr>
          <p:nvPr/>
        </p:nvCxnSpPr>
        <p:spPr>
          <a:xfrm flipH="1">
            <a:off x="2339752" y="1700808"/>
            <a:ext cx="5472608" cy="2380040"/>
          </a:xfrm>
          <a:prstGeom prst="straightConnector1">
            <a:avLst/>
          </a:prstGeom>
          <a:ln w="28575">
            <a:solidFill>
              <a:srgbClr val="FF3399"/>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9574" y="3573016"/>
            <a:ext cx="2330178" cy="1015663"/>
          </a:xfrm>
          <a:prstGeom prst="rect">
            <a:avLst/>
          </a:prstGeom>
          <a:noFill/>
        </p:spPr>
        <p:txBody>
          <a:bodyPr wrap="square" rtlCol="0">
            <a:spAutoFit/>
          </a:bodyPr>
          <a:lstStyle/>
          <a:p>
            <a:r>
              <a:rPr lang="zh-CN" altLang="en-US" sz="2000" dirty="0"/>
              <a:t>两条成</a:t>
            </a:r>
            <a:r>
              <a:rPr lang="en-US" altLang="zh-CN" sz="2000" dirty="0"/>
              <a:t>90</a:t>
            </a:r>
            <a:r>
              <a:rPr lang="zh-CN" altLang="en-US" sz="2000" dirty="0"/>
              <a:t>度角的线段代表滑移面和纸面平行或者重合</a:t>
            </a:r>
          </a:p>
        </p:txBody>
      </p:sp>
      <p:cxnSp>
        <p:nvCxnSpPr>
          <p:cNvPr id="6" name="Straight Arrow Connector 5"/>
          <p:cNvCxnSpPr/>
          <p:nvPr/>
        </p:nvCxnSpPr>
        <p:spPr>
          <a:xfrm flipH="1">
            <a:off x="2195736" y="1844824"/>
            <a:ext cx="3672408" cy="1152128"/>
          </a:xfrm>
          <a:prstGeom prst="straightConnector1">
            <a:avLst/>
          </a:prstGeom>
          <a:ln w="28575">
            <a:solidFill>
              <a:srgbClr val="FF3399"/>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8134" y="2396223"/>
            <a:ext cx="2330178" cy="707886"/>
          </a:xfrm>
          <a:prstGeom prst="rect">
            <a:avLst/>
          </a:prstGeom>
          <a:noFill/>
        </p:spPr>
        <p:txBody>
          <a:bodyPr wrap="square" rtlCol="0">
            <a:spAutoFit/>
          </a:bodyPr>
          <a:lstStyle/>
          <a:p>
            <a:r>
              <a:rPr lang="zh-CN" altLang="en-US" sz="2000" dirty="0"/>
              <a:t>在纸面内或者平行于纸面滑移</a:t>
            </a:r>
          </a:p>
        </p:txBody>
      </p:sp>
      <p:grpSp>
        <p:nvGrpSpPr>
          <p:cNvPr id="9" name="Group 8"/>
          <p:cNvGrpSpPr/>
          <p:nvPr/>
        </p:nvGrpSpPr>
        <p:grpSpPr>
          <a:xfrm>
            <a:off x="7596336" y="5231160"/>
            <a:ext cx="1080120" cy="179040"/>
            <a:chOff x="-900608" y="5229200"/>
            <a:chExt cx="2880320" cy="360040"/>
          </a:xfrm>
        </p:grpSpPr>
        <p:sp>
          <p:nvSpPr>
            <p:cNvPr id="2" name="Right Arrow 1"/>
            <p:cNvSpPr/>
            <p:nvPr/>
          </p:nvSpPr>
          <p:spPr>
            <a:xfrm>
              <a:off x="-900608" y="5229200"/>
              <a:ext cx="2880320" cy="360040"/>
            </a:xfrm>
            <a:prstGeom prst="rightArrow">
              <a:avLst>
                <a:gd name="adj1" fmla="val 50000"/>
                <a:gd name="adj2" fmla="val 1599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p:cNvSpPr/>
            <p:nvPr/>
          </p:nvSpPr>
          <p:spPr>
            <a:xfrm>
              <a:off x="-900608" y="5409220"/>
              <a:ext cx="2880320" cy="1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Space Groups</a:t>
            </a:r>
          </a:p>
        </p:txBody>
      </p:sp>
      <p:sp>
        <p:nvSpPr>
          <p:cNvPr id="3" name="Content Placeholder 2"/>
          <p:cNvSpPr>
            <a:spLocks noGrp="1"/>
          </p:cNvSpPr>
          <p:nvPr>
            <p:ph idx="1"/>
          </p:nvPr>
        </p:nvSpPr>
        <p:spPr/>
        <p:txBody>
          <a:bodyPr>
            <a:normAutofit/>
          </a:bodyPr>
          <a:lstStyle/>
          <a:p>
            <a:pPr marL="0" indent="0">
              <a:buNone/>
            </a:pPr>
            <a:r>
              <a:rPr lang="en-US" altLang="zh-CN" sz="2800" b="1" dirty="0">
                <a:cs typeface="Times New Roman" panose="02020603050405020304" pitchFamily="18" charset="0"/>
              </a:rPr>
              <a:t>Macroscopic symmetry of crystal</a:t>
            </a:r>
            <a:r>
              <a:rPr lang="en-US" altLang="zh-CN" sz="2800" dirty="0">
                <a:cs typeface="Times New Roman" panose="02020603050405020304" pitchFamily="18" charset="0"/>
              </a:rPr>
              <a:t>(</a:t>
            </a:r>
            <a:r>
              <a:rPr lang="en-US" altLang="zh-CN" sz="2800" dirty="0"/>
              <a:t>shape symmetry)</a:t>
            </a:r>
          </a:p>
          <a:p>
            <a:r>
              <a:rPr lang="en-US" altLang="zh-CN" sz="2400" dirty="0"/>
              <a:t>Symmetry elements</a:t>
            </a:r>
            <a:r>
              <a:rPr lang="zh-CN" altLang="en-US" sz="2400" dirty="0"/>
              <a:t>：</a:t>
            </a:r>
            <a:r>
              <a:rPr lang="en-US" altLang="zh-CN" sz="2400" dirty="0"/>
              <a:t>symmetry axis, symmetry plane and symmetry point</a:t>
            </a:r>
          </a:p>
          <a:p>
            <a:pPr marL="0" indent="0">
              <a:buNone/>
            </a:pPr>
            <a:r>
              <a:rPr lang="en-US" altLang="zh-CN" sz="2400" dirty="0"/>
              <a:t>The collection of macroscopic symmetry elements is also called </a:t>
            </a:r>
            <a:r>
              <a:rPr lang="en-US" altLang="zh-CN" sz="2400" b="1" dirty="0"/>
              <a:t>point group.</a:t>
            </a:r>
          </a:p>
          <a:p>
            <a:pPr marL="0" indent="0">
              <a:buNone/>
            </a:pPr>
            <a:r>
              <a:rPr lang="en-US" altLang="zh-CN" sz="2800" b="1" dirty="0">
                <a:cs typeface="Times New Roman" panose="02020603050405020304" pitchFamily="18" charset="0"/>
              </a:rPr>
              <a:t>Microscopic symmetry of crystal</a:t>
            </a:r>
            <a:r>
              <a:rPr lang="en-US" altLang="zh-CN" sz="2800" dirty="0">
                <a:cs typeface="Times New Roman" panose="02020603050405020304" pitchFamily="18" charset="0"/>
              </a:rPr>
              <a:t>(inner symmetry</a:t>
            </a:r>
            <a:r>
              <a:rPr lang="zh-CN" altLang="en-US" sz="2800" dirty="0">
                <a:cs typeface="Times New Roman" panose="02020603050405020304" pitchFamily="18" charset="0"/>
              </a:rPr>
              <a:t>）</a:t>
            </a:r>
            <a:endParaRPr lang="en-US" altLang="zh-CN" sz="2800" dirty="0">
              <a:cs typeface="Times New Roman" panose="02020603050405020304" pitchFamily="18" charset="0"/>
            </a:endParaRPr>
          </a:p>
          <a:p>
            <a:r>
              <a:rPr lang="en-US" altLang="zh-CN" sz="2400" dirty="0"/>
              <a:t>Symmetry elements</a:t>
            </a:r>
            <a:r>
              <a:rPr lang="zh-CN" altLang="en-US" sz="2400" dirty="0"/>
              <a:t>： </a:t>
            </a:r>
            <a:r>
              <a:rPr lang="en-US" altLang="zh-CN" sz="2400" dirty="0"/>
              <a:t>Besides macroscopic symmetry elements, there are microscopic symmetry elements containing translation operations, such as translation axes, glide plane, screw axes, etc. </a:t>
            </a:r>
            <a:endParaRPr lang="zh-CN" altLang="zh-CN" sz="2400" dirty="0"/>
          </a:p>
          <a:p>
            <a:pPr marL="0" indent="0">
              <a:buNone/>
            </a:pPr>
            <a:endParaRPr lang="en-US" altLang="zh-CN" sz="2400" dirty="0"/>
          </a:p>
          <a:p>
            <a:pPr marL="0" indent="0">
              <a:buNone/>
            </a:pPr>
            <a:endParaRPr lang="en-US" altLang="zh-CN" sz="2400" dirty="0"/>
          </a:p>
          <a:p>
            <a:endParaRPr lang="en-US" sz="2400" dirty="0"/>
          </a:p>
        </p:txBody>
      </p:sp>
      <p:sp>
        <p:nvSpPr>
          <p:cNvPr id="4" name="Rectangle 3"/>
          <p:cNvSpPr/>
          <p:nvPr/>
        </p:nvSpPr>
        <p:spPr>
          <a:xfrm>
            <a:off x="755576" y="5993458"/>
            <a:ext cx="7243265" cy="400110"/>
          </a:xfrm>
          <a:prstGeom prst="rect">
            <a:avLst/>
          </a:prstGeom>
          <a:solidFill>
            <a:schemeClr val="accent4">
              <a:lumMod val="40000"/>
              <a:lumOff val="60000"/>
            </a:schemeClr>
          </a:solidFill>
          <a:ln>
            <a:noFill/>
          </a:ln>
          <a:effectLst>
            <a:glow rad="228600">
              <a:schemeClr val="accent1">
                <a:satMod val="175000"/>
                <a:alpha val="40000"/>
              </a:schemeClr>
            </a:glow>
          </a:effectLst>
        </p:spPr>
        <p:txBody>
          <a:bodyPr wrap="none">
            <a:spAutoFit/>
          </a:bodyPr>
          <a:lstStyle/>
          <a:p>
            <a:r>
              <a:rPr lang="en-US" altLang="zh-CN" sz="2000" dirty="0">
                <a:latin typeface="+mn-lt"/>
                <a:cs typeface="Times New Roman" panose="02020603050405020304" pitchFamily="18" charset="0"/>
              </a:rPr>
              <a:t>Space lattice (</a:t>
            </a:r>
            <a:r>
              <a:rPr lang="en-US" altLang="zh-CN" sz="2000" dirty="0">
                <a:solidFill>
                  <a:schemeClr val="tx2">
                    <a:lumMod val="75000"/>
                  </a:schemeClr>
                </a:solidFill>
                <a:latin typeface="+mn-lt"/>
                <a:cs typeface="Times New Roman" panose="02020603050405020304" pitchFamily="18" charset="0"/>
              </a:rPr>
              <a:t>translation groups</a:t>
            </a:r>
            <a:r>
              <a:rPr lang="en-US" altLang="zh-CN" sz="2000" dirty="0">
                <a:latin typeface="+mn-lt"/>
                <a:cs typeface="Times New Roman" panose="02020603050405020304" pitchFamily="18" charset="0"/>
              </a:rPr>
              <a:t>) + Point groups </a:t>
            </a:r>
            <a:r>
              <a:rPr lang="en-US" altLang="zh-CN" sz="2000" dirty="0">
                <a:latin typeface="+mn-lt"/>
                <a:cs typeface="Times New Roman" panose="02020603050405020304" pitchFamily="18" charset="0"/>
                <a:sym typeface="Wingdings" panose="05000000000000000000" pitchFamily="2" charset="2"/>
              </a:rPr>
              <a:t> Space groups</a:t>
            </a:r>
            <a:endParaRPr lang="en-US" sz="2000" dirty="0">
              <a:latin typeface="+mn-lt"/>
              <a:cs typeface="Times New Roman" panose="02020603050405020304" pitchFamily="18" charset="0"/>
            </a:endParaRPr>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cs typeface="Times New Roman" panose="02020603050405020304" pitchFamily="18" charset="0"/>
              </a:rPr>
              <a:t>2D Groups (plane groups)</a:t>
            </a:r>
            <a:endParaRPr lang="en-US" dirty="0"/>
          </a:p>
        </p:txBody>
      </p:sp>
      <p:sp>
        <p:nvSpPr>
          <p:cNvPr id="3" name="Content Placeholder 2"/>
          <p:cNvSpPr>
            <a:spLocks noGrp="1"/>
          </p:cNvSpPr>
          <p:nvPr>
            <p:ph idx="1"/>
          </p:nvPr>
        </p:nvSpPr>
        <p:spPr/>
        <p:txBody>
          <a:bodyPr/>
          <a:lstStyle/>
          <a:p>
            <a:pPr marL="0" indent="0">
              <a:buNone/>
            </a:pPr>
            <a:r>
              <a:rPr lang="en-US" altLang="zh-CN" sz="2800" kern="100" dirty="0">
                <a:ea typeface="等线" panose="02010600030101010101" pitchFamily="2" charset="-122"/>
                <a:cs typeface="Times New Roman" panose="02020603050405020304" pitchFamily="18" charset="0"/>
              </a:rPr>
              <a:t>The set of all symmetry elements in plane, which can be regarded as the projection of 3D space groups on 2D plane.</a:t>
            </a:r>
          </a:p>
          <a:p>
            <a:endParaRPr lang="en-US"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6135"/>
          <a:stretch>
            <a:fillRect/>
          </a:stretch>
        </p:blipFill>
        <p:spPr bwMode="auto">
          <a:xfrm>
            <a:off x="1976264" y="3068960"/>
            <a:ext cx="5063117"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HRTEM  images of certain axial directions in silicon </a:t>
            </a:r>
            <a:r>
              <a:rPr lang="en-US" altLang="zh-CN" sz="3200" dirty="0"/>
              <a:t>crystals</a:t>
            </a:r>
            <a:endParaRPr lang="en-US" sz="3200" dirty="0"/>
          </a:p>
        </p:txBody>
      </p:sp>
      <p:sp>
        <p:nvSpPr>
          <p:cNvPr id="3" name="Content Placeholder 2"/>
          <p:cNvSpPr>
            <a:spLocks noGrp="1"/>
          </p:cNvSpPr>
          <p:nvPr>
            <p:ph idx="1"/>
          </p:nvPr>
        </p:nvSpPr>
        <p:spPr/>
        <p:txBody>
          <a:bodyPr>
            <a:normAutofit fontScale="92500"/>
          </a:bodyPr>
          <a:lstStyle/>
          <a:p>
            <a:r>
              <a:rPr lang="en-US" altLang="zh-CN" dirty="0"/>
              <a:t>[100]</a:t>
            </a:r>
          </a:p>
          <a:p>
            <a:r>
              <a:rPr lang="en-US" altLang="zh-CN" dirty="0"/>
              <a:t>[110]</a:t>
            </a:r>
          </a:p>
          <a:p>
            <a:r>
              <a:rPr lang="en-US" altLang="zh-CN" dirty="0"/>
              <a:t>[111]</a:t>
            </a:r>
          </a:p>
          <a:p>
            <a:r>
              <a:rPr lang="en-US" altLang="zh-CN" dirty="0"/>
              <a:t>[112]</a:t>
            </a:r>
            <a:endParaRPr lang="zh-CN" altLang="en-US" dirty="0"/>
          </a:p>
          <a:p>
            <a:endParaRPr lang="en-US" dirty="0"/>
          </a:p>
          <a:p>
            <a:pPr marL="0" indent="0">
              <a:buNone/>
            </a:pPr>
            <a:r>
              <a:rPr lang="en-US" b="1" dirty="0"/>
              <a:t>Exercise: </a:t>
            </a:r>
            <a:r>
              <a:rPr lang="en-US" dirty="0"/>
              <a:t>please find the HRTEM images taken along above directions to see 2</a:t>
            </a:r>
            <a:r>
              <a:rPr lang="en-US" altLang="zh-CN" dirty="0"/>
              <a:t>D patterns formed from the projections of 3D crystal structures.</a:t>
            </a:r>
            <a:endParaRPr lang="en-US" dirty="0"/>
          </a:p>
        </p:txBody>
      </p:sp>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4" descr="http://www.ntu.edu.sg/home/z.liu/images/2D%20material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59" y="1085280"/>
            <a:ext cx="3559301" cy="4502219"/>
          </a:xfrm>
          <a:prstGeom prst="rect">
            <a:avLst/>
          </a:prstGeom>
          <a:noFill/>
          <a:extLst>
            <a:ext uri="{909E8E84-426E-40DD-AFC4-6F175D3DCCD1}">
              <a14:hiddenFill xmlns:a14="http://schemas.microsoft.com/office/drawing/2010/main">
                <a:solidFill>
                  <a:srgbClr val="FFFFFF"/>
                </a:solidFill>
              </a14:hiddenFill>
            </a:ext>
          </a:extLst>
        </p:spPr>
      </p:pic>
      <p:pic>
        <p:nvPicPr>
          <p:cNvPr id="25602" name="Picture 2" descr="http://tse1.mm.bing.net/th?&amp;id=OIP.Mb5f54cfea4f69394a17a3c3f0472c13eo0&amp;w=300&amp;h=300&amp;c=0&amp;pid=1.9&amp;rs=0&amp;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9826" y="2086550"/>
            <a:ext cx="3605302" cy="249967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019826" y="5086647"/>
            <a:ext cx="3108608" cy="369332"/>
          </a:xfrm>
          <a:prstGeom prst="rect">
            <a:avLst/>
          </a:prstGeom>
        </p:spPr>
        <p:txBody>
          <a:bodyPr wrap="none">
            <a:spAutoFit/>
          </a:bodyPr>
          <a:lstStyle/>
          <a:p>
            <a:r>
              <a:rPr lang="en-US" dirty="0"/>
              <a:t>https://vimeo.com/1086112</a:t>
            </a:r>
          </a:p>
        </p:txBody>
      </p:sp>
      <p:sp>
        <p:nvSpPr>
          <p:cNvPr id="12" name="TextBox 11"/>
          <p:cNvSpPr txBox="1"/>
          <p:nvPr/>
        </p:nvSpPr>
        <p:spPr>
          <a:xfrm>
            <a:off x="5907360" y="4608363"/>
            <a:ext cx="1440160" cy="369332"/>
          </a:xfrm>
          <a:prstGeom prst="rect">
            <a:avLst/>
          </a:prstGeom>
          <a:noFill/>
        </p:spPr>
        <p:txBody>
          <a:bodyPr wrap="square" rtlCol="0">
            <a:spAutoFit/>
          </a:bodyPr>
          <a:lstStyle/>
          <a:p>
            <a:pPr algn="ctr"/>
            <a:r>
              <a:rPr lang="en-US" altLang="zh-CN" dirty="0"/>
              <a:t>Si 7</a:t>
            </a:r>
            <a:r>
              <a:rPr lang="zh-CN" altLang="en-US" dirty="0"/>
              <a:t>*</a:t>
            </a:r>
            <a:r>
              <a:rPr lang="en-US" altLang="zh-CN" dirty="0"/>
              <a:t>7</a:t>
            </a:r>
            <a:r>
              <a:rPr lang="zh-CN" altLang="en-US" dirty="0"/>
              <a:t>（</a:t>
            </a:r>
            <a:r>
              <a:rPr lang="en-US" altLang="zh-CN" dirty="0"/>
              <a:t>111</a:t>
            </a:r>
            <a:r>
              <a:rPr lang="zh-CN" altLang="en-US" dirty="0"/>
              <a:t>）</a:t>
            </a:r>
            <a:endParaRPr lang="en-US" dirty="0"/>
          </a:p>
        </p:txBody>
      </p:sp>
      <p:sp>
        <p:nvSpPr>
          <p:cNvPr id="8" name="Rectangle 7"/>
          <p:cNvSpPr/>
          <p:nvPr/>
        </p:nvSpPr>
        <p:spPr>
          <a:xfrm>
            <a:off x="274516" y="110379"/>
            <a:ext cx="4572000" cy="584775"/>
          </a:xfrm>
          <a:prstGeom prst="rect">
            <a:avLst/>
          </a:prstGeom>
        </p:spPr>
        <p:txBody>
          <a:bodyPr>
            <a:spAutoFit/>
          </a:bodyPr>
          <a:lstStyle/>
          <a:p>
            <a:r>
              <a:rPr lang="en-US" altLang="zh-CN" sz="3200" dirty="0">
                <a:latin typeface="+mn-lt"/>
                <a:cs typeface="Times New Roman" panose="02020603050405020304" pitchFamily="18" charset="0"/>
              </a:rPr>
              <a:t>2D </a:t>
            </a:r>
            <a:r>
              <a:rPr lang="zh-CN" altLang="en-US" sz="3200" dirty="0">
                <a:latin typeface="+mn-lt"/>
                <a:cs typeface="Times New Roman" panose="02020603050405020304" pitchFamily="18" charset="0"/>
              </a:rPr>
              <a:t>groups (plane groups)</a:t>
            </a:r>
          </a:p>
        </p:txBody>
      </p:sp>
      <p:sp>
        <p:nvSpPr>
          <p:cNvPr id="9" name="Rectangle 8"/>
          <p:cNvSpPr/>
          <p:nvPr/>
        </p:nvSpPr>
        <p:spPr>
          <a:xfrm>
            <a:off x="611560" y="5733256"/>
            <a:ext cx="3668505" cy="369332"/>
          </a:xfrm>
          <a:prstGeom prst="rect">
            <a:avLst/>
          </a:prstGeom>
        </p:spPr>
        <p:txBody>
          <a:bodyPr wrap="none">
            <a:spAutoFit/>
          </a:bodyPr>
          <a:lstStyle/>
          <a:p>
            <a:r>
              <a:rPr lang="zh-CN" altLang="en-US" dirty="0"/>
              <a:t>Two - dimensional nanocrystals</a:t>
            </a:r>
          </a:p>
        </p:txBody>
      </p:sp>
      <p:sp>
        <p:nvSpPr>
          <p:cNvPr id="13" name="Rectangle 12"/>
          <p:cNvSpPr/>
          <p:nvPr/>
        </p:nvSpPr>
        <p:spPr>
          <a:xfrm>
            <a:off x="5019826" y="5733256"/>
            <a:ext cx="3031599" cy="369332"/>
          </a:xfrm>
          <a:prstGeom prst="rect">
            <a:avLst/>
          </a:prstGeom>
        </p:spPr>
        <p:txBody>
          <a:bodyPr wrap="none">
            <a:spAutoFit/>
          </a:bodyPr>
          <a:lstStyle/>
          <a:p>
            <a:r>
              <a:rPr lang="zh-CN" altLang="en-US" dirty="0"/>
              <a:t>Reconstruction of crystal </a:t>
            </a:r>
          </a:p>
        </p:txBody>
      </p:sp>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32" y="1459243"/>
            <a:ext cx="8316416" cy="14636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205928" y="1431416"/>
            <a:ext cx="3168352" cy="1582672"/>
          </a:xfrm>
          <a:prstGeom prst="rect">
            <a:avLst/>
          </a:prstGeom>
          <a:noFill/>
          <a:ln>
            <a:solidFill>
              <a:srgbClr val="FF33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23528" y="4117935"/>
            <a:ext cx="8025111" cy="584775"/>
          </a:xfrm>
          <a:prstGeom prst="rect">
            <a:avLst/>
          </a:prstGeom>
        </p:spPr>
        <p:txBody>
          <a:bodyPr wrap="square">
            <a:spAutoFit/>
          </a:bodyPr>
          <a:lstStyle/>
          <a:p>
            <a:pPr>
              <a:spcAft>
                <a:spcPts val="0"/>
              </a:spcAft>
            </a:pPr>
            <a:r>
              <a:rPr lang="en-US" altLang="zh-CN" sz="3200" dirty="0">
                <a:latin typeface="+mn-lt"/>
                <a:cs typeface="Times New Roman" panose="02020603050405020304" pitchFamily="18" charset="0"/>
              </a:rPr>
              <a:t>Six basic symmetry elements for 2D patterns</a:t>
            </a:r>
          </a:p>
        </p:txBody>
      </p:sp>
      <p:sp>
        <p:nvSpPr>
          <p:cNvPr id="6" name="Rectangle 5"/>
          <p:cNvSpPr>
            <a:spLocks noChangeArrowheads="1"/>
          </p:cNvSpPr>
          <p:nvPr/>
        </p:nvSpPr>
        <p:spPr bwMode="auto">
          <a:xfrm>
            <a:off x="282352" y="3084093"/>
            <a:ext cx="1944216" cy="57957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t>Monoclinic </a:t>
            </a:r>
            <a:r>
              <a:rPr lang="en-US" altLang="zh-CN" i="1" dirty="0">
                <a:effectLst/>
                <a:ea typeface="宋体" panose="02010600030101010101" pitchFamily="2" charset="-122"/>
              </a:rPr>
              <a:t>m</a:t>
            </a:r>
            <a:endParaRPr lang="en-US" altLang="zh-CN" dirty="0">
              <a:effectLst/>
              <a:ea typeface="宋体" panose="02010600030101010101" pitchFamily="2" charset="-122"/>
            </a:endParaRPr>
          </a:p>
        </p:txBody>
      </p:sp>
      <p:sp>
        <p:nvSpPr>
          <p:cNvPr id="8" name="Rectangle 7"/>
          <p:cNvSpPr>
            <a:spLocks noChangeArrowheads="1"/>
          </p:cNvSpPr>
          <p:nvPr/>
        </p:nvSpPr>
        <p:spPr bwMode="auto">
          <a:xfrm>
            <a:off x="2812730" y="3084093"/>
            <a:ext cx="1963834" cy="57957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t>Orthorhombic </a:t>
            </a:r>
            <a:r>
              <a:rPr lang="en-US" altLang="zh-CN" i="1" dirty="0">
                <a:effectLst/>
                <a:ea typeface="宋体" panose="02010600030101010101" pitchFamily="2" charset="-122"/>
              </a:rPr>
              <a:t>o</a:t>
            </a:r>
            <a:endParaRPr lang="en-US" altLang="zh-CN" dirty="0">
              <a:effectLst/>
              <a:ea typeface="宋体" panose="02010600030101010101" pitchFamily="2" charset="-122"/>
            </a:endParaRPr>
          </a:p>
        </p:txBody>
      </p:sp>
      <p:sp>
        <p:nvSpPr>
          <p:cNvPr id="9" name="Rectangle 8"/>
          <p:cNvSpPr>
            <a:spLocks noChangeArrowheads="1"/>
          </p:cNvSpPr>
          <p:nvPr/>
        </p:nvSpPr>
        <p:spPr bwMode="auto">
          <a:xfrm>
            <a:off x="5399230" y="3084093"/>
            <a:ext cx="1512168" cy="57957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t>Tetragonal </a:t>
            </a:r>
            <a:r>
              <a:rPr lang="en-US" altLang="zh-CN" i="1" dirty="0">
                <a:effectLst/>
                <a:ea typeface="宋体" panose="02010600030101010101" pitchFamily="2" charset="-122"/>
              </a:rPr>
              <a:t>t</a:t>
            </a:r>
            <a:endParaRPr lang="en-US" altLang="zh-CN" dirty="0">
              <a:effectLst/>
              <a:ea typeface="宋体" panose="02010600030101010101" pitchFamily="2" charset="-122"/>
            </a:endParaRPr>
          </a:p>
        </p:txBody>
      </p:sp>
      <p:sp>
        <p:nvSpPr>
          <p:cNvPr id="10" name="Rectangle 9"/>
          <p:cNvSpPr>
            <a:spLocks noChangeArrowheads="1"/>
          </p:cNvSpPr>
          <p:nvPr/>
        </p:nvSpPr>
        <p:spPr bwMode="auto">
          <a:xfrm>
            <a:off x="7092280" y="3084093"/>
            <a:ext cx="1656184" cy="57957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t>Hexagonal </a:t>
            </a:r>
            <a:r>
              <a:rPr lang="en-US" altLang="zh-CN" i="1" dirty="0">
                <a:effectLst/>
                <a:ea typeface="宋体" panose="02010600030101010101" pitchFamily="2" charset="-122"/>
              </a:rPr>
              <a:t>h</a:t>
            </a:r>
            <a:endParaRPr lang="en-US" altLang="zh-CN" dirty="0">
              <a:effectLst/>
              <a:ea typeface="宋体" panose="02010600030101010101" pitchFamily="2" charset="-122"/>
            </a:endParaRPr>
          </a:p>
        </p:txBody>
      </p:sp>
      <p:sp>
        <p:nvSpPr>
          <p:cNvPr id="2" name="Rectangle 1"/>
          <p:cNvSpPr/>
          <p:nvPr/>
        </p:nvSpPr>
        <p:spPr>
          <a:xfrm>
            <a:off x="0" y="387074"/>
            <a:ext cx="8244407" cy="584775"/>
          </a:xfrm>
          <a:prstGeom prst="rect">
            <a:avLst/>
          </a:prstGeom>
        </p:spPr>
        <p:txBody>
          <a:bodyPr wrap="square">
            <a:spAutoFit/>
          </a:bodyPr>
          <a:lstStyle/>
          <a:p>
            <a:pPr>
              <a:spcAft>
                <a:spcPts val="0"/>
              </a:spcAft>
            </a:pPr>
            <a:r>
              <a:rPr lang="en-US" altLang="zh-CN" sz="3200" dirty="0">
                <a:latin typeface="+mn-lt"/>
                <a:cs typeface="Times New Roman" panose="02020603050405020304" pitchFamily="18" charset="0"/>
              </a:rPr>
              <a:t>Five  </a:t>
            </a:r>
            <a:r>
              <a:rPr lang="en-US" sz="3200" dirty="0">
                <a:latin typeface="+mn-lt"/>
              </a:rPr>
              <a:t>bravais</a:t>
            </a:r>
            <a:r>
              <a:rPr lang="en-US" altLang="zh-CN" sz="3200" dirty="0">
                <a:latin typeface="+mn-lt"/>
                <a:cs typeface="Times New Roman" panose="02020603050405020304" pitchFamily="18" charset="0"/>
              </a:rPr>
              <a:t> lattices for 2D patterns</a:t>
            </a:r>
            <a:endParaRPr lang="zh-CN" altLang="zh-CN" sz="3200" dirty="0">
              <a:latin typeface="+mn-lt"/>
              <a:cs typeface="Times New Roman" panose="02020603050405020304" pitchFamily="18" charset="0"/>
            </a:endParaRPr>
          </a:p>
        </p:txBody>
      </p:sp>
      <p:sp>
        <p:nvSpPr>
          <p:cNvPr id="3" name="Rectangle 2"/>
          <p:cNvSpPr/>
          <p:nvPr/>
        </p:nvSpPr>
        <p:spPr>
          <a:xfrm>
            <a:off x="2531710" y="5085184"/>
            <a:ext cx="3829059" cy="584775"/>
          </a:xfrm>
          <a:prstGeom prst="rect">
            <a:avLst/>
          </a:prstGeom>
        </p:spPr>
        <p:txBody>
          <a:bodyPr wrap="square">
            <a:spAutoFit/>
          </a:bodyPr>
          <a:lstStyle/>
          <a:p>
            <a:pPr algn="ctr">
              <a:spcAft>
                <a:spcPts val="0"/>
              </a:spcAft>
            </a:pPr>
            <a:r>
              <a:rPr lang="en-US" altLang="zh-CN" sz="3200" dirty="0">
                <a:latin typeface="+mn-lt"/>
                <a:cs typeface="Times New Roman" panose="02020603050405020304" pitchFamily="18" charset="0"/>
              </a:rPr>
              <a:t> 1, 2, 3, 4, 6</a:t>
            </a:r>
            <a:r>
              <a:rPr lang="zh-CN" altLang="en-US" sz="3200" dirty="0">
                <a:latin typeface="+mn-lt"/>
                <a:cs typeface="Times New Roman" panose="02020603050405020304" pitchFamily="18" charset="0"/>
              </a:rPr>
              <a:t> </a:t>
            </a:r>
            <a:r>
              <a:rPr lang="en-US" altLang="zh-CN" sz="3200" dirty="0">
                <a:latin typeface="+mn-lt"/>
                <a:cs typeface="Times New Roman" panose="02020603050405020304" pitchFamily="18" charset="0"/>
              </a:rPr>
              <a:t>and m</a:t>
            </a:r>
            <a:endParaRPr lang="en-US" sz="3200" dirty="0">
              <a:latin typeface="+mn-lt"/>
              <a:cs typeface="Times New Roman" panose="02020603050405020304" pitchFamily="18" charset="0"/>
            </a:endParaRPr>
          </a:p>
        </p:txBody>
      </p:sp>
    </p:spTree>
  </p:cSld>
  <p:clrMapOvr>
    <a:masterClrMapping/>
  </p:clrMapOvr>
  <p:transition spd="med">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3405" y="810366"/>
            <a:ext cx="8897327" cy="2897856"/>
            <a:chOff x="-47625" y="2619376"/>
            <a:chExt cx="9358313" cy="3047999"/>
          </a:xfrm>
        </p:grpSpPr>
        <p:grpSp>
          <p:nvGrpSpPr>
            <p:cNvPr id="5" name="Group 4"/>
            <p:cNvGrpSpPr/>
            <p:nvPr/>
          </p:nvGrpSpPr>
          <p:grpSpPr bwMode="auto">
            <a:xfrm>
              <a:off x="-31750" y="2619376"/>
              <a:ext cx="9326563" cy="3041650"/>
              <a:chOff x="-3" y="381"/>
              <a:chExt cx="3071" cy="1916"/>
            </a:xfrm>
          </p:grpSpPr>
          <p:grpSp>
            <p:nvGrpSpPr>
              <p:cNvPr id="9" name="Group 8"/>
              <p:cNvGrpSpPr/>
              <p:nvPr/>
            </p:nvGrpSpPr>
            <p:grpSpPr bwMode="auto">
              <a:xfrm>
                <a:off x="43" y="384"/>
                <a:ext cx="3022" cy="1910"/>
                <a:chOff x="43" y="384"/>
                <a:chExt cx="3022" cy="1910"/>
              </a:xfrm>
            </p:grpSpPr>
            <p:sp>
              <p:nvSpPr>
                <p:cNvPr id="84" name="Rectangle 83"/>
                <p:cNvSpPr>
                  <a:spLocks noChangeArrowheads="1"/>
                </p:cNvSpPr>
                <p:nvPr/>
              </p:nvSpPr>
              <p:spPr bwMode="auto">
                <a:xfrm>
                  <a:off x="43" y="384"/>
                  <a:ext cx="498" cy="37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Crystal system</a:t>
                  </a:r>
                  <a:endParaRPr lang="zh-CN" altLang="en-US" dirty="0">
                    <a:effectLst/>
                    <a:ea typeface="宋体" panose="02010600030101010101" pitchFamily="2" charset="-122"/>
                  </a:endParaRPr>
                </a:p>
              </p:txBody>
            </p:sp>
            <p:grpSp>
              <p:nvGrpSpPr>
                <p:cNvPr id="12" name="Group 11"/>
                <p:cNvGrpSpPr/>
                <p:nvPr/>
              </p:nvGrpSpPr>
              <p:grpSpPr bwMode="auto">
                <a:xfrm>
                  <a:off x="516" y="384"/>
                  <a:ext cx="568" cy="374"/>
                  <a:chOff x="516" y="384"/>
                  <a:chExt cx="568" cy="374"/>
                </a:xfrm>
              </p:grpSpPr>
              <p:sp>
                <p:nvSpPr>
                  <p:cNvPr id="82" name="Rectangle 81"/>
                  <p:cNvSpPr>
                    <a:spLocks noChangeArrowheads="1"/>
                  </p:cNvSpPr>
                  <p:nvPr/>
                </p:nvSpPr>
                <p:spPr bwMode="auto">
                  <a:xfrm>
                    <a:off x="516" y="384"/>
                    <a:ext cx="568" cy="37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Symmetry elements</a:t>
                    </a:r>
                    <a:endParaRPr lang="zh-CN" altLang="en-US" dirty="0">
                      <a:effectLst/>
                      <a:ea typeface="宋体" panose="02010600030101010101" pitchFamily="2" charset="-122"/>
                    </a:endParaRPr>
                  </a:p>
                </p:txBody>
              </p:sp>
              <p:sp>
                <p:nvSpPr>
                  <p:cNvPr id="83" name="Rectangle 82"/>
                  <p:cNvSpPr>
                    <a:spLocks noChangeArrowheads="1"/>
                  </p:cNvSpPr>
                  <p:nvPr/>
                </p:nvSpPr>
                <p:spPr bwMode="auto">
                  <a:xfrm>
                    <a:off x="516" y="384"/>
                    <a:ext cx="563" cy="37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13" name="Group 12"/>
                <p:cNvGrpSpPr/>
                <p:nvPr/>
              </p:nvGrpSpPr>
              <p:grpSpPr bwMode="auto">
                <a:xfrm>
                  <a:off x="1079" y="384"/>
                  <a:ext cx="662" cy="374"/>
                  <a:chOff x="1079" y="384"/>
                  <a:chExt cx="662" cy="374"/>
                </a:xfrm>
              </p:grpSpPr>
              <p:sp>
                <p:nvSpPr>
                  <p:cNvPr id="80" name="Rectangle 79"/>
                  <p:cNvSpPr>
                    <a:spLocks noChangeArrowheads="1"/>
                  </p:cNvSpPr>
                  <p:nvPr/>
                </p:nvSpPr>
                <p:spPr bwMode="auto">
                  <a:xfrm>
                    <a:off x="1122" y="384"/>
                    <a:ext cx="609" cy="37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t>Point groups</a:t>
                    </a:r>
                    <a:endParaRPr lang="zh-CN" altLang="en-US" dirty="0">
                      <a:effectLst/>
                      <a:ea typeface="宋体" panose="02010600030101010101" pitchFamily="2" charset="-122"/>
                    </a:endParaRPr>
                  </a:p>
                </p:txBody>
              </p:sp>
              <p:sp>
                <p:nvSpPr>
                  <p:cNvPr id="81" name="Rectangle 80"/>
                  <p:cNvSpPr>
                    <a:spLocks noChangeArrowheads="1"/>
                  </p:cNvSpPr>
                  <p:nvPr/>
                </p:nvSpPr>
                <p:spPr bwMode="auto">
                  <a:xfrm>
                    <a:off x="1079" y="384"/>
                    <a:ext cx="662" cy="37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14" name="Group 13"/>
                <p:cNvGrpSpPr/>
                <p:nvPr/>
              </p:nvGrpSpPr>
              <p:grpSpPr bwMode="auto">
                <a:xfrm>
                  <a:off x="1741" y="384"/>
                  <a:ext cx="734" cy="374"/>
                  <a:chOff x="1741" y="384"/>
                  <a:chExt cx="734" cy="374"/>
                </a:xfrm>
              </p:grpSpPr>
              <p:sp>
                <p:nvSpPr>
                  <p:cNvPr id="78" name="Rectangle 77"/>
                  <p:cNvSpPr>
                    <a:spLocks noChangeArrowheads="1"/>
                  </p:cNvSpPr>
                  <p:nvPr/>
                </p:nvSpPr>
                <p:spPr bwMode="auto">
                  <a:xfrm>
                    <a:off x="1784" y="384"/>
                    <a:ext cx="648" cy="37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Unit cell parameters</a:t>
                    </a:r>
                    <a:endParaRPr lang="zh-CN" altLang="en-US" dirty="0">
                      <a:effectLst/>
                      <a:ea typeface="宋体" panose="02010600030101010101" pitchFamily="2" charset="-122"/>
                    </a:endParaRPr>
                  </a:p>
                </p:txBody>
              </p:sp>
              <p:sp>
                <p:nvSpPr>
                  <p:cNvPr id="79" name="Rectangle 78"/>
                  <p:cNvSpPr>
                    <a:spLocks noChangeArrowheads="1"/>
                  </p:cNvSpPr>
                  <p:nvPr/>
                </p:nvSpPr>
                <p:spPr bwMode="auto">
                  <a:xfrm>
                    <a:off x="1741" y="384"/>
                    <a:ext cx="734" cy="37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15" name="Group 14"/>
                <p:cNvGrpSpPr/>
                <p:nvPr/>
              </p:nvGrpSpPr>
              <p:grpSpPr bwMode="auto">
                <a:xfrm>
                  <a:off x="2475" y="384"/>
                  <a:ext cx="590" cy="374"/>
                  <a:chOff x="2475" y="384"/>
                  <a:chExt cx="590" cy="374"/>
                </a:xfrm>
              </p:grpSpPr>
              <p:sp>
                <p:nvSpPr>
                  <p:cNvPr id="76" name="Rectangle 75"/>
                  <p:cNvSpPr>
                    <a:spLocks noChangeArrowheads="1"/>
                  </p:cNvSpPr>
                  <p:nvPr/>
                </p:nvSpPr>
                <p:spPr bwMode="auto">
                  <a:xfrm>
                    <a:off x="2518" y="384"/>
                    <a:ext cx="504" cy="37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t>Brava cells</a:t>
                    </a:r>
                    <a:endParaRPr lang="zh-CN" altLang="en-US" dirty="0">
                      <a:effectLst/>
                      <a:ea typeface="宋体" panose="02010600030101010101" pitchFamily="2" charset="-122"/>
                    </a:endParaRPr>
                  </a:p>
                </p:txBody>
              </p:sp>
              <p:sp>
                <p:nvSpPr>
                  <p:cNvPr id="77" name="Rectangle 76"/>
                  <p:cNvSpPr>
                    <a:spLocks noChangeArrowheads="1"/>
                  </p:cNvSpPr>
                  <p:nvPr/>
                </p:nvSpPr>
                <p:spPr bwMode="auto">
                  <a:xfrm>
                    <a:off x="2475" y="384"/>
                    <a:ext cx="590" cy="37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sp>
              <p:nvSpPr>
                <p:cNvPr id="74" name="Rectangle 73"/>
                <p:cNvSpPr>
                  <a:spLocks noChangeArrowheads="1"/>
                </p:cNvSpPr>
                <p:nvPr/>
              </p:nvSpPr>
              <p:spPr bwMode="auto">
                <a:xfrm>
                  <a:off x="43" y="758"/>
                  <a:ext cx="49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Monoclinic </a:t>
                  </a:r>
                  <a:r>
                    <a:rPr lang="en-US" altLang="zh-CN" i="1" dirty="0">
                      <a:solidFill>
                        <a:srgbClr val="FF0000"/>
                      </a:solidFill>
                      <a:effectLst/>
                      <a:ea typeface="宋体" panose="02010600030101010101" pitchFamily="2" charset="-122"/>
                    </a:rPr>
                    <a:t>m</a:t>
                  </a:r>
                  <a:endParaRPr lang="en-US" altLang="zh-CN" dirty="0">
                    <a:solidFill>
                      <a:srgbClr val="FF0000"/>
                    </a:solidFill>
                    <a:effectLst/>
                    <a:ea typeface="宋体" panose="02010600030101010101" pitchFamily="2" charset="-122"/>
                  </a:endParaRPr>
                </a:p>
              </p:txBody>
            </p:sp>
            <p:grpSp>
              <p:nvGrpSpPr>
                <p:cNvPr id="17" name="Group 16"/>
                <p:cNvGrpSpPr/>
                <p:nvPr/>
              </p:nvGrpSpPr>
              <p:grpSpPr bwMode="auto">
                <a:xfrm>
                  <a:off x="516" y="758"/>
                  <a:ext cx="563" cy="384"/>
                  <a:chOff x="516" y="758"/>
                  <a:chExt cx="563" cy="384"/>
                </a:xfrm>
              </p:grpSpPr>
              <p:sp>
                <p:nvSpPr>
                  <p:cNvPr id="72" name="Rectangle 71"/>
                  <p:cNvSpPr>
                    <a:spLocks noChangeArrowheads="1"/>
                  </p:cNvSpPr>
                  <p:nvPr/>
                </p:nvSpPr>
                <p:spPr bwMode="auto">
                  <a:xfrm>
                    <a:off x="516" y="758"/>
                    <a:ext cx="55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Only 1 or 2</a:t>
                    </a:r>
                    <a:endParaRPr lang="zh-CN" altLang="en-US" dirty="0">
                      <a:effectLst/>
                      <a:ea typeface="宋体" panose="02010600030101010101" pitchFamily="2" charset="-122"/>
                    </a:endParaRPr>
                  </a:p>
                </p:txBody>
              </p:sp>
              <p:sp>
                <p:nvSpPr>
                  <p:cNvPr id="73" name="Rectangle 72"/>
                  <p:cNvSpPr>
                    <a:spLocks noChangeArrowheads="1"/>
                  </p:cNvSpPr>
                  <p:nvPr/>
                </p:nvSpPr>
                <p:spPr bwMode="auto">
                  <a:xfrm>
                    <a:off x="516" y="758"/>
                    <a:ext cx="563"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18" name="Group 17"/>
                <p:cNvGrpSpPr/>
                <p:nvPr/>
              </p:nvGrpSpPr>
              <p:grpSpPr bwMode="auto">
                <a:xfrm>
                  <a:off x="1079" y="758"/>
                  <a:ext cx="662" cy="384"/>
                  <a:chOff x="1079" y="758"/>
                  <a:chExt cx="662" cy="384"/>
                </a:xfrm>
              </p:grpSpPr>
              <p:sp>
                <p:nvSpPr>
                  <p:cNvPr id="70" name="Rectangle 69"/>
                  <p:cNvSpPr>
                    <a:spLocks noChangeArrowheads="1"/>
                  </p:cNvSpPr>
                  <p:nvPr/>
                </p:nvSpPr>
                <p:spPr bwMode="auto">
                  <a:xfrm>
                    <a:off x="1122" y="758"/>
                    <a:ext cx="609"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dirty="0">
                        <a:effectLst/>
                        <a:ea typeface="宋体" panose="02010600030101010101" pitchFamily="2" charset="-122"/>
                      </a:rPr>
                      <a:t>1, 2</a:t>
                    </a:r>
                  </a:p>
                </p:txBody>
              </p:sp>
              <p:sp>
                <p:nvSpPr>
                  <p:cNvPr id="71" name="Rectangle 70"/>
                  <p:cNvSpPr>
                    <a:spLocks noChangeArrowheads="1"/>
                  </p:cNvSpPr>
                  <p:nvPr/>
                </p:nvSpPr>
                <p:spPr bwMode="auto">
                  <a:xfrm>
                    <a:off x="1079" y="758"/>
                    <a:ext cx="662"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19" name="Group 18"/>
                <p:cNvGrpSpPr/>
                <p:nvPr/>
              </p:nvGrpSpPr>
              <p:grpSpPr bwMode="auto">
                <a:xfrm>
                  <a:off x="1741" y="758"/>
                  <a:ext cx="734" cy="384"/>
                  <a:chOff x="1741" y="758"/>
                  <a:chExt cx="734" cy="384"/>
                </a:xfrm>
              </p:grpSpPr>
              <p:sp>
                <p:nvSpPr>
                  <p:cNvPr id="68" name="Rectangle 67"/>
                  <p:cNvSpPr>
                    <a:spLocks noChangeArrowheads="1"/>
                  </p:cNvSpPr>
                  <p:nvPr/>
                </p:nvSpPr>
                <p:spPr bwMode="auto">
                  <a:xfrm>
                    <a:off x="1784" y="758"/>
                    <a:ext cx="64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a:effectLst/>
                        <a:ea typeface="宋体" panose="02010600030101010101" pitchFamily="2" charset="-122"/>
                      </a:rPr>
                      <a:t>a </a:t>
                    </a:r>
                    <a:r>
                      <a:rPr lang="en-US" altLang="zh-CN">
                        <a:effectLst/>
                        <a:ea typeface="宋体" panose="02010600030101010101" pitchFamily="2" charset="-122"/>
                        <a:sym typeface="Symbol" panose="05050102010706020507" pitchFamily="18" charset="2"/>
                      </a:rPr>
                      <a:t></a:t>
                    </a:r>
                    <a:r>
                      <a:rPr lang="en-US" altLang="zh-CN">
                        <a:effectLst/>
                        <a:ea typeface="宋体" panose="02010600030101010101" pitchFamily="2" charset="-122"/>
                      </a:rPr>
                      <a:t> b, </a:t>
                    </a:r>
                    <a:r>
                      <a:rPr lang="en-US" altLang="zh-CN">
                        <a:effectLst/>
                        <a:ea typeface="宋体" panose="02010600030101010101" pitchFamily="2" charset="-122"/>
                        <a:sym typeface="Symbol" panose="05050102010706020507" pitchFamily="18" charset="2"/>
                      </a:rPr>
                      <a:t></a:t>
                    </a:r>
                    <a:r>
                      <a:rPr lang="en-US" altLang="zh-CN">
                        <a:effectLst/>
                        <a:ea typeface="宋体" panose="02010600030101010101" pitchFamily="2" charset="-122"/>
                      </a:rPr>
                      <a:t> </a:t>
                    </a:r>
                    <a:r>
                      <a:rPr lang="en-US" altLang="zh-CN">
                        <a:effectLst/>
                        <a:ea typeface="宋体" panose="02010600030101010101" pitchFamily="2" charset="-122"/>
                        <a:sym typeface="Symbol" panose="05050102010706020507" pitchFamily="18" charset="2"/>
                      </a:rPr>
                      <a:t></a:t>
                    </a:r>
                    <a:r>
                      <a:rPr lang="en-US" altLang="zh-CN">
                        <a:effectLst/>
                        <a:ea typeface="宋体" panose="02010600030101010101" pitchFamily="2" charset="-122"/>
                      </a:rPr>
                      <a:t> 90</a:t>
                    </a:r>
                    <a:r>
                      <a:rPr lang="en-US" altLang="zh-CN">
                        <a:effectLst/>
                        <a:ea typeface="宋体" panose="02010600030101010101" pitchFamily="2" charset="-122"/>
                        <a:sym typeface="Symbol" panose="05050102010706020507" pitchFamily="18" charset="2"/>
                      </a:rPr>
                      <a:t></a:t>
                    </a:r>
                  </a:p>
                </p:txBody>
              </p:sp>
              <p:sp>
                <p:nvSpPr>
                  <p:cNvPr id="69" name="Rectangle 68"/>
                  <p:cNvSpPr>
                    <a:spLocks noChangeArrowheads="1"/>
                  </p:cNvSpPr>
                  <p:nvPr/>
                </p:nvSpPr>
                <p:spPr bwMode="auto">
                  <a:xfrm>
                    <a:off x="1741" y="758"/>
                    <a:ext cx="734"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20" name="Group 19"/>
                <p:cNvGrpSpPr/>
                <p:nvPr/>
              </p:nvGrpSpPr>
              <p:grpSpPr bwMode="auto">
                <a:xfrm>
                  <a:off x="2475" y="758"/>
                  <a:ext cx="590" cy="384"/>
                  <a:chOff x="2475" y="758"/>
                  <a:chExt cx="590" cy="384"/>
                </a:xfrm>
              </p:grpSpPr>
              <p:sp>
                <p:nvSpPr>
                  <p:cNvPr id="66" name="Rectangle 65"/>
                  <p:cNvSpPr>
                    <a:spLocks noChangeArrowheads="1"/>
                  </p:cNvSpPr>
                  <p:nvPr/>
                </p:nvSpPr>
                <p:spPr bwMode="auto">
                  <a:xfrm>
                    <a:off x="2518" y="758"/>
                    <a:ext cx="504"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i="1">
                        <a:effectLst/>
                        <a:ea typeface="宋体" panose="02010600030101010101" pitchFamily="2" charset="-122"/>
                      </a:rPr>
                      <a:t>mp</a:t>
                    </a:r>
                    <a:endParaRPr lang="en-US" altLang="zh-CN">
                      <a:effectLst/>
                      <a:ea typeface="宋体" panose="02010600030101010101" pitchFamily="2" charset="-122"/>
                    </a:endParaRPr>
                  </a:p>
                </p:txBody>
              </p:sp>
              <p:sp>
                <p:nvSpPr>
                  <p:cNvPr id="67" name="Rectangle 66"/>
                  <p:cNvSpPr>
                    <a:spLocks noChangeArrowheads="1"/>
                  </p:cNvSpPr>
                  <p:nvPr/>
                </p:nvSpPr>
                <p:spPr bwMode="auto">
                  <a:xfrm>
                    <a:off x="2475" y="758"/>
                    <a:ext cx="590"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sp>
              <p:nvSpPr>
                <p:cNvPr id="64" name="Rectangle 63"/>
                <p:cNvSpPr>
                  <a:spLocks noChangeArrowheads="1"/>
                </p:cNvSpPr>
                <p:nvPr/>
              </p:nvSpPr>
              <p:spPr bwMode="auto">
                <a:xfrm>
                  <a:off x="43" y="1142"/>
                  <a:ext cx="49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Orthorhombic </a:t>
                  </a:r>
                  <a:r>
                    <a:rPr lang="en-US" altLang="zh-CN" dirty="0">
                      <a:solidFill>
                        <a:srgbClr val="FF0000"/>
                      </a:solidFill>
                    </a:rPr>
                    <a:t>o</a:t>
                  </a:r>
                </a:p>
              </p:txBody>
            </p:sp>
            <p:grpSp>
              <p:nvGrpSpPr>
                <p:cNvPr id="22" name="Group 21"/>
                <p:cNvGrpSpPr/>
                <p:nvPr/>
              </p:nvGrpSpPr>
              <p:grpSpPr bwMode="auto">
                <a:xfrm>
                  <a:off x="516" y="1142"/>
                  <a:ext cx="563" cy="384"/>
                  <a:chOff x="516" y="1142"/>
                  <a:chExt cx="563" cy="384"/>
                </a:xfrm>
              </p:grpSpPr>
              <p:sp>
                <p:nvSpPr>
                  <p:cNvPr id="62" name="Rectangle 61"/>
                  <p:cNvSpPr>
                    <a:spLocks noChangeArrowheads="1"/>
                  </p:cNvSpPr>
                  <p:nvPr/>
                </p:nvSpPr>
                <p:spPr bwMode="auto">
                  <a:xfrm>
                    <a:off x="516" y="1142"/>
                    <a:ext cx="55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effectLst/>
                        <a:ea typeface="宋体" panose="02010600030101010101" pitchFamily="2" charset="-122"/>
                      </a:rPr>
                      <a:t>m</a:t>
                    </a:r>
                  </a:p>
                </p:txBody>
              </p:sp>
              <p:sp>
                <p:nvSpPr>
                  <p:cNvPr id="63" name="Rectangle 62"/>
                  <p:cNvSpPr>
                    <a:spLocks noChangeArrowheads="1"/>
                  </p:cNvSpPr>
                  <p:nvPr/>
                </p:nvSpPr>
                <p:spPr bwMode="auto">
                  <a:xfrm>
                    <a:off x="516" y="1142"/>
                    <a:ext cx="563"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23" name="Group 22"/>
                <p:cNvGrpSpPr/>
                <p:nvPr/>
              </p:nvGrpSpPr>
              <p:grpSpPr bwMode="auto">
                <a:xfrm>
                  <a:off x="1079" y="1142"/>
                  <a:ext cx="662" cy="384"/>
                  <a:chOff x="1079" y="1142"/>
                  <a:chExt cx="662" cy="384"/>
                </a:xfrm>
              </p:grpSpPr>
              <p:sp>
                <p:nvSpPr>
                  <p:cNvPr id="60" name="Rectangle 59"/>
                  <p:cNvSpPr>
                    <a:spLocks noChangeArrowheads="1"/>
                  </p:cNvSpPr>
                  <p:nvPr/>
                </p:nvSpPr>
                <p:spPr bwMode="auto">
                  <a:xfrm>
                    <a:off x="1122" y="1142"/>
                    <a:ext cx="609"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dirty="0">
                        <a:effectLst/>
                        <a:ea typeface="宋体" panose="02010600030101010101" pitchFamily="2" charset="-122"/>
                      </a:rPr>
                      <a:t>1</a:t>
                    </a:r>
                    <a:r>
                      <a:rPr lang="en-US" altLang="zh-CN" dirty="0">
                        <a:effectLst/>
                        <a:ea typeface="宋体" panose="02010600030101010101" pitchFamily="2" charset="-122"/>
                      </a:rPr>
                      <a:t>m, 2mm</a:t>
                    </a:r>
                  </a:p>
                </p:txBody>
              </p:sp>
              <p:sp>
                <p:nvSpPr>
                  <p:cNvPr id="61" name="Rectangle 60"/>
                  <p:cNvSpPr>
                    <a:spLocks noChangeArrowheads="1"/>
                  </p:cNvSpPr>
                  <p:nvPr/>
                </p:nvSpPr>
                <p:spPr bwMode="auto">
                  <a:xfrm>
                    <a:off x="1079" y="1142"/>
                    <a:ext cx="662"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24" name="Group 23"/>
                <p:cNvGrpSpPr/>
                <p:nvPr/>
              </p:nvGrpSpPr>
              <p:grpSpPr bwMode="auto">
                <a:xfrm>
                  <a:off x="1741" y="1142"/>
                  <a:ext cx="734" cy="384"/>
                  <a:chOff x="1741" y="1142"/>
                  <a:chExt cx="734" cy="384"/>
                </a:xfrm>
              </p:grpSpPr>
              <p:sp>
                <p:nvSpPr>
                  <p:cNvPr id="58" name="Rectangle 57"/>
                  <p:cNvSpPr>
                    <a:spLocks noChangeArrowheads="1"/>
                  </p:cNvSpPr>
                  <p:nvPr/>
                </p:nvSpPr>
                <p:spPr bwMode="auto">
                  <a:xfrm>
                    <a:off x="1784" y="1142"/>
                    <a:ext cx="64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a:effectLst/>
                        <a:ea typeface="宋体" panose="02010600030101010101" pitchFamily="2" charset="-122"/>
                      </a:rPr>
                      <a:t>a </a:t>
                    </a:r>
                    <a:r>
                      <a:rPr lang="en-US" altLang="zh-CN">
                        <a:effectLst/>
                        <a:ea typeface="宋体" panose="02010600030101010101" pitchFamily="2" charset="-122"/>
                        <a:sym typeface="Symbol" panose="05050102010706020507" pitchFamily="18" charset="2"/>
                      </a:rPr>
                      <a:t></a:t>
                    </a:r>
                    <a:r>
                      <a:rPr lang="en-US" altLang="zh-CN">
                        <a:effectLst/>
                        <a:ea typeface="宋体" panose="02010600030101010101" pitchFamily="2" charset="-122"/>
                      </a:rPr>
                      <a:t> b, </a:t>
                    </a:r>
                    <a:r>
                      <a:rPr lang="en-US" altLang="zh-CN">
                        <a:effectLst/>
                        <a:ea typeface="宋体" panose="02010600030101010101" pitchFamily="2" charset="-122"/>
                        <a:sym typeface="Symbol" panose="05050102010706020507" pitchFamily="18" charset="2"/>
                      </a:rPr>
                      <a:t></a:t>
                    </a:r>
                    <a:r>
                      <a:rPr lang="en-US" altLang="zh-CN">
                        <a:effectLst/>
                        <a:ea typeface="宋体" panose="02010600030101010101" pitchFamily="2" charset="-122"/>
                      </a:rPr>
                      <a:t> = 90</a:t>
                    </a:r>
                    <a:r>
                      <a:rPr lang="en-US" altLang="zh-CN">
                        <a:effectLst/>
                        <a:ea typeface="宋体" panose="02010600030101010101" pitchFamily="2" charset="-122"/>
                        <a:sym typeface="Symbol" panose="05050102010706020507" pitchFamily="18" charset="2"/>
                      </a:rPr>
                      <a:t></a:t>
                    </a:r>
                  </a:p>
                </p:txBody>
              </p:sp>
              <p:sp>
                <p:nvSpPr>
                  <p:cNvPr id="59" name="Rectangle 58"/>
                  <p:cNvSpPr>
                    <a:spLocks noChangeArrowheads="1"/>
                  </p:cNvSpPr>
                  <p:nvPr/>
                </p:nvSpPr>
                <p:spPr bwMode="auto">
                  <a:xfrm>
                    <a:off x="1741" y="1142"/>
                    <a:ext cx="734"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25" name="Group 24"/>
                <p:cNvGrpSpPr/>
                <p:nvPr/>
              </p:nvGrpSpPr>
              <p:grpSpPr bwMode="auto">
                <a:xfrm>
                  <a:off x="2475" y="1142"/>
                  <a:ext cx="590" cy="384"/>
                  <a:chOff x="2475" y="1142"/>
                  <a:chExt cx="590" cy="384"/>
                </a:xfrm>
              </p:grpSpPr>
              <p:sp>
                <p:nvSpPr>
                  <p:cNvPr id="56" name="Rectangle 55"/>
                  <p:cNvSpPr>
                    <a:spLocks noChangeArrowheads="1"/>
                  </p:cNvSpPr>
                  <p:nvPr/>
                </p:nvSpPr>
                <p:spPr bwMode="auto">
                  <a:xfrm>
                    <a:off x="2518" y="1142"/>
                    <a:ext cx="504"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i="1">
                        <a:effectLst/>
                        <a:ea typeface="宋体" panose="02010600030101010101" pitchFamily="2" charset="-122"/>
                      </a:rPr>
                      <a:t>op,oc</a:t>
                    </a:r>
                    <a:endParaRPr lang="en-US" altLang="zh-CN">
                      <a:effectLst/>
                      <a:ea typeface="宋体" panose="02010600030101010101" pitchFamily="2" charset="-122"/>
                    </a:endParaRPr>
                  </a:p>
                </p:txBody>
              </p:sp>
              <p:sp>
                <p:nvSpPr>
                  <p:cNvPr id="57" name="Rectangle 56"/>
                  <p:cNvSpPr>
                    <a:spLocks noChangeArrowheads="1"/>
                  </p:cNvSpPr>
                  <p:nvPr/>
                </p:nvSpPr>
                <p:spPr bwMode="auto">
                  <a:xfrm>
                    <a:off x="2475" y="1142"/>
                    <a:ext cx="590"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sp>
              <p:nvSpPr>
                <p:cNvPr id="54" name="Rectangle 53"/>
                <p:cNvSpPr>
                  <a:spLocks noChangeArrowheads="1"/>
                </p:cNvSpPr>
                <p:nvPr/>
              </p:nvSpPr>
              <p:spPr bwMode="auto">
                <a:xfrm>
                  <a:off x="43" y="1526"/>
                  <a:ext cx="473"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Tetragonal </a:t>
                  </a:r>
                  <a:r>
                    <a:rPr lang="en-US" altLang="zh-CN" dirty="0">
                      <a:solidFill>
                        <a:srgbClr val="FF0000"/>
                      </a:solidFill>
                    </a:rPr>
                    <a:t>t</a:t>
                  </a:r>
                </a:p>
              </p:txBody>
            </p:sp>
            <p:grpSp>
              <p:nvGrpSpPr>
                <p:cNvPr id="27" name="Group 26"/>
                <p:cNvGrpSpPr/>
                <p:nvPr/>
              </p:nvGrpSpPr>
              <p:grpSpPr bwMode="auto">
                <a:xfrm>
                  <a:off x="541" y="1526"/>
                  <a:ext cx="538" cy="384"/>
                  <a:chOff x="541" y="1526"/>
                  <a:chExt cx="538" cy="384"/>
                </a:xfrm>
              </p:grpSpPr>
              <p:sp>
                <p:nvSpPr>
                  <p:cNvPr id="52" name="Rectangle 51"/>
                  <p:cNvSpPr>
                    <a:spLocks noChangeArrowheads="1"/>
                  </p:cNvSpPr>
                  <p:nvPr/>
                </p:nvSpPr>
                <p:spPr bwMode="auto">
                  <a:xfrm>
                    <a:off x="541" y="1526"/>
                    <a:ext cx="533"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dirty="0">
                        <a:effectLst/>
                        <a:ea typeface="宋体" panose="02010600030101010101" pitchFamily="2" charset="-122"/>
                      </a:rPr>
                      <a:t>4</a:t>
                    </a:r>
                  </a:p>
                </p:txBody>
              </p:sp>
              <p:sp>
                <p:nvSpPr>
                  <p:cNvPr id="53" name="Rectangle 52"/>
                  <p:cNvSpPr>
                    <a:spLocks noChangeArrowheads="1"/>
                  </p:cNvSpPr>
                  <p:nvPr/>
                </p:nvSpPr>
                <p:spPr bwMode="auto">
                  <a:xfrm>
                    <a:off x="541" y="1526"/>
                    <a:ext cx="538"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28" name="Group 27"/>
                <p:cNvGrpSpPr/>
                <p:nvPr/>
              </p:nvGrpSpPr>
              <p:grpSpPr bwMode="auto">
                <a:xfrm>
                  <a:off x="1079" y="1526"/>
                  <a:ext cx="662" cy="384"/>
                  <a:chOff x="1079" y="1526"/>
                  <a:chExt cx="662" cy="384"/>
                </a:xfrm>
              </p:grpSpPr>
              <p:sp>
                <p:nvSpPr>
                  <p:cNvPr id="50" name="Rectangle 49"/>
                  <p:cNvSpPr>
                    <a:spLocks noChangeArrowheads="1"/>
                  </p:cNvSpPr>
                  <p:nvPr/>
                </p:nvSpPr>
                <p:spPr bwMode="auto">
                  <a:xfrm>
                    <a:off x="1122" y="1526"/>
                    <a:ext cx="609"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dirty="0">
                        <a:effectLst/>
                        <a:ea typeface="宋体" panose="02010600030101010101" pitchFamily="2" charset="-122"/>
                      </a:rPr>
                      <a:t>4, 4</a:t>
                    </a:r>
                    <a:r>
                      <a:rPr lang="en-US" altLang="zh-CN" dirty="0">
                        <a:effectLst/>
                        <a:ea typeface="宋体" panose="02010600030101010101" pitchFamily="2" charset="-122"/>
                      </a:rPr>
                      <a:t>mm</a:t>
                    </a:r>
                  </a:p>
                </p:txBody>
              </p:sp>
              <p:sp>
                <p:nvSpPr>
                  <p:cNvPr id="51" name="Rectangle 50"/>
                  <p:cNvSpPr>
                    <a:spLocks noChangeArrowheads="1"/>
                  </p:cNvSpPr>
                  <p:nvPr/>
                </p:nvSpPr>
                <p:spPr bwMode="auto">
                  <a:xfrm>
                    <a:off x="1079" y="1526"/>
                    <a:ext cx="662"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29" name="Group 28"/>
                <p:cNvGrpSpPr/>
                <p:nvPr/>
              </p:nvGrpSpPr>
              <p:grpSpPr bwMode="auto">
                <a:xfrm>
                  <a:off x="1741" y="1526"/>
                  <a:ext cx="734" cy="384"/>
                  <a:chOff x="1741" y="1526"/>
                  <a:chExt cx="734" cy="384"/>
                </a:xfrm>
              </p:grpSpPr>
              <p:sp>
                <p:nvSpPr>
                  <p:cNvPr id="48" name="Rectangle 47"/>
                  <p:cNvSpPr>
                    <a:spLocks noChangeArrowheads="1"/>
                  </p:cNvSpPr>
                  <p:nvPr/>
                </p:nvSpPr>
                <p:spPr bwMode="auto">
                  <a:xfrm>
                    <a:off x="1784" y="1526"/>
                    <a:ext cx="64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dirty="0">
                        <a:effectLst/>
                        <a:ea typeface="宋体" panose="02010600030101010101" pitchFamily="2" charset="-122"/>
                      </a:rPr>
                      <a:t>a = b, </a:t>
                    </a:r>
                    <a:r>
                      <a:rPr lang="en-US" altLang="zh-CN" dirty="0">
                        <a:effectLst/>
                        <a:ea typeface="宋体" panose="02010600030101010101" pitchFamily="2" charset="-122"/>
                        <a:sym typeface="Symbol" panose="05050102010706020507" pitchFamily="18" charset="2"/>
                      </a:rPr>
                      <a:t></a:t>
                    </a:r>
                    <a:r>
                      <a:rPr lang="en-US" altLang="zh-CN" dirty="0">
                        <a:effectLst/>
                        <a:ea typeface="宋体" panose="02010600030101010101" pitchFamily="2" charset="-122"/>
                      </a:rPr>
                      <a:t> = 90</a:t>
                    </a:r>
                    <a:r>
                      <a:rPr lang="en-US" altLang="zh-CN" dirty="0">
                        <a:effectLst/>
                        <a:ea typeface="宋体" panose="02010600030101010101" pitchFamily="2" charset="-122"/>
                        <a:sym typeface="Symbol" panose="05050102010706020507" pitchFamily="18" charset="2"/>
                      </a:rPr>
                      <a:t></a:t>
                    </a:r>
                  </a:p>
                </p:txBody>
              </p:sp>
              <p:sp>
                <p:nvSpPr>
                  <p:cNvPr id="49" name="Rectangle 48"/>
                  <p:cNvSpPr>
                    <a:spLocks noChangeArrowheads="1"/>
                  </p:cNvSpPr>
                  <p:nvPr/>
                </p:nvSpPr>
                <p:spPr bwMode="auto">
                  <a:xfrm>
                    <a:off x="1741" y="1526"/>
                    <a:ext cx="734"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30" name="Group 29"/>
                <p:cNvGrpSpPr/>
                <p:nvPr/>
              </p:nvGrpSpPr>
              <p:grpSpPr bwMode="auto">
                <a:xfrm>
                  <a:off x="2475" y="1526"/>
                  <a:ext cx="590" cy="384"/>
                  <a:chOff x="2475" y="1526"/>
                  <a:chExt cx="590" cy="384"/>
                </a:xfrm>
              </p:grpSpPr>
              <p:sp>
                <p:nvSpPr>
                  <p:cNvPr id="46" name="Rectangle 45"/>
                  <p:cNvSpPr>
                    <a:spLocks noChangeArrowheads="1"/>
                  </p:cNvSpPr>
                  <p:nvPr/>
                </p:nvSpPr>
                <p:spPr bwMode="auto">
                  <a:xfrm>
                    <a:off x="2518" y="1526"/>
                    <a:ext cx="504"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i="1">
                        <a:effectLst/>
                        <a:ea typeface="宋体" panose="02010600030101010101" pitchFamily="2" charset="-122"/>
                      </a:rPr>
                      <a:t>tp</a:t>
                    </a:r>
                    <a:endParaRPr lang="en-US" altLang="zh-CN">
                      <a:effectLst/>
                      <a:ea typeface="宋体" panose="02010600030101010101" pitchFamily="2" charset="-122"/>
                    </a:endParaRPr>
                  </a:p>
                </p:txBody>
              </p:sp>
              <p:sp>
                <p:nvSpPr>
                  <p:cNvPr id="47" name="Rectangle 46"/>
                  <p:cNvSpPr>
                    <a:spLocks noChangeArrowheads="1"/>
                  </p:cNvSpPr>
                  <p:nvPr/>
                </p:nvSpPr>
                <p:spPr bwMode="auto">
                  <a:xfrm>
                    <a:off x="2475" y="1526"/>
                    <a:ext cx="590"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sp>
              <p:nvSpPr>
                <p:cNvPr id="44" name="Rectangle 43"/>
                <p:cNvSpPr>
                  <a:spLocks noChangeArrowheads="1"/>
                </p:cNvSpPr>
                <p:nvPr/>
              </p:nvSpPr>
              <p:spPr bwMode="auto">
                <a:xfrm>
                  <a:off x="43" y="1910"/>
                  <a:ext cx="473"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Hexagonal </a:t>
                  </a:r>
                  <a:r>
                    <a:rPr lang="en-US" altLang="zh-CN" dirty="0">
                      <a:solidFill>
                        <a:srgbClr val="FF0000"/>
                      </a:solidFill>
                    </a:rPr>
                    <a:t>h</a:t>
                  </a:r>
                </a:p>
              </p:txBody>
            </p:sp>
            <p:grpSp>
              <p:nvGrpSpPr>
                <p:cNvPr id="32" name="Group 31"/>
                <p:cNvGrpSpPr/>
                <p:nvPr/>
              </p:nvGrpSpPr>
              <p:grpSpPr bwMode="auto">
                <a:xfrm>
                  <a:off x="516" y="1910"/>
                  <a:ext cx="563" cy="384"/>
                  <a:chOff x="516" y="1910"/>
                  <a:chExt cx="563" cy="384"/>
                </a:xfrm>
              </p:grpSpPr>
              <p:sp>
                <p:nvSpPr>
                  <p:cNvPr id="42" name="Rectangle 41"/>
                  <p:cNvSpPr>
                    <a:spLocks noChangeArrowheads="1"/>
                  </p:cNvSpPr>
                  <p:nvPr/>
                </p:nvSpPr>
                <p:spPr bwMode="auto">
                  <a:xfrm>
                    <a:off x="541" y="1910"/>
                    <a:ext cx="533"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dirty="0"/>
                      <a:t>3 or </a:t>
                    </a:r>
                    <a:r>
                      <a:rPr lang="zh-CN" altLang="en-US" dirty="0">
                        <a:effectLst/>
                        <a:ea typeface="宋体" panose="02010600030101010101" pitchFamily="2" charset="-122"/>
                      </a:rPr>
                      <a:t>6</a:t>
                    </a:r>
                  </a:p>
                </p:txBody>
              </p:sp>
              <p:sp>
                <p:nvSpPr>
                  <p:cNvPr id="43" name="Rectangle 42"/>
                  <p:cNvSpPr>
                    <a:spLocks noChangeArrowheads="1"/>
                  </p:cNvSpPr>
                  <p:nvPr/>
                </p:nvSpPr>
                <p:spPr bwMode="auto">
                  <a:xfrm>
                    <a:off x="516" y="1910"/>
                    <a:ext cx="563"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33" name="Group 32"/>
                <p:cNvGrpSpPr/>
                <p:nvPr/>
              </p:nvGrpSpPr>
              <p:grpSpPr bwMode="auto">
                <a:xfrm>
                  <a:off x="1079" y="1910"/>
                  <a:ext cx="662" cy="384"/>
                  <a:chOff x="1079" y="1910"/>
                  <a:chExt cx="662" cy="384"/>
                </a:xfrm>
              </p:grpSpPr>
              <p:sp>
                <p:nvSpPr>
                  <p:cNvPr id="40" name="Rectangle 39"/>
                  <p:cNvSpPr>
                    <a:spLocks noChangeArrowheads="1"/>
                  </p:cNvSpPr>
                  <p:nvPr/>
                </p:nvSpPr>
                <p:spPr bwMode="auto">
                  <a:xfrm>
                    <a:off x="1122" y="1910"/>
                    <a:ext cx="609"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dirty="0">
                        <a:effectLst/>
                        <a:ea typeface="宋体" panose="02010600030101010101" pitchFamily="2" charset="-122"/>
                      </a:rPr>
                      <a:t>3, 3</a:t>
                    </a:r>
                    <a:r>
                      <a:rPr lang="en-US" altLang="zh-CN" dirty="0">
                        <a:effectLst/>
                        <a:ea typeface="宋体" panose="02010600030101010101" pitchFamily="2" charset="-122"/>
                      </a:rPr>
                      <a:t>m, 6, 6mm</a:t>
                    </a:r>
                  </a:p>
                </p:txBody>
              </p:sp>
              <p:sp>
                <p:nvSpPr>
                  <p:cNvPr id="41" name="Rectangle 40"/>
                  <p:cNvSpPr>
                    <a:spLocks noChangeArrowheads="1"/>
                  </p:cNvSpPr>
                  <p:nvPr/>
                </p:nvSpPr>
                <p:spPr bwMode="auto">
                  <a:xfrm>
                    <a:off x="1079" y="1910"/>
                    <a:ext cx="662"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34" name="Group 33"/>
                <p:cNvGrpSpPr/>
                <p:nvPr/>
              </p:nvGrpSpPr>
              <p:grpSpPr bwMode="auto">
                <a:xfrm>
                  <a:off x="1741" y="1910"/>
                  <a:ext cx="734" cy="384"/>
                  <a:chOff x="1741" y="1910"/>
                  <a:chExt cx="734" cy="384"/>
                </a:xfrm>
              </p:grpSpPr>
              <p:sp>
                <p:nvSpPr>
                  <p:cNvPr id="38" name="Rectangle 37"/>
                  <p:cNvSpPr>
                    <a:spLocks noChangeArrowheads="1"/>
                  </p:cNvSpPr>
                  <p:nvPr/>
                </p:nvSpPr>
                <p:spPr bwMode="auto">
                  <a:xfrm>
                    <a:off x="1784" y="1910"/>
                    <a:ext cx="648"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a:effectLst/>
                        <a:ea typeface="宋体" panose="02010600030101010101" pitchFamily="2" charset="-122"/>
                      </a:rPr>
                      <a:t>a = b, </a:t>
                    </a:r>
                    <a:r>
                      <a:rPr lang="en-US" altLang="zh-CN">
                        <a:effectLst/>
                        <a:ea typeface="宋体" panose="02010600030101010101" pitchFamily="2" charset="-122"/>
                        <a:sym typeface="Symbol" panose="05050102010706020507" pitchFamily="18" charset="2"/>
                      </a:rPr>
                      <a:t></a:t>
                    </a:r>
                    <a:r>
                      <a:rPr lang="en-US" altLang="zh-CN">
                        <a:effectLst/>
                        <a:ea typeface="宋体" panose="02010600030101010101" pitchFamily="2" charset="-122"/>
                      </a:rPr>
                      <a:t> = 120</a:t>
                    </a:r>
                    <a:r>
                      <a:rPr lang="en-US" altLang="zh-CN">
                        <a:effectLst/>
                        <a:ea typeface="宋体" panose="02010600030101010101" pitchFamily="2" charset="-122"/>
                        <a:sym typeface="Symbol" panose="05050102010706020507" pitchFamily="18" charset="2"/>
                      </a:rPr>
                      <a:t></a:t>
                    </a:r>
                  </a:p>
                </p:txBody>
              </p:sp>
              <p:sp>
                <p:nvSpPr>
                  <p:cNvPr id="39" name="Rectangle 38"/>
                  <p:cNvSpPr>
                    <a:spLocks noChangeArrowheads="1"/>
                  </p:cNvSpPr>
                  <p:nvPr/>
                </p:nvSpPr>
                <p:spPr bwMode="auto">
                  <a:xfrm>
                    <a:off x="1741" y="1910"/>
                    <a:ext cx="734"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nvGrpSpPr>
                <p:cNvPr id="35" name="Group 34"/>
                <p:cNvGrpSpPr/>
                <p:nvPr/>
              </p:nvGrpSpPr>
              <p:grpSpPr bwMode="auto">
                <a:xfrm>
                  <a:off x="2475" y="1910"/>
                  <a:ext cx="590" cy="384"/>
                  <a:chOff x="2475" y="1910"/>
                  <a:chExt cx="590" cy="384"/>
                </a:xfrm>
              </p:grpSpPr>
              <p:sp>
                <p:nvSpPr>
                  <p:cNvPr id="36" name="Rectangle 35"/>
                  <p:cNvSpPr>
                    <a:spLocks noChangeArrowheads="1"/>
                  </p:cNvSpPr>
                  <p:nvPr/>
                </p:nvSpPr>
                <p:spPr bwMode="auto">
                  <a:xfrm>
                    <a:off x="2518" y="1910"/>
                    <a:ext cx="504"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r>
                      <a:rPr lang="en-US" altLang="zh-CN" i="1">
                        <a:effectLst/>
                        <a:ea typeface="宋体" panose="02010600030101010101" pitchFamily="2" charset="-122"/>
                      </a:rPr>
                      <a:t>hp</a:t>
                    </a:r>
                    <a:endParaRPr lang="en-US" altLang="zh-CN">
                      <a:effectLst/>
                      <a:ea typeface="宋体" panose="02010600030101010101" pitchFamily="2" charset="-122"/>
                    </a:endParaRPr>
                  </a:p>
                </p:txBody>
              </p:sp>
              <p:sp>
                <p:nvSpPr>
                  <p:cNvPr id="37" name="Rectangle 36"/>
                  <p:cNvSpPr>
                    <a:spLocks noChangeArrowheads="1"/>
                  </p:cNvSpPr>
                  <p:nvPr/>
                </p:nvSpPr>
                <p:spPr bwMode="auto">
                  <a:xfrm>
                    <a:off x="2475" y="1910"/>
                    <a:ext cx="590" cy="384"/>
                  </a:xfrm>
                  <a:prstGeom prst="rect">
                    <a:avLst/>
                  </a:prstGeom>
                  <a:noFill/>
                  <a:ln w="7">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grpSp>
          <p:sp>
            <p:nvSpPr>
              <p:cNvPr id="10" name="Rectangle 9"/>
              <p:cNvSpPr>
                <a:spLocks noChangeArrowheads="1"/>
              </p:cNvSpPr>
              <p:nvPr/>
            </p:nvSpPr>
            <p:spPr bwMode="auto">
              <a:xfrm>
                <a:off x="-3" y="381"/>
                <a:ext cx="3071" cy="191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sp>
          <p:nvSpPr>
            <p:cNvPr id="6" name="Line 1106"/>
            <p:cNvSpPr>
              <a:spLocks noChangeShapeType="1"/>
            </p:cNvSpPr>
            <p:nvPr/>
          </p:nvSpPr>
          <p:spPr bwMode="auto">
            <a:xfrm>
              <a:off x="-31750" y="3213100"/>
              <a:ext cx="934243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sp>
          <p:nvSpPr>
            <p:cNvPr id="7" name="Line 1107"/>
            <p:cNvSpPr>
              <a:spLocks noChangeShapeType="1"/>
            </p:cNvSpPr>
            <p:nvPr/>
          </p:nvSpPr>
          <p:spPr bwMode="auto">
            <a:xfrm>
              <a:off x="-38100" y="5667375"/>
              <a:ext cx="934243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sp>
          <p:nvSpPr>
            <p:cNvPr id="8" name="Line 1108"/>
            <p:cNvSpPr>
              <a:spLocks noChangeShapeType="1"/>
            </p:cNvSpPr>
            <p:nvPr/>
          </p:nvSpPr>
          <p:spPr bwMode="auto">
            <a:xfrm>
              <a:off x="-47625" y="2625725"/>
              <a:ext cx="934243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a:lstStyle>
            <a:p>
              <a:endParaRPr lang="en-US" sz="1600"/>
            </a:p>
          </p:txBody>
        </p:sp>
      </p:grpSp>
      <p:sp>
        <p:nvSpPr>
          <p:cNvPr id="87" name="Rectangle 86"/>
          <p:cNvSpPr/>
          <p:nvPr/>
        </p:nvSpPr>
        <p:spPr>
          <a:xfrm>
            <a:off x="141625" y="4154304"/>
            <a:ext cx="8765352" cy="1938992"/>
          </a:xfrm>
          <a:prstGeom prst="rect">
            <a:avLst/>
          </a:prstGeom>
        </p:spPr>
        <p:txBody>
          <a:bodyPr wrap="square">
            <a:spAutoFit/>
          </a:bodyPr>
          <a:lstStyle/>
          <a:p>
            <a:pPr algn="just">
              <a:lnSpc>
                <a:spcPct val="150000"/>
              </a:lnSpc>
              <a:buFontTx/>
              <a:buChar char="•"/>
            </a:pPr>
            <a:r>
              <a:rPr lang="en-US" altLang="zh-CN" sz="2000" b="0" dirty="0">
                <a:solidFill>
                  <a:srgbClr val="000000"/>
                </a:solidFill>
                <a:latin typeface="+mn-lt"/>
              </a:rPr>
              <a:t> 4</a:t>
            </a:r>
            <a:r>
              <a:rPr lang="zh-CN" altLang="en-US" sz="2000" b="0" dirty="0">
                <a:solidFill>
                  <a:srgbClr val="000000"/>
                </a:solidFill>
                <a:latin typeface="+mn-lt"/>
              </a:rPr>
              <a:t> </a:t>
            </a:r>
            <a:r>
              <a:rPr lang="en-US" altLang="zh-CN" sz="2000" b="0" dirty="0">
                <a:solidFill>
                  <a:srgbClr val="000000"/>
                </a:solidFill>
                <a:latin typeface="+mn-lt"/>
              </a:rPr>
              <a:t>crystal systems, 5 </a:t>
            </a:r>
            <a:r>
              <a:rPr lang="en-US" altLang="zh-CN" sz="2000" b="0" dirty="0">
                <a:latin typeface="+mn-lt"/>
              </a:rPr>
              <a:t>Brava cells/unit cells</a:t>
            </a:r>
            <a:r>
              <a:rPr lang="zh-CN" altLang="en-US" sz="2000" b="0" dirty="0">
                <a:solidFill>
                  <a:srgbClr val="000000"/>
                </a:solidFill>
                <a:latin typeface="+mn-lt"/>
              </a:rPr>
              <a:t>；</a:t>
            </a:r>
            <a:endParaRPr lang="en-US" altLang="zh-CN" sz="2000" b="0" dirty="0">
              <a:solidFill>
                <a:srgbClr val="000000"/>
              </a:solidFill>
              <a:latin typeface="+mn-lt"/>
            </a:endParaRPr>
          </a:p>
          <a:p>
            <a:pPr lvl="0" algn="just">
              <a:lnSpc>
                <a:spcPct val="150000"/>
              </a:lnSpc>
              <a:buFontTx/>
              <a:buChar char="•"/>
            </a:pPr>
            <a:r>
              <a:rPr lang="en-US" altLang="zh-CN" sz="2000" b="0" dirty="0">
                <a:solidFill>
                  <a:srgbClr val="000000"/>
                </a:solidFill>
                <a:latin typeface="+mn-lt"/>
              </a:rPr>
              <a:t> 6 symmetry elements, namely 1,2,3,4,6</a:t>
            </a:r>
            <a:r>
              <a:rPr lang="zh-CN" altLang="en-US" sz="2000" b="0" dirty="0">
                <a:solidFill>
                  <a:srgbClr val="000000"/>
                </a:solidFill>
                <a:latin typeface="+mn-lt"/>
              </a:rPr>
              <a:t> </a:t>
            </a:r>
            <a:r>
              <a:rPr lang="en-US" altLang="zh-CN" sz="2000" b="0" dirty="0">
                <a:solidFill>
                  <a:srgbClr val="000000"/>
                </a:solidFill>
                <a:latin typeface="+mn-lt"/>
              </a:rPr>
              <a:t>and </a:t>
            </a:r>
            <a:r>
              <a:rPr lang="en-US" altLang="zh-CN" sz="2000" b="0" dirty="0">
                <a:solidFill>
                  <a:srgbClr val="FF0000"/>
                </a:solidFill>
                <a:latin typeface="+mn-lt"/>
              </a:rPr>
              <a:t>m</a:t>
            </a:r>
            <a:r>
              <a:rPr lang="zh-CN" altLang="en-US" sz="2000" b="0" dirty="0">
                <a:solidFill>
                  <a:srgbClr val="000000"/>
                </a:solidFill>
                <a:latin typeface="+mn-lt"/>
              </a:rPr>
              <a:t>；</a:t>
            </a:r>
            <a:endParaRPr lang="en-US" altLang="zh-CN" sz="2000" b="0" dirty="0">
              <a:solidFill>
                <a:srgbClr val="000000"/>
              </a:solidFill>
              <a:latin typeface="+mn-lt"/>
            </a:endParaRPr>
          </a:p>
          <a:p>
            <a:pPr lvl="0">
              <a:lnSpc>
                <a:spcPct val="150000"/>
              </a:lnSpc>
              <a:buFontTx/>
              <a:buChar char="•"/>
            </a:pPr>
            <a:r>
              <a:rPr lang="en-US" altLang="zh-CN" sz="2000" b="0" dirty="0">
                <a:solidFill>
                  <a:srgbClr val="000000"/>
                </a:solidFill>
                <a:latin typeface="+mn-lt"/>
              </a:rPr>
              <a:t> 10 2D plane </a:t>
            </a:r>
            <a:r>
              <a:rPr lang="en-US" altLang="zh-CN" sz="2000" b="0" dirty="0">
                <a:solidFill>
                  <a:srgbClr val="000000"/>
                </a:solidFill>
              </a:rPr>
              <a:t>point group</a:t>
            </a:r>
            <a:r>
              <a:rPr lang="en-US" altLang="zh-CN" sz="2000" b="0" dirty="0">
                <a:solidFill>
                  <a:srgbClr val="000000"/>
                </a:solidFill>
                <a:latin typeface="+mn-lt"/>
              </a:rPr>
              <a:t>, namely 1,2,3,4,6,</a:t>
            </a:r>
            <a:r>
              <a:rPr lang="zh-CN" altLang="en-US" sz="2000" b="0" dirty="0">
                <a:solidFill>
                  <a:srgbClr val="000000"/>
                </a:solidFill>
                <a:latin typeface="+mn-lt"/>
              </a:rPr>
              <a:t> </a:t>
            </a:r>
            <a:r>
              <a:rPr lang="en-US" altLang="zh-CN" sz="2000" b="0" dirty="0">
                <a:solidFill>
                  <a:srgbClr val="000000"/>
                </a:solidFill>
                <a:latin typeface="+mn-lt"/>
              </a:rPr>
              <a:t>1m,2mm,3m,4mm,6mm; </a:t>
            </a:r>
            <a:endParaRPr lang="en-US" altLang="zh-CN" sz="2000" b="0" dirty="0">
              <a:solidFill>
                <a:srgbClr val="FF0000"/>
              </a:solidFill>
              <a:latin typeface="+mn-lt"/>
            </a:endParaRPr>
          </a:p>
          <a:p>
            <a:pPr lvl="0" algn="just">
              <a:lnSpc>
                <a:spcPct val="150000"/>
              </a:lnSpc>
              <a:buFontTx/>
              <a:buChar char="•"/>
            </a:pPr>
            <a:r>
              <a:rPr lang="zh-CN" altLang="en-US" sz="2000" b="0" dirty="0">
                <a:solidFill>
                  <a:srgbClr val="000000"/>
                </a:solidFill>
                <a:latin typeface="+mn-lt"/>
              </a:rPr>
              <a:t> </a:t>
            </a:r>
            <a:r>
              <a:rPr lang="en-US" altLang="zh-CN" sz="2000" b="0" dirty="0">
                <a:solidFill>
                  <a:srgbClr val="000000"/>
                </a:solidFill>
                <a:latin typeface="+mn-lt"/>
              </a:rPr>
              <a:t>2D </a:t>
            </a:r>
            <a:r>
              <a:rPr lang="en-US" altLang="zh-CN" sz="2000" b="0" dirty="0">
                <a:latin typeface="+mn-lt"/>
              </a:rPr>
              <a:t>microcosmic symmetry elements?  </a:t>
            </a:r>
            <a:endParaRPr lang="en-US" altLang="zh-CN" sz="2000" b="0" dirty="0">
              <a:solidFill>
                <a:srgbClr val="000000"/>
              </a:solidFill>
              <a:latin typeface="+mn-lt"/>
            </a:endParaRPr>
          </a:p>
        </p:txBody>
      </p:sp>
      <p:sp>
        <p:nvSpPr>
          <p:cNvPr id="2" name="TextBox 1"/>
          <p:cNvSpPr txBox="1"/>
          <p:nvPr/>
        </p:nvSpPr>
        <p:spPr>
          <a:xfrm>
            <a:off x="4641823" y="5621178"/>
            <a:ext cx="3003864" cy="400110"/>
          </a:xfrm>
          <a:prstGeom prst="rect">
            <a:avLst/>
          </a:prstGeom>
          <a:noFill/>
        </p:spPr>
        <p:txBody>
          <a:bodyPr wrap="square" rtlCol="0">
            <a:spAutoFit/>
          </a:bodyPr>
          <a:lstStyle/>
          <a:p>
            <a:r>
              <a:rPr lang="en-US" altLang="zh-CN" sz="2000" dirty="0">
                <a:solidFill>
                  <a:srgbClr val="FF0000"/>
                </a:solidFill>
              </a:rPr>
              <a:t>g &amp; translation groups </a:t>
            </a:r>
            <a:endParaRPr lang="en-US" sz="2000" dirty="0">
              <a:solidFill>
                <a:srgbClr val="FF0000"/>
              </a:solidFill>
            </a:endParaRPr>
          </a:p>
        </p:txBody>
      </p:sp>
      <p:sp>
        <p:nvSpPr>
          <p:cNvPr id="3" name="Rectangle 2"/>
          <p:cNvSpPr/>
          <p:nvPr/>
        </p:nvSpPr>
        <p:spPr>
          <a:xfrm>
            <a:off x="1553398" y="441034"/>
            <a:ext cx="1723549" cy="369332"/>
          </a:xfrm>
          <a:prstGeom prst="rect">
            <a:avLst/>
          </a:prstGeom>
        </p:spPr>
        <p:txBody>
          <a:bodyPr wrap="none">
            <a:spAutoFit/>
          </a:bodyPr>
          <a:lstStyle/>
          <a:p>
            <a:r>
              <a:rPr lang="en-US" altLang="zh-CN" dirty="0">
                <a:solidFill>
                  <a:srgbClr val="FF0000"/>
                </a:solidFill>
              </a:rPr>
              <a:t>C</a:t>
            </a:r>
            <a:r>
              <a:rPr lang="en-US" dirty="0">
                <a:solidFill>
                  <a:srgbClr val="FF0000"/>
                </a:solidFill>
              </a:rPr>
              <a:t>haracteristic</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9" name="Rectangle 219"/>
          <p:cNvSpPr>
            <a:spLocks noChangeArrowheads="1"/>
          </p:cNvSpPr>
          <p:nvPr/>
        </p:nvSpPr>
        <p:spPr bwMode="auto">
          <a:xfrm>
            <a:off x="736031" y="2348880"/>
            <a:ext cx="7292354"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ea typeface="宋体" panose="02010600030101010101" pitchFamily="2" charset="-122"/>
              </a:rPr>
              <a:t>For example:</a:t>
            </a:r>
            <a:endParaRPr lang="zh-CN" altLang="en-US" sz="2800" dirty="0">
              <a:latin typeface="宋体" panose="02010600030101010101" pitchFamily="2" charset="-122"/>
              <a:ea typeface="宋体" panose="02010600030101010101" pitchFamily="2" charset="-122"/>
            </a:endParaRPr>
          </a:p>
          <a:p>
            <a:pPr algn="ctr"/>
            <a:r>
              <a:rPr lang="en-US" altLang="zh-CN" sz="4800" i="1" dirty="0">
                <a:solidFill>
                  <a:srgbClr val="FF0066"/>
                </a:solidFill>
                <a:effectLst>
                  <a:outerShdw blurRad="38100" dist="38100" dir="2700000" algn="tl">
                    <a:srgbClr val="000000"/>
                  </a:outerShdw>
                </a:effectLst>
                <a:ea typeface="宋体" panose="02010600030101010101" pitchFamily="2" charset="-122"/>
              </a:rPr>
              <a:t>6mm</a:t>
            </a:r>
            <a:endParaRPr lang="zh-CN" altLang="en-US" sz="4800" dirty="0">
              <a:solidFill>
                <a:srgbClr val="FF0066"/>
              </a:solidFill>
              <a:effectLst>
                <a:outerShdw blurRad="38100" dist="38100" dir="2700000" algn="tl">
                  <a:srgbClr val="000000"/>
                </a:outerShdw>
              </a:effectLst>
              <a:ea typeface="宋体" panose="02010600030101010101" pitchFamily="2" charset="-122"/>
            </a:endParaRPr>
          </a:p>
        </p:txBody>
      </p:sp>
      <p:sp>
        <p:nvSpPr>
          <p:cNvPr id="102621" name="Rectangle 221"/>
          <p:cNvSpPr>
            <a:spLocks noChangeArrowheads="1"/>
          </p:cNvSpPr>
          <p:nvPr/>
        </p:nvSpPr>
        <p:spPr bwMode="auto">
          <a:xfrm>
            <a:off x="4821834" y="4017258"/>
            <a:ext cx="34671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0" dirty="0">
                <a:latin typeface="+mn-lt"/>
                <a:ea typeface="宋体" panose="02010600030101010101" pitchFamily="2" charset="-122"/>
              </a:rPr>
              <a:t>Symmetry elements from up to down(x)</a:t>
            </a:r>
            <a:endParaRPr lang="zh-CN" altLang="en-US" sz="2000" b="0" dirty="0">
              <a:latin typeface="+mn-lt"/>
              <a:ea typeface="宋体" panose="02010600030101010101" pitchFamily="2" charset="-122"/>
            </a:endParaRPr>
          </a:p>
        </p:txBody>
      </p:sp>
      <p:sp>
        <p:nvSpPr>
          <p:cNvPr id="102623" name="Rectangle 223"/>
          <p:cNvSpPr>
            <a:spLocks noChangeArrowheads="1"/>
          </p:cNvSpPr>
          <p:nvPr/>
        </p:nvSpPr>
        <p:spPr bwMode="auto">
          <a:xfrm>
            <a:off x="467544" y="4050349"/>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ffectLst>
                  <a:outerShdw blurRad="38100" dist="38100" dir="2700000" algn="tl">
                    <a:srgbClr val="000000"/>
                  </a:outerShdw>
                </a:effectLst>
                <a:ea typeface="宋体" panose="02010600030101010101" pitchFamily="2" charset="-122"/>
              </a:rPr>
              <a:t>1</a:t>
            </a:r>
            <a:endParaRPr lang="zh-CN" altLang="en-US">
              <a:effectLst>
                <a:outerShdw blurRad="38100" dist="38100" dir="2700000" algn="tl">
                  <a:srgbClr val="000000"/>
                </a:outerShdw>
              </a:effectLst>
              <a:ea typeface="宋体" panose="02010600030101010101" pitchFamily="2" charset="-122"/>
            </a:endParaRPr>
          </a:p>
        </p:txBody>
      </p:sp>
      <p:sp>
        <p:nvSpPr>
          <p:cNvPr id="102624" name="Rectangle 224"/>
          <p:cNvSpPr>
            <a:spLocks noChangeArrowheads="1"/>
          </p:cNvSpPr>
          <p:nvPr/>
        </p:nvSpPr>
        <p:spPr bwMode="auto">
          <a:xfrm>
            <a:off x="2411760" y="4801493"/>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ffectLst>
                  <a:outerShdw blurRad="38100" dist="38100" dir="2700000" algn="tl">
                    <a:srgbClr val="000000"/>
                  </a:outerShdw>
                </a:effectLst>
                <a:ea typeface="宋体" panose="02010600030101010101" pitchFamily="2" charset="-122"/>
              </a:rPr>
              <a:t>2</a:t>
            </a:r>
            <a:endParaRPr lang="zh-CN" altLang="en-US">
              <a:effectLst>
                <a:outerShdw blurRad="38100" dist="38100" dir="2700000" algn="tl">
                  <a:srgbClr val="000000"/>
                </a:outerShdw>
              </a:effectLst>
              <a:ea typeface="宋体" panose="02010600030101010101" pitchFamily="2" charset="-122"/>
            </a:endParaRPr>
          </a:p>
        </p:txBody>
      </p:sp>
      <p:sp>
        <p:nvSpPr>
          <p:cNvPr id="102625" name="Rectangle 225"/>
          <p:cNvSpPr>
            <a:spLocks noChangeArrowheads="1"/>
          </p:cNvSpPr>
          <p:nvPr/>
        </p:nvSpPr>
        <p:spPr bwMode="auto">
          <a:xfrm>
            <a:off x="4459213" y="4115941"/>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ffectLst>
                  <a:outerShdw blurRad="38100" dist="38100" dir="2700000" algn="tl">
                    <a:srgbClr val="000000"/>
                  </a:outerShdw>
                </a:effectLst>
                <a:ea typeface="宋体" panose="02010600030101010101" pitchFamily="2" charset="-122"/>
              </a:rPr>
              <a:t>3</a:t>
            </a:r>
            <a:endParaRPr lang="zh-CN" altLang="en-US">
              <a:effectLst>
                <a:outerShdw blurRad="38100" dist="38100" dir="2700000" algn="tl">
                  <a:srgbClr val="000000"/>
                </a:outerShdw>
              </a:effectLst>
              <a:ea typeface="宋体" panose="02010600030101010101" pitchFamily="2" charset="-122"/>
            </a:endParaRPr>
          </a:p>
        </p:txBody>
      </p:sp>
      <p:sp>
        <p:nvSpPr>
          <p:cNvPr id="102626" name="Rectangle 226"/>
          <p:cNvSpPr>
            <a:spLocks noChangeArrowheads="1"/>
          </p:cNvSpPr>
          <p:nvPr/>
        </p:nvSpPr>
        <p:spPr bwMode="auto">
          <a:xfrm>
            <a:off x="755576" y="3684110"/>
            <a:ext cx="321468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000" b="0" dirty="0">
                <a:latin typeface="+mn-lt"/>
              </a:rPr>
              <a:t>Symmetry elements perpendicular to projection plane</a:t>
            </a:r>
            <a:endParaRPr lang="zh-CN" altLang="en-US" sz="2000" b="0" dirty="0">
              <a:latin typeface="+mn-lt"/>
            </a:endParaRPr>
          </a:p>
        </p:txBody>
      </p:sp>
      <p:sp>
        <p:nvSpPr>
          <p:cNvPr id="102627" name="Rectangle 227"/>
          <p:cNvSpPr>
            <a:spLocks noChangeArrowheads="1"/>
          </p:cNvSpPr>
          <p:nvPr/>
        </p:nvSpPr>
        <p:spPr bwMode="auto">
          <a:xfrm>
            <a:off x="2722488" y="4836666"/>
            <a:ext cx="43910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0" dirty="0">
                <a:latin typeface="+mn-lt"/>
              </a:rPr>
              <a:t>Symmetry elements from left to right(y)</a:t>
            </a:r>
            <a:endParaRPr lang="zh-CN" altLang="en-US" sz="2000" b="0" dirty="0">
              <a:latin typeface="+mn-lt"/>
            </a:endParaRPr>
          </a:p>
        </p:txBody>
      </p:sp>
      <p:sp>
        <p:nvSpPr>
          <p:cNvPr id="102630" name="Line 230"/>
          <p:cNvSpPr>
            <a:spLocks noChangeShapeType="1"/>
          </p:cNvSpPr>
          <p:nvPr/>
        </p:nvSpPr>
        <p:spPr bwMode="auto">
          <a:xfrm flipV="1">
            <a:off x="3256943" y="3557141"/>
            <a:ext cx="427038" cy="47148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31" name="Line 231"/>
          <p:cNvSpPr>
            <a:spLocks noChangeShapeType="1"/>
          </p:cNvSpPr>
          <p:nvPr/>
        </p:nvSpPr>
        <p:spPr bwMode="auto">
          <a:xfrm flipV="1">
            <a:off x="3970263" y="3663503"/>
            <a:ext cx="336550" cy="1219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32" name="Line 232"/>
          <p:cNvSpPr>
            <a:spLocks noChangeShapeType="1"/>
          </p:cNvSpPr>
          <p:nvPr/>
        </p:nvSpPr>
        <p:spPr bwMode="auto">
          <a:xfrm flipH="1" flipV="1">
            <a:off x="5017929" y="3503003"/>
            <a:ext cx="442912" cy="59372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 name="Group 14"/>
          <p:cNvGrpSpPr/>
          <p:nvPr/>
        </p:nvGrpSpPr>
        <p:grpSpPr>
          <a:xfrm>
            <a:off x="6164204" y="1052736"/>
            <a:ext cx="2717994" cy="2736084"/>
            <a:chOff x="6975442" y="3685968"/>
            <a:chExt cx="1821917" cy="1834043"/>
          </a:xfrm>
        </p:grpSpPr>
        <p:pic>
          <p:nvPicPr>
            <p:cNvPr id="16" name="Picture 90" descr="E:\结晶矿物学教材\出版社\pic7-8.emf"/>
            <p:cNvPicPr>
              <a:picLocks noChangeAspect="1" noChangeArrowheads="1"/>
            </p:cNvPicPr>
            <p:nvPr/>
          </p:nvPicPr>
          <p:blipFill rotWithShape="1">
            <a:blip r:embed="rId3">
              <a:extLst>
                <a:ext uri="{28A0092B-C50C-407E-A947-70E740481C1C}">
                  <a14:useLocalDpi xmlns:a14="http://schemas.microsoft.com/office/drawing/2010/main" val="0"/>
                </a:ext>
              </a:extLst>
            </a:blip>
            <a:srcRect l="79100" t="46980"/>
            <a:stretch>
              <a:fillRect/>
            </a:stretch>
          </p:blipFill>
          <p:spPr bwMode="auto">
            <a:xfrm>
              <a:off x="6975442" y="3685968"/>
              <a:ext cx="1738594" cy="1834043"/>
            </a:xfrm>
            <a:prstGeom prst="rect">
              <a:avLst/>
            </a:prstGeom>
            <a:noFill/>
            <a:ln>
              <a:noFill/>
            </a:ln>
          </p:spPr>
        </p:pic>
        <p:sp>
          <p:nvSpPr>
            <p:cNvPr id="17" name="Oval 16"/>
            <p:cNvSpPr/>
            <p:nvPr/>
          </p:nvSpPr>
          <p:spPr>
            <a:xfrm>
              <a:off x="8610669" y="4149080"/>
              <a:ext cx="18669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3220487">
              <a:off x="8303076" y="4167632"/>
              <a:ext cx="154737" cy="12133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41031" y="4077072"/>
              <a:ext cx="111661" cy="122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19756" y="4077072"/>
              <a:ext cx="111661" cy="122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 name="Rectangle 1"/>
          <p:cNvSpPr/>
          <p:nvPr/>
        </p:nvSpPr>
        <p:spPr>
          <a:xfrm>
            <a:off x="395536" y="401619"/>
            <a:ext cx="6768752" cy="584775"/>
          </a:xfrm>
          <a:prstGeom prst="rect">
            <a:avLst/>
          </a:prstGeom>
        </p:spPr>
        <p:txBody>
          <a:bodyPr wrap="square">
            <a:spAutoFit/>
          </a:bodyPr>
          <a:lstStyle/>
          <a:p>
            <a:r>
              <a:rPr lang="zh-CN" altLang="en-US" sz="3200" dirty="0">
                <a:latin typeface="+mn-lt"/>
                <a:cs typeface="Times New Roman" panose="02020603050405020304" pitchFamily="18" charset="0"/>
              </a:rPr>
              <a:t>The representation of </a:t>
            </a:r>
            <a:r>
              <a:rPr lang="en-US" altLang="zh-CN" sz="3200" dirty="0">
                <a:latin typeface="+mn-lt"/>
                <a:cs typeface="Times New Roman" panose="02020603050405020304" pitchFamily="18" charset="0"/>
              </a:rPr>
              <a:t>2D </a:t>
            </a:r>
            <a:r>
              <a:rPr lang="zh-CN" altLang="en-US" sz="3200" dirty="0">
                <a:latin typeface="+mn-lt"/>
                <a:cs typeface="Times New Roman" panose="02020603050405020304" pitchFamily="18" charset="0"/>
              </a:rPr>
              <a:t>point group</a:t>
            </a:r>
            <a:r>
              <a:rPr lang="en-US" altLang="zh-CN" sz="3200" dirty="0">
                <a:latin typeface="+mn-lt"/>
                <a:cs typeface="Times New Roman" panose="02020603050405020304" pitchFamily="18" charset="0"/>
              </a:rPr>
              <a:t>s</a:t>
            </a:r>
            <a:endParaRPr lang="zh-CN" altLang="en-US" sz="3200" dirty="0">
              <a:latin typeface="+mn-lt"/>
              <a:cs typeface="Times New Roman" panose="02020603050405020304" pitchFamily="18" charset="0"/>
            </a:endParaRPr>
          </a:p>
        </p:txBody>
      </p:sp>
      <p:sp>
        <p:nvSpPr>
          <p:cNvPr id="3" name="TextBox 2"/>
          <p:cNvSpPr txBox="1"/>
          <p:nvPr/>
        </p:nvSpPr>
        <p:spPr>
          <a:xfrm>
            <a:off x="467544" y="5805264"/>
            <a:ext cx="8414654" cy="646331"/>
          </a:xfrm>
          <a:prstGeom prst="rect">
            <a:avLst/>
          </a:prstGeom>
          <a:noFill/>
        </p:spPr>
        <p:txBody>
          <a:bodyPr wrap="square" rtlCol="0">
            <a:spAutoFit/>
          </a:bodyPr>
          <a:lstStyle/>
          <a:p>
            <a:r>
              <a:rPr lang="en-US" dirty="0"/>
              <a:t>Note: the 1, 2, 3 positions indicate different directions, which can refer to the forth slide in the following.</a:t>
            </a:r>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312213" y="1844824"/>
            <a:ext cx="8401823" cy="3459163"/>
            <a:chOff x="395536" y="2060848"/>
            <a:chExt cx="8401823" cy="3459163"/>
          </a:xfrm>
        </p:grpSpPr>
        <p:pic>
          <p:nvPicPr>
            <p:cNvPr id="50266" name="Picture 90" descr="E:\结晶矿物学教材\出版社\pic7-8.e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060848"/>
              <a:ext cx="8318500" cy="3459163"/>
            </a:xfrm>
            <a:prstGeom prst="rect">
              <a:avLst/>
            </a:prstGeom>
            <a:noFill/>
            <a:ln>
              <a:noFill/>
            </a:ln>
          </p:spPr>
        </p:pic>
        <p:sp>
          <p:nvSpPr>
            <p:cNvPr id="4" name="Oval 3"/>
            <p:cNvSpPr/>
            <p:nvPr/>
          </p:nvSpPr>
          <p:spPr>
            <a:xfrm>
              <a:off x="8610669" y="4149080"/>
              <a:ext cx="18669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3220487">
              <a:off x="8303076" y="4167632"/>
              <a:ext cx="154737" cy="12133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41031" y="4077072"/>
              <a:ext cx="111661" cy="122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19756" y="4077072"/>
              <a:ext cx="111661" cy="122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 name="TextBox 1"/>
          <p:cNvSpPr txBox="1"/>
          <p:nvPr/>
        </p:nvSpPr>
        <p:spPr>
          <a:xfrm>
            <a:off x="342491" y="5661248"/>
            <a:ext cx="8621997" cy="954107"/>
          </a:xfrm>
          <a:prstGeom prst="rect">
            <a:avLst/>
          </a:prstGeom>
          <a:noFill/>
        </p:spPr>
        <p:txBody>
          <a:bodyPr wrap="square" rtlCol="0">
            <a:spAutoFit/>
          </a:bodyPr>
          <a:lstStyle/>
          <a:p>
            <a:r>
              <a:rPr lang="en-US" altLang="zh-CN" sz="2800" b="0" dirty="0">
                <a:latin typeface="+mn-lt"/>
              </a:rPr>
              <a:t>Exercise</a:t>
            </a:r>
            <a:r>
              <a:rPr lang="zh-CN" altLang="en-US" sz="2800" b="0" dirty="0">
                <a:latin typeface="+mn-lt"/>
              </a:rPr>
              <a:t>：</a:t>
            </a:r>
            <a:r>
              <a:rPr lang="en-US" altLang="zh-CN" sz="2800" b="0" dirty="0">
                <a:latin typeface="+mn-lt"/>
              </a:rPr>
              <a:t>try to draw the </a:t>
            </a:r>
            <a:r>
              <a:rPr lang="en-US" altLang="zh-CN" sz="2800" b="0" dirty="0">
                <a:latin typeface="+mn-lt"/>
                <a:cs typeface="Times New Roman" panose="02020603050405020304" pitchFamily="18" charset="0"/>
              </a:rPr>
              <a:t>stereographic projection of  </a:t>
            </a:r>
            <a:r>
              <a:rPr lang="en-US" altLang="zh-CN" sz="2800" b="0" dirty="0">
                <a:latin typeface="+mn-lt"/>
              </a:rPr>
              <a:t>4,</a:t>
            </a:r>
            <a:r>
              <a:rPr lang="zh-CN" altLang="en-US" sz="2800" b="0" dirty="0">
                <a:latin typeface="+mn-lt"/>
              </a:rPr>
              <a:t> </a:t>
            </a:r>
            <a:r>
              <a:rPr lang="en-US" altLang="zh-CN" sz="2800" b="0" dirty="0">
                <a:latin typeface="+mn-lt"/>
              </a:rPr>
              <a:t>4mm, 3m.</a:t>
            </a:r>
            <a:endParaRPr lang="en-US" sz="2800" b="0" dirty="0">
              <a:latin typeface="+mn-lt"/>
            </a:endParaRPr>
          </a:p>
        </p:txBody>
      </p:sp>
      <p:sp>
        <p:nvSpPr>
          <p:cNvPr id="5" name="Rectangle 4"/>
          <p:cNvSpPr/>
          <p:nvPr/>
        </p:nvSpPr>
        <p:spPr>
          <a:xfrm>
            <a:off x="265886" y="298103"/>
            <a:ext cx="8411153" cy="1077218"/>
          </a:xfrm>
          <a:prstGeom prst="rect">
            <a:avLst/>
          </a:prstGeom>
        </p:spPr>
        <p:txBody>
          <a:bodyPr wrap="square">
            <a:spAutoFit/>
          </a:bodyPr>
          <a:lstStyle/>
          <a:p>
            <a:pPr algn="ctr"/>
            <a:r>
              <a:rPr lang="en-US" altLang="zh-CN" sz="3200" dirty="0">
                <a:latin typeface="+mn-lt"/>
                <a:cs typeface="Times New Roman" panose="02020603050405020304" pitchFamily="18" charset="0"/>
              </a:rPr>
              <a:t>Ten symmetry elements of 2D pattern and their stereographic projections</a:t>
            </a:r>
            <a:endParaRPr lang="zh-CN" altLang="en-US" sz="3200" dirty="0">
              <a:latin typeface="+mn-lt"/>
              <a:cs typeface="Times New Roman" panose="02020603050405020304" pitchFamily="18" charset="0"/>
            </a:endParaRPr>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452"/>
          <a:stretch>
            <a:fillRect/>
          </a:stretch>
        </p:blipFill>
        <p:spPr bwMode="auto">
          <a:xfrm>
            <a:off x="1024161" y="663202"/>
            <a:ext cx="6984776" cy="5646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51520" y="159351"/>
            <a:ext cx="8892480" cy="584775"/>
          </a:xfrm>
          <a:prstGeom prst="rect">
            <a:avLst/>
          </a:prstGeom>
        </p:spPr>
        <p:txBody>
          <a:bodyPr wrap="square">
            <a:spAutoFit/>
          </a:bodyPr>
          <a:lstStyle/>
          <a:p>
            <a:r>
              <a:rPr lang="en-US" altLang="zh-CN" sz="3200" dirty="0">
                <a:latin typeface="+mn-lt"/>
                <a:cs typeface="Times New Roman" panose="02020603050405020304" pitchFamily="18" charset="0"/>
              </a:rPr>
              <a:t>2D space groups - 17  plane groups</a:t>
            </a:r>
            <a:endParaRPr lang="zh-CN" altLang="en-US" sz="3200" dirty="0">
              <a:latin typeface="+mn-lt"/>
              <a:cs typeface="Times New Roman" panose="02020603050405020304" pitchFamily="18" charset="0"/>
            </a:endParaRPr>
          </a:p>
        </p:txBody>
      </p:sp>
      <p:sp>
        <p:nvSpPr>
          <p:cNvPr id="5" name="Rectangle 4"/>
          <p:cNvSpPr/>
          <p:nvPr/>
        </p:nvSpPr>
        <p:spPr>
          <a:xfrm>
            <a:off x="467545" y="6021288"/>
            <a:ext cx="8311240" cy="707886"/>
          </a:xfrm>
          <a:prstGeom prst="rect">
            <a:avLst/>
          </a:prstGeom>
          <a:solidFill>
            <a:schemeClr val="bg1">
              <a:lumMod val="85000"/>
            </a:schemeClr>
          </a:solidFill>
        </p:spPr>
        <p:txBody>
          <a:bodyPr wrap="square">
            <a:spAutoFit/>
          </a:bodyPr>
          <a:lstStyle/>
          <a:p>
            <a:pPr algn="ctr"/>
            <a:r>
              <a:rPr lang="en-US" altLang="zh-CN" sz="2000" dirty="0"/>
              <a:t>Space lattice(translation groups) + Point groups</a:t>
            </a:r>
            <a:r>
              <a:rPr lang="zh-CN" altLang="en-US" sz="2000" dirty="0"/>
              <a:t> </a:t>
            </a:r>
            <a:r>
              <a:rPr lang="en-US" altLang="zh-CN" sz="2000" dirty="0">
                <a:sym typeface="Wingdings" panose="05000000000000000000" pitchFamily="2" charset="2"/>
              </a:rPr>
              <a:t> Space groups</a:t>
            </a:r>
            <a:r>
              <a:rPr lang="zh-CN" altLang="en-US" sz="2000" dirty="0"/>
              <a:t>；</a:t>
            </a:r>
            <a:r>
              <a:rPr lang="en-US" altLang="zh-CN" sz="2000" dirty="0"/>
              <a:t>What’s the compatibility of symmetry element and lattice?</a:t>
            </a:r>
            <a:endParaRPr lang="en-US" sz="2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51520" y="159351"/>
            <a:ext cx="8892480" cy="584775"/>
          </a:xfrm>
          <a:prstGeom prst="rect">
            <a:avLst/>
          </a:prstGeom>
        </p:spPr>
        <p:txBody>
          <a:bodyPr wrap="square">
            <a:spAutoFit/>
          </a:bodyPr>
          <a:lstStyle/>
          <a:p>
            <a:r>
              <a:rPr lang="en-US" altLang="zh-CN" sz="3200" dirty="0">
                <a:latin typeface="+mn-lt"/>
                <a:cs typeface="Times New Roman" panose="02020603050405020304" pitchFamily="18" charset="0"/>
              </a:rPr>
              <a:t>2D space groups - 17  plane groups</a:t>
            </a:r>
            <a:endParaRPr lang="zh-CN" altLang="en-US" sz="3200" dirty="0">
              <a:latin typeface="+mn-lt"/>
              <a:cs typeface="Times New Roman" panose="02020603050405020304" pitchFamily="18" charset="0"/>
            </a:endParaRPr>
          </a:p>
        </p:txBody>
      </p:sp>
      <p:grpSp>
        <p:nvGrpSpPr>
          <p:cNvPr id="6" name="Group 2268"/>
          <p:cNvGrpSpPr/>
          <p:nvPr/>
        </p:nvGrpSpPr>
        <p:grpSpPr bwMode="auto">
          <a:xfrm>
            <a:off x="47003" y="1013139"/>
            <a:ext cx="9132573" cy="5692775"/>
            <a:chOff x="-22" y="-3"/>
            <a:chExt cx="3052" cy="7112"/>
          </a:xfrm>
        </p:grpSpPr>
        <p:grpSp>
          <p:nvGrpSpPr>
            <p:cNvPr id="8" name="Group 2266"/>
            <p:cNvGrpSpPr/>
            <p:nvPr/>
          </p:nvGrpSpPr>
          <p:grpSpPr bwMode="auto">
            <a:xfrm>
              <a:off x="-22" y="0"/>
              <a:ext cx="3052" cy="7106"/>
              <a:chOff x="-22" y="0"/>
              <a:chExt cx="3052" cy="7106"/>
            </a:xfrm>
          </p:grpSpPr>
          <p:grpSp>
            <p:nvGrpSpPr>
              <p:cNvPr id="10" name="Group 2125"/>
              <p:cNvGrpSpPr/>
              <p:nvPr/>
            </p:nvGrpSpPr>
            <p:grpSpPr bwMode="auto">
              <a:xfrm>
                <a:off x="-22" y="0"/>
                <a:ext cx="554" cy="809"/>
                <a:chOff x="-22" y="0"/>
                <a:chExt cx="554" cy="809"/>
              </a:xfrm>
            </p:grpSpPr>
            <p:sp>
              <p:nvSpPr>
                <p:cNvPr id="221" name="Rectangle 2053"/>
                <p:cNvSpPr>
                  <a:spLocks noChangeArrowheads="1"/>
                </p:cNvSpPr>
                <p:nvPr/>
              </p:nvSpPr>
              <p:spPr bwMode="auto">
                <a:xfrm>
                  <a:off x="-22" y="61"/>
                  <a:ext cx="554"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Crystal system </a:t>
                  </a:r>
                </a:p>
                <a:p>
                  <a:pPr algn="ctr"/>
                  <a:r>
                    <a:rPr lang="en-US" altLang="zh-CN" sz="1400" dirty="0">
                      <a:latin typeface="+mn-lt"/>
                    </a:rPr>
                    <a:t>and lattice</a:t>
                  </a:r>
                  <a:endParaRPr lang="zh-CN" altLang="en-US" sz="1400" dirty="0">
                    <a:effectLst/>
                    <a:latin typeface="+mn-lt"/>
                  </a:endParaRPr>
                </a:p>
              </p:txBody>
            </p:sp>
            <p:sp>
              <p:nvSpPr>
                <p:cNvPr id="222" name="Rectangle 2124"/>
                <p:cNvSpPr>
                  <a:spLocks noChangeArrowheads="1"/>
                </p:cNvSpPr>
                <p:nvPr/>
              </p:nvSpPr>
              <p:spPr bwMode="auto">
                <a:xfrm>
                  <a:off x="0" y="0"/>
                  <a:ext cx="489" cy="74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1" name="Group 2127"/>
              <p:cNvGrpSpPr/>
              <p:nvPr/>
            </p:nvGrpSpPr>
            <p:grpSpPr bwMode="auto">
              <a:xfrm>
                <a:off x="489" y="0"/>
                <a:ext cx="682" cy="748"/>
                <a:chOff x="489" y="0"/>
                <a:chExt cx="682" cy="748"/>
              </a:xfrm>
            </p:grpSpPr>
            <p:sp>
              <p:nvSpPr>
                <p:cNvPr id="219" name="Rectangle 2054"/>
                <p:cNvSpPr>
                  <a:spLocks noChangeArrowheads="1"/>
                </p:cNvSpPr>
                <p:nvPr/>
              </p:nvSpPr>
              <p:spPr bwMode="auto">
                <a:xfrm>
                  <a:off x="532" y="0"/>
                  <a:ext cx="596"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Point group symbol</a:t>
                  </a:r>
                  <a:endParaRPr lang="zh-CN" altLang="en-US" sz="1400" dirty="0">
                    <a:effectLst/>
                    <a:latin typeface="+mn-lt"/>
                  </a:endParaRPr>
                </a:p>
              </p:txBody>
            </p:sp>
            <p:sp>
              <p:nvSpPr>
                <p:cNvPr id="220" name="Rectangle 2126"/>
                <p:cNvSpPr>
                  <a:spLocks noChangeArrowheads="1"/>
                </p:cNvSpPr>
                <p:nvPr/>
              </p:nvSpPr>
              <p:spPr bwMode="auto">
                <a:xfrm>
                  <a:off x="489" y="0"/>
                  <a:ext cx="682" cy="74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2" name="Group 2129"/>
              <p:cNvGrpSpPr/>
              <p:nvPr/>
            </p:nvGrpSpPr>
            <p:grpSpPr bwMode="auto">
              <a:xfrm>
                <a:off x="1171" y="0"/>
                <a:ext cx="1353" cy="374"/>
                <a:chOff x="1171" y="0"/>
                <a:chExt cx="1353" cy="374"/>
              </a:xfrm>
            </p:grpSpPr>
            <p:sp>
              <p:nvSpPr>
                <p:cNvPr id="217" name="Rectangle 2055"/>
                <p:cNvSpPr>
                  <a:spLocks noChangeArrowheads="1"/>
                </p:cNvSpPr>
                <p:nvPr/>
              </p:nvSpPr>
              <p:spPr bwMode="auto">
                <a:xfrm>
                  <a:off x="1214" y="0"/>
                  <a:ext cx="126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effectLst/>
                      <a:latin typeface="+mn-lt"/>
                      <a:ea typeface="宋体" panose="02010600030101010101" pitchFamily="2" charset="-122"/>
                    </a:rPr>
                    <a:t>National symbol of plane groups</a:t>
                  </a:r>
                  <a:endParaRPr lang="zh-CN" altLang="en-US" sz="1400" dirty="0">
                    <a:effectLst/>
                    <a:latin typeface="+mn-lt"/>
                    <a:ea typeface="宋体" panose="02010600030101010101" pitchFamily="2" charset="-122"/>
                  </a:endParaRPr>
                </a:p>
              </p:txBody>
            </p:sp>
            <p:sp>
              <p:nvSpPr>
                <p:cNvPr id="218" name="Rectangle 2128"/>
                <p:cNvSpPr>
                  <a:spLocks noChangeArrowheads="1"/>
                </p:cNvSpPr>
                <p:nvPr/>
              </p:nvSpPr>
              <p:spPr bwMode="auto">
                <a:xfrm>
                  <a:off x="1171" y="0"/>
                  <a:ext cx="135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3" name="Group 2131"/>
              <p:cNvGrpSpPr/>
              <p:nvPr/>
            </p:nvGrpSpPr>
            <p:grpSpPr bwMode="auto">
              <a:xfrm>
                <a:off x="2493" y="0"/>
                <a:ext cx="537" cy="748"/>
                <a:chOff x="2493" y="0"/>
                <a:chExt cx="537" cy="748"/>
              </a:xfrm>
            </p:grpSpPr>
            <p:sp>
              <p:nvSpPr>
                <p:cNvPr id="215" name="Rectangle 2056"/>
                <p:cNvSpPr>
                  <a:spLocks noChangeArrowheads="1"/>
                </p:cNvSpPr>
                <p:nvPr/>
              </p:nvSpPr>
              <p:spPr bwMode="auto">
                <a:xfrm>
                  <a:off x="2493" y="0"/>
                  <a:ext cx="53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Space group number</a:t>
                  </a:r>
                  <a:endParaRPr lang="zh-CN" altLang="en-US" sz="1400" dirty="0">
                    <a:effectLst/>
                    <a:latin typeface="+mn-lt"/>
                  </a:endParaRPr>
                </a:p>
              </p:txBody>
            </p:sp>
            <p:sp>
              <p:nvSpPr>
                <p:cNvPr id="216" name="Rectangle 2130"/>
                <p:cNvSpPr>
                  <a:spLocks noChangeArrowheads="1"/>
                </p:cNvSpPr>
                <p:nvPr/>
              </p:nvSpPr>
              <p:spPr bwMode="auto">
                <a:xfrm>
                  <a:off x="2524" y="0"/>
                  <a:ext cx="416" cy="74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4" name="Group 2133"/>
              <p:cNvGrpSpPr/>
              <p:nvPr/>
            </p:nvGrpSpPr>
            <p:grpSpPr bwMode="auto">
              <a:xfrm>
                <a:off x="1171" y="374"/>
                <a:ext cx="640" cy="374"/>
                <a:chOff x="1171" y="374"/>
                <a:chExt cx="640" cy="374"/>
              </a:xfrm>
            </p:grpSpPr>
            <p:sp>
              <p:nvSpPr>
                <p:cNvPr id="213" name="Rectangle 2057"/>
                <p:cNvSpPr>
                  <a:spLocks noChangeArrowheads="1"/>
                </p:cNvSpPr>
                <p:nvPr/>
              </p:nvSpPr>
              <p:spPr bwMode="auto">
                <a:xfrm>
                  <a:off x="1214" y="374"/>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Full</a:t>
                  </a:r>
                  <a:endParaRPr lang="zh-CN" altLang="en-US" sz="1400" dirty="0">
                    <a:effectLst/>
                    <a:latin typeface="+mn-lt"/>
                  </a:endParaRPr>
                </a:p>
              </p:txBody>
            </p:sp>
            <p:sp>
              <p:nvSpPr>
                <p:cNvPr id="214" name="Rectangle 2132"/>
                <p:cNvSpPr>
                  <a:spLocks noChangeArrowheads="1"/>
                </p:cNvSpPr>
                <p:nvPr/>
              </p:nvSpPr>
              <p:spPr bwMode="auto">
                <a:xfrm>
                  <a:off x="1171" y="374"/>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5" name="Group 2135"/>
              <p:cNvGrpSpPr/>
              <p:nvPr/>
            </p:nvGrpSpPr>
            <p:grpSpPr bwMode="auto">
              <a:xfrm>
                <a:off x="1811" y="374"/>
                <a:ext cx="713" cy="374"/>
                <a:chOff x="1811" y="374"/>
                <a:chExt cx="713" cy="374"/>
              </a:xfrm>
            </p:grpSpPr>
            <p:sp>
              <p:nvSpPr>
                <p:cNvPr id="211" name="Rectangle 2058"/>
                <p:cNvSpPr>
                  <a:spLocks noChangeArrowheads="1"/>
                </p:cNvSpPr>
                <p:nvPr/>
              </p:nvSpPr>
              <p:spPr bwMode="auto">
                <a:xfrm>
                  <a:off x="1854" y="374"/>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 </a:t>
                  </a:r>
                  <a:r>
                    <a:rPr lang="en-US" altLang="zh-CN" sz="1400" dirty="0" err="1">
                      <a:latin typeface="+mn-lt"/>
                    </a:rPr>
                    <a:t>Abbr</a:t>
                  </a:r>
                  <a:endParaRPr lang="en-US" altLang="zh-CN" sz="1400" dirty="0">
                    <a:latin typeface="+mn-lt"/>
                  </a:endParaRPr>
                </a:p>
              </p:txBody>
            </p:sp>
            <p:sp>
              <p:nvSpPr>
                <p:cNvPr id="212" name="Rectangle 2134"/>
                <p:cNvSpPr>
                  <a:spLocks noChangeArrowheads="1"/>
                </p:cNvSpPr>
                <p:nvPr/>
              </p:nvSpPr>
              <p:spPr bwMode="auto">
                <a:xfrm>
                  <a:off x="1811" y="374"/>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6" name="Group 2137"/>
              <p:cNvGrpSpPr/>
              <p:nvPr/>
            </p:nvGrpSpPr>
            <p:grpSpPr bwMode="auto">
              <a:xfrm>
                <a:off x="0" y="745"/>
                <a:ext cx="489" cy="751"/>
                <a:chOff x="0" y="745"/>
                <a:chExt cx="489" cy="751"/>
              </a:xfrm>
            </p:grpSpPr>
            <p:sp>
              <p:nvSpPr>
                <p:cNvPr id="209" name="Rectangle 2059"/>
                <p:cNvSpPr>
                  <a:spLocks noChangeArrowheads="1"/>
                </p:cNvSpPr>
                <p:nvPr/>
              </p:nvSpPr>
              <p:spPr bwMode="auto">
                <a:xfrm>
                  <a:off x="0" y="745"/>
                  <a:ext cx="449"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Oblique (Monoclinic) </a:t>
                  </a:r>
                </a:p>
                <a:p>
                  <a:pPr algn="ctr"/>
                  <a:r>
                    <a:rPr lang="en-US" altLang="zh-CN" sz="1400" i="1" dirty="0">
                      <a:effectLst/>
                      <a:latin typeface="+mn-lt"/>
                    </a:rPr>
                    <a:t>p</a:t>
                  </a:r>
                  <a:endParaRPr lang="en-US" altLang="zh-CN" sz="1400" dirty="0">
                    <a:effectLst/>
                    <a:latin typeface="+mn-lt"/>
                  </a:endParaRPr>
                </a:p>
              </p:txBody>
            </p:sp>
            <p:sp>
              <p:nvSpPr>
                <p:cNvPr id="210" name="Rectangle 2136"/>
                <p:cNvSpPr>
                  <a:spLocks noChangeArrowheads="1"/>
                </p:cNvSpPr>
                <p:nvPr/>
              </p:nvSpPr>
              <p:spPr bwMode="auto">
                <a:xfrm>
                  <a:off x="0" y="748"/>
                  <a:ext cx="489" cy="74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7" name="Group 2139"/>
              <p:cNvGrpSpPr/>
              <p:nvPr/>
            </p:nvGrpSpPr>
            <p:grpSpPr bwMode="auto">
              <a:xfrm>
                <a:off x="489" y="748"/>
                <a:ext cx="682" cy="374"/>
                <a:chOff x="489" y="748"/>
                <a:chExt cx="682" cy="374"/>
              </a:xfrm>
            </p:grpSpPr>
            <p:sp>
              <p:nvSpPr>
                <p:cNvPr id="207" name="Rectangle 2060"/>
                <p:cNvSpPr>
                  <a:spLocks noChangeArrowheads="1"/>
                </p:cNvSpPr>
                <p:nvPr/>
              </p:nvSpPr>
              <p:spPr bwMode="auto">
                <a:xfrm>
                  <a:off x="532" y="748"/>
                  <a:ext cx="596"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a:t>
                  </a:r>
                </a:p>
              </p:txBody>
            </p:sp>
            <p:sp>
              <p:nvSpPr>
                <p:cNvPr id="208" name="Rectangle 2138"/>
                <p:cNvSpPr>
                  <a:spLocks noChangeArrowheads="1"/>
                </p:cNvSpPr>
                <p:nvPr/>
              </p:nvSpPr>
              <p:spPr bwMode="auto">
                <a:xfrm>
                  <a:off x="489" y="748"/>
                  <a:ext cx="682"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8" name="Group 2141"/>
              <p:cNvGrpSpPr/>
              <p:nvPr/>
            </p:nvGrpSpPr>
            <p:grpSpPr bwMode="auto">
              <a:xfrm>
                <a:off x="1171" y="748"/>
                <a:ext cx="640" cy="374"/>
                <a:chOff x="1171" y="748"/>
                <a:chExt cx="640" cy="374"/>
              </a:xfrm>
            </p:grpSpPr>
            <p:sp>
              <p:nvSpPr>
                <p:cNvPr id="205" name="Rectangle 2061"/>
                <p:cNvSpPr>
                  <a:spLocks noChangeArrowheads="1"/>
                </p:cNvSpPr>
                <p:nvPr/>
              </p:nvSpPr>
              <p:spPr bwMode="auto">
                <a:xfrm>
                  <a:off x="1214" y="748"/>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dirty="0">
                      <a:effectLst/>
                      <a:latin typeface="+mn-lt"/>
                      <a:ea typeface="宋体" panose="02010600030101010101" pitchFamily="2" charset="-122"/>
                    </a:rPr>
                    <a:t>p1</a:t>
                  </a:r>
                  <a:endParaRPr lang="en-US" altLang="zh-CN" sz="1400" dirty="0">
                    <a:effectLst/>
                    <a:latin typeface="+mn-lt"/>
                    <a:ea typeface="宋体" panose="02010600030101010101" pitchFamily="2" charset="-122"/>
                  </a:endParaRPr>
                </a:p>
              </p:txBody>
            </p:sp>
            <p:sp>
              <p:nvSpPr>
                <p:cNvPr id="206" name="Rectangle 2140"/>
                <p:cNvSpPr>
                  <a:spLocks noChangeArrowheads="1"/>
                </p:cNvSpPr>
                <p:nvPr/>
              </p:nvSpPr>
              <p:spPr bwMode="auto">
                <a:xfrm>
                  <a:off x="1171" y="748"/>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19" name="Group 2143"/>
              <p:cNvGrpSpPr/>
              <p:nvPr/>
            </p:nvGrpSpPr>
            <p:grpSpPr bwMode="auto">
              <a:xfrm>
                <a:off x="1811" y="748"/>
                <a:ext cx="713" cy="374"/>
                <a:chOff x="1811" y="748"/>
                <a:chExt cx="713" cy="374"/>
              </a:xfrm>
            </p:grpSpPr>
            <p:sp>
              <p:nvSpPr>
                <p:cNvPr id="203" name="Rectangle 2062"/>
                <p:cNvSpPr>
                  <a:spLocks noChangeArrowheads="1"/>
                </p:cNvSpPr>
                <p:nvPr/>
              </p:nvSpPr>
              <p:spPr bwMode="auto">
                <a:xfrm>
                  <a:off x="1854" y="748"/>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dirty="0">
                      <a:effectLst/>
                      <a:latin typeface="+mn-lt"/>
                      <a:ea typeface="宋体" panose="02010600030101010101" pitchFamily="2" charset="-122"/>
                    </a:rPr>
                    <a:t>p1</a:t>
                  </a:r>
                  <a:endParaRPr lang="en-US" altLang="zh-CN" sz="1400" dirty="0">
                    <a:effectLst/>
                    <a:latin typeface="+mn-lt"/>
                    <a:ea typeface="宋体" panose="02010600030101010101" pitchFamily="2" charset="-122"/>
                  </a:endParaRPr>
                </a:p>
              </p:txBody>
            </p:sp>
            <p:sp>
              <p:nvSpPr>
                <p:cNvPr id="204" name="Rectangle 2142"/>
                <p:cNvSpPr>
                  <a:spLocks noChangeArrowheads="1"/>
                </p:cNvSpPr>
                <p:nvPr/>
              </p:nvSpPr>
              <p:spPr bwMode="auto">
                <a:xfrm>
                  <a:off x="1811" y="748"/>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0" name="Group 2145"/>
              <p:cNvGrpSpPr/>
              <p:nvPr/>
            </p:nvGrpSpPr>
            <p:grpSpPr bwMode="auto">
              <a:xfrm>
                <a:off x="2524" y="748"/>
                <a:ext cx="416" cy="374"/>
                <a:chOff x="2524" y="748"/>
                <a:chExt cx="416" cy="374"/>
              </a:xfrm>
            </p:grpSpPr>
            <p:sp>
              <p:nvSpPr>
                <p:cNvPr id="201" name="Rectangle 2063"/>
                <p:cNvSpPr>
                  <a:spLocks noChangeArrowheads="1"/>
                </p:cNvSpPr>
                <p:nvPr/>
              </p:nvSpPr>
              <p:spPr bwMode="auto">
                <a:xfrm>
                  <a:off x="2567" y="748"/>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a:t>
                  </a:r>
                </a:p>
              </p:txBody>
            </p:sp>
            <p:sp>
              <p:nvSpPr>
                <p:cNvPr id="202" name="Rectangle 2144"/>
                <p:cNvSpPr>
                  <a:spLocks noChangeArrowheads="1"/>
                </p:cNvSpPr>
                <p:nvPr/>
              </p:nvSpPr>
              <p:spPr bwMode="auto">
                <a:xfrm>
                  <a:off x="2524" y="748"/>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1" name="Group 2147"/>
              <p:cNvGrpSpPr/>
              <p:nvPr/>
            </p:nvGrpSpPr>
            <p:grpSpPr bwMode="auto">
              <a:xfrm>
                <a:off x="489" y="1122"/>
                <a:ext cx="682" cy="374"/>
                <a:chOff x="489" y="1122"/>
                <a:chExt cx="682" cy="374"/>
              </a:xfrm>
            </p:grpSpPr>
            <p:sp>
              <p:nvSpPr>
                <p:cNvPr id="199" name="Rectangle 2064"/>
                <p:cNvSpPr>
                  <a:spLocks noChangeArrowheads="1"/>
                </p:cNvSpPr>
                <p:nvPr/>
              </p:nvSpPr>
              <p:spPr bwMode="auto">
                <a:xfrm>
                  <a:off x="532" y="1122"/>
                  <a:ext cx="596"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2</a:t>
                  </a:r>
                </a:p>
              </p:txBody>
            </p:sp>
            <p:sp>
              <p:nvSpPr>
                <p:cNvPr id="200" name="Rectangle 2146"/>
                <p:cNvSpPr>
                  <a:spLocks noChangeArrowheads="1"/>
                </p:cNvSpPr>
                <p:nvPr/>
              </p:nvSpPr>
              <p:spPr bwMode="auto">
                <a:xfrm>
                  <a:off x="489" y="1122"/>
                  <a:ext cx="682"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2" name="Group 2149"/>
              <p:cNvGrpSpPr/>
              <p:nvPr/>
            </p:nvGrpSpPr>
            <p:grpSpPr bwMode="auto">
              <a:xfrm>
                <a:off x="1171" y="1122"/>
                <a:ext cx="640" cy="374"/>
                <a:chOff x="1171" y="1122"/>
                <a:chExt cx="640" cy="374"/>
              </a:xfrm>
            </p:grpSpPr>
            <p:sp>
              <p:nvSpPr>
                <p:cNvPr id="197" name="Rectangle 2065"/>
                <p:cNvSpPr>
                  <a:spLocks noChangeArrowheads="1"/>
                </p:cNvSpPr>
                <p:nvPr/>
              </p:nvSpPr>
              <p:spPr bwMode="auto">
                <a:xfrm>
                  <a:off x="1214" y="1122"/>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p211</a:t>
                  </a:r>
                  <a:endParaRPr lang="en-US" altLang="zh-CN" sz="1400">
                    <a:effectLst/>
                    <a:latin typeface="+mn-lt"/>
                    <a:ea typeface="宋体" panose="02010600030101010101" pitchFamily="2" charset="-122"/>
                  </a:endParaRPr>
                </a:p>
              </p:txBody>
            </p:sp>
            <p:sp>
              <p:nvSpPr>
                <p:cNvPr id="198" name="Rectangle 2148"/>
                <p:cNvSpPr>
                  <a:spLocks noChangeArrowheads="1"/>
                </p:cNvSpPr>
                <p:nvPr/>
              </p:nvSpPr>
              <p:spPr bwMode="auto">
                <a:xfrm>
                  <a:off x="1171" y="1122"/>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3" name="Group 2151"/>
              <p:cNvGrpSpPr/>
              <p:nvPr/>
            </p:nvGrpSpPr>
            <p:grpSpPr bwMode="auto">
              <a:xfrm>
                <a:off x="1811" y="1122"/>
                <a:ext cx="713" cy="374"/>
                <a:chOff x="1811" y="1122"/>
                <a:chExt cx="713" cy="374"/>
              </a:xfrm>
            </p:grpSpPr>
            <p:sp>
              <p:nvSpPr>
                <p:cNvPr id="195" name="Rectangle 2066"/>
                <p:cNvSpPr>
                  <a:spLocks noChangeArrowheads="1"/>
                </p:cNvSpPr>
                <p:nvPr/>
              </p:nvSpPr>
              <p:spPr bwMode="auto">
                <a:xfrm>
                  <a:off x="1854" y="1122"/>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p2</a:t>
                  </a:r>
                  <a:endParaRPr lang="en-US" altLang="zh-CN" sz="1400">
                    <a:effectLst/>
                    <a:latin typeface="+mn-lt"/>
                    <a:ea typeface="宋体" panose="02010600030101010101" pitchFamily="2" charset="-122"/>
                  </a:endParaRPr>
                </a:p>
              </p:txBody>
            </p:sp>
            <p:sp>
              <p:nvSpPr>
                <p:cNvPr id="196" name="Rectangle 2150"/>
                <p:cNvSpPr>
                  <a:spLocks noChangeArrowheads="1"/>
                </p:cNvSpPr>
                <p:nvPr/>
              </p:nvSpPr>
              <p:spPr bwMode="auto">
                <a:xfrm>
                  <a:off x="1811" y="1122"/>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4" name="Group 2153"/>
              <p:cNvGrpSpPr/>
              <p:nvPr/>
            </p:nvGrpSpPr>
            <p:grpSpPr bwMode="auto">
              <a:xfrm>
                <a:off x="2524" y="1122"/>
                <a:ext cx="416" cy="374"/>
                <a:chOff x="2524" y="1122"/>
                <a:chExt cx="416" cy="374"/>
              </a:xfrm>
            </p:grpSpPr>
            <p:sp>
              <p:nvSpPr>
                <p:cNvPr id="193" name="Rectangle 2067"/>
                <p:cNvSpPr>
                  <a:spLocks noChangeArrowheads="1"/>
                </p:cNvSpPr>
                <p:nvPr/>
              </p:nvSpPr>
              <p:spPr bwMode="auto">
                <a:xfrm>
                  <a:off x="2567" y="1122"/>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2</a:t>
                  </a:r>
                </a:p>
              </p:txBody>
            </p:sp>
            <p:sp>
              <p:nvSpPr>
                <p:cNvPr id="194" name="Rectangle 2152"/>
                <p:cNvSpPr>
                  <a:spLocks noChangeArrowheads="1"/>
                </p:cNvSpPr>
                <p:nvPr/>
              </p:nvSpPr>
              <p:spPr bwMode="auto">
                <a:xfrm>
                  <a:off x="2524" y="1122"/>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5" name="Group 2155"/>
              <p:cNvGrpSpPr/>
              <p:nvPr/>
            </p:nvGrpSpPr>
            <p:grpSpPr bwMode="auto">
              <a:xfrm>
                <a:off x="0" y="1496"/>
                <a:ext cx="492" cy="2618"/>
                <a:chOff x="0" y="1496"/>
                <a:chExt cx="492" cy="2618"/>
              </a:xfrm>
            </p:grpSpPr>
            <p:sp>
              <p:nvSpPr>
                <p:cNvPr id="191" name="Rectangle 2068"/>
                <p:cNvSpPr>
                  <a:spLocks noChangeArrowheads="1"/>
                </p:cNvSpPr>
                <p:nvPr/>
              </p:nvSpPr>
              <p:spPr bwMode="auto">
                <a:xfrm>
                  <a:off x="0" y="1496"/>
                  <a:ext cx="492" cy="2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Rectangular</a:t>
                  </a:r>
                </a:p>
                <a:p>
                  <a:pPr algn="ctr"/>
                  <a:r>
                    <a:rPr lang="en-US" altLang="zh-CN" sz="1400" dirty="0">
                      <a:latin typeface="+mn-lt"/>
                    </a:rPr>
                    <a:t>(Orthogonal)</a:t>
                  </a:r>
                </a:p>
                <a:p>
                  <a:pPr algn="ctr"/>
                  <a:r>
                    <a:rPr lang="en-US" altLang="zh-CN" sz="1400" i="1" dirty="0">
                      <a:effectLst/>
                      <a:latin typeface="+mn-lt"/>
                    </a:rPr>
                    <a:t>p</a:t>
                  </a:r>
                  <a:r>
                    <a:rPr lang="en-US" altLang="zh-CN" sz="1400" dirty="0">
                      <a:effectLst/>
                      <a:latin typeface="+mn-lt"/>
                    </a:rPr>
                    <a:t>, </a:t>
                  </a:r>
                  <a:r>
                    <a:rPr lang="en-US" altLang="zh-CN" sz="1400" i="1" dirty="0">
                      <a:effectLst/>
                      <a:latin typeface="+mn-lt"/>
                    </a:rPr>
                    <a:t>c</a:t>
                  </a:r>
                  <a:endParaRPr lang="en-US" altLang="zh-CN" sz="1400" dirty="0">
                    <a:effectLst/>
                    <a:latin typeface="+mn-lt"/>
                  </a:endParaRPr>
                </a:p>
              </p:txBody>
            </p:sp>
            <p:sp>
              <p:nvSpPr>
                <p:cNvPr id="192" name="Rectangle 2154"/>
                <p:cNvSpPr>
                  <a:spLocks noChangeArrowheads="1"/>
                </p:cNvSpPr>
                <p:nvPr/>
              </p:nvSpPr>
              <p:spPr bwMode="auto">
                <a:xfrm>
                  <a:off x="0" y="1496"/>
                  <a:ext cx="489" cy="261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6" name="Group 2157"/>
              <p:cNvGrpSpPr/>
              <p:nvPr/>
            </p:nvGrpSpPr>
            <p:grpSpPr bwMode="auto">
              <a:xfrm>
                <a:off x="489" y="1496"/>
                <a:ext cx="682" cy="1122"/>
                <a:chOff x="489" y="1496"/>
                <a:chExt cx="682" cy="1122"/>
              </a:xfrm>
            </p:grpSpPr>
            <p:sp>
              <p:nvSpPr>
                <p:cNvPr id="189" name="Rectangle 2069"/>
                <p:cNvSpPr>
                  <a:spLocks noChangeArrowheads="1"/>
                </p:cNvSpPr>
                <p:nvPr/>
              </p:nvSpPr>
              <p:spPr bwMode="auto">
                <a:xfrm>
                  <a:off x="532" y="1496"/>
                  <a:ext cx="596" cy="1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a:effectLst/>
                      <a:latin typeface="+mn-lt"/>
                      <a:ea typeface="宋体" panose="02010600030101010101" pitchFamily="2" charset="-122"/>
                    </a:rPr>
                    <a:t>m</a:t>
                  </a:r>
                </a:p>
              </p:txBody>
            </p:sp>
            <p:sp>
              <p:nvSpPr>
                <p:cNvPr id="190" name="Rectangle 2156"/>
                <p:cNvSpPr>
                  <a:spLocks noChangeArrowheads="1"/>
                </p:cNvSpPr>
                <p:nvPr/>
              </p:nvSpPr>
              <p:spPr bwMode="auto">
                <a:xfrm>
                  <a:off x="489" y="1496"/>
                  <a:ext cx="682" cy="112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7" name="Group 2159"/>
              <p:cNvGrpSpPr/>
              <p:nvPr/>
            </p:nvGrpSpPr>
            <p:grpSpPr bwMode="auto">
              <a:xfrm>
                <a:off x="1171" y="1496"/>
                <a:ext cx="640" cy="374"/>
                <a:chOff x="1171" y="1496"/>
                <a:chExt cx="640" cy="374"/>
              </a:xfrm>
            </p:grpSpPr>
            <p:sp>
              <p:nvSpPr>
                <p:cNvPr id="187" name="Rectangle 2070"/>
                <p:cNvSpPr>
                  <a:spLocks noChangeArrowheads="1"/>
                </p:cNvSpPr>
                <p:nvPr/>
              </p:nvSpPr>
              <p:spPr bwMode="auto">
                <a:xfrm>
                  <a:off x="1214" y="1496"/>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p1m1</a:t>
                  </a:r>
                  <a:endParaRPr lang="en-US" altLang="zh-CN" sz="1400">
                    <a:effectLst/>
                    <a:latin typeface="+mn-lt"/>
                    <a:ea typeface="宋体" panose="02010600030101010101" pitchFamily="2" charset="-122"/>
                  </a:endParaRPr>
                </a:p>
              </p:txBody>
            </p:sp>
            <p:sp>
              <p:nvSpPr>
                <p:cNvPr id="188" name="Rectangle 2158"/>
                <p:cNvSpPr>
                  <a:spLocks noChangeArrowheads="1"/>
                </p:cNvSpPr>
                <p:nvPr/>
              </p:nvSpPr>
              <p:spPr bwMode="auto">
                <a:xfrm>
                  <a:off x="1171" y="1496"/>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8" name="Group 2161"/>
              <p:cNvGrpSpPr/>
              <p:nvPr/>
            </p:nvGrpSpPr>
            <p:grpSpPr bwMode="auto">
              <a:xfrm>
                <a:off x="1811" y="1496"/>
                <a:ext cx="713" cy="374"/>
                <a:chOff x="1811" y="1496"/>
                <a:chExt cx="713" cy="374"/>
              </a:xfrm>
            </p:grpSpPr>
            <p:sp>
              <p:nvSpPr>
                <p:cNvPr id="185" name="Rectangle 2071"/>
                <p:cNvSpPr>
                  <a:spLocks noChangeArrowheads="1"/>
                </p:cNvSpPr>
                <p:nvPr/>
              </p:nvSpPr>
              <p:spPr bwMode="auto">
                <a:xfrm>
                  <a:off x="1854" y="1496"/>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pm</a:t>
                  </a:r>
                  <a:endParaRPr lang="en-US" altLang="zh-CN" sz="1400">
                    <a:effectLst/>
                    <a:latin typeface="+mn-lt"/>
                    <a:ea typeface="宋体" panose="02010600030101010101" pitchFamily="2" charset="-122"/>
                  </a:endParaRPr>
                </a:p>
              </p:txBody>
            </p:sp>
            <p:sp>
              <p:nvSpPr>
                <p:cNvPr id="186" name="Rectangle 2160"/>
                <p:cNvSpPr>
                  <a:spLocks noChangeArrowheads="1"/>
                </p:cNvSpPr>
                <p:nvPr/>
              </p:nvSpPr>
              <p:spPr bwMode="auto">
                <a:xfrm>
                  <a:off x="1811" y="1496"/>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29" name="Group 2163"/>
              <p:cNvGrpSpPr/>
              <p:nvPr/>
            </p:nvGrpSpPr>
            <p:grpSpPr bwMode="auto">
              <a:xfrm>
                <a:off x="2524" y="1496"/>
                <a:ext cx="416" cy="374"/>
                <a:chOff x="2524" y="1496"/>
                <a:chExt cx="416" cy="374"/>
              </a:xfrm>
            </p:grpSpPr>
            <p:sp>
              <p:nvSpPr>
                <p:cNvPr id="183" name="Rectangle 2072"/>
                <p:cNvSpPr>
                  <a:spLocks noChangeArrowheads="1"/>
                </p:cNvSpPr>
                <p:nvPr/>
              </p:nvSpPr>
              <p:spPr bwMode="auto">
                <a:xfrm>
                  <a:off x="2567" y="1496"/>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3</a:t>
                  </a:r>
                </a:p>
              </p:txBody>
            </p:sp>
            <p:sp>
              <p:nvSpPr>
                <p:cNvPr id="184" name="Rectangle 2162"/>
                <p:cNvSpPr>
                  <a:spLocks noChangeArrowheads="1"/>
                </p:cNvSpPr>
                <p:nvPr/>
              </p:nvSpPr>
              <p:spPr bwMode="auto">
                <a:xfrm>
                  <a:off x="2524" y="1496"/>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0" name="Group 2165"/>
              <p:cNvGrpSpPr/>
              <p:nvPr/>
            </p:nvGrpSpPr>
            <p:grpSpPr bwMode="auto">
              <a:xfrm>
                <a:off x="1171" y="1870"/>
                <a:ext cx="640" cy="374"/>
                <a:chOff x="1171" y="1870"/>
                <a:chExt cx="640" cy="374"/>
              </a:xfrm>
            </p:grpSpPr>
            <p:sp>
              <p:nvSpPr>
                <p:cNvPr id="181" name="Rectangle 2073"/>
                <p:cNvSpPr>
                  <a:spLocks noChangeArrowheads="1"/>
                </p:cNvSpPr>
                <p:nvPr/>
              </p:nvSpPr>
              <p:spPr bwMode="auto">
                <a:xfrm>
                  <a:off x="1214" y="1870"/>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p1g1</a:t>
                  </a:r>
                  <a:endParaRPr lang="en-US" altLang="zh-CN" sz="1400">
                    <a:effectLst/>
                    <a:latin typeface="+mn-lt"/>
                    <a:ea typeface="宋体" panose="02010600030101010101" pitchFamily="2" charset="-122"/>
                  </a:endParaRPr>
                </a:p>
              </p:txBody>
            </p:sp>
            <p:sp>
              <p:nvSpPr>
                <p:cNvPr id="182" name="Rectangle 2164"/>
                <p:cNvSpPr>
                  <a:spLocks noChangeArrowheads="1"/>
                </p:cNvSpPr>
                <p:nvPr/>
              </p:nvSpPr>
              <p:spPr bwMode="auto">
                <a:xfrm>
                  <a:off x="1171" y="1870"/>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1" name="Group 2167"/>
              <p:cNvGrpSpPr/>
              <p:nvPr/>
            </p:nvGrpSpPr>
            <p:grpSpPr bwMode="auto">
              <a:xfrm>
                <a:off x="1811" y="1870"/>
                <a:ext cx="713" cy="374"/>
                <a:chOff x="1811" y="1870"/>
                <a:chExt cx="713" cy="374"/>
              </a:xfrm>
            </p:grpSpPr>
            <p:sp>
              <p:nvSpPr>
                <p:cNvPr id="179" name="Rectangle 2074"/>
                <p:cNvSpPr>
                  <a:spLocks noChangeArrowheads="1"/>
                </p:cNvSpPr>
                <p:nvPr/>
              </p:nvSpPr>
              <p:spPr bwMode="auto">
                <a:xfrm>
                  <a:off x="1854" y="1870"/>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Pg</a:t>
                  </a:r>
                  <a:endParaRPr lang="en-US" altLang="zh-CN" sz="1400">
                    <a:effectLst/>
                    <a:latin typeface="+mn-lt"/>
                    <a:ea typeface="宋体" panose="02010600030101010101" pitchFamily="2" charset="-122"/>
                  </a:endParaRPr>
                </a:p>
              </p:txBody>
            </p:sp>
            <p:sp>
              <p:nvSpPr>
                <p:cNvPr id="180" name="Rectangle 2166"/>
                <p:cNvSpPr>
                  <a:spLocks noChangeArrowheads="1"/>
                </p:cNvSpPr>
                <p:nvPr/>
              </p:nvSpPr>
              <p:spPr bwMode="auto">
                <a:xfrm>
                  <a:off x="1811" y="1870"/>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2" name="Group 2169"/>
              <p:cNvGrpSpPr/>
              <p:nvPr/>
            </p:nvGrpSpPr>
            <p:grpSpPr bwMode="auto">
              <a:xfrm>
                <a:off x="2524" y="1870"/>
                <a:ext cx="416" cy="374"/>
                <a:chOff x="2524" y="1870"/>
                <a:chExt cx="416" cy="374"/>
              </a:xfrm>
            </p:grpSpPr>
            <p:sp>
              <p:nvSpPr>
                <p:cNvPr id="177" name="Rectangle 2075"/>
                <p:cNvSpPr>
                  <a:spLocks noChangeArrowheads="1"/>
                </p:cNvSpPr>
                <p:nvPr/>
              </p:nvSpPr>
              <p:spPr bwMode="auto">
                <a:xfrm>
                  <a:off x="2567" y="1870"/>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4</a:t>
                  </a:r>
                </a:p>
              </p:txBody>
            </p:sp>
            <p:sp>
              <p:nvSpPr>
                <p:cNvPr id="178" name="Rectangle 2168"/>
                <p:cNvSpPr>
                  <a:spLocks noChangeArrowheads="1"/>
                </p:cNvSpPr>
                <p:nvPr/>
              </p:nvSpPr>
              <p:spPr bwMode="auto">
                <a:xfrm>
                  <a:off x="2524" y="1870"/>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3" name="Group 2171"/>
              <p:cNvGrpSpPr/>
              <p:nvPr/>
            </p:nvGrpSpPr>
            <p:grpSpPr bwMode="auto">
              <a:xfrm>
                <a:off x="1171" y="2244"/>
                <a:ext cx="640" cy="374"/>
                <a:chOff x="1171" y="2244"/>
                <a:chExt cx="640" cy="374"/>
              </a:xfrm>
            </p:grpSpPr>
            <p:sp>
              <p:nvSpPr>
                <p:cNvPr id="175" name="Rectangle 2076"/>
                <p:cNvSpPr>
                  <a:spLocks noChangeArrowheads="1"/>
                </p:cNvSpPr>
                <p:nvPr/>
              </p:nvSpPr>
              <p:spPr bwMode="auto">
                <a:xfrm>
                  <a:off x="1214" y="2244"/>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c1m1</a:t>
                  </a:r>
                  <a:endParaRPr lang="en-US" altLang="zh-CN" sz="1400">
                    <a:effectLst/>
                    <a:latin typeface="+mn-lt"/>
                    <a:ea typeface="宋体" panose="02010600030101010101" pitchFamily="2" charset="-122"/>
                  </a:endParaRPr>
                </a:p>
              </p:txBody>
            </p:sp>
            <p:sp>
              <p:nvSpPr>
                <p:cNvPr id="176" name="Rectangle 2170"/>
                <p:cNvSpPr>
                  <a:spLocks noChangeArrowheads="1"/>
                </p:cNvSpPr>
                <p:nvPr/>
              </p:nvSpPr>
              <p:spPr bwMode="auto">
                <a:xfrm>
                  <a:off x="1171" y="2244"/>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4" name="Group 2173"/>
              <p:cNvGrpSpPr/>
              <p:nvPr/>
            </p:nvGrpSpPr>
            <p:grpSpPr bwMode="auto">
              <a:xfrm>
                <a:off x="1811" y="2244"/>
                <a:ext cx="713" cy="374"/>
                <a:chOff x="1811" y="2244"/>
                <a:chExt cx="713" cy="374"/>
              </a:xfrm>
            </p:grpSpPr>
            <p:sp>
              <p:nvSpPr>
                <p:cNvPr id="173" name="Rectangle 2077"/>
                <p:cNvSpPr>
                  <a:spLocks noChangeArrowheads="1"/>
                </p:cNvSpPr>
                <p:nvPr/>
              </p:nvSpPr>
              <p:spPr bwMode="auto">
                <a:xfrm>
                  <a:off x="1854" y="2244"/>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dirty="0">
                      <a:effectLst/>
                      <a:latin typeface="+mn-lt"/>
                      <a:ea typeface="宋体" panose="02010600030101010101" pitchFamily="2" charset="-122"/>
                    </a:rPr>
                    <a:t>cm</a:t>
                  </a:r>
                  <a:endParaRPr lang="en-US" altLang="zh-CN" sz="1400" dirty="0">
                    <a:effectLst/>
                    <a:latin typeface="+mn-lt"/>
                    <a:ea typeface="宋体" panose="02010600030101010101" pitchFamily="2" charset="-122"/>
                  </a:endParaRPr>
                </a:p>
              </p:txBody>
            </p:sp>
            <p:sp>
              <p:nvSpPr>
                <p:cNvPr id="174" name="Rectangle 2172"/>
                <p:cNvSpPr>
                  <a:spLocks noChangeArrowheads="1"/>
                </p:cNvSpPr>
                <p:nvPr/>
              </p:nvSpPr>
              <p:spPr bwMode="auto">
                <a:xfrm>
                  <a:off x="1811" y="2244"/>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5" name="Group 2175"/>
              <p:cNvGrpSpPr/>
              <p:nvPr/>
            </p:nvGrpSpPr>
            <p:grpSpPr bwMode="auto">
              <a:xfrm>
                <a:off x="2524" y="2244"/>
                <a:ext cx="416" cy="374"/>
                <a:chOff x="2524" y="2244"/>
                <a:chExt cx="416" cy="374"/>
              </a:xfrm>
            </p:grpSpPr>
            <p:sp>
              <p:nvSpPr>
                <p:cNvPr id="171" name="Rectangle 2078"/>
                <p:cNvSpPr>
                  <a:spLocks noChangeArrowheads="1"/>
                </p:cNvSpPr>
                <p:nvPr/>
              </p:nvSpPr>
              <p:spPr bwMode="auto">
                <a:xfrm>
                  <a:off x="2567" y="2244"/>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5</a:t>
                  </a:r>
                </a:p>
              </p:txBody>
            </p:sp>
            <p:sp>
              <p:nvSpPr>
                <p:cNvPr id="172" name="Rectangle 2174"/>
                <p:cNvSpPr>
                  <a:spLocks noChangeArrowheads="1"/>
                </p:cNvSpPr>
                <p:nvPr/>
              </p:nvSpPr>
              <p:spPr bwMode="auto">
                <a:xfrm>
                  <a:off x="2524" y="2244"/>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6" name="Group 2177"/>
              <p:cNvGrpSpPr/>
              <p:nvPr/>
            </p:nvGrpSpPr>
            <p:grpSpPr bwMode="auto">
              <a:xfrm>
                <a:off x="489" y="2618"/>
                <a:ext cx="682" cy="1496"/>
                <a:chOff x="489" y="2618"/>
                <a:chExt cx="682" cy="1496"/>
              </a:xfrm>
            </p:grpSpPr>
            <p:sp>
              <p:nvSpPr>
                <p:cNvPr id="169" name="Rectangle 2079"/>
                <p:cNvSpPr>
                  <a:spLocks noChangeArrowheads="1"/>
                </p:cNvSpPr>
                <p:nvPr/>
              </p:nvSpPr>
              <p:spPr bwMode="auto">
                <a:xfrm>
                  <a:off x="532" y="2618"/>
                  <a:ext cx="596" cy="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2</a:t>
                  </a:r>
                  <a:r>
                    <a:rPr lang="en-US" altLang="zh-CN" sz="1400">
                      <a:effectLst/>
                      <a:latin typeface="+mn-lt"/>
                      <a:ea typeface="宋体" panose="02010600030101010101" pitchFamily="2" charset="-122"/>
                    </a:rPr>
                    <a:t>mm</a:t>
                  </a:r>
                </a:p>
              </p:txBody>
            </p:sp>
            <p:sp>
              <p:nvSpPr>
                <p:cNvPr id="170" name="Rectangle 2176"/>
                <p:cNvSpPr>
                  <a:spLocks noChangeArrowheads="1"/>
                </p:cNvSpPr>
                <p:nvPr/>
              </p:nvSpPr>
              <p:spPr bwMode="auto">
                <a:xfrm>
                  <a:off x="489" y="2618"/>
                  <a:ext cx="682" cy="1496"/>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7" name="Group 2179"/>
              <p:cNvGrpSpPr/>
              <p:nvPr/>
            </p:nvGrpSpPr>
            <p:grpSpPr bwMode="auto">
              <a:xfrm>
                <a:off x="1171" y="2618"/>
                <a:ext cx="640" cy="374"/>
                <a:chOff x="1171" y="2618"/>
                <a:chExt cx="640" cy="374"/>
              </a:xfrm>
            </p:grpSpPr>
            <p:sp>
              <p:nvSpPr>
                <p:cNvPr id="167" name="Rectangle 2080"/>
                <p:cNvSpPr>
                  <a:spLocks noChangeArrowheads="1"/>
                </p:cNvSpPr>
                <p:nvPr/>
              </p:nvSpPr>
              <p:spPr bwMode="auto">
                <a:xfrm>
                  <a:off x="1214" y="2618"/>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p2mm</a:t>
                  </a:r>
                  <a:endParaRPr lang="en-US" altLang="zh-CN" sz="1400">
                    <a:effectLst/>
                    <a:latin typeface="+mn-lt"/>
                    <a:ea typeface="宋体" panose="02010600030101010101" pitchFamily="2" charset="-122"/>
                  </a:endParaRPr>
                </a:p>
              </p:txBody>
            </p:sp>
            <p:sp>
              <p:nvSpPr>
                <p:cNvPr id="168" name="Rectangle 2178"/>
                <p:cNvSpPr>
                  <a:spLocks noChangeArrowheads="1"/>
                </p:cNvSpPr>
                <p:nvPr/>
              </p:nvSpPr>
              <p:spPr bwMode="auto">
                <a:xfrm>
                  <a:off x="1171" y="2618"/>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8" name="Group 2181"/>
              <p:cNvGrpSpPr/>
              <p:nvPr/>
            </p:nvGrpSpPr>
            <p:grpSpPr bwMode="auto">
              <a:xfrm>
                <a:off x="1811" y="2618"/>
                <a:ext cx="713" cy="374"/>
                <a:chOff x="1811" y="2618"/>
                <a:chExt cx="713" cy="374"/>
              </a:xfrm>
            </p:grpSpPr>
            <p:sp>
              <p:nvSpPr>
                <p:cNvPr id="165" name="Rectangle 2081"/>
                <p:cNvSpPr>
                  <a:spLocks noChangeArrowheads="1"/>
                </p:cNvSpPr>
                <p:nvPr/>
              </p:nvSpPr>
              <p:spPr bwMode="auto">
                <a:xfrm>
                  <a:off x="1854" y="2618"/>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pmm</a:t>
                  </a:r>
                  <a:endParaRPr lang="en-US" altLang="zh-CN" sz="1400">
                    <a:effectLst/>
                    <a:latin typeface="+mn-lt"/>
                    <a:ea typeface="宋体" panose="02010600030101010101" pitchFamily="2" charset="-122"/>
                  </a:endParaRPr>
                </a:p>
              </p:txBody>
            </p:sp>
            <p:sp>
              <p:nvSpPr>
                <p:cNvPr id="166" name="Rectangle 2180"/>
                <p:cNvSpPr>
                  <a:spLocks noChangeArrowheads="1"/>
                </p:cNvSpPr>
                <p:nvPr/>
              </p:nvSpPr>
              <p:spPr bwMode="auto">
                <a:xfrm>
                  <a:off x="1811" y="2618"/>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39" name="Group 2183"/>
              <p:cNvGrpSpPr/>
              <p:nvPr/>
            </p:nvGrpSpPr>
            <p:grpSpPr bwMode="auto">
              <a:xfrm>
                <a:off x="2524" y="2618"/>
                <a:ext cx="416" cy="374"/>
                <a:chOff x="2524" y="2618"/>
                <a:chExt cx="416" cy="374"/>
              </a:xfrm>
            </p:grpSpPr>
            <p:sp>
              <p:nvSpPr>
                <p:cNvPr id="163" name="Rectangle 2082"/>
                <p:cNvSpPr>
                  <a:spLocks noChangeArrowheads="1"/>
                </p:cNvSpPr>
                <p:nvPr/>
              </p:nvSpPr>
              <p:spPr bwMode="auto">
                <a:xfrm>
                  <a:off x="2567" y="2618"/>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6</a:t>
                  </a:r>
                </a:p>
              </p:txBody>
            </p:sp>
            <p:sp>
              <p:nvSpPr>
                <p:cNvPr id="164" name="Rectangle 2182"/>
                <p:cNvSpPr>
                  <a:spLocks noChangeArrowheads="1"/>
                </p:cNvSpPr>
                <p:nvPr/>
              </p:nvSpPr>
              <p:spPr bwMode="auto">
                <a:xfrm>
                  <a:off x="2524" y="2618"/>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0" name="Group 2185"/>
              <p:cNvGrpSpPr/>
              <p:nvPr/>
            </p:nvGrpSpPr>
            <p:grpSpPr bwMode="auto">
              <a:xfrm>
                <a:off x="1171" y="2992"/>
                <a:ext cx="640" cy="374"/>
                <a:chOff x="1171" y="2992"/>
                <a:chExt cx="640" cy="374"/>
              </a:xfrm>
            </p:grpSpPr>
            <p:sp>
              <p:nvSpPr>
                <p:cNvPr id="161" name="Rectangle 2083"/>
                <p:cNvSpPr>
                  <a:spLocks noChangeArrowheads="1"/>
                </p:cNvSpPr>
                <p:nvPr/>
              </p:nvSpPr>
              <p:spPr bwMode="auto">
                <a:xfrm>
                  <a:off x="1214" y="2992"/>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p2mg</a:t>
                  </a:r>
                  <a:endParaRPr lang="en-US" altLang="zh-CN" sz="1400">
                    <a:effectLst/>
                    <a:latin typeface="+mn-lt"/>
                    <a:ea typeface="宋体" panose="02010600030101010101" pitchFamily="2" charset="-122"/>
                  </a:endParaRPr>
                </a:p>
              </p:txBody>
            </p:sp>
            <p:sp>
              <p:nvSpPr>
                <p:cNvPr id="162" name="Rectangle 2184"/>
                <p:cNvSpPr>
                  <a:spLocks noChangeArrowheads="1"/>
                </p:cNvSpPr>
                <p:nvPr/>
              </p:nvSpPr>
              <p:spPr bwMode="auto">
                <a:xfrm>
                  <a:off x="1171" y="2992"/>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1" name="Group 2187"/>
              <p:cNvGrpSpPr/>
              <p:nvPr/>
            </p:nvGrpSpPr>
            <p:grpSpPr bwMode="auto">
              <a:xfrm>
                <a:off x="1811" y="2992"/>
                <a:ext cx="713" cy="374"/>
                <a:chOff x="1811" y="2992"/>
                <a:chExt cx="713" cy="374"/>
              </a:xfrm>
            </p:grpSpPr>
            <p:sp>
              <p:nvSpPr>
                <p:cNvPr id="159" name="Rectangle 2084"/>
                <p:cNvSpPr>
                  <a:spLocks noChangeArrowheads="1"/>
                </p:cNvSpPr>
                <p:nvPr/>
              </p:nvSpPr>
              <p:spPr bwMode="auto">
                <a:xfrm>
                  <a:off x="1854" y="2992"/>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pmg</a:t>
                  </a:r>
                  <a:endParaRPr lang="en-US" altLang="zh-CN" sz="1400">
                    <a:effectLst/>
                    <a:latin typeface="+mn-lt"/>
                    <a:ea typeface="宋体" panose="02010600030101010101" pitchFamily="2" charset="-122"/>
                  </a:endParaRPr>
                </a:p>
              </p:txBody>
            </p:sp>
            <p:sp>
              <p:nvSpPr>
                <p:cNvPr id="160" name="Rectangle 2186"/>
                <p:cNvSpPr>
                  <a:spLocks noChangeArrowheads="1"/>
                </p:cNvSpPr>
                <p:nvPr/>
              </p:nvSpPr>
              <p:spPr bwMode="auto">
                <a:xfrm>
                  <a:off x="1811" y="2992"/>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2" name="Group 2189"/>
              <p:cNvGrpSpPr/>
              <p:nvPr/>
            </p:nvGrpSpPr>
            <p:grpSpPr bwMode="auto">
              <a:xfrm>
                <a:off x="2524" y="2992"/>
                <a:ext cx="416" cy="374"/>
                <a:chOff x="2524" y="2992"/>
                <a:chExt cx="416" cy="374"/>
              </a:xfrm>
            </p:grpSpPr>
            <p:sp>
              <p:nvSpPr>
                <p:cNvPr id="157" name="Rectangle 2085"/>
                <p:cNvSpPr>
                  <a:spLocks noChangeArrowheads="1"/>
                </p:cNvSpPr>
                <p:nvPr/>
              </p:nvSpPr>
              <p:spPr bwMode="auto">
                <a:xfrm>
                  <a:off x="2567" y="2992"/>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7</a:t>
                  </a:r>
                </a:p>
              </p:txBody>
            </p:sp>
            <p:sp>
              <p:nvSpPr>
                <p:cNvPr id="158" name="Rectangle 2188"/>
                <p:cNvSpPr>
                  <a:spLocks noChangeArrowheads="1"/>
                </p:cNvSpPr>
                <p:nvPr/>
              </p:nvSpPr>
              <p:spPr bwMode="auto">
                <a:xfrm>
                  <a:off x="2524" y="2992"/>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3" name="Group 2191"/>
              <p:cNvGrpSpPr/>
              <p:nvPr/>
            </p:nvGrpSpPr>
            <p:grpSpPr bwMode="auto">
              <a:xfrm>
                <a:off x="1171" y="3366"/>
                <a:ext cx="640" cy="374"/>
                <a:chOff x="1171" y="3366"/>
                <a:chExt cx="640" cy="374"/>
              </a:xfrm>
            </p:grpSpPr>
            <p:sp>
              <p:nvSpPr>
                <p:cNvPr id="155" name="Rectangle 2086"/>
                <p:cNvSpPr>
                  <a:spLocks noChangeArrowheads="1"/>
                </p:cNvSpPr>
                <p:nvPr/>
              </p:nvSpPr>
              <p:spPr bwMode="auto">
                <a:xfrm>
                  <a:off x="1214" y="3366"/>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p2gg</a:t>
                  </a:r>
                  <a:endParaRPr lang="en-US" altLang="zh-CN" sz="1400">
                    <a:effectLst/>
                    <a:latin typeface="+mn-lt"/>
                    <a:ea typeface="宋体" panose="02010600030101010101" pitchFamily="2" charset="-122"/>
                  </a:endParaRPr>
                </a:p>
              </p:txBody>
            </p:sp>
            <p:sp>
              <p:nvSpPr>
                <p:cNvPr id="156" name="Rectangle 2190"/>
                <p:cNvSpPr>
                  <a:spLocks noChangeArrowheads="1"/>
                </p:cNvSpPr>
                <p:nvPr/>
              </p:nvSpPr>
              <p:spPr bwMode="auto">
                <a:xfrm>
                  <a:off x="1171" y="3366"/>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4" name="Group 2193"/>
              <p:cNvGrpSpPr/>
              <p:nvPr/>
            </p:nvGrpSpPr>
            <p:grpSpPr bwMode="auto">
              <a:xfrm>
                <a:off x="1811" y="3366"/>
                <a:ext cx="713" cy="374"/>
                <a:chOff x="1811" y="3366"/>
                <a:chExt cx="713" cy="374"/>
              </a:xfrm>
            </p:grpSpPr>
            <p:sp>
              <p:nvSpPr>
                <p:cNvPr id="153" name="Rectangle 2087"/>
                <p:cNvSpPr>
                  <a:spLocks noChangeArrowheads="1"/>
                </p:cNvSpPr>
                <p:nvPr/>
              </p:nvSpPr>
              <p:spPr bwMode="auto">
                <a:xfrm>
                  <a:off x="1854" y="3366"/>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pgg</a:t>
                  </a:r>
                  <a:endParaRPr lang="en-US" altLang="zh-CN" sz="1400">
                    <a:effectLst/>
                    <a:latin typeface="+mn-lt"/>
                    <a:ea typeface="宋体" panose="02010600030101010101" pitchFamily="2" charset="-122"/>
                  </a:endParaRPr>
                </a:p>
              </p:txBody>
            </p:sp>
            <p:sp>
              <p:nvSpPr>
                <p:cNvPr id="154" name="Rectangle 2192"/>
                <p:cNvSpPr>
                  <a:spLocks noChangeArrowheads="1"/>
                </p:cNvSpPr>
                <p:nvPr/>
              </p:nvSpPr>
              <p:spPr bwMode="auto">
                <a:xfrm>
                  <a:off x="1811" y="3366"/>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5" name="Group 2195"/>
              <p:cNvGrpSpPr/>
              <p:nvPr/>
            </p:nvGrpSpPr>
            <p:grpSpPr bwMode="auto">
              <a:xfrm>
                <a:off x="2524" y="3366"/>
                <a:ext cx="416" cy="374"/>
                <a:chOff x="2524" y="3366"/>
                <a:chExt cx="416" cy="374"/>
              </a:xfrm>
            </p:grpSpPr>
            <p:sp>
              <p:nvSpPr>
                <p:cNvPr id="151" name="Rectangle 2088"/>
                <p:cNvSpPr>
                  <a:spLocks noChangeArrowheads="1"/>
                </p:cNvSpPr>
                <p:nvPr/>
              </p:nvSpPr>
              <p:spPr bwMode="auto">
                <a:xfrm>
                  <a:off x="2567" y="3366"/>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8</a:t>
                  </a:r>
                </a:p>
              </p:txBody>
            </p:sp>
            <p:sp>
              <p:nvSpPr>
                <p:cNvPr id="152" name="Rectangle 2194"/>
                <p:cNvSpPr>
                  <a:spLocks noChangeArrowheads="1"/>
                </p:cNvSpPr>
                <p:nvPr/>
              </p:nvSpPr>
              <p:spPr bwMode="auto">
                <a:xfrm>
                  <a:off x="2524" y="3366"/>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6" name="Group 2197"/>
              <p:cNvGrpSpPr/>
              <p:nvPr/>
            </p:nvGrpSpPr>
            <p:grpSpPr bwMode="auto">
              <a:xfrm>
                <a:off x="1171" y="3740"/>
                <a:ext cx="640" cy="374"/>
                <a:chOff x="1171" y="3740"/>
                <a:chExt cx="640" cy="374"/>
              </a:xfrm>
            </p:grpSpPr>
            <p:sp>
              <p:nvSpPr>
                <p:cNvPr id="149" name="Rectangle 2089"/>
                <p:cNvSpPr>
                  <a:spLocks noChangeArrowheads="1"/>
                </p:cNvSpPr>
                <p:nvPr/>
              </p:nvSpPr>
              <p:spPr bwMode="auto">
                <a:xfrm>
                  <a:off x="1214" y="3740"/>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c2mm</a:t>
                  </a:r>
                  <a:endParaRPr lang="en-US" altLang="zh-CN" sz="1400">
                    <a:effectLst/>
                    <a:latin typeface="+mn-lt"/>
                    <a:ea typeface="宋体" panose="02010600030101010101" pitchFamily="2" charset="-122"/>
                  </a:endParaRPr>
                </a:p>
              </p:txBody>
            </p:sp>
            <p:sp>
              <p:nvSpPr>
                <p:cNvPr id="150" name="Rectangle 2196"/>
                <p:cNvSpPr>
                  <a:spLocks noChangeArrowheads="1"/>
                </p:cNvSpPr>
                <p:nvPr/>
              </p:nvSpPr>
              <p:spPr bwMode="auto">
                <a:xfrm>
                  <a:off x="1171" y="3740"/>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7" name="Group 2199"/>
              <p:cNvGrpSpPr/>
              <p:nvPr/>
            </p:nvGrpSpPr>
            <p:grpSpPr bwMode="auto">
              <a:xfrm>
                <a:off x="1811" y="3740"/>
                <a:ext cx="713" cy="374"/>
                <a:chOff x="1811" y="3740"/>
                <a:chExt cx="713" cy="374"/>
              </a:xfrm>
            </p:grpSpPr>
            <p:sp>
              <p:nvSpPr>
                <p:cNvPr id="147" name="Rectangle 2090"/>
                <p:cNvSpPr>
                  <a:spLocks noChangeArrowheads="1"/>
                </p:cNvSpPr>
                <p:nvPr/>
              </p:nvSpPr>
              <p:spPr bwMode="auto">
                <a:xfrm>
                  <a:off x="1854" y="3740"/>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cmm</a:t>
                  </a:r>
                  <a:endParaRPr lang="en-US" altLang="zh-CN" sz="1400">
                    <a:effectLst/>
                    <a:latin typeface="+mn-lt"/>
                    <a:ea typeface="宋体" panose="02010600030101010101" pitchFamily="2" charset="-122"/>
                  </a:endParaRPr>
                </a:p>
              </p:txBody>
            </p:sp>
            <p:sp>
              <p:nvSpPr>
                <p:cNvPr id="148" name="Rectangle 2198"/>
                <p:cNvSpPr>
                  <a:spLocks noChangeArrowheads="1"/>
                </p:cNvSpPr>
                <p:nvPr/>
              </p:nvSpPr>
              <p:spPr bwMode="auto">
                <a:xfrm>
                  <a:off x="1811" y="3740"/>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8" name="Group 2201"/>
              <p:cNvGrpSpPr/>
              <p:nvPr/>
            </p:nvGrpSpPr>
            <p:grpSpPr bwMode="auto">
              <a:xfrm>
                <a:off x="2524" y="3740"/>
                <a:ext cx="416" cy="374"/>
                <a:chOff x="2524" y="3740"/>
                <a:chExt cx="416" cy="374"/>
              </a:xfrm>
            </p:grpSpPr>
            <p:sp>
              <p:nvSpPr>
                <p:cNvPr id="145" name="Rectangle 2091"/>
                <p:cNvSpPr>
                  <a:spLocks noChangeArrowheads="1"/>
                </p:cNvSpPr>
                <p:nvPr/>
              </p:nvSpPr>
              <p:spPr bwMode="auto">
                <a:xfrm>
                  <a:off x="2567" y="3740"/>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9</a:t>
                  </a:r>
                </a:p>
              </p:txBody>
            </p:sp>
            <p:sp>
              <p:nvSpPr>
                <p:cNvPr id="146" name="Rectangle 2200"/>
                <p:cNvSpPr>
                  <a:spLocks noChangeArrowheads="1"/>
                </p:cNvSpPr>
                <p:nvPr/>
              </p:nvSpPr>
              <p:spPr bwMode="auto">
                <a:xfrm>
                  <a:off x="2524" y="3740"/>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49" name="Group 2203"/>
              <p:cNvGrpSpPr/>
              <p:nvPr/>
            </p:nvGrpSpPr>
            <p:grpSpPr bwMode="auto">
              <a:xfrm>
                <a:off x="-22" y="4114"/>
                <a:ext cx="517" cy="1122"/>
                <a:chOff x="-22" y="4114"/>
                <a:chExt cx="517" cy="1122"/>
              </a:xfrm>
            </p:grpSpPr>
            <p:sp>
              <p:nvSpPr>
                <p:cNvPr id="143" name="Rectangle 2092"/>
                <p:cNvSpPr>
                  <a:spLocks noChangeArrowheads="1"/>
                </p:cNvSpPr>
                <p:nvPr/>
              </p:nvSpPr>
              <p:spPr bwMode="auto">
                <a:xfrm>
                  <a:off x="-22" y="4114"/>
                  <a:ext cx="517" cy="1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tabLst>
                      <a:tab pos="266700" algn="r"/>
                      <a:tab pos="2636520" algn="ctr"/>
                      <a:tab pos="5273675" algn="r"/>
                    </a:tabLst>
                    <a:defRPr sz="2400">
                      <a:solidFill>
                        <a:schemeClr val="tx1"/>
                      </a:solidFill>
                      <a:latin typeface="Times New Roman" panose="02020603050405020304" pitchFamily="18" charset="0"/>
                    </a:defRPr>
                  </a:lvl1pPr>
                  <a:lvl2pPr algn="l">
                    <a:tabLst>
                      <a:tab pos="266700" algn="r"/>
                      <a:tab pos="2636520" algn="ctr"/>
                      <a:tab pos="5273675" algn="r"/>
                    </a:tabLst>
                    <a:defRPr sz="2400">
                      <a:solidFill>
                        <a:schemeClr val="tx1"/>
                      </a:solidFill>
                      <a:latin typeface="Times New Roman" panose="02020603050405020304" pitchFamily="18" charset="0"/>
                    </a:defRPr>
                  </a:lvl2pPr>
                  <a:lvl3pPr algn="l">
                    <a:tabLst>
                      <a:tab pos="266700" algn="r"/>
                      <a:tab pos="2636520" algn="ctr"/>
                      <a:tab pos="5273675" algn="r"/>
                    </a:tabLst>
                    <a:defRPr sz="2400">
                      <a:solidFill>
                        <a:schemeClr val="tx1"/>
                      </a:solidFill>
                      <a:latin typeface="Times New Roman" panose="02020603050405020304" pitchFamily="18" charset="0"/>
                    </a:defRPr>
                  </a:lvl3pPr>
                  <a:lvl4pPr algn="l">
                    <a:tabLst>
                      <a:tab pos="266700" algn="r"/>
                      <a:tab pos="2636520" algn="ctr"/>
                      <a:tab pos="5273675" algn="r"/>
                    </a:tabLst>
                    <a:defRPr sz="2400">
                      <a:solidFill>
                        <a:schemeClr val="tx1"/>
                      </a:solidFill>
                      <a:latin typeface="Times New Roman" panose="02020603050405020304" pitchFamily="18" charset="0"/>
                    </a:defRPr>
                  </a:lvl4pPr>
                  <a:lvl5pPr algn="l">
                    <a:tabLst>
                      <a:tab pos="266700" algn="r"/>
                      <a:tab pos="2636520" algn="ctr"/>
                      <a:tab pos="5273675" algn="r"/>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266700" algn="r"/>
                      <a:tab pos="2636520" algn="ctr"/>
                      <a:tab pos="5273675" algn="r"/>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266700" algn="r"/>
                      <a:tab pos="2636520" algn="ctr"/>
                      <a:tab pos="5273675" algn="r"/>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266700" algn="r"/>
                      <a:tab pos="2636520" algn="ctr"/>
                      <a:tab pos="5273675" algn="r"/>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266700" algn="r"/>
                      <a:tab pos="2636520" algn="ctr"/>
                      <a:tab pos="5273675" algn="r"/>
                    </a:tabLst>
                    <a:defRPr sz="2400">
                      <a:solidFill>
                        <a:schemeClr val="tx1"/>
                      </a:solidFill>
                      <a:latin typeface="Times New Roman" panose="02020603050405020304" pitchFamily="18" charset="0"/>
                    </a:defRPr>
                  </a:lvl9pPr>
                </a:lstStyle>
                <a:p>
                  <a:pPr algn="ctr"/>
                  <a:r>
                    <a:rPr lang="en-US" altLang="zh-CN" sz="1400" dirty="0">
                      <a:latin typeface="+mn-lt"/>
                    </a:rPr>
                    <a:t> Square (Tetragonal)</a:t>
                  </a:r>
                </a:p>
                <a:p>
                  <a:pPr algn="ctr"/>
                  <a:r>
                    <a:rPr lang="en-US" altLang="zh-CN" sz="1400" dirty="0">
                      <a:latin typeface="+mn-lt"/>
                    </a:rPr>
                    <a:t>p</a:t>
                  </a:r>
                </a:p>
              </p:txBody>
            </p:sp>
            <p:sp>
              <p:nvSpPr>
                <p:cNvPr id="144" name="Rectangle 2202"/>
                <p:cNvSpPr>
                  <a:spLocks noChangeArrowheads="1"/>
                </p:cNvSpPr>
                <p:nvPr/>
              </p:nvSpPr>
              <p:spPr bwMode="auto">
                <a:xfrm>
                  <a:off x="0" y="4114"/>
                  <a:ext cx="489" cy="1122"/>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0" name="Group 2205"/>
              <p:cNvGrpSpPr/>
              <p:nvPr/>
            </p:nvGrpSpPr>
            <p:grpSpPr bwMode="auto">
              <a:xfrm>
                <a:off x="489" y="4114"/>
                <a:ext cx="682" cy="374"/>
                <a:chOff x="489" y="4114"/>
                <a:chExt cx="682" cy="374"/>
              </a:xfrm>
            </p:grpSpPr>
            <p:sp>
              <p:nvSpPr>
                <p:cNvPr id="141" name="Rectangle 2093"/>
                <p:cNvSpPr>
                  <a:spLocks noChangeArrowheads="1"/>
                </p:cNvSpPr>
                <p:nvPr/>
              </p:nvSpPr>
              <p:spPr bwMode="auto">
                <a:xfrm>
                  <a:off x="532" y="4114"/>
                  <a:ext cx="596"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4</a:t>
                  </a:r>
                </a:p>
              </p:txBody>
            </p:sp>
            <p:sp>
              <p:nvSpPr>
                <p:cNvPr id="142" name="Rectangle 2204"/>
                <p:cNvSpPr>
                  <a:spLocks noChangeArrowheads="1"/>
                </p:cNvSpPr>
                <p:nvPr/>
              </p:nvSpPr>
              <p:spPr bwMode="auto">
                <a:xfrm>
                  <a:off x="489" y="4114"/>
                  <a:ext cx="682"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1" name="Group 2207"/>
              <p:cNvGrpSpPr/>
              <p:nvPr/>
            </p:nvGrpSpPr>
            <p:grpSpPr bwMode="auto">
              <a:xfrm>
                <a:off x="1171" y="4114"/>
                <a:ext cx="640" cy="374"/>
                <a:chOff x="1171" y="4114"/>
                <a:chExt cx="640" cy="374"/>
              </a:xfrm>
            </p:grpSpPr>
            <p:sp>
              <p:nvSpPr>
                <p:cNvPr id="139" name="Rectangle 2094"/>
                <p:cNvSpPr>
                  <a:spLocks noChangeArrowheads="1"/>
                </p:cNvSpPr>
                <p:nvPr/>
              </p:nvSpPr>
              <p:spPr bwMode="auto">
                <a:xfrm>
                  <a:off x="1214" y="4114"/>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p4</a:t>
                  </a:r>
                  <a:endParaRPr lang="en-US" altLang="zh-CN" sz="1400">
                    <a:effectLst/>
                    <a:latin typeface="+mn-lt"/>
                    <a:ea typeface="宋体" panose="02010600030101010101" pitchFamily="2" charset="-122"/>
                  </a:endParaRPr>
                </a:p>
              </p:txBody>
            </p:sp>
            <p:sp>
              <p:nvSpPr>
                <p:cNvPr id="140" name="Rectangle 2206"/>
                <p:cNvSpPr>
                  <a:spLocks noChangeArrowheads="1"/>
                </p:cNvSpPr>
                <p:nvPr/>
              </p:nvSpPr>
              <p:spPr bwMode="auto">
                <a:xfrm>
                  <a:off x="1171" y="4114"/>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2" name="Group 2209"/>
              <p:cNvGrpSpPr/>
              <p:nvPr/>
            </p:nvGrpSpPr>
            <p:grpSpPr bwMode="auto">
              <a:xfrm>
                <a:off x="1811" y="4114"/>
                <a:ext cx="713" cy="374"/>
                <a:chOff x="1811" y="4114"/>
                <a:chExt cx="713" cy="374"/>
              </a:xfrm>
            </p:grpSpPr>
            <p:sp>
              <p:nvSpPr>
                <p:cNvPr id="137" name="Rectangle 2095"/>
                <p:cNvSpPr>
                  <a:spLocks noChangeArrowheads="1"/>
                </p:cNvSpPr>
                <p:nvPr/>
              </p:nvSpPr>
              <p:spPr bwMode="auto">
                <a:xfrm>
                  <a:off x="1854" y="4114"/>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p4</a:t>
                  </a:r>
                  <a:endParaRPr lang="en-US" altLang="zh-CN" sz="1400">
                    <a:effectLst/>
                    <a:latin typeface="+mn-lt"/>
                    <a:ea typeface="宋体" panose="02010600030101010101" pitchFamily="2" charset="-122"/>
                  </a:endParaRPr>
                </a:p>
              </p:txBody>
            </p:sp>
            <p:sp>
              <p:nvSpPr>
                <p:cNvPr id="138" name="Rectangle 2208"/>
                <p:cNvSpPr>
                  <a:spLocks noChangeArrowheads="1"/>
                </p:cNvSpPr>
                <p:nvPr/>
              </p:nvSpPr>
              <p:spPr bwMode="auto">
                <a:xfrm>
                  <a:off x="1811" y="4114"/>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3" name="Group 2211"/>
              <p:cNvGrpSpPr/>
              <p:nvPr/>
            </p:nvGrpSpPr>
            <p:grpSpPr bwMode="auto">
              <a:xfrm>
                <a:off x="2524" y="4114"/>
                <a:ext cx="416" cy="374"/>
                <a:chOff x="2524" y="4114"/>
                <a:chExt cx="416" cy="374"/>
              </a:xfrm>
            </p:grpSpPr>
            <p:sp>
              <p:nvSpPr>
                <p:cNvPr id="135" name="Rectangle 2096"/>
                <p:cNvSpPr>
                  <a:spLocks noChangeArrowheads="1"/>
                </p:cNvSpPr>
                <p:nvPr/>
              </p:nvSpPr>
              <p:spPr bwMode="auto">
                <a:xfrm>
                  <a:off x="2567" y="4114"/>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10</a:t>
                  </a:r>
                </a:p>
              </p:txBody>
            </p:sp>
            <p:sp>
              <p:nvSpPr>
                <p:cNvPr id="136" name="Rectangle 2210"/>
                <p:cNvSpPr>
                  <a:spLocks noChangeArrowheads="1"/>
                </p:cNvSpPr>
                <p:nvPr/>
              </p:nvSpPr>
              <p:spPr bwMode="auto">
                <a:xfrm>
                  <a:off x="2524" y="4114"/>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4" name="Group 2213"/>
              <p:cNvGrpSpPr/>
              <p:nvPr/>
            </p:nvGrpSpPr>
            <p:grpSpPr bwMode="auto">
              <a:xfrm>
                <a:off x="489" y="4488"/>
                <a:ext cx="682" cy="748"/>
                <a:chOff x="489" y="4488"/>
                <a:chExt cx="682" cy="748"/>
              </a:xfrm>
            </p:grpSpPr>
            <p:sp>
              <p:nvSpPr>
                <p:cNvPr id="133" name="Rectangle 2097"/>
                <p:cNvSpPr>
                  <a:spLocks noChangeArrowheads="1"/>
                </p:cNvSpPr>
                <p:nvPr/>
              </p:nvSpPr>
              <p:spPr bwMode="auto">
                <a:xfrm>
                  <a:off x="532" y="4488"/>
                  <a:ext cx="596"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4</a:t>
                  </a:r>
                  <a:r>
                    <a:rPr lang="en-US" altLang="zh-CN" sz="1400">
                      <a:effectLst/>
                      <a:latin typeface="+mn-lt"/>
                      <a:ea typeface="宋体" panose="02010600030101010101" pitchFamily="2" charset="-122"/>
                    </a:rPr>
                    <a:t>mm</a:t>
                  </a:r>
                </a:p>
              </p:txBody>
            </p:sp>
            <p:sp>
              <p:nvSpPr>
                <p:cNvPr id="134" name="Rectangle 2212"/>
                <p:cNvSpPr>
                  <a:spLocks noChangeArrowheads="1"/>
                </p:cNvSpPr>
                <p:nvPr/>
              </p:nvSpPr>
              <p:spPr bwMode="auto">
                <a:xfrm>
                  <a:off x="489" y="4488"/>
                  <a:ext cx="682" cy="74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5" name="Group 2215"/>
              <p:cNvGrpSpPr/>
              <p:nvPr/>
            </p:nvGrpSpPr>
            <p:grpSpPr bwMode="auto">
              <a:xfrm>
                <a:off x="1171" y="4488"/>
                <a:ext cx="640" cy="374"/>
                <a:chOff x="1171" y="4488"/>
                <a:chExt cx="640" cy="374"/>
              </a:xfrm>
            </p:grpSpPr>
            <p:sp>
              <p:nvSpPr>
                <p:cNvPr id="131" name="Rectangle 2098"/>
                <p:cNvSpPr>
                  <a:spLocks noChangeArrowheads="1"/>
                </p:cNvSpPr>
                <p:nvPr/>
              </p:nvSpPr>
              <p:spPr bwMode="auto">
                <a:xfrm>
                  <a:off x="1214" y="4488"/>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p4mm</a:t>
                  </a:r>
                  <a:endParaRPr lang="en-US" altLang="zh-CN" sz="1400">
                    <a:effectLst/>
                    <a:latin typeface="+mn-lt"/>
                    <a:ea typeface="宋体" panose="02010600030101010101" pitchFamily="2" charset="-122"/>
                  </a:endParaRPr>
                </a:p>
              </p:txBody>
            </p:sp>
            <p:sp>
              <p:nvSpPr>
                <p:cNvPr id="132" name="Rectangle 2214"/>
                <p:cNvSpPr>
                  <a:spLocks noChangeArrowheads="1"/>
                </p:cNvSpPr>
                <p:nvPr/>
              </p:nvSpPr>
              <p:spPr bwMode="auto">
                <a:xfrm>
                  <a:off x="1171" y="4488"/>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6" name="Group 2217"/>
              <p:cNvGrpSpPr/>
              <p:nvPr/>
            </p:nvGrpSpPr>
            <p:grpSpPr bwMode="auto">
              <a:xfrm>
                <a:off x="1811" y="4488"/>
                <a:ext cx="713" cy="374"/>
                <a:chOff x="1811" y="4488"/>
                <a:chExt cx="713" cy="374"/>
              </a:xfrm>
            </p:grpSpPr>
            <p:sp>
              <p:nvSpPr>
                <p:cNvPr id="129" name="Rectangle 2099"/>
                <p:cNvSpPr>
                  <a:spLocks noChangeArrowheads="1"/>
                </p:cNvSpPr>
                <p:nvPr/>
              </p:nvSpPr>
              <p:spPr bwMode="auto">
                <a:xfrm>
                  <a:off x="1854" y="4488"/>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p4m</a:t>
                  </a:r>
                  <a:endParaRPr lang="en-US" altLang="zh-CN" sz="1400">
                    <a:effectLst/>
                    <a:latin typeface="+mn-lt"/>
                    <a:ea typeface="宋体" panose="02010600030101010101" pitchFamily="2" charset="-122"/>
                  </a:endParaRPr>
                </a:p>
              </p:txBody>
            </p:sp>
            <p:sp>
              <p:nvSpPr>
                <p:cNvPr id="130" name="Rectangle 2216"/>
                <p:cNvSpPr>
                  <a:spLocks noChangeArrowheads="1"/>
                </p:cNvSpPr>
                <p:nvPr/>
              </p:nvSpPr>
              <p:spPr bwMode="auto">
                <a:xfrm>
                  <a:off x="1811" y="4488"/>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7" name="Group 2219"/>
              <p:cNvGrpSpPr/>
              <p:nvPr/>
            </p:nvGrpSpPr>
            <p:grpSpPr bwMode="auto">
              <a:xfrm>
                <a:off x="2524" y="4488"/>
                <a:ext cx="416" cy="374"/>
                <a:chOff x="2524" y="4488"/>
                <a:chExt cx="416" cy="374"/>
              </a:xfrm>
            </p:grpSpPr>
            <p:sp>
              <p:nvSpPr>
                <p:cNvPr id="127" name="Rectangle 2100"/>
                <p:cNvSpPr>
                  <a:spLocks noChangeArrowheads="1"/>
                </p:cNvSpPr>
                <p:nvPr/>
              </p:nvSpPr>
              <p:spPr bwMode="auto">
                <a:xfrm>
                  <a:off x="2567" y="4488"/>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11</a:t>
                  </a:r>
                </a:p>
              </p:txBody>
            </p:sp>
            <p:sp>
              <p:nvSpPr>
                <p:cNvPr id="128" name="Rectangle 2218"/>
                <p:cNvSpPr>
                  <a:spLocks noChangeArrowheads="1"/>
                </p:cNvSpPr>
                <p:nvPr/>
              </p:nvSpPr>
              <p:spPr bwMode="auto">
                <a:xfrm>
                  <a:off x="2524" y="4488"/>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8" name="Group 2221"/>
              <p:cNvGrpSpPr/>
              <p:nvPr/>
            </p:nvGrpSpPr>
            <p:grpSpPr bwMode="auto">
              <a:xfrm>
                <a:off x="1171" y="4862"/>
                <a:ext cx="640" cy="374"/>
                <a:chOff x="1171" y="4862"/>
                <a:chExt cx="640" cy="374"/>
              </a:xfrm>
            </p:grpSpPr>
            <p:sp>
              <p:nvSpPr>
                <p:cNvPr id="125" name="Rectangle 2101"/>
                <p:cNvSpPr>
                  <a:spLocks noChangeArrowheads="1"/>
                </p:cNvSpPr>
                <p:nvPr/>
              </p:nvSpPr>
              <p:spPr bwMode="auto">
                <a:xfrm>
                  <a:off x="1214" y="4862"/>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p4gm</a:t>
                  </a:r>
                  <a:endParaRPr lang="en-US" altLang="zh-CN" sz="1400">
                    <a:effectLst/>
                    <a:latin typeface="+mn-lt"/>
                    <a:ea typeface="宋体" panose="02010600030101010101" pitchFamily="2" charset="-122"/>
                  </a:endParaRPr>
                </a:p>
              </p:txBody>
            </p:sp>
            <p:sp>
              <p:nvSpPr>
                <p:cNvPr id="126" name="Rectangle 2220"/>
                <p:cNvSpPr>
                  <a:spLocks noChangeArrowheads="1"/>
                </p:cNvSpPr>
                <p:nvPr/>
              </p:nvSpPr>
              <p:spPr bwMode="auto">
                <a:xfrm>
                  <a:off x="1171" y="4862"/>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59" name="Group 2223"/>
              <p:cNvGrpSpPr/>
              <p:nvPr/>
            </p:nvGrpSpPr>
            <p:grpSpPr bwMode="auto">
              <a:xfrm>
                <a:off x="1811" y="4862"/>
                <a:ext cx="713" cy="374"/>
                <a:chOff x="1811" y="4862"/>
                <a:chExt cx="713" cy="374"/>
              </a:xfrm>
            </p:grpSpPr>
            <p:sp>
              <p:nvSpPr>
                <p:cNvPr id="123" name="Rectangle 2102"/>
                <p:cNvSpPr>
                  <a:spLocks noChangeArrowheads="1"/>
                </p:cNvSpPr>
                <p:nvPr/>
              </p:nvSpPr>
              <p:spPr bwMode="auto">
                <a:xfrm>
                  <a:off x="1854" y="4862"/>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p4g</a:t>
                  </a:r>
                  <a:endParaRPr lang="en-US" altLang="zh-CN" sz="1400">
                    <a:effectLst/>
                    <a:latin typeface="+mn-lt"/>
                    <a:ea typeface="宋体" panose="02010600030101010101" pitchFamily="2" charset="-122"/>
                  </a:endParaRPr>
                </a:p>
              </p:txBody>
            </p:sp>
            <p:sp>
              <p:nvSpPr>
                <p:cNvPr id="124" name="Rectangle 2222"/>
                <p:cNvSpPr>
                  <a:spLocks noChangeArrowheads="1"/>
                </p:cNvSpPr>
                <p:nvPr/>
              </p:nvSpPr>
              <p:spPr bwMode="auto">
                <a:xfrm>
                  <a:off x="1811" y="4862"/>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0" name="Group 2225"/>
              <p:cNvGrpSpPr/>
              <p:nvPr/>
            </p:nvGrpSpPr>
            <p:grpSpPr bwMode="auto">
              <a:xfrm>
                <a:off x="2524" y="4862"/>
                <a:ext cx="416" cy="374"/>
                <a:chOff x="2524" y="4862"/>
                <a:chExt cx="416" cy="374"/>
              </a:xfrm>
            </p:grpSpPr>
            <p:sp>
              <p:nvSpPr>
                <p:cNvPr id="121" name="Rectangle 2103"/>
                <p:cNvSpPr>
                  <a:spLocks noChangeArrowheads="1"/>
                </p:cNvSpPr>
                <p:nvPr/>
              </p:nvSpPr>
              <p:spPr bwMode="auto">
                <a:xfrm>
                  <a:off x="2567" y="4862"/>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12</a:t>
                  </a:r>
                </a:p>
              </p:txBody>
            </p:sp>
            <p:sp>
              <p:nvSpPr>
                <p:cNvPr id="122" name="Rectangle 2224"/>
                <p:cNvSpPr>
                  <a:spLocks noChangeArrowheads="1"/>
                </p:cNvSpPr>
                <p:nvPr/>
              </p:nvSpPr>
              <p:spPr bwMode="auto">
                <a:xfrm>
                  <a:off x="2524" y="4862"/>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1" name="Group 2227"/>
              <p:cNvGrpSpPr/>
              <p:nvPr/>
            </p:nvGrpSpPr>
            <p:grpSpPr bwMode="auto">
              <a:xfrm>
                <a:off x="0" y="5236"/>
                <a:ext cx="489" cy="1870"/>
                <a:chOff x="0" y="5236"/>
                <a:chExt cx="489" cy="1870"/>
              </a:xfrm>
            </p:grpSpPr>
            <p:sp>
              <p:nvSpPr>
                <p:cNvPr id="119" name="Rectangle 2104"/>
                <p:cNvSpPr>
                  <a:spLocks noChangeArrowheads="1"/>
                </p:cNvSpPr>
                <p:nvPr/>
              </p:nvSpPr>
              <p:spPr bwMode="auto">
                <a:xfrm>
                  <a:off x="43" y="5236"/>
                  <a:ext cx="403" cy="1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dirty="0">
                      <a:latin typeface="+mn-lt"/>
                    </a:rPr>
                    <a:t>Hexagonal</a:t>
                  </a:r>
                </a:p>
                <a:p>
                  <a:pPr algn="ctr"/>
                  <a:r>
                    <a:rPr lang="en-US" altLang="zh-CN" sz="1400" i="1" dirty="0">
                      <a:effectLst/>
                      <a:latin typeface="+mn-lt"/>
                    </a:rPr>
                    <a:t>p</a:t>
                  </a:r>
                  <a:endParaRPr lang="en-US" altLang="zh-CN" sz="1400" dirty="0">
                    <a:effectLst/>
                    <a:latin typeface="+mn-lt"/>
                  </a:endParaRPr>
                </a:p>
              </p:txBody>
            </p:sp>
            <p:sp>
              <p:nvSpPr>
                <p:cNvPr id="120" name="Rectangle 2226"/>
                <p:cNvSpPr>
                  <a:spLocks noChangeArrowheads="1"/>
                </p:cNvSpPr>
                <p:nvPr/>
              </p:nvSpPr>
              <p:spPr bwMode="auto">
                <a:xfrm>
                  <a:off x="0" y="5236"/>
                  <a:ext cx="489" cy="187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2" name="Group 2229"/>
              <p:cNvGrpSpPr/>
              <p:nvPr/>
            </p:nvGrpSpPr>
            <p:grpSpPr bwMode="auto">
              <a:xfrm>
                <a:off x="489" y="5236"/>
                <a:ext cx="682" cy="374"/>
                <a:chOff x="489" y="5236"/>
                <a:chExt cx="682" cy="374"/>
              </a:xfrm>
            </p:grpSpPr>
            <p:sp>
              <p:nvSpPr>
                <p:cNvPr id="117" name="Rectangle 2105"/>
                <p:cNvSpPr>
                  <a:spLocks noChangeArrowheads="1"/>
                </p:cNvSpPr>
                <p:nvPr/>
              </p:nvSpPr>
              <p:spPr bwMode="auto">
                <a:xfrm>
                  <a:off x="532" y="5236"/>
                  <a:ext cx="596"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3</a:t>
                  </a:r>
                </a:p>
              </p:txBody>
            </p:sp>
            <p:sp>
              <p:nvSpPr>
                <p:cNvPr id="118" name="Rectangle 2228"/>
                <p:cNvSpPr>
                  <a:spLocks noChangeArrowheads="1"/>
                </p:cNvSpPr>
                <p:nvPr/>
              </p:nvSpPr>
              <p:spPr bwMode="auto">
                <a:xfrm>
                  <a:off x="489" y="5236"/>
                  <a:ext cx="682"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3" name="Group 2231"/>
              <p:cNvGrpSpPr/>
              <p:nvPr/>
            </p:nvGrpSpPr>
            <p:grpSpPr bwMode="auto">
              <a:xfrm>
                <a:off x="1171" y="5236"/>
                <a:ext cx="640" cy="374"/>
                <a:chOff x="1171" y="5236"/>
                <a:chExt cx="640" cy="374"/>
              </a:xfrm>
            </p:grpSpPr>
            <p:sp>
              <p:nvSpPr>
                <p:cNvPr id="115" name="Rectangle 2106"/>
                <p:cNvSpPr>
                  <a:spLocks noChangeArrowheads="1"/>
                </p:cNvSpPr>
                <p:nvPr/>
              </p:nvSpPr>
              <p:spPr bwMode="auto">
                <a:xfrm>
                  <a:off x="1214" y="5236"/>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p3</a:t>
                  </a:r>
                  <a:endParaRPr lang="en-US" altLang="zh-CN" sz="1400">
                    <a:effectLst/>
                    <a:latin typeface="+mn-lt"/>
                    <a:ea typeface="宋体" panose="02010600030101010101" pitchFamily="2" charset="-122"/>
                  </a:endParaRPr>
                </a:p>
              </p:txBody>
            </p:sp>
            <p:sp>
              <p:nvSpPr>
                <p:cNvPr id="116" name="Rectangle 2230"/>
                <p:cNvSpPr>
                  <a:spLocks noChangeArrowheads="1"/>
                </p:cNvSpPr>
                <p:nvPr/>
              </p:nvSpPr>
              <p:spPr bwMode="auto">
                <a:xfrm>
                  <a:off x="1171" y="5236"/>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4" name="Group 2233"/>
              <p:cNvGrpSpPr/>
              <p:nvPr/>
            </p:nvGrpSpPr>
            <p:grpSpPr bwMode="auto">
              <a:xfrm>
                <a:off x="1811" y="5236"/>
                <a:ext cx="713" cy="374"/>
                <a:chOff x="1811" y="5236"/>
                <a:chExt cx="713" cy="374"/>
              </a:xfrm>
            </p:grpSpPr>
            <p:sp>
              <p:nvSpPr>
                <p:cNvPr id="113" name="Rectangle 2107"/>
                <p:cNvSpPr>
                  <a:spLocks noChangeArrowheads="1"/>
                </p:cNvSpPr>
                <p:nvPr/>
              </p:nvSpPr>
              <p:spPr bwMode="auto">
                <a:xfrm>
                  <a:off x="1854" y="5236"/>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p3</a:t>
                  </a:r>
                  <a:endParaRPr lang="en-US" altLang="zh-CN" sz="1400">
                    <a:effectLst/>
                    <a:latin typeface="+mn-lt"/>
                    <a:ea typeface="宋体" panose="02010600030101010101" pitchFamily="2" charset="-122"/>
                  </a:endParaRPr>
                </a:p>
              </p:txBody>
            </p:sp>
            <p:sp>
              <p:nvSpPr>
                <p:cNvPr id="114" name="Rectangle 2232"/>
                <p:cNvSpPr>
                  <a:spLocks noChangeArrowheads="1"/>
                </p:cNvSpPr>
                <p:nvPr/>
              </p:nvSpPr>
              <p:spPr bwMode="auto">
                <a:xfrm>
                  <a:off x="1811" y="5236"/>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5" name="Group 2235"/>
              <p:cNvGrpSpPr/>
              <p:nvPr/>
            </p:nvGrpSpPr>
            <p:grpSpPr bwMode="auto">
              <a:xfrm>
                <a:off x="2524" y="5236"/>
                <a:ext cx="416" cy="374"/>
                <a:chOff x="2524" y="5236"/>
                <a:chExt cx="416" cy="374"/>
              </a:xfrm>
            </p:grpSpPr>
            <p:sp>
              <p:nvSpPr>
                <p:cNvPr id="111" name="Rectangle 2108"/>
                <p:cNvSpPr>
                  <a:spLocks noChangeArrowheads="1"/>
                </p:cNvSpPr>
                <p:nvPr/>
              </p:nvSpPr>
              <p:spPr bwMode="auto">
                <a:xfrm>
                  <a:off x="2567" y="5236"/>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13</a:t>
                  </a:r>
                </a:p>
              </p:txBody>
            </p:sp>
            <p:sp>
              <p:nvSpPr>
                <p:cNvPr id="112" name="Rectangle 2234"/>
                <p:cNvSpPr>
                  <a:spLocks noChangeArrowheads="1"/>
                </p:cNvSpPr>
                <p:nvPr/>
              </p:nvSpPr>
              <p:spPr bwMode="auto">
                <a:xfrm>
                  <a:off x="2524" y="5236"/>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6" name="Group 2237"/>
              <p:cNvGrpSpPr/>
              <p:nvPr/>
            </p:nvGrpSpPr>
            <p:grpSpPr bwMode="auto">
              <a:xfrm>
                <a:off x="489" y="5610"/>
                <a:ext cx="682" cy="748"/>
                <a:chOff x="489" y="5610"/>
                <a:chExt cx="682" cy="748"/>
              </a:xfrm>
            </p:grpSpPr>
            <p:sp>
              <p:nvSpPr>
                <p:cNvPr id="109" name="Rectangle 2109"/>
                <p:cNvSpPr>
                  <a:spLocks noChangeArrowheads="1"/>
                </p:cNvSpPr>
                <p:nvPr/>
              </p:nvSpPr>
              <p:spPr bwMode="auto">
                <a:xfrm>
                  <a:off x="532" y="5610"/>
                  <a:ext cx="596"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3</a:t>
                  </a:r>
                  <a:r>
                    <a:rPr lang="en-US" altLang="zh-CN" sz="1400">
                      <a:effectLst/>
                      <a:latin typeface="+mn-lt"/>
                      <a:ea typeface="宋体" panose="02010600030101010101" pitchFamily="2" charset="-122"/>
                    </a:rPr>
                    <a:t>m</a:t>
                  </a:r>
                </a:p>
              </p:txBody>
            </p:sp>
            <p:sp>
              <p:nvSpPr>
                <p:cNvPr id="110" name="Rectangle 2236"/>
                <p:cNvSpPr>
                  <a:spLocks noChangeArrowheads="1"/>
                </p:cNvSpPr>
                <p:nvPr/>
              </p:nvSpPr>
              <p:spPr bwMode="auto">
                <a:xfrm>
                  <a:off x="489" y="5610"/>
                  <a:ext cx="682" cy="74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7" name="Group 2239"/>
              <p:cNvGrpSpPr/>
              <p:nvPr/>
            </p:nvGrpSpPr>
            <p:grpSpPr bwMode="auto">
              <a:xfrm>
                <a:off x="1171" y="5610"/>
                <a:ext cx="640" cy="374"/>
                <a:chOff x="1171" y="5610"/>
                <a:chExt cx="640" cy="374"/>
              </a:xfrm>
            </p:grpSpPr>
            <p:sp>
              <p:nvSpPr>
                <p:cNvPr id="107" name="Rectangle 2110"/>
                <p:cNvSpPr>
                  <a:spLocks noChangeArrowheads="1"/>
                </p:cNvSpPr>
                <p:nvPr/>
              </p:nvSpPr>
              <p:spPr bwMode="auto">
                <a:xfrm>
                  <a:off x="1214" y="5610"/>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p3m1</a:t>
                  </a:r>
                  <a:endParaRPr lang="en-US" altLang="zh-CN" sz="1400">
                    <a:effectLst/>
                    <a:latin typeface="+mn-lt"/>
                    <a:ea typeface="宋体" panose="02010600030101010101" pitchFamily="2" charset="-122"/>
                  </a:endParaRPr>
                </a:p>
              </p:txBody>
            </p:sp>
            <p:sp>
              <p:nvSpPr>
                <p:cNvPr id="108" name="Rectangle 2238"/>
                <p:cNvSpPr>
                  <a:spLocks noChangeArrowheads="1"/>
                </p:cNvSpPr>
                <p:nvPr/>
              </p:nvSpPr>
              <p:spPr bwMode="auto">
                <a:xfrm>
                  <a:off x="1171" y="5610"/>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8" name="Group 2241"/>
              <p:cNvGrpSpPr/>
              <p:nvPr/>
            </p:nvGrpSpPr>
            <p:grpSpPr bwMode="auto">
              <a:xfrm>
                <a:off x="1811" y="5610"/>
                <a:ext cx="713" cy="374"/>
                <a:chOff x="1811" y="5610"/>
                <a:chExt cx="713" cy="374"/>
              </a:xfrm>
            </p:grpSpPr>
            <p:sp>
              <p:nvSpPr>
                <p:cNvPr id="105" name="Rectangle 2111"/>
                <p:cNvSpPr>
                  <a:spLocks noChangeArrowheads="1"/>
                </p:cNvSpPr>
                <p:nvPr/>
              </p:nvSpPr>
              <p:spPr bwMode="auto">
                <a:xfrm>
                  <a:off x="1854" y="5610"/>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dirty="0">
                      <a:solidFill>
                        <a:srgbClr val="FF0000"/>
                      </a:solidFill>
                      <a:effectLst/>
                      <a:latin typeface="+mn-lt"/>
                      <a:ea typeface="宋体" panose="02010600030101010101" pitchFamily="2" charset="-122"/>
                    </a:rPr>
                    <a:t>p3m1</a:t>
                  </a:r>
                  <a:endParaRPr lang="en-US" altLang="zh-CN" sz="1400" dirty="0">
                    <a:solidFill>
                      <a:srgbClr val="FF0000"/>
                    </a:solidFill>
                    <a:effectLst/>
                    <a:latin typeface="+mn-lt"/>
                    <a:ea typeface="宋体" panose="02010600030101010101" pitchFamily="2" charset="-122"/>
                  </a:endParaRPr>
                </a:p>
              </p:txBody>
            </p:sp>
            <p:sp>
              <p:nvSpPr>
                <p:cNvPr id="106" name="Rectangle 2240"/>
                <p:cNvSpPr>
                  <a:spLocks noChangeArrowheads="1"/>
                </p:cNvSpPr>
                <p:nvPr/>
              </p:nvSpPr>
              <p:spPr bwMode="auto">
                <a:xfrm>
                  <a:off x="1811" y="5610"/>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69" name="Group 2243"/>
              <p:cNvGrpSpPr/>
              <p:nvPr/>
            </p:nvGrpSpPr>
            <p:grpSpPr bwMode="auto">
              <a:xfrm>
                <a:off x="2524" y="5610"/>
                <a:ext cx="416" cy="374"/>
                <a:chOff x="2524" y="5610"/>
                <a:chExt cx="416" cy="374"/>
              </a:xfrm>
            </p:grpSpPr>
            <p:sp>
              <p:nvSpPr>
                <p:cNvPr id="103" name="Rectangle 2112"/>
                <p:cNvSpPr>
                  <a:spLocks noChangeArrowheads="1"/>
                </p:cNvSpPr>
                <p:nvPr/>
              </p:nvSpPr>
              <p:spPr bwMode="auto">
                <a:xfrm>
                  <a:off x="2567" y="5610"/>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14</a:t>
                  </a:r>
                </a:p>
              </p:txBody>
            </p:sp>
            <p:sp>
              <p:nvSpPr>
                <p:cNvPr id="104" name="Rectangle 2242"/>
                <p:cNvSpPr>
                  <a:spLocks noChangeArrowheads="1"/>
                </p:cNvSpPr>
                <p:nvPr/>
              </p:nvSpPr>
              <p:spPr bwMode="auto">
                <a:xfrm>
                  <a:off x="2524" y="5610"/>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0" name="Group 2245"/>
              <p:cNvGrpSpPr/>
              <p:nvPr/>
            </p:nvGrpSpPr>
            <p:grpSpPr bwMode="auto">
              <a:xfrm>
                <a:off x="1171" y="5984"/>
                <a:ext cx="640" cy="374"/>
                <a:chOff x="1171" y="5984"/>
                <a:chExt cx="640" cy="374"/>
              </a:xfrm>
            </p:grpSpPr>
            <p:sp>
              <p:nvSpPr>
                <p:cNvPr id="101" name="Rectangle 2113"/>
                <p:cNvSpPr>
                  <a:spLocks noChangeArrowheads="1"/>
                </p:cNvSpPr>
                <p:nvPr/>
              </p:nvSpPr>
              <p:spPr bwMode="auto">
                <a:xfrm>
                  <a:off x="1214" y="5984"/>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p31m</a:t>
                  </a:r>
                  <a:endParaRPr lang="en-US" altLang="zh-CN" sz="1400">
                    <a:effectLst/>
                    <a:latin typeface="+mn-lt"/>
                    <a:ea typeface="宋体" panose="02010600030101010101" pitchFamily="2" charset="-122"/>
                  </a:endParaRPr>
                </a:p>
              </p:txBody>
            </p:sp>
            <p:sp>
              <p:nvSpPr>
                <p:cNvPr id="102" name="Rectangle 2244"/>
                <p:cNvSpPr>
                  <a:spLocks noChangeArrowheads="1"/>
                </p:cNvSpPr>
                <p:nvPr/>
              </p:nvSpPr>
              <p:spPr bwMode="auto">
                <a:xfrm>
                  <a:off x="1171" y="5984"/>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1" name="Group 2247"/>
              <p:cNvGrpSpPr/>
              <p:nvPr/>
            </p:nvGrpSpPr>
            <p:grpSpPr bwMode="auto">
              <a:xfrm>
                <a:off x="1811" y="5984"/>
                <a:ext cx="713" cy="374"/>
                <a:chOff x="1811" y="5984"/>
                <a:chExt cx="713" cy="374"/>
              </a:xfrm>
            </p:grpSpPr>
            <p:sp>
              <p:nvSpPr>
                <p:cNvPr id="99" name="Rectangle 2114"/>
                <p:cNvSpPr>
                  <a:spLocks noChangeArrowheads="1"/>
                </p:cNvSpPr>
                <p:nvPr/>
              </p:nvSpPr>
              <p:spPr bwMode="auto">
                <a:xfrm>
                  <a:off x="1854" y="5984"/>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dirty="0">
                      <a:solidFill>
                        <a:srgbClr val="FF0000"/>
                      </a:solidFill>
                      <a:effectLst/>
                      <a:latin typeface="+mn-lt"/>
                      <a:ea typeface="宋体" panose="02010600030101010101" pitchFamily="2" charset="-122"/>
                    </a:rPr>
                    <a:t>p31m</a:t>
                  </a:r>
                  <a:endParaRPr lang="en-US" altLang="zh-CN" sz="1400" dirty="0">
                    <a:solidFill>
                      <a:srgbClr val="FF0000"/>
                    </a:solidFill>
                    <a:effectLst/>
                    <a:latin typeface="+mn-lt"/>
                    <a:ea typeface="宋体" panose="02010600030101010101" pitchFamily="2" charset="-122"/>
                  </a:endParaRPr>
                </a:p>
              </p:txBody>
            </p:sp>
            <p:sp>
              <p:nvSpPr>
                <p:cNvPr id="100" name="Rectangle 2246"/>
                <p:cNvSpPr>
                  <a:spLocks noChangeArrowheads="1"/>
                </p:cNvSpPr>
                <p:nvPr/>
              </p:nvSpPr>
              <p:spPr bwMode="auto">
                <a:xfrm>
                  <a:off x="1811" y="5984"/>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2" name="Group 2249"/>
              <p:cNvGrpSpPr/>
              <p:nvPr/>
            </p:nvGrpSpPr>
            <p:grpSpPr bwMode="auto">
              <a:xfrm>
                <a:off x="2524" y="5984"/>
                <a:ext cx="416" cy="374"/>
                <a:chOff x="2524" y="5984"/>
                <a:chExt cx="416" cy="374"/>
              </a:xfrm>
            </p:grpSpPr>
            <p:sp>
              <p:nvSpPr>
                <p:cNvPr id="97" name="Rectangle 2115"/>
                <p:cNvSpPr>
                  <a:spLocks noChangeArrowheads="1"/>
                </p:cNvSpPr>
                <p:nvPr/>
              </p:nvSpPr>
              <p:spPr bwMode="auto">
                <a:xfrm>
                  <a:off x="2567" y="5984"/>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15</a:t>
                  </a:r>
                </a:p>
              </p:txBody>
            </p:sp>
            <p:sp>
              <p:nvSpPr>
                <p:cNvPr id="98" name="Rectangle 2248"/>
                <p:cNvSpPr>
                  <a:spLocks noChangeArrowheads="1"/>
                </p:cNvSpPr>
                <p:nvPr/>
              </p:nvSpPr>
              <p:spPr bwMode="auto">
                <a:xfrm>
                  <a:off x="2524" y="5984"/>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3" name="Group 2251"/>
              <p:cNvGrpSpPr/>
              <p:nvPr/>
            </p:nvGrpSpPr>
            <p:grpSpPr bwMode="auto">
              <a:xfrm>
                <a:off x="489" y="6358"/>
                <a:ext cx="682" cy="374"/>
                <a:chOff x="489" y="6358"/>
                <a:chExt cx="682" cy="374"/>
              </a:xfrm>
            </p:grpSpPr>
            <p:sp>
              <p:nvSpPr>
                <p:cNvPr id="95" name="Rectangle 2116"/>
                <p:cNvSpPr>
                  <a:spLocks noChangeArrowheads="1"/>
                </p:cNvSpPr>
                <p:nvPr/>
              </p:nvSpPr>
              <p:spPr bwMode="auto">
                <a:xfrm>
                  <a:off x="532" y="6358"/>
                  <a:ext cx="596"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6</a:t>
                  </a:r>
                </a:p>
              </p:txBody>
            </p:sp>
            <p:sp>
              <p:nvSpPr>
                <p:cNvPr id="96" name="Rectangle 2250"/>
                <p:cNvSpPr>
                  <a:spLocks noChangeArrowheads="1"/>
                </p:cNvSpPr>
                <p:nvPr/>
              </p:nvSpPr>
              <p:spPr bwMode="auto">
                <a:xfrm>
                  <a:off x="489" y="6358"/>
                  <a:ext cx="682"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4" name="Group 2253"/>
              <p:cNvGrpSpPr/>
              <p:nvPr/>
            </p:nvGrpSpPr>
            <p:grpSpPr bwMode="auto">
              <a:xfrm>
                <a:off x="1171" y="6358"/>
                <a:ext cx="640" cy="374"/>
                <a:chOff x="1171" y="6358"/>
                <a:chExt cx="640" cy="374"/>
              </a:xfrm>
            </p:grpSpPr>
            <p:sp>
              <p:nvSpPr>
                <p:cNvPr id="93" name="Rectangle 2117"/>
                <p:cNvSpPr>
                  <a:spLocks noChangeArrowheads="1"/>
                </p:cNvSpPr>
                <p:nvPr/>
              </p:nvSpPr>
              <p:spPr bwMode="auto">
                <a:xfrm>
                  <a:off x="1214" y="6358"/>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p6</a:t>
                  </a:r>
                  <a:endParaRPr lang="en-US" altLang="zh-CN" sz="1400">
                    <a:effectLst/>
                    <a:latin typeface="+mn-lt"/>
                    <a:ea typeface="宋体" panose="02010600030101010101" pitchFamily="2" charset="-122"/>
                  </a:endParaRPr>
                </a:p>
              </p:txBody>
            </p:sp>
            <p:sp>
              <p:nvSpPr>
                <p:cNvPr id="94" name="Rectangle 2252"/>
                <p:cNvSpPr>
                  <a:spLocks noChangeArrowheads="1"/>
                </p:cNvSpPr>
                <p:nvPr/>
              </p:nvSpPr>
              <p:spPr bwMode="auto">
                <a:xfrm>
                  <a:off x="1171" y="6358"/>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5" name="Group 2255"/>
              <p:cNvGrpSpPr/>
              <p:nvPr/>
            </p:nvGrpSpPr>
            <p:grpSpPr bwMode="auto">
              <a:xfrm>
                <a:off x="1811" y="6358"/>
                <a:ext cx="713" cy="374"/>
                <a:chOff x="1811" y="6358"/>
                <a:chExt cx="713" cy="374"/>
              </a:xfrm>
            </p:grpSpPr>
            <p:sp>
              <p:nvSpPr>
                <p:cNvPr id="91" name="Rectangle 2118"/>
                <p:cNvSpPr>
                  <a:spLocks noChangeArrowheads="1"/>
                </p:cNvSpPr>
                <p:nvPr/>
              </p:nvSpPr>
              <p:spPr bwMode="auto">
                <a:xfrm>
                  <a:off x="1854" y="6358"/>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p6</a:t>
                  </a:r>
                  <a:endParaRPr lang="en-US" altLang="zh-CN" sz="1400">
                    <a:effectLst/>
                    <a:latin typeface="+mn-lt"/>
                    <a:ea typeface="宋体" panose="02010600030101010101" pitchFamily="2" charset="-122"/>
                  </a:endParaRPr>
                </a:p>
              </p:txBody>
            </p:sp>
            <p:sp>
              <p:nvSpPr>
                <p:cNvPr id="92" name="Rectangle 2254"/>
                <p:cNvSpPr>
                  <a:spLocks noChangeArrowheads="1"/>
                </p:cNvSpPr>
                <p:nvPr/>
              </p:nvSpPr>
              <p:spPr bwMode="auto">
                <a:xfrm>
                  <a:off x="1811" y="6358"/>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6" name="Group 2257"/>
              <p:cNvGrpSpPr/>
              <p:nvPr/>
            </p:nvGrpSpPr>
            <p:grpSpPr bwMode="auto">
              <a:xfrm>
                <a:off x="2524" y="6358"/>
                <a:ext cx="416" cy="374"/>
                <a:chOff x="2524" y="6358"/>
                <a:chExt cx="416" cy="374"/>
              </a:xfrm>
            </p:grpSpPr>
            <p:sp>
              <p:nvSpPr>
                <p:cNvPr id="89" name="Rectangle 2119"/>
                <p:cNvSpPr>
                  <a:spLocks noChangeArrowheads="1"/>
                </p:cNvSpPr>
                <p:nvPr/>
              </p:nvSpPr>
              <p:spPr bwMode="auto">
                <a:xfrm>
                  <a:off x="2567" y="6358"/>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16</a:t>
                  </a:r>
                </a:p>
              </p:txBody>
            </p:sp>
            <p:sp>
              <p:nvSpPr>
                <p:cNvPr id="90" name="Rectangle 2256"/>
                <p:cNvSpPr>
                  <a:spLocks noChangeArrowheads="1"/>
                </p:cNvSpPr>
                <p:nvPr/>
              </p:nvSpPr>
              <p:spPr bwMode="auto">
                <a:xfrm>
                  <a:off x="2524" y="6358"/>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7" name="Group 2259"/>
              <p:cNvGrpSpPr/>
              <p:nvPr/>
            </p:nvGrpSpPr>
            <p:grpSpPr bwMode="auto">
              <a:xfrm>
                <a:off x="489" y="6732"/>
                <a:ext cx="682" cy="374"/>
                <a:chOff x="489" y="6732"/>
                <a:chExt cx="682" cy="374"/>
              </a:xfrm>
            </p:grpSpPr>
            <p:sp>
              <p:nvSpPr>
                <p:cNvPr id="87" name="Rectangle 2120"/>
                <p:cNvSpPr>
                  <a:spLocks noChangeArrowheads="1"/>
                </p:cNvSpPr>
                <p:nvPr/>
              </p:nvSpPr>
              <p:spPr bwMode="auto">
                <a:xfrm>
                  <a:off x="532" y="6732"/>
                  <a:ext cx="596"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6</a:t>
                  </a:r>
                  <a:r>
                    <a:rPr lang="en-US" altLang="zh-CN" sz="1400">
                      <a:effectLst/>
                      <a:latin typeface="+mn-lt"/>
                      <a:ea typeface="宋体" panose="02010600030101010101" pitchFamily="2" charset="-122"/>
                    </a:rPr>
                    <a:t>mm</a:t>
                  </a:r>
                </a:p>
              </p:txBody>
            </p:sp>
            <p:sp>
              <p:nvSpPr>
                <p:cNvPr id="88" name="Rectangle 2258"/>
                <p:cNvSpPr>
                  <a:spLocks noChangeArrowheads="1"/>
                </p:cNvSpPr>
                <p:nvPr/>
              </p:nvSpPr>
              <p:spPr bwMode="auto">
                <a:xfrm>
                  <a:off x="489" y="6732"/>
                  <a:ext cx="682"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8" name="Group 2261"/>
              <p:cNvGrpSpPr/>
              <p:nvPr/>
            </p:nvGrpSpPr>
            <p:grpSpPr bwMode="auto">
              <a:xfrm>
                <a:off x="1171" y="6732"/>
                <a:ext cx="640" cy="374"/>
                <a:chOff x="1171" y="6732"/>
                <a:chExt cx="640" cy="374"/>
              </a:xfrm>
            </p:grpSpPr>
            <p:sp>
              <p:nvSpPr>
                <p:cNvPr id="85" name="Rectangle 2121"/>
                <p:cNvSpPr>
                  <a:spLocks noChangeArrowheads="1"/>
                </p:cNvSpPr>
                <p:nvPr/>
              </p:nvSpPr>
              <p:spPr bwMode="auto">
                <a:xfrm>
                  <a:off x="1214" y="6732"/>
                  <a:ext cx="554"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p6mm</a:t>
                  </a:r>
                  <a:endParaRPr lang="en-US" altLang="zh-CN" sz="1400">
                    <a:effectLst/>
                    <a:latin typeface="+mn-lt"/>
                    <a:ea typeface="宋体" panose="02010600030101010101" pitchFamily="2" charset="-122"/>
                  </a:endParaRPr>
                </a:p>
              </p:txBody>
            </p:sp>
            <p:sp>
              <p:nvSpPr>
                <p:cNvPr id="86" name="Rectangle 2260"/>
                <p:cNvSpPr>
                  <a:spLocks noChangeArrowheads="1"/>
                </p:cNvSpPr>
                <p:nvPr/>
              </p:nvSpPr>
              <p:spPr bwMode="auto">
                <a:xfrm>
                  <a:off x="1171" y="6732"/>
                  <a:ext cx="640"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79" name="Group 2263"/>
              <p:cNvGrpSpPr/>
              <p:nvPr/>
            </p:nvGrpSpPr>
            <p:grpSpPr bwMode="auto">
              <a:xfrm>
                <a:off x="1811" y="6732"/>
                <a:ext cx="713" cy="374"/>
                <a:chOff x="1811" y="6732"/>
                <a:chExt cx="713" cy="374"/>
              </a:xfrm>
            </p:grpSpPr>
            <p:sp>
              <p:nvSpPr>
                <p:cNvPr id="83" name="Rectangle 2122"/>
                <p:cNvSpPr>
                  <a:spLocks noChangeArrowheads="1"/>
                </p:cNvSpPr>
                <p:nvPr/>
              </p:nvSpPr>
              <p:spPr bwMode="auto">
                <a:xfrm>
                  <a:off x="1854" y="6732"/>
                  <a:ext cx="62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1400" i="1">
                      <a:effectLst/>
                      <a:latin typeface="+mn-lt"/>
                      <a:ea typeface="宋体" panose="02010600030101010101" pitchFamily="2" charset="-122"/>
                    </a:rPr>
                    <a:t>p6m</a:t>
                  </a:r>
                  <a:endParaRPr lang="en-US" altLang="zh-CN" sz="1400">
                    <a:effectLst/>
                    <a:latin typeface="+mn-lt"/>
                    <a:ea typeface="宋体" panose="02010600030101010101" pitchFamily="2" charset="-122"/>
                  </a:endParaRPr>
                </a:p>
              </p:txBody>
            </p:sp>
            <p:sp>
              <p:nvSpPr>
                <p:cNvPr id="84" name="Rectangle 2262"/>
                <p:cNvSpPr>
                  <a:spLocks noChangeArrowheads="1"/>
                </p:cNvSpPr>
                <p:nvPr/>
              </p:nvSpPr>
              <p:spPr bwMode="auto">
                <a:xfrm>
                  <a:off x="1811" y="6732"/>
                  <a:ext cx="713"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nvGrpSpPr>
              <p:cNvPr id="80" name="Group 2265"/>
              <p:cNvGrpSpPr/>
              <p:nvPr/>
            </p:nvGrpSpPr>
            <p:grpSpPr bwMode="auto">
              <a:xfrm>
                <a:off x="2524" y="6732"/>
                <a:ext cx="416" cy="374"/>
                <a:chOff x="2524" y="6732"/>
                <a:chExt cx="416" cy="374"/>
              </a:xfrm>
            </p:grpSpPr>
            <p:sp>
              <p:nvSpPr>
                <p:cNvPr id="81" name="Rectangle 2123"/>
                <p:cNvSpPr>
                  <a:spLocks noChangeArrowheads="1"/>
                </p:cNvSpPr>
                <p:nvPr/>
              </p:nvSpPr>
              <p:spPr bwMode="auto">
                <a:xfrm>
                  <a:off x="2567" y="6732"/>
                  <a:ext cx="33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1400">
                      <a:effectLst/>
                      <a:latin typeface="+mn-lt"/>
                      <a:ea typeface="宋体" panose="02010600030101010101" pitchFamily="2" charset="-122"/>
                    </a:rPr>
                    <a:t>17</a:t>
                  </a:r>
                </a:p>
              </p:txBody>
            </p:sp>
            <p:sp>
              <p:nvSpPr>
                <p:cNvPr id="82" name="Rectangle 2264"/>
                <p:cNvSpPr>
                  <a:spLocks noChangeArrowheads="1"/>
                </p:cNvSpPr>
                <p:nvPr/>
              </p:nvSpPr>
              <p:spPr bwMode="auto">
                <a:xfrm>
                  <a:off x="2524" y="6732"/>
                  <a:ext cx="416" cy="37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grpSp>
        <p:sp>
          <p:nvSpPr>
            <p:cNvPr id="9" name="Rectangle 2267"/>
            <p:cNvSpPr>
              <a:spLocks noChangeArrowheads="1"/>
            </p:cNvSpPr>
            <p:nvPr/>
          </p:nvSpPr>
          <p:spPr bwMode="auto">
            <a:xfrm>
              <a:off x="-3" y="-3"/>
              <a:ext cx="2946" cy="7112"/>
            </a:xfrm>
            <a:prstGeom prst="rect">
              <a:avLst/>
            </a:prstGeom>
            <a:noFill/>
            <a:ln w="9525">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sz="1400">
                <a:latin typeface="+mn-lt"/>
              </a:endParaRPr>
            </a:p>
          </p:txBody>
        </p:sp>
      </p:grpSp>
    </p:spTree>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9" name="Rectangle 219"/>
          <p:cNvSpPr>
            <a:spLocks noChangeArrowheads="1"/>
          </p:cNvSpPr>
          <p:nvPr/>
        </p:nvSpPr>
        <p:spPr bwMode="auto">
          <a:xfrm>
            <a:off x="808038" y="1376189"/>
            <a:ext cx="7292354"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latin typeface="+mn-lt"/>
              </a:rPr>
              <a:t>For example: </a:t>
            </a:r>
            <a:r>
              <a:rPr lang="en-US" altLang="zh-CN" sz="2800" b="0" dirty="0">
                <a:latin typeface="+mn-lt"/>
              </a:rPr>
              <a:t>No. 7 2D space group</a:t>
            </a:r>
          </a:p>
          <a:p>
            <a:endParaRPr lang="zh-CN" altLang="en-US" sz="2800" dirty="0">
              <a:effectLst>
                <a:outerShdw blurRad="38100" dist="38100" dir="2700000" algn="tl">
                  <a:srgbClr val="000000"/>
                </a:outerShdw>
              </a:effectLst>
              <a:latin typeface="宋体" panose="02010600030101010101" pitchFamily="2" charset="-122"/>
              <a:ea typeface="宋体" panose="02010600030101010101" pitchFamily="2" charset="-122"/>
            </a:endParaRPr>
          </a:p>
          <a:p>
            <a:pPr algn="ctr"/>
            <a:r>
              <a:rPr lang="en-US" altLang="zh-CN" sz="4800" i="1" dirty="0">
                <a:solidFill>
                  <a:srgbClr val="FF0066"/>
                </a:solidFill>
                <a:effectLst>
                  <a:outerShdw blurRad="38100" dist="38100" dir="2700000" algn="tl">
                    <a:srgbClr val="000000"/>
                  </a:outerShdw>
                </a:effectLst>
                <a:ea typeface="宋体" panose="02010600030101010101" pitchFamily="2" charset="-122"/>
              </a:rPr>
              <a:t>p</a:t>
            </a:r>
            <a:r>
              <a:rPr lang="en-US" altLang="zh-CN" sz="4800" dirty="0">
                <a:solidFill>
                  <a:srgbClr val="FF0066"/>
                </a:solidFill>
                <a:effectLst>
                  <a:outerShdw blurRad="38100" dist="38100" dir="2700000" algn="tl">
                    <a:srgbClr val="000000"/>
                  </a:outerShdw>
                </a:effectLst>
                <a:ea typeface="宋体" panose="02010600030101010101" pitchFamily="2" charset="-122"/>
              </a:rPr>
              <a:t>2</a:t>
            </a:r>
            <a:r>
              <a:rPr lang="en-US" altLang="zh-CN" sz="4800" i="1" dirty="0">
                <a:solidFill>
                  <a:srgbClr val="FF0066"/>
                </a:solidFill>
                <a:effectLst>
                  <a:outerShdw blurRad="38100" dist="38100" dir="2700000" algn="tl">
                    <a:srgbClr val="000000"/>
                  </a:outerShdw>
                </a:effectLst>
                <a:ea typeface="宋体" panose="02010600030101010101" pitchFamily="2" charset="-122"/>
              </a:rPr>
              <a:t>mg</a:t>
            </a:r>
            <a:endParaRPr lang="zh-CN" altLang="en-US" sz="4800" dirty="0">
              <a:solidFill>
                <a:srgbClr val="FF0066"/>
              </a:solidFill>
              <a:effectLst>
                <a:outerShdw blurRad="38100" dist="38100" dir="2700000" algn="tl">
                  <a:srgbClr val="000000"/>
                </a:outerShdw>
              </a:effectLst>
              <a:ea typeface="宋体" panose="02010600030101010101" pitchFamily="2" charset="-122"/>
            </a:endParaRPr>
          </a:p>
        </p:txBody>
      </p:sp>
      <p:sp>
        <p:nvSpPr>
          <p:cNvPr id="102622" name="Rectangle 222"/>
          <p:cNvSpPr>
            <a:spLocks noChangeArrowheads="1"/>
          </p:cNvSpPr>
          <p:nvPr/>
        </p:nvSpPr>
        <p:spPr bwMode="auto">
          <a:xfrm>
            <a:off x="1175632" y="2380238"/>
            <a:ext cx="17793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400" dirty="0">
                <a:latin typeface="+mn-lt"/>
              </a:rPr>
              <a:t>Lattice type</a:t>
            </a:r>
            <a:endParaRPr lang="zh-CN" altLang="en-US" sz="2400" dirty="0">
              <a:latin typeface="+mn-lt"/>
            </a:endParaRPr>
          </a:p>
        </p:txBody>
      </p:sp>
      <p:sp>
        <p:nvSpPr>
          <p:cNvPr id="102628" name="Line 228"/>
          <p:cNvSpPr>
            <a:spLocks noChangeShapeType="1"/>
          </p:cNvSpPr>
          <p:nvPr/>
        </p:nvSpPr>
        <p:spPr bwMode="auto">
          <a:xfrm>
            <a:off x="2831484" y="2627804"/>
            <a:ext cx="655637" cy="6826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6" name="Group 9"/>
          <p:cNvGrpSpPr/>
          <p:nvPr/>
        </p:nvGrpSpPr>
        <p:grpSpPr bwMode="auto">
          <a:xfrm>
            <a:off x="76200" y="3429000"/>
            <a:ext cx="8991600" cy="3116263"/>
            <a:chOff x="-3" y="381"/>
            <a:chExt cx="3531" cy="3078"/>
          </a:xfrm>
        </p:grpSpPr>
        <p:grpSp>
          <p:nvGrpSpPr>
            <p:cNvPr id="17" name="Group 10"/>
            <p:cNvGrpSpPr/>
            <p:nvPr/>
          </p:nvGrpSpPr>
          <p:grpSpPr bwMode="auto">
            <a:xfrm>
              <a:off x="0" y="384"/>
              <a:ext cx="3525" cy="3072"/>
              <a:chOff x="0" y="384"/>
              <a:chExt cx="3525" cy="3072"/>
            </a:xfrm>
          </p:grpSpPr>
          <p:grpSp>
            <p:nvGrpSpPr>
              <p:cNvPr id="19" name="Group 11"/>
              <p:cNvGrpSpPr/>
              <p:nvPr/>
            </p:nvGrpSpPr>
            <p:grpSpPr bwMode="auto">
              <a:xfrm>
                <a:off x="0" y="384"/>
                <a:ext cx="633" cy="768"/>
                <a:chOff x="0" y="384"/>
                <a:chExt cx="633" cy="768"/>
              </a:xfrm>
            </p:grpSpPr>
            <p:sp>
              <p:nvSpPr>
                <p:cNvPr id="143" name="Rectangle 12"/>
                <p:cNvSpPr>
                  <a:spLocks noChangeArrowheads="1"/>
                </p:cNvSpPr>
                <p:nvPr/>
              </p:nvSpPr>
              <p:spPr bwMode="auto">
                <a:xfrm>
                  <a:off x="43" y="384"/>
                  <a:ext cx="547"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t>Crystal system</a:t>
                  </a:r>
                  <a:endParaRPr kumimoji="0" lang="zh-CN" altLang="en-US" sz="2000" b="0" dirty="0"/>
                </a:p>
              </p:txBody>
            </p:sp>
            <p:sp>
              <p:nvSpPr>
                <p:cNvPr id="144" name="Rectangle 13"/>
                <p:cNvSpPr>
                  <a:spLocks noChangeArrowheads="1"/>
                </p:cNvSpPr>
                <p:nvPr/>
              </p:nvSpPr>
              <p:spPr bwMode="auto">
                <a:xfrm>
                  <a:off x="0" y="384"/>
                  <a:ext cx="633" cy="76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0" name="Group 14"/>
              <p:cNvGrpSpPr/>
              <p:nvPr/>
            </p:nvGrpSpPr>
            <p:grpSpPr bwMode="auto">
              <a:xfrm>
                <a:off x="633" y="384"/>
                <a:ext cx="2892" cy="384"/>
                <a:chOff x="633" y="384"/>
                <a:chExt cx="2892" cy="384"/>
              </a:xfrm>
            </p:grpSpPr>
            <p:sp>
              <p:nvSpPr>
                <p:cNvPr id="141" name="Rectangle 15"/>
                <p:cNvSpPr>
                  <a:spLocks noChangeArrowheads="1"/>
                </p:cNvSpPr>
                <p:nvPr/>
              </p:nvSpPr>
              <p:spPr bwMode="auto">
                <a:xfrm>
                  <a:off x="676" y="384"/>
                  <a:ext cx="280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t>The indicating directions of 3 positions(listed in turn)</a:t>
                  </a:r>
                </a:p>
              </p:txBody>
            </p:sp>
            <p:sp>
              <p:nvSpPr>
                <p:cNvPr id="142" name="Rectangle 16"/>
                <p:cNvSpPr>
                  <a:spLocks noChangeArrowheads="1"/>
                </p:cNvSpPr>
                <p:nvPr/>
              </p:nvSpPr>
              <p:spPr bwMode="auto">
                <a:xfrm>
                  <a:off x="633" y="384"/>
                  <a:ext cx="2892"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1" name="Group 17"/>
              <p:cNvGrpSpPr/>
              <p:nvPr/>
            </p:nvGrpSpPr>
            <p:grpSpPr bwMode="auto">
              <a:xfrm>
                <a:off x="633" y="768"/>
                <a:ext cx="1338" cy="384"/>
                <a:chOff x="633" y="768"/>
                <a:chExt cx="1338" cy="384"/>
              </a:xfrm>
            </p:grpSpPr>
            <p:sp>
              <p:nvSpPr>
                <p:cNvPr id="139" name="Rectangle 18"/>
                <p:cNvSpPr>
                  <a:spLocks noChangeArrowheads="1"/>
                </p:cNvSpPr>
                <p:nvPr/>
              </p:nvSpPr>
              <p:spPr bwMode="auto">
                <a:xfrm>
                  <a:off x="676" y="768"/>
                  <a:ext cx="12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kumimoji="0" lang="en-US" altLang="en-US" sz="2000" b="0"/>
                </a:p>
              </p:txBody>
            </p:sp>
            <p:sp>
              <p:nvSpPr>
                <p:cNvPr id="140" name="Rectangle 19"/>
                <p:cNvSpPr>
                  <a:spLocks noChangeArrowheads="1"/>
                </p:cNvSpPr>
                <p:nvPr/>
              </p:nvSpPr>
              <p:spPr bwMode="auto">
                <a:xfrm>
                  <a:off x="633" y="768"/>
                  <a:ext cx="133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2" name="Group 20"/>
              <p:cNvGrpSpPr/>
              <p:nvPr/>
            </p:nvGrpSpPr>
            <p:grpSpPr bwMode="auto">
              <a:xfrm>
                <a:off x="1971" y="768"/>
                <a:ext cx="1554" cy="384"/>
                <a:chOff x="1971" y="768"/>
                <a:chExt cx="1554" cy="384"/>
              </a:xfrm>
            </p:grpSpPr>
            <p:sp>
              <p:nvSpPr>
                <p:cNvPr id="137" name="Rectangle 21"/>
                <p:cNvSpPr>
                  <a:spLocks noChangeArrowheads="1"/>
                </p:cNvSpPr>
                <p:nvPr/>
              </p:nvSpPr>
              <p:spPr bwMode="auto">
                <a:xfrm>
                  <a:off x="2014" y="768"/>
                  <a:ext cx="14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kumimoji="0" lang="en-US" altLang="en-US" sz="2000" b="0"/>
                </a:p>
              </p:txBody>
            </p:sp>
            <p:sp>
              <p:nvSpPr>
                <p:cNvPr id="138" name="Rectangle 22"/>
                <p:cNvSpPr>
                  <a:spLocks noChangeArrowheads="1"/>
                </p:cNvSpPr>
                <p:nvPr/>
              </p:nvSpPr>
              <p:spPr bwMode="auto">
                <a:xfrm>
                  <a:off x="1971" y="768"/>
                  <a:ext cx="1554"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3" name="Group 23"/>
              <p:cNvGrpSpPr/>
              <p:nvPr/>
            </p:nvGrpSpPr>
            <p:grpSpPr bwMode="auto">
              <a:xfrm>
                <a:off x="0" y="1152"/>
                <a:ext cx="633" cy="384"/>
                <a:chOff x="0" y="1152"/>
                <a:chExt cx="633" cy="384"/>
              </a:xfrm>
            </p:grpSpPr>
            <p:sp>
              <p:nvSpPr>
                <p:cNvPr id="135" name="Rectangle 24"/>
                <p:cNvSpPr>
                  <a:spLocks noChangeArrowheads="1"/>
                </p:cNvSpPr>
                <p:nvPr/>
              </p:nvSpPr>
              <p:spPr bwMode="auto">
                <a:xfrm>
                  <a:off x="43" y="1152"/>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isometric</a:t>
                  </a:r>
                  <a:endParaRPr kumimoji="0" lang="zh-CN" altLang="en-US" sz="2000" b="0" dirty="0"/>
                </a:p>
              </p:txBody>
            </p:sp>
            <p:sp>
              <p:nvSpPr>
                <p:cNvPr id="136" name="Rectangle 25"/>
                <p:cNvSpPr>
                  <a:spLocks noChangeArrowheads="1"/>
                </p:cNvSpPr>
                <p:nvPr/>
              </p:nvSpPr>
              <p:spPr bwMode="auto">
                <a:xfrm>
                  <a:off x="0" y="1152"/>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4" name="Group 26"/>
              <p:cNvGrpSpPr/>
              <p:nvPr/>
            </p:nvGrpSpPr>
            <p:grpSpPr bwMode="auto">
              <a:xfrm>
                <a:off x="633" y="1152"/>
                <a:ext cx="446" cy="384"/>
                <a:chOff x="633" y="1152"/>
                <a:chExt cx="446" cy="384"/>
              </a:xfrm>
            </p:grpSpPr>
            <p:sp>
              <p:nvSpPr>
                <p:cNvPr id="133" name="Rectangle 27"/>
                <p:cNvSpPr>
                  <a:spLocks noChangeArrowheads="1"/>
                </p:cNvSpPr>
                <p:nvPr/>
              </p:nvSpPr>
              <p:spPr bwMode="auto">
                <a:xfrm>
                  <a:off x="676"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c</a:t>
                  </a:r>
                  <a:endParaRPr kumimoji="0" lang="en-US" altLang="zh-CN" sz="2000" b="0"/>
                </a:p>
              </p:txBody>
            </p:sp>
            <p:sp>
              <p:nvSpPr>
                <p:cNvPr id="134" name="Rectangle 28"/>
                <p:cNvSpPr>
                  <a:spLocks noChangeArrowheads="1"/>
                </p:cNvSpPr>
                <p:nvPr/>
              </p:nvSpPr>
              <p:spPr bwMode="auto">
                <a:xfrm>
                  <a:off x="633" y="115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5" name="Group 29"/>
              <p:cNvGrpSpPr/>
              <p:nvPr/>
            </p:nvGrpSpPr>
            <p:grpSpPr bwMode="auto">
              <a:xfrm>
                <a:off x="1079" y="1152"/>
                <a:ext cx="446" cy="384"/>
                <a:chOff x="1079" y="1152"/>
                <a:chExt cx="446" cy="384"/>
              </a:xfrm>
            </p:grpSpPr>
            <p:sp>
              <p:nvSpPr>
                <p:cNvPr id="131" name="Rectangle 30"/>
                <p:cNvSpPr>
                  <a:spLocks noChangeArrowheads="1"/>
                </p:cNvSpPr>
                <p:nvPr/>
              </p:nvSpPr>
              <p:spPr bwMode="auto">
                <a:xfrm>
                  <a:off x="1122"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a+b+c</a:t>
                  </a:r>
                  <a:endParaRPr kumimoji="0" lang="en-US" altLang="zh-CN" sz="2000" b="0"/>
                </a:p>
              </p:txBody>
            </p:sp>
            <p:sp>
              <p:nvSpPr>
                <p:cNvPr id="132" name="Rectangle 31"/>
                <p:cNvSpPr>
                  <a:spLocks noChangeArrowheads="1"/>
                </p:cNvSpPr>
                <p:nvPr/>
              </p:nvSpPr>
              <p:spPr bwMode="auto">
                <a:xfrm>
                  <a:off x="1079" y="115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6" name="Group 32"/>
              <p:cNvGrpSpPr/>
              <p:nvPr/>
            </p:nvGrpSpPr>
            <p:grpSpPr bwMode="auto">
              <a:xfrm>
                <a:off x="1525" y="1152"/>
                <a:ext cx="446" cy="384"/>
                <a:chOff x="1525" y="1152"/>
                <a:chExt cx="446" cy="384"/>
              </a:xfrm>
            </p:grpSpPr>
            <p:sp>
              <p:nvSpPr>
                <p:cNvPr id="129" name="Rectangle 33"/>
                <p:cNvSpPr>
                  <a:spLocks noChangeArrowheads="1"/>
                </p:cNvSpPr>
                <p:nvPr/>
              </p:nvSpPr>
              <p:spPr bwMode="auto">
                <a:xfrm>
                  <a:off x="1568"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a+b</a:t>
                  </a:r>
                  <a:endParaRPr kumimoji="0" lang="en-US" altLang="zh-CN" sz="2000" b="0"/>
                </a:p>
              </p:txBody>
            </p:sp>
            <p:sp>
              <p:nvSpPr>
                <p:cNvPr id="130" name="Rectangle 34"/>
                <p:cNvSpPr>
                  <a:spLocks noChangeArrowheads="1"/>
                </p:cNvSpPr>
                <p:nvPr/>
              </p:nvSpPr>
              <p:spPr bwMode="auto">
                <a:xfrm>
                  <a:off x="1525" y="115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7" name="Group 35"/>
              <p:cNvGrpSpPr/>
              <p:nvPr/>
            </p:nvGrpSpPr>
            <p:grpSpPr bwMode="auto">
              <a:xfrm>
                <a:off x="1971" y="1152"/>
                <a:ext cx="518" cy="384"/>
                <a:chOff x="1971" y="1152"/>
                <a:chExt cx="518" cy="384"/>
              </a:xfrm>
            </p:grpSpPr>
            <p:sp>
              <p:nvSpPr>
                <p:cNvPr id="127" name="Rectangle 36"/>
                <p:cNvSpPr>
                  <a:spLocks noChangeArrowheads="1"/>
                </p:cNvSpPr>
                <p:nvPr/>
              </p:nvSpPr>
              <p:spPr bwMode="auto">
                <a:xfrm>
                  <a:off x="2014"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[001]</a:t>
                  </a:r>
                </a:p>
              </p:txBody>
            </p:sp>
            <p:sp>
              <p:nvSpPr>
                <p:cNvPr id="128" name="Rectangle 37"/>
                <p:cNvSpPr>
                  <a:spLocks noChangeArrowheads="1"/>
                </p:cNvSpPr>
                <p:nvPr/>
              </p:nvSpPr>
              <p:spPr bwMode="auto">
                <a:xfrm>
                  <a:off x="1971" y="115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8" name="Group 38"/>
              <p:cNvGrpSpPr/>
              <p:nvPr/>
            </p:nvGrpSpPr>
            <p:grpSpPr bwMode="auto">
              <a:xfrm>
                <a:off x="2489" y="1152"/>
                <a:ext cx="518" cy="384"/>
                <a:chOff x="2489" y="1152"/>
                <a:chExt cx="518" cy="384"/>
              </a:xfrm>
            </p:grpSpPr>
            <p:sp>
              <p:nvSpPr>
                <p:cNvPr id="125" name="Rectangle 39"/>
                <p:cNvSpPr>
                  <a:spLocks noChangeArrowheads="1"/>
                </p:cNvSpPr>
                <p:nvPr/>
              </p:nvSpPr>
              <p:spPr bwMode="auto">
                <a:xfrm>
                  <a:off x="2532"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[111]</a:t>
                  </a:r>
                </a:p>
              </p:txBody>
            </p:sp>
            <p:sp>
              <p:nvSpPr>
                <p:cNvPr id="126" name="Rectangle 40"/>
                <p:cNvSpPr>
                  <a:spLocks noChangeArrowheads="1"/>
                </p:cNvSpPr>
                <p:nvPr/>
              </p:nvSpPr>
              <p:spPr bwMode="auto">
                <a:xfrm>
                  <a:off x="2489" y="115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29" name="Group 41"/>
              <p:cNvGrpSpPr/>
              <p:nvPr/>
            </p:nvGrpSpPr>
            <p:grpSpPr bwMode="auto">
              <a:xfrm>
                <a:off x="3007" y="1152"/>
                <a:ext cx="518" cy="384"/>
                <a:chOff x="3007" y="1152"/>
                <a:chExt cx="518" cy="384"/>
              </a:xfrm>
            </p:grpSpPr>
            <p:sp>
              <p:nvSpPr>
                <p:cNvPr id="123" name="Rectangle 42"/>
                <p:cNvSpPr>
                  <a:spLocks noChangeArrowheads="1"/>
                </p:cNvSpPr>
                <p:nvPr/>
              </p:nvSpPr>
              <p:spPr bwMode="auto">
                <a:xfrm>
                  <a:off x="3050"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[110]</a:t>
                  </a:r>
                </a:p>
              </p:txBody>
            </p:sp>
            <p:sp>
              <p:nvSpPr>
                <p:cNvPr id="124" name="Rectangle 43"/>
                <p:cNvSpPr>
                  <a:spLocks noChangeArrowheads="1"/>
                </p:cNvSpPr>
                <p:nvPr/>
              </p:nvSpPr>
              <p:spPr bwMode="auto">
                <a:xfrm>
                  <a:off x="3007" y="115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0" name="Group 44"/>
              <p:cNvGrpSpPr/>
              <p:nvPr/>
            </p:nvGrpSpPr>
            <p:grpSpPr bwMode="auto">
              <a:xfrm>
                <a:off x="0" y="1536"/>
                <a:ext cx="633" cy="384"/>
                <a:chOff x="0" y="1536"/>
                <a:chExt cx="633" cy="384"/>
              </a:xfrm>
            </p:grpSpPr>
            <p:sp>
              <p:nvSpPr>
                <p:cNvPr id="121" name="Rectangle 45"/>
                <p:cNvSpPr>
                  <a:spLocks noChangeArrowheads="1"/>
                </p:cNvSpPr>
                <p:nvPr/>
              </p:nvSpPr>
              <p:spPr bwMode="auto">
                <a:xfrm>
                  <a:off x="43" y="1536"/>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tetragonal </a:t>
                  </a:r>
                  <a:endParaRPr kumimoji="0" lang="zh-CN" altLang="en-US" sz="2000" b="0" dirty="0"/>
                </a:p>
              </p:txBody>
            </p:sp>
            <p:sp>
              <p:nvSpPr>
                <p:cNvPr id="122" name="Rectangle 46"/>
                <p:cNvSpPr>
                  <a:spLocks noChangeArrowheads="1"/>
                </p:cNvSpPr>
                <p:nvPr/>
              </p:nvSpPr>
              <p:spPr bwMode="auto">
                <a:xfrm>
                  <a:off x="0" y="1536"/>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1" name="Group 47"/>
              <p:cNvGrpSpPr/>
              <p:nvPr/>
            </p:nvGrpSpPr>
            <p:grpSpPr bwMode="auto">
              <a:xfrm>
                <a:off x="633" y="1536"/>
                <a:ext cx="446" cy="384"/>
                <a:chOff x="633" y="1536"/>
                <a:chExt cx="446" cy="384"/>
              </a:xfrm>
            </p:grpSpPr>
            <p:sp>
              <p:nvSpPr>
                <p:cNvPr id="119" name="Rectangle 48"/>
                <p:cNvSpPr>
                  <a:spLocks noChangeArrowheads="1"/>
                </p:cNvSpPr>
                <p:nvPr/>
              </p:nvSpPr>
              <p:spPr bwMode="auto">
                <a:xfrm>
                  <a:off x="676"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c</a:t>
                  </a:r>
                  <a:endParaRPr kumimoji="0" lang="en-US" altLang="zh-CN" sz="2000" b="0"/>
                </a:p>
              </p:txBody>
            </p:sp>
            <p:sp>
              <p:nvSpPr>
                <p:cNvPr id="120" name="Rectangle 49"/>
                <p:cNvSpPr>
                  <a:spLocks noChangeArrowheads="1"/>
                </p:cNvSpPr>
                <p:nvPr/>
              </p:nvSpPr>
              <p:spPr bwMode="auto">
                <a:xfrm>
                  <a:off x="633" y="1536"/>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2" name="Group 50"/>
              <p:cNvGrpSpPr/>
              <p:nvPr/>
            </p:nvGrpSpPr>
            <p:grpSpPr bwMode="auto">
              <a:xfrm>
                <a:off x="1079" y="1536"/>
                <a:ext cx="446" cy="384"/>
                <a:chOff x="1079" y="1536"/>
                <a:chExt cx="446" cy="384"/>
              </a:xfrm>
            </p:grpSpPr>
            <p:sp>
              <p:nvSpPr>
                <p:cNvPr id="117" name="Rectangle 51"/>
                <p:cNvSpPr>
                  <a:spLocks noChangeArrowheads="1"/>
                </p:cNvSpPr>
                <p:nvPr/>
              </p:nvSpPr>
              <p:spPr bwMode="auto">
                <a:xfrm>
                  <a:off x="1122"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a</a:t>
                  </a:r>
                  <a:endParaRPr kumimoji="0" lang="en-US" altLang="zh-CN" sz="2000" b="0"/>
                </a:p>
              </p:txBody>
            </p:sp>
            <p:sp>
              <p:nvSpPr>
                <p:cNvPr id="118" name="Rectangle 52"/>
                <p:cNvSpPr>
                  <a:spLocks noChangeArrowheads="1"/>
                </p:cNvSpPr>
                <p:nvPr/>
              </p:nvSpPr>
              <p:spPr bwMode="auto">
                <a:xfrm>
                  <a:off x="1079" y="1536"/>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3" name="Group 53"/>
              <p:cNvGrpSpPr/>
              <p:nvPr/>
            </p:nvGrpSpPr>
            <p:grpSpPr bwMode="auto">
              <a:xfrm>
                <a:off x="1525" y="1536"/>
                <a:ext cx="446" cy="384"/>
                <a:chOff x="1525" y="1536"/>
                <a:chExt cx="446" cy="384"/>
              </a:xfrm>
            </p:grpSpPr>
            <p:sp>
              <p:nvSpPr>
                <p:cNvPr id="115" name="Rectangle 54"/>
                <p:cNvSpPr>
                  <a:spLocks noChangeArrowheads="1"/>
                </p:cNvSpPr>
                <p:nvPr/>
              </p:nvSpPr>
              <p:spPr bwMode="auto">
                <a:xfrm>
                  <a:off x="1568"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a+b</a:t>
                  </a:r>
                  <a:endParaRPr kumimoji="0" lang="en-US" altLang="zh-CN" sz="2000" b="0"/>
                </a:p>
              </p:txBody>
            </p:sp>
            <p:sp>
              <p:nvSpPr>
                <p:cNvPr id="116" name="Rectangle 55"/>
                <p:cNvSpPr>
                  <a:spLocks noChangeArrowheads="1"/>
                </p:cNvSpPr>
                <p:nvPr/>
              </p:nvSpPr>
              <p:spPr bwMode="auto">
                <a:xfrm>
                  <a:off x="1525" y="1536"/>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4" name="Group 56"/>
              <p:cNvGrpSpPr/>
              <p:nvPr/>
            </p:nvGrpSpPr>
            <p:grpSpPr bwMode="auto">
              <a:xfrm>
                <a:off x="1971" y="1536"/>
                <a:ext cx="518" cy="384"/>
                <a:chOff x="1971" y="1536"/>
                <a:chExt cx="518" cy="384"/>
              </a:xfrm>
            </p:grpSpPr>
            <p:sp>
              <p:nvSpPr>
                <p:cNvPr id="113" name="Rectangle 57"/>
                <p:cNvSpPr>
                  <a:spLocks noChangeArrowheads="1"/>
                </p:cNvSpPr>
                <p:nvPr/>
              </p:nvSpPr>
              <p:spPr bwMode="auto">
                <a:xfrm>
                  <a:off x="2014"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[001]</a:t>
                  </a:r>
                </a:p>
              </p:txBody>
            </p:sp>
            <p:sp>
              <p:nvSpPr>
                <p:cNvPr id="114" name="Rectangle 58"/>
                <p:cNvSpPr>
                  <a:spLocks noChangeArrowheads="1"/>
                </p:cNvSpPr>
                <p:nvPr/>
              </p:nvSpPr>
              <p:spPr bwMode="auto">
                <a:xfrm>
                  <a:off x="1971" y="1536"/>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5" name="Group 59"/>
              <p:cNvGrpSpPr/>
              <p:nvPr/>
            </p:nvGrpSpPr>
            <p:grpSpPr bwMode="auto">
              <a:xfrm>
                <a:off x="2489" y="1536"/>
                <a:ext cx="518" cy="384"/>
                <a:chOff x="2489" y="1536"/>
                <a:chExt cx="518" cy="384"/>
              </a:xfrm>
            </p:grpSpPr>
            <p:sp>
              <p:nvSpPr>
                <p:cNvPr id="111" name="Rectangle 60"/>
                <p:cNvSpPr>
                  <a:spLocks noChangeArrowheads="1"/>
                </p:cNvSpPr>
                <p:nvPr/>
              </p:nvSpPr>
              <p:spPr bwMode="auto">
                <a:xfrm>
                  <a:off x="2532"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[100]</a:t>
                  </a:r>
                </a:p>
              </p:txBody>
            </p:sp>
            <p:sp>
              <p:nvSpPr>
                <p:cNvPr id="112" name="Rectangle 61"/>
                <p:cNvSpPr>
                  <a:spLocks noChangeArrowheads="1"/>
                </p:cNvSpPr>
                <p:nvPr/>
              </p:nvSpPr>
              <p:spPr bwMode="auto">
                <a:xfrm>
                  <a:off x="2489" y="1536"/>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6" name="Group 62"/>
              <p:cNvGrpSpPr/>
              <p:nvPr/>
            </p:nvGrpSpPr>
            <p:grpSpPr bwMode="auto">
              <a:xfrm>
                <a:off x="3007" y="1536"/>
                <a:ext cx="518" cy="384"/>
                <a:chOff x="3007" y="1536"/>
                <a:chExt cx="518" cy="384"/>
              </a:xfrm>
            </p:grpSpPr>
            <p:sp>
              <p:nvSpPr>
                <p:cNvPr id="109" name="Rectangle 63"/>
                <p:cNvSpPr>
                  <a:spLocks noChangeArrowheads="1"/>
                </p:cNvSpPr>
                <p:nvPr/>
              </p:nvSpPr>
              <p:spPr bwMode="auto">
                <a:xfrm>
                  <a:off x="3050"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[110]</a:t>
                  </a:r>
                </a:p>
              </p:txBody>
            </p:sp>
            <p:sp>
              <p:nvSpPr>
                <p:cNvPr id="110" name="Rectangle 64"/>
                <p:cNvSpPr>
                  <a:spLocks noChangeArrowheads="1"/>
                </p:cNvSpPr>
                <p:nvPr/>
              </p:nvSpPr>
              <p:spPr bwMode="auto">
                <a:xfrm>
                  <a:off x="3007" y="1536"/>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7" name="Group 65"/>
              <p:cNvGrpSpPr/>
              <p:nvPr/>
            </p:nvGrpSpPr>
            <p:grpSpPr bwMode="auto">
              <a:xfrm>
                <a:off x="0" y="1920"/>
                <a:ext cx="676" cy="384"/>
                <a:chOff x="0" y="1920"/>
                <a:chExt cx="676" cy="384"/>
              </a:xfrm>
            </p:grpSpPr>
            <p:sp>
              <p:nvSpPr>
                <p:cNvPr id="107" name="Rectangle 66"/>
                <p:cNvSpPr>
                  <a:spLocks noChangeArrowheads="1"/>
                </p:cNvSpPr>
                <p:nvPr/>
              </p:nvSpPr>
              <p:spPr bwMode="auto">
                <a:xfrm>
                  <a:off x="0" y="1920"/>
                  <a:ext cx="6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orthorhombic</a:t>
                  </a:r>
                  <a:endParaRPr kumimoji="0" lang="zh-CN" altLang="en-US" sz="2000" b="0" dirty="0"/>
                </a:p>
              </p:txBody>
            </p:sp>
            <p:sp>
              <p:nvSpPr>
                <p:cNvPr id="108" name="Rectangle 67"/>
                <p:cNvSpPr>
                  <a:spLocks noChangeArrowheads="1"/>
                </p:cNvSpPr>
                <p:nvPr/>
              </p:nvSpPr>
              <p:spPr bwMode="auto">
                <a:xfrm>
                  <a:off x="0" y="1920"/>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8" name="Group 68"/>
              <p:cNvGrpSpPr/>
              <p:nvPr/>
            </p:nvGrpSpPr>
            <p:grpSpPr bwMode="auto">
              <a:xfrm>
                <a:off x="633" y="1920"/>
                <a:ext cx="446" cy="384"/>
                <a:chOff x="633" y="1920"/>
                <a:chExt cx="446" cy="384"/>
              </a:xfrm>
            </p:grpSpPr>
            <p:sp>
              <p:nvSpPr>
                <p:cNvPr id="105" name="Rectangle 69"/>
                <p:cNvSpPr>
                  <a:spLocks noChangeArrowheads="1"/>
                </p:cNvSpPr>
                <p:nvPr/>
              </p:nvSpPr>
              <p:spPr bwMode="auto">
                <a:xfrm>
                  <a:off x="676"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a</a:t>
                  </a:r>
                  <a:endParaRPr kumimoji="0" lang="en-US" altLang="zh-CN" sz="2000" b="0"/>
                </a:p>
              </p:txBody>
            </p:sp>
            <p:sp>
              <p:nvSpPr>
                <p:cNvPr id="106" name="Rectangle 70"/>
                <p:cNvSpPr>
                  <a:spLocks noChangeArrowheads="1"/>
                </p:cNvSpPr>
                <p:nvPr/>
              </p:nvSpPr>
              <p:spPr bwMode="auto">
                <a:xfrm>
                  <a:off x="633" y="1920"/>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39" name="Group 71"/>
              <p:cNvGrpSpPr/>
              <p:nvPr/>
            </p:nvGrpSpPr>
            <p:grpSpPr bwMode="auto">
              <a:xfrm>
                <a:off x="1079" y="1920"/>
                <a:ext cx="446" cy="384"/>
                <a:chOff x="1079" y="1920"/>
                <a:chExt cx="446" cy="384"/>
              </a:xfrm>
            </p:grpSpPr>
            <p:sp>
              <p:nvSpPr>
                <p:cNvPr id="103" name="Rectangle 72"/>
                <p:cNvSpPr>
                  <a:spLocks noChangeArrowheads="1"/>
                </p:cNvSpPr>
                <p:nvPr/>
              </p:nvSpPr>
              <p:spPr bwMode="auto">
                <a:xfrm>
                  <a:off x="1122"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b</a:t>
                  </a:r>
                  <a:endParaRPr kumimoji="0" lang="en-US" altLang="zh-CN" sz="2000" b="0"/>
                </a:p>
              </p:txBody>
            </p:sp>
            <p:sp>
              <p:nvSpPr>
                <p:cNvPr id="104" name="Rectangle 73"/>
                <p:cNvSpPr>
                  <a:spLocks noChangeArrowheads="1"/>
                </p:cNvSpPr>
                <p:nvPr/>
              </p:nvSpPr>
              <p:spPr bwMode="auto">
                <a:xfrm>
                  <a:off x="1079" y="1920"/>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0" name="Group 74"/>
              <p:cNvGrpSpPr/>
              <p:nvPr/>
            </p:nvGrpSpPr>
            <p:grpSpPr bwMode="auto">
              <a:xfrm>
                <a:off x="1525" y="1920"/>
                <a:ext cx="446" cy="384"/>
                <a:chOff x="1525" y="1920"/>
                <a:chExt cx="446" cy="384"/>
              </a:xfrm>
            </p:grpSpPr>
            <p:sp>
              <p:nvSpPr>
                <p:cNvPr id="101" name="Rectangle 75"/>
                <p:cNvSpPr>
                  <a:spLocks noChangeArrowheads="1"/>
                </p:cNvSpPr>
                <p:nvPr/>
              </p:nvSpPr>
              <p:spPr bwMode="auto">
                <a:xfrm>
                  <a:off x="1568"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c</a:t>
                  </a:r>
                  <a:endParaRPr kumimoji="0" lang="en-US" altLang="zh-CN" sz="2000" b="0"/>
                </a:p>
              </p:txBody>
            </p:sp>
            <p:sp>
              <p:nvSpPr>
                <p:cNvPr id="102" name="Rectangle 76"/>
                <p:cNvSpPr>
                  <a:spLocks noChangeArrowheads="1"/>
                </p:cNvSpPr>
                <p:nvPr/>
              </p:nvSpPr>
              <p:spPr bwMode="auto">
                <a:xfrm>
                  <a:off x="1525" y="1920"/>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1" name="Group 77"/>
              <p:cNvGrpSpPr/>
              <p:nvPr/>
            </p:nvGrpSpPr>
            <p:grpSpPr bwMode="auto">
              <a:xfrm>
                <a:off x="1971" y="1920"/>
                <a:ext cx="518" cy="384"/>
                <a:chOff x="1971" y="1920"/>
                <a:chExt cx="518" cy="384"/>
              </a:xfrm>
            </p:grpSpPr>
            <p:sp>
              <p:nvSpPr>
                <p:cNvPr id="99" name="Rectangle 78"/>
                <p:cNvSpPr>
                  <a:spLocks noChangeArrowheads="1"/>
                </p:cNvSpPr>
                <p:nvPr/>
              </p:nvSpPr>
              <p:spPr bwMode="auto">
                <a:xfrm>
                  <a:off x="2014"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[100]</a:t>
                  </a:r>
                </a:p>
              </p:txBody>
            </p:sp>
            <p:sp>
              <p:nvSpPr>
                <p:cNvPr id="100" name="Rectangle 79"/>
                <p:cNvSpPr>
                  <a:spLocks noChangeArrowheads="1"/>
                </p:cNvSpPr>
                <p:nvPr/>
              </p:nvSpPr>
              <p:spPr bwMode="auto">
                <a:xfrm>
                  <a:off x="1971" y="1920"/>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2" name="Group 80"/>
              <p:cNvGrpSpPr/>
              <p:nvPr/>
            </p:nvGrpSpPr>
            <p:grpSpPr bwMode="auto">
              <a:xfrm>
                <a:off x="2489" y="1920"/>
                <a:ext cx="518" cy="384"/>
                <a:chOff x="2489" y="1920"/>
                <a:chExt cx="518" cy="384"/>
              </a:xfrm>
            </p:grpSpPr>
            <p:sp>
              <p:nvSpPr>
                <p:cNvPr id="97" name="Rectangle 81"/>
                <p:cNvSpPr>
                  <a:spLocks noChangeArrowheads="1"/>
                </p:cNvSpPr>
                <p:nvPr/>
              </p:nvSpPr>
              <p:spPr bwMode="auto">
                <a:xfrm>
                  <a:off x="2532"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[010]</a:t>
                  </a:r>
                </a:p>
              </p:txBody>
            </p:sp>
            <p:sp>
              <p:nvSpPr>
                <p:cNvPr id="98" name="Rectangle 82"/>
                <p:cNvSpPr>
                  <a:spLocks noChangeArrowheads="1"/>
                </p:cNvSpPr>
                <p:nvPr/>
              </p:nvSpPr>
              <p:spPr bwMode="auto">
                <a:xfrm>
                  <a:off x="2489" y="1920"/>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3" name="Group 83"/>
              <p:cNvGrpSpPr/>
              <p:nvPr/>
            </p:nvGrpSpPr>
            <p:grpSpPr bwMode="auto">
              <a:xfrm>
                <a:off x="3007" y="1920"/>
                <a:ext cx="518" cy="384"/>
                <a:chOff x="3007" y="1920"/>
                <a:chExt cx="518" cy="384"/>
              </a:xfrm>
            </p:grpSpPr>
            <p:sp>
              <p:nvSpPr>
                <p:cNvPr id="95" name="Rectangle 84"/>
                <p:cNvSpPr>
                  <a:spLocks noChangeArrowheads="1"/>
                </p:cNvSpPr>
                <p:nvPr/>
              </p:nvSpPr>
              <p:spPr bwMode="auto">
                <a:xfrm>
                  <a:off x="3050"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[001]</a:t>
                  </a:r>
                </a:p>
              </p:txBody>
            </p:sp>
            <p:sp>
              <p:nvSpPr>
                <p:cNvPr id="96" name="Rectangle 85"/>
                <p:cNvSpPr>
                  <a:spLocks noChangeArrowheads="1"/>
                </p:cNvSpPr>
                <p:nvPr/>
              </p:nvSpPr>
              <p:spPr bwMode="auto">
                <a:xfrm>
                  <a:off x="3007" y="1920"/>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4" name="Group 86"/>
              <p:cNvGrpSpPr/>
              <p:nvPr/>
            </p:nvGrpSpPr>
            <p:grpSpPr bwMode="auto">
              <a:xfrm>
                <a:off x="0" y="2304"/>
                <a:ext cx="633" cy="384"/>
                <a:chOff x="0" y="2304"/>
                <a:chExt cx="633" cy="384"/>
              </a:xfrm>
            </p:grpSpPr>
            <p:sp>
              <p:nvSpPr>
                <p:cNvPr id="93" name="Rectangle 87"/>
                <p:cNvSpPr>
                  <a:spLocks noChangeArrowheads="1"/>
                </p:cNvSpPr>
                <p:nvPr/>
              </p:nvSpPr>
              <p:spPr bwMode="auto">
                <a:xfrm>
                  <a:off x="43" y="2304"/>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monoclinic </a:t>
                  </a:r>
                  <a:endParaRPr kumimoji="0" lang="zh-CN" altLang="en-US" sz="2000" b="0" dirty="0"/>
                </a:p>
              </p:txBody>
            </p:sp>
            <p:sp>
              <p:nvSpPr>
                <p:cNvPr id="94" name="Rectangle 88"/>
                <p:cNvSpPr>
                  <a:spLocks noChangeArrowheads="1"/>
                </p:cNvSpPr>
                <p:nvPr/>
              </p:nvSpPr>
              <p:spPr bwMode="auto">
                <a:xfrm>
                  <a:off x="0" y="2304"/>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5" name="Group 89"/>
              <p:cNvGrpSpPr/>
              <p:nvPr/>
            </p:nvGrpSpPr>
            <p:grpSpPr bwMode="auto">
              <a:xfrm>
                <a:off x="633" y="2304"/>
                <a:ext cx="446" cy="384"/>
                <a:chOff x="633" y="2304"/>
                <a:chExt cx="446" cy="384"/>
              </a:xfrm>
            </p:grpSpPr>
            <p:sp>
              <p:nvSpPr>
                <p:cNvPr id="91" name="Rectangle 90"/>
                <p:cNvSpPr>
                  <a:spLocks noChangeArrowheads="1"/>
                </p:cNvSpPr>
                <p:nvPr/>
              </p:nvSpPr>
              <p:spPr bwMode="auto">
                <a:xfrm>
                  <a:off x="676"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b</a:t>
                  </a:r>
                  <a:endParaRPr kumimoji="0" lang="en-US" altLang="zh-CN" sz="2000" b="0"/>
                </a:p>
              </p:txBody>
            </p:sp>
            <p:sp>
              <p:nvSpPr>
                <p:cNvPr id="92" name="Rectangle 91"/>
                <p:cNvSpPr>
                  <a:spLocks noChangeArrowheads="1"/>
                </p:cNvSpPr>
                <p:nvPr/>
              </p:nvSpPr>
              <p:spPr bwMode="auto">
                <a:xfrm>
                  <a:off x="633" y="2304"/>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6" name="Group 92"/>
              <p:cNvGrpSpPr/>
              <p:nvPr/>
            </p:nvGrpSpPr>
            <p:grpSpPr bwMode="auto">
              <a:xfrm>
                <a:off x="1079" y="2304"/>
                <a:ext cx="446" cy="384"/>
                <a:chOff x="1079" y="2304"/>
                <a:chExt cx="446" cy="384"/>
              </a:xfrm>
            </p:grpSpPr>
            <p:sp>
              <p:nvSpPr>
                <p:cNvPr id="89" name="Rectangle 93"/>
                <p:cNvSpPr>
                  <a:spLocks noChangeArrowheads="1"/>
                </p:cNvSpPr>
                <p:nvPr/>
              </p:nvSpPr>
              <p:spPr bwMode="auto">
                <a:xfrm>
                  <a:off x="1122"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90" name="Rectangle 94"/>
                <p:cNvSpPr>
                  <a:spLocks noChangeArrowheads="1"/>
                </p:cNvSpPr>
                <p:nvPr/>
              </p:nvSpPr>
              <p:spPr bwMode="auto">
                <a:xfrm>
                  <a:off x="1079" y="2304"/>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7" name="Group 95"/>
              <p:cNvGrpSpPr/>
              <p:nvPr/>
            </p:nvGrpSpPr>
            <p:grpSpPr bwMode="auto">
              <a:xfrm>
                <a:off x="1525" y="2304"/>
                <a:ext cx="446" cy="384"/>
                <a:chOff x="1525" y="2304"/>
                <a:chExt cx="446" cy="384"/>
              </a:xfrm>
            </p:grpSpPr>
            <p:sp>
              <p:nvSpPr>
                <p:cNvPr id="87" name="Rectangle 96"/>
                <p:cNvSpPr>
                  <a:spLocks noChangeArrowheads="1"/>
                </p:cNvSpPr>
                <p:nvPr/>
              </p:nvSpPr>
              <p:spPr bwMode="auto">
                <a:xfrm>
                  <a:off x="1568"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88" name="Rectangle 97"/>
                <p:cNvSpPr>
                  <a:spLocks noChangeArrowheads="1"/>
                </p:cNvSpPr>
                <p:nvPr/>
              </p:nvSpPr>
              <p:spPr bwMode="auto">
                <a:xfrm>
                  <a:off x="1525" y="2304"/>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8" name="Group 98"/>
              <p:cNvGrpSpPr/>
              <p:nvPr/>
            </p:nvGrpSpPr>
            <p:grpSpPr bwMode="auto">
              <a:xfrm>
                <a:off x="1971" y="2304"/>
                <a:ext cx="518" cy="384"/>
                <a:chOff x="1971" y="2304"/>
                <a:chExt cx="518" cy="384"/>
              </a:xfrm>
            </p:grpSpPr>
            <p:sp>
              <p:nvSpPr>
                <p:cNvPr id="85" name="Rectangle 99"/>
                <p:cNvSpPr>
                  <a:spLocks noChangeArrowheads="1"/>
                </p:cNvSpPr>
                <p:nvPr/>
              </p:nvSpPr>
              <p:spPr bwMode="auto">
                <a:xfrm>
                  <a:off x="2014"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[010]</a:t>
                  </a:r>
                </a:p>
              </p:txBody>
            </p:sp>
            <p:sp>
              <p:nvSpPr>
                <p:cNvPr id="86" name="Rectangle 100"/>
                <p:cNvSpPr>
                  <a:spLocks noChangeArrowheads="1"/>
                </p:cNvSpPr>
                <p:nvPr/>
              </p:nvSpPr>
              <p:spPr bwMode="auto">
                <a:xfrm>
                  <a:off x="1971" y="2304"/>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49" name="Group 101"/>
              <p:cNvGrpSpPr/>
              <p:nvPr/>
            </p:nvGrpSpPr>
            <p:grpSpPr bwMode="auto">
              <a:xfrm>
                <a:off x="2489" y="2304"/>
                <a:ext cx="518" cy="384"/>
                <a:chOff x="2489" y="2304"/>
                <a:chExt cx="518" cy="384"/>
              </a:xfrm>
            </p:grpSpPr>
            <p:sp>
              <p:nvSpPr>
                <p:cNvPr id="83" name="Rectangle 102"/>
                <p:cNvSpPr>
                  <a:spLocks noChangeArrowheads="1"/>
                </p:cNvSpPr>
                <p:nvPr/>
              </p:nvSpPr>
              <p:spPr bwMode="auto">
                <a:xfrm>
                  <a:off x="2532"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84" name="Rectangle 103"/>
                <p:cNvSpPr>
                  <a:spLocks noChangeArrowheads="1"/>
                </p:cNvSpPr>
                <p:nvPr/>
              </p:nvSpPr>
              <p:spPr bwMode="auto">
                <a:xfrm>
                  <a:off x="2489" y="2304"/>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0" name="Group 104"/>
              <p:cNvGrpSpPr/>
              <p:nvPr/>
            </p:nvGrpSpPr>
            <p:grpSpPr bwMode="auto">
              <a:xfrm>
                <a:off x="3007" y="2304"/>
                <a:ext cx="518" cy="384"/>
                <a:chOff x="3007" y="2304"/>
                <a:chExt cx="518" cy="384"/>
              </a:xfrm>
            </p:grpSpPr>
            <p:sp>
              <p:nvSpPr>
                <p:cNvPr id="81" name="Rectangle 105"/>
                <p:cNvSpPr>
                  <a:spLocks noChangeArrowheads="1"/>
                </p:cNvSpPr>
                <p:nvPr/>
              </p:nvSpPr>
              <p:spPr bwMode="auto">
                <a:xfrm>
                  <a:off x="3050"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82" name="Rectangle 106"/>
                <p:cNvSpPr>
                  <a:spLocks noChangeArrowheads="1"/>
                </p:cNvSpPr>
                <p:nvPr/>
              </p:nvSpPr>
              <p:spPr bwMode="auto">
                <a:xfrm>
                  <a:off x="3007" y="2304"/>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1" name="Group 107"/>
              <p:cNvGrpSpPr/>
              <p:nvPr/>
            </p:nvGrpSpPr>
            <p:grpSpPr bwMode="auto">
              <a:xfrm>
                <a:off x="0" y="2688"/>
                <a:ext cx="633" cy="384"/>
                <a:chOff x="0" y="2688"/>
                <a:chExt cx="633" cy="384"/>
              </a:xfrm>
            </p:grpSpPr>
            <p:sp>
              <p:nvSpPr>
                <p:cNvPr id="79" name="Rectangle 108"/>
                <p:cNvSpPr>
                  <a:spLocks noChangeArrowheads="1"/>
                </p:cNvSpPr>
                <p:nvPr/>
              </p:nvSpPr>
              <p:spPr bwMode="auto">
                <a:xfrm>
                  <a:off x="43" y="2688"/>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 triclinic </a:t>
                  </a:r>
                  <a:endParaRPr kumimoji="0" lang="zh-CN" altLang="en-US" sz="2000" b="0" dirty="0"/>
                </a:p>
              </p:txBody>
            </p:sp>
            <p:sp>
              <p:nvSpPr>
                <p:cNvPr id="80" name="Rectangle 109"/>
                <p:cNvSpPr>
                  <a:spLocks noChangeArrowheads="1"/>
                </p:cNvSpPr>
                <p:nvPr/>
              </p:nvSpPr>
              <p:spPr bwMode="auto">
                <a:xfrm>
                  <a:off x="0" y="2688"/>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2" name="Group 110"/>
              <p:cNvGrpSpPr/>
              <p:nvPr/>
            </p:nvGrpSpPr>
            <p:grpSpPr bwMode="auto">
              <a:xfrm>
                <a:off x="633" y="2688"/>
                <a:ext cx="1338" cy="384"/>
                <a:chOff x="633" y="2688"/>
                <a:chExt cx="1338" cy="384"/>
              </a:xfrm>
            </p:grpSpPr>
            <p:sp>
              <p:nvSpPr>
                <p:cNvPr id="77" name="Rectangle 111"/>
                <p:cNvSpPr>
                  <a:spLocks noChangeArrowheads="1"/>
                </p:cNvSpPr>
                <p:nvPr/>
              </p:nvSpPr>
              <p:spPr bwMode="auto">
                <a:xfrm>
                  <a:off x="676" y="2688"/>
                  <a:ext cx="12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Arbitrary direction</a:t>
                  </a:r>
                  <a:endParaRPr kumimoji="0" lang="zh-CN" altLang="en-US" sz="2000" b="0" dirty="0"/>
                </a:p>
              </p:txBody>
            </p:sp>
            <p:sp>
              <p:nvSpPr>
                <p:cNvPr id="78" name="Rectangle 112"/>
                <p:cNvSpPr>
                  <a:spLocks noChangeArrowheads="1"/>
                </p:cNvSpPr>
                <p:nvPr/>
              </p:nvSpPr>
              <p:spPr bwMode="auto">
                <a:xfrm>
                  <a:off x="633" y="2688"/>
                  <a:ext cx="133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3" name="Group 113"/>
              <p:cNvGrpSpPr/>
              <p:nvPr/>
            </p:nvGrpSpPr>
            <p:grpSpPr bwMode="auto">
              <a:xfrm>
                <a:off x="1971" y="2688"/>
                <a:ext cx="1554" cy="384"/>
                <a:chOff x="1971" y="2688"/>
                <a:chExt cx="1554" cy="384"/>
              </a:xfrm>
            </p:grpSpPr>
            <p:sp>
              <p:nvSpPr>
                <p:cNvPr id="75" name="Rectangle 114"/>
                <p:cNvSpPr>
                  <a:spLocks noChangeArrowheads="1"/>
                </p:cNvSpPr>
                <p:nvPr/>
              </p:nvSpPr>
              <p:spPr bwMode="auto">
                <a:xfrm>
                  <a:off x="2014" y="2688"/>
                  <a:ext cx="14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t>Arbitrary direction</a:t>
                  </a:r>
                  <a:endParaRPr kumimoji="0" lang="zh-CN" altLang="en-US" sz="2000" b="0" dirty="0"/>
                </a:p>
              </p:txBody>
            </p:sp>
            <p:sp>
              <p:nvSpPr>
                <p:cNvPr id="76" name="Rectangle 115"/>
                <p:cNvSpPr>
                  <a:spLocks noChangeArrowheads="1"/>
                </p:cNvSpPr>
                <p:nvPr/>
              </p:nvSpPr>
              <p:spPr bwMode="auto">
                <a:xfrm>
                  <a:off x="1971" y="2688"/>
                  <a:ext cx="1554"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4" name="Group 116"/>
              <p:cNvGrpSpPr/>
              <p:nvPr/>
            </p:nvGrpSpPr>
            <p:grpSpPr bwMode="auto">
              <a:xfrm>
                <a:off x="0" y="3072"/>
                <a:ext cx="633" cy="384"/>
                <a:chOff x="0" y="3072"/>
                <a:chExt cx="633" cy="384"/>
              </a:xfrm>
            </p:grpSpPr>
            <p:sp>
              <p:nvSpPr>
                <p:cNvPr id="73" name="Rectangle 117"/>
                <p:cNvSpPr>
                  <a:spLocks noChangeArrowheads="1"/>
                </p:cNvSpPr>
                <p:nvPr/>
              </p:nvSpPr>
              <p:spPr bwMode="auto">
                <a:xfrm>
                  <a:off x="43" y="3072"/>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endParaRPr kumimoji="0" lang="zh-CN" altLang="en-US" sz="2000" b="0" dirty="0"/>
                </a:p>
              </p:txBody>
            </p:sp>
            <p:sp>
              <p:nvSpPr>
                <p:cNvPr id="74" name="Rectangle 118"/>
                <p:cNvSpPr>
                  <a:spLocks noChangeArrowheads="1"/>
                </p:cNvSpPr>
                <p:nvPr/>
              </p:nvSpPr>
              <p:spPr bwMode="auto">
                <a:xfrm>
                  <a:off x="0" y="3072"/>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b="0" dirty="0"/>
                    <a:t>hexagonal</a:t>
                  </a:r>
                  <a:endParaRPr kumimoji="0" lang="en-US" altLang="en-US" sz="2000" b="0" dirty="0"/>
                </a:p>
              </p:txBody>
            </p:sp>
          </p:grpSp>
          <p:grpSp>
            <p:nvGrpSpPr>
              <p:cNvPr id="55" name="Group 119"/>
              <p:cNvGrpSpPr/>
              <p:nvPr/>
            </p:nvGrpSpPr>
            <p:grpSpPr bwMode="auto">
              <a:xfrm>
                <a:off x="633" y="3072"/>
                <a:ext cx="446" cy="384"/>
                <a:chOff x="633" y="3072"/>
                <a:chExt cx="446" cy="384"/>
              </a:xfrm>
            </p:grpSpPr>
            <p:sp>
              <p:nvSpPr>
                <p:cNvPr id="71" name="Rectangle 120"/>
                <p:cNvSpPr>
                  <a:spLocks noChangeArrowheads="1"/>
                </p:cNvSpPr>
                <p:nvPr/>
              </p:nvSpPr>
              <p:spPr bwMode="auto">
                <a:xfrm>
                  <a:off x="676"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c</a:t>
                  </a:r>
                  <a:endParaRPr kumimoji="0" lang="en-US" altLang="zh-CN" sz="2000" b="0"/>
                </a:p>
              </p:txBody>
            </p:sp>
            <p:sp>
              <p:nvSpPr>
                <p:cNvPr id="72" name="Rectangle 121"/>
                <p:cNvSpPr>
                  <a:spLocks noChangeArrowheads="1"/>
                </p:cNvSpPr>
                <p:nvPr/>
              </p:nvSpPr>
              <p:spPr bwMode="auto">
                <a:xfrm>
                  <a:off x="633" y="307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6" name="Group 122"/>
              <p:cNvGrpSpPr/>
              <p:nvPr/>
            </p:nvGrpSpPr>
            <p:grpSpPr bwMode="auto">
              <a:xfrm>
                <a:off x="1079" y="3072"/>
                <a:ext cx="446" cy="384"/>
                <a:chOff x="1079" y="3072"/>
                <a:chExt cx="446" cy="384"/>
              </a:xfrm>
            </p:grpSpPr>
            <p:sp>
              <p:nvSpPr>
                <p:cNvPr id="69" name="Rectangle 123"/>
                <p:cNvSpPr>
                  <a:spLocks noChangeArrowheads="1"/>
                </p:cNvSpPr>
                <p:nvPr/>
              </p:nvSpPr>
              <p:spPr bwMode="auto">
                <a:xfrm>
                  <a:off x="1122"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a</a:t>
                  </a:r>
                  <a:endParaRPr kumimoji="0" lang="en-US" altLang="zh-CN" sz="2000" b="0"/>
                </a:p>
              </p:txBody>
            </p:sp>
            <p:sp>
              <p:nvSpPr>
                <p:cNvPr id="70" name="Rectangle 124"/>
                <p:cNvSpPr>
                  <a:spLocks noChangeArrowheads="1"/>
                </p:cNvSpPr>
                <p:nvPr/>
              </p:nvSpPr>
              <p:spPr bwMode="auto">
                <a:xfrm>
                  <a:off x="1079" y="307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7" name="Group 125"/>
              <p:cNvGrpSpPr/>
              <p:nvPr/>
            </p:nvGrpSpPr>
            <p:grpSpPr bwMode="auto">
              <a:xfrm>
                <a:off x="1525" y="3072"/>
                <a:ext cx="446" cy="384"/>
                <a:chOff x="1525" y="3072"/>
                <a:chExt cx="446" cy="384"/>
              </a:xfrm>
            </p:grpSpPr>
            <p:sp>
              <p:nvSpPr>
                <p:cNvPr id="67" name="Rectangle 126"/>
                <p:cNvSpPr>
                  <a:spLocks noChangeArrowheads="1"/>
                </p:cNvSpPr>
                <p:nvPr/>
              </p:nvSpPr>
              <p:spPr bwMode="auto">
                <a:xfrm>
                  <a:off x="1568"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t>2a+b</a:t>
                  </a:r>
                  <a:endParaRPr kumimoji="0" lang="en-US" altLang="zh-CN" sz="2000" b="0"/>
                </a:p>
              </p:txBody>
            </p:sp>
            <p:sp>
              <p:nvSpPr>
                <p:cNvPr id="68" name="Rectangle 127"/>
                <p:cNvSpPr>
                  <a:spLocks noChangeArrowheads="1"/>
                </p:cNvSpPr>
                <p:nvPr/>
              </p:nvSpPr>
              <p:spPr bwMode="auto">
                <a:xfrm>
                  <a:off x="1525" y="307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8" name="Group 128"/>
              <p:cNvGrpSpPr/>
              <p:nvPr/>
            </p:nvGrpSpPr>
            <p:grpSpPr bwMode="auto">
              <a:xfrm>
                <a:off x="1971" y="3072"/>
                <a:ext cx="518" cy="384"/>
                <a:chOff x="1971" y="3072"/>
                <a:chExt cx="518" cy="384"/>
              </a:xfrm>
            </p:grpSpPr>
            <p:sp>
              <p:nvSpPr>
                <p:cNvPr id="65" name="Rectangle 129"/>
                <p:cNvSpPr>
                  <a:spLocks noChangeArrowheads="1"/>
                </p:cNvSpPr>
                <p:nvPr/>
              </p:nvSpPr>
              <p:spPr bwMode="auto">
                <a:xfrm>
                  <a:off x="2014"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[001]</a:t>
                  </a:r>
                </a:p>
              </p:txBody>
            </p:sp>
            <p:sp>
              <p:nvSpPr>
                <p:cNvPr id="66" name="Rectangle 130"/>
                <p:cNvSpPr>
                  <a:spLocks noChangeArrowheads="1"/>
                </p:cNvSpPr>
                <p:nvPr/>
              </p:nvSpPr>
              <p:spPr bwMode="auto">
                <a:xfrm>
                  <a:off x="1971" y="307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59" name="Group 131"/>
              <p:cNvGrpSpPr/>
              <p:nvPr/>
            </p:nvGrpSpPr>
            <p:grpSpPr bwMode="auto">
              <a:xfrm>
                <a:off x="2489" y="3072"/>
                <a:ext cx="518" cy="384"/>
                <a:chOff x="2489" y="3072"/>
                <a:chExt cx="518" cy="384"/>
              </a:xfrm>
            </p:grpSpPr>
            <p:sp>
              <p:nvSpPr>
                <p:cNvPr id="63" name="Rectangle 132"/>
                <p:cNvSpPr>
                  <a:spLocks noChangeArrowheads="1"/>
                </p:cNvSpPr>
                <p:nvPr/>
              </p:nvSpPr>
              <p:spPr bwMode="auto">
                <a:xfrm>
                  <a:off x="2532"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[100]</a:t>
                  </a:r>
                </a:p>
              </p:txBody>
            </p:sp>
            <p:sp>
              <p:nvSpPr>
                <p:cNvPr id="64" name="Rectangle 133"/>
                <p:cNvSpPr>
                  <a:spLocks noChangeArrowheads="1"/>
                </p:cNvSpPr>
                <p:nvPr/>
              </p:nvSpPr>
              <p:spPr bwMode="auto">
                <a:xfrm>
                  <a:off x="2489" y="307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nvGrpSpPr>
              <p:cNvPr id="60" name="Group 134"/>
              <p:cNvGrpSpPr/>
              <p:nvPr/>
            </p:nvGrpSpPr>
            <p:grpSpPr bwMode="auto">
              <a:xfrm>
                <a:off x="3007" y="3072"/>
                <a:ext cx="518" cy="384"/>
                <a:chOff x="3007" y="3072"/>
                <a:chExt cx="518" cy="384"/>
              </a:xfrm>
            </p:grpSpPr>
            <p:sp>
              <p:nvSpPr>
                <p:cNvPr id="61" name="Rectangle 135"/>
                <p:cNvSpPr>
                  <a:spLocks noChangeArrowheads="1"/>
                </p:cNvSpPr>
                <p:nvPr/>
              </p:nvSpPr>
              <p:spPr bwMode="auto">
                <a:xfrm>
                  <a:off x="3050"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t>[210]</a:t>
                  </a:r>
                </a:p>
              </p:txBody>
            </p:sp>
            <p:sp>
              <p:nvSpPr>
                <p:cNvPr id="62" name="Rectangle 136"/>
                <p:cNvSpPr>
                  <a:spLocks noChangeArrowheads="1"/>
                </p:cNvSpPr>
                <p:nvPr/>
              </p:nvSpPr>
              <p:spPr bwMode="auto">
                <a:xfrm>
                  <a:off x="3007" y="307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grpSp>
        <p:sp>
          <p:nvSpPr>
            <p:cNvPr id="18" name="Rectangle 137"/>
            <p:cNvSpPr>
              <a:spLocks noChangeArrowheads="1"/>
            </p:cNvSpPr>
            <p:nvPr/>
          </p:nvSpPr>
          <p:spPr bwMode="auto">
            <a:xfrm>
              <a:off x="-3" y="381"/>
              <a:ext cx="3531" cy="3078"/>
            </a:xfrm>
            <a:prstGeom prst="rect">
              <a:avLst/>
            </a:prstGeom>
            <a:noFill/>
            <a:ln w="9525">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p>
          </p:txBody>
        </p:sp>
      </p:grpSp>
      <p:sp>
        <p:nvSpPr>
          <p:cNvPr id="145" name="Rectangle 138"/>
          <p:cNvSpPr>
            <a:spLocks noChangeArrowheads="1"/>
          </p:cNvSpPr>
          <p:nvPr/>
        </p:nvSpPr>
        <p:spPr bwMode="auto">
          <a:xfrm>
            <a:off x="2173288" y="3776663"/>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1</a:t>
            </a:r>
          </a:p>
        </p:txBody>
      </p:sp>
      <p:sp>
        <p:nvSpPr>
          <p:cNvPr id="146" name="Rectangle 139"/>
          <p:cNvSpPr>
            <a:spLocks noChangeArrowheads="1"/>
          </p:cNvSpPr>
          <p:nvPr/>
        </p:nvSpPr>
        <p:spPr bwMode="auto">
          <a:xfrm>
            <a:off x="5521325" y="3773488"/>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1</a:t>
            </a:r>
          </a:p>
        </p:txBody>
      </p:sp>
      <p:sp>
        <p:nvSpPr>
          <p:cNvPr id="147" name="Rectangle 140"/>
          <p:cNvSpPr>
            <a:spLocks noChangeArrowheads="1"/>
          </p:cNvSpPr>
          <p:nvPr/>
        </p:nvSpPr>
        <p:spPr bwMode="auto">
          <a:xfrm>
            <a:off x="3276600" y="3760788"/>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dirty="0">
                <a:effectLst>
                  <a:outerShdw blurRad="38100" dist="38100" dir="2700000" algn="tl">
                    <a:srgbClr val="FFFFFF"/>
                  </a:outerShdw>
                </a:effectLst>
              </a:rPr>
              <a:t>2</a:t>
            </a:r>
          </a:p>
        </p:txBody>
      </p:sp>
      <p:sp>
        <p:nvSpPr>
          <p:cNvPr id="148" name="Rectangle 141"/>
          <p:cNvSpPr>
            <a:spLocks noChangeArrowheads="1"/>
          </p:cNvSpPr>
          <p:nvPr/>
        </p:nvSpPr>
        <p:spPr bwMode="auto">
          <a:xfrm>
            <a:off x="4419600" y="3760788"/>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3</a:t>
            </a:r>
          </a:p>
        </p:txBody>
      </p:sp>
      <p:sp>
        <p:nvSpPr>
          <p:cNvPr id="149" name="Rectangle 142"/>
          <p:cNvSpPr>
            <a:spLocks noChangeArrowheads="1"/>
          </p:cNvSpPr>
          <p:nvPr/>
        </p:nvSpPr>
        <p:spPr bwMode="auto">
          <a:xfrm>
            <a:off x="8077200" y="3746500"/>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3</a:t>
            </a:r>
          </a:p>
        </p:txBody>
      </p:sp>
      <p:sp>
        <p:nvSpPr>
          <p:cNvPr id="150" name="Rectangle 143"/>
          <p:cNvSpPr>
            <a:spLocks noChangeArrowheads="1"/>
          </p:cNvSpPr>
          <p:nvPr/>
        </p:nvSpPr>
        <p:spPr bwMode="auto">
          <a:xfrm>
            <a:off x="6781800" y="3775075"/>
            <a:ext cx="346075" cy="46672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2</a:t>
            </a:r>
          </a:p>
        </p:txBody>
      </p:sp>
      <p:sp>
        <p:nvSpPr>
          <p:cNvPr id="3" name="Oval 2"/>
          <p:cNvSpPr/>
          <p:nvPr/>
        </p:nvSpPr>
        <p:spPr>
          <a:xfrm>
            <a:off x="3940976" y="2132856"/>
            <a:ext cx="1394073" cy="105815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a:off x="4804118" y="3139792"/>
            <a:ext cx="573840" cy="33488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1" name="Straight Arrow Connector 150"/>
          <p:cNvCxnSpPr/>
          <p:nvPr/>
        </p:nvCxnSpPr>
        <p:spPr>
          <a:xfrm>
            <a:off x="251520" y="4406629"/>
            <a:ext cx="8496944" cy="0"/>
          </a:xfrm>
          <a:prstGeom prst="straightConnector1">
            <a:avLst/>
          </a:prstGeom>
          <a:ln w="381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Arrow Connector 151"/>
          <p:cNvCxnSpPr/>
          <p:nvPr/>
        </p:nvCxnSpPr>
        <p:spPr>
          <a:xfrm>
            <a:off x="323528" y="5959065"/>
            <a:ext cx="8496944" cy="0"/>
          </a:xfrm>
          <a:prstGeom prst="straightConnector1">
            <a:avLst/>
          </a:prstGeom>
          <a:ln w="381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3" name="Rectangle 152"/>
          <p:cNvSpPr/>
          <p:nvPr/>
        </p:nvSpPr>
        <p:spPr>
          <a:xfrm>
            <a:off x="219497" y="302588"/>
            <a:ext cx="7862105" cy="584775"/>
          </a:xfrm>
          <a:prstGeom prst="rect">
            <a:avLst/>
          </a:prstGeom>
        </p:spPr>
        <p:txBody>
          <a:bodyPr wrap="square">
            <a:spAutoFit/>
          </a:bodyPr>
          <a:lstStyle/>
          <a:p>
            <a:r>
              <a:rPr lang="zh-CN" altLang="en-US" sz="3200" dirty="0">
                <a:latin typeface="+mn-lt"/>
                <a:cs typeface="Times New Roman" panose="02020603050405020304" pitchFamily="18" charset="0"/>
              </a:rPr>
              <a:t>The representation of </a:t>
            </a:r>
            <a:r>
              <a:rPr lang="en-US" altLang="zh-CN" sz="3200" dirty="0">
                <a:latin typeface="+mn-lt"/>
                <a:cs typeface="Times New Roman" panose="02020603050405020304" pitchFamily="18" charset="0"/>
              </a:rPr>
              <a:t>2D space</a:t>
            </a:r>
            <a:r>
              <a:rPr lang="zh-CN" altLang="en-US" sz="3200" dirty="0">
                <a:latin typeface="+mn-lt"/>
                <a:cs typeface="Times New Roman" panose="02020603050405020304" pitchFamily="18" charset="0"/>
              </a:rPr>
              <a:t> group</a:t>
            </a:r>
            <a:r>
              <a:rPr lang="en-US" altLang="zh-CN" sz="3200" dirty="0">
                <a:latin typeface="+mn-lt"/>
                <a:cs typeface="Times New Roman" panose="02020603050405020304" pitchFamily="18" charset="0"/>
              </a:rPr>
              <a:t>s</a:t>
            </a:r>
            <a:endParaRPr lang="zh-CN" altLang="en-US" sz="3200" dirty="0">
              <a:latin typeface="+mn-lt"/>
              <a:cs typeface="Times New Roman" panose="02020603050405020304" pitchFamily="18" charset="0"/>
            </a:endParaRPr>
          </a:p>
        </p:txBody>
      </p:sp>
      <p:sp>
        <p:nvSpPr>
          <p:cNvPr id="2" name="Rectangle 1"/>
          <p:cNvSpPr/>
          <p:nvPr/>
        </p:nvSpPr>
        <p:spPr>
          <a:xfrm>
            <a:off x="1586258" y="3820811"/>
            <a:ext cx="1245226" cy="2724452"/>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V="1">
            <a:off x="2831484" y="2418338"/>
            <a:ext cx="3396700" cy="139642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284183" y="1893783"/>
            <a:ext cx="2536289" cy="1200329"/>
          </a:xfrm>
          <a:prstGeom prst="rect">
            <a:avLst/>
          </a:prstGeom>
          <a:noFill/>
        </p:spPr>
        <p:txBody>
          <a:bodyPr wrap="square" rtlCol="0">
            <a:spAutoFit/>
          </a:bodyPr>
          <a:lstStyle/>
          <a:p>
            <a:r>
              <a:rPr lang="en-US" sz="2400" dirty="0">
                <a:latin typeface="+mn-lt"/>
              </a:rPr>
              <a:t>The direction perpendicular to the paper plane</a:t>
            </a:r>
          </a:p>
        </p:txBody>
      </p:sp>
      <p:sp>
        <p:nvSpPr>
          <p:cNvPr id="8" name="Rectangle 7"/>
          <p:cNvSpPr/>
          <p:nvPr/>
        </p:nvSpPr>
        <p:spPr>
          <a:xfrm>
            <a:off x="5393412" y="3068960"/>
            <a:ext cx="1467068" cy="369332"/>
          </a:xfrm>
          <a:prstGeom prst="rect">
            <a:avLst/>
          </a:prstGeom>
        </p:spPr>
        <p:txBody>
          <a:bodyPr wrap="none">
            <a:spAutoFit/>
          </a:bodyPr>
          <a:lstStyle/>
          <a:p>
            <a:r>
              <a:rPr lang="en-US" altLang="zh-CN" dirty="0"/>
              <a:t>point group</a:t>
            </a:r>
            <a:endParaRPr lang="en-US" dirty="0"/>
          </a:p>
        </p:txBody>
      </p:sp>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9" name="Rectangle 219"/>
          <p:cNvSpPr>
            <a:spLocks noChangeArrowheads="1"/>
          </p:cNvSpPr>
          <p:nvPr/>
        </p:nvSpPr>
        <p:spPr bwMode="auto">
          <a:xfrm>
            <a:off x="808038" y="1376189"/>
            <a:ext cx="7292354"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latin typeface="+mn-lt"/>
              </a:rPr>
              <a:t>For example: </a:t>
            </a:r>
            <a:r>
              <a:rPr lang="en-US" altLang="zh-CN" sz="2800" b="0" dirty="0">
                <a:latin typeface="+mn-lt"/>
              </a:rPr>
              <a:t>No. 7 2D space group</a:t>
            </a:r>
          </a:p>
          <a:p>
            <a:endParaRPr lang="zh-CN" altLang="en-US" sz="2800" dirty="0">
              <a:effectLst>
                <a:outerShdw blurRad="38100" dist="38100" dir="2700000" algn="tl">
                  <a:srgbClr val="000000"/>
                </a:outerShdw>
              </a:effectLst>
              <a:latin typeface="宋体" panose="02010600030101010101" pitchFamily="2" charset="-122"/>
              <a:ea typeface="宋体" panose="02010600030101010101" pitchFamily="2" charset="-122"/>
            </a:endParaRPr>
          </a:p>
          <a:p>
            <a:pPr algn="ctr"/>
            <a:r>
              <a:rPr lang="en-US" altLang="zh-CN" sz="4800" i="1" dirty="0">
                <a:solidFill>
                  <a:srgbClr val="FF0066"/>
                </a:solidFill>
                <a:effectLst>
                  <a:outerShdw blurRad="38100" dist="38100" dir="2700000" algn="tl">
                    <a:srgbClr val="000000"/>
                  </a:outerShdw>
                </a:effectLst>
                <a:ea typeface="宋体" panose="02010600030101010101" pitchFamily="2" charset="-122"/>
              </a:rPr>
              <a:t>p</a:t>
            </a:r>
            <a:r>
              <a:rPr lang="en-US" altLang="zh-CN" sz="4800" dirty="0">
                <a:solidFill>
                  <a:srgbClr val="FF0066"/>
                </a:solidFill>
                <a:effectLst>
                  <a:outerShdw blurRad="38100" dist="38100" dir="2700000" algn="tl">
                    <a:srgbClr val="000000"/>
                  </a:outerShdw>
                </a:effectLst>
                <a:ea typeface="宋体" panose="02010600030101010101" pitchFamily="2" charset="-122"/>
              </a:rPr>
              <a:t>2</a:t>
            </a:r>
            <a:r>
              <a:rPr lang="en-US" altLang="zh-CN" sz="4800" i="1" dirty="0">
                <a:solidFill>
                  <a:srgbClr val="FF0066"/>
                </a:solidFill>
                <a:effectLst>
                  <a:outerShdw blurRad="38100" dist="38100" dir="2700000" algn="tl">
                    <a:srgbClr val="000000"/>
                  </a:outerShdw>
                </a:effectLst>
                <a:ea typeface="宋体" panose="02010600030101010101" pitchFamily="2" charset="-122"/>
              </a:rPr>
              <a:t>mg</a:t>
            </a:r>
            <a:endParaRPr lang="zh-CN" altLang="en-US" sz="4800" dirty="0">
              <a:solidFill>
                <a:srgbClr val="FF0066"/>
              </a:solidFill>
              <a:effectLst>
                <a:outerShdw blurRad="38100" dist="38100" dir="2700000" algn="tl">
                  <a:srgbClr val="000000"/>
                </a:outerShdw>
              </a:effectLst>
              <a:ea typeface="宋体" panose="02010600030101010101" pitchFamily="2" charset="-122"/>
            </a:endParaRPr>
          </a:p>
        </p:txBody>
      </p:sp>
      <p:sp>
        <p:nvSpPr>
          <p:cNvPr id="102622" name="Rectangle 222"/>
          <p:cNvSpPr>
            <a:spLocks noChangeArrowheads="1"/>
          </p:cNvSpPr>
          <p:nvPr/>
        </p:nvSpPr>
        <p:spPr bwMode="auto">
          <a:xfrm>
            <a:off x="1175632" y="2380238"/>
            <a:ext cx="17793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400" dirty="0">
                <a:latin typeface="+mn-lt"/>
              </a:rPr>
              <a:t>Lattice type</a:t>
            </a:r>
            <a:endParaRPr lang="zh-CN" altLang="en-US" sz="2400" dirty="0">
              <a:latin typeface="+mn-lt"/>
            </a:endParaRPr>
          </a:p>
        </p:txBody>
      </p:sp>
      <p:sp>
        <p:nvSpPr>
          <p:cNvPr id="102628" name="Line 228"/>
          <p:cNvSpPr>
            <a:spLocks noChangeShapeType="1"/>
          </p:cNvSpPr>
          <p:nvPr/>
        </p:nvSpPr>
        <p:spPr bwMode="auto">
          <a:xfrm>
            <a:off x="2831484" y="2627804"/>
            <a:ext cx="655637" cy="6826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 name="Rectangle 152"/>
          <p:cNvSpPr/>
          <p:nvPr/>
        </p:nvSpPr>
        <p:spPr>
          <a:xfrm>
            <a:off x="219497" y="302588"/>
            <a:ext cx="7862105" cy="584775"/>
          </a:xfrm>
          <a:prstGeom prst="rect">
            <a:avLst/>
          </a:prstGeom>
        </p:spPr>
        <p:txBody>
          <a:bodyPr wrap="square">
            <a:spAutoFit/>
          </a:bodyPr>
          <a:lstStyle/>
          <a:p>
            <a:r>
              <a:rPr lang="zh-CN" altLang="en-US" sz="3200" dirty="0">
                <a:latin typeface="+mn-lt"/>
                <a:cs typeface="Times New Roman" panose="02020603050405020304" pitchFamily="18" charset="0"/>
              </a:rPr>
              <a:t>The representation of </a:t>
            </a:r>
            <a:r>
              <a:rPr lang="en-US" altLang="zh-CN" sz="3200" dirty="0">
                <a:latin typeface="+mn-lt"/>
                <a:cs typeface="Times New Roman" panose="02020603050405020304" pitchFamily="18" charset="0"/>
              </a:rPr>
              <a:t>2D space</a:t>
            </a:r>
            <a:r>
              <a:rPr lang="zh-CN" altLang="en-US" sz="3200" dirty="0">
                <a:latin typeface="+mn-lt"/>
                <a:cs typeface="Times New Roman" panose="02020603050405020304" pitchFamily="18" charset="0"/>
              </a:rPr>
              <a:t> group</a:t>
            </a:r>
            <a:r>
              <a:rPr lang="en-US" altLang="zh-CN" sz="3200" dirty="0">
                <a:latin typeface="+mn-lt"/>
                <a:cs typeface="Times New Roman" panose="02020603050405020304" pitchFamily="18" charset="0"/>
              </a:rPr>
              <a:t>s</a:t>
            </a:r>
            <a:endParaRPr lang="zh-CN" altLang="en-US" sz="3200" dirty="0">
              <a:latin typeface="+mn-lt"/>
              <a:cs typeface="Times New Roman" panose="02020603050405020304" pitchFamily="18" charset="0"/>
            </a:endParaRPr>
          </a:p>
        </p:txBody>
      </p:sp>
      <p:sp>
        <p:nvSpPr>
          <p:cNvPr id="154" name="Rectangle 223"/>
          <p:cNvSpPr>
            <a:spLocks noChangeArrowheads="1"/>
          </p:cNvSpPr>
          <p:nvPr/>
        </p:nvSpPr>
        <p:spPr bwMode="auto">
          <a:xfrm>
            <a:off x="814633" y="3528517"/>
            <a:ext cx="320922" cy="369332"/>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ffectLst>
                  <a:outerShdw blurRad="38100" dist="38100" dir="2700000" algn="tl">
                    <a:srgbClr val="000000"/>
                  </a:outerShdw>
                </a:effectLst>
                <a:latin typeface="+mn-lt"/>
                <a:ea typeface="宋体" panose="02010600030101010101" pitchFamily="2" charset="-122"/>
              </a:rPr>
              <a:t>1</a:t>
            </a:r>
            <a:endParaRPr lang="zh-CN" altLang="en-US">
              <a:effectLst>
                <a:outerShdw blurRad="38100" dist="38100" dir="2700000" algn="tl">
                  <a:srgbClr val="000000"/>
                </a:outerShdw>
              </a:effectLst>
              <a:latin typeface="+mn-lt"/>
              <a:ea typeface="宋体" panose="02010600030101010101" pitchFamily="2" charset="-122"/>
            </a:endParaRPr>
          </a:p>
        </p:txBody>
      </p:sp>
      <p:sp>
        <p:nvSpPr>
          <p:cNvPr id="155" name="Rectangle 224"/>
          <p:cNvSpPr>
            <a:spLocks noChangeArrowheads="1"/>
          </p:cNvSpPr>
          <p:nvPr/>
        </p:nvSpPr>
        <p:spPr bwMode="auto">
          <a:xfrm>
            <a:off x="2772020" y="4320679"/>
            <a:ext cx="320922" cy="369332"/>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ffectLst>
                  <a:outerShdw blurRad="38100" dist="38100" dir="2700000" algn="tl">
                    <a:srgbClr val="000000"/>
                  </a:outerShdw>
                </a:effectLst>
                <a:latin typeface="+mn-lt"/>
                <a:ea typeface="宋体" panose="02010600030101010101" pitchFamily="2" charset="-122"/>
              </a:rPr>
              <a:t>2</a:t>
            </a:r>
            <a:endParaRPr lang="zh-CN" altLang="en-US">
              <a:effectLst>
                <a:outerShdw blurRad="38100" dist="38100" dir="2700000" algn="tl">
                  <a:srgbClr val="000000"/>
                </a:outerShdw>
              </a:effectLst>
              <a:latin typeface="+mn-lt"/>
              <a:ea typeface="宋体" panose="02010600030101010101" pitchFamily="2" charset="-122"/>
            </a:endParaRPr>
          </a:p>
        </p:txBody>
      </p:sp>
      <p:sp>
        <p:nvSpPr>
          <p:cNvPr id="156" name="Rectangle 225"/>
          <p:cNvSpPr>
            <a:spLocks noChangeArrowheads="1"/>
          </p:cNvSpPr>
          <p:nvPr/>
        </p:nvSpPr>
        <p:spPr bwMode="auto">
          <a:xfrm>
            <a:off x="4810370" y="3604717"/>
            <a:ext cx="320922" cy="369332"/>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ffectLst>
                  <a:outerShdw blurRad="38100" dist="38100" dir="2700000" algn="tl">
                    <a:srgbClr val="000000"/>
                  </a:outerShdw>
                </a:effectLst>
                <a:latin typeface="+mn-lt"/>
                <a:ea typeface="宋体" panose="02010600030101010101" pitchFamily="2" charset="-122"/>
              </a:rPr>
              <a:t>3</a:t>
            </a:r>
            <a:endParaRPr lang="zh-CN" altLang="en-US">
              <a:effectLst>
                <a:outerShdw blurRad="38100" dist="38100" dir="2700000" algn="tl">
                  <a:srgbClr val="000000"/>
                </a:outerShdw>
              </a:effectLst>
              <a:latin typeface="+mn-lt"/>
              <a:ea typeface="宋体" panose="02010600030101010101" pitchFamily="2" charset="-122"/>
            </a:endParaRPr>
          </a:p>
        </p:txBody>
      </p:sp>
      <p:sp>
        <p:nvSpPr>
          <p:cNvPr id="157" name="Line 230"/>
          <p:cNvSpPr>
            <a:spLocks noChangeShapeType="1"/>
          </p:cNvSpPr>
          <p:nvPr/>
        </p:nvSpPr>
        <p:spPr bwMode="auto">
          <a:xfrm flipV="1">
            <a:off x="3608100" y="3045917"/>
            <a:ext cx="427038" cy="47148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58" name="Line 231"/>
          <p:cNvSpPr>
            <a:spLocks noChangeShapeType="1"/>
          </p:cNvSpPr>
          <p:nvPr/>
        </p:nvSpPr>
        <p:spPr bwMode="auto">
          <a:xfrm flipV="1">
            <a:off x="4321420" y="3152279"/>
            <a:ext cx="336550" cy="1219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59" name="Line 232"/>
          <p:cNvSpPr>
            <a:spLocks noChangeShapeType="1"/>
          </p:cNvSpPr>
          <p:nvPr/>
        </p:nvSpPr>
        <p:spPr bwMode="auto">
          <a:xfrm flipH="1" flipV="1">
            <a:off x="5357909" y="2915630"/>
            <a:ext cx="442912" cy="59372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60" name="Rectangle 226"/>
          <p:cNvSpPr>
            <a:spLocks noChangeArrowheads="1"/>
          </p:cNvSpPr>
          <p:nvPr/>
        </p:nvSpPr>
        <p:spPr bwMode="auto">
          <a:xfrm>
            <a:off x="1207540" y="3417461"/>
            <a:ext cx="32146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000" dirty="0">
                <a:latin typeface="+mn-lt"/>
              </a:rPr>
              <a:t>Symmetry elements to projection plane</a:t>
            </a:r>
            <a:endParaRPr lang="zh-CN" altLang="en-US" sz="2000" dirty="0">
              <a:latin typeface="+mn-lt"/>
            </a:endParaRPr>
          </a:p>
        </p:txBody>
      </p:sp>
      <p:sp>
        <p:nvSpPr>
          <p:cNvPr id="161" name="Rectangle 221"/>
          <p:cNvSpPr>
            <a:spLocks noChangeArrowheads="1"/>
          </p:cNvSpPr>
          <p:nvPr/>
        </p:nvSpPr>
        <p:spPr bwMode="auto">
          <a:xfrm>
            <a:off x="5209356" y="3469394"/>
            <a:ext cx="34671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dirty="0">
                <a:latin typeface="+mn-lt"/>
                <a:ea typeface="宋体" panose="02010600030101010101" pitchFamily="2" charset="-122"/>
              </a:rPr>
              <a:t>Symmetry elements from up to down(x)</a:t>
            </a:r>
            <a:endParaRPr lang="zh-CN" altLang="en-US" sz="2000" dirty="0">
              <a:latin typeface="+mn-lt"/>
              <a:ea typeface="宋体" panose="02010600030101010101" pitchFamily="2" charset="-122"/>
            </a:endParaRPr>
          </a:p>
        </p:txBody>
      </p:sp>
      <p:sp>
        <p:nvSpPr>
          <p:cNvPr id="162" name="Rectangle 227"/>
          <p:cNvSpPr>
            <a:spLocks noChangeArrowheads="1"/>
          </p:cNvSpPr>
          <p:nvPr/>
        </p:nvSpPr>
        <p:spPr bwMode="auto">
          <a:xfrm>
            <a:off x="3092435" y="4333278"/>
            <a:ext cx="43910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mn-lt"/>
              </a:rPr>
              <a:t>Symmetry elements from left to right(y)</a:t>
            </a:r>
            <a:endParaRPr lang="zh-CN" altLang="en-US" sz="2000" dirty="0">
              <a:latin typeface="+mn-lt"/>
            </a:endParaRPr>
          </a:p>
        </p:txBody>
      </p:sp>
      <p:sp>
        <p:nvSpPr>
          <p:cNvPr id="163" name="Rectangle 162"/>
          <p:cNvSpPr/>
          <p:nvPr/>
        </p:nvSpPr>
        <p:spPr>
          <a:xfrm>
            <a:off x="677454" y="4941168"/>
            <a:ext cx="7793555" cy="1015663"/>
          </a:xfrm>
          <a:prstGeom prst="rect">
            <a:avLst/>
          </a:prstGeom>
        </p:spPr>
        <p:txBody>
          <a:bodyPr wrap="square">
            <a:spAutoFit/>
          </a:bodyPr>
          <a:lstStyle/>
          <a:p>
            <a:pPr algn="just">
              <a:spcAft>
                <a:spcPts val="0"/>
              </a:spcAft>
            </a:pPr>
            <a:r>
              <a:rPr lang="en-US" altLang="zh-CN" sz="2000" b="0" kern="100" dirty="0">
                <a:latin typeface="+mn-lt"/>
                <a:ea typeface="等线" panose="02010600030101010101" pitchFamily="2" charset="-122"/>
                <a:cs typeface="Times New Roman" panose="02020603050405020304" pitchFamily="18" charset="0"/>
              </a:rPr>
              <a:t>First to determine lattice type according to the space group, then to determine the corresponding direction of 1-3 positions according to the comparison table.</a:t>
            </a:r>
            <a:endParaRPr lang="zh-CN" altLang="zh-CN" sz="2000" b="0" kern="100" dirty="0">
              <a:effectLst/>
              <a:latin typeface="+mn-lt"/>
              <a:ea typeface="等线" panose="02010600030101010101" pitchFamily="2" charset="-122"/>
              <a:cs typeface="Times New Roman" panose="02020603050405020304" pitchFamily="18" charset="0"/>
            </a:endParaRPr>
          </a:p>
        </p:txBody>
      </p:sp>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901719"/>
            <a:ext cx="936104" cy="1167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1340768"/>
            <a:ext cx="5786825"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3798244"/>
            <a:ext cx="6624736" cy="272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own Arrow 2"/>
          <p:cNvSpPr/>
          <p:nvPr/>
        </p:nvSpPr>
        <p:spPr>
          <a:xfrm>
            <a:off x="4601476" y="3715291"/>
            <a:ext cx="834620" cy="289773"/>
          </a:xfrm>
          <a:prstGeom prst="downArrow">
            <a:avLst/>
          </a:prstGeom>
          <a:solidFill>
            <a:srgbClr val="FF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359024" y="281290"/>
            <a:ext cx="5077072" cy="584775"/>
          </a:xfrm>
          <a:prstGeom prst="rect">
            <a:avLst/>
          </a:prstGeom>
        </p:spPr>
        <p:txBody>
          <a:bodyPr wrap="square">
            <a:spAutoFit/>
          </a:bodyPr>
          <a:lstStyle/>
          <a:p>
            <a:r>
              <a:rPr lang="en-US" altLang="zh-CN" sz="3200" dirty="0">
                <a:latin typeface="+mn-lt"/>
                <a:cs typeface="Times New Roman" panose="02020603050405020304" pitchFamily="18" charset="0"/>
              </a:rPr>
              <a:t>Example - P2</a:t>
            </a:r>
            <a:endParaRPr lang="zh-CN" altLang="en-US" sz="3200" dirty="0">
              <a:latin typeface="+mn-lt"/>
              <a:cs typeface="Times New Roman" panose="02020603050405020304" pitchFamily="18" charset="0"/>
            </a:endParaRPr>
          </a:p>
        </p:txBody>
      </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3843" y="3059199"/>
            <a:ext cx="372218" cy="461665"/>
          </a:xfrm>
          <a:prstGeom prst="rect">
            <a:avLst/>
          </a:prstGeom>
          <a:noFill/>
        </p:spPr>
        <p:txBody>
          <a:bodyPr wrap="none" rtlCol="0">
            <a:spAutoFit/>
          </a:bodyPr>
          <a:lstStyle/>
          <a:p>
            <a:r>
              <a:rPr lang="en-US" altLang="zh-CN" sz="2400" dirty="0"/>
              <a:t>g</a:t>
            </a:r>
            <a:endParaRPr lang="en-US" sz="2400" dirty="0"/>
          </a:p>
        </p:txBody>
      </p:sp>
      <p:grpSp>
        <p:nvGrpSpPr>
          <p:cNvPr id="15" name="Group 14"/>
          <p:cNvGrpSpPr/>
          <p:nvPr/>
        </p:nvGrpSpPr>
        <p:grpSpPr>
          <a:xfrm>
            <a:off x="81889" y="1072006"/>
            <a:ext cx="3914047" cy="3441959"/>
            <a:chOff x="81889" y="1072006"/>
            <a:chExt cx="5308715" cy="4668408"/>
          </a:xfrm>
        </p:grpSpPr>
        <p:pic>
          <p:nvPicPr>
            <p:cNvPr id="26625" name="Picture 1" descr="D:\360data\重要数据\我的文档\Tencent Files\18181918\Image\C2C\MM%_ZY0IY5)(03X0NBU47LG.png"/>
            <p:cNvPicPr>
              <a:picLocks noChangeAspect="1" noChangeArrowheads="1"/>
            </p:cNvPicPr>
            <p:nvPr/>
          </p:nvPicPr>
          <p:blipFill rotWithShape="1">
            <a:blip r:embed="rId3">
              <a:extLst>
                <a:ext uri="{28A0092B-C50C-407E-A947-70E740481C1C}">
                  <a14:useLocalDpi xmlns:a14="http://schemas.microsoft.com/office/drawing/2010/main" val="0"/>
                </a:ext>
              </a:extLst>
            </a:blip>
            <a:srcRect t="1884"/>
            <a:stretch>
              <a:fillRect/>
            </a:stretch>
          </p:blipFill>
          <p:spPr bwMode="auto">
            <a:xfrm>
              <a:off x="81889" y="1072006"/>
              <a:ext cx="4320480" cy="458248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flipV="1">
              <a:off x="1286149" y="1651932"/>
              <a:ext cx="4104455" cy="4088482"/>
            </a:xfrm>
            <a:prstGeom prst="straightConnector1">
              <a:avLst/>
            </a:prstGeom>
            <a:ln w="38100">
              <a:solidFill>
                <a:schemeClr val="tx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97913" y="3973449"/>
              <a:ext cx="4608511" cy="0"/>
            </a:xfrm>
            <a:prstGeom prst="straightConnector1">
              <a:avLst/>
            </a:prstGeom>
            <a:ln w="38100">
              <a:solidFill>
                <a:schemeClr val="tx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4139952" y="1380115"/>
            <a:ext cx="458780" cy="461665"/>
          </a:xfrm>
          <a:prstGeom prst="rect">
            <a:avLst/>
          </a:prstGeom>
          <a:noFill/>
        </p:spPr>
        <p:txBody>
          <a:bodyPr wrap="none" rtlCol="0">
            <a:spAutoFit/>
          </a:bodyPr>
          <a:lstStyle/>
          <a:p>
            <a:r>
              <a:rPr lang="en-US" altLang="zh-CN" sz="2400" dirty="0"/>
              <a:t>m</a:t>
            </a:r>
            <a:endParaRPr lang="en-US" sz="2400" dirty="0"/>
          </a:p>
        </p:txBody>
      </p:sp>
      <p:sp>
        <p:nvSpPr>
          <p:cNvPr id="17" name="Rectangle 16"/>
          <p:cNvSpPr/>
          <p:nvPr/>
        </p:nvSpPr>
        <p:spPr>
          <a:xfrm>
            <a:off x="3668028" y="3829405"/>
            <a:ext cx="1861407" cy="830997"/>
          </a:xfrm>
          <a:prstGeom prst="rect">
            <a:avLst/>
          </a:prstGeom>
        </p:spPr>
        <p:txBody>
          <a:bodyPr wrap="none">
            <a:spAutoFit/>
          </a:bodyPr>
          <a:lstStyle/>
          <a:p>
            <a:pPr lvl="0" algn="ctr"/>
            <a:r>
              <a:rPr lang="en-US" altLang="zh-CN" sz="4800" i="1" dirty="0">
                <a:solidFill>
                  <a:srgbClr val="FF0066"/>
                </a:solidFill>
                <a:effectLst>
                  <a:outerShdw blurRad="38100" dist="38100" dir="2700000" algn="tl">
                    <a:srgbClr val="000000"/>
                  </a:outerShdw>
                </a:effectLst>
              </a:rPr>
              <a:t>P</a:t>
            </a:r>
            <a:r>
              <a:rPr lang="en-US" altLang="zh-CN" sz="4800" dirty="0">
                <a:solidFill>
                  <a:srgbClr val="FF0066"/>
                </a:solidFill>
                <a:effectLst>
                  <a:outerShdw blurRad="38100" dist="38100" dir="2700000" algn="tl">
                    <a:srgbClr val="000000"/>
                  </a:outerShdw>
                </a:effectLst>
              </a:rPr>
              <a:t>4</a:t>
            </a:r>
            <a:r>
              <a:rPr lang="en-US" altLang="zh-CN" sz="4800" i="1" dirty="0">
                <a:solidFill>
                  <a:srgbClr val="FF0066"/>
                </a:solidFill>
                <a:effectLst>
                  <a:outerShdw blurRad="38100" dist="38100" dir="2700000" algn="tl">
                    <a:srgbClr val="000000"/>
                  </a:outerShdw>
                </a:effectLst>
              </a:rPr>
              <a:t>	gm</a:t>
            </a:r>
            <a:endParaRPr lang="zh-CN" altLang="en-US" sz="4800" dirty="0">
              <a:solidFill>
                <a:srgbClr val="FF0066"/>
              </a:solidFill>
              <a:effectLst>
                <a:outerShdw blurRad="38100" dist="38100" dir="2700000" algn="tl">
                  <a:srgbClr val="000000"/>
                </a:outerShdw>
              </a:effectLst>
            </a:endParaRPr>
          </a:p>
        </p:txBody>
      </p:sp>
      <p:sp>
        <p:nvSpPr>
          <p:cNvPr id="19" name="Rectangle 18"/>
          <p:cNvSpPr/>
          <p:nvPr/>
        </p:nvSpPr>
        <p:spPr>
          <a:xfrm>
            <a:off x="4236051" y="4671623"/>
            <a:ext cx="180020" cy="45719"/>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601811" y="4671623"/>
            <a:ext cx="180020" cy="45719"/>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028531" y="4686863"/>
            <a:ext cx="180020" cy="45719"/>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64850" y="285818"/>
            <a:ext cx="6977985" cy="584775"/>
          </a:xfrm>
          <a:prstGeom prst="rect">
            <a:avLst/>
          </a:prstGeom>
        </p:spPr>
        <p:txBody>
          <a:bodyPr wrap="square">
            <a:spAutoFit/>
          </a:bodyPr>
          <a:lstStyle/>
          <a:p>
            <a:r>
              <a:rPr lang="en-US" altLang="zh-CN" sz="3200" dirty="0">
                <a:latin typeface="+mn-lt"/>
                <a:cs typeface="Times New Roman" panose="02020603050405020304" pitchFamily="18" charset="0"/>
              </a:rPr>
              <a:t>Example – P4gm</a:t>
            </a:r>
            <a:endParaRPr lang="zh-CN" altLang="en-US" sz="3200" dirty="0">
              <a:latin typeface="+mn-lt"/>
              <a:cs typeface="Times New Roman" panose="02020603050405020304" pitchFamily="18" charset="0"/>
            </a:endParaRPr>
          </a:p>
        </p:txBody>
      </p:sp>
      <p:pic>
        <p:nvPicPr>
          <p:cNvPr id="3" name="Picture 2"/>
          <p:cNvPicPr>
            <a:picLocks noChangeAspect="1"/>
          </p:cNvPicPr>
          <p:nvPr/>
        </p:nvPicPr>
        <p:blipFill>
          <a:blip r:embed="rId4"/>
          <a:stretch>
            <a:fillRect/>
          </a:stretch>
        </p:blipFill>
        <p:spPr>
          <a:xfrm>
            <a:off x="704543" y="5142950"/>
            <a:ext cx="7243036" cy="1295287"/>
          </a:xfrm>
          <a:prstGeom prst="rect">
            <a:avLst/>
          </a:prstGeom>
        </p:spPr>
      </p:pic>
    </p:spTree>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5496" y="908720"/>
            <a:ext cx="8906836" cy="5760640"/>
            <a:chOff x="214962" y="332656"/>
            <a:chExt cx="8461494" cy="5472608"/>
          </a:xfrm>
        </p:grpSpPr>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962" y="332656"/>
              <a:ext cx="8461494"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5058740" y="4833156"/>
              <a:ext cx="1152128" cy="504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a:t>
              </a:r>
              <a:endParaRPr lang="en-US" dirty="0">
                <a:solidFill>
                  <a:schemeClr val="tx1"/>
                </a:solidFill>
              </a:endParaRPr>
            </a:p>
          </p:txBody>
        </p:sp>
      </p:grpSp>
      <p:sp>
        <p:nvSpPr>
          <p:cNvPr id="6" name="Rectangle 5"/>
          <p:cNvSpPr/>
          <p:nvPr/>
        </p:nvSpPr>
        <p:spPr>
          <a:xfrm>
            <a:off x="2447764" y="1052736"/>
            <a:ext cx="1692188" cy="1152128"/>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855912" y="2708920"/>
            <a:ext cx="1322024" cy="295232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6084168" y="6021288"/>
            <a:ext cx="1093768"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117674"/>
            <a:ext cx="9144000" cy="584775"/>
          </a:xfrm>
          <a:prstGeom prst="rect">
            <a:avLst/>
          </a:prstGeom>
        </p:spPr>
        <p:txBody>
          <a:bodyPr wrap="square">
            <a:spAutoFit/>
          </a:bodyPr>
          <a:lstStyle/>
          <a:p>
            <a:r>
              <a:rPr lang="en-US" altLang="zh-CN" sz="3200" dirty="0">
                <a:latin typeface="+mn-lt"/>
                <a:cs typeface="Times New Roman" panose="02020603050405020304" pitchFamily="18" charset="0"/>
              </a:rPr>
              <a:t>2D space groups - 17 patterns for plane groups</a:t>
            </a:r>
            <a:endParaRPr lang="zh-CN" altLang="en-US" sz="3200" dirty="0">
              <a:latin typeface="+mn-lt"/>
              <a:cs typeface="Times New Roman" panose="02020603050405020304" pitchFamily="18" charset="0"/>
            </a:endParaRPr>
          </a:p>
        </p:txBody>
      </p:sp>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533" y="1082206"/>
            <a:ext cx="6008406" cy="4565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09508" y="5725705"/>
            <a:ext cx="8238956" cy="1015663"/>
          </a:xfrm>
          <a:prstGeom prst="rect">
            <a:avLst/>
          </a:prstGeom>
          <a:noFill/>
          <a:ln w="28575">
            <a:solidFill>
              <a:srgbClr val="00B050"/>
            </a:solidFill>
          </a:ln>
        </p:spPr>
        <p:txBody>
          <a:bodyPr wrap="square" rtlCol="0">
            <a:spAutoFit/>
          </a:bodyPr>
          <a:lstStyle/>
          <a:p>
            <a:pPr algn="just"/>
            <a:r>
              <a:rPr lang="en-US" altLang="zh-CN" sz="2000" dirty="0"/>
              <a:t>Thick lines (connecting line of lattice are thin solid lines) and dotted lines, represent mirror and glide plane respectively, whose orientation are vertical to the paper plane.</a:t>
            </a:r>
            <a:endParaRPr lang="en-US" sz="2000" dirty="0"/>
          </a:p>
        </p:txBody>
      </p:sp>
      <p:sp>
        <p:nvSpPr>
          <p:cNvPr id="5" name="Rectangle 4"/>
          <p:cNvSpPr/>
          <p:nvPr/>
        </p:nvSpPr>
        <p:spPr>
          <a:xfrm>
            <a:off x="1361163" y="4408468"/>
            <a:ext cx="3120573" cy="1239711"/>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23529" y="128099"/>
            <a:ext cx="8712967" cy="523220"/>
          </a:xfrm>
          <a:prstGeom prst="rect">
            <a:avLst/>
          </a:prstGeom>
        </p:spPr>
        <p:txBody>
          <a:bodyPr wrap="square">
            <a:spAutoFit/>
          </a:bodyPr>
          <a:lstStyle/>
          <a:p>
            <a:r>
              <a:rPr lang="en-US" altLang="zh-CN" sz="2800" dirty="0">
                <a:latin typeface="+mn-lt"/>
                <a:cs typeface="Times New Roman" panose="02020603050405020304" pitchFamily="18" charset="0"/>
              </a:rPr>
              <a:t>Distribution of symmetry elements in 17 plane groups</a:t>
            </a:r>
            <a:endParaRPr lang="zh-CN" altLang="en-US" sz="2800" dirty="0">
              <a:latin typeface="+mn-lt"/>
              <a:cs typeface="Times New Roman" panose="02020603050405020304" pitchFamily="18" charset="0"/>
            </a:endParaRPr>
          </a:p>
        </p:txBody>
      </p:sp>
    </p:spTree>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p:cNvCxnSpPr/>
          <p:nvPr/>
        </p:nvCxnSpPr>
        <p:spPr>
          <a:xfrm>
            <a:off x="4607096" y="3990636"/>
            <a:ext cx="1858333" cy="4756"/>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2627979" y="4009432"/>
            <a:ext cx="1799153" cy="0"/>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sp>
        <p:nvSpPr>
          <p:cNvPr id="103427" name="Rectangle 3"/>
          <p:cNvSpPr>
            <a:spLocks noChangeArrowheads="1"/>
          </p:cNvSpPr>
          <p:nvPr/>
        </p:nvSpPr>
        <p:spPr bwMode="auto">
          <a:xfrm>
            <a:off x="637592" y="1124744"/>
            <a:ext cx="8254887"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t>Exercise: </a:t>
            </a:r>
            <a:r>
              <a:rPr lang="en-US" altLang="zh-CN" sz="2800" b="0" dirty="0">
                <a:latin typeface="+mn-lt"/>
              </a:rPr>
              <a:t>Please give the general equivalent points and the distribution of symmetry elements in the following 2D space groups:</a:t>
            </a:r>
            <a:endParaRPr lang="en-US" altLang="zh-CN" sz="4000" i="1" dirty="0">
              <a:solidFill>
                <a:srgbClr val="FF0066"/>
              </a:solidFill>
              <a:effectLst>
                <a:outerShdw blurRad="38100" dist="38100" dir="2700000" algn="tl">
                  <a:srgbClr val="000000"/>
                </a:outerShdw>
              </a:effectLst>
              <a:ea typeface="宋体" panose="02010600030101010101" pitchFamily="2" charset="-122"/>
            </a:endParaRPr>
          </a:p>
          <a:p>
            <a:endParaRPr lang="en-US" altLang="zh-CN" sz="4000" i="1" dirty="0">
              <a:solidFill>
                <a:srgbClr val="FF0066"/>
              </a:solidFill>
              <a:effectLst>
                <a:outerShdw blurRad="38100" dist="38100" dir="2700000" algn="tl">
                  <a:srgbClr val="000000"/>
                </a:outerShdw>
              </a:effectLst>
              <a:ea typeface="宋体" panose="02010600030101010101" pitchFamily="2" charset="-122"/>
            </a:endParaRPr>
          </a:p>
        </p:txBody>
      </p:sp>
      <p:sp>
        <p:nvSpPr>
          <p:cNvPr id="5" name="Rectangle 3"/>
          <p:cNvSpPr>
            <a:spLocks noChangeArrowheads="1"/>
          </p:cNvSpPr>
          <p:nvPr/>
        </p:nvSpPr>
        <p:spPr bwMode="auto">
          <a:xfrm>
            <a:off x="642249" y="2730761"/>
            <a:ext cx="82548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4000" i="1" dirty="0">
                <a:solidFill>
                  <a:srgbClr val="FF0066"/>
                </a:solidFill>
                <a:effectLst>
                  <a:outerShdw blurRad="38100" dist="38100" dir="2700000" algn="tl">
                    <a:srgbClr val="000000"/>
                  </a:outerShdw>
                </a:effectLst>
                <a:ea typeface="宋体" panose="02010600030101010101" pitchFamily="2" charset="-122"/>
              </a:rPr>
              <a:t>P2mm; </a:t>
            </a:r>
            <a:r>
              <a:rPr lang="en-US" altLang="zh-CN" sz="4000" i="1" dirty="0">
                <a:effectLst>
                  <a:outerShdw blurRad="38100" dist="38100" dir="2700000" algn="tl">
                    <a:srgbClr val="000000"/>
                  </a:outerShdw>
                </a:effectLst>
                <a:ea typeface="宋体" panose="02010600030101010101" pitchFamily="2" charset="-122"/>
              </a:rPr>
              <a:t>P2mg; P2gg </a:t>
            </a:r>
            <a:r>
              <a:rPr lang="en-US" altLang="zh-CN" sz="4000" i="1" dirty="0">
                <a:solidFill>
                  <a:srgbClr val="FF0066"/>
                </a:solidFill>
                <a:effectLst>
                  <a:outerShdw blurRad="38100" dist="38100" dir="2700000" algn="tl">
                    <a:srgbClr val="000000"/>
                  </a:outerShdw>
                </a:effectLst>
                <a:ea typeface="宋体" panose="02010600030101010101" pitchFamily="2" charset="-122"/>
              </a:rPr>
              <a:t>?</a:t>
            </a:r>
          </a:p>
        </p:txBody>
      </p:sp>
      <p:sp>
        <p:nvSpPr>
          <p:cNvPr id="55" name="Rectangle 54"/>
          <p:cNvSpPr/>
          <p:nvPr/>
        </p:nvSpPr>
        <p:spPr>
          <a:xfrm>
            <a:off x="898969" y="400925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p:cNvGrpSpPr/>
          <p:nvPr/>
        </p:nvGrpSpPr>
        <p:grpSpPr>
          <a:xfrm>
            <a:off x="755573" y="3873286"/>
            <a:ext cx="295347" cy="297267"/>
            <a:chOff x="6154268" y="3368295"/>
            <a:chExt cx="449503" cy="452425"/>
          </a:xfrm>
        </p:grpSpPr>
        <p:sp>
          <p:nvSpPr>
            <p:cNvPr id="76" name="Oval 75"/>
            <p:cNvSpPr/>
            <p:nvPr/>
          </p:nvSpPr>
          <p:spPr>
            <a:xfrm>
              <a:off x="6347530" y="3492643"/>
              <a:ext cx="54200" cy="192101"/>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6154268" y="3368295"/>
              <a:ext cx="75283" cy="752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6528488" y="3745437"/>
              <a:ext cx="75283" cy="752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 name="Rectangle 81"/>
          <p:cNvSpPr/>
          <p:nvPr/>
        </p:nvSpPr>
        <p:spPr>
          <a:xfrm>
            <a:off x="2771372" y="400058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2754964" y="394632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2627981" y="386461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2873863" y="411242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rot="10800000">
            <a:off x="2872152" y="386461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rot="10800000">
            <a:off x="2627980" y="4112420"/>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750489" y="3981793"/>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734081" y="392752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607098" y="3845823"/>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852980" y="4093625"/>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rot="10800000">
            <a:off x="4851269" y="384582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rot="10800000">
            <a:off x="4607097" y="4093624"/>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287899" y="392752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160916" y="3845823"/>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406798" y="4093625"/>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10800000">
            <a:off x="6405087" y="384582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rot="10800000">
            <a:off x="6160915" y="4093624"/>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4734081" y="4808024"/>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4607098" y="472632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4852980" y="4974123"/>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rot="10800000">
            <a:off x="4851269" y="4726320"/>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rot="10800000">
            <a:off x="4607097" y="497412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6287899" y="4808024"/>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6160916" y="472632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6406798" y="4974123"/>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rot="10800000">
            <a:off x="6405087" y="4726320"/>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rot="10800000">
            <a:off x="6160915" y="497412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flipV="1">
            <a:off x="7661945" y="3654536"/>
            <a:ext cx="21074" cy="1506572"/>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V="1">
            <a:off x="8437306" y="3665169"/>
            <a:ext cx="625" cy="1486427"/>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6732779" y="3966885"/>
            <a:ext cx="1858333" cy="4756"/>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6723772" y="4851976"/>
            <a:ext cx="1858333" cy="4756"/>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6727160" y="4403066"/>
            <a:ext cx="1858333" cy="4756"/>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V="1">
            <a:off x="6865635" y="3645024"/>
            <a:ext cx="21074" cy="1506572"/>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sp>
        <p:nvSpPr>
          <p:cNvPr id="111" name="Rectangle 110"/>
          <p:cNvSpPr/>
          <p:nvPr/>
        </p:nvSpPr>
        <p:spPr>
          <a:xfrm>
            <a:off x="6876172" y="3958042"/>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6859764" y="3903775"/>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732781" y="382207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6978663" y="4069874"/>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rot="10800000">
            <a:off x="6976952" y="382207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rot="10800000">
            <a:off x="6732780" y="4069873"/>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8413582" y="3903775"/>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8286599" y="382207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8532481" y="4069874"/>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rot="10800000">
            <a:off x="8530770" y="382207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rot="10800000">
            <a:off x="8286598" y="4069873"/>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6859764" y="4784273"/>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6732781" y="4702570"/>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6978663" y="495037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rot="10800000">
            <a:off x="6976952" y="470256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rot="10800000">
            <a:off x="6732780" y="495037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8413582" y="4784273"/>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8286599" y="4702570"/>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8532481" y="4950372"/>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rot="10800000">
            <a:off x="8530770" y="470256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rot="10800000">
            <a:off x="8286598" y="495037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7656739" y="3908530"/>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6860145" y="434048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7662349" y="434609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8408454" y="435170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7645519" y="479488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1524482" y="237276"/>
            <a:ext cx="6977985" cy="584775"/>
          </a:xfrm>
          <a:prstGeom prst="rect">
            <a:avLst/>
          </a:prstGeom>
        </p:spPr>
        <p:txBody>
          <a:bodyPr wrap="square">
            <a:spAutoFit/>
          </a:bodyPr>
          <a:lstStyle/>
          <a:p>
            <a:r>
              <a:rPr lang="en-US" altLang="zh-CN" sz="3200" dirty="0">
                <a:latin typeface="+mj-lt"/>
                <a:cs typeface="Times New Roman" panose="02020603050405020304" pitchFamily="18" charset="0"/>
              </a:rPr>
              <a:t>R</a:t>
            </a:r>
            <a:r>
              <a:rPr lang="zh-CN" altLang="en-US" sz="3200" dirty="0">
                <a:latin typeface="+mj-lt"/>
                <a:cs typeface="Times New Roman" panose="02020603050405020304" pitchFamily="18" charset="0"/>
              </a:rPr>
              <a:t>epresentation of </a:t>
            </a:r>
            <a:r>
              <a:rPr lang="en-US" altLang="zh-CN" sz="3200" dirty="0">
                <a:latin typeface="+mj-lt"/>
                <a:cs typeface="Times New Roman" panose="02020603050405020304" pitchFamily="18" charset="0"/>
              </a:rPr>
              <a:t>2D space</a:t>
            </a:r>
            <a:r>
              <a:rPr lang="zh-CN" altLang="en-US" sz="3200" dirty="0">
                <a:latin typeface="+mj-lt"/>
                <a:cs typeface="Times New Roman" panose="02020603050405020304" pitchFamily="18" charset="0"/>
              </a:rPr>
              <a:t> group</a:t>
            </a:r>
            <a:r>
              <a:rPr lang="en-US" altLang="zh-CN" sz="3200" dirty="0">
                <a:latin typeface="+mj-lt"/>
                <a:cs typeface="Times New Roman" panose="02020603050405020304" pitchFamily="18" charset="0"/>
              </a:rPr>
              <a:t>s</a:t>
            </a:r>
            <a:endParaRPr lang="zh-CN" altLang="en-US" sz="3200" dirty="0">
              <a:latin typeface="+mj-lt"/>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arn(inVertic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barn(inVertical)">
                                      <p:cBhvr>
                                        <p:cTn id="12" dur="500"/>
                                        <p:tgtEl>
                                          <p:spTgt spid="8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barn(inVertical)">
                                      <p:cBhvr>
                                        <p:cTn id="15" dur="500"/>
                                        <p:tgtEl>
                                          <p:spTgt spid="82"/>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barn(inVertical)">
                                      <p:cBhvr>
                                        <p:cTn id="18" dur="500"/>
                                        <p:tgtEl>
                                          <p:spTgt spid="84"/>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barn(inVertical)">
                                      <p:cBhvr>
                                        <p:cTn id="21" dur="500"/>
                                        <p:tgtEl>
                                          <p:spTgt spid="8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barn(inVertical)">
                                      <p:cBhvr>
                                        <p:cTn id="24" dur="500"/>
                                        <p:tgtEl>
                                          <p:spTgt spid="8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animEffect transition="in" filter="barn(inVertical)">
                                      <p:cBhvr>
                                        <p:cTn id="27" dur="500"/>
                                        <p:tgtEl>
                                          <p:spTgt spid="8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88"/>
                                        </p:tgtEl>
                                        <p:attrNameLst>
                                          <p:attrName>style.visibility</p:attrName>
                                        </p:attrNameLst>
                                      </p:cBhvr>
                                      <p:to>
                                        <p:strVal val="visible"/>
                                      </p:to>
                                    </p:set>
                                    <p:animEffect transition="in" filter="barn(inVertical)">
                                      <p:cBhvr>
                                        <p:cTn id="30" dur="500"/>
                                        <p:tgtEl>
                                          <p:spTgt spid="88"/>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barn(inVertical)">
                                      <p:cBhvr>
                                        <p:cTn id="35" dur="500"/>
                                        <p:tgtEl>
                                          <p:spTgt spid="29"/>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arn(inVertical)">
                                      <p:cBhvr>
                                        <p:cTn id="38" dur="500"/>
                                        <p:tgtEl>
                                          <p:spTgt spid="2"/>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arn(inVertical)">
                                      <p:cBhvr>
                                        <p:cTn id="41" dur="500"/>
                                        <p:tgtEl>
                                          <p:spTgt spid="2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inVertical)">
                                      <p:cBhvr>
                                        <p:cTn id="44" dur="500"/>
                                        <p:tgtEl>
                                          <p:spTgt spid="22"/>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barn(inVertical)">
                                      <p:cBhvr>
                                        <p:cTn id="47" dur="500"/>
                                        <p:tgtEl>
                                          <p:spTgt spid="23"/>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barn(inVertical)">
                                      <p:cBhvr>
                                        <p:cTn id="50" dur="500"/>
                                        <p:tgtEl>
                                          <p:spTgt spid="25"/>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barn(inVertical)">
                                      <p:cBhvr>
                                        <p:cTn id="53" dur="500"/>
                                        <p:tgtEl>
                                          <p:spTgt spid="26"/>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barn(inVertical)">
                                      <p:cBhvr>
                                        <p:cTn id="56" dur="500"/>
                                        <p:tgtEl>
                                          <p:spTgt spid="36"/>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barn(inVertical)">
                                      <p:cBhvr>
                                        <p:cTn id="59" dur="500"/>
                                        <p:tgtEl>
                                          <p:spTgt spid="37"/>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barn(inVertical)">
                                      <p:cBhvr>
                                        <p:cTn id="62" dur="500"/>
                                        <p:tgtEl>
                                          <p:spTgt spid="38"/>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barn(inVertical)">
                                      <p:cBhvr>
                                        <p:cTn id="65" dur="500"/>
                                        <p:tgtEl>
                                          <p:spTgt spid="39"/>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barn(inVertical)">
                                      <p:cBhvr>
                                        <p:cTn id="68" dur="500"/>
                                        <p:tgtEl>
                                          <p:spTgt spid="40"/>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barn(inVertical)">
                                      <p:cBhvr>
                                        <p:cTn id="71" dur="500"/>
                                        <p:tgtEl>
                                          <p:spTgt spid="42"/>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barn(inVertical)">
                                      <p:cBhvr>
                                        <p:cTn id="74" dur="500"/>
                                        <p:tgtEl>
                                          <p:spTgt spid="43"/>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barn(inVertical)">
                                      <p:cBhvr>
                                        <p:cTn id="77" dur="500"/>
                                        <p:tgtEl>
                                          <p:spTgt spid="44"/>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barn(inVertical)">
                                      <p:cBhvr>
                                        <p:cTn id="80" dur="500"/>
                                        <p:tgtEl>
                                          <p:spTgt spid="45"/>
                                        </p:tgtEl>
                                      </p:cBhvr>
                                    </p:animEffect>
                                  </p:childTnLst>
                                </p:cTn>
                              </p:par>
                              <p:par>
                                <p:cTn id="81" presetID="16" presetClass="entr" presetSubtype="21"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barn(inVertical)">
                                      <p:cBhvr>
                                        <p:cTn id="83" dur="500"/>
                                        <p:tgtEl>
                                          <p:spTgt spid="46"/>
                                        </p:tgtEl>
                                      </p:cBhvr>
                                    </p:animEffect>
                                  </p:childTnLst>
                                </p:cTn>
                              </p:par>
                              <p:par>
                                <p:cTn id="84" presetID="16" presetClass="entr" presetSubtype="21" fill="hold" grpId="0" nodeType="withEffect">
                                  <p:stCondLst>
                                    <p:cond delay="0"/>
                                  </p:stCondLst>
                                  <p:childTnLst>
                                    <p:set>
                                      <p:cBhvr>
                                        <p:cTn id="85" dur="1" fill="hold">
                                          <p:stCondLst>
                                            <p:cond delay="0"/>
                                          </p:stCondLst>
                                        </p:cTn>
                                        <p:tgtEl>
                                          <p:spTgt spid="48"/>
                                        </p:tgtEl>
                                        <p:attrNameLst>
                                          <p:attrName>style.visibility</p:attrName>
                                        </p:attrNameLst>
                                      </p:cBhvr>
                                      <p:to>
                                        <p:strVal val="visible"/>
                                      </p:to>
                                    </p:set>
                                    <p:animEffect transition="in" filter="barn(inVertical)">
                                      <p:cBhvr>
                                        <p:cTn id="86" dur="500"/>
                                        <p:tgtEl>
                                          <p:spTgt spid="48"/>
                                        </p:tgtEl>
                                      </p:cBhvr>
                                    </p:animEffect>
                                  </p:childTnLst>
                                </p:cTn>
                              </p:par>
                              <p:par>
                                <p:cTn id="87" presetID="16" presetClass="entr" presetSubtype="21" fill="hold" grpId="0" nodeType="withEffect">
                                  <p:stCondLst>
                                    <p:cond delay="0"/>
                                  </p:stCondLst>
                                  <p:childTnLst>
                                    <p:set>
                                      <p:cBhvr>
                                        <p:cTn id="88" dur="1" fill="hold">
                                          <p:stCondLst>
                                            <p:cond delay="0"/>
                                          </p:stCondLst>
                                        </p:cTn>
                                        <p:tgtEl>
                                          <p:spTgt spid="49"/>
                                        </p:tgtEl>
                                        <p:attrNameLst>
                                          <p:attrName>style.visibility</p:attrName>
                                        </p:attrNameLst>
                                      </p:cBhvr>
                                      <p:to>
                                        <p:strVal val="visible"/>
                                      </p:to>
                                    </p:set>
                                    <p:animEffect transition="in" filter="barn(inVertical)">
                                      <p:cBhvr>
                                        <p:cTn id="89" dur="500"/>
                                        <p:tgtEl>
                                          <p:spTgt spid="49"/>
                                        </p:tgtEl>
                                      </p:cBhvr>
                                    </p:animEffect>
                                  </p:childTnLst>
                                </p:cTn>
                              </p:par>
                              <p:par>
                                <p:cTn id="90" presetID="16" presetClass="entr" presetSubtype="21" fill="hold" grpId="0" nodeType="with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barn(inVertical)">
                                      <p:cBhvr>
                                        <p:cTn id="92" dur="500"/>
                                        <p:tgtEl>
                                          <p:spTgt spid="50"/>
                                        </p:tgtEl>
                                      </p:cBhvr>
                                    </p:animEffect>
                                  </p:childTnLst>
                                </p:cTn>
                              </p:par>
                              <p:par>
                                <p:cTn id="93" presetID="16" presetClass="entr" presetSubtype="21" fill="hold" grpId="0" nodeType="withEffect">
                                  <p:stCondLst>
                                    <p:cond delay="0"/>
                                  </p:stCondLst>
                                  <p:childTnLst>
                                    <p:set>
                                      <p:cBhvr>
                                        <p:cTn id="94" dur="1" fill="hold">
                                          <p:stCondLst>
                                            <p:cond delay="0"/>
                                          </p:stCondLst>
                                        </p:cTn>
                                        <p:tgtEl>
                                          <p:spTgt spid="51"/>
                                        </p:tgtEl>
                                        <p:attrNameLst>
                                          <p:attrName>style.visibility</p:attrName>
                                        </p:attrNameLst>
                                      </p:cBhvr>
                                      <p:to>
                                        <p:strVal val="visible"/>
                                      </p:to>
                                    </p:set>
                                    <p:animEffect transition="in" filter="barn(inVertical)">
                                      <p:cBhvr>
                                        <p:cTn id="95" dur="500"/>
                                        <p:tgtEl>
                                          <p:spTgt spid="51"/>
                                        </p:tgtEl>
                                      </p:cBhvr>
                                    </p:animEffect>
                                  </p:childTnLst>
                                </p:cTn>
                              </p:par>
                              <p:par>
                                <p:cTn id="96" presetID="16" presetClass="entr" presetSubtype="21" fill="hold" grpId="0" nodeType="withEffect">
                                  <p:stCondLst>
                                    <p:cond delay="0"/>
                                  </p:stCondLst>
                                  <p:childTnLst>
                                    <p:set>
                                      <p:cBhvr>
                                        <p:cTn id="97" dur="1" fill="hold">
                                          <p:stCondLst>
                                            <p:cond delay="0"/>
                                          </p:stCondLst>
                                        </p:cTn>
                                        <p:tgtEl>
                                          <p:spTgt spid="52"/>
                                        </p:tgtEl>
                                        <p:attrNameLst>
                                          <p:attrName>style.visibility</p:attrName>
                                        </p:attrNameLst>
                                      </p:cBhvr>
                                      <p:to>
                                        <p:strVal val="visible"/>
                                      </p:to>
                                    </p:set>
                                    <p:animEffect transition="in" filter="barn(inVertical)">
                                      <p:cBhvr>
                                        <p:cTn id="98" dur="500"/>
                                        <p:tgtEl>
                                          <p:spTgt spid="52"/>
                                        </p:tgtEl>
                                      </p:cBhvr>
                                    </p:animEffect>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nodeType="clickEffect">
                                  <p:stCondLst>
                                    <p:cond delay="0"/>
                                  </p:stCondLst>
                                  <p:childTnLst>
                                    <p:set>
                                      <p:cBhvr>
                                        <p:cTn id="102" dur="1" fill="hold">
                                          <p:stCondLst>
                                            <p:cond delay="0"/>
                                          </p:stCondLst>
                                        </p:cTn>
                                        <p:tgtEl>
                                          <p:spTgt spid="105"/>
                                        </p:tgtEl>
                                        <p:attrNameLst>
                                          <p:attrName>style.visibility</p:attrName>
                                        </p:attrNameLst>
                                      </p:cBhvr>
                                      <p:to>
                                        <p:strVal val="visible"/>
                                      </p:to>
                                    </p:set>
                                    <p:animEffect transition="in" filter="barn(inVertical)">
                                      <p:cBhvr>
                                        <p:cTn id="103" dur="500"/>
                                        <p:tgtEl>
                                          <p:spTgt spid="105"/>
                                        </p:tgtEl>
                                      </p:cBhvr>
                                    </p:animEffect>
                                  </p:childTnLst>
                                </p:cTn>
                              </p:par>
                              <p:par>
                                <p:cTn id="104" presetID="16" presetClass="entr" presetSubtype="21" fill="hold" nodeType="withEffect">
                                  <p:stCondLst>
                                    <p:cond delay="0"/>
                                  </p:stCondLst>
                                  <p:childTnLst>
                                    <p:set>
                                      <p:cBhvr>
                                        <p:cTn id="105" dur="1" fill="hold">
                                          <p:stCondLst>
                                            <p:cond delay="0"/>
                                          </p:stCondLst>
                                        </p:cTn>
                                        <p:tgtEl>
                                          <p:spTgt spid="106"/>
                                        </p:tgtEl>
                                        <p:attrNameLst>
                                          <p:attrName>style.visibility</p:attrName>
                                        </p:attrNameLst>
                                      </p:cBhvr>
                                      <p:to>
                                        <p:strVal val="visible"/>
                                      </p:to>
                                    </p:set>
                                    <p:animEffect transition="in" filter="barn(inVertical)">
                                      <p:cBhvr>
                                        <p:cTn id="106" dur="500"/>
                                        <p:tgtEl>
                                          <p:spTgt spid="106"/>
                                        </p:tgtEl>
                                      </p:cBhvr>
                                    </p:animEffect>
                                  </p:childTnLst>
                                </p:cTn>
                              </p:par>
                              <p:par>
                                <p:cTn id="107" presetID="16" presetClass="entr" presetSubtype="21" fill="hold" nodeType="withEffect">
                                  <p:stCondLst>
                                    <p:cond delay="0"/>
                                  </p:stCondLst>
                                  <p:childTnLst>
                                    <p:set>
                                      <p:cBhvr>
                                        <p:cTn id="108" dur="1" fill="hold">
                                          <p:stCondLst>
                                            <p:cond delay="0"/>
                                          </p:stCondLst>
                                        </p:cTn>
                                        <p:tgtEl>
                                          <p:spTgt spid="107"/>
                                        </p:tgtEl>
                                        <p:attrNameLst>
                                          <p:attrName>style.visibility</p:attrName>
                                        </p:attrNameLst>
                                      </p:cBhvr>
                                      <p:to>
                                        <p:strVal val="visible"/>
                                      </p:to>
                                    </p:set>
                                    <p:animEffect transition="in" filter="barn(inVertical)">
                                      <p:cBhvr>
                                        <p:cTn id="109" dur="500"/>
                                        <p:tgtEl>
                                          <p:spTgt spid="107"/>
                                        </p:tgtEl>
                                      </p:cBhvr>
                                    </p:animEffect>
                                  </p:childTnLst>
                                </p:cTn>
                              </p:par>
                              <p:par>
                                <p:cTn id="110" presetID="16" presetClass="entr" presetSubtype="21" fill="hold" nodeType="withEffect">
                                  <p:stCondLst>
                                    <p:cond delay="0"/>
                                  </p:stCondLst>
                                  <p:childTnLst>
                                    <p:set>
                                      <p:cBhvr>
                                        <p:cTn id="111" dur="1" fill="hold">
                                          <p:stCondLst>
                                            <p:cond delay="0"/>
                                          </p:stCondLst>
                                        </p:cTn>
                                        <p:tgtEl>
                                          <p:spTgt spid="108"/>
                                        </p:tgtEl>
                                        <p:attrNameLst>
                                          <p:attrName>style.visibility</p:attrName>
                                        </p:attrNameLst>
                                      </p:cBhvr>
                                      <p:to>
                                        <p:strVal val="visible"/>
                                      </p:to>
                                    </p:set>
                                    <p:animEffect transition="in" filter="barn(inVertical)">
                                      <p:cBhvr>
                                        <p:cTn id="112" dur="500"/>
                                        <p:tgtEl>
                                          <p:spTgt spid="108"/>
                                        </p:tgtEl>
                                      </p:cBhvr>
                                    </p:animEffect>
                                  </p:childTnLst>
                                </p:cTn>
                              </p:par>
                              <p:par>
                                <p:cTn id="113" presetID="16" presetClass="entr" presetSubtype="21" fill="hold" nodeType="withEffect">
                                  <p:stCondLst>
                                    <p:cond delay="0"/>
                                  </p:stCondLst>
                                  <p:childTnLst>
                                    <p:set>
                                      <p:cBhvr>
                                        <p:cTn id="114" dur="1" fill="hold">
                                          <p:stCondLst>
                                            <p:cond delay="0"/>
                                          </p:stCondLst>
                                        </p:cTn>
                                        <p:tgtEl>
                                          <p:spTgt spid="109"/>
                                        </p:tgtEl>
                                        <p:attrNameLst>
                                          <p:attrName>style.visibility</p:attrName>
                                        </p:attrNameLst>
                                      </p:cBhvr>
                                      <p:to>
                                        <p:strVal val="visible"/>
                                      </p:to>
                                    </p:set>
                                    <p:animEffect transition="in" filter="barn(inVertical)">
                                      <p:cBhvr>
                                        <p:cTn id="115" dur="500"/>
                                        <p:tgtEl>
                                          <p:spTgt spid="109"/>
                                        </p:tgtEl>
                                      </p:cBhvr>
                                    </p:animEffect>
                                  </p:childTnLst>
                                </p:cTn>
                              </p:par>
                              <p:par>
                                <p:cTn id="116" presetID="16" presetClass="entr" presetSubtype="21" fill="hold" nodeType="withEffect">
                                  <p:stCondLst>
                                    <p:cond delay="0"/>
                                  </p:stCondLst>
                                  <p:childTnLst>
                                    <p:set>
                                      <p:cBhvr>
                                        <p:cTn id="117" dur="1" fill="hold">
                                          <p:stCondLst>
                                            <p:cond delay="0"/>
                                          </p:stCondLst>
                                        </p:cTn>
                                        <p:tgtEl>
                                          <p:spTgt spid="110"/>
                                        </p:tgtEl>
                                        <p:attrNameLst>
                                          <p:attrName>style.visibility</p:attrName>
                                        </p:attrNameLst>
                                      </p:cBhvr>
                                      <p:to>
                                        <p:strVal val="visible"/>
                                      </p:to>
                                    </p:set>
                                    <p:animEffect transition="in" filter="barn(inVertical)">
                                      <p:cBhvr>
                                        <p:cTn id="118" dur="500"/>
                                        <p:tgtEl>
                                          <p:spTgt spid="110"/>
                                        </p:tgtEl>
                                      </p:cBhvr>
                                    </p:animEffect>
                                  </p:childTnLst>
                                </p:cTn>
                              </p:par>
                              <p:par>
                                <p:cTn id="119" presetID="16" presetClass="entr" presetSubtype="21" fill="hold" grpId="0" nodeType="withEffect">
                                  <p:stCondLst>
                                    <p:cond delay="0"/>
                                  </p:stCondLst>
                                  <p:childTnLst>
                                    <p:set>
                                      <p:cBhvr>
                                        <p:cTn id="120" dur="1" fill="hold">
                                          <p:stCondLst>
                                            <p:cond delay="0"/>
                                          </p:stCondLst>
                                        </p:cTn>
                                        <p:tgtEl>
                                          <p:spTgt spid="111"/>
                                        </p:tgtEl>
                                        <p:attrNameLst>
                                          <p:attrName>style.visibility</p:attrName>
                                        </p:attrNameLst>
                                      </p:cBhvr>
                                      <p:to>
                                        <p:strVal val="visible"/>
                                      </p:to>
                                    </p:set>
                                    <p:animEffect transition="in" filter="barn(inVertical)">
                                      <p:cBhvr>
                                        <p:cTn id="121" dur="500"/>
                                        <p:tgtEl>
                                          <p:spTgt spid="111"/>
                                        </p:tgtEl>
                                      </p:cBhvr>
                                    </p:animEffect>
                                  </p:childTnLst>
                                </p:cTn>
                              </p:par>
                              <p:par>
                                <p:cTn id="122" presetID="16" presetClass="entr" presetSubtype="21" fill="hold" grpId="0" nodeType="withEffect">
                                  <p:stCondLst>
                                    <p:cond delay="0"/>
                                  </p:stCondLst>
                                  <p:childTnLst>
                                    <p:set>
                                      <p:cBhvr>
                                        <p:cTn id="123" dur="1" fill="hold">
                                          <p:stCondLst>
                                            <p:cond delay="0"/>
                                          </p:stCondLst>
                                        </p:cTn>
                                        <p:tgtEl>
                                          <p:spTgt spid="112"/>
                                        </p:tgtEl>
                                        <p:attrNameLst>
                                          <p:attrName>style.visibility</p:attrName>
                                        </p:attrNameLst>
                                      </p:cBhvr>
                                      <p:to>
                                        <p:strVal val="visible"/>
                                      </p:to>
                                    </p:set>
                                    <p:animEffect transition="in" filter="barn(inVertical)">
                                      <p:cBhvr>
                                        <p:cTn id="124" dur="500"/>
                                        <p:tgtEl>
                                          <p:spTgt spid="112"/>
                                        </p:tgtEl>
                                      </p:cBhvr>
                                    </p:animEffect>
                                  </p:childTnLst>
                                </p:cTn>
                              </p:par>
                              <p:par>
                                <p:cTn id="125" presetID="16" presetClass="entr" presetSubtype="21" fill="hold" grpId="0" nodeType="withEffect">
                                  <p:stCondLst>
                                    <p:cond delay="0"/>
                                  </p:stCondLst>
                                  <p:childTnLst>
                                    <p:set>
                                      <p:cBhvr>
                                        <p:cTn id="126" dur="1" fill="hold">
                                          <p:stCondLst>
                                            <p:cond delay="0"/>
                                          </p:stCondLst>
                                        </p:cTn>
                                        <p:tgtEl>
                                          <p:spTgt spid="113"/>
                                        </p:tgtEl>
                                        <p:attrNameLst>
                                          <p:attrName>style.visibility</p:attrName>
                                        </p:attrNameLst>
                                      </p:cBhvr>
                                      <p:to>
                                        <p:strVal val="visible"/>
                                      </p:to>
                                    </p:set>
                                    <p:animEffect transition="in" filter="barn(inVertical)">
                                      <p:cBhvr>
                                        <p:cTn id="127" dur="500"/>
                                        <p:tgtEl>
                                          <p:spTgt spid="113"/>
                                        </p:tgtEl>
                                      </p:cBhvr>
                                    </p:animEffect>
                                  </p:childTnLst>
                                </p:cTn>
                              </p:par>
                              <p:par>
                                <p:cTn id="128" presetID="16" presetClass="entr" presetSubtype="21" fill="hold" grpId="0" nodeType="withEffect">
                                  <p:stCondLst>
                                    <p:cond delay="0"/>
                                  </p:stCondLst>
                                  <p:childTnLst>
                                    <p:set>
                                      <p:cBhvr>
                                        <p:cTn id="129" dur="1" fill="hold">
                                          <p:stCondLst>
                                            <p:cond delay="0"/>
                                          </p:stCondLst>
                                        </p:cTn>
                                        <p:tgtEl>
                                          <p:spTgt spid="114"/>
                                        </p:tgtEl>
                                        <p:attrNameLst>
                                          <p:attrName>style.visibility</p:attrName>
                                        </p:attrNameLst>
                                      </p:cBhvr>
                                      <p:to>
                                        <p:strVal val="visible"/>
                                      </p:to>
                                    </p:set>
                                    <p:animEffect transition="in" filter="barn(inVertical)">
                                      <p:cBhvr>
                                        <p:cTn id="130" dur="500"/>
                                        <p:tgtEl>
                                          <p:spTgt spid="114"/>
                                        </p:tgtEl>
                                      </p:cBhvr>
                                    </p:animEffect>
                                  </p:childTnLst>
                                </p:cTn>
                              </p:par>
                              <p:par>
                                <p:cTn id="131" presetID="16" presetClass="entr" presetSubtype="21" fill="hold" grpId="0" nodeType="withEffect">
                                  <p:stCondLst>
                                    <p:cond delay="0"/>
                                  </p:stCondLst>
                                  <p:childTnLst>
                                    <p:set>
                                      <p:cBhvr>
                                        <p:cTn id="132" dur="1" fill="hold">
                                          <p:stCondLst>
                                            <p:cond delay="0"/>
                                          </p:stCondLst>
                                        </p:cTn>
                                        <p:tgtEl>
                                          <p:spTgt spid="115"/>
                                        </p:tgtEl>
                                        <p:attrNameLst>
                                          <p:attrName>style.visibility</p:attrName>
                                        </p:attrNameLst>
                                      </p:cBhvr>
                                      <p:to>
                                        <p:strVal val="visible"/>
                                      </p:to>
                                    </p:set>
                                    <p:animEffect transition="in" filter="barn(inVertical)">
                                      <p:cBhvr>
                                        <p:cTn id="133" dur="500"/>
                                        <p:tgtEl>
                                          <p:spTgt spid="115"/>
                                        </p:tgtEl>
                                      </p:cBhvr>
                                    </p:animEffect>
                                  </p:childTnLst>
                                </p:cTn>
                              </p:par>
                              <p:par>
                                <p:cTn id="134" presetID="16" presetClass="entr" presetSubtype="21" fill="hold" grpId="0" nodeType="withEffect">
                                  <p:stCondLst>
                                    <p:cond delay="0"/>
                                  </p:stCondLst>
                                  <p:childTnLst>
                                    <p:set>
                                      <p:cBhvr>
                                        <p:cTn id="135" dur="1" fill="hold">
                                          <p:stCondLst>
                                            <p:cond delay="0"/>
                                          </p:stCondLst>
                                        </p:cTn>
                                        <p:tgtEl>
                                          <p:spTgt spid="116"/>
                                        </p:tgtEl>
                                        <p:attrNameLst>
                                          <p:attrName>style.visibility</p:attrName>
                                        </p:attrNameLst>
                                      </p:cBhvr>
                                      <p:to>
                                        <p:strVal val="visible"/>
                                      </p:to>
                                    </p:set>
                                    <p:animEffect transition="in" filter="barn(inVertical)">
                                      <p:cBhvr>
                                        <p:cTn id="136" dur="500"/>
                                        <p:tgtEl>
                                          <p:spTgt spid="116"/>
                                        </p:tgtEl>
                                      </p:cBhvr>
                                    </p:animEffect>
                                  </p:childTnLst>
                                </p:cTn>
                              </p:par>
                              <p:par>
                                <p:cTn id="137" presetID="16" presetClass="entr" presetSubtype="21" fill="hold" grpId="0" nodeType="withEffect">
                                  <p:stCondLst>
                                    <p:cond delay="0"/>
                                  </p:stCondLst>
                                  <p:childTnLst>
                                    <p:set>
                                      <p:cBhvr>
                                        <p:cTn id="138" dur="1" fill="hold">
                                          <p:stCondLst>
                                            <p:cond delay="0"/>
                                          </p:stCondLst>
                                        </p:cTn>
                                        <p:tgtEl>
                                          <p:spTgt spid="117"/>
                                        </p:tgtEl>
                                        <p:attrNameLst>
                                          <p:attrName>style.visibility</p:attrName>
                                        </p:attrNameLst>
                                      </p:cBhvr>
                                      <p:to>
                                        <p:strVal val="visible"/>
                                      </p:to>
                                    </p:set>
                                    <p:animEffect transition="in" filter="barn(inVertical)">
                                      <p:cBhvr>
                                        <p:cTn id="139" dur="500"/>
                                        <p:tgtEl>
                                          <p:spTgt spid="117"/>
                                        </p:tgtEl>
                                      </p:cBhvr>
                                    </p:animEffect>
                                  </p:childTnLst>
                                </p:cTn>
                              </p:par>
                              <p:par>
                                <p:cTn id="140" presetID="16" presetClass="entr" presetSubtype="21" fill="hold" grpId="0" nodeType="withEffect">
                                  <p:stCondLst>
                                    <p:cond delay="0"/>
                                  </p:stCondLst>
                                  <p:childTnLst>
                                    <p:set>
                                      <p:cBhvr>
                                        <p:cTn id="141" dur="1" fill="hold">
                                          <p:stCondLst>
                                            <p:cond delay="0"/>
                                          </p:stCondLst>
                                        </p:cTn>
                                        <p:tgtEl>
                                          <p:spTgt spid="118"/>
                                        </p:tgtEl>
                                        <p:attrNameLst>
                                          <p:attrName>style.visibility</p:attrName>
                                        </p:attrNameLst>
                                      </p:cBhvr>
                                      <p:to>
                                        <p:strVal val="visible"/>
                                      </p:to>
                                    </p:set>
                                    <p:animEffect transition="in" filter="barn(inVertical)">
                                      <p:cBhvr>
                                        <p:cTn id="142" dur="500"/>
                                        <p:tgtEl>
                                          <p:spTgt spid="118"/>
                                        </p:tgtEl>
                                      </p:cBhvr>
                                    </p:animEffect>
                                  </p:childTnLst>
                                </p:cTn>
                              </p:par>
                              <p:par>
                                <p:cTn id="143" presetID="16" presetClass="entr" presetSubtype="21" fill="hold" grpId="0" nodeType="withEffect">
                                  <p:stCondLst>
                                    <p:cond delay="0"/>
                                  </p:stCondLst>
                                  <p:childTnLst>
                                    <p:set>
                                      <p:cBhvr>
                                        <p:cTn id="144" dur="1" fill="hold">
                                          <p:stCondLst>
                                            <p:cond delay="0"/>
                                          </p:stCondLst>
                                        </p:cTn>
                                        <p:tgtEl>
                                          <p:spTgt spid="119"/>
                                        </p:tgtEl>
                                        <p:attrNameLst>
                                          <p:attrName>style.visibility</p:attrName>
                                        </p:attrNameLst>
                                      </p:cBhvr>
                                      <p:to>
                                        <p:strVal val="visible"/>
                                      </p:to>
                                    </p:set>
                                    <p:animEffect transition="in" filter="barn(inVertical)">
                                      <p:cBhvr>
                                        <p:cTn id="145" dur="500"/>
                                        <p:tgtEl>
                                          <p:spTgt spid="119"/>
                                        </p:tgtEl>
                                      </p:cBhvr>
                                    </p:animEffect>
                                  </p:childTnLst>
                                </p:cTn>
                              </p:par>
                              <p:par>
                                <p:cTn id="146" presetID="16" presetClass="entr" presetSubtype="21" fill="hold" grpId="0" nodeType="withEffect">
                                  <p:stCondLst>
                                    <p:cond delay="0"/>
                                  </p:stCondLst>
                                  <p:childTnLst>
                                    <p:set>
                                      <p:cBhvr>
                                        <p:cTn id="147" dur="1" fill="hold">
                                          <p:stCondLst>
                                            <p:cond delay="0"/>
                                          </p:stCondLst>
                                        </p:cTn>
                                        <p:tgtEl>
                                          <p:spTgt spid="120"/>
                                        </p:tgtEl>
                                        <p:attrNameLst>
                                          <p:attrName>style.visibility</p:attrName>
                                        </p:attrNameLst>
                                      </p:cBhvr>
                                      <p:to>
                                        <p:strVal val="visible"/>
                                      </p:to>
                                    </p:set>
                                    <p:animEffect transition="in" filter="barn(inVertical)">
                                      <p:cBhvr>
                                        <p:cTn id="148" dur="500"/>
                                        <p:tgtEl>
                                          <p:spTgt spid="120"/>
                                        </p:tgtEl>
                                      </p:cBhvr>
                                    </p:animEffect>
                                  </p:childTnLst>
                                </p:cTn>
                              </p:par>
                              <p:par>
                                <p:cTn id="149" presetID="16" presetClass="entr" presetSubtype="21" fill="hold" grpId="0" nodeType="withEffect">
                                  <p:stCondLst>
                                    <p:cond delay="0"/>
                                  </p:stCondLst>
                                  <p:childTnLst>
                                    <p:set>
                                      <p:cBhvr>
                                        <p:cTn id="150" dur="1" fill="hold">
                                          <p:stCondLst>
                                            <p:cond delay="0"/>
                                          </p:stCondLst>
                                        </p:cTn>
                                        <p:tgtEl>
                                          <p:spTgt spid="121"/>
                                        </p:tgtEl>
                                        <p:attrNameLst>
                                          <p:attrName>style.visibility</p:attrName>
                                        </p:attrNameLst>
                                      </p:cBhvr>
                                      <p:to>
                                        <p:strVal val="visible"/>
                                      </p:to>
                                    </p:set>
                                    <p:animEffect transition="in" filter="barn(inVertical)">
                                      <p:cBhvr>
                                        <p:cTn id="151" dur="500"/>
                                        <p:tgtEl>
                                          <p:spTgt spid="121"/>
                                        </p:tgtEl>
                                      </p:cBhvr>
                                    </p:animEffect>
                                  </p:childTnLst>
                                </p:cTn>
                              </p:par>
                              <p:par>
                                <p:cTn id="152" presetID="16" presetClass="entr" presetSubtype="21" fill="hold" grpId="0" nodeType="withEffect">
                                  <p:stCondLst>
                                    <p:cond delay="0"/>
                                  </p:stCondLst>
                                  <p:childTnLst>
                                    <p:set>
                                      <p:cBhvr>
                                        <p:cTn id="153" dur="1" fill="hold">
                                          <p:stCondLst>
                                            <p:cond delay="0"/>
                                          </p:stCondLst>
                                        </p:cTn>
                                        <p:tgtEl>
                                          <p:spTgt spid="122"/>
                                        </p:tgtEl>
                                        <p:attrNameLst>
                                          <p:attrName>style.visibility</p:attrName>
                                        </p:attrNameLst>
                                      </p:cBhvr>
                                      <p:to>
                                        <p:strVal val="visible"/>
                                      </p:to>
                                    </p:set>
                                    <p:animEffect transition="in" filter="barn(inVertical)">
                                      <p:cBhvr>
                                        <p:cTn id="154" dur="500"/>
                                        <p:tgtEl>
                                          <p:spTgt spid="122"/>
                                        </p:tgtEl>
                                      </p:cBhvr>
                                    </p:animEffect>
                                  </p:childTnLst>
                                </p:cTn>
                              </p:par>
                              <p:par>
                                <p:cTn id="155" presetID="16" presetClass="entr" presetSubtype="21" fill="hold" grpId="0" nodeType="withEffect">
                                  <p:stCondLst>
                                    <p:cond delay="0"/>
                                  </p:stCondLst>
                                  <p:childTnLst>
                                    <p:set>
                                      <p:cBhvr>
                                        <p:cTn id="156" dur="1" fill="hold">
                                          <p:stCondLst>
                                            <p:cond delay="0"/>
                                          </p:stCondLst>
                                        </p:cTn>
                                        <p:tgtEl>
                                          <p:spTgt spid="123"/>
                                        </p:tgtEl>
                                        <p:attrNameLst>
                                          <p:attrName>style.visibility</p:attrName>
                                        </p:attrNameLst>
                                      </p:cBhvr>
                                      <p:to>
                                        <p:strVal val="visible"/>
                                      </p:to>
                                    </p:set>
                                    <p:animEffect transition="in" filter="barn(inVertical)">
                                      <p:cBhvr>
                                        <p:cTn id="157" dur="500"/>
                                        <p:tgtEl>
                                          <p:spTgt spid="123"/>
                                        </p:tgtEl>
                                      </p:cBhvr>
                                    </p:animEffect>
                                  </p:childTnLst>
                                </p:cTn>
                              </p:par>
                              <p:par>
                                <p:cTn id="158" presetID="16" presetClass="entr" presetSubtype="21" fill="hold" grpId="0" nodeType="withEffect">
                                  <p:stCondLst>
                                    <p:cond delay="0"/>
                                  </p:stCondLst>
                                  <p:childTnLst>
                                    <p:set>
                                      <p:cBhvr>
                                        <p:cTn id="159" dur="1" fill="hold">
                                          <p:stCondLst>
                                            <p:cond delay="0"/>
                                          </p:stCondLst>
                                        </p:cTn>
                                        <p:tgtEl>
                                          <p:spTgt spid="124"/>
                                        </p:tgtEl>
                                        <p:attrNameLst>
                                          <p:attrName>style.visibility</p:attrName>
                                        </p:attrNameLst>
                                      </p:cBhvr>
                                      <p:to>
                                        <p:strVal val="visible"/>
                                      </p:to>
                                    </p:set>
                                    <p:animEffect transition="in" filter="barn(inVertical)">
                                      <p:cBhvr>
                                        <p:cTn id="160" dur="500"/>
                                        <p:tgtEl>
                                          <p:spTgt spid="124"/>
                                        </p:tgtEl>
                                      </p:cBhvr>
                                    </p:animEffect>
                                  </p:childTnLst>
                                </p:cTn>
                              </p:par>
                              <p:par>
                                <p:cTn id="161" presetID="16" presetClass="entr" presetSubtype="21" fill="hold" grpId="0" nodeType="withEffect">
                                  <p:stCondLst>
                                    <p:cond delay="0"/>
                                  </p:stCondLst>
                                  <p:childTnLst>
                                    <p:set>
                                      <p:cBhvr>
                                        <p:cTn id="162" dur="1" fill="hold">
                                          <p:stCondLst>
                                            <p:cond delay="0"/>
                                          </p:stCondLst>
                                        </p:cTn>
                                        <p:tgtEl>
                                          <p:spTgt spid="125"/>
                                        </p:tgtEl>
                                        <p:attrNameLst>
                                          <p:attrName>style.visibility</p:attrName>
                                        </p:attrNameLst>
                                      </p:cBhvr>
                                      <p:to>
                                        <p:strVal val="visible"/>
                                      </p:to>
                                    </p:set>
                                    <p:animEffect transition="in" filter="barn(inVertical)">
                                      <p:cBhvr>
                                        <p:cTn id="163" dur="500"/>
                                        <p:tgtEl>
                                          <p:spTgt spid="125"/>
                                        </p:tgtEl>
                                      </p:cBhvr>
                                    </p:animEffect>
                                  </p:childTnLst>
                                </p:cTn>
                              </p:par>
                              <p:par>
                                <p:cTn id="164" presetID="16" presetClass="entr" presetSubtype="21" fill="hold" grpId="0" nodeType="withEffect">
                                  <p:stCondLst>
                                    <p:cond delay="0"/>
                                  </p:stCondLst>
                                  <p:childTnLst>
                                    <p:set>
                                      <p:cBhvr>
                                        <p:cTn id="165" dur="1" fill="hold">
                                          <p:stCondLst>
                                            <p:cond delay="0"/>
                                          </p:stCondLst>
                                        </p:cTn>
                                        <p:tgtEl>
                                          <p:spTgt spid="126"/>
                                        </p:tgtEl>
                                        <p:attrNameLst>
                                          <p:attrName>style.visibility</p:attrName>
                                        </p:attrNameLst>
                                      </p:cBhvr>
                                      <p:to>
                                        <p:strVal val="visible"/>
                                      </p:to>
                                    </p:set>
                                    <p:animEffect transition="in" filter="barn(inVertical)">
                                      <p:cBhvr>
                                        <p:cTn id="166" dur="500"/>
                                        <p:tgtEl>
                                          <p:spTgt spid="126"/>
                                        </p:tgtEl>
                                      </p:cBhvr>
                                    </p:animEffect>
                                  </p:childTnLst>
                                </p:cTn>
                              </p:par>
                              <p:par>
                                <p:cTn id="167" presetID="16" presetClass="entr" presetSubtype="21" fill="hold" grpId="0" nodeType="withEffect">
                                  <p:stCondLst>
                                    <p:cond delay="0"/>
                                  </p:stCondLst>
                                  <p:childTnLst>
                                    <p:set>
                                      <p:cBhvr>
                                        <p:cTn id="168" dur="1" fill="hold">
                                          <p:stCondLst>
                                            <p:cond delay="0"/>
                                          </p:stCondLst>
                                        </p:cTn>
                                        <p:tgtEl>
                                          <p:spTgt spid="127"/>
                                        </p:tgtEl>
                                        <p:attrNameLst>
                                          <p:attrName>style.visibility</p:attrName>
                                        </p:attrNameLst>
                                      </p:cBhvr>
                                      <p:to>
                                        <p:strVal val="visible"/>
                                      </p:to>
                                    </p:set>
                                    <p:animEffect transition="in" filter="barn(inVertical)">
                                      <p:cBhvr>
                                        <p:cTn id="169" dur="500"/>
                                        <p:tgtEl>
                                          <p:spTgt spid="127"/>
                                        </p:tgtEl>
                                      </p:cBhvr>
                                    </p:animEffect>
                                  </p:childTnLst>
                                </p:cTn>
                              </p:par>
                              <p:par>
                                <p:cTn id="170" presetID="16" presetClass="entr" presetSubtype="21" fill="hold" grpId="0" nodeType="withEffect">
                                  <p:stCondLst>
                                    <p:cond delay="0"/>
                                  </p:stCondLst>
                                  <p:childTnLst>
                                    <p:set>
                                      <p:cBhvr>
                                        <p:cTn id="171" dur="1" fill="hold">
                                          <p:stCondLst>
                                            <p:cond delay="0"/>
                                          </p:stCondLst>
                                        </p:cTn>
                                        <p:tgtEl>
                                          <p:spTgt spid="128"/>
                                        </p:tgtEl>
                                        <p:attrNameLst>
                                          <p:attrName>style.visibility</p:attrName>
                                        </p:attrNameLst>
                                      </p:cBhvr>
                                      <p:to>
                                        <p:strVal val="visible"/>
                                      </p:to>
                                    </p:set>
                                    <p:animEffect transition="in" filter="barn(inVertical)">
                                      <p:cBhvr>
                                        <p:cTn id="172" dur="500"/>
                                        <p:tgtEl>
                                          <p:spTgt spid="128"/>
                                        </p:tgtEl>
                                      </p:cBhvr>
                                    </p:animEffect>
                                  </p:childTnLst>
                                </p:cTn>
                              </p:par>
                              <p:par>
                                <p:cTn id="173" presetID="16" presetClass="entr" presetSubtype="21" fill="hold" grpId="0" nodeType="withEffect">
                                  <p:stCondLst>
                                    <p:cond delay="0"/>
                                  </p:stCondLst>
                                  <p:childTnLst>
                                    <p:set>
                                      <p:cBhvr>
                                        <p:cTn id="174" dur="1" fill="hold">
                                          <p:stCondLst>
                                            <p:cond delay="0"/>
                                          </p:stCondLst>
                                        </p:cTn>
                                        <p:tgtEl>
                                          <p:spTgt spid="129"/>
                                        </p:tgtEl>
                                        <p:attrNameLst>
                                          <p:attrName>style.visibility</p:attrName>
                                        </p:attrNameLst>
                                      </p:cBhvr>
                                      <p:to>
                                        <p:strVal val="visible"/>
                                      </p:to>
                                    </p:set>
                                    <p:animEffect transition="in" filter="barn(inVertical)">
                                      <p:cBhvr>
                                        <p:cTn id="175" dur="500"/>
                                        <p:tgtEl>
                                          <p:spTgt spid="129"/>
                                        </p:tgtEl>
                                      </p:cBhvr>
                                    </p:animEffect>
                                  </p:childTnLst>
                                </p:cTn>
                              </p:par>
                              <p:par>
                                <p:cTn id="176" presetID="16" presetClass="entr" presetSubtype="21" fill="hold" grpId="0" nodeType="withEffect">
                                  <p:stCondLst>
                                    <p:cond delay="0"/>
                                  </p:stCondLst>
                                  <p:childTnLst>
                                    <p:set>
                                      <p:cBhvr>
                                        <p:cTn id="177" dur="1" fill="hold">
                                          <p:stCondLst>
                                            <p:cond delay="0"/>
                                          </p:stCondLst>
                                        </p:cTn>
                                        <p:tgtEl>
                                          <p:spTgt spid="130"/>
                                        </p:tgtEl>
                                        <p:attrNameLst>
                                          <p:attrName>style.visibility</p:attrName>
                                        </p:attrNameLst>
                                      </p:cBhvr>
                                      <p:to>
                                        <p:strVal val="visible"/>
                                      </p:to>
                                    </p:set>
                                    <p:animEffect transition="in" filter="barn(inVertical)">
                                      <p:cBhvr>
                                        <p:cTn id="178" dur="500"/>
                                        <p:tgtEl>
                                          <p:spTgt spid="130"/>
                                        </p:tgtEl>
                                      </p:cBhvr>
                                    </p:animEffect>
                                  </p:childTnLst>
                                </p:cTn>
                              </p:par>
                              <p:par>
                                <p:cTn id="179" presetID="16" presetClass="entr" presetSubtype="21" fill="hold" grpId="0" nodeType="withEffect">
                                  <p:stCondLst>
                                    <p:cond delay="0"/>
                                  </p:stCondLst>
                                  <p:childTnLst>
                                    <p:set>
                                      <p:cBhvr>
                                        <p:cTn id="180" dur="1" fill="hold">
                                          <p:stCondLst>
                                            <p:cond delay="0"/>
                                          </p:stCondLst>
                                        </p:cTn>
                                        <p:tgtEl>
                                          <p:spTgt spid="131"/>
                                        </p:tgtEl>
                                        <p:attrNameLst>
                                          <p:attrName>style.visibility</p:attrName>
                                        </p:attrNameLst>
                                      </p:cBhvr>
                                      <p:to>
                                        <p:strVal val="visible"/>
                                      </p:to>
                                    </p:set>
                                    <p:animEffect transition="in" filter="barn(inVertical)">
                                      <p:cBhvr>
                                        <p:cTn id="181" dur="500"/>
                                        <p:tgtEl>
                                          <p:spTgt spid="131"/>
                                        </p:tgtEl>
                                      </p:cBhvr>
                                    </p:animEffect>
                                  </p:childTnLst>
                                </p:cTn>
                              </p:par>
                              <p:par>
                                <p:cTn id="182" presetID="16" presetClass="entr" presetSubtype="21" fill="hold" grpId="0" nodeType="withEffect">
                                  <p:stCondLst>
                                    <p:cond delay="0"/>
                                  </p:stCondLst>
                                  <p:childTnLst>
                                    <p:set>
                                      <p:cBhvr>
                                        <p:cTn id="183" dur="1" fill="hold">
                                          <p:stCondLst>
                                            <p:cond delay="0"/>
                                          </p:stCondLst>
                                        </p:cTn>
                                        <p:tgtEl>
                                          <p:spTgt spid="132"/>
                                        </p:tgtEl>
                                        <p:attrNameLst>
                                          <p:attrName>style.visibility</p:attrName>
                                        </p:attrNameLst>
                                      </p:cBhvr>
                                      <p:to>
                                        <p:strVal val="visible"/>
                                      </p:to>
                                    </p:set>
                                    <p:animEffect transition="in" filter="barn(inVertical)">
                                      <p:cBhvr>
                                        <p:cTn id="184" dur="500"/>
                                        <p:tgtEl>
                                          <p:spTgt spid="132"/>
                                        </p:tgtEl>
                                      </p:cBhvr>
                                    </p:animEffect>
                                  </p:childTnLst>
                                </p:cTn>
                              </p:par>
                              <p:par>
                                <p:cTn id="185" presetID="16" presetClass="entr" presetSubtype="21" fill="hold" grpId="0" nodeType="withEffect">
                                  <p:stCondLst>
                                    <p:cond delay="0"/>
                                  </p:stCondLst>
                                  <p:childTnLst>
                                    <p:set>
                                      <p:cBhvr>
                                        <p:cTn id="186" dur="1" fill="hold">
                                          <p:stCondLst>
                                            <p:cond delay="0"/>
                                          </p:stCondLst>
                                        </p:cTn>
                                        <p:tgtEl>
                                          <p:spTgt spid="133"/>
                                        </p:tgtEl>
                                        <p:attrNameLst>
                                          <p:attrName>style.visibility</p:attrName>
                                        </p:attrNameLst>
                                      </p:cBhvr>
                                      <p:to>
                                        <p:strVal val="visible"/>
                                      </p:to>
                                    </p:set>
                                    <p:animEffect transition="in" filter="barn(inVertical)">
                                      <p:cBhvr>
                                        <p:cTn id="187" dur="500"/>
                                        <p:tgtEl>
                                          <p:spTgt spid="133"/>
                                        </p:tgtEl>
                                      </p:cBhvr>
                                    </p:animEffect>
                                  </p:childTnLst>
                                </p:cTn>
                              </p:par>
                              <p:par>
                                <p:cTn id="188" presetID="16" presetClass="entr" presetSubtype="21" fill="hold" grpId="0" nodeType="withEffect">
                                  <p:stCondLst>
                                    <p:cond delay="0"/>
                                  </p:stCondLst>
                                  <p:childTnLst>
                                    <p:set>
                                      <p:cBhvr>
                                        <p:cTn id="189" dur="1" fill="hold">
                                          <p:stCondLst>
                                            <p:cond delay="0"/>
                                          </p:stCondLst>
                                        </p:cTn>
                                        <p:tgtEl>
                                          <p:spTgt spid="134"/>
                                        </p:tgtEl>
                                        <p:attrNameLst>
                                          <p:attrName>style.visibility</p:attrName>
                                        </p:attrNameLst>
                                      </p:cBhvr>
                                      <p:to>
                                        <p:strVal val="visible"/>
                                      </p:to>
                                    </p:set>
                                    <p:animEffect transition="in" filter="barn(inVertical)">
                                      <p:cBhvr>
                                        <p:cTn id="190" dur="500"/>
                                        <p:tgtEl>
                                          <p:spTgt spid="134"/>
                                        </p:tgtEl>
                                      </p:cBhvr>
                                    </p:animEffect>
                                  </p:childTnLst>
                                </p:cTn>
                              </p:par>
                              <p:par>
                                <p:cTn id="191" presetID="16" presetClass="entr" presetSubtype="21" fill="hold" grpId="0" nodeType="withEffect">
                                  <p:stCondLst>
                                    <p:cond delay="0"/>
                                  </p:stCondLst>
                                  <p:childTnLst>
                                    <p:set>
                                      <p:cBhvr>
                                        <p:cTn id="192" dur="1" fill="hold">
                                          <p:stCondLst>
                                            <p:cond delay="0"/>
                                          </p:stCondLst>
                                        </p:cTn>
                                        <p:tgtEl>
                                          <p:spTgt spid="135"/>
                                        </p:tgtEl>
                                        <p:attrNameLst>
                                          <p:attrName>style.visibility</p:attrName>
                                        </p:attrNameLst>
                                      </p:cBhvr>
                                      <p:to>
                                        <p:strVal val="visible"/>
                                      </p:to>
                                    </p:set>
                                    <p:animEffect transition="in" filter="barn(inVertical)">
                                      <p:cBhvr>
                                        <p:cTn id="193" dur="500"/>
                                        <p:tgtEl>
                                          <p:spTgt spid="135"/>
                                        </p:tgtEl>
                                      </p:cBhvr>
                                    </p:animEffect>
                                  </p:childTnLst>
                                </p:cTn>
                              </p:par>
                              <p:par>
                                <p:cTn id="194" presetID="16" presetClass="entr" presetSubtype="21" fill="hold" grpId="0" nodeType="withEffect">
                                  <p:stCondLst>
                                    <p:cond delay="0"/>
                                  </p:stCondLst>
                                  <p:childTnLst>
                                    <p:set>
                                      <p:cBhvr>
                                        <p:cTn id="195" dur="1" fill="hold">
                                          <p:stCondLst>
                                            <p:cond delay="0"/>
                                          </p:stCondLst>
                                        </p:cTn>
                                        <p:tgtEl>
                                          <p:spTgt spid="136"/>
                                        </p:tgtEl>
                                        <p:attrNameLst>
                                          <p:attrName>style.visibility</p:attrName>
                                        </p:attrNameLst>
                                      </p:cBhvr>
                                      <p:to>
                                        <p:strVal val="visible"/>
                                      </p:to>
                                    </p:set>
                                    <p:animEffect transition="in" filter="barn(inVertical)">
                                      <p:cBhvr>
                                        <p:cTn id="196"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4" grpId="0" animBg="1"/>
      <p:bldP spid="85" grpId="0" animBg="1"/>
      <p:bldP spid="86" grpId="0" animBg="1"/>
      <p:bldP spid="87" grpId="0" animBg="1"/>
      <p:bldP spid="88" grpId="0" animBg="1"/>
      <p:bldP spid="2" grpId="0" animBg="1"/>
      <p:bldP spid="21" grpId="0" animBg="1"/>
      <p:bldP spid="22" grpId="0" animBg="1"/>
      <p:bldP spid="23" grpId="0" animBg="1"/>
      <p:bldP spid="25" grpId="0" animBg="1"/>
      <p:bldP spid="26"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637591" y="1239162"/>
            <a:ext cx="825488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4000" i="1" dirty="0">
                <a:effectLst>
                  <a:outerShdw blurRad="38100" dist="38100" dir="2700000" algn="tl">
                    <a:srgbClr val="000000"/>
                  </a:outerShdw>
                </a:effectLst>
                <a:ea typeface="宋体" panose="02010600030101010101" pitchFamily="2" charset="-122"/>
              </a:rPr>
              <a:t>P2mm; </a:t>
            </a:r>
            <a:r>
              <a:rPr lang="en-US" altLang="zh-CN" sz="4000" i="1" dirty="0">
                <a:solidFill>
                  <a:srgbClr val="FF3399"/>
                </a:solidFill>
                <a:effectLst>
                  <a:outerShdw blurRad="38100" dist="38100" dir="2700000" algn="tl">
                    <a:srgbClr val="000000"/>
                  </a:outerShdw>
                </a:effectLst>
                <a:ea typeface="宋体" panose="02010600030101010101" pitchFamily="2" charset="-122"/>
              </a:rPr>
              <a:t>P2mg</a:t>
            </a:r>
            <a:r>
              <a:rPr lang="en-US" altLang="zh-CN" sz="4000" i="1" dirty="0">
                <a:effectLst>
                  <a:outerShdw blurRad="38100" dist="38100" dir="2700000" algn="tl">
                    <a:srgbClr val="000000"/>
                  </a:outerShdw>
                </a:effectLst>
                <a:ea typeface="宋体" panose="02010600030101010101" pitchFamily="2" charset="-122"/>
              </a:rPr>
              <a:t>; P2gg ?</a:t>
            </a:r>
          </a:p>
          <a:p>
            <a:endParaRPr lang="en-US" altLang="zh-CN" sz="4000" i="1" dirty="0">
              <a:solidFill>
                <a:srgbClr val="FF0066"/>
              </a:solidFill>
              <a:effectLst>
                <a:outerShdw blurRad="38100" dist="38100" dir="2700000" algn="tl">
                  <a:srgbClr val="000000"/>
                </a:outerShdw>
              </a:effectLst>
            </a:endParaRPr>
          </a:p>
          <a:p>
            <a:pPr marL="571500" indent="-571500">
              <a:buFont typeface="Wingdings" panose="05000000000000000000" pitchFamily="2" charset="2"/>
              <a:buChar char="ü"/>
            </a:pPr>
            <a:r>
              <a:rPr lang="en-US" altLang="zh-CN" sz="4000" i="1" dirty="0">
                <a:solidFill>
                  <a:srgbClr val="FF0066"/>
                </a:solidFill>
                <a:effectLst>
                  <a:outerShdw blurRad="38100" dist="38100" dir="2700000" algn="tl">
                    <a:srgbClr val="000000"/>
                  </a:outerShdw>
                </a:effectLst>
                <a:ea typeface="宋体" panose="02010600030101010101" pitchFamily="2" charset="-122"/>
              </a:rPr>
              <a:t>P2 </a:t>
            </a:r>
          </a:p>
          <a:p>
            <a:endParaRPr lang="en-US" altLang="zh-CN" sz="4000" i="1" dirty="0">
              <a:solidFill>
                <a:srgbClr val="FF0066"/>
              </a:solidFill>
              <a:effectLst>
                <a:outerShdw blurRad="38100" dist="38100" dir="2700000" algn="tl">
                  <a:srgbClr val="000000"/>
                </a:outerShdw>
              </a:effectLst>
            </a:endParaRPr>
          </a:p>
          <a:p>
            <a:r>
              <a:rPr lang="en-US" altLang="zh-CN" sz="4000" i="1" dirty="0">
                <a:solidFill>
                  <a:srgbClr val="FF0066"/>
                </a:solidFill>
                <a:effectLst>
                  <a:outerShdw blurRad="38100" dist="38100" dir="2700000" algn="tl">
                    <a:srgbClr val="000000"/>
                  </a:outerShdw>
                </a:effectLst>
                <a:ea typeface="宋体" panose="02010600030101010101" pitchFamily="2" charset="-122"/>
              </a:rPr>
              <a:t>m? g?</a:t>
            </a:r>
          </a:p>
          <a:p>
            <a:endParaRPr lang="en-US" altLang="zh-CN" sz="4000" i="1" dirty="0">
              <a:solidFill>
                <a:srgbClr val="FF0066"/>
              </a:solidFill>
              <a:effectLst>
                <a:outerShdw blurRad="38100" dist="38100" dir="2700000" algn="tl">
                  <a:srgbClr val="000000"/>
                </a:outerShdw>
              </a:effectLst>
              <a:ea typeface="宋体" panose="02010600030101010101" pitchFamily="2" charset="-122"/>
            </a:endParaRPr>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173" t="22080" b="51916"/>
          <a:stretch>
            <a:fillRect/>
          </a:stretch>
        </p:blipFill>
        <p:spPr bwMode="auto">
          <a:xfrm>
            <a:off x="315141" y="4539627"/>
            <a:ext cx="6273083" cy="1679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4" name="Straight Connector 53"/>
          <p:cNvCxnSpPr/>
          <p:nvPr/>
        </p:nvCxnSpPr>
        <p:spPr>
          <a:xfrm>
            <a:off x="4789071" y="2724980"/>
            <a:ext cx="1799153" cy="0"/>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2897294" y="251687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p:cNvGrpSpPr/>
          <p:nvPr/>
        </p:nvGrpSpPr>
        <p:grpSpPr>
          <a:xfrm>
            <a:off x="2753898" y="2380906"/>
            <a:ext cx="295347" cy="297267"/>
            <a:chOff x="6154268" y="3368295"/>
            <a:chExt cx="449503" cy="452425"/>
          </a:xfrm>
        </p:grpSpPr>
        <p:sp>
          <p:nvSpPr>
            <p:cNvPr id="57" name="Oval 56"/>
            <p:cNvSpPr/>
            <p:nvPr/>
          </p:nvSpPr>
          <p:spPr>
            <a:xfrm>
              <a:off x="6347530" y="3492643"/>
              <a:ext cx="54200" cy="192101"/>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154268" y="3368295"/>
              <a:ext cx="75283" cy="752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6528488" y="3745437"/>
              <a:ext cx="75283" cy="752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ectangle 59"/>
          <p:cNvSpPr/>
          <p:nvPr/>
        </p:nvSpPr>
        <p:spPr>
          <a:xfrm>
            <a:off x="4923191" y="250820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4779800" y="2372239"/>
            <a:ext cx="295347" cy="458154"/>
            <a:chOff x="4626306" y="2372239"/>
            <a:chExt cx="295347" cy="458154"/>
          </a:xfrm>
        </p:grpSpPr>
        <p:sp>
          <p:nvSpPr>
            <p:cNvPr id="62" name="Oval 61"/>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 name="Rectangle 66"/>
          <p:cNvSpPr/>
          <p:nvPr/>
        </p:nvSpPr>
        <p:spPr>
          <a:xfrm>
            <a:off x="6949696" y="251067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9" name="Group 148"/>
          <p:cNvGrpSpPr/>
          <p:nvPr/>
        </p:nvGrpSpPr>
        <p:grpSpPr>
          <a:xfrm rot="16200000">
            <a:off x="4781487" y="2781034"/>
            <a:ext cx="295347" cy="297267"/>
            <a:chOff x="6154268" y="3368295"/>
            <a:chExt cx="449503" cy="452425"/>
          </a:xfrm>
        </p:grpSpPr>
        <p:sp>
          <p:nvSpPr>
            <p:cNvPr id="150" name="Oval 149"/>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3" name="Straight Connector 152"/>
          <p:cNvCxnSpPr/>
          <p:nvPr/>
        </p:nvCxnSpPr>
        <p:spPr>
          <a:xfrm>
            <a:off x="6824747" y="2724980"/>
            <a:ext cx="1799153" cy="0"/>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grpSp>
        <p:nvGrpSpPr>
          <p:cNvPr id="154" name="Group 153"/>
          <p:cNvGrpSpPr/>
          <p:nvPr/>
        </p:nvGrpSpPr>
        <p:grpSpPr>
          <a:xfrm>
            <a:off x="6815476" y="2372239"/>
            <a:ext cx="295347" cy="458154"/>
            <a:chOff x="4626306" y="2372239"/>
            <a:chExt cx="295347" cy="458154"/>
          </a:xfrm>
        </p:grpSpPr>
        <p:sp>
          <p:nvSpPr>
            <p:cNvPr id="155" name="Oval 154"/>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9" name="Group 158"/>
          <p:cNvGrpSpPr/>
          <p:nvPr/>
        </p:nvGrpSpPr>
        <p:grpSpPr>
          <a:xfrm rot="16200000">
            <a:off x="6817163" y="2781034"/>
            <a:ext cx="295347" cy="297267"/>
            <a:chOff x="6154268" y="3368295"/>
            <a:chExt cx="449503" cy="452425"/>
          </a:xfrm>
        </p:grpSpPr>
        <p:sp>
          <p:nvSpPr>
            <p:cNvPr id="160" name="Oval 159"/>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161"/>
          <p:cNvGrpSpPr/>
          <p:nvPr/>
        </p:nvGrpSpPr>
        <p:grpSpPr>
          <a:xfrm>
            <a:off x="8367830" y="2361606"/>
            <a:ext cx="295347" cy="458154"/>
            <a:chOff x="4626306" y="2372239"/>
            <a:chExt cx="295347" cy="458154"/>
          </a:xfrm>
        </p:grpSpPr>
        <p:sp>
          <p:nvSpPr>
            <p:cNvPr id="163" name="Oval 162"/>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p:cNvGrpSpPr/>
          <p:nvPr/>
        </p:nvGrpSpPr>
        <p:grpSpPr>
          <a:xfrm rot="16200000">
            <a:off x="8369517" y="2770401"/>
            <a:ext cx="295347" cy="297267"/>
            <a:chOff x="6154268" y="3368295"/>
            <a:chExt cx="449503" cy="452425"/>
          </a:xfrm>
        </p:grpSpPr>
        <p:sp>
          <p:nvSpPr>
            <p:cNvPr id="168" name="Oval 167"/>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0" name="Group 169"/>
          <p:cNvGrpSpPr/>
          <p:nvPr/>
        </p:nvGrpSpPr>
        <p:grpSpPr>
          <a:xfrm>
            <a:off x="6815476" y="3233476"/>
            <a:ext cx="295347" cy="458154"/>
            <a:chOff x="4626306" y="2372239"/>
            <a:chExt cx="295347" cy="458154"/>
          </a:xfrm>
        </p:grpSpPr>
        <p:sp>
          <p:nvSpPr>
            <p:cNvPr id="171" name="Oval 170"/>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 name="Group 174"/>
          <p:cNvGrpSpPr/>
          <p:nvPr/>
        </p:nvGrpSpPr>
        <p:grpSpPr>
          <a:xfrm rot="16200000">
            <a:off x="6817163" y="3642271"/>
            <a:ext cx="295347" cy="297267"/>
            <a:chOff x="6154268" y="3368295"/>
            <a:chExt cx="449503" cy="452425"/>
          </a:xfrm>
        </p:grpSpPr>
        <p:sp>
          <p:nvSpPr>
            <p:cNvPr id="176" name="Oval 175"/>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8" name="Group 177"/>
          <p:cNvGrpSpPr/>
          <p:nvPr/>
        </p:nvGrpSpPr>
        <p:grpSpPr>
          <a:xfrm>
            <a:off x="8378462" y="3233476"/>
            <a:ext cx="295347" cy="458154"/>
            <a:chOff x="4626306" y="2372239"/>
            <a:chExt cx="295347" cy="458154"/>
          </a:xfrm>
        </p:grpSpPr>
        <p:sp>
          <p:nvSpPr>
            <p:cNvPr id="179" name="Oval 178"/>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p:cNvGrpSpPr/>
          <p:nvPr/>
        </p:nvGrpSpPr>
        <p:grpSpPr>
          <a:xfrm rot="16200000">
            <a:off x="8380149" y="3642271"/>
            <a:ext cx="295347" cy="297267"/>
            <a:chOff x="6154268" y="3368295"/>
            <a:chExt cx="449503" cy="452425"/>
          </a:xfrm>
        </p:grpSpPr>
        <p:sp>
          <p:nvSpPr>
            <p:cNvPr id="184" name="Oval 183"/>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6" name="Rectangle 185"/>
          <p:cNvSpPr/>
          <p:nvPr/>
        </p:nvSpPr>
        <p:spPr>
          <a:xfrm>
            <a:off x="7021704" y="4737405"/>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7" name="Straight Connector 186"/>
          <p:cNvCxnSpPr/>
          <p:nvPr/>
        </p:nvCxnSpPr>
        <p:spPr>
          <a:xfrm>
            <a:off x="6896755" y="4951706"/>
            <a:ext cx="1799153" cy="0"/>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grpSp>
        <p:nvGrpSpPr>
          <p:cNvPr id="188" name="Group 187"/>
          <p:cNvGrpSpPr/>
          <p:nvPr/>
        </p:nvGrpSpPr>
        <p:grpSpPr>
          <a:xfrm>
            <a:off x="6887484" y="4598965"/>
            <a:ext cx="295347" cy="458154"/>
            <a:chOff x="4626306" y="2372239"/>
            <a:chExt cx="295347" cy="458154"/>
          </a:xfrm>
        </p:grpSpPr>
        <p:sp>
          <p:nvSpPr>
            <p:cNvPr id="189" name="Oval 188"/>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3" name="Group 192"/>
          <p:cNvGrpSpPr/>
          <p:nvPr/>
        </p:nvGrpSpPr>
        <p:grpSpPr>
          <a:xfrm rot="16200000">
            <a:off x="6889171" y="5007760"/>
            <a:ext cx="295347" cy="297267"/>
            <a:chOff x="6154268" y="3368295"/>
            <a:chExt cx="449503" cy="452425"/>
          </a:xfrm>
        </p:grpSpPr>
        <p:sp>
          <p:nvSpPr>
            <p:cNvPr id="194" name="Oval 193"/>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 name="Group 195"/>
          <p:cNvGrpSpPr/>
          <p:nvPr/>
        </p:nvGrpSpPr>
        <p:grpSpPr>
          <a:xfrm>
            <a:off x="8439838" y="4588332"/>
            <a:ext cx="295347" cy="458154"/>
            <a:chOff x="4626306" y="2372239"/>
            <a:chExt cx="295347" cy="458154"/>
          </a:xfrm>
        </p:grpSpPr>
        <p:sp>
          <p:nvSpPr>
            <p:cNvPr id="197" name="Oval 196"/>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 name="Group 200"/>
          <p:cNvGrpSpPr/>
          <p:nvPr/>
        </p:nvGrpSpPr>
        <p:grpSpPr>
          <a:xfrm rot="16200000">
            <a:off x="8441525" y="4997127"/>
            <a:ext cx="295347" cy="297267"/>
            <a:chOff x="6154268" y="3368295"/>
            <a:chExt cx="449503" cy="452425"/>
          </a:xfrm>
        </p:grpSpPr>
        <p:sp>
          <p:nvSpPr>
            <p:cNvPr id="202" name="Oval 201"/>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4" name="Group 203"/>
          <p:cNvGrpSpPr/>
          <p:nvPr/>
        </p:nvGrpSpPr>
        <p:grpSpPr>
          <a:xfrm>
            <a:off x="6887484" y="5460202"/>
            <a:ext cx="295347" cy="458154"/>
            <a:chOff x="4626306" y="2372239"/>
            <a:chExt cx="295347" cy="458154"/>
          </a:xfrm>
        </p:grpSpPr>
        <p:sp>
          <p:nvSpPr>
            <p:cNvPr id="205" name="Oval 204"/>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 name="Group 208"/>
          <p:cNvGrpSpPr/>
          <p:nvPr/>
        </p:nvGrpSpPr>
        <p:grpSpPr>
          <a:xfrm rot="16200000">
            <a:off x="6889171" y="5868997"/>
            <a:ext cx="295347" cy="297267"/>
            <a:chOff x="6154268" y="3368295"/>
            <a:chExt cx="449503" cy="452425"/>
          </a:xfrm>
        </p:grpSpPr>
        <p:sp>
          <p:nvSpPr>
            <p:cNvPr id="210" name="Oval 209"/>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2" name="Group 211"/>
          <p:cNvGrpSpPr/>
          <p:nvPr/>
        </p:nvGrpSpPr>
        <p:grpSpPr>
          <a:xfrm>
            <a:off x="8450470" y="5460202"/>
            <a:ext cx="295347" cy="458154"/>
            <a:chOff x="4626306" y="2372239"/>
            <a:chExt cx="295347" cy="458154"/>
          </a:xfrm>
        </p:grpSpPr>
        <p:sp>
          <p:nvSpPr>
            <p:cNvPr id="213" name="Oval 212"/>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rot="10800000">
              <a:off x="4872188" y="2780928"/>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 name="Group 216"/>
          <p:cNvGrpSpPr/>
          <p:nvPr/>
        </p:nvGrpSpPr>
        <p:grpSpPr>
          <a:xfrm rot="16200000">
            <a:off x="8452157" y="5868997"/>
            <a:ext cx="295347" cy="297267"/>
            <a:chOff x="6154268" y="3368295"/>
            <a:chExt cx="449503" cy="452425"/>
          </a:xfrm>
        </p:grpSpPr>
        <p:sp>
          <p:nvSpPr>
            <p:cNvPr id="218" name="Oval 217"/>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0" name="Straight Connector 219"/>
          <p:cNvCxnSpPr/>
          <p:nvPr/>
        </p:nvCxnSpPr>
        <p:spPr>
          <a:xfrm>
            <a:off x="6884879" y="5379218"/>
            <a:ext cx="1799153" cy="0"/>
          </a:xfrm>
          <a:prstGeom prst="line">
            <a:avLst/>
          </a:prstGeom>
          <a:ln w="5715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014467" y="4528957"/>
            <a:ext cx="0" cy="133109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a:off x="8582009" y="4517082"/>
            <a:ext cx="0" cy="133109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a:off x="7808317" y="4528957"/>
            <a:ext cx="0" cy="1331090"/>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92" name="Rectangle 91"/>
          <p:cNvSpPr/>
          <p:nvPr/>
        </p:nvSpPr>
        <p:spPr>
          <a:xfrm>
            <a:off x="1541339" y="320208"/>
            <a:ext cx="6977985" cy="584775"/>
          </a:xfrm>
          <a:prstGeom prst="rect">
            <a:avLst/>
          </a:prstGeom>
        </p:spPr>
        <p:txBody>
          <a:bodyPr wrap="square">
            <a:spAutoFit/>
          </a:bodyPr>
          <a:lstStyle/>
          <a:p>
            <a:r>
              <a:rPr lang="en-US" altLang="zh-CN" sz="3200" dirty="0">
                <a:latin typeface="+mj-lt"/>
                <a:cs typeface="Times New Roman" panose="02020603050405020304" pitchFamily="18" charset="0"/>
              </a:rPr>
              <a:t>Representation of 2D space groups</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arn(inVertical)">
                                      <p:cBhvr>
                                        <p:cTn id="7" dur="500"/>
                                        <p:tgtEl>
                                          <p:spTgt spid="5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barn(inVertical)">
                                      <p:cBhvr>
                                        <p:cTn id="10" dur="500"/>
                                        <p:tgtEl>
                                          <p:spTgt spid="60"/>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par>
                                <p:cTn id="14" presetID="16" presetClass="entr" presetSubtype="21" fill="hold" nodeType="withEffect">
                                  <p:stCondLst>
                                    <p:cond delay="0"/>
                                  </p:stCondLst>
                                  <p:childTnLst>
                                    <p:set>
                                      <p:cBhvr>
                                        <p:cTn id="15" dur="1" fill="hold">
                                          <p:stCondLst>
                                            <p:cond delay="0"/>
                                          </p:stCondLst>
                                        </p:cTn>
                                        <p:tgtEl>
                                          <p:spTgt spid="149"/>
                                        </p:tgtEl>
                                        <p:attrNameLst>
                                          <p:attrName>style.visibility</p:attrName>
                                        </p:attrNameLst>
                                      </p:cBhvr>
                                      <p:to>
                                        <p:strVal val="visible"/>
                                      </p:to>
                                    </p:set>
                                    <p:animEffect transition="in" filter="barn(inVertical)">
                                      <p:cBhvr>
                                        <p:cTn id="16" dur="500"/>
                                        <p:tgtEl>
                                          <p:spTgt spid="149"/>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barn(inVertical)">
                                      <p:cBhvr>
                                        <p:cTn id="21" dur="500"/>
                                        <p:tgtEl>
                                          <p:spTgt spid="67"/>
                                        </p:tgtEl>
                                      </p:cBhvr>
                                    </p:animEffect>
                                  </p:childTnLst>
                                </p:cTn>
                              </p:par>
                              <p:par>
                                <p:cTn id="22" presetID="16" presetClass="entr" presetSubtype="21" fill="hold" nodeType="withEffect">
                                  <p:stCondLst>
                                    <p:cond delay="0"/>
                                  </p:stCondLst>
                                  <p:childTnLst>
                                    <p:set>
                                      <p:cBhvr>
                                        <p:cTn id="23" dur="1" fill="hold">
                                          <p:stCondLst>
                                            <p:cond delay="0"/>
                                          </p:stCondLst>
                                        </p:cTn>
                                        <p:tgtEl>
                                          <p:spTgt spid="153"/>
                                        </p:tgtEl>
                                        <p:attrNameLst>
                                          <p:attrName>style.visibility</p:attrName>
                                        </p:attrNameLst>
                                      </p:cBhvr>
                                      <p:to>
                                        <p:strVal val="visible"/>
                                      </p:to>
                                    </p:set>
                                    <p:animEffect transition="in" filter="barn(inVertical)">
                                      <p:cBhvr>
                                        <p:cTn id="24" dur="500"/>
                                        <p:tgtEl>
                                          <p:spTgt spid="153"/>
                                        </p:tgtEl>
                                      </p:cBhvr>
                                    </p:animEffect>
                                  </p:childTnLst>
                                </p:cTn>
                              </p:par>
                              <p:par>
                                <p:cTn id="25" presetID="16" presetClass="entr" presetSubtype="21" fill="hold" nodeType="withEffect">
                                  <p:stCondLst>
                                    <p:cond delay="0"/>
                                  </p:stCondLst>
                                  <p:childTnLst>
                                    <p:set>
                                      <p:cBhvr>
                                        <p:cTn id="26" dur="1" fill="hold">
                                          <p:stCondLst>
                                            <p:cond delay="0"/>
                                          </p:stCondLst>
                                        </p:cTn>
                                        <p:tgtEl>
                                          <p:spTgt spid="154"/>
                                        </p:tgtEl>
                                        <p:attrNameLst>
                                          <p:attrName>style.visibility</p:attrName>
                                        </p:attrNameLst>
                                      </p:cBhvr>
                                      <p:to>
                                        <p:strVal val="visible"/>
                                      </p:to>
                                    </p:set>
                                    <p:animEffect transition="in" filter="barn(inVertical)">
                                      <p:cBhvr>
                                        <p:cTn id="27" dur="500"/>
                                        <p:tgtEl>
                                          <p:spTgt spid="154"/>
                                        </p:tgtEl>
                                      </p:cBhvr>
                                    </p:animEffect>
                                  </p:childTnLst>
                                </p:cTn>
                              </p:par>
                              <p:par>
                                <p:cTn id="28" presetID="16" presetClass="entr" presetSubtype="21" fill="hold" nodeType="with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barn(inVertical)">
                                      <p:cBhvr>
                                        <p:cTn id="30" dur="500"/>
                                        <p:tgtEl>
                                          <p:spTgt spid="159"/>
                                        </p:tgtEl>
                                      </p:cBhvr>
                                    </p:animEffect>
                                  </p:childTnLst>
                                </p:cTn>
                              </p:par>
                              <p:par>
                                <p:cTn id="31" presetID="16" presetClass="entr" presetSubtype="21"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animEffect transition="in" filter="barn(inVertical)">
                                      <p:cBhvr>
                                        <p:cTn id="33" dur="500"/>
                                        <p:tgtEl>
                                          <p:spTgt spid="162"/>
                                        </p:tgtEl>
                                      </p:cBhvr>
                                    </p:animEffect>
                                  </p:childTnLst>
                                </p:cTn>
                              </p:par>
                              <p:par>
                                <p:cTn id="34" presetID="16" presetClass="entr" presetSubtype="21" fill="hold" nodeType="withEffect">
                                  <p:stCondLst>
                                    <p:cond delay="0"/>
                                  </p:stCondLst>
                                  <p:childTnLst>
                                    <p:set>
                                      <p:cBhvr>
                                        <p:cTn id="35" dur="1" fill="hold">
                                          <p:stCondLst>
                                            <p:cond delay="0"/>
                                          </p:stCondLst>
                                        </p:cTn>
                                        <p:tgtEl>
                                          <p:spTgt spid="167"/>
                                        </p:tgtEl>
                                        <p:attrNameLst>
                                          <p:attrName>style.visibility</p:attrName>
                                        </p:attrNameLst>
                                      </p:cBhvr>
                                      <p:to>
                                        <p:strVal val="visible"/>
                                      </p:to>
                                    </p:set>
                                    <p:animEffect transition="in" filter="barn(inVertical)">
                                      <p:cBhvr>
                                        <p:cTn id="36" dur="500"/>
                                        <p:tgtEl>
                                          <p:spTgt spid="167"/>
                                        </p:tgtEl>
                                      </p:cBhvr>
                                    </p:animEffect>
                                  </p:childTnLst>
                                </p:cTn>
                              </p:par>
                              <p:par>
                                <p:cTn id="37" presetID="16" presetClass="entr" presetSubtype="21" fill="hold" nodeType="withEffect">
                                  <p:stCondLst>
                                    <p:cond delay="0"/>
                                  </p:stCondLst>
                                  <p:childTnLst>
                                    <p:set>
                                      <p:cBhvr>
                                        <p:cTn id="38" dur="1" fill="hold">
                                          <p:stCondLst>
                                            <p:cond delay="0"/>
                                          </p:stCondLst>
                                        </p:cTn>
                                        <p:tgtEl>
                                          <p:spTgt spid="170"/>
                                        </p:tgtEl>
                                        <p:attrNameLst>
                                          <p:attrName>style.visibility</p:attrName>
                                        </p:attrNameLst>
                                      </p:cBhvr>
                                      <p:to>
                                        <p:strVal val="visible"/>
                                      </p:to>
                                    </p:set>
                                    <p:animEffect transition="in" filter="barn(inVertical)">
                                      <p:cBhvr>
                                        <p:cTn id="39" dur="500"/>
                                        <p:tgtEl>
                                          <p:spTgt spid="170"/>
                                        </p:tgtEl>
                                      </p:cBhvr>
                                    </p:animEffect>
                                  </p:childTnLst>
                                </p:cTn>
                              </p:par>
                              <p:par>
                                <p:cTn id="40" presetID="16" presetClass="entr" presetSubtype="21" fill="hold" nodeType="withEffect">
                                  <p:stCondLst>
                                    <p:cond delay="0"/>
                                  </p:stCondLst>
                                  <p:childTnLst>
                                    <p:set>
                                      <p:cBhvr>
                                        <p:cTn id="41" dur="1" fill="hold">
                                          <p:stCondLst>
                                            <p:cond delay="0"/>
                                          </p:stCondLst>
                                        </p:cTn>
                                        <p:tgtEl>
                                          <p:spTgt spid="175"/>
                                        </p:tgtEl>
                                        <p:attrNameLst>
                                          <p:attrName>style.visibility</p:attrName>
                                        </p:attrNameLst>
                                      </p:cBhvr>
                                      <p:to>
                                        <p:strVal val="visible"/>
                                      </p:to>
                                    </p:set>
                                    <p:animEffect transition="in" filter="barn(inVertical)">
                                      <p:cBhvr>
                                        <p:cTn id="42" dur="500"/>
                                        <p:tgtEl>
                                          <p:spTgt spid="175"/>
                                        </p:tgtEl>
                                      </p:cBhvr>
                                    </p:animEffect>
                                  </p:childTnLst>
                                </p:cTn>
                              </p:par>
                              <p:par>
                                <p:cTn id="43" presetID="16" presetClass="entr" presetSubtype="21" fill="hold" nodeType="withEffect">
                                  <p:stCondLst>
                                    <p:cond delay="0"/>
                                  </p:stCondLst>
                                  <p:childTnLst>
                                    <p:set>
                                      <p:cBhvr>
                                        <p:cTn id="44" dur="1" fill="hold">
                                          <p:stCondLst>
                                            <p:cond delay="0"/>
                                          </p:stCondLst>
                                        </p:cTn>
                                        <p:tgtEl>
                                          <p:spTgt spid="178"/>
                                        </p:tgtEl>
                                        <p:attrNameLst>
                                          <p:attrName>style.visibility</p:attrName>
                                        </p:attrNameLst>
                                      </p:cBhvr>
                                      <p:to>
                                        <p:strVal val="visible"/>
                                      </p:to>
                                    </p:set>
                                    <p:animEffect transition="in" filter="barn(inVertical)">
                                      <p:cBhvr>
                                        <p:cTn id="45" dur="500"/>
                                        <p:tgtEl>
                                          <p:spTgt spid="178"/>
                                        </p:tgtEl>
                                      </p:cBhvr>
                                    </p:animEffect>
                                  </p:childTnLst>
                                </p:cTn>
                              </p:par>
                              <p:par>
                                <p:cTn id="46" presetID="16" presetClass="entr" presetSubtype="21" fill="hold" nodeType="withEffect">
                                  <p:stCondLst>
                                    <p:cond delay="0"/>
                                  </p:stCondLst>
                                  <p:childTnLst>
                                    <p:set>
                                      <p:cBhvr>
                                        <p:cTn id="47" dur="1" fill="hold">
                                          <p:stCondLst>
                                            <p:cond delay="0"/>
                                          </p:stCondLst>
                                        </p:cTn>
                                        <p:tgtEl>
                                          <p:spTgt spid="183"/>
                                        </p:tgtEl>
                                        <p:attrNameLst>
                                          <p:attrName>style.visibility</p:attrName>
                                        </p:attrNameLst>
                                      </p:cBhvr>
                                      <p:to>
                                        <p:strVal val="visible"/>
                                      </p:to>
                                    </p:set>
                                    <p:animEffect transition="in" filter="barn(inVertical)">
                                      <p:cBhvr>
                                        <p:cTn id="48" dur="500"/>
                                        <p:tgtEl>
                                          <p:spTgt spid="18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86"/>
                                        </p:tgtEl>
                                        <p:attrNameLst>
                                          <p:attrName>style.visibility</p:attrName>
                                        </p:attrNameLst>
                                      </p:cBhvr>
                                      <p:to>
                                        <p:strVal val="visible"/>
                                      </p:to>
                                    </p:set>
                                    <p:animEffect transition="in" filter="barn(inVertical)">
                                      <p:cBhvr>
                                        <p:cTn id="53" dur="500"/>
                                        <p:tgtEl>
                                          <p:spTgt spid="186"/>
                                        </p:tgtEl>
                                      </p:cBhvr>
                                    </p:animEffect>
                                  </p:childTnLst>
                                </p:cTn>
                              </p:par>
                              <p:par>
                                <p:cTn id="54" presetID="16" presetClass="entr" presetSubtype="21" fill="hold" nodeType="withEffect">
                                  <p:stCondLst>
                                    <p:cond delay="0"/>
                                  </p:stCondLst>
                                  <p:childTnLst>
                                    <p:set>
                                      <p:cBhvr>
                                        <p:cTn id="55" dur="1" fill="hold">
                                          <p:stCondLst>
                                            <p:cond delay="0"/>
                                          </p:stCondLst>
                                        </p:cTn>
                                        <p:tgtEl>
                                          <p:spTgt spid="187"/>
                                        </p:tgtEl>
                                        <p:attrNameLst>
                                          <p:attrName>style.visibility</p:attrName>
                                        </p:attrNameLst>
                                      </p:cBhvr>
                                      <p:to>
                                        <p:strVal val="visible"/>
                                      </p:to>
                                    </p:set>
                                    <p:animEffect transition="in" filter="barn(inVertical)">
                                      <p:cBhvr>
                                        <p:cTn id="56" dur="500"/>
                                        <p:tgtEl>
                                          <p:spTgt spid="187"/>
                                        </p:tgtEl>
                                      </p:cBhvr>
                                    </p:animEffect>
                                  </p:childTnLst>
                                </p:cTn>
                              </p:par>
                              <p:par>
                                <p:cTn id="57" presetID="16" presetClass="entr" presetSubtype="21" fill="hold" nodeType="withEffect">
                                  <p:stCondLst>
                                    <p:cond delay="0"/>
                                  </p:stCondLst>
                                  <p:childTnLst>
                                    <p:set>
                                      <p:cBhvr>
                                        <p:cTn id="58" dur="1" fill="hold">
                                          <p:stCondLst>
                                            <p:cond delay="0"/>
                                          </p:stCondLst>
                                        </p:cTn>
                                        <p:tgtEl>
                                          <p:spTgt spid="188"/>
                                        </p:tgtEl>
                                        <p:attrNameLst>
                                          <p:attrName>style.visibility</p:attrName>
                                        </p:attrNameLst>
                                      </p:cBhvr>
                                      <p:to>
                                        <p:strVal val="visible"/>
                                      </p:to>
                                    </p:set>
                                    <p:animEffect transition="in" filter="barn(inVertical)">
                                      <p:cBhvr>
                                        <p:cTn id="59" dur="500"/>
                                        <p:tgtEl>
                                          <p:spTgt spid="188"/>
                                        </p:tgtEl>
                                      </p:cBhvr>
                                    </p:animEffect>
                                  </p:childTnLst>
                                </p:cTn>
                              </p:par>
                              <p:par>
                                <p:cTn id="60" presetID="16" presetClass="entr" presetSubtype="21" fill="hold" nodeType="withEffect">
                                  <p:stCondLst>
                                    <p:cond delay="0"/>
                                  </p:stCondLst>
                                  <p:childTnLst>
                                    <p:set>
                                      <p:cBhvr>
                                        <p:cTn id="61" dur="1" fill="hold">
                                          <p:stCondLst>
                                            <p:cond delay="0"/>
                                          </p:stCondLst>
                                        </p:cTn>
                                        <p:tgtEl>
                                          <p:spTgt spid="193"/>
                                        </p:tgtEl>
                                        <p:attrNameLst>
                                          <p:attrName>style.visibility</p:attrName>
                                        </p:attrNameLst>
                                      </p:cBhvr>
                                      <p:to>
                                        <p:strVal val="visible"/>
                                      </p:to>
                                    </p:set>
                                    <p:animEffect transition="in" filter="barn(inVertical)">
                                      <p:cBhvr>
                                        <p:cTn id="62" dur="500"/>
                                        <p:tgtEl>
                                          <p:spTgt spid="193"/>
                                        </p:tgtEl>
                                      </p:cBhvr>
                                    </p:animEffect>
                                  </p:childTnLst>
                                </p:cTn>
                              </p:par>
                              <p:par>
                                <p:cTn id="63" presetID="16" presetClass="entr" presetSubtype="21" fill="hold" nodeType="withEffect">
                                  <p:stCondLst>
                                    <p:cond delay="0"/>
                                  </p:stCondLst>
                                  <p:childTnLst>
                                    <p:set>
                                      <p:cBhvr>
                                        <p:cTn id="64" dur="1" fill="hold">
                                          <p:stCondLst>
                                            <p:cond delay="0"/>
                                          </p:stCondLst>
                                        </p:cTn>
                                        <p:tgtEl>
                                          <p:spTgt spid="196"/>
                                        </p:tgtEl>
                                        <p:attrNameLst>
                                          <p:attrName>style.visibility</p:attrName>
                                        </p:attrNameLst>
                                      </p:cBhvr>
                                      <p:to>
                                        <p:strVal val="visible"/>
                                      </p:to>
                                    </p:set>
                                    <p:animEffect transition="in" filter="barn(inVertical)">
                                      <p:cBhvr>
                                        <p:cTn id="65" dur="500"/>
                                        <p:tgtEl>
                                          <p:spTgt spid="196"/>
                                        </p:tgtEl>
                                      </p:cBhvr>
                                    </p:animEffect>
                                  </p:childTnLst>
                                </p:cTn>
                              </p:par>
                              <p:par>
                                <p:cTn id="66" presetID="16" presetClass="entr" presetSubtype="21" fill="hold" nodeType="withEffect">
                                  <p:stCondLst>
                                    <p:cond delay="0"/>
                                  </p:stCondLst>
                                  <p:childTnLst>
                                    <p:set>
                                      <p:cBhvr>
                                        <p:cTn id="67" dur="1" fill="hold">
                                          <p:stCondLst>
                                            <p:cond delay="0"/>
                                          </p:stCondLst>
                                        </p:cTn>
                                        <p:tgtEl>
                                          <p:spTgt spid="201"/>
                                        </p:tgtEl>
                                        <p:attrNameLst>
                                          <p:attrName>style.visibility</p:attrName>
                                        </p:attrNameLst>
                                      </p:cBhvr>
                                      <p:to>
                                        <p:strVal val="visible"/>
                                      </p:to>
                                    </p:set>
                                    <p:animEffect transition="in" filter="barn(inVertical)">
                                      <p:cBhvr>
                                        <p:cTn id="68" dur="500"/>
                                        <p:tgtEl>
                                          <p:spTgt spid="201"/>
                                        </p:tgtEl>
                                      </p:cBhvr>
                                    </p:animEffect>
                                  </p:childTnLst>
                                </p:cTn>
                              </p:par>
                              <p:par>
                                <p:cTn id="69" presetID="16" presetClass="entr" presetSubtype="21" fill="hold" nodeType="withEffect">
                                  <p:stCondLst>
                                    <p:cond delay="0"/>
                                  </p:stCondLst>
                                  <p:childTnLst>
                                    <p:set>
                                      <p:cBhvr>
                                        <p:cTn id="70" dur="1" fill="hold">
                                          <p:stCondLst>
                                            <p:cond delay="0"/>
                                          </p:stCondLst>
                                        </p:cTn>
                                        <p:tgtEl>
                                          <p:spTgt spid="204"/>
                                        </p:tgtEl>
                                        <p:attrNameLst>
                                          <p:attrName>style.visibility</p:attrName>
                                        </p:attrNameLst>
                                      </p:cBhvr>
                                      <p:to>
                                        <p:strVal val="visible"/>
                                      </p:to>
                                    </p:set>
                                    <p:animEffect transition="in" filter="barn(inVertical)">
                                      <p:cBhvr>
                                        <p:cTn id="71" dur="500"/>
                                        <p:tgtEl>
                                          <p:spTgt spid="204"/>
                                        </p:tgtEl>
                                      </p:cBhvr>
                                    </p:animEffect>
                                  </p:childTnLst>
                                </p:cTn>
                              </p:par>
                              <p:par>
                                <p:cTn id="72" presetID="16" presetClass="entr" presetSubtype="21" fill="hold" nodeType="withEffect">
                                  <p:stCondLst>
                                    <p:cond delay="0"/>
                                  </p:stCondLst>
                                  <p:childTnLst>
                                    <p:set>
                                      <p:cBhvr>
                                        <p:cTn id="73" dur="1" fill="hold">
                                          <p:stCondLst>
                                            <p:cond delay="0"/>
                                          </p:stCondLst>
                                        </p:cTn>
                                        <p:tgtEl>
                                          <p:spTgt spid="209"/>
                                        </p:tgtEl>
                                        <p:attrNameLst>
                                          <p:attrName>style.visibility</p:attrName>
                                        </p:attrNameLst>
                                      </p:cBhvr>
                                      <p:to>
                                        <p:strVal val="visible"/>
                                      </p:to>
                                    </p:set>
                                    <p:animEffect transition="in" filter="barn(inVertical)">
                                      <p:cBhvr>
                                        <p:cTn id="74" dur="500"/>
                                        <p:tgtEl>
                                          <p:spTgt spid="209"/>
                                        </p:tgtEl>
                                      </p:cBhvr>
                                    </p:animEffect>
                                  </p:childTnLst>
                                </p:cTn>
                              </p:par>
                              <p:par>
                                <p:cTn id="75" presetID="16" presetClass="entr" presetSubtype="21" fill="hold" nodeType="withEffect">
                                  <p:stCondLst>
                                    <p:cond delay="0"/>
                                  </p:stCondLst>
                                  <p:childTnLst>
                                    <p:set>
                                      <p:cBhvr>
                                        <p:cTn id="76" dur="1" fill="hold">
                                          <p:stCondLst>
                                            <p:cond delay="0"/>
                                          </p:stCondLst>
                                        </p:cTn>
                                        <p:tgtEl>
                                          <p:spTgt spid="212"/>
                                        </p:tgtEl>
                                        <p:attrNameLst>
                                          <p:attrName>style.visibility</p:attrName>
                                        </p:attrNameLst>
                                      </p:cBhvr>
                                      <p:to>
                                        <p:strVal val="visible"/>
                                      </p:to>
                                    </p:set>
                                    <p:animEffect transition="in" filter="barn(inVertical)">
                                      <p:cBhvr>
                                        <p:cTn id="77" dur="500"/>
                                        <p:tgtEl>
                                          <p:spTgt spid="212"/>
                                        </p:tgtEl>
                                      </p:cBhvr>
                                    </p:animEffect>
                                  </p:childTnLst>
                                </p:cTn>
                              </p:par>
                              <p:par>
                                <p:cTn id="78" presetID="16" presetClass="entr" presetSubtype="21" fill="hold" nodeType="withEffect">
                                  <p:stCondLst>
                                    <p:cond delay="0"/>
                                  </p:stCondLst>
                                  <p:childTnLst>
                                    <p:set>
                                      <p:cBhvr>
                                        <p:cTn id="79" dur="1" fill="hold">
                                          <p:stCondLst>
                                            <p:cond delay="0"/>
                                          </p:stCondLst>
                                        </p:cTn>
                                        <p:tgtEl>
                                          <p:spTgt spid="217"/>
                                        </p:tgtEl>
                                        <p:attrNameLst>
                                          <p:attrName>style.visibility</p:attrName>
                                        </p:attrNameLst>
                                      </p:cBhvr>
                                      <p:to>
                                        <p:strVal val="visible"/>
                                      </p:to>
                                    </p:set>
                                    <p:animEffect transition="in" filter="barn(inVertical)">
                                      <p:cBhvr>
                                        <p:cTn id="80" dur="500"/>
                                        <p:tgtEl>
                                          <p:spTgt spid="217"/>
                                        </p:tgtEl>
                                      </p:cBhvr>
                                    </p:animEffect>
                                  </p:childTnLst>
                                </p:cTn>
                              </p:par>
                              <p:par>
                                <p:cTn id="81" presetID="16" presetClass="entr" presetSubtype="21" fill="hold" nodeType="withEffect">
                                  <p:stCondLst>
                                    <p:cond delay="0"/>
                                  </p:stCondLst>
                                  <p:childTnLst>
                                    <p:set>
                                      <p:cBhvr>
                                        <p:cTn id="82" dur="1" fill="hold">
                                          <p:stCondLst>
                                            <p:cond delay="0"/>
                                          </p:stCondLst>
                                        </p:cTn>
                                        <p:tgtEl>
                                          <p:spTgt spid="220"/>
                                        </p:tgtEl>
                                        <p:attrNameLst>
                                          <p:attrName>style.visibility</p:attrName>
                                        </p:attrNameLst>
                                      </p:cBhvr>
                                      <p:to>
                                        <p:strVal val="visible"/>
                                      </p:to>
                                    </p:set>
                                    <p:animEffect transition="in" filter="barn(inVertical)">
                                      <p:cBhvr>
                                        <p:cTn id="83" dur="500"/>
                                        <p:tgtEl>
                                          <p:spTgt spid="220"/>
                                        </p:tgtEl>
                                      </p:cBhvr>
                                    </p:animEffect>
                                  </p:childTnLst>
                                </p:cTn>
                              </p:par>
                              <p:par>
                                <p:cTn id="84" presetID="16" presetClass="entr" presetSubtype="21" fill="hold" nodeType="with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barn(inVertical)">
                                      <p:cBhvr>
                                        <p:cTn id="86" dur="500"/>
                                        <p:tgtEl>
                                          <p:spTgt spid="10"/>
                                        </p:tgtEl>
                                      </p:cBhvr>
                                    </p:animEffect>
                                  </p:childTnLst>
                                </p:cTn>
                              </p:par>
                              <p:par>
                                <p:cTn id="87" presetID="16" presetClass="entr" presetSubtype="21" fill="hold" nodeType="withEffect">
                                  <p:stCondLst>
                                    <p:cond delay="0"/>
                                  </p:stCondLst>
                                  <p:childTnLst>
                                    <p:set>
                                      <p:cBhvr>
                                        <p:cTn id="88" dur="1" fill="hold">
                                          <p:stCondLst>
                                            <p:cond delay="0"/>
                                          </p:stCondLst>
                                        </p:cTn>
                                        <p:tgtEl>
                                          <p:spTgt spid="221"/>
                                        </p:tgtEl>
                                        <p:attrNameLst>
                                          <p:attrName>style.visibility</p:attrName>
                                        </p:attrNameLst>
                                      </p:cBhvr>
                                      <p:to>
                                        <p:strVal val="visible"/>
                                      </p:to>
                                    </p:set>
                                    <p:animEffect transition="in" filter="barn(inVertical)">
                                      <p:cBhvr>
                                        <p:cTn id="89" dur="500"/>
                                        <p:tgtEl>
                                          <p:spTgt spid="221"/>
                                        </p:tgtEl>
                                      </p:cBhvr>
                                    </p:animEffect>
                                  </p:childTnLst>
                                </p:cTn>
                              </p:par>
                              <p:par>
                                <p:cTn id="90" presetID="16" presetClass="entr" presetSubtype="21" fill="hold" nodeType="withEffect">
                                  <p:stCondLst>
                                    <p:cond delay="0"/>
                                  </p:stCondLst>
                                  <p:childTnLst>
                                    <p:set>
                                      <p:cBhvr>
                                        <p:cTn id="91" dur="1" fill="hold">
                                          <p:stCondLst>
                                            <p:cond delay="0"/>
                                          </p:stCondLst>
                                        </p:cTn>
                                        <p:tgtEl>
                                          <p:spTgt spid="222"/>
                                        </p:tgtEl>
                                        <p:attrNameLst>
                                          <p:attrName>style.visibility</p:attrName>
                                        </p:attrNameLst>
                                      </p:cBhvr>
                                      <p:to>
                                        <p:strVal val="visible"/>
                                      </p:to>
                                    </p:set>
                                    <p:animEffect transition="in" filter="barn(inVertical)">
                                      <p:cBhvr>
                                        <p:cTn id="92" dur="5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7" grpId="0" animBg="1"/>
      <p:bldP spid="18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637591" y="1239162"/>
            <a:ext cx="825488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4000" i="1" dirty="0">
                <a:effectLst>
                  <a:outerShdw blurRad="38100" dist="38100" dir="2700000" algn="tl">
                    <a:srgbClr val="000000"/>
                  </a:outerShdw>
                </a:effectLst>
                <a:ea typeface="宋体" panose="02010600030101010101" pitchFamily="2" charset="-122"/>
              </a:rPr>
              <a:t>P2mm; P2mg; </a:t>
            </a:r>
            <a:r>
              <a:rPr lang="en-US" altLang="zh-CN" sz="4000" i="1" dirty="0">
                <a:solidFill>
                  <a:srgbClr val="FF3399"/>
                </a:solidFill>
                <a:effectLst>
                  <a:outerShdw blurRad="38100" dist="38100" dir="2700000" algn="tl">
                    <a:srgbClr val="000000"/>
                  </a:outerShdw>
                </a:effectLst>
                <a:ea typeface="宋体" panose="02010600030101010101" pitchFamily="2" charset="-122"/>
              </a:rPr>
              <a:t>P2gg</a:t>
            </a:r>
            <a:r>
              <a:rPr lang="en-US" altLang="zh-CN" sz="4000" i="1" dirty="0">
                <a:effectLst>
                  <a:outerShdw blurRad="38100" dist="38100" dir="2700000" algn="tl">
                    <a:srgbClr val="000000"/>
                  </a:outerShdw>
                </a:effectLst>
                <a:ea typeface="宋体" panose="02010600030101010101" pitchFamily="2" charset="-122"/>
              </a:rPr>
              <a:t> ?</a:t>
            </a:r>
          </a:p>
          <a:p>
            <a:endParaRPr lang="en-US" altLang="zh-CN" sz="4000" i="1" dirty="0">
              <a:solidFill>
                <a:srgbClr val="FF0066"/>
              </a:solidFill>
              <a:effectLst>
                <a:outerShdw blurRad="38100" dist="38100" dir="2700000" algn="tl">
                  <a:srgbClr val="000000"/>
                </a:outerShdw>
              </a:effectLst>
            </a:endParaRPr>
          </a:p>
          <a:p>
            <a:pPr marL="571500" indent="-571500">
              <a:buFont typeface="Wingdings" panose="05000000000000000000" pitchFamily="2" charset="2"/>
              <a:buChar char="ü"/>
            </a:pPr>
            <a:r>
              <a:rPr lang="en-US" altLang="zh-CN" sz="4000" i="1" dirty="0">
                <a:solidFill>
                  <a:srgbClr val="FF0066"/>
                </a:solidFill>
                <a:effectLst>
                  <a:outerShdw blurRad="38100" dist="38100" dir="2700000" algn="tl">
                    <a:srgbClr val="000000"/>
                  </a:outerShdw>
                </a:effectLst>
                <a:ea typeface="宋体" panose="02010600030101010101" pitchFamily="2" charset="-122"/>
              </a:rPr>
              <a:t>P2 </a:t>
            </a:r>
          </a:p>
          <a:p>
            <a:endParaRPr lang="en-US" altLang="zh-CN" sz="4000" i="1" dirty="0">
              <a:solidFill>
                <a:srgbClr val="FF0066"/>
              </a:solidFill>
              <a:effectLst>
                <a:outerShdw blurRad="38100" dist="38100" dir="2700000" algn="tl">
                  <a:srgbClr val="000000"/>
                </a:outerShdw>
              </a:effectLst>
            </a:endParaRPr>
          </a:p>
          <a:p>
            <a:r>
              <a:rPr lang="en-US" altLang="zh-CN" sz="4000" i="1" dirty="0">
                <a:solidFill>
                  <a:srgbClr val="FF0066"/>
                </a:solidFill>
                <a:effectLst>
                  <a:outerShdw blurRad="38100" dist="38100" dir="2700000" algn="tl">
                    <a:srgbClr val="000000"/>
                  </a:outerShdw>
                </a:effectLst>
                <a:ea typeface="宋体" panose="02010600030101010101" pitchFamily="2" charset="-122"/>
              </a:rPr>
              <a:t>m? g?</a:t>
            </a:r>
          </a:p>
          <a:p>
            <a:endParaRPr lang="en-US" altLang="zh-CN" sz="4000" i="1" dirty="0">
              <a:solidFill>
                <a:srgbClr val="FF0066"/>
              </a:solidFill>
              <a:effectLst>
                <a:outerShdw blurRad="38100" dist="38100" dir="2700000" algn="tl">
                  <a:srgbClr val="000000"/>
                </a:outerShdw>
              </a:effectLst>
              <a:ea typeface="宋体" panose="02010600030101010101" pitchFamily="2" charset="-122"/>
            </a:endParaRPr>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173" t="22080" b="51916"/>
          <a:stretch>
            <a:fillRect/>
          </a:stretch>
        </p:blipFill>
        <p:spPr bwMode="auto">
          <a:xfrm>
            <a:off x="315141" y="4539627"/>
            <a:ext cx="6273083" cy="1679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4" name="Straight Connector 53"/>
          <p:cNvCxnSpPr/>
          <p:nvPr/>
        </p:nvCxnSpPr>
        <p:spPr>
          <a:xfrm>
            <a:off x="4789071" y="2724980"/>
            <a:ext cx="1799153" cy="0"/>
          </a:xfrm>
          <a:prstGeom prst="line">
            <a:avLst/>
          </a:prstGeom>
          <a:ln w="57150">
            <a:solidFill>
              <a:srgbClr val="FF3399"/>
            </a:solidFill>
            <a:prstDash val="sysDash"/>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2897294" y="251687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p:cNvGrpSpPr/>
          <p:nvPr/>
        </p:nvGrpSpPr>
        <p:grpSpPr>
          <a:xfrm>
            <a:off x="2753898" y="2380906"/>
            <a:ext cx="295347" cy="297267"/>
            <a:chOff x="6154268" y="3368295"/>
            <a:chExt cx="449503" cy="452425"/>
          </a:xfrm>
        </p:grpSpPr>
        <p:sp>
          <p:nvSpPr>
            <p:cNvPr id="57" name="Oval 56"/>
            <p:cNvSpPr/>
            <p:nvPr/>
          </p:nvSpPr>
          <p:spPr>
            <a:xfrm>
              <a:off x="6347530" y="3492643"/>
              <a:ext cx="54200" cy="192101"/>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154268" y="3368295"/>
              <a:ext cx="75283" cy="752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6528488" y="3745437"/>
              <a:ext cx="75283" cy="752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ectangle 59"/>
          <p:cNvSpPr/>
          <p:nvPr/>
        </p:nvSpPr>
        <p:spPr>
          <a:xfrm>
            <a:off x="4923191" y="250820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4779800" y="2372239"/>
            <a:ext cx="295347" cy="297267"/>
            <a:chOff x="4626306" y="2372239"/>
            <a:chExt cx="295347" cy="297267"/>
          </a:xfrm>
        </p:grpSpPr>
        <p:sp>
          <p:nvSpPr>
            <p:cNvPr id="62" name="Oval 61"/>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rot="16200000">
            <a:off x="5557864" y="2781034"/>
            <a:ext cx="295347" cy="297267"/>
            <a:chOff x="6154268" y="3368295"/>
            <a:chExt cx="449503" cy="452425"/>
          </a:xfrm>
        </p:grpSpPr>
        <p:sp>
          <p:nvSpPr>
            <p:cNvPr id="94" name="Oval 93"/>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p:cNvGrpSpPr/>
          <p:nvPr/>
        </p:nvGrpSpPr>
        <p:grpSpPr>
          <a:xfrm>
            <a:off x="6342786" y="2372239"/>
            <a:ext cx="295347" cy="297267"/>
            <a:chOff x="4626306" y="2372239"/>
            <a:chExt cx="295347" cy="297267"/>
          </a:xfrm>
        </p:grpSpPr>
        <p:sp>
          <p:nvSpPr>
            <p:cNvPr id="97" name="Oval 96"/>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0" name="Group 99"/>
          <p:cNvGrpSpPr/>
          <p:nvPr/>
        </p:nvGrpSpPr>
        <p:grpSpPr>
          <a:xfrm>
            <a:off x="4779800" y="3233477"/>
            <a:ext cx="295347" cy="297267"/>
            <a:chOff x="4626306" y="2372239"/>
            <a:chExt cx="295347" cy="297267"/>
          </a:xfrm>
        </p:grpSpPr>
        <p:sp>
          <p:nvSpPr>
            <p:cNvPr id="101" name="Oval 100"/>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 103"/>
          <p:cNvGrpSpPr/>
          <p:nvPr/>
        </p:nvGrpSpPr>
        <p:grpSpPr>
          <a:xfrm>
            <a:off x="6342786" y="3244109"/>
            <a:ext cx="295347" cy="297267"/>
            <a:chOff x="4626306" y="2372239"/>
            <a:chExt cx="295347" cy="297267"/>
          </a:xfrm>
        </p:grpSpPr>
        <p:sp>
          <p:nvSpPr>
            <p:cNvPr id="105" name="Oval 104"/>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8" name="Straight Connector 107"/>
          <p:cNvCxnSpPr/>
          <p:nvPr/>
        </p:nvCxnSpPr>
        <p:spPr>
          <a:xfrm>
            <a:off x="6968745" y="2724980"/>
            <a:ext cx="1799153" cy="0"/>
          </a:xfrm>
          <a:prstGeom prst="line">
            <a:avLst/>
          </a:prstGeom>
          <a:ln w="57150">
            <a:solidFill>
              <a:srgbClr val="FF3399"/>
            </a:solidFill>
            <a:prstDash val="sysDash"/>
          </a:ln>
        </p:spPr>
        <p:style>
          <a:lnRef idx="1">
            <a:schemeClr val="accent1"/>
          </a:lnRef>
          <a:fillRef idx="0">
            <a:schemeClr val="accent1"/>
          </a:fillRef>
          <a:effectRef idx="0">
            <a:schemeClr val="accent1"/>
          </a:effectRef>
          <a:fontRef idx="minor">
            <a:schemeClr val="tx1"/>
          </a:fontRef>
        </p:style>
      </p:cxnSp>
      <p:sp>
        <p:nvSpPr>
          <p:cNvPr id="109" name="Rectangle 108"/>
          <p:cNvSpPr/>
          <p:nvPr/>
        </p:nvSpPr>
        <p:spPr>
          <a:xfrm>
            <a:off x="7102865" y="2508209"/>
            <a:ext cx="1561134" cy="896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 name="Group 109"/>
          <p:cNvGrpSpPr/>
          <p:nvPr/>
        </p:nvGrpSpPr>
        <p:grpSpPr>
          <a:xfrm>
            <a:off x="6959474" y="2372239"/>
            <a:ext cx="295347" cy="297267"/>
            <a:chOff x="4626306" y="2372239"/>
            <a:chExt cx="295347" cy="297267"/>
          </a:xfrm>
        </p:grpSpPr>
        <p:sp>
          <p:nvSpPr>
            <p:cNvPr id="111" name="Oval 110"/>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 name="Group 113"/>
          <p:cNvGrpSpPr/>
          <p:nvPr/>
        </p:nvGrpSpPr>
        <p:grpSpPr>
          <a:xfrm rot="16200000">
            <a:off x="7737538" y="2781034"/>
            <a:ext cx="295347" cy="297267"/>
            <a:chOff x="6154268" y="3368295"/>
            <a:chExt cx="449503" cy="452425"/>
          </a:xfrm>
        </p:grpSpPr>
        <p:sp>
          <p:nvSpPr>
            <p:cNvPr id="115" name="Oval 114"/>
            <p:cNvSpPr/>
            <p:nvPr/>
          </p:nvSpPr>
          <p:spPr>
            <a:xfrm>
              <a:off x="6154268" y="3368295"/>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6528488" y="3745437"/>
              <a:ext cx="75283" cy="75283"/>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Group 116"/>
          <p:cNvGrpSpPr/>
          <p:nvPr/>
        </p:nvGrpSpPr>
        <p:grpSpPr>
          <a:xfrm>
            <a:off x="8522460" y="2372239"/>
            <a:ext cx="295347" cy="297267"/>
            <a:chOff x="4626306" y="2372239"/>
            <a:chExt cx="295347" cy="297267"/>
          </a:xfrm>
        </p:grpSpPr>
        <p:sp>
          <p:nvSpPr>
            <p:cNvPr id="118" name="Oval 117"/>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1" name="Group 120"/>
          <p:cNvGrpSpPr/>
          <p:nvPr/>
        </p:nvGrpSpPr>
        <p:grpSpPr>
          <a:xfrm>
            <a:off x="6959474" y="3233477"/>
            <a:ext cx="295347" cy="297267"/>
            <a:chOff x="4626306" y="2372239"/>
            <a:chExt cx="295347" cy="297267"/>
          </a:xfrm>
        </p:grpSpPr>
        <p:sp>
          <p:nvSpPr>
            <p:cNvPr id="122" name="Oval 121"/>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p:cNvGrpSpPr/>
          <p:nvPr/>
        </p:nvGrpSpPr>
        <p:grpSpPr>
          <a:xfrm>
            <a:off x="8522460" y="3244109"/>
            <a:ext cx="295347" cy="297267"/>
            <a:chOff x="4626306" y="2372239"/>
            <a:chExt cx="295347" cy="297267"/>
          </a:xfrm>
        </p:grpSpPr>
        <p:sp>
          <p:nvSpPr>
            <p:cNvPr id="126" name="Oval 125"/>
            <p:cNvSpPr/>
            <p:nvPr/>
          </p:nvSpPr>
          <p:spPr>
            <a:xfrm>
              <a:off x="4753289" y="2453942"/>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4626306" y="2372239"/>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4872188" y="2620041"/>
              <a:ext cx="49465" cy="494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9" name="Straight Connector 128"/>
          <p:cNvCxnSpPr/>
          <p:nvPr/>
        </p:nvCxnSpPr>
        <p:spPr>
          <a:xfrm>
            <a:off x="6979377" y="3150283"/>
            <a:ext cx="1799153" cy="0"/>
          </a:xfrm>
          <a:prstGeom prst="line">
            <a:avLst/>
          </a:prstGeom>
          <a:ln w="57150">
            <a:solidFill>
              <a:srgbClr val="FF3399"/>
            </a:solidFill>
            <a:prstDash val="sys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7521926" y="2310123"/>
            <a:ext cx="0" cy="1331090"/>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8298102" y="2310123"/>
            <a:ext cx="0" cy="1331090"/>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133" name="Oval 132"/>
          <p:cNvSpPr/>
          <p:nvPr/>
        </p:nvSpPr>
        <p:spPr>
          <a:xfrm>
            <a:off x="7085059" y="2901924"/>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7875101" y="2879978"/>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5695171" y="2894608"/>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8643197" y="2879978"/>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7867785" y="244106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7875101" y="3326206"/>
            <a:ext cx="35612" cy="12622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453402" y="303141"/>
            <a:ext cx="6977985" cy="584775"/>
          </a:xfrm>
          <a:prstGeom prst="rect">
            <a:avLst/>
          </a:prstGeom>
        </p:spPr>
        <p:txBody>
          <a:bodyPr wrap="square">
            <a:spAutoFit/>
          </a:bodyPr>
          <a:lstStyle/>
          <a:p>
            <a:r>
              <a:rPr lang="en-US" altLang="zh-CN" sz="3200" dirty="0">
                <a:latin typeface="+mj-lt"/>
                <a:cs typeface="Times New Roman" panose="02020603050405020304" pitchFamily="18" charset="0"/>
              </a:rPr>
              <a:t>R</a:t>
            </a:r>
            <a:r>
              <a:rPr lang="zh-CN" altLang="en-US" sz="3200" dirty="0">
                <a:latin typeface="+mj-lt"/>
                <a:cs typeface="Times New Roman" panose="02020603050405020304" pitchFamily="18" charset="0"/>
              </a:rPr>
              <a:t>epresentation of </a:t>
            </a:r>
            <a:r>
              <a:rPr lang="en-US" altLang="zh-CN" sz="3200" dirty="0">
                <a:latin typeface="+mj-lt"/>
                <a:cs typeface="Times New Roman" panose="02020603050405020304" pitchFamily="18" charset="0"/>
              </a:rPr>
              <a:t>2D space</a:t>
            </a:r>
            <a:r>
              <a:rPr lang="zh-CN" altLang="en-US" sz="3200" dirty="0">
                <a:latin typeface="+mj-lt"/>
                <a:cs typeface="Times New Roman" panose="02020603050405020304" pitchFamily="18" charset="0"/>
              </a:rPr>
              <a:t> group</a:t>
            </a:r>
            <a:r>
              <a:rPr lang="en-US" altLang="zh-CN" sz="3200" dirty="0">
                <a:latin typeface="+mj-lt"/>
                <a:cs typeface="Times New Roman" panose="02020603050405020304" pitchFamily="18" charset="0"/>
              </a:rPr>
              <a:t>s</a:t>
            </a:r>
            <a:endParaRPr lang="zh-CN" altLang="en-US" sz="3200" dirty="0">
              <a:latin typeface="+mj-lt"/>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arn(inVertical)">
                                      <p:cBhvr>
                                        <p:cTn id="7" dur="500"/>
                                        <p:tgtEl>
                                          <p:spTgt spid="5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barn(inVertical)">
                                      <p:cBhvr>
                                        <p:cTn id="10" dur="500"/>
                                        <p:tgtEl>
                                          <p:spTgt spid="60"/>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par>
                                <p:cTn id="14" presetID="16" presetClass="entr" presetSubtype="21" fill="hold"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barn(inVertical)">
                                      <p:cBhvr>
                                        <p:cTn id="16" dur="500"/>
                                        <p:tgtEl>
                                          <p:spTgt spid="93"/>
                                        </p:tgtEl>
                                      </p:cBhvr>
                                    </p:animEffect>
                                  </p:childTnLst>
                                </p:cTn>
                              </p:par>
                              <p:par>
                                <p:cTn id="17" presetID="16" presetClass="entr" presetSubtype="21" fill="hold" nodeType="with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barn(inVertical)">
                                      <p:cBhvr>
                                        <p:cTn id="19" dur="500"/>
                                        <p:tgtEl>
                                          <p:spTgt spid="96"/>
                                        </p:tgtEl>
                                      </p:cBhvr>
                                    </p:animEffect>
                                  </p:childTnLst>
                                </p:cTn>
                              </p:par>
                              <p:par>
                                <p:cTn id="20" presetID="16" presetClass="entr" presetSubtype="21" fill="hold" nodeType="with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barn(inVertical)">
                                      <p:cBhvr>
                                        <p:cTn id="22" dur="500"/>
                                        <p:tgtEl>
                                          <p:spTgt spid="100"/>
                                        </p:tgtEl>
                                      </p:cBhvr>
                                    </p:animEffect>
                                  </p:childTnLst>
                                </p:cTn>
                              </p:par>
                              <p:par>
                                <p:cTn id="23" presetID="16" presetClass="entr" presetSubtype="21" fill="hold" nodeType="with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barn(inVertical)">
                                      <p:cBhvr>
                                        <p:cTn id="25" dur="500"/>
                                        <p:tgtEl>
                                          <p:spTgt spid="10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35"/>
                                        </p:tgtEl>
                                        <p:attrNameLst>
                                          <p:attrName>style.visibility</p:attrName>
                                        </p:attrNameLst>
                                      </p:cBhvr>
                                      <p:to>
                                        <p:strVal val="visible"/>
                                      </p:to>
                                    </p:set>
                                    <p:animEffect transition="in" filter="barn(inVertical)">
                                      <p:cBhvr>
                                        <p:cTn id="28" dur="500"/>
                                        <p:tgtEl>
                                          <p:spTgt spid="135"/>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barn(inVertical)">
                                      <p:cBhvr>
                                        <p:cTn id="33" dur="500"/>
                                        <p:tgtEl>
                                          <p:spTgt spid="108"/>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09"/>
                                        </p:tgtEl>
                                        <p:attrNameLst>
                                          <p:attrName>style.visibility</p:attrName>
                                        </p:attrNameLst>
                                      </p:cBhvr>
                                      <p:to>
                                        <p:strVal val="visible"/>
                                      </p:to>
                                    </p:set>
                                    <p:animEffect transition="in" filter="barn(inVertical)">
                                      <p:cBhvr>
                                        <p:cTn id="36" dur="500"/>
                                        <p:tgtEl>
                                          <p:spTgt spid="109"/>
                                        </p:tgtEl>
                                      </p:cBhvr>
                                    </p:animEffect>
                                  </p:childTnLst>
                                </p:cTn>
                              </p:par>
                              <p:par>
                                <p:cTn id="37" presetID="16" presetClass="entr" presetSubtype="21" fill="hold" nodeType="with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barn(inVertical)">
                                      <p:cBhvr>
                                        <p:cTn id="39" dur="500"/>
                                        <p:tgtEl>
                                          <p:spTgt spid="110"/>
                                        </p:tgtEl>
                                      </p:cBhvr>
                                    </p:animEffect>
                                  </p:childTnLst>
                                </p:cTn>
                              </p:par>
                              <p:par>
                                <p:cTn id="40" presetID="16" presetClass="entr" presetSubtype="21" fill="hold" nodeType="withEffect">
                                  <p:stCondLst>
                                    <p:cond delay="0"/>
                                  </p:stCondLst>
                                  <p:childTnLst>
                                    <p:set>
                                      <p:cBhvr>
                                        <p:cTn id="41" dur="1" fill="hold">
                                          <p:stCondLst>
                                            <p:cond delay="0"/>
                                          </p:stCondLst>
                                        </p:cTn>
                                        <p:tgtEl>
                                          <p:spTgt spid="114"/>
                                        </p:tgtEl>
                                        <p:attrNameLst>
                                          <p:attrName>style.visibility</p:attrName>
                                        </p:attrNameLst>
                                      </p:cBhvr>
                                      <p:to>
                                        <p:strVal val="visible"/>
                                      </p:to>
                                    </p:set>
                                    <p:animEffect transition="in" filter="barn(inVertical)">
                                      <p:cBhvr>
                                        <p:cTn id="42" dur="500"/>
                                        <p:tgtEl>
                                          <p:spTgt spid="114"/>
                                        </p:tgtEl>
                                      </p:cBhvr>
                                    </p:animEffect>
                                  </p:childTnLst>
                                </p:cTn>
                              </p:par>
                              <p:par>
                                <p:cTn id="43" presetID="16" presetClass="entr" presetSubtype="21" fill="hold" nodeType="withEffect">
                                  <p:stCondLst>
                                    <p:cond delay="0"/>
                                  </p:stCondLst>
                                  <p:childTnLst>
                                    <p:set>
                                      <p:cBhvr>
                                        <p:cTn id="44" dur="1" fill="hold">
                                          <p:stCondLst>
                                            <p:cond delay="0"/>
                                          </p:stCondLst>
                                        </p:cTn>
                                        <p:tgtEl>
                                          <p:spTgt spid="117"/>
                                        </p:tgtEl>
                                        <p:attrNameLst>
                                          <p:attrName>style.visibility</p:attrName>
                                        </p:attrNameLst>
                                      </p:cBhvr>
                                      <p:to>
                                        <p:strVal val="visible"/>
                                      </p:to>
                                    </p:set>
                                    <p:animEffect transition="in" filter="barn(inVertical)">
                                      <p:cBhvr>
                                        <p:cTn id="45" dur="500"/>
                                        <p:tgtEl>
                                          <p:spTgt spid="117"/>
                                        </p:tgtEl>
                                      </p:cBhvr>
                                    </p:animEffect>
                                  </p:childTnLst>
                                </p:cTn>
                              </p:par>
                              <p:par>
                                <p:cTn id="46" presetID="16" presetClass="entr" presetSubtype="21" fill="hold" nodeType="withEffect">
                                  <p:stCondLst>
                                    <p:cond delay="0"/>
                                  </p:stCondLst>
                                  <p:childTnLst>
                                    <p:set>
                                      <p:cBhvr>
                                        <p:cTn id="47" dur="1" fill="hold">
                                          <p:stCondLst>
                                            <p:cond delay="0"/>
                                          </p:stCondLst>
                                        </p:cTn>
                                        <p:tgtEl>
                                          <p:spTgt spid="121"/>
                                        </p:tgtEl>
                                        <p:attrNameLst>
                                          <p:attrName>style.visibility</p:attrName>
                                        </p:attrNameLst>
                                      </p:cBhvr>
                                      <p:to>
                                        <p:strVal val="visible"/>
                                      </p:to>
                                    </p:set>
                                    <p:animEffect transition="in" filter="barn(inVertical)">
                                      <p:cBhvr>
                                        <p:cTn id="48" dur="500"/>
                                        <p:tgtEl>
                                          <p:spTgt spid="121"/>
                                        </p:tgtEl>
                                      </p:cBhvr>
                                    </p:animEffect>
                                  </p:childTnLst>
                                </p:cTn>
                              </p:par>
                              <p:par>
                                <p:cTn id="49" presetID="16" presetClass="entr" presetSubtype="21" fill="hold" nodeType="withEffect">
                                  <p:stCondLst>
                                    <p:cond delay="0"/>
                                  </p:stCondLst>
                                  <p:childTnLst>
                                    <p:set>
                                      <p:cBhvr>
                                        <p:cTn id="50" dur="1" fill="hold">
                                          <p:stCondLst>
                                            <p:cond delay="0"/>
                                          </p:stCondLst>
                                        </p:cTn>
                                        <p:tgtEl>
                                          <p:spTgt spid="125"/>
                                        </p:tgtEl>
                                        <p:attrNameLst>
                                          <p:attrName>style.visibility</p:attrName>
                                        </p:attrNameLst>
                                      </p:cBhvr>
                                      <p:to>
                                        <p:strVal val="visible"/>
                                      </p:to>
                                    </p:set>
                                    <p:animEffect transition="in" filter="barn(inVertical)">
                                      <p:cBhvr>
                                        <p:cTn id="51" dur="500"/>
                                        <p:tgtEl>
                                          <p:spTgt spid="125"/>
                                        </p:tgtEl>
                                      </p:cBhvr>
                                    </p:animEffect>
                                  </p:childTnLst>
                                </p:cTn>
                              </p:par>
                              <p:par>
                                <p:cTn id="52" presetID="16" presetClass="entr" presetSubtype="21" fill="hold" nodeType="withEffect">
                                  <p:stCondLst>
                                    <p:cond delay="0"/>
                                  </p:stCondLst>
                                  <p:childTnLst>
                                    <p:set>
                                      <p:cBhvr>
                                        <p:cTn id="53" dur="1" fill="hold">
                                          <p:stCondLst>
                                            <p:cond delay="0"/>
                                          </p:stCondLst>
                                        </p:cTn>
                                        <p:tgtEl>
                                          <p:spTgt spid="129"/>
                                        </p:tgtEl>
                                        <p:attrNameLst>
                                          <p:attrName>style.visibility</p:attrName>
                                        </p:attrNameLst>
                                      </p:cBhvr>
                                      <p:to>
                                        <p:strVal val="visible"/>
                                      </p:to>
                                    </p:set>
                                    <p:animEffect transition="in" filter="barn(inVertical)">
                                      <p:cBhvr>
                                        <p:cTn id="54" dur="500"/>
                                        <p:tgtEl>
                                          <p:spTgt spid="129"/>
                                        </p:tgtEl>
                                      </p:cBhvr>
                                    </p:animEffect>
                                  </p:childTnLst>
                                </p:cTn>
                              </p:par>
                              <p:par>
                                <p:cTn id="55" presetID="16" presetClass="entr" presetSubtype="21" fill="hold" nodeType="withEffect">
                                  <p:stCondLst>
                                    <p:cond delay="0"/>
                                  </p:stCondLst>
                                  <p:childTnLst>
                                    <p:set>
                                      <p:cBhvr>
                                        <p:cTn id="56" dur="1" fill="hold">
                                          <p:stCondLst>
                                            <p:cond delay="0"/>
                                          </p:stCondLst>
                                        </p:cTn>
                                        <p:tgtEl>
                                          <p:spTgt spid="131"/>
                                        </p:tgtEl>
                                        <p:attrNameLst>
                                          <p:attrName>style.visibility</p:attrName>
                                        </p:attrNameLst>
                                      </p:cBhvr>
                                      <p:to>
                                        <p:strVal val="visible"/>
                                      </p:to>
                                    </p:set>
                                    <p:animEffect transition="in" filter="barn(inVertical)">
                                      <p:cBhvr>
                                        <p:cTn id="57" dur="500"/>
                                        <p:tgtEl>
                                          <p:spTgt spid="131"/>
                                        </p:tgtEl>
                                      </p:cBhvr>
                                    </p:animEffect>
                                  </p:childTnLst>
                                </p:cTn>
                              </p:par>
                              <p:par>
                                <p:cTn id="58" presetID="16" presetClass="entr" presetSubtype="21" fill="hold" nodeType="withEffect">
                                  <p:stCondLst>
                                    <p:cond delay="0"/>
                                  </p:stCondLst>
                                  <p:childTnLst>
                                    <p:set>
                                      <p:cBhvr>
                                        <p:cTn id="59" dur="1" fill="hold">
                                          <p:stCondLst>
                                            <p:cond delay="0"/>
                                          </p:stCondLst>
                                        </p:cTn>
                                        <p:tgtEl>
                                          <p:spTgt spid="132"/>
                                        </p:tgtEl>
                                        <p:attrNameLst>
                                          <p:attrName>style.visibility</p:attrName>
                                        </p:attrNameLst>
                                      </p:cBhvr>
                                      <p:to>
                                        <p:strVal val="visible"/>
                                      </p:to>
                                    </p:set>
                                    <p:animEffect transition="in" filter="barn(inVertical)">
                                      <p:cBhvr>
                                        <p:cTn id="60" dur="500"/>
                                        <p:tgtEl>
                                          <p:spTgt spid="132"/>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33"/>
                                        </p:tgtEl>
                                        <p:attrNameLst>
                                          <p:attrName>style.visibility</p:attrName>
                                        </p:attrNameLst>
                                      </p:cBhvr>
                                      <p:to>
                                        <p:strVal val="visible"/>
                                      </p:to>
                                    </p:set>
                                    <p:animEffect transition="in" filter="barn(inVertical)">
                                      <p:cBhvr>
                                        <p:cTn id="63" dur="500"/>
                                        <p:tgtEl>
                                          <p:spTgt spid="133"/>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34"/>
                                        </p:tgtEl>
                                        <p:attrNameLst>
                                          <p:attrName>style.visibility</p:attrName>
                                        </p:attrNameLst>
                                      </p:cBhvr>
                                      <p:to>
                                        <p:strVal val="visible"/>
                                      </p:to>
                                    </p:set>
                                    <p:animEffect transition="in" filter="barn(inVertical)">
                                      <p:cBhvr>
                                        <p:cTn id="66" dur="500"/>
                                        <p:tgtEl>
                                          <p:spTgt spid="134"/>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136"/>
                                        </p:tgtEl>
                                        <p:attrNameLst>
                                          <p:attrName>style.visibility</p:attrName>
                                        </p:attrNameLst>
                                      </p:cBhvr>
                                      <p:to>
                                        <p:strVal val="visible"/>
                                      </p:to>
                                    </p:set>
                                    <p:animEffect transition="in" filter="barn(inVertical)">
                                      <p:cBhvr>
                                        <p:cTn id="69" dur="500"/>
                                        <p:tgtEl>
                                          <p:spTgt spid="136"/>
                                        </p:tgtEl>
                                      </p:cBhvr>
                                    </p:animEffect>
                                  </p:childTnLst>
                                </p:cTn>
                              </p:par>
                              <p:par>
                                <p:cTn id="70" presetID="16" presetClass="entr" presetSubtype="21" fill="hold" grpId="0" nodeType="withEffect">
                                  <p:stCondLst>
                                    <p:cond delay="0"/>
                                  </p:stCondLst>
                                  <p:childTnLst>
                                    <p:set>
                                      <p:cBhvr>
                                        <p:cTn id="71" dur="1" fill="hold">
                                          <p:stCondLst>
                                            <p:cond delay="0"/>
                                          </p:stCondLst>
                                        </p:cTn>
                                        <p:tgtEl>
                                          <p:spTgt spid="137"/>
                                        </p:tgtEl>
                                        <p:attrNameLst>
                                          <p:attrName>style.visibility</p:attrName>
                                        </p:attrNameLst>
                                      </p:cBhvr>
                                      <p:to>
                                        <p:strVal val="visible"/>
                                      </p:to>
                                    </p:set>
                                    <p:animEffect transition="in" filter="barn(inVertical)">
                                      <p:cBhvr>
                                        <p:cTn id="72" dur="500"/>
                                        <p:tgtEl>
                                          <p:spTgt spid="137"/>
                                        </p:tgtEl>
                                      </p:cBhvr>
                                    </p:animEffect>
                                  </p:childTnLst>
                                </p:cTn>
                              </p:par>
                              <p:par>
                                <p:cTn id="73" presetID="16" presetClass="entr" presetSubtype="21" fill="hold" grpId="0" nodeType="withEffect">
                                  <p:stCondLst>
                                    <p:cond delay="0"/>
                                  </p:stCondLst>
                                  <p:childTnLst>
                                    <p:set>
                                      <p:cBhvr>
                                        <p:cTn id="74" dur="1" fill="hold">
                                          <p:stCondLst>
                                            <p:cond delay="0"/>
                                          </p:stCondLst>
                                        </p:cTn>
                                        <p:tgtEl>
                                          <p:spTgt spid="138"/>
                                        </p:tgtEl>
                                        <p:attrNameLst>
                                          <p:attrName>style.visibility</p:attrName>
                                        </p:attrNameLst>
                                      </p:cBhvr>
                                      <p:to>
                                        <p:strVal val="visible"/>
                                      </p:to>
                                    </p:set>
                                    <p:animEffect transition="in" filter="barn(inVertical)">
                                      <p:cBhvr>
                                        <p:cTn id="75"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109" grpId="0" animBg="1"/>
      <p:bldP spid="133" grpId="0" animBg="1"/>
      <p:bldP spid="134" grpId="0" animBg="1"/>
      <p:bldP spid="135" grpId="0" animBg="1"/>
      <p:bldP spid="136" grpId="0" animBg="1"/>
      <p:bldP spid="137" grpId="0" animBg="1"/>
      <p:bldP spid="13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ChangeArrowheads="1"/>
          </p:cNvSpPr>
          <p:nvPr/>
        </p:nvSpPr>
        <p:spPr bwMode="auto">
          <a:xfrm>
            <a:off x="637592" y="1124744"/>
            <a:ext cx="8254887"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t>Exercise: </a:t>
            </a:r>
            <a:r>
              <a:rPr lang="en-US" altLang="zh-CN" sz="2800" b="0" dirty="0">
                <a:latin typeface="+mn-lt"/>
              </a:rPr>
              <a:t>Please give the general equivalent points and the distribution of symmetry elements in 2D space groups  </a:t>
            </a:r>
            <a:r>
              <a:rPr lang="en-US" altLang="zh-CN" sz="2800" b="0" kern="100" dirty="0">
                <a:latin typeface="+mn-lt"/>
                <a:ea typeface="等线" panose="02010600030101010101" pitchFamily="2" charset="-122"/>
                <a:cs typeface="Times New Roman" panose="02020603050405020304" pitchFamily="18" charset="0"/>
              </a:rPr>
              <a:t>No. 9 2D space group</a:t>
            </a:r>
            <a:endParaRPr lang="en-US" sz="2800" b="0" dirty="0">
              <a:effectLst>
                <a:outerShdw blurRad="38100" dist="38100" dir="2700000" algn="tl">
                  <a:srgbClr val="000000"/>
                </a:outerShdw>
              </a:effectLst>
              <a:latin typeface="+mn-lt"/>
            </a:endParaRPr>
          </a:p>
          <a:p>
            <a:endParaRPr lang="en-US" altLang="zh-CN" sz="4000" i="1" dirty="0">
              <a:solidFill>
                <a:srgbClr val="FF0066"/>
              </a:solidFill>
              <a:effectLst>
                <a:outerShdw blurRad="38100" dist="38100" dir="2700000" algn="tl">
                  <a:srgbClr val="000000"/>
                </a:outerShdw>
              </a:effectLst>
              <a:ea typeface="宋体" panose="02010600030101010101" pitchFamily="2" charset="-122"/>
            </a:endParaRPr>
          </a:p>
          <a:p>
            <a:endParaRPr lang="en-US" altLang="zh-CN" sz="4000" i="1" dirty="0">
              <a:solidFill>
                <a:srgbClr val="FF0066"/>
              </a:solidFill>
              <a:effectLst>
                <a:outerShdw blurRad="38100" dist="38100" dir="2700000" algn="tl">
                  <a:srgbClr val="000000"/>
                </a:outerShdw>
              </a:effectLst>
              <a:ea typeface="宋体" panose="02010600030101010101" pitchFamily="2" charset="-122"/>
            </a:endParaRPr>
          </a:p>
        </p:txBody>
      </p:sp>
      <p:sp>
        <p:nvSpPr>
          <p:cNvPr id="72" name="Rectangle 71"/>
          <p:cNvSpPr/>
          <p:nvPr/>
        </p:nvSpPr>
        <p:spPr>
          <a:xfrm>
            <a:off x="1524482" y="237276"/>
            <a:ext cx="6977985" cy="584775"/>
          </a:xfrm>
          <a:prstGeom prst="rect">
            <a:avLst/>
          </a:prstGeom>
        </p:spPr>
        <p:txBody>
          <a:bodyPr wrap="square">
            <a:spAutoFit/>
          </a:bodyPr>
          <a:lstStyle/>
          <a:p>
            <a:r>
              <a:rPr lang="en-US" altLang="zh-CN" sz="3200" dirty="0">
                <a:latin typeface="+mj-lt"/>
                <a:cs typeface="Times New Roman" panose="02020603050405020304" pitchFamily="18" charset="0"/>
              </a:rPr>
              <a:t>R</a:t>
            </a:r>
            <a:r>
              <a:rPr lang="zh-CN" altLang="en-US" sz="3200" dirty="0">
                <a:latin typeface="+mj-lt"/>
                <a:cs typeface="Times New Roman" panose="02020603050405020304" pitchFamily="18" charset="0"/>
              </a:rPr>
              <a:t>epresentation of </a:t>
            </a:r>
            <a:r>
              <a:rPr lang="en-US" altLang="zh-CN" sz="3200" dirty="0">
                <a:latin typeface="+mj-lt"/>
                <a:cs typeface="Times New Roman" panose="02020603050405020304" pitchFamily="18" charset="0"/>
              </a:rPr>
              <a:t>2D space</a:t>
            </a:r>
            <a:r>
              <a:rPr lang="zh-CN" altLang="en-US" sz="3200" dirty="0">
                <a:latin typeface="+mj-lt"/>
                <a:cs typeface="Times New Roman" panose="02020603050405020304" pitchFamily="18" charset="0"/>
              </a:rPr>
              <a:t> group</a:t>
            </a:r>
            <a:r>
              <a:rPr lang="en-US" altLang="zh-CN" sz="3200" dirty="0">
                <a:latin typeface="+mj-lt"/>
                <a:cs typeface="Times New Roman" panose="02020603050405020304" pitchFamily="18" charset="0"/>
              </a:rPr>
              <a:t>s</a:t>
            </a:r>
            <a:endParaRPr lang="zh-CN" altLang="en-US" sz="3200" dirty="0">
              <a:latin typeface="+mj-lt"/>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5966188" y="1868865"/>
            <a:ext cx="1859138" cy="944892"/>
          </a:xfrm>
          <a:prstGeom prst="rect">
            <a:avLst/>
          </a:prstGeom>
        </p:spPr>
      </p:pic>
    </p:spTree>
  </p:cSld>
  <p:clrMapOvr>
    <a:masterClrMapping/>
  </p:clrMapOvr>
  <p:transition spd="med">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descr="File:SymBlend p1.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700808"/>
            <a:ext cx="3625574"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File:SymBlend p2.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140969"/>
            <a:ext cx="3625574"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File:SymBlend pm.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4653137"/>
            <a:ext cx="3625574"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File:SymBlend pg.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1702753"/>
            <a:ext cx="3625572"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descr="File:SymBlend cm.sv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4007" y="3080352"/>
            <a:ext cx="3810001" cy="1362076"/>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descr="File:SymBlend pmm.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4008" y="4625601"/>
            <a:ext cx="3702600" cy="132368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1914127" y="1628800"/>
            <a:ext cx="2457643"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4" name="Rectangle 13"/>
          <p:cNvSpPr/>
          <p:nvPr/>
        </p:nvSpPr>
        <p:spPr>
          <a:xfrm>
            <a:off x="6084168" y="1543759"/>
            <a:ext cx="2736304"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pic>
        <p:nvPicPr>
          <p:cNvPr id="26626"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07258" y="1207824"/>
            <a:ext cx="1133475"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20"/>
          <p:cNvSpPr/>
          <p:nvPr/>
        </p:nvSpPr>
        <p:spPr>
          <a:xfrm>
            <a:off x="5054914" y="1828800"/>
            <a:ext cx="368059" cy="36470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17290" y="407564"/>
            <a:ext cx="7852290" cy="584775"/>
          </a:xfrm>
          <a:prstGeom prst="rect">
            <a:avLst/>
          </a:prstGeom>
          <a:noFill/>
        </p:spPr>
        <p:txBody>
          <a:bodyPr wrap="square" rtlCol="0">
            <a:spAutoFit/>
          </a:bodyPr>
          <a:lstStyle/>
          <a:p>
            <a:r>
              <a:rPr lang="en-US" altLang="zh-CN" sz="3200" dirty="0">
                <a:latin typeface="+mj-lt"/>
                <a:cs typeface="Times New Roman" panose="02020603050405020304" pitchFamily="18" charset="0"/>
              </a:rPr>
              <a:t>Exercises: marking space groups</a:t>
            </a:r>
            <a:endParaRPr lang="zh-CN" altLang="en-US" sz="3200" dirty="0">
              <a:latin typeface="+mj-lt"/>
              <a:cs typeface="Times New Roman" panose="02020603050405020304" pitchFamily="18" charset="0"/>
            </a:endParaRPr>
          </a:p>
        </p:txBody>
      </p:sp>
    </p:spTree>
  </p:cSld>
  <p:clrMapOvr>
    <a:masterClrMapping/>
  </p:clrMapOvr>
  <p:transition spd="med">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descr="File:SymBlend p1.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700808"/>
            <a:ext cx="3625574"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File:SymBlend p2.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140969"/>
            <a:ext cx="3625574"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File:SymBlend pm.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4653137"/>
            <a:ext cx="3625574"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File:SymBlend pg.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1702753"/>
            <a:ext cx="3625572" cy="1296143"/>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descr="File:SymBlend cm.sv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4007" y="3080352"/>
            <a:ext cx="3810001" cy="1362076"/>
          </a:xfrm>
          <a:prstGeom prst="rect">
            <a:avLst/>
          </a:prstGeom>
          <a:noFill/>
          <a:extLst>
            <a:ext uri="{909E8E84-426E-40DD-AFC4-6F175D3DCCD1}">
              <a14:hiddenFill xmlns:a14="http://schemas.microsoft.com/office/drawing/2010/main">
                <a:solidFill>
                  <a:srgbClr val="FFFFFF"/>
                </a:solidFill>
              </a14:hiddenFill>
            </a:ext>
          </a:extLst>
        </p:spPr>
      </p:pic>
      <p:pic>
        <p:nvPicPr>
          <p:cNvPr id="11278" name="Picture 14" descr="File:SymBlend pmm.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4008" y="4625601"/>
            <a:ext cx="3702600" cy="132368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1427217" y="1608690"/>
            <a:ext cx="2736304"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pic>
        <p:nvPicPr>
          <p:cNvPr id="26626"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07258" y="1207824"/>
            <a:ext cx="1133475"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ectangle 2065"/>
          <p:cNvSpPr>
            <a:spLocks noChangeArrowheads="1"/>
          </p:cNvSpPr>
          <p:nvPr/>
        </p:nvSpPr>
        <p:spPr bwMode="auto">
          <a:xfrm>
            <a:off x="1614910" y="3658111"/>
            <a:ext cx="2210983"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solidFill>
                  <a:srgbClr val="FF3399"/>
                </a:solidFill>
                <a:effectLst/>
                <a:ea typeface="宋体" panose="02010600030101010101" pitchFamily="2" charset="-122"/>
              </a:rPr>
              <a:t>P211</a:t>
            </a:r>
            <a:r>
              <a:rPr lang="en-US" altLang="zh-CN" sz="1800" i="1" dirty="0">
                <a:effectLst/>
                <a:ea typeface="宋体" panose="02010600030101010101" pitchFamily="2" charset="-122"/>
              </a:rPr>
              <a:t> or </a:t>
            </a:r>
            <a:r>
              <a:rPr lang="en-US" altLang="zh-CN" i="1" dirty="0"/>
              <a:t>P4</a:t>
            </a:r>
            <a:r>
              <a:rPr lang="zh-CN" altLang="en-US" i="1" dirty="0"/>
              <a:t>（</a:t>
            </a:r>
            <a:r>
              <a:rPr lang="en-US" altLang="zh-CN" i="1" dirty="0"/>
              <a:t>×</a:t>
            </a:r>
            <a:r>
              <a:rPr lang="zh-CN" altLang="en-US" i="1" dirty="0"/>
              <a:t>）</a:t>
            </a:r>
            <a:endParaRPr lang="en-US" altLang="zh-CN" sz="1800" dirty="0">
              <a:effectLst/>
              <a:ea typeface="宋体" panose="02010600030101010101" pitchFamily="2" charset="-122"/>
            </a:endParaRPr>
          </a:p>
        </p:txBody>
      </p:sp>
      <p:sp>
        <p:nvSpPr>
          <p:cNvPr id="16" name="Rectangle 2070"/>
          <p:cNvSpPr>
            <a:spLocks noChangeArrowheads="1"/>
          </p:cNvSpPr>
          <p:nvPr/>
        </p:nvSpPr>
        <p:spPr bwMode="auto">
          <a:xfrm>
            <a:off x="1643088" y="4952504"/>
            <a:ext cx="2401439" cy="36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solidFill>
                  <a:srgbClr val="FF3399"/>
                </a:solidFill>
                <a:effectLst/>
                <a:ea typeface="宋体" panose="02010600030101010101" pitchFamily="2" charset="-122"/>
              </a:rPr>
              <a:t>P1m1</a:t>
            </a:r>
            <a:r>
              <a:rPr lang="en-US" altLang="zh-CN" sz="1800" i="1" dirty="0">
                <a:effectLst/>
                <a:ea typeface="宋体" panose="02010600030101010101" pitchFamily="2" charset="-122"/>
              </a:rPr>
              <a:t> or P</a:t>
            </a:r>
            <a:r>
              <a:rPr lang="en-US" altLang="zh-CN" i="1" dirty="0"/>
              <a:t>2mm</a:t>
            </a:r>
            <a:r>
              <a:rPr lang="zh-CN" altLang="en-US" i="1" dirty="0"/>
              <a:t>（</a:t>
            </a:r>
            <a:r>
              <a:rPr lang="en-US" altLang="zh-CN" i="1" dirty="0"/>
              <a:t>×</a:t>
            </a:r>
            <a:r>
              <a:rPr lang="zh-CN" altLang="en-US" i="1" dirty="0"/>
              <a:t>）</a:t>
            </a:r>
            <a:endParaRPr lang="en-US" altLang="zh-CN" dirty="0"/>
          </a:p>
        </p:txBody>
      </p:sp>
      <p:sp>
        <p:nvSpPr>
          <p:cNvPr id="17" name="Rectangle 2073"/>
          <p:cNvSpPr>
            <a:spLocks noChangeArrowheads="1"/>
          </p:cNvSpPr>
          <p:nvPr/>
        </p:nvSpPr>
        <p:spPr bwMode="auto">
          <a:xfrm>
            <a:off x="6223949" y="1698975"/>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a:effectLst/>
                <a:ea typeface="宋体" panose="02010600030101010101" pitchFamily="2" charset="-122"/>
              </a:rPr>
              <a:t>p1g1</a:t>
            </a:r>
            <a:endParaRPr lang="en-US" altLang="zh-CN" sz="1800">
              <a:effectLst/>
              <a:ea typeface="宋体" panose="02010600030101010101" pitchFamily="2" charset="-122"/>
            </a:endParaRPr>
          </a:p>
        </p:txBody>
      </p:sp>
      <p:sp>
        <p:nvSpPr>
          <p:cNvPr id="18" name="Rectangle 2076"/>
          <p:cNvSpPr>
            <a:spLocks noChangeArrowheads="1"/>
          </p:cNvSpPr>
          <p:nvPr/>
        </p:nvSpPr>
        <p:spPr bwMode="auto">
          <a:xfrm>
            <a:off x="6223949" y="3054851"/>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a:effectLst/>
                <a:ea typeface="宋体" panose="02010600030101010101" pitchFamily="2" charset="-122"/>
              </a:rPr>
              <a:t>c1m1</a:t>
            </a:r>
            <a:endParaRPr lang="en-US" altLang="zh-CN" sz="1800">
              <a:effectLst/>
              <a:ea typeface="宋体" panose="02010600030101010101" pitchFamily="2" charset="-122"/>
            </a:endParaRPr>
          </a:p>
        </p:txBody>
      </p:sp>
      <p:sp>
        <p:nvSpPr>
          <p:cNvPr id="19" name="Rectangle 2080"/>
          <p:cNvSpPr>
            <a:spLocks noChangeArrowheads="1"/>
          </p:cNvSpPr>
          <p:nvPr/>
        </p:nvSpPr>
        <p:spPr bwMode="auto">
          <a:xfrm>
            <a:off x="4850838" y="6093296"/>
            <a:ext cx="2601482"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solidFill>
                  <a:srgbClr val="FF3399"/>
                </a:solidFill>
                <a:effectLst/>
                <a:ea typeface="宋体" panose="02010600030101010101" pitchFamily="2" charset="-122"/>
              </a:rPr>
              <a:t>P2mm  </a:t>
            </a:r>
            <a:r>
              <a:rPr lang="en-US" altLang="zh-CN" sz="1800" i="1" dirty="0">
                <a:effectLst/>
                <a:ea typeface="宋体" panose="02010600030101010101" pitchFamily="2" charset="-122"/>
              </a:rPr>
              <a:t>or C2mm</a:t>
            </a:r>
            <a:r>
              <a:rPr lang="zh-CN" altLang="en-US" i="1" dirty="0"/>
              <a:t> （</a:t>
            </a:r>
            <a:r>
              <a:rPr lang="en-US" altLang="zh-CN" i="1" dirty="0"/>
              <a:t>×</a:t>
            </a:r>
            <a:r>
              <a:rPr lang="zh-CN" altLang="en-US" i="1" dirty="0"/>
              <a:t>）</a:t>
            </a:r>
            <a:endParaRPr lang="en-US" altLang="zh-CN" sz="1800" dirty="0">
              <a:effectLst/>
              <a:ea typeface="宋体" panose="02010600030101010101" pitchFamily="2" charset="-122"/>
            </a:endParaRPr>
          </a:p>
        </p:txBody>
      </p:sp>
      <p:sp>
        <p:nvSpPr>
          <p:cNvPr id="20" name="Freeform 19"/>
          <p:cNvSpPr/>
          <p:nvPr/>
        </p:nvSpPr>
        <p:spPr>
          <a:xfrm>
            <a:off x="797442" y="1828800"/>
            <a:ext cx="489098" cy="637953"/>
          </a:xfrm>
          <a:custGeom>
            <a:avLst/>
            <a:gdLst>
              <a:gd name="connsiteX0" fmla="*/ 255181 w 489098"/>
              <a:gd name="connsiteY0" fmla="*/ 0 h 637953"/>
              <a:gd name="connsiteX1" fmla="*/ 489098 w 489098"/>
              <a:gd name="connsiteY1" fmla="*/ 308344 h 637953"/>
              <a:gd name="connsiteX2" fmla="*/ 255181 w 489098"/>
              <a:gd name="connsiteY2" fmla="*/ 637953 h 637953"/>
              <a:gd name="connsiteX3" fmla="*/ 0 w 489098"/>
              <a:gd name="connsiteY3" fmla="*/ 308344 h 637953"/>
              <a:gd name="connsiteX4" fmla="*/ 255181 w 489098"/>
              <a:gd name="connsiteY4" fmla="*/ 0 h 637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098" h="637953">
                <a:moveTo>
                  <a:pt x="255181" y="0"/>
                </a:moveTo>
                <a:lnTo>
                  <a:pt x="489098" y="308344"/>
                </a:lnTo>
                <a:lnTo>
                  <a:pt x="255181" y="637953"/>
                </a:lnTo>
                <a:lnTo>
                  <a:pt x="0" y="308344"/>
                </a:lnTo>
                <a:lnTo>
                  <a:pt x="255181"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p:cNvCxnSpPr/>
          <p:nvPr/>
        </p:nvCxnSpPr>
        <p:spPr>
          <a:xfrm>
            <a:off x="1286540" y="1963110"/>
            <a:ext cx="1557268" cy="0"/>
          </a:xfrm>
          <a:prstGeom prst="straightConnector1">
            <a:avLst/>
          </a:prstGeom>
          <a:ln w="57150">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909551" y="1779324"/>
            <a:ext cx="466794" cy="369332"/>
          </a:xfrm>
          <a:prstGeom prst="rect">
            <a:avLst/>
          </a:prstGeom>
          <a:noFill/>
        </p:spPr>
        <p:txBody>
          <a:bodyPr wrap="none" rtlCol="0">
            <a:spAutoFit/>
          </a:bodyPr>
          <a:lstStyle/>
          <a:p>
            <a:r>
              <a:rPr lang="en-US" altLang="zh-CN" dirty="0"/>
              <a:t>P1</a:t>
            </a:r>
            <a:endParaRPr lang="en-US" dirty="0"/>
          </a:p>
        </p:txBody>
      </p:sp>
      <p:sp>
        <p:nvSpPr>
          <p:cNvPr id="23" name="Rectangle 22"/>
          <p:cNvSpPr/>
          <p:nvPr/>
        </p:nvSpPr>
        <p:spPr>
          <a:xfrm>
            <a:off x="803417" y="2147776"/>
            <a:ext cx="477148" cy="561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p:nvPr/>
        </p:nvCxnSpPr>
        <p:spPr>
          <a:xfrm>
            <a:off x="1395333" y="2434483"/>
            <a:ext cx="1557268" cy="0"/>
          </a:xfrm>
          <a:prstGeom prst="straightConnector1">
            <a:avLst/>
          </a:prstGeom>
          <a:ln w="57150">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332943" y="2482803"/>
            <a:ext cx="2221243" cy="738664"/>
          </a:xfrm>
          <a:prstGeom prst="rect">
            <a:avLst/>
          </a:prstGeom>
          <a:noFill/>
        </p:spPr>
        <p:txBody>
          <a:bodyPr wrap="square" rtlCol="0">
            <a:spAutoFit/>
          </a:bodyPr>
          <a:lstStyle/>
          <a:p>
            <a:r>
              <a:rPr lang="en-US" altLang="zh-CN" sz="1400" dirty="0"/>
              <a:t>C1</a:t>
            </a:r>
            <a:r>
              <a:rPr lang="zh-CN" altLang="en-US" sz="1400" dirty="0"/>
              <a:t>？</a:t>
            </a:r>
            <a:r>
              <a:rPr lang="en-US" altLang="zh-CN" sz="1400" dirty="0"/>
              <a:t>no this point group</a:t>
            </a:r>
          </a:p>
          <a:p>
            <a:r>
              <a:rPr lang="en-US" altLang="zh-CN" sz="1400" dirty="0"/>
              <a:t>Only cm</a:t>
            </a:r>
            <a:r>
              <a:rPr lang="zh-CN" altLang="en-US" sz="1400" dirty="0"/>
              <a:t>，</a:t>
            </a:r>
            <a:r>
              <a:rPr lang="en-US" altLang="zh-CN" sz="1400" dirty="0"/>
              <a:t>but there is no m here.</a:t>
            </a:r>
            <a:endParaRPr lang="en-US" sz="1400" dirty="0"/>
          </a:p>
        </p:txBody>
      </p:sp>
      <p:pic>
        <p:nvPicPr>
          <p:cNvPr id="31"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5048428" y="2165720"/>
            <a:ext cx="369280" cy="366318"/>
          </a:xfrm>
          <a:prstGeom prst="rect">
            <a:avLst/>
          </a:prstGeom>
          <a:noFill/>
          <a:ln w="9525">
            <a:solidFill>
              <a:srgbClr val="00FF00"/>
            </a:solidFill>
            <a:miter lim="800000"/>
            <a:headEnd/>
            <a:tailEnd/>
          </a:ln>
          <a:extLst>
            <a:ext uri="{909E8E84-426E-40DD-AFC4-6F175D3DCCD1}">
              <a14:hiddenFill xmlns:a14="http://schemas.microsoft.com/office/drawing/2010/main">
                <a:solidFill>
                  <a:schemeClr val="accent1"/>
                </a:solidFill>
              </a14:hiddenFill>
            </a:ext>
          </a:extLst>
        </p:spPr>
      </p:pic>
      <p:cxnSp>
        <p:nvCxnSpPr>
          <p:cNvPr id="34" name="Straight Connector 33"/>
          <p:cNvCxnSpPr/>
          <p:nvPr/>
        </p:nvCxnSpPr>
        <p:spPr>
          <a:xfrm>
            <a:off x="4464366" y="2367178"/>
            <a:ext cx="1723957" cy="0"/>
          </a:xfrm>
          <a:prstGeom prst="line">
            <a:avLst/>
          </a:prstGeom>
          <a:ln w="28575">
            <a:solidFill>
              <a:srgbClr val="00FF00"/>
            </a:solidFill>
            <a:prstDash val="dash"/>
          </a:ln>
        </p:spPr>
        <p:style>
          <a:lnRef idx="1">
            <a:schemeClr val="accent1"/>
          </a:lnRef>
          <a:fillRef idx="0">
            <a:schemeClr val="accent1"/>
          </a:fillRef>
          <a:effectRef idx="0">
            <a:schemeClr val="accent1"/>
          </a:effectRef>
          <a:fontRef idx="minor">
            <a:schemeClr val="tx1"/>
          </a:fontRef>
        </p:style>
      </p:cxnSp>
      <p:pic>
        <p:nvPicPr>
          <p:cNvPr id="28"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800000" flipV="1">
            <a:off x="5051303" y="2170264"/>
            <a:ext cx="369280" cy="366318"/>
          </a:xfrm>
          <a:prstGeom prst="rect">
            <a:avLst/>
          </a:prstGeom>
          <a:noFill/>
          <a:ln w="9525">
            <a:solidFill>
              <a:srgbClr val="00FF00"/>
            </a:solidFill>
            <a:miter lim="800000"/>
            <a:headEnd/>
            <a:tailEnd/>
          </a:ln>
          <a:extLst>
            <a:ext uri="{909E8E84-426E-40DD-AFC4-6F175D3DCCD1}">
              <a14:hiddenFill xmlns:a14="http://schemas.microsoft.com/office/drawing/2010/main">
                <a:solidFill>
                  <a:schemeClr val="accent1"/>
                </a:solidFill>
              </a14:hiddenFill>
            </a:ext>
          </a:extLst>
        </p:spPr>
      </p:pic>
      <p:cxnSp>
        <p:nvCxnSpPr>
          <p:cNvPr id="29" name="Straight Connector 28"/>
          <p:cNvCxnSpPr/>
          <p:nvPr/>
        </p:nvCxnSpPr>
        <p:spPr>
          <a:xfrm flipH="1">
            <a:off x="5048428" y="1608690"/>
            <a:ext cx="2875" cy="1471662"/>
          </a:xfrm>
          <a:prstGeom prst="line">
            <a:avLst/>
          </a:prstGeom>
          <a:ln w="28575">
            <a:solidFill>
              <a:srgbClr val="00FF00"/>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5419903" y="1608690"/>
            <a:ext cx="2875" cy="1471662"/>
          </a:xfrm>
          <a:prstGeom prst="line">
            <a:avLst/>
          </a:prstGeom>
          <a:ln w="28575">
            <a:solidFill>
              <a:srgbClr val="00FF00"/>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5238928" y="1608690"/>
            <a:ext cx="2875" cy="1471662"/>
          </a:xfrm>
          <a:prstGeom prst="line">
            <a:avLst/>
          </a:prstGeom>
          <a:ln w="28575">
            <a:solidFill>
              <a:srgbClr val="00FF00"/>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286540" y="3579559"/>
            <a:ext cx="1269236" cy="785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4283968" y="5013176"/>
            <a:ext cx="648072" cy="50405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283968" y="5287441"/>
            <a:ext cx="1133740" cy="22979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797060" y="5542161"/>
            <a:ext cx="2846947" cy="646331"/>
          </a:xfrm>
          <a:prstGeom prst="rect">
            <a:avLst/>
          </a:prstGeom>
          <a:noFill/>
        </p:spPr>
        <p:txBody>
          <a:bodyPr wrap="square" rtlCol="0">
            <a:spAutoFit/>
          </a:bodyPr>
          <a:lstStyle/>
          <a:p>
            <a:r>
              <a:rPr lang="en-US" altLang="zh-CN" dirty="0"/>
              <a:t>these two points are not equivalent</a:t>
            </a:r>
            <a:endParaRPr lang="en-US" dirty="0"/>
          </a:p>
        </p:txBody>
      </p:sp>
      <p:sp>
        <p:nvSpPr>
          <p:cNvPr id="36" name="TextBox 35"/>
          <p:cNvSpPr txBox="1"/>
          <p:nvPr/>
        </p:nvSpPr>
        <p:spPr>
          <a:xfrm>
            <a:off x="467544" y="356908"/>
            <a:ext cx="6408712" cy="584775"/>
          </a:xfrm>
          <a:prstGeom prst="rect">
            <a:avLst/>
          </a:prstGeom>
          <a:noFill/>
        </p:spPr>
        <p:txBody>
          <a:bodyPr wrap="square" rtlCol="0">
            <a:spAutoFit/>
          </a:bodyPr>
          <a:lstStyle>
            <a:defPPr>
              <a:defRPr lang="zh-CN"/>
            </a:defPPr>
            <a:lvl1pPr>
              <a:defRPr sz="3200">
                <a:latin typeface="+mj-lt"/>
                <a:cs typeface="Times New Roman" panose="02020603050405020304" pitchFamily="18" charset="0"/>
              </a:defRPr>
            </a:lvl1pPr>
          </a:lstStyle>
          <a:p>
            <a:r>
              <a:rPr lang="en-US" altLang="zh-CN" dirty="0"/>
              <a:t>Exercises: marking space groups</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44444E-6 -2.59259E-6 L -0.02083 -0.00023 " pathEditMode="relative" rAng="0" ptsTypes="AA">
                                      <p:cBhvr>
                                        <p:cTn id="11" dur="2000" fill="hold"/>
                                        <p:tgtEl>
                                          <p:spTgt spid="31"/>
                                        </p:tgtEl>
                                        <p:attrNameLst>
                                          <p:attrName>ppt_x</p:attrName>
                                          <p:attrName>ppt_y</p:attrName>
                                        </p:attrNameLst>
                                      </p:cBhvr>
                                      <p:rCtr x="-1042"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File:SymBlend pmg.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772816"/>
            <a:ext cx="3904228"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File:SymBlend pgg.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284984"/>
            <a:ext cx="3904228"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descr="File:SymBlend cmm.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792" y="4814885"/>
            <a:ext cx="3913979" cy="1399249"/>
          </a:xfrm>
          <a:prstGeom prst="rect">
            <a:avLst/>
          </a:prstGeom>
          <a:noFill/>
          <a:extLst>
            <a:ext uri="{909E8E84-426E-40DD-AFC4-6F175D3DCCD1}">
              <a14:hiddenFill xmlns:a14="http://schemas.microsoft.com/office/drawing/2010/main">
                <a:solidFill>
                  <a:srgbClr val="FFFFFF"/>
                </a:solidFill>
              </a14:hiddenFill>
            </a:ext>
          </a:extLst>
        </p:spPr>
      </p:pic>
      <p:pic>
        <p:nvPicPr>
          <p:cNvPr id="19464" name="Picture 8" descr="File:SymBlend p4.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8444" y="1772817"/>
            <a:ext cx="3904227"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6" name="Picture 10" descr="File:SymBlend p4m.sv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2891" y="3284984"/>
            <a:ext cx="3904227"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8" name="Picture 12" descr="File:SymBlend p4g.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1088" y="4814884"/>
            <a:ext cx="3913982" cy="13992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1914127" y="1708884"/>
            <a:ext cx="2457643"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a:p>
        </p:txBody>
      </p:sp>
      <p:sp>
        <p:nvSpPr>
          <p:cNvPr id="16" name="Rectangle 15"/>
          <p:cNvSpPr/>
          <p:nvPr/>
        </p:nvSpPr>
        <p:spPr>
          <a:xfrm>
            <a:off x="6084168" y="1543759"/>
            <a:ext cx="2736304"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a:p>
        </p:txBody>
      </p:sp>
      <p:sp>
        <p:nvSpPr>
          <p:cNvPr id="12" name="TextBox 11"/>
          <p:cNvSpPr txBox="1"/>
          <p:nvPr/>
        </p:nvSpPr>
        <p:spPr>
          <a:xfrm>
            <a:off x="467544" y="446662"/>
            <a:ext cx="7992888" cy="584775"/>
          </a:xfrm>
          <a:prstGeom prst="rect">
            <a:avLst/>
          </a:prstGeom>
          <a:noFill/>
        </p:spPr>
        <p:txBody>
          <a:bodyPr wrap="square" rtlCol="0">
            <a:spAutoFit/>
          </a:bodyPr>
          <a:lstStyle>
            <a:defPPr>
              <a:defRPr lang="zh-CN"/>
            </a:defPPr>
            <a:lvl1pPr>
              <a:defRPr sz="3200">
                <a:latin typeface="+mj-lt"/>
                <a:cs typeface="Times New Roman" panose="02020603050405020304" pitchFamily="18" charset="0"/>
              </a:defRPr>
            </a:lvl1pPr>
          </a:lstStyle>
          <a:p>
            <a:r>
              <a:rPr lang="en-US" altLang="zh-CN" dirty="0"/>
              <a:t>Exercises: marking space groups</a:t>
            </a:r>
            <a:endParaRPr lang="zh-CN" altLang="en-US" dirty="0"/>
          </a:p>
        </p:txBody>
      </p:sp>
    </p:spTree>
  </p:cSld>
  <p:clrMapOvr>
    <a:masterClrMapping/>
  </p:clrMapOvr>
  <p:transition spd="med">
    <p:zoom/>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458" name="Picture 2" descr="File:SymBlend pmg.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369725"/>
            <a:ext cx="3904228"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File:SymBlend pgg.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886" y="3079781"/>
            <a:ext cx="3904228"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descr="File:SymBlend cmm.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792" y="4814885"/>
            <a:ext cx="3913979" cy="1399249"/>
          </a:xfrm>
          <a:prstGeom prst="rect">
            <a:avLst/>
          </a:prstGeom>
          <a:noFill/>
          <a:extLst>
            <a:ext uri="{909E8E84-426E-40DD-AFC4-6F175D3DCCD1}">
              <a14:hiddenFill xmlns:a14="http://schemas.microsoft.com/office/drawing/2010/main">
                <a:solidFill>
                  <a:srgbClr val="FFFFFF"/>
                </a:solidFill>
              </a14:hiddenFill>
            </a:ext>
          </a:extLst>
        </p:spPr>
      </p:pic>
      <p:pic>
        <p:nvPicPr>
          <p:cNvPr id="19464" name="Picture 8" descr="File:SymBlend p4.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8444" y="1369726"/>
            <a:ext cx="3904227"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6" name="Picture 10" descr="File:SymBlend p4m.sv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2891" y="3113358"/>
            <a:ext cx="3904227"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8" name="Picture 12" descr="File:SymBlend p4g.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1088" y="4814884"/>
            <a:ext cx="3913982" cy="13992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083"/>
          <p:cNvSpPr>
            <a:spLocks noChangeArrowheads="1"/>
          </p:cNvSpPr>
          <p:nvPr/>
        </p:nvSpPr>
        <p:spPr bwMode="auto">
          <a:xfrm>
            <a:off x="1951268" y="1052736"/>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p2mg</a:t>
            </a:r>
            <a:endParaRPr lang="en-US" altLang="zh-CN" sz="1800" dirty="0">
              <a:effectLst/>
              <a:ea typeface="宋体" panose="02010600030101010101" pitchFamily="2" charset="-122"/>
            </a:endParaRPr>
          </a:p>
        </p:txBody>
      </p:sp>
      <p:sp>
        <p:nvSpPr>
          <p:cNvPr id="12" name="Rectangle 2086"/>
          <p:cNvSpPr>
            <a:spLocks noChangeArrowheads="1"/>
          </p:cNvSpPr>
          <p:nvPr/>
        </p:nvSpPr>
        <p:spPr bwMode="auto">
          <a:xfrm>
            <a:off x="1951268" y="2780929"/>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p2gg</a:t>
            </a:r>
            <a:endParaRPr lang="en-US" altLang="zh-CN" sz="1800" dirty="0">
              <a:effectLst/>
              <a:ea typeface="宋体" panose="02010600030101010101" pitchFamily="2" charset="-122"/>
            </a:endParaRPr>
          </a:p>
        </p:txBody>
      </p:sp>
      <p:sp>
        <p:nvSpPr>
          <p:cNvPr id="13" name="Rectangle 2089"/>
          <p:cNvSpPr>
            <a:spLocks noChangeArrowheads="1"/>
          </p:cNvSpPr>
          <p:nvPr/>
        </p:nvSpPr>
        <p:spPr bwMode="auto">
          <a:xfrm>
            <a:off x="1979712" y="4497785"/>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c2mm</a:t>
            </a:r>
            <a:endParaRPr lang="en-US" altLang="zh-CN" sz="1800" dirty="0">
              <a:effectLst/>
              <a:ea typeface="宋体" panose="02010600030101010101" pitchFamily="2" charset="-122"/>
            </a:endParaRPr>
          </a:p>
        </p:txBody>
      </p:sp>
      <p:sp>
        <p:nvSpPr>
          <p:cNvPr id="14" name="Rectangle 2094"/>
          <p:cNvSpPr>
            <a:spLocks noChangeArrowheads="1"/>
          </p:cNvSpPr>
          <p:nvPr/>
        </p:nvSpPr>
        <p:spPr bwMode="auto">
          <a:xfrm>
            <a:off x="6084168" y="1052736"/>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p4</a:t>
            </a:r>
            <a:endParaRPr lang="en-US" altLang="zh-CN" sz="1800" dirty="0">
              <a:effectLst/>
              <a:ea typeface="宋体" panose="02010600030101010101" pitchFamily="2" charset="-122"/>
            </a:endParaRPr>
          </a:p>
        </p:txBody>
      </p:sp>
      <p:sp>
        <p:nvSpPr>
          <p:cNvPr id="17" name="Rectangle 2098"/>
          <p:cNvSpPr>
            <a:spLocks noChangeArrowheads="1"/>
          </p:cNvSpPr>
          <p:nvPr/>
        </p:nvSpPr>
        <p:spPr bwMode="auto">
          <a:xfrm>
            <a:off x="6084168" y="2780928"/>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p4mm</a:t>
            </a:r>
            <a:endParaRPr lang="en-US" altLang="zh-CN" sz="1800" dirty="0">
              <a:effectLst/>
              <a:ea typeface="宋体" panose="02010600030101010101" pitchFamily="2" charset="-122"/>
            </a:endParaRPr>
          </a:p>
        </p:txBody>
      </p:sp>
      <p:sp>
        <p:nvSpPr>
          <p:cNvPr id="18" name="Rectangle 2101"/>
          <p:cNvSpPr>
            <a:spLocks noChangeArrowheads="1"/>
          </p:cNvSpPr>
          <p:nvPr/>
        </p:nvSpPr>
        <p:spPr bwMode="auto">
          <a:xfrm>
            <a:off x="6084168" y="4497785"/>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p4gm</a:t>
            </a:r>
            <a:endParaRPr lang="en-US" altLang="zh-CN" sz="1800" dirty="0">
              <a:effectLst/>
              <a:ea typeface="宋体" panose="02010600030101010101" pitchFamily="2" charset="-122"/>
            </a:endParaRPr>
          </a:p>
        </p:txBody>
      </p:sp>
      <p:sp>
        <p:nvSpPr>
          <p:cNvPr id="3" name="Rectangle 2"/>
          <p:cNvSpPr/>
          <p:nvPr/>
        </p:nvSpPr>
        <p:spPr>
          <a:xfrm>
            <a:off x="1033817" y="1514873"/>
            <a:ext cx="552735" cy="552734"/>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1128737" y="1694056"/>
            <a:ext cx="83116" cy="1797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55781" y="1973835"/>
            <a:ext cx="83116" cy="1797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1310185" y="1268760"/>
            <a:ext cx="13648" cy="159678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553881" y="6237312"/>
            <a:ext cx="3108790" cy="338554"/>
          </a:xfrm>
          <a:prstGeom prst="rect">
            <a:avLst/>
          </a:prstGeom>
          <a:noFill/>
        </p:spPr>
        <p:txBody>
          <a:bodyPr wrap="square" rtlCol="0">
            <a:spAutoFit/>
          </a:bodyPr>
          <a:lstStyle/>
          <a:p>
            <a:endParaRPr lang="en-US" sz="1600" dirty="0"/>
          </a:p>
        </p:txBody>
      </p:sp>
      <p:cxnSp>
        <p:nvCxnSpPr>
          <p:cNvPr id="31" name="Straight Connector 30"/>
          <p:cNvCxnSpPr/>
          <p:nvPr/>
        </p:nvCxnSpPr>
        <p:spPr>
          <a:xfrm flipH="1" flipV="1">
            <a:off x="233630" y="1791240"/>
            <a:ext cx="4253310" cy="1430"/>
          </a:xfrm>
          <a:prstGeom prst="line">
            <a:avLst/>
          </a:prstGeom>
          <a:ln w="28575">
            <a:solidFill>
              <a:srgbClr val="FF3399"/>
            </a:solidFill>
            <a:prstDash val="sysDash"/>
          </a:ln>
        </p:spPr>
        <p:style>
          <a:lnRef idx="1">
            <a:schemeClr val="accent1"/>
          </a:lnRef>
          <a:fillRef idx="0">
            <a:schemeClr val="accent1"/>
          </a:fillRef>
          <a:effectRef idx="0">
            <a:schemeClr val="accent1"/>
          </a:effectRef>
          <a:fontRef idx="minor">
            <a:schemeClr val="tx1"/>
          </a:fontRef>
        </p:style>
      </p:cxnSp>
      <p:pic>
        <p:nvPicPr>
          <p:cNvPr id="28676"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V="1">
            <a:off x="1023705" y="1506427"/>
            <a:ext cx="560338" cy="557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7"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7905" y="1497048"/>
            <a:ext cx="567914" cy="576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8682" name="Straight Connector 28681"/>
          <p:cNvCxnSpPr/>
          <p:nvPr/>
        </p:nvCxnSpPr>
        <p:spPr>
          <a:xfrm>
            <a:off x="254772" y="3492550"/>
            <a:ext cx="4163412" cy="0"/>
          </a:xfrm>
          <a:prstGeom prst="line">
            <a:avLst/>
          </a:prstGeom>
          <a:ln w="28575">
            <a:solidFill>
              <a:srgbClr val="FF3399"/>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946248" y="3091728"/>
            <a:ext cx="0" cy="1378530"/>
          </a:xfrm>
          <a:prstGeom prst="line">
            <a:avLst/>
          </a:prstGeom>
          <a:ln w="28575">
            <a:solidFill>
              <a:srgbClr val="FF3399"/>
            </a:solidFill>
            <a:prstDash val="sysDash"/>
          </a:ln>
        </p:spPr>
        <p:style>
          <a:lnRef idx="1">
            <a:schemeClr val="accent1"/>
          </a:lnRef>
          <a:fillRef idx="0">
            <a:schemeClr val="accent1"/>
          </a:fillRef>
          <a:effectRef idx="0">
            <a:schemeClr val="accent1"/>
          </a:effectRef>
          <a:fontRef idx="minor">
            <a:schemeClr val="tx1"/>
          </a:fontRef>
        </p:style>
      </p:cxnSp>
      <p:grpSp>
        <p:nvGrpSpPr>
          <p:cNvPr id="28693" name="Group 28692"/>
          <p:cNvGrpSpPr/>
          <p:nvPr/>
        </p:nvGrpSpPr>
        <p:grpSpPr>
          <a:xfrm>
            <a:off x="769182" y="3397103"/>
            <a:ext cx="660693" cy="380559"/>
            <a:chOff x="769182" y="3568729"/>
            <a:chExt cx="660693" cy="380559"/>
          </a:xfrm>
        </p:grpSpPr>
        <p:sp>
          <p:nvSpPr>
            <p:cNvPr id="28685" name="Freeform 28684"/>
            <p:cNvSpPr/>
            <p:nvPr/>
          </p:nvSpPr>
          <p:spPr>
            <a:xfrm>
              <a:off x="769182" y="3568729"/>
              <a:ext cx="660693" cy="380559"/>
            </a:xfrm>
            <a:custGeom>
              <a:avLst/>
              <a:gdLst>
                <a:gd name="connsiteX0" fmla="*/ 322418 w 660693"/>
                <a:gd name="connsiteY0" fmla="*/ 0 h 380559"/>
                <a:gd name="connsiteX1" fmla="*/ 0 w 660693"/>
                <a:gd name="connsiteY1" fmla="*/ 190279 h 380559"/>
                <a:gd name="connsiteX2" fmla="*/ 327704 w 660693"/>
                <a:gd name="connsiteY2" fmla="*/ 380559 h 380559"/>
                <a:gd name="connsiteX3" fmla="*/ 660693 w 660693"/>
                <a:gd name="connsiteY3" fmla="*/ 195565 h 380559"/>
                <a:gd name="connsiteX4" fmla="*/ 322418 w 660693"/>
                <a:gd name="connsiteY4" fmla="*/ 0 h 380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693" h="380559">
                  <a:moveTo>
                    <a:pt x="322418" y="0"/>
                  </a:moveTo>
                  <a:lnTo>
                    <a:pt x="0" y="190279"/>
                  </a:lnTo>
                  <a:lnTo>
                    <a:pt x="327704" y="380559"/>
                  </a:lnTo>
                  <a:lnTo>
                    <a:pt x="660693" y="195565"/>
                  </a:lnTo>
                  <a:lnTo>
                    <a:pt x="322418" y="0"/>
                  </a:lnTo>
                  <a:close/>
                </a:path>
              </a:pathLst>
            </a:cu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692" name="Straight Connector 28691"/>
            <p:cNvCxnSpPr>
              <a:endCxn id="28685" idx="2"/>
            </p:cNvCxnSpPr>
            <p:nvPr/>
          </p:nvCxnSpPr>
          <p:spPr>
            <a:xfrm>
              <a:off x="855781" y="3717032"/>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932735" y="3676291"/>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999746" y="3635842"/>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040487" y="3599628"/>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grpSp>
      <p:pic>
        <p:nvPicPr>
          <p:cNvPr id="28694"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741130" y="3163932"/>
            <a:ext cx="695325" cy="44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95"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446586" y="3375049"/>
            <a:ext cx="671745"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TextBox 37"/>
          <p:cNvSpPr txBox="1"/>
          <p:nvPr/>
        </p:nvSpPr>
        <p:spPr>
          <a:xfrm>
            <a:off x="408771" y="538886"/>
            <a:ext cx="7324625" cy="584775"/>
          </a:xfrm>
          <a:prstGeom prst="rect">
            <a:avLst/>
          </a:prstGeom>
          <a:noFill/>
        </p:spPr>
        <p:txBody>
          <a:bodyPr wrap="square" rtlCol="0">
            <a:spAutoFit/>
          </a:bodyPr>
          <a:lstStyle>
            <a:defPPr>
              <a:defRPr lang="zh-CN"/>
            </a:defPPr>
            <a:lvl1pPr>
              <a:defRPr sz="3200">
                <a:latin typeface="+mj-lt"/>
                <a:cs typeface="Times New Roman" panose="02020603050405020304" pitchFamily="18" charset="0"/>
              </a:defRPr>
            </a:lvl1pPr>
          </a:lstStyle>
          <a:p>
            <a:r>
              <a:rPr lang="en-US" altLang="zh-CN" dirty="0"/>
              <a:t>Exercises: marking space groups</a:t>
            </a:r>
            <a:endParaRPr lang="zh-CN" altLang="en-US" dirty="0"/>
          </a:p>
        </p:txBody>
      </p:sp>
      <p:sp>
        <p:nvSpPr>
          <p:cNvPr id="41" name="Rectangle 9"/>
          <p:cNvSpPr/>
          <p:nvPr/>
        </p:nvSpPr>
        <p:spPr>
          <a:xfrm rot="2766314">
            <a:off x="4941483" y="5103382"/>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9"/>
          <p:cNvSpPr/>
          <p:nvPr/>
        </p:nvSpPr>
        <p:spPr>
          <a:xfrm rot="2766314">
            <a:off x="5289352" y="4775390"/>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9"/>
          <p:cNvSpPr/>
          <p:nvPr/>
        </p:nvSpPr>
        <p:spPr>
          <a:xfrm rot="2766314">
            <a:off x="5274443" y="5441311"/>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9"/>
          <p:cNvSpPr/>
          <p:nvPr/>
        </p:nvSpPr>
        <p:spPr>
          <a:xfrm rot="2766314">
            <a:off x="5622312" y="5113319"/>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4452731" y="5173317"/>
            <a:ext cx="176551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pic>
        <p:nvPicPr>
          <p:cNvPr id="42" name="Picture 2"/>
          <p:cNvPicPr>
            <a:picLocks noChangeAspect="1" noChangeArrowheads="1"/>
          </p:cNvPicPr>
          <p:nvPr/>
        </p:nvPicPr>
        <p:blipFill rotWithShape="1">
          <a:blip r:embed="rId11">
            <a:extLst>
              <a:ext uri="{28A0092B-C50C-407E-A947-70E740481C1C}">
                <a14:useLocalDpi xmlns:a14="http://schemas.microsoft.com/office/drawing/2010/main" val="0"/>
              </a:ext>
            </a:extLst>
          </a:blip>
          <a:srcRect l="57899" t="46662" r="23243" b="27778"/>
          <a:stretch>
            <a:fillRect/>
          </a:stretch>
        </p:blipFill>
        <p:spPr bwMode="auto">
          <a:xfrm rot="18714440">
            <a:off x="6541745" y="4811476"/>
            <a:ext cx="1133061" cy="1167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3" name="Straight Connector 42"/>
          <p:cNvCxnSpPr/>
          <p:nvPr/>
        </p:nvCxnSpPr>
        <p:spPr>
          <a:xfrm>
            <a:off x="4447768" y="5511248"/>
            <a:ext cx="176551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21703" y="4706904"/>
            <a:ext cx="0" cy="1514385"/>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5364603" y="4691995"/>
            <a:ext cx="0" cy="1514385"/>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659255" y="4613481"/>
            <a:ext cx="1263453" cy="1296144"/>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490294" y="4772508"/>
            <a:ext cx="1263453" cy="1296144"/>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H="1">
            <a:off x="4547152" y="4647468"/>
            <a:ext cx="1221506" cy="11470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4731027" y="4801524"/>
            <a:ext cx="1221506" cy="11470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8" name="Freeform 7"/>
          <p:cNvSpPr/>
          <p:nvPr/>
        </p:nvSpPr>
        <p:spPr>
          <a:xfrm>
            <a:off x="5004795" y="5001610"/>
            <a:ext cx="193884" cy="346842"/>
          </a:xfrm>
          <a:custGeom>
            <a:avLst/>
            <a:gdLst>
              <a:gd name="connsiteX0" fmla="*/ 182060 w 193884"/>
              <a:gd name="connsiteY0" fmla="*/ 0 h 346842"/>
              <a:gd name="connsiteX1" fmla="*/ 8639 w 193884"/>
              <a:gd name="connsiteY1" fmla="*/ 165538 h 346842"/>
              <a:gd name="connsiteX2" fmla="*/ 24405 w 193884"/>
              <a:gd name="connsiteY2" fmla="*/ 181304 h 346842"/>
              <a:gd name="connsiteX3" fmla="*/ 193884 w 193884"/>
              <a:gd name="connsiteY3" fmla="*/ 346842 h 346842"/>
              <a:gd name="connsiteX4" fmla="*/ 193884 w 193884"/>
              <a:gd name="connsiteY4" fmla="*/ 346842 h 346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84" h="346842">
                <a:moveTo>
                  <a:pt x="182060" y="0"/>
                </a:moveTo>
                <a:cubicBezTo>
                  <a:pt x="108487" y="67660"/>
                  <a:pt x="34915" y="135321"/>
                  <a:pt x="8639" y="165538"/>
                </a:cubicBezTo>
                <a:cubicBezTo>
                  <a:pt x="-17637" y="195755"/>
                  <a:pt x="24405" y="181304"/>
                  <a:pt x="24405" y="181304"/>
                </a:cubicBezTo>
                <a:lnTo>
                  <a:pt x="193884" y="346842"/>
                </a:lnTo>
                <a:lnTo>
                  <a:pt x="193884" y="346842"/>
                </a:lnTo>
              </a:path>
            </a:pathLst>
          </a:custGeom>
          <a:ln w="38100">
            <a:solidFill>
              <a:srgbClr val="00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Rectangle 9">
            <a:extLst>
              <a:ext uri="{FF2B5EF4-FFF2-40B4-BE49-F238E27FC236}">
                <a16:creationId xmlns:a16="http://schemas.microsoft.com/office/drawing/2014/main" id="{3493D012-7194-4594-817D-3BAD08E4EB81}"/>
              </a:ext>
            </a:extLst>
          </p:cNvPr>
          <p:cNvSpPr/>
          <p:nvPr/>
        </p:nvSpPr>
        <p:spPr>
          <a:xfrm rot="2766314">
            <a:off x="4980563" y="4934126"/>
            <a:ext cx="478649" cy="480185"/>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28677"/>
                                        </p:tgtEl>
                                      </p:cBhvr>
                                    </p:animEffect>
                                    <p:set>
                                      <p:cBhvr>
                                        <p:cTn id="7" dur="1" fill="hold">
                                          <p:stCondLst>
                                            <p:cond delay="499"/>
                                          </p:stCondLst>
                                        </p:cTn>
                                        <p:tgtEl>
                                          <p:spTgt spid="2867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72222E-6 -1.20287E-7 L 0.03143 0.00093 " pathEditMode="relative" rAng="0" ptsTypes="AA">
                                      <p:cBhvr>
                                        <p:cTn id="11" dur="2000" fill="hold"/>
                                        <p:tgtEl>
                                          <p:spTgt spid="28676"/>
                                        </p:tgtEl>
                                        <p:attrNameLst>
                                          <p:attrName>ppt_x</p:attrName>
                                          <p:attrName>ppt_y</p:attrName>
                                        </p:attrNameLst>
                                      </p:cBhvr>
                                      <p:rCtr x="1563" y="46"/>
                                    </p:animMotion>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nodeType="clickEffect">
                                  <p:stCondLst>
                                    <p:cond delay="0"/>
                                  </p:stCondLst>
                                  <p:childTnLst>
                                    <p:animMotion origin="layout" path="M 2.77778E-6 1.48148E-6 L 0.03628 -0.00116 " pathEditMode="relative" rAng="0" ptsTypes="AA">
                                      <p:cBhvr>
                                        <p:cTn id="15" dur="2000" fill="hold"/>
                                        <p:tgtEl>
                                          <p:spTgt spid="28694"/>
                                        </p:tgtEl>
                                        <p:attrNameLst>
                                          <p:attrName>ppt_x</p:attrName>
                                          <p:attrName>ppt_y</p:attrName>
                                        </p:attrNameLst>
                                      </p:cBhvr>
                                      <p:rCtr x="1806" y="-69"/>
                                    </p:animMotion>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3.33333E-6 -2.22222E-6 L -0.00035 0.03033 " pathEditMode="relative" rAng="0" ptsTypes="AA">
                                      <p:cBhvr>
                                        <p:cTn id="19" dur="2000" fill="hold"/>
                                        <p:tgtEl>
                                          <p:spTgt spid="28695"/>
                                        </p:tgtEl>
                                        <p:attrNameLst>
                                          <p:attrName>ppt_x</p:attrName>
                                          <p:attrName>ppt_y</p:attrName>
                                        </p:attrNameLst>
                                      </p:cBhvr>
                                      <p:rCtr x="-17" y="1505"/>
                                    </p:animMotion>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File:SymBlend pmg.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369725"/>
            <a:ext cx="3904228"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File:SymBlend pgg.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886" y="3079781"/>
            <a:ext cx="3904228"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descr="File:SymBlend cmm.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792" y="4814885"/>
            <a:ext cx="3913979" cy="1399249"/>
          </a:xfrm>
          <a:prstGeom prst="rect">
            <a:avLst/>
          </a:prstGeom>
          <a:noFill/>
          <a:extLst>
            <a:ext uri="{909E8E84-426E-40DD-AFC4-6F175D3DCCD1}">
              <a14:hiddenFill xmlns:a14="http://schemas.microsoft.com/office/drawing/2010/main">
                <a:solidFill>
                  <a:srgbClr val="FFFFFF"/>
                </a:solidFill>
              </a14:hiddenFill>
            </a:ext>
          </a:extLst>
        </p:spPr>
      </p:pic>
      <p:pic>
        <p:nvPicPr>
          <p:cNvPr id="19464" name="Picture 8" descr="File:SymBlend p4.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8444" y="1369726"/>
            <a:ext cx="3904227"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6" name="Picture 10" descr="File:SymBlend p4m.sv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2891" y="3113358"/>
            <a:ext cx="3904227" cy="1395762"/>
          </a:xfrm>
          <a:prstGeom prst="rect">
            <a:avLst/>
          </a:prstGeom>
          <a:noFill/>
          <a:extLst>
            <a:ext uri="{909E8E84-426E-40DD-AFC4-6F175D3DCCD1}">
              <a14:hiddenFill xmlns:a14="http://schemas.microsoft.com/office/drawing/2010/main">
                <a:solidFill>
                  <a:srgbClr val="FFFFFF"/>
                </a:solidFill>
              </a14:hiddenFill>
            </a:ext>
          </a:extLst>
        </p:spPr>
      </p:pic>
      <p:pic>
        <p:nvPicPr>
          <p:cNvPr id="19468" name="Picture 12" descr="File:SymBlend p4g.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1088" y="4814884"/>
            <a:ext cx="3913982" cy="13992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083"/>
          <p:cNvSpPr>
            <a:spLocks noChangeArrowheads="1"/>
          </p:cNvSpPr>
          <p:nvPr/>
        </p:nvSpPr>
        <p:spPr bwMode="auto">
          <a:xfrm>
            <a:off x="1951268" y="1052736"/>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p2mg</a:t>
            </a:r>
            <a:endParaRPr lang="en-US" altLang="zh-CN" sz="1800" dirty="0">
              <a:effectLst/>
              <a:ea typeface="宋体" panose="02010600030101010101" pitchFamily="2" charset="-122"/>
            </a:endParaRPr>
          </a:p>
        </p:txBody>
      </p:sp>
      <p:sp>
        <p:nvSpPr>
          <p:cNvPr id="12" name="Rectangle 2086"/>
          <p:cNvSpPr>
            <a:spLocks noChangeArrowheads="1"/>
          </p:cNvSpPr>
          <p:nvPr/>
        </p:nvSpPr>
        <p:spPr bwMode="auto">
          <a:xfrm>
            <a:off x="1951268" y="2780929"/>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p2gg</a:t>
            </a:r>
            <a:endParaRPr lang="en-US" altLang="zh-CN" sz="1800" dirty="0">
              <a:effectLst/>
              <a:ea typeface="宋体" panose="02010600030101010101" pitchFamily="2" charset="-122"/>
            </a:endParaRPr>
          </a:p>
        </p:txBody>
      </p:sp>
      <p:sp>
        <p:nvSpPr>
          <p:cNvPr id="13" name="Rectangle 2089"/>
          <p:cNvSpPr>
            <a:spLocks noChangeArrowheads="1"/>
          </p:cNvSpPr>
          <p:nvPr/>
        </p:nvSpPr>
        <p:spPr bwMode="auto">
          <a:xfrm>
            <a:off x="1979712" y="4497785"/>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c2mm</a:t>
            </a:r>
            <a:endParaRPr lang="en-US" altLang="zh-CN" sz="1800" dirty="0">
              <a:effectLst/>
              <a:ea typeface="宋体" panose="02010600030101010101" pitchFamily="2" charset="-122"/>
            </a:endParaRPr>
          </a:p>
        </p:txBody>
      </p:sp>
      <p:sp>
        <p:nvSpPr>
          <p:cNvPr id="14" name="Rectangle 2094"/>
          <p:cNvSpPr>
            <a:spLocks noChangeArrowheads="1"/>
          </p:cNvSpPr>
          <p:nvPr/>
        </p:nvSpPr>
        <p:spPr bwMode="auto">
          <a:xfrm>
            <a:off x="6084168" y="1052736"/>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p4</a:t>
            </a:r>
            <a:endParaRPr lang="en-US" altLang="zh-CN" sz="1800" dirty="0">
              <a:effectLst/>
              <a:ea typeface="宋体" panose="02010600030101010101" pitchFamily="2" charset="-122"/>
            </a:endParaRPr>
          </a:p>
        </p:txBody>
      </p:sp>
      <p:sp>
        <p:nvSpPr>
          <p:cNvPr id="17" name="Rectangle 2098"/>
          <p:cNvSpPr>
            <a:spLocks noChangeArrowheads="1"/>
          </p:cNvSpPr>
          <p:nvPr/>
        </p:nvSpPr>
        <p:spPr bwMode="auto">
          <a:xfrm>
            <a:off x="6084168" y="2780928"/>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p4mm</a:t>
            </a:r>
            <a:endParaRPr lang="en-US" altLang="zh-CN" sz="1800" dirty="0">
              <a:effectLst/>
              <a:ea typeface="宋体" panose="02010600030101010101" pitchFamily="2" charset="-122"/>
            </a:endParaRPr>
          </a:p>
        </p:txBody>
      </p:sp>
      <p:sp>
        <p:nvSpPr>
          <p:cNvPr id="18" name="Rectangle 2101"/>
          <p:cNvSpPr>
            <a:spLocks noChangeArrowheads="1"/>
          </p:cNvSpPr>
          <p:nvPr/>
        </p:nvSpPr>
        <p:spPr bwMode="auto">
          <a:xfrm>
            <a:off x="6084168" y="4497785"/>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p4gm</a:t>
            </a:r>
            <a:endParaRPr lang="en-US" altLang="zh-CN" sz="1800" dirty="0">
              <a:effectLst/>
              <a:ea typeface="宋体" panose="02010600030101010101" pitchFamily="2" charset="-122"/>
            </a:endParaRPr>
          </a:p>
        </p:txBody>
      </p:sp>
      <p:sp>
        <p:nvSpPr>
          <p:cNvPr id="3" name="Rectangle 2"/>
          <p:cNvSpPr/>
          <p:nvPr/>
        </p:nvSpPr>
        <p:spPr>
          <a:xfrm>
            <a:off x="1033817" y="1514873"/>
            <a:ext cx="552735" cy="552734"/>
          </a:xfrm>
          <a:prstGeom prst="rect">
            <a:avLst/>
          </a:pr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1128737" y="1694056"/>
            <a:ext cx="83116" cy="1797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55781" y="1973835"/>
            <a:ext cx="83116" cy="1797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1310185" y="1268760"/>
            <a:ext cx="13648" cy="159678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553881" y="6237312"/>
            <a:ext cx="3108790" cy="338554"/>
          </a:xfrm>
          <a:prstGeom prst="rect">
            <a:avLst/>
          </a:prstGeom>
          <a:noFill/>
        </p:spPr>
        <p:txBody>
          <a:bodyPr wrap="square" rtlCol="0">
            <a:spAutoFit/>
          </a:bodyPr>
          <a:lstStyle/>
          <a:p>
            <a:endParaRPr lang="en-US" sz="1600" dirty="0"/>
          </a:p>
        </p:txBody>
      </p:sp>
      <p:cxnSp>
        <p:nvCxnSpPr>
          <p:cNvPr id="31" name="Straight Connector 30"/>
          <p:cNvCxnSpPr/>
          <p:nvPr/>
        </p:nvCxnSpPr>
        <p:spPr>
          <a:xfrm flipH="1" flipV="1">
            <a:off x="233630" y="1791240"/>
            <a:ext cx="4253310" cy="1430"/>
          </a:xfrm>
          <a:prstGeom prst="line">
            <a:avLst/>
          </a:prstGeom>
          <a:ln w="28575">
            <a:solidFill>
              <a:srgbClr val="FF3399"/>
            </a:solidFill>
            <a:prstDash val="sysDash"/>
          </a:ln>
        </p:spPr>
        <p:style>
          <a:lnRef idx="1">
            <a:schemeClr val="accent1"/>
          </a:lnRef>
          <a:fillRef idx="0">
            <a:schemeClr val="accent1"/>
          </a:fillRef>
          <a:effectRef idx="0">
            <a:schemeClr val="accent1"/>
          </a:effectRef>
          <a:fontRef idx="minor">
            <a:schemeClr val="tx1"/>
          </a:fontRef>
        </p:style>
      </p:cxnSp>
      <p:pic>
        <p:nvPicPr>
          <p:cNvPr id="28676"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V="1">
            <a:off x="1023705" y="1506427"/>
            <a:ext cx="560338" cy="557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7"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7905" y="1497048"/>
            <a:ext cx="567914" cy="576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8682" name="Straight Connector 28681"/>
          <p:cNvCxnSpPr/>
          <p:nvPr/>
        </p:nvCxnSpPr>
        <p:spPr>
          <a:xfrm>
            <a:off x="254772" y="3492550"/>
            <a:ext cx="4163412" cy="0"/>
          </a:xfrm>
          <a:prstGeom prst="line">
            <a:avLst/>
          </a:prstGeom>
          <a:ln w="28575">
            <a:solidFill>
              <a:srgbClr val="FF3399"/>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946248" y="3091728"/>
            <a:ext cx="0" cy="1378530"/>
          </a:xfrm>
          <a:prstGeom prst="line">
            <a:avLst/>
          </a:prstGeom>
          <a:ln w="28575">
            <a:solidFill>
              <a:srgbClr val="FF3399"/>
            </a:solidFill>
            <a:prstDash val="sysDash"/>
          </a:ln>
        </p:spPr>
        <p:style>
          <a:lnRef idx="1">
            <a:schemeClr val="accent1"/>
          </a:lnRef>
          <a:fillRef idx="0">
            <a:schemeClr val="accent1"/>
          </a:fillRef>
          <a:effectRef idx="0">
            <a:schemeClr val="accent1"/>
          </a:effectRef>
          <a:fontRef idx="minor">
            <a:schemeClr val="tx1"/>
          </a:fontRef>
        </p:style>
      </p:cxnSp>
      <p:grpSp>
        <p:nvGrpSpPr>
          <p:cNvPr id="28693" name="Group 28692"/>
          <p:cNvGrpSpPr/>
          <p:nvPr/>
        </p:nvGrpSpPr>
        <p:grpSpPr>
          <a:xfrm>
            <a:off x="769182" y="3397103"/>
            <a:ext cx="660693" cy="380559"/>
            <a:chOff x="769182" y="3568729"/>
            <a:chExt cx="660693" cy="380559"/>
          </a:xfrm>
        </p:grpSpPr>
        <p:sp>
          <p:nvSpPr>
            <p:cNvPr id="28685" name="Freeform 28684"/>
            <p:cNvSpPr/>
            <p:nvPr/>
          </p:nvSpPr>
          <p:spPr>
            <a:xfrm>
              <a:off x="769182" y="3568729"/>
              <a:ext cx="660693" cy="380559"/>
            </a:xfrm>
            <a:custGeom>
              <a:avLst/>
              <a:gdLst>
                <a:gd name="connsiteX0" fmla="*/ 322418 w 660693"/>
                <a:gd name="connsiteY0" fmla="*/ 0 h 380559"/>
                <a:gd name="connsiteX1" fmla="*/ 0 w 660693"/>
                <a:gd name="connsiteY1" fmla="*/ 190279 h 380559"/>
                <a:gd name="connsiteX2" fmla="*/ 327704 w 660693"/>
                <a:gd name="connsiteY2" fmla="*/ 380559 h 380559"/>
                <a:gd name="connsiteX3" fmla="*/ 660693 w 660693"/>
                <a:gd name="connsiteY3" fmla="*/ 195565 h 380559"/>
                <a:gd name="connsiteX4" fmla="*/ 322418 w 660693"/>
                <a:gd name="connsiteY4" fmla="*/ 0 h 380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693" h="380559">
                  <a:moveTo>
                    <a:pt x="322418" y="0"/>
                  </a:moveTo>
                  <a:lnTo>
                    <a:pt x="0" y="190279"/>
                  </a:lnTo>
                  <a:lnTo>
                    <a:pt x="327704" y="380559"/>
                  </a:lnTo>
                  <a:lnTo>
                    <a:pt x="660693" y="195565"/>
                  </a:lnTo>
                  <a:lnTo>
                    <a:pt x="322418" y="0"/>
                  </a:lnTo>
                  <a:close/>
                </a:path>
              </a:pathLst>
            </a:custGeom>
            <a:no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692" name="Straight Connector 28691"/>
            <p:cNvCxnSpPr>
              <a:endCxn id="28685" idx="2"/>
            </p:cNvCxnSpPr>
            <p:nvPr/>
          </p:nvCxnSpPr>
          <p:spPr>
            <a:xfrm>
              <a:off x="855781" y="3717032"/>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932735" y="3676291"/>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999746" y="3635842"/>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040487" y="3599628"/>
              <a:ext cx="312116" cy="189538"/>
            </a:xfrm>
            <a:prstGeom prst="line">
              <a:avLst/>
            </a:prstGeom>
            <a:ln w="28575">
              <a:solidFill>
                <a:srgbClr val="FF3399"/>
              </a:solidFill>
            </a:ln>
          </p:spPr>
          <p:style>
            <a:lnRef idx="1">
              <a:schemeClr val="accent1"/>
            </a:lnRef>
            <a:fillRef idx="0">
              <a:schemeClr val="accent1"/>
            </a:fillRef>
            <a:effectRef idx="0">
              <a:schemeClr val="accent1"/>
            </a:effectRef>
            <a:fontRef idx="minor">
              <a:schemeClr val="tx1"/>
            </a:fontRef>
          </p:style>
        </p:cxnSp>
      </p:grpSp>
      <p:pic>
        <p:nvPicPr>
          <p:cNvPr id="28694"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V="1">
            <a:off x="741130" y="3163932"/>
            <a:ext cx="695325" cy="44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95"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446586" y="3375049"/>
            <a:ext cx="671745"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TextBox 37"/>
          <p:cNvSpPr txBox="1"/>
          <p:nvPr/>
        </p:nvSpPr>
        <p:spPr>
          <a:xfrm>
            <a:off x="408771" y="538886"/>
            <a:ext cx="7324625" cy="584775"/>
          </a:xfrm>
          <a:prstGeom prst="rect">
            <a:avLst/>
          </a:prstGeom>
          <a:noFill/>
        </p:spPr>
        <p:txBody>
          <a:bodyPr wrap="square" rtlCol="0">
            <a:spAutoFit/>
          </a:bodyPr>
          <a:lstStyle>
            <a:defPPr>
              <a:defRPr lang="zh-CN"/>
            </a:defPPr>
            <a:lvl1pPr>
              <a:defRPr sz="3200">
                <a:latin typeface="+mj-lt"/>
                <a:cs typeface="Times New Roman" panose="02020603050405020304" pitchFamily="18" charset="0"/>
              </a:defRPr>
            </a:lvl1pPr>
          </a:lstStyle>
          <a:p>
            <a:r>
              <a:rPr lang="en-US" altLang="zh-CN" dirty="0"/>
              <a:t>Exercises: marking space groups</a:t>
            </a:r>
            <a:endParaRPr lang="zh-CN" altLang="en-US" dirty="0"/>
          </a:p>
        </p:txBody>
      </p:sp>
      <p:grpSp>
        <p:nvGrpSpPr>
          <p:cNvPr id="2" name="组合 1">
            <a:extLst>
              <a:ext uri="{FF2B5EF4-FFF2-40B4-BE49-F238E27FC236}">
                <a16:creationId xmlns:a16="http://schemas.microsoft.com/office/drawing/2014/main" id="{B8D7077B-E1B0-488D-AB18-D7DC4C56FA1C}"/>
              </a:ext>
            </a:extLst>
          </p:cNvPr>
          <p:cNvGrpSpPr/>
          <p:nvPr/>
        </p:nvGrpSpPr>
        <p:grpSpPr>
          <a:xfrm>
            <a:off x="4631816" y="4928406"/>
            <a:ext cx="1161014" cy="1144570"/>
            <a:chOff x="4940715" y="4776158"/>
            <a:chExt cx="1161014" cy="1144570"/>
          </a:xfrm>
        </p:grpSpPr>
        <p:sp>
          <p:nvSpPr>
            <p:cNvPr id="41" name="Rectangle 9"/>
            <p:cNvSpPr/>
            <p:nvPr/>
          </p:nvSpPr>
          <p:spPr>
            <a:xfrm rot="2766314">
              <a:off x="4941483" y="5103382"/>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9"/>
            <p:cNvSpPr/>
            <p:nvPr/>
          </p:nvSpPr>
          <p:spPr>
            <a:xfrm rot="2766314">
              <a:off x="5289352" y="4775390"/>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9"/>
            <p:cNvSpPr/>
            <p:nvPr/>
          </p:nvSpPr>
          <p:spPr>
            <a:xfrm rot="2766314">
              <a:off x="5274443" y="5441311"/>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9"/>
            <p:cNvSpPr/>
            <p:nvPr/>
          </p:nvSpPr>
          <p:spPr>
            <a:xfrm rot="2766314">
              <a:off x="5622312" y="5113319"/>
              <a:ext cx="478649" cy="480185"/>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 name="Straight Connector 4"/>
          <p:cNvCxnSpPr/>
          <p:nvPr/>
        </p:nvCxnSpPr>
        <p:spPr>
          <a:xfrm>
            <a:off x="4452731" y="5173317"/>
            <a:ext cx="176551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pic>
        <p:nvPicPr>
          <p:cNvPr id="42" name="Picture 2"/>
          <p:cNvPicPr>
            <a:picLocks noChangeAspect="1" noChangeArrowheads="1"/>
          </p:cNvPicPr>
          <p:nvPr/>
        </p:nvPicPr>
        <p:blipFill rotWithShape="1">
          <a:blip r:embed="rId11">
            <a:extLst>
              <a:ext uri="{28A0092B-C50C-407E-A947-70E740481C1C}">
                <a14:useLocalDpi xmlns:a14="http://schemas.microsoft.com/office/drawing/2010/main" val="0"/>
              </a:ext>
            </a:extLst>
          </a:blip>
          <a:srcRect l="57899" t="46662" r="23243" b="27778"/>
          <a:stretch>
            <a:fillRect/>
          </a:stretch>
        </p:blipFill>
        <p:spPr bwMode="auto">
          <a:xfrm rot="18714440">
            <a:off x="6541745" y="4811476"/>
            <a:ext cx="1133061" cy="1167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3" name="Straight Connector 42"/>
          <p:cNvCxnSpPr/>
          <p:nvPr/>
        </p:nvCxnSpPr>
        <p:spPr>
          <a:xfrm>
            <a:off x="4447768" y="5511248"/>
            <a:ext cx="176551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013575" y="4715032"/>
            <a:ext cx="0" cy="1514385"/>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5356475" y="4691995"/>
            <a:ext cx="0" cy="1514385"/>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659255" y="4613481"/>
            <a:ext cx="1263453" cy="1296144"/>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490294" y="4772508"/>
            <a:ext cx="1263453" cy="1296144"/>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H="1">
            <a:off x="4547152" y="4647468"/>
            <a:ext cx="1221506" cy="11470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4731027" y="4801524"/>
            <a:ext cx="1221506" cy="11470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8" name="Freeform 7"/>
          <p:cNvSpPr/>
          <p:nvPr/>
        </p:nvSpPr>
        <p:spPr>
          <a:xfrm>
            <a:off x="5004795" y="5001610"/>
            <a:ext cx="193884" cy="346842"/>
          </a:xfrm>
          <a:custGeom>
            <a:avLst/>
            <a:gdLst>
              <a:gd name="connsiteX0" fmla="*/ 182060 w 193884"/>
              <a:gd name="connsiteY0" fmla="*/ 0 h 346842"/>
              <a:gd name="connsiteX1" fmla="*/ 8639 w 193884"/>
              <a:gd name="connsiteY1" fmla="*/ 165538 h 346842"/>
              <a:gd name="connsiteX2" fmla="*/ 24405 w 193884"/>
              <a:gd name="connsiteY2" fmla="*/ 181304 h 346842"/>
              <a:gd name="connsiteX3" fmla="*/ 193884 w 193884"/>
              <a:gd name="connsiteY3" fmla="*/ 346842 h 346842"/>
              <a:gd name="connsiteX4" fmla="*/ 193884 w 193884"/>
              <a:gd name="connsiteY4" fmla="*/ 346842 h 346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84" h="346842">
                <a:moveTo>
                  <a:pt x="182060" y="0"/>
                </a:moveTo>
                <a:cubicBezTo>
                  <a:pt x="108487" y="67660"/>
                  <a:pt x="34915" y="135321"/>
                  <a:pt x="8639" y="165538"/>
                </a:cubicBezTo>
                <a:cubicBezTo>
                  <a:pt x="-17637" y="195755"/>
                  <a:pt x="24405" y="181304"/>
                  <a:pt x="24405" y="181304"/>
                </a:cubicBezTo>
                <a:lnTo>
                  <a:pt x="193884" y="346842"/>
                </a:lnTo>
                <a:lnTo>
                  <a:pt x="193884" y="346842"/>
                </a:lnTo>
              </a:path>
            </a:pathLst>
          </a:custGeom>
          <a:ln w="38100">
            <a:solidFill>
              <a:srgbClr val="00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41183286"/>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28677"/>
                                        </p:tgtEl>
                                      </p:cBhvr>
                                    </p:animEffect>
                                    <p:set>
                                      <p:cBhvr>
                                        <p:cTn id="7" dur="1" fill="hold">
                                          <p:stCondLst>
                                            <p:cond delay="499"/>
                                          </p:stCondLst>
                                        </p:cTn>
                                        <p:tgtEl>
                                          <p:spTgt spid="2867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72222E-6 -1.20287E-7 L 0.03143 0.00093 " pathEditMode="relative" rAng="0" ptsTypes="AA">
                                      <p:cBhvr>
                                        <p:cTn id="11" dur="2000" fill="hold"/>
                                        <p:tgtEl>
                                          <p:spTgt spid="28676"/>
                                        </p:tgtEl>
                                        <p:attrNameLst>
                                          <p:attrName>ppt_x</p:attrName>
                                          <p:attrName>ppt_y</p:attrName>
                                        </p:attrNameLst>
                                      </p:cBhvr>
                                      <p:rCtr x="1563" y="46"/>
                                    </p:animMotion>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nodeType="clickEffect">
                                  <p:stCondLst>
                                    <p:cond delay="0"/>
                                  </p:stCondLst>
                                  <p:childTnLst>
                                    <p:animMotion origin="layout" path="M 2.77778E-6 1.48148E-6 L 0.03628 -0.00116 " pathEditMode="relative" rAng="0" ptsTypes="AA">
                                      <p:cBhvr>
                                        <p:cTn id="15" dur="2000" fill="hold"/>
                                        <p:tgtEl>
                                          <p:spTgt spid="28694"/>
                                        </p:tgtEl>
                                        <p:attrNameLst>
                                          <p:attrName>ppt_x</p:attrName>
                                          <p:attrName>ppt_y</p:attrName>
                                        </p:attrNameLst>
                                      </p:cBhvr>
                                      <p:rCtr x="1806" y="-69"/>
                                    </p:animMotion>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3.33333E-6 -2.22222E-6 L -0.00035 0.03033 " pathEditMode="relative" rAng="0" ptsTypes="AA">
                                      <p:cBhvr>
                                        <p:cTn id="19" dur="2000" fill="hold"/>
                                        <p:tgtEl>
                                          <p:spTgt spid="28695"/>
                                        </p:tgtEl>
                                        <p:attrNameLst>
                                          <p:attrName>ppt_x</p:attrName>
                                          <p:attrName>ppt_y</p:attrName>
                                        </p:attrNameLst>
                                      </p:cBhvr>
                                      <p:rCtr x="-17" y="1505"/>
                                    </p:animMotion>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File:SymBlend p3.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47133"/>
            <a:ext cx="4248472" cy="151882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File:SymBlend p3m1.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3350331"/>
            <a:ext cx="4248472" cy="1518829"/>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descr="File:SymBlend p31m.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5006515"/>
            <a:ext cx="4248471" cy="1518829"/>
          </a:xfrm>
          <a:prstGeom prst="rect">
            <a:avLst/>
          </a:prstGeom>
          <a:noFill/>
          <a:extLst>
            <a:ext uri="{909E8E84-426E-40DD-AFC4-6F175D3DCCD1}">
              <a14:hiddenFill xmlns:a14="http://schemas.microsoft.com/office/drawing/2010/main">
                <a:solidFill>
                  <a:srgbClr val="FFFFFF"/>
                </a:solidFill>
              </a14:hiddenFill>
            </a:ext>
          </a:extLst>
        </p:spPr>
      </p:pic>
      <p:pic>
        <p:nvPicPr>
          <p:cNvPr id="20488" name="Picture 8" descr="File:SymBlend p6.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1647133"/>
            <a:ext cx="4284477" cy="1531701"/>
          </a:xfrm>
          <a:prstGeom prst="rect">
            <a:avLst/>
          </a:prstGeom>
          <a:noFill/>
          <a:extLst>
            <a:ext uri="{909E8E84-426E-40DD-AFC4-6F175D3DCCD1}">
              <a14:hiddenFill xmlns:a14="http://schemas.microsoft.com/office/drawing/2010/main">
                <a:solidFill>
                  <a:srgbClr val="FFFFFF"/>
                </a:solidFill>
              </a14:hiddenFill>
            </a:ext>
          </a:extLst>
        </p:spPr>
      </p:pic>
      <p:pic>
        <p:nvPicPr>
          <p:cNvPr id="20490" name="Picture 10" descr="File:SymBlend p6m.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1903" y="3350331"/>
            <a:ext cx="4248472" cy="15188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084169" y="1647133"/>
            <a:ext cx="2844316"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92097" y="1647132"/>
            <a:ext cx="2844316" cy="4878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67544" y="432078"/>
            <a:ext cx="7467078" cy="584775"/>
          </a:xfrm>
          <a:prstGeom prst="rect">
            <a:avLst/>
          </a:prstGeom>
          <a:noFill/>
        </p:spPr>
        <p:txBody>
          <a:bodyPr wrap="square" rtlCol="0">
            <a:spAutoFit/>
          </a:bodyPr>
          <a:lstStyle>
            <a:defPPr>
              <a:defRPr lang="zh-CN"/>
            </a:defPPr>
            <a:lvl1pPr>
              <a:defRPr sz="3200">
                <a:latin typeface="+mj-lt"/>
                <a:cs typeface="Times New Roman" panose="02020603050405020304" pitchFamily="18" charset="0"/>
              </a:defRPr>
            </a:lvl1pPr>
          </a:lstStyle>
          <a:p>
            <a:r>
              <a:rPr lang="en-US" altLang="zh-CN" dirty="0"/>
              <a:t>Exercises: marking space groups</a:t>
            </a:r>
            <a:endParaRPr lang="zh-CN" altLang="en-US" dirty="0"/>
          </a:p>
        </p:txBody>
      </p:sp>
    </p:spTree>
  </p:cSld>
  <p:clrMapOvr>
    <a:masterClrMapping/>
  </p:clrMapOvr>
  <p:transition spd="med">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File:SymBlend p3.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31109"/>
            <a:ext cx="4248472" cy="151882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File:SymBlend p3m1.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3350331"/>
            <a:ext cx="4248472" cy="1518829"/>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descr="File:SymBlend p31m.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5366555"/>
            <a:ext cx="4248471" cy="1518829"/>
          </a:xfrm>
          <a:prstGeom prst="rect">
            <a:avLst/>
          </a:prstGeom>
          <a:noFill/>
          <a:extLst>
            <a:ext uri="{909E8E84-426E-40DD-AFC4-6F175D3DCCD1}">
              <a14:hiddenFill xmlns:a14="http://schemas.microsoft.com/office/drawing/2010/main">
                <a:solidFill>
                  <a:srgbClr val="FFFFFF"/>
                </a:solidFill>
              </a14:hiddenFill>
            </a:ext>
          </a:extLst>
        </p:spPr>
      </p:pic>
      <p:pic>
        <p:nvPicPr>
          <p:cNvPr id="20488" name="Picture 8" descr="File:SymBlend p6.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1431109"/>
            <a:ext cx="4284477" cy="1531701"/>
          </a:xfrm>
          <a:prstGeom prst="rect">
            <a:avLst/>
          </a:prstGeom>
          <a:noFill/>
          <a:extLst>
            <a:ext uri="{909E8E84-426E-40DD-AFC4-6F175D3DCCD1}">
              <a14:hiddenFill xmlns:a14="http://schemas.microsoft.com/office/drawing/2010/main">
                <a:solidFill>
                  <a:srgbClr val="FFFFFF"/>
                </a:solidFill>
              </a14:hiddenFill>
            </a:ext>
          </a:extLst>
        </p:spPr>
      </p:pic>
      <p:pic>
        <p:nvPicPr>
          <p:cNvPr id="20490" name="Picture 10" descr="File:SymBlend p6m.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1903" y="3350331"/>
            <a:ext cx="4248472" cy="151882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106"/>
          <p:cNvSpPr>
            <a:spLocks noChangeArrowheads="1"/>
          </p:cNvSpPr>
          <p:nvPr/>
        </p:nvSpPr>
        <p:spPr bwMode="auto">
          <a:xfrm>
            <a:off x="1592097" y="1052736"/>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p3</a:t>
            </a:r>
            <a:endParaRPr lang="en-US" altLang="zh-CN" sz="1800" dirty="0">
              <a:effectLst/>
              <a:ea typeface="宋体" panose="02010600030101010101" pitchFamily="2" charset="-122"/>
            </a:endParaRPr>
          </a:p>
        </p:txBody>
      </p:sp>
      <p:sp>
        <p:nvSpPr>
          <p:cNvPr id="11" name="Rectangle 2110"/>
          <p:cNvSpPr>
            <a:spLocks noChangeArrowheads="1"/>
          </p:cNvSpPr>
          <p:nvPr/>
        </p:nvSpPr>
        <p:spPr bwMode="auto">
          <a:xfrm>
            <a:off x="1657307" y="2996953"/>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a:effectLst/>
                <a:ea typeface="宋体" panose="02010600030101010101" pitchFamily="2" charset="-122"/>
              </a:rPr>
              <a:t>p3m1</a:t>
            </a:r>
            <a:endParaRPr lang="en-US" altLang="zh-CN" sz="1800">
              <a:effectLst/>
              <a:ea typeface="宋体" panose="02010600030101010101" pitchFamily="2" charset="-122"/>
            </a:endParaRPr>
          </a:p>
        </p:txBody>
      </p:sp>
      <p:sp>
        <p:nvSpPr>
          <p:cNvPr id="12" name="Rectangle 2113"/>
          <p:cNvSpPr>
            <a:spLocks noChangeArrowheads="1"/>
          </p:cNvSpPr>
          <p:nvPr/>
        </p:nvSpPr>
        <p:spPr bwMode="auto">
          <a:xfrm>
            <a:off x="1657307" y="5028538"/>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p31m</a:t>
            </a:r>
            <a:endParaRPr lang="en-US" altLang="zh-CN" sz="1800" dirty="0">
              <a:effectLst/>
              <a:ea typeface="宋体" panose="02010600030101010101" pitchFamily="2" charset="-122"/>
            </a:endParaRPr>
          </a:p>
        </p:txBody>
      </p:sp>
      <p:sp>
        <p:nvSpPr>
          <p:cNvPr id="13" name="Rectangle 2117"/>
          <p:cNvSpPr>
            <a:spLocks noChangeArrowheads="1"/>
          </p:cNvSpPr>
          <p:nvPr/>
        </p:nvSpPr>
        <p:spPr bwMode="auto">
          <a:xfrm>
            <a:off x="6084169" y="1124744"/>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p6</a:t>
            </a:r>
            <a:endParaRPr lang="en-US" altLang="zh-CN" sz="1800" dirty="0">
              <a:effectLst/>
              <a:ea typeface="宋体" panose="02010600030101010101" pitchFamily="2" charset="-122"/>
            </a:endParaRPr>
          </a:p>
        </p:txBody>
      </p:sp>
      <p:sp>
        <p:nvSpPr>
          <p:cNvPr id="14" name="Rectangle 2121"/>
          <p:cNvSpPr>
            <a:spLocks noChangeArrowheads="1"/>
          </p:cNvSpPr>
          <p:nvPr/>
        </p:nvSpPr>
        <p:spPr bwMode="auto">
          <a:xfrm>
            <a:off x="6084169" y="2996952"/>
            <a:ext cx="1657747" cy="29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i="1" dirty="0">
                <a:effectLst/>
                <a:ea typeface="宋体" panose="02010600030101010101" pitchFamily="2" charset="-122"/>
              </a:rPr>
              <a:t>p6mm</a:t>
            </a:r>
            <a:endParaRPr lang="en-US" altLang="zh-CN" sz="1800" dirty="0">
              <a:effectLst/>
              <a:ea typeface="宋体" panose="02010600030101010101" pitchFamily="2" charset="-122"/>
            </a:endParaRPr>
          </a:p>
        </p:txBody>
      </p:sp>
      <p:sp>
        <p:nvSpPr>
          <p:cNvPr id="15" name="TextBox 14"/>
          <p:cNvSpPr txBox="1"/>
          <p:nvPr/>
        </p:nvSpPr>
        <p:spPr>
          <a:xfrm>
            <a:off x="417290" y="407564"/>
            <a:ext cx="7324626" cy="584775"/>
          </a:xfrm>
          <a:prstGeom prst="rect">
            <a:avLst/>
          </a:prstGeom>
          <a:noFill/>
        </p:spPr>
        <p:txBody>
          <a:bodyPr wrap="square" rtlCol="0">
            <a:spAutoFit/>
          </a:bodyPr>
          <a:lstStyle>
            <a:defPPr>
              <a:defRPr lang="zh-CN"/>
            </a:defPPr>
            <a:lvl1pPr>
              <a:defRPr sz="3200">
                <a:latin typeface="+mj-lt"/>
                <a:cs typeface="Times New Roman" panose="02020603050405020304" pitchFamily="18" charset="0"/>
              </a:defRPr>
            </a:lvl1pPr>
          </a:lstStyle>
          <a:p>
            <a:r>
              <a:rPr lang="en-US" altLang="zh-CN" dirty="0"/>
              <a:t>Exercises: marking space groups</a:t>
            </a:r>
            <a:endParaRPr lang="zh-CN" altLang="en-US" dirty="0"/>
          </a:p>
        </p:txBody>
      </p:sp>
    </p:spTree>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698066" y="5916002"/>
            <a:ext cx="7848872" cy="707886"/>
          </a:xfrm>
          <a:prstGeom prst="rect">
            <a:avLst/>
          </a:prstGeom>
        </p:spPr>
        <p:txBody>
          <a:bodyPr wrap="square">
            <a:spAutoFit/>
          </a:bodyPr>
          <a:lstStyle/>
          <a:p>
            <a:r>
              <a:rPr lang="en-US" altLang="zh-CN" sz="2000" dirty="0">
                <a:latin typeface="+mn-lt"/>
              </a:rPr>
              <a:t>General equivalent points and the distribution of symmetry elements of 2D space groups- P2mg</a:t>
            </a:r>
            <a:endParaRPr lang="en-US" sz="2000" dirty="0">
              <a:latin typeface="+mn-lt"/>
            </a:endParaRPr>
          </a:p>
        </p:txBody>
      </p:sp>
      <p:sp>
        <p:nvSpPr>
          <p:cNvPr id="4" name="Rectangle 3"/>
          <p:cNvSpPr/>
          <p:nvPr/>
        </p:nvSpPr>
        <p:spPr>
          <a:xfrm>
            <a:off x="653671" y="1273750"/>
            <a:ext cx="7877123" cy="707886"/>
          </a:xfrm>
          <a:prstGeom prst="rect">
            <a:avLst/>
          </a:prstGeom>
        </p:spPr>
        <p:txBody>
          <a:bodyPr wrap="square">
            <a:spAutoFit/>
          </a:bodyPr>
          <a:lstStyle/>
          <a:p>
            <a:r>
              <a:rPr lang="en-US" altLang="zh-CN" sz="2000" dirty="0">
                <a:solidFill>
                  <a:srgbClr val="FF3399"/>
                </a:solidFill>
                <a:latin typeface="+mn-lt"/>
              </a:rPr>
              <a:t>Equivalent point system</a:t>
            </a:r>
            <a:r>
              <a:rPr lang="en-US" altLang="zh-CN" sz="2000" dirty="0">
                <a:latin typeface="+mn-lt"/>
              </a:rPr>
              <a:t> is a set of positions that are associated  by symmetric elements in 2D space group</a:t>
            </a:r>
            <a:endParaRPr lang="zh-CN" altLang="zh-CN" sz="2000" dirty="0">
              <a:latin typeface="+mn-lt"/>
            </a:endParaRPr>
          </a:p>
        </p:txBody>
      </p:sp>
      <p:grpSp>
        <p:nvGrpSpPr>
          <p:cNvPr id="11" name="Group 10"/>
          <p:cNvGrpSpPr/>
          <p:nvPr/>
        </p:nvGrpSpPr>
        <p:grpSpPr>
          <a:xfrm>
            <a:off x="939396" y="3171134"/>
            <a:ext cx="7305675" cy="2693988"/>
            <a:chOff x="1115616" y="3198872"/>
            <a:chExt cx="7305675" cy="2693988"/>
          </a:xfrm>
        </p:grpSpPr>
        <p:pic>
          <p:nvPicPr>
            <p:cNvPr id="103439" name="Picture 15" descr="E:\结晶矿物学教材\出版社\pic7-1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198872"/>
              <a:ext cx="7305675" cy="26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393004" y="3540248"/>
              <a:ext cx="2853042" cy="1884343"/>
            </a:xfrm>
            <a:prstGeom prst="rect">
              <a:avLst/>
            </a:prstGeom>
            <a:solidFill>
              <a:srgbClr val="00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9" name="Rectangle 8"/>
          <p:cNvSpPr/>
          <p:nvPr/>
        </p:nvSpPr>
        <p:spPr>
          <a:xfrm>
            <a:off x="464850" y="194442"/>
            <a:ext cx="8427629" cy="954107"/>
          </a:xfrm>
          <a:prstGeom prst="rect">
            <a:avLst/>
          </a:prstGeom>
        </p:spPr>
        <p:txBody>
          <a:bodyPr wrap="square">
            <a:spAutoFit/>
          </a:bodyPr>
          <a:lstStyle/>
          <a:p>
            <a:pPr algn="ctr"/>
            <a:r>
              <a:rPr lang="en-US" altLang="zh-CN" sz="2800" dirty="0">
                <a:latin typeface="+mn-lt"/>
                <a:cs typeface="Times New Roman" panose="02020603050405020304" pitchFamily="18" charset="0"/>
              </a:rPr>
              <a:t>R</a:t>
            </a:r>
            <a:r>
              <a:rPr lang="zh-CN" altLang="en-US" sz="2800" dirty="0">
                <a:latin typeface="+mn-lt"/>
                <a:cs typeface="Times New Roman" panose="02020603050405020304" pitchFamily="18" charset="0"/>
              </a:rPr>
              <a:t>epresentation of </a:t>
            </a:r>
            <a:r>
              <a:rPr lang="en-US" altLang="zh-CN" sz="2800" dirty="0">
                <a:latin typeface="+mn-lt"/>
                <a:cs typeface="Times New Roman" panose="02020603050405020304" pitchFamily="18" charset="0"/>
              </a:rPr>
              <a:t>2D space</a:t>
            </a:r>
            <a:r>
              <a:rPr lang="zh-CN" altLang="en-US" sz="2800" dirty="0">
                <a:latin typeface="+mn-lt"/>
                <a:cs typeface="Times New Roman" panose="02020603050405020304" pitchFamily="18" charset="0"/>
              </a:rPr>
              <a:t> group</a:t>
            </a:r>
            <a:r>
              <a:rPr lang="en-US" altLang="zh-CN" sz="2800" dirty="0">
                <a:latin typeface="+mn-lt"/>
                <a:cs typeface="Times New Roman" panose="02020603050405020304" pitchFamily="18" charset="0"/>
              </a:rPr>
              <a:t>s – </a:t>
            </a:r>
          </a:p>
          <a:p>
            <a:pPr algn="ctr"/>
            <a:r>
              <a:rPr lang="en-US" altLang="zh-CN" sz="2800" dirty="0">
                <a:latin typeface="+mn-lt"/>
                <a:cs typeface="Times New Roman" panose="02020603050405020304" pitchFamily="18" charset="0"/>
              </a:rPr>
              <a:t>equivalent point system</a:t>
            </a:r>
            <a:endParaRPr lang="zh-CN" altLang="en-US" sz="2800" dirty="0">
              <a:latin typeface="+mn-lt"/>
              <a:cs typeface="Times New Roman" panose="02020603050405020304" pitchFamily="18" charset="0"/>
            </a:endParaRPr>
          </a:p>
        </p:txBody>
      </p:sp>
      <p:pic>
        <p:nvPicPr>
          <p:cNvPr id="8" name="Picture 7"/>
          <p:cNvPicPr>
            <a:picLocks noChangeAspect="1"/>
          </p:cNvPicPr>
          <p:nvPr/>
        </p:nvPicPr>
        <p:blipFill>
          <a:blip r:embed="rId4"/>
          <a:stretch>
            <a:fillRect/>
          </a:stretch>
        </p:blipFill>
        <p:spPr>
          <a:xfrm>
            <a:off x="4363625" y="1815822"/>
            <a:ext cx="1512168" cy="832592"/>
          </a:xfrm>
          <a:prstGeom prst="rect">
            <a:avLst/>
          </a:prstGeom>
        </p:spPr>
      </p:pic>
      <p:sp>
        <p:nvSpPr>
          <p:cNvPr id="10" name="Rectangle 9"/>
          <p:cNvSpPr/>
          <p:nvPr/>
        </p:nvSpPr>
        <p:spPr>
          <a:xfrm>
            <a:off x="661068" y="1981289"/>
            <a:ext cx="7877123" cy="1015663"/>
          </a:xfrm>
          <a:prstGeom prst="rect">
            <a:avLst/>
          </a:prstGeom>
        </p:spPr>
        <p:txBody>
          <a:bodyPr wrap="square">
            <a:spAutoFit/>
          </a:bodyPr>
          <a:lstStyle/>
          <a:p>
            <a:pPr>
              <a:spcAft>
                <a:spcPts val="0"/>
              </a:spcAft>
            </a:pPr>
            <a:r>
              <a:rPr lang="en-US" altLang="zh-CN" sz="2000" kern="100" dirty="0">
                <a:latin typeface="+mn-lt"/>
                <a:ea typeface="等线" panose="02010600030101010101" pitchFamily="2" charset="-122"/>
                <a:cs typeface="Times New Roman" panose="02020603050405020304" pitchFamily="18" charset="0"/>
              </a:rPr>
              <a:t>For example: No. 7 2D space group</a:t>
            </a:r>
            <a:endParaRPr lang="zh-CN" altLang="zh-CN" sz="2000" kern="100" dirty="0">
              <a:latin typeface="+mn-lt"/>
              <a:ea typeface="等线" panose="02010600030101010101" pitchFamily="2" charset="-122"/>
              <a:cs typeface="Times New Roman" panose="02020603050405020304" pitchFamily="18" charset="0"/>
            </a:endParaRPr>
          </a:p>
          <a:p>
            <a:pPr>
              <a:spcAft>
                <a:spcPts val="0"/>
              </a:spcAft>
            </a:pPr>
            <a:r>
              <a:rPr lang="en-US" altLang="zh-CN" sz="2000" kern="100" dirty="0">
                <a:latin typeface="+mn-lt"/>
                <a:ea typeface="等线" panose="02010600030101010101" pitchFamily="2" charset="-122"/>
                <a:cs typeface="Times New Roman" panose="02020603050405020304" pitchFamily="18" charset="0"/>
              </a:rPr>
              <a:t>Coordinates of general equivalent points</a:t>
            </a:r>
            <a:r>
              <a:rPr lang="zh-CN" altLang="zh-CN" sz="2000" kern="100" dirty="0">
                <a:latin typeface="+mn-lt"/>
                <a:ea typeface="等线" panose="02010600030101010101" pitchFamily="2" charset="-122"/>
                <a:cs typeface="Times New Roman" panose="02020603050405020304" pitchFamily="18" charset="0"/>
              </a:rPr>
              <a:t>：</a:t>
            </a:r>
            <a:r>
              <a:rPr lang="en-US" altLang="zh-CN" sz="2000" i="1" kern="100" dirty="0">
                <a:latin typeface="+mn-lt"/>
                <a:ea typeface="等线" panose="02010600030101010101" pitchFamily="2" charset="-122"/>
                <a:cs typeface="Times New Roman" panose="02020603050405020304" pitchFamily="18" charset="0"/>
              </a:rPr>
              <a:t>x</a:t>
            </a:r>
            <a:r>
              <a:rPr lang="en-US" altLang="zh-CN" sz="2000" kern="100" dirty="0">
                <a:latin typeface="+mn-lt"/>
                <a:ea typeface="等线" panose="02010600030101010101" pitchFamily="2" charset="-122"/>
                <a:cs typeface="Times New Roman" panose="02020603050405020304" pitchFamily="18" charset="0"/>
              </a:rPr>
              <a:t>,</a:t>
            </a:r>
            <a:r>
              <a:rPr lang="en-US" altLang="zh-CN" sz="2000" i="1" kern="100" dirty="0">
                <a:latin typeface="+mn-lt"/>
                <a:ea typeface="等线" panose="02010600030101010101" pitchFamily="2" charset="-122"/>
                <a:cs typeface="Times New Roman" panose="02020603050405020304" pitchFamily="18" charset="0"/>
              </a:rPr>
              <a:t> y</a:t>
            </a:r>
            <a:r>
              <a:rPr lang="zh-CN" altLang="zh-CN" sz="2000" kern="100" dirty="0">
                <a:latin typeface="+mn-lt"/>
                <a:ea typeface="等线" panose="02010600030101010101" pitchFamily="2" charset="-122"/>
                <a:cs typeface="Times New Roman" panose="02020603050405020304" pitchFamily="18" charset="0"/>
              </a:rPr>
              <a:t>；</a:t>
            </a:r>
            <a:r>
              <a:rPr lang="en-US" altLang="zh-CN" sz="2000" i="1" kern="100" dirty="0">
                <a:latin typeface="+mn-lt"/>
                <a:ea typeface="等线" panose="02010600030101010101" pitchFamily="2" charset="-122"/>
                <a:cs typeface="Times New Roman" panose="02020603050405020304" pitchFamily="18" charset="0"/>
              </a:rPr>
              <a:t>- x</a:t>
            </a:r>
            <a:r>
              <a:rPr lang="en-US" altLang="zh-CN" sz="2000" kern="100" dirty="0">
                <a:latin typeface="+mn-lt"/>
                <a:ea typeface="等线" panose="02010600030101010101" pitchFamily="2" charset="-122"/>
                <a:cs typeface="Times New Roman" panose="02020603050405020304" pitchFamily="18" charset="0"/>
              </a:rPr>
              <a:t>,</a:t>
            </a:r>
            <a:r>
              <a:rPr lang="en-US" altLang="zh-CN" sz="2000" i="1" kern="100" dirty="0">
                <a:latin typeface="+mn-lt"/>
                <a:ea typeface="等线" panose="02010600030101010101" pitchFamily="2" charset="-122"/>
                <a:cs typeface="Times New Roman" panose="02020603050405020304" pitchFamily="18" charset="0"/>
              </a:rPr>
              <a:t> - y</a:t>
            </a:r>
            <a:r>
              <a:rPr lang="zh-CN" altLang="zh-CN" sz="2000" kern="100" dirty="0">
                <a:latin typeface="+mn-lt"/>
                <a:ea typeface="等线" panose="02010600030101010101" pitchFamily="2" charset="-122"/>
                <a:cs typeface="Times New Roman" panose="02020603050405020304" pitchFamily="18" charset="0"/>
              </a:rPr>
              <a:t>；</a:t>
            </a:r>
            <a:r>
              <a:rPr lang="en-US" altLang="zh-CN" sz="2000" kern="100" dirty="0">
                <a:latin typeface="+mn-lt"/>
                <a:ea typeface="等线" panose="02010600030101010101" pitchFamily="2" charset="-122"/>
                <a:cs typeface="Times New Roman" panose="02020603050405020304" pitchFamily="18" charset="0"/>
              </a:rPr>
              <a:t>1/2 - </a:t>
            </a:r>
            <a:r>
              <a:rPr lang="en-US" altLang="zh-CN" sz="2000" i="1" kern="100" dirty="0">
                <a:latin typeface="+mn-lt"/>
                <a:ea typeface="等线" panose="02010600030101010101" pitchFamily="2" charset="-122"/>
                <a:cs typeface="Times New Roman" panose="02020603050405020304" pitchFamily="18" charset="0"/>
              </a:rPr>
              <a:t>x</a:t>
            </a:r>
            <a:r>
              <a:rPr lang="en-US" altLang="zh-CN" sz="2000" kern="100" dirty="0">
                <a:latin typeface="+mn-lt"/>
                <a:ea typeface="等线" panose="02010600030101010101" pitchFamily="2" charset="-122"/>
                <a:cs typeface="Times New Roman" panose="02020603050405020304" pitchFamily="18" charset="0"/>
              </a:rPr>
              <a:t>, </a:t>
            </a:r>
            <a:r>
              <a:rPr lang="en-US" altLang="zh-CN" sz="2000" i="1" kern="100" dirty="0">
                <a:latin typeface="+mn-lt"/>
                <a:ea typeface="等线" panose="02010600030101010101" pitchFamily="2" charset="-122"/>
                <a:cs typeface="Times New Roman" panose="02020603050405020304" pitchFamily="18" charset="0"/>
              </a:rPr>
              <a:t>y; 1/2+x, -y </a:t>
            </a:r>
            <a:r>
              <a:rPr lang="zh-CN" altLang="zh-CN" sz="2000" i="1" kern="100" dirty="0">
                <a:latin typeface="+mn-lt"/>
                <a:ea typeface="等线" panose="02010600030101010101" pitchFamily="2" charset="-122"/>
                <a:cs typeface="Times New Roman" panose="02020603050405020304" pitchFamily="18" charset="0"/>
              </a:rPr>
              <a:t>；</a:t>
            </a:r>
            <a:r>
              <a:rPr lang="en-US" altLang="zh-CN" sz="2000" i="1" u="sng" kern="100" dirty="0">
                <a:solidFill>
                  <a:srgbClr val="FF0000"/>
                </a:solidFill>
                <a:latin typeface="+mn-lt"/>
                <a:ea typeface="等线" panose="02010600030101010101" pitchFamily="2" charset="-122"/>
                <a:cs typeface="Times New Roman" panose="02020603050405020304" pitchFamily="18" charset="0"/>
              </a:rPr>
              <a:t>x, y&lt;1 and x, y are positive number</a:t>
            </a:r>
            <a:r>
              <a:rPr lang="zh-CN" altLang="zh-CN" sz="2000" kern="100" dirty="0">
                <a:latin typeface="+mn-lt"/>
                <a:ea typeface="等线" panose="02010600030101010101" pitchFamily="2" charset="-122"/>
                <a:cs typeface="Times New Roman" panose="02020603050405020304" pitchFamily="18" charset="0"/>
              </a:rPr>
              <a:t>；</a:t>
            </a:r>
            <a:endParaRPr lang="zh-CN" altLang="zh-CN" sz="2000" kern="100" dirty="0">
              <a:effectLst/>
              <a:latin typeface="+mn-lt"/>
              <a:ea typeface="等线" panose="02010600030101010101" pitchFamily="2" charset="-122"/>
              <a:cs typeface="Times New Roman" panose="02020603050405020304" pitchFamily="18" charset="0"/>
            </a:endParaRPr>
          </a:p>
        </p:txBody>
      </p:sp>
      <p:cxnSp>
        <p:nvCxnSpPr>
          <p:cNvPr id="6" name="Straight Arrow Connector 5"/>
          <p:cNvCxnSpPr/>
          <p:nvPr/>
        </p:nvCxnSpPr>
        <p:spPr>
          <a:xfrm>
            <a:off x="631568" y="4365104"/>
            <a:ext cx="0" cy="10317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18312" y="4881601"/>
            <a:ext cx="338554" cy="369332"/>
          </a:xfrm>
          <a:prstGeom prst="rect">
            <a:avLst/>
          </a:prstGeom>
          <a:noFill/>
        </p:spPr>
        <p:txBody>
          <a:bodyPr wrap="none" rtlCol="0">
            <a:spAutoFit/>
          </a:bodyPr>
          <a:lstStyle/>
          <a:p>
            <a:r>
              <a:rPr lang="en-US" altLang="zh-CN" dirty="0"/>
              <a:t>X</a:t>
            </a:r>
            <a:endParaRPr lang="en-US" dirty="0"/>
          </a:p>
        </p:txBody>
      </p:sp>
      <p:cxnSp>
        <p:nvCxnSpPr>
          <p:cNvPr id="13" name="Straight Arrow Connector 12"/>
          <p:cNvCxnSpPr/>
          <p:nvPr/>
        </p:nvCxnSpPr>
        <p:spPr>
          <a:xfrm>
            <a:off x="2123728" y="3140968"/>
            <a:ext cx="1287760" cy="62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433088" y="2943534"/>
            <a:ext cx="338554" cy="369332"/>
          </a:xfrm>
          <a:prstGeom prst="rect">
            <a:avLst/>
          </a:prstGeom>
          <a:noFill/>
        </p:spPr>
        <p:txBody>
          <a:bodyPr wrap="none" rtlCol="0">
            <a:spAutoFit/>
          </a:bodyPr>
          <a:lstStyle/>
          <a:p>
            <a:r>
              <a:rPr lang="en-US" altLang="zh-CN" dirty="0"/>
              <a:t>Y</a:t>
            </a:r>
            <a:endParaRPr lang="en-US" dirty="0"/>
          </a:p>
        </p:txBody>
      </p:sp>
      <p:sp>
        <p:nvSpPr>
          <p:cNvPr id="14" name="Rectangle 13"/>
          <p:cNvSpPr/>
          <p:nvPr/>
        </p:nvSpPr>
        <p:spPr>
          <a:xfrm>
            <a:off x="827584" y="3128200"/>
            <a:ext cx="864096" cy="1753401"/>
          </a:xfrm>
          <a:prstGeom prst="rect">
            <a:avLst/>
          </a:prstGeom>
          <a:noFill/>
          <a:ln>
            <a:solidFill>
              <a:srgbClr val="FF33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a:extLst>
              <a:ext uri="{FF2B5EF4-FFF2-40B4-BE49-F238E27FC236}">
                <a16:creationId xmlns:a16="http://schemas.microsoft.com/office/drawing/2014/main" id="{F985133C-D96C-4911-B672-014352ACCE57}"/>
              </a:ext>
            </a:extLst>
          </p:cNvPr>
          <p:cNvSpPr txBox="1"/>
          <p:nvPr/>
        </p:nvSpPr>
        <p:spPr>
          <a:xfrm>
            <a:off x="1441854" y="3537517"/>
            <a:ext cx="723275" cy="369332"/>
          </a:xfrm>
          <a:prstGeom prst="rect">
            <a:avLst/>
          </a:prstGeom>
          <a:noFill/>
        </p:spPr>
        <p:txBody>
          <a:bodyPr wrap="none" rtlCol="0">
            <a:spAutoFit/>
          </a:bodyPr>
          <a:lstStyle/>
          <a:p>
            <a:r>
              <a:rPr lang="en-US" altLang="zh-CN" dirty="0"/>
              <a:t>(x, y)</a:t>
            </a:r>
            <a:endParaRPr lang="zh-CN" altLang="en-US" dirty="0"/>
          </a:p>
        </p:txBody>
      </p:sp>
    </p:spTree>
    <p:extLst>
      <p:ext uri="{BB962C8B-B14F-4D97-AF65-F5344CB8AC3E}">
        <p14:creationId xmlns:p14="http://schemas.microsoft.com/office/powerpoint/2010/main" val="3898871129"/>
      </p:ext>
    </p:extLst>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3D space group</a:t>
            </a:r>
          </a:p>
        </p:txBody>
      </p:sp>
      <p:sp>
        <p:nvSpPr>
          <p:cNvPr id="3" name="Content Placeholder 2"/>
          <p:cNvSpPr>
            <a:spLocks noGrp="1"/>
          </p:cNvSpPr>
          <p:nvPr>
            <p:ph idx="1"/>
          </p:nvPr>
        </p:nvSpPr>
        <p:spPr/>
        <p:txBody>
          <a:bodyPr>
            <a:noAutofit/>
          </a:bodyPr>
          <a:lstStyle/>
          <a:p>
            <a:pPr>
              <a:lnSpc>
                <a:spcPct val="120000"/>
              </a:lnSpc>
              <a:defRPr/>
            </a:pPr>
            <a:r>
              <a:rPr lang="en-US" altLang="zh-CN" sz="2200" dirty="0"/>
              <a:t>The combination of all symmetry elements in crystal internal structures.</a:t>
            </a:r>
          </a:p>
          <a:p>
            <a:pPr>
              <a:lnSpc>
                <a:spcPct val="120000"/>
              </a:lnSpc>
              <a:defRPr/>
            </a:pPr>
            <a:r>
              <a:rPr lang="en-US" altLang="zh-CN" sz="2200" dirty="0"/>
              <a:t>A </a:t>
            </a:r>
            <a:r>
              <a:rPr lang="en-US" altLang="zh-CN" sz="2200" dirty="0">
                <a:solidFill>
                  <a:srgbClr val="FF0000"/>
                </a:solidFill>
              </a:rPr>
              <a:t>s</a:t>
            </a:r>
            <a:r>
              <a:rPr lang="zh-CN" altLang="en-US" sz="2200" dirty="0">
                <a:solidFill>
                  <a:srgbClr val="FF0000"/>
                </a:solidFill>
              </a:rPr>
              <a:t>pace group compose</a:t>
            </a:r>
            <a:r>
              <a:rPr lang="en-US" altLang="zh-CN" sz="2200" dirty="0">
                <a:solidFill>
                  <a:srgbClr val="FF0000"/>
                </a:solidFill>
              </a:rPr>
              <a:t>s</a:t>
            </a:r>
            <a:r>
              <a:rPr lang="zh-CN" altLang="en-US" sz="2200" dirty="0">
                <a:solidFill>
                  <a:srgbClr val="FF0000"/>
                </a:solidFill>
              </a:rPr>
              <a:t> of two parts</a:t>
            </a:r>
            <a:r>
              <a:rPr lang="en-US" altLang="zh-CN" sz="2200" dirty="0"/>
              <a:t>. One is </a:t>
            </a:r>
            <a:r>
              <a:rPr lang="en-US" altLang="zh-CN" sz="2200" dirty="0">
                <a:solidFill>
                  <a:srgbClr val="FF0000"/>
                </a:solidFill>
              </a:rPr>
              <a:t>translation group</a:t>
            </a:r>
            <a:r>
              <a:rPr lang="en-US" altLang="zh-CN" sz="2200" dirty="0"/>
              <a:t>, which contains all of the translation axis; another is </a:t>
            </a:r>
            <a:r>
              <a:rPr lang="en-US" altLang="zh-CN" sz="2200" dirty="0">
                <a:solidFill>
                  <a:srgbClr val="FF0000"/>
                </a:solidFill>
              </a:rPr>
              <a:t>point group</a:t>
            </a:r>
            <a:r>
              <a:rPr lang="en-US" altLang="zh-CN" sz="2200" dirty="0"/>
              <a:t>, the</a:t>
            </a:r>
            <a:r>
              <a:rPr lang="zh-CN" altLang="en-US" sz="2200" dirty="0"/>
              <a:t> </a:t>
            </a:r>
            <a:r>
              <a:rPr lang="en-US" sz="2200" dirty="0"/>
              <a:t>group</a:t>
            </a:r>
            <a:r>
              <a:rPr lang="zh-CN" altLang="en-US" sz="2200" dirty="0"/>
              <a:t> of </a:t>
            </a:r>
            <a:r>
              <a:rPr lang="en-US" altLang="zh-CN" sz="2200" dirty="0"/>
              <a:t>m</a:t>
            </a:r>
            <a:r>
              <a:rPr lang="zh-CN" altLang="en-US" sz="2200" dirty="0"/>
              <a:t>acroscopic </a:t>
            </a:r>
            <a:r>
              <a:rPr lang="en-US" altLang="zh-CN" sz="2200" dirty="0"/>
              <a:t>s</a:t>
            </a:r>
            <a:r>
              <a:rPr lang="zh-CN" altLang="en-US" sz="2200" dirty="0"/>
              <a:t>ymmetry </a:t>
            </a:r>
            <a:r>
              <a:rPr lang="en-US" altLang="zh-CN" sz="2200" dirty="0"/>
              <a:t>e</a:t>
            </a:r>
            <a:r>
              <a:rPr lang="zh-CN" altLang="en-US" sz="2200" dirty="0"/>
              <a:t>lements in </a:t>
            </a:r>
            <a:r>
              <a:rPr lang="en-US" altLang="zh-CN" sz="2200" dirty="0"/>
              <a:t>c</a:t>
            </a:r>
            <a:r>
              <a:rPr lang="zh-CN" altLang="en-US" sz="2200" dirty="0"/>
              <a:t>rystals.</a:t>
            </a:r>
          </a:p>
          <a:p>
            <a:pPr>
              <a:lnSpc>
                <a:spcPct val="120000"/>
              </a:lnSpc>
              <a:defRPr/>
            </a:pPr>
            <a:r>
              <a:rPr lang="en-US" altLang="zh-CN" sz="2200" dirty="0"/>
              <a:t>Space group is derived from point group(Symmetrical type). One point group can produce a lot of space group. All </a:t>
            </a:r>
            <a:r>
              <a:rPr lang="en-US" altLang="zh-CN" sz="2200" dirty="0">
                <a:solidFill>
                  <a:srgbClr val="FF0000"/>
                </a:solidFill>
              </a:rPr>
              <a:t>32 </a:t>
            </a:r>
            <a:r>
              <a:rPr lang="en-US" altLang="zh-CN" sz="2200" dirty="0"/>
              <a:t>point groups can produce </a:t>
            </a:r>
            <a:r>
              <a:rPr lang="en-US" altLang="zh-CN" sz="2200" dirty="0">
                <a:solidFill>
                  <a:srgbClr val="FF0000"/>
                </a:solidFill>
              </a:rPr>
              <a:t>230</a:t>
            </a:r>
            <a:r>
              <a:rPr lang="en-US" altLang="zh-CN" sz="2200" dirty="0"/>
              <a:t> kinds of space groups.</a:t>
            </a:r>
          </a:p>
          <a:p>
            <a:pPr>
              <a:lnSpc>
                <a:spcPct val="120000"/>
              </a:lnSpc>
              <a:defRPr/>
            </a:pPr>
            <a:r>
              <a:rPr lang="en-US" altLang="zh-CN" sz="2200" dirty="0"/>
              <a:t>The </a:t>
            </a:r>
            <a:r>
              <a:rPr lang="zh-CN" altLang="en-US" sz="2200" dirty="0"/>
              <a:t>representation </a:t>
            </a:r>
            <a:r>
              <a:rPr lang="en-US" altLang="zh-CN" sz="2200" dirty="0"/>
              <a:t>symbol</a:t>
            </a:r>
            <a:r>
              <a:rPr lang="zh-CN" altLang="en-US" sz="2200" dirty="0"/>
              <a:t> </a:t>
            </a:r>
            <a:r>
              <a:rPr lang="en-US" altLang="zh-CN" sz="2200" dirty="0"/>
              <a:t>of space group is consistent with the point group. </a:t>
            </a:r>
            <a:r>
              <a:rPr lang="en-US" altLang="zh-CN" sz="2200" dirty="0">
                <a:solidFill>
                  <a:srgbClr val="FF0000"/>
                </a:solidFill>
              </a:rPr>
              <a:t>International Symbols </a:t>
            </a:r>
            <a:r>
              <a:rPr lang="en-US" altLang="zh-CN" sz="2200" dirty="0"/>
              <a:t>and </a:t>
            </a:r>
            <a:r>
              <a:rPr lang="en-US" altLang="zh-CN" sz="2200" dirty="0" err="1">
                <a:solidFill>
                  <a:srgbClr val="FF0000"/>
                </a:solidFill>
              </a:rPr>
              <a:t>Schfl</a:t>
            </a:r>
            <a:r>
              <a:rPr lang="en-US" altLang="zh-CN" sz="2200" dirty="0">
                <a:solidFill>
                  <a:srgbClr val="FF0000"/>
                </a:solidFill>
              </a:rPr>
              <a:t> Symbols.</a:t>
            </a:r>
            <a:r>
              <a:rPr lang="zh-CN" altLang="en-US" sz="2200" dirty="0"/>
              <a:t>   </a:t>
            </a:r>
          </a:p>
        </p:txBody>
      </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The relationship of macroscopic symmetry and microscopic symmetry</a:t>
            </a:r>
          </a:p>
        </p:txBody>
      </p:sp>
      <p:sp>
        <p:nvSpPr>
          <p:cNvPr id="6" name="Rectangle 4"/>
          <p:cNvSpPr>
            <a:spLocks noChangeArrowheads="1"/>
          </p:cNvSpPr>
          <p:nvPr/>
        </p:nvSpPr>
        <p:spPr bwMode="auto">
          <a:xfrm>
            <a:off x="6006165" y="3604544"/>
            <a:ext cx="1757363"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latin typeface="+mn-lt"/>
                <a:ea typeface="黑体" panose="02010609060101010101" pitchFamily="49" charset="-122"/>
              </a:rPr>
              <a:t>Micro</a:t>
            </a:r>
          </a:p>
        </p:txBody>
      </p:sp>
      <p:sp>
        <p:nvSpPr>
          <p:cNvPr id="7" name="Rectangle 3"/>
          <p:cNvSpPr>
            <a:spLocks noChangeArrowheads="1"/>
          </p:cNvSpPr>
          <p:nvPr/>
        </p:nvSpPr>
        <p:spPr bwMode="auto">
          <a:xfrm>
            <a:off x="1135859" y="3604544"/>
            <a:ext cx="201612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latin typeface="+mn-lt"/>
                <a:ea typeface="黑体" panose="02010609060101010101" pitchFamily="49" charset="-122"/>
              </a:rPr>
              <a:t>Macro</a:t>
            </a:r>
          </a:p>
        </p:txBody>
      </p:sp>
      <p:sp>
        <p:nvSpPr>
          <p:cNvPr id="8" name="Rectangle 5"/>
          <p:cNvSpPr>
            <a:spLocks noChangeArrowheads="1"/>
          </p:cNvSpPr>
          <p:nvPr/>
        </p:nvSpPr>
        <p:spPr bwMode="auto">
          <a:xfrm>
            <a:off x="521080" y="4345697"/>
            <a:ext cx="26391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0" dirty="0">
                <a:latin typeface="+mn-lt"/>
                <a:ea typeface="宋体" panose="02010600030101010101" pitchFamily="2" charset="-122"/>
              </a:rPr>
              <a:t>R</a:t>
            </a:r>
            <a:r>
              <a:rPr lang="zh-CN" altLang="en-US" sz="2800" b="0" dirty="0">
                <a:latin typeface="+mn-lt"/>
                <a:ea typeface="宋体" panose="02010600030101010101" pitchFamily="2" charset="-122"/>
              </a:rPr>
              <a:t>eflection plane</a:t>
            </a:r>
          </a:p>
        </p:txBody>
      </p:sp>
      <p:sp>
        <p:nvSpPr>
          <p:cNvPr id="9" name="Rectangle 6"/>
          <p:cNvSpPr>
            <a:spLocks noChangeArrowheads="1"/>
          </p:cNvSpPr>
          <p:nvPr/>
        </p:nvSpPr>
        <p:spPr bwMode="auto">
          <a:xfrm>
            <a:off x="5832810" y="4130101"/>
            <a:ext cx="276669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800" b="0" dirty="0">
                <a:latin typeface="+mn-lt"/>
                <a:sym typeface="+mn-ea"/>
              </a:rPr>
              <a:t>R</a:t>
            </a:r>
            <a:r>
              <a:rPr lang="zh-CN" altLang="en-US" sz="2800" b="0" dirty="0">
                <a:latin typeface="+mn-lt"/>
                <a:sym typeface="+mn-ea"/>
              </a:rPr>
              <a:t>eflection plane</a:t>
            </a:r>
            <a:endParaRPr lang="zh-CN" altLang="en-US" sz="2800" b="1" dirty="0">
              <a:latin typeface="+mn-lt"/>
            </a:endParaRPr>
          </a:p>
          <a:p>
            <a:pPr algn="l"/>
            <a:r>
              <a:rPr lang="en-US" altLang="zh-CN" sz="2800" b="0" dirty="0">
                <a:latin typeface="+mn-lt"/>
              </a:rPr>
              <a:t>glide plane</a:t>
            </a:r>
          </a:p>
        </p:txBody>
      </p:sp>
      <p:sp>
        <p:nvSpPr>
          <p:cNvPr id="10" name="Rectangle 7"/>
          <p:cNvSpPr>
            <a:spLocks noChangeArrowheads="1"/>
          </p:cNvSpPr>
          <p:nvPr/>
        </p:nvSpPr>
        <p:spPr bwMode="auto">
          <a:xfrm>
            <a:off x="714537" y="5354395"/>
            <a:ext cx="21333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0" dirty="0">
                <a:latin typeface="+mn-lt"/>
                <a:ea typeface="宋体" panose="02010600030101010101" pitchFamily="2" charset="-122"/>
              </a:rPr>
              <a:t>Rotation axis</a:t>
            </a:r>
          </a:p>
        </p:txBody>
      </p:sp>
      <p:sp>
        <p:nvSpPr>
          <p:cNvPr id="11" name="Rectangle 8"/>
          <p:cNvSpPr>
            <a:spLocks noChangeArrowheads="1"/>
          </p:cNvSpPr>
          <p:nvPr/>
        </p:nvSpPr>
        <p:spPr bwMode="auto">
          <a:xfrm>
            <a:off x="5832493" y="5138287"/>
            <a:ext cx="213334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0" dirty="0">
                <a:latin typeface="+mn-lt"/>
                <a:sym typeface="+mn-ea"/>
              </a:rPr>
              <a:t>Rotation axis</a:t>
            </a:r>
            <a:endParaRPr lang="zh-CN" altLang="en-US" sz="2800" b="1" dirty="0">
              <a:latin typeface="+mn-lt"/>
            </a:endParaRPr>
          </a:p>
          <a:p>
            <a:pPr algn="l"/>
            <a:r>
              <a:rPr lang="en-US" altLang="zh-CN" sz="2800" b="0" dirty="0">
                <a:latin typeface="+mn-lt"/>
                <a:sym typeface="+mn-ea"/>
              </a:rPr>
              <a:t>screw axis</a:t>
            </a:r>
            <a:endParaRPr lang="zh-CN" altLang="en-US" sz="2800" b="1" dirty="0">
              <a:latin typeface="+mn-lt"/>
            </a:endParaRPr>
          </a:p>
        </p:txBody>
      </p:sp>
      <p:sp>
        <p:nvSpPr>
          <p:cNvPr id="12" name="Cross 11"/>
          <p:cNvSpPr/>
          <p:nvPr/>
        </p:nvSpPr>
        <p:spPr>
          <a:xfrm>
            <a:off x="2555776" y="3705587"/>
            <a:ext cx="417108" cy="381478"/>
          </a:xfrm>
          <a:prstGeom prst="plus">
            <a:avLst>
              <a:gd name="adj" fmla="val 37511"/>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p:cNvSpPr/>
          <p:nvPr/>
        </p:nvSpPr>
        <p:spPr>
          <a:xfrm>
            <a:off x="3084106" y="3603939"/>
            <a:ext cx="2093650" cy="584775"/>
          </a:xfrm>
          <a:prstGeom prst="rect">
            <a:avLst/>
          </a:prstGeom>
        </p:spPr>
        <p:txBody>
          <a:bodyPr wrap="none">
            <a:spAutoFit/>
          </a:bodyPr>
          <a:lstStyle/>
          <a:p>
            <a:r>
              <a:rPr lang="en-US" sz="3200" dirty="0">
                <a:latin typeface="+mn-lt"/>
                <a:ea typeface="黑体" panose="02010609060101010101" pitchFamily="49" charset="-122"/>
              </a:rPr>
              <a:t>Translation</a:t>
            </a:r>
            <a:endParaRPr lang="en-US" sz="3200" dirty="0">
              <a:latin typeface="+mn-lt"/>
            </a:endParaRPr>
          </a:p>
        </p:txBody>
      </p:sp>
      <p:sp>
        <p:nvSpPr>
          <p:cNvPr id="14" name="Right Arrow 13"/>
          <p:cNvSpPr/>
          <p:nvPr/>
        </p:nvSpPr>
        <p:spPr>
          <a:xfrm>
            <a:off x="5442978" y="3730509"/>
            <a:ext cx="281150" cy="331634"/>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Arrow Connector 14"/>
          <p:cNvCxnSpPr/>
          <p:nvPr/>
        </p:nvCxnSpPr>
        <p:spPr>
          <a:xfrm>
            <a:off x="3024354" y="4578732"/>
            <a:ext cx="2563709"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024354" y="5615340"/>
            <a:ext cx="2563709"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83357" y="1628800"/>
            <a:ext cx="8093099" cy="1384995"/>
          </a:xfrm>
          <a:prstGeom prst="rect">
            <a:avLst/>
          </a:prstGeom>
          <a:solidFill>
            <a:schemeClr val="bg1">
              <a:lumMod val="85000"/>
            </a:schemeClr>
          </a:solidFill>
        </p:spPr>
        <p:txBody>
          <a:bodyPr wrap="square">
            <a:spAutoFit/>
          </a:bodyPr>
          <a:lstStyle/>
          <a:p>
            <a:pPr lvl="0" fontAlgn="auto">
              <a:spcBef>
                <a:spcPct val="20000"/>
              </a:spcBef>
              <a:spcAft>
                <a:spcPts val="0"/>
              </a:spcAft>
            </a:pPr>
            <a:r>
              <a:rPr lang="en-US" sz="2800" b="0" dirty="0">
                <a:solidFill>
                  <a:prstClr val="black"/>
                </a:solidFill>
                <a:latin typeface="Franklin Gothic Book" panose="020B0503020102020204"/>
                <a:ea typeface="+mn-ea"/>
              </a:rPr>
              <a:t>When translation is combined with macroscopic symmetry in microscopic crystal structure, different kinds of microscopic symmetry elements appear.</a:t>
            </a:r>
          </a:p>
        </p:txBody>
      </p:sp>
    </p:spTree>
  </p:cSld>
  <p:clrMapOvr>
    <a:masterClrMapping/>
  </p:clrMapOvr>
  <p:transition spd="med">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Isomorphic space group(</a:t>
            </a:r>
            <a:r>
              <a:rPr lang="zh-CN" altLang="en-US" sz="3600" dirty="0"/>
              <a:t>同形空间群</a:t>
            </a:r>
            <a:r>
              <a:rPr lang="en-US" sz="3600" dirty="0"/>
              <a:t>)</a:t>
            </a:r>
          </a:p>
        </p:txBody>
      </p:sp>
      <p:sp>
        <p:nvSpPr>
          <p:cNvPr id="3" name="Content Placeholder 2"/>
          <p:cNvSpPr>
            <a:spLocks noGrp="1"/>
          </p:cNvSpPr>
          <p:nvPr>
            <p:ph idx="1"/>
          </p:nvPr>
        </p:nvSpPr>
        <p:spPr>
          <a:xfrm>
            <a:off x="457200" y="1600200"/>
            <a:ext cx="8229600" cy="4997152"/>
          </a:xfrm>
        </p:spPr>
        <p:txBody>
          <a:bodyPr>
            <a:normAutofit/>
          </a:bodyPr>
          <a:lstStyle/>
          <a:p>
            <a:pPr marL="0" indent="0">
              <a:buNone/>
            </a:pPr>
            <a:r>
              <a:rPr lang="en-US" altLang="zh-CN" sz="2400" b="1" dirty="0">
                <a:solidFill>
                  <a:srgbClr val="FF0000"/>
                </a:solidFill>
                <a:ea typeface="黑体" panose="02010609060101010101" pitchFamily="49" charset="-122"/>
              </a:rPr>
              <a:t>Different microscopic symmetry elements can be derived from the same macroscopic symmetry elements</a:t>
            </a:r>
            <a:r>
              <a:rPr lang="en-US" altLang="zh-CN" sz="2400" dirty="0">
                <a:ea typeface="黑体" panose="02010609060101010101" pitchFamily="49" charset="-122"/>
              </a:rPr>
              <a:t>. Thus, while some crystals belong to the same point group, they may belong to different space groups. </a:t>
            </a:r>
          </a:p>
          <a:p>
            <a:pPr marL="0" indent="0">
              <a:buNone/>
            </a:pPr>
            <a:endParaRPr lang="en-US" altLang="zh-CN" sz="2400" dirty="0">
              <a:ea typeface="黑体" panose="02010609060101010101" pitchFamily="49" charset="-122"/>
            </a:endParaRPr>
          </a:p>
          <a:p>
            <a:pPr marL="0" indent="0">
              <a:buNone/>
            </a:pPr>
            <a:r>
              <a:rPr lang="en-US" altLang="zh-CN" sz="2400" dirty="0">
                <a:ea typeface="黑体" panose="02010609060101010101" pitchFamily="49" charset="-122"/>
              </a:rPr>
              <a:t>And all these space groups containing the same macroscopic symmetry are called </a:t>
            </a:r>
            <a:r>
              <a:rPr lang="en-US" altLang="zh-CN" sz="2400" dirty="0">
                <a:solidFill>
                  <a:srgbClr val="FF0000"/>
                </a:solidFill>
                <a:ea typeface="黑体" panose="02010609060101010101" pitchFamily="49" charset="-122"/>
              </a:rPr>
              <a:t>isomorphic space groups</a:t>
            </a:r>
            <a:r>
              <a:rPr lang="en-US" altLang="zh-CN" sz="2400" dirty="0">
                <a:ea typeface="黑体" panose="02010609060101010101" pitchFamily="49" charset="-122"/>
              </a:rPr>
              <a:t> of this point group (corresponding to the macroscopic symmetry).</a:t>
            </a:r>
            <a:endParaRPr lang="zh-CN" altLang="en-US" sz="2400" dirty="0">
              <a:solidFill>
                <a:srgbClr val="000000"/>
              </a:solidFill>
              <a:ea typeface="黑体" panose="02010609060101010101" pitchFamily="49" charset="-122"/>
            </a:endParaRPr>
          </a:p>
          <a:p>
            <a:pPr marL="0" indent="0">
              <a:buNone/>
            </a:pPr>
            <a:endParaRPr lang="en-US" sz="2400" dirty="0"/>
          </a:p>
          <a:p>
            <a:pPr marL="0" indent="0">
              <a:buNone/>
            </a:pPr>
            <a:r>
              <a:rPr lang="en-US" altLang="zh-CN" sz="2400" dirty="0"/>
              <a:t>e g: All of the isomorphic space groups of C</a:t>
            </a:r>
            <a:r>
              <a:rPr lang="en-US" altLang="zh-CN" sz="2400" baseline="-25000" dirty="0"/>
              <a:t>2h</a:t>
            </a:r>
            <a:r>
              <a:rPr lang="en-US" altLang="zh-CN" sz="2400" dirty="0"/>
              <a:t> : P2/m, P2</a:t>
            </a:r>
            <a:r>
              <a:rPr lang="en-US" altLang="zh-CN" sz="2400" baseline="-25000" dirty="0"/>
              <a:t>1</a:t>
            </a:r>
            <a:r>
              <a:rPr lang="en-US" altLang="zh-CN" sz="2400" dirty="0"/>
              <a:t>/m, P2</a:t>
            </a:r>
            <a:r>
              <a:rPr lang="en-US" altLang="zh-CN" sz="2400" baseline="-25000" dirty="0"/>
              <a:t>1</a:t>
            </a:r>
            <a:r>
              <a:rPr lang="en-US" altLang="zh-CN" sz="2400" dirty="0"/>
              <a:t>/c, C2/m, C2/c.</a:t>
            </a:r>
          </a:p>
          <a:p>
            <a:pPr marL="0" indent="0">
              <a:buNone/>
            </a:pPr>
            <a:r>
              <a:rPr lang="en-US" altLang="zh-CN" sz="2400" dirty="0"/>
              <a:t>C</a:t>
            </a:r>
            <a:r>
              <a:rPr lang="en-US" altLang="zh-CN" sz="2400" baseline="-25000" dirty="0"/>
              <a:t>2h</a:t>
            </a:r>
            <a:r>
              <a:rPr lang="en-US" altLang="zh-CN" sz="2400" dirty="0"/>
              <a:t> </a:t>
            </a:r>
            <a:r>
              <a:rPr lang="en-US" altLang="zh-CN" sz="2400" dirty="0">
                <a:sym typeface="Wingdings" panose="05000000000000000000" pitchFamily="2" charset="2"/>
              </a:rPr>
              <a:t> </a:t>
            </a:r>
            <a:r>
              <a:rPr lang="en-US" altLang="zh-CN" sz="2400" dirty="0"/>
              <a:t>Point group 2/m</a:t>
            </a:r>
            <a:endParaRPr lang="zh-CN" altLang="en-US" sz="2400" dirty="0"/>
          </a:p>
          <a:p>
            <a:pPr marL="0" indent="0">
              <a:buNone/>
            </a:pPr>
            <a:endParaRPr lang="en-US" sz="2400" dirty="0"/>
          </a:p>
        </p:txBody>
      </p:sp>
    </p:spTree>
  </p:cSld>
  <p:clrMapOvr>
    <a:masterClrMapping/>
  </p:clrMapOvr>
  <p:transition spd="med">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7"/>
          <p:cNvSpPr>
            <a:spLocks noChangeArrowheads="1"/>
          </p:cNvSpPr>
          <p:nvPr/>
        </p:nvSpPr>
        <p:spPr bwMode="auto">
          <a:xfrm>
            <a:off x="-12526" y="2914202"/>
            <a:ext cx="1296987" cy="935037"/>
          </a:xfrm>
          <a:prstGeom prst="irregularSeal1">
            <a:avLst/>
          </a:prstGeom>
          <a:solidFill>
            <a:srgbClr val="FFFF99"/>
          </a:solidFill>
          <a:ln w="12700">
            <a:solidFill>
              <a:srgbClr val="FF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3200" dirty="0" err="1">
                <a:latin typeface="+mn-lt"/>
                <a:ea typeface="黑体" panose="02010609060101010101" pitchFamily="49" charset="-122"/>
              </a:rPr>
              <a:t>eg</a:t>
            </a:r>
            <a:endParaRPr lang="en-US" altLang="zh-CN" sz="3200" dirty="0">
              <a:latin typeface="+mn-lt"/>
              <a:ea typeface="黑体" panose="02010609060101010101" pitchFamily="49" charset="-122"/>
            </a:endParaRPr>
          </a:p>
        </p:txBody>
      </p:sp>
      <p:sp>
        <p:nvSpPr>
          <p:cNvPr id="2" name="Title 1"/>
          <p:cNvSpPr>
            <a:spLocks noGrp="1"/>
          </p:cNvSpPr>
          <p:nvPr>
            <p:ph type="title"/>
          </p:nvPr>
        </p:nvSpPr>
        <p:spPr/>
        <p:txBody>
          <a:bodyPr>
            <a:normAutofit/>
          </a:bodyPr>
          <a:lstStyle/>
          <a:p>
            <a:r>
              <a:rPr lang="en-US" dirty="0"/>
              <a:t>The derivation of space group</a:t>
            </a:r>
          </a:p>
        </p:txBody>
      </p:sp>
      <p:sp>
        <p:nvSpPr>
          <p:cNvPr id="4" name="Text Box 3"/>
          <p:cNvSpPr txBox="1">
            <a:spLocks noChangeArrowheads="1"/>
          </p:cNvSpPr>
          <p:nvPr/>
        </p:nvSpPr>
        <p:spPr bwMode="auto">
          <a:xfrm>
            <a:off x="179388" y="1399728"/>
            <a:ext cx="813702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dirty="0">
                <a:latin typeface="+mn-lt"/>
                <a:ea typeface="黑体" panose="02010609060101010101" pitchFamily="49" charset="-122"/>
              </a:rPr>
              <a:t>1. </a:t>
            </a:r>
            <a:r>
              <a:rPr lang="en-US" altLang="zh-CN" sz="3200" dirty="0" err="1">
                <a:latin typeface="+mn-lt"/>
                <a:ea typeface="黑体" panose="02010609060101010101" pitchFamily="49" charset="-122"/>
              </a:rPr>
              <a:t>symmorphic</a:t>
            </a:r>
            <a:r>
              <a:rPr lang="en-US" altLang="zh-CN" sz="3200" dirty="0">
                <a:latin typeface="+mn-lt"/>
                <a:ea typeface="黑体" panose="02010609060101010101" pitchFamily="49" charset="-122"/>
              </a:rPr>
              <a:t> </a:t>
            </a:r>
            <a:r>
              <a:rPr lang="zh-CN" altLang="en-US" sz="3200" dirty="0">
                <a:latin typeface="+mn-lt"/>
                <a:ea typeface="黑体" panose="02010609060101010101" pitchFamily="49" charset="-122"/>
              </a:rPr>
              <a:t>space group （点式空间群）</a:t>
            </a:r>
          </a:p>
        </p:txBody>
      </p:sp>
      <p:sp>
        <p:nvSpPr>
          <p:cNvPr id="5" name="Rectangle 4"/>
          <p:cNvSpPr>
            <a:spLocks noChangeArrowheads="1"/>
          </p:cNvSpPr>
          <p:nvPr/>
        </p:nvSpPr>
        <p:spPr bwMode="auto">
          <a:xfrm>
            <a:off x="251143" y="2152203"/>
            <a:ext cx="8641655"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latinLnBrk="0" hangingPunct="1"/>
            <a:r>
              <a:rPr lang="en-US" altLang="zh-CN" sz="2400" i="1" dirty="0">
                <a:latin typeface="+mn-lt"/>
                <a:ea typeface="黑体" panose="02010609060101010101" pitchFamily="49" charset="-122"/>
              </a:rPr>
              <a:t>Obtained from the combination of 14 bravais lattices and 32 point groups.</a:t>
            </a:r>
            <a:endParaRPr lang="zh-CN" altLang="en-US" sz="2400" i="1" dirty="0">
              <a:latin typeface="+mn-lt"/>
              <a:ea typeface="黑体" panose="02010609060101010101" pitchFamily="49" charset="-122"/>
            </a:endParaRPr>
          </a:p>
        </p:txBody>
      </p:sp>
      <p:sp>
        <p:nvSpPr>
          <p:cNvPr id="6" name="Text Box 5"/>
          <p:cNvSpPr txBox="1">
            <a:spLocks noChangeArrowheads="1"/>
          </p:cNvSpPr>
          <p:nvPr/>
        </p:nvSpPr>
        <p:spPr bwMode="auto">
          <a:xfrm>
            <a:off x="372322" y="3845617"/>
            <a:ext cx="4055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0" dirty="0">
                <a:latin typeface="+mn-lt"/>
                <a:ea typeface="黑体" panose="02010609060101010101" pitchFamily="49" charset="-122"/>
              </a:rPr>
              <a:t>Monoclinic </a:t>
            </a:r>
            <a:r>
              <a:rPr lang="en-US" altLang="zh-CN" sz="2800" b="0" dirty="0">
                <a:latin typeface="+mn-lt"/>
                <a:ea typeface="黑体" panose="02010609060101010101" pitchFamily="49" charset="-122"/>
              </a:rPr>
              <a:t>crystal system</a:t>
            </a:r>
          </a:p>
        </p:txBody>
      </p:sp>
      <p:sp>
        <p:nvSpPr>
          <p:cNvPr id="7" name="Rectangle 6"/>
          <p:cNvSpPr>
            <a:spLocks noChangeArrowheads="1"/>
          </p:cNvSpPr>
          <p:nvPr/>
        </p:nvSpPr>
        <p:spPr bwMode="auto">
          <a:xfrm>
            <a:off x="5854387" y="3198365"/>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1800">
                <a:latin typeface="+mn-lt"/>
                <a:ea typeface="宋体" panose="02010600030101010101" pitchFamily="2" charset="-122"/>
              </a:rPr>
              <a:t> </a:t>
            </a:r>
          </a:p>
        </p:txBody>
      </p:sp>
      <p:sp>
        <p:nvSpPr>
          <p:cNvPr id="9" name="Rectangle 8"/>
          <p:cNvSpPr>
            <a:spLocks noChangeArrowheads="1"/>
          </p:cNvSpPr>
          <p:nvPr/>
        </p:nvSpPr>
        <p:spPr bwMode="auto">
          <a:xfrm>
            <a:off x="5638487" y="4709665"/>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1800">
                <a:latin typeface="+mn-lt"/>
                <a:ea typeface="宋体" panose="02010600030101010101" pitchFamily="2" charset="-122"/>
              </a:rPr>
              <a:t> </a:t>
            </a:r>
          </a:p>
        </p:txBody>
      </p:sp>
      <p:pic>
        <p:nvPicPr>
          <p:cNvPr id="10"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1757" y="2982148"/>
            <a:ext cx="1654459" cy="2303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a:spLocks noChangeArrowheads="1"/>
          </p:cNvSpPr>
          <p:nvPr/>
        </p:nvSpPr>
        <p:spPr bwMode="auto">
          <a:xfrm>
            <a:off x="4333245" y="5501828"/>
            <a:ext cx="2171065" cy="460375"/>
          </a:xfrm>
          <a:prstGeom prst="rect">
            <a:avLst/>
          </a:prstGeom>
          <a:noFill/>
          <a:ln>
            <a:noFill/>
          </a:ln>
          <a:effectLst/>
        </p:spPr>
        <p:txBody>
          <a:bodyPr wrap="none" anchor="ctr">
            <a:spAutoFit/>
          </a:bodyPr>
          <a:lstStyle/>
          <a:p>
            <a:pPr algn="l"/>
            <a:r>
              <a:rPr lang="zh-CN" altLang="en-US" sz="2400" b="0" dirty="0">
                <a:latin typeface="+mn-lt"/>
                <a:ea typeface="黑体" panose="02010609060101010101" pitchFamily="49" charset="-122"/>
                <a:sym typeface="+mn-ea"/>
              </a:rPr>
              <a:t>Monoclinic </a:t>
            </a:r>
            <a:r>
              <a:rPr lang="en-US" altLang="zh-CN" sz="2400" i="1" dirty="0" err="1">
                <a:latin typeface="+mn-lt"/>
              </a:rPr>
              <a:t>m</a:t>
            </a:r>
            <a:r>
              <a:rPr lang="en-US" altLang="zh-CN" sz="2400" dirty="0" err="1">
                <a:latin typeface="+mn-lt"/>
              </a:rPr>
              <a:t>P</a:t>
            </a:r>
            <a:r>
              <a:rPr lang="en-US" altLang="zh-CN" sz="2400" b="1" dirty="0">
                <a:latin typeface="+mn-lt"/>
              </a:rPr>
              <a:t> </a:t>
            </a:r>
          </a:p>
        </p:txBody>
      </p:sp>
      <p:pic>
        <p:nvPicPr>
          <p:cNvPr id="12"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2087" y="2982465"/>
            <a:ext cx="155892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p:cNvSpPr>
            <a:spLocks noChangeArrowheads="1"/>
          </p:cNvSpPr>
          <p:nvPr/>
        </p:nvSpPr>
        <p:spPr bwMode="auto">
          <a:xfrm>
            <a:off x="6623372" y="5501828"/>
            <a:ext cx="2197100" cy="460375"/>
          </a:xfrm>
          <a:prstGeom prst="rect">
            <a:avLst/>
          </a:prstGeom>
          <a:noFill/>
          <a:ln>
            <a:noFill/>
          </a:ln>
          <a:effectLst/>
        </p:spPr>
        <p:txBody>
          <a:bodyPr wrap="none" anchor="ctr">
            <a:spAutoFit/>
          </a:bodyPr>
          <a:lstStyle/>
          <a:p>
            <a:pPr algn="l"/>
            <a:r>
              <a:rPr lang="zh-CN" altLang="en-US" sz="2400" b="0" dirty="0">
                <a:latin typeface="+mn-lt"/>
                <a:ea typeface="黑体" panose="02010609060101010101" pitchFamily="49" charset="-122"/>
                <a:sym typeface="+mn-ea"/>
              </a:rPr>
              <a:t>Monoclinic </a:t>
            </a:r>
            <a:r>
              <a:rPr lang="en-US" altLang="zh-CN" sz="2400" b="1" i="1">
                <a:latin typeface="+mn-lt"/>
              </a:rPr>
              <a:t>m</a:t>
            </a:r>
            <a:r>
              <a:rPr lang="en-US" altLang="zh-CN" sz="2400" b="1">
                <a:latin typeface="+mn-lt"/>
              </a:rPr>
              <a:t>C </a:t>
            </a:r>
          </a:p>
        </p:txBody>
      </p:sp>
      <p:graphicFrame>
        <p:nvGraphicFramePr>
          <p:cNvPr id="14" name="Object 13"/>
          <p:cNvGraphicFramePr>
            <a:graphicFrameLocks noChangeAspect="1"/>
          </p:cNvGraphicFramePr>
          <p:nvPr/>
        </p:nvGraphicFramePr>
        <p:xfrm>
          <a:off x="8157850" y="3703190"/>
          <a:ext cx="971550" cy="922338"/>
        </p:xfrm>
        <a:graphic>
          <a:graphicData uri="http://schemas.openxmlformats.org/presentationml/2006/ole">
            <mc:AlternateContent xmlns:mc="http://schemas.openxmlformats.org/markup-compatibility/2006">
              <mc:Choice xmlns:v="urn:schemas-microsoft-com:vml" Requires="v">
                <p:oleObj name="Microsoft Equation 3.0" r:id="rId4" imgW="736600" imgH="698500" progId="Equation.3">
                  <p:embed/>
                </p:oleObj>
              </mc:Choice>
              <mc:Fallback>
                <p:oleObj name="Microsoft Equation 3.0" r:id="rId4" imgW="736600" imgH="698500" progId="Equation.3">
                  <p:embed/>
                  <p:pic>
                    <p:nvPicPr>
                      <p:cNvPr id="0" name="图片 452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7850" y="3703190"/>
                        <a:ext cx="971550" cy="922338"/>
                      </a:xfrm>
                      <a:prstGeom prst="rect">
                        <a:avLst/>
                      </a:prstGeom>
                      <a:solidFill>
                        <a:schemeClr val="bg1"/>
                      </a:solidFill>
                      <a:ln>
                        <a:noFill/>
                      </a:ln>
                      <a:effectLst/>
                    </p:spPr>
                  </p:pic>
                </p:oleObj>
              </mc:Fallback>
            </mc:AlternateContent>
          </a:graphicData>
        </a:graphic>
      </p:graphicFrame>
      <p:sp>
        <p:nvSpPr>
          <p:cNvPr id="15" name="Text Box 14"/>
          <p:cNvSpPr txBox="1">
            <a:spLocks noChangeArrowheads="1"/>
          </p:cNvSpPr>
          <p:nvPr/>
        </p:nvSpPr>
        <p:spPr bwMode="auto">
          <a:xfrm>
            <a:off x="361504" y="4449232"/>
            <a:ext cx="43545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0" dirty="0">
                <a:latin typeface="+mn-lt"/>
                <a:ea typeface="黑体" panose="02010609060101010101" pitchFamily="49" charset="-122"/>
              </a:rPr>
              <a:t>Point group: </a:t>
            </a:r>
            <a:r>
              <a:rPr lang="en-US" altLang="zh-CN" sz="2000" dirty="0">
                <a:latin typeface="+mn-lt"/>
              </a:rPr>
              <a:t>2(</a:t>
            </a:r>
            <a:r>
              <a:rPr lang="en-US" altLang="zh-CN" sz="2000" i="1" dirty="0">
                <a:latin typeface="+mn-lt"/>
              </a:rPr>
              <a:t>C</a:t>
            </a:r>
            <a:r>
              <a:rPr lang="en-US" altLang="zh-CN" sz="2000" baseline="-25000" dirty="0">
                <a:latin typeface="+mn-lt"/>
              </a:rPr>
              <a:t>2</a:t>
            </a:r>
            <a:r>
              <a:rPr lang="en-US" altLang="zh-CN" sz="2000" dirty="0">
                <a:latin typeface="+mn-lt"/>
              </a:rPr>
              <a:t>), m(</a:t>
            </a:r>
            <a:r>
              <a:rPr lang="en-US" altLang="zh-CN" sz="2000" i="1" dirty="0">
                <a:latin typeface="+mn-lt"/>
              </a:rPr>
              <a:t>C</a:t>
            </a:r>
            <a:r>
              <a:rPr lang="en-US" altLang="zh-CN" sz="2000" baseline="-25000" dirty="0">
                <a:latin typeface="+mn-lt"/>
              </a:rPr>
              <a:t>s</a:t>
            </a:r>
            <a:r>
              <a:rPr lang="en-US" altLang="zh-CN" sz="2000" dirty="0">
                <a:latin typeface="+mn-lt"/>
              </a:rPr>
              <a:t>), 2/m(</a:t>
            </a:r>
            <a:r>
              <a:rPr lang="en-US" altLang="zh-CN" sz="2000" i="1" dirty="0">
                <a:latin typeface="+mn-lt"/>
              </a:rPr>
              <a:t>C</a:t>
            </a:r>
            <a:r>
              <a:rPr lang="en-US" altLang="zh-CN" sz="2000" baseline="-25000" dirty="0">
                <a:latin typeface="+mn-lt"/>
              </a:rPr>
              <a:t>2h</a:t>
            </a:r>
            <a:r>
              <a:rPr lang="en-US" altLang="zh-CN" sz="2000" dirty="0">
                <a:latin typeface="+mn-lt"/>
              </a:rPr>
              <a:t>)</a:t>
            </a:r>
          </a:p>
        </p:txBody>
      </p:sp>
      <p:sp>
        <p:nvSpPr>
          <p:cNvPr id="16" name="Text Box 15"/>
          <p:cNvSpPr txBox="1">
            <a:spLocks noChangeArrowheads="1"/>
          </p:cNvSpPr>
          <p:nvPr/>
        </p:nvSpPr>
        <p:spPr bwMode="auto">
          <a:xfrm>
            <a:off x="371153" y="4946501"/>
            <a:ext cx="40322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0" dirty="0">
                <a:latin typeface="+mn-lt"/>
                <a:ea typeface="黑体" panose="02010609060101010101" pitchFamily="49" charset="-122"/>
              </a:rPr>
              <a:t>Space group</a:t>
            </a:r>
            <a:r>
              <a:rPr lang="en-US" altLang="zh-CN" sz="2000" b="0" dirty="0">
                <a:latin typeface="+mn-lt"/>
              </a:rPr>
              <a:t>: </a:t>
            </a:r>
            <a:r>
              <a:rPr lang="en-US" altLang="zh-CN" sz="2000" i="1" dirty="0">
                <a:latin typeface="+mn-lt"/>
              </a:rPr>
              <a:t>P</a:t>
            </a:r>
            <a:r>
              <a:rPr lang="en-US" altLang="zh-CN" sz="2000" dirty="0">
                <a:latin typeface="+mn-lt"/>
              </a:rPr>
              <a:t>2, </a:t>
            </a:r>
            <a:r>
              <a:rPr lang="en-US" altLang="zh-CN" sz="2000" i="1" dirty="0">
                <a:latin typeface="+mn-lt"/>
              </a:rPr>
              <a:t>P</a:t>
            </a:r>
            <a:r>
              <a:rPr lang="en-US" altLang="zh-CN" sz="2000" dirty="0">
                <a:latin typeface="+mn-lt"/>
              </a:rPr>
              <a:t>m, </a:t>
            </a:r>
            <a:r>
              <a:rPr lang="en-US" altLang="zh-CN" sz="2000" i="1" dirty="0">
                <a:latin typeface="+mn-lt"/>
              </a:rPr>
              <a:t>P</a:t>
            </a:r>
            <a:r>
              <a:rPr lang="en-US" altLang="zh-CN" sz="2000" dirty="0">
                <a:latin typeface="+mn-lt"/>
              </a:rPr>
              <a:t>2/m, </a:t>
            </a:r>
            <a:r>
              <a:rPr lang="en-US" altLang="zh-CN" sz="2000" i="1" dirty="0">
                <a:latin typeface="+mn-lt"/>
              </a:rPr>
              <a:t>C</a:t>
            </a:r>
            <a:r>
              <a:rPr lang="en-US" altLang="zh-CN" sz="2000" dirty="0">
                <a:latin typeface="+mn-lt"/>
              </a:rPr>
              <a:t>2, </a:t>
            </a:r>
            <a:r>
              <a:rPr lang="en-US" altLang="zh-CN" sz="2000" i="1" dirty="0">
                <a:latin typeface="+mn-lt"/>
              </a:rPr>
              <a:t>C</a:t>
            </a:r>
            <a:r>
              <a:rPr lang="en-US" altLang="zh-CN" sz="2000" dirty="0">
                <a:latin typeface="+mn-lt"/>
              </a:rPr>
              <a:t>m, </a:t>
            </a:r>
            <a:r>
              <a:rPr lang="en-US" altLang="zh-CN" sz="2000" i="1" dirty="0">
                <a:latin typeface="+mn-lt"/>
              </a:rPr>
              <a:t>C</a:t>
            </a:r>
            <a:r>
              <a:rPr lang="en-US" altLang="zh-CN" sz="2000" dirty="0">
                <a:latin typeface="+mn-lt"/>
              </a:rPr>
              <a:t>2/m</a:t>
            </a:r>
          </a:p>
        </p:txBody>
      </p:sp>
      <p:sp>
        <p:nvSpPr>
          <p:cNvPr id="17" name="Text Box 16"/>
          <p:cNvSpPr txBox="1">
            <a:spLocks noChangeArrowheads="1"/>
          </p:cNvSpPr>
          <p:nvPr/>
        </p:nvSpPr>
        <p:spPr bwMode="auto">
          <a:xfrm>
            <a:off x="419735" y="6135687"/>
            <a:ext cx="83262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0" dirty="0">
                <a:latin typeface="+mn-lt"/>
                <a:ea typeface="黑体" panose="02010609060101010101" pitchFamily="49" charset="-122"/>
              </a:rPr>
              <a:t>(</a:t>
            </a:r>
            <a:r>
              <a:rPr lang="en-US" altLang="zh-CN" sz="2400" dirty="0">
                <a:solidFill>
                  <a:srgbClr val="FF0000"/>
                </a:solidFill>
                <a:latin typeface="+mn-lt"/>
                <a:ea typeface="黑体" panose="02010609060101010101" pitchFamily="49" charset="-122"/>
              </a:rPr>
              <a:t>There are 73 kinds of point space groups in 7 crystal systems</a:t>
            </a:r>
            <a:r>
              <a:rPr lang="en-US" altLang="zh-CN" sz="2400" b="0" dirty="0">
                <a:latin typeface="+mn-lt"/>
                <a:ea typeface="黑体" panose="02010609060101010101" pitchFamily="49" charset="-122"/>
              </a:rPr>
              <a:t>)</a:t>
            </a:r>
          </a:p>
        </p:txBody>
      </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derivation of space group</a:t>
            </a:r>
          </a:p>
        </p:txBody>
      </p:sp>
      <p:sp>
        <p:nvSpPr>
          <p:cNvPr id="18" name="Text Box 2"/>
          <p:cNvSpPr txBox="1">
            <a:spLocks noChangeArrowheads="1"/>
          </p:cNvSpPr>
          <p:nvPr/>
        </p:nvSpPr>
        <p:spPr bwMode="auto">
          <a:xfrm>
            <a:off x="323528" y="1412776"/>
            <a:ext cx="86409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latin typeface="+mn-lt"/>
                <a:ea typeface="黑体" panose="02010609060101010101" pitchFamily="49" charset="-122"/>
                <a:sym typeface="+mn-ea"/>
              </a:rPr>
              <a:t>2. Non-</a:t>
            </a:r>
            <a:r>
              <a:rPr lang="en-US" altLang="zh-CN" sz="2800" dirty="0" err="1">
                <a:latin typeface="+mn-lt"/>
                <a:ea typeface="黑体" panose="02010609060101010101" pitchFamily="49" charset="-122"/>
                <a:sym typeface="+mn-ea"/>
              </a:rPr>
              <a:t>symmorphic</a:t>
            </a:r>
            <a:r>
              <a:rPr lang="en-US" altLang="zh-CN" sz="2800" dirty="0">
                <a:latin typeface="+mn-lt"/>
                <a:ea typeface="黑体" panose="02010609060101010101" pitchFamily="49" charset="-122"/>
                <a:sym typeface="+mn-ea"/>
              </a:rPr>
              <a:t> space group </a:t>
            </a:r>
            <a:r>
              <a:rPr lang="zh-CN" altLang="en-US" sz="2800" dirty="0">
                <a:latin typeface="+mn-lt"/>
                <a:ea typeface="黑体" panose="02010609060101010101" pitchFamily="49" charset="-122"/>
                <a:sym typeface="+mn-ea"/>
              </a:rPr>
              <a:t>（非点式空间群）</a:t>
            </a:r>
          </a:p>
        </p:txBody>
      </p:sp>
      <p:sp>
        <p:nvSpPr>
          <p:cNvPr id="19" name="Rectangle 3"/>
          <p:cNvSpPr>
            <a:spLocks noChangeArrowheads="1"/>
          </p:cNvSpPr>
          <p:nvPr/>
        </p:nvSpPr>
        <p:spPr bwMode="auto">
          <a:xfrm>
            <a:off x="389890" y="1903978"/>
            <a:ext cx="83642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latinLnBrk="0" hangingPunct="1">
              <a:lnSpc>
                <a:spcPct val="100000"/>
              </a:lnSpc>
            </a:pPr>
            <a:r>
              <a:rPr lang="en-US" altLang="zh-CN" sz="2400" i="1" dirty="0">
                <a:latin typeface="+mn-lt"/>
                <a:ea typeface="黑体" panose="02010609060101010101" pitchFamily="49" charset="-122"/>
              </a:rPr>
              <a:t>Based on </a:t>
            </a:r>
            <a:r>
              <a:rPr lang="en-US" altLang="zh-CN" sz="2400" i="1" dirty="0" err="1">
                <a:latin typeface="+mn-lt"/>
                <a:ea typeface="黑体" panose="02010609060101010101" pitchFamily="49" charset="-122"/>
              </a:rPr>
              <a:t>symmorphic</a:t>
            </a:r>
            <a:r>
              <a:rPr lang="en-US" altLang="zh-CN" sz="2400" i="1" dirty="0">
                <a:latin typeface="+mn-lt"/>
                <a:ea typeface="黑体" panose="02010609060101010101" pitchFamily="49" charset="-122"/>
              </a:rPr>
              <a:t> space group, replace the rotation axis and mirrors by isomorphic symmetry element (</a:t>
            </a:r>
            <a:r>
              <a:rPr lang="zh-CN" altLang="en-US" sz="2400" i="1" dirty="0">
                <a:latin typeface="+mn-lt"/>
                <a:ea typeface="黑体" panose="02010609060101010101" pitchFamily="49" charset="-122"/>
              </a:rPr>
              <a:t>同形对称元素）</a:t>
            </a:r>
            <a:r>
              <a:rPr lang="en-US" altLang="zh-CN" sz="2400" i="1" dirty="0">
                <a:latin typeface="+mn-lt"/>
                <a:ea typeface="黑体" panose="02010609060101010101" pitchFamily="49" charset="-122"/>
              </a:rPr>
              <a:t>one by one (</a:t>
            </a:r>
            <a:r>
              <a:rPr lang="en-US" altLang="zh-CN" sz="2400" i="1" dirty="0">
                <a:solidFill>
                  <a:srgbClr val="FF0000"/>
                </a:solidFill>
                <a:latin typeface="+mn-lt"/>
                <a:ea typeface="黑体" panose="02010609060101010101" pitchFamily="49" charset="-122"/>
              </a:rPr>
              <a:t>rotation axis→screw axis, mirror→glide plane</a:t>
            </a:r>
            <a:r>
              <a:rPr lang="en-US" altLang="zh-CN" sz="2400" i="1" dirty="0">
                <a:latin typeface="+mn-lt"/>
                <a:ea typeface="黑体" panose="02010609060101010101" pitchFamily="49" charset="-122"/>
              </a:rPr>
              <a:t>). Remove the impossible combinations and merge the same combinations.</a:t>
            </a:r>
            <a:endParaRPr lang="zh-CN" altLang="en-US" sz="2400" i="1" dirty="0">
              <a:latin typeface="+mn-lt"/>
              <a:ea typeface="黑体" panose="02010609060101010101" pitchFamily="49" charset="-122"/>
            </a:endParaRPr>
          </a:p>
        </p:txBody>
      </p:sp>
      <p:sp>
        <p:nvSpPr>
          <p:cNvPr id="20" name="Line 5"/>
          <p:cNvSpPr>
            <a:spLocks noChangeShapeType="1"/>
          </p:cNvSpPr>
          <p:nvPr/>
        </p:nvSpPr>
        <p:spPr bwMode="auto">
          <a:xfrm>
            <a:off x="4139952" y="6092378"/>
            <a:ext cx="1511300" cy="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latin typeface="+mn-lt"/>
            </a:endParaRPr>
          </a:p>
        </p:txBody>
      </p:sp>
      <p:sp>
        <p:nvSpPr>
          <p:cNvPr id="21" name="Line 6"/>
          <p:cNvSpPr>
            <a:spLocks noChangeShapeType="1"/>
          </p:cNvSpPr>
          <p:nvPr/>
        </p:nvSpPr>
        <p:spPr bwMode="auto">
          <a:xfrm>
            <a:off x="6084640" y="6092378"/>
            <a:ext cx="1439862" cy="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latin typeface="+mn-lt"/>
            </a:endParaRPr>
          </a:p>
        </p:txBody>
      </p:sp>
      <p:sp>
        <p:nvSpPr>
          <p:cNvPr id="22" name="AutoShape 7"/>
          <p:cNvSpPr>
            <a:spLocks noChangeArrowheads="1"/>
          </p:cNvSpPr>
          <p:nvPr/>
        </p:nvSpPr>
        <p:spPr bwMode="auto">
          <a:xfrm>
            <a:off x="146224" y="3573016"/>
            <a:ext cx="1296987" cy="935037"/>
          </a:xfrm>
          <a:prstGeom prst="irregularSeal1">
            <a:avLst/>
          </a:prstGeom>
          <a:solidFill>
            <a:srgbClr val="FFFF99"/>
          </a:solidFill>
          <a:ln w="12700">
            <a:solidFill>
              <a:srgbClr val="FF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3200" dirty="0" err="1">
                <a:latin typeface="+mn-lt"/>
                <a:ea typeface="黑体" panose="02010609060101010101" pitchFamily="49" charset="-122"/>
              </a:rPr>
              <a:t>eg</a:t>
            </a:r>
            <a:endParaRPr lang="en-US" altLang="zh-CN" sz="3200" dirty="0">
              <a:latin typeface="+mn-lt"/>
              <a:ea typeface="黑体" panose="02010609060101010101" pitchFamily="49" charset="-122"/>
            </a:endParaRPr>
          </a:p>
        </p:txBody>
      </p:sp>
      <p:sp>
        <p:nvSpPr>
          <p:cNvPr id="23" name="Rectangle 8"/>
          <p:cNvSpPr>
            <a:spLocks noChangeArrowheads="1"/>
          </p:cNvSpPr>
          <p:nvPr/>
        </p:nvSpPr>
        <p:spPr bwMode="auto">
          <a:xfrm>
            <a:off x="1510854" y="5385410"/>
            <a:ext cx="72976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000" dirty="0">
                <a:latin typeface="+mn-lt"/>
                <a:ea typeface="黑体" panose="02010609060101010101" pitchFamily="49" charset="-122"/>
              </a:rPr>
              <a:t>Possible space group</a:t>
            </a:r>
            <a:r>
              <a:rPr lang="zh-CN" altLang="en-US" sz="2000" dirty="0">
                <a:latin typeface="+mn-lt"/>
                <a:ea typeface="黑体" panose="02010609060101010101" pitchFamily="49" charset="-122"/>
              </a:rPr>
              <a:t>：</a:t>
            </a:r>
            <a:r>
              <a:rPr lang="en-US" altLang="zh-CN" sz="2000" b="1" i="1" dirty="0">
                <a:latin typeface="+mn-lt"/>
                <a:ea typeface="黑体" panose="02010609060101010101" pitchFamily="49" charset="-122"/>
              </a:rPr>
              <a:t>P</a:t>
            </a:r>
            <a:r>
              <a:rPr lang="en-US" altLang="zh-CN" sz="2000" b="1" dirty="0">
                <a:latin typeface="+mn-lt"/>
                <a:ea typeface="黑体" panose="02010609060101010101" pitchFamily="49" charset="-122"/>
              </a:rPr>
              <a:t>2/</a:t>
            </a:r>
            <a:r>
              <a:rPr lang="en-US" altLang="zh-CN" sz="2000" b="1" i="1" dirty="0">
                <a:latin typeface="+mn-lt"/>
                <a:ea typeface="黑体" panose="02010609060101010101" pitchFamily="49" charset="-122"/>
              </a:rPr>
              <a:t>m</a:t>
            </a:r>
            <a:r>
              <a:rPr lang="en-US" altLang="zh-CN" sz="2000" b="1" dirty="0">
                <a:latin typeface="+mn-lt"/>
                <a:ea typeface="黑体" panose="02010609060101010101" pitchFamily="49" charset="-122"/>
              </a:rPr>
              <a:t>,   </a:t>
            </a:r>
            <a:r>
              <a:rPr lang="en-US" altLang="zh-CN" sz="2000" b="1" i="1" dirty="0">
                <a:latin typeface="+mn-lt"/>
                <a:ea typeface="黑体" panose="02010609060101010101" pitchFamily="49" charset="-122"/>
              </a:rPr>
              <a:t>P</a:t>
            </a:r>
            <a:r>
              <a:rPr lang="en-US" altLang="zh-CN" sz="2000" b="1" dirty="0">
                <a:latin typeface="+mn-lt"/>
                <a:ea typeface="黑体" panose="02010609060101010101" pitchFamily="49" charset="-122"/>
              </a:rPr>
              <a:t>2</a:t>
            </a:r>
            <a:r>
              <a:rPr lang="en-US" altLang="zh-CN" sz="2000" b="1" baseline="-25000" dirty="0">
                <a:latin typeface="+mn-lt"/>
                <a:ea typeface="黑体" panose="02010609060101010101" pitchFamily="49" charset="-122"/>
              </a:rPr>
              <a:t>1</a:t>
            </a:r>
            <a:r>
              <a:rPr lang="en-US" altLang="zh-CN" sz="2000" b="1" dirty="0">
                <a:latin typeface="+mn-lt"/>
                <a:ea typeface="黑体" panose="02010609060101010101" pitchFamily="49" charset="-122"/>
              </a:rPr>
              <a:t>/</a:t>
            </a:r>
            <a:r>
              <a:rPr lang="en-US" altLang="zh-CN" sz="2000" b="1" i="1" dirty="0">
                <a:latin typeface="+mn-lt"/>
                <a:ea typeface="黑体" panose="02010609060101010101" pitchFamily="49" charset="-122"/>
              </a:rPr>
              <a:t>m</a:t>
            </a:r>
            <a:r>
              <a:rPr lang="en-US" altLang="zh-CN" sz="2000" b="1" dirty="0">
                <a:latin typeface="+mn-lt"/>
                <a:ea typeface="黑体" panose="02010609060101010101" pitchFamily="49" charset="-122"/>
              </a:rPr>
              <a:t>,    </a:t>
            </a:r>
            <a:r>
              <a:rPr lang="en-US" altLang="zh-CN" sz="2000" b="1" i="1" dirty="0">
                <a:latin typeface="+mn-lt"/>
                <a:ea typeface="黑体" panose="02010609060101010101" pitchFamily="49" charset="-122"/>
              </a:rPr>
              <a:t>P</a:t>
            </a:r>
            <a:r>
              <a:rPr lang="en-US" altLang="zh-CN" sz="2000" b="1" dirty="0">
                <a:latin typeface="+mn-lt"/>
                <a:ea typeface="黑体" panose="02010609060101010101" pitchFamily="49" charset="-122"/>
              </a:rPr>
              <a:t>2/</a:t>
            </a:r>
            <a:r>
              <a:rPr lang="en-US" altLang="zh-CN" sz="2000" b="1" i="1" dirty="0">
                <a:latin typeface="+mn-lt"/>
                <a:ea typeface="黑体" panose="02010609060101010101" pitchFamily="49" charset="-122"/>
              </a:rPr>
              <a:t>c</a:t>
            </a:r>
            <a:r>
              <a:rPr lang="en-US" altLang="zh-CN" sz="2000" b="1" dirty="0">
                <a:latin typeface="+mn-lt"/>
                <a:ea typeface="黑体" panose="02010609060101010101" pitchFamily="49" charset="-122"/>
              </a:rPr>
              <a:t>,    </a:t>
            </a:r>
            <a:r>
              <a:rPr lang="en-US" altLang="zh-CN" sz="2000" b="1" i="1" dirty="0">
                <a:latin typeface="+mn-lt"/>
                <a:ea typeface="黑体" panose="02010609060101010101" pitchFamily="49" charset="-122"/>
              </a:rPr>
              <a:t>P</a:t>
            </a:r>
            <a:r>
              <a:rPr lang="en-US" altLang="zh-CN" sz="2000" b="1" dirty="0">
                <a:latin typeface="+mn-lt"/>
                <a:ea typeface="黑体" panose="02010609060101010101" pitchFamily="49" charset="-122"/>
              </a:rPr>
              <a:t>2</a:t>
            </a:r>
            <a:r>
              <a:rPr lang="en-US" altLang="zh-CN" sz="2000" b="1" baseline="-25000" dirty="0">
                <a:latin typeface="+mn-lt"/>
                <a:ea typeface="黑体" panose="02010609060101010101" pitchFamily="49" charset="-122"/>
              </a:rPr>
              <a:t>1</a:t>
            </a:r>
            <a:r>
              <a:rPr lang="en-US" altLang="zh-CN" sz="2000" b="1" dirty="0">
                <a:latin typeface="+mn-lt"/>
                <a:ea typeface="黑体" panose="02010609060101010101" pitchFamily="49" charset="-122"/>
              </a:rPr>
              <a:t>/</a:t>
            </a:r>
            <a:r>
              <a:rPr lang="en-US" altLang="zh-CN" sz="2000" b="1" i="1" dirty="0">
                <a:latin typeface="+mn-lt"/>
                <a:ea typeface="黑体" panose="02010609060101010101" pitchFamily="49" charset="-122"/>
              </a:rPr>
              <a:t>c</a:t>
            </a:r>
            <a:r>
              <a:rPr lang="en-US" altLang="zh-CN" sz="2000" b="1" dirty="0">
                <a:latin typeface="+mn-lt"/>
                <a:ea typeface="黑体" panose="02010609060101010101" pitchFamily="49" charset="-122"/>
              </a:rPr>
              <a:t>,</a:t>
            </a:r>
          </a:p>
          <a:p>
            <a:pPr algn="l"/>
            <a:r>
              <a:rPr lang="en-US" altLang="zh-CN" sz="2000" b="1" dirty="0">
                <a:latin typeface="+mn-lt"/>
                <a:ea typeface="黑体" panose="02010609060101010101" pitchFamily="49" charset="-122"/>
              </a:rPr>
              <a:t>                                       </a:t>
            </a:r>
            <a:r>
              <a:rPr lang="en-US" altLang="zh-CN" sz="2000" b="1" i="1" dirty="0">
                <a:latin typeface="+mn-lt"/>
                <a:ea typeface="黑体" panose="02010609060101010101" pitchFamily="49" charset="-122"/>
              </a:rPr>
              <a:t>C</a:t>
            </a:r>
            <a:r>
              <a:rPr lang="en-US" altLang="zh-CN" sz="2000" b="1" dirty="0">
                <a:latin typeface="+mn-lt"/>
                <a:ea typeface="黑体" panose="02010609060101010101" pitchFamily="49" charset="-122"/>
              </a:rPr>
              <a:t>2/</a:t>
            </a:r>
            <a:r>
              <a:rPr lang="en-US" altLang="zh-CN" sz="2000" b="1" i="1" dirty="0">
                <a:latin typeface="+mn-lt"/>
                <a:ea typeface="黑体" panose="02010609060101010101" pitchFamily="49" charset="-122"/>
              </a:rPr>
              <a:t>m</a:t>
            </a:r>
            <a:r>
              <a:rPr lang="en-US" altLang="zh-CN" sz="2000" b="1" dirty="0">
                <a:latin typeface="+mn-lt"/>
                <a:ea typeface="黑体" panose="02010609060101010101" pitchFamily="49" charset="-122"/>
              </a:rPr>
              <a:t>,   </a:t>
            </a:r>
            <a:r>
              <a:rPr lang="en-US" altLang="zh-CN" sz="2000" b="1" i="1" dirty="0">
                <a:solidFill>
                  <a:srgbClr val="FF0000"/>
                </a:solidFill>
                <a:effectLst>
                  <a:outerShdw blurRad="38100" dist="38100" dir="2700000" algn="tl">
                    <a:srgbClr val="000000">
                      <a:alpha val="43137"/>
                    </a:srgbClr>
                  </a:outerShdw>
                </a:effectLst>
                <a:latin typeface="+mn-lt"/>
                <a:ea typeface="黑体" panose="02010609060101010101" pitchFamily="49" charset="-122"/>
              </a:rPr>
              <a:t>C</a:t>
            </a:r>
            <a:r>
              <a:rPr lang="en-US" altLang="zh-CN" sz="2000" b="1" dirty="0">
                <a:solidFill>
                  <a:srgbClr val="FF0000"/>
                </a:solidFill>
                <a:effectLst>
                  <a:outerShdw blurRad="38100" dist="38100" dir="2700000" algn="tl">
                    <a:srgbClr val="000000">
                      <a:alpha val="43137"/>
                    </a:srgbClr>
                  </a:outerShdw>
                </a:effectLst>
                <a:latin typeface="+mn-lt"/>
                <a:ea typeface="黑体" panose="02010609060101010101" pitchFamily="49" charset="-122"/>
              </a:rPr>
              <a:t>2</a:t>
            </a:r>
            <a:r>
              <a:rPr lang="en-US" altLang="zh-CN" sz="2000" b="1" baseline="-25000" dirty="0">
                <a:solidFill>
                  <a:srgbClr val="FF0000"/>
                </a:solidFill>
                <a:effectLst>
                  <a:outerShdw blurRad="38100" dist="38100" dir="2700000" algn="tl">
                    <a:srgbClr val="000000">
                      <a:alpha val="43137"/>
                    </a:srgbClr>
                  </a:outerShdw>
                </a:effectLst>
                <a:latin typeface="+mn-lt"/>
                <a:ea typeface="黑体" panose="02010609060101010101" pitchFamily="49" charset="-122"/>
              </a:rPr>
              <a:t>1</a:t>
            </a:r>
            <a:r>
              <a:rPr lang="en-US" altLang="zh-CN" sz="2000" b="1" dirty="0">
                <a:solidFill>
                  <a:srgbClr val="FF0000"/>
                </a:solidFill>
                <a:effectLst>
                  <a:outerShdw blurRad="38100" dist="38100" dir="2700000" algn="tl">
                    <a:srgbClr val="000000">
                      <a:alpha val="43137"/>
                    </a:srgbClr>
                  </a:outerShdw>
                </a:effectLst>
                <a:latin typeface="+mn-lt"/>
                <a:ea typeface="黑体" panose="02010609060101010101" pitchFamily="49" charset="-122"/>
              </a:rPr>
              <a:t>/</a:t>
            </a:r>
            <a:r>
              <a:rPr lang="en-US" altLang="zh-CN" sz="2000" b="1" i="1" dirty="0">
                <a:solidFill>
                  <a:srgbClr val="FF0000"/>
                </a:solidFill>
                <a:effectLst>
                  <a:outerShdw blurRad="38100" dist="38100" dir="2700000" algn="tl">
                    <a:srgbClr val="000000">
                      <a:alpha val="43137"/>
                    </a:srgbClr>
                  </a:outerShdw>
                </a:effectLst>
                <a:latin typeface="+mn-lt"/>
                <a:ea typeface="黑体" panose="02010609060101010101" pitchFamily="49" charset="-122"/>
              </a:rPr>
              <a:t>m</a:t>
            </a:r>
            <a:r>
              <a:rPr lang="en-US" altLang="zh-CN" sz="2000" b="1" dirty="0">
                <a:latin typeface="+mn-lt"/>
                <a:ea typeface="黑体" panose="02010609060101010101" pitchFamily="49" charset="-122"/>
              </a:rPr>
              <a:t>,    </a:t>
            </a:r>
            <a:r>
              <a:rPr lang="en-US" altLang="zh-CN" sz="2000" b="1" i="1" dirty="0">
                <a:latin typeface="+mn-lt"/>
                <a:ea typeface="黑体" panose="02010609060101010101" pitchFamily="49" charset="-122"/>
              </a:rPr>
              <a:t>C</a:t>
            </a:r>
            <a:r>
              <a:rPr lang="en-US" altLang="zh-CN" sz="2000" b="1" dirty="0">
                <a:latin typeface="+mn-lt"/>
                <a:ea typeface="黑体" panose="02010609060101010101" pitchFamily="49" charset="-122"/>
              </a:rPr>
              <a:t>2/</a:t>
            </a:r>
            <a:r>
              <a:rPr lang="en-US" altLang="zh-CN" sz="2000" b="1" i="1" dirty="0">
                <a:latin typeface="+mn-lt"/>
                <a:ea typeface="黑体" panose="02010609060101010101" pitchFamily="49" charset="-122"/>
              </a:rPr>
              <a:t>c</a:t>
            </a:r>
            <a:r>
              <a:rPr lang="en-US" altLang="zh-CN" sz="2000" b="1" dirty="0">
                <a:latin typeface="+mn-lt"/>
                <a:ea typeface="黑体" panose="02010609060101010101" pitchFamily="49" charset="-122"/>
              </a:rPr>
              <a:t>,    </a:t>
            </a:r>
            <a:r>
              <a:rPr lang="en-US" altLang="zh-CN" sz="2000" b="1" i="1" dirty="0">
                <a:solidFill>
                  <a:srgbClr val="FF0000"/>
                </a:solidFill>
                <a:effectLst>
                  <a:outerShdw blurRad="38100" dist="38100" dir="2700000" algn="tl">
                    <a:srgbClr val="000000">
                      <a:alpha val="43137"/>
                    </a:srgbClr>
                  </a:outerShdw>
                </a:effectLst>
                <a:latin typeface="+mn-lt"/>
                <a:ea typeface="黑体" panose="02010609060101010101" pitchFamily="49" charset="-122"/>
              </a:rPr>
              <a:t>C</a:t>
            </a:r>
            <a:r>
              <a:rPr lang="en-US" altLang="zh-CN" sz="2000" b="1" dirty="0">
                <a:solidFill>
                  <a:srgbClr val="FF0000"/>
                </a:solidFill>
                <a:effectLst>
                  <a:outerShdw blurRad="38100" dist="38100" dir="2700000" algn="tl">
                    <a:srgbClr val="000000">
                      <a:alpha val="43137"/>
                    </a:srgbClr>
                  </a:outerShdw>
                </a:effectLst>
                <a:latin typeface="+mn-lt"/>
                <a:ea typeface="黑体" panose="02010609060101010101" pitchFamily="49" charset="-122"/>
              </a:rPr>
              <a:t>2</a:t>
            </a:r>
            <a:r>
              <a:rPr lang="en-US" altLang="zh-CN" sz="2000" b="1" baseline="-25000" dirty="0">
                <a:solidFill>
                  <a:srgbClr val="FF0000"/>
                </a:solidFill>
                <a:effectLst>
                  <a:outerShdw blurRad="38100" dist="38100" dir="2700000" algn="tl">
                    <a:srgbClr val="000000">
                      <a:alpha val="43137"/>
                    </a:srgbClr>
                  </a:outerShdw>
                </a:effectLst>
                <a:latin typeface="+mn-lt"/>
                <a:ea typeface="黑体" panose="02010609060101010101" pitchFamily="49" charset="-122"/>
              </a:rPr>
              <a:t>1</a:t>
            </a:r>
            <a:r>
              <a:rPr lang="en-US" altLang="zh-CN" sz="2000" b="1" dirty="0">
                <a:solidFill>
                  <a:srgbClr val="FF0000"/>
                </a:solidFill>
                <a:effectLst>
                  <a:outerShdw blurRad="38100" dist="38100" dir="2700000" algn="tl">
                    <a:srgbClr val="000000">
                      <a:alpha val="43137"/>
                    </a:srgbClr>
                  </a:outerShdw>
                </a:effectLst>
                <a:latin typeface="+mn-lt"/>
                <a:ea typeface="黑体" panose="02010609060101010101" pitchFamily="49" charset="-122"/>
              </a:rPr>
              <a:t>/</a:t>
            </a:r>
            <a:r>
              <a:rPr lang="en-US" altLang="zh-CN" sz="2000" b="1" i="1" dirty="0">
                <a:solidFill>
                  <a:srgbClr val="FF0000"/>
                </a:solidFill>
                <a:effectLst>
                  <a:outerShdw blurRad="38100" dist="38100" dir="2700000" algn="tl">
                    <a:srgbClr val="000000">
                      <a:alpha val="43137"/>
                    </a:srgbClr>
                  </a:outerShdw>
                </a:effectLst>
                <a:latin typeface="+mn-lt"/>
                <a:ea typeface="黑体" panose="02010609060101010101" pitchFamily="49" charset="-122"/>
              </a:rPr>
              <a:t>c</a:t>
            </a:r>
            <a:r>
              <a:rPr lang="zh-CN" altLang="en-US" sz="2000" b="1" dirty="0">
                <a:latin typeface="+mn-lt"/>
                <a:ea typeface="黑体" panose="02010609060101010101" pitchFamily="49" charset="-122"/>
              </a:rPr>
              <a:t>。</a:t>
            </a:r>
          </a:p>
        </p:txBody>
      </p:sp>
      <p:sp>
        <p:nvSpPr>
          <p:cNvPr id="24" name="Rectangle 9"/>
          <p:cNvSpPr>
            <a:spLocks noChangeArrowheads="1"/>
          </p:cNvSpPr>
          <p:nvPr/>
        </p:nvSpPr>
        <p:spPr bwMode="auto">
          <a:xfrm>
            <a:off x="1443211" y="3707105"/>
            <a:ext cx="727837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800">
                <a:latin typeface="+mn-lt"/>
                <a:ea typeface="黑体" panose="02010609060101010101" pitchFamily="49" charset="-122"/>
              </a:rPr>
              <a:t> </a:t>
            </a:r>
            <a:r>
              <a:rPr lang="en-US" altLang="zh-CN" sz="2800">
                <a:latin typeface="+mn-lt"/>
                <a:ea typeface="黑体" panose="02010609060101010101" pitchFamily="49" charset="-122"/>
              </a:rPr>
              <a:t>2/m </a:t>
            </a:r>
            <a:r>
              <a:rPr lang="zh-CN" altLang="en-US" sz="2800">
                <a:latin typeface="+mn-lt"/>
                <a:ea typeface="黑体" panose="02010609060101010101" pitchFamily="49" charset="-122"/>
              </a:rPr>
              <a:t>（</a:t>
            </a:r>
            <a:r>
              <a:rPr lang="en-US" altLang="zh-CN" sz="2800" i="1">
                <a:latin typeface="+mn-lt"/>
                <a:ea typeface="黑体" panose="02010609060101010101" pitchFamily="49" charset="-122"/>
              </a:rPr>
              <a:t>C</a:t>
            </a:r>
            <a:r>
              <a:rPr lang="en-US" altLang="zh-CN" sz="2800" baseline="-25000">
                <a:latin typeface="+mn-lt"/>
                <a:ea typeface="黑体" panose="02010609060101010101" pitchFamily="49" charset="-122"/>
              </a:rPr>
              <a:t>2h</a:t>
            </a:r>
            <a:r>
              <a:rPr lang="zh-CN" altLang="en-US" sz="2800">
                <a:latin typeface="+mn-lt"/>
                <a:ea typeface="黑体" panose="02010609060101010101" pitchFamily="49" charset="-122"/>
              </a:rPr>
              <a:t>）</a:t>
            </a:r>
            <a:r>
              <a:rPr lang="en-US" altLang="zh-CN" sz="2800">
                <a:latin typeface="+mn-lt"/>
                <a:ea typeface="黑体" panose="02010609060101010101" pitchFamily="49" charset="-122"/>
              </a:rPr>
              <a:t>point group in Monoclinic system </a:t>
            </a:r>
          </a:p>
        </p:txBody>
      </p:sp>
      <p:sp>
        <p:nvSpPr>
          <p:cNvPr id="25" name="Rectangle 10"/>
          <p:cNvSpPr>
            <a:spLocks noChangeArrowheads="1"/>
          </p:cNvSpPr>
          <p:nvPr/>
        </p:nvSpPr>
        <p:spPr bwMode="auto">
          <a:xfrm>
            <a:off x="1514649" y="4220716"/>
            <a:ext cx="7272659"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000" b="0" dirty="0">
                <a:latin typeface="+mn-lt"/>
                <a:ea typeface="黑体" panose="02010609060101010101" pitchFamily="49" charset="-122"/>
              </a:rPr>
              <a:t>Possible symmetry elements:</a:t>
            </a:r>
            <a:r>
              <a:rPr lang="zh-CN" altLang="en-US" sz="2000" b="0" dirty="0">
                <a:latin typeface="+mn-lt"/>
                <a:ea typeface="黑体" panose="02010609060101010101" pitchFamily="49" charset="-122"/>
              </a:rPr>
              <a:t> </a:t>
            </a:r>
            <a:r>
              <a:rPr lang="en-US" altLang="zh-CN" sz="2000" b="0" dirty="0">
                <a:latin typeface="+mn-lt"/>
                <a:ea typeface="黑体" panose="02010609060101010101" pitchFamily="49" charset="-122"/>
              </a:rPr>
              <a:t>2(</a:t>
            </a:r>
            <a:r>
              <a:rPr lang="en-US" altLang="zh-CN" sz="2000" b="0" dirty="0">
                <a:latin typeface="+mn-lt"/>
                <a:ea typeface="黑体" panose="02010609060101010101" pitchFamily="49" charset="-122"/>
                <a:sym typeface="+mn-ea"/>
              </a:rPr>
              <a:t>twofold rotation axis</a:t>
            </a:r>
            <a:r>
              <a:rPr lang="en-US" altLang="zh-CN" sz="2000" b="0" dirty="0">
                <a:latin typeface="+mn-lt"/>
                <a:ea typeface="黑体" panose="02010609060101010101" pitchFamily="49" charset="-122"/>
              </a:rPr>
              <a:t>), 2</a:t>
            </a:r>
            <a:r>
              <a:rPr lang="en-US" altLang="zh-CN" sz="2000" b="0" baseline="-25000" dirty="0">
                <a:latin typeface="+mn-lt"/>
                <a:ea typeface="黑体" panose="02010609060101010101" pitchFamily="49" charset="-122"/>
              </a:rPr>
              <a:t>1</a:t>
            </a:r>
            <a:r>
              <a:rPr lang="en-US" altLang="zh-CN" sz="2000" b="0" dirty="0">
                <a:latin typeface="+mn-lt"/>
                <a:ea typeface="黑体" panose="02010609060101010101" pitchFamily="49" charset="-122"/>
              </a:rPr>
              <a:t>(</a:t>
            </a:r>
            <a:r>
              <a:rPr lang="en-US" altLang="zh-CN" sz="2000" b="0" dirty="0">
                <a:latin typeface="+mn-lt"/>
                <a:ea typeface="黑体" panose="02010609060101010101" pitchFamily="49" charset="-122"/>
                <a:sym typeface="+mn-ea"/>
              </a:rPr>
              <a:t>twofold scrow axis:‘2 sub 1’</a:t>
            </a:r>
            <a:r>
              <a:rPr lang="en-US" altLang="zh-CN" sz="2000" b="0" dirty="0">
                <a:latin typeface="+mn-lt"/>
                <a:ea typeface="黑体" panose="02010609060101010101" pitchFamily="49" charset="-122"/>
              </a:rPr>
              <a:t>), m(simple mirror), c(glide plane). </a:t>
            </a:r>
            <a:endParaRPr lang="zh-CN" altLang="en-US" sz="2000" b="0" dirty="0">
              <a:latin typeface="+mn-lt"/>
              <a:ea typeface="黑体" panose="02010609060101010101" pitchFamily="49" charset="-122"/>
            </a:endParaRPr>
          </a:p>
          <a:p>
            <a:pPr algn="l"/>
            <a:r>
              <a:rPr sz="2000" b="0" dirty="0">
                <a:latin typeface="+mn-lt"/>
                <a:ea typeface="黑体" panose="02010609060101010101" pitchFamily="49" charset="-122"/>
              </a:rPr>
              <a:t>Possible lattice</a:t>
            </a:r>
            <a:r>
              <a:rPr lang="en-US" sz="2000" b="0" dirty="0">
                <a:latin typeface="+mn-lt"/>
                <a:ea typeface="黑体" panose="02010609060101010101" pitchFamily="49" charset="-122"/>
              </a:rPr>
              <a:t>: P, C.</a:t>
            </a:r>
          </a:p>
        </p:txBody>
      </p:sp>
      <p:sp>
        <p:nvSpPr>
          <p:cNvPr id="26" name="Text Box 16"/>
          <p:cNvSpPr txBox="1">
            <a:spLocks noChangeArrowheads="1"/>
          </p:cNvSpPr>
          <p:nvPr/>
        </p:nvSpPr>
        <p:spPr bwMode="auto">
          <a:xfrm>
            <a:off x="-8718" y="6423719"/>
            <a:ext cx="92124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0" dirty="0">
                <a:latin typeface="+mn-lt"/>
                <a:ea typeface="黑体" panose="02010609060101010101" pitchFamily="49" charset="-122"/>
              </a:rPr>
              <a:t>(There are 157 non-</a:t>
            </a:r>
            <a:r>
              <a:rPr lang="en-US" altLang="zh-CN" sz="2400" dirty="0" err="1">
                <a:ea typeface="黑体" panose="02010609060101010101" pitchFamily="49" charset="-122"/>
                <a:sym typeface="+mn-ea"/>
              </a:rPr>
              <a:t>symmorphic</a:t>
            </a:r>
            <a:r>
              <a:rPr lang="en-US" altLang="zh-CN" sz="2400" dirty="0">
                <a:ea typeface="黑体" panose="02010609060101010101" pitchFamily="49" charset="-122"/>
                <a:sym typeface="+mn-ea"/>
              </a:rPr>
              <a:t> </a:t>
            </a:r>
            <a:r>
              <a:rPr lang="en-US" altLang="zh-CN" sz="2400" b="0" dirty="0">
                <a:latin typeface="+mn-lt"/>
                <a:ea typeface="黑体" panose="02010609060101010101" pitchFamily="49" charset="-122"/>
              </a:rPr>
              <a:t> space groups in 7 crystal systems)</a:t>
            </a:r>
          </a:p>
        </p:txBody>
      </p:sp>
    </p:spTree>
  </p:cSld>
  <p:clrMapOvr>
    <a:masterClrMapping/>
  </p:clrMapOvr>
  <p:transition spd="med">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251520" y="188640"/>
            <a:ext cx="6033960" cy="523220"/>
          </a:xfrm>
          <a:prstGeom prst="rect">
            <a:avLst/>
          </a:prstGeom>
        </p:spPr>
        <p:txBody>
          <a:bodyPr wrap="none">
            <a:spAutoFit/>
          </a:bodyPr>
          <a:lstStyle/>
          <a:p>
            <a:r>
              <a:rPr lang="en-US" altLang="zh-CN" sz="2800" dirty="0">
                <a:solidFill>
                  <a:srgbClr val="000000"/>
                </a:solidFill>
                <a:latin typeface="+mn-lt"/>
                <a:ea typeface="宋体" panose="02010600030101010101" pitchFamily="2" charset="-122"/>
                <a:cs typeface="Times New Roman" panose="02020603050405020304" pitchFamily="18" charset="0"/>
              </a:rPr>
              <a:t>The 230  3-Dimensional Space Groups</a:t>
            </a:r>
            <a:endParaRPr lang="zh-CN" altLang="en-US" sz="2800" dirty="0">
              <a:latin typeface="+mn-lt"/>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755576" y="766022"/>
            <a:ext cx="7772400" cy="5915025"/>
          </a:xfrm>
          <a:prstGeom prst="rect">
            <a:avLst/>
          </a:prstGeom>
        </p:spPr>
      </p:pic>
    </p:spTree>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323528" y="241484"/>
            <a:ext cx="6033960" cy="523220"/>
          </a:xfrm>
          <a:prstGeom prst="rect">
            <a:avLst/>
          </a:prstGeom>
        </p:spPr>
        <p:txBody>
          <a:bodyPr wrap="none">
            <a:spAutoFit/>
          </a:bodyPr>
          <a:lstStyle/>
          <a:p>
            <a:r>
              <a:rPr lang="en-US" altLang="zh-CN" sz="2800" dirty="0">
                <a:solidFill>
                  <a:srgbClr val="000000"/>
                </a:solidFill>
                <a:latin typeface="+mn-lt"/>
                <a:ea typeface="宋体" panose="02010600030101010101" pitchFamily="2" charset="-122"/>
                <a:cs typeface="Times New Roman" panose="02020603050405020304" pitchFamily="18" charset="0"/>
              </a:rPr>
              <a:t>The 230  3-Dimensional Space Groups</a:t>
            </a:r>
            <a:endParaRPr lang="zh-CN" altLang="en-US" sz="2800" dirty="0">
              <a:solidFill>
                <a:srgbClr val="000000"/>
              </a:solidFill>
              <a:latin typeface="+mn-lt"/>
              <a:ea typeface="宋体" panose="02010600030101010101" pitchFamily="2" charset="-122"/>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560445" y="980728"/>
            <a:ext cx="7800975" cy="5457825"/>
          </a:xfrm>
          <a:prstGeom prst="rect">
            <a:avLst/>
          </a:prstGeom>
        </p:spPr>
      </p:pic>
    </p:spTree>
  </p:cSld>
  <p:clrMapOvr>
    <a:masterClrMapping/>
  </p:clrMapOvr>
  <p:transition spd="med">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39552" y="241484"/>
            <a:ext cx="6033960" cy="523220"/>
          </a:xfrm>
          <a:prstGeom prst="rect">
            <a:avLst/>
          </a:prstGeom>
        </p:spPr>
        <p:txBody>
          <a:bodyPr wrap="none">
            <a:spAutoFit/>
          </a:bodyPr>
          <a:lstStyle/>
          <a:p>
            <a:r>
              <a:rPr lang="en-US" altLang="zh-CN" sz="2800" dirty="0">
                <a:solidFill>
                  <a:srgbClr val="000000"/>
                </a:solidFill>
                <a:latin typeface="+mn-lt"/>
                <a:ea typeface="宋体" panose="02010600030101010101" pitchFamily="2" charset="-122"/>
                <a:cs typeface="Times New Roman" panose="02020603050405020304" pitchFamily="18" charset="0"/>
              </a:rPr>
              <a:t>The 230  3-Dimensional Space Groups</a:t>
            </a:r>
            <a:endParaRPr lang="zh-CN" altLang="en-US" sz="2800" dirty="0">
              <a:solidFill>
                <a:srgbClr val="000000"/>
              </a:solidFill>
              <a:latin typeface="+mn-lt"/>
              <a:ea typeface="宋体" panose="02010600030101010101" pitchFamily="2" charset="-122"/>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83568" y="764704"/>
            <a:ext cx="7781925" cy="6029325"/>
          </a:xfrm>
          <a:prstGeom prst="rect">
            <a:avLst/>
          </a:prstGeom>
        </p:spPr>
      </p:pic>
    </p:spTree>
  </p:cSld>
  <p:clrMapOvr>
    <a:masterClrMapping/>
  </p:clrMapOvr>
  <p:transition spd="med">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39552" y="241484"/>
            <a:ext cx="6033960" cy="523220"/>
          </a:xfrm>
          <a:prstGeom prst="rect">
            <a:avLst/>
          </a:prstGeom>
        </p:spPr>
        <p:txBody>
          <a:bodyPr wrap="none">
            <a:spAutoFit/>
          </a:bodyPr>
          <a:lstStyle/>
          <a:p>
            <a:r>
              <a:rPr lang="en-US" altLang="zh-CN" sz="2800" dirty="0">
                <a:solidFill>
                  <a:srgbClr val="000000"/>
                </a:solidFill>
                <a:latin typeface="+mn-lt"/>
                <a:ea typeface="宋体" panose="02010600030101010101" pitchFamily="2" charset="-122"/>
                <a:cs typeface="Times New Roman" panose="02020603050405020304" pitchFamily="18" charset="0"/>
              </a:rPr>
              <a:t>The 230  3-Dimensional Space Groups</a:t>
            </a:r>
            <a:endParaRPr lang="zh-CN" altLang="en-US" sz="2800" dirty="0">
              <a:solidFill>
                <a:srgbClr val="000000"/>
              </a:solidFill>
              <a:latin typeface="+mn-lt"/>
              <a:ea typeface="宋体" panose="02010600030101010101" pitchFamily="2" charset="-122"/>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539552" y="908720"/>
            <a:ext cx="7772400" cy="5695950"/>
          </a:xfrm>
          <a:prstGeom prst="rect">
            <a:avLst/>
          </a:prstGeom>
        </p:spPr>
      </p:pic>
    </p:spTree>
  </p:cSld>
  <p:clrMapOvr>
    <a:masterClrMapping/>
  </p:clrMapOvr>
  <p:transition spd="med">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39552" y="241484"/>
            <a:ext cx="6033960" cy="523220"/>
          </a:xfrm>
          <a:prstGeom prst="rect">
            <a:avLst/>
          </a:prstGeom>
        </p:spPr>
        <p:txBody>
          <a:bodyPr wrap="none">
            <a:spAutoFit/>
          </a:bodyPr>
          <a:lstStyle/>
          <a:p>
            <a:r>
              <a:rPr lang="en-US" altLang="zh-CN" sz="2800" dirty="0">
                <a:solidFill>
                  <a:srgbClr val="000000"/>
                </a:solidFill>
                <a:latin typeface="+mn-lt"/>
                <a:ea typeface="宋体" panose="02010600030101010101" pitchFamily="2" charset="-122"/>
                <a:cs typeface="Times New Roman" panose="02020603050405020304" pitchFamily="18" charset="0"/>
              </a:rPr>
              <a:t>The 230  3-Dimensional Space Groups</a:t>
            </a:r>
            <a:endParaRPr lang="zh-CN" altLang="en-US" sz="2800" dirty="0">
              <a:solidFill>
                <a:srgbClr val="000000"/>
              </a:solidFill>
              <a:latin typeface="+mn-lt"/>
              <a:ea typeface="宋体" panose="02010600030101010101" pitchFamily="2" charset="-122"/>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83568" y="1124744"/>
            <a:ext cx="7762875" cy="4819650"/>
          </a:xfrm>
          <a:prstGeom prst="rect">
            <a:avLst/>
          </a:prstGeom>
        </p:spPr>
      </p:pic>
    </p:spTree>
  </p:cSld>
  <p:clrMapOvr>
    <a:masterClrMapping/>
  </p:clrMapOvr>
  <p:transition spd="med">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Type and distribution of 230 space groups </a:t>
            </a:r>
          </a:p>
        </p:txBody>
      </p:sp>
      <p:sp>
        <p:nvSpPr>
          <p:cNvPr id="3" name="Content Placeholder 2"/>
          <p:cNvSpPr>
            <a:spLocks noGrp="1"/>
          </p:cNvSpPr>
          <p:nvPr>
            <p:ph idx="1"/>
          </p:nvPr>
        </p:nvSpPr>
        <p:spPr/>
        <p:txBody>
          <a:bodyPr>
            <a:normAutofit/>
          </a:bodyPr>
          <a:lstStyle/>
          <a:p>
            <a:pPr marL="0" indent="0">
              <a:buNone/>
            </a:pPr>
            <a:r>
              <a:rPr lang="en-US" sz="2800" dirty="0"/>
              <a:t>Triclinic : 2; monoclinic : 13; orthorhombic : 59;</a:t>
            </a:r>
          </a:p>
          <a:p>
            <a:pPr marL="0" indent="0">
              <a:buNone/>
            </a:pPr>
            <a:r>
              <a:rPr lang="en-US" sz="2800" dirty="0"/>
              <a:t>trigonal : 25; tetragonal : 68; hexagonal : 27;</a:t>
            </a:r>
          </a:p>
          <a:p>
            <a:pPr marL="0" indent="0">
              <a:buNone/>
            </a:pPr>
            <a:r>
              <a:rPr lang="en-US" sz="2800" dirty="0"/>
              <a:t>Cubic : 36</a:t>
            </a:r>
          </a:p>
          <a:p>
            <a:pPr marL="0" indent="0">
              <a:buNone/>
            </a:pPr>
            <a:endParaRPr lang="en-US" sz="2800" dirty="0"/>
          </a:p>
          <a:p>
            <a:pPr marL="0" indent="0">
              <a:buNone/>
            </a:pPr>
            <a:r>
              <a:rPr lang="en-US" sz="2800" dirty="0"/>
              <a:t>90 with symmetry center, 140 without symmetry center (including 65 Chiral groups)</a:t>
            </a:r>
          </a:p>
          <a:p>
            <a:pPr marL="0" indent="0">
              <a:buNone/>
            </a:pPr>
            <a:endParaRPr lang="en-US" sz="2800" dirty="0"/>
          </a:p>
          <a:p>
            <a:pPr marL="0" indent="0">
              <a:buNone/>
            </a:pPr>
            <a:r>
              <a:rPr lang="en-US" sz="2800" dirty="0"/>
              <a:t>73 </a:t>
            </a:r>
            <a:r>
              <a:rPr lang="en-US" sz="2800" dirty="0" err="1"/>
              <a:t>symmorphic</a:t>
            </a:r>
            <a:r>
              <a:rPr lang="en-US" sz="2800" dirty="0"/>
              <a:t> space groups, 157 non- </a:t>
            </a:r>
            <a:r>
              <a:rPr lang="en-US" sz="2800" dirty="0" err="1"/>
              <a:t>symmorphic</a:t>
            </a:r>
            <a:r>
              <a:rPr lang="en-US" sz="2800" dirty="0"/>
              <a:t> space groups</a:t>
            </a:r>
          </a:p>
          <a:p>
            <a:pPr marL="0" indent="0">
              <a:buNone/>
            </a:pPr>
            <a:endParaRPr lang="en-US" sz="2800" dirty="0"/>
          </a:p>
          <a:p>
            <a:endParaRPr lang="en-US" sz="2000" dirty="0"/>
          </a:p>
        </p:txBody>
      </p:sp>
    </p:spTree>
  </p:cSld>
  <p:clrMapOvr>
    <a:masterClrMapping/>
  </p:clrMapOvr>
  <p:transition spd="med">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780928"/>
            <a:ext cx="7312385" cy="2937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41378" name="Rectangle 2"/>
          <p:cNvSpPr>
            <a:spLocks noChangeArrowheads="1"/>
          </p:cNvSpPr>
          <p:nvPr/>
        </p:nvSpPr>
        <p:spPr bwMode="auto">
          <a:xfrm>
            <a:off x="323850" y="188913"/>
            <a:ext cx="85407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FF"/>
                </a:solidFill>
                <a:miter lim="800000"/>
                <a:headEnd/>
                <a:tailEnd/>
              </a14:hiddenLine>
            </a:ext>
          </a:extLst>
        </p:spPr>
        <p:txBody>
          <a:bodyPr/>
          <a:lstStyle>
            <a:lvl1pPr>
              <a:defRPr sz="4400">
                <a:solidFill>
                  <a:schemeClr val="tx2"/>
                </a:solidFill>
                <a:latin typeface="Arial" panose="020B0604020202020204" pitchFamily="34" charset="0"/>
                <a:ea typeface="宋体" panose="02010600030101010101" pitchFamily="2" charset="-122"/>
              </a:defRPr>
            </a:lvl1pPr>
            <a:lvl2pPr>
              <a:defRPr sz="4400">
                <a:solidFill>
                  <a:schemeClr val="tx2"/>
                </a:solidFill>
                <a:latin typeface="Arial" panose="020B0604020202020204" pitchFamily="34" charset="0"/>
                <a:ea typeface="宋体" panose="02010600030101010101" pitchFamily="2" charset="-122"/>
              </a:defRPr>
            </a:lvl2pPr>
            <a:lvl3pPr>
              <a:defRPr sz="4400">
                <a:solidFill>
                  <a:schemeClr val="tx2"/>
                </a:solidFill>
                <a:latin typeface="Arial" panose="020B0604020202020204" pitchFamily="34" charset="0"/>
                <a:ea typeface="宋体" panose="02010600030101010101" pitchFamily="2" charset="-122"/>
              </a:defRPr>
            </a:lvl3pPr>
            <a:lvl4pPr>
              <a:defRPr sz="4400">
                <a:solidFill>
                  <a:schemeClr val="tx2"/>
                </a:solidFill>
                <a:latin typeface="Arial" panose="020B0604020202020204" pitchFamily="34" charset="0"/>
                <a:ea typeface="宋体" panose="02010600030101010101" pitchFamily="2" charset="-122"/>
              </a:defRPr>
            </a:lvl4pPr>
            <a:lvl5pP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solidFill>
                  <a:schemeClr val="tx1"/>
                </a:solidFill>
                <a:latin typeface="+mn-lt"/>
              </a:rPr>
              <a:t>Equivalent point system</a:t>
            </a:r>
            <a:endParaRPr lang="zh-CN" altLang="en-US" dirty="0">
              <a:solidFill>
                <a:schemeClr val="tx1"/>
              </a:solidFill>
              <a:latin typeface="+mn-lt"/>
            </a:endParaRPr>
          </a:p>
        </p:txBody>
      </p:sp>
      <p:sp>
        <p:nvSpPr>
          <p:cNvPr id="741379" name="Rectangle 3"/>
          <p:cNvSpPr>
            <a:spLocks noChangeArrowheads="1"/>
          </p:cNvSpPr>
          <p:nvPr/>
        </p:nvSpPr>
        <p:spPr bwMode="auto">
          <a:xfrm>
            <a:off x="395536" y="1242270"/>
            <a:ext cx="846906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CN" sz="2400" dirty="0">
                <a:solidFill>
                  <a:srgbClr val="FF0000"/>
                </a:solidFill>
                <a:latin typeface="+mn-lt"/>
                <a:ea typeface="黑体" panose="02010609060101010101" pitchFamily="49" charset="-122"/>
                <a:cs typeface="Times New Roman" panose="02020603050405020304" pitchFamily="18" charset="0"/>
              </a:rPr>
              <a:t>1. Definition: </a:t>
            </a:r>
            <a:r>
              <a:rPr lang="en-US" altLang="zh-CN" sz="2000" b="0" dirty="0">
                <a:latin typeface="+mn-lt"/>
                <a:cs typeface="Times New Roman" panose="02020603050405020304" pitchFamily="18" charset="0"/>
              </a:rPr>
              <a:t>According to symmetry requirements of space groups, wherever there is an atom in one certain coordinate point in a unit cell, the other coordinate points must have the same atoms. These equivalent points, symmetric to each other, are called </a:t>
            </a:r>
            <a:r>
              <a:rPr lang="en-US" altLang="zh-CN" sz="2000" b="0" dirty="0">
                <a:solidFill>
                  <a:srgbClr val="FF0000"/>
                </a:solidFill>
                <a:latin typeface="+mn-lt"/>
                <a:cs typeface="Times New Roman" panose="02020603050405020304" pitchFamily="18" charset="0"/>
              </a:rPr>
              <a:t>equivalent point system</a:t>
            </a:r>
            <a:r>
              <a:rPr lang="en-US" altLang="zh-CN" sz="2000" b="0" dirty="0">
                <a:latin typeface="+mn-lt"/>
                <a:cs typeface="Times New Roman" panose="02020603050405020304" pitchFamily="18" charset="0"/>
              </a:rPr>
              <a:t>.</a:t>
            </a:r>
            <a:endParaRPr lang="zh-CN" altLang="zh-CN" sz="2000" b="0" dirty="0">
              <a:latin typeface="+mn-lt"/>
              <a:cs typeface="Times New Roman" panose="02020603050405020304" pitchFamily="18" charset="0"/>
            </a:endParaRPr>
          </a:p>
        </p:txBody>
      </p:sp>
      <p:sp>
        <p:nvSpPr>
          <p:cNvPr id="741380" name="Text Box 4"/>
          <p:cNvSpPr txBox="1">
            <a:spLocks noChangeArrowheads="1"/>
          </p:cNvSpPr>
          <p:nvPr/>
        </p:nvSpPr>
        <p:spPr bwMode="auto">
          <a:xfrm>
            <a:off x="456840" y="5682141"/>
            <a:ext cx="82747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0" dirty="0">
                <a:latin typeface="Times New Roman" panose="02020603050405020304" pitchFamily="18" charset="0"/>
              </a:rPr>
              <a:t>General equivalent point system (A) (table 7-6 in textbook) and projection of symmetry element</a:t>
            </a:r>
            <a:r>
              <a:rPr lang="zh-CN" altLang="en-US" sz="2400" b="0" dirty="0">
                <a:latin typeface="Times New Roman" panose="02020603050405020304" pitchFamily="18" charset="0"/>
              </a:rPr>
              <a:t>（</a:t>
            </a:r>
            <a:r>
              <a:rPr lang="en-US" altLang="zh-CN" sz="2400" b="0" dirty="0">
                <a:latin typeface="Times New Roman" panose="02020603050405020304" pitchFamily="18" charset="0"/>
              </a:rPr>
              <a:t>B</a:t>
            </a:r>
            <a:r>
              <a:rPr lang="zh-CN" altLang="en-US" sz="2400" b="0" dirty="0">
                <a:latin typeface="Times New Roman" panose="02020603050405020304" pitchFamily="18" charset="0"/>
              </a:rPr>
              <a:t>）</a:t>
            </a:r>
            <a:r>
              <a:rPr lang="en-US" altLang="zh-CN" sz="2400" b="0" dirty="0">
                <a:latin typeface="Times New Roman" panose="02020603050405020304" pitchFamily="18" charset="0"/>
              </a:rPr>
              <a:t>of space group </a:t>
            </a:r>
            <a:r>
              <a:rPr lang="en-US" altLang="zh-CN" sz="2400" dirty="0" err="1">
                <a:latin typeface="Times New Roman" panose="02020603050405020304" pitchFamily="18" charset="0"/>
              </a:rPr>
              <a:t>Pnma</a:t>
            </a:r>
            <a:endParaRPr lang="zh-CN" altLang="en-US" sz="2400" dirty="0">
              <a:latin typeface="Times New Roman" panose="02020603050405020304" pitchFamily="18" charset="0"/>
            </a:endParaRPr>
          </a:p>
        </p:txBody>
      </p:sp>
      <p:cxnSp>
        <p:nvCxnSpPr>
          <p:cNvPr id="5" name="Straight Connector 4"/>
          <p:cNvCxnSpPr/>
          <p:nvPr/>
        </p:nvCxnSpPr>
        <p:spPr>
          <a:xfrm>
            <a:off x="4125226" y="5245141"/>
            <a:ext cx="0" cy="65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19672" y="5251594"/>
            <a:ext cx="0" cy="65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1586773" y="5284357"/>
            <a:ext cx="636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171522" y="5257552"/>
            <a:ext cx="0" cy="65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2138623" y="5290315"/>
            <a:ext cx="636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055" y="1971885"/>
            <a:ext cx="7312385" cy="2937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AutoShape 9" descr="data:image/png;base64,iVBORw0KGgoAAAANSUhEUgAAACQAAAAVCAYAAAAuJkyQAAAEg0lEQVRIS61WSyi2XRRd7rf6UBKJkYmMkAgZUSYotwi5pEQoxYTkEgbCxIAUpZAQymWCEZKBJJJbriX3lM/99lm7fz+9Pvp/9Tv19J73POecvfbaa+/9mL2+vr7hfby8vMDMzIxTmJub431d5hzPz8/yzsrKSvZxvL29wcLCQn65l+84/7/DTAHRKA0QjALgnIMGaczS0tIAQIAKnO90748B4kU0Qgbu7+9hZ2dnGKQxrt/e3sLa2ho2Njaf/v8EO4JBGeKFppeSrcfHR2GL4eDQX2WTDpA9PsrejzFEBvjQKBl5enoSxmhIdXR+fm7oSFkjk79+/foR/XxgiMYJgsxw/vDwAFtbWzG0urqK9fV11NTUYHd3VwDc3d0J0KysLFRUVMDZ2flHQBkhMwVE7wmEaxMTE2hsbMTs7KwA9vT0NAxfXV3h9+/fKC0tRWVlJRwcHIwk0NBp5qoc+J+PqUR0z5cMmYZpZmYGSUlJOD4+hre3N/z8/NDV1SUhJZPDw8Ooq6vD0dER4uPjkZubCw8PD4MtNUoZmEpASwbXOGeiGIBV1ETHLOJhbiAjGRkZ2NnZEVCdnZ2iJ80wAmJY+b+8vBz19fUS4ubmZuTl5RliZ2LwnCYEQVCr1J7WNNOSYYSMgNQAWQoJCcH8/Dyio6PR2toKd3d3McLDfGiIg+B7enpQXFyMs7MzlJSUoKysTFiizjRJuJ/30gGyQWB635cMqSf0fGhoCIWFhfD390d7e7uAoVYIxN7eXoDQGM+QFZaBsbEx0dLh4SFGRkYQGxsr++gkQWmx1fLA85zz+cSQCpoveUFAQIDogmHz9fU1PLm4uMDo6Cjc3NwQFRUlBukpjTEERUVFaGlpwcDAABISEr5Vkhg2bUEfRK0vbm5uEBYWhuXlZRwcHEhWUVtkZnp6GhEREXBxcUFbWxvi4uJEB2TPyclJwtXU1IT+/n4kJiZKqBlGLZxkig+d5pqPjw9CQ0Ph6upqgBcNkSFSyPiSvuDgYCwsLGBvbw9eXl5yAeO8ubkpWba2tobr62sBaJqymZmZ8l4BEdz29rYwSPZ1L1sTHQkMDERMTIzY+JRlWgi5mRs3Njawv78v+uFQBi8vL8VzspSdnS3r1BEHs4vMKaBvxex9k2nL+tDttTcR0MrKCgoKClBbW2u0Br7n+uLiIsgGPefQ9pKTk4OOjg50d3cjNTVVwGrNEX3883mjRZdrfzflD5WaWcPQDA4OIj8/X+LP8DDWmiX62aGscZ2h7uvrkyyLjIxEdXW1CJ9ipej/zqR/Y+6DhngBAXEw5ZeWlkSc9FjX1SuGlqEiwKmpKaSlpeHk5AS9vb1ISUkRjfGMVn5Trf0nIFON8CCzhj2MIeDFzLrw8HApeNqv9NLx8XEpiltbW0hOTkZDQ4Poi6HQ5qz96zuaMhjSSsps04+wyclJpKen4/T0VLIvKCjI6GPcw0RgJrIYso9VVVXB0dFRUpplgnfy4dy01nyLIXpEA1reWXvIxtzcnDRX9jXWqK8Gs409jGC0Jage9bP4uyH7A/HRI7DJcu86AAAAAElFTkSuQmCC"/>
          <p:cNvSpPr>
            <a:spLocks noChangeAspect="1" noChangeArrowheads="1"/>
          </p:cNvSpPr>
          <p:nvPr/>
        </p:nvSpPr>
        <p:spPr bwMode="auto">
          <a:xfrm>
            <a:off x="984134" y="163878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grpSp>
        <p:nvGrpSpPr>
          <p:cNvPr id="9" name="Group 8"/>
          <p:cNvGrpSpPr/>
          <p:nvPr/>
        </p:nvGrpSpPr>
        <p:grpSpPr>
          <a:xfrm>
            <a:off x="4817960" y="2244151"/>
            <a:ext cx="736923" cy="482740"/>
            <a:chOff x="804854" y="1343119"/>
            <a:chExt cx="736923" cy="482740"/>
          </a:xfrm>
        </p:grpSpPr>
        <p:pic>
          <p:nvPicPr>
            <p:cNvPr id="10" name="Picture 11"/>
            <p:cNvPicPr>
              <a:picLocks noChangeAspect="1" noChangeArrowheads="1"/>
            </p:cNvPicPr>
            <p:nvPr/>
          </p:nvPicPr>
          <p:blipFill rotWithShape="1">
            <a:blip r:embed="rId4">
              <a:extLst>
                <a:ext uri="{28A0092B-C50C-407E-A947-70E740481C1C}">
                  <a14:useLocalDpi xmlns:a14="http://schemas.microsoft.com/office/drawing/2010/main" val="0"/>
                </a:ext>
              </a:extLst>
            </a:blip>
            <a:srcRect r="11857"/>
            <a:stretch>
              <a:fillRect/>
            </a:stretch>
          </p:blipFill>
          <p:spPr bwMode="auto">
            <a:xfrm>
              <a:off x="804854" y="1343119"/>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5"/>
            <p:cNvPicPr>
              <a:picLocks noChangeAspect="1" noChangeArrowheads="1"/>
            </p:cNvPicPr>
            <p:nvPr/>
          </p:nvPicPr>
          <p:blipFill rotWithShape="1">
            <a:blip r:embed="rId5">
              <a:extLst>
                <a:ext uri="{28A0092B-C50C-407E-A947-70E740481C1C}">
                  <a14:useLocalDpi xmlns:a14="http://schemas.microsoft.com/office/drawing/2010/main" val="0"/>
                </a:ext>
              </a:extLst>
            </a:blip>
            <a:srcRect t="11944"/>
            <a:stretch>
              <a:fillRect/>
            </a:stretch>
          </p:blipFill>
          <p:spPr bwMode="auto">
            <a:xfrm>
              <a:off x="1238651" y="1630800"/>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2" name="Group 11"/>
          <p:cNvGrpSpPr/>
          <p:nvPr/>
        </p:nvGrpSpPr>
        <p:grpSpPr>
          <a:xfrm>
            <a:off x="4809477" y="3114314"/>
            <a:ext cx="753232" cy="411847"/>
            <a:chOff x="777577" y="1343119"/>
            <a:chExt cx="753232" cy="411847"/>
          </a:xfrm>
        </p:grpSpPr>
        <p:pic>
          <p:nvPicPr>
            <p:cNvPr id="13" name="Picture 11"/>
            <p:cNvPicPr>
              <a:picLocks noChangeAspect="1" noChangeArrowheads="1"/>
            </p:cNvPicPr>
            <p:nvPr/>
          </p:nvPicPr>
          <p:blipFill rotWithShape="1">
            <a:blip r:embed="rId4">
              <a:extLst>
                <a:ext uri="{28A0092B-C50C-407E-A947-70E740481C1C}">
                  <a14:useLocalDpi xmlns:a14="http://schemas.microsoft.com/office/drawing/2010/main" val="0"/>
                </a:ext>
              </a:extLst>
            </a:blip>
            <a:srcRect r="11857"/>
            <a:stretch>
              <a:fillRect/>
            </a:stretch>
          </p:blipFill>
          <p:spPr bwMode="auto">
            <a:xfrm>
              <a:off x="1228568" y="1554941"/>
              <a:ext cx="302241" cy="200025"/>
            </a:xfrm>
            <a:prstGeom prst="rect">
              <a:avLst/>
            </a:prstGeom>
            <a:noFill/>
            <a:ln w="9525">
              <a:solidFill>
                <a:srgbClr val="00FF00"/>
              </a:solidFill>
              <a:miter lim="800000"/>
              <a:headEnd/>
              <a:tailEnd/>
            </a:ln>
            <a:extLst>
              <a:ext uri="{909E8E84-426E-40DD-AFC4-6F175D3DCCD1}">
                <a14:hiddenFill xmlns:a14="http://schemas.microsoft.com/office/drawing/2010/main">
                  <a:solidFill>
                    <a:schemeClr val="accent1"/>
                  </a:solidFill>
                </a14:hiddenFill>
              </a:ext>
            </a:extLst>
          </p:spPr>
        </p:pic>
        <p:pic>
          <p:nvPicPr>
            <p:cNvPr id="14" name="Picture 15"/>
            <p:cNvPicPr>
              <a:picLocks noChangeAspect="1" noChangeArrowheads="1"/>
            </p:cNvPicPr>
            <p:nvPr/>
          </p:nvPicPr>
          <p:blipFill rotWithShape="1">
            <a:blip r:embed="rId5">
              <a:extLst>
                <a:ext uri="{28A0092B-C50C-407E-A947-70E740481C1C}">
                  <a14:useLocalDpi xmlns:a14="http://schemas.microsoft.com/office/drawing/2010/main" val="0"/>
                </a:ext>
              </a:extLst>
            </a:blip>
            <a:srcRect t="11944"/>
            <a:stretch>
              <a:fillRect/>
            </a:stretch>
          </p:blipFill>
          <p:spPr bwMode="auto">
            <a:xfrm>
              <a:off x="777577" y="1343119"/>
              <a:ext cx="303126" cy="195059"/>
            </a:xfrm>
            <a:prstGeom prst="rect">
              <a:avLst/>
            </a:prstGeom>
            <a:noFill/>
            <a:ln w="9525">
              <a:solidFill>
                <a:srgbClr val="00FF00"/>
              </a:solidFill>
              <a:miter lim="800000"/>
              <a:headEnd/>
              <a:tailEnd/>
            </a:ln>
            <a:extLst>
              <a:ext uri="{909E8E84-426E-40DD-AFC4-6F175D3DCCD1}">
                <a14:hiddenFill xmlns:a14="http://schemas.microsoft.com/office/drawing/2010/main">
                  <a:solidFill>
                    <a:schemeClr val="accent1"/>
                  </a:solidFill>
                </a14:hiddenFill>
              </a:ext>
            </a:extLst>
          </p:spPr>
        </p:pic>
      </p:grpSp>
      <p:pic>
        <p:nvPicPr>
          <p:cNvPr id="15"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9586" y="3104339"/>
            <a:ext cx="487257" cy="194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86367" y="3370463"/>
            <a:ext cx="479640" cy="196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65518" y="3955751"/>
            <a:ext cx="3333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918" y="4189101"/>
            <a:ext cx="32385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TextBox 24"/>
          <p:cNvSpPr txBox="1"/>
          <p:nvPr/>
        </p:nvSpPr>
        <p:spPr>
          <a:xfrm>
            <a:off x="1678733" y="4081505"/>
            <a:ext cx="319318" cy="369332"/>
          </a:xfrm>
          <a:prstGeom prst="rect">
            <a:avLst/>
          </a:prstGeom>
          <a:noFill/>
        </p:spPr>
        <p:txBody>
          <a:bodyPr wrap="none" rtlCol="0">
            <a:spAutoFit/>
          </a:bodyPr>
          <a:lstStyle/>
          <a:p>
            <a:r>
              <a:rPr lang="en-US" altLang="zh-CN" b="0" dirty="0"/>
              <a:t>+</a:t>
            </a:r>
            <a:endParaRPr lang="en-US" b="0" dirty="0"/>
          </a:p>
        </p:txBody>
      </p:sp>
      <p:sp>
        <p:nvSpPr>
          <p:cNvPr id="26" name="TextBox 25"/>
          <p:cNvSpPr txBox="1"/>
          <p:nvPr/>
        </p:nvSpPr>
        <p:spPr>
          <a:xfrm>
            <a:off x="2176184" y="4083059"/>
            <a:ext cx="319318" cy="369332"/>
          </a:xfrm>
          <a:prstGeom prst="rect">
            <a:avLst/>
          </a:prstGeom>
          <a:noFill/>
        </p:spPr>
        <p:txBody>
          <a:bodyPr wrap="none" rtlCol="0">
            <a:spAutoFit/>
          </a:bodyPr>
          <a:lstStyle/>
          <a:p>
            <a:r>
              <a:rPr lang="en-US" altLang="zh-CN" b="0" dirty="0"/>
              <a:t>+</a:t>
            </a:r>
            <a:endParaRPr lang="en-US" b="0" dirty="0"/>
          </a:p>
        </p:txBody>
      </p:sp>
      <p:sp>
        <p:nvSpPr>
          <p:cNvPr id="27" name="TextBox 26"/>
          <p:cNvSpPr txBox="1"/>
          <p:nvPr/>
        </p:nvSpPr>
        <p:spPr>
          <a:xfrm>
            <a:off x="4145137" y="4074549"/>
            <a:ext cx="319318" cy="369332"/>
          </a:xfrm>
          <a:prstGeom prst="rect">
            <a:avLst/>
          </a:prstGeom>
          <a:noFill/>
        </p:spPr>
        <p:txBody>
          <a:bodyPr wrap="none" rtlCol="0">
            <a:spAutoFit/>
          </a:bodyPr>
          <a:lstStyle/>
          <a:p>
            <a:r>
              <a:rPr lang="en-US" altLang="zh-CN" b="0" dirty="0"/>
              <a:t>+</a:t>
            </a:r>
            <a:endParaRPr lang="en-US" b="0" dirty="0"/>
          </a:p>
        </p:txBody>
      </p:sp>
      <p:pic>
        <p:nvPicPr>
          <p:cNvPr id="3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55588" y="2777939"/>
            <a:ext cx="295275" cy="304800"/>
          </a:xfrm>
          <a:prstGeom prst="rect">
            <a:avLst/>
          </a:prstGeom>
          <a:noFill/>
          <a:ln w="9525">
            <a:solidFill>
              <a:srgbClr val="00FF00"/>
            </a:solidFill>
            <a:miter lim="800000"/>
            <a:headEnd/>
            <a:tailEnd/>
          </a:ln>
          <a:extLst>
            <a:ext uri="{909E8E84-426E-40DD-AFC4-6F175D3DCCD1}">
              <a14:hiddenFill xmlns:a14="http://schemas.microsoft.com/office/drawing/2010/main">
                <a:solidFill>
                  <a:schemeClr val="accent1"/>
                </a:solidFill>
              </a14:hiddenFill>
            </a:ext>
          </a:extLst>
        </p:spPr>
      </p:pic>
      <p:sp>
        <p:nvSpPr>
          <p:cNvPr id="31" name="TextBox 30"/>
          <p:cNvSpPr txBox="1"/>
          <p:nvPr/>
        </p:nvSpPr>
        <p:spPr>
          <a:xfrm>
            <a:off x="4998874" y="1332057"/>
            <a:ext cx="1633332" cy="338554"/>
          </a:xfrm>
          <a:prstGeom prst="rect">
            <a:avLst/>
          </a:prstGeom>
          <a:solidFill>
            <a:schemeClr val="bg1"/>
          </a:solidFill>
        </p:spPr>
        <p:txBody>
          <a:bodyPr wrap="square" rtlCol="0">
            <a:spAutoFit/>
          </a:bodyPr>
          <a:lstStyle/>
          <a:p>
            <a:r>
              <a:rPr lang="en-US" altLang="zh-CN" sz="1600" dirty="0">
                <a:latin typeface="+mn-lt"/>
              </a:rPr>
              <a:t>2 fold  rotation</a:t>
            </a:r>
            <a:endParaRPr lang="en-US" sz="1600" dirty="0">
              <a:latin typeface="+mn-lt"/>
            </a:endParaRPr>
          </a:p>
        </p:txBody>
      </p:sp>
      <p:cxnSp>
        <p:nvCxnSpPr>
          <p:cNvPr id="33" name="Straight Arrow Connector 32"/>
          <p:cNvCxnSpPr/>
          <p:nvPr/>
        </p:nvCxnSpPr>
        <p:spPr>
          <a:xfrm>
            <a:off x="5554883" y="2777939"/>
            <a:ext cx="0" cy="433904"/>
          </a:xfrm>
          <a:prstGeom prst="straightConnector1">
            <a:avLst/>
          </a:prstGeom>
          <a:ln w="38100">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1678734" y="3201790"/>
            <a:ext cx="2976703" cy="0"/>
          </a:xfrm>
          <a:prstGeom prst="straightConnector1">
            <a:avLst/>
          </a:prstGeom>
          <a:ln w="38100">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1270143" y="1346394"/>
            <a:ext cx="2874994" cy="584775"/>
          </a:xfrm>
          <a:prstGeom prst="rect">
            <a:avLst/>
          </a:prstGeom>
          <a:noFill/>
        </p:spPr>
        <p:txBody>
          <a:bodyPr wrap="square" rtlCol="0">
            <a:spAutoFit/>
          </a:bodyPr>
          <a:lstStyle/>
          <a:p>
            <a:r>
              <a:rPr lang="en-US" altLang="zh-CN" sz="1600" dirty="0">
                <a:latin typeface="+mn-lt"/>
              </a:rPr>
              <a:t>translating 1/2 unit perpendicular to paper plane</a:t>
            </a:r>
            <a:endParaRPr lang="en-US" sz="1600" dirty="0">
              <a:latin typeface="+mn-lt"/>
            </a:endParaRPr>
          </a:p>
        </p:txBody>
      </p:sp>
      <p:cxnSp>
        <p:nvCxnSpPr>
          <p:cNvPr id="22" name="Straight Arrow Connector 21"/>
          <p:cNvCxnSpPr/>
          <p:nvPr/>
        </p:nvCxnSpPr>
        <p:spPr>
          <a:xfrm flipV="1">
            <a:off x="5203225" y="1412776"/>
            <a:ext cx="1763618" cy="1031400"/>
          </a:xfrm>
          <a:prstGeom prst="straightConnector1">
            <a:avLst/>
          </a:prstGeom>
          <a:ln w="38100">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079875" y="1208901"/>
            <a:ext cx="1210588" cy="369332"/>
          </a:xfrm>
          <a:prstGeom prst="rect">
            <a:avLst/>
          </a:prstGeom>
          <a:noFill/>
        </p:spPr>
        <p:txBody>
          <a:bodyPr wrap="none" rtlCol="0">
            <a:spAutoFit/>
          </a:bodyPr>
          <a:lstStyle/>
          <a:p>
            <a:r>
              <a:rPr lang="en-US" altLang="zh-CN" dirty="0"/>
              <a:t>Inversion</a:t>
            </a:r>
            <a:endParaRPr 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arn(inVertical)">
                                      <p:cBhvr>
                                        <p:cTn id="12" dur="500"/>
                                        <p:tgtEl>
                                          <p:spTgt spid="31"/>
                                        </p:tgtEl>
                                      </p:cBhvr>
                                    </p:animEffect>
                                  </p:childTnLst>
                                </p:cTn>
                              </p:par>
                              <p:par>
                                <p:cTn id="13" presetID="16" presetClass="entr" presetSubtype="21"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arn(inVertical)">
                                      <p:cBhvr>
                                        <p:cTn id="15" dur="500"/>
                                        <p:tgtEl>
                                          <p:spTgt spid="33"/>
                                        </p:tgtEl>
                                      </p:cBhvr>
                                    </p:animEffect>
                                  </p:childTnLst>
                                </p:cTn>
                              </p:par>
                              <p:par>
                                <p:cTn id="16" presetID="16" presetClass="entr" presetSubtype="21"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barn(inVertical)">
                                      <p:cBhvr>
                                        <p:cTn id="23" dur="500"/>
                                        <p:tgtEl>
                                          <p:spTgt spid="3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barn(inVertical)">
                                      <p:cBhvr>
                                        <p:cTn id="2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2979402" y="3485160"/>
            <a:ext cx="736923" cy="482740"/>
            <a:chOff x="804854" y="1343119"/>
            <a:chExt cx="736923" cy="482740"/>
          </a:xfrm>
        </p:grpSpPr>
        <p:pic>
          <p:nvPicPr>
            <p:cNvPr id="33" name="Picture 11"/>
            <p:cNvPicPr>
              <a:picLocks noChangeAspect="1" noChangeArrowheads="1"/>
            </p:cNvPicPr>
            <p:nvPr/>
          </p:nvPicPr>
          <p:blipFill rotWithShape="1">
            <a:blip r:embed="rId2">
              <a:extLst>
                <a:ext uri="{28A0092B-C50C-407E-A947-70E740481C1C}">
                  <a14:useLocalDpi xmlns:a14="http://schemas.microsoft.com/office/drawing/2010/main" val="0"/>
                </a:ext>
              </a:extLst>
            </a:blip>
            <a:srcRect r="11857"/>
            <a:stretch>
              <a:fillRect/>
            </a:stretch>
          </p:blipFill>
          <p:spPr bwMode="auto">
            <a:xfrm>
              <a:off x="804854" y="1343119"/>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t="11944"/>
            <a:stretch>
              <a:fillRect/>
            </a:stretch>
          </p:blipFill>
          <p:spPr bwMode="auto">
            <a:xfrm>
              <a:off x="1238651" y="1630800"/>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Parallelogram 3"/>
          <p:cNvSpPr/>
          <p:nvPr/>
        </p:nvSpPr>
        <p:spPr>
          <a:xfrm>
            <a:off x="2672898" y="3068960"/>
            <a:ext cx="4032448" cy="936104"/>
          </a:xfrm>
          <a:prstGeom prst="parallelogram">
            <a:avLst>
              <a:gd name="adj" fmla="val 72404"/>
            </a:avLst>
          </a:prstGeom>
          <a:solidFill>
            <a:schemeClr val="tx2">
              <a:lumMod val="40000"/>
              <a:lumOff val="60000"/>
              <a:alpha val="50196"/>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p:cNvSpPr/>
          <p:nvPr/>
        </p:nvSpPr>
        <p:spPr>
          <a:xfrm>
            <a:off x="2672898" y="3744344"/>
            <a:ext cx="4032448" cy="936104"/>
          </a:xfrm>
          <a:prstGeom prst="parallelogram">
            <a:avLst>
              <a:gd name="adj" fmla="val 72404"/>
            </a:avLst>
          </a:prstGeom>
          <a:solidFill>
            <a:srgbClr val="F4F4EF">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V="1">
            <a:off x="3347864" y="489067"/>
            <a:ext cx="0" cy="36600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0416" y="45144"/>
            <a:ext cx="3091726" cy="1164003"/>
          </a:xfrm>
          <a:prstGeom prst="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40220" y="201035"/>
            <a:ext cx="0" cy="57606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28345" y="212910"/>
            <a:ext cx="4425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82728" y="45144"/>
            <a:ext cx="505267" cy="369332"/>
          </a:xfrm>
          <a:prstGeom prst="rect">
            <a:avLst/>
          </a:prstGeom>
          <a:noFill/>
        </p:spPr>
        <p:txBody>
          <a:bodyPr wrap="none" rtlCol="0">
            <a:spAutoFit/>
          </a:bodyPr>
          <a:lstStyle/>
          <a:p>
            <a:r>
              <a:rPr lang="en-US" dirty="0"/>
              <a:t>1/4</a:t>
            </a:r>
          </a:p>
        </p:txBody>
      </p:sp>
      <p:sp>
        <p:nvSpPr>
          <p:cNvPr id="15" name="TextBox 14"/>
          <p:cNvSpPr txBox="1"/>
          <p:nvPr/>
        </p:nvSpPr>
        <p:spPr>
          <a:xfrm>
            <a:off x="323528" y="348668"/>
            <a:ext cx="2723292" cy="923330"/>
          </a:xfrm>
          <a:prstGeom prst="rect">
            <a:avLst/>
          </a:prstGeom>
          <a:noFill/>
        </p:spPr>
        <p:txBody>
          <a:bodyPr wrap="square" rtlCol="0">
            <a:spAutoFit/>
          </a:bodyPr>
          <a:lstStyle/>
          <a:p>
            <a:pPr algn="just"/>
            <a:r>
              <a:rPr lang="en-US" altLang="zh-CN" dirty="0"/>
              <a:t>Parallel to projection plane with a distance of 1/4 unit</a:t>
            </a:r>
            <a:endParaRPr lang="en-US" dirty="0"/>
          </a:p>
        </p:txBody>
      </p:sp>
      <p:sp>
        <p:nvSpPr>
          <p:cNvPr id="16" name="TextBox 15"/>
          <p:cNvSpPr txBox="1"/>
          <p:nvPr/>
        </p:nvSpPr>
        <p:spPr>
          <a:xfrm>
            <a:off x="3639287" y="4164217"/>
            <a:ext cx="1980029" cy="369332"/>
          </a:xfrm>
          <a:prstGeom prst="rect">
            <a:avLst/>
          </a:prstGeom>
          <a:noFill/>
        </p:spPr>
        <p:txBody>
          <a:bodyPr wrap="none" rtlCol="0">
            <a:spAutoFit/>
          </a:bodyPr>
          <a:lstStyle/>
          <a:p>
            <a:r>
              <a:rPr lang="en-US" altLang="zh-CN" dirty="0"/>
              <a:t>Projection plane</a:t>
            </a:r>
            <a:endParaRPr lang="en-US" dirty="0"/>
          </a:p>
        </p:txBody>
      </p:sp>
      <p:cxnSp>
        <p:nvCxnSpPr>
          <p:cNvPr id="19" name="Straight Connector 18"/>
          <p:cNvCxnSpPr/>
          <p:nvPr/>
        </p:nvCxnSpPr>
        <p:spPr>
          <a:xfrm flipV="1">
            <a:off x="3347864" y="3068960"/>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347864" y="2422593"/>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347864" y="1747209"/>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347864" y="1071825"/>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051720" y="1409517"/>
            <a:ext cx="607731" cy="24608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051720" y="3744344"/>
            <a:ext cx="21602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2672898" y="2160168"/>
            <a:ext cx="1777643" cy="252028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Parallelogram 34"/>
          <p:cNvSpPr/>
          <p:nvPr/>
        </p:nvSpPr>
        <p:spPr>
          <a:xfrm>
            <a:off x="2659451" y="2504183"/>
            <a:ext cx="4032448" cy="936104"/>
          </a:xfrm>
          <a:prstGeom prst="parallelogram">
            <a:avLst>
              <a:gd name="adj" fmla="val 72404"/>
            </a:avLst>
          </a:prstGeom>
          <a:solidFill>
            <a:schemeClr val="tx2">
              <a:lumMod val="40000"/>
              <a:lumOff val="60000"/>
              <a:alpha val="50196"/>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utoShape 2" descr="data:image/png;base64,iVBORw0KGgoAAAANSUhEUgAAAC0AAAAZCAYAAACl8achAAAE1ElEQVRYR+1YSSj2axQ/5qmwEBlSbIxFphXCUhEKicxZkDllY0GiTH0KscGCDBsUwoLsKITIPIQUSuaZe/1O33l7J/Td7qdb93vq7f/+n+ec5/zO7wzvQeev90U/l9JX2fpPPnX+gP6muPw/mNbR0aFfzf1/ovNZ0FSYfn19ZVldXV0GJsbwfHt743fI6OnpqdwJWeyJjDwhJDpyL97x0bagp7yU7avsKxfi8/MzX/jy8kIGBgYMQgBBCfuQMTMz4305h87T0xPp6+srwMMJyIAAnEEGe+oOq4MXG4aGhgrScMeHoGFEQg9BgBIHBOT29jbZ2tqShYWF4p6HhweWgzMAKEYkYtBFhIyNjen29pYmJyepvLycLi8v2Qmcx8fHU2pqKjk7OzMx+IAE3IGnckqqpAcMYx0eHtLw8DAlJCSQpaWlglUYWFhYoMfHRzYMp3AeGxtLDg4ODAwLcjAKg2AY8mAOgFNSUmhwcJBcXV0pNDSUz0HExMQEWVtbU0dHB4WHh7MO7pE7PmQagkZGRnRwcEAZGRnU2NhI7u7udHd3R6ampjQ+Pk6bm5t0dnZGvr6+bLC5uZllo6Oj+R0fyLi4uCjyGSwh3fr7+5lR6I6NjZGVlRVjgfNzc3OUn59PGxsbND8/T05OTuw4gKvXgAbTYgAXZGVlkYeHByvD6PLyMgNCuKKiothgZmYmGy8rK+PwI+Q/fvyg0tJSJgC62J+amqK4uDiys7OjgYEBlTSAnEQRDpWUlFBlZaUiPdS71aegk5OTmRUwATDt7e1UXFzMYJG7CHlTUxMFBQWRl5cX7yPFCgoKeF955eTkMNNLS0sMXFvbhG5eXh719PTQ8fExRxcp92khAhyEwCqU09PTydvbm213dXXRyckJh1CisbKywnkaEBBAIyMjnO/QR34iL3FfcHAw5y6cBWjUi3QajbC/p1ZtbS1VVVXR0dERR0pbt1FhGqEEIDCYm5vLuQrQ2Kurq+O8RXXD852dHers7KS0tDTeQ06ioNBJRkdHKTIyknPRzc2NfHx8qLCwkIaGhmh3d5dJ0MY05Kurq6mhoYH29vYYBwhUXxrpIf00OzubQcPg2toaXVxckL+/PzO5tbVF3d3dHA10j5mZGQoLC+O7ARrRaGtrU7EF0K2trTQ9Pc2R0cjTd8CIWlJSEs3OzrJzYFrb0pg90EFQOGDa3t6eCwoA7+/vueiur685Z8GEn58fXw4Avb29HErkPsJbUVHBTGGBCEQmJiaGn0ifwMBADTxwKCQkhGpqaqioqIjv+zKn5UcA3eH09JTB2NjYMHsAIOc3NzcMBA6ADXNzc3ZUwg5d9FzJWeibmJjQ+vo6934UGWoATmNdXV1RX18f1dfXc/Ghuzg6OirGgk9bnsqvzs/5QGYQAfTR3KCuK+/ylB4OphMTE2lxcZHrBXV0fn5O+/v73IVaWlrI09OTnQHL2maVbxlNZUZBBLFWV1e52MAwFgo7IiKCixdRk4ji7Mvu8asjp9YqUdoESzJDIEXwLmn0mS7qCiwjpZRnH9H57UyDCBkPwDhYBRD5LkzKhCnTpUyHMu0pO/nbQcsPFp5SzAAkIJEyMhwpp4JMizI0fStoaXnKfxjInhS3crELOJnFtf4IvW/++RfCV8X5b5z/DUpwfpiADfF7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cxnSp>
        <p:nvCxnSpPr>
          <p:cNvPr id="40" name="Straight Connector 39"/>
          <p:cNvCxnSpPr/>
          <p:nvPr/>
        </p:nvCxnSpPr>
        <p:spPr>
          <a:xfrm>
            <a:off x="2054762" y="2497651"/>
            <a:ext cx="21602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2675940" y="913475"/>
            <a:ext cx="1777643" cy="25202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2636044" y="2320026"/>
            <a:ext cx="309612" cy="368314"/>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6813" y="2773245"/>
            <a:ext cx="2069862" cy="369332"/>
          </a:xfrm>
          <a:prstGeom prst="rect">
            <a:avLst/>
          </a:prstGeom>
          <a:noFill/>
        </p:spPr>
        <p:txBody>
          <a:bodyPr wrap="none" rtlCol="0">
            <a:spAutoFit/>
          </a:bodyPr>
          <a:lstStyle/>
          <a:p>
            <a:r>
              <a:rPr lang="en-US" altLang="zh-CN" dirty="0"/>
              <a:t>Translate 1/2 unit</a:t>
            </a:r>
            <a:endParaRPr lang="en-US" dirty="0"/>
          </a:p>
        </p:txBody>
      </p:sp>
      <p:cxnSp>
        <p:nvCxnSpPr>
          <p:cNvPr id="50" name="Straight Arrow Connector 49"/>
          <p:cNvCxnSpPr/>
          <p:nvPr/>
        </p:nvCxnSpPr>
        <p:spPr>
          <a:xfrm flipV="1">
            <a:off x="3561719" y="2790907"/>
            <a:ext cx="3042" cy="844265"/>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639287" y="3050976"/>
            <a:ext cx="1595309" cy="369332"/>
          </a:xfrm>
          <a:prstGeom prst="rect">
            <a:avLst/>
          </a:prstGeom>
          <a:noFill/>
        </p:spPr>
        <p:txBody>
          <a:bodyPr wrap="none" rtlCol="0">
            <a:spAutoFit/>
          </a:bodyPr>
          <a:lstStyle/>
          <a:p>
            <a:r>
              <a:rPr lang="en-US" altLang="zh-CN" dirty="0"/>
              <a:t>mirror image</a:t>
            </a:r>
            <a:endParaRPr lang="en-US" dirty="0"/>
          </a:p>
        </p:txBody>
      </p:sp>
      <p:sp>
        <p:nvSpPr>
          <p:cNvPr id="54" name="TextBox 53"/>
          <p:cNvSpPr txBox="1"/>
          <p:nvPr/>
        </p:nvSpPr>
        <p:spPr>
          <a:xfrm>
            <a:off x="6762201" y="1336520"/>
            <a:ext cx="2000279" cy="1477328"/>
          </a:xfrm>
          <a:prstGeom prst="rect">
            <a:avLst/>
          </a:prstGeom>
          <a:noFill/>
        </p:spPr>
        <p:txBody>
          <a:bodyPr wrap="square" rtlCol="0">
            <a:spAutoFit/>
          </a:bodyPr>
          <a:lstStyle/>
          <a:p>
            <a:pPr algn="just"/>
            <a:r>
              <a:rPr lang="en-US" dirty="0"/>
              <a:t>Reference plane</a:t>
            </a:r>
          </a:p>
          <a:p>
            <a:pPr algn="just"/>
            <a:r>
              <a:rPr lang="en-US" altLang="zh-CN" dirty="0"/>
              <a:t>with a distance of 1/2  unit to the projection plane</a:t>
            </a:r>
          </a:p>
        </p:txBody>
      </p:sp>
      <p:pic>
        <p:nvPicPr>
          <p:cNvPr id="3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5659" y="4819244"/>
            <a:ext cx="4784613" cy="19221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own Arrow 1"/>
          <p:cNvSpPr/>
          <p:nvPr/>
        </p:nvSpPr>
        <p:spPr>
          <a:xfrm>
            <a:off x="2492637" y="5329783"/>
            <a:ext cx="298213" cy="249924"/>
          </a:xfrm>
          <a:prstGeom prst="downArrow">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TextBox 42"/>
          <p:cNvSpPr txBox="1"/>
          <p:nvPr/>
        </p:nvSpPr>
        <p:spPr>
          <a:xfrm>
            <a:off x="6762201" y="3007948"/>
            <a:ext cx="2000279" cy="1477328"/>
          </a:xfrm>
          <a:prstGeom prst="rect">
            <a:avLst/>
          </a:prstGeom>
          <a:noFill/>
        </p:spPr>
        <p:txBody>
          <a:bodyPr wrap="square" rtlCol="0">
            <a:spAutoFit/>
          </a:bodyPr>
          <a:lstStyle/>
          <a:p>
            <a:pPr algn="just"/>
            <a:r>
              <a:rPr lang="en-US" dirty="0"/>
              <a:t>Axial glide plane</a:t>
            </a:r>
          </a:p>
          <a:p>
            <a:pPr algn="just"/>
            <a:r>
              <a:rPr lang="en-US" altLang="zh-CN" dirty="0"/>
              <a:t>with a distance of 1/4  unit to the projection plane</a:t>
            </a:r>
          </a:p>
        </p:txBody>
      </p:sp>
      <p:cxnSp>
        <p:nvCxnSpPr>
          <p:cNvPr id="5" name="Straight Connector 4"/>
          <p:cNvCxnSpPr>
            <a:stCxn id="35" idx="5"/>
          </p:cNvCxnSpPr>
          <p:nvPr/>
        </p:nvCxnSpPr>
        <p:spPr>
          <a:xfrm>
            <a:off x="2998339" y="2972235"/>
            <a:ext cx="3373861" cy="0"/>
          </a:xfrm>
          <a:prstGeom prst="line">
            <a:avLst/>
          </a:prstGeom>
          <a:ln w="28575">
            <a:solidFill>
              <a:srgbClr val="00FF00"/>
            </a:solidFill>
            <a:prstDash val="dash"/>
          </a:ln>
        </p:spPr>
        <p:style>
          <a:lnRef idx="1">
            <a:schemeClr val="accent1"/>
          </a:lnRef>
          <a:fillRef idx="0">
            <a:schemeClr val="accent1"/>
          </a:fillRef>
          <a:effectRef idx="0">
            <a:schemeClr val="accent1"/>
          </a:effectRef>
          <a:fontRef idx="minor">
            <a:schemeClr val="tx1"/>
          </a:fontRef>
        </p:style>
      </p:cxnSp>
      <p:pic>
        <p:nvPicPr>
          <p:cNvPr id="48" name="Picture 11"/>
          <p:cNvPicPr>
            <a:picLocks noChangeAspect="1" noChangeArrowheads="1"/>
          </p:cNvPicPr>
          <p:nvPr/>
        </p:nvPicPr>
        <p:blipFill rotWithShape="1">
          <a:blip r:embed="rId2">
            <a:extLst>
              <a:ext uri="{28A0092B-C50C-407E-A947-70E740481C1C}">
                <a14:useLocalDpi xmlns:a14="http://schemas.microsoft.com/office/drawing/2010/main" val="0"/>
              </a:ext>
            </a:extLst>
          </a:blip>
          <a:srcRect r="11857"/>
          <a:stretch>
            <a:fillRect/>
          </a:stretch>
        </p:blipFill>
        <p:spPr bwMode="auto">
          <a:xfrm>
            <a:off x="3416195" y="2562165"/>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t="11944"/>
          <a:stretch>
            <a:fillRect/>
          </a:stretch>
        </p:blipFill>
        <p:spPr bwMode="auto">
          <a:xfrm>
            <a:off x="2990184" y="2276640"/>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t="11944"/>
          <a:stretch>
            <a:fillRect/>
          </a:stretch>
        </p:blipFill>
        <p:spPr bwMode="auto">
          <a:xfrm>
            <a:off x="2669461" y="2754313"/>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1"/>
          <p:cNvPicPr>
            <a:picLocks noChangeAspect="1" noChangeArrowheads="1"/>
          </p:cNvPicPr>
          <p:nvPr/>
        </p:nvPicPr>
        <p:blipFill rotWithShape="1">
          <a:blip r:embed="rId2">
            <a:extLst>
              <a:ext uri="{28A0092B-C50C-407E-A947-70E740481C1C}">
                <a14:useLocalDpi xmlns:a14="http://schemas.microsoft.com/office/drawing/2010/main" val="0"/>
              </a:ext>
            </a:extLst>
          </a:blip>
          <a:srcRect r="11857"/>
          <a:stretch>
            <a:fillRect/>
          </a:stretch>
        </p:blipFill>
        <p:spPr bwMode="auto">
          <a:xfrm>
            <a:off x="3013586" y="3019365"/>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arn(inVertic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arn(inVertic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barn(inVertical)">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barn(inVertical)">
                                      <p:cBhvr>
                                        <p:cTn id="22" dur="500"/>
                                        <p:tgtEl>
                                          <p:spTgt spid="5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barn(inVertical)">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barn(inVertical)">
                                      <p:cBhvr>
                                        <p:cTn id="30" dur="500"/>
                                        <p:tgtEl>
                                          <p:spTgt spid="42"/>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barn(inVertical)">
                                      <p:cBhvr>
                                        <p:cTn id="33" dur="500"/>
                                        <p:tgtEl>
                                          <p:spTgt spid="44"/>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barn(inVertical)">
                                      <p:cBhvr>
                                        <p:cTn id="38" dur="500"/>
                                        <p:tgtEl>
                                          <p:spTgt spid="39"/>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arn(inVertical)">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4" grpId="0"/>
      <p:bldP spid="51" grpId="0"/>
      <p:bldP spid="54" grpId="0"/>
      <p:bldP spid="2" grpId="0" animBg="1"/>
      <p:bldP spid="43" grpId="0"/>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2" name="Group 31"/>
          <p:cNvGrpSpPr/>
          <p:nvPr/>
        </p:nvGrpSpPr>
        <p:grpSpPr>
          <a:xfrm>
            <a:off x="2979402" y="3485160"/>
            <a:ext cx="736923" cy="482740"/>
            <a:chOff x="804854" y="1343119"/>
            <a:chExt cx="736923" cy="482740"/>
          </a:xfrm>
        </p:grpSpPr>
        <p:pic>
          <p:nvPicPr>
            <p:cNvPr id="33" name="Picture 11"/>
            <p:cNvPicPr>
              <a:picLocks noChangeAspect="1" noChangeArrowheads="1"/>
            </p:cNvPicPr>
            <p:nvPr/>
          </p:nvPicPr>
          <p:blipFill rotWithShape="1">
            <a:blip r:embed="rId2">
              <a:extLst>
                <a:ext uri="{28A0092B-C50C-407E-A947-70E740481C1C}">
                  <a14:useLocalDpi xmlns:a14="http://schemas.microsoft.com/office/drawing/2010/main" val="0"/>
                </a:ext>
              </a:extLst>
            </a:blip>
            <a:srcRect r="11857"/>
            <a:stretch>
              <a:fillRect/>
            </a:stretch>
          </p:blipFill>
          <p:spPr bwMode="auto">
            <a:xfrm>
              <a:off x="804854" y="1343119"/>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t="11944"/>
            <a:stretch>
              <a:fillRect/>
            </a:stretch>
          </p:blipFill>
          <p:spPr bwMode="auto">
            <a:xfrm>
              <a:off x="1238651" y="1630800"/>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Parallelogram 3"/>
          <p:cNvSpPr/>
          <p:nvPr/>
        </p:nvSpPr>
        <p:spPr>
          <a:xfrm>
            <a:off x="2672898" y="3068960"/>
            <a:ext cx="4032448" cy="936104"/>
          </a:xfrm>
          <a:prstGeom prst="parallelogram">
            <a:avLst>
              <a:gd name="adj" fmla="val 72404"/>
            </a:avLst>
          </a:prstGeom>
          <a:solidFill>
            <a:schemeClr val="tx2">
              <a:lumMod val="40000"/>
              <a:lumOff val="60000"/>
              <a:alpha val="50196"/>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p:cNvSpPr/>
          <p:nvPr/>
        </p:nvSpPr>
        <p:spPr>
          <a:xfrm>
            <a:off x="2672898" y="3744344"/>
            <a:ext cx="4032448" cy="936104"/>
          </a:xfrm>
          <a:prstGeom prst="parallelogram">
            <a:avLst>
              <a:gd name="adj" fmla="val 72404"/>
            </a:avLst>
          </a:prstGeom>
          <a:solidFill>
            <a:srgbClr val="F4F4EF">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V="1">
            <a:off x="3347864" y="489067"/>
            <a:ext cx="0" cy="36600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0416" y="45144"/>
            <a:ext cx="3091726" cy="1164003"/>
          </a:xfrm>
          <a:prstGeom prst="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40220" y="201035"/>
            <a:ext cx="0" cy="57606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28345" y="212910"/>
            <a:ext cx="4425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82728" y="45144"/>
            <a:ext cx="505267" cy="369332"/>
          </a:xfrm>
          <a:prstGeom prst="rect">
            <a:avLst/>
          </a:prstGeom>
          <a:noFill/>
        </p:spPr>
        <p:txBody>
          <a:bodyPr wrap="none" rtlCol="0">
            <a:spAutoFit/>
          </a:bodyPr>
          <a:lstStyle/>
          <a:p>
            <a:r>
              <a:rPr lang="en-US" dirty="0"/>
              <a:t>1/4</a:t>
            </a:r>
          </a:p>
        </p:txBody>
      </p:sp>
      <p:sp>
        <p:nvSpPr>
          <p:cNvPr id="15" name="TextBox 14"/>
          <p:cNvSpPr txBox="1"/>
          <p:nvPr/>
        </p:nvSpPr>
        <p:spPr>
          <a:xfrm>
            <a:off x="323528" y="348668"/>
            <a:ext cx="2723292" cy="923330"/>
          </a:xfrm>
          <a:prstGeom prst="rect">
            <a:avLst/>
          </a:prstGeom>
          <a:noFill/>
        </p:spPr>
        <p:txBody>
          <a:bodyPr wrap="square" rtlCol="0">
            <a:spAutoFit/>
          </a:bodyPr>
          <a:lstStyle/>
          <a:p>
            <a:pPr algn="just"/>
            <a:r>
              <a:rPr lang="en-US" altLang="zh-CN" dirty="0"/>
              <a:t>Parallel to projection plane with a distance of 1/4 unit</a:t>
            </a:r>
            <a:endParaRPr lang="en-US" dirty="0"/>
          </a:p>
        </p:txBody>
      </p:sp>
      <p:sp>
        <p:nvSpPr>
          <p:cNvPr id="16" name="TextBox 15"/>
          <p:cNvSpPr txBox="1"/>
          <p:nvPr/>
        </p:nvSpPr>
        <p:spPr>
          <a:xfrm>
            <a:off x="3639287" y="4164217"/>
            <a:ext cx="1980029" cy="369332"/>
          </a:xfrm>
          <a:prstGeom prst="rect">
            <a:avLst/>
          </a:prstGeom>
          <a:noFill/>
        </p:spPr>
        <p:txBody>
          <a:bodyPr wrap="none" rtlCol="0">
            <a:spAutoFit/>
          </a:bodyPr>
          <a:lstStyle/>
          <a:p>
            <a:r>
              <a:rPr lang="en-US" altLang="zh-CN" dirty="0"/>
              <a:t>Projection plane</a:t>
            </a:r>
            <a:endParaRPr lang="en-US" dirty="0"/>
          </a:p>
        </p:txBody>
      </p:sp>
      <p:cxnSp>
        <p:nvCxnSpPr>
          <p:cNvPr id="19" name="Straight Connector 18"/>
          <p:cNvCxnSpPr/>
          <p:nvPr/>
        </p:nvCxnSpPr>
        <p:spPr>
          <a:xfrm flipV="1">
            <a:off x="3347864" y="3068960"/>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347864" y="2422593"/>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347864" y="1747209"/>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347864" y="1071825"/>
            <a:ext cx="0" cy="67538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051720" y="1409517"/>
            <a:ext cx="607731" cy="24608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051720" y="3744344"/>
            <a:ext cx="21602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2672898" y="2160168"/>
            <a:ext cx="1777643" cy="252028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Parallelogram 34"/>
          <p:cNvSpPr/>
          <p:nvPr/>
        </p:nvSpPr>
        <p:spPr>
          <a:xfrm>
            <a:off x="2659451" y="2504183"/>
            <a:ext cx="4032448" cy="936104"/>
          </a:xfrm>
          <a:prstGeom prst="parallelogram">
            <a:avLst>
              <a:gd name="adj" fmla="val 72404"/>
            </a:avLst>
          </a:prstGeom>
          <a:solidFill>
            <a:schemeClr val="tx2">
              <a:lumMod val="40000"/>
              <a:lumOff val="60000"/>
              <a:alpha val="50196"/>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utoShape 2" descr="data:image/png;base64,iVBORw0KGgoAAAANSUhEUgAAAC0AAAAZCAYAAACl8achAAAE1ElEQVRYR+1YSSj2axQ/5qmwEBlSbIxFphXCUhEKicxZkDllY0GiTH0KscGCDBsUwoLsKITIPIQUSuaZe/1O33l7J/Td7qdb93vq7f/+n+ec5/zO7wzvQeev90U/l9JX2fpPPnX+gP6muPw/mNbR0aFfzf1/ovNZ0FSYfn19ZVldXV0GJsbwfHt743fI6OnpqdwJWeyJjDwhJDpyL97x0bagp7yU7avsKxfi8/MzX/jy8kIGBgYMQgBBCfuQMTMz4305h87T0xPp6+srwMMJyIAAnEEGe+oOq4MXG4aGhgrScMeHoGFEQg9BgBIHBOT29jbZ2tqShYWF4p6HhweWgzMAKEYkYtBFhIyNjen29pYmJyepvLycLi8v2Qmcx8fHU2pqKjk7OzMx+IAE3IGnckqqpAcMYx0eHtLw8DAlJCSQpaWlglUYWFhYoMfHRzYMp3AeGxtLDg4ODAwLcjAKg2AY8mAOgFNSUmhwcJBcXV0pNDSUz0HExMQEWVtbU0dHB4WHh7MO7pE7PmQagkZGRnRwcEAZGRnU2NhI7u7udHd3R6ampjQ+Pk6bm5t0dnZGvr6+bLC5uZllo6Oj+R0fyLi4uCjyGSwh3fr7+5lR6I6NjZGVlRVjgfNzc3OUn59PGxsbND8/T05OTuw4gKvXgAbTYgAXZGVlkYeHByvD6PLyMgNCuKKiothgZmYmGy8rK+PwI+Q/fvyg0tJSJgC62J+amqK4uDiys7OjgYEBlTSAnEQRDpWUlFBlZaUiPdS71aegk5OTmRUwATDt7e1UXFzMYJG7CHlTUxMFBQWRl5cX7yPFCgoKeF955eTkMNNLS0sMXFvbhG5eXh719PTQ8fExRxcp92khAhyEwCqU09PTydvbm213dXXRyckJh1CisbKywnkaEBBAIyMjnO/QR34iL3FfcHAw5y6cBWjUi3QajbC/p1ZtbS1VVVXR0dERR0pbt1FhGqEEIDCYm5vLuQrQ2Kurq+O8RXXD852dHers7KS0tDTeQ06ioNBJRkdHKTIyknPRzc2NfHx8qLCwkIaGhmh3d5dJ0MY05Kurq6mhoYH29vYYBwhUXxrpIf00OzubQcPg2toaXVxckL+/PzO5tbVF3d3dHA10j5mZGQoLC+O7ARrRaGtrU7EF0K2trTQ9Pc2R0cjTd8CIWlJSEs3OzrJzYFrb0pg90EFQOGDa3t6eCwoA7+/vueiur685Z8GEn58fXw4Avb29HErkPsJbUVHBTGGBCEQmJiaGn0ifwMBADTxwKCQkhGpqaqioqIjv+zKn5UcA3eH09JTB2NjYMHsAIOc3NzcMBA6ADXNzc3ZUwg5d9FzJWeibmJjQ+vo6934UGWoATmNdXV1RX18f1dfXc/Ghuzg6OirGgk9bnsqvzs/5QGYQAfTR3KCuK+/ylB4OphMTE2lxcZHrBXV0fn5O+/v73IVaWlrI09OTnQHL2maVbxlNZUZBBLFWV1e52MAwFgo7IiKCixdRk4ji7Mvu8asjp9YqUdoESzJDIEXwLmn0mS7qCiwjpZRnH9H57UyDCBkPwDhYBRD5LkzKhCnTpUyHMu0pO/nbQcsPFp5SzAAkIJEyMhwpp4JMizI0fStoaXnKfxjInhS3crELOJnFtf4IvW/++RfCV8X5b5z/DUpwfpiADfF7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grpSp>
        <p:nvGrpSpPr>
          <p:cNvPr id="38" name="Group 37"/>
          <p:cNvGrpSpPr/>
          <p:nvPr/>
        </p:nvGrpSpPr>
        <p:grpSpPr>
          <a:xfrm>
            <a:off x="2675940" y="2173614"/>
            <a:ext cx="1202883" cy="559777"/>
            <a:chOff x="2675940" y="2173614"/>
            <a:chExt cx="1202883" cy="559777"/>
          </a:xfrm>
        </p:grpSpPr>
        <p:pic>
          <p:nvPicPr>
            <p:cNvPr id="28675" name="Picture 3" descr="C:\Users\Lenovo's User\AppData\Local\Temp\mx3DC4B.png"/>
            <p:cNvPicPr>
              <a:picLocks noChangeAspect="1" noChangeArrowheads="1"/>
            </p:cNvPicPr>
            <p:nvPr/>
          </p:nvPicPr>
          <p:blipFill rotWithShape="1">
            <a:blip r:embed="rId4">
              <a:extLst>
                <a:ext uri="{28A0092B-C50C-407E-A947-70E740481C1C}">
                  <a14:useLocalDpi xmlns:a14="http://schemas.microsoft.com/office/drawing/2010/main" val="0"/>
                </a:ext>
              </a:extLst>
            </a:blip>
            <a:srcRect l="-645" t="-1" r="-1"/>
            <a:stretch>
              <a:fillRect/>
            </a:stretch>
          </p:blipFill>
          <p:spPr bwMode="auto">
            <a:xfrm>
              <a:off x="2675940" y="2173614"/>
              <a:ext cx="623218" cy="344015"/>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9752" y="2536849"/>
              <a:ext cx="479071" cy="196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cxnSp>
        <p:nvCxnSpPr>
          <p:cNvPr id="40" name="Straight Connector 39"/>
          <p:cNvCxnSpPr/>
          <p:nvPr/>
        </p:nvCxnSpPr>
        <p:spPr>
          <a:xfrm>
            <a:off x="2054762" y="2497651"/>
            <a:ext cx="21602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2675940" y="913475"/>
            <a:ext cx="1777643" cy="25202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1612944" y="2422593"/>
            <a:ext cx="309612" cy="368314"/>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2355585" y="2663933"/>
            <a:ext cx="1171596" cy="559776"/>
            <a:chOff x="2707227" y="2173615"/>
            <a:chExt cx="1171596" cy="559776"/>
          </a:xfrm>
        </p:grpSpPr>
        <p:pic>
          <p:nvPicPr>
            <p:cNvPr id="46" name="Picture 3" descr="C:\Users\Lenovo's User\AppData\Local\Temp\mx3DC4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7227" y="2173615"/>
              <a:ext cx="619227" cy="344015"/>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9752" y="2536849"/>
              <a:ext cx="479071" cy="196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4" name="TextBox 43"/>
          <p:cNvSpPr txBox="1"/>
          <p:nvPr/>
        </p:nvSpPr>
        <p:spPr>
          <a:xfrm>
            <a:off x="36813" y="2773245"/>
            <a:ext cx="2069862" cy="369332"/>
          </a:xfrm>
          <a:prstGeom prst="rect">
            <a:avLst/>
          </a:prstGeom>
          <a:noFill/>
        </p:spPr>
        <p:txBody>
          <a:bodyPr wrap="none" rtlCol="0">
            <a:spAutoFit/>
          </a:bodyPr>
          <a:lstStyle/>
          <a:p>
            <a:r>
              <a:rPr lang="en-US" altLang="zh-CN" dirty="0"/>
              <a:t>Translate 1/2 unit</a:t>
            </a:r>
            <a:endParaRPr lang="en-US" dirty="0"/>
          </a:p>
        </p:txBody>
      </p:sp>
      <p:cxnSp>
        <p:nvCxnSpPr>
          <p:cNvPr id="50" name="Straight Arrow Connector 49"/>
          <p:cNvCxnSpPr/>
          <p:nvPr/>
        </p:nvCxnSpPr>
        <p:spPr>
          <a:xfrm flipV="1">
            <a:off x="3561719" y="2790907"/>
            <a:ext cx="3042" cy="844265"/>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639287" y="3050976"/>
            <a:ext cx="1595309" cy="369332"/>
          </a:xfrm>
          <a:prstGeom prst="rect">
            <a:avLst/>
          </a:prstGeom>
          <a:noFill/>
        </p:spPr>
        <p:txBody>
          <a:bodyPr wrap="none" rtlCol="0">
            <a:spAutoFit/>
          </a:bodyPr>
          <a:lstStyle/>
          <a:p>
            <a:r>
              <a:rPr lang="en-US" altLang="zh-CN" dirty="0"/>
              <a:t>mirror image</a:t>
            </a:r>
            <a:endParaRPr lang="en-US" dirty="0"/>
          </a:p>
        </p:txBody>
      </p:sp>
      <p:sp>
        <p:nvSpPr>
          <p:cNvPr id="54" name="TextBox 53"/>
          <p:cNvSpPr txBox="1"/>
          <p:nvPr/>
        </p:nvSpPr>
        <p:spPr>
          <a:xfrm>
            <a:off x="6762201" y="1336520"/>
            <a:ext cx="2000279" cy="1477328"/>
          </a:xfrm>
          <a:prstGeom prst="rect">
            <a:avLst/>
          </a:prstGeom>
          <a:noFill/>
        </p:spPr>
        <p:txBody>
          <a:bodyPr wrap="square" rtlCol="0">
            <a:spAutoFit/>
          </a:bodyPr>
          <a:lstStyle/>
          <a:p>
            <a:pPr algn="just"/>
            <a:r>
              <a:rPr lang="en-US" dirty="0"/>
              <a:t>Reference plane</a:t>
            </a:r>
          </a:p>
          <a:p>
            <a:pPr algn="just"/>
            <a:r>
              <a:rPr lang="en-US" altLang="zh-CN" dirty="0"/>
              <a:t>with a distance of 1/2  unit to the projection plane</a:t>
            </a:r>
          </a:p>
        </p:txBody>
      </p:sp>
      <p:pic>
        <p:nvPicPr>
          <p:cNvPr id="3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5659" y="4819244"/>
            <a:ext cx="4784613" cy="19221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own Arrow 1"/>
          <p:cNvSpPr/>
          <p:nvPr/>
        </p:nvSpPr>
        <p:spPr>
          <a:xfrm>
            <a:off x="2492637" y="5329783"/>
            <a:ext cx="298213" cy="249924"/>
          </a:xfrm>
          <a:prstGeom prst="downArrow">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TextBox 42"/>
          <p:cNvSpPr txBox="1"/>
          <p:nvPr/>
        </p:nvSpPr>
        <p:spPr>
          <a:xfrm>
            <a:off x="6762201" y="3007948"/>
            <a:ext cx="2000279" cy="1477328"/>
          </a:xfrm>
          <a:prstGeom prst="rect">
            <a:avLst/>
          </a:prstGeom>
          <a:noFill/>
        </p:spPr>
        <p:txBody>
          <a:bodyPr wrap="square" rtlCol="0">
            <a:spAutoFit/>
          </a:bodyPr>
          <a:lstStyle/>
          <a:p>
            <a:pPr algn="just"/>
            <a:r>
              <a:rPr lang="en-US" dirty="0"/>
              <a:t>Axial glide plane</a:t>
            </a:r>
          </a:p>
          <a:p>
            <a:pPr algn="just"/>
            <a:r>
              <a:rPr lang="en-US" altLang="zh-CN" dirty="0"/>
              <a:t>with a distance of 1/4  unit to the projection plane</a:t>
            </a:r>
          </a:p>
        </p:txBody>
      </p:sp>
      <p:cxnSp>
        <p:nvCxnSpPr>
          <p:cNvPr id="5" name="Straight Connector 4"/>
          <p:cNvCxnSpPr>
            <a:stCxn id="35" idx="5"/>
          </p:cNvCxnSpPr>
          <p:nvPr/>
        </p:nvCxnSpPr>
        <p:spPr>
          <a:xfrm>
            <a:off x="2998339" y="2972235"/>
            <a:ext cx="3373861" cy="0"/>
          </a:xfrm>
          <a:prstGeom prst="line">
            <a:avLst/>
          </a:prstGeom>
          <a:ln w="28575">
            <a:solidFill>
              <a:srgbClr val="00FF00"/>
            </a:solidFill>
            <a:prstDash val="dash"/>
          </a:ln>
        </p:spPr>
        <p:style>
          <a:lnRef idx="1">
            <a:schemeClr val="accent1"/>
          </a:lnRef>
          <a:fillRef idx="0">
            <a:schemeClr val="accent1"/>
          </a:fillRef>
          <a:effectRef idx="0">
            <a:schemeClr val="accent1"/>
          </a:effectRef>
          <a:fontRef idx="minor">
            <a:schemeClr val="tx1"/>
          </a:fontRef>
        </p:style>
      </p:cxnSp>
      <p:pic>
        <p:nvPicPr>
          <p:cNvPr id="48" name="Picture 11"/>
          <p:cNvPicPr>
            <a:picLocks noChangeAspect="1" noChangeArrowheads="1"/>
          </p:cNvPicPr>
          <p:nvPr/>
        </p:nvPicPr>
        <p:blipFill rotWithShape="1">
          <a:blip r:embed="rId2">
            <a:extLst>
              <a:ext uri="{28A0092B-C50C-407E-A947-70E740481C1C}">
                <a14:useLocalDpi xmlns:a14="http://schemas.microsoft.com/office/drawing/2010/main" val="0"/>
              </a:ext>
            </a:extLst>
          </a:blip>
          <a:srcRect r="11857"/>
          <a:stretch>
            <a:fillRect/>
          </a:stretch>
        </p:blipFill>
        <p:spPr bwMode="auto">
          <a:xfrm>
            <a:off x="3989401" y="583240"/>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t="11944"/>
          <a:stretch>
            <a:fillRect/>
          </a:stretch>
        </p:blipFill>
        <p:spPr bwMode="auto">
          <a:xfrm>
            <a:off x="4423198" y="870921"/>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arn(inVertic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arn(inVertic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barn(inVertical)">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barn(inVertical)">
                                      <p:cBhvr>
                                        <p:cTn id="22" dur="500"/>
                                        <p:tgtEl>
                                          <p:spTgt spid="5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barn(inVertical)">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barn(inVertical)">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barn(inVertical)">
                                      <p:cBhvr>
                                        <p:cTn id="35" dur="500"/>
                                        <p:tgtEl>
                                          <p:spTgt spid="42"/>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barn(inVertical)">
                                      <p:cBhvr>
                                        <p:cTn id="38" dur="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barn(inVertical)">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barn(inVertical)">
                                      <p:cBhvr>
                                        <p:cTn id="48" dur="500"/>
                                        <p:tgtEl>
                                          <p:spTgt spid="39"/>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barn(inVertical)">
                                      <p:cBhvr>
                                        <p:cTn id="5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4" grpId="0"/>
      <p:bldP spid="51" grpId="0"/>
      <p:bldP spid="54" grpId="0"/>
      <p:bldP spid="2" grpId="0" animBg="1"/>
      <p:bldP spid="4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4071838" y="3899499"/>
            <a:ext cx="3091726" cy="1164003"/>
          </a:xfrm>
          <a:prstGeom prst="rect">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96" y="310974"/>
            <a:ext cx="7312385" cy="2937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4"/>
          <p:cNvSpPr txBox="1">
            <a:spLocks noChangeArrowheads="1"/>
          </p:cNvSpPr>
          <p:nvPr/>
        </p:nvSpPr>
        <p:spPr bwMode="auto">
          <a:xfrm>
            <a:off x="22688" y="3179107"/>
            <a:ext cx="592263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err="1">
                <a:solidFill>
                  <a:srgbClr val="FF0000"/>
                </a:solidFill>
                <a:latin typeface="+mn-lt"/>
              </a:rPr>
              <a:t>Pnma</a:t>
            </a:r>
            <a:r>
              <a:rPr lang="en-US" altLang="zh-CN" sz="2800" b="1" dirty="0">
                <a:solidFill>
                  <a:srgbClr val="FF0000"/>
                </a:solidFill>
                <a:latin typeface="+mn-lt"/>
              </a:rPr>
              <a:t> </a:t>
            </a:r>
            <a:r>
              <a:rPr lang="en-US" altLang="zh-CN" sz="2000" dirty="0">
                <a:solidFill>
                  <a:srgbClr val="FF0000"/>
                </a:solidFill>
                <a:latin typeface="+mn-lt"/>
              </a:rPr>
              <a:t>general equivalent point system(A) and projection of symmetry elements(B)</a:t>
            </a:r>
            <a:endParaRPr lang="zh-CN" altLang="en-US" sz="2000" b="1" dirty="0">
              <a:solidFill>
                <a:srgbClr val="FF0000"/>
              </a:solidFill>
              <a:latin typeface="+mn-lt"/>
            </a:endParaRPr>
          </a:p>
        </p:txBody>
      </p:sp>
      <p:sp>
        <p:nvSpPr>
          <p:cNvPr id="6" name="Oval 5"/>
          <p:cNvSpPr/>
          <p:nvPr/>
        </p:nvSpPr>
        <p:spPr>
          <a:xfrm>
            <a:off x="419473" y="5053826"/>
            <a:ext cx="144016" cy="1440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71600" y="4941168"/>
            <a:ext cx="2782365" cy="369332"/>
          </a:xfrm>
          <a:prstGeom prst="rect">
            <a:avLst/>
          </a:prstGeom>
          <a:noFill/>
        </p:spPr>
        <p:txBody>
          <a:bodyPr wrap="none" rtlCol="0">
            <a:spAutoFit/>
          </a:bodyPr>
          <a:lstStyle/>
          <a:p>
            <a:r>
              <a:rPr lang="en-US" altLang="zh-CN" dirty="0">
                <a:latin typeface="+mn-lt"/>
              </a:rPr>
              <a:t>inversion( change chirality)</a:t>
            </a:r>
            <a:endParaRPr lang="en-US" dirty="0">
              <a:latin typeface="+mn-lt"/>
            </a:endParaRPr>
          </a:p>
        </p:txBody>
      </p:sp>
      <p:grpSp>
        <p:nvGrpSpPr>
          <p:cNvPr id="11" name="Group 10"/>
          <p:cNvGrpSpPr/>
          <p:nvPr/>
        </p:nvGrpSpPr>
        <p:grpSpPr>
          <a:xfrm>
            <a:off x="7551788" y="1653428"/>
            <a:ext cx="792088" cy="298665"/>
            <a:chOff x="374270" y="5589240"/>
            <a:chExt cx="792088" cy="298665"/>
          </a:xfrm>
        </p:grpSpPr>
        <p:cxnSp>
          <p:nvCxnSpPr>
            <p:cNvPr id="9" name="Straight Arrow Connector 8"/>
            <p:cNvCxnSpPr/>
            <p:nvPr/>
          </p:nvCxnSpPr>
          <p:spPr>
            <a:xfrm>
              <a:off x="395536" y="5589240"/>
              <a:ext cx="720080" cy="0"/>
            </a:xfrm>
            <a:prstGeom prst="straightConnector1">
              <a:avLst/>
            </a:prstGeom>
            <a:ln w="76200">
              <a:solidFill>
                <a:schemeClr val="accent3">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74270" y="5599873"/>
              <a:ext cx="7920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971600" y="6487710"/>
            <a:ext cx="7468701" cy="369332"/>
          </a:xfrm>
          <a:prstGeom prst="rect">
            <a:avLst/>
          </a:prstGeom>
          <a:noFill/>
        </p:spPr>
        <p:txBody>
          <a:bodyPr wrap="square" rtlCol="0">
            <a:spAutoFit/>
          </a:bodyPr>
          <a:lstStyle/>
          <a:p>
            <a:r>
              <a:rPr lang="en-US" altLang="zh-CN" dirty="0">
                <a:latin typeface="+mn-lt"/>
              </a:rPr>
              <a:t>Screw axis ( in projection plane)</a:t>
            </a:r>
            <a:endParaRPr lang="en-US" dirty="0">
              <a:latin typeface="+mn-lt"/>
            </a:endParaRPr>
          </a:p>
        </p:txBody>
      </p:sp>
      <p:cxnSp>
        <p:nvCxnSpPr>
          <p:cNvPr id="14" name="Straight Connector 13"/>
          <p:cNvCxnSpPr/>
          <p:nvPr/>
        </p:nvCxnSpPr>
        <p:spPr>
          <a:xfrm>
            <a:off x="227833" y="6147977"/>
            <a:ext cx="741346" cy="0"/>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983517" y="5949280"/>
            <a:ext cx="7332899" cy="646331"/>
          </a:xfrm>
          <a:prstGeom prst="rect">
            <a:avLst/>
          </a:prstGeom>
          <a:noFill/>
        </p:spPr>
        <p:txBody>
          <a:bodyPr wrap="square" rtlCol="0">
            <a:spAutoFit/>
          </a:bodyPr>
          <a:lstStyle/>
          <a:p>
            <a:r>
              <a:rPr lang="en-US" dirty="0">
                <a:latin typeface="+mn-lt"/>
              </a:rPr>
              <a:t>n </a:t>
            </a:r>
            <a:r>
              <a:rPr lang="en-US" altLang="zh-CN" dirty="0">
                <a:latin typeface="+mn-lt"/>
              </a:rPr>
              <a:t>diagonal glide  plane (perpendicular to the projection plane)</a:t>
            </a:r>
            <a:r>
              <a:rPr lang="zh-CN" altLang="en-US" dirty="0">
                <a:latin typeface="+mn-lt"/>
              </a:rPr>
              <a:t> </a:t>
            </a:r>
            <a:r>
              <a:rPr lang="en-US" altLang="zh-CN" dirty="0">
                <a:latin typeface="+mn-lt"/>
              </a:rPr>
              <a:t>(read figure 7-6 in text book)</a:t>
            </a:r>
            <a:endParaRPr lang="en-US" dirty="0">
              <a:latin typeface="+mn-lt"/>
            </a:endParaRPr>
          </a:p>
        </p:txBody>
      </p:sp>
      <p:pic>
        <p:nvPicPr>
          <p:cNvPr id="297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43" y="5523089"/>
            <a:ext cx="295275"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Box 18"/>
          <p:cNvSpPr txBox="1"/>
          <p:nvPr/>
        </p:nvSpPr>
        <p:spPr>
          <a:xfrm>
            <a:off x="1004280" y="5485874"/>
            <a:ext cx="1459759" cy="369332"/>
          </a:xfrm>
          <a:prstGeom prst="rect">
            <a:avLst/>
          </a:prstGeom>
          <a:noFill/>
        </p:spPr>
        <p:txBody>
          <a:bodyPr wrap="none" rtlCol="0">
            <a:spAutoFit/>
          </a:bodyPr>
          <a:lstStyle/>
          <a:p>
            <a:r>
              <a:rPr lang="en-US" dirty="0">
                <a:latin typeface="+mn-lt"/>
              </a:rPr>
              <a:t>2</a:t>
            </a:r>
            <a:r>
              <a:rPr lang="en-US" baseline="-25000" dirty="0">
                <a:latin typeface="+mn-lt"/>
              </a:rPr>
              <a:t>1</a:t>
            </a:r>
            <a:r>
              <a:rPr lang="zh-CN" altLang="en-US" dirty="0">
                <a:latin typeface="+mn-lt"/>
              </a:rPr>
              <a:t> </a:t>
            </a:r>
            <a:r>
              <a:rPr lang="en-US" altLang="zh-CN" dirty="0">
                <a:latin typeface="+mn-lt"/>
              </a:rPr>
              <a:t>screw axis</a:t>
            </a:r>
            <a:endParaRPr lang="en-US" baseline="-25000" dirty="0">
              <a:latin typeface="+mn-lt"/>
            </a:endParaRPr>
          </a:p>
        </p:txBody>
      </p:sp>
      <p:cxnSp>
        <p:nvCxnSpPr>
          <p:cNvPr id="18" name="Straight Connector 17"/>
          <p:cNvCxnSpPr/>
          <p:nvPr/>
        </p:nvCxnSpPr>
        <p:spPr>
          <a:xfrm flipH="1">
            <a:off x="4113935" y="5392184"/>
            <a:ext cx="86409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61515" y="5158933"/>
            <a:ext cx="3542933" cy="646331"/>
          </a:xfrm>
          <a:prstGeom prst="rect">
            <a:avLst/>
          </a:prstGeom>
          <a:noFill/>
        </p:spPr>
        <p:txBody>
          <a:bodyPr wrap="square" rtlCol="0">
            <a:spAutoFit/>
          </a:bodyPr>
          <a:lstStyle/>
          <a:p>
            <a:r>
              <a:rPr lang="en-US" altLang="zh-CN" dirty="0">
                <a:latin typeface="+mn-lt"/>
              </a:rPr>
              <a:t>m mirror</a:t>
            </a:r>
            <a:r>
              <a:rPr lang="zh-CN" altLang="en-US" dirty="0">
                <a:latin typeface="+mn-lt"/>
              </a:rPr>
              <a:t> </a:t>
            </a:r>
            <a:r>
              <a:rPr lang="en-US" altLang="zh-CN" dirty="0">
                <a:latin typeface="+mn-lt"/>
              </a:rPr>
              <a:t>( perpendicular to projection plane, change chirality)</a:t>
            </a:r>
            <a:endParaRPr lang="en-US" dirty="0">
              <a:latin typeface="+mn-lt"/>
            </a:endParaRPr>
          </a:p>
        </p:txBody>
      </p:sp>
      <p:sp>
        <p:nvSpPr>
          <p:cNvPr id="29" name="AutoShape 9" descr="data:image/png;base64,iVBORw0KGgoAAAANSUhEUgAAACQAAAAVCAYAAAAuJkyQAAAEg0lEQVRIS61WSyi2XRRd7rf6UBKJkYmMkAgZUSYotwi5pEQoxYTkEgbCxIAUpZAQymWCEZKBJJJbriX3lM/99lm7fz+9Pvp/9Tv19J73POecvfbaa+/9mL2+vr7hfby8vMDMzIxTmJub431d5hzPz8/yzsrKSvZxvL29wcLCQn65l+84/7/DTAHRKA0QjALgnIMGaczS0tIAQIAKnO90748B4kU0Qgbu7+9hZ2dnGKQxrt/e3sLa2ho2Njaf/v8EO4JBGeKFppeSrcfHR2GL4eDQX2WTDpA9PsrejzFEBvjQKBl5enoSxmhIdXR+fm7oSFkjk79+/foR/XxgiMYJgsxw/vDwAFtbWzG0urqK9fV11NTUYHd3VwDc3d0J0KysLFRUVMDZ2flHQBkhMwVE7wmEaxMTE2hsbMTs7KwA9vT0NAxfXV3h9+/fKC0tRWVlJRwcHIwk0NBp5qoc+J+PqUR0z5cMmYZpZmYGSUlJOD4+hre3N/z8/NDV1SUhJZPDw8Ooq6vD0dER4uPjkZubCw8PD4MtNUoZmEpASwbXOGeiGIBV1ETHLOJhbiAjGRkZ2NnZEVCdnZ2iJ80wAmJY+b+8vBz19fUS4ubmZuTl5RliZ2LwnCYEQVCr1J7WNNOSYYSMgNQAWQoJCcH8/Dyio6PR2toKd3d3McLDfGiIg+B7enpQXFyMs7MzlJSUoKysTFiizjRJuJ/30gGyQWB635cMqSf0fGhoCIWFhfD390d7e7uAoVYIxN7eXoDQGM+QFZaBsbEx0dLh4SFGRkYQGxsr++gkQWmx1fLA85zz+cSQCpoveUFAQIDogmHz9fU1PLm4uMDo6Cjc3NwQFRUlBukpjTEERUVFaGlpwcDAABISEr5Vkhg2bUEfRK0vbm5uEBYWhuXlZRwcHEhWUVtkZnp6GhEREXBxcUFbWxvi4uJEB2TPyclJwtXU1IT+/n4kJiZKqBlGLZxkig+d5pqPjw9CQ0Ph6upqgBcNkSFSyPiSvuDgYCwsLGBvbw9eXl5yAeO8ubkpWba2tobr62sBaJqymZmZ8l4BEdz29rYwSPZ1L1sTHQkMDERMTIzY+JRlWgi5mRs3Njawv78v+uFQBi8vL8VzspSdnS3r1BEHs4vMKaBvxex9k2nL+tDttTcR0MrKCgoKClBbW2u0Br7n+uLiIsgGPefQ9pKTk4OOjg50d3cjNTVVwGrNEX3883mjRZdrfzflD5WaWcPQDA4OIj8/X+LP8DDWmiX62aGscZ2h7uvrkyyLjIxEdXW1CJ9ipej/zqR/Y+6DhngBAXEw5ZeWlkSc9FjX1SuGlqEiwKmpKaSlpeHk5AS9vb1ISUkRjfGMVn5Trf0nIFON8CCzhj2MIeDFzLrw8HApeNqv9NLx8XEpiltbW0hOTkZDQ4Poi6HQ5qz96zuaMhjSSsps04+wyclJpKen4/T0VLIvKCjI6GPcw0RgJrIYso9VVVXB0dFRUpplgnfy4dy01nyLIXpEA1reWXvIxtzcnDRX9jXWqK8Gs409jGC0Jage9bP4uyH7A/HRI7DJcu86AAAAAElFTkSuQmCC"/>
          <p:cNvSpPr>
            <a:spLocks noChangeAspect="1" noChangeArrowheads="1"/>
          </p:cNvSpPr>
          <p:nvPr/>
        </p:nvSpPr>
        <p:spPr bwMode="auto">
          <a:xfrm>
            <a:off x="155575" y="-2212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latin typeface="+mn-lt"/>
            </a:endParaRPr>
          </a:p>
        </p:txBody>
      </p:sp>
      <p:grpSp>
        <p:nvGrpSpPr>
          <p:cNvPr id="37" name="Group 36"/>
          <p:cNvGrpSpPr/>
          <p:nvPr/>
        </p:nvGrpSpPr>
        <p:grpSpPr>
          <a:xfrm>
            <a:off x="3989401" y="583240"/>
            <a:ext cx="736923" cy="482740"/>
            <a:chOff x="804854" y="1343119"/>
            <a:chExt cx="736923" cy="482740"/>
          </a:xfrm>
        </p:grpSpPr>
        <p:pic>
          <p:nvPicPr>
            <p:cNvPr id="29707" name="Picture 11"/>
            <p:cNvPicPr>
              <a:picLocks noChangeAspect="1" noChangeArrowheads="1"/>
            </p:cNvPicPr>
            <p:nvPr/>
          </p:nvPicPr>
          <p:blipFill rotWithShape="1">
            <a:blip r:embed="rId5">
              <a:extLst>
                <a:ext uri="{28A0092B-C50C-407E-A947-70E740481C1C}">
                  <a14:useLocalDpi xmlns:a14="http://schemas.microsoft.com/office/drawing/2010/main" val="0"/>
                </a:ext>
              </a:extLst>
            </a:blip>
            <a:srcRect r="11857"/>
            <a:stretch>
              <a:fillRect/>
            </a:stretch>
          </p:blipFill>
          <p:spPr bwMode="auto">
            <a:xfrm>
              <a:off x="804854" y="1343119"/>
              <a:ext cx="302241"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711" name="Picture 15"/>
            <p:cNvPicPr>
              <a:picLocks noChangeAspect="1" noChangeArrowheads="1"/>
            </p:cNvPicPr>
            <p:nvPr/>
          </p:nvPicPr>
          <p:blipFill rotWithShape="1">
            <a:blip r:embed="rId6">
              <a:extLst>
                <a:ext uri="{28A0092B-C50C-407E-A947-70E740481C1C}">
                  <a14:useLocalDpi xmlns:a14="http://schemas.microsoft.com/office/drawing/2010/main" val="0"/>
                </a:ext>
              </a:extLst>
            </a:blip>
            <a:srcRect t="11944"/>
            <a:stretch>
              <a:fillRect/>
            </a:stretch>
          </p:blipFill>
          <p:spPr bwMode="auto">
            <a:xfrm>
              <a:off x="1238651" y="1630800"/>
              <a:ext cx="303126" cy="195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6" name="Picture 11"/>
          <p:cNvPicPr>
            <a:picLocks noChangeAspect="1" noChangeArrowheads="1"/>
          </p:cNvPicPr>
          <p:nvPr/>
        </p:nvPicPr>
        <p:blipFill rotWithShape="1">
          <a:blip r:embed="rId5">
            <a:extLst>
              <a:ext uri="{28A0092B-C50C-407E-A947-70E740481C1C}">
                <a14:useLocalDpi xmlns:a14="http://schemas.microsoft.com/office/drawing/2010/main" val="0"/>
              </a:ext>
            </a:extLst>
          </a:blip>
          <a:srcRect r="11857"/>
          <a:stretch>
            <a:fillRect/>
          </a:stretch>
        </p:blipFill>
        <p:spPr bwMode="auto">
          <a:xfrm>
            <a:off x="4431909" y="1453403"/>
            <a:ext cx="302241" cy="200025"/>
          </a:xfrm>
          <a:prstGeom prst="rect">
            <a:avLst/>
          </a:prstGeom>
          <a:noFill/>
          <a:ln w="9525">
            <a:solidFill>
              <a:srgbClr val="FF3399"/>
            </a:solidFill>
            <a:miter lim="800000"/>
            <a:headEnd/>
            <a:tailEnd/>
          </a:ln>
          <a:extLst>
            <a:ext uri="{909E8E84-426E-40DD-AFC4-6F175D3DCCD1}">
              <a14:hiddenFill xmlns:a14="http://schemas.microsoft.com/office/drawing/2010/main">
                <a:solidFill>
                  <a:schemeClr val="accent1"/>
                </a:solidFill>
              </a14:hiddenFill>
            </a:ext>
          </a:extLst>
        </p:spPr>
      </p:pic>
      <p:pic>
        <p:nvPicPr>
          <p:cNvPr id="29715"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027" y="1443428"/>
            <a:ext cx="487257" cy="194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719" name="Picture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7808" y="1709552"/>
            <a:ext cx="479640" cy="196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1" name="Straight Arrow Connector 40"/>
          <p:cNvCxnSpPr/>
          <p:nvPr/>
        </p:nvCxnSpPr>
        <p:spPr>
          <a:xfrm>
            <a:off x="4378495" y="1665008"/>
            <a:ext cx="1199072" cy="552090"/>
          </a:xfrm>
          <a:prstGeom prst="straightConnector1">
            <a:avLst/>
          </a:prstGeom>
          <a:ln w="38100">
            <a:solidFill>
              <a:srgbClr val="FF3399"/>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5594819" y="1716766"/>
            <a:ext cx="8627" cy="508960"/>
          </a:xfrm>
          <a:prstGeom prst="straightConnector1">
            <a:avLst/>
          </a:prstGeom>
          <a:ln w="38100">
            <a:solidFill>
              <a:srgbClr val="FF3399"/>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4404374" y="1665008"/>
            <a:ext cx="1130061" cy="0"/>
          </a:xfrm>
          <a:prstGeom prst="straightConnector1">
            <a:avLst/>
          </a:prstGeom>
          <a:ln w="38100">
            <a:solidFill>
              <a:srgbClr val="FF3399"/>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3913275" y="1247078"/>
            <a:ext cx="3635637" cy="0"/>
          </a:xfrm>
          <a:prstGeom prst="straightConnector1">
            <a:avLst/>
          </a:prstGeom>
          <a:ln w="38100">
            <a:solidFill>
              <a:srgbClr val="FF3399"/>
            </a:solidFill>
            <a:prstDash val="dashDot"/>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9720"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2949" y="2294840"/>
            <a:ext cx="333375" cy="200025"/>
          </a:xfrm>
          <a:prstGeom prst="rect">
            <a:avLst/>
          </a:prstGeom>
          <a:noFill/>
          <a:ln w="9525">
            <a:solidFill>
              <a:srgbClr val="3333FF"/>
            </a:solidFill>
            <a:miter lim="800000"/>
            <a:headEnd/>
            <a:tailEnd/>
          </a:ln>
          <a:extLst>
            <a:ext uri="{909E8E84-426E-40DD-AFC4-6F175D3DCCD1}">
              <a14:hiddenFill xmlns:a14="http://schemas.microsoft.com/office/drawing/2010/main">
                <a:solidFill>
                  <a:schemeClr val="accent1"/>
                </a:solidFill>
              </a14:hiddenFill>
            </a:ext>
          </a:extLst>
        </p:spPr>
      </p:pic>
      <p:pic>
        <p:nvPicPr>
          <p:cNvPr id="29725" name="Picture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2349" y="2528190"/>
            <a:ext cx="323850" cy="190500"/>
          </a:xfrm>
          <a:prstGeom prst="rect">
            <a:avLst/>
          </a:prstGeom>
          <a:noFill/>
          <a:ln w="9525">
            <a:solidFill>
              <a:srgbClr val="3333FF"/>
            </a:solidFill>
            <a:miter lim="800000"/>
            <a:headEnd/>
            <a:tailEnd/>
          </a:ln>
          <a:extLst>
            <a:ext uri="{909E8E84-426E-40DD-AFC4-6F175D3DCCD1}">
              <a14:hiddenFill xmlns:a14="http://schemas.microsoft.com/office/drawing/2010/main">
                <a:solidFill>
                  <a:schemeClr val="accent1"/>
                </a:solidFill>
              </a14:hiddenFill>
            </a:ext>
          </a:extLst>
        </p:spPr>
      </p:pic>
      <p:pic>
        <p:nvPicPr>
          <p:cNvPr id="77"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36959" y="2294840"/>
            <a:ext cx="3333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8" name="Picture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6359" y="2528190"/>
            <a:ext cx="32385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2" name="TextBox 71"/>
          <p:cNvSpPr txBox="1"/>
          <p:nvPr/>
        </p:nvSpPr>
        <p:spPr>
          <a:xfrm>
            <a:off x="35496" y="4210590"/>
            <a:ext cx="3615370" cy="646331"/>
          </a:xfrm>
          <a:prstGeom prst="rect">
            <a:avLst/>
          </a:prstGeom>
          <a:noFill/>
        </p:spPr>
        <p:txBody>
          <a:bodyPr wrap="square" rtlCol="0">
            <a:spAutoFit/>
          </a:bodyPr>
          <a:lstStyle/>
          <a:p>
            <a:r>
              <a:rPr lang="en-US" altLang="zh-CN" dirty="0">
                <a:latin typeface="+mn-lt"/>
              </a:rPr>
              <a:t>Please refer to table</a:t>
            </a:r>
            <a:r>
              <a:rPr lang="zh-CN" altLang="en-US" dirty="0">
                <a:latin typeface="+mn-lt"/>
              </a:rPr>
              <a:t> </a:t>
            </a:r>
            <a:r>
              <a:rPr lang="en-US" altLang="zh-CN" dirty="0">
                <a:latin typeface="+mn-lt"/>
              </a:rPr>
              <a:t>7-1 and figure 7-6 in text book.</a:t>
            </a:r>
            <a:endParaRPr lang="en-US" dirty="0">
              <a:latin typeface="+mn-lt"/>
            </a:endParaRPr>
          </a:p>
        </p:txBody>
      </p:sp>
      <p:cxnSp>
        <p:nvCxnSpPr>
          <p:cNvPr id="74" name="Straight Arrow Connector 73"/>
          <p:cNvCxnSpPr/>
          <p:nvPr/>
        </p:nvCxnSpPr>
        <p:spPr>
          <a:xfrm>
            <a:off x="4291642" y="4055390"/>
            <a:ext cx="0" cy="57606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279767" y="4067265"/>
            <a:ext cx="4425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4734150" y="3899499"/>
            <a:ext cx="561372" cy="369332"/>
          </a:xfrm>
          <a:prstGeom prst="rect">
            <a:avLst/>
          </a:prstGeom>
          <a:noFill/>
        </p:spPr>
        <p:txBody>
          <a:bodyPr wrap="none" rtlCol="0">
            <a:spAutoFit/>
          </a:bodyPr>
          <a:lstStyle/>
          <a:p>
            <a:r>
              <a:rPr lang="en-US" dirty="0">
                <a:latin typeface="+mn-lt"/>
              </a:rPr>
              <a:t>1/4</a:t>
            </a:r>
          </a:p>
        </p:txBody>
      </p:sp>
      <p:sp>
        <p:nvSpPr>
          <p:cNvPr id="79" name="TextBox 78"/>
          <p:cNvSpPr txBox="1"/>
          <p:nvPr/>
        </p:nvSpPr>
        <p:spPr>
          <a:xfrm>
            <a:off x="4038173" y="4524792"/>
            <a:ext cx="3270131" cy="584775"/>
          </a:xfrm>
          <a:prstGeom prst="rect">
            <a:avLst/>
          </a:prstGeom>
          <a:noFill/>
        </p:spPr>
        <p:txBody>
          <a:bodyPr wrap="square" rtlCol="0">
            <a:spAutoFit/>
          </a:bodyPr>
          <a:lstStyle/>
          <a:p>
            <a:r>
              <a:rPr lang="en-US" altLang="zh-CN" sz="1600" dirty="0">
                <a:latin typeface="+mn-lt"/>
              </a:rPr>
              <a:t>Parallel to projection plane</a:t>
            </a:r>
            <a:r>
              <a:rPr lang="zh-CN" altLang="en-US" sz="1600" dirty="0">
                <a:latin typeface="+mn-lt"/>
              </a:rPr>
              <a:t> </a:t>
            </a:r>
            <a:r>
              <a:rPr lang="en-US" altLang="zh-CN" sz="1600" dirty="0">
                <a:latin typeface="+mn-lt"/>
              </a:rPr>
              <a:t>with a distance of 1/4</a:t>
            </a:r>
            <a:r>
              <a:rPr lang="zh-CN" altLang="en-US" sz="1600" dirty="0">
                <a:latin typeface="+mn-lt"/>
              </a:rPr>
              <a:t> </a:t>
            </a:r>
            <a:r>
              <a:rPr lang="en-US" altLang="zh-CN" sz="1600" dirty="0">
                <a:latin typeface="+mn-lt"/>
              </a:rPr>
              <a:t>unit</a:t>
            </a:r>
            <a:endParaRPr lang="en-US" sz="1600" dirty="0">
              <a:latin typeface="+mn-lt"/>
            </a:endParaRPr>
          </a:p>
        </p:txBody>
      </p:sp>
      <p:sp>
        <p:nvSpPr>
          <p:cNvPr id="100" name="TextBox 99"/>
          <p:cNvSpPr txBox="1"/>
          <p:nvPr/>
        </p:nvSpPr>
        <p:spPr>
          <a:xfrm>
            <a:off x="850174" y="2420594"/>
            <a:ext cx="319318" cy="369332"/>
          </a:xfrm>
          <a:prstGeom prst="rect">
            <a:avLst/>
          </a:prstGeom>
          <a:noFill/>
        </p:spPr>
        <p:txBody>
          <a:bodyPr wrap="none" rtlCol="0">
            <a:spAutoFit/>
          </a:bodyPr>
          <a:lstStyle/>
          <a:p>
            <a:r>
              <a:rPr lang="en-US" altLang="zh-CN" b="0" dirty="0">
                <a:latin typeface="+mn-lt"/>
              </a:rPr>
              <a:t>+</a:t>
            </a:r>
            <a:endParaRPr lang="en-US" b="0" dirty="0">
              <a:latin typeface="+mn-lt"/>
            </a:endParaRPr>
          </a:p>
        </p:txBody>
      </p:sp>
      <p:sp>
        <p:nvSpPr>
          <p:cNvPr id="101" name="TextBox 100"/>
          <p:cNvSpPr txBox="1"/>
          <p:nvPr/>
        </p:nvSpPr>
        <p:spPr>
          <a:xfrm>
            <a:off x="1347625" y="2422148"/>
            <a:ext cx="319318" cy="369332"/>
          </a:xfrm>
          <a:prstGeom prst="rect">
            <a:avLst/>
          </a:prstGeom>
          <a:noFill/>
        </p:spPr>
        <p:txBody>
          <a:bodyPr wrap="none" rtlCol="0">
            <a:spAutoFit/>
          </a:bodyPr>
          <a:lstStyle/>
          <a:p>
            <a:r>
              <a:rPr lang="en-US" altLang="zh-CN" b="0" dirty="0">
                <a:latin typeface="+mn-lt"/>
              </a:rPr>
              <a:t>+</a:t>
            </a:r>
            <a:endParaRPr lang="en-US" b="0" dirty="0">
              <a:latin typeface="+mn-lt"/>
            </a:endParaRPr>
          </a:p>
        </p:txBody>
      </p:sp>
      <p:sp>
        <p:nvSpPr>
          <p:cNvPr id="102" name="TextBox 101"/>
          <p:cNvSpPr txBox="1"/>
          <p:nvPr/>
        </p:nvSpPr>
        <p:spPr>
          <a:xfrm>
            <a:off x="3316578" y="2413638"/>
            <a:ext cx="319318" cy="369332"/>
          </a:xfrm>
          <a:prstGeom prst="rect">
            <a:avLst/>
          </a:prstGeom>
          <a:noFill/>
        </p:spPr>
        <p:txBody>
          <a:bodyPr wrap="none" rtlCol="0">
            <a:spAutoFit/>
          </a:bodyPr>
          <a:lstStyle/>
          <a:p>
            <a:r>
              <a:rPr lang="en-US" altLang="zh-CN" b="0" dirty="0">
                <a:latin typeface="+mn-lt"/>
              </a:rPr>
              <a:t>+</a:t>
            </a:r>
            <a:endParaRPr lang="en-US" b="0" dirty="0">
              <a:latin typeface="+mn-lt"/>
            </a:endParaRPr>
          </a:p>
        </p:txBody>
      </p:sp>
      <p:cxnSp>
        <p:nvCxnSpPr>
          <p:cNvPr id="51" name="Straight Arrow Connector 50"/>
          <p:cNvCxnSpPr/>
          <p:nvPr/>
        </p:nvCxnSpPr>
        <p:spPr>
          <a:xfrm flipV="1">
            <a:off x="4421752" y="2623440"/>
            <a:ext cx="636056" cy="745"/>
          </a:xfrm>
          <a:prstGeom prst="straightConnector1">
            <a:avLst/>
          </a:prstGeom>
          <a:ln w="38100">
            <a:solidFill>
              <a:schemeClr val="accent3">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nvGrpSpPr>
          <p:cNvPr id="52" name="Group 51"/>
          <p:cNvGrpSpPr/>
          <p:nvPr/>
        </p:nvGrpSpPr>
        <p:grpSpPr>
          <a:xfrm>
            <a:off x="179512" y="6658727"/>
            <a:ext cx="792088" cy="298665"/>
            <a:chOff x="374270" y="5589240"/>
            <a:chExt cx="792088" cy="298665"/>
          </a:xfrm>
        </p:grpSpPr>
        <p:cxnSp>
          <p:nvCxnSpPr>
            <p:cNvPr id="53" name="Straight Arrow Connector 52"/>
            <p:cNvCxnSpPr/>
            <p:nvPr/>
          </p:nvCxnSpPr>
          <p:spPr>
            <a:xfrm>
              <a:off x="395536" y="5589240"/>
              <a:ext cx="720080" cy="0"/>
            </a:xfrm>
            <a:prstGeom prst="straightConnector1">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374270" y="5599873"/>
              <a:ext cx="7920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6" name="Straight Arrow Connector 55"/>
          <p:cNvCxnSpPr/>
          <p:nvPr/>
        </p:nvCxnSpPr>
        <p:spPr>
          <a:xfrm flipV="1">
            <a:off x="6138284" y="1383429"/>
            <a:ext cx="0" cy="4648588"/>
          </a:xfrm>
          <a:prstGeom prst="straightConnector1">
            <a:avLst/>
          </a:prstGeom>
          <a:ln w="38100">
            <a:solidFill>
              <a:srgbClr val="FF3399"/>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371638" y="1808077"/>
            <a:ext cx="0" cy="4864299"/>
          </a:xfrm>
          <a:prstGeom prst="straightConnector1">
            <a:avLst/>
          </a:prstGeom>
          <a:ln w="38100">
            <a:solidFill>
              <a:schemeClr val="accent3">
                <a:lumMod val="60000"/>
                <a:lumOff val="4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155575" y="454990"/>
            <a:ext cx="554351" cy="554351"/>
          </a:xfrm>
          <a:prstGeom prst="ellipse">
            <a:avLst/>
          </a:prstGeom>
          <a:noFill/>
          <a:ln>
            <a:solidFill>
              <a:srgbClr val="3333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urved Right Arrow 7"/>
          <p:cNvSpPr/>
          <p:nvPr/>
        </p:nvSpPr>
        <p:spPr>
          <a:xfrm>
            <a:off x="3692749" y="783264"/>
            <a:ext cx="302241" cy="821250"/>
          </a:xfrm>
          <a:prstGeom prst="curvedRightArrow">
            <a:avLst/>
          </a:prstGeom>
          <a:solidFill>
            <a:srgbClr val="FF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Curved Right Arrow 58"/>
          <p:cNvSpPr/>
          <p:nvPr/>
        </p:nvSpPr>
        <p:spPr>
          <a:xfrm>
            <a:off x="3439830" y="783264"/>
            <a:ext cx="302241" cy="1744926"/>
          </a:xfrm>
          <a:prstGeom prst="curvedRightArrow">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TextBox 12"/>
          <p:cNvSpPr txBox="1"/>
          <p:nvPr/>
        </p:nvSpPr>
        <p:spPr>
          <a:xfrm>
            <a:off x="4427984" y="4199406"/>
            <a:ext cx="1026243" cy="369332"/>
          </a:xfrm>
          <a:prstGeom prst="rect">
            <a:avLst/>
          </a:prstGeom>
          <a:noFill/>
        </p:spPr>
        <p:txBody>
          <a:bodyPr wrap="none" rtlCol="0">
            <a:spAutoFit/>
          </a:bodyPr>
          <a:lstStyle/>
          <a:p>
            <a:r>
              <a:rPr lang="en-US" altLang="zh-CN" b="0" dirty="0">
                <a:latin typeface="+mn-lt"/>
              </a:rPr>
              <a:t>axial slip</a:t>
            </a:r>
            <a:endParaRPr lang="zh-CN" altLang="en-US" dirty="0">
              <a:latin typeface="+mn-lt"/>
            </a:endParaRPr>
          </a:p>
        </p:txBody>
      </p:sp>
      <p:sp>
        <p:nvSpPr>
          <p:cNvPr id="61" name="TextBox 60"/>
          <p:cNvSpPr txBox="1"/>
          <p:nvPr/>
        </p:nvSpPr>
        <p:spPr>
          <a:xfrm>
            <a:off x="-108520" y="19906"/>
            <a:ext cx="8928991" cy="369332"/>
          </a:xfrm>
          <a:prstGeom prst="rect">
            <a:avLst/>
          </a:prstGeom>
          <a:noFill/>
        </p:spPr>
        <p:txBody>
          <a:bodyPr wrap="square" rtlCol="0">
            <a:spAutoFit/>
          </a:bodyPr>
          <a:lstStyle/>
          <a:p>
            <a:pPr algn="ctr"/>
            <a:r>
              <a:rPr lang="en-US" altLang="zh-CN" dirty="0">
                <a:latin typeface="+mn-lt"/>
              </a:rPr>
              <a:t>Equivalent points are created by symmetry operations with the same color </a:t>
            </a:r>
            <a:endParaRPr lang="en-US" dirty="0">
              <a:latin typeface="+mn-lt"/>
            </a:endParaRPr>
          </a:p>
        </p:txBody>
      </p:sp>
      <p:sp>
        <p:nvSpPr>
          <p:cNvPr id="64" name="TextBox 63"/>
          <p:cNvSpPr txBox="1"/>
          <p:nvPr/>
        </p:nvSpPr>
        <p:spPr>
          <a:xfrm>
            <a:off x="4529664" y="1396357"/>
            <a:ext cx="319318" cy="369332"/>
          </a:xfrm>
          <a:prstGeom prst="rect">
            <a:avLst/>
          </a:prstGeom>
          <a:noFill/>
        </p:spPr>
        <p:txBody>
          <a:bodyPr wrap="none" rtlCol="0">
            <a:spAutoFit/>
          </a:bodyPr>
          <a:lstStyle/>
          <a:p>
            <a:r>
              <a:rPr lang="en-US" altLang="zh-CN" b="0" dirty="0">
                <a:latin typeface="+mn-lt"/>
              </a:rPr>
              <a:t>+</a:t>
            </a:r>
            <a:endParaRPr lang="en-US" b="0" dirty="0">
              <a:latin typeface="+mn-lt"/>
            </a:endParaRPr>
          </a:p>
        </p:txBody>
      </p:sp>
      <p:pic>
        <p:nvPicPr>
          <p:cNvPr id="67"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73833" y="1716766"/>
            <a:ext cx="333375" cy="200025"/>
          </a:xfrm>
          <a:prstGeom prst="rect">
            <a:avLst/>
          </a:prstGeom>
          <a:noFill/>
          <a:ln w="9525">
            <a:solidFill>
              <a:srgbClr val="FF3399"/>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spd="med">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0825" y="156126"/>
            <a:ext cx="4752528" cy="584775"/>
          </a:xfrm>
          <a:prstGeom prst="rect">
            <a:avLst/>
          </a:prstGeom>
          <a:noFill/>
        </p:spPr>
        <p:txBody>
          <a:bodyPr wrap="square" rtlCol="0">
            <a:spAutoFit/>
          </a:bodyPr>
          <a:lstStyle/>
          <a:p>
            <a:r>
              <a:rPr lang="en-US" altLang="zh-CN" sz="3200" dirty="0">
                <a:latin typeface="+mn-lt"/>
                <a:ea typeface="黑体" panose="02010609060101010101" pitchFamily="49" charset="-122"/>
              </a:rPr>
              <a:t>2. Wyckoff </a:t>
            </a:r>
            <a:r>
              <a:rPr lang="en-US" altLang="zh-CN" sz="3200" dirty="0">
                <a:latin typeface="+mn-lt"/>
              </a:rPr>
              <a:t>position</a:t>
            </a:r>
            <a:endParaRPr lang="zh-CN" altLang="en-US" sz="3200" dirty="0">
              <a:latin typeface="+mn-lt"/>
            </a:endParaRPr>
          </a:p>
        </p:txBody>
      </p:sp>
      <p:sp>
        <p:nvSpPr>
          <p:cNvPr id="2" name="Rectangle 1"/>
          <p:cNvSpPr/>
          <p:nvPr/>
        </p:nvSpPr>
        <p:spPr>
          <a:xfrm>
            <a:off x="443556" y="980728"/>
            <a:ext cx="8160891" cy="4401205"/>
          </a:xfrm>
          <a:prstGeom prst="rect">
            <a:avLst/>
          </a:prstGeom>
        </p:spPr>
        <p:txBody>
          <a:bodyPr wrap="square">
            <a:spAutoFit/>
          </a:bodyPr>
          <a:lstStyle/>
          <a:p>
            <a:r>
              <a:rPr lang="en-US" sz="2800" dirty="0">
                <a:latin typeface="+mn-lt"/>
              </a:rPr>
              <a:t>(1) Wyckoff position: </a:t>
            </a:r>
            <a:r>
              <a:rPr lang="en-US" sz="2800" b="0" dirty="0">
                <a:latin typeface="+mn-lt"/>
              </a:rPr>
              <a:t>equivalent point system, one of the most useful information, is expressed as Wyckoff position in the table of international space group. </a:t>
            </a:r>
          </a:p>
          <a:p>
            <a:pPr marL="285750" indent="-285750">
              <a:buFont typeface="Arial" panose="020B0604020202020204" pitchFamily="34" charset="0"/>
              <a:buChar char="•"/>
            </a:pPr>
            <a:endParaRPr lang="en-US" sz="2800" b="0" dirty="0">
              <a:latin typeface="+mn-lt"/>
            </a:endParaRPr>
          </a:p>
          <a:p>
            <a:pPr marL="285750" indent="-285750">
              <a:buFont typeface="Arial" panose="020B0604020202020204" pitchFamily="34" charset="0"/>
              <a:buChar char="•"/>
            </a:pPr>
            <a:r>
              <a:rPr lang="en-US" sz="2800" b="0" dirty="0">
                <a:latin typeface="+mn-lt"/>
              </a:rPr>
              <a:t>Wyckoff position can tell us where one can find atoms in crystals. </a:t>
            </a:r>
          </a:p>
          <a:p>
            <a:pPr marL="285750" indent="-285750">
              <a:buFont typeface="Arial" panose="020B0604020202020204" pitchFamily="34" charset="0"/>
              <a:buChar char="•"/>
            </a:pPr>
            <a:endParaRPr lang="en-US" sz="2800" b="0" dirty="0">
              <a:latin typeface="+mn-lt"/>
            </a:endParaRPr>
          </a:p>
          <a:p>
            <a:pPr marL="285750" indent="-285750">
              <a:buFont typeface="Arial" panose="020B0604020202020204" pitchFamily="34" charset="0"/>
              <a:buChar char="•"/>
            </a:pPr>
            <a:r>
              <a:rPr lang="en-US" sz="2800" b="0" dirty="0">
                <a:latin typeface="+mn-lt"/>
              </a:rPr>
              <a:t>A space group has one set of </a:t>
            </a:r>
            <a:r>
              <a:rPr lang="en-US" altLang="zh-CN" sz="2800" b="0" dirty="0">
                <a:latin typeface="+mn-lt"/>
              </a:rPr>
              <a:t>points with </a:t>
            </a:r>
            <a:r>
              <a:rPr lang="en-US" sz="2800" b="0" dirty="0">
                <a:latin typeface="+mn-lt"/>
              </a:rPr>
              <a:t>general positions and </a:t>
            </a:r>
            <a:r>
              <a:rPr lang="en-US" altLang="zh-CN" sz="2800" b="0" dirty="0">
                <a:latin typeface="+mn-lt"/>
              </a:rPr>
              <a:t>several </a:t>
            </a:r>
            <a:r>
              <a:rPr lang="en-US" sz="2800" b="0" dirty="0">
                <a:latin typeface="+mn-lt"/>
              </a:rPr>
              <a:t>sets of points with special </a:t>
            </a:r>
            <a:r>
              <a:rPr lang="en-US" altLang="zh-CN" sz="2800" b="0" dirty="0">
                <a:latin typeface="+mn-lt"/>
              </a:rPr>
              <a:t>positions.</a:t>
            </a:r>
            <a:endParaRPr lang="en-US" sz="2800" b="0" dirty="0">
              <a:latin typeface="+mn-lt"/>
            </a:endParaRPr>
          </a:p>
        </p:txBody>
      </p:sp>
    </p:spTree>
  </p:cSld>
  <p:clrMapOvr>
    <a:masterClrMapping/>
  </p:clrMapOvr>
  <p:transition spd="med">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idx="1"/>
          </p:nvPr>
        </p:nvSpPr>
        <p:spPr bwMode="auto">
          <a:xfrm>
            <a:off x="135706" y="1042819"/>
            <a:ext cx="8540750" cy="230415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r>
              <a:rPr lang="en-US" altLang="zh-CN" sz="2000" b="1" dirty="0">
                <a:ea typeface="宋体" panose="02010600030101010101" pitchFamily="2" charset="-122"/>
              </a:rPr>
              <a:t>Multiplicity(</a:t>
            </a:r>
            <a:r>
              <a:rPr lang="zh-CN" altLang="en-US" sz="2000" b="1" dirty="0">
                <a:ea typeface="宋体" panose="02010600030101010101" pitchFamily="2" charset="-122"/>
              </a:rPr>
              <a:t>多重性）</a:t>
            </a:r>
            <a:r>
              <a:rPr lang="en-US" altLang="zh-CN" sz="2000" b="1" dirty="0">
                <a:ea typeface="宋体" panose="02010600030101010101" pitchFamily="2" charset="-122"/>
              </a:rPr>
              <a:t>: </a:t>
            </a:r>
            <a:r>
              <a:rPr lang="en-US" altLang="zh-CN" sz="2000" dirty="0"/>
              <a:t>Tells us how many atoms will be generated if all the symmetrical operations of one space group are performed on a position, if a particular atom is placed in that position.</a:t>
            </a:r>
          </a:p>
          <a:p>
            <a:r>
              <a:rPr lang="en-US" altLang="zh-CN" sz="2000" b="1" dirty="0">
                <a:ea typeface="宋体" panose="02010600030101010101" pitchFamily="2" charset="-122"/>
              </a:rPr>
              <a:t>Letter</a:t>
            </a:r>
            <a:r>
              <a:rPr lang="zh-CN" altLang="en-US" sz="2000" b="1" dirty="0">
                <a:ea typeface="宋体" panose="02010600030101010101" pitchFamily="2" charset="-122"/>
              </a:rPr>
              <a:t>（记号）</a:t>
            </a:r>
            <a:r>
              <a:rPr lang="en-US" altLang="zh-CN" sz="2000" b="1" dirty="0">
                <a:ea typeface="宋体" panose="02010600030101010101" pitchFamily="2" charset="-122"/>
              </a:rPr>
              <a:t>: </a:t>
            </a:r>
            <a:r>
              <a:rPr lang="en-US" altLang="zh-CN" sz="2000" dirty="0"/>
              <a:t>Marking from high symmetry position in alphabetical order </a:t>
            </a:r>
            <a:r>
              <a:rPr lang="zh-CN" altLang="en-US" sz="2000" dirty="0"/>
              <a:t>（按字母顺序）</a:t>
            </a:r>
            <a:r>
              <a:rPr lang="en-US" altLang="zh-CN" sz="2000" dirty="0"/>
              <a:t> of a, b, …</a:t>
            </a:r>
          </a:p>
          <a:p>
            <a:r>
              <a:rPr lang="en-US" altLang="zh-CN" sz="2000" b="1" dirty="0">
                <a:ea typeface="宋体" panose="02010600030101010101" pitchFamily="2" charset="-122"/>
              </a:rPr>
              <a:t>Symmetry</a:t>
            </a:r>
            <a:r>
              <a:rPr lang="zh-CN" altLang="en-US" sz="2000" b="1" dirty="0">
                <a:ea typeface="宋体" panose="02010600030101010101" pitchFamily="2" charset="-122"/>
              </a:rPr>
              <a:t>（对称）</a:t>
            </a:r>
            <a:r>
              <a:rPr lang="en-US" altLang="zh-CN" sz="2000" b="1" dirty="0">
                <a:ea typeface="宋体" panose="02010600030101010101" pitchFamily="2" charset="-122"/>
              </a:rPr>
              <a:t>: </a:t>
            </a:r>
            <a:r>
              <a:rPr lang="en-US" altLang="zh-CN" sz="2000" dirty="0">
                <a:ea typeface="宋体" panose="02010600030101010101" pitchFamily="2" charset="-122"/>
              </a:rPr>
              <a:t>tell us symmetry elements in the position of atoms.</a:t>
            </a:r>
            <a:endParaRPr lang="zh-CN" altLang="en-US" sz="2000" dirty="0">
              <a:ea typeface="宋体" panose="02010600030101010101" pitchFamily="2" charset="-122"/>
            </a:endParaRPr>
          </a:p>
        </p:txBody>
      </p:sp>
      <p:sp>
        <p:nvSpPr>
          <p:cNvPr id="2" name="TextBox 1"/>
          <p:cNvSpPr txBox="1"/>
          <p:nvPr/>
        </p:nvSpPr>
        <p:spPr>
          <a:xfrm>
            <a:off x="467544" y="458044"/>
            <a:ext cx="6768752" cy="584775"/>
          </a:xfrm>
          <a:prstGeom prst="rect">
            <a:avLst/>
          </a:prstGeom>
          <a:noFill/>
        </p:spPr>
        <p:txBody>
          <a:bodyPr wrap="square" rtlCol="0">
            <a:spAutoFit/>
          </a:bodyPr>
          <a:lstStyle/>
          <a:p>
            <a:r>
              <a:rPr lang="en-US" altLang="zh-CN" sz="3200" dirty="0">
                <a:latin typeface="+mn-lt"/>
              </a:rPr>
              <a:t>(2) Explanation of Wyckoff position</a:t>
            </a:r>
            <a:endParaRPr lang="zh-CN" altLang="en-US" sz="3200" dirty="0">
              <a:latin typeface="+mn-lt"/>
            </a:endParaRPr>
          </a:p>
        </p:txBody>
      </p:sp>
      <p:graphicFrame>
        <p:nvGraphicFramePr>
          <p:cNvPr id="4" name="Group 3"/>
          <p:cNvGraphicFramePr/>
          <p:nvPr/>
        </p:nvGraphicFramePr>
        <p:xfrm>
          <a:off x="305916" y="3738587"/>
          <a:ext cx="8514556" cy="2498725"/>
        </p:xfrm>
        <a:graphic>
          <a:graphicData uri="http://schemas.openxmlformats.org/drawingml/2006/table">
            <a:tbl>
              <a:tblPr/>
              <a:tblGrid>
                <a:gridCol w="1944911">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2609205">
                  <a:extLst>
                    <a:ext uri="{9D8B030D-6E8A-4147-A177-3AD203B41FA5}">
                      <a16:colId xmlns:a16="http://schemas.microsoft.com/office/drawing/2014/main" val="20003"/>
                    </a:ext>
                  </a:extLst>
                </a:gridCol>
              </a:tblGrid>
              <a:tr h="654050">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Multiplicity</a:t>
                      </a:r>
                      <a:endParaRPr kumimoji="0" lang="zh-CN" altLang="en-US" sz="2000" b="0" i="0" u="none" strike="noStrike" cap="none" normalizeH="0" baseline="0" dirty="0">
                        <a:ln>
                          <a:noFill/>
                        </a:ln>
                        <a:solidFill>
                          <a:srgbClr val="000000"/>
                        </a:solidFill>
                        <a:effectLst/>
                        <a:latin typeface="+mn-lt"/>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Wyckoff</a:t>
                      </a:r>
                      <a:r>
                        <a:rPr kumimoji="0" lang="zh-CN" altLang="en-US" sz="2000" b="0" i="0" u="none" strike="noStrike" cap="none" normalizeH="0" baseline="0" dirty="0">
                          <a:ln>
                            <a:noFill/>
                          </a:ln>
                          <a:solidFill>
                            <a:srgbClr val="000000"/>
                          </a:solidFill>
                          <a:effectLst/>
                          <a:latin typeface="+mn-lt"/>
                          <a:ea typeface="宋体" panose="02010600030101010101" pitchFamily="2" charset="-122"/>
                        </a:rPr>
                        <a:t> </a:t>
                      </a:r>
                      <a:r>
                        <a:rPr kumimoji="0" lang="en-US" altLang="zh-CN" sz="2000" b="0" i="0" u="none" strike="noStrike" cap="none" normalizeH="0" baseline="0" dirty="0">
                          <a:ln>
                            <a:noFill/>
                          </a:ln>
                          <a:solidFill>
                            <a:srgbClr val="000000"/>
                          </a:solidFill>
                          <a:effectLst/>
                          <a:latin typeface="+mn-lt"/>
                          <a:ea typeface="宋体" panose="02010600030101010101" pitchFamily="2" charset="-122"/>
                        </a:rPr>
                        <a:t>letter</a:t>
                      </a:r>
                      <a:endParaRPr kumimoji="0" lang="zh-CN" altLang="en-US" sz="2000" b="0" i="0" u="none" strike="noStrike" cap="none" normalizeH="0" baseline="0" dirty="0">
                        <a:ln>
                          <a:noFill/>
                        </a:ln>
                        <a:solidFill>
                          <a:srgbClr val="000000"/>
                        </a:solidFill>
                        <a:effectLst/>
                        <a:latin typeface="+mn-lt"/>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Point symmetry</a:t>
                      </a:r>
                      <a:endParaRPr kumimoji="0" lang="zh-CN" altLang="en-US" sz="2000" b="0" i="0" u="none" strike="noStrike" cap="none" normalizeH="0" baseline="0" dirty="0">
                        <a:ln>
                          <a:noFill/>
                        </a:ln>
                        <a:solidFill>
                          <a:srgbClr val="000000"/>
                        </a:solidFill>
                        <a:effectLst/>
                        <a:latin typeface="+mn-lt"/>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Coordinate</a:t>
                      </a:r>
                      <a:endParaRPr kumimoji="0" lang="zh-CN" altLang="en-US" sz="2000" b="0" i="0" u="none" strike="noStrike" cap="none" normalizeH="0" baseline="0" dirty="0">
                        <a:ln>
                          <a:noFill/>
                        </a:ln>
                        <a:solidFill>
                          <a:srgbClr val="000000"/>
                        </a:solidFill>
                        <a:effectLst/>
                        <a:latin typeface="+mn-lt"/>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7250">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a:ln>
                            <a:noFill/>
                          </a:ln>
                          <a:solidFill>
                            <a:srgbClr val="000000"/>
                          </a:solidFill>
                          <a:effectLst/>
                          <a:latin typeface="+mn-lt"/>
                          <a:ea typeface="宋体" panose="02010600030101010101" pitchFamily="2" charset="-122"/>
                        </a:rPr>
                        <a:t>2</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c</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533400" indent="-5334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914400" indent="-45720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295400" indent="-3810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714500" indent="-3429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171700" indent="-3429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628900" indent="-3429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086100" indent="-3429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543300" indent="-3429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000500" indent="-3429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533400" marR="0" lvl="0" indent="-533400" algn="ctr" defTabSz="914400" rtl="0" eaLnBrk="1" fontAlgn="base" latinLnBrk="0" hangingPunct="1">
                        <a:lnSpc>
                          <a:spcPct val="100000"/>
                        </a:lnSpc>
                        <a:spcBef>
                          <a:spcPct val="0"/>
                        </a:spcBef>
                        <a:spcAft>
                          <a:spcPct val="0"/>
                        </a:spcAft>
                        <a:buClrTx/>
                        <a:buSzTx/>
                        <a:buFontTx/>
                        <a:buAutoNum type="arabicParenBoth"/>
                      </a:pPr>
                      <a:r>
                        <a:rPr kumimoji="0" lang="en-US" altLang="zh-CN" sz="2000" b="0" i="0" u="none" strike="noStrike" cap="none" normalizeH="0" baseline="0">
                          <a:ln>
                            <a:noFill/>
                          </a:ln>
                          <a:solidFill>
                            <a:schemeClr val="tx1"/>
                          </a:solidFill>
                          <a:effectLst/>
                          <a:latin typeface="+mn-lt"/>
                          <a:ea typeface="宋体" panose="02010600030101010101" pitchFamily="2" charset="-122"/>
                        </a:rPr>
                        <a:t> </a:t>
                      </a:r>
                      <a:r>
                        <a:rPr kumimoji="0" lang="en-US" altLang="zh-CN" sz="2000" b="0" i="0" u="none" strike="noStrike" cap="none" normalizeH="0" baseline="0">
                          <a:ln>
                            <a:noFill/>
                          </a:ln>
                          <a:solidFill>
                            <a:srgbClr val="000000"/>
                          </a:solidFill>
                          <a:effectLst/>
                          <a:latin typeface="+mn-lt"/>
                          <a:ea typeface="宋体" panose="02010600030101010101" pitchFamily="2" charset="-122"/>
                        </a:rPr>
                        <a:t>x</a:t>
                      </a:r>
                      <a:r>
                        <a:rPr kumimoji="0" lang="zh-CN" altLang="en-US" sz="2000" b="0" i="0" u="none" strike="noStrike" cap="none" normalizeH="0" baseline="0">
                          <a:ln>
                            <a:noFill/>
                          </a:ln>
                          <a:solidFill>
                            <a:srgbClr val="000000"/>
                          </a:solidFill>
                          <a:effectLst/>
                          <a:latin typeface="+mn-lt"/>
                          <a:ea typeface="宋体" panose="02010600030101010101" pitchFamily="2" charset="-122"/>
                        </a:rPr>
                        <a:t>， </a:t>
                      </a:r>
                      <a:r>
                        <a:rPr kumimoji="0" lang="en-US" altLang="zh-CN" sz="2000" b="0" i="0" u="none" strike="noStrike" cap="none" normalizeH="0" baseline="0">
                          <a:ln>
                            <a:noFill/>
                          </a:ln>
                          <a:solidFill>
                            <a:srgbClr val="000000"/>
                          </a:solidFill>
                          <a:effectLst/>
                          <a:latin typeface="+mn-lt"/>
                          <a:ea typeface="宋体" panose="02010600030101010101" pitchFamily="2" charset="-122"/>
                        </a:rPr>
                        <a:t>y</a:t>
                      </a:r>
                      <a:r>
                        <a:rPr kumimoji="0" lang="zh-CN" altLang="en-US" sz="2000" b="0" i="0" u="none" strike="noStrike" cap="none" normalizeH="0" baseline="0">
                          <a:ln>
                            <a:noFill/>
                          </a:ln>
                          <a:solidFill>
                            <a:srgbClr val="000000"/>
                          </a:solidFill>
                          <a:effectLst/>
                          <a:latin typeface="+mn-lt"/>
                          <a:ea typeface="宋体" panose="02010600030101010101" pitchFamily="2" charset="-122"/>
                        </a:rPr>
                        <a:t>， </a:t>
                      </a:r>
                      <a:r>
                        <a:rPr kumimoji="0" lang="en-US" altLang="zh-CN" sz="2000" b="0" i="0" u="none" strike="noStrike" cap="none" normalizeH="0" baseline="0">
                          <a:ln>
                            <a:noFill/>
                          </a:ln>
                          <a:solidFill>
                            <a:srgbClr val="000000"/>
                          </a:solidFill>
                          <a:effectLst/>
                          <a:latin typeface="+mn-lt"/>
                          <a:ea typeface="宋体" panose="02010600030101010101" pitchFamily="2" charset="-122"/>
                        </a:rPr>
                        <a:t>z</a:t>
                      </a:r>
                      <a:endParaRPr kumimoji="0" lang="en-US" altLang="zh-CN" sz="2000" b="0" i="0" u="none" strike="noStrike" cap="none" normalizeH="0" baseline="0">
                        <a:ln>
                          <a:noFill/>
                        </a:ln>
                        <a:solidFill>
                          <a:schemeClr val="tx1"/>
                        </a:solidFill>
                        <a:effectLst/>
                        <a:latin typeface="+mn-lt"/>
                        <a:ea typeface="宋体" panose="02010600030101010101" pitchFamily="2" charset="-122"/>
                      </a:endParaRPr>
                    </a:p>
                    <a:p>
                      <a:pPr marL="533400" marR="0" lvl="0" indent="-5334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a:ln>
                            <a:noFill/>
                          </a:ln>
                          <a:solidFill>
                            <a:srgbClr val="000000"/>
                          </a:solidFill>
                          <a:effectLst/>
                          <a:latin typeface="+mn-lt"/>
                          <a:ea typeface="宋体" panose="02010600030101010101" pitchFamily="2" charset="-122"/>
                        </a:rPr>
                        <a:t> (2) x</a:t>
                      </a:r>
                      <a:r>
                        <a:rPr kumimoji="0" lang="zh-CN" altLang="en-US" sz="2000" b="0" i="0" u="none" strike="noStrike" cap="none" normalizeH="0" baseline="0">
                          <a:ln>
                            <a:noFill/>
                          </a:ln>
                          <a:solidFill>
                            <a:srgbClr val="000000"/>
                          </a:solidFill>
                          <a:effectLst/>
                          <a:latin typeface="+mn-lt"/>
                          <a:ea typeface="宋体" panose="02010600030101010101" pitchFamily="2" charset="-122"/>
                        </a:rPr>
                        <a:t>， </a:t>
                      </a:r>
                      <a:r>
                        <a:rPr kumimoji="0" lang="en-US" altLang="zh-CN" sz="2000" b="0" i="0" u="none" strike="noStrike" cap="none" normalizeH="0" baseline="0">
                          <a:ln>
                            <a:noFill/>
                          </a:ln>
                          <a:solidFill>
                            <a:srgbClr val="000000"/>
                          </a:solidFill>
                          <a:effectLst/>
                          <a:latin typeface="+mn-lt"/>
                          <a:ea typeface="宋体" panose="02010600030101010101" pitchFamily="2" charset="-122"/>
                        </a:rPr>
                        <a:t>- y</a:t>
                      </a:r>
                      <a:r>
                        <a:rPr kumimoji="0" lang="zh-CN" altLang="en-US" sz="2000" b="0" i="0" u="none" strike="noStrike" cap="none" normalizeH="0" baseline="0">
                          <a:ln>
                            <a:noFill/>
                          </a:ln>
                          <a:solidFill>
                            <a:srgbClr val="000000"/>
                          </a:solidFill>
                          <a:effectLst/>
                          <a:latin typeface="+mn-lt"/>
                          <a:ea typeface="宋体" panose="02010600030101010101" pitchFamily="2" charset="-122"/>
                        </a:rPr>
                        <a:t>， </a:t>
                      </a:r>
                      <a:r>
                        <a:rPr kumimoji="0" lang="en-US" altLang="zh-CN" sz="2000" b="0" i="0" u="none" strike="noStrike" cap="none" normalizeH="0" baseline="0">
                          <a:ln>
                            <a:noFill/>
                          </a:ln>
                          <a:solidFill>
                            <a:srgbClr val="000000"/>
                          </a:solidFill>
                          <a:effectLst/>
                          <a:latin typeface="+mn-lt"/>
                          <a:ea typeface="宋体" panose="02010600030101010101" pitchFamily="2" charset="-122"/>
                        </a:rPr>
                        <a:t>z</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a:ln>
                            <a:noFill/>
                          </a:ln>
                          <a:solidFill>
                            <a:srgbClr val="000000"/>
                          </a:solidFill>
                          <a:effectLst/>
                          <a:latin typeface="+mn-lt"/>
                          <a:ea typeface="宋体" panose="02010600030101010101" pitchFamily="2" charset="-122"/>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a:ln>
                            <a:noFill/>
                          </a:ln>
                          <a:solidFill>
                            <a:srgbClr val="000000"/>
                          </a:solidFill>
                          <a:effectLst/>
                          <a:latin typeface="+mn-lt"/>
                          <a:ea typeface="宋体" panose="02010600030101010101" pitchFamily="2" charset="-122"/>
                        </a:rPr>
                        <a:t>b</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m</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x</a:t>
                      </a:r>
                      <a:r>
                        <a:rPr kumimoji="0" lang="zh-CN" altLang="en-US" sz="2000" b="0" i="0" u="none" strike="noStrike" cap="none" normalizeH="0" baseline="0" dirty="0">
                          <a:ln>
                            <a:noFill/>
                          </a:ln>
                          <a:solidFill>
                            <a:srgbClr val="000000"/>
                          </a:solidFill>
                          <a:effectLst/>
                          <a:latin typeface="+mn-lt"/>
                          <a:ea typeface="宋体" panose="02010600030101010101" pitchFamily="2" charset="-122"/>
                        </a:rPr>
                        <a:t>，</a:t>
                      </a:r>
                      <a:r>
                        <a:rPr kumimoji="0" lang="zh-CN" altLang="en-US" sz="2000" b="0" i="0" u="none" strike="noStrike" cap="none" normalizeH="0" baseline="0" dirty="0">
                          <a:ln>
                            <a:noFill/>
                          </a:ln>
                          <a:solidFill>
                            <a:schemeClr val="tx1"/>
                          </a:solidFill>
                          <a:effectLst/>
                          <a:latin typeface="+mn-lt"/>
                          <a:ea typeface="宋体" panose="02010600030101010101" pitchFamily="2" charset="-122"/>
                        </a:rPr>
                        <a:t> </a:t>
                      </a:r>
                      <a:r>
                        <a:rPr kumimoji="0" lang="en-US" altLang="zh-CN" sz="2000" b="0" i="0" u="none" strike="noStrike" cap="none" normalizeH="0" baseline="0" dirty="0">
                          <a:ln>
                            <a:noFill/>
                          </a:ln>
                          <a:solidFill>
                            <a:srgbClr val="000000"/>
                          </a:solidFill>
                          <a:effectLst/>
                          <a:latin typeface="+mn-lt"/>
                          <a:ea typeface="宋体" panose="02010600030101010101" pitchFamily="2" charset="-122"/>
                        </a:rPr>
                        <a:t>½</a:t>
                      </a:r>
                      <a:r>
                        <a:rPr kumimoji="0" lang="zh-CN" altLang="en-US" sz="2000" b="0" i="0" u="none" strike="noStrike" cap="none" normalizeH="0" baseline="0" dirty="0">
                          <a:ln>
                            <a:noFill/>
                          </a:ln>
                          <a:solidFill>
                            <a:srgbClr val="000000"/>
                          </a:solidFill>
                          <a:effectLst/>
                          <a:latin typeface="+mn-lt"/>
                          <a:ea typeface="宋体" panose="02010600030101010101" pitchFamily="2" charset="-122"/>
                        </a:rPr>
                        <a:t>， </a:t>
                      </a:r>
                      <a:r>
                        <a:rPr kumimoji="0" lang="en-US" altLang="zh-CN" sz="2000" b="0" i="0" u="none" strike="noStrike" cap="none" normalizeH="0" baseline="0" dirty="0">
                          <a:ln>
                            <a:noFill/>
                          </a:ln>
                          <a:solidFill>
                            <a:srgbClr val="000000"/>
                          </a:solidFill>
                          <a:effectLst/>
                          <a:latin typeface="+mn-lt"/>
                          <a:ea typeface="宋体" panose="02010600030101010101" pitchFamily="2" charset="-122"/>
                        </a:rPr>
                        <a:t>z</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4975">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a</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m</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defRPr>
                      </a:lvl1pPr>
                      <a:lvl2pPr marL="742950" indent="-285750" algn="l">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defRPr>
                      </a:lvl2pPr>
                      <a:lvl3pPr marL="1143000" indent="-228600" algn="l">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defRPr>
                      </a:lvl3pPr>
                      <a:lvl4pPr marL="1600200" indent="-228600" algn="l">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defRPr>
                      </a:lvl4pPr>
                      <a:lvl5pPr marL="2057400" indent="-228600" algn="l">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mn-lt"/>
                          <a:ea typeface="宋体" panose="02010600030101010101" pitchFamily="2" charset="-122"/>
                        </a:rPr>
                        <a:t>x</a:t>
                      </a:r>
                      <a:r>
                        <a:rPr kumimoji="0" lang="zh-CN" altLang="en-US" sz="2000" b="0" i="0" u="none" strike="noStrike" cap="none" normalizeH="0" baseline="0" dirty="0">
                          <a:ln>
                            <a:noFill/>
                          </a:ln>
                          <a:solidFill>
                            <a:srgbClr val="000000"/>
                          </a:solidFill>
                          <a:effectLst/>
                          <a:latin typeface="+mn-lt"/>
                          <a:ea typeface="宋体" panose="02010600030101010101" pitchFamily="2" charset="-122"/>
                        </a:rPr>
                        <a:t>， </a:t>
                      </a:r>
                      <a:r>
                        <a:rPr kumimoji="0" lang="en-US" altLang="zh-CN" sz="2000" b="0" i="0" u="none" strike="noStrike" cap="none" normalizeH="0" baseline="0" dirty="0">
                          <a:ln>
                            <a:noFill/>
                          </a:ln>
                          <a:solidFill>
                            <a:srgbClr val="000000"/>
                          </a:solidFill>
                          <a:effectLst/>
                          <a:latin typeface="+mn-lt"/>
                          <a:ea typeface="宋体" panose="02010600030101010101" pitchFamily="2" charset="-122"/>
                        </a:rPr>
                        <a:t>0</a:t>
                      </a:r>
                      <a:r>
                        <a:rPr kumimoji="0" lang="zh-CN" altLang="en-US" sz="2000" b="0" i="0" u="none" strike="noStrike" cap="none" normalizeH="0" baseline="0" dirty="0">
                          <a:ln>
                            <a:noFill/>
                          </a:ln>
                          <a:solidFill>
                            <a:srgbClr val="000000"/>
                          </a:solidFill>
                          <a:effectLst/>
                          <a:latin typeface="+mn-lt"/>
                          <a:ea typeface="宋体" panose="02010600030101010101" pitchFamily="2" charset="-122"/>
                        </a:rPr>
                        <a:t>， </a:t>
                      </a:r>
                      <a:r>
                        <a:rPr kumimoji="0" lang="en-US" altLang="zh-CN" sz="2000" b="0" i="0" u="none" strike="noStrike" cap="none" normalizeH="0" baseline="0" dirty="0">
                          <a:ln>
                            <a:noFill/>
                          </a:ln>
                          <a:solidFill>
                            <a:srgbClr val="000000"/>
                          </a:solidFill>
                          <a:effectLst/>
                          <a:latin typeface="+mn-lt"/>
                          <a:ea typeface="宋体" panose="02010600030101010101" pitchFamily="2" charset="-122"/>
                        </a:rPr>
                        <a:t>z</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TextBox 4"/>
          <p:cNvSpPr txBox="1"/>
          <p:nvPr/>
        </p:nvSpPr>
        <p:spPr>
          <a:xfrm>
            <a:off x="233908" y="3266400"/>
            <a:ext cx="8396288" cy="369332"/>
          </a:xfrm>
          <a:prstGeom prst="rect">
            <a:avLst/>
          </a:prstGeom>
          <a:noFill/>
        </p:spPr>
        <p:txBody>
          <a:bodyPr wrap="square" rtlCol="0">
            <a:spAutoFit/>
          </a:bodyPr>
          <a:lstStyle/>
          <a:p>
            <a:r>
              <a:rPr lang="en-US" altLang="zh-CN" b="0" dirty="0">
                <a:latin typeface="+mn-lt"/>
              </a:rPr>
              <a:t>Example: Wyckoff position of pm ( another example in page 92 in textbook)</a:t>
            </a:r>
            <a:endParaRPr lang="zh-CN" altLang="en-US" b="0" dirty="0">
              <a:latin typeface="+mn-lt"/>
            </a:endParaRPr>
          </a:p>
        </p:txBody>
      </p:sp>
    </p:spTree>
  </p:cSld>
  <p:clrMapOvr>
    <a:masterClrMapping/>
  </p:clrMapOvr>
  <p:transition spd="med">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78" name="Text Box 30"/>
          <p:cNvSpPr txBox="1">
            <a:spLocks noChangeArrowheads="1"/>
          </p:cNvSpPr>
          <p:nvPr/>
        </p:nvSpPr>
        <p:spPr bwMode="auto">
          <a:xfrm>
            <a:off x="539552" y="548680"/>
            <a:ext cx="820891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CN" sz="2400" b="0" dirty="0">
                <a:latin typeface="+mn-lt"/>
              </a:rPr>
              <a:t>For the description of crystal structures, the multiplicity and Wyckoff letter are combined together as the name of an equivalent position. For example, equivalent point positions in PM space group are called as 1a, 1b, 2c et al. In a certain crystal structure, particles can only distribute in the positions of equivalent point.</a:t>
            </a:r>
            <a:endParaRPr lang="zh-CN" altLang="zh-CN" sz="2400" b="0" dirty="0">
              <a:latin typeface="+mn-lt"/>
            </a:endParaRPr>
          </a:p>
        </p:txBody>
      </p:sp>
      <p:grpSp>
        <p:nvGrpSpPr>
          <p:cNvPr id="5" name="Group 4"/>
          <p:cNvGrpSpPr/>
          <p:nvPr/>
        </p:nvGrpSpPr>
        <p:grpSpPr>
          <a:xfrm>
            <a:off x="165611" y="2852936"/>
            <a:ext cx="4190365" cy="3651795"/>
            <a:chOff x="654936" y="-57877"/>
            <a:chExt cx="7733488" cy="6646993"/>
          </a:xfrm>
        </p:grpSpPr>
        <p:cxnSp>
          <p:nvCxnSpPr>
            <p:cNvPr id="7" name="Straight Connector 6"/>
            <p:cNvCxnSpPr/>
            <p:nvPr/>
          </p:nvCxnSpPr>
          <p:spPr>
            <a:xfrm>
              <a:off x="4489565" y="1124744"/>
              <a:ext cx="0" cy="43564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339752" y="1124744"/>
              <a:ext cx="0" cy="43564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339752" y="1916832"/>
              <a:ext cx="4248472" cy="2448272"/>
            </a:xfrm>
            <a:prstGeom prst="rect">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 name="TextBox 9"/>
            <p:cNvSpPr txBox="1"/>
            <p:nvPr/>
          </p:nvSpPr>
          <p:spPr>
            <a:xfrm>
              <a:off x="6966447" y="2808579"/>
              <a:ext cx="1121828" cy="840322"/>
            </a:xfrm>
            <a:prstGeom prst="rect">
              <a:avLst/>
            </a:prstGeom>
            <a:noFill/>
          </p:spPr>
          <p:txBody>
            <a:bodyPr wrap="none" rtlCol="0">
              <a:spAutoFit/>
            </a:bodyPr>
            <a:lstStyle/>
            <a:p>
              <a:r>
                <a:rPr lang="en-US" altLang="zh-CN" sz="2400" i="1" dirty="0">
                  <a:latin typeface="+mn-lt"/>
                </a:rPr>
                <a:t>Pm</a:t>
              </a:r>
              <a:endParaRPr lang="zh-CN" altLang="en-US" sz="2400" i="1" dirty="0">
                <a:latin typeface="+mn-lt"/>
              </a:endParaRPr>
            </a:p>
          </p:txBody>
        </p:sp>
        <p:sp>
          <p:nvSpPr>
            <p:cNvPr id="11" name="Oval 10"/>
            <p:cNvSpPr/>
            <p:nvPr/>
          </p:nvSpPr>
          <p:spPr>
            <a:xfrm>
              <a:off x="1731525" y="2650541"/>
              <a:ext cx="175097" cy="17509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2" name="Oval 11"/>
            <p:cNvSpPr/>
            <p:nvPr/>
          </p:nvSpPr>
          <p:spPr>
            <a:xfrm>
              <a:off x="2756259" y="2635364"/>
              <a:ext cx="175097" cy="17509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cxnSp>
          <p:nvCxnSpPr>
            <p:cNvPr id="13" name="Straight Arrow Connector 12"/>
            <p:cNvCxnSpPr/>
            <p:nvPr/>
          </p:nvCxnSpPr>
          <p:spPr>
            <a:xfrm>
              <a:off x="5640004" y="873077"/>
              <a:ext cx="2448272" cy="0"/>
            </a:xfrm>
            <a:prstGeom prst="straightConnector1">
              <a:avLst/>
            </a:prstGeom>
            <a:ln w="28575">
              <a:solidFill>
                <a:srgbClr val="FF3399"/>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810943" y="-57877"/>
              <a:ext cx="577481" cy="840322"/>
            </a:xfrm>
            <a:prstGeom prst="rect">
              <a:avLst/>
            </a:prstGeom>
            <a:noFill/>
          </p:spPr>
          <p:txBody>
            <a:bodyPr wrap="none" rtlCol="0">
              <a:spAutoFit/>
            </a:bodyPr>
            <a:lstStyle/>
            <a:p>
              <a:r>
                <a:rPr lang="en-US" altLang="zh-CN" sz="2400" dirty="0">
                  <a:latin typeface="+mn-lt"/>
                </a:rPr>
                <a:t>y</a:t>
              </a:r>
              <a:endParaRPr lang="zh-CN" altLang="en-US" sz="2400" dirty="0">
                <a:latin typeface="+mn-lt"/>
              </a:endParaRPr>
            </a:p>
          </p:txBody>
        </p:sp>
        <p:cxnSp>
          <p:nvCxnSpPr>
            <p:cNvPr id="15" name="Straight Arrow Connector 14"/>
            <p:cNvCxnSpPr/>
            <p:nvPr/>
          </p:nvCxnSpPr>
          <p:spPr>
            <a:xfrm>
              <a:off x="1245841" y="4816607"/>
              <a:ext cx="0" cy="1368153"/>
            </a:xfrm>
            <a:prstGeom prst="straightConnector1">
              <a:avLst/>
            </a:prstGeom>
            <a:ln w="28575">
              <a:solidFill>
                <a:srgbClr val="FF3399"/>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54936" y="5748794"/>
              <a:ext cx="580441" cy="840322"/>
            </a:xfrm>
            <a:prstGeom prst="rect">
              <a:avLst/>
            </a:prstGeom>
            <a:noFill/>
          </p:spPr>
          <p:txBody>
            <a:bodyPr wrap="none" rtlCol="0">
              <a:spAutoFit/>
            </a:bodyPr>
            <a:lstStyle/>
            <a:p>
              <a:r>
                <a:rPr lang="en-US" altLang="zh-CN" sz="2400" dirty="0">
                  <a:latin typeface="+mn-lt"/>
                </a:rPr>
                <a:t>x</a:t>
              </a:r>
              <a:endParaRPr lang="zh-CN" altLang="en-US" sz="2400" dirty="0">
                <a:latin typeface="+mn-lt"/>
              </a:endParaRPr>
            </a:p>
          </p:txBody>
        </p:sp>
        <p:sp>
          <p:nvSpPr>
            <p:cNvPr id="17" name="TextBox 16"/>
            <p:cNvSpPr txBox="1"/>
            <p:nvPr/>
          </p:nvSpPr>
          <p:spPr>
            <a:xfrm>
              <a:off x="720445" y="272121"/>
              <a:ext cx="1600379" cy="840322"/>
            </a:xfrm>
            <a:prstGeom prst="rect">
              <a:avLst/>
            </a:prstGeom>
            <a:noFill/>
          </p:spPr>
          <p:txBody>
            <a:bodyPr wrap="none" rtlCol="0">
              <a:spAutoFit/>
            </a:bodyPr>
            <a:lstStyle/>
            <a:p>
              <a:r>
                <a:rPr lang="en-US" altLang="zh-CN" sz="2400" dirty="0">
                  <a:latin typeface="+mn-lt"/>
                </a:rPr>
                <a:t>x, y, z</a:t>
              </a:r>
              <a:endParaRPr lang="zh-CN" altLang="en-US" sz="2400" dirty="0">
                <a:latin typeface="+mn-lt"/>
              </a:endParaRPr>
            </a:p>
          </p:txBody>
        </p:sp>
        <p:sp>
          <p:nvSpPr>
            <p:cNvPr id="18" name="Oval 17"/>
            <p:cNvSpPr/>
            <p:nvPr/>
          </p:nvSpPr>
          <p:spPr>
            <a:xfrm>
              <a:off x="4410542" y="2635364"/>
              <a:ext cx="175097" cy="175098"/>
            </a:xfrm>
            <a:prstGeom prst="ellipse">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0" name="Oval 19"/>
            <p:cNvSpPr/>
            <p:nvPr/>
          </p:nvSpPr>
          <p:spPr>
            <a:xfrm>
              <a:off x="2256815" y="2257334"/>
              <a:ext cx="175097" cy="175098"/>
            </a:xfrm>
            <a:prstGeom prst="ellipse">
              <a:avLst/>
            </a:prstGeom>
            <a:solidFill>
              <a:srgbClr val="333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cxnSp>
          <p:nvCxnSpPr>
            <p:cNvPr id="21" name="Straight Connector 20"/>
            <p:cNvCxnSpPr/>
            <p:nvPr/>
          </p:nvCxnSpPr>
          <p:spPr>
            <a:xfrm>
              <a:off x="6581012" y="1144199"/>
              <a:ext cx="0" cy="43564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extBox 1"/>
          <p:cNvSpPr txBox="1"/>
          <p:nvPr/>
        </p:nvSpPr>
        <p:spPr>
          <a:xfrm>
            <a:off x="4129449" y="5405154"/>
            <a:ext cx="4979055" cy="400110"/>
          </a:xfrm>
          <a:prstGeom prst="rect">
            <a:avLst/>
          </a:prstGeom>
          <a:noFill/>
        </p:spPr>
        <p:txBody>
          <a:bodyPr wrap="none" rtlCol="0">
            <a:spAutoFit/>
          </a:bodyPr>
          <a:lstStyle/>
          <a:p>
            <a:r>
              <a:rPr lang="en-US" sz="2000" dirty="0">
                <a:latin typeface="+mn-lt"/>
              </a:rPr>
              <a:t>The positions of atoms are shown on the left</a:t>
            </a: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62351" y="3966997"/>
            <a:ext cx="4684647" cy="1428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blinds dir="ver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idx="1"/>
          </p:nvPr>
        </p:nvSpPr>
        <p:spPr bwMode="auto">
          <a:xfrm>
            <a:off x="323850" y="1251792"/>
            <a:ext cx="8531622" cy="52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85000" lnSpcReduction="20000"/>
          </a:bodyPr>
          <a:lstStyle/>
          <a:p>
            <a:pPr marL="0" indent="0">
              <a:lnSpc>
                <a:spcPct val="120000"/>
              </a:lnSpc>
              <a:buNone/>
            </a:pPr>
            <a:r>
              <a:rPr lang="en-US" altLang="zh-CN" sz="2600" dirty="0">
                <a:solidFill>
                  <a:srgbClr val="FF0000"/>
                </a:solidFill>
              </a:rPr>
              <a:t>General position</a:t>
            </a:r>
            <a:r>
              <a:rPr lang="zh-CN" altLang="en-US" sz="2600" b="1" dirty="0">
                <a:solidFill>
                  <a:srgbClr val="FF0000"/>
                </a:solidFill>
                <a:ea typeface="黑体" panose="02010609060101010101" pitchFamily="49" charset="-122"/>
              </a:rPr>
              <a:t>：</a:t>
            </a:r>
            <a:r>
              <a:rPr lang="en-US" altLang="zh-CN" sz="2600" dirty="0"/>
              <a:t>The Wyckoff position firstly listed in the table of space group table</a:t>
            </a:r>
            <a:endParaRPr lang="zh-CN" altLang="en-US" sz="2600" b="1" dirty="0">
              <a:ea typeface="宋体" panose="02010600030101010101" pitchFamily="2" charset="-122"/>
            </a:endParaRPr>
          </a:p>
          <a:p>
            <a:pPr marL="457200" indent="-457200">
              <a:lnSpc>
                <a:spcPct val="120000"/>
              </a:lnSpc>
              <a:buFont typeface="Wingdings" panose="05000000000000000000" pitchFamily="2" charset="2"/>
              <a:buAutoNum type="arabicPeriod"/>
            </a:pPr>
            <a:r>
              <a:rPr lang="en-US" altLang="zh-CN" sz="2200" b="1" dirty="0">
                <a:ea typeface="宋体" panose="02010600030101010101" pitchFamily="2" charset="-122"/>
              </a:rPr>
              <a:t>Not in </a:t>
            </a:r>
            <a:r>
              <a:rPr lang="en-US" altLang="zh-CN" sz="2200" dirty="0">
                <a:ea typeface="宋体" panose="02010600030101010101" pitchFamily="2" charset="-122"/>
              </a:rPr>
              <a:t>the position of any symmetry elements; </a:t>
            </a:r>
            <a:r>
              <a:rPr lang="zh-CN" altLang="en-US" sz="2200" b="1" dirty="0">
                <a:ea typeface="宋体" panose="02010600030101010101" pitchFamily="2" charset="-122"/>
              </a:rPr>
              <a:t> </a:t>
            </a:r>
          </a:p>
          <a:p>
            <a:pPr marL="457200" indent="-457200">
              <a:lnSpc>
                <a:spcPct val="120000"/>
              </a:lnSpc>
              <a:buFont typeface="Wingdings" panose="05000000000000000000" pitchFamily="2" charset="2"/>
              <a:buAutoNum type="arabicPeriod"/>
            </a:pPr>
            <a:r>
              <a:rPr lang="en-US" altLang="zh-CN" sz="2200" dirty="0">
                <a:ea typeface="宋体" panose="02010600030101010101" pitchFamily="2" charset="-122"/>
              </a:rPr>
              <a:t>General position has the highest multiplicity(</a:t>
            </a:r>
            <a:r>
              <a:rPr lang="en-US" altLang="zh-CN" sz="2200" b="1" dirty="0">
                <a:ea typeface="宋体" panose="02010600030101010101" pitchFamily="2" charset="-122"/>
              </a:rPr>
              <a:t>M</a:t>
            </a:r>
            <a:r>
              <a:rPr lang="en-US" altLang="zh-CN" sz="2200" dirty="0">
                <a:ea typeface="宋体" panose="02010600030101010101" pitchFamily="2" charset="-122"/>
              </a:rPr>
              <a:t>). M equals to the sum of symmetry operations in primitive cells;  while for centered unit cells,  M is the order number of point group times with the number of lattice points in unit cell gives M.</a:t>
            </a:r>
          </a:p>
          <a:p>
            <a:pPr marL="457200" indent="-457200">
              <a:lnSpc>
                <a:spcPct val="120000"/>
              </a:lnSpc>
              <a:buFont typeface="Wingdings" panose="05000000000000000000" pitchFamily="2" charset="2"/>
              <a:buAutoNum type="arabicPeriod"/>
            </a:pPr>
            <a:r>
              <a:rPr lang="en-US" altLang="zh-CN" sz="2200" b="1" dirty="0">
                <a:ea typeface="宋体" panose="02010600030101010101" pitchFamily="2" charset="-122"/>
              </a:rPr>
              <a:t>Atoms in </a:t>
            </a:r>
            <a:r>
              <a:rPr lang="en-US" altLang="zh-CN" sz="2200" dirty="0">
                <a:ea typeface="宋体" panose="02010600030101010101" pitchFamily="2" charset="-122"/>
              </a:rPr>
              <a:t>general position </a:t>
            </a:r>
            <a:r>
              <a:rPr lang="en-US" altLang="zh-CN" sz="2200" b="1" dirty="0">
                <a:ea typeface="宋体" panose="02010600030101010101" pitchFamily="2" charset="-122"/>
              </a:rPr>
              <a:t>have 3 degree of freedom, so its three coordinates can vary independently.</a:t>
            </a:r>
            <a:r>
              <a:rPr lang="zh-CN" altLang="en-US" sz="2200" b="1" dirty="0">
                <a:ea typeface="宋体" panose="02010600030101010101" pitchFamily="2" charset="-122"/>
              </a:rPr>
              <a:t> </a:t>
            </a:r>
          </a:p>
          <a:p>
            <a:pPr marL="457200" indent="-457200">
              <a:lnSpc>
                <a:spcPct val="120000"/>
              </a:lnSpc>
              <a:buFont typeface="Wingdings" panose="05000000000000000000" pitchFamily="2" charset="2"/>
              <a:buAutoNum type="arabicPeriod"/>
            </a:pPr>
            <a:endParaRPr lang="zh-CN" altLang="en-US" sz="2200" b="1" dirty="0">
              <a:ea typeface="宋体" panose="02010600030101010101" pitchFamily="2" charset="-122"/>
            </a:endParaRPr>
          </a:p>
          <a:p>
            <a:pPr marL="457200" indent="-457200">
              <a:lnSpc>
                <a:spcPct val="120000"/>
              </a:lnSpc>
              <a:buFont typeface="Wingdings" panose="05000000000000000000" pitchFamily="2" charset="2"/>
              <a:buNone/>
            </a:pPr>
            <a:r>
              <a:rPr lang="en-US" altLang="zh-CN" sz="2600" dirty="0">
                <a:solidFill>
                  <a:srgbClr val="FF0000"/>
                </a:solidFill>
                <a:ea typeface="黑体" panose="02010609060101010101" pitchFamily="49" charset="-122"/>
              </a:rPr>
              <a:t>Special position</a:t>
            </a:r>
            <a:r>
              <a:rPr lang="zh-CN" altLang="en-US" sz="2600" b="1" dirty="0">
                <a:solidFill>
                  <a:srgbClr val="FF0000"/>
                </a:solidFill>
                <a:ea typeface="黑体" panose="02010609060101010101" pitchFamily="49" charset="-122"/>
              </a:rPr>
              <a:t>：</a:t>
            </a:r>
            <a:r>
              <a:rPr lang="en-US" altLang="zh-CN" sz="2600" dirty="0">
                <a:ea typeface="黑体" panose="02010609060101010101" pitchFamily="49" charset="-122"/>
              </a:rPr>
              <a:t>except general position</a:t>
            </a:r>
          </a:p>
          <a:p>
            <a:pPr marL="457200" indent="-457200">
              <a:lnSpc>
                <a:spcPct val="120000"/>
              </a:lnSpc>
              <a:buFont typeface="Wingdings" panose="05000000000000000000" pitchFamily="2" charset="2"/>
              <a:buAutoNum type="arabicPeriod"/>
            </a:pPr>
            <a:r>
              <a:rPr lang="en-US" altLang="zh-CN" sz="2200" b="1" dirty="0">
                <a:ea typeface="宋体" panose="02010600030101010101" pitchFamily="2" charset="-122"/>
              </a:rPr>
              <a:t>In the position of one or more symmetry elements;</a:t>
            </a:r>
          </a:p>
          <a:p>
            <a:pPr marL="457200" lvl="0" indent="-457200">
              <a:lnSpc>
                <a:spcPct val="120000"/>
              </a:lnSpc>
              <a:buFont typeface="Wingdings" panose="05000000000000000000" pitchFamily="2" charset="2"/>
              <a:buAutoNum type="arabicPeriod"/>
            </a:pPr>
            <a:r>
              <a:rPr lang="en-US" altLang="zh-CN" sz="2200" dirty="0">
                <a:ea typeface="宋体" panose="02010600030101010101" pitchFamily="2" charset="-122"/>
              </a:rPr>
              <a:t>Multiplicity of special positions is the common factor of general positions, namely less than general positions (an integer time)</a:t>
            </a:r>
            <a:endParaRPr lang="zh-CN" altLang="en-US" sz="2200" dirty="0">
              <a:ea typeface="宋体" panose="02010600030101010101" pitchFamily="2" charset="-122"/>
            </a:endParaRPr>
          </a:p>
          <a:p>
            <a:pPr marL="457200" indent="-457200">
              <a:lnSpc>
                <a:spcPct val="120000"/>
              </a:lnSpc>
              <a:buFont typeface="Wingdings" panose="05000000000000000000" pitchFamily="2" charset="2"/>
              <a:buAutoNum type="arabicPeriod"/>
            </a:pPr>
            <a:r>
              <a:rPr lang="en-US" altLang="zh-CN" sz="2200" dirty="0">
                <a:ea typeface="宋体" panose="02010600030101010101" pitchFamily="2" charset="-122"/>
              </a:rPr>
              <a:t>At least one constant in the coordinate of special positions.</a:t>
            </a:r>
            <a:endParaRPr lang="en-US" altLang="zh-CN" sz="2200" b="1" dirty="0">
              <a:ea typeface="宋体" panose="02010600030101010101" pitchFamily="2" charset="-122"/>
            </a:endParaRPr>
          </a:p>
        </p:txBody>
      </p:sp>
      <p:sp>
        <p:nvSpPr>
          <p:cNvPr id="2" name="TextBox 1"/>
          <p:cNvSpPr txBox="1"/>
          <p:nvPr/>
        </p:nvSpPr>
        <p:spPr>
          <a:xfrm>
            <a:off x="323850" y="174574"/>
            <a:ext cx="8531622" cy="1077218"/>
          </a:xfrm>
          <a:prstGeom prst="rect">
            <a:avLst/>
          </a:prstGeom>
          <a:noFill/>
        </p:spPr>
        <p:txBody>
          <a:bodyPr wrap="square" rtlCol="0">
            <a:spAutoFit/>
          </a:bodyPr>
          <a:lstStyle>
            <a:defPPr>
              <a:defRPr lang="zh-CN"/>
            </a:defPPr>
            <a:lvl1pPr>
              <a:defRPr sz="3200">
                <a:latin typeface="+mn-lt"/>
              </a:defRPr>
            </a:lvl1pPr>
          </a:lstStyle>
          <a:p>
            <a:r>
              <a:rPr lang="en-US" altLang="zh-CN" dirty="0"/>
              <a:t>(3) Properties of general position and special position in Wyckoff</a:t>
            </a:r>
            <a:r>
              <a:rPr lang="zh-CN" altLang="en-US" dirty="0"/>
              <a:t> </a:t>
            </a:r>
            <a:r>
              <a:rPr lang="en-US" altLang="zh-CN" dirty="0"/>
              <a:t>position</a:t>
            </a:r>
          </a:p>
        </p:txBody>
      </p:sp>
    </p:spTree>
  </p:cSld>
  <p:clrMapOvr>
    <a:masterClrMapping/>
  </p:clrMapOvr>
  <p:transition spd="med">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p:cNvSpPr>
            <a:spLocks noGrp="1" noChangeArrowheads="1"/>
          </p:cNvSpPr>
          <p:nvPr>
            <p:ph idx="1"/>
          </p:nvPr>
        </p:nvSpPr>
        <p:spPr>
          <a:xfrm>
            <a:off x="374650" y="1786513"/>
            <a:ext cx="8157790" cy="4666675"/>
          </a:xfrm>
        </p:spPr>
        <p:txBody>
          <a:bodyPr>
            <a:normAutofit fontScale="77500" lnSpcReduction="20000"/>
          </a:bodyPr>
          <a:lstStyle/>
          <a:p>
            <a:pPr algn="just">
              <a:lnSpc>
                <a:spcPct val="110000"/>
              </a:lnSpc>
              <a:defRPr/>
            </a:pPr>
            <a:r>
              <a:rPr lang="en-US" altLang="zh-CN" sz="2800" dirty="0"/>
              <a:t>International symbol(HM), including types of space lattice, symmetry elements and relationships between them, is divided into two parts: </a:t>
            </a:r>
          </a:p>
          <a:p>
            <a:pPr lvl="1" algn="just">
              <a:lnSpc>
                <a:spcPct val="110000"/>
              </a:lnSpc>
              <a:defRPr/>
            </a:pPr>
            <a:r>
              <a:rPr lang="en-US" altLang="zh-CN" sz="2400" dirty="0"/>
              <a:t>the former part is capital letters which are the symbols of translation groups, namely the symbols  of Bravais Lattice (P</a:t>
            </a:r>
            <a:r>
              <a:rPr lang="zh-CN" altLang="en-US" sz="2400" dirty="0"/>
              <a:t>、</a:t>
            </a:r>
            <a:r>
              <a:rPr lang="en-US" altLang="zh-CN" sz="2400" dirty="0"/>
              <a:t>C</a:t>
            </a:r>
            <a:r>
              <a:rPr lang="zh-CN" altLang="en-US" sz="2400" dirty="0"/>
              <a:t>（</a:t>
            </a:r>
            <a:r>
              <a:rPr lang="en-US" altLang="zh-CN" sz="2400" dirty="0"/>
              <a:t>A</a:t>
            </a:r>
            <a:r>
              <a:rPr lang="zh-CN" altLang="en-US" sz="2400" dirty="0"/>
              <a:t>、</a:t>
            </a:r>
            <a:r>
              <a:rPr lang="en-US" altLang="zh-CN" sz="2400" dirty="0"/>
              <a:t>B</a:t>
            </a:r>
            <a:r>
              <a:rPr lang="zh-CN" altLang="en-US" sz="2400" dirty="0"/>
              <a:t>）、</a:t>
            </a:r>
            <a:r>
              <a:rPr lang="en-US" altLang="zh-CN" sz="2400" dirty="0"/>
              <a:t>I</a:t>
            </a:r>
            <a:r>
              <a:rPr lang="zh-CN" altLang="en-US" sz="2400" dirty="0"/>
              <a:t>、</a:t>
            </a:r>
            <a:r>
              <a:rPr lang="en-US" altLang="zh-CN" sz="2400" dirty="0"/>
              <a:t>F);</a:t>
            </a:r>
          </a:p>
          <a:p>
            <a:pPr lvl="1" algn="just">
              <a:lnSpc>
                <a:spcPct val="110000"/>
              </a:lnSpc>
              <a:defRPr/>
            </a:pPr>
            <a:r>
              <a:rPr lang="en-US" altLang="zh-CN" sz="2400" dirty="0"/>
              <a:t>the latter part is nearly the same to the HM of point group, and some symbols of macroscopic symmetry elements need to transform into symbols of symmetry elements of corresponding internal structure. For example, corresponding HM of L</a:t>
            </a:r>
            <a:r>
              <a:rPr lang="en-US" altLang="zh-CN" sz="2400" baseline="30000" dirty="0"/>
              <a:t>4</a:t>
            </a:r>
            <a:r>
              <a:rPr lang="en-US" altLang="zh-CN" sz="2400" dirty="0"/>
              <a:t> is P4, P4</a:t>
            </a:r>
            <a:r>
              <a:rPr lang="en-US" altLang="zh-CN" sz="2400" baseline="-25000" dirty="0"/>
              <a:t>1 </a:t>
            </a:r>
            <a:r>
              <a:rPr lang="en-US" altLang="zh-CN" sz="2400" dirty="0"/>
              <a:t>,</a:t>
            </a:r>
            <a:r>
              <a:rPr lang="zh-CN" altLang="en-US" sz="2400" dirty="0"/>
              <a:t> </a:t>
            </a:r>
            <a:r>
              <a:rPr lang="en-US" altLang="zh-CN" sz="2400" dirty="0"/>
              <a:t>P4</a:t>
            </a:r>
            <a:r>
              <a:rPr lang="en-US" altLang="zh-CN" sz="2400" baseline="-25000" dirty="0"/>
              <a:t>2 </a:t>
            </a:r>
            <a:r>
              <a:rPr lang="en-US" altLang="zh-CN" sz="2400" dirty="0"/>
              <a:t>,</a:t>
            </a:r>
            <a:r>
              <a:rPr lang="zh-CN" altLang="en-US" sz="2400" dirty="0"/>
              <a:t> </a:t>
            </a:r>
            <a:r>
              <a:rPr lang="en-US" altLang="zh-CN" sz="2400" dirty="0"/>
              <a:t>P4</a:t>
            </a:r>
            <a:r>
              <a:rPr lang="en-US" altLang="zh-CN" sz="2400" baseline="-25000" dirty="0"/>
              <a:t>3</a:t>
            </a:r>
            <a:r>
              <a:rPr lang="zh-CN" altLang="en-US" sz="2400" dirty="0"/>
              <a:t> </a:t>
            </a:r>
            <a:r>
              <a:rPr lang="en-US" altLang="zh-CN" sz="2400" dirty="0"/>
              <a:t>,</a:t>
            </a:r>
            <a:r>
              <a:rPr lang="zh-CN" altLang="en-US" sz="2400" dirty="0"/>
              <a:t> </a:t>
            </a:r>
            <a:r>
              <a:rPr lang="en-US" altLang="zh-CN" sz="2400" dirty="0"/>
              <a:t>I4</a:t>
            </a:r>
            <a:r>
              <a:rPr lang="zh-CN" altLang="en-US" sz="2400" dirty="0"/>
              <a:t> </a:t>
            </a:r>
            <a:r>
              <a:rPr lang="en-US" altLang="zh-CN" sz="2400" dirty="0"/>
              <a:t>and</a:t>
            </a:r>
            <a:r>
              <a:rPr lang="zh-CN" altLang="en-US" sz="2400" dirty="0"/>
              <a:t> </a:t>
            </a:r>
            <a:r>
              <a:rPr lang="en-US" altLang="zh-CN" sz="2400" dirty="0"/>
              <a:t>I4</a:t>
            </a:r>
            <a:r>
              <a:rPr lang="en-US" altLang="zh-CN" sz="2400" baseline="-25000" dirty="0"/>
              <a:t>1</a:t>
            </a:r>
            <a:r>
              <a:rPr lang="zh-CN" altLang="en-US" sz="2400" baseline="-25000" dirty="0"/>
              <a:t>。</a:t>
            </a:r>
            <a:endParaRPr lang="en-US" altLang="zh-CN" sz="2400" dirty="0"/>
          </a:p>
          <a:p>
            <a:pPr eaLnBrk="1" hangingPunct="1">
              <a:lnSpc>
                <a:spcPct val="110000"/>
              </a:lnSpc>
              <a:defRPr/>
            </a:pPr>
            <a:r>
              <a:rPr lang="en-US" altLang="zh-CN" sz="2800" b="1" dirty="0"/>
              <a:t>Advantages: </a:t>
            </a:r>
            <a:r>
              <a:rPr lang="en-US" altLang="zh-CN" sz="2800" dirty="0"/>
              <a:t>the directions that lattice type and symmetry elements lied  in can be seen directly.</a:t>
            </a:r>
            <a:r>
              <a:rPr lang="zh-CN" altLang="en-US" sz="2800" dirty="0"/>
              <a:t> </a:t>
            </a:r>
            <a:endParaRPr lang="en-US" altLang="zh-CN" sz="2800" dirty="0"/>
          </a:p>
          <a:p>
            <a:pPr eaLnBrk="1" hangingPunct="1">
              <a:lnSpc>
                <a:spcPct val="110000"/>
              </a:lnSpc>
              <a:defRPr/>
            </a:pPr>
            <a:r>
              <a:rPr lang="en-US" altLang="zh-CN" sz="2800" b="1" dirty="0"/>
              <a:t>Disadvantages</a:t>
            </a:r>
            <a:r>
              <a:rPr lang="zh-CN" altLang="en-US" sz="2800" b="1" dirty="0"/>
              <a:t>：</a:t>
            </a:r>
            <a:r>
              <a:rPr lang="en-US" altLang="zh-CN" sz="2800" dirty="0"/>
              <a:t>the same point group can be written as different international symbol, because of different orientations and other factors.</a:t>
            </a:r>
            <a:endParaRPr lang="zh-CN" altLang="en-US" sz="2800" baseline="-25000" dirty="0"/>
          </a:p>
        </p:txBody>
      </p:sp>
      <p:sp>
        <p:nvSpPr>
          <p:cNvPr id="173061" name="Rectangle 5"/>
          <p:cNvSpPr>
            <a:spLocks noChangeArrowheads="1"/>
          </p:cNvSpPr>
          <p:nvPr/>
        </p:nvSpPr>
        <p:spPr bwMode="auto">
          <a:xfrm>
            <a:off x="374650" y="1201738"/>
            <a:ext cx="87484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chemeClr val="hlink"/>
              </a:buClr>
              <a:defRPr/>
            </a:pPr>
            <a:r>
              <a:rPr lang="en-US" altLang="zh-CN" sz="3200" dirty="0">
                <a:latin typeface="+mn-lt"/>
              </a:rPr>
              <a:t>1. International symbol(HM) of space group</a:t>
            </a:r>
            <a:endParaRPr lang="zh-CN" altLang="en-US" sz="3200" dirty="0">
              <a:latin typeface="+mn-lt"/>
            </a:endParaRPr>
          </a:p>
        </p:txBody>
      </p:sp>
      <p:sp>
        <p:nvSpPr>
          <p:cNvPr id="2" name="TextBox 1"/>
          <p:cNvSpPr txBox="1"/>
          <p:nvPr/>
        </p:nvSpPr>
        <p:spPr>
          <a:xfrm>
            <a:off x="323528" y="124520"/>
            <a:ext cx="8288733" cy="954107"/>
          </a:xfrm>
          <a:prstGeom prst="rect">
            <a:avLst/>
          </a:prstGeom>
          <a:noFill/>
        </p:spPr>
        <p:txBody>
          <a:bodyPr wrap="square" rtlCol="0">
            <a:spAutoFit/>
          </a:bodyPr>
          <a:lstStyle/>
          <a:p>
            <a:pPr algn="ctr"/>
            <a:r>
              <a:rPr lang="en-US" altLang="zh-CN" sz="2800" dirty="0">
                <a:latin typeface="+mn-lt"/>
              </a:rPr>
              <a:t>International symbol (Hermann-</a:t>
            </a:r>
            <a:r>
              <a:rPr lang="en-US" altLang="zh-CN" sz="2800" dirty="0" err="1">
                <a:latin typeface="+mn-lt"/>
              </a:rPr>
              <a:t>Mauguin's</a:t>
            </a:r>
            <a:r>
              <a:rPr lang="en-US" altLang="zh-CN" sz="2800" dirty="0">
                <a:latin typeface="+mn-lt"/>
              </a:rPr>
              <a:t> symbol) and </a:t>
            </a:r>
            <a:r>
              <a:rPr lang="en-US" altLang="zh-CN" sz="2800" dirty="0" err="1">
                <a:latin typeface="+mn-lt"/>
              </a:rPr>
              <a:t>Schfl</a:t>
            </a:r>
            <a:r>
              <a:rPr lang="en-US" altLang="zh-CN" sz="2800" dirty="0">
                <a:latin typeface="+mn-lt"/>
              </a:rPr>
              <a:t> symbol of space group</a:t>
            </a:r>
            <a:endParaRPr lang="zh-CN" altLang="en-US" sz="2800" dirty="0">
              <a:latin typeface="+mn-lt"/>
            </a:endParaRPr>
          </a:p>
        </p:txBody>
      </p:sp>
    </p:spTree>
  </p:cSld>
  <p:clrMapOvr>
    <a:masterClrMapping/>
  </p:clrMapOvr>
  <p:transition spd="med">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Text Box 2"/>
          <p:cNvSpPr txBox="1">
            <a:spLocks noChangeArrowheads="1"/>
          </p:cNvSpPr>
          <p:nvPr/>
        </p:nvSpPr>
        <p:spPr bwMode="auto">
          <a:xfrm>
            <a:off x="179388" y="188913"/>
            <a:ext cx="8641084"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en-US" altLang="zh-CN" sz="3200" dirty="0">
                <a:latin typeface="+mn-lt"/>
                <a:ea typeface="黑体" panose="02010609060101010101" pitchFamily="49" charset="-122"/>
              </a:rPr>
              <a:t>Format of HM’s symbol: </a:t>
            </a:r>
            <a:r>
              <a:rPr kumimoji="1" lang="en-US" altLang="zh-CN" sz="3200" i="1" dirty="0">
                <a:latin typeface="+mn-lt"/>
                <a:ea typeface="黑体" panose="02010609060101010101" pitchFamily="49" charset="-122"/>
              </a:rPr>
              <a:t>C</a:t>
            </a:r>
            <a:r>
              <a:rPr kumimoji="1" lang="en-US" altLang="zh-CN" sz="3200" dirty="0">
                <a:latin typeface="+mn-lt"/>
                <a:ea typeface="黑体" panose="02010609060101010101" pitchFamily="49" charset="-122"/>
              </a:rPr>
              <a:t>2/</a:t>
            </a:r>
            <a:r>
              <a:rPr kumimoji="1" lang="en-US" altLang="zh-CN" sz="3200" i="1" dirty="0">
                <a:latin typeface="+mn-lt"/>
                <a:ea typeface="黑体" panose="02010609060101010101" pitchFamily="49" charset="-122"/>
              </a:rPr>
              <a:t>c</a:t>
            </a:r>
            <a:r>
              <a:rPr kumimoji="1" lang="en-US" altLang="zh-CN" sz="3200" dirty="0">
                <a:latin typeface="+mn-lt"/>
                <a:ea typeface="黑体" panose="02010609060101010101" pitchFamily="49" charset="-122"/>
              </a:rPr>
              <a:t>,</a:t>
            </a:r>
            <a:r>
              <a:rPr kumimoji="1" lang="zh-CN" altLang="en-US" sz="3200" dirty="0">
                <a:latin typeface="+mn-lt"/>
                <a:ea typeface="黑体" panose="02010609060101010101" pitchFamily="49" charset="-122"/>
              </a:rPr>
              <a:t> </a:t>
            </a:r>
            <a:r>
              <a:rPr kumimoji="1" lang="en-US" altLang="zh-CN" sz="3200" i="1" dirty="0" err="1">
                <a:latin typeface="+mn-lt"/>
                <a:ea typeface="黑体" panose="02010609060101010101" pitchFamily="49" charset="-122"/>
              </a:rPr>
              <a:t>Pnma</a:t>
            </a:r>
            <a:r>
              <a:rPr kumimoji="1" lang="en-US" altLang="zh-CN" sz="3200" i="1" dirty="0">
                <a:latin typeface="+mn-lt"/>
                <a:ea typeface="黑体" panose="02010609060101010101" pitchFamily="49" charset="-122"/>
              </a:rPr>
              <a:t> as examples</a:t>
            </a:r>
          </a:p>
        </p:txBody>
      </p:sp>
      <p:sp>
        <p:nvSpPr>
          <p:cNvPr id="6" name="Rectangle 5"/>
          <p:cNvSpPr>
            <a:spLocks noChangeArrowheads="1"/>
          </p:cNvSpPr>
          <p:nvPr/>
        </p:nvSpPr>
        <p:spPr bwMode="auto">
          <a:xfrm>
            <a:off x="539552" y="5013176"/>
            <a:ext cx="792003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400" b="0" dirty="0">
                <a:latin typeface="+mn-lt"/>
              </a:rPr>
              <a:t>* </a:t>
            </a:r>
            <a:r>
              <a:rPr lang="en-US" altLang="zh-CN" sz="2000" b="0" dirty="0">
                <a:latin typeface="+mn-lt"/>
              </a:rPr>
              <a:t>Because of different selection of crystal axis and mark, the same space group may have several different symbols. For example, P2</a:t>
            </a:r>
            <a:r>
              <a:rPr lang="en-US" altLang="zh-CN" sz="2000" b="0" baseline="-25000" dirty="0">
                <a:latin typeface="+mn-lt"/>
              </a:rPr>
              <a:t>1</a:t>
            </a:r>
            <a:r>
              <a:rPr lang="en-US" altLang="zh-CN" sz="2000" b="0" dirty="0">
                <a:latin typeface="+mn-lt"/>
              </a:rPr>
              <a:t>/c, if a direction is selected as glide plane, the symbol is P2</a:t>
            </a:r>
            <a:r>
              <a:rPr lang="en-US" altLang="zh-CN" sz="2000" b="0" baseline="-25000" dirty="0">
                <a:latin typeface="+mn-lt"/>
              </a:rPr>
              <a:t>1</a:t>
            </a:r>
            <a:r>
              <a:rPr lang="en-US" altLang="zh-CN" sz="2000" b="0" dirty="0">
                <a:latin typeface="+mn-lt"/>
              </a:rPr>
              <a:t>/a; if diagonal slip is selected as glide plane, the symbol is P2</a:t>
            </a:r>
            <a:r>
              <a:rPr lang="en-US" altLang="zh-CN" sz="2000" b="0" baseline="-25000" dirty="0">
                <a:latin typeface="+mn-lt"/>
              </a:rPr>
              <a:t>1</a:t>
            </a:r>
            <a:r>
              <a:rPr lang="en-US" altLang="zh-CN" sz="2000" b="0" dirty="0">
                <a:latin typeface="+mn-lt"/>
              </a:rPr>
              <a:t>/n.</a:t>
            </a:r>
            <a:endParaRPr lang="zh-CN" altLang="zh-CN" sz="2000" b="0" dirty="0">
              <a:latin typeface="+mn-lt"/>
            </a:endParaRPr>
          </a:p>
        </p:txBody>
      </p:sp>
      <p:pic>
        <p:nvPicPr>
          <p:cNvPr id="3" name="Picture 2"/>
          <p:cNvPicPr>
            <a:picLocks noChangeAspect="1"/>
          </p:cNvPicPr>
          <p:nvPr/>
        </p:nvPicPr>
        <p:blipFill>
          <a:blip r:embed="rId2"/>
          <a:stretch>
            <a:fillRect/>
          </a:stretch>
        </p:blipFill>
        <p:spPr>
          <a:xfrm>
            <a:off x="2004764" y="2592518"/>
            <a:ext cx="6743700" cy="2095500"/>
          </a:xfrm>
          <a:prstGeom prst="rect">
            <a:avLst/>
          </a:prstGeom>
        </p:spPr>
      </p:pic>
      <p:pic>
        <p:nvPicPr>
          <p:cNvPr id="4" name="Picture 3"/>
          <p:cNvPicPr>
            <a:picLocks noChangeAspect="1"/>
          </p:cNvPicPr>
          <p:nvPr/>
        </p:nvPicPr>
        <p:blipFill>
          <a:blip r:embed="rId3"/>
          <a:stretch>
            <a:fillRect/>
          </a:stretch>
        </p:blipFill>
        <p:spPr>
          <a:xfrm>
            <a:off x="179388" y="1012467"/>
            <a:ext cx="5391150" cy="1562100"/>
          </a:xfrm>
          <a:prstGeom prst="rect">
            <a:avLst/>
          </a:prstGeom>
        </p:spPr>
      </p:pic>
    </p:spTree>
  </p:cSld>
  <p:clrMapOvr>
    <a:masterClrMapping/>
  </p:clrMapOvr>
  <p:transition spd="med">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4" name="Group 145"/>
          <p:cNvGrpSpPr/>
          <p:nvPr/>
        </p:nvGrpSpPr>
        <p:grpSpPr bwMode="auto">
          <a:xfrm>
            <a:off x="1585033" y="1030684"/>
            <a:ext cx="5130800" cy="1246188"/>
            <a:chOff x="890" y="1299"/>
            <a:chExt cx="3232" cy="785"/>
          </a:xfrm>
        </p:grpSpPr>
        <p:sp>
          <p:nvSpPr>
            <p:cNvPr id="175108" name="Rectangle 4"/>
            <p:cNvSpPr>
              <a:spLocks noChangeArrowheads="1"/>
            </p:cNvSpPr>
            <p:nvPr/>
          </p:nvSpPr>
          <p:spPr bwMode="auto">
            <a:xfrm>
              <a:off x="1823" y="1450"/>
              <a:ext cx="2299"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en-US" altLang="zh-CN" sz="6000" b="0" i="1" dirty="0" err="1">
                  <a:latin typeface="+mn-lt"/>
                </a:rPr>
                <a:t>Pnma</a:t>
              </a:r>
              <a:r>
                <a:rPr lang="en-US" altLang="zh-CN" sz="2800" i="1" dirty="0">
                  <a:latin typeface="+mn-lt"/>
                </a:rPr>
                <a:t> </a:t>
              </a:r>
              <a:r>
                <a:rPr lang="en-US" altLang="zh-CN" sz="2800" dirty="0">
                  <a:latin typeface="+mn-lt"/>
                </a:rPr>
                <a:t>(#62)</a:t>
              </a:r>
            </a:p>
          </p:txBody>
        </p:sp>
        <p:sp>
          <p:nvSpPr>
            <p:cNvPr id="175109" name="Rectangle 5"/>
            <p:cNvSpPr>
              <a:spLocks noChangeArrowheads="1"/>
            </p:cNvSpPr>
            <p:nvPr/>
          </p:nvSpPr>
          <p:spPr bwMode="auto">
            <a:xfrm>
              <a:off x="2447" y="1299"/>
              <a:ext cx="230" cy="291"/>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1</a:t>
              </a:r>
            </a:p>
          </p:txBody>
        </p:sp>
        <p:sp>
          <p:nvSpPr>
            <p:cNvPr id="175110" name="Rectangle 6"/>
            <p:cNvSpPr>
              <a:spLocks noChangeArrowheads="1"/>
            </p:cNvSpPr>
            <p:nvPr/>
          </p:nvSpPr>
          <p:spPr bwMode="auto">
            <a:xfrm>
              <a:off x="2737" y="1299"/>
              <a:ext cx="230" cy="291"/>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a:latin typeface="+mn-lt"/>
                </a:rPr>
                <a:t>2</a:t>
              </a:r>
            </a:p>
          </p:txBody>
        </p:sp>
        <p:sp>
          <p:nvSpPr>
            <p:cNvPr id="175111" name="Rectangle 7"/>
            <p:cNvSpPr>
              <a:spLocks noChangeArrowheads="1"/>
            </p:cNvSpPr>
            <p:nvPr/>
          </p:nvSpPr>
          <p:spPr bwMode="auto">
            <a:xfrm>
              <a:off x="3022" y="1299"/>
              <a:ext cx="230" cy="291"/>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3</a:t>
              </a:r>
            </a:p>
          </p:txBody>
        </p:sp>
        <p:sp>
          <p:nvSpPr>
            <p:cNvPr id="175112" name="Rectangle 8"/>
            <p:cNvSpPr>
              <a:spLocks noChangeArrowheads="1"/>
            </p:cNvSpPr>
            <p:nvPr/>
          </p:nvSpPr>
          <p:spPr bwMode="auto">
            <a:xfrm>
              <a:off x="890" y="1299"/>
              <a:ext cx="83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defRPr/>
              </a:pPr>
              <a:r>
                <a:rPr lang="en-US" altLang="zh-CN" sz="2800" b="0" dirty="0">
                  <a:latin typeface="+mn-lt"/>
                </a:rPr>
                <a:t>Lattice</a:t>
              </a:r>
              <a:endParaRPr lang="zh-CN" altLang="en-US" sz="2800" b="0" dirty="0">
                <a:latin typeface="+mn-lt"/>
              </a:endParaRPr>
            </a:p>
          </p:txBody>
        </p:sp>
        <p:sp>
          <p:nvSpPr>
            <p:cNvPr id="20626" name="Line 9"/>
            <p:cNvSpPr>
              <a:spLocks noChangeShapeType="1"/>
            </p:cNvSpPr>
            <p:nvPr/>
          </p:nvSpPr>
          <p:spPr bwMode="auto">
            <a:xfrm>
              <a:off x="1757" y="1580"/>
              <a:ext cx="413" cy="86"/>
            </a:xfrm>
            <a:prstGeom prst="line">
              <a:avLst/>
            </a:prstGeom>
            <a:noFill/>
            <a:ln w="28575">
              <a:solidFill>
                <a:srgbClr val="00CC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grpSp>
      <p:sp>
        <p:nvSpPr>
          <p:cNvPr id="175243" name="Rectangle 139"/>
          <p:cNvSpPr>
            <a:spLocks noChangeArrowheads="1"/>
          </p:cNvSpPr>
          <p:nvPr/>
        </p:nvSpPr>
        <p:spPr bwMode="auto">
          <a:xfrm>
            <a:off x="2074734" y="3090112"/>
            <a:ext cx="365806" cy="46166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1</a:t>
            </a:r>
          </a:p>
        </p:txBody>
      </p:sp>
      <p:sp>
        <p:nvSpPr>
          <p:cNvPr id="175244" name="Rectangle 140"/>
          <p:cNvSpPr>
            <a:spLocks noChangeArrowheads="1"/>
          </p:cNvSpPr>
          <p:nvPr/>
        </p:nvSpPr>
        <p:spPr bwMode="auto">
          <a:xfrm>
            <a:off x="5549024" y="3059101"/>
            <a:ext cx="365806" cy="46166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1</a:t>
            </a:r>
          </a:p>
        </p:txBody>
      </p:sp>
      <p:sp>
        <p:nvSpPr>
          <p:cNvPr id="175246" name="Rectangle 142"/>
          <p:cNvSpPr>
            <a:spLocks noChangeArrowheads="1"/>
          </p:cNvSpPr>
          <p:nvPr/>
        </p:nvSpPr>
        <p:spPr bwMode="auto">
          <a:xfrm>
            <a:off x="4270585" y="3054395"/>
            <a:ext cx="365806" cy="46166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3</a:t>
            </a:r>
          </a:p>
        </p:txBody>
      </p:sp>
      <p:sp>
        <p:nvSpPr>
          <p:cNvPr id="175247" name="Rectangle 143"/>
          <p:cNvSpPr>
            <a:spLocks noChangeArrowheads="1"/>
          </p:cNvSpPr>
          <p:nvPr/>
        </p:nvSpPr>
        <p:spPr bwMode="auto">
          <a:xfrm>
            <a:off x="8211279" y="3058945"/>
            <a:ext cx="365806" cy="46166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3</a:t>
            </a:r>
          </a:p>
        </p:txBody>
      </p:sp>
      <p:sp>
        <p:nvSpPr>
          <p:cNvPr id="175248" name="Rectangle 144"/>
          <p:cNvSpPr>
            <a:spLocks noChangeArrowheads="1"/>
          </p:cNvSpPr>
          <p:nvPr/>
        </p:nvSpPr>
        <p:spPr bwMode="auto">
          <a:xfrm>
            <a:off x="6839901" y="3061755"/>
            <a:ext cx="365806" cy="46166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2</a:t>
            </a:r>
          </a:p>
        </p:txBody>
      </p:sp>
      <p:sp>
        <p:nvSpPr>
          <p:cNvPr id="2" name="Rectangle 1"/>
          <p:cNvSpPr/>
          <p:nvPr/>
        </p:nvSpPr>
        <p:spPr>
          <a:xfrm>
            <a:off x="39789" y="4247370"/>
            <a:ext cx="8976321" cy="44007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78" name="Group 9"/>
          <p:cNvGrpSpPr/>
          <p:nvPr/>
        </p:nvGrpSpPr>
        <p:grpSpPr bwMode="auto">
          <a:xfrm>
            <a:off x="32150" y="2708920"/>
            <a:ext cx="8991600" cy="3116263"/>
            <a:chOff x="-3" y="381"/>
            <a:chExt cx="3531" cy="3078"/>
          </a:xfrm>
        </p:grpSpPr>
        <p:grpSp>
          <p:nvGrpSpPr>
            <p:cNvPr id="279" name="Group 10"/>
            <p:cNvGrpSpPr/>
            <p:nvPr/>
          </p:nvGrpSpPr>
          <p:grpSpPr bwMode="auto">
            <a:xfrm>
              <a:off x="0" y="384"/>
              <a:ext cx="3525" cy="3072"/>
              <a:chOff x="0" y="384"/>
              <a:chExt cx="3525" cy="3072"/>
            </a:xfrm>
          </p:grpSpPr>
          <p:grpSp>
            <p:nvGrpSpPr>
              <p:cNvPr id="281" name="Group 11"/>
              <p:cNvGrpSpPr/>
              <p:nvPr/>
            </p:nvGrpSpPr>
            <p:grpSpPr bwMode="auto">
              <a:xfrm>
                <a:off x="0" y="384"/>
                <a:ext cx="633" cy="768"/>
                <a:chOff x="0" y="384"/>
                <a:chExt cx="633" cy="768"/>
              </a:xfrm>
            </p:grpSpPr>
            <p:sp>
              <p:nvSpPr>
                <p:cNvPr id="405" name="Rectangle 12"/>
                <p:cNvSpPr>
                  <a:spLocks noChangeArrowheads="1"/>
                </p:cNvSpPr>
                <p:nvPr/>
              </p:nvSpPr>
              <p:spPr bwMode="auto">
                <a:xfrm>
                  <a:off x="43" y="384"/>
                  <a:ext cx="547"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Crystal system</a:t>
                  </a:r>
                  <a:endParaRPr kumimoji="0" lang="zh-CN" altLang="en-US" sz="2000" b="0" dirty="0">
                    <a:latin typeface="+mn-lt"/>
                  </a:endParaRPr>
                </a:p>
              </p:txBody>
            </p:sp>
            <p:sp>
              <p:nvSpPr>
                <p:cNvPr id="406" name="Rectangle 13"/>
                <p:cNvSpPr>
                  <a:spLocks noChangeArrowheads="1"/>
                </p:cNvSpPr>
                <p:nvPr/>
              </p:nvSpPr>
              <p:spPr bwMode="auto">
                <a:xfrm>
                  <a:off x="0" y="384"/>
                  <a:ext cx="633" cy="768"/>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2" name="Group 14"/>
              <p:cNvGrpSpPr/>
              <p:nvPr/>
            </p:nvGrpSpPr>
            <p:grpSpPr bwMode="auto">
              <a:xfrm>
                <a:off x="633" y="384"/>
                <a:ext cx="2892" cy="384"/>
                <a:chOff x="633" y="384"/>
                <a:chExt cx="2892" cy="384"/>
              </a:xfrm>
            </p:grpSpPr>
            <p:sp>
              <p:nvSpPr>
                <p:cNvPr id="403" name="Rectangle 15"/>
                <p:cNvSpPr>
                  <a:spLocks noChangeArrowheads="1"/>
                </p:cNvSpPr>
                <p:nvPr/>
              </p:nvSpPr>
              <p:spPr bwMode="auto">
                <a:xfrm>
                  <a:off x="676" y="384"/>
                  <a:ext cx="280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The indicating directions of 3 positions(listed in turn)</a:t>
                  </a:r>
                </a:p>
              </p:txBody>
            </p:sp>
            <p:sp>
              <p:nvSpPr>
                <p:cNvPr id="404" name="Rectangle 16"/>
                <p:cNvSpPr>
                  <a:spLocks noChangeArrowheads="1"/>
                </p:cNvSpPr>
                <p:nvPr/>
              </p:nvSpPr>
              <p:spPr bwMode="auto">
                <a:xfrm>
                  <a:off x="633" y="384"/>
                  <a:ext cx="2892"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3" name="Group 17"/>
              <p:cNvGrpSpPr/>
              <p:nvPr/>
            </p:nvGrpSpPr>
            <p:grpSpPr bwMode="auto">
              <a:xfrm>
                <a:off x="633" y="768"/>
                <a:ext cx="1338" cy="384"/>
                <a:chOff x="633" y="768"/>
                <a:chExt cx="1338" cy="384"/>
              </a:xfrm>
            </p:grpSpPr>
            <p:sp>
              <p:nvSpPr>
                <p:cNvPr id="401" name="Rectangle 18"/>
                <p:cNvSpPr>
                  <a:spLocks noChangeArrowheads="1"/>
                </p:cNvSpPr>
                <p:nvPr/>
              </p:nvSpPr>
              <p:spPr bwMode="auto">
                <a:xfrm>
                  <a:off x="676" y="768"/>
                  <a:ext cx="12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kumimoji="0" lang="en-US" altLang="en-US" sz="2000" b="0">
                    <a:latin typeface="+mn-lt"/>
                  </a:endParaRPr>
                </a:p>
              </p:txBody>
            </p:sp>
            <p:sp>
              <p:nvSpPr>
                <p:cNvPr id="402" name="Rectangle 19"/>
                <p:cNvSpPr>
                  <a:spLocks noChangeArrowheads="1"/>
                </p:cNvSpPr>
                <p:nvPr/>
              </p:nvSpPr>
              <p:spPr bwMode="auto">
                <a:xfrm>
                  <a:off x="633" y="768"/>
                  <a:ext cx="133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4" name="Group 20"/>
              <p:cNvGrpSpPr/>
              <p:nvPr/>
            </p:nvGrpSpPr>
            <p:grpSpPr bwMode="auto">
              <a:xfrm>
                <a:off x="1971" y="768"/>
                <a:ext cx="1554" cy="384"/>
                <a:chOff x="1971" y="768"/>
                <a:chExt cx="1554" cy="384"/>
              </a:xfrm>
            </p:grpSpPr>
            <p:sp>
              <p:nvSpPr>
                <p:cNvPr id="399" name="Rectangle 21"/>
                <p:cNvSpPr>
                  <a:spLocks noChangeArrowheads="1"/>
                </p:cNvSpPr>
                <p:nvPr/>
              </p:nvSpPr>
              <p:spPr bwMode="auto">
                <a:xfrm>
                  <a:off x="2014" y="768"/>
                  <a:ext cx="14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kumimoji="0" lang="en-US" altLang="en-US" sz="2000" b="0">
                    <a:latin typeface="+mn-lt"/>
                  </a:endParaRPr>
                </a:p>
              </p:txBody>
            </p:sp>
            <p:sp>
              <p:nvSpPr>
                <p:cNvPr id="400" name="Rectangle 22"/>
                <p:cNvSpPr>
                  <a:spLocks noChangeArrowheads="1"/>
                </p:cNvSpPr>
                <p:nvPr/>
              </p:nvSpPr>
              <p:spPr bwMode="auto">
                <a:xfrm>
                  <a:off x="1971" y="768"/>
                  <a:ext cx="1554"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5" name="Group 23"/>
              <p:cNvGrpSpPr/>
              <p:nvPr/>
            </p:nvGrpSpPr>
            <p:grpSpPr bwMode="auto">
              <a:xfrm>
                <a:off x="0" y="1152"/>
                <a:ext cx="633" cy="384"/>
                <a:chOff x="0" y="1152"/>
                <a:chExt cx="633" cy="384"/>
              </a:xfrm>
            </p:grpSpPr>
            <p:sp>
              <p:nvSpPr>
                <p:cNvPr id="397" name="Rectangle 24"/>
                <p:cNvSpPr>
                  <a:spLocks noChangeArrowheads="1"/>
                </p:cNvSpPr>
                <p:nvPr/>
              </p:nvSpPr>
              <p:spPr bwMode="auto">
                <a:xfrm>
                  <a:off x="43" y="1152"/>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latin typeface="+mn-lt"/>
                    </a:rPr>
                    <a:t>isometric</a:t>
                  </a:r>
                  <a:endParaRPr kumimoji="0" lang="zh-CN" altLang="en-US" sz="2000" b="0" dirty="0">
                    <a:latin typeface="+mn-lt"/>
                  </a:endParaRPr>
                </a:p>
              </p:txBody>
            </p:sp>
            <p:sp>
              <p:nvSpPr>
                <p:cNvPr id="398" name="Rectangle 25"/>
                <p:cNvSpPr>
                  <a:spLocks noChangeArrowheads="1"/>
                </p:cNvSpPr>
                <p:nvPr/>
              </p:nvSpPr>
              <p:spPr bwMode="auto">
                <a:xfrm>
                  <a:off x="0" y="1152"/>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6" name="Group 26"/>
              <p:cNvGrpSpPr/>
              <p:nvPr/>
            </p:nvGrpSpPr>
            <p:grpSpPr bwMode="auto">
              <a:xfrm>
                <a:off x="633" y="1152"/>
                <a:ext cx="446" cy="384"/>
                <a:chOff x="633" y="1152"/>
                <a:chExt cx="446" cy="384"/>
              </a:xfrm>
            </p:grpSpPr>
            <p:sp>
              <p:nvSpPr>
                <p:cNvPr id="395" name="Rectangle 27"/>
                <p:cNvSpPr>
                  <a:spLocks noChangeArrowheads="1"/>
                </p:cNvSpPr>
                <p:nvPr/>
              </p:nvSpPr>
              <p:spPr bwMode="auto">
                <a:xfrm>
                  <a:off x="676"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c</a:t>
                  </a:r>
                  <a:endParaRPr kumimoji="0" lang="en-US" altLang="zh-CN" sz="2000" b="0" dirty="0">
                    <a:latin typeface="+mn-lt"/>
                  </a:endParaRPr>
                </a:p>
              </p:txBody>
            </p:sp>
            <p:sp>
              <p:nvSpPr>
                <p:cNvPr id="396" name="Rectangle 28"/>
                <p:cNvSpPr>
                  <a:spLocks noChangeArrowheads="1"/>
                </p:cNvSpPr>
                <p:nvPr/>
              </p:nvSpPr>
              <p:spPr bwMode="auto">
                <a:xfrm>
                  <a:off x="633" y="115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en-US" altLang="en-US" sz="4400" dirty="0">
                    <a:latin typeface="+mn-lt"/>
                  </a:endParaRPr>
                </a:p>
              </p:txBody>
            </p:sp>
          </p:grpSp>
          <p:grpSp>
            <p:nvGrpSpPr>
              <p:cNvPr id="287" name="Group 29"/>
              <p:cNvGrpSpPr/>
              <p:nvPr/>
            </p:nvGrpSpPr>
            <p:grpSpPr bwMode="auto">
              <a:xfrm>
                <a:off x="1079" y="1152"/>
                <a:ext cx="446" cy="384"/>
                <a:chOff x="1079" y="1152"/>
                <a:chExt cx="446" cy="384"/>
              </a:xfrm>
            </p:grpSpPr>
            <p:sp>
              <p:nvSpPr>
                <p:cNvPr id="393" name="Rectangle 30"/>
                <p:cNvSpPr>
                  <a:spLocks noChangeArrowheads="1"/>
                </p:cNvSpPr>
                <p:nvPr/>
              </p:nvSpPr>
              <p:spPr bwMode="auto">
                <a:xfrm>
                  <a:off x="1122"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a:latin typeface="+mn-lt"/>
                    </a:rPr>
                    <a:t>a+b+c</a:t>
                  </a:r>
                  <a:endParaRPr kumimoji="0" lang="en-US" altLang="zh-CN" sz="2000" b="0">
                    <a:latin typeface="+mn-lt"/>
                  </a:endParaRPr>
                </a:p>
              </p:txBody>
            </p:sp>
            <p:sp>
              <p:nvSpPr>
                <p:cNvPr id="394" name="Rectangle 31"/>
                <p:cNvSpPr>
                  <a:spLocks noChangeArrowheads="1"/>
                </p:cNvSpPr>
                <p:nvPr/>
              </p:nvSpPr>
              <p:spPr bwMode="auto">
                <a:xfrm>
                  <a:off x="1079" y="115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8" name="Group 32"/>
              <p:cNvGrpSpPr/>
              <p:nvPr/>
            </p:nvGrpSpPr>
            <p:grpSpPr bwMode="auto">
              <a:xfrm>
                <a:off x="1525" y="1152"/>
                <a:ext cx="446" cy="384"/>
                <a:chOff x="1525" y="1152"/>
                <a:chExt cx="446" cy="384"/>
              </a:xfrm>
            </p:grpSpPr>
            <p:sp>
              <p:nvSpPr>
                <p:cNvPr id="391" name="Rectangle 33"/>
                <p:cNvSpPr>
                  <a:spLocks noChangeArrowheads="1"/>
                </p:cNvSpPr>
                <p:nvPr/>
              </p:nvSpPr>
              <p:spPr bwMode="auto">
                <a:xfrm>
                  <a:off x="1568"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err="1">
                      <a:latin typeface="+mn-lt"/>
                    </a:rPr>
                    <a:t>a+b</a:t>
                  </a:r>
                  <a:endParaRPr kumimoji="0" lang="en-US" altLang="zh-CN" sz="2000" b="0" dirty="0">
                    <a:latin typeface="+mn-lt"/>
                  </a:endParaRPr>
                </a:p>
              </p:txBody>
            </p:sp>
            <p:sp>
              <p:nvSpPr>
                <p:cNvPr id="392" name="Rectangle 34"/>
                <p:cNvSpPr>
                  <a:spLocks noChangeArrowheads="1"/>
                </p:cNvSpPr>
                <p:nvPr/>
              </p:nvSpPr>
              <p:spPr bwMode="auto">
                <a:xfrm>
                  <a:off x="1525" y="115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89" name="Group 35"/>
              <p:cNvGrpSpPr/>
              <p:nvPr/>
            </p:nvGrpSpPr>
            <p:grpSpPr bwMode="auto">
              <a:xfrm>
                <a:off x="1971" y="1152"/>
                <a:ext cx="518" cy="384"/>
                <a:chOff x="1971" y="1152"/>
                <a:chExt cx="518" cy="384"/>
              </a:xfrm>
            </p:grpSpPr>
            <p:sp>
              <p:nvSpPr>
                <p:cNvPr id="389" name="Rectangle 36"/>
                <p:cNvSpPr>
                  <a:spLocks noChangeArrowheads="1"/>
                </p:cNvSpPr>
                <p:nvPr/>
              </p:nvSpPr>
              <p:spPr bwMode="auto">
                <a:xfrm>
                  <a:off x="2014"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[001]</a:t>
                  </a:r>
                </a:p>
              </p:txBody>
            </p:sp>
            <p:sp>
              <p:nvSpPr>
                <p:cNvPr id="390" name="Rectangle 37"/>
                <p:cNvSpPr>
                  <a:spLocks noChangeArrowheads="1"/>
                </p:cNvSpPr>
                <p:nvPr/>
              </p:nvSpPr>
              <p:spPr bwMode="auto">
                <a:xfrm>
                  <a:off x="1971" y="115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0" name="Group 38"/>
              <p:cNvGrpSpPr/>
              <p:nvPr/>
            </p:nvGrpSpPr>
            <p:grpSpPr bwMode="auto">
              <a:xfrm>
                <a:off x="2489" y="1152"/>
                <a:ext cx="518" cy="384"/>
                <a:chOff x="2489" y="1152"/>
                <a:chExt cx="518" cy="384"/>
              </a:xfrm>
            </p:grpSpPr>
            <p:sp>
              <p:nvSpPr>
                <p:cNvPr id="387" name="Rectangle 39"/>
                <p:cNvSpPr>
                  <a:spLocks noChangeArrowheads="1"/>
                </p:cNvSpPr>
                <p:nvPr/>
              </p:nvSpPr>
              <p:spPr bwMode="auto">
                <a:xfrm>
                  <a:off x="2532"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[111]</a:t>
                  </a:r>
                </a:p>
              </p:txBody>
            </p:sp>
            <p:sp>
              <p:nvSpPr>
                <p:cNvPr id="388" name="Rectangle 40"/>
                <p:cNvSpPr>
                  <a:spLocks noChangeArrowheads="1"/>
                </p:cNvSpPr>
                <p:nvPr/>
              </p:nvSpPr>
              <p:spPr bwMode="auto">
                <a:xfrm>
                  <a:off x="2489" y="115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1" name="Group 41"/>
              <p:cNvGrpSpPr/>
              <p:nvPr/>
            </p:nvGrpSpPr>
            <p:grpSpPr bwMode="auto">
              <a:xfrm>
                <a:off x="3007" y="1152"/>
                <a:ext cx="518" cy="384"/>
                <a:chOff x="3007" y="1152"/>
                <a:chExt cx="518" cy="384"/>
              </a:xfrm>
            </p:grpSpPr>
            <p:sp>
              <p:nvSpPr>
                <p:cNvPr id="385" name="Rectangle 42"/>
                <p:cNvSpPr>
                  <a:spLocks noChangeArrowheads="1"/>
                </p:cNvSpPr>
                <p:nvPr/>
              </p:nvSpPr>
              <p:spPr bwMode="auto">
                <a:xfrm>
                  <a:off x="3050"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[110]</a:t>
                  </a:r>
                </a:p>
              </p:txBody>
            </p:sp>
            <p:sp>
              <p:nvSpPr>
                <p:cNvPr id="386" name="Rectangle 43"/>
                <p:cNvSpPr>
                  <a:spLocks noChangeArrowheads="1"/>
                </p:cNvSpPr>
                <p:nvPr/>
              </p:nvSpPr>
              <p:spPr bwMode="auto">
                <a:xfrm>
                  <a:off x="3007" y="115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2" name="Group 44"/>
              <p:cNvGrpSpPr/>
              <p:nvPr/>
            </p:nvGrpSpPr>
            <p:grpSpPr bwMode="auto">
              <a:xfrm>
                <a:off x="0" y="1536"/>
                <a:ext cx="633" cy="384"/>
                <a:chOff x="0" y="1536"/>
                <a:chExt cx="633" cy="384"/>
              </a:xfrm>
            </p:grpSpPr>
            <p:sp>
              <p:nvSpPr>
                <p:cNvPr id="383" name="Rectangle 45"/>
                <p:cNvSpPr>
                  <a:spLocks noChangeArrowheads="1"/>
                </p:cNvSpPr>
                <p:nvPr/>
              </p:nvSpPr>
              <p:spPr bwMode="auto">
                <a:xfrm>
                  <a:off x="43" y="1536"/>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latin typeface="+mn-lt"/>
                    </a:rPr>
                    <a:t>tetragonal </a:t>
                  </a:r>
                  <a:endParaRPr kumimoji="0" lang="zh-CN" altLang="en-US" sz="2000" b="0" dirty="0">
                    <a:latin typeface="+mn-lt"/>
                  </a:endParaRPr>
                </a:p>
              </p:txBody>
            </p:sp>
            <p:sp>
              <p:nvSpPr>
                <p:cNvPr id="384" name="Rectangle 46"/>
                <p:cNvSpPr>
                  <a:spLocks noChangeArrowheads="1"/>
                </p:cNvSpPr>
                <p:nvPr/>
              </p:nvSpPr>
              <p:spPr bwMode="auto">
                <a:xfrm>
                  <a:off x="0" y="1536"/>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3" name="Group 47"/>
              <p:cNvGrpSpPr/>
              <p:nvPr/>
            </p:nvGrpSpPr>
            <p:grpSpPr bwMode="auto">
              <a:xfrm>
                <a:off x="633" y="1536"/>
                <a:ext cx="446" cy="384"/>
                <a:chOff x="633" y="1536"/>
                <a:chExt cx="446" cy="384"/>
              </a:xfrm>
            </p:grpSpPr>
            <p:sp>
              <p:nvSpPr>
                <p:cNvPr id="381" name="Rectangle 48"/>
                <p:cNvSpPr>
                  <a:spLocks noChangeArrowheads="1"/>
                </p:cNvSpPr>
                <p:nvPr/>
              </p:nvSpPr>
              <p:spPr bwMode="auto">
                <a:xfrm>
                  <a:off x="676"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c</a:t>
                  </a:r>
                  <a:endParaRPr kumimoji="0" lang="en-US" altLang="zh-CN" sz="2000" b="0" dirty="0">
                    <a:latin typeface="+mn-lt"/>
                  </a:endParaRPr>
                </a:p>
              </p:txBody>
            </p:sp>
            <p:sp>
              <p:nvSpPr>
                <p:cNvPr id="382" name="Rectangle 49"/>
                <p:cNvSpPr>
                  <a:spLocks noChangeArrowheads="1"/>
                </p:cNvSpPr>
                <p:nvPr/>
              </p:nvSpPr>
              <p:spPr bwMode="auto">
                <a:xfrm>
                  <a:off x="633" y="1536"/>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4" name="Group 50"/>
              <p:cNvGrpSpPr/>
              <p:nvPr/>
            </p:nvGrpSpPr>
            <p:grpSpPr bwMode="auto">
              <a:xfrm>
                <a:off x="1079" y="1536"/>
                <a:ext cx="446" cy="384"/>
                <a:chOff x="1079" y="1536"/>
                <a:chExt cx="446" cy="384"/>
              </a:xfrm>
            </p:grpSpPr>
            <p:sp>
              <p:nvSpPr>
                <p:cNvPr id="379" name="Rectangle 51"/>
                <p:cNvSpPr>
                  <a:spLocks noChangeArrowheads="1"/>
                </p:cNvSpPr>
                <p:nvPr/>
              </p:nvSpPr>
              <p:spPr bwMode="auto">
                <a:xfrm>
                  <a:off x="1122"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a</a:t>
                  </a:r>
                  <a:endParaRPr kumimoji="0" lang="en-US" altLang="zh-CN" sz="2000" b="0" dirty="0">
                    <a:latin typeface="+mn-lt"/>
                  </a:endParaRPr>
                </a:p>
              </p:txBody>
            </p:sp>
            <p:sp>
              <p:nvSpPr>
                <p:cNvPr id="380" name="Rectangle 52"/>
                <p:cNvSpPr>
                  <a:spLocks noChangeArrowheads="1"/>
                </p:cNvSpPr>
                <p:nvPr/>
              </p:nvSpPr>
              <p:spPr bwMode="auto">
                <a:xfrm>
                  <a:off x="1079" y="1536"/>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en-US" altLang="en-US" sz="4400" dirty="0">
                    <a:latin typeface="+mn-lt"/>
                  </a:endParaRPr>
                </a:p>
              </p:txBody>
            </p:sp>
          </p:grpSp>
          <p:grpSp>
            <p:nvGrpSpPr>
              <p:cNvPr id="295" name="Group 53"/>
              <p:cNvGrpSpPr/>
              <p:nvPr/>
            </p:nvGrpSpPr>
            <p:grpSpPr bwMode="auto">
              <a:xfrm>
                <a:off x="1525" y="1536"/>
                <a:ext cx="446" cy="384"/>
                <a:chOff x="1525" y="1536"/>
                <a:chExt cx="446" cy="384"/>
              </a:xfrm>
            </p:grpSpPr>
            <p:sp>
              <p:nvSpPr>
                <p:cNvPr id="377" name="Rectangle 54"/>
                <p:cNvSpPr>
                  <a:spLocks noChangeArrowheads="1"/>
                </p:cNvSpPr>
                <p:nvPr/>
              </p:nvSpPr>
              <p:spPr bwMode="auto">
                <a:xfrm>
                  <a:off x="1568"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err="1">
                      <a:latin typeface="+mn-lt"/>
                    </a:rPr>
                    <a:t>a+b</a:t>
                  </a:r>
                  <a:endParaRPr kumimoji="0" lang="en-US" altLang="zh-CN" sz="2000" b="0" dirty="0">
                    <a:latin typeface="+mn-lt"/>
                  </a:endParaRPr>
                </a:p>
              </p:txBody>
            </p:sp>
            <p:sp>
              <p:nvSpPr>
                <p:cNvPr id="378" name="Rectangle 55"/>
                <p:cNvSpPr>
                  <a:spLocks noChangeArrowheads="1"/>
                </p:cNvSpPr>
                <p:nvPr/>
              </p:nvSpPr>
              <p:spPr bwMode="auto">
                <a:xfrm>
                  <a:off x="1525" y="1536"/>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6" name="Group 56"/>
              <p:cNvGrpSpPr/>
              <p:nvPr/>
            </p:nvGrpSpPr>
            <p:grpSpPr bwMode="auto">
              <a:xfrm>
                <a:off x="1971" y="1536"/>
                <a:ext cx="518" cy="384"/>
                <a:chOff x="1971" y="1536"/>
                <a:chExt cx="518" cy="384"/>
              </a:xfrm>
            </p:grpSpPr>
            <p:sp>
              <p:nvSpPr>
                <p:cNvPr id="375" name="Rectangle 57"/>
                <p:cNvSpPr>
                  <a:spLocks noChangeArrowheads="1"/>
                </p:cNvSpPr>
                <p:nvPr/>
              </p:nvSpPr>
              <p:spPr bwMode="auto">
                <a:xfrm>
                  <a:off x="2014"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[001]</a:t>
                  </a:r>
                </a:p>
              </p:txBody>
            </p:sp>
            <p:sp>
              <p:nvSpPr>
                <p:cNvPr id="376" name="Rectangle 58"/>
                <p:cNvSpPr>
                  <a:spLocks noChangeArrowheads="1"/>
                </p:cNvSpPr>
                <p:nvPr/>
              </p:nvSpPr>
              <p:spPr bwMode="auto">
                <a:xfrm>
                  <a:off x="1971" y="1536"/>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7" name="Group 59"/>
              <p:cNvGrpSpPr/>
              <p:nvPr/>
            </p:nvGrpSpPr>
            <p:grpSpPr bwMode="auto">
              <a:xfrm>
                <a:off x="2489" y="1536"/>
                <a:ext cx="518" cy="384"/>
                <a:chOff x="2489" y="1536"/>
                <a:chExt cx="518" cy="384"/>
              </a:xfrm>
            </p:grpSpPr>
            <p:sp>
              <p:nvSpPr>
                <p:cNvPr id="373" name="Rectangle 60"/>
                <p:cNvSpPr>
                  <a:spLocks noChangeArrowheads="1"/>
                </p:cNvSpPr>
                <p:nvPr/>
              </p:nvSpPr>
              <p:spPr bwMode="auto">
                <a:xfrm>
                  <a:off x="2532"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[100]</a:t>
                  </a:r>
                </a:p>
              </p:txBody>
            </p:sp>
            <p:sp>
              <p:nvSpPr>
                <p:cNvPr id="374" name="Rectangle 61"/>
                <p:cNvSpPr>
                  <a:spLocks noChangeArrowheads="1"/>
                </p:cNvSpPr>
                <p:nvPr/>
              </p:nvSpPr>
              <p:spPr bwMode="auto">
                <a:xfrm>
                  <a:off x="2489" y="1536"/>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8" name="Group 62"/>
              <p:cNvGrpSpPr/>
              <p:nvPr/>
            </p:nvGrpSpPr>
            <p:grpSpPr bwMode="auto">
              <a:xfrm>
                <a:off x="3007" y="1536"/>
                <a:ext cx="518" cy="384"/>
                <a:chOff x="3007" y="1536"/>
                <a:chExt cx="518" cy="384"/>
              </a:xfrm>
            </p:grpSpPr>
            <p:sp>
              <p:nvSpPr>
                <p:cNvPr id="371" name="Rectangle 63"/>
                <p:cNvSpPr>
                  <a:spLocks noChangeArrowheads="1"/>
                </p:cNvSpPr>
                <p:nvPr/>
              </p:nvSpPr>
              <p:spPr bwMode="auto">
                <a:xfrm>
                  <a:off x="3050"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[110]</a:t>
                  </a:r>
                </a:p>
              </p:txBody>
            </p:sp>
            <p:sp>
              <p:nvSpPr>
                <p:cNvPr id="372" name="Rectangle 64"/>
                <p:cNvSpPr>
                  <a:spLocks noChangeArrowheads="1"/>
                </p:cNvSpPr>
                <p:nvPr/>
              </p:nvSpPr>
              <p:spPr bwMode="auto">
                <a:xfrm>
                  <a:off x="3007" y="1536"/>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299" name="Group 65"/>
              <p:cNvGrpSpPr/>
              <p:nvPr/>
            </p:nvGrpSpPr>
            <p:grpSpPr bwMode="auto">
              <a:xfrm>
                <a:off x="0" y="1920"/>
                <a:ext cx="676" cy="384"/>
                <a:chOff x="0" y="1920"/>
                <a:chExt cx="676" cy="384"/>
              </a:xfrm>
            </p:grpSpPr>
            <p:sp>
              <p:nvSpPr>
                <p:cNvPr id="369" name="Rectangle 66"/>
                <p:cNvSpPr>
                  <a:spLocks noChangeArrowheads="1"/>
                </p:cNvSpPr>
                <p:nvPr/>
              </p:nvSpPr>
              <p:spPr bwMode="auto">
                <a:xfrm>
                  <a:off x="0" y="1920"/>
                  <a:ext cx="6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latin typeface="+mn-lt"/>
                    </a:rPr>
                    <a:t>orthorhombic</a:t>
                  </a:r>
                  <a:endParaRPr kumimoji="0" lang="zh-CN" altLang="en-US" sz="2000" b="0" dirty="0">
                    <a:latin typeface="+mn-lt"/>
                  </a:endParaRPr>
                </a:p>
              </p:txBody>
            </p:sp>
            <p:sp>
              <p:nvSpPr>
                <p:cNvPr id="370" name="Rectangle 67"/>
                <p:cNvSpPr>
                  <a:spLocks noChangeArrowheads="1"/>
                </p:cNvSpPr>
                <p:nvPr/>
              </p:nvSpPr>
              <p:spPr bwMode="auto">
                <a:xfrm>
                  <a:off x="0" y="1920"/>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0" name="Group 68"/>
              <p:cNvGrpSpPr/>
              <p:nvPr/>
            </p:nvGrpSpPr>
            <p:grpSpPr bwMode="auto">
              <a:xfrm>
                <a:off x="633" y="1920"/>
                <a:ext cx="446" cy="384"/>
                <a:chOff x="633" y="1920"/>
                <a:chExt cx="446" cy="384"/>
              </a:xfrm>
            </p:grpSpPr>
            <p:sp>
              <p:nvSpPr>
                <p:cNvPr id="367" name="Rectangle 69"/>
                <p:cNvSpPr>
                  <a:spLocks noChangeArrowheads="1"/>
                </p:cNvSpPr>
                <p:nvPr/>
              </p:nvSpPr>
              <p:spPr bwMode="auto">
                <a:xfrm>
                  <a:off x="676"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a</a:t>
                  </a:r>
                  <a:endParaRPr kumimoji="0" lang="en-US" altLang="zh-CN" sz="2000" b="0" dirty="0">
                    <a:latin typeface="+mn-lt"/>
                  </a:endParaRPr>
                </a:p>
              </p:txBody>
            </p:sp>
            <p:sp>
              <p:nvSpPr>
                <p:cNvPr id="368" name="Rectangle 70"/>
                <p:cNvSpPr>
                  <a:spLocks noChangeArrowheads="1"/>
                </p:cNvSpPr>
                <p:nvPr/>
              </p:nvSpPr>
              <p:spPr bwMode="auto">
                <a:xfrm>
                  <a:off x="633" y="1920"/>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1" name="Group 71"/>
              <p:cNvGrpSpPr/>
              <p:nvPr/>
            </p:nvGrpSpPr>
            <p:grpSpPr bwMode="auto">
              <a:xfrm>
                <a:off x="1079" y="1920"/>
                <a:ext cx="446" cy="384"/>
                <a:chOff x="1079" y="1920"/>
                <a:chExt cx="446" cy="384"/>
              </a:xfrm>
            </p:grpSpPr>
            <p:sp>
              <p:nvSpPr>
                <p:cNvPr id="365" name="Rectangle 72"/>
                <p:cNvSpPr>
                  <a:spLocks noChangeArrowheads="1"/>
                </p:cNvSpPr>
                <p:nvPr/>
              </p:nvSpPr>
              <p:spPr bwMode="auto">
                <a:xfrm>
                  <a:off x="1122"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b</a:t>
                  </a:r>
                  <a:endParaRPr kumimoji="0" lang="en-US" altLang="zh-CN" sz="2000" b="0" dirty="0">
                    <a:latin typeface="+mn-lt"/>
                  </a:endParaRPr>
                </a:p>
              </p:txBody>
            </p:sp>
            <p:sp>
              <p:nvSpPr>
                <p:cNvPr id="366" name="Rectangle 73"/>
                <p:cNvSpPr>
                  <a:spLocks noChangeArrowheads="1"/>
                </p:cNvSpPr>
                <p:nvPr/>
              </p:nvSpPr>
              <p:spPr bwMode="auto">
                <a:xfrm>
                  <a:off x="1079" y="1920"/>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en-US" altLang="en-US" sz="4400" dirty="0">
                    <a:latin typeface="+mn-lt"/>
                  </a:endParaRPr>
                </a:p>
              </p:txBody>
            </p:sp>
          </p:grpSp>
          <p:grpSp>
            <p:nvGrpSpPr>
              <p:cNvPr id="302" name="Group 74"/>
              <p:cNvGrpSpPr/>
              <p:nvPr/>
            </p:nvGrpSpPr>
            <p:grpSpPr bwMode="auto">
              <a:xfrm>
                <a:off x="1525" y="1920"/>
                <a:ext cx="446" cy="384"/>
                <a:chOff x="1525" y="1920"/>
                <a:chExt cx="446" cy="384"/>
              </a:xfrm>
            </p:grpSpPr>
            <p:sp>
              <p:nvSpPr>
                <p:cNvPr id="363" name="Rectangle 75"/>
                <p:cNvSpPr>
                  <a:spLocks noChangeArrowheads="1"/>
                </p:cNvSpPr>
                <p:nvPr/>
              </p:nvSpPr>
              <p:spPr bwMode="auto">
                <a:xfrm>
                  <a:off x="1568"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c</a:t>
                  </a:r>
                  <a:endParaRPr kumimoji="0" lang="en-US" altLang="zh-CN" sz="2000" b="0" dirty="0">
                    <a:latin typeface="+mn-lt"/>
                  </a:endParaRPr>
                </a:p>
              </p:txBody>
            </p:sp>
            <p:sp>
              <p:nvSpPr>
                <p:cNvPr id="364" name="Rectangle 76"/>
                <p:cNvSpPr>
                  <a:spLocks noChangeArrowheads="1"/>
                </p:cNvSpPr>
                <p:nvPr/>
              </p:nvSpPr>
              <p:spPr bwMode="auto">
                <a:xfrm>
                  <a:off x="1525" y="1920"/>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3" name="Group 77"/>
              <p:cNvGrpSpPr/>
              <p:nvPr/>
            </p:nvGrpSpPr>
            <p:grpSpPr bwMode="auto">
              <a:xfrm>
                <a:off x="1971" y="1920"/>
                <a:ext cx="518" cy="384"/>
                <a:chOff x="1971" y="1920"/>
                <a:chExt cx="518" cy="384"/>
              </a:xfrm>
            </p:grpSpPr>
            <p:sp>
              <p:nvSpPr>
                <p:cNvPr id="361" name="Rectangle 78"/>
                <p:cNvSpPr>
                  <a:spLocks noChangeArrowheads="1"/>
                </p:cNvSpPr>
                <p:nvPr/>
              </p:nvSpPr>
              <p:spPr bwMode="auto">
                <a:xfrm>
                  <a:off x="2014"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[100]</a:t>
                  </a:r>
                </a:p>
              </p:txBody>
            </p:sp>
            <p:sp>
              <p:nvSpPr>
                <p:cNvPr id="362" name="Rectangle 79"/>
                <p:cNvSpPr>
                  <a:spLocks noChangeArrowheads="1"/>
                </p:cNvSpPr>
                <p:nvPr/>
              </p:nvSpPr>
              <p:spPr bwMode="auto">
                <a:xfrm>
                  <a:off x="1971" y="1920"/>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4" name="Group 80"/>
              <p:cNvGrpSpPr/>
              <p:nvPr/>
            </p:nvGrpSpPr>
            <p:grpSpPr bwMode="auto">
              <a:xfrm>
                <a:off x="2489" y="1920"/>
                <a:ext cx="518" cy="384"/>
                <a:chOff x="2489" y="1920"/>
                <a:chExt cx="518" cy="384"/>
              </a:xfrm>
            </p:grpSpPr>
            <p:sp>
              <p:nvSpPr>
                <p:cNvPr id="359" name="Rectangle 81"/>
                <p:cNvSpPr>
                  <a:spLocks noChangeArrowheads="1"/>
                </p:cNvSpPr>
                <p:nvPr/>
              </p:nvSpPr>
              <p:spPr bwMode="auto">
                <a:xfrm>
                  <a:off x="2532"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[010]</a:t>
                  </a:r>
                </a:p>
              </p:txBody>
            </p:sp>
            <p:sp>
              <p:nvSpPr>
                <p:cNvPr id="360" name="Rectangle 82"/>
                <p:cNvSpPr>
                  <a:spLocks noChangeArrowheads="1"/>
                </p:cNvSpPr>
                <p:nvPr/>
              </p:nvSpPr>
              <p:spPr bwMode="auto">
                <a:xfrm>
                  <a:off x="2489" y="1920"/>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5" name="Group 83"/>
              <p:cNvGrpSpPr/>
              <p:nvPr/>
            </p:nvGrpSpPr>
            <p:grpSpPr bwMode="auto">
              <a:xfrm>
                <a:off x="3007" y="1920"/>
                <a:ext cx="518" cy="384"/>
                <a:chOff x="3007" y="1920"/>
                <a:chExt cx="518" cy="384"/>
              </a:xfrm>
            </p:grpSpPr>
            <p:sp>
              <p:nvSpPr>
                <p:cNvPr id="357" name="Rectangle 84"/>
                <p:cNvSpPr>
                  <a:spLocks noChangeArrowheads="1"/>
                </p:cNvSpPr>
                <p:nvPr/>
              </p:nvSpPr>
              <p:spPr bwMode="auto">
                <a:xfrm>
                  <a:off x="3050"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[001]</a:t>
                  </a:r>
                </a:p>
              </p:txBody>
            </p:sp>
            <p:sp>
              <p:nvSpPr>
                <p:cNvPr id="358" name="Rectangle 85"/>
                <p:cNvSpPr>
                  <a:spLocks noChangeArrowheads="1"/>
                </p:cNvSpPr>
                <p:nvPr/>
              </p:nvSpPr>
              <p:spPr bwMode="auto">
                <a:xfrm>
                  <a:off x="3007" y="1920"/>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6" name="Group 86"/>
              <p:cNvGrpSpPr/>
              <p:nvPr/>
            </p:nvGrpSpPr>
            <p:grpSpPr bwMode="auto">
              <a:xfrm>
                <a:off x="0" y="2304"/>
                <a:ext cx="633" cy="384"/>
                <a:chOff x="0" y="2304"/>
                <a:chExt cx="633" cy="384"/>
              </a:xfrm>
            </p:grpSpPr>
            <p:sp>
              <p:nvSpPr>
                <p:cNvPr id="355" name="Rectangle 87"/>
                <p:cNvSpPr>
                  <a:spLocks noChangeArrowheads="1"/>
                </p:cNvSpPr>
                <p:nvPr/>
              </p:nvSpPr>
              <p:spPr bwMode="auto">
                <a:xfrm>
                  <a:off x="43" y="2304"/>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latin typeface="+mn-lt"/>
                    </a:rPr>
                    <a:t>monoclinic </a:t>
                  </a:r>
                  <a:endParaRPr kumimoji="0" lang="zh-CN" altLang="en-US" sz="2000" b="0" dirty="0">
                    <a:latin typeface="+mn-lt"/>
                  </a:endParaRPr>
                </a:p>
              </p:txBody>
            </p:sp>
            <p:sp>
              <p:nvSpPr>
                <p:cNvPr id="356" name="Rectangle 88"/>
                <p:cNvSpPr>
                  <a:spLocks noChangeArrowheads="1"/>
                </p:cNvSpPr>
                <p:nvPr/>
              </p:nvSpPr>
              <p:spPr bwMode="auto">
                <a:xfrm>
                  <a:off x="0" y="2304"/>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7" name="Group 89"/>
              <p:cNvGrpSpPr/>
              <p:nvPr/>
            </p:nvGrpSpPr>
            <p:grpSpPr bwMode="auto">
              <a:xfrm>
                <a:off x="633" y="2304"/>
                <a:ext cx="446" cy="384"/>
                <a:chOff x="633" y="2304"/>
                <a:chExt cx="446" cy="384"/>
              </a:xfrm>
            </p:grpSpPr>
            <p:sp>
              <p:nvSpPr>
                <p:cNvPr id="353" name="Rectangle 352"/>
                <p:cNvSpPr>
                  <a:spLocks noChangeArrowheads="1"/>
                </p:cNvSpPr>
                <p:nvPr/>
              </p:nvSpPr>
              <p:spPr bwMode="auto">
                <a:xfrm>
                  <a:off x="676"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b</a:t>
                  </a:r>
                  <a:endParaRPr kumimoji="0" lang="en-US" altLang="zh-CN" sz="2000" b="0" dirty="0">
                    <a:latin typeface="+mn-lt"/>
                  </a:endParaRPr>
                </a:p>
              </p:txBody>
            </p:sp>
            <p:sp>
              <p:nvSpPr>
                <p:cNvPr id="354" name="Rectangle 353"/>
                <p:cNvSpPr>
                  <a:spLocks noChangeArrowheads="1"/>
                </p:cNvSpPr>
                <p:nvPr/>
              </p:nvSpPr>
              <p:spPr bwMode="auto">
                <a:xfrm>
                  <a:off x="633" y="2304"/>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8" name="Group 92"/>
              <p:cNvGrpSpPr/>
              <p:nvPr/>
            </p:nvGrpSpPr>
            <p:grpSpPr bwMode="auto">
              <a:xfrm>
                <a:off x="1079" y="2304"/>
                <a:ext cx="446" cy="384"/>
                <a:chOff x="1079" y="2304"/>
                <a:chExt cx="446" cy="384"/>
              </a:xfrm>
            </p:grpSpPr>
            <p:sp>
              <p:nvSpPr>
                <p:cNvPr id="351" name="Rectangle 93"/>
                <p:cNvSpPr>
                  <a:spLocks noChangeArrowheads="1"/>
                </p:cNvSpPr>
                <p:nvPr/>
              </p:nvSpPr>
              <p:spPr bwMode="auto">
                <a:xfrm>
                  <a:off x="1122"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latin typeface="+mn-lt"/>
                    </a:rPr>
                    <a:t> </a:t>
                  </a:r>
                </a:p>
                <a:p>
                  <a:pPr algn="just">
                    <a:spcBef>
                      <a:spcPct val="0"/>
                    </a:spcBef>
                    <a:buFontTx/>
                    <a:buNone/>
                  </a:pPr>
                  <a:endParaRPr kumimoji="0" lang="en-US" altLang="zh-CN" sz="2000" b="0">
                    <a:latin typeface="+mn-lt"/>
                  </a:endParaRPr>
                </a:p>
              </p:txBody>
            </p:sp>
            <p:sp>
              <p:nvSpPr>
                <p:cNvPr id="352" name="Rectangle 94"/>
                <p:cNvSpPr>
                  <a:spLocks noChangeArrowheads="1"/>
                </p:cNvSpPr>
                <p:nvPr/>
              </p:nvSpPr>
              <p:spPr bwMode="auto">
                <a:xfrm>
                  <a:off x="1079" y="2304"/>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09" name="Group 95"/>
              <p:cNvGrpSpPr/>
              <p:nvPr/>
            </p:nvGrpSpPr>
            <p:grpSpPr bwMode="auto">
              <a:xfrm>
                <a:off x="1525" y="2304"/>
                <a:ext cx="446" cy="384"/>
                <a:chOff x="1525" y="2304"/>
                <a:chExt cx="446" cy="384"/>
              </a:xfrm>
            </p:grpSpPr>
            <p:sp>
              <p:nvSpPr>
                <p:cNvPr id="349" name="Rectangle 96"/>
                <p:cNvSpPr>
                  <a:spLocks noChangeArrowheads="1"/>
                </p:cNvSpPr>
                <p:nvPr/>
              </p:nvSpPr>
              <p:spPr bwMode="auto">
                <a:xfrm>
                  <a:off x="1568"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latin typeface="+mn-lt"/>
                    </a:rPr>
                    <a:t> </a:t>
                  </a:r>
                </a:p>
                <a:p>
                  <a:pPr algn="just">
                    <a:spcBef>
                      <a:spcPct val="0"/>
                    </a:spcBef>
                    <a:buFontTx/>
                    <a:buNone/>
                  </a:pPr>
                  <a:endParaRPr kumimoji="0" lang="en-US" altLang="zh-CN" sz="2000" b="0">
                    <a:latin typeface="+mn-lt"/>
                  </a:endParaRPr>
                </a:p>
              </p:txBody>
            </p:sp>
            <p:sp>
              <p:nvSpPr>
                <p:cNvPr id="350" name="Rectangle 97"/>
                <p:cNvSpPr>
                  <a:spLocks noChangeArrowheads="1"/>
                </p:cNvSpPr>
                <p:nvPr/>
              </p:nvSpPr>
              <p:spPr bwMode="auto">
                <a:xfrm>
                  <a:off x="1525" y="2304"/>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0" name="Group 98"/>
              <p:cNvGrpSpPr/>
              <p:nvPr/>
            </p:nvGrpSpPr>
            <p:grpSpPr bwMode="auto">
              <a:xfrm>
                <a:off x="1971" y="2304"/>
                <a:ext cx="518" cy="384"/>
                <a:chOff x="1971" y="2304"/>
                <a:chExt cx="518" cy="384"/>
              </a:xfrm>
            </p:grpSpPr>
            <p:sp>
              <p:nvSpPr>
                <p:cNvPr id="347" name="Rectangle 99"/>
                <p:cNvSpPr>
                  <a:spLocks noChangeArrowheads="1"/>
                </p:cNvSpPr>
                <p:nvPr/>
              </p:nvSpPr>
              <p:spPr bwMode="auto">
                <a:xfrm>
                  <a:off x="2014"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[010]</a:t>
                  </a:r>
                </a:p>
              </p:txBody>
            </p:sp>
            <p:sp>
              <p:nvSpPr>
                <p:cNvPr id="348" name="Rectangle 100"/>
                <p:cNvSpPr>
                  <a:spLocks noChangeArrowheads="1"/>
                </p:cNvSpPr>
                <p:nvPr/>
              </p:nvSpPr>
              <p:spPr bwMode="auto">
                <a:xfrm>
                  <a:off x="1971" y="2304"/>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1" name="Group 101"/>
              <p:cNvGrpSpPr/>
              <p:nvPr/>
            </p:nvGrpSpPr>
            <p:grpSpPr bwMode="auto">
              <a:xfrm>
                <a:off x="2489" y="2304"/>
                <a:ext cx="518" cy="384"/>
                <a:chOff x="2489" y="2304"/>
                <a:chExt cx="518" cy="384"/>
              </a:xfrm>
            </p:grpSpPr>
            <p:sp>
              <p:nvSpPr>
                <p:cNvPr id="345" name="Rectangle 102"/>
                <p:cNvSpPr>
                  <a:spLocks noChangeArrowheads="1"/>
                </p:cNvSpPr>
                <p:nvPr/>
              </p:nvSpPr>
              <p:spPr bwMode="auto">
                <a:xfrm>
                  <a:off x="2532"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latin typeface="+mn-lt"/>
                    </a:rPr>
                    <a:t> </a:t>
                  </a:r>
                </a:p>
                <a:p>
                  <a:pPr algn="just">
                    <a:spcBef>
                      <a:spcPct val="0"/>
                    </a:spcBef>
                    <a:buFontTx/>
                    <a:buNone/>
                  </a:pPr>
                  <a:endParaRPr kumimoji="0" lang="en-US" altLang="zh-CN" sz="2000" b="0">
                    <a:latin typeface="+mn-lt"/>
                  </a:endParaRPr>
                </a:p>
              </p:txBody>
            </p:sp>
            <p:sp>
              <p:nvSpPr>
                <p:cNvPr id="346" name="Rectangle 103"/>
                <p:cNvSpPr>
                  <a:spLocks noChangeArrowheads="1"/>
                </p:cNvSpPr>
                <p:nvPr/>
              </p:nvSpPr>
              <p:spPr bwMode="auto">
                <a:xfrm>
                  <a:off x="2489" y="2304"/>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2" name="Group 104"/>
              <p:cNvGrpSpPr/>
              <p:nvPr/>
            </p:nvGrpSpPr>
            <p:grpSpPr bwMode="auto">
              <a:xfrm>
                <a:off x="3007" y="2304"/>
                <a:ext cx="518" cy="384"/>
                <a:chOff x="3007" y="2304"/>
                <a:chExt cx="518" cy="384"/>
              </a:xfrm>
            </p:grpSpPr>
            <p:sp>
              <p:nvSpPr>
                <p:cNvPr id="343" name="Rectangle 105"/>
                <p:cNvSpPr>
                  <a:spLocks noChangeArrowheads="1"/>
                </p:cNvSpPr>
                <p:nvPr/>
              </p:nvSpPr>
              <p:spPr bwMode="auto">
                <a:xfrm>
                  <a:off x="3050"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a:latin typeface="+mn-lt"/>
                    </a:rPr>
                    <a:t> </a:t>
                  </a:r>
                </a:p>
                <a:p>
                  <a:pPr algn="just">
                    <a:spcBef>
                      <a:spcPct val="0"/>
                    </a:spcBef>
                    <a:buFontTx/>
                    <a:buNone/>
                  </a:pPr>
                  <a:endParaRPr kumimoji="0" lang="en-US" altLang="zh-CN" sz="2000" b="0">
                    <a:latin typeface="+mn-lt"/>
                  </a:endParaRPr>
                </a:p>
              </p:txBody>
            </p:sp>
            <p:sp>
              <p:nvSpPr>
                <p:cNvPr id="344" name="Rectangle 106"/>
                <p:cNvSpPr>
                  <a:spLocks noChangeArrowheads="1"/>
                </p:cNvSpPr>
                <p:nvPr/>
              </p:nvSpPr>
              <p:spPr bwMode="auto">
                <a:xfrm>
                  <a:off x="3007" y="2304"/>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3" name="Group 107"/>
              <p:cNvGrpSpPr/>
              <p:nvPr/>
            </p:nvGrpSpPr>
            <p:grpSpPr bwMode="auto">
              <a:xfrm>
                <a:off x="0" y="2688"/>
                <a:ext cx="633" cy="384"/>
                <a:chOff x="0" y="2688"/>
                <a:chExt cx="633" cy="384"/>
              </a:xfrm>
            </p:grpSpPr>
            <p:sp>
              <p:nvSpPr>
                <p:cNvPr id="341" name="Rectangle 108"/>
                <p:cNvSpPr>
                  <a:spLocks noChangeArrowheads="1"/>
                </p:cNvSpPr>
                <p:nvPr/>
              </p:nvSpPr>
              <p:spPr bwMode="auto">
                <a:xfrm>
                  <a:off x="43" y="2688"/>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kumimoji="0" lang="en-US" altLang="zh-CN" sz="2000" b="0" dirty="0">
                      <a:latin typeface="+mn-lt"/>
                    </a:rPr>
                    <a:t> triclinic </a:t>
                  </a:r>
                  <a:endParaRPr kumimoji="0" lang="zh-CN" altLang="en-US" sz="2000" b="0" dirty="0">
                    <a:latin typeface="+mn-lt"/>
                  </a:endParaRPr>
                </a:p>
              </p:txBody>
            </p:sp>
            <p:sp>
              <p:nvSpPr>
                <p:cNvPr id="342" name="Rectangle 109"/>
                <p:cNvSpPr>
                  <a:spLocks noChangeArrowheads="1"/>
                </p:cNvSpPr>
                <p:nvPr/>
              </p:nvSpPr>
              <p:spPr bwMode="auto">
                <a:xfrm>
                  <a:off x="0" y="2688"/>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4" name="Group 110"/>
              <p:cNvGrpSpPr/>
              <p:nvPr/>
            </p:nvGrpSpPr>
            <p:grpSpPr bwMode="auto">
              <a:xfrm>
                <a:off x="633" y="2688"/>
                <a:ext cx="1338" cy="384"/>
                <a:chOff x="633" y="2688"/>
                <a:chExt cx="1338" cy="384"/>
              </a:xfrm>
            </p:grpSpPr>
            <p:sp>
              <p:nvSpPr>
                <p:cNvPr id="339" name="Rectangle 111"/>
                <p:cNvSpPr>
                  <a:spLocks noChangeArrowheads="1"/>
                </p:cNvSpPr>
                <p:nvPr/>
              </p:nvSpPr>
              <p:spPr bwMode="auto">
                <a:xfrm>
                  <a:off x="676" y="2688"/>
                  <a:ext cx="12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Arbitrary direction</a:t>
                  </a:r>
                  <a:endParaRPr kumimoji="0" lang="zh-CN" altLang="en-US" sz="2000" b="0" dirty="0">
                    <a:latin typeface="+mn-lt"/>
                  </a:endParaRPr>
                </a:p>
              </p:txBody>
            </p:sp>
            <p:sp>
              <p:nvSpPr>
                <p:cNvPr id="340" name="Rectangle 112"/>
                <p:cNvSpPr>
                  <a:spLocks noChangeArrowheads="1"/>
                </p:cNvSpPr>
                <p:nvPr/>
              </p:nvSpPr>
              <p:spPr bwMode="auto">
                <a:xfrm>
                  <a:off x="633" y="2688"/>
                  <a:ext cx="133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5" name="Group 113"/>
              <p:cNvGrpSpPr/>
              <p:nvPr/>
            </p:nvGrpSpPr>
            <p:grpSpPr bwMode="auto">
              <a:xfrm>
                <a:off x="1971" y="2688"/>
                <a:ext cx="1554" cy="384"/>
                <a:chOff x="1971" y="2688"/>
                <a:chExt cx="1554" cy="384"/>
              </a:xfrm>
            </p:grpSpPr>
            <p:sp>
              <p:nvSpPr>
                <p:cNvPr id="337" name="Rectangle 114"/>
                <p:cNvSpPr>
                  <a:spLocks noChangeArrowheads="1"/>
                </p:cNvSpPr>
                <p:nvPr/>
              </p:nvSpPr>
              <p:spPr bwMode="auto">
                <a:xfrm>
                  <a:off x="2014" y="2688"/>
                  <a:ext cx="14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Arbitrary direction</a:t>
                  </a:r>
                  <a:endParaRPr kumimoji="0" lang="zh-CN" altLang="en-US" sz="2000" b="0" dirty="0">
                    <a:latin typeface="+mn-lt"/>
                  </a:endParaRPr>
                </a:p>
              </p:txBody>
            </p:sp>
            <p:sp>
              <p:nvSpPr>
                <p:cNvPr id="338" name="Rectangle 115"/>
                <p:cNvSpPr>
                  <a:spLocks noChangeArrowheads="1"/>
                </p:cNvSpPr>
                <p:nvPr/>
              </p:nvSpPr>
              <p:spPr bwMode="auto">
                <a:xfrm>
                  <a:off x="1971" y="2688"/>
                  <a:ext cx="1554"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6" name="Group 116"/>
              <p:cNvGrpSpPr/>
              <p:nvPr/>
            </p:nvGrpSpPr>
            <p:grpSpPr bwMode="auto">
              <a:xfrm>
                <a:off x="0" y="3072"/>
                <a:ext cx="633" cy="384"/>
                <a:chOff x="0" y="3072"/>
                <a:chExt cx="633" cy="384"/>
              </a:xfrm>
            </p:grpSpPr>
            <p:sp>
              <p:nvSpPr>
                <p:cNvPr id="335" name="Rectangle 117"/>
                <p:cNvSpPr>
                  <a:spLocks noChangeArrowheads="1"/>
                </p:cNvSpPr>
                <p:nvPr/>
              </p:nvSpPr>
              <p:spPr bwMode="auto">
                <a:xfrm>
                  <a:off x="43" y="3072"/>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endParaRPr kumimoji="0" lang="zh-CN" altLang="en-US" sz="2000" b="0" dirty="0">
                    <a:latin typeface="+mn-lt"/>
                  </a:endParaRPr>
                </a:p>
              </p:txBody>
            </p:sp>
            <p:sp>
              <p:nvSpPr>
                <p:cNvPr id="336" name="Rectangle 118"/>
                <p:cNvSpPr>
                  <a:spLocks noChangeArrowheads="1"/>
                </p:cNvSpPr>
                <p:nvPr/>
              </p:nvSpPr>
              <p:spPr bwMode="auto">
                <a:xfrm>
                  <a:off x="0" y="3072"/>
                  <a:ext cx="633"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b="0" dirty="0">
                      <a:latin typeface="+mn-lt"/>
                    </a:rPr>
                    <a:t>hexagonal</a:t>
                  </a:r>
                  <a:endParaRPr kumimoji="0" lang="en-US" altLang="en-US" sz="2000" b="0" dirty="0">
                    <a:latin typeface="+mn-lt"/>
                  </a:endParaRPr>
                </a:p>
              </p:txBody>
            </p:sp>
          </p:grpSp>
          <p:grpSp>
            <p:nvGrpSpPr>
              <p:cNvPr id="317" name="Group 119"/>
              <p:cNvGrpSpPr/>
              <p:nvPr/>
            </p:nvGrpSpPr>
            <p:grpSpPr bwMode="auto">
              <a:xfrm>
                <a:off x="633" y="3072"/>
                <a:ext cx="446" cy="384"/>
                <a:chOff x="633" y="3072"/>
                <a:chExt cx="446" cy="384"/>
              </a:xfrm>
            </p:grpSpPr>
            <p:sp>
              <p:nvSpPr>
                <p:cNvPr id="333" name="Rectangle 120"/>
                <p:cNvSpPr>
                  <a:spLocks noChangeArrowheads="1"/>
                </p:cNvSpPr>
                <p:nvPr/>
              </p:nvSpPr>
              <p:spPr bwMode="auto">
                <a:xfrm>
                  <a:off x="676"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c</a:t>
                  </a:r>
                  <a:endParaRPr kumimoji="0" lang="en-US" altLang="zh-CN" sz="2000" b="0" dirty="0">
                    <a:latin typeface="+mn-lt"/>
                  </a:endParaRPr>
                </a:p>
              </p:txBody>
            </p:sp>
            <p:sp>
              <p:nvSpPr>
                <p:cNvPr id="334" name="Rectangle 121"/>
                <p:cNvSpPr>
                  <a:spLocks noChangeArrowheads="1"/>
                </p:cNvSpPr>
                <p:nvPr/>
              </p:nvSpPr>
              <p:spPr bwMode="auto">
                <a:xfrm>
                  <a:off x="633" y="307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8" name="Group 122"/>
              <p:cNvGrpSpPr/>
              <p:nvPr/>
            </p:nvGrpSpPr>
            <p:grpSpPr bwMode="auto">
              <a:xfrm>
                <a:off x="1079" y="3072"/>
                <a:ext cx="446" cy="384"/>
                <a:chOff x="1079" y="3072"/>
                <a:chExt cx="446" cy="384"/>
              </a:xfrm>
            </p:grpSpPr>
            <p:sp>
              <p:nvSpPr>
                <p:cNvPr id="331" name="Rectangle 123"/>
                <p:cNvSpPr>
                  <a:spLocks noChangeArrowheads="1"/>
                </p:cNvSpPr>
                <p:nvPr/>
              </p:nvSpPr>
              <p:spPr bwMode="auto">
                <a:xfrm>
                  <a:off x="1122"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a</a:t>
                  </a:r>
                  <a:endParaRPr kumimoji="0" lang="en-US" altLang="zh-CN" sz="2000" b="0" dirty="0">
                    <a:latin typeface="+mn-lt"/>
                  </a:endParaRPr>
                </a:p>
              </p:txBody>
            </p:sp>
            <p:sp>
              <p:nvSpPr>
                <p:cNvPr id="332" name="Rectangle 124"/>
                <p:cNvSpPr>
                  <a:spLocks noChangeArrowheads="1"/>
                </p:cNvSpPr>
                <p:nvPr/>
              </p:nvSpPr>
              <p:spPr bwMode="auto">
                <a:xfrm>
                  <a:off x="1079" y="307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19" name="Group 125"/>
              <p:cNvGrpSpPr/>
              <p:nvPr/>
            </p:nvGrpSpPr>
            <p:grpSpPr bwMode="auto">
              <a:xfrm>
                <a:off x="1525" y="3072"/>
                <a:ext cx="446" cy="384"/>
                <a:chOff x="1525" y="3072"/>
                <a:chExt cx="446" cy="384"/>
              </a:xfrm>
            </p:grpSpPr>
            <p:sp>
              <p:nvSpPr>
                <p:cNvPr id="329" name="Rectangle 126"/>
                <p:cNvSpPr>
                  <a:spLocks noChangeArrowheads="1"/>
                </p:cNvSpPr>
                <p:nvPr/>
              </p:nvSpPr>
              <p:spPr bwMode="auto">
                <a:xfrm>
                  <a:off x="1568"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dirty="0">
                      <a:latin typeface="+mn-lt"/>
                    </a:rPr>
                    <a:t>2a+b</a:t>
                  </a:r>
                  <a:endParaRPr kumimoji="0" lang="en-US" altLang="zh-CN" sz="2000" b="0" dirty="0">
                    <a:latin typeface="+mn-lt"/>
                  </a:endParaRPr>
                </a:p>
              </p:txBody>
            </p:sp>
            <p:sp>
              <p:nvSpPr>
                <p:cNvPr id="330" name="Rectangle 127"/>
                <p:cNvSpPr>
                  <a:spLocks noChangeArrowheads="1"/>
                </p:cNvSpPr>
                <p:nvPr/>
              </p:nvSpPr>
              <p:spPr bwMode="auto">
                <a:xfrm>
                  <a:off x="1525" y="3072"/>
                  <a:ext cx="446"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20" name="Group 128"/>
              <p:cNvGrpSpPr/>
              <p:nvPr/>
            </p:nvGrpSpPr>
            <p:grpSpPr bwMode="auto">
              <a:xfrm>
                <a:off x="1971" y="3072"/>
                <a:ext cx="518" cy="384"/>
                <a:chOff x="1971" y="3072"/>
                <a:chExt cx="518" cy="384"/>
              </a:xfrm>
            </p:grpSpPr>
            <p:sp>
              <p:nvSpPr>
                <p:cNvPr id="327" name="Rectangle 129"/>
                <p:cNvSpPr>
                  <a:spLocks noChangeArrowheads="1"/>
                </p:cNvSpPr>
                <p:nvPr/>
              </p:nvSpPr>
              <p:spPr bwMode="auto">
                <a:xfrm>
                  <a:off x="2014"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[001]</a:t>
                  </a:r>
                </a:p>
              </p:txBody>
            </p:sp>
            <p:sp>
              <p:nvSpPr>
                <p:cNvPr id="328" name="Rectangle 130"/>
                <p:cNvSpPr>
                  <a:spLocks noChangeArrowheads="1"/>
                </p:cNvSpPr>
                <p:nvPr/>
              </p:nvSpPr>
              <p:spPr bwMode="auto">
                <a:xfrm>
                  <a:off x="1971" y="307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21" name="Group 131"/>
              <p:cNvGrpSpPr/>
              <p:nvPr/>
            </p:nvGrpSpPr>
            <p:grpSpPr bwMode="auto">
              <a:xfrm>
                <a:off x="2489" y="3072"/>
                <a:ext cx="518" cy="384"/>
                <a:chOff x="2489" y="3072"/>
                <a:chExt cx="518" cy="384"/>
              </a:xfrm>
            </p:grpSpPr>
            <p:sp>
              <p:nvSpPr>
                <p:cNvPr id="325" name="Rectangle 132"/>
                <p:cNvSpPr>
                  <a:spLocks noChangeArrowheads="1"/>
                </p:cNvSpPr>
                <p:nvPr/>
              </p:nvSpPr>
              <p:spPr bwMode="auto">
                <a:xfrm>
                  <a:off x="2532"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[100]</a:t>
                  </a:r>
                </a:p>
              </p:txBody>
            </p:sp>
            <p:sp>
              <p:nvSpPr>
                <p:cNvPr id="326" name="Rectangle 133"/>
                <p:cNvSpPr>
                  <a:spLocks noChangeArrowheads="1"/>
                </p:cNvSpPr>
                <p:nvPr/>
              </p:nvSpPr>
              <p:spPr bwMode="auto">
                <a:xfrm>
                  <a:off x="2489" y="307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nvGrpSpPr>
              <p:cNvPr id="322" name="Group 134"/>
              <p:cNvGrpSpPr/>
              <p:nvPr/>
            </p:nvGrpSpPr>
            <p:grpSpPr bwMode="auto">
              <a:xfrm>
                <a:off x="3007" y="3072"/>
                <a:ext cx="518" cy="384"/>
                <a:chOff x="3007" y="3072"/>
                <a:chExt cx="518" cy="384"/>
              </a:xfrm>
            </p:grpSpPr>
            <p:sp>
              <p:nvSpPr>
                <p:cNvPr id="323" name="Rectangle 135"/>
                <p:cNvSpPr>
                  <a:spLocks noChangeArrowheads="1"/>
                </p:cNvSpPr>
                <p:nvPr/>
              </p:nvSpPr>
              <p:spPr bwMode="auto">
                <a:xfrm>
                  <a:off x="3050"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000" b="0" dirty="0">
                      <a:latin typeface="+mn-lt"/>
                    </a:rPr>
                    <a:t>[210]</a:t>
                  </a:r>
                </a:p>
              </p:txBody>
            </p:sp>
            <p:sp>
              <p:nvSpPr>
                <p:cNvPr id="324" name="Rectangle 136"/>
                <p:cNvSpPr>
                  <a:spLocks noChangeArrowheads="1"/>
                </p:cNvSpPr>
                <p:nvPr/>
              </p:nvSpPr>
              <p:spPr bwMode="auto">
                <a:xfrm>
                  <a:off x="3007" y="3072"/>
                  <a:ext cx="518" cy="384"/>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en-US" sz="4400">
                    <a:latin typeface="+mn-lt"/>
                  </a:endParaRPr>
                </a:p>
              </p:txBody>
            </p:sp>
          </p:grpSp>
        </p:grpSp>
        <p:sp>
          <p:nvSpPr>
            <p:cNvPr id="280" name="Rectangle 137"/>
            <p:cNvSpPr>
              <a:spLocks noChangeArrowheads="1"/>
            </p:cNvSpPr>
            <p:nvPr/>
          </p:nvSpPr>
          <p:spPr bwMode="auto">
            <a:xfrm>
              <a:off x="-3" y="381"/>
              <a:ext cx="3531" cy="3078"/>
            </a:xfrm>
            <a:prstGeom prst="rect">
              <a:avLst/>
            </a:prstGeom>
            <a:noFill/>
            <a:ln w="9525">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en-US" altLang="en-US" sz="4400" dirty="0">
                <a:latin typeface="+mn-lt"/>
              </a:endParaRPr>
            </a:p>
          </p:txBody>
        </p:sp>
      </p:grpSp>
      <p:sp>
        <p:nvSpPr>
          <p:cNvPr id="407" name="Rectangle 144"/>
          <p:cNvSpPr>
            <a:spLocks noChangeArrowheads="1"/>
          </p:cNvSpPr>
          <p:nvPr/>
        </p:nvSpPr>
        <p:spPr bwMode="auto">
          <a:xfrm>
            <a:off x="3136566" y="3064161"/>
            <a:ext cx="365806" cy="461665"/>
          </a:xfrm>
          <a:prstGeom prst="rect">
            <a:avLst/>
          </a:prstGeom>
          <a:solidFill>
            <a:srgbClr val="00CC00"/>
          </a:solidFill>
          <a:ln w="9525">
            <a:solidFill>
              <a:srgbClr val="00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400" b="0" dirty="0">
                <a:latin typeface="+mn-lt"/>
              </a:rPr>
              <a:t>2</a:t>
            </a:r>
          </a:p>
        </p:txBody>
      </p:sp>
    </p:spTree>
  </p:cSld>
  <p:clrMapOvr>
    <a:masterClrMapping/>
  </p:clrMapOvr>
  <p:transition spd="med">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Rectangle 3"/>
          <p:cNvSpPr>
            <a:spLocks noGrp="1" noChangeArrowheads="1"/>
          </p:cNvSpPr>
          <p:nvPr>
            <p:ph idx="1"/>
          </p:nvPr>
        </p:nvSpPr>
        <p:spPr>
          <a:xfrm>
            <a:off x="475456" y="1370662"/>
            <a:ext cx="8229600" cy="2736850"/>
          </a:xfrm>
        </p:spPr>
        <p:txBody>
          <a:bodyPr>
            <a:normAutofit/>
          </a:bodyPr>
          <a:lstStyle/>
          <a:p>
            <a:pPr algn="just"/>
            <a:r>
              <a:rPr lang="en-US" altLang="zh-CN" sz="2400" dirty="0"/>
              <a:t>The representation (</a:t>
            </a:r>
            <a:r>
              <a:rPr lang="en-US" altLang="zh-CN" sz="2400" b="1" dirty="0" err="1"/>
              <a:t>Schfl</a:t>
            </a:r>
            <a:r>
              <a:rPr lang="en-US" altLang="zh-CN" sz="2400" dirty="0"/>
              <a:t>) of space group is simple, namely adding the serial number in the upper right corner of its symmetric </a:t>
            </a:r>
            <a:r>
              <a:rPr lang="en-US" altLang="zh-CN" sz="2400" dirty="0" err="1"/>
              <a:t>Schfl</a:t>
            </a:r>
            <a:r>
              <a:rPr lang="en-US" altLang="zh-CN" sz="2400" dirty="0"/>
              <a:t> symbol. The </a:t>
            </a:r>
            <a:r>
              <a:rPr lang="en-US" altLang="zh-CN" sz="2400" dirty="0" err="1"/>
              <a:t>Schfl</a:t>
            </a:r>
            <a:r>
              <a:rPr lang="en-US" altLang="zh-CN" sz="2400" dirty="0"/>
              <a:t> of symmetric of L</a:t>
            </a:r>
            <a:r>
              <a:rPr lang="en-US" altLang="zh-CN" sz="2400" baseline="30000" dirty="0"/>
              <a:t>4</a:t>
            </a:r>
            <a:r>
              <a:rPr lang="en-US" altLang="zh-CN" sz="2400" dirty="0"/>
              <a:t> is C</a:t>
            </a:r>
            <a:r>
              <a:rPr lang="en-US" altLang="zh-CN" sz="2400" baseline="-25000" dirty="0"/>
              <a:t>4</a:t>
            </a:r>
            <a:r>
              <a:rPr lang="en-US" altLang="zh-CN" sz="2400" dirty="0"/>
              <a:t>, and the </a:t>
            </a:r>
            <a:r>
              <a:rPr lang="en-US" altLang="zh-CN" sz="2400" dirty="0" err="1"/>
              <a:t>Schfl</a:t>
            </a:r>
            <a:r>
              <a:rPr lang="en-US" altLang="zh-CN" sz="2400" dirty="0"/>
              <a:t> of its corresponding 6 space groups are C</a:t>
            </a:r>
            <a:r>
              <a:rPr lang="en-US" altLang="zh-CN" sz="2400" baseline="-25000" dirty="0"/>
              <a:t>4</a:t>
            </a:r>
            <a:r>
              <a:rPr lang="en-US" altLang="zh-CN" sz="2400" baseline="30000" dirty="0"/>
              <a:t>1</a:t>
            </a:r>
            <a:r>
              <a:rPr lang="en-US" altLang="zh-CN" sz="2400" dirty="0"/>
              <a:t>, C</a:t>
            </a:r>
            <a:r>
              <a:rPr lang="en-US" altLang="zh-CN" sz="2400" baseline="-25000" dirty="0"/>
              <a:t>4</a:t>
            </a:r>
            <a:r>
              <a:rPr lang="en-US" altLang="zh-CN" sz="2400" baseline="30000" dirty="0"/>
              <a:t>2</a:t>
            </a:r>
            <a:r>
              <a:rPr lang="en-US" altLang="zh-CN" sz="2400" dirty="0"/>
              <a:t>, C</a:t>
            </a:r>
            <a:r>
              <a:rPr lang="en-US" altLang="zh-CN" sz="2400" baseline="-25000" dirty="0"/>
              <a:t>4</a:t>
            </a:r>
            <a:r>
              <a:rPr lang="en-US" altLang="zh-CN" sz="2400" baseline="30000" dirty="0"/>
              <a:t>3</a:t>
            </a:r>
            <a:r>
              <a:rPr lang="en-US" altLang="zh-CN" sz="2400" dirty="0"/>
              <a:t>, C</a:t>
            </a:r>
            <a:r>
              <a:rPr lang="en-US" altLang="zh-CN" sz="2400" baseline="-25000" dirty="0"/>
              <a:t>4</a:t>
            </a:r>
            <a:r>
              <a:rPr lang="en-US" altLang="zh-CN" sz="2400" baseline="30000" dirty="0"/>
              <a:t>4</a:t>
            </a:r>
            <a:r>
              <a:rPr lang="en-US" altLang="zh-CN" sz="2400" dirty="0"/>
              <a:t>, C</a:t>
            </a:r>
            <a:r>
              <a:rPr lang="en-US" altLang="zh-CN" sz="2400" baseline="-25000" dirty="0"/>
              <a:t>4</a:t>
            </a:r>
            <a:r>
              <a:rPr lang="en-US" altLang="zh-CN" sz="2400" baseline="30000" dirty="0"/>
              <a:t>5</a:t>
            </a:r>
            <a:r>
              <a:rPr lang="en-US" altLang="zh-CN" sz="2400" dirty="0"/>
              <a:t> and C</a:t>
            </a:r>
            <a:r>
              <a:rPr lang="en-US" altLang="zh-CN" sz="2400" baseline="-25000" dirty="0"/>
              <a:t>4</a:t>
            </a:r>
            <a:r>
              <a:rPr lang="en-US" altLang="zh-CN" sz="2400" baseline="30000" dirty="0"/>
              <a:t>6</a:t>
            </a:r>
            <a:r>
              <a:rPr lang="en-US" altLang="zh-CN" sz="2400" dirty="0"/>
              <a:t> respectively.</a:t>
            </a:r>
            <a:endParaRPr lang="zh-CN" altLang="zh-CN" sz="2400" dirty="0"/>
          </a:p>
        </p:txBody>
      </p:sp>
      <p:sp>
        <p:nvSpPr>
          <p:cNvPr id="199684" name="Rectangle 4"/>
          <p:cNvSpPr>
            <a:spLocks noChangeArrowheads="1"/>
          </p:cNvSpPr>
          <p:nvPr/>
        </p:nvSpPr>
        <p:spPr bwMode="auto">
          <a:xfrm>
            <a:off x="539552" y="3861048"/>
            <a:ext cx="8208912" cy="201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buClr>
                <a:schemeClr val="hlink"/>
              </a:buClr>
              <a:defRPr/>
            </a:pPr>
            <a:r>
              <a:rPr lang="en-US" altLang="zh-CN" sz="2400" dirty="0">
                <a:latin typeface="+mn-lt"/>
                <a:ea typeface="+mn-ea"/>
                <a:cs typeface="Times New Roman" panose="02020603050405020304" pitchFamily="18" charset="0"/>
              </a:rPr>
              <a:t>Advantages</a:t>
            </a:r>
            <a:r>
              <a:rPr lang="en-US" altLang="zh-CN" sz="2400" dirty="0">
                <a:latin typeface="+mn-lt"/>
                <a:cs typeface="Times New Roman" panose="02020603050405020304" pitchFamily="18" charset="0"/>
              </a:rPr>
              <a:t>: </a:t>
            </a:r>
            <a:r>
              <a:rPr lang="en-US" altLang="zh-CN" sz="2400" b="0" dirty="0">
                <a:latin typeface="+mn-lt"/>
                <a:ea typeface="+mn-ea"/>
                <a:cs typeface="Times New Roman" panose="02020603050405020304" pitchFamily="18" charset="0"/>
              </a:rPr>
              <a:t>one </a:t>
            </a:r>
            <a:r>
              <a:rPr lang="en-US" altLang="zh-CN" sz="2400" b="0" dirty="0" err="1">
                <a:latin typeface="+mn-lt"/>
                <a:ea typeface="+mn-ea"/>
                <a:cs typeface="Times New Roman" panose="02020603050405020304" pitchFamily="18" charset="0"/>
              </a:rPr>
              <a:t>Schfl</a:t>
            </a:r>
            <a:r>
              <a:rPr lang="en-US" altLang="zh-CN" sz="2400" b="0" dirty="0">
                <a:latin typeface="+mn-lt"/>
                <a:ea typeface="+mn-ea"/>
                <a:cs typeface="Times New Roman" panose="02020603050405020304" pitchFamily="18" charset="0"/>
              </a:rPr>
              <a:t> symbol is only corresponding to one space group.</a:t>
            </a:r>
            <a:endParaRPr lang="zh-CN" altLang="en-US" sz="2400" b="0" dirty="0">
              <a:latin typeface="+mn-lt"/>
              <a:ea typeface="+mn-ea"/>
              <a:cs typeface="Times New Roman" panose="02020603050405020304" pitchFamily="18" charset="0"/>
            </a:endParaRPr>
          </a:p>
          <a:p>
            <a:pPr algn="just">
              <a:lnSpc>
                <a:spcPct val="130000"/>
              </a:lnSpc>
              <a:buClr>
                <a:schemeClr val="hlink"/>
              </a:buClr>
              <a:defRPr/>
            </a:pPr>
            <a:r>
              <a:rPr lang="en-US" altLang="zh-CN" sz="2400" dirty="0">
                <a:latin typeface="+mn-lt"/>
                <a:ea typeface="+mn-ea"/>
                <a:cs typeface="Times New Roman" panose="02020603050405020304" pitchFamily="18" charset="0"/>
              </a:rPr>
              <a:t>Disadvantages: </a:t>
            </a:r>
            <a:r>
              <a:rPr lang="en-US" altLang="zh-CN" sz="2400" b="0" dirty="0">
                <a:latin typeface="+mn-lt"/>
                <a:ea typeface="+mn-ea"/>
                <a:cs typeface="Times New Roman" panose="02020603050405020304" pitchFamily="18" charset="0"/>
              </a:rPr>
              <a:t>lattice types and symmetry elements in all directions cannot be seen visually.</a:t>
            </a:r>
            <a:endParaRPr lang="zh-CN" altLang="en-US" sz="2400" b="0" dirty="0">
              <a:latin typeface="+mn-lt"/>
              <a:ea typeface="+mn-ea"/>
              <a:cs typeface="Times New Roman" panose="02020603050405020304" pitchFamily="18" charset="0"/>
            </a:endParaRPr>
          </a:p>
        </p:txBody>
      </p:sp>
      <p:sp>
        <p:nvSpPr>
          <p:cNvPr id="2" name="TextBox 1"/>
          <p:cNvSpPr txBox="1"/>
          <p:nvPr/>
        </p:nvSpPr>
        <p:spPr>
          <a:xfrm>
            <a:off x="1187624" y="404664"/>
            <a:ext cx="7200800" cy="707886"/>
          </a:xfrm>
          <a:prstGeom prst="rect">
            <a:avLst/>
          </a:prstGeom>
          <a:noFill/>
        </p:spPr>
        <p:txBody>
          <a:bodyPr wrap="square" rtlCol="0">
            <a:spAutoFit/>
          </a:bodyPr>
          <a:lstStyle/>
          <a:p>
            <a:r>
              <a:rPr kumimoji="1" lang="en-US" altLang="zh-CN" sz="4000" dirty="0" err="1">
                <a:latin typeface="+mn-lt"/>
                <a:ea typeface="黑体" panose="02010609060101010101" pitchFamily="49" charset="-122"/>
              </a:rPr>
              <a:t>Schfl</a:t>
            </a:r>
            <a:r>
              <a:rPr kumimoji="1" lang="en-US" altLang="zh-CN" sz="4000" dirty="0">
                <a:latin typeface="+mn-lt"/>
                <a:ea typeface="黑体" panose="02010609060101010101" pitchFamily="49" charset="-122"/>
              </a:rPr>
              <a:t> symbols of space groups </a:t>
            </a:r>
            <a:endParaRPr kumimoji="1" lang="zh-CN" altLang="en-US" sz="4000" dirty="0">
              <a:latin typeface="+mn-lt"/>
              <a:ea typeface="黑体" panose="02010609060101010101" pitchFamily="49" charset="-122"/>
            </a:endParaRPr>
          </a:p>
        </p:txBody>
      </p:sp>
    </p:spTree>
  </p:cSld>
  <p:clrMapOvr>
    <a:masterClrMapping/>
  </p:clrMapOvr>
  <p:transition spd="med">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8659" name="Rectangle 3"/>
              <p:cNvSpPr>
                <a:spLocks noGrp="1" noChangeArrowheads="1"/>
              </p:cNvSpPr>
              <p:nvPr>
                <p:ph idx="1"/>
              </p:nvPr>
            </p:nvSpPr>
            <p:spPr/>
            <p:txBody>
              <a:bodyPr>
                <a:normAutofit/>
              </a:bodyPr>
              <a:lstStyle/>
              <a:p>
                <a:pPr algn="just">
                  <a:lnSpc>
                    <a:spcPct val="120000"/>
                  </a:lnSpc>
                  <a:defRPr/>
                </a:pPr>
                <a:r>
                  <a:rPr lang="en-US" altLang="zh-CN" sz="2600" dirty="0">
                    <a:solidFill>
                      <a:schemeClr val="tx1"/>
                    </a:solidFill>
                    <a:cs typeface="Times New Roman" panose="02020603050405020304" pitchFamily="18" charset="0"/>
                  </a:rPr>
                  <a:t>On account of the characteristics of these two sets of symbols, they are generally used at the same time to present space group.</a:t>
                </a:r>
              </a:p>
              <a:p>
                <a:pPr algn="just">
                  <a:lnSpc>
                    <a:spcPct val="120000"/>
                  </a:lnSpc>
                  <a:defRPr/>
                </a:pPr>
                <a:r>
                  <a:rPr lang="en-US" altLang="zh-CN" sz="2800" b="1" dirty="0" err="1">
                    <a:solidFill>
                      <a:schemeClr val="tx1"/>
                    </a:solidFill>
                  </a:rPr>
                  <a:t>Eg</a:t>
                </a:r>
                <a:r>
                  <a:rPr lang="en-US" altLang="zh-CN" sz="2800" b="1" dirty="0">
                    <a:solidFill>
                      <a:schemeClr val="tx1"/>
                    </a:solidFill>
                  </a:rPr>
                  <a:t>: </a:t>
                </a:r>
                <a:r>
                  <a:rPr lang="en-US" altLang="zh-CN" sz="2800" dirty="0">
                    <a:solidFill>
                      <a:schemeClr val="tx1"/>
                    </a:solidFill>
                  </a:rPr>
                  <a:t>Rutile</a:t>
                </a:r>
                <a:r>
                  <a:rPr lang="zh-CN" altLang="en-US" sz="2800" b="1" dirty="0">
                    <a:solidFill>
                      <a:schemeClr val="tx1"/>
                    </a:solidFill>
                  </a:rPr>
                  <a:t>：</a:t>
                </a:r>
                <a:r>
                  <a:rPr lang="en-US" altLang="zh-CN" sz="2800" b="1" dirty="0">
                    <a:solidFill>
                      <a:schemeClr val="tx1"/>
                    </a:solidFill>
                  </a:rPr>
                  <a:t>D</a:t>
                </a:r>
                <a:r>
                  <a:rPr lang="en-US" altLang="zh-CN" sz="2800" b="1" baseline="-25000" dirty="0">
                    <a:solidFill>
                      <a:schemeClr val="tx1"/>
                    </a:solidFill>
                  </a:rPr>
                  <a:t>4h</a:t>
                </a:r>
                <a:r>
                  <a:rPr lang="en-US" altLang="zh-CN" sz="2800" b="1" baseline="30000" dirty="0">
                    <a:solidFill>
                      <a:schemeClr val="tx1"/>
                    </a:solidFill>
                  </a:rPr>
                  <a:t>14</a:t>
                </a:r>
                <a:r>
                  <a:rPr lang="en-US" altLang="zh-CN" sz="2800" b="1" dirty="0">
                    <a:solidFill>
                      <a:schemeClr val="tx1"/>
                    </a:solidFill>
                  </a:rPr>
                  <a:t>——</a:t>
                </a:r>
                <a:r>
                  <a:rPr lang="en-US" altLang="zh-CN" sz="2800" b="1" i="1" dirty="0">
                    <a:solidFill>
                      <a:schemeClr val="tx1"/>
                    </a:solidFill>
                  </a:rPr>
                  <a:t>P</a:t>
                </a:r>
                <a:r>
                  <a:rPr lang="en-US" altLang="zh-CN" sz="2800" b="1" dirty="0">
                    <a:solidFill>
                      <a:schemeClr val="tx1"/>
                    </a:solidFill>
                  </a:rPr>
                  <a:t>4</a:t>
                </a:r>
                <a:r>
                  <a:rPr lang="en-US" altLang="zh-CN" sz="2800" b="1" baseline="-30000" dirty="0">
                    <a:solidFill>
                      <a:schemeClr val="tx1"/>
                    </a:solidFill>
                  </a:rPr>
                  <a:t>2</a:t>
                </a:r>
                <a:r>
                  <a:rPr lang="en-US" altLang="zh-CN" sz="2800" b="1" dirty="0">
                    <a:solidFill>
                      <a:schemeClr val="tx1"/>
                    </a:solidFill>
                  </a:rPr>
                  <a:t>/</a:t>
                </a:r>
                <a:r>
                  <a:rPr lang="en-US" altLang="zh-CN" sz="2800" b="1" i="1" dirty="0" err="1">
                    <a:solidFill>
                      <a:schemeClr val="tx1"/>
                    </a:solidFill>
                  </a:rPr>
                  <a:t>mnm</a:t>
                </a:r>
                <a:r>
                  <a:rPr lang="en-US" altLang="zh-CN" sz="2800" b="1" dirty="0">
                    <a:solidFill>
                      <a:schemeClr val="tx1"/>
                    </a:solidFill>
                  </a:rPr>
                  <a:t> </a:t>
                </a:r>
              </a:p>
              <a:p>
                <a:pPr marL="0" indent="0">
                  <a:buNone/>
                </a:pPr>
                <a:r>
                  <a:rPr lang="en-US" altLang="zh-CN" sz="2600" dirty="0">
                    <a:solidFill>
                      <a:schemeClr val="tx1"/>
                    </a:solidFill>
                    <a:cs typeface="Times New Roman" panose="02020603050405020304" pitchFamily="18" charset="0"/>
                  </a:rPr>
                  <a:t>Its point group? lattice type? What is the symmetry element in each direction?</a:t>
                </a:r>
                <a:endParaRPr lang="zh-CN" altLang="zh-CN" sz="2600" dirty="0">
                  <a:solidFill>
                    <a:schemeClr val="tx1"/>
                  </a:solidFill>
                  <a:cs typeface="Times New Roman" panose="02020603050405020304" pitchFamily="18" charset="0"/>
                </a:endParaRPr>
              </a:p>
              <a:p>
                <a:pPr marL="0" indent="0" eaLnBrk="1" hangingPunct="1">
                  <a:lnSpc>
                    <a:spcPct val="120000"/>
                  </a:lnSpc>
                  <a:buNone/>
                  <a:defRPr/>
                </a:pPr>
                <a:r>
                  <a:rPr lang="en-US" altLang="zh-CN" sz="2800" dirty="0">
                    <a:solidFill>
                      <a:schemeClr val="tx1"/>
                    </a:solidFill>
                  </a:rPr>
                  <a:t>	Diamond</a:t>
                </a:r>
                <a:r>
                  <a:rPr lang="zh-CN" altLang="en-US" sz="2800" b="1" dirty="0">
                    <a:solidFill>
                      <a:schemeClr val="tx1"/>
                    </a:solidFill>
                  </a:rPr>
                  <a:t>：</a:t>
                </a:r>
                <a:r>
                  <a:rPr lang="en-US" altLang="zh-CN" sz="2800" b="1" dirty="0">
                    <a:solidFill>
                      <a:schemeClr val="tx1"/>
                    </a:solidFill>
                  </a:rPr>
                  <a:t>O</a:t>
                </a:r>
                <a:r>
                  <a:rPr lang="en-US" altLang="zh-CN" sz="2800" b="1" baseline="-25000" dirty="0">
                    <a:solidFill>
                      <a:schemeClr val="tx1"/>
                    </a:solidFill>
                  </a:rPr>
                  <a:t>h</a:t>
                </a:r>
                <a:r>
                  <a:rPr lang="en-US" altLang="zh-CN" sz="2800" b="1" baseline="30000" dirty="0">
                    <a:solidFill>
                      <a:schemeClr val="tx1"/>
                    </a:solidFill>
                  </a:rPr>
                  <a:t>7</a:t>
                </a:r>
                <a:r>
                  <a:rPr lang="en-US" altLang="zh-CN" sz="2800" b="1" dirty="0">
                    <a:solidFill>
                      <a:schemeClr val="tx1"/>
                    </a:solidFill>
                  </a:rPr>
                  <a:t>——Fd3m</a:t>
                </a:r>
              </a:p>
              <a:p>
                <a:pPr marL="0" indent="0">
                  <a:lnSpc>
                    <a:spcPct val="120000"/>
                  </a:lnSpc>
                  <a:buNone/>
                  <a:defRPr/>
                </a:pPr>
                <a:r>
                  <a:rPr lang="en-US" altLang="zh-CN" sz="2800" dirty="0">
                    <a:solidFill>
                      <a:schemeClr val="tx1"/>
                    </a:solidFill>
                  </a:rPr>
                  <a:t>	Blende</a:t>
                </a:r>
                <a:r>
                  <a:rPr lang="zh-CN" altLang="en-US" sz="2800" b="1" dirty="0">
                    <a:solidFill>
                      <a:schemeClr val="tx1"/>
                    </a:solidFill>
                  </a:rPr>
                  <a:t>：</a:t>
                </a:r>
                <a:r>
                  <a:rPr lang="en-US" altLang="zh-CN" sz="2800" b="1" dirty="0">
                    <a:solidFill>
                      <a:schemeClr val="tx1"/>
                    </a:solidFill>
                  </a:rPr>
                  <a:t>T</a:t>
                </a:r>
                <a:r>
                  <a:rPr lang="en-US" altLang="zh-CN" sz="2800" b="1" baseline="-25000" dirty="0">
                    <a:solidFill>
                      <a:schemeClr val="tx1"/>
                    </a:solidFill>
                  </a:rPr>
                  <a:t>d</a:t>
                </a:r>
                <a:r>
                  <a:rPr lang="en-US" altLang="zh-CN" sz="2800" b="1" baseline="30000" dirty="0">
                    <a:solidFill>
                      <a:schemeClr val="tx1"/>
                    </a:solidFill>
                  </a:rPr>
                  <a:t>2</a:t>
                </a:r>
                <a:r>
                  <a:rPr lang="en-US" altLang="zh-CN" sz="2800" b="1" dirty="0">
                    <a:solidFill>
                      <a:schemeClr val="tx1"/>
                    </a:solidFill>
                  </a:rPr>
                  <a:t>——F</a:t>
                </a:r>
                <a14:m>
                  <m:oMath xmlns:m="http://schemas.openxmlformats.org/officeDocument/2006/math">
                    <m:acc>
                      <m:accPr>
                        <m:chr m:val="̅"/>
                        <m:ctrlPr>
                          <a:rPr lang="en-US" altLang="zh-CN" sz="2800" b="1" i="1" dirty="0" smtClean="0">
                            <a:solidFill>
                              <a:schemeClr val="tx1"/>
                            </a:solidFill>
                            <a:latin typeface="Cambria Math" panose="02040503050406030204" pitchFamily="18" charset="0"/>
                          </a:rPr>
                        </m:ctrlPr>
                      </m:accPr>
                      <m:e>
                        <m:r>
                          <a:rPr lang="en-US" altLang="zh-CN" sz="2800" b="1" i="1" dirty="0" smtClean="0">
                            <a:solidFill>
                              <a:schemeClr val="tx1"/>
                            </a:solidFill>
                            <a:latin typeface="Cambria Math"/>
                          </a:rPr>
                          <m:t>𝟒</m:t>
                        </m:r>
                      </m:e>
                    </m:acc>
                  </m:oMath>
                </a14:m>
                <a:r>
                  <a:rPr lang="en-US" altLang="zh-CN" sz="2800" b="1" dirty="0">
                    <a:solidFill>
                      <a:schemeClr val="tx1"/>
                    </a:solidFill>
                  </a:rPr>
                  <a:t>3m</a:t>
                </a:r>
              </a:p>
            </p:txBody>
          </p:sp>
        </mc:Choice>
        <mc:Fallback xmlns="">
          <p:sp>
            <p:nvSpPr>
              <p:cNvPr id="198659" name="Rectangle 3"/>
              <p:cNvSpPr>
                <a:spLocks noGrp="1" noRot="1" noChangeAspect="1" noMove="1" noResize="1" noEditPoints="1" noAdjustHandles="1" noChangeArrowheads="1" noChangeShapeType="1" noTextEdit="1"/>
              </p:cNvSpPr>
              <p:nvPr>
                <p:ph idx="1"/>
              </p:nvPr>
            </p:nvSpPr>
            <p:spPr>
              <a:blipFill rotWithShape="1">
                <a:blip r:embed="rId2"/>
                <a:stretch>
                  <a:fillRect l="-1259" t="-270" r="-1333"/>
                </a:stretch>
              </a:blipFill>
            </p:spPr>
            <p:txBody>
              <a:bodyPr/>
              <a:lstStyle/>
              <a:p>
                <a:r>
                  <a:rPr lang="en-US">
                    <a:noFill/>
                  </a:rPr>
                  <a:t> </a:t>
                </a:r>
                <a:endParaRPr lang="en-US">
                  <a:noFill/>
                </a:endParaRPr>
              </a:p>
            </p:txBody>
          </p:sp>
        </mc:Fallback>
      </mc:AlternateContent>
      <p:sp>
        <p:nvSpPr>
          <p:cNvPr id="7" name="TextBox 6"/>
          <p:cNvSpPr txBox="1"/>
          <p:nvPr/>
        </p:nvSpPr>
        <p:spPr>
          <a:xfrm>
            <a:off x="522882" y="260648"/>
            <a:ext cx="7937549" cy="646331"/>
          </a:xfrm>
          <a:prstGeom prst="rect">
            <a:avLst/>
          </a:prstGeom>
          <a:noFill/>
        </p:spPr>
        <p:txBody>
          <a:bodyPr wrap="square" rtlCol="0">
            <a:spAutoFit/>
          </a:bodyPr>
          <a:lstStyle/>
          <a:p>
            <a:pPr algn="ctr"/>
            <a:r>
              <a:rPr lang="en-US" altLang="zh-CN" sz="3600" dirty="0">
                <a:latin typeface="+mn-lt"/>
                <a:ea typeface="黑体" panose="02010609060101010101" pitchFamily="49" charset="-122"/>
              </a:rPr>
              <a:t>Representation of space-group symbol</a:t>
            </a:r>
            <a:endParaRPr lang="zh-CN" altLang="en-US" sz="3600" dirty="0">
              <a:latin typeface="+mn-lt"/>
              <a:cs typeface="Times New Roman" panose="02020603050405020304" pitchFamily="18" charset="0"/>
            </a:endParaRPr>
          </a:p>
        </p:txBody>
      </p:sp>
    </p:spTree>
  </p:cSld>
  <p:clrMapOvr>
    <a:masterClrMapping/>
  </p:clrMapOvr>
  <p:transition spd="med">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idx="1"/>
          </p:nvPr>
        </p:nvSpPr>
        <p:spPr bwMode="auto">
          <a:xfrm>
            <a:off x="168102" y="1286559"/>
            <a:ext cx="8591550" cy="5543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pPr marL="0" lvl="0" indent="0" algn="just">
              <a:buNone/>
            </a:pPr>
            <a:r>
              <a:rPr lang="en-US" altLang="zh-CN" sz="2200" dirty="0"/>
              <a:t>1. Cubic system–the </a:t>
            </a:r>
            <a:r>
              <a:rPr lang="en-US" altLang="zh-CN" sz="2200" dirty="0">
                <a:solidFill>
                  <a:srgbClr val="FF0000"/>
                </a:solidFill>
              </a:rPr>
              <a:t>second</a:t>
            </a:r>
            <a:r>
              <a:rPr lang="en-US" altLang="zh-CN" sz="2200" dirty="0">
                <a:solidFill>
                  <a:srgbClr val="FF3399"/>
                </a:solidFill>
              </a:rPr>
              <a:t> </a:t>
            </a:r>
            <a:r>
              <a:rPr lang="en-US" altLang="zh-CN" sz="2200" dirty="0"/>
              <a:t>symmetry element: </a:t>
            </a:r>
            <a:r>
              <a:rPr lang="en-US" altLang="zh-CN" sz="2200" dirty="0">
                <a:solidFill>
                  <a:srgbClr val="FF0000"/>
                </a:solidFill>
              </a:rPr>
              <a:t>3 or </a:t>
            </a:r>
            <a:r>
              <a:rPr lang="en-US" altLang="zh-CN" sz="2200" dirty="0">
                <a:solidFill>
                  <a:srgbClr val="FF0000"/>
                </a:solidFill>
                <a:ea typeface="宋体" panose="02010600030101010101" pitchFamily="2" charset="-122"/>
              </a:rPr>
              <a:t>`3 </a:t>
            </a:r>
            <a:r>
              <a:rPr lang="en-US" altLang="zh-CN" sz="2200" dirty="0">
                <a:solidFill>
                  <a:srgbClr val="FF0000"/>
                </a:solidFill>
              </a:rPr>
              <a:t> </a:t>
            </a:r>
            <a:r>
              <a:rPr lang="en-US" altLang="zh-CN" sz="2200" dirty="0"/>
              <a:t>(</a:t>
            </a:r>
            <a:r>
              <a:rPr lang="en-US" altLang="zh-CN" sz="2200" dirty="0" err="1"/>
              <a:t>eg</a:t>
            </a:r>
            <a:r>
              <a:rPr lang="en-US" altLang="zh-CN" sz="2200" dirty="0"/>
              <a:t>: </a:t>
            </a:r>
            <a:r>
              <a:rPr lang="en-US" altLang="zh-CN" sz="2200" i="1" dirty="0"/>
              <a:t>Ia</a:t>
            </a:r>
            <a:r>
              <a:rPr lang="en-US" altLang="zh-CN" sz="2200" dirty="0"/>
              <a:t>3, </a:t>
            </a:r>
            <a:r>
              <a:rPr lang="en-US" altLang="zh-CN" sz="2200" i="1" dirty="0"/>
              <a:t>Pm</a:t>
            </a:r>
            <a:r>
              <a:rPr lang="en-US" altLang="zh-CN" sz="2200" dirty="0"/>
              <a:t>3</a:t>
            </a:r>
            <a:r>
              <a:rPr lang="en-US" altLang="zh-CN" sz="2200" i="1" dirty="0"/>
              <a:t>m</a:t>
            </a:r>
            <a:r>
              <a:rPr lang="en-US" altLang="zh-CN" sz="2200" dirty="0"/>
              <a:t>, Fd3m) </a:t>
            </a:r>
          </a:p>
          <a:p>
            <a:pPr marL="0" lvl="0" indent="0" algn="just">
              <a:buNone/>
            </a:pPr>
            <a:r>
              <a:rPr lang="en-US" altLang="zh-CN" sz="2200" dirty="0"/>
              <a:t>2. Tetragonal system–the </a:t>
            </a:r>
            <a:r>
              <a:rPr lang="en-US" altLang="zh-CN" sz="2200" dirty="0">
                <a:solidFill>
                  <a:srgbClr val="FF0000"/>
                </a:solidFill>
              </a:rPr>
              <a:t>first</a:t>
            </a:r>
            <a:r>
              <a:rPr lang="en-US" altLang="zh-CN" sz="2200" dirty="0"/>
              <a:t> symmetry element</a:t>
            </a:r>
            <a:r>
              <a:rPr lang="en-US" altLang="zh-CN" sz="2200" dirty="0">
                <a:solidFill>
                  <a:srgbClr val="FF0000"/>
                </a:solidFill>
              </a:rPr>
              <a:t>: 4, </a:t>
            </a:r>
            <a:r>
              <a:rPr lang="en-US" altLang="zh-CN" sz="2200" dirty="0">
                <a:solidFill>
                  <a:srgbClr val="FF0000"/>
                </a:solidFill>
                <a:ea typeface="宋体" panose="02010600030101010101" pitchFamily="2" charset="-122"/>
              </a:rPr>
              <a:t>`4 </a:t>
            </a:r>
            <a:r>
              <a:rPr lang="en-US" altLang="zh-CN" sz="2200" dirty="0">
                <a:solidFill>
                  <a:srgbClr val="FF0000"/>
                </a:solidFill>
              </a:rPr>
              <a:t>, 4</a:t>
            </a:r>
            <a:r>
              <a:rPr lang="en-US" altLang="zh-CN" sz="2200" baseline="-25000" dirty="0">
                <a:solidFill>
                  <a:srgbClr val="FF0000"/>
                </a:solidFill>
              </a:rPr>
              <a:t>1</a:t>
            </a:r>
            <a:r>
              <a:rPr lang="en-US" altLang="zh-CN" sz="2200" dirty="0">
                <a:solidFill>
                  <a:srgbClr val="FF0000"/>
                </a:solidFill>
              </a:rPr>
              <a:t>, 4</a:t>
            </a:r>
            <a:r>
              <a:rPr lang="en-US" altLang="zh-CN" sz="2200" baseline="-25000" dirty="0">
                <a:solidFill>
                  <a:srgbClr val="FF0000"/>
                </a:solidFill>
              </a:rPr>
              <a:t>2</a:t>
            </a:r>
            <a:r>
              <a:rPr lang="en-US" altLang="zh-CN" sz="2200" dirty="0">
                <a:solidFill>
                  <a:srgbClr val="FF0000"/>
                </a:solidFill>
              </a:rPr>
              <a:t> or 4</a:t>
            </a:r>
            <a:r>
              <a:rPr lang="en-US" altLang="zh-CN" sz="2200" baseline="-25000" dirty="0">
                <a:solidFill>
                  <a:srgbClr val="FF0000"/>
                </a:solidFill>
              </a:rPr>
              <a:t>3</a:t>
            </a:r>
            <a:r>
              <a:rPr lang="en-US" altLang="zh-CN" sz="2200" dirty="0">
                <a:solidFill>
                  <a:srgbClr val="FF0000"/>
                </a:solidFill>
              </a:rPr>
              <a:t> </a:t>
            </a:r>
            <a:r>
              <a:rPr lang="en-US" altLang="zh-CN" sz="2200" dirty="0"/>
              <a:t>(</a:t>
            </a:r>
            <a:r>
              <a:rPr lang="en-US" altLang="zh-CN" sz="2200" dirty="0" err="1"/>
              <a:t>eg</a:t>
            </a:r>
            <a:r>
              <a:rPr lang="en-US" altLang="zh-CN" sz="2200" dirty="0"/>
              <a:t>: </a:t>
            </a:r>
            <a:r>
              <a:rPr lang="en-US" altLang="zh-CN" sz="2200" i="1" dirty="0"/>
              <a:t>P</a:t>
            </a:r>
            <a:r>
              <a:rPr lang="en-US" altLang="zh-CN" sz="2200" dirty="0"/>
              <a:t>4</a:t>
            </a:r>
            <a:r>
              <a:rPr lang="en-US" altLang="zh-CN" sz="2200" baseline="-25000" dirty="0"/>
              <a:t>1</a:t>
            </a:r>
            <a:r>
              <a:rPr lang="en-US" altLang="zh-CN" sz="2200" dirty="0"/>
              <a:t>2</a:t>
            </a:r>
            <a:r>
              <a:rPr lang="en-US" altLang="zh-CN" sz="2200" baseline="-25000" dirty="0"/>
              <a:t>1</a:t>
            </a:r>
            <a:r>
              <a:rPr lang="en-US" altLang="zh-CN" sz="2200" dirty="0"/>
              <a:t>2, </a:t>
            </a:r>
            <a:r>
              <a:rPr lang="en-US" altLang="zh-CN" sz="2200" i="1" dirty="0"/>
              <a:t>I</a:t>
            </a:r>
            <a:r>
              <a:rPr lang="en-US" altLang="zh-CN" sz="2200" dirty="0"/>
              <a:t>4/</a:t>
            </a:r>
            <a:r>
              <a:rPr lang="en-US" altLang="zh-CN" sz="2200" i="1" dirty="0"/>
              <a:t>m</a:t>
            </a:r>
            <a:r>
              <a:rPr lang="en-US" altLang="zh-CN" sz="2200" dirty="0"/>
              <a:t>, </a:t>
            </a:r>
            <a:r>
              <a:rPr lang="en-US" altLang="zh-CN" sz="2200" i="1" dirty="0"/>
              <a:t>P</a:t>
            </a:r>
            <a:r>
              <a:rPr lang="en-US" altLang="zh-CN" sz="2200" dirty="0"/>
              <a:t>4/</a:t>
            </a:r>
            <a:r>
              <a:rPr lang="en-US" altLang="zh-CN" sz="2200" i="1" dirty="0"/>
              <a:t>mcc</a:t>
            </a:r>
            <a:r>
              <a:rPr lang="en-US" altLang="zh-CN" sz="2200" dirty="0"/>
              <a:t>) </a:t>
            </a:r>
          </a:p>
          <a:p>
            <a:pPr marL="0" lvl="0" indent="0" algn="just">
              <a:buNone/>
            </a:pPr>
            <a:r>
              <a:rPr lang="en-US" altLang="zh-CN" sz="2200" dirty="0"/>
              <a:t>3. Hexagonal system–the </a:t>
            </a:r>
            <a:r>
              <a:rPr lang="en-US" altLang="zh-CN" sz="2200" dirty="0">
                <a:solidFill>
                  <a:srgbClr val="FF0000"/>
                </a:solidFill>
              </a:rPr>
              <a:t>first</a:t>
            </a:r>
            <a:r>
              <a:rPr lang="en-US" altLang="zh-CN" sz="2200" dirty="0"/>
              <a:t> symmetry element</a:t>
            </a:r>
            <a:r>
              <a:rPr lang="en-US" altLang="zh-CN" sz="2200" dirty="0">
                <a:solidFill>
                  <a:srgbClr val="FF0000"/>
                </a:solidFill>
              </a:rPr>
              <a:t>: 6, </a:t>
            </a:r>
            <a:r>
              <a:rPr lang="en-US" altLang="zh-CN" sz="2200" dirty="0">
                <a:solidFill>
                  <a:srgbClr val="FF0000"/>
                </a:solidFill>
                <a:ea typeface="宋体" panose="02010600030101010101" pitchFamily="2" charset="-122"/>
              </a:rPr>
              <a:t>`6</a:t>
            </a:r>
            <a:r>
              <a:rPr lang="en-US" altLang="zh-CN" sz="2200" dirty="0">
                <a:solidFill>
                  <a:srgbClr val="FF0000"/>
                </a:solidFill>
              </a:rPr>
              <a:t> , 6</a:t>
            </a:r>
            <a:r>
              <a:rPr lang="en-US" altLang="zh-CN" sz="2200" baseline="-25000" dirty="0">
                <a:solidFill>
                  <a:srgbClr val="FF0000"/>
                </a:solidFill>
              </a:rPr>
              <a:t>1</a:t>
            </a:r>
            <a:r>
              <a:rPr lang="en-US" altLang="zh-CN" sz="2200" dirty="0">
                <a:solidFill>
                  <a:srgbClr val="FF0000"/>
                </a:solidFill>
              </a:rPr>
              <a:t>, 6</a:t>
            </a:r>
            <a:r>
              <a:rPr lang="en-US" altLang="zh-CN" sz="2200" baseline="-25000" dirty="0">
                <a:solidFill>
                  <a:srgbClr val="FF0000"/>
                </a:solidFill>
              </a:rPr>
              <a:t>2</a:t>
            </a:r>
            <a:r>
              <a:rPr lang="en-US" altLang="zh-CN" sz="2200" dirty="0">
                <a:solidFill>
                  <a:srgbClr val="FF0000"/>
                </a:solidFill>
              </a:rPr>
              <a:t>, 6</a:t>
            </a:r>
            <a:r>
              <a:rPr lang="en-US" altLang="zh-CN" sz="2200" baseline="-25000" dirty="0">
                <a:solidFill>
                  <a:srgbClr val="FF0000"/>
                </a:solidFill>
              </a:rPr>
              <a:t>3</a:t>
            </a:r>
            <a:r>
              <a:rPr lang="en-US" altLang="zh-CN" sz="2200" dirty="0">
                <a:solidFill>
                  <a:srgbClr val="FF0000"/>
                </a:solidFill>
              </a:rPr>
              <a:t>, 6</a:t>
            </a:r>
            <a:r>
              <a:rPr lang="en-US" altLang="zh-CN" sz="2200" baseline="-25000" dirty="0">
                <a:solidFill>
                  <a:srgbClr val="FF0000"/>
                </a:solidFill>
              </a:rPr>
              <a:t>4</a:t>
            </a:r>
            <a:r>
              <a:rPr lang="en-US" altLang="zh-CN" sz="2200" dirty="0">
                <a:solidFill>
                  <a:srgbClr val="FF0000"/>
                </a:solidFill>
              </a:rPr>
              <a:t> </a:t>
            </a:r>
            <a:r>
              <a:rPr lang="en-US" altLang="zh-CN" sz="2200" dirty="0"/>
              <a:t>or 6</a:t>
            </a:r>
            <a:r>
              <a:rPr lang="en-US" altLang="zh-CN" sz="2200" baseline="-25000" dirty="0"/>
              <a:t>5</a:t>
            </a:r>
            <a:r>
              <a:rPr lang="en-US" altLang="zh-CN" sz="2200" dirty="0"/>
              <a:t> (</a:t>
            </a:r>
            <a:r>
              <a:rPr lang="en-US" altLang="zh-CN" sz="2200" dirty="0" err="1"/>
              <a:t>eg</a:t>
            </a:r>
            <a:r>
              <a:rPr lang="en-US" altLang="zh-CN" sz="2200" dirty="0"/>
              <a:t>: </a:t>
            </a:r>
            <a:r>
              <a:rPr lang="en-US" altLang="zh-CN" sz="2200" i="1" dirty="0"/>
              <a:t>P</a:t>
            </a:r>
            <a:r>
              <a:rPr lang="en-US" altLang="zh-CN" sz="2200" dirty="0"/>
              <a:t>6</a:t>
            </a:r>
            <a:r>
              <a:rPr lang="en-US" altLang="zh-CN" sz="2200" i="1" dirty="0"/>
              <a:t>mm</a:t>
            </a:r>
            <a:r>
              <a:rPr lang="en-US" altLang="zh-CN" sz="2200" dirty="0"/>
              <a:t>, </a:t>
            </a:r>
            <a:r>
              <a:rPr lang="en-US" altLang="zh-CN" sz="2200" i="1" dirty="0"/>
              <a:t>P</a:t>
            </a:r>
            <a:r>
              <a:rPr lang="en-US" altLang="zh-CN" sz="2200" dirty="0"/>
              <a:t>6</a:t>
            </a:r>
            <a:r>
              <a:rPr lang="en-US" altLang="zh-CN" sz="2200" baseline="-25000" dirty="0"/>
              <a:t>3</a:t>
            </a:r>
            <a:r>
              <a:rPr lang="en-US" altLang="zh-CN" sz="2200" dirty="0"/>
              <a:t>/</a:t>
            </a:r>
            <a:r>
              <a:rPr lang="en-US" altLang="zh-CN" sz="2200" i="1" dirty="0"/>
              <a:t>mcm</a:t>
            </a:r>
            <a:r>
              <a:rPr lang="en-US" altLang="zh-CN" sz="2200" dirty="0"/>
              <a:t>) </a:t>
            </a:r>
          </a:p>
          <a:p>
            <a:pPr marL="0" lvl="0" indent="0" algn="just">
              <a:buNone/>
            </a:pPr>
            <a:r>
              <a:rPr lang="en-US" altLang="zh-CN" sz="2200" dirty="0"/>
              <a:t>4. Trigonal system–the </a:t>
            </a:r>
            <a:r>
              <a:rPr lang="en-US" altLang="zh-CN" sz="2200" dirty="0">
                <a:solidFill>
                  <a:srgbClr val="FF0000"/>
                </a:solidFill>
              </a:rPr>
              <a:t>first </a:t>
            </a:r>
            <a:r>
              <a:rPr lang="en-US" altLang="zh-CN" sz="2200" dirty="0"/>
              <a:t>symmetry element: </a:t>
            </a:r>
            <a:r>
              <a:rPr lang="en-US" altLang="zh-CN" sz="2200" dirty="0">
                <a:solidFill>
                  <a:srgbClr val="FF0000"/>
                </a:solidFill>
              </a:rPr>
              <a:t>3, </a:t>
            </a:r>
            <a:r>
              <a:rPr lang="en-US" altLang="zh-CN" sz="2200" dirty="0">
                <a:solidFill>
                  <a:srgbClr val="FF0000"/>
                </a:solidFill>
                <a:ea typeface="宋体" panose="02010600030101010101" pitchFamily="2" charset="-122"/>
              </a:rPr>
              <a:t>`3 </a:t>
            </a:r>
            <a:r>
              <a:rPr lang="zh-CN" altLang="zh-CN" sz="2200" dirty="0">
                <a:solidFill>
                  <a:srgbClr val="FF0000"/>
                </a:solidFill>
              </a:rPr>
              <a:t>，</a:t>
            </a:r>
            <a:r>
              <a:rPr lang="en-US" altLang="zh-CN" sz="2200" dirty="0">
                <a:solidFill>
                  <a:srgbClr val="FF0000"/>
                </a:solidFill>
              </a:rPr>
              <a:t>3</a:t>
            </a:r>
            <a:r>
              <a:rPr lang="en-US" altLang="zh-CN" sz="2200" baseline="-25000" dirty="0">
                <a:solidFill>
                  <a:srgbClr val="FF0000"/>
                </a:solidFill>
              </a:rPr>
              <a:t>1</a:t>
            </a:r>
            <a:r>
              <a:rPr lang="en-US" altLang="zh-CN" sz="2200" dirty="0">
                <a:solidFill>
                  <a:srgbClr val="FF0000"/>
                </a:solidFill>
              </a:rPr>
              <a:t> or 3</a:t>
            </a:r>
            <a:r>
              <a:rPr lang="en-US" altLang="zh-CN" sz="2200" baseline="-25000" dirty="0">
                <a:solidFill>
                  <a:srgbClr val="FF0000"/>
                </a:solidFill>
              </a:rPr>
              <a:t>2</a:t>
            </a:r>
            <a:r>
              <a:rPr lang="en-US" altLang="zh-CN" sz="2200" dirty="0"/>
              <a:t> (</a:t>
            </a:r>
            <a:r>
              <a:rPr lang="en-US" altLang="zh-CN" sz="2200" dirty="0" err="1"/>
              <a:t>eg</a:t>
            </a:r>
            <a:r>
              <a:rPr lang="en-US" altLang="zh-CN" sz="2200" dirty="0"/>
              <a:t>: </a:t>
            </a:r>
            <a:r>
              <a:rPr lang="en-US" altLang="zh-CN" sz="2200" i="1" dirty="0"/>
              <a:t>P</a:t>
            </a:r>
            <a:r>
              <a:rPr lang="en-US" altLang="zh-CN" sz="2200" dirty="0"/>
              <a:t>31</a:t>
            </a:r>
            <a:r>
              <a:rPr lang="en-US" altLang="zh-CN" sz="2200" i="1" dirty="0"/>
              <a:t>m</a:t>
            </a:r>
            <a:r>
              <a:rPr lang="en-US" altLang="zh-CN" sz="2200" dirty="0"/>
              <a:t>, </a:t>
            </a:r>
            <a:r>
              <a:rPr lang="en-US" altLang="zh-CN" sz="2200" i="1" dirty="0"/>
              <a:t>R</a:t>
            </a:r>
            <a:r>
              <a:rPr lang="en-US" altLang="zh-CN" sz="2200" dirty="0"/>
              <a:t>3, </a:t>
            </a:r>
            <a:r>
              <a:rPr lang="en-US" altLang="zh-CN" sz="2200" i="1" dirty="0"/>
              <a:t>R</a:t>
            </a:r>
            <a:r>
              <a:rPr lang="en-US" altLang="zh-CN" sz="2200" dirty="0"/>
              <a:t>3</a:t>
            </a:r>
            <a:r>
              <a:rPr lang="en-US" altLang="zh-CN" sz="2200" i="1" dirty="0"/>
              <a:t>c</a:t>
            </a:r>
            <a:r>
              <a:rPr lang="en-US" altLang="zh-CN" sz="2200" dirty="0"/>
              <a:t>, </a:t>
            </a:r>
            <a:r>
              <a:rPr lang="en-US" altLang="zh-CN" sz="2200" i="1" dirty="0"/>
              <a:t>P</a:t>
            </a:r>
            <a:r>
              <a:rPr lang="en-US" altLang="zh-CN" sz="2200" dirty="0"/>
              <a:t>312) </a:t>
            </a:r>
          </a:p>
          <a:p>
            <a:pPr marL="0" lvl="0" indent="0" algn="just">
              <a:buNone/>
            </a:pPr>
            <a:r>
              <a:rPr lang="en-US" altLang="zh-CN" sz="2200" dirty="0"/>
              <a:t>5. Orthorhombic system– the </a:t>
            </a:r>
            <a:r>
              <a:rPr lang="en-US" altLang="zh-CN" sz="2200" dirty="0">
                <a:solidFill>
                  <a:srgbClr val="FF0000"/>
                </a:solidFill>
              </a:rPr>
              <a:t>three symbols </a:t>
            </a:r>
            <a:r>
              <a:rPr lang="en-US" altLang="zh-CN" sz="2200" dirty="0"/>
              <a:t>after lattice symbol respectively are mirror plane, translation plane and 2-fold rotation/screw axis(namely </a:t>
            </a:r>
            <a:r>
              <a:rPr lang="en-US" altLang="zh-CN" sz="2200" i="1" dirty="0" err="1"/>
              <a:t>Pnma</a:t>
            </a:r>
            <a:r>
              <a:rPr lang="en-US" altLang="zh-CN" sz="2200" dirty="0"/>
              <a:t>, </a:t>
            </a:r>
            <a:r>
              <a:rPr lang="en-US" altLang="zh-CN" sz="2200" i="1" dirty="0"/>
              <a:t>Cmc</a:t>
            </a:r>
            <a:r>
              <a:rPr lang="en-US" altLang="zh-CN" sz="2200" dirty="0"/>
              <a:t>2</a:t>
            </a:r>
            <a:r>
              <a:rPr lang="en-US" altLang="zh-CN" sz="2200" baseline="-25000" dirty="0"/>
              <a:t>1</a:t>
            </a:r>
            <a:r>
              <a:rPr lang="en-US" altLang="zh-CN" sz="2200" dirty="0"/>
              <a:t>, </a:t>
            </a:r>
            <a:r>
              <a:rPr lang="en-US" altLang="zh-CN" sz="2200" i="1" dirty="0"/>
              <a:t>Pnc</a:t>
            </a:r>
            <a:r>
              <a:rPr lang="en-US" altLang="zh-CN" sz="2200" dirty="0"/>
              <a:t>2</a:t>
            </a:r>
            <a:r>
              <a:rPr lang="zh-CN" altLang="zh-CN" sz="2200" dirty="0"/>
              <a:t>）</a:t>
            </a:r>
            <a:endParaRPr lang="en-US" altLang="zh-CN" sz="2200" dirty="0"/>
          </a:p>
          <a:p>
            <a:pPr marL="0" lvl="0" indent="0" algn="just">
              <a:buNone/>
            </a:pPr>
            <a:r>
              <a:rPr lang="en-US" altLang="zh-CN" sz="2200" dirty="0"/>
              <a:t>6. Monoclinic system–with </a:t>
            </a:r>
            <a:r>
              <a:rPr lang="en-US" altLang="zh-CN" sz="2200" dirty="0">
                <a:solidFill>
                  <a:srgbClr val="FF0000"/>
                </a:solidFill>
              </a:rPr>
              <a:t>single mirror plane, glide plane, 2-fold rotation/screw axis, or axis/plane symbol </a:t>
            </a:r>
            <a:r>
              <a:rPr lang="en-US" altLang="zh-CN" sz="2200" dirty="0"/>
              <a:t>(</a:t>
            </a:r>
            <a:r>
              <a:rPr lang="en-US" altLang="zh-CN" sz="2200" i="1" dirty="0"/>
              <a:t>Cc</a:t>
            </a:r>
            <a:r>
              <a:rPr lang="zh-CN" altLang="zh-CN" sz="2200" dirty="0"/>
              <a:t>、</a:t>
            </a:r>
            <a:r>
              <a:rPr lang="en-US" altLang="zh-CN" sz="2200" i="1" dirty="0"/>
              <a:t>P</a:t>
            </a:r>
            <a:r>
              <a:rPr lang="en-US" altLang="zh-CN" sz="2200" dirty="0"/>
              <a:t>2</a:t>
            </a:r>
            <a:r>
              <a:rPr lang="zh-CN" altLang="zh-CN" sz="2200" dirty="0"/>
              <a:t>、</a:t>
            </a:r>
            <a:r>
              <a:rPr lang="en-US" altLang="zh-CN" sz="2200" i="1" dirty="0"/>
              <a:t>P</a:t>
            </a:r>
            <a:r>
              <a:rPr lang="en-US" altLang="zh-CN" sz="2200" dirty="0"/>
              <a:t>21/</a:t>
            </a:r>
            <a:r>
              <a:rPr lang="en-US" altLang="zh-CN" sz="2200" i="1" dirty="0"/>
              <a:t>n</a:t>
            </a:r>
            <a:r>
              <a:rPr lang="en-US" altLang="zh-CN" sz="2200" dirty="0"/>
              <a:t>)</a:t>
            </a:r>
          </a:p>
          <a:p>
            <a:pPr marL="0" lvl="0" indent="0" algn="just">
              <a:buNone/>
            </a:pPr>
            <a:r>
              <a:rPr lang="en-US" altLang="zh-CN" sz="2200" dirty="0"/>
              <a:t>7. Triclinic </a:t>
            </a:r>
            <a:r>
              <a:rPr lang="en-US" altLang="zh-CN" sz="2200"/>
              <a:t>system 1 </a:t>
            </a:r>
            <a:r>
              <a:rPr lang="en-US" altLang="zh-CN" sz="2200" dirty="0"/>
              <a:t>or (-1) after lattice symbol</a:t>
            </a:r>
            <a:endParaRPr lang="zh-CN" altLang="zh-CN" sz="2200" dirty="0"/>
          </a:p>
          <a:p>
            <a:pPr marL="0" indent="0">
              <a:lnSpc>
                <a:spcPct val="80000"/>
              </a:lnSpc>
              <a:buNone/>
            </a:pPr>
            <a:endParaRPr lang="zh-CN" altLang="en-US" sz="2200" b="1" dirty="0">
              <a:ea typeface="宋体" panose="02010600030101010101" pitchFamily="2" charset="-122"/>
            </a:endParaRPr>
          </a:p>
        </p:txBody>
      </p:sp>
      <p:sp>
        <p:nvSpPr>
          <p:cNvPr id="752643" name="Text Box 3"/>
          <p:cNvSpPr txBox="1">
            <a:spLocks noChangeArrowheads="1"/>
          </p:cNvSpPr>
          <p:nvPr/>
        </p:nvSpPr>
        <p:spPr bwMode="auto">
          <a:xfrm>
            <a:off x="-12179" y="404664"/>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800" dirty="0">
                <a:latin typeface="+mn-lt"/>
                <a:ea typeface="黑体" panose="02010609060101010101" pitchFamily="49" charset="-122"/>
              </a:rPr>
              <a:t>4. Distinguish crystal system from space group</a:t>
            </a:r>
            <a:endParaRPr lang="zh-CN" altLang="en-US" sz="2800" dirty="0">
              <a:latin typeface="+mn-lt"/>
              <a:ea typeface="黑体" panose="02010609060101010101" pitchFamily="49" charset="-122"/>
            </a:endParaRPr>
          </a:p>
        </p:txBody>
      </p:sp>
    </p:spTree>
  </p:cSld>
  <p:clrMapOvr>
    <a:masterClrMapping/>
  </p:clrMapOvr>
  <p:transition spd="med">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3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484313"/>
            <a:ext cx="4010025"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3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0"/>
            <a:ext cx="4068762" cy="666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53667" name="Text Box 3"/>
          <p:cNvSpPr txBox="1">
            <a:spLocks noChangeArrowheads="1"/>
          </p:cNvSpPr>
          <p:nvPr/>
        </p:nvSpPr>
        <p:spPr bwMode="auto">
          <a:xfrm>
            <a:off x="197297" y="188640"/>
            <a:ext cx="669642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3200" dirty="0">
                <a:latin typeface="+mn-lt"/>
                <a:ea typeface="黑体" panose="02010609060101010101" pitchFamily="49" charset="-122"/>
              </a:rPr>
              <a:t>International tables for crystallography---A volume</a:t>
            </a:r>
            <a:endParaRPr lang="zh-CN" altLang="en-US" sz="3200" dirty="0">
              <a:latin typeface="+mn-lt"/>
              <a:ea typeface="黑体" panose="02010609060101010101" pitchFamily="49" charset="-122"/>
            </a:endParaRPr>
          </a:p>
        </p:txBody>
      </p:sp>
    </p:spTree>
  </p:cSld>
  <p:clrMapOvr>
    <a:masterClrMapping/>
  </p:clrMapOvr>
  <p:transition spd="med">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1" name="Rectangle 3"/>
          <p:cNvSpPr>
            <a:spLocks noGrp="1" noChangeArrowheads="1"/>
          </p:cNvSpPr>
          <p:nvPr>
            <p:ph idx="1"/>
          </p:nvPr>
        </p:nvSpPr>
        <p:spPr bwMode="auto">
          <a:xfrm>
            <a:off x="323850" y="1916113"/>
            <a:ext cx="8540750" cy="4194175"/>
          </a:xfrm>
          <a:solidFill>
            <a:srgbClr val="FFFFFF"/>
          </a:solidFill>
          <a:ln>
            <a:solidFill>
              <a:srgbClr val="000000"/>
            </a:solidFill>
            <a:miter lim="800000"/>
          </a:ln>
        </p:spPr>
        <p:txBody>
          <a:bodyPr vert="horz" wrap="square" lIns="91440" tIns="45720" rIns="91440" bIns="45720" numCol="1" anchor="t" anchorCtr="0" compatLnSpc="1"/>
          <a:lstStyle/>
          <a:p>
            <a:endParaRPr lang="en-US" altLang="en-US">
              <a:ea typeface="宋体" panose="02010600030101010101" pitchFamily="2" charset="-122"/>
            </a:endParaRPr>
          </a:p>
        </p:txBody>
      </p:sp>
      <p:pic>
        <p:nvPicPr>
          <p:cNvPr id="7546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981075"/>
            <a:ext cx="8424863"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13570" y="221169"/>
            <a:ext cx="7299371" cy="584775"/>
          </a:xfrm>
          <a:prstGeom prst="rect">
            <a:avLst/>
          </a:prstGeom>
        </p:spPr>
        <p:txBody>
          <a:bodyPr wrap="none">
            <a:spAutoFit/>
          </a:bodyPr>
          <a:lstStyle/>
          <a:p>
            <a:r>
              <a:rPr lang="en-US" altLang="zh-CN" sz="3200" dirty="0">
                <a:latin typeface="+mn-lt"/>
                <a:ea typeface="黑体" panose="02010609060101010101" pitchFamily="49" charset="-122"/>
                <a:cs typeface="Times New Roman" panose="02020603050405020304" pitchFamily="18" charset="0"/>
              </a:rPr>
              <a:t>P2</a:t>
            </a:r>
            <a:r>
              <a:rPr lang="en-US" altLang="zh-CN" sz="3200" baseline="-25000" dirty="0">
                <a:latin typeface="+mn-lt"/>
                <a:ea typeface="黑体" panose="02010609060101010101" pitchFamily="49" charset="-122"/>
                <a:cs typeface="Times New Roman" panose="02020603050405020304" pitchFamily="18" charset="0"/>
              </a:rPr>
              <a:t>1</a:t>
            </a:r>
            <a:r>
              <a:rPr lang="en-US" altLang="zh-CN" sz="3200" dirty="0">
                <a:latin typeface="+mn-lt"/>
                <a:ea typeface="黑体" panose="02010609060101010101" pitchFamily="49" charset="-122"/>
                <a:cs typeface="Times New Roman" panose="02020603050405020304" pitchFamily="18" charset="0"/>
              </a:rPr>
              <a:t>/c space group of international tables</a:t>
            </a:r>
            <a:endParaRPr lang="zh-CN" altLang="en-US" sz="3200" dirty="0">
              <a:latin typeface="+mn-lt"/>
              <a:cs typeface="Times New Roman" panose="02020603050405020304" pitchFamily="18" charset="0"/>
            </a:endParaRPr>
          </a:p>
        </p:txBody>
      </p:sp>
    </p:spTree>
  </p:cSld>
  <p:clrMapOvr>
    <a:masterClrMapping/>
  </p:clrMapOvr>
  <p:transition spd="med">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571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88913"/>
            <a:ext cx="5329238" cy="397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57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1628775"/>
            <a:ext cx="5076825" cy="501015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755714" name="Rectangle 2"/>
          <p:cNvSpPr>
            <a:spLocks noGrp="1" noChangeArrowheads="1"/>
          </p:cNvSpPr>
          <p:nvPr>
            <p:ph type="title"/>
          </p:nvPr>
        </p:nvSpPr>
        <p:spPr bwMode="auto">
          <a:xfrm>
            <a:off x="6516216" y="188913"/>
            <a:ext cx="208823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r>
              <a:rPr lang="en-US" altLang="zh-CN" b="1" dirty="0"/>
              <a:t>P2</a:t>
            </a:r>
            <a:r>
              <a:rPr lang="en-US" altLang="zh-CN" b="1" baseline="-25000" dirty="0"/>
              <a:t>1</a:t>
            </a:r>
            <a:r>
              <a:rPr lang="en-US" altLang="zh-CN" b="1" dirty="0"/>
              <a:t>/c</a:t>
            </a:r>
          </a:p>
        </p:txBody>
      </p:sp>
    </p:spTree>
  </p:cSld>
  <p:clrMapOvr>
    <a:masterClrMapping/>
  </p:clrMapOvr>
  <p:transition spd="med">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67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836613"/>
            <a:ext cx="7632700" cy="576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6739" name="Rectangle 3"/>
          <p:cNvSpPr>
            <a:spLocks noChangeArrowheads="1"/>
          </p:cNvSpPr>
          <p:nvPr/>
        </p:nvSpPr>
        <p:spPr bwMode="auto">
          <a:xfrm>
            <a:off x="755650" y="125413"/>
            <a:ext cx="59753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a:solidFill>
                  <a:schemeClr val="tx2"/>
                </a:solidFill>
                <a:latin typeface="Arial" panose="020B0604020202020204" pitchFamily="34" charset="0"/>
                <a:ea typeface="宋体" panose="02010600030101010101" pitchFamily="2" charset="-122"/>
              </a:defRPr>
            </a:lvl1pPr>
            <a:lvl2pPr>
              <a:defRPr sz="4400">
                <a:solidFill>
                  <a:schemeClr val="tx2"/>
                </a:solidFill>
                <a:latin typeface="Arial" panose="020B0604020202020204" pitchFamily="34" charset="0"/>
                <a:ea typeface="宋体" panose="02010600030101010101" pitchFamily="2" charset="-122"/>
              </a:defRPr>
            </a:lvl2pPr>
            <a:lvl3pPr>
              <a:defRPr sz="4400">
                <a:solidFill>
                  <a:schemeClr val="tx2"/>
                </a:solidFill>
                <a:latin typeface="Arial" panose="020B0604020202020204" pitchFamily="34" charset="0"/>
                <a:ea typeface="宋体" panose="02010600030101010101" pitchFamily="2" charset="-122"/>
              </a:defRPr>
            </a:lvl3pPr>
            <a:lvl4pPr>
              <a:defRPr sz="4400">
                <a:solidFill>
                  <a:schemeClr val="tx2"/>
                </a:solidFill>
                <a:latin typeface="Arial" panose="020B0604020202020204" pitchFamily="34" charset="0"/>
                <a:ea typeface="宋体" panose="02010600030101010101" pitchFamily="2" charset="-122"/>
              </a:defRPr>
            </a:lvl4pPr>
            <a:lvl5pP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solidFill>
                  <a:schemeClr val="tx1"/>
                </a:solidFill>
                <a:latin typeface="+mn-lt"/>
                <a:ea typeface="黑体" panose="02010609060101010101" pitchFamily="49" charset="-122"/>
              </a:rPr>
              <a:t>Graphic presentation of P2</a:t>
            </a:r>
            <a:r>
              <a:rPr lang="en-US" altLang="zh-CN" sz="3200" baseline="-25000" dirty="0">
                <a:solidFill>
                  <a:schemeClr val="tx1"/>
                </a:solidFill>
                <a:latin typeface="+mn-lt"/>
                <a:ea typeface="黑体" panose="02010609060101010101" pitchFamily="49" charset="-122"/>
              </a:rPr>
              <a:t>1</a:t>
            </a:r>
            <a:r>
              <a:rPr lang="en-US" altLang="zh-CN" sz="3200" dirty="0">
                <a:solidFill>
                  <a:schemeClr val="tx1"/>
                </a:solidFill>
                <a:latin typeface="+mn-lt"/>
                <a:ea typeface="黑体" panose="02010609060101010101" pitchFamily="49" charset="-122"/>
              </a:rPr>
              <a:t>/c</a:t>
            </a:r>
            <a:endParaRPr lang="zh-CN" altLang="en-US" sz="3200" dirty="0">
              <a:solidFill>
                <a:schemeClr val="tx1"/>
              </a:solidFill>
              <a:latin typeface="+mn-lt"/>
              <a:ea typeface="黑体" panose="02010609060101010101" pitchFamily="49" charset="-122"/>
            </a:endParaRPr>
          </a:p>
        </p:txBody>
      </p:sp>
      <p:sp>
        <p:nvSpPr>
          <p:cNvPr id="2" name="Oval 1"/>
          <p:cNvSpPr/>
          <p:nvPr/>
        </p:nvSpPr>
        <p:spPr>
          <a:xfrm>
            <a:off x="3131840" y="5373216"/>
            <a:ext cx="576064"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descr="C:\Users\Lenovo's User\AppData\Local\Temp\mx38AD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0" y="0"/>
            <a:ext cx="8728521" cy="680206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data:image/png;base64,iVBORw0KGgoAAAANSUhEUgAAAt4AAAI8CAYAAADGGKzWAAAgAElEQVR4XuydeUBN2xfHv+YpQ+Z5np4pZMpTZMhQhiRlioqEEpIMGdJAKklJpFKGCpUhFArpmUO/Jy/zEDJ7iCfS/e1zu+d2q9twU4Za96/3dM4ePnufc7577bXWLiVgP9CPCBABIkAEiAARIAJEgAgQgSIlUIqEd5HypcKJABEgAkSACBABIkAEiICQAAlvmghEgAgQASJABIgAESACROAHECDh/QMgUxVEgAgQASJABIgAESACRICEN80BIkAEiAARIAJEgAgQASLwAwiQ8P4BkKkKIkAEiAARIAJEgAgQASJAwpvmABEgAkSACBABIkAEiAAR+AEESHj/AMhUBREgAkSACBABIkAEiAARIOFNc4AIEAEiQASIABEgAkSACPwAAsVEeP+HhIOzMeXYC4zU98cKxVo/AF1BqkjBnSMmmHDkJbRm+GKxgnxBCsnhnpzLFjzdAwN7R1yXcmfplitxYIEG6mf72ydcD54B/ZPlMdvcA/otKklcUbj9EHyKx17v5XC++QKtRvhi54g2KF1gMt/w8clp7ArZhoCbt5HMSpKrOQyz9c0xrkU1lCpwubLemJVR5SIce1nbxj8vnzHVZCtM2leVrYDUhwjbbIINlS2w11AFhTmLpTYk9SZ2OszF4fbr4KOlAMmZmPn6xwhbPxXW95pKzNnXiN6mB/Nr1fLo60dcC5qGGWfArtvOmFTJlYngeShm29rjsqBuvt85gk//4EDAOrhevc7mJfuV74RRIxdhvuofkJNtBOhqIkAEiAAR+E0JFBPh/QihDlNgn9gJFktdML5h+RyG4zPuRDmyD19ZDJ2wABoNKxTxsGWt7xvunA1E+ONaGKAxEp0qF1xeZm/4C0RtngrLG91gu9oGQ+XLiC8R/Hsdx//3AF/SHiAi1A/nBYqYMFodbcuVRvmGvTGkde3sglRwD3vsp8HxpQY2rrWAUkVJyZpzXbID/YLHUZbQCvkfuijNhoHqMCg1zF305FzHNyTf34Nl7htw9ktD9FHsjxb/XcOh+HgkVxyPjdbmUKryvczzO4eyMnqd4/jIzux770hChNsUWN3+Ew62KzCwWsZcybvkb3gbuw7avncwydyNLcjK4FnsFizetQvxX9JQuuoQmBsthjZb5OBDLLw8rOCV+IoVWxuKA22xdqwiauANroaswMKoC3jPFkbVmsyE0+yp6Mb0f/L9EKze6oqTH1LYKQOtMWzcaizr3wIfzq7CqIA3mGPhhMlNK+fQTH4uxaLDqO3wUWuJUl+vwn2ZMfwEE+BhY4aemeaxZDGyCG++nhiksSIqdHXG0ekqyH358gbntk/H3Mv/QVFJD+oNviD+YiCCH1fEKP2tsFKs8wMXhXmP8s+5gnt+pY1/a5R9dQZunqux+9k7Ni+aQHWkDVaodfyxC5bUp4jeswIrz8axhVMF1G9nBkfDsWhfOTWHZ6Aqvr06Cx9/J3jfe4y0Uo3Rd8BCLBndF/XL5mQCSMmlrBwY5NguWZ7rnzPiVCsRKIkEiofw/nwOaxfPRXD5afCym42u5XJ6qYkE+lM1ONsvgcp3i7C8pswPrO/b39i6dDq8yhljx2p9tJemL99GwGKFFU7VMkPAislonZsG/RiN1UvNcajhUuy31EQjya7mp6680Ij/Xogi/nMctq41hdebLpgzzx5TW3IWbn5RVjdflsy8m53PMc3KSJCP8cm78sK5gn9e6lhg39LxaCbLNkDaXexZawDHLzOEc6hl0h5MX+uIf+ppwUypBmKP++FU6li2yNEH9hphbmwljBw2ll0XArdr/0FzxlbMgS80vQ6hZldDTG7wEDvDD+ONogtCdSvBb/VsJpIHYfawznh7bisCnnTBUisHaMqdZ/PRAtHd2HXT+uYoctMSd2Kygyvut7PFQdOhqCX6/8c9NiJ8mhJykuyADMJb8BChjtPYQj8NcmU/IzltVN7vk2/X4G4xg/VtIjwc5qFn+VL4lhgKqz2ngG6msB3YGiVeJn1miyRp47/UCF99jeH4rBW01Ieh5q0AeN0sxXYNt7Fdw5qF80zkWUoKHhwzh87BePzRwxCjqv4P3idPI6WHC4KHPMZ8/hno1wC3orxxKFUXXit08F/gDCnPQM7tTnuSw/O0cgwS3aaLGGigcWIwe56AKSYboPHIWtyusXXusefpKL7080CATrdcdofy7DBdQASIQBERKBbCW/yx7eiAMI2nMGUf3keN+qHn+0uI+fAV1VouxJbZ3XHFWR+OSf+lo2zAtsnn98C9o+5wOXUGzwQQW+u0yh7EFO7jLd8OLT8+wH8DvBDULRZTpZU7Zxxal0nC2QNOWCMqB+UVMElPH/UPL4GzRH17pgGr1zjirlAEdMf7a7uwPmQXTr55L7TiDBiyDItHKkL+cbp4yNaHnOqaao+5dU7BkLmTpJctTWAIkBK/AWqbd0MgeQ2zlmRrOyvPpNphjHf2wAsxRzALzwK4GGmi1eu9QtcVrq6jOvVw4Uh2hpzFs1SWskvL9YbehBWYrVA33brHW9V5RpW5hdN01I/PnYvkuOwd9YdIsKThQ5wzE3T7UEbJHaGTemYTWeJ5IhzXm7j1hWtEI5HbTxnmajALM2LKY9qc9Zjd+j+ckxhTYdt1J6BWljHdZ9kPT7KOvZTxqCRy98lr7GuVeo+Ek+6wO3QACV+qomO7dvhw8yJeKXkgXOUmDCXn5Z/LMR8RWCc571jdZoxv2n1faOcwfi1f7EoXp3V7ovt//8NF/hmZo4a3+/Qx+1yadCbtmVOJqB8PlL1wXKczPlxcjRH+f6HfxB1w7Fstw11jlingbQ6/WunivikT6NyceaDsjHVww+wzddN3pxo8Tt9ZeT0em43KY4W7P6ors361YNbvii2h0KE1agmtg08Q5jwZ1onDpezASLwd025jJ1t4ur4dzsSwOZr9xVyMDj4Qu4Nkdvdgbkj1RsNssglGM8t9XD5dTcRuJvWnYHbDKHjElsOEWduwoGP1XF7T3C7DNFjd/Ii69ftBpXMfKLXvAcV2jSHc33kdBtOV1ohrowmND1HY++wD5OpPgrXxTKjUTsWd6I2w3r+fzQlmY+dcVMYshYUKZwmWsKiiOtozEb9sggazwn6UmEdsJ4LN3ynaS2Gs2BBlJVqZ4eaVCDCXrDG1YhFyuyNWWpsA26fB+mF9dK3/L669UoeX4yy0fhQGl51uOPicWZ4l6/vvqLD951usRJi5BuqJ+iP8f/bes82xbxm7jt/ubMXIDVLG/9NJWFlZ4ngbWxxmi6kaCe4Y4u4HCOdg10z9yegaP1+6QKv7R0RcZFZq9l6eOGk1TBUFCBfOJWl/y8wno7wsBoJqf6cvpDARNmNeYuWec+g1fifcVOriSZQFxoQ8Zwt9e3SJMYH53wpYabUYiv+shfaeBGjkuGBgu0k5PU8TtPEw0BGnmqfzrctcnWbZrMVDZTamL9xge7MbG7M10Kj1NH33lz1PuRuhikhRULFEgAjkSaAYCO9veHV2OdR3RzP/4G1wqx0ADf9wVKynDr2+LfH8nDeCn9VmL0F3jEpyx+TgY6jU1RJr1Trgw8kVML9cBkMHj0PvircRfDgY8dVmwGnoAywKOom6XRfDcdxwtK9RRvRClFbuFox+aovxIffRT3Uy+leKh9+RQ3jccSk2t7+CuXx9Q5XR7MVWjPI9hk5jfWAjtxsT/I9Dvp0utDtXw72Y9HZOmLUF+h9dmZiRpS57BPa6iEnCsndg88CmUratv+DhsflMhNzEAKFIasAmxxckRi2W0nYbbGkXDsOQc6jWWBP6PRvjsZBjRQzV84VlGW8M5+rSdILeY0eYZWM4m1ndJ6LiCc5CdBvdVBdiZvPnCDt9Aa8aTYS1jhJzN+B+yUg8uwmmu/fhTUcLuGj0R8OkrZiSAxe9d05snCXHRdKl6D0u7ZomIRqzeh7z84S/fzCqXlnGPpBx6MM+mBs7XMV85qJzXcGR+S33xjuhdStr29WhX/cviTHtgxq3nTAx29hnHY/GSI5dk84s17H3xJSPHmxeRKBSu0nQ75CKk0d24nxKTcbdB/NS3ST6PxBVrqyUMnYOODJLBSnRSzF6z2nIZRs/H5jDk82vI0iTH4aZA9rhhfgZ8YLm01U5MOF8uQX4FOeIYV5HoSAUGZn2QSD4GAsPx/nY/kYFtiaKCNtoL0WI6UIPYfC/30MkFNi84ETQ/c7QUwb8z5yTeGkxN5RWi+FtOgbNy34SifoaMLNkz3GTnNzEJP3XbdDhpCksE/qJLNLM39vbiPl7A337jcegGi8QeWovzn5Vh/OKOah21DAfPt68m8kl4fvGnb1v1NmzWi2HxV5GZwRIlXSXEP1B7JpTLRpzOeHK3Gu495Fi6gVsO3kSrxpaIGh2bWxbYYnIhhOwkO0qXA33QsRHNeYmZATsNoZlvJzwnu6fo7HpzEVUU2U7BT3jYOjohmeNx8Ood0M8ueCPgMetYLHYGeMb8ezepy82z7xh7i+ToVYxjllxT+IFBmQI7/vVMVTLEUtU26Dy+2jmxmaBsHJ9MXmACur+G42dMWfxX1f2zIx+jxWrchfeUvu2eDyaC3feUvE8egk0uB0A8U9y/Pltmbe4umcBjKOfov/E7XBg7zHpGzYi4X3/G5p3nIKJ7b7h7DG2G/NRkTGYj8qB09mck/Y3ST45fT+/4UOCF4w2eeNBWxsEqibAyDMIlXo6wEunJf7eNR+WV1+x94o/1tU9hAnuvmzZmP4rXdsQnkywd6uS9/5Gpudp8QjEu8xHQLnxcLYwQtvb7pjhH4JnLWZjaf0jsD9XFuP012Nus3g4OS/HwQ/9RM+X5DIrTz1AFxABIvADCBQD4c0LLjDR6grla2ZMfMmz4CrO/zRZ5FfbGStX2qDPLWsmXK5iiJ4fbNtcTXe7YJbuTL8a2pjR9jy8LtaS+MDzdUgrdyX6vDqOHX/dQrkaFfHhwUnsv/+SfZS9sKHGDozk6+tVVRQA+gUzZjNr0q4F8PqiI/I7/Sb66FxmL2t36CUuz6EPOdXlDqtUV0w9xsqexz4IraVtqIssNvH1JQLPvuBVwhEpbXfC7BdrMT+2GftIObAPdVmJ9jFXgX/tWSArq2uKJm7vdJDCUFJ4XxD6waIUs5wpToLRSE30rMV/+JmVWixI2YJB+R28VhnlwUVyXCRHjv/QNszEQPDfE9x4+BKQr4tPJ0wYV/7+8qIdgD2opbYey/5zh/HFVrBdshxDa6eJtpWztn0UWty0zZhDvWrkwC/reJTK39hrLUXv09bMWjsEDjZWzPf6X1FgYEM2F+3QLtpYov2lcqibC06tjQvb9Zk/cQN233omUstJmV9VGCdPNlc+Sjwjdhjy3J3tikhjUk5CHHHzVFJ4M9/cR0fhsm0dDr5tinHT1sG8+RXMl2oBzUt4X0L9bjbwmtQRt4IWwPxSqsiaXDafwY8CfLnjBR1mOa2kMgkdz/ogrFW620md91FCy2lEPd7Fhl+M3mMLm00Yd98yb+HNu5k8qi8M1pwjfyI9yLLipDx8yPm5yoJ/n8cj9mYcLl0KwZ77j4GmSxFsUA4OnHBtInLt4neDnvWDzeKZqP/gGMLufEadskmIiY1klm8VrFwwGOc3WCGikeie1Ne4czcRyZUboPZ9J2hmErFc/dUlFt3sf9P+ge8KA3h8HJ/u/lLufvruQ1JvCeHNL5BKiYwPJ9Ge95/n2/hcFQ7zuiF0vV2uFm9pfcuIR+GFd0wO418dgk+3cDjAGjZXE9Gs52psnNQ/F19p/n2ggKXLHaFZTyBheLBH/3OWTHhL+xtvlMjp6/ue7T64Y+neUDyU14XjXBOo1HiMUDdT2N9l7xnxj7HWXgyFGBu4vlHE7Im6aPUkENbHmDGjLTM83DojJdhdTvRc1c/+PCnKs1iYVcwYEsXiIiSWJu1ssH/sf3BYvxZ/pQjftOm/UkOyxfr8AD1BVRABIpAPAr+/8Oa3ll8zKxvzK3232TAjILDcdQm/Zy18COAsounCa0KKH9vW9MJ/mbYrv+D9+xs4uN4Erv+OytjSzhpoKFmuZRdEOs+H/7e+MFDujSqP9sL12ie2Ve+KQdfnSwil5+lbgJx/+YJO2Otom/GRYsFm5/yYL+ClmjBbNB/ldzB/Rj6oMT91TV+JdhHz0svOyXed9zlO0RL3i7eoZGu7wULUC7GAx6dJbHvZBF3LvEy3FF6tzdpngSoBM4R1OUyrCSdvn+wMP6Siatm3TPA+xvM3r5GS/ASXr4Tg4OMPaJMpa0mWzCnVIjNvV0tysWCuC76zM49LpgnOf2irS2SM4dtdERNmmqFu8MJM93MuA7Ns7HGjeR90fHQD0NiCjWps+14o1qW13QVmb9fARDSHJtW8LrTwZuOXbTzYhzk/Yz99BOK87cXbyfVSmTCynQEPbi7aj8HddQbi9vf5dkV63Vy2nM6v0t0t3jM/02zjl8v8Yve0eymdCSe7mVITLZROoJtYeHPBYO6Yuz0QD2toYLHBfIzh3Ix4n2aRq0kTkftUUlZXk/rMx1vUVg9DYNHmvWgn3LVpiBdCC+hVkVjk3VhELio5BlCzZooCKnekVkbFL+XRm7eMFoLwzshmkvXt2jx3dxORX32ovBl2LRfFV/CMys2Ar3lDbFltjYt8liH+nfNiKBN3HXHAwwH/qzMa+r2b4PGZLQh+wcSxWX+c3miNU41FwjvlIc5d/BtvqnWEEvZijNdhdMhxB0xCeCdrit4JiaIg9V5FIryl9U3yfZUqdCGRPv5r2t6E88YV2Pe2EYZproDlwLwywYjeBw96MqOLPTTYYjp9x49zO7JD91PzYS31b7lkxeKCGHctgsWlR2jaaT5s9EYxlx6R5Zpb9NyIw63PlSCXyHaVTn7CjAnq+DvAJdti5GKLOWx3rysqZzX6MKc5ufrNIXd3a/bnSTjdvuD1o2uIe5iMqpVvY5OvD16obsMhrU4Q/HsHl2/dwyfWnjv7V8Prw2T42huhU96G9XzIBLqECBCBwiTw+wtv/mNajVlZFzbDTrYle5z5wXEp8uqJhNV1LuuAQQMcEPp+9oWZ8VyMkb8ECzt7XJEfCdNBf+Dfy77we9gWFsYD8T9PG7E/YW2OtqiO7OU6wL/DCUzYHYO2ylaY2/o1jh7YjENv+2Dl8mn418NIXJ9m80S4LWEBoFxAm1ljBKyaj2Auu4jaEDQSbtnGsq1Ke3iM/oINy6X1IZe6FmngurN5etk5BMuJUwryFjXwrhdS2m6qgtNu7IMObtt7LDp/Ppu+pdzJDgF6VeAt6scew3JYJ42h5RqM/eAt9MP82nI21g5vjaenN8AxvjpmzHWFURs+/0OWQEWcx9qVeXAR+XkKxyXTjw9+ugBU7YMxXVsDj0+x3YfXaNZ3HbZqfIKThJ+o8P4vl7DecjYCvrIt4Pom8LPQQ/sKpZAuAKS03WQWKgfMF43pHPR7swU6AVL4ZR2PFFHwb15jPzYNHstYQKsw68wQZhXbhy3xdwAWKHh4ajlsELd/MCB0r5JSNycyykSm7+ZIGz/d0nCVOr9EmTlyYMKj5udRuo93V5R+FgoTe3tcErRlQZTj0b0q96WvjOZdOuHDfmMZgyvLwWu5CYIqqcN0YEs85tyvXjARuMKWCacXEj7epqhz1ollJwIGjreAZpOKWebCO+Z2NJ0teh8wy1+/9ODMepxbkmghlqeriSeGPfWQUj7vZnIedTvOgFFHLlYhDR/vhWL95RuowbmbTJBHxGY3RDF3DbNZmhkBzIIniNhkBKuENHTtoYsRLauy+47B93IcqiqzQLjBT7BIiqvJm3ar4N39L+gHRKOZEvPrbv8GB/ZtQgTnSrBqNrBjBkufWI+x10Lbl2FwvXwXf4zygVefJ7Dn3EIqM5aDOHci5n7ylFmvhSzTl1HsxZbZ1UQuAQEnwvFAIOlqwlu8y0KQm6vJxHLYwr0XyvTF1BEqqCyau2kSPt5ZXU3eiAJg6/Cj95k9j9LG32o6vvoZw/7hV7RgAblT2tZi3EsJMzINrHAGy6UGqObgavJpEDPQzMBXH+a/ntXVRPi3xWh11UXq2Ke75Z1BWk3um9EdNTgfl3LN0afFbSxn78FrjThXoFqIj/TG4dIG8FvSD/9zZoYgYVDoSDRPOiQen21qraSmTE3L6Xnq3BS3vZjB43E79m4Yhrr398ItrhKMFzhiyP3VoqxQRhhV4yZ2hJ9A2SGbsV2jAg5Lm4uFqSCoLCJABGQm8JsLb7atnOCB0e7b8bGHKw70uYqJ7jtRSc0He0e1wydJN4YBwOGNxrC+8xKlOSFjqoRXx9bC4tBxFljJ5XoeiukTTTCGWYrGicvgAvf4OqSV648NrS/C0tUJZ1PKoX7LAWj79hSiP3AWSh283jpLXN9BFvQ5y9mTWYc9cUCnA95c88eaID+c5dKmlW+LoQPmwnREL8jf4fojW10uRrWx3mOLqOxuyJ5MkbdUHmT+n5yFpLOwX58f7ZPS9pFwmFQW1n6hqN2iB6o+OcfSxFUVB221ee7Pgvb4frTCPSkMddrXRdlMKa64wFVlGOoshEFXieClbNk1mPU0X1z4gMos850L5gyxw/Loi8Lt2NJyPaA5yAjTVbuiWiau/P38x7kOxs3wwCIFUVrFnNreJRXh4jlkg32jP8BJythnHY8ywkDHvMe+HvNjvhO5BvP3R7A5WRPt6lXG7efP0IjN511tozBWPC/a46vUseN2aRai+11X5i4SLHX8Wj7yzGF+8bEBOTDhUWfKaqKLqjFZ/XK5C5sLM8jMaZTwfekExcFwbM4Is+zwWU0UcDfXQEjeF30vUjg3DgtNNBY5AucvuNId/eJMpLid8AGSdUVuOulpL8VW8EosOHh1X8SwLBx+mCrabciYo8K692yEV+xlvOCsncz9SrHPLCzUHIrWfHCifA/0KRWP829SxMGVyhXi4OG6FNtZKr3S8soYVOV/OP64Ddu5c4Zupcvw9HbEjsRnWdLVfcPrhACs9duCU8J3DB9YmEtwZdW2aJN2Dzc/cv7BouBKsS8+5yvMpfvLIbiyMnPb+csZCwMPMOFeHR17DUStK6GIbpIRXHleSt9Uakv66mdJJ8i3mXdbyvK4y7HFX7hCDIZJDbTk53FN9GaBs5fu30da1uDK+9L+Vh3Xpc4tvjxhBvaMX3lunGeg/jU+pSbYuI3DQr2ZGNG0Cj5m4dWx7wqsHa+cg4uMND93/nnyhXHtKxkpFct3wThNS8xRbgu5TO8rxr7nAlhpszlVgQ8AzT4XZVYKdAMRIAKFRuA3F96FxoEKKmEEhLnNY0/i0JHd+IcFSAUYDUYdWdLqFTovPj/4W9T9YyQ0mgkQH70JrjfqwSzX3NVZG8L7LT+R+ZCm/DHh83jfwHihj3hBc67LApDL9mCLkTuew1gmFrLUUXjXCoW450eY8y4l+SlaMgsIlxUkP/d89zVvcSmY7aQ9lEP3P9XQtcI9hAS5IjyVjz0ppAeiSPvG7UIsg+VnI+zIdPAWL5QzLPYZuHL723dDpQKIABEgArkSIOFNE6QEEmAHXoiyflRmKeHs5xhDSf5nR/9nzXrB7cKoYsLYuZl3CfIcLT7tGRdQzPm25rdfMjD5WSdXtrHH1vGKeRxUkyegor2A7Qjs3egPwWhz4SFC+ZauRSpOc+oyFxQbga0BmxHEWcyL6pTXIuxb2pNgLAxNg5EBd5CNpEMzCe+inehUOhEgAgUlQMK7oOToPiJABIgAESACRIAIEAEiIAMBEt4ywKJLiQARIAJEgAgQASJABIhAQQmQ8C4oObqPCBABIkAEiAARIAJEgAjIQICEtwyw6FIiQASIABEgAkSACBABIlBQAiS8C0qO7iMCRIAIEAEiQASIABEgAjIQIOEtAyy6lAgQASJABIgAESACRIAIFJQACe+CkqP7iAARIAJEgAgQASJABIiADARIeMsAiy4lAkSACBABIkAEiAARIAIFJUDCu6Dk6D4iQASIABEgAkSACBABIiADARLeMsCiS4kAESACRIAIEAEiQASIQEEJkPAuKDm6jwgQASJABIgAESACRIAIyECAhLcMsOhSIkAEiAARIAJEgAgQASJQUAIkvAtKju4jAkSACBABIkAEiAARIAIyECDhLQMsupQIEAEiQASIABEgAkSACBSUAAnvgpKj+4gAESACRIAIEAEiQASIgAwESHjLAIsuJQJEgAgQASJABIgAESACBSVAwrug5Og+IkAEiAARIAJEgAgQASIgAwES3jLAokuJABEgAkSACBABIkAEiEBBCZDwLig5uo8IEAEiQASIABEgAkSACMhAgIS3DLDoUiJABIgAESACRIAIEAEiUFACJLwLSo7uIwJEgAgQASJABIgAESACMhAg4S0DLLqUCBABIkAEiAARIAJEgAgUlAAJ74KSo/uIABEgAkSACBABIkAEiIAMBEh4ywCLLiUCJZKA4D3un9oHT+fr6O21DmMblM2CIQUv447Cb3cMPjTujv5D1aHatjpKlUhY1GkiQASIABEgAjkTIOFNs4MIEIFcCHzCgzNRuHY1BLPNysP9qXtm4Z36GJE2c7DkhQ62O+qgg1wZokkEiAARIAJEgAjkQICEN00NIkAE8iSQGuuE9j3uYJ2k8Ba8wrk106B+ajCO7TNFj2okuvMESRcQASJABIhAiSZQjIX3FySd34c9hyOwa4M/LiXnMM6tBkB7sBL6qQ7GAJU+6NygMm2Rl+hH4jfvfPItRIZG4kJsOHxcD+Jujt1pgwHaA9GrVy/07t0XKj3bonbF0jlenV14C/D1li+0FRfiqf4iTKr8EFf+lUePkXrQH9EecuRn8ptPJGo+ESACRIAIFAWBYiy8eVyfcMtnOtoZBqT/QwNTBF9yxNhGFSD4/BZP7l3GoY2rsWhLDJJbacFu6wYsGtgYWb1YiwI+lUkEioyA4BkiFozAsA1XhVXI6/ki2nUSOqJ9OcMAACAASURBVNUox/4vDZ/fJuLu9Us46uMC6+1ngQHz4bpmIfT6NJQ697ML78/sudJjz9UHLA9zw6IR9fHmjC8WjfFDTf9QbNJoQgvYIhtcKpgIEAEiQAR+VwIlQHinIinEBA21tqQLELNw3NkwFDUlR+zrDfhoq8PwwANAbiK8Y71g0Lby7zqm1G4iwAi8w3k7DShZxbD/boNpwSfgM7ZpdjGc+hpx/kugbeiF23L9YOzlBRfd9qiYhWF24Z2MWKeR6OGpjssJC6EoXKm+wZkVGlD53yzcC52CFmT1pplIBIgAESACRCATgRIgvD8ibuM4dGWCG2iC0f5RCJ3SOosA4cS5KdpqeSIZcuhkewwXlimBpDc9Lb8tAcEd7NAcCL0DiawL2vC+6c8Wk1nltKh3gpc4s0oHKqtPsoXnaDie9IF5j5qZnpEcLd72vSSEt2iRu6i1xL/9tgSp4USACBABIkAECp1A8RfemQTIaGyO3w3jDtkldbqwsEj3ie23GfGnjNGBYsUKfcJRgT+IwJsIzGs9DK5vWX0Kjrh8wRyKFXI2QQseBWFSR10EsFgIudHeiN2rj7blMq6X5uP96fxa9B7yCNa33ESZTkTC2/9Psnj/oGGmaogAESACROD3IlD8hbekAGmyEtH/rIRylewCJJPwbsWEinj7/PcaUGotEQAE+HjGGn+oWIOzdzdYFIkEh4GolhsawX0ETRoC3QBu6TkAtudCsaxPDfEdUrOafP4fPHWm48LEAHjptGK+4ZyriQECermRjzdNQyJABIgAESACUggUc+GdhvdRVmg/aA2SWOel+ncLoWS+DnrBeOo3Fg1K7JQR4FtqGkqXLUMBcr/lHHjP/K/HoYfFcc7cDbPwCGwYWi+Pnoh8ti1OsevkmJH8JC4s7IEK+IbkxDicCXLCJIskzAi0h+Gg7mhbuwK7ToDUpGh4LNuG+z2HoTse4lGZ/jAw6IsGZcnB+7ecOtRoIkAEiAARKFICxVx4SwqQXALMmGd33EZd5gd+mLMPQs07CkcN2iPn5Gqc5viIxJijiKs1HBodqgjF++fEs9i91QMeG5h4UZ8Hu3VzMbRpDn61mYaVCZh/b+LEgcdoP2UwmgsrTmHpEIPgsd4dG67UwnQ7F6zRyQh6E3x+hL92e2Gjhx+u1NfHBjdLaLTIv1e64PMTXImMQMT5u0irVAMVBKVRZ5A21D4FYYGNF6J7eeZtJS3SqUmFF5hAWgJ8hg+E4TFuuTkJ/ve8MaUFJ5Rz+2UOQoZOIB4F6KAJ6ecCDwPdSASIABEgAkQgK4HiLbwzCZCcA8wE789hzTB1LDvHHGLbzMeh0w7QaMClXcv8E6YffHQPN6/+hWPBO+FxfgSOCF1X0pAcvwsWNlfQuNNnnHDYglPMVzb3LX4m1P9NwqO7/+DqX0ewY+N2PDZmQZ2clVHwDvG+q2Dzv6po9vQg1u2NY4UtQWSCLQZWKw1B8v/ga7EWF2uzFG5BXth7OxlNlkfjn9XK4JYAuf+YBfPWIThabMSDwSthO0MZTbj8zYI3OO9oj+03o7DFJznnLBh5FU9//+kEBEkhLJBSC9u53PX5jlfIIrzJ3eqnjyM1gAgQgcIikIKXceEI3B0AP48rqDq8B6rci0FCtRHQn6aLiWOV0eK7Tt1l39VHsTh14jjCdl5Ea8ddWKgoV1iNz65Fkh/i4qlInAgLQmhre5xfqPiTUyDz/Y/AXs8YdN4cnGv/BUlHYD56Orwa2maLJyoyaL9QwcVaeAvu74BmSz0c4IDnFGAmPPLaCGNWH2V2byXMOxQIR42mUibxe9yKisLV+1cQ7OAiFLvpwro/SscHwu5gPcy1GIQGZR4iaIIqdIMe5OLawtrDDjqJOvY/PP4nFLZWu3EbilgUGQ4H1XKI99uIgw2mYL5ac5S9Igr6FAlv1dLX4Wd3DLVnGEG9ZWlc4VK6MfeAnN1oJGcbs6JHucLYyBeVLAKxzUhB4qATAVLOr0F7pWV4kFcWjF9oAlNTshL4hjcRlmg9zBlcXGX+F2RfkRg0E011fdMLJOFNU4sIEIHiQIB946PWzYPRmucY4uqM1Xo9UUfoCsfE4r2jWDd9NlySx8DD1waTO1bPv3vl17s4egpQG9IKZVhmqLij4QjbbgOrvY3gePlQEQrvVLyKi8TxMF/MsQpCTcfLSPjZwlvG/guSDmFO/4nY0dweMftNoFC5ZG2tFmPhnVmAyM8MxXX30WgofOBSkfySHSDy9zmEbV0HqyBmUeYOz/FwwoIhzVEx1znwHBHzhmKY6zcYHwrHpt4JsFn/Afo2o9GUK1ucRSU1fy4rzDo5taEW/OXNEX7HDt2vb4HLs+GwHt8G5diL4WXYfLQc6Ybk0f64FzwY9+134pPhXGg0ZK4DgkcIMRgMLWbazNs9hr1k4rZgUj9L/DPZDyfcNNPbK/ETB5jmIwtGcXgfF88+iHJp25xj3RMt5gbWzkdXJX282eXcfKNc3PngRpcQASLwyxJgB4lFWxtA3fofDNy4D7tMFLOcqsvcPJ8ehsWgCdjwjbnlhTlhStv8WKo/4e4OE2g8n4O/xaKXf4eiiIV3Om3+e80q+/nCW9giWfrPuL9+gXfV66JWCYwHKsbCW1KAyKNVKzncvcvleJD8sWOz9bSgOWI4hg1VQlvhqX55/FIuw6m3KizuTkZw/EKU37wDX2Ytxljel/t9FCzbD8K6JCUsjw7DauVMR/VkKVwi+8RoP9x0rYYtWyrB0m4o6go1Md+HBOYxEIEd9aNxqLE+TPgcyzLUJXh5AkvVx2PtP8NzOCAow+KZrywYeXGiv/8cAt+uw3OACmbFMHu3nDGCxan+8miO4IF4p4a7kubAzxk+qpUIEIHCIiDAp9j1GNxjIc41sED49TUYWlNajuCPuOGph46zQiCvH4zr3mPRMFfjG9s5jnTEpDHL8WilpOiVRXh+fx9/b+H9/f3/nUsovsKbF8hxnKNreoDZhDrJePnhi2i8yqNqnZqQk3G1lXbLB8PbGeLYaC+cNrgHv3fT4DmlLbNOp/++3fDEgI6zECO0YDvk8KDzU4YP6jyLfhu8MPfRTVSzXIShdUUH1otFlAJWB+ij3KeumGfQRXyq4Le4jejZ1QxX86pLfEDKJbS33I+/1gxCzWwvlleIshyGQevek3/3b/xEi+cn1wc1b9w8aoC2uUYJizorXsRx/59bIPJvDIeaXvIIpD7B6fVhEBhPR7+PMfBYuhTL9sljybHtWKIkj483QmC7aAUcbqkiMNwJOi2lBagzoXXaB/sE2jDtl4Joj1VYuCwCckt2I3hJP9T4eB17ba2w1OERVAKDsEWH263M+iuMMkre8H1fj/lvWmyehoSM96ZkLJjIFWXrF0ye8gFrNE2wHVOxe/MQvDzkhVWuLBmDuhkWD2iMKt3HY9bAmrgqdP0E1kU6oUPsBqxcvROxyQ3Q03g9drrooK3EdrogOQGHPT2w8+/y6NTsPaKOJKKdrgnmGw9DWwl/c0HybRxeF4Qvk4fj3zUzYLgdMAgOweZm+9BBWNlxHOlwFStWuiAoNglyPc3gtdMWupKWexY3duuwDzbs/BtynRqwbG8ncaudNhbMZ7sBbSXda7h56gnPt+owaXIRbg4b4LL3EtDTlLnirIZuzX+ww8ONJZAIQCzYSccem+A4uYtoF4FfeKTB5uAKtPjLDSsdDrCzUdpD3XI11lmNRQdxv5jPfWwwnNnCpZfXOtE5ENxoc774R+G3PRIva9dGyrkDiKk8CotWzYd2BxncgL5v4hT53cVWeGcSIPkOMMuLN3/C5QH0XGqETleqY2rwPCiK/ZNScH+HIVrq7YLchEDE79JB09xWzuLgz1qYNLMn0GshfA06iF/aYh/1BlowNhwJ4yV6Er5QGXXl7hYgwNdbvtBWNMSB5LHsACF/doCQlBDMT+dg11sNVteZRTy3Uw7zQkR//4kEMp/AmpESMK8mZUmnKWeAwPjN0GlaPq8b6e9E4BckIMDn+6ewO/gwwgN342hnN8TbVccut0cYrFUazkxE3HI9haj+sVga0gAmfa9AfdgOqASfhN/YJhn9+XwPUbtDEB6+B5uPKsIvfhGq7/LH3cGDUdF5Mqbemo9rUX8iemkEWph0wzX1EViukiUVbWGU8QsS/i2alHIedu2VYPUgH5nKxIaHViybcBS8lZ4jeKcnnFf74FIbNUwbqQnV8mdguzYFC877YfrnzcID9zK7efDC8y4UB6hihMFkjOhQEQ/3rIDuukRMCDyOXTothD7kwgQJpnNwoPsGkftLhsvLtiY2OLnPFD0qv8Dl4B3Y5LwB2y/Vheq0MZioWhYnbL3xdsEBhPY8hi6sDW8Uh0B9xGRMG/EHKj8MhpmuA/6R1B/CZA0WGHegKwJ3zYQCJ35THyHMQhcjt9UVnVRcDa9j98Jzozsc/P9BG9WRUJs0GXqje6PObR9MV5uPqO7qGN5hEKZMGwvVjik4YTMTmuuqwPVaIOYqcO45fP/j0EqRucBO10Rv+be4sMMN6w6zjG3z9+K08zDUES9UOVE+E8FP3cUHsL2MXodJdmVhtcMMKnUrMG9a0cFujVch+sJyKLPkEsXhV0yF9xc8CpqFjro+wiPg8y9A8hpS3r+b+YQz/9lZh0KzHBTC//1FPnyuORftjNMCoeSAc+Hm6FON3wqT9FHvC8vIUKwZWFci8IOv6xFzQ4nGKeNOkH7Q5mt2qMkYqNjE5GIB5epagk7DHJFE/t15TYJf+O8ZFh6Z/LuZH2TEghEYtuEq65tcLrsi0rsuSE7E308roUPb2j85sv4XHhpq2g8mwAwON7ZCvaM1Sm1wgvajd+i60gjd7m9iu4Q++NNrDmo/aQqjZYNQNnwBi6O5Dbtr+5iAyGKU+Mpct9TVMKvUAuzTTsajrnMxr1si3Hr2w6o/HbCh9ifUMzLF0LLHYdxyAi7axeDSXIXM7+LCKOMH0ysW1fHxU+DEdJZFVdYOpsbCqX0P5kLKxZVz7iPdIRDOH2McV3LC5RMLJAxsOflX88LzI/teH2bf6zrC7zVvBLxkFo47G4aiJj7hls8MKJpVxLZMBo4U3NsxHQp6h9HZMQInFvZEZX7uHFdgGj+QBWxWF7ecdzX5YhmJv9cMRHVhZaJUspcminbcS4sMb/aovC1D+HOFpN3bAS0FPezvzPcvTawDKtieQ8KyPuwcB26VcAc7NAdC78BgBD7aAp0m3H4On4zBHW3F6Zf5/r/DvPAjWD+0fvoi4+1prBqqidWXBmcY9cT9GiUW3oI3kVjypzneOR6Gh0ajdK0jSETYHE2MPDEUkRdWY6B88ThOvJgK78wCWZgtJF8BZnm8bj6ewYo/VGDDXMWlHavNjgsU/X0Ie0j2sYckt7MCJYW1AhPxh5mIF002YTMkfNT7bsS1kyzyt7yE+VxcVx6+5OKVfC6r/rTb2KGlBr39D/LckisWL+Ti2glJ96q83I/EDCR3RDjdPTFzDABnLdm5HPqz3XBJuGXqCF9HXXQUbhkyK82rm4javgxD7Vvkw7WquIKnfv16BPhdnH3oqt4PylZOWNynCh4IdyTPQ3G0Cdz9TZmhIxnn7TSgtElZnK41U19E788dXUdjkLIlNi1WQtUHXLas2biuyHYh3d1h3kceX4QZoUIwXtq3pjDK+PUA//ot+i7hzdLz8fdLOVBPun91Dj7eWcvhXUiTlmY7IVu8y93NFdcuzYVCmUSETFWFlv9gCctwOnrpbch6/Rfmvz6R+a+/yx7wKRbUHZnVOn3Rmb8y011hs1+bk48771Ibz46HOIkAneZMVGdtZ2nRYYfP4CIW97/+FCtoC4un8JYQyMi3AMkLIVvhxTqjN9vaiYM0C7SEf7dEzu2cS5WwTkpZUUPs311RqvU8v77kYj9w5o9ley6MHQOesWJOb9s3vD3Dgk5UluMSmks8GHnxoL//agTEc4JrWH6zkqTeR4ipNrQ8Y9lNbaDjHYrtBh1FcQRfkRRmi9X3emHqn3Xw9ekZbDO3w0Xd/biwWkV0BH36AnFE4kJmxWGnvZasrFC/2hSg9ogJZByeluH2xxtkSmdY5HgLYSUHKVl8JN75YverMuJ0nRXnheP6embBLPWZzX09tDMsL+WwqsIog4a1QAQK5Goi8Q0sKuHNlystZatYu/AuGEnfKbz5+5tIybTCG/deiHcEikZ4ZySRKC/OwJJVeKewQwzHsUMMm2VbYBRo7H/xm4qh8BbgS5w7VNmW4FkGP1++1vkapE+ilSPLCi7NAs2CAnj/bnnjQ0jw0GCZSZhFkB29XpYdvZ7tJ/aproohm4/hMHMVkQzIychBLu3gH2n+3dLqkkhHmMmXKqM1gvcX4eF+HE9PbIL9yV7MB3w38wHP/wmY+UJHF/0AAhJzAvJ5uB+JmsOs2de3mkDFeCfL+d0Eqiu8sWv54Izj3pko2b7yJtRWszScQkEtiv53Usqw1Ait7NqIMT+O0Cmt858D9wcQoSpKMAGx4aIn7M4FYEmfmijFC7EGEq4DbyIwr/U4nFp6Mv3wskzI+Hd+NJTsmL/4EiVUK/Uu3UJuJSex9S8S9Kcm4/IFcyhWkFx9FkYZJXgcv6vrGTvfeWVpyogJG53xDSwq4f0yjLkljcSWclISMPAuL89NceieCzTqPP1O4f0CYcaDMHJLBZiFR2DD0HoSRHkL9TPMPBQJT42GRWTx5q3j9mggdovNKrw/I1YYmFq9RGiQYii8eevDXjbB8hFUkd8HW7wtk4y+rlE4ObcrMoeeZffvLvX2HDxCK0DfoDuyStkM66Q0YS3hhiI1MwVvLb8nFlilX56Ga2hFGMzozT4OfKckTyPUl/DP4oXXM5zxOALBn5XhqzwB26uKTses+gHXA88gTUsdXSTdW/LLiq77CQQk3avykcpSFHCjaejFDm+SIrql9kA0n/z/FFsH0z9Y4dC5bo/WR1dhukU0mrvux/652ef8T4BCVZZQArzhIlIiyCx9ri5Esvj9zfup5uAiwr/zI4dkBBvzFvLkJRnufyJBv2k8d6DaQNFOEP+OFfnHfk8ZJXQMv7/b35lOsKiEt3hR2FciMFHUW35x2JbPSFVYribRUnQLv4hsIPa9LiqLd/rhfEcxJXo/S7Fci3U2a78EogPcTmK092HslUgywZERvPwfLn5sjd7Ni4dRsPgJb8F9BE0aAt0AFiWRo3uF7I90xjHc6tkfFqExkPfvFrl09HiD/XaRaDxfHz3EAZN8vRKLA6nCmt8C+lt6YOi3OGxkwT1mVzsLc4Vbd3sMP/sL6LTYIEtdku4x7TEtMAxeOq3SA+BYmq3ozXvweOA0jH7jij9UrJHIuSeEjMIn/634q9sMzFCoQRZM2afKz7kjUzpAyUjxrM1hOyMvryHE3RZLV4fgbquxWOFkB4vR7bMcLCGlG8IgzIkIUt4O77FN2dwQZVFxqo51uo1QW30k6vlNhG6KbXYB8nOoUK0lkgCf3ScGk9khZ+mBWvy/JWDxuVDmcleDkeF3icBcRNzx5+X9uNN/MtRE6Vz5d/6ByfwOJhMATIwZtJ2Ky4uP4cIyJaFBJV3kL2OFRCLozxvYdqcnZqs1TA8sE16vhe8po0QOYWF1WvIAnc0HEGSckY6Xr0LwIhzm/bXhkvUAnaIS3nxwpeFRdMlixEtfHDqiUXCE6B37vcK7TEZWsy5ZYsVEi8iFjdzFucuLRnin6x3FQGWJUyqz90sc7NlgBrxDHaEvOkVUmAFmcTiarzbHQKl52Atrsvy4coqZ8OZPZ5yDg1z67kIT3hIWaKluJqwqfvsouQ20bc3x56snaGC6GOOl5YUVLw4+Sc9+Il4Rt0w/Rj5rYKg4aISrawF6ffiMbmazMKhB5o1S4TT6dAUbx4yB2XEuIlQVxrbT0L/qc5w/9hRdlq9ik7sKnoWYoKHWFubiqw0LzeaQV5vLTvJqTBkqftxz+J01fWZZfOahq+4W4THxgBLmhe7AmtGtRKewspNaXyXh6cMbOB/OfLh9d+EkBmHR0rkwHKucv4OjWCDl11t+mOZQCTae49GyHCcrRDsvHo3TU1J1e4otA8Yg3Cic3E6+c0Tp9u8hINr98R+AQwlO0BAKadFc9RogEQQs+rdgLZwIbIgzN3ti8aQOovgG/p0fAR2xeOcDNo9gvHjbnv+3c5h/YiWqn3mOAYvHi/I1F0YZ38OB7hUSYEfGR9oYYcz6VEz3sMfSCYoSR8afgOdSS1hc6ZVJ7Anv47+zOoF4FKCDJhIeRGJDXE8XXNo1Aq/3XUFtQ3XAYxRzl0jNFE8lSAzChKa6CJIM0vx8AztmsXR9f6kg+MTa9AP4BG9wfs0k6CXOkDhZmheoKtl2rHmR/C1TBhL+ILShEr7Sybi1YyE09C5jUPBeuI1twb7t3/D+vDOG6T3FQr5+DlWsk5Q0idLbkHNwZYrE4YHM0JMUAaupB9DWZa1YTEN8YJtEOwWvcG7NNKgtO4xkuZ7QnjUKvaq/xcUDd9HByRMrVdKzpBSHX7ER3mlJ57BjVxD2enrj8F2h6hb+5HrqYd6kgeg3XBND2+aWZSS34eRdO26ik22GpSPTHYIniLI2gZHzE3SfNwdzjcbhzyZVpE8UoV/hMLiyJPUZOTAzShP7d+d08mDaAxyaOwUTwytjsrEJTAyHoaN8TqduchP/PPw3b8WO3ZH40H4oBg/VwATdYVCowwl1lvP21j6sXMROzmw+CHr6kzBKoS6J7t/i6U5D8o2D8NzqC0/Xgywnak6/BlBUV0Xn1q3RtYsCOit0QZeOLVG7Yv5zogqSY+G+6Ax62JlCiU/pJPTvHoU9owMQsao/ajzjrHv+6H2B4gR+i+lTXBsp2n106SdxlgKf8ae5h0QQpSjVqgsw08kJtka9UVv8ZRftOrr8IZHTng/YrCsRRMmE9xkb9FbZgqozV8ODGTZ61BYdgMZnpvquMorrIP3ofrGDYS4fxK6duxHoHY+qw3ugyr0YJFQbAf1pupjIDBAtxIe7pOJVHLvW0x1WnieZCBwCs3VG0Bo2HMotROkmmUg87zwbky2OskN05sJ+7VS0u3MUm22tsSX2K9rorcS6BXpQq/YPAj3XsvvDkSzPDoJxXQ6LyT2E80yQfAfHfDawvNl30XYEcxF9mIjS/afDTK+PMM5G8Ooq9u3yhofVJpxKboIBZhaYpaWBUcpNkBx3hB3k4wCzLSySrc00OK6bh2lq1XAj0BOrzNbhZHIrqC+yhrWFDhS5+Sh4j3vH/ODoEICbbVUxsNoz3C7NTjg200UfocHuI+6fOYJDuzYIy5QbMA/rzKZBmytzny+c59ng4FvmkrhoOcwnqqMnLiOQr1/RGK5Wxpg4ugv7Boi0RmA8qg0bhj9rvEfCh1bQMZ0KtZbVmB7icuz/hSNnjsFPWGYrjFq+FEZaIzFCgaVf5HbihQdUbWNZtDj9Nh12TqswW6VRsdIkxUZ4/+jHmOojAiWFALfV52cXhSZz+V2VL3j3byrkXgRiRLvD0BQeylQpPR3Ugpo4lC3ArKSQon4SASJABIgAEcidAAlvmiFEgAjkTCA1ERHLbfBXDz2Mbl5JeJ3g32s48aE/9NKc0c5FARdOGaNDmY/CdFDDn8zCoR4f8GGQLgYUE388mh5EgAgQASJABAqLAAnvwiJJ5RCB4kZAHJh0lJ0AK/GTN2O+s4tR2VkD0yq44J/VyqiCF4iyHIPRF/th26ZlGN+herHxxytuw0r9IQJEgAgQgZ9HgIT3z2NPNRMBIkAEiAARIAJEgAiUIAIkvEvQYFNXiQARIAJEgAgQASJABH4eARLeP4891UwEiAARIAJEgAgQASJQggiQ8C5Bg01dJQJEgAgQASJABIgAEfh5BEh4/zz2VDMRIAJEgAgQASJABIhACSJAwrsEDTZ1lQgQASJABIgAESACRODnESDh/fPYU81EgAgQASJABIgAESACJYgACe8SNNjUVSJABIgAESACRIAIEIGfR4CE989jTzUTASJABIgAESACRIAIlCACJLxL0GBTV4kAESACRIAIEAEiQAR+HgES3j+PPdVMBIgAESACRIAIEAEiUIIIkPAuQYNNXSUCRIAIEAEiQASIABH4eQRIeP889lQzESACRIAIEAEiQASIQAkiQMK7BA02dZUIEAEiQASIABEgAkTg5xEg4f3z2FPNRIAIEAEiQASIABEgAiWIAAnvEjTY1FUiQASIABEgAkSACBCBn0eAhPfPY081E4GSSyA1CbHnk9HuzzaQK/UbYPjd2itGmoKk2Dh8aKeItnJlfgPQ1EQiQASIQPEmQMK7eI8v9Y4I/IIEBPh0fi36bW2HMO+xaPjLC+/frb0SQ/7pHOz67cIfYS4Y27DcLzgXqElEgAgQgZJFgIR3yRpv6i0R+AUI/IvzdvrwU3CHh0YjFKruTn2O2CAPOLh4YW9sEiDXF9NsV2K54SC0LLDFtwjbK2GZfhkbDDeHDXDZewnJaICe0yxhs1wfai2rFZCRaMHg1xnhHhqoW6igf4FpRE0gAkSACPyGBIqP8P58H9F7g+DrthHbLyVBbtQmxOyaCYVMH9uPuB99EIdCA7Fxw0HcbaMNy/kTMUFbAwq1yxbx8KXgZVwkDoUdxcFzb9F2wFCM1NGGcpOKrF4BUl/GIshtPVxcAhCbzPRCz+mwtbGEoVrr32MrvojpUfF5ERDg8/0zCD64B9usNuEUN4cU1TGmY0U8/isCl2uMxLzZppit1wcNysqgwIpCyL6PgmX3cAy8uAZDaxai+4PgDS47G0BtT3XM0e6EiuyZCt0cxJ4nObSZtRunN41EAxm6LiZeVO0VV/AN7y+7YZzaXjSYMxKdK77ExdCA9IVDm/k4dNoBGg0KYq1+hShLPRwa6IP1Q+sXULznNe/o70SACBABIiALgeIjvIW9ZgL2li+02hniIJpAdaU/glYOQJ2sH9uUy3Dqf23OAgAAIABJREFUPQXxKyLgM7ZpEX+QWJuSzmKb9WIsvdIZdmvNMUW1VSYxLXh/Ac7jpmBPg3HQ7lwZLy8exGah1UsRsw6FYpNGkyJuoyxThq79pQmkxsKpfQ9Y3FXEoshwOAyszR6LfxHnboR+c0/gj8V7cNh+cPZnQlqnikTIpuJF2EL0PjMKcQ4DUa3QYArw9ZYfpq0thaUbJ6OjcMHNnr2nh2ExaAI2JAzC5vjdMO5QWcYai6q9Es34egM+0zYDS22h37F6+rOe+ghhFroYuSEB/TZH45RxJ8i6RBG8CMPs3mehHWeLgdVKy9hvupwIEAEiQASKgkAxE94MUVIIpjbUgr+QliKMg/fCbWwLZLZnJyJk6izcmxuIhYpyRcFVVCazQt4KwvzJC7BTbjb277LAoAYVstT3Cbd8FmItjLFRv4tIkKfgadhyDBrpiIR+mxF/yhgdZP3qFmGvqOhfl4Dg/g5ottTDATljBN9yw9gG6TM/498NEBi/GTpNy+fRiSISsoInCJttgripvljWp0YhgkxG3MZVODfYmonrKhLlcv+ui65mCdALPgm/sU1kq7PI2ss3Q4AvcZtheE4FPkxcZ9i1uX93h2rXuTirF4ynfmOZ84ksP27BYIFhceMRs0wJsi43ZKmJriUCRIAIEIH8EyiewrvvGfRe8ApWc3firZw2NsZshYlCDQmr8Y8R3oK3MVijNRHLrg2G/yV3TGkl5fP35Ro2Gl7CYJ/p6FBOwjTP/bvqQJidHY/gp+5iAZX/oaUrSx6Bb3gTYYnWw5zxVs0bN48aoC1v6BQvSAfA8fKhfCw4i0bICh4FYdKExzA/vgCKlbNtReHl5UB4P+4PS41yOOOxCguXBeJf7W0I3zIeLSWfj2yDm4JXD16jYrOGWVyzUtla3AQNtS5n7ADIMDHyam/SaR/sE2jDtF8KooXtjYDckt0IXtIPNT5ex15bKyx1eASVwCBs0WkjIawzhHfqq0Q8q9gIjbP6oIvG7PiiSCTIujsguI+gSQuRaO7Dxrp69h4L3uHWYS+s3fYPGv3ZFMmvmWvSnR2wvWOMyxfMoVihID45MoClS4kAESACJZRA8RTeyvcw9/p4JC3htmrPQU7VDoeDFkGlDm/3li68BckJOOzpgZ1/l0enZu8RdSQR7XRNMN94WAFScb1DrJMuelhcgJJjBE4s7Cnd6pT6Gg+eVUCzxnJZ3Em4NqpC6/h4RCbQVnEJfT5l7PYbnFmhARWbv6HgeBIXFvYAv7+SdssHw5kL1jF5c4TfcciHb3VRCNkU3NthjKlvzRA5tyvENnfBC8QGMLew/XuYi1VzuF63Q7ODu3F3iDZaHZyOwTZdvmPx+Qk3PCei49LmOJTgBI26ssRy5NDez/cQtTsE4eGsvUcV4Re/CNV3+ePu4MGo6DwZU2/Nx7WoPxG9NAItTLrhmvoILFeR3Wr97YYnBnTchE6HwmUOQk27twNaU//FqkgTKJTPIqIFzxBtPR0zH2pjnxvnllMaH89Y4w8Va6QWROTLOEvp8pJI4BuS70fB03IOLGKU4LhxOOQTjmHXpfowXGEGHcV6WXalSyKjn9tnQfIDnPGxwhizWxjvaoKer44hKLE3rOyNoJJtp/7ntvV3r734Cu+Ehej+QWRxPvkWbYz9cMJNE02FgWXZhbcg+X/wNZ2DA903YJeJIrOaZfiHbmtig5P7TNGjmgz+HlxAVvtBWJfUCZOtNFE2Ypsw6BNoD/VFi2E1Txd9cpvM367Dc4AKlnbyRwJlJPjdn7Mf035h7IIqLOLaZbbuMl/t82smQGnZP1B13IuDC3uj4A5W3yFk0xLgM3wVvrh4Z3EHYXhS2d+01GD4xgT7Zv2HW01mY7FyGo7NG4ph0Qa4dmkuFGR4/MTAv7LnSH0k/NX25Lz4zWl0cmuvsFw1zCq1APu0k/GIuYTM65YIt579sOpPB2yo/Qn1jEwxtOxxGLecgIt2Mbg0V0EGP+2PbMGgh47+fXH5hLTdgdym1GfmvmYIky9LcDiT+wp3TzJu7VgIDTPA5toG5nKUHtydcn4N2ittx4DgEz8g7uXHPA5Uy69GIJkZo0aih6c6LrPvs2JZzs1yBhQd2+LIheVQlhaHkPoAJ858gyqLiyqDz3h04hJSVJXRpiDvgl8NR6G1p7C4fMPLsPloqVce+zjjjPx97NAcgnU9d+MCuasV2mhxBRVr4a1YlvOx3o1ZGsbYfrsBdDz3YpuRAhPVWYW36AVgVhHbMvm/chav6VDQO4zOuVmtsw0J/yFbhgdt9OHqZo6JgzqgFrOUnfSxg7GZL5KGuOQi5pl/7Y2tUO+4H2ps613qVnGhTgMqrDgQEFu15Uxx6J4LNOqk4tWtSzi9bzOWLDuDRvMcsclmHDoUOK0eo1RgIZvuszxoVQ34BU9By6yxfvxCk6X/69vYAFu3svzeaXHYyAlZlX24s2Eoaso8SMz1JmoV+ttWw9bgBVCSl+VrnUd7RQvrHV1HY5CyJTYtVkLVB5x//WxcVxwJY3d3mPeRxxehoA3BeD7QNZ99ELyJxJL+G1FtqzeWKNWWLbiac1Mb5Ap5P09MaSkZU8L57ftCW9EKnxyPSYjyFNzfYcg+uMkFDEDNZ6foshJOIKvwZuvtWCe073EYxtLc35g7VLyvBfTfzMTZhV3xOX4nTPVfwuQsJ9pLOEpx99lOQqFxEe2Y/o/Fv4VOQQuhTlLF1EobcM9TA3UIeaERKObCm+PETm6LsMXoYba4JKcOu2Pb2YfsP4RKBleKPvqzkpaKVuIZfMVBad1cZbC68X6lW9BkeTT+Wa0McbiX4BFCDIdCy/crJgQexy6dFtk/qmzrPYq5ydhWWy30FZUnd8tCm/DFtyBePO2CnIo2JrSshJQ01tvS8mjWtRt6DxiOoQp1v3M793uELOd6ZQDnJk5S57x40YABsD0XKgy8TH/2LPGfdxSOGrSHrHk5BG9PY5VOIJq5rM3IFpLvCZBbe9nCOtYZvXtYIE6OD1YtI/avrzgvHNfXs4VCKc7yrId2huXhf88bU1pkDazOoTGClzizag58mlnBTRxwnd+Gs9zdsesxxLkxAnbpoKnku0P4XtHEoK0KCL7umnGgjtAffAh0YyYj+p+VUK5CL5z80qbrZCGQVXin4X2UFdqPfg6XeEd0O+uCzY/boNv7UzjdfB42aH7D7nl6sMZUbBzfFTUe7YaezTcs2DgJQwaoouPXv+C96w6q132GgztfY5S7FQanXsGBraG4Ve0jQl1SsPiyIzqEeSCyzh+ocPY4ys3YDLPu3xC/exP2fGiODoIrCP27G5av00azlxcRttsbIe+aoeXL67jw12f037YNK1UkU3F+w9vznlgdWQm9K1zE1nIzcGxOXURa6WHY7q4IiraBduN3OGY1H+H9bGHR5A4O+vrgXMVOqPn6Ks7ENMCsdcp4HhmJszEJqGvhhy1a1XEjIhi+G8+jomodvI6JRkxdA6xTe4/IyL8QE9MIFoedoNOyDJJO7sKuexVR91kEdj4eDvf1Q/DF3wJq1hyXiRjQoR7enAvAvlul8DV0N26N1kef027Y29cL0bZj0PjTCVhpR6FfwGpoNMzyPhLqIDVs1T4q3J0r/T6a7d4txMs1wSyzWkN8fBSLU0f3I7zSSBiVCca8lZfQz8cHOombYcr9t28IVivXgiD5IS6eCkdIeCVoG5XFrnk2jIUHTugkwcmU++8tuLBahWW0YouGfJYpyyz7Ha4tAcKbDYMoLZqqxQEktzFD8InZwPIFGVlN+MCzVo7ZhDdzfsSKP1RgkzhTBj/TDOHdyvEyEhYqSgge7m+maKvliXJm4VIseezBPrMWOj6N4SL0v5TFSvc7TDlqY9EQeI4Izi3D9QXUCihU82rXdwnZXE9Q5J+JnWggzrfNB4r+D0sv72O7PjImHky9j5C5Nrhn4ATzHjVlsxhzIHJtr8jdZlY0lOwOI3yJEqqVescOBdKAkpUcC17ld6lEY3JqsgwBi2zbOMQKZve04Wfem5Wb16hk/Tt32M80bP1jI7yzpEoVsPecQVst7BsXzBYELEuKsGzeCm6IaENp7yNZ66friUBOBCSFtyma3TyMjabLEDPYC8HGH2HdOhQq8SyRAEsGPFXxMqYmLEb1raOhAyfhN5St3NFeBwji3FTKMAOW0WaUt7NhcRvvhbEto9+x2JExiVg+MAZq17ZhYuX3QJV4WP15HuOvrcaA18cQkqyMEV+3YOi2dggWunByC+wJmJayHBeWNsChCSOxm+XTDzZogUS2C9TlL90s1t6nCDPWR8z4nVgz4B1CQj5jzLhOKM0FjXfcA5UL/jD+4wWCzI6hvZMRFAQXYNd+Lj54H8aagWUQw9o56Yst/l6jiooX2G6YRU0cPjUTrS6x/x7/Ed5/r8bAsmeZ5jDHl+3cPeVxwW4MLGq54eSoW5hlXx52bqzdnzhdYor3XhFwqr1DxGU+2iWdhucsYxxRC8T+iTXwnNmpK0TOQ0fvXrhw2Ah/JO2D2YE2TABLxNiIhos3dLxbZA3T7gJcO/IXvqiZwlxHEXU4F12hMJ+ME50mY7K5Kt7MmYEjLIOWvmV/PJ9pjiRrzmDCBXKnvx8Hn2jCMrrNwPA3tlA7Uh+L9I0x5PkqaCQtQMKyPunxR/kus3g9VSVDeHNj9vU2gmbqQNf3KuR15sPg/T+ob7M3PbvDyzDmhzkSW8pJCTzj8yI/57fv8yOEM1xNmPkuY5KJ5k769poF7mZLE8b8yh+FYq5ZIgz8TGTzKS9e85J6IysBcUyBOlyvBWKuQsG9uKVW/V1Cllm2zthAZbcijkmNV+AXDQ0kRKtIyDr3zmcwqESrUx8j0tYBZ5gLiNWgxgWw8ufRXsEd5vs4EHqRQzJSMwr9wQfCMHkJrp0UBTSmnGcfXSVsGp/frCRsdy7SBcvOKMLOarBsBx3x3WdWqhUqoeh1zDFLIKlAFEC5FX9ILsx4K7jD/SJbsMk6len64kpAJLztq8Bs8QA0rlgTLTv3gYryH6hd5hXiTiSi7oDW+HrSHdOGPoLJ07VotktTuvB+H4F5irvR2HF0httaxVZQ6XoX5o2OYTSfCUyQiLA5mphwuRfWCc/QqI+7buOgxcRvukFM9FyY1cShS5q4a6CJA6NDWdrRBunZkA6oZUnl+RVJYZboP+ESBq6zhuWU/mjBGceEaUdHwr7VFhwf/wBLeHEr1A8L2WqByyTFrR1GSu2PQpzEogLS7lmLs533ovfu+nAc3VK0+1caFVv9iSGpfviDX5CU5dxD+D6kp04V5vNvvwmtjvtj/B0PHGhvDtNs3weRoWMCEJBD8H36wt0cb10PYy9b4Fi0tkbpgH1w6nIehopnoXtdFLTP7eobDGZB9IsRu3cE7luMwLzS9jjt1AExhlMQrbsHG4bWS29bfsssZo9EyRHe3CC/PAVrHbZ1dTKR/Z9EWjXe1SSmb3bRIvp4WrXNkp4tj4nAW5e2qwfiUYAOmkhYrtKFtzXkMmWe4A7aOQHbZbFQtpsvJd93MZt51J1CJCDh+tBkZeG7C+QlZAXvcf/UPng6X0dvr3XZU1+yLBoRCwwQNdI//UCfrD9+0dBZ4hnjhWwlB9zb0w9x2+//n723Abfquuq9R1TIFZTAfQtc+UqQgldA84FQDtxXoJYkgg2h94ZWSAqUQC1g+RIkob6AloQS+YgSbCEUaJJqiSaApSagElQ+LlwCUUCF8lICQQnvlcBbUML1cs9/wthZZ5219177nL3nnGvN/3ye84Scs9aac/7GXGv915hjjimDJn+y/LbnRduK3SFfkT/690dkyoAfaVZ79d7e+vifFhY+3/rdePkf83cUFiLd8iAtEPnWX8h3Bh+XF7/fX6Y+2KmI97246L555YD8wR+JTJjST/53/e6km7++Vg584mvy9UY5yfHyfEoG/OXD8naj9IM6C/fnkXzmmF1bJTO/9pq8tv1HZP6+rTKjzT/KP3boL/1qvpNvFYc/L5URAo1jvAsNr3+G/L87/lA2HbpTBve7LGsf/nsZW0p4X8R+Ha/JpyIhXDevXpYr//PP5ct37/xIeKOC/3Ve9r34VZkxd7/0ffGb8uVLi+ST//ClwmyzeR/P/AnZ9tZI+YeywhsXrL9X922SxTO+Kn/Z97nbqU7r/bz7l8onJl6SuXPayuX+X74lbqsmvJ+VXT+9Ubp9a/Dt+Gu049/l6gdX5UdPrZW+JYS3CGbBPiMTr3xO5vzoj0j/RZMaZzqSW/HdI74/Q47FQ9SMkW6HBc34cfnOnqfkgfpNuX52/v8lf7prqnT/m9+S//x7Pyt7TFx4/aHmeb5Y/sN3XpNFDxyXhT/7NfnYn9Y7g7ofqP/9N6XvHg27q+CaGRnhaZsZlPDGQP3hO9+Qcf9lmmz7YTSf8e3FlZP+TH7++b+UXZFUZ7diT5+Tzn/y5u2pW8QlHZEjH3SVgT9fImb25j/Vi41R8vCmX2gYTyk6rf4DWViYki4huhEm8wfflX+f8IR8olHe47Rm5nH5JqCxxPVbjlc7HVwaIdvvR+SDq38vL/bbID/9141zzhuPy4OHZOxfJWUuqI9Jxgur7velU9QT+y/1Hq2PPyyvTXtdNnc7Kf/wi1+SCT9Txot/e4fOYa/9R5k98uOCfB2Fcv1deWt3d1m8Zab0a/n/N6O9GgLzpny2kObv9gvkl74nY95487Y3R3+3T2b9+UK5668vyND5Y6TXf0iKHbn9XBr2x/JTs39ZPt7gmH+Vc2/9nXRZvK7eY/bjcvmDD+Tki1+Q3//pP2i8GZDxuk2VA2O/aWItGxbl/LT8zy9+W/66fqr73/bU50w/2lNGtlknn5r2E7Jm2yflwj/dJ78x+YFYLvR83z3snS0CxYX3v9e/Z3+l3sv99NGF8l/+ZbP8arddMiYqvL/0cbn8t2vlE0/cUR9qMlV6XDkpr/3qY/LywBfkld/6lPynf/s72bT872XQxB+TJVHh/U/flWf/qo/M/2y3ej34/8h9mwfKrsknZOzjH8hX99QL8P94s96zPVu+8P6TsvXX2sl3C97iYh7vs7Ll2YPywPzPSNd6gfnUfVvkvxzAQvZ6r7dmOroamfWqmvD+XTn+yDvy6X5/LAO3rJXf+qWfql9s+h1ZfuQBmfefvys/Z4R3PZer5+Uvv/y521573SxMkzU8JVdj+qZgeeN8/LS8PvHPiqyngXgfI3N+clm9Puol3//6EzL5w98q/PuL1yfIop/9aal7sLcInudzfkJerp/56/v9b8jQyTdktf77iz+UBYv6Sae6ofLzrTCrmeaafXK3AVjOhPft3d6GnZKniubsRQzlfPnUf31HpkRXUv/bcXnpS4/L5/f8Yn0M+FL5DNJsmTRs4+TzZyd/lIoQsZ+feFC+cvQXCovAkh9bt8JGfv1T0+XQZ74pW7/60K2p4xsn5KXxn5MNvVYUtrO/+cNDsnrcBHntp/6rjPx4VFzUezLP7ZXdXZ6WLcXygNt6ZrIefwlo6MPWH5XP/tEu+cPP3lN5THNS79IKWXwQmhfMugThfUPOvzZLfuXvxxXZQVF3lmwl6//xW/Ve49tyWe+zf31IlqxdJfM+WS5k5HaavM9/Q04mWuqnZPgfRDJ5NLm9t1f+r/zZyA6gV+qnkP9bfc7+DpFFlLfCVT7xi9+Qn/zib8uar06QX0j0IkczL/0weYwN/7ocq4/PvLXBFsTL5+T3EoT3zfOvyaRf+UeZ8jfzZWDSRzo+on5nijz6238mP+zxcL0H8Cvym5P6yb/+4eT6zE1/JyOfWyUrZw5pWoiLv3cHW+YFAeTx/iv55qIvy4w/vVeef/UrMnbIz8jHTHrf+let2WzuC/LaTw6VTw3tLP+y9o/l/Gefk6X/9x557Iv/XQY+/uvylS+1knVDp8uBgU/IrN/6sgz7160yd+Jc+fpBkf4TnpLfXfI56Xr4BfnCr+yWAd95XuZ+5ufkYxdfl/Gf3in95g6rD/c+IB+MmC+zP9FCjr+8WBbs7SqfG/rjcupUexn95U9Lt395S56fMFX+4pfWyMYvdJO3V31JRh8cLm9u/LIM76b7bCCU40nZ0W+8DG99Qv7ig/rn0+y62wkQPpR3vzNdxl2ov4Zx3tXvhXD0O/KVB1eIfPWbsvCXRf5s8RfkK9eny/YlD0uLN5bIg1+p/9P2aXJ/fbtH4t87Fsgvy1/K4gefk+sL18uSR35M3sA5Mlt2/M7DcscbX5WJU39fDsogmbDkGXlm6i/Kf8IHwGBw+ZxM+OzPyPe/9pS8MWCZbJj7iPT52O0FlGYB9W/Khd+s9/jHw0z+10U59tpymfjZb8lPfHWjbJzxS9ItvrbMbOj3lHz4e9+R33jg/fpQu8lycs6f1H/g36hfW/TL8uv//Hl5ceWX6vN936jfKXicjK8X5f/9N35OztfHyQ85+cX6BBOD5Do2d/v1f5anX/yazPzFzvJjqa+ZclG6F+M8XSPyI7z/7bT81Z9sldf/8Buyavtl6f/5L8kXRz8io0bdKx+LO5lu/n+y79mvyJ6HfrfBDn43f/h92fHNVfK1b52SXiPqFzadOSs/MuRJmfH5gR+9jDRW/G8Gyh+9gZXGpTZjhid7r6z/2hJZ97ddZMTDHeXi2+flYw8+KVP1mir4Nx4uYrHP1Kf4ql+w0WAb7HTG5VF5J1Av2k6/Jd/e8A1Z+jvfqRecPyE9H5sl839tgoz95E839PhWjKJKQrbcDooVt6tKJxQT3r62t9DtYsL71kv/V+udBDv5kV6lQcLLkEAlBJBZ6rflT3/+qeqvsamkGYlOlPp1KV/cKT+/+tcSwkyae3GeXymB/AjvSnvO40mABKpHoIiQNaFaE6/KMl1wWL0am3elrLW3nPA2MfFPyQ+XveTfS795luLZJOA3AaxxOXBcrtVvmrXta/9cv1/I2Mb7FDjqwc0fnpYDR67Kx/73m/K1M4/I15/oWXFaVkdNz3W1FN65Ni87RwKWCCQKWey+OElmtVzUpDzcNW151tpbUnjfjuGc1UJW/9kXpFelCc9rCpoXJ4GcE/jwb+Xrn/4V+dLpEfKt7/6uPNGryhmlmoyvPvT22Fr59MDfkNP/7evy3T8YW2SNSZMr4IlNJEDh3URwPI0ESOA2gZs/lLP/Y7MsGbVdPr5xiUz45O3YzaI7KDoml7X2FnDVx8mePSibl8yW1z6+UFZMGCq9TAwn4uTrFze1e1b+hB4tx4OL1ZMACZBAaQIU3hwhJEACNSHw78e/Lp/8ajt5KTE9VU2qbNZFs9bej/R4fUaCT/6etHtptXy2W8tmMeDJJEACJEACtSVA4V1bvrw6CZAACZAACZAACZAACRgCFN4cCCRAAiRAAiRAAiRAAiRggQCFtwXIrIIESIAESIAESIAESIAEKLw5BkiABEiABEiABEiABEjAAgEKbwuQWQUJkAAJkAAJkAAJkAAJUHhzDJAACZAACZAACZAACZCABQIU3hYgswoSIAESIAESIAESIAESoPDmGCABEiABEiABEiABEiABCwQovC1AZhUkQAIkQAIkQAIkQAIkQOHNMUACJEACJEACJEACJEACFghQeFuAzCpIgARIgARIgARIgARIgMKbY4AESIAESIAESIAESIAELBCg8LYAmVWQAAmQAAmQAAmQAAmQAIU3xwAJkAAJkAAJkAAJkAAJWCBA4W0BMqsgARIgARIgARIgARIgAQpvjgESIAESIAESIAESIAESsECAwtsCZFZBAiRAAiRAAiRAAiRAAhTeHAMkQAIkQAIkQAIkQAIkYIEAhbcFyKyCBEiABEiABEiABEiABCi8OQZIgARIgARIgARIgARIwAIBCm8LkFkFCZAACZAACZAACZAACVB4cwyQAAmQAAmQAAmQAAmQgAUCFN4WILMKEiABEiABEiABEiABEqDw5hggARIgARIgARIgARIgAQsEKLwtQGYVJEACJEACJEACJEACJEDhzTFAAiRAAiRAAiRAAiRAAhYIUHhbgMwqSIAESIAESIAESIAESIDCm2OABEiABEiABEiABEiABCwQoPC2AJlVkIAtAi+88IKcPHlSHn30URk6dGjRaj/44AN55ZVX5ODBg7Js2TLp0KFD0WO3bNkiR44ckfvuu89cl4UESMAdgbfeekvatm1r7sdSBfe43rc4vlTBPX7jxg0ZPny4uTYLCZBA7QhQeNeOLa9MAs4IjBkzRjZv3ly2frzE16xZU/LY999/3whzCHkcz0ICJOCGAO6/t99+W7Zt2ybTpk2Txx57rGhDXn31VTl79qysX79ejh07VvQ4/A3XPXXqlJw7dy7Vc8NN71krCeSDAIV3PuzIXpBAAwKLFi0S/JQr8IotWLBA4CkvV9Jes9x1+HcSIIHmEfjBD34gGzduTHWPV3Lfzpw5U1atWtW8xvFsEiCBkgQovDlASCBnBPBShgdrwoQJZXuGl+zYsWNLhproRSp5gZetmAeQAAk0mQDub9znae7xtPctZra+/e1vC8Q3CwmQQO0IUHjXji2vTAI1I4BpZEwRX7x4UebPny9du3Yt1IWXssZ342WKKeS6urpGbcE0tE5Z44/wej/yyCMNrqUnob4hQ4YUBHq0jpp1khcmgYAJlLp304rp+D1eCifC01avXm3ucdSNUmrtR8CmYddJoFkEKLybhY8nk4AbAn369DGLI7EQauTIkbJ9+3a55557jHjG31A0JjsphhuLrtatW1eIEcWx8H537ty5UdwoRHb79u2NyO/du7ccP37cTHPjh4UESKD6BHDPqbjWdRUaOoZ7fPDgwYXFlVjwDC910mJqHItYcBR8qOMDOikEDYsrBw0aVBDaeBbg2ZLGo1793vOKJJBvAhTe+bYve5dDAphiHjBggPFKIUa7V69ecuDAAfOihKDWoi/ipIWWuAZ+UCCqIdbxgoe4ji/YwjVRD44fMWKEeTmIu914AAAgAElEQVSn9bjlED+7RAI1J4CPWtxvuM+iC6AhkBEOgg9g3N/4iYtmbVxUYEOY4/mQdN+iHvwdWVJwDP6tYr9UZqSaQ2AFJJBTAhTeOTUsu5VfAnh5vvnmmzJ79mzjwYJQLpXdoJIMJ3feeWdiWEqcJoV3fscXe+aeAO7ZqVOnSo8ePWTOnDkl73F9BqRpddQDXup4fNRjZovCOw1VHkMClRGg8K6MF48mAecEMP2Ln3guX810EG8gvNj9+/dvMG0ML9l7771nQktwHXi08XP16lXj/Y6+cDHt3KJFC+MNh3dcz0E96iVzDoUNIIEcEcB9pdlFEEKGHxSdqdJc27gvd+7cmbggEsfq/YxzEWqCvP24VvT+1nzfOEafBfg3ft+zZ89C6FqO8LIrJOCUAIW3U/ysnAQqJxBd/FT52TyDBEjAZwL79u2TlStXJubT1nCwpPZHFz/j7/CEFyvRGTJ4t3fv3p3qWJ+5sW0kkBUCFN5ZsRTbSQK3vVZYLMWNbDgcSCCfBBDGpbHW+ewhe0UCYROg8A7b/ux9xghoCsFysZcQ5npssY10EO/ZunVr+d73vidPP/20yVJSaqt5LLJ85plnzMKuNJvzZAwtm0sCXhDAvaULJ4s1CGEgKGm3hC+3WBJhKQhB0TShuvBaQ1y8AMNGkEBOCFB458SQ7AYJKAFMHfft21e2bt1qtpfWdGJxQljABRGNmG6IcLzwk7Ka4DzdehrHpF2sSYuQAAnUhoCmBXzooYfMAsxi9zhqx9+wNgMLshHGklQg9B944AGzZTwKniH4HT+wa2M/XjVsAhTeYdufvc8hAXiusTirU6dOxpudlIsXHrMpU6aYOFII6bVr1xqPd7FdLPHynjt3rrRq1cp4vbmtdA4HDruUGQK4p5H2D4uk8e9inmn1nuN+x2LqYgIdM114BsybN89cTz3g5WbWMgOMDSUBjwhQeHtkjDw1BQ96CDmdEo33LU02DJ1Gxbn6IsDvkFUDYRTRFfg4Bl6dUp6fPPEt1RdN9QcWWESV9PLEC1uzoixYsMB4vPHCLbYpjnq/cG288PGiZiEBEnBDQO9x3SSrWCs0zzfuV3xkJ+1EiWcqflTM46Oa6ULd2JW1hkGAwjsMO1vvJYTc9OnTrdYLkYmXS+gFHyUIH8G0Mqahk162mErW7CjXr18328TreUn8cC0ch+tduXKFKcYCHGQQY4sXL07V8y5dukibNm2qMk4GDhxoctazfERAc3eDy4oVK4qiwd9OnTplnBIIS6mrq2t0LOK6EXKG+3v//v3mY53Cm6ONBGpHgMK7dmyDvjIe5sOGDTNCuNTmLkFDYudJIEME4DXFuoGFCxfWtNWY3dK88qgIzw/OZNUUOS9OAiRgkQCFt0XYIVWlwvvmzZshdZt9JYHcElCPN+/p3JqYHSMBErBAgMLbAuQQq6DwDtHq7HOeCVB459m67BsJkIAtAhTetkgHVg+Fd2AGZ3dzT4DCO/cmZgdJgAQsEKDwtgA5xCoovEO0OvucZwIU3nm2LvtGAiRgiwCFty3SgdVD4R2Ywdnd3BOg8M69idlBEiABCwQovC1ADrEK5IW9//77RRdiIX0dN14JcSSwz3khQOGdF0uyHyRAAi4JUHi7pJ/zuu+4446C8EZXkRIM+b1ZSIAEskeAwjt7NmOLSYAE/CNA4e2fTXLRoqRQE27KkAvTshOBEqDwDtTw7DYJkEBVCVB4VxUnLxYlEPd4l9qSnORIgAT8JkDh7bd92DoSIIFsEKDwzoadMtnKuPAeOnSowBPOQgIkkD0CFN7ZsxlbTAIk4B8BCm//bJKLFsUXV6JTeHHfd999gq2nQy/4ALnnnnvMT2hly5YtjcYAFt+eP3/ejA8WPwlQeKe3C7a9D/HeTiK0ceNGwWxntOB+b9mypbRt2zY9VB5JAjkhQOGdE0P62A31eB87dkwWL15caOLy5cula9euPjbZWpvGjBkjvXv3Nh8j0VJXVycvvvii9OnTx1pbbFeEvj/22GPmR8vZs2fliSee4IyIbWNUUF+S8MYHJGayWD4i8Oqrr5pxHF9Ijt/jns/zvZ00Djp06CAQ2tGCZ8DUqVM5dnjjBEmAwjtIs9vpdDzUBC+jDz74gB7vevx48Zw4cUIwMxDaCwlCDZ7tVatWNeg7Q5Hs3JdNrSUuvOHVnTlzpmAGg6Wh8J47d66AT7SAEzy8IX2o6CL7w4cPN5jNwkdI+/btg2LBe4QElACFN8dCzQhEhTc8Hg8++KCZcsTLOvQC4Y2Xz+nTpxtMSYfgCYLwgCiJCxMKb7/vCgjH0aNHNxizzFTU2Ga4r3Ef79q1q4GwhAjFmI+HXfht9ea3Du+BGTNmNPjQpvBuPldeIbsEKLyzazuvWw6h3bFjx0Ie7xUrVpjwEoSdxMMrvO5IjRqnwnv16tUmv7mWUIT37t27Ze/evYLQGi0U3jUabFW6bFKoCYV3ceGNUKrNmzcXDoDwxvMver9XyTTeXkY/QhBig75rofD21mRsmAUCFN4WIIdYBUJK2rVrZ4Q3vDwDBgyQVq1amanWeHhFiHxUeI8aNarBVD1+P3bs2FyH40BgQ3gjxjMaB4tFtwxb8PduUI+37kaLllJ4N7YXxvT06dPNH6KsILzxE5LjAWK7b9++hkV0BgCMWrduHZz339+7my2zSYDC2ybtwOrCFCM8PrqIDi9uvHjisb2BYTHdhcA+cOCAiXtUsQk2Fy9elKtXr0r//v1zuwgLwhsfYOPGjTNjAx9myHygJSRhkqWxn7QpFsImEM8c2oLBUnaDR3vNmjXmEI1thgA9ePCgWeMyfPjwYHipx3v8+PGFcYJ7/Xvf+55ZcAlW0UXWWbof2FYSaCoBCu+mkuN5JQloqElUeBPZRwSSsprgJaWlS5cuDcIw8sQOwhviOr7IDMIOC64o4vy0tgrvCxcuyPXr12XOnDkmfOD48eON4pn97IGdViGsbtu2bQ0y9Ozbt0/OnTtnGpDneztOGM80eLeT9m/A2OG9bmdMsha/CFB4+2WPXLUGHu/4AqNcdbAZnSmWThAvI7ys8uz1LSa8i/2+GZh5ahUJqPCO3tPw4CJ0LKRMHeWQ4v7dvn17g1kcPSe0dQzFhDeecwsWLGBoWbnBxL/nkgCFdy7N6kenILzffffd4HN2J1kjSXhjlqBfv37So0ePXOezThLY6iVM8oT7MZrZiiThjVABhEdFFxGGTgpiM2kRucZ+R+O+884qSXjjOYe1LXfeeWeun3N5ty3713QCFN5NZ8czixDAS+fkyZMm9Rji95YtW8Zd3GKskoQ3RCd4QcwkTc3mZcDFhTdivEeOHGni2lGi8d556XMe+hHPyayp8bBBCoX3RxZOEt4Qm4j71gWWeRgPafqQJLzxnEOISVKu8zTX5DEkkHUCFN5Zt6CH7dcFNdq0DRs2cPV6CuENQQrvIWJmjx49mtv4x7jw1nAFzXNM4e3hTV3fpLjHG3bEtuhYKIeFwtwi/Zbd8Pzbs2dPo7zV8Hgjm8/ChQtzHUoWHb1JwhuLyXfu3Gk+RBiK6Oe9zlbVlgCFd235Bnl1bP/drVu3Qt/zLCKbauBiMd64Xt7jQIvFcmOmBB8ejBdu6qiq7Xlx4a1bo2Mh4aFDhwSeb5ZbwrvYgsK839tx+5digWcgZ0p4x4RIgMI7RKtb6LPmakaWCkyzsjQkUEp4Ywo/z95DLqLM5t2QFOOtqSDzvBi4UmuVWlyZ93u7EuFdKVceTwJ5IUDhnRdLetYPhAtMnDgxqGnVSkxQSnhXcp0sHkvhnUWrNQ41yWYvat9qCO9XXnmFGTvqUZfyeNfeEqyBBPwkQOHtp10y3yrN4x3fFjzzHatSByC8UUKcaoXw1kWkVcLJy1ggkOTxtlBt5qqg2PzIZGSRueHLBlsgQOFtAXKoVXAL8OKWh/Du1KlTkLt4zpw504TS4L8s2SGgs1hcEFfaZhSbDYX35MmTzY6dLCRAArcIUHhzJJCAAwIQ3q1atQoydR62GcdHGX5YskNAs8/cd9990rZt2+w03HJLKbwbCm8860LKXW55uLG6DBKg8M6g0djk7BNA5pcrV67kNmVgKQshewkW3TILRvbHMXvQmADu7fXr1weTMrDcGECIEjMVlaPEv4dEgMI7JGuzryRAAiQQAIHQsoeUMilmKvCT50xJAQxpdjFHBCi8c2RMdoUESIAEQicADyvCG7Zu3Sp1dXVB44D3/eGHHzZ5xUP3OmPB/9KlS82YwOJuFhJwRYDC2xV51ksCJEACJFBVAhDdyCm+atUqQSx6yOXIkSMybtw4iu76QQCPPz48evXqJWvXruUahZBvDA/6TuHtgRHYBBIgARIggeYRwFbko0ePlpUrVwafMUdDSzp37my2rw99MSw+wiC88UHGQgKuCVB4u7YA6ycBEiABEmg2ASzWvXjxolm4G/puudOmTZM1a9YYpqtXrxb8f6gFYUfINNO7d2/Bwm4WEnBNgMLbtQVYPwmQAAmQQLMIaI5xvcjChQuDzioCD/fly5cNjrvvvluw2DTEops+cVyEaH1/+0zh7a9t2LLbBBCrWO14TXg+4AWBdyw0b5DmY0bf+/TpE8w4wzhC3+H5YirDfJkdGTvOnDlT6NRdd90V7KYtiHFfvHhxAwNv2LBBkD8/tII+b9q0qUG3T58+zQwvoQ0Ez/pL4e2ZQdicWwTgqYAwxnRptacIscL/5ZdfltmzZxfEN34XQtEsB4h33LZtm8yfPz+IDw+MJQiSqVOnmswGhw4dovjOyYDHmO7WrVuj3uzduzfIrCYaWhEFgnEfyjMu2m8NP4r+bvPmzcxqkpN7P6vdoPDOquVy2G6IbUwZf+973zOxmtGCqeO0BTsilvKQx7eyhwhF3fCCx+tNW2cWjkM/IT6jfLTv6gWvdT/wEXX8+HHjcbp69arcuHGjpGcSU+ZoG7zzOBb/rzmaNS+xzojof2FLLerVh2df4zvx33Xr1pVcaIWFerhecwraOnbsWAr85kBMcS4+qiA27733XmNTPEPg5Qw1tvmOO+4w1LDItEWLFrJgwQLzPIzeFymwZv4QPDfatWtn+oFwG/w/wm/Gjx8f5I7BmTdojjpA4Z0jY+ahK3iJokAcQaA1pSBHa6k8rXhJw+uhRcXnvn37zMvKRkFd586dkyFDhlgTZhAi06dPN4JEQy0QZgNPGF7Kuhir1v1XG9vKpQtbI3cvmGuJj4F4n/GBknb8YSHf7t27G2EL1ctY6/ETv74K76NHjxZCpzC+cV/D9rC1PlP0AyyPIVb4qMW4hfDGvaXPONzjeJ7iHse9njRWm2qzgQMHmh14UfBf3GeoK4kv7j9bedW7dOki169fl2HDhgnaiJzuKB07djTP3NA+QppqX55XGwIU3rXhyqt6TEBFJl5U8HDDK2Q7zZROB9+8edMqKZ1VQOwj+r59+3br3h/dyMPmyw+CBB5oeP7w75kzZxrPf7UKxA7GU//+/WXkyJEyfPjw4FO4VYttueuo8NY4ZvV06ocP/v/DDz+Ua9euVRTbqwKy2C6YOn4xpvT6OBbjC+IWwhfjATMzuFbr1q1NV1q1amU+6uKzOOX6We7vOr4xFuH91xmb6P2G9tlcaAnRj77OmDGj0f2mbdFZreisVLm+lvs7rtWzZ0+5//77G3yE4IMM96nNZ0+5tvLv4RGg8A7P5uzxbQL68HWxo5um+7ItvNF1vPAwHe9qYakL4Y1+a/gIvIF59HiGemNjxgGeTBR4MyE4EVLgKpbX1Ue12l/rxwLTli1bmg9sV15ebcuuXbuc7JypYTcQ/njuwfPtikWo9yf73ZgAhTdHRbAEILxdiG4Ax8JOhLW4EN6uDe5KeLvuN+uvHYGkRXSuFle6Ft4rVqyQOXPmNIDtKr2iaxb4wI6HjDEErHb3Ia+cjgCFdzpOPCqHBDS220XXNOXXpUuXggtJcCm8XdrcxTgLpU6EDj3//POF7rrMXe1abGIGAFujax5vQHn99derGlqVdly5ZhEfF2h3qKkV09qMx9WeAIV37RmzBk8JuBRhGpdK4W13cLi0ud2ehlUb4rgRa625vF1uG+9abMLy0VzeIX+EILyke/fuhZsB4XUnTpwIztkR1tPA/95SePtvI7awRgRcijCdDr5w4YK1rCY1wljxZV16vDWLS8WN5gneE1CxCXGFDCeuNknyQXjDWBp+4yrWHW3wgYWG9aE9s2bNEjx7WUjAJQEKb5f0WbdTAi6FN9J6IbUfY7ztDgFMPdvOYGO3h+HWhsWzo0ePdhZWoeR9EJuYAcDzDZl78EHiqvjAAn1HZhnMiGCMsJCAawIU3q4twPqdEXApvBlqcmt3UtsFIsSlELHd31Dqg00hqnbs2OHM062sEWONTcBcbdGO+wo8UL+rNigLOBh27tzpTPAi1AQMILyRyYmFBHwgQOHtgxXYBicEfBDeDDWxa3oKb7u8bdWGD1lbGzLZ6lNT68FGNW3atGHKzHqA8LhjAx2Em7CQgC8EKLx9sQTbYZ0APCGuvCD0eNPjbX3AB1AhhNayZcsq2ignACzBd7HYJkjBgyEAJwQovJ1gZ6U+EPDB480Yb7sjodxW8XZbw9qqTaBr167y0ksvOcvPj/7Au/ryyy8LQk5CL3Aw4Ee3r3fFA896tMHVgltX/Wa9fhKg8PbTLmyVBQIuww7U4+1qRzcLeItWgQVfWPzlIsYbdXOBlUvr17ZuCCsILFcbY6F3rndrrC3hyq6uLE6fPu10FgLjAc97l+OiMnI8Os8EKLzzbF32rSQBCm83A8RlOkGXsxxuaIdVq0/CO8TZrPho8yWrCbIZ4aObwjus54GvvaXw9tUybFfNCVB41xxxYgXgDm+3C483hbcbm9uqFUIPW4K7FFi+iE1bzEvV4wsL9Xa7HBc+2INt8IMAhbcfdmArHBDAwxgvaRdxfyGHmtDj7WCwB1KlT8Ibm/j06dMnEPLJ3aTwDtr87HwRAhTeHBrBEqDwdmN6ZJNBlgF6vN3wz3OtPghv3UGToSZ+7FyJ8U6Pd57v+uz1jcI7ezZji6tEwGXu35A93i5DTVyGF1Vp2PIyJQj4ILx1i/K9e/dKXV1d0PZSFq4/Qii8gx6G3nWewts7k7BBtgkgy4VuKWyrbl+EN7ZPb9GihUybNs1W1433CfnT4fV2VdAGLLbCNtIs+SHgg/DGbo3Tp08XhpqIea6sWbNGKLzzc4+xJ80nQOHdfIa8QoYJ4EWNfLu2c7z6ILzR9/bt2wuEgs0C0Yv+Hzt2zGa1pi7Yul+/fvLII49Y77f1zgZYoQ/CW7287777riCveMhFY7xdf4TQ4x3yKPSv7xTe/tmELbJEAIv8sPjJtvBE91wLb8RZt27d2knf8RLELMORI0csWfpWNcgdDpsPHjzYSb+tdjbQynwQ3oGiT+w2PnTPnz/vfGaJ6QQ5Kn0iQOHtkzXYFmsE1BMzZMgQJ4v8XApvhJfMmjXLeLtPnDghbdu2tcYdFbmK8cbL9/nnnxfYHMLfdr+tQg60MgrvQA1fptv0eHNc+ESAwtsna7AtVgggm8awYcMKda1evdpqjLNrjzfSJ168eNH0H+kUbXv8XYSanD17Vrp16+bU5lYGd+CV+CC8Mdb2798vAwcODD7URFk89thjTkcmhbdT/Kw8RoDCm0MiOAIIs9i0aVOh33fffbf1hX6uPN7xj4677rrLeL1t5jJ3EWqiKd7U6C5sHtyN5qDDPghvXVyJdSOuBacDEzSoUmcWd+3a5XRTIwpv1yOB9UcJUHhzPARHACEGly9fbtBv2y8GV8JbX4TRztv2ersINYl6+bXvhw8fdh57GtzNV+MO+yC89R6j8BYzm4YML7afr/FhRuFd4xuPl6+IAIV3Rbh4cNYJYLFPx44dG3Vj4cKFJvbYZrnjjjusv5BQZ1Kxme7LtvBG9pS+ffs26raLECOb48vHuhB6sG3bNnnggQdqkuPaB+GtH9UU3u4Xkes9QOHt49Mg3DZReIdr+yB7Hg+1UAgzZswQLDpEKSfAkfsZOaCRlQM/CF3Bf7Fgr1zR3NHaDvUEIac1cluXKlovjt2+fbuJS09zXrRPpYQ3sn4og2LtQFYQ/OjiRP13mgwlWNyI2YZ4Hu80Ob21XvT36tWrJhsNGJbb/VJFfjSmX/vm4mOr3PjI49/x4bNz504zZnbv3m26WCv2EN5jx44192dSwXjBWNKC8YQc/mlK2mPVy8sPu4883q+//npRm6Rh39xjKLybS5DnV5MAhXc1afJa3hMoJrzHjx9f2NQFQloFQlKHRo0aZUSECkYVkhMnTizb/w0bNhihHg81wfVGjx5d8vx77723IPbvv/9+uXTpkvn/JFEZvRCyl8DTj1JKeONauG6pomEp0XSE8Zj5YuefPn3aiJy4x1uzjZSqV0UMBBU+EGBHFTjFzkP8+p49e8xCUgrvskOzJgeorXFxCNdr167Jhx9+2CjUq1zlaYV6UihV/Np6r8fDIJJC0OLn6gc6xDvCl+DVxpjcunVruS7IypUrjejHPYZ/64doPOwteiG93/Ch2bNnT/Pc0U1pilWo93u0jfhof+edd4q2UbM7oS8nT540OfbL9Qv3F+5F2FgdD/osPHPmTKO60K7evXubZ6vaE3157733TL9gDzwXS33gaFpA2LlTp07GUYBnQTlnibYv+tGVBEPbUNaYJQ7AM27u3LnGOcBCAkkEKLw5LoIiUCzUxHac8759+2TQoEHWQ02woce5c+ca2dx2qMnixYubvJsdwhUq3Zgk6YMjrZgL6gbJeGch3CCeSi0Wxkcc/o5xtHTp0kJWH5xX6oMbaPCcgHjTOrB4Mn6eZvLo0qVLg3Aa1IuCmGeMPQgzCE/NMJSEHplRsCEP+oWC+vBv/f+kc3AMfiBGUUdSG+PnQRDjePTl1KlTsmLFikb9ip6DPt55551G9KIteK6iLzgfO1Wq6MRzTp83aAeOO378uDkO/4++4e/4gFFnRKkhqB/guP/r6urMeWjrnDlzyo7cNHHm0faWuyAYxOtFn3SMlDuffw+XAIV3uLYPtufwSMQ9MrZFmMYdp3kZVNNQSR5BvHRt7iKpGUZsiv2kxZWup7+raVde6xYBiDd4Vst5NmvJizHeH9G1tYgcnvdS4W7wjMNbXu1xobMKI0aMMDME3BuglndWfq5N4Z0fW7InKQkkiU/bAtjWCymORD3t0d/DSwPPka3iQnjrNt7RPrrextoW75Dq4eJKv6zt6jkXp8AYb7/GReitofAOfQQE2P+kXNaIK7TprXDl8Ya54x5/2wLUhfDGFHevXr0KscXM453PGx/hDviQrLZnsxJa9Hjb93iXsw+FdzlC/LtNAhTeNmmzLm8IRBfm2Q4zUQgu0gmi7uhCThd9dyG80W9MN8+aNcvgZ5iJN7diVRuC+xrxxS6Ft37YM52gmBA2fIjoQtKqGruCi1F4VwCLh9acAIV3zRGzAl8J4AV95coVOXTokNWdG8HD1eJKtQWm5LE4CO2wXVwJb/QTsd4QZTZDa2zzDbk+H2K8wT+etjBkm/jQdwpvH6zANigBCm+OhSAJwDO2bt062bFjh3XRDeAaauLC8wqPN15ErvruQngj1GTevHkmnKhcrvIgb4icdNoX4Z0TnLnpBoV3bkyZi45QeOfCjOxEJQQ05yvyT7dq1cqJ8NbpaM3rXUn7m3MsPjiQpxcMbMa0R9vsQniX21ilOUx5rj8EfBDe+KhesGCBLFmyJPhczhpqgmdt2o2KajGaKLxrQZXXbCoBCu+mkuN5BQJ4uGZxs4BonlsX5kSMd4i727kQ3mpfLL57/PHHa7JduYsxxDobEvBBeOviSqwnQI7pkIuycP2c8yH2P+RxwL43JEDhzRHRJALRrbqRQ7XYFs1NurilkxBycePGDZMFwUWB8HaxuNFFX117vLV+jNNx48Y5s7lr9mnrxwxBFuPgIfRatGjh9HmkYjPEezs+vnxJJ4jwMuze6XLRbdp7j8flnwCFd/5tXPUeYkHek08+WfBy665nWhH+3qNHDychHJV0Fh8P2DWOwrsSas0/1qXHG3U/9NBD9HjHzAgu2FEwWlR44wMRm9LgPsFuhfPnz/f23vbJ482sJrc2NMJHnO19EuJPKYaaNP+5zStUjwCFd/VYBnUleLk1Rnjjxo2CGD4UeBb27t1rYqcR06fx1D7C8UF4247x9sEOLoU3xunIkSOdfWz5wD+pDbiH+/fvX/iYho303sV/MVOAex73jOt43VIMfRLe9HhTePt6v7NdbglQeLvln4na8cKFoIbQxgsYghobzuD3mL7DixkeMSzaw+91a15s4YvfufIol4Prg/AO8eXsUni7jusvNyZt/h3jH/eyLnrDWo3OnTub+xwCVu9bTM/jvobgxu98Xs9B4W1zBJWvix7v8ox4RHgEKLzDs3nFPcaCNEwx19XVFfLT4gWsXjH9r65gf/PNN83xOOb69euC7bp9LBTebqyimxfdvHnTegMwVidNmiRdu3a1XrdPFWL6HykWEWqF0BssAsTPAw88YOJgo8Jbt2HH/b17926zLsFX8Y12o7j82OfOlR+NdJ+EN5xDeJexkIBrAhTeri2QgfrhwY7mPsbD9L333jMe76j4jnYFHjII2xEjRngbD0rh7WbwIaxh4sSJ4kp4Q1iGvsgKwhlCGgX3gS6WVjZx4Y2c71iM7Ds3tBv9chnipmJz6tSpgo/MkItPwhszOXiXsZCAawIU3q4tkIH6IaIhlqIvM/wOoSQIPYnGeGegO4UmQmzgJe3KCxJqVhPdut2V8IbodOkR9eEeiS8208xE+nsIxuh9gXsd9/n58+dl2bJlTnMyl+Lnk/AOMYwsbhsKbx/udrbBNwIU3r5ZhO2xRoAeb2uoG1TkOtSEwru83c+ePZvJcByfhDfzePuzuFJnHlw5WcrfcTwiJAIU3iFZm31tQIAeb5jpwpIAACAASURBVDcDgosr3XAPqdakWTpb/ccsWt++fc2sii+50MHDxc6Rvni8o7Z3xcLW+GM9/hOg8PbfRmxhjQhobKureNBQQ00ovGs0oHlZQwD3ta49cRWTjvoR492hQwenVsEC2ilTphSyT7loDNYG+LDBGsKldPMsV898F/xZp38EKLz9s0nmWhRdiJWlxjPUxI21wH3YsGHOFlcy1KS83bEJFrIYZa0gRKZfv35y9OhR56LXNTuIbrBAFp/QhSZYYBYCISehr+9wPS5ZvwiFN0dBxQQ0baCemNXV4hCAa9ascTYdHKrHGx6w0aNHU3hXfOfV7gRMv+MHBffzunXrMpeRA+0fMGCAfPjhh2bht4vQCrUQ6sceBy4L8q5v2rRJDh8+7LwtLjmgbsx8YAEx7MJCAq4JUHi7tkAG64dXaenSpeZhBu9BNAMC/o1cv/i9754FCm83g0/jPpnVxA3/pFqx6Gzbtm3Gy927d2+zfbzGJyMPf48ePcz97Dp0ohQx5BvXPN4uU/lhtmDQoEHicnGlxpmD15AhQwrpIm2POLwrHn74YfOOcBX2g/z0c+bMMV1fvny5t/tK2LYN63NHgMLbHfvc1Iz0cJofVac04W2CZ1N3sfSxs/B+7Nmzh+kELRvHZR5vfGxhIw1fN4CxbIpCdfAGwlOswhoiVoU3BJN6j+FVxv3u2psb54R2de/evcGvEW7iws76YelycSViqrdu3VrgsWvXLifCV1m4Sq2Icd2uXbsCB9z7J06cMLM6LCTgigCFtyvyGaoXAnrBggXSs2dP8wLGixcvOhXWupAJXdKFcytXruRmBWVs7DLUBB8deCm58EK5Ft4wi4t++3TL6wJE3M9z5841AhVeycGDBxtRHRXe8IbDgwq7uQzfKMVPc8NHj3Hl6XWd1STq7VYeo0aNMs9r28W18E4aFzNmzGiwIZxtJqyPBCi8OQbKEoBI0Z3tsEgFD3F4UxAfDaEd32wD04vr1683074vvvhisxZp6bWqvdsgps9ffvlls7W9q8VHroQ3bAbbtGnTxvRfbVt2IFTpAFeLKzGGIDCxTTrGse1+VwlfVS7TtWtXeemll0xYCcLGdCElPILgFBXeGCvghf+eOnVK3njjDSee5FIdj4aZRI9zEc6koSauPN54tsHxES2ws+5UWpUBlPIiroV30rhw9UGWEhkPC4AAhXcARm5uF+EpwdRc1EuIEBL8DiIOAqZaHkRdAIM68XPmzBnT/CQvhU6PYzc9/DtaSrUHnruDBw/KkiVLTB8wLYt+2J4+dyW80V/1fsV3MGzuWElzvgvhjTrRZ3jAUDB+sfismM2jiw3T9KnYMRA8PsZFo03RKXfcE7oDLbhEhXe0bxDgLVu29G6qHvc7ZnGwKBQzc+jDO++8I6dPn3bipce97Up4q9gcP368jBw50jznwMLFR4hr4Y1xgTVHcBbhWY/FpiguWDTnOcJz80WAwjtf9qxZb/DCjQsI3Yigmiv48cLU7egvX75ctD933313QZTfe++95jg8WLVNKiiTLgDx1blz58LiTwgynKdx6jWDGLuwC+ENrxfEiQpQ9P3GjRtWF8Kq8LYZdwoBcPXqVSPIUDRsotgHWlSkpxkPeLnHCzxrCNPwcZEx7ue9e/c2yK+M3127ds0I1Wj4WJr+uz4GdsRHlI5rDXmzOcaiDHwQ3iouXXzoKgvXwhtjuXXr1gVvv36UUHi7vmPDrp/CO2z7B9l7iE+stNcpc7y0ES5jeyGWC+ENg6O/ECYIM3nqqadMyAFCD2wVFQIQfjZzRcO+uvgX/63m1Lt61uDhRujS448/7qWn25aNbdcD/sjEghA4hFAhTzxCikIW3tp3lxtWuRbeel9euHDBDEnkNT937hw93rZvUNbXgACFNwdEkATg3Zs3b17B0+1iZzVXwhthOeoZhAfY9oI5Fx5vDHL0G55u/Lfa/casT4sWLax/vAV58yZ0WnNWx//kyrPp0uOtYtcHFq6Ft2Z3ueuuu8yMKEIX8e94aCLvIxKwSYDC2yZt1uUVAYhvzTnuomGuhLeLvkbrdOXxdt1v1l87Aklic+DAgYKFji6KS+GN/qL+aHG1oNC18FZvvw8sXIxD1uknAQpvP+2SqVYhHlY9xhpjnYUOcAMdN1ZS4Y080bbjn8vFdrsh4l+tWYvxhgcTMzfRdSGrV692mqPf1eJKjCYNsdCR5SqFnmvhrc+a6B3mioV/dzlb5IoAhbcr8hmuF7GxyOsdzQihsbOY8sViFixkQ+nfv7+zl185xBTe5QjV5u8uhTfGKWK9bQv+2pCs3lU1qwnEK0QsMpfoBjrVq6W2V4p6N7Hg2uX24K493nHB6Sq7i2vhjREXTynoikVtRz+vniUCFN5ZspZHbY1mOYmmE4QoX7x4sXlp45jr169bXbhXCSLXwhtZYrC1tX60VNL2LB9L4e2f9XCvIke3LnZFLmhstY2Cf7/99ttmsSLGqs8fLSqyXMymRK3qWnhHBadLzzv2YejWrZt5H7gaN2gDFlVi/HLLeP+ePSG2iMI7RKs3oc8QSwgjQUiJpu3DZXRreA010c1ZsBEHvN8jRozwNruDa+Edeoy3i5cxPd4f3fy4n3Ev6/bZ0XSCELBjx441B2MhLn5019pqb2bVhMdR4inoD/JWT5482Xpq0HiD4G3v1KmT02efpmbVfRiqxTmL18GYxTh3sXtnFnmxzbUlQOFdW765uLpuloPQEjy48HKD90LjQHXjDXQWLxzdSh7/xcu6WpvrVBuma+GNFwHY0uNdbcsWvx6F9y02uvEV7k/k7n766aeNUIzuRov7HPcINpvCTBaOxe+i+dDtWa50TXjWoE/4QPD1eWOLFT6gpkyZYkIBQ3u2JH0AjRs3zoQ84j3FQgI+EKDw9sEKnrcBm4Agz7UWxO3hhQyvtr7A9WWncZYQ5ljc5OOufdoP18KboSb2p58pvG+NfoSUIOe13p+4x3v06CFXrlwx9zTu8XhoAATdyy+/zBzlKZ7X4IesKjbz42uzEFqBsCFfPkCSxlIKhFU5BO8thDsiXIqFBHwhQOHtiyU8bod6saPeE/wOP5jOjGY1QTd0Vzz8fu7cud7mNnYtvBlqQuHt6raHIMHurdH89dHNhYptGe+qvWnrhcjbs2dPIU992vOqfRzubWymVM1NmqrdRhvX0/UcCxcudOp9RxgSfnz5GLHBnnX4S4DC21/bZKZlyIKgcaKZaXR9Q10Lb0wFQ/iENh3MxZX+3yXRxdP+t/ajFlJ4+2UtH7KagAieOXAE6cZhflFia0IjQOEdmsWr1F9MTesqcRfTqdXohmvhrYvUKLyrYc1012CoSXFOEEkorrJPpLNg6aOwYc6bb77p/GMWHu8uXboIwj5CLrDHoEGDxLXHG896/IT2rA157Pncdwpvn63jadvw8NItd3fu3JnZ6VTXwhuL1RCqE9rLgB5v/25seAL37t1rwsQwE5NVzyA+HhDe4fqe8iGdoA+jDLbo27cvhbcPxmAbvCFA4e2NKbLTkGiOX+T6feihh7yN4y5FNZpz3AV9bOSCn6xtVNJcVi6FN+rGTE2WvbrN5Z90vmYowt+yGt+Ntvvk8Xa5ZX0txkhTr+nDWhZ6vJtqPZ5XCwIU3rWgmvNrYmHWyZMnjWdMc3tHd7HMSvfR9nnz5jkTvrrQBy+FkIpL4Y2UYthZlcK74YhDWsuePXvK4MGDTSysa49xc+6H6EdEc67TnHMhNlFu3rzZnMvk4lxfhDdjvHMxnHLRCQrvXJjRbicgnBBqgv8i1AR5fQcMGGBi+RA+Ec2UYLdlldWGrCzPPPMMhXdl2Jp9tEvhTc9XsvkQWqL39O7du2XIkCEmA4R+HGYlG4Qv9qXw/mic+SK8GePd7Ec3L1AlAhTeVQIZ8mUQsoEFTevXry9srJMFHq5DTejxtp9OkKEm6e5MxErrj4sdRtO1MvkoerybQ6/651J4V58pr5htAhTe2bafd62HsMmKdwwePnjsEXYQz0VuA6wPwhsM4O3U3Ult9Nulxxv9/fDDD81ujWgHFreyFCeAcCzMaGEtQlYKhbc/lsJi3Y4dO3JxpT8mYUs8IEDh7YER2AR3BPBiwGIyhMdAfNosroU3hCf6PHnyZEF6SFvFpfBGH+HJxToFxHsjNIolXwR8EN7Y16Bly5YmS0zoBc9WfOC6DEH0JQQp9LHA/t8iQOHNkRAsAbwU+/XrJ5MmTXKymMyl8Fbxe+HChcK24bYGgkvhjbqfeOIJOXTokPV+2+Ibej0+CO/QbeBb/ym8fbNI2O2h8A7b/kH3HsIXC8l27drlJDzGlfBGuAU8vZcvX5bXX3/duifKlfBG2ASy76Dfhw8fNv9myRcBfExPmTLFhI6xkIASoPDmWPCJAIW3T9ZgW6wRQP7xOXPmmPp69+7tZBMgV8IbYRbTp0931ndXwhvhNGvWrDH9Rlx/aPnTrd1cjivCfeU6RSc+AK5fvy5Z3dW3miZEaBey5HTo0KGal63oWhTeFeHiwTUmQOFdY8C8vH8E4PHt1auX2UhFiwuvtyvhDW/3mTNnCn23vZ2zK+GNuFt4u7XQ6+3fvVmNFiGeGPH7LgtjvD+iz6wmLkci6/aRAIW3j1Zhm2pKANPQo0ePblDHqFGjrE9PuxDeuoVzHLDNjT5cCG943bCINlrGjx/vXKDVdKAHenEs4nMdasI83hTegd5+7HYKAhTeKSDxkHwRwOKrxYsXN+hU+/btrWcgcCG8oyE2UQA2Pf4uhDdEN8R3tGD623VIQr7urHS9QRgG1lYgxKsWaQp92PIeYRWYUbP5QZuOvv2j6PG2z5w1+k2Awttv+7B1NSCgiyrjl9YMH1iEh59iBdPIujAvmrccguL48eMlWxw9Ny6804hAfCBArMBzjRe7xrMm5U/HMZ07dxbUifAS/CQJUDR4w4YNJuVXqTbgb6gb8dGa/xveRbBAXQcPHkxMz4cdQtEOtF3bO2zYMBNjjWsVS+uHa6owg0iDmMG19uzZY9IfFuON87AtPPqr5yX1+6677jL9YKk9AdgNdkbefL1HZsyYYXLIV7vA7rguxn1SwXjF3zB+zp8/b8ZvmnsX19J7Np7fHPeG1tepUyeTuxrl9OnT5vfof9L+Bhh/+JuO02h78bdoH1Cnpr/Uv+k9os8DPT/6bNF/633RqlWrQry1MsD1ks5Jsy8DztWFy6g/2k7N4+16dgkzIPhxHYJU7bHO62WTAIV3Nu3GVjeDQDHhrUJQp4mLVaGeUvXcqrc4univ2LlRsRcX3uXqxTW1bghJbASDl0maejWUppjwRpw3cnrHY9+T+oHYaAiC7t27FwR7JW2Pe7zjsddJdWocOmYrsEASL3S9TqmhoIsoi/WbHslm3EgpT8X4hOjTAqH2zjvvpDz7o8MgYtPkXS83FnUsYUzs2LHDfHwVGx/xRuq9jg/OrVu3Go920gxaUudWrlxp7rGoB7jcuTp+9TjUl6at6COeL/jAjf67FPSpU6eaD2Gcg7bigwT/LlXQHr0PK2Gh/Yo/Q+PrT+J163NMn3nR+ssNqLQzXGCdxglSrr5qXKNcHfx7NglQeGfTbmx1MwgUe3Gp8IZIKOW5jk6RR72yaBIettFFm/FmRs+NC2+tFy8IZES4cuVKo3YMHDiwbKaEaJs0vAIvOpTmhJpA7J46dUrq6uqK0o+Hc0QP1L4nhZqcPXtW7rzzTuOJ27dvn7Rp06bg7cY1tf2lzI5+w6sOdrgWbKiMKbybccNk7FSMIYhNzaIRv59Xr15dGGcYKxgjGH/IchQdZxh3GE/R+1nPRWYg3Au4n3BfaJYgRRW/7/B7CFvUNXv2bHnkkUcKsz+aaScJM9qDH7Rv6dKlZuMnbWsps6CdKGhXtN5z584VPQ314NmDc8APs01oa6lz8MxE/xG6h7bFWaCt+/fvL8x2aeXaL/w/7k3lCtGb9OzV5yr6gnrAF8fCtnheDBo0qOwo1XPLHYhraihiuXAotCtuPzDEh0GaZ1a5tvDv+SRA4Z1Pu7JXJQgU8zLZ9n66iPEutrjSRYy3zWwqSYsr77777pIhRbyJsknAh3SC8BbDq2/7meKjxeDhT+ttrlX7MTOI8KNqe6ERJjRu3Djp37+/2Q8BHwAu0ybWih+vW10CFN7V5cmrZYAAHpb3339/g5a6EGEuhDc6nRTaYVMgqMcbXi5bW9XDE4cwmmg6Qddxpxm4VTLZRB+Et4az2byvfDUWhLeLrFFRHnjmVCuExFfObFd2CFB4Z8dWbGkVCSBcAlOgWtJOQ1axCQ0WM1XzuuWuFY8JnzVrlpkyt1XU62673ni4iYYW2eo367FDgMLbDue0tfjg8abwTmstHmeDAIW3DcqswzsCEH+DBw8ueEBdbKbiyuMd3Todiz1PnDhhdXpUPd42Q00wAKMzHZjhwP8Xy3zh3YBlg1IToPBOjcrKgfR4W8HMSjJEgMI7Q8ZiU6tLQGO9XW0f7kp4g6L23Wa4h1pPhffy5cvN4i2bRb399HbbpG63Lh+Ed3Txpd3e+1cb7vekdIk2W0qPt03arKscAQrvcoT499wS0NR08Pi68Hy6Et6asxeLgcDARYEXzLbo96HfLliHVqcPwjs05r73l8LbdwuF1T4K77Dszd7WE0CoBTaLQc7YZcuWWQ2ziBrAhfDGIsMHH3zQbCShmwC5GBS2d7NDaBGyD+BDAx8cLPkl4IPwxjMmulFNfmmX7xmyieBZ6/K+o/AubyceYY8Ahbc91qzJEwLRfNRYZIk8sC6KC+Htop/xOl0trkQ70uQi94ER29B0Aj4Ib7QBeb6Rxzr0wsWVoY8A9j9OgMKbYyJoAngpuEr5FarwxoADdxex9brhBWK8WfJJwBfhvXv3bmfPFp8s64PwxkJq7Bpa7TzePnFmW7JDgMI7O7ZiS2tAgMK7BlBTXJLCOwUkHtIkAhTeTcJWs5N8EN4MNamZeXnhJhCg8G4CNJ6SHwIU3m5sSeHthnsItVJ4+2VlCm+/7MHWuCdA4e3eBmyBQwIU3m7guxTe3MHOjc1t1UrhbYt0unoovNNx4lHhEKDwDsfW7GkCAQpvN8PCpfBes2aNMMbbjd1t1ErhbYNy+joovNOz4pFhEKDwDsPO7GURAhTeboaGK+GN3mLreApvN3a3UatPwvv06dMmlV7IhcI7ZOuz70kEKLw5LoImQOHtxvyuhDfyK8+bN4/C243ZrdTqk/DetWuXaPYiK533sBJsToY9A1xmFOHiSg8HRsBNovAO2Pjs+q20dkwnaH8kuBLe9Hjbt7XtGn0Q3phVwf4Ab7zxhvTp08c2AtYXI0DhzSHhEwEKb5+swbZYJ0DhbR25qdCV8Ma28VOmTKHH243ZrdSKnM0ud2W10klWUhEBzHRhB038sJCAawIU3q4twPqdEnAtvCEEIRRCK66ENzfSCGOkbdy40YQU7dixI3gRrmP+hRdecOJ9R/0IN/Eh1h2eb4wN/LCQgCsCFN6uyLNeLwi4Ft6A4DL20ZURXAlv9Ldr167cytuV4S3U++qrrwpSRiLMA7Z2USBysXPlwoULnYhd7TO2rO/Xr58g1txVyAvqvXjxorz//vsuTFGoE2Ni8eLFZrYLu+aykIArAhTersizXi8IUHi7MYNL4e3S5m5oh1MrRDfiqzds2CATJkxw1nHEmUN4u1xcifCKAQMGyIgRI5x6eOHpxsweflwVeLgnTpwoR48edfYB4qrvrNc/AhTe/tmELbJIoEOHDs48MXg5YxrW5QvJIuoGVVF4uyKf33pxL91///2mg3fffbccOHBAcH+7KD4Ib8S5v/POO3LXXXeZ54yrUA9l4WoR+7Fjx2Tw4MFy+fJlWb16tUybNs3FkGCdJFAgQOHNwRA0AZdhB65fSC4N71J4wyvKqWaX1q9N3RBU2BxJy6xZs2TFihW1qazMVV0Lb4SvDRs2rNDKqVOnCsJfXBSwOH78uDMHR11dnezfv7/Q9QsXLjj7IHPBn3X6R4DC2z+bsEWBEAjV4w0Pf7t27Yz45UY2gQx2C93EAj54NaPl0qVLZmGf7YIwl02bNjkLNZk5c6Y8//zzhW7D6+1qZs3lcy46C6Iwxo8f7zT0xvZYZH3+EaDw9s8mbFGMAKYKUaq5OAiLjpYuXWo8ZBCAmIK0PS3tyhOERU7whsELNWTIECeLO114vOEFhFf0ypUr0qNHDyf95s1dGwJxD6/W4mohnS7kcxXjjWcl7u9occVCNxBysYhc7RDl0Lt3b9F3Sm1GI69KAqUJUHhzhHhJYMuWLUYY7dy507xAZsyYUdUcrHgZPProowLPEBbeaJopmzDQBhfpBOGNQ78RA4q8tsraVt/V492+fXur08/gjb7CA4oXMmJeSy3Aw+I0/DSn4CVv+4OuOe3N6rm6eA5jCmEVsDPim5FVBLa2XVx7vPFhi4IPa4zhM2fOGC4uwk1w31XjXmqKDfGM37p1qzkVXn+dEWG4SVNo8pxqEaDwrhZJXqcqBJI8FHphiJgWLVqYF2q5Um4RTTyzBR7QeFlDkNrKq42sByjoFwRDrQo+XFAHCl68zz33XIOpVmUBBhDFugjr2rVrRYUxRLtywr8hZvH/nTt3Nn2JflDgenjx4rjz5883uiZ+f+PGDWNbHFfJlHi0HcX4waboW3RHQ3xo6W52xc7Tl/a9995rxlwpO6HNSeMS5yxZssTUz1I7AnEPM8ZR9+7dCzM6GPeI7S9VMIYrGXt6reiW8Ki3devW8sorrxiRh7GDv2PcYyzofaF16b0Wzfyh9wuun3ZBpHqT8QHSqlUr6dixY+GjIx7aFf8Q0T4XC8kp9/dyVsXHPVhgZlGfQ+XOqcbf0U+NtV+5cqV5tus6AFfe/2r0i9fIPgEK7+zbMIge4MWCXLBaIO6iLzyET1TiWcSCm2effbYgxhByEkq8MdKtwfsFfppvOIS+R/uNFzD6X61Flhh/EDtawBc/1QyPCuJGb2InMY6nT58uy5cvl9mzZ5tQgr59+2ZiHQHaWmqc6N81PAKhUm3atDEfuNevXzcLB7t06SLnzp0rjGd8TKvzQcdmdE1F/CME17rzzjvNNVDw/9HnbRPN4vQ09FeFt3q4sdh2zpw5zOXt1DKsnMKbYyBIAngZYWc7eHU//PBDMx0dyjbT8GDB+6Ne6Keffrqij5asDhj0G3aGZ17DjKrZFx1D9G5Xk2q6a0VjvOFlxtiGl9VVqEm6VtfuKAhvhFaMGzdO9uzZY2ZjXIWa1K6X5a+sIT8YE7gv4WDBBwU93uXZ8YjaEaDwrh1bXpkESIAESMASAY1rjlbneiMdS11vVE00tln/GKLYRJgL0krGC2O8XY1M1gsCFN4cByRAAiRAApkngFCieAhFqAIraa2Mqw1sXA4sDTmKtoFZTVxahHVTeHMMkAAJkAAJ5IJAPKVgyHniNYxMs3i4Shvqw8DSOG9tS7UzZPnQR7YhWwTo8c6WvdhaEiABEiCBIgR08RwWBx46dEiwM22oJer1Pnr0aLALfbFnQ7du3QrDIGQWod4LvvWbwts3i7A9JEACJEACTSKgGTxCje2OQtOUitypUcyi6sWLFxcyvTRpcPEkEqgSAQrvKoHkZUiABEiABNwRgLjStKDRVKPuWuSuZohuLLDEj4sNhNz1vHHNiPufPHmy2Sys1IZZPrWZbck3AQrvfNuXvSMBEiCB3BOApxseTRc7M/oIFx8eyFVfrTz1PvYxTZs0v3uIGV3S8OExbghQeLvhzlpJoLAdedrd6fKEDF445BWuZNOjPPWffck3AXicsU9ACBtTlbOk7qrpYhYCufuxTwOfM+WsxL/bJEDhbZM26yKBCAGIT926PDQwyLlML1RoVg+nv5phJcQUfnErh/ycC2fEs6eVEKDwroQWjyWBKhII+YWELbLR/9Cnwqs4nHgpjwhQeH9kjJCfcx4NSTbFIwIU3h4Zg00Ji0DIL6T77rtPFixYQOEd1pAPprcU3hTewQx2drRiAhTeFSPjCSRQHQIhC28u/qrOGOJV/CSgwvv06dMS4hqOqFVCfs75OTrZKtcEKLxdW4D1B0sg5BcShXewwz6IjtPj/ZGZkVkEKf10kWUQA4CdJIESBCi8OTxIwBGBJOGNF1QIcc9x4Y2XsvJwZA5WSwJVI5AkvJFHGlk2QsurvWXLFpNDOyq8scYDgtxFppOqGZkXIoEmEqDwbiI4nkYCzSUQ9wQdO3ZM+vbtKyFkQkjyeON39Io1d1TxfB8IqPC+cOFCIZWdZjAKTXgnfVSPGTPGpBOl8PZhtLINtglQeNsmzvpI4DaBjRs3Cn6iYhNp9ii8OURIINsEkmK8KbzfKhiVwjvb45utbx4BCu/m8ePZJNBkAph+xTQshfcthPR4N3ko8UTPCKjwPnz4sCCDDwqFN4W3Z8OUzXFEgMLbEXhWSwJJi45C9Xjv27dPnnzySUG4DQsJZJ2ACu9du3YVwimwfgM/oe1mmRRqUldXJ48//rjZ1p6FBEIjQOEdmsXZX28IJC06gtcX4Sd5T0GGfmIRKV682F57+/btRpQ8+uijMnPmTG9sxIaQQFMIHDlyRO6//35R4R3foTakOO/4c04XmeK+nzBhAuO8mzLAeE6mCVB4Z9p8bHxWCeBFrC8g/FtfQtofvJjzuvAI/dq9e7cR3vD+oe/4QcYHFIhvFhLIKgHMZGFzqMuXL8ulS5ekbdu2ha7goxpiM5SCWG58UA8ZMqQQUqehdfg4GTt2bGHxaShM2E8SoPDmGCABBwQQUoISfSFpMxBugXRbeS0dOnSQixcvFoS39pMLrvJq8bD6BaGJsYwSXSj9/vvvS8eOHYNYPB29p+PCG39DaNlTTz3FLEZh3Rrs7W0CFN4cCiTggIB6fePCG7/HYix4w/Na4PHbtGmTSScG7yCKipVoTGxe+89+5ZuACmz0MjqeEUKFsAvM7oRSNNY9+pzDzFavYDzWjwAAIABJREFUXr2kd+/eFN6hDAT2swEBCm8OCBJwQECFZvSFhN/Nnj1bJk2alOtNNrTvy5cvN/2FUBk1apQ88MADJrwmhA2EHAw5VmmRgH5Yq/CGh/fll182QhNhZCGNccxwRUU2ZgMGDhwo69ev52Jqi2OSVflDgMLbH1uwJYERQOwnvNt4GcMLhJc14psR+wjPWJ4LQm0Q3w0BomIEcd/jx483i0tZSCDLBDBjNWvWLDl9+rRZKI3wMSwkxr09bty4wkxPlvuYtu2Y4YKXX2O78Yw7efKkHD9+vMGMQNrr8TgSyDoBCu+sW5DtzyyB6AsJLybdTEcXG2a2YykajpcvBEjU86cLSvO6qDQFFh6SEwK4h7t3794onhtjPKSMJjBnUvYm/J55+3My2NmNiglQeFeMjCeQQHUIIOQCXiCNc8ZVMSX99ttv5z6/LfqO6eauXbtWByavQgKeEVixYoUJpWK5tYYjpPAa2pwEShGg8Ob4IAGHBOAZy3vObod4WTUJkAAJkAAJeEWAwtsrc7AxJEACJEACJEACJEACeSVA4Z1Xy7JfJEACJEACJEACJEACXhGg8PbKHGwMCZAACZAACZAACZBAXglQeOfVsuwXCZAACZAACZAACZCAVwQovL0yBxtDAiRAAiRAAiRAAiSQVwIU3nm1LPtFAiRAAiRAAiRAAiTgFQEKb6/MwcaQAAmQAAmQAAmQAAnklQCFd14ty36RAAmQAAmQAAmQAAl4RYDC2ytzsDEkQAIkQAIkQAIkQAJ5JUDhnVfLsl8kQAIkQAIkQAIkQAJeEaDw9socbAwJkAAJkAAJkAAJkEBeCVB459Wy7BcJkAAJkAAJkAAJkIBXBCi8vTIHG0MCJEACJEACJEACJJBXAhTeebUs+0UCJEACJEACJEACJOAVAQpvr8zBxpAACZAACZAACZAACeSVAIV3Xi3LfpEACZAACZAACZAACXhFgMLbK3OwMSRAAiRAAiRAAiRAAnklQOGdV8uyXyRAAiRAAiRAAiRAAl4RoPD2yhxsDAlkn8AHH3wgbdu2zX5H2AMSIAESIAESqDIBCu8qA+XlSIAESIAESIAESIAESCCJAIU3xwUJkAAJkAAJkAAJkAAJWCBA4W0BMqsgAZsEjhw5Yqq77777ylb71ltvmWOGDh1a8thjx47JxYsXpXfv3tKhQ4ey1+UBJEACJEACJEACjQlQeHNUkECOCLzwwgtGIENQT5s2TR577LGivVu0aJGJxX7mmWdk7dq18uijjyYe+4Mf/ECee+456dmzpzn2/fffzxExdoUESIAESIAE7BGg8LbHmjWRgDUCEN5r1qyRzZs3l63z1VdfFXi0IcTLlTvuuENu3rxZ7jD+nQRIgARIgARIIIEAhTeHBQnkkABENMJHyoWQoOvwjA8fPryox1vxIFvJlClTUon5HCJll0iABEiABEig2QQovJuNkBcgAfsE4KXW0qVLF6mrq2vQiDFjxjQQyAgPSYrNhmd827ZtsmLFCnP+2bNnpWvXrokdgkCfP39+0b/bp8AaSYAESIAESCBbBCi8s2UvtpYEDAEI78mTJ8uWLVtMSEmrVq1k48aN5m8zZ840P/fcc4/5/1Ie7VWrVplj4c3GT/fu3RNDSeBBx/UmTJhgjsN5x48fp/eb45EESIAESIAEKiBA4V0BLB5KAr4QwCLKgwcPGrGN+Oxx48YJspng9+oN79OnT+H/W7Ro0SiUBF5xXSgJQY2fuKcc/cXiSvxNC+qECE861hc+bAcJkAAJkAAJ+EiAwttHq7BNJFCGAEJLEBKCrCWzZ8+WSZMmFV0cWcniyUrEdCXH0qAkQAIkQAIkQAIiFN4cBSSQMQII9WjXrp1s2LDBtLx///4C7zaK5uWOdgnpBd977z3j8dbwk2LHwnveuXNnkwNcj4XHGz/Rgv+Hxx3CP80CzowhZnNJgARIgARIoCYEKLxrgpUXJYHaEUBc94IFC0yISbwkCW89BkK6nPBOOjZJeEfrpfCuna15ZRIgARIggXwRoPDOlz3ZmwAIYLEkvNhpcnQHgINdJAESIAESIIHMEKDwzoyp2FASuJXNZPv27XLt2jVZtmxZAw92nA8WTn772982YSPFvNLwkGMbeByHUBRce/DgwYnbzWPx5smTJ6V9+/Yms0mxnS5pJxIgARIgARIggWQCFN4cGSSQQwIQ3UuXLjX5vfft21fI0x3vKgS55vdG6MpDDz0kbdq0SVyoib/37dtXpk6dasJcSoW15BApu0QCJEACJEACzSZA4d1shLwACfhHAOn/5s6dW1h0WayFEN4IWcGOlMjVvW7dOpMfHF7yeEHu7r1798rTTz9t0hji/1lIgARIgARIgATSE6DwTs+KRzaBADyj0V0Wm3CJik+BaAw9DEIFdcuWLaVt27aJDJHzu3Xr1iZHN34gpuH9PnDgQGIIC5hiYScEd6nwlYoNxhNIgARIgARIIBACFN6BGNpVN7EV+Zw5c6xWjxR3oS88hKiePn26CQvBv5MKbPP444/LqVOn5Pr16yYOHLm5V69enbi9PD6gwBb/RZw3s5lYHdasjARIgARIIAcEKLxzYESfu6ACEG28++67jce0U6dOZrtxeE3VG4uUddFUd8X6hEV9xTy4iGsu5eH1mRPbRgIkQAIkQAIkkH8CFN75t7HTHsI7Ci8qPKRIgTdkyBAuynNqEVZOAiRAAiRAAiTgigCFtyvygdSrwvvdd9+V9evXy+LFi2X58uVmm3MWEiABEiABEiABEgiJAIV3SNZ20FcV3jdv3jS1YxHfpk2bZOXKlTJz5kwHLWKVJEACJEACJEACJOCGAIW3G+7B1BoX3ug4dl5cs2aNzJgxgynpghkJ7CgJkAAJkAAJkACFN8dATQmo8EaWEWTE0KLimxlIaoqfFycBEiABEiABEvCIAIW3R8bIY1OKCW/0VcNOxo8fb3JIs5AACZAACZAACZBAnglQeOfZuh70Lbq4smvXro1ahC3N9+/fb/JNI+sJ/sv80B4Yjk0gARIgARIgARKoOgEK76oj5QWjBFR4Hz16tOj25dgRcevWreY0phvk+CEBEiABEiABEsgrAQrvvFrWk36p8L5w4ULibohoZlR44/8XLlwoixYt8qQHbAYJkAAJkAAJkAAJVIcAhXd1OPIqJQjccccdZgv36OLKuFcciy0RaqKllFCvNmzseNmhQ4dqX5bX85gAbe6xcdg0EiABEsgxAQrvHBvXh67FF1dia/h58+YZIR4t2Ar+lVdekQULFsjly5etphqExx1b2UcLtrofPHiw2dY+rwW2uXr1qlnkGi1vvfVWruPs0T8s5o0v6MUsC3LLt23bNq8mZ79IgARIgAQcE6DwdmyAEKqPerwhvLt37y66oU68/yrAd+7c2UgM14IVPJ8dO3aUS5cuNRBcGuqS55AXCO8lS5bIkSNHGqDFhwgEaF4XuaLfkydPFoy1aMEHCOx9zz331GKo8ZokQAIkQAIkIBTeHAQ1JwDhvXfvXkEGExT8fzHhXfPGxCpQj/zq1avNxj5a8Ptjx47lOta8WMYZiE+I7jwL7zFjxsiuXbsa9DHv/bZ9b7E+EiABEiCBxgQovDkqak4AQjua1cRH4T1q1KgGHvaQhHd8MWveBah+cMR3Ts17v2t+o7MCEiABEiCBsgQovMsi4gHNJRBfXOmj8G7fvr0g7CREj3eXLl3k7Nmzhb7nXYDOnj1bVq5c2Sh1Zd773dz7mOeTAAmQAAk0nwCFd/MZ8gplCEBo67Q+Yryfe+45E2Prw8JFhJP07dvX9CCaeQUiDIvsEOuc16KeX/Tv8OHDBXvkXYAipGjNmjXGrNGQJyy2RHx3XkNs8jqO2S8SIAESyBIBCu8sWSujbVWPd//+/RtkksBiNtcL2XShHUQXFhWiRDNeoI3xrB8ZNUOjZiPO+cCBA+ZDaPjw4eZDA79Tz78K8Lz0V/uhi0pXrVpVENm6iBYfhnPnzi262VPeWLA/JEACJEACdglQeNvlHWRt8VATCB+UYnm9bUJSr2/SYk+IsTxnNUHIxdtvvy1IrxcvmAno06ePTVNYqws2R7rIpH7n3ebWILMiEiABEiCBRAIU3hwYNSWg6fo0jAMexQEDBsjUqVO9ELXFhLeGI/iSfaUWRkIfIbDjAhSeYOQ1TxKmtWiH7WsWE94IK0Jqxbz22zZn1kcCJEACJNCYAIU3R0VNCcSFN8RNz5495eDBg402MKlpQ4pcXGO847G+aB/igPMsvJMEKESnbiKTVwFarN/or/64GIuskwRIgARIIP8EKLzzb2OnPUS2jG7dupmFi0OGDDGb1WjxRdTGs6xgcd2pU6fk3LlzJbe6dwq2CpUnCdCuXbvKpEmTRNMpVqEa7y6R1G/EtuMj7Pjx4w1yznvXeDaIBEiABEgg0wQovDNtPv8bH/d4o8XwKiKW1hePalJ6Q4iwkSNHmtCDvG4hniRAYRfs6IgFpidOnJAOHTr4P8gqbGFSvzFOIbqxkBYLTvPY7wox8XASIAESIIEaEKDwrgFUXrIhgfjiSvwVsd6uM5poK4vlFYfo9iHlYa3GU6lFhhDeec3mUqrfebd5rcYSr0sCJEACJJCOAIV3Ok48qhkEkoR3My5X9VN92tCn6p0rccFSAtRmO2zXFWq/bXNmfSRAAiRAAo0JUHhzVNScAIV3zRE3qYJQBWio/W7SIOFJJEACJEACVSVA4V1VnLxYEgEKbz/HRagCNNR++zkK2SoSIAESCIsAhXdY9rbe26TFldYbUaZChpq85ZtJatoeCu+a4uXFSYAESIAEShCg8ObwqDkBbMW+ZMkSb3dCRPpAXzKs1NwYkQrQZ2yUgw1zQiqh9jskG7OvJEACJOArAQpvXy3DdpEACZAACZAACZAACeSKAIV3rszJzpAACZAACZAACZAACfhKgMLbV8uwXSRAAiRAAiRAAiRAArkiQOGdK3OyMyRAAiRAAiRAAiRAAr4SoPD21TJsFwmQAAmQAAmQAAmQQK4IUHjnypzsDAmQAAmQAAmQAAmQgK8EKLx9tQzbRQIkQAIkQAIkQAIkkCsCFN65Mmd+O/PBBx/IkSNHBDm3q1VwzQULFsixY8fknnvukWXLlkmHDh2qdXmvr/ODH/xA5s2bJ9jgCH1eu3attG3b1us2V6NxGzdulOeee07at29vbI7/ZyEBEiABEiABWwQovG2RZj1NIoBdBvUHFzh69GjVNuIZM2aMDBw4UGbPni0vvPCC7N69WzZv3tykdmbtJPR91qxZUldXV+AbQt/Rb+3nokWLzFh67LHHiprv7Nmzsn///mabd8iQIcF81DUbFi9AAiRAAjkmQOGdY+NmtWvwQMMriV0VL1++3KAbEDDq9YbX9tq1a/Lhhx8KvNfxguMgroqVmTNnNti1UbeOhxcU1652uXjxovGuo0DwtWjRwrS7VF3wyrZu3bpwXrRN+Ful7US9+MgAlygb3b0TwhRe8EoKPOXKH97zVq1aGW9yqYJ24wfn3nfffSWPxU6T0ZmO48ePmzaiL/BcJxXlov+FuJ42bZpEbY7rwialhDd44MMPpXfv3kXr0zbg4y1eRo0aZeqt5mxNJfbJy7E666W7zIInxk4IMzU2bQi+uG9wD+P+wn3muqBNuP9CmZF0zZv115YAhXdt+fLqTSSAsBIVcyrS0lwqKgLxUsZ29cUK/qaCCPWNGzeukcDVlzxeQiomcWynTp3k/Pnz5tLlhGOx+tG/du3amT9funTJqoCYMGGC4AfiBR8D69ats7p1PD6qRo8eLQsXLiz5cZTG5pUcgz6PHDnSCAp8eOAjpJrCAmPhnXfeEYht1FVq/FXS7tCPxXjBvQrb9e/f39wrO3fulO3btxvOpT6wQ2eXtv941oElnnP6kagiHPyb+pxLW3/8uFWrVplnUvQjHu8C/I73VVOp8jwfCFB4+2AFtsEJAXhNIZAQSgBvyhtvvCFdu3a12hZ42VFu3rxptd5o3xFus3XrVqveJLzQhw0bZl14AzI82Kh/6tSpVRXdVg0YUGWwF4T1rl27Go1RjON+/frJpEmTKL6bMSb0fgTj+MwM+GO2CM8IhKbZKMVsDicBnhv4YC41U2WjjayDBJpKgMK7qeR4HglUgYAr4V2FpjfrEi6Fd7MazpOtEoCHc8CAAbJjx46iHleIbxyDMVUuxMlq4zNUmS40LhYOhfA7LMY+ceJEzWfm4F2fMmVK0bowUzh48GCZO3eu8dCzkEDWCFB4Z81ibG/VCWDaEg97F4XC226oidpYY9pd2Jx1pieAsAIIrXKhJBCGOA7hKCyVEcCzDz/lMvzgntEQtcpqqOzoaAhgsTPh+UZoIML+WEggawQovLNmMba36gRcijAI7y5dugiyZ4RUXHu8Xdo8JDun7Ws0cxHOWb16tQkrSco8A9vhb9EsPBhP+Ckn0NO2J6Tj0mT3AY8VK1bIlStXDGNdcKycmpK1B+IZC6W1IOQNoX5Yc6GL0PE3PBvnzJlTyMKkx8ePC8lm7Gu2CVB4Z9t+bH0VCLgUYRDeWOhXaSaRKnTb6SUovJ3i967y6GJqNE6zlSSJQvxOhbZ2BP8P77irmSvvgFbQIPDEM7Bc1h2IbQhi5Y8q8P8QwE3JLgNbRT3WiNnGteLPY9SB0BIsAI/Gdbt8bleAl4eSQCMCFN4cFMETcPkAZ6iJm1ATLBbDAi0WvwnARqdOnTLeVi1JYjwqCv3ukX+tS8sO+x20adOm5rMKmM2IOyIgyF988cUGizvp8fZvLLFF6QhQeKfjxKNyTMCl8MaipjNnzljPauLanK493ohVLRfT6poR6xeTTxoLJw8cOFBy4STuYXi8bae8y4ONwBj8Su0JgPj5Xr16lVzkWi0WuDeRMhIfx1rgGY/aljHe1aLN67ggQOHtgjrr9IqAS+GNfMTYJMh2OkHXBqDwdm2B7NQPrzfCDBCaEM9aAkGIDBjYtIkfUk23KRalQtyCcXxDIjCGGO7cubOVWSJ8AHTv3l0OHz6c+CGlH2Nr165lPu+mm5xnOiRA4e0QPqv2g4BL4Y26sdshhbfdsRDfudNu7aytUgIQ34sXL5bHH3/c5OzGuoiXX35Zli5dan4XDUWp9No8/hYB7NIKT3I0pGPfvn3y5JNPmthqmwtXEf6C9mABbTSuGx/s+P38+fMFoS8sJJBFAhTeWbQa21xVAhTeVcWZ6mL0eKfCxIMiBODphFdbF2LivkXqOYaXVG+YgC9+dMt4xFuPGDHCSb5sXTB78uRJ86F18eJF6dmzZ2G34er1mlciAbsEKLzt8mZtHhKg8LZvFNfCG1PriAlmIQESIAESIAGbBCi8bdJmXV4SoPC2bxbXwptZTezb3HWNCFFAQcYMeHLzXDTNX1IfET5y7tw56d27t8lSgtzZKAjv0HzcuD/xd4TBxUM9cKymHtRrxevB3gTXr183XmoU9Vjjv9G0hcjRjaw1+B2u1aNHjwa2KWerYn/HtRCSZDM8Js/jiX2rLgEK7+ry5NUySIDC277RXAtvl7uV2qfNGkFAt0VHaApCKbBoUPNPJwlV/E6FYzGCutgT/8WYLpcLO40lICZbtmzZYJEjfnft2jVzOupC21F0IWQpgYo+YnHk8OHDzQLJ+OLJNG2qxTEazhK/NkKJOnXqJOfPny/0s9L6YTesC4BNWEjANwIU3r5ZhO2xToDC2zpy80IcNmyYLFzoJo+3Ltyy33PW6IpAJfc5PKVYzKkFHlws4Ix6f232A95ozNJEPchTp05N5dGtpN82+1TruirpNz6y8EyChx8FdnZl61pz4fXdE6Dwdm8DtsAxgUoe0NVuaqhZTcARmwe5Et7M413tkez/9dLc5/AcP/jgg2bRpu6kiJ7pQj94i22nLcRYhXcY6xLQLhT8P9Yo7Ny5U1555ZWSC0zT9Nt/61XewjT9xswBOMKmYIsdMt977z3Zu3evyR2P9IpcvFs5e55RmgCFN0dI8ATSPKBrBSlU4Y3p5Pvvv9+Z8GaoSa1GtL/XLXefQ4RBeE2ePNmI3KSC3yMEAmnubBTMzJTKUY4PAs3BXaw9oX5klrM3eGloUFL+cjyj8JyAKK9GCJGN8cI6skGAwjsbdmIra0ggzQO6VtWHKrxdh5q4tHmtxhKvW5pAOZsjnAPhJFiYV6pgMeJLL71UEGPViu1GndFYc71HLly4UHIxKEJQsCixWF7rUBcSp7E3QorAvFjBmABXLALVotvZ532BLp8ntSNA4V07trxyRgiUe0DXshsU3m5ivF3avJbjidcuTqCczZO2Kk+6mmbKiP4X166GVzSa5hLXRxaQ6Nbp8Mrr9um6SBICfc2aNUW98KGmzkxjbxwDu5cqffr0MQs11b4ITUH4STXszfs1TAIU3mHanb2OECj3gK4lrNCF96hRo0wcpe3i0ua2+8r6bhEoF14EATZy5Miyi+rgBYWXVHc/RSgCMo4MGjSoyWNZQ0beeecdk9JPw0cg+qKL/CD6Zs2aJbt27WrgcS8lvEPdpbXcPY6/q4gudY/gwwcfQLDJlClTZMeOHeZwrAXAtvW+ZInhfZ4dAhTe2bEVW1ojAuUe0DWq1lw2VOGN6dqOHTsakeEi5ZdLm9dyPPHaxQmUy2QDgRoXuklXQzjKlStXChlFcB7yYVdjC/PouMR1UQ/q06L3zdGjR01bUcp5vHGdannkszS+yt3j+LuyKdUv2BWhPDrzAO83wkyY9SRLo8GvtlJ4+2UPtsYBgXIP6Fo2KVThjSnzdu3aCT3etRxdvHaUQDmPNzzXzz33XMmYX1wvHnpQzRhvzP5o5hKElIwbN0727NlT8Koimwl+omEO5UJkQvV4IxwEDIsVeLA1x3mpOwX2XrJkScEumulEc7jzLiOBSglQeFdKjMfnjoAPwvvSpUtBTVlSeOfuNvK+Q2kEKLzi2LGx2I6HCE2A8LI1SwPvKkJbitWH36OtpdqTpt/eG68JDSwnvDVrCdIGFlsoiY+xefPmmd1OWUigWgQovKtFktfJLAGXwhsvemRRiK6azyzIChuOvmMTEBeLlFzavEJMPLxKBNIKUIwN9WpHq1aBa0t0a90IcXj77bflxRdfLISX4G9oz/r16+XQoUMls56k7XeVMHtzmTT3eCmGsDOeUeCLTDYsJFAtAhTe1SLJ62SWQJoHtI3ORaeZbdTnSx0usgT4YnNfbBBCO9IKUN1UBQsW4f1GwY6RiOlFeIKLxXTwfGOzHISZoH60ESEp+HAtl9Yubb/zNgawQdfNmzfLdgt8dAOdaKYYsOYGOmXx8YAmEKDwbgI0npIvAuUWXdnorS5+KjbFbaMNLupAfyFqICxsFgpvm7T9qCtUAYp+R3fh9MMatW8FPkgqCRFBSA9mH7GQkosna2+fkGug8A7Z+uy7IeByZzfEGSIt1bJly8rmk82buTCFju2ZmU4wb5b1sz8hC+8Qs5qk9Xj7OVrZqjwToPDOs3XZt1QEILwR7mB7ChnTxXghInfv66+/Xlg1n6rRGT8IImjx4sVy1113FabPbXaJHm+btP2oy+UHtksCoaYTRNYRhIuwkIBvBCi8fbMI22OdgKupWHh8EUeKgg0aKpkWtQ6pihVqLmK9JOJUGWpSRcC8VCIBeryHBjUysEC21HbwQcFgZ70iQOHtlTnYGBcEXL2Q4WG/fPlyocvR3ehccLBVJxYyTZw4sVAdvN4nTpwou0ismu2jx7uaNLNxLXq8wxLe5dIJZmPUspV5JEDhnUersk8VEXAxFQsP7/Tp0xu009VmMhXBqsLBumlQ9FILFy4smju5ClU2ugSFdy2o+n3NUG3u4vnmw0gI1d4+sGcbShOg8OYICZ4AXkxp0nJVExQyqWAVfbykSX9VzXa4uBamgI8fP96gamRd2Lx5s7Xm8KVsDbU3FYVqcwpvb4YgG0IChgCFNwdC8AT0xYR4wM6dO5tFjohDRvy1pveL5ppGJhJk4tCcvjgG05o4T/+mQh7n4ZoQlrg+tqTG76ZMmZIovI8ePSo3btwoXB/GwbEjRowwWU+wqQNCNZAFBSmv8LuRI0ea66NNuDb+jjCW+Hn429q1a815aCvajLajXYg3x3lYkIRr4r+6YUj0vOjOfvHzoteMtgV9wDUhfHBNZBtIKgi1QV3YnhniPFoXPlIwS6BtRF3Dhw837U7q96BBg4x9NP8x+t2yZUvTDpx38uRJUxdLOAQovIeGY+z6noZq76CMnNHOUnhn1HBsdvUIqPAeNmyYDBkyxIhbCD0IP427VrEIj7Rm5MDfsCiyb9++hfP0b/DeQgxD5N55551mZ8roNSHqkzzeOA+CFhk/kq4/e/ZsWblypezdu1fq6uoaXL9UuzS0JaldyF0Loap9hejFD47V8959912zexs4qHdaz8PHAo5HX5EDF7/X8/A3lIcfflgeeeQR8/tSwhs20L6hvjZt2hgeyk7rSmoj/gZ7dOzYsdBG5YX2ww7426xZs8x1Q8uZXr07JptX8iFfvwty9Hi7oM46SaA4AQpvjo7gCeiLCRu5QLjpFuYQ4PpveLJbtGhhBCbSAOL/o8fBQ4wflOh5SGfVqlWrwsJBnAdPc7lQk+g1IDxbt25duL5eA3XFrx8/D952TZOIY7WN8fOif0P/UGqVXhFtOHPmTINxZzurC7zh9HiHdeuH6gGl8A5rnLO3/hOg8PbfRmxhjQm4eDElLa5Edg8VvTXustPLI9xj06ZNDdpgO8abwtvpEHBSOYX3UCfcXVUaqr1d8Wa96QlQeKdnxSNzSsCF8EboSbdu3RoQ1TCXnGIudEvDRqL91BAYW313lULSVv9YT2MCoQoxF883H8ZfqPb2gT3bUJoAhTdHSPAEXL2Y4mn1ELsNT2zeC7z6CDfRHOYu8nhTeOd9lFF4KwFXzzfXI4zC27UFWH8xAhTeHBvBE3D1YtI4cQhQV1unuzK+LgRF/bZzeKOqq0s+AAAgAElEQVRO1K/ZW1wxYL12CYQqxFw93+xalx9arnmz/vQEKLzTs+KROSXg8sWkAnT16tUmNV5IBVlLrl+/blI32i70eNsm7r4+Cu+h7o1gsQWh2tsiYlbVRAIU3k0Ex9PyQ8CV8EbIBV4OyEkdWmo75OOeN2+e7Nixw2R5sV3o8bZN3H19oQoxzX2vWZjcW8JOC0K1tx26rKU5BCi8m0OP5+aCgAvhjcWV/fr1M2EWoXm6wRtpD1966SWTG9xFcWFzF/1knR8RCFWI4V5DofDm3UACfhCg8PbDDmyFQwIuRBjCK86fP+/E2+sQtalac4Yjuwlyo8Pjb7u4sLntPrK+hgQovIcGNSRCtXdQRs5oZym8M2o4Nrt6BFyKMEwD40e3pK9er/y/UnQ3UNutdWlz231lfbcIhCrEQvZ4b9mypWYbgfG+IoGmEqDwbio5npcbAi5FmC6u1O3acwM1RUcovFNA4iFVI0DhTY931QYTL0QCzSBA4d0MeDw1HwQovN3YkcLbDfdQa0X6SMwuhVZC9nhr30OzOfvrNwEKb7/tw9ZZIEDhbQFyQhUU3m64h1orhTc93qGOffbbLwIU3n7Zg61xQIDC2wH0+iqR0eTcuXNy8+ZN6w1waXPrnWWFhsCYMWNk8+bNwdGgxzs4k7PDnhOg8PbcQGxe7Qm4zHMbcox3nz595Pjx4xTetR/irKGeALLnYLFdaCVk4c3FlaGN9mz0l8I7G3bKRCs1TVwmGhtppGYUcZHnNmThDd67d++m8M7aDZPR9oa8uBKbdblI2+lyqMDeOrPlsh2smwTiBCi8OSaqRiCr23C7DDsIWXjX1dXJ/v37KbyrdgfyQqUIhCy84fUObXdc2PuFF14QzKyxkIBPBCi8fbJGxtqCEA14uVHwYMfW3/AeZ61QeLuxGGJusYkOY7zd8A+t1qw6BpprJzybQxXeIe6P0NzxwvNrT4DCu/aMc1sDvAkPPPCAwHOJktUXm8sYyJA93hTeuX00eNmxrD6fmgszZOHNdILNHT08vxYEKLxrQTWgax47dqwwlTdz5syCxxv/hjd8+PDh0rlzZxk0aJB06NDBSzIU3m7MQuHthrtPtWKW7MiRI6mbpCJST7jnnnsEaQLTFArvRWkwyfvvv28WPaO0b9++aKhGU9IzNmU9TVQ8t23b1syspimM8U5Dice4IEDh7YJ6RuvUrc3x8MMLDw/RV155RW7cuCEQ2tEXG1aTQ3jjIYkH52OPPeZtrB2Ft5sB6VJ4u7S5G9p+1po20wjEOYRer169ZMSIEeb5g4LnzM6dO2Xu3LllBTiFd2nhDcE9b948OXjwoHGY4DkPAX7ixAnzfI9/4DQlZr6SsD7YFvXC1rrwXbOUpFk0SeHt5z3PVolQeHMUpCYQzYOLh/T06dONoIbXW19quoBHRdXy5ctl9uzZqetwcaBLEcZQEzcx3rroykUmGxdj3Nc604o3LJCDzZLsdfbsWenXr5/s2rWr5Mc9hXdx4Y3nORhOmjSp0SJM/K1v376GP573WtLaLjr20t53+/btk1GjRiXaFM/rYcOGmb+Vun8pvH2969kuCm+OgdQE4H2Ah0ofdpqiSh9w8IDjGBR4u/GjU8M+ry5HG9HWtFPWqYGlOJDC243wdvmxlWJYBHNIGvGGewQe71I5uGFPPH9KHYPrTJ061duQt1oZPU2MN57b8HAXy3wC/g8++KAcOHCgMNuQxnbxPqEt5VIb4u+Y2Vi7dm3RFIi4Dp7Xurg/iR2Fd61GFK/bXAIU3s0lGNj5Sbm68aDEQzurebzTvAxqZWaIhVmzZpX13tSqfpfXZaiJS/p+1I1QNISrRVO+xT+K8Lft27cXBF+xlpeLF4eoxLWiXls/KNS2FeWEN57fYFdKxKKFyEC0Z8+ewjqeJNuVm1XQTFhxgR+NF8cx+Cm3MBLn4KeY15vCu7bjildvOgEK76az45k5IYAHPMJlpk2bZr1HmAlAyE65aVPrDbNQIYW3BcgeVwEhp6V3795mIR82VIoKb4jkO+64I1XKSdy/EFvFhDWF96LE0ZAkzPE8XLNmjQkviZZyXm7YALMKleTORigLQkdQJ0paO6l4L+alx/MFbWE4mccPgUCbRuEdqOHZ7Y8IlPMI1ZKVerxff/314HaWo/Cu5cjy/9p630EYYQEdZs0Q0gBvpy6ow9/SCu94KFycQFpB5z+5ylpY7vmW9HeNo47n2Ic9EM4T3a9B7Qe74W/whI8cObLRB1A8Iw3sgd/hHJw7btw4cw5+l2ZmopzwrmQhZ2VEeTQJNI8AhXfz+PHsCIFoasEsgSn3YqplX+D1gwBdvXq1E497LftW7toU3uUI5fvv8I7imXHq1CnBAkkt8VAT7BPw7LPPlvVcQqyp1zSJHIX3osQBBWaLFy+WzZs3N/g70r/CG60FNnriiSeMMNbnFoRy9LxyoSawOc49dOiQdO3atXDt6MJ9XOPKlSuyYsWKkjcAjsMsSbGZSgrvfD8/stw7Cu8sW8+TtiNGEJ4q/OjiSk+alqoZLoW3epbo8U5lqqodxMWVVUPZ7AuV82hDqCHkoVTML549EFrlFlem8aQ2u0OeXSDN8w1e6h07dhQWniLeW2O/tTsQuBC64AxB3rJlS2nXrp0cPny4kFu73Dof/B022rt3bwPBHj1PF3IijSFmQYoVzIqgb5paMn4chbdnA5HNKRCg8OZgaDIBTDfiAYr4TBQ8PDFliIKHJx7cWYivS/NiajKkMidSeLvJaqKbtqTdjKNW9g/9unhmIHd03Nsa56IZh5YtW9YoKwnuIfy9lAjD9ejxXlR0uOmCRs2THT8Qf4edomJYs49EveJpxjOu1bp165KLXGErjA28Y+LiW7OiQHDr+yapXgrvNNbgMS4IUHi7oJ7TOqM5WuGlgiCHhwkvxDvvvLOwtbxv3cdU68WLF518JKjwXrhwYdFUXr7xqlZ7XIaaVKsPvE7zCMCLGl/AV+yKmnozumAO5yJU5aWXXip7/1J4FxfeYI7QjvXr18uLL75YeFYjvGTp0qXmGf7GG280CA8BT+T9joaMpBkN0bCSUsfj+niP4L+6YBbtwJhp06aNINd3ufPh+MmC8ycNNx6THwIU3vmxZc17Ak8DPAz4LzxMOtWHinW1OzyI8FDozpVjx441U5JTpkwp69WqeQeKVJA0rWqrLa6FN+z07W9/2+TMLTWtWwseLoU3PGkYxz7vqFoL5j5dM7ozoW4lXq598K5ivMJ2KHjeYG+BNCVU4Q025WKvlZ/GbyNtIAqeCeCL5330+QBBrLuF6rsgjQ0QigjbJS2+TDpfPfH6t2h7ytVHj3c5Qvy7KwIU3q7IZ7Be3WQBIhsPRPwXD13dOAcPbRXe6F509TsETnPS9SE0AC+DwYMHF+IJm4sQLwC0HdfWPOTFplqbW1ex81V4b9iwweoGPjpdq/bSvLnF4iVr0X9XwhuzMJMnTzYfjrC/vqBr0UdeszQBm7H2oQrv/9Pe2YRcUbZxfFqoYODHwgI/QBFdWKAlSupCXPQYCtomF31A0cdChJcMpXDh60KRRG1hbkxSShe1SANFa6EuUjD6gnoWiVSYgblRQUFc+Pqb3us0ZzxnZs45c+57Zu7/wIOPz5m5P37XPff5zzXXfd3c6/Q9mYlk0HFpbwnt4afoQ7uFhixatKinlIP9tFfCux9qusYFAQlvF5QbUkf6tTBfmu+991708ssvx6Ka/xNewmr4Mg4md159nj59OhodHY2L5DVz0VfTeW2gvV9++WVr9TyvWnlt6nKDDV8e73Tf8WDBmy8rV4cP4Z3uN6/SGWNZ/Wbx36DH8uXLMxcHDlq+rs8ngI2xNVlSQjp4S8D8GVrIBfc6awdC63dIY7uufZXwrqvlPLTbMpckt1ZHrF26dCl+HYm3GC9iGQvWKO/48eNdezl//vx48c3NmzczSaTz0CZPZmImttuENuLz6tWrTjOz+BTe1G2Ck99dZ6XxIbwZM7YQj7HAQ9y9e/cybW5e2SK3HOeSms0OxtaqVavi+6OoV7BIPTqndwI21ssWYowpFguS8aPoYZmgym5Lp/otRLCfjFP0iTmSeZ1+5m2gw+eWocT6aNcWZVPWefYmtkzGPMSQUKBoeFNZfVE5zSIg4d0seza2N8lJvKxwCMokdIVYRUTRli1bCm1NXSZkX8KbvhN3P3Xq1LjvtMM2Limzf1ll+RDetIcHrO3bt8cPiHfu3Ck1vt0y+/QSe+yKd+j19BJqYnZMZmfqZlMe5IrGLJsNuP9IxZflGEjaC8G3Y8eO+OHYDurloa7IG8aiMd5NGiO9hJrY/IfdOWAK26STib9jB+atXh7Gm8RUfSmHgIR3ORxVSo0JWJhFPyv0B+22L+Ft7U57/QftTy/X+xLevbRR5zaHQFHhzT3B2CSEbs2aNbEnm1AN3o4gyNKpD4uWmyaZl788eY+ypTqZjwi1ow226Q2ZPdiMJk98S3h3H8fM/4RKwpd/Edfnzp2L3wZi+7TIzvP6N+eOUU+GRUDCe1hkVW5tCOB94qcsT3ovHfctvHtpa9nn+hTeeLbs1XnZ/VJ51SRQRCAjuhYvXtza+jzdE8I18DonxViRcjsRKSK8ac/IyEh05MiRjosRLVyMh4Es8S3h3XlMWn5yNg/qFCKJx5t5Imlvzku+eajmaFerqkxAwrvK1qlZ25ic8BCQNaJOB+1Oxju7bLuEt58NdHza3OX4Ul3/EigikFl4uXHjxswF1ulzipTbr/Dm4ZSFuVkZoag/b4v1ormzmzReioSa8LDCWqKsBbcsuGfhva0Fkse7SaPET18kvP1wb0St5jW0OEg8xvwwMbHQEm8C3gFb3FLmIpcyAfoUYSELb74YWYhYNM61KTYvsx8qqziBPIFsW5Xn7cRImAfrQWx7esplAWKv2ZYsLWu3N23Mr3jf89rDebNmzcq8j/DUl5lOsDh1f2fmCW+L687a/ZLWY1cSCBg/CW9/Nm1KzRLeTbGkh37wRcWXjwlqW83O/+11LMLbXtO5TFXXCw4J715olXcusZV44iS8y2OqkroTyBPezAP79+9vi+G2vQjScb6WxYk5j3PGjBnT2mPA1oxYS2z/g2TLbC7kej5nkTN122Fzaro93XqXF7YSYqiJbcrUzeFjNkh+LzEfjR8/vm0reltQaZv5WJgJC7R54LLreYAiNKWqDibNDdUhIOFdHVvUviXJLeP5ouL1KAsWeXVb5UPC2491JLz9cA+11n6EN97tJ5988qGHQ/N62kI8mBJmx99Z8Pjnn3+2MHfbF4DxTxhJt9jsTg8CEt7FR2+evfm+SgpnSkZ4Y3N+7MCe7FdhD195diveQp0ZKgEJ71At30e/k3me+YLBU0Pe6wMHDsSv4WxislAT/m/bx+Mhksf7Yeghh5qY8P7hhx9Kyf3ey5D2+bDVSzt1bnkE8oSYhZr8+uuvrZzreKSZ25JhGumUcng5T548GaelLJrfmbqYN9mNN2uhHqL84sWLmQu/i4SkhBgegb3NC91pFMEd2yX5p8NKuC75N37/9ttvH1pwWd4oVUkhEJDwDsHKJfUxGTNnX0hsvW27VloeaJvkEebEQrrcCbKfrvoUYRLe66IzZ844fz0Ld9cbBvUzNnVNeQQQz9OmTcucj/B4svtulpOA+Q3Blszx3O/Or3mCmHbY/NSNBGUwB2fNs3n1lEe5OiXlxXjTUrjArdviVXsYSz/8hMizOpatf0skvOtvQ2c9sDy2yQmeLyo8QMkvByYlewXLFxI/u3fvrmzIiYS3syHUVpF5vK9du5abh7jsFvq0edl9UXnFCOR5vK0Uy9XdKVaXMk6fPh2HkyQPwunI+d1LfO+VK1einTt35i7KpMxO+cOZYzds2JD7oGACMx2nXoxafc8qYm8LJSIdY/rBxd5sYNdkuCTXWChlfemo5T4JSHj7pF/DuvFqp3fzYhKy8BIWU3Zapc9kVdU0gz5FmDze/jzesK9q+FMNp4bKN5m5i63d897AkdOfkBHbvZD5jPmLB0Xmt3R2kH7nD7ysLNAjHC/roD28OSQshXmW8/kb9dobxzz4IXpoOy2e7MQJ22ILuFoub2K/T5w4Ec8Pye87xPjmzZvjMZBntzyb6PNwCUh4h2t79fz/BJhMyR7gQ4RJeEt460Z0Q4B7DUGVJ7ytNXi1P/300/ia6dOnxwvFOzkPEOgI27x828le8vYQbzf5o9M7YWbRQPxz2ELOouRCFd5wysqBnuTH+Pj++++jcePGxQ9dncYJnu+9e/fG/PPSPBa1jc4Lj4CEd3g2L63HFv/GFxNbGfeax7a0hgxYUL8eqwGrjS+X8JbwLmMcqYx8Ar0K7/wS/znDQjhsH4Oi17k8L1ThDWMfDhWXtlVd9SMg4V0/m1Wmxbxue/HFF6OxY8e2FlH2EuNYlY6wUJTX0D4maAlvCe+q3AdNb8ewhHcduIUovH06VOowJtRGfwQkvP2xr33NCNWVK1e2ttut8yYNvtou4S3hXfuJoCYdkPA+WxNLldNMCe9yOKqU8glIeJfPNJgSEats+T1x4sRWmi7bpc12sawDDNuBUx5vt9ayrCa+0glqcaVbe/uuTcJbwtv3GFT9IgABCW+Ng74JmLjmXzYVYBU4X25kDmDxSZ3SV8nj3fcw6PtCCe++0enCPghIeEt49zFsdIkIlE5Awrt0pCrQsgHUabElK999tFehJgo10YzhhoCEt4S3m5GmWkQgm4CEt0bIUAiQZ7ZOeU4JkUnn5x0KmFShEt5+hLfP8CIX40p1PExAwlvCW/eFCFSBgIR3FaygNngn4DvU5D//+Y8X4e8TvM9QE/rty+Y+mYdcN8LbNksJjYOymoRmcfW3ygQkvKtsHbXNGYF169b1tJFFWQ0zjzebb9QpJr6M/vsU3j43TSqDncronQD3Fxtl9bJhTe+1VPMKCe9q2kWtCpOAhHeYdlevUwR8fTFJePsJNZHHO7wpIGThzbbn7FUQ0qF0giFZu159lfCul73U2iERkPAeEtiMYn16vCW83dvbd40hC+8Qw6okvH3fcaq/GwEJb40NEXhAwJfwBj5fEFXebtrFAIGB611PQxQjLmxZ1TpCFt6+Fo/7HAsS3j7pq+4sAhLeGh8i4Fl4YwByofM6mLSGL7zwQlA2od/kfnedzlHCO6hhFj/ghhrjHeJYl/AO6/6uU28lvOtkLbV1aAR8eryvXLkSLVy4MBaeoYlu2y3Ux66hIYqRod1ANShYwvu/NbBSeU3E3oSzuX6gL68HKqmpBCS8m2pZ9asnAr6EN/mkR0ZGoqVLl0bHjh3rqc11Pxnhu23btui3336LQ21cHxLeron7rU/COzzhjc19PNT7HemqveoEJLyrbiG1zwkBX8J7wYIF0U8//RT38cyZM87jnJ3A7VCJZXPho/nz50c8gLg+JLxdE/dbn4R3eMIbZ4aPjdH8jnTVXnUCEt5Vt5Da54SAD+FtWT2sg/PmzYs3+AjhgPe5c+daXd29e3e0ceNGp10nnl6voZ0i91qZhHd4wlseb6+3nCrvQkDCW0NDBB4Q8CG8WVR4+PDhNv4///xz9MQTTzTaJjdu3IgmT57c1scpU6ZEbGrj8vBhc5f9U13tBEIW3qFmNZHHW7NAFQlIeFfRKmqTcwI+RBgCe3R0tK2vLK5s+s56yTCTZOddh9rI4+38NvNaYcjC28f85tXYDypXVhPfFlD93QhIeGtsiEDC402sMXHXHHhmOSZNmhT/m5VrmnPtvCygyTIfeeSRh061rePx/o4dO7ZVZrJdpB4cP3589Nhjj8XXE55iXvKi19EOyrTc2ZTJYYsck/Xx+9SpU1v1JTkkr7My4QcLzuNf/k+7jh49GuF5Ywe911577aG+7927N24P5Vi78FjxO+VQFz/2GeVbXTC4d+9ey3bpNt6+fTtmlOx3iLv5hXyzS3ifDcr8Et5BmbtWnZXwrpW51NhhEUDMsdhuxYoVEQIQgfj888/H4hSxZ15a+wzRi/hNfoanGo81150/fz4Wm+nr+Iy/IQA7CW/6d//+/fiztWvXxplOLBb8hx9+aAnNadOmxYLbMoN88cUXcb3J6+wz8yTzmYV02GfWn6SYZTHS22+/3VrsyXUWf57ebTJ5Xaf67EEC7zI5lGkL/SebSfrYunVr/Bmx3zAwdvydspN1pT8zllzXqY1WZrKN/E45OsIgIOEd1ljH3sxloWWLCuNurncvJbzrbT+1viQCiLpPPvkk2rlzZ4TQQ1jbwjtEIyJ6w4YN8Wd4ThF3JnzJw/3OO+9ELBCcMWNGfN3ly5ejPXv2tK5bv359LByTZWYJbxYazp49O95Qx8rft29f3C6+UMaNGxctWbIkbgMi1j6jTj6z6w4ePBi9/vrrcbuS19EfxCjCmDJtUad5zumf5RRPXgfu5GdZ19HuW7dutbzxdh0MYNlJeFMn19A3jqTnmjZfv369rTxrP3XB3MR5uo3JMu2zEF+/l3S71LIYCe/whDc2VzrBWt6ujW60hHejzavOFSXgQ4QlUwlaO0OO8f7444/j3TtdHT5s7qpvqudhAhLeEt66L0SgCgQkvKtgBbXBOwEfIqxTVhMLq/AOZMgNIGb75s2bbbVYKM2Qq24V78PmrvqmeiS8kwRCHOsKNdEsUFUCEt5VtYza5ZSAjwwX6TzedJjYcAuzcArAcWXr1q2LQ1bsmD59ehxS4/IIUYy45Fu1uiwsq+lZgzpxD3GsY2/mGIWaVO1OVHskvDUGROABAR9fTJa9w3autIWIIRjEFkdaX21hqsu++7C5y/6prnYCLJTesWNH49N1Snj/QwB7s7BSwlszQdUISHhXzSJqjxcCvkQYXw5PPfVU3GfXeay9gE5UaossLXuL6/b4srnrfqq+f4WYhHc4o4G5lexUylwUjs3r0lMJ77pYSu0cKgEfoSZ0iEwdCxcujDOPhOaZ4TUw3Nmt03KSD9XIqcIlvF3S9l+XFlee9W8Ehy2wjCYS3g6hq6pCBCS8C2HSSU0ngOh1LXzxyLDAkvzbruv2bU/6i/A+cuRIa9Mb122S8HZNfLD6yJm/a9eu6MSJE62NngjXmjt3bvT++++3/tatFgnvfOENT+5J7k3bFIx/mafwHrs+CBXZsmVLNGbMmHgTLduA7M0334wf2rMOCW/X1lJ9RQlIeBclpfMaTcCH8KZO0gda7uxGA051zgfvNF8WeIa40K6O44yFcmxu9e6770bkuE8e5K4n/37emxPLxR+izYs+ZHIeb59sXwA4GzcWPx8/ftzZ2yl7OD916lS8D4EdjIU33ngjevrpp1v7InQa05yHOJfHu453fLPbLOHdbPuqdwUJ+BSCxDo/+uijTnNYF8Qy1NP4Yly9enW8uxxef9cHdWpXO9fU+6sPQYjXtVued1tEx1ukbocWV57NhI9IvX37dnTo0KGO5zFH2oLF/qxY/CqbGxDNM2fO7Hgh+yDQpm5zB29IGC8S3sW560w3BCS83XBWLRUn4FN4s4PlxIkTW69RK46qtObhSXv88cfj3UB9hNrwpdxNZJTWSRU0MIGiIQPYc9GiRV1DEAhTeOutt4J8y5Hn8UakLl68OPZuZx0WcoLoHebBQ8CcOXMyw1uKCOu8fg+zDypbBLoRkPDW2BCBBwR8C2+McP/+/eBswUOHL+GtL+V6DDdCSyZMmND2cMZbort377aFnRCXzE9WKAkhC67zxVeBct5Yh+fly5cjwnayDvjijR72gzLzwrVr11phLZaDnbkiGZrHed3mTYWaVGHkqQ2dCEh4a1yIQAWEd4gebwaeT+Ht82FLN93DBHj7kHwDgRhEZBGLv379+jjXvh2EFxBvnBRdRRZPhhrXnye8uRdgzZqTrAPG9gaC8J5kaE8/61Wol/JYODl27NjWItm0oLa0q3v37m3zgmf1q4hHXPehCPggIOHtg7rqrBwBnyIs1FAT38JbMd6Vuw07NggBfv369TYvK+sCLl261La4DiF49OjRTI834hJPaGhHnvDmgQehmufJNrGdd96gfLFTMuMRYULLli1ry2hDHYS8ZMX1530+aDt1vQj0Q0DCux9quqZxBHwLb4Aq1MTtsPJpc7c9rXdthIaQ6z4v/hhv9ttvvx0tWbKka4ezQhPqTSm79Xmefh5GnnvuudwwHGKv8Wwn3z4MgxvhRYQS8dDV7bDwk6zQorwHjmG0XWWKQB4BCe88Qvo8CALkqMWL5uNADEh4/9c5eglv58j7rpBFfZbZpFMhRXcpDFV4F3m7gzifN29eV683ISG2EyShIcM8eMhisSce9k4LOfl8ZGQkM6sJ7ZPwHqaVVHa/BCS8+yWn6xpFwOcEzYKvP//8Ux5vxyNKwtsx8AGqQ2iRx3vlypVxLu/kTqcsCDx48GB05syZ3BzToQrvIvObvVnolCsd0Q1/GA/b223DhDp5GCCWP/kWgwWeeMSL7PZbpN8DDEtdKgJ9EZDw7gubLmoaAZ8TNF8uv/76a2asYtN4W3+0uLKpli2/X7ar4oEDB+LFeBwW+7tp06bcnSs5P1ThXTR1JnHemzdvji5evBh7mvnB60wubbzdrkR3Unzv378/bg9tsN00LeQlb5T5nNfz2qbPwyUg4R2u7dXzBAGfEzQLiUZHR+Xxdjwii4oRx81SdUMkEKrw7ieUDhHOj2uxXZb5EemE2GgDnbKIqpyyCEh4l0VS5dSagE/hrVATPxvo5C04q/WAVuM7ErD80Dzojhs3Ls4PbnmhCWdJhrBYASziS+aOThZsGVKyPp8yZUp07ty5OH7afrcy+D8/XE8IRaeDz62t6euLmplFimyxnrXwtGhZdTgPlrYYV8K7DhYLq40S3mHZW73tQsCn8EYA8kWhrCZuh6dPm7vtqWozApaaUETqQYDwErzu/R6EynTbUr7fMnWdCAxKQMJ7UIK6vhEEfIowCW8/Hm+FmjTi1h1aJ/laZcMAAAsQSURBVPCYnjx5siX8qiDikpvWIEpXrVqVu6B0aIAaVrCxJUMOtoYvc4QOESibgIR32URVXi0JSHj7MZvPxZUs0MrKE+yHiGqtAgHeQPFAvHz58ohxQsYPMqdwnDp1KiI8zOVB/eTZJtRkzZo1cegJbSSExWWmEZd9dlUXbF955ZV4kyYypWBb3/Z21XfV44eAhLcf7qq1YgQkvP0YxKfw9mlzP7RVaxEC7OJITn92TkzHbvPZrl272nZVLFLmIOfggX3ppZei7du3PxQ2QYw5DwZFs3wM0o4mXmtZcRYtWhRh2/TBONixY0crq0oTGahP7glIeLtnrhorSMCnCFOoiZ9QE582r+AtoCY9IGAbtyB2u20Sw2I9QhDSscf8n/CEQY5OZRD2gADsll0E8Th37lyJwz7AY8c7d+5EWbtf8lBz+/btNmFOWIpix/sArktiAhLeGggi8ICATxEm4S3hrZuwGgTYjOfy5cu5IUjcs2ydzo8dZWzIlC6DcBKEfl5IFO2+detW110nq0G3eq0gi813332XGzqUTkOpMLXq2bJOLZLwrpO11NahEZDwHhrazIIVauKHu2rtTABBvX79+tzc1Xigp02bFgtvvJ9ff/119M0338SecHJm93Mguilr2bJlEaEPlMXf0os6EeL8PZkmD089bVfqvN7IF5338W4TinL16tWIDZz4nfAfs1Nvters0AlIeIc+AtT/mEDRCXgYuEL3eCNesl71DoO5b5sPq08qdzACRYU3ApcdFRm3/P79999HX3755UCx1ni38WyzeJKc28xJndpz4cKFaOnSpQ+lH1Ve+t5tTwy/5WLPuhq2+/btizPI2EMOXm8W33bK/d57S3RFSAQkvEOytvralYCEt5/Bgcd77dq1safP9eHT5q77qvqKEcCTzGH/drsKrzaeaRehJnjS8bDb0cm7jWhHQOa1uxiFcM4iJv/EiRNdN0gyEul84tij3zcb4dBVT7sRkPDW2BCBBwTKWBjVL8jQPd5bt/qJ8dYCqX5HbHOvQ9SOjIzEXuxuiyvtnK+++mro3k5b7JklDi0zB1lYCEvRUZwA4pkwoSyvN28hOMeHc6B4T3RmnQhIeNfJWmrr0AhkbQs9tEr/X7CEtx/hjZfwmWeeyV1YNWz7q/xqEcjzenO/sv27K+8yDwHkmWYRYKewBkIeyEHtI1yrWpbrvTU82CxcuDDO393JnrBfsWJF9PPPP+d6xXuvXVeESkDCO1TL17DfiONvv/221N3EmHjfeuutOA3YX3/9FU2dOrXtta4LTL6Et/Udjxk/eH9c79TmY3GlvarHO3jv3r14UxJXIsrFeFIdgxOwdIH8S0jS+PHj410sWVTH/12PF7yuLOqjPebV5i0dOcWfffZZ53PW4ISrU4LNB7zhYMEk8wEHohsvd1Yqx+r0Qi2pEwEJ7zpZK8C22uTHBPjHH3/EBFjkgpfHDkQjeXe7Hd3y33I+X6DJrYFNfA7jlW3Sq06/qIMvT+pM7kDXKTMBXwr00w76ZH1O/j3NgL6RgxaBmb4ehnxpWz5ai3mmTekcxWUOPQvrwUtnuwN2EzLW5m6v/ZPtsgcI+szv1DNmzJg4+4RdbzmRk5ki8raOpxwEF+0lq0EW7yxOPgRbmXYLrSzuV0IMuM8effTRaM6cOfG9Mmiu7n45Mu4Yh8l7gvs3vclPv+WHfh3zbnLuxc7Yu8jcEzo79b83AhLevfHS2Y4I8KWHKBsdHR24xqwtlTdu3BgtWbKktUgKzxJfZGzJ/MYbb8T1T58+PT6HA+8If8sS8wM32EEBxFVv27attVLfHkIQwIRg8JN14BVKLk6cPXt2LUI2yEKwc+fOOHOE2TAvJy9jEVYc9JuxYeOhE6M0P64hRZ1tR+3AvKpCBERABESgogQkvCtqGDXrn1d9RQ48Evz044mycAs8G3i1EN5F6y3Stiqfg0Bk0damTZtiby6vVENYQGSvlnnTgAf70qVLpb6qt50NGVP81P0hrcpjWG0TAREQgboRkPCum8XU3tIJIMQI9eAILS+reWfxyuIFDyUnbdLmyZRwpQ8uFSgCIiACIiACCQIS3hoOIiACIiACIiACIiACIuCAgIS3A8iqQgREQAREQAREQAREQAQkvDUGREAEREAEREAEREAERMABAQlvB5BVhQiIgAiIgAiIgAiIgAhIeGsMiIAIiIAIiIAIiIAIiIADAhLeDiCrChEQAREQAREQAREQARGQ8NYYEAEREAEREAEREAEREAEHBCS8HUBWFdUnwEYnbCPebevy6veg/xayQ+jSpUvjretDOmwLd21wE5LV1VcREAER8EtAwtsvf9VeEQKILzaP+eyzzyrSInfNQHjPmzcvuIcObM528dpAx91YU00iIAIiEDoBCe/QR4D6HxOQ8Jbw1q0gAiIgAiIgAsMmIOE9bMIqvxYECDEZHR2Vx7sW1iqnkfJ4l8NRpYiACIiACBQnIOFdnJXObDABCW95vBs8vNU1ERABERCBihCQ8K6IIdQMvwTSwvvvv/+Ozp8/H7HosulHOsb7xo0b0dmzZxvf97TH+/fff4/7/eqrrzbd5OqfCIiACIiAJwIS3p7Aq9pqEUgL7ytXrkSvvPJKLMSafqSFNw8d/K3pfe8UasI4CDGzTdPHuPonAiIgAlUhIOFdFUuoHV4JdAo1wfN56NAhr+1yUXmnrCZ4+o8dO+aiem91dBLeIfTbG3BVLAIiIAIiEEl4axCIwAMCnYR3KCLMPLxJTy85vT/44INGjw0J70abV50TAREQgUoSkPCupFnUKNcEOgnvUMIOPv/88+iXX35pC7FAlDY91ARPPzm8k3m8Q+i363tL9YmACIiACPxLQMJbo0EEAvd4dxLeITx00McnnniiJbxZVEp4jRZXakoQAREQAREYFgEJ72GRVbm1IsAOhtevX4/zeOP93bZtW6v9Td/NcuPGjdGECRNaHm88wSywvHv3bvTRRx/F4rSJRzLU5MKFC9HevXtb3dy6dWtj+91EW6pPIiACIlAXAhLedbGU2jk0AsQzs4hyZGSkbQMdPKD8zJw5c2h1+y540qRJ0c2bN6O1a9e2Lab88ccf474jTpt4WL95qEqGmuDxnjNnjkR3E42uPomACIhABQhIeFfACGqCXwKEFhw+fDgWYEnvNqKTnyanl2MB6fHjxx8S3gsWLIjmzp3b2J08rd9J4W0PWQcOHGgT435Hp2oXAREQARFoEgEJ7yZZU33piwAxzrbQzoT3nj17ooMHD8YCrMnC+8MPP4w2bNgQEVph/bSY79HR0cYKb+t3Unhb/5Nx330NKF0kAiIgAiIgAl0ISHhraARPAE/n5MmTWx5vdjBcvXp1/H8+a3JaPfo6a9asNuFNaA0eb3buvHjxYiNDbazfSeFNnwlBeeyxxxr7wBH8zS4AIiACIuCZgIS3ZwOo+moQIPRg7NixseAysU2cM0fTN5IxD695fOk3qQTpNz+I0SYeCO0tW7a0wkroM7H+PHg0+S1HE22pPomACIhAXQhIeNfFUmrnUAkQenDu3Lk2TyfZTch00tQFhgaUsJpbt261iU3LajJjxoyhcvdZeDqdIG3B5mR4aXK/fTJX3SIgAiIQOgEJ79BHgPofE8DLffXq1WCzWdD/pnq2uw3xEPus210EREAERMAvAQlvv/xVuwiIgAiIgAiIgAiIQCAEJLwDMbS6KQIiIAIiIAIiIAIi4JeAhLdf/qpdBERABERABERABEQgEAIS3oEYWt0UAREQAREQAREQARHwS+B/uFf2CdSAtlcAAAAASUVORK5CYII="/>
          <p:cNvSpPr>
            <a:spLocks noChangeAspect="1" noChangeArrowheads="1"/>
          </p:cNvSpPr>
          <p:nvPr/>
        </p:nvSpPr>
        <p:spPr bwMode="auto">
          <a:xfrm>
            <a:off x="155575" y="-2613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cxnSp>
        <p:nvCxnSpPr>
          <p:cNvPr id="11" name="Straight Arrow Connector 10"/>
          <p:cNvCxnSpPr/>
          <p:nvPr/>
        </p:nvCxnSpPr>
        <p:spPr>
          <a:xfrm>
            <a:off x="4139952" y="3717032"/>
            <a:ext cx="864096" cy="840080"/>
          </a:xfrm>
          <a:prstGeom prst="straightConnector1">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zo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idx="1"/>
          </p:nvPr>
        </p:nvSpPr>
        <p:spPr bwMode="auto">
          <a:xfrm>
            <a:off x="755650" y="1412776"/>
            <a:ext cx="7856538" cy="5113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pPr marL="0" indent="0">
              <a:lnSpc>
                <a:spcPct val="120000"/>
              </a:lnSpc>
              <a:buNone/>
            </a:pPr>
            <a:r>
              <a:rPr lang="en-US" altLang="zh-CN" sz="2400" b="1" dirty="0">
                <a:ea typeface="宋体" panose="02010600030101010101" pitchFamily="2" charset="-122"/>
              </a:rPr>
              <a:t>Symbols of point groups can be gained by abbreviated international symbols (HM) of space groups</a:t>
            </a:r>
            <a:endParaRPr lang="en-US" altLang="zh-CN" sz="2400" b="1" dirty="0">
              <a:cs typeface="Times New Roman" panose="02020603050405020304" pitchFamily="18" charset="0"/>
            </a:endParaRPr>
          </a:p>
          <a:p>
            <a:pPr marL="457200" indent="-457200">
              <a:lnSpc>
                <a:spcPct val="120000"/>
              </a:lnSpc>
              <a:buAutoNum type="arabicPeriod"/>
            </a:pPr>
            <a:r>
              <a:rPr lang="en-US" altLang="zh-CN" sz="2200" dirty="0">
                <a:ea typeface="宋体" panose="02010600030101010101" pitchFamily="2" charset="-122"/>
              </a:rPr>
              <a:t>Remove symbol of </a:t>
            </a:r>
            <a:r>
              <a:rPr lang="en-US" altLang="zh-CN" sz="2200" dirty="0" err="1">
                <a:ea typeface="宋体" panose="02010600030101010101" pitchFamily="2" charset="-122"/>
              </a:rPr>
              <a:t>Bravais</a:t>
            </a:r>
            <a:r>
              <a:rPr lang="en-US" altLang="zh-CN" sz="2200" dirty="0">
                <a:ea typeface="宋体" panose="02010600030101010101" pitchFamily="2" charset="-122"/>
              </a:rPr>
              <a:t> Lattice</a:t>
            </a:r>
          </a:p>
          <a:p>
            <a:pPr marL="457200" indent="-457200">
              <a:lnSpc>
                <a:spcPct val="120000"/>
              </a:lnSpc>
              <a:buAutoNum type="arabicPeriod"/>
            </a:pPr>
            <a:r>
              <a:rPr lang="en-US" altLang="zh-CN" sz="2200" dirty="0">
                <a:ea typeface="宋体" panose="02010600030101010101" pitchFamily="2" charset="-122"/>
              </a:rPr>
              <a:t>Keep mirror plane, transform glide plane into mirror plane</a:t>
            </a:r>
          </a:p>
          <a:p>
            <a:pPr marL="457200" indent="-457200">
              <a:lnSpc>
                <a:spcPct val="120000"/>
              </a:lnSpc>
              <a:buAutoNum type="arabicPeriod"/>
            </a:pPr>
            <a:r>
              <a:rPr lang="en-US" altLang="zh-CN" sz="2200" dirty="0">
                <a:ea typeface="宋体" panose="02010600030101010101" pitchFamily="2" charset="-122"/>
              </a:rPr>
              <a:t>Keep rotation axis, transform screw axis into rotation axis.</a:t>
            </a:r>
            <a:endParaRPr lang="zh-CN" altLang="en-US" sz="2200" dirty="0">
              <a:ea typeface="宋体" panose="02010600030101010101" pitchFamily="2" charset="-122"/>
            </a:endParaRPr>
          </a:p>
          <a:p>
            <a:pPr>
              <a:lnSpc>
                <a:spcPct val="120000"/>
              </a:lnSpc>
              <a:buFont typeface="Wingdings" panose="05000000000000000000" pitchFamily="2" charset="2"/>
              <a:buNone/>
            </a:pPr>
            <a:endParaRPr lang="en-US" altLang="zh-CN" sz="2200" dirty="0">
              <a:ea typeface="宋体" panose="02010600030101010101" pitchFamily="2" charset="-122"/>
            </a:endParaRPr>
          </a:p>
          <a:p>
            <a:pPr>
              <a:lnSpc>
                <a:spcPct val="120000"/>
              </a:lnSpc>
              <a:buFont typeface="Wingdings" panose="05000000000000000000" pitchFamily="2" charset="2"/>
              <a:buNone/>
            </a:pPr>
            <a:r>
              <a:rPr lang="en-US" altLang="zh-CN" sz="2200" dirty="0" err="1">
                <a:ea typeface="宋体" panose="02010600030101010101" pitchFamily="2" charset="-122"/>
              </a:rPr>
              <a:t>Eg</a:t>
            </a:r>
            <a:r>
              <a:rPr lang="zh-CN" altLang="en-US" sz="2200" dirty="0">
                <a:ea typeface="宋体" panose="02010600030101010101" pitchFamily="2" charset="-122"/>
              </a:rPr>
              <a:t>：</a:t>
            </a:r>
          </a:p>
          <a:p>
            <a:pPr marL="0" indent="0">
              <a:lnSpc>
                <a:spcPct val="120000"/>
              </a:lnSpc>
              <a:buNone/>
            </a:pPr>
            <a:r>
              <a:rPr lang="en-US" altLang="zh-CN" sz="2200" dirty="0">
                <a:ea typeface="宋体" panose="02010600030101010101" pitchFamily="2" charset="-122"/>
              </a:rPr>
              <a:t>	</a:t>
            </a:r>
            <a:r>
              <a:rPr lang="en-US" altLang="zh-CN" sz="2200" dirty="0" err="1">
                <a:ea typeface="宋体" panose="02010600030101010101" pitchFamily="2" charset="-122"/>
              </a:rPr>
              <a:t>Pnma</a:t>
            </a:r>
            <a:r>
              <a:rPr lang="en-US" altLang="zh-CN" sz="2200" dirty="0">
                <a:ea typeface="宋体" panose="02010600030101010101" pitchFamily="2" charset="-122"/>
              </a:rPr>
              <a:t> </a:t>
            </a:r>
            <a:r>
              <a:rPr lang="en-US" altLang="zh-CN" sz="2200" dirty="0">
                <a:ea typeface="宋体" panose="02010600030101010101" pitchFamily="2" charset="-122"/>
                <a:sym typeface="Wingdings" panose="05000000000000000000" pitchFamily="2" charset="2"/>
              </a:rPr>
              <a:t> </a:t>
            </a:r>
            <a:r>
              <a:rPr lang="en-US" altLang="zh-CN" sz="2200" dirty="0">
                <a:ea typeface="宋体" panose="02010600030101010101" pitchFamily="2" charset="-122"/>
              </a:rPr>
              <a:t>Point group = mmm</a:t>
            </a:r>
            <a:br>
              <a:rPr lang="en-US" altLang="zh-CN" sz="2200" dirty="0">
                <a:ea typeface="宋体" panose="02010600030101010101" pitchFamily="2" charset="-122"/>
              </a:rPr>
            </a:br>
            <a:r>
              <a:rPr lang="en-US" altLang="zh-CN" sz="2200" dirty="0">
                <a:ea typeface="宋体" panose="02010600030101010101" pitchFamily="2" charset="-122"/>
              </a:rPr>
              <a:t>	I</a:t>
            </a:r>
            <a:r>
              <a:rPr lang="en-US" altLang="zh-CN" sz="2200" dirty="0">
                <a:ea typeface="宋体" panose="02010600030101010101" pitchFamily="2" charset="-122"/>
                <a:sym typeface="Symbol" panose="05050102010706020507"/>
              </a:rPr>
              <a:t>4</a:t>
            </a:r>
            <a:r>
              <a:rPr lang="en-US" altLang="zh-CN" sz="2200" dirty="0">
                <a:ea typeface="宋体" panose="02010600030101010101" pitchFamily="2" charset="-122"/>
              </a:rPr>
              <a:t>c2 </a:t>
            </a:r>
            <a:r>
              <a:rPr lang="en-US" altLang="zh-CN" sz="2200" dirty="0">
                <a:ea typeface="宋体" panose="02010600030101010101" pitchFamily="2" charset="-122"/>
                <a:sym typeface="Wingdings" panose="05000000000000000000" pitchFamily="2" charset="2"/>
              </a:rPr>
              <a:t></a:t>
            </a:r>
            <a:r>
              <a:rPr lang="en-US" altLang="zh-CN" sz="2200" dirty="0">
                <a:ea typeface="宋体" panose="02010600030101010101" pitchFamily="2" charset="-122"/>
              </a:rPr>
              <a:t> Point group = </a:t>
            </a:r>
            <a:r>
              <a:rPr lang="en-US" altLang="zh-CN" sz="2200" dirty="0">
                <a:ea typeface="宋体" panose="02010600030101010101" pitchFamily="2" charset="-122"/>
                <a:sym typeface="Symbol" panose="05050102010706020507"/>
              </a:rPr>
              <a:t> 4</a:t>
            </a:r>
            <a:r>
              <a:rPr lang="en-US" altLang="zh-CN" sz="2200" dirty="0">
                <a:ea typeface="宋体" panose="02010600030101010101" pitchFamily="2" charset="-122"/>
              </a:rPr>
              <a:t>m2</a:t>
            </a:r>
            <a:br>
              <a:rPr lang="en-US" altLang="zh-CN" sz="2200" dirty="0">
                <a:ea typeface="宋体" panose="02010600030101010101" pitchFamily="2" charset="-122"/>
              </a:rPr>
            </a:br>
            <a:r>
              <a:rPr lang="en-US" altLang="zh-CN" sz="2200" dirty="0">
                <a:ea typeface="宋体" panose="02010600030101010101" pitchFamily="2" charset="-122"/>
              </a:rPr>
              <a:t>	P4</a:t>
            </a:r>
            <a:r>
              <a:rPr lang="en-US" altLang="zh-CN" sz="2200" baseline="-25000" dirty="0">
                <a:ea typeface="宋体" panose="02010600030101010101" pitchFamily="2" charset="-122"/>
              </a:rPr>
              <a:t>2</a:t>
            </a:r>
            <a:r>
              <a:rPr lang="en-US" altLang="zh-CN" sz="2200" dirty="0">
                <a:ea typeface="宋体" panose="02010600030101010101" pitchFamily="2" charset="-122"/>
              </a:rPr>
              <a:t>/n </a:t>
            </a:r>
            <a:r>
              <a:rPr lang="en-US" altLang="zh-CN" sz="2200" dirty="0">
                <a:ea typeface="宋体" panose="02010600030101010101" pitchFamily="2" charset="-122"/>
                <a:sym typeface="Wingdings" panose="05000000000000000000" pitchFamily="2" charset="2"/>
              </a:rPr>
              <a:t></a:t>
            </a:r>
            <a:r>
              <a:rPr lang="en-US" altLang="zh-CN" sz="2200" dirty="0">
                <a:ea typeface="宋体" panose="02010600030101010101" pitchFamily="2" charset="-122"/>
              </a:rPr>
              <a:t> Point group = 4/m</a:t>
            </a:r>
          </a:p>
        </p:txBody>
      </p:sp>
      <p:sp>
        <p:nvSpPr>
          <p:cNvPr id="757763" name="Text Box 3"/>
          <p:cNvSpPr txBox="1">
            <a:spLocks noChangeArrowheads="1"/>
          </p:cNvSpPr>
          <p:nvPr/>
        </p:nvSpPr>
        <p:spPr bwMode="auto">
          <a:xfrm>
            <a:off x="179388" y="188913"/>
            <a:ext cx="871309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CN" sz="2800" dirty="0">
                <a:latin typeface="+mn-lt"/>
                <a:ea typeface="黑体" panose="02010609060101010101" pitchFamily="49" charset="-122"/>
              </a:rPr>
              <a:t>6. From space group symbols to (back stepping) International symbols (HM) of point groups</a:t>
            </a:r>
            <a:endParaRPr lang="zh-CN" altLang="en-US" sz="2800" dirty="0">
              <a:latin typeface="+mn-lt"/>
              <a:ea typeface="黑体" panose="02010609060101010101" pitchFamily="49" charset="-122"/>
            </a:endParaRPr>
          </a:p>
        </p:txBody>
      </p:sp>
    </p:spTree>
  </p:cSld>
  <p:clrMapOvr>
    <a:masterClrMapping/>
  </p:clrMapOvr>
  <p:transition spd="med">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7" name="Rectangle 3"/>
          <p:cNvSpPr>
            <a:spLocks noGrp="1" noChangeArrowheads="1"/>
          </p:cNvSpPr>
          <p:nvPr>
            <p:ph idx="1"/>
          </p:nvPr>
        </p:nvSpPr>
        <p:spPr bwMode="auto">
          <a:xfrm>
            <a:off x="251520" y="980728"/>
            <a:ext cx="8540750" cy="547260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pPr marL="0" indent="0" algn="just">
              <a:buNone/>
            </a:pPr>
            <a:r>
              <a:rPr lang="en-US" altLang="zh-CN" sz="2400" dirty="0"/>
              <a:t>    To describe crystal structures, it is needed to determine the coordinates of an atom in each set of equivalent point systems in unit cells, then the position of other atoms in equivalent point systems can be derived from symmetry operations of space group.</a:t>
            </a:r>
            <a:endParaRPr lang="zh-CN" altLang="zh-CN" sz="2400" dirty="0"/>
          </a:p>
          <a:p>
            <a:pPr>
              <a:lnSpc>
                <a:spcPct val="145000"/>
              </a:lnSpc>
            </a:pPr>
            <a:r>
              <a:rPr lang="en-US" altLang="zh-CN" sz="2400" dirty="0">
                <a:ea typeface="黑体" panose="02010609060101010101" pitchFamily="49" charset="-122"/>
              </a:rPr>
              <a:t>Asymmetry unit</a:t>
            </a:r>
            <a:r>
              <a:rPr lang="zh-CN" altLang="en-US" sz="2400" dirty="0">
                <a:ea typeface="黑体" panose="02010609060101010101" pitchFamily="49" charset="-122"/>
              </a:rPr>
              <a:t>：</a:t>
            </a:r>
            <a:r>
              <a:rPr lang="en-US" altLang="zh-CN" sz="2400" dirty="0"/>
              <a:t>Through all symmetrical operations (translation + point symmetry operation) of one space group, the minimum space area, able to fill entire space, is called asymmetry unit. In crystallography, an asymmetric unit may contain an atom or a group of atoms (or molecules).</a:t>
            </a:r>
            <a:endParaRPr lang="zh-CN" altLang="zh-CN" sz="2400" dirty="0"/>
          </a:p>
          <a:p>
            <a:pPr marL="0" indent="0">
              <a:lnSpc>
                <a:spcPct val="145000"/>
              </a:lnSpc>
              <a:buNone/>
            </a:pPr>
            <a:r>
              <a:rPr lang="en-US" altLang="zh-CN" sz="2400" dirty="0">
                <a:ea typeface="黑体" panose="02010609060101010101" pitchFamily="49" charset="-122"/>
              </a:rPr>
              <a:t>	</a:t>
            </a:r>
            <a:endParaRPr lang="zh-CN" altLang="en-US" sz="2400" dirty="0">
              <a:ea typeface="黑体" panose="02010609060101010101" pitchFamily="49" charset="-122"/>
            </a:endParaRPr>
          </a:p>
        </p:txBody>
      </p:sp>
      <p:sp>
        <p:nvSpPr>
          <p:cNvPr id="2" name="TextBox 1"/>
          <p:cNvSpPr txBox="1"/>
          <p:nvPr/>
        </p:nvSpPr>
        <p:spPr>
          <a:xfrm>
            <a:off x="467544" y="304066"/>
            <a:ext cx="7992888" cy="584775"/>
          </a:xfrm>
          <a:prstGeom prst="rect">
            <a:avLst/>
          </a:prstGeom>
          <a:noFill/>
        </p:spPr>
        <p:txBody>
          <a:bodyPr wrap="square" rtlCol="0">
            <a:spAutoFit/>
          </a:bodyPr>
          <a:lstStyle/>
          <a:p>
            <a:r>
              <a:rPr lang="en-US" altLang="zh-CN" sz="3200" dirty="0">
                <a:latin typeface="+mn-lt"/>
                <a:ea typeface="黑体" panose="02010609060101010101" pitchFamily="49" charset="-122"/>
              </a:rPr>
              <a:t>7. Asymmetry unit</a:t>
            </a:r>
            <a:endParaRPr lang="zh-CN" altLang="en-US" sz="3200" dirty="0">
              <a:latin typeface="+mn-lt"/>
              <a:ea typeface="黑体" panose="02010609060101010101" pitchFamily="49" charset="-122"/>
            </a:endParaRPr>
          </a:p>
        </p:txBody>
      </p:sp>
      <p:sp>
        <p:nvSpPr>
          <p:cNvPr id="4" name="Rectangle 3"/>
          <p:cNvSpPr/>
          <p:nvPr/>
        </p:nvSpPr>
        <p:spPr>
          <a:xfrm>
            <a:off x="611560" y="5733256"/>
            <a:ext cx="7992888" cy="627864"/>
          </a:xfrm>
          <a:prstGeom prst="rect">
            <a:avLst/>
          </a:prstGeom>
        </p:spPr>
        <p:txBody>
          <a:bodyPr wrap="square">
            <a:spAutoFit/>
          </a:bodyPr>
          <a:lstStyle/>
          <a:p>
            <a:pPr>
              <a:lnSpc>
                <a:spcPct val="145000"/>
              </a:lnSpc>
            </a:pPr>
            <a:r>
              <a:rPr lang="en-US" altLang="zh-CN" sz="2400" dirty="0">
                <a:latin typeface="+mn-lt"/>
                <a:ea typeface="黑体" panose="02010609060101010101" pitchFamily="49" charset="-122"/>
                <a:cs typeface="Times New Roman" panose="02020603050405020304" pitchFamily="18" charset="0"/>
              </a:rPr>
              <a:t>Asymmetry unit maybe less than primitive cell and unit cell</a:t>
            </a:r>
            <a:endParaRPr lang="zh-CN" altLang="en-US" sz="2400" dirty="0">
              <a:latin typeface="+mn-lt"/>
              <a:ea typeface="黑体" panose="02010609060101010101" pitchFamily="49" charset="-122"/>
              <a:cs typeface="Times New Roman" panose="02020603050405020304" pitchFamily="18" charset="0"/>
            </a:endParaRPr>
          </a:p>
        </p:txBody>
      </p:sp>
    </p:spTree>
  </p:cSld>
  <p:clrMapOvr>
    <a:masterClrMapping/>
  </p:clrMapOvr>
  <p:transition spd="med">
    <p:zo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ChangeArrowheads="1"/>
          </p:cNvSpPr>
          <p:nvPr/>
        </p:nvSpPr>
        <p:spPr bwMode="auto">
          <a:xfrm>
            <a:off x="682873" y="1412776"/>
            <a:ext cx="7849567" cy="4019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lgn="l">
              <a:defRPr>
                <a:solidFill>
                  <a:schemeClr val="tx1"/>
                </a:solidFill>
                <a:latin typeface="Arial" panose="020B0604020202020204" pitchFamily="34" charset="0"/>
                <a:ea typeface="ˎ̥"/>
                <a:cs typeface="ˎ̥"/>
              </a:defRPr>
            </a:lvl1pPr>
            <a:lvl2pPr algn="l">
              <a:defRPr>
                <a:solidFill>
                  <a:schemeClr val="tx1"/>
                </a:solidFill>
                <a:latin typeface="Arial" panose="020B0604020202020204" pitchFamily="34" charset="0"/>
                <a:ea typeface="ˎ̥"/>
                <a:cs typeface="ˎ̥"/>
              </a:defRPr>
            </a:lvl2pPr>
            <a:lvl3pPr algn="l">
              <a:defRPr>
                <a:solidFill>
                  <a:schemeClr val="tx1"/>
                </a:solidFill>
                <a:latin typeface="Arial" panose="020B0604020202020204" pitchFamily="34" charset="0"/>
                <a:ea typeface="ˎ̥"/>
                <a:cs typeface="ˎ̥"/>
              </a:defRPr>
            </a:lvl3pPr>
            <a:lvl4pPr algn="l">
              <a:defRPr>
                <a:solidFill>
                  <a:schemeClr val="tx1"/>
                </a:solidFill>
                <a:latin typeface="Arial" panose="020B0604020202020204" pitchFamily="34" charset="0"/>
                <a:ea typeface="ˎ̥"/>
                <a:cs typeface="ˎ̥"/>
              </a:defRPr>
            </a:lvl4pPr>
            <a:lvl5pPr algn="l">
              <a:defRPr>
                <a:solidFill>
                  <a:schemeClr val="tx1"/>
                </a:solidFill>
                <a:latin typeface="Arial" panose="020B0604020202020204" pitchFamily="34" charset="0"/>
                <a:ea typeface="ˎ̥"/>
                <a:cs typeface="ˎ̥"/>
              </a:defRPr>
            </a:lvl5pPr>
            <a:lvl6pPr fontAlgn="base">
              <a:spcBef>
                <a:spcPct val="0"/>
              </a:spcBef>
              <a:spcAft>
                <a:spcPct val="0"/>
              </a:spcAft>
              <a:defRPr>
                <a:solidFill>
                  <a:schemeClr val="tx1"/>
                </a:solidFill>
                <a:latin typeface="Arial" panose="020B0604020202020204" pitchFamily="34" charset="0"/>
                <a:ea typeface="ˎ̥"/>
                <a:cs typeface="ˎ̥"/>
              </a:defRPr>
            </a:lvl6pPr>
            <a:lvl7pPr fontAlgn="base">
              <a:spcBef>
                <a:spcPct val="0"/>
              </a:spcBef>
              <a:spcAft>
                <a:spcPct val="0"/>
              </a:spcAft>
              <a:defRPr>
                <a:solidFill>
                  <a:schemeClr val="tx1"/>
                </a:solidFill>
                <a:latin typeface="Arial" panose="020B0604020202020204" pitchFamily="34" charset="0"/>
                <a:ea typeface="ˎ̥"/>
                <a:cs typeface="ˎ̥"/>
              </a:defRPr>
            </a:lvl7pPr>
            <a:lvl8pPr fontAlgn="base">
              <a:spcBef>
                <a:spcPct val="0"/>
              </a:spcBef>
              <a:spcAft>
                <a:spcPct val="0"/>
              </a:spcAft>
              <a:defRPr>
                <a:solidFill>
                  <a:schemeClr val="tx1"/>
                </a:solidFill>
                <a:latin typeface="Arial" panose="020B0604020202020204" pitchFamily="34" charset="0"/>
                <a:ea typeface="ˎ̥"/>
                <a:cs typeface="ˎ̥"/>
              </a:defRPr>
            </a:lvl8pPr>
            <a:lvl9pPr fontAlgn="base">
              <a:spcBef>
                <a:spcPct val="0"/>
              </a:spcBef>
              <a:spcAft>
                <a:spcPct val="0"/>
              </a:spcAft>
              <a:defRPr>
                <a:solidFill>
                  <a:schemeClr val="tx1"/>
                </a:solidFill>
                <a:latin typeface="Arial" panose="020B0604020202020204" pitchFamily="34" charset="0"/>
                <a:ea typeface="ˎ̥"/>
                <a:cs typeface="ˎ̥"/>
              </a:defRPr>
            </a:lvl9pPr>
          </a:lstStyle>
          <a:p>
            <a:pPr marL="0" indent="0" algn="just"/>
            <a:r>
              <a:rPr lang="en-US" altLang="zh-CN" sz="2400" b="0" dirty="0">
                <a:latin typeface="+mn-lt"/>
                <a:cs typeface="Times New Roman" panose="02020603050405020304" pitchFamily="18" charset="0"/>
              </a:rPr>
              <a:t>Structure unit and lattice point correspond to the same content of lattice structures. A primitive cell (P lattice) constitutes a structure unit; A structure unit (primitive cell) can contain several asymmetric units.</a:t>
            </a:r>
            <a:endParaRPr lang="zh-CN" altLang="zh-CN" sz="2400" b="0" dirty="0">
              <a:latin typeface="+mn-lt"/>
              <a:cs typeface="Times New Roman" panose="02020603050405020304" pitchFamily="18" charset="0"/>
            </a:endParaRPr>
          </a:p>
          <a:p>
            <a:pPr marL="0" indent="0">
              <a:lnSpc>
                <a:spcPct val="120000"/>
              </a:lnSpc>
              <a:spcBef>
                <a:spcPct val="20000"/>
              </a:spcBef>
              <a:buClr>
                <a:schemeClr val="hlink"/>
              </a:buClr>
              <a:buSzPct val="75000"/>
            </a:pPr>
            <a:endParaRPr lang="zh-CN" altLang="en-US" sz="2800" b="0" dirty="0">
              <a:latin typeface="+mn-lt"/>
              <a:ea typeface="宋体" panose="02010600030101010101" pitchFamily="2" charset="-122"/>
            </a:endParaRPr>
          </a:p>
          <a:p>
            <a:pPr marL="0" indent="0" algn="just"/>
            <a:r>
              <a:rPr lang="en-US" altLang="zh-CN" sz="2400" b="0" dirty="0">
                <a:latin typeface="+mn-lt"/>
                <a:cs typeface="Times New Roman" panose="02020603050405020304" pitchFamily="18" charset="0"/>
              </a:rPr>
              <a:t>One asymmetric unit generates the whole spatial structure through all the symmetry operations of space groups (translation + point symmetry operation). One structure unit only requires translation operation to produce the entire spatial structure.</a:t>
            </a:r>
            <a:endParaRPr lang="zh-CN" altLang="zh-CN" sz="2400" b="0" dirty="0">
              <a:latin typeface="+mn-lt"/>
              <a:cs typeface="Times New Roman" panose="02020603050405020304" pitchFamily="18" charset="0"/>
            </a:endParaRPr>
          </a:p>
        </p:txBody>
      </p:sp>
      <p:sp>
        <p:nvSpPr>
          <p:cNvPr id="3" name="Rectangle 2"/>
          <p:cNvSpPr/>
          <p:nvPr/>
        </p:nvSpPr>
        <p:spPr>
          <a:xfrm>
            <a:off x="395536" y="188640"/>
            <a:ext cx="7849220" cy="954107"/>
          </a:xfrm>
          <a:prstGeom prst="rect">
            <a:avLst/>
          </a:prstGeom>
        </p:spPr>
        <p:txBody>
          <a:bodyPr wrap="square">
            <a:spAutoFit/>
          </a:bodyPr>
          <a:lstStyle/>
          <a:p>
            <a:pPr algn="ctr"/>
            <a:r>
              <a:rPr lang="zh-CN" altLang="en-US" sz="2800" b="0" dirty="0">
                <a:latin typeface="+mj-lt"/>
                <a:cs typeface="Times New Roman" panose="02020603050405020304" pitchFamily="18" charset="0"/>
              </a:rPr>
              <a:t>Differences between </a:t>
            </a:r>
            <a:r>
              <a:rPr lang="en-US" altLang="zh-CN" sz="2800" b="0" dirty="0">
                <a:latin typeface="+mj-lt"/>
                <a:cs typeface="Times New Roman" panose="02020603050405020304" pitchFamily="18" charset="0"/>
              </a:rPr>
              <a:t>structure unit/motif </a:t>
            </a:r>
            <a:r>
              <a:rPr lang="zh-CN" altLang="en-US" sz="2800" b="0" dirty="0">
                <a:latin typeface="+mj-lt"/>
                <a:cs typeface="Times New Roman" panose="02020603050405020304" pitchFamily="18" charset="0"/>
              </a:rPr>
              <a:t>and asymmetric unit</a:t>
            </a:r>
          </a:p>
        </p:txBody>
      </p:sp>
    </p:spTree>
  </p:cSld>
  <p:clrMapOvr>
    <a:masterClrMapping/>
  </p:clrMapOvr>
  <p:transition spd="med">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3239250" y="2132856"/>
            <a:ext cx="2343311" cy="2304256"/>
            <a:chOff x="3164793" y="2564904"/>
            <a:chExt cx="2343311" cy="2304256"/>
          </a:xfrm>
        </p:grpSpPr>
        <p:pic>
          <p:nvPicPr>
            <p:cNvPr id="24580" name="Picture 4" descr="http://upload.wikimedia.org/wikipedia/commons/thumb/9/9d/WallpaperCM.GIF/120px-WallpaperC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4793" y="2564904"/>
              <a:ext cx="2343311" cy="230425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4130985" y="3472736"/>
              <a:ext cx="430535" cy="463137"/>
            </a:xfrm>
            <a:prstGeom prst="rect">
              <a:avLst/>
            </a:prstGeom>
            <a:solidFill>
              <a:srgbClr val="00FF00">
                <a:alpha val="50196"/>
              </a:srgbClr>
            </a:solid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130986" y="3469476"/>
              <a:ext cx="870896" cy="46639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p:cNvGrpSpPr/>
          <p:nvPr/>
        </p:nvGrpSpPr>
        <p:grpSpPr>
          <a:xfrm>
            <a:off x="397985" y="2132856"/>
            <a:ext cx="2380551" cy="2304256"/>
            <a:chOff x="323528" y="2564904"/>
            <a:chExt cx="2380551" cy="2304256"/>
          </a:xfrm>
        </p:grpSpPr>
        <p:pic>
          <p:nvPicPr>
            <p:cNvPr id="24578" name="Picture 2" descr="http://upload.wikimedia.org/wikipedia/commons/thumb/2/2d/WallpaperP2.GIF/115px-WallpaperP2.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2564904"/>
              <a:ext cx="2208243" cy="2304256"/>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p:cNvSpPr/>
            <p:nvPr/>
          </p:nvSpPr>
          <p:spPr>
            <a:xfrm>
              <a:off x="1847822" y="3288514"/>
              <a:ext cx="856257" cy="85625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843535" y="3265358"/>
              <a:ext cx="456104" cy="903722"/>
            </a:xfrm>
            <a:prstGeom prst="rect">
              <a:avLst/>
            </a:prstGeom>
            <a:solidFill>
              <a:srgbClr val="00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6212440" y="2132856"/>
            <a:ext cx="2464016" cy="2263682"/>
            <a:chOff x="5940152" y="2635987"/>
            <a:chExt cx="2464016" cy="2263682"/>
          </a:xfrm>
        </p:grpSpPr>
        <p:sp>
          <p:nvSpPr>
            <p:cNvPr id="26" name="Rectangle 25"/>
            <p:cNvSpPr/>
            <p:nvPr/>
          </p:nvSpPr>
          <p:spPr>
            <a:xfrm>
              <a:off x="7533272" y="3500706"/>
              <a:ext cx="870896" cy="90487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5940152" y="2635987"/>
              <a:ext cx="2462869" cy="2263682"/>
              <a:chOff x="5940152" y="2635987"/>
              <a:chExt cx="2462869" cy="2263682"/>
            </a:xfrm>
          </p:grpSpPr>
          <p:pic>
            <p:nvPicPr>
              <p:cNvPr id="24582" name="Picture 6" descr="http://upload.wikimedia.org/wikipedia/commons/thumb/4/46/WallpaperPG.GIF/120px-WallpaperPG.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152" y="2635987"/>
                <a:ext cx="2321725" cy="226368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p:cNvSpPr/>
              <p:nvPr/>
            </p:nvSpPr>
            <p:spPr>
              <a:xfrm>
                <a:off x="7533272" y="3500707"/>
                <a:ext cx="869749" cy="472204"/>
              </a:xfrm>
              <a:prstGeom prst="rect">
                <a:avLst/>
              </a:prstGeom>
              <a:solidFill>
                <a:srgbClr val="00FF00">
                  <a:alpha val="50196"/>
                </a:srgbClr>
              </a:solid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 name="Rectangle 3"/>
          <p:cNvSpPr/>
          <p:nvPr/>
        </p:nvSpPr>
        <p:spPr>
          <a:xfrm>
            <a:off x="382718" y="476672"/>
            <a:ext cx="6887524" cy="584775"/>
          </a:xfrm>
          <a:prstGeom prst="rect">
            <a:avLst/>
          </a:prstGeom>
        </p:spPr>
        <p:txBody>
          <a:bodyPr wrap="square">
            <a:spAutoFit/>
          </a:bodyPr>
          <a:lstStyle/>
          <a:p>
            <a:r>
              <a:rPr lang="en-US" altLang="zh-CN" sz="3200" dirty="0">
                <a:solidFill>
                  <a:srgbClr val="C00000"/>
                </a:solidFill>
                <a:latin typeface="+mn-lt"/>
                <a:ea typeface="黑体" panose="02010609060101010101" pitchFamily="49" charset="-122"/>
                <a:cs typeface="ˎ̥"/>
              </a:rPr>
              <a:t>Looking for asymmetric units</a:t>
            </a:r>
          </a:p>
        </p:txBody>
      </p:sp>
    </p:spTree>
  </p:cSld>
  <p:clrMapOvr>
    <a:masterClrMapping/>
  </p:clrMapOvr>
  <p:transition spd="med">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5" name="Rectangle 3"/>
          <p:cNvSpPr>
            <a:spLocks noChangeArrowheads="1"/>
          </p:cNvSpPr>
          <p:nvPr/>
        </p:nvSpPr>
        <p:spPr bwMode="auto">
          <a:xfrm>
            <a:off x="1331640" y="585496"/>
            <a:ext cx="6084614" cy="683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lgn="l">
              <a:defRPr>
                <a:solidFill>
                  <a:schemeClr val="tx1"/>
                </a:solidFill>
                <a:latin typeface="Arial" panose="020B0604020202020204" pitchFamily="34" charset="0"/>
                <a:ea typeface="ˎ̥"/>
                <a:cs typeface="ˎ̥"/>
              </a:defRPr>
            </a:lvl1pPr>
            <a:lvl2pPr algn="l">
              <a:defRPr>
                <a:solidFill>
                  <a:schemeClr val="tx1"/>
                </a:solidFill>
                <a:latin typeface="Arial" panose="020B0604020202020204" pitchFamily="34" charset="0"/>
                <a:ea typeface="ˎ̥"/>
                <a:cs typeface="ˎ̥"/>
              </a:defRPr>
            </a:lvl2pPr>
            <a:lvl3pPr algn="l">
              <a:defRPr>
                <a:solidFill>
                  <a:schemeClr val="tx1"/>
                </a:solidFill>
                <a:latin typeface="Arial" panose="020B0604020202020204" pitchFamily="34" charset="0"/>
                <a:ea typeface="ˎ̥"/>
                <a:cs typeface="ˎ̥"/>
              </a:defRPr>
            </a:lvl3pPr>
            <a:lvl4pPr algn="l">
              <a:defRPr>
                <a:solidFill>
                  <a:schemeClr val="tx1"/>
                </a:solidFill>
                <a:latin typeface="Arial" panose="020B0604020202020204" pitchFamily="34" charset="0"/>
                <a:ea typeface="ˎ̥"/>
                <a:cs typeface="ˎ̥"/>
              </a:defRPr>
            </a:lvl4pPr>
            <a:lvl5pPr algn="l">
              <a:defRPr>
                <a:solidFill>
                  <a:schemeClr val="tx1"/>
                </a:solidFill>
                <a:latin typeface="Arial" panose="020B0604020202020204" pitchFamily="34" charset="0"/>
                <a:ea typeface="ˎ̥"/>
                <a:cs typeface="ˎ̥"/>
              </a:defRPr>
            </a:lvl5pPr>
            <a:lvl6pPr fontAlgn="base">
              <a:spcBef>
                <a:spcPct val="0"/>
              </a:spcBef>
              <a:spcAft>
                <a:spcPct val="0"/>
              </a:spcAft>
              <a:defRPr>
                <a:solidFill>
                  <a:schemeClr val="tx1"/>
                </a:solidFill>
                <a:latin typeface="Arial" panose="020B0604020202020204" pitchFamily="34" charset="0"/>
                <a:ea typeface="ˎ̥"/>
                <a:cs typeface="ˎ̥"/>
              </a:defRPr>
            </a:lvl6pPr>
            <a:lvl7pPr fontAlgn="base">
              <a:spcBef>
                <a:spcPct val="0"/>
              </a:spcBef>
              <a:spcAft>
                <a:spcPct val="0"/>
              </a:spcAft>
              <a:defRPr>
                <a:solidFill>
                  <a:schemeClr val="tx1"/>
                </a:solidFill>
                <a:latin typeface="Arial" panose="020B0604020202020204" pitchFamily="34" charset="0"/>
                <a:ea typeface="ˎ̥"/>
                <a:cs typeface="ˎ̥"/>
              </a:defRPr>
            </a:lvl7pPr>
            <a:lvl8pPr fontAlgn="base">
              <a:spcBef>
                <a:spcPct val="0"/>
              </a:spcBef>
              <a:spcAft>
                <a:spcPct val="0"/>
              </a:spcAft>
              <a:defRPr>
                <a:solidFill>
                  <a:schemeClr val="tx1"/>
                </a:solidFill>
                <a:latin typeface="Arial" panose="020B0604020202020204" pitchFamily="34" charset="0"/>
                <a:ea typeface="ˎ̥"/>
                <a:cs typeface="ˎ̥"/>
              </a:defRPr>
            </a:lvl8pPr>
            <a:lvl9pPr fontAlgn="base">
              <a:spcBef>
                <a:spcPct val="0"/>
              </a:spcBef>
              <a:spcAft>
                <a:spcPct val="0"/>
              </a:spcAft>
              <a:defRPr>
                <a:solidFill>
                  <a:schemeClr val="tx1"/>
                </a:solidFill>
                <a:latin typeface="Arial" panose="020B0604020202020204" pitchFamily="34" charset="0"/>
                <a:ea typeface="ˎ̥"/>
                <a:cs typeface="ˎ̥"/>
              </a:defRPr>
            </a:lvl9pPr>
          </a:lstStyle>
          <a:p>
            <a:pPr algn="ctr">
              <a:lnSpc>
                <a:spcPct val="120000"/>
              </a:lnSpc>
              <a:spcBef>
                <a:spcPct val="20000"/>
              </a:spcBef>
              <a:buClr>
                <a:schemeClr val="hlink"/>
              </a:buClr>
              <a:buSzPct val="75000"/>
              <a:buFont typeface="Wingdings" panose="05000000000000000000" pitchFamily="2" charset="2"/>
              <a:buNone/>
            </a:pPr>
            <a:r>
              <a:rPr lang="en-US" altLang="zh-CN" sz="3200" dirty="0">
                <a:latin typeface="+mn-lt"/>
                <a:ea typeface="黑体" panose="02010609060101010101" pitchFamily="49" charset="-122"/>
              </a:rPr>
              <a:t>Summary</a:t>
            </a:r>
            <a:endParaRPr lang="zh-CN" altLang="en-US" sz="3200" dirty="0">
              <a:latin typeface="+mn-lt"/>
              <a:ea typeface="黑体" panose="02010609060101010101" pitchFamily="49" charset="-122"/>
            </a:endParaRPr>
          </a:p>
        </p:txBody>
      </p:sp>
      <p:grpSp>
        <p:nvGrpSpPr>
          <p:cNvPr id="79" name="Group 78"/>
          <p:cNvGrpSpPr/>
          <p:nvPr/>
        </p:nvGrpSpPr>
        <p:grpSpPr>
          <a:xfrm>
            <a:off x="-523933" y="1700808"/>
            <a:ext cx="9353036" cy="4675301"/>
            <a:chOff x="-756592" y="980728"/>
            <a:chExt cx="9577037" cy="4201439"/>
          </a:xfrm>
        </p:grpSpPr>
        <p:grpSp>
          <p:nvGrpSpPr>
            <p:cNvPr id="77" name="Group 76"/>
            <p:cNvGrpSpPr/>
            <p:nvPr/>
          </p:nvGrpSpPr>
          <p:grpSpPr>
            <a:xfrm>
              <a:off x="-756592" y="980728"/>
              <a:ext cx="9577037" cy="4201439"/>
              <a:chOff x="179512" y="980728"/>
              <a:chExt cx="9577037" cy="4201439"/>
            </a:xfrm>
          </p:grpSpPr>
          <p:cxnSp>
            <p:nvCxnSpPr>
              <p:cNvPr id="70" name="Straight Arrow Connector 69"/>
              <p:cNvCxnSpPr/>
              <p:nvPr/>
            </p:nvCxnSpPr>
            <p:spPr>
              <a:xfrm flipH="1" flipV="1">
                <a:off x="7524328" y="3068960"/>
                <a:ext cx="1169235" cy="4894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6" name="Group 75"/>
              <p:cNvGrpSpPr/>
              <p:nvPr/>
            </p:nvGrpSpPr>
            <p:grpSpPr>
              <a:xfrm>
                <a:off x="179512" y="980728"/>
                <a:ext cx="9577037" cy="4201439"/>
                <a:chOff x="253922" y="1022870"/>
                <a:chExt cx="9577037" cy="4201439"/>
              </a:xfrm>
            </p:grpSpPr>
            <p:grpSp>
              <p:nvGrpSpPr>
                <p:cNvPr id="75" name="Group 74"/>
                <p:cNvGrpSpPr/>
                <p:nvPr/>
              </p:nvGrpSpPr>
              <p:grpSpPr>
                <a:xfrm>
                  <a:off x="253922" y="1022870"/>
                  <a:ext cx="9577037" cy="4201439"/>
                  <a:chOff x="253922" y="1022870"/>
                  <a:chExt cx="9577037" cy="4201439"/>
                </a:xfrm>
              </p:grpSpPr>
              <p:grpSp>
                <p:nvGrpSpPr>
                  <p:cNvPr id="73" name="Group 72"/>
                  <p:cNvGrpSpPr/>
                  <p:nvPr/>
                </p:nvGrpSpPr>
                <p:grpSpPr>
                  <a:xfrm>
                    <a:off x="253922" y="1022870"/>
                    <a:ext cx="9577037" cy="4201439"/>
                    <a:chOff x="253922" y="1022870"/>
                    <a:chExt cx="9577037" cy="4201439"/>
                  </a:xfrm>
                </p:grpSpPr>
                <p:grpSp>
                  <p:nvGrpSpPr>
                    <p:cNvPr id="68" name="Group 67"/>
                    <p:cNvGrpSpPr/>
                    <p:nvPr/>
                  </p:nvGrpSpPr>
                  <p:grpSpPr>
                    <a:xfrm>
                      <a:off x="253922" y="1022870"/>
                      <a:ext cx="9577037" cy="4201439"/>
                      <a:chOff x="253922" y="1022870"/>
                      <a:chExt cx="9577037" cy="4201439"/>
                    </a:xfrm>
                  </p:grpSpPr>
                  <p:grpSp>
                    <p:nvGrpSpPr>
                      <p:cNvPr id="67" name="Group 66"/>
                      <p:cNvGrpSpPr/>
                      <p:nvPr/>
                    </p:nvGrpSpPr>
                    <p:grpSpPr>
                      <a:xfrm>
                        <a:off x="253922" y="1022870"/>
                        <a:ext cx="8025195" cy="4201439"/>
                        <a:chOff x="251544" y="980728"/>
                        <a:chExt cx="8025195" cy="4201439"/>
                      </a:xfrm>
                    </p:grpSpPr>
                    <p:sp>
                      <p:nvSpPr>
                        <p:cNvPr id="58" name="TextBox 57"/>
                        <p:cNvSpPr txBox="1"/>
                        <p:nvPr/>
                      </p:nvSpPr>
                      <p:spPr>
                        <a:xfrm>
                          <a:off x="251544" y="3663645"/>
                          <a:ext cx="2232223" cy="331899"/>
                        </a:xfrm>
                        <a:prstGeom prst="rect">
                          <a:avLst/>
                        </a:prstGeom>
                        <a:noFill/>
                      </p:spPr>
                      <p:txBody>
                        <a:bodyPr wrap="square" rtlCol="0">
                          <a:spAutoFit/>
                        </a:bodyPr>
                        <a:lstStyle/>
                        <a:p>
                          <a:pPr algn="ctr"/>
                          <a:r>
                            <a:rPr lang="en-US" altLang="zh-CN" dirty="0">
                              <a:latin typeface="+mn-lt"/>
                            </a:rPr>
                            <a:t>Crystal</a:t>
                          </a:r>
                          <a:endParaRPr lang="zh-CN" altLang="en-US" dirty="0">
                            <a:latin typeface="+mn-lt"/>
                          </a:endParaRPr>
                        </a:p>
                      </p:txBody>
                    </p:sp>
                    <p:grpSp>
                      <p:nvGrpSpPr>
                        <p:cNvPr id="60" name="Group 59"/>
                        <p:cNvGrpSpPr/>
                        <p:nvPr/>
                      </p:nvGrpSpPr>
                      <p:grpSpPr>
                        <a:xfrm>
                          <a:off x="1411074" y="980728"/>
                          <a:ext cx="6865665" cy="4201439"/>
                          <a:chOff x="1379026" y="1052736"/>
                          <a:chExt cx="6865665" cy="4201439"/>
                        </a:xfrm>
                      </p:grpSpPr>
                      <p:grpSp>
                        <p:nvGrpSpPr>
                          <p:cNvPr id="59" name="Group 58"/>
                          <p:cNvGrpSpPr/>
                          <p:nvPr/>
                        </p:nvGrpSpPr>
                        <p:grpSpPr>
                          <a:xfrm>
                            <a:off x="1497743" y="1052736"/>
                            <a:ext cx="6746948" cy="4201439"/>
                            <a:chOff x="1497743" y="1052736"/>
                            <a:chExt cx="6746948" cy="4201439"/>
                          </a:xfrm>
                        </p:grpSpPr>
                        <p:grpSp>
                          <p:nvGrpSpPr>
                            <p:cNvPr id="55" name="Group 54"/>
                            <p:cNvGrpSpPr/>
                            <p:nvPr/>
                          </p:nvGrpSpPr>
                          <p:grpSpPr>
                            <a:xfrm>
                              <a:off x="1497743" y="1052736"/>
                              <a:ext cx="6746948" cy="4201439"/>
                              <a:chOff x="1497743" y="1052736"/>
                              <a:chExt cx="6746948" cy="4201439"/>
                            </a:xfrm>
                          </p:grpSpPr>
                          <p:grpSp>
                            <p:nvGrpSpPr>
                              <p:cNvPr id="50" name="Group 49"/>
                              <p:cNvGrpSpPr/>
                              <p:nvPr/>
                            </p:nvGrpSpPr>
                            <p:grpSpPr>
                              <a:xfrm>
                                <a:off x="2483768" y="1052736"/>
                                <a:ext cx="5760923" cy="4201439"/>
                                <a:chOff x="1317441" y="1052736"/>
                                <a:chExt cx="5760923" cy="4201439"/>
                              </a:xfrm>
                            </p:grpSpPr>
                            <p:grpSp>
                              <p:nvGrpSpPr>
                                <p:cNvPr id="41" name="Group 40"/>
                                <p:cNvGrpSpPr/>
                                <p:nvPr/>
                              </p:nvGrpSpPr>
                              <p:grpSpPr>
                                <a:xfrm>
                                  <a:off x="1317441" y="1052736"/>
                                  <a:ext cx="5760923" cy="3926618"/>
                                  <a:chOff x="1317441" y="1052736"/>
                                  <a:chExt cx="5760923" cy="3926618"/>
                                </a:xfrm>
                              </p:grpSpPr>
                              <p:grpSp>
                                <p:nvGrpSpPr>
                                  <p:cNvPr id="39" name="Group 38"/>
                                  <p:cNvGrpSpPr/>
                                  <p:nvPr/>
                                </p:nvGrpSpPr>
                                <p:grpSpPr>
                                  <a:xfrm>
                                    <a:off x="1317441" y="1052736"/>
                                    <a:ext cx="5760923" cy="3926618"/>
                                    <a:chOff x="1317441" y="1052736"/>
                                    <a:chExt cx="5760923" cy="3926618"/>
                                  </a:xfrm>
                                </p:grpSpPr>
                                <p:grpSp>
                                  <p:nvGrpSpPr>
                                    <p:cNvPr id="37" name="Group 36"/>
                                    <p:cNvGrpSpPr/>
                                    <p:nvPr/>
                                  </p:nvGrpSpPr>
                                  <p:grpSpPr>
                                    <a:xfrm>
                                      <a:off x="1317441" y="1052736"/>
                                      <a:ext cx="5760923" cy="3037775"/>
                                      <a:chOff x="539552" y="1250139"/>
                                      <a:chExt cx="5760923" cy="3037775"/>
                                    </a:xfrm>
                                  </p:grpSpPr>
                                  <p:grpSp>
                                    <p:nvGrpSpPr>
                                      <p:cNvPr id="35" name="Group 34"/>
                                      <p:cNvGrpSpPr/>
                                      <p:nvPr/>
                                    </p:nvGrpSpPr>
                                    <p:grpSpPr>
                                      <a:xfrm>
                                        <a:off x="539552" y="1250139"/>
                                        <a:ext cx="5760923" cy="3014676"/>
                                        <a:chOff x="539552" y="1250139"/>
                                        <a:chExt cx="5760923" cy="3014676"/>
                                      </a:xfrm>
                                    </p:grpSpPr>
                                    <p:grpSp>
                                      <p:nvGrpSpPr>
                                        <p:cNvPr id="33" name="Group 32"/>
                                        <p:cNvGrpSpPr/>
                                        <p:nvPr/>
                                      </p:nvGrpSpPr>
                                      <p:grpSpPr>
                                        <a:xfrm>
                                          <a:off x="539552" y="1250139"/>
                                          <a:ext cx="5760923" cy="2667618"/>
                                          <a:chOff x="539552" y="1250139"/>
                                          <a:chExt cx="5760923" cy="2667618"/>
                                        </a:xfrm>
                                      </p:grpSpPr>
                                      <p:grpSp>
                                        <p:nvGrpSpPr>
                                          <p:cNvPr id="30" name="Group 29"/>
                                          <p:cNvGrpSpPr/>
                                          <p:nvPr/>
                                        </p:nvGrpSpPr>
                                        <p:grpSpPr>
                                          <a:xfrm>
                                            <a:off x="539552" y="1250139"/>
                                            <a:ext cx="4827244" cy="2667618"/>
                                            <a:chOff x="539552" y="1250139"/>
                                            <a:chExt cx="4827244" cy="2667618"/>
                                          </a:xfrm>
                                        </p:grpSpPr>
                                        <p:grpSp>
                                          <p:nvGrpSpPr>
                                            <p:cNvPr id="28" name="Group 27"/>
                                            <p:cNvGrpSpPr/>
                                            <p:nvPr/>
                                          </p:nvGrpSpPr>
                                          <p:grpSpPr>
                                            <a:xfrm>
                                              <a:off x="539552" y="1250139"/>
                                              <a:ext cx="4827244" cy="2667618"/>
                                              <a:chOff x="539552" y="1250139"/>
                                              <a:chExt cx="4827244" cy="2667618"/>
                                            </a:xfrm>
                                          </p:grpSpPr>
                                          <p:grpSp>
                                            <p:nvGrpSpPr>
                                              <p:cNvPr id="27" name="Group 26"/>
                                              <p:cNvGrpSpPr/>
                                              <p:nvPr/>
                                            </p:nvGrpSpPr>
                                            <p:grpSpPr>
                                              <a:xfrm>
                                                <a:off x="539552" y="1250139"/>
                                                <a:ext cx="4827244" cy="2111869"/>
                                                <a:chOff x="2483768" y="1284897"/>
                                                <a:chExt cx="4827244" cy="2111869"/>
                                              </a:xfrm>
                                            </p:grpSpPr>
                                            <p:grpSp>
                                              <p:nvGrpSpPr>
                                                <p:cNvPr id="26" name="Group 25"/>
                                                <p:cNvGrpSpPr/>
                                                <p:nvPr/>
                                              </p:nvGrpSpPr>
                                              <p:grpSpPr>
                                                <a:xfrm>
                                                  <a:off x="2483768" y="1284897"/>
                                                  <a:ext cx="4385408" cy="2111869"/>
                                                  <a:chOff x="3779912" y="1362075"/>
                                                  <a:chExt cx="4385408" cy="2111869"/>
                                                </a:xfrm>
                                              </p:grpSpPr>
                                              <p:cxnSp>
                                                <p:nvCxnSpPr>
                                                  <p:cNvPr id="22" name="Straight Arrow Connector 21"/>
                                                  <p:cNvCxnSpPr/>
                                                  <p:nvPr/>
                                                </p:nvCxnSpPr>
                                                <p:spPr>
                                                  <a:xfrm>
                                                    <a:off x="6259900" y="2608570"/>
                                                    <a:ext cx="1537571" cy="507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5" name="Group 24"/>
                                                  <p:cNvGrpSpPr/>
                                                  <p:nvPr/>
                                                </p:nvGrpSpPr>
                                                <p:grpSpPr>
                                                  <a:xfrm>
                                                    <a:off x="3779912" y="1362075"/>
                                                    <a:ext cx="4385408" cy="2111869"/>
                                                    <a:chOff x="3874445" y="1350513"/>
                                                    <a:chExt cx="4385408" cy="2111869"/>
                                                  </a:xfrm>
                                                </p:grpSpPr>
                                                <p:grpSp>
                                                  <p:nvGrpSpPr>
                                                    <p:cNvPr id="20" name="Group 19"/>
                                                    <p:cNvGrpSpPr/>
                                                    <p:nvPr/>
                                                  </p:nvGrpSpPr>
                                                  <p:grpSpPr>
                                                    <a:xfrm>
                                                      <a:off x="5076056" y="1350513"/>
                                                      <a:ext cx="3183797" cy="1790455"/>
                                                      <a:chOff x="5076056" y="1350513"/>
                                                      <a:chExt cx="3183797" cy="1790455"/>
                                                    </a:xfrm>
                                                  </p:grpSpPr>
                                                  <p:grpSp>
                                                    <p:nvGrpSpPr>
                                                      <p:cNvPr id="16" name="Group 15"/>
                                                      <p:cNvGrpSpPr/>
                                                      <p:nvPr/>
                                                    </p:nvGrpSpPr>
                                                    <p:grpSpPr>
                                                      <a:xfrm>
                                                        <a:off x="5213240" y="1350513"/>
                                                        <a:ext cx="3046613" cy="1209062"/>
                                                        <a:chOff x="5213240" y="1350513"/>
                                                        <a:chExt cx="3046613" cy="1209062"/>
                                                      </a:xfrm>
                                                    </p:grpSpPr>
                                                    <p:grpSp>
                                                      <p:nvGrpSpPr>
                                                        <p:cNvPr id="15" name="Group 14"/>
                                                        <p:cNvGrpSpPr/>
                                                        <p:nvPr/>
                                                      </p:nvGrpSpPr>
                                                      <p:grpSpPr>
                                                        <a:xfrm>
                                                          <a:off x="5213240" y="1350513"/>
                                                          <a:ext cx="3046613" cy="996321"/>
                                                          <a:chOff x="5213240" y="1350513"/>
                                                          <a:chExt cx="3046613" cy="996321"/>
                                                        </a:xfrm>
                                                      </p:grpSpPr>
                                                      <p:grpSp>
                                                        <p:nvGrpSpPr>
                                                          <p:cNvPr id="12" name="Group 11"/>
                                                          <p:cNvGrpSpPr/>
                                                          <p:nvPr/>
                                                        </p:nvGrpSpPr>
                                                        <p:grpSpPr>
                                                          <a:xfrm>
                                                            <a:off x="5213240" y="1350513"/>
                                                            <a:ext cx="2232223" cy="895630"/>
                                                            <a:chOff x="4067969" y="1362075"/>
                                                            <a:chExt cx="2232223" cy="895630"/>
                                                          </a:xfrm>
                                                        </p:grpSpPr>
                                                        <p:sp>
                                                          <p:nvSpPr>
                                                            <p:cNvPr id="2" name="TextBox 1"/>
                                                            <p:cNvSpPr txBox="1"/>
                                                            <p:nvPr/>
                                                          </p:nvSpPr>
                                                          <p:spPr>
                                                            <a:xfrm>
                                                              <a:off x="4067969" y="1362075"/>
                                                              <a:ext cx="2232223" cy="331899"/>
                                                            </a:xfrm>
                                                            <a:prstGeom prst="rect">
                                                              <a:avLst/>
                                                            </a:prstGeom>
                                                            <a:noFill/>
                                                          </p:spPr>
                                                          <p:txBody>
                                                            <a:bodyPr wrap="square" rtlCol="0">
                                                              <a:spAutoFit/>
                                                            </a:bodyPr>
                                                            <a:lstStyle/>
                                                            <a:p>
                                                              <a:pPr algn="ctr"/>
                                                              <a:r>
                                                                <a:rPr lang="en-US" altLang="zh-CN" dirty="0">
                                                                  <a:latin typeface="+mn-lt"/>
                                                                </a:rPr>
                                                                <a:t>Space lattice</a:t>
                                                              </a:r>
                                                              <a:endParaRPr lang="zh-CN" altLang="en-US" dirty="0">
                                                                <a:latin typeface="+mn-lt"/>
                                                              </a:endParaRPr>
                                                            </a:p>
                                                          </p:txBody>
                                                        </p:sp>
                                                        <p:cxnSp>
                                                          <p:nvCxnSpPr>
                                                            <p:cNvPr id="11" name="Straight Arrow Connector 10"/>
                                                            <p:cNvCxnSpPr>
                                                              <a:stCxn id="2" idx="2"/>
                                                            </p:cNvCxnSpPr>
                                                            <p:nvPr/>
                                                          </p:nvCxnSpPr>
                                                          <p:spPr>
                                                            <a:xfrm>
                                                              <a:off x="5184080" y="1693974"/>
                                                              <a:ext cx="1" cy="5637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4" name="TextBox 13"/>
                                                          <p:cNvSpPr txBox="1"/>
                                                          <p:nvPr/>
                                                        </p:nvSpPr>
                                                        <p:spPr>
                                                          <a:xfrm>
                                                            <a:off x="6329351" y="1766011"/>
                                                            <a:ext cx="1930502" cy="580823"/>
                                                          </a:xfrm>
                                                          <a:prstGeom prst="rect">
                                                            <a:avLst/>
                                                          </a:prstGeom>
                                                          <a:noFill/>
                                                        </p:spPr>
                                                        <p:txBody>
                                                          <a:bodyPr wrap="square" rtlCol="0">
                                                            <a:spAutoFit/>
                                                          </a:bodyPr>
                                                          <a:lstStyle/>
                                                          <a:p>
                                                            <a:r>
                                                              <a:rPr lang="en-US" altLang="zh-CN" dirty="0">
                                                                <a:latin typeface="+mn-lt"/>
                                                              </a:rPr>
                                                              <a:t>structure unit</a:t>
                                                            </a:r>
                                                          </a:p>
                                                          <a:p>
                                                            <a:endParaRPr lang="zh-CN" altLang="en-US" dirty="0">
                                                              <a:latin typeface="+mn-lt"/>
                                                            </a:endParaRPr>
                                                          </a:p>
                                                        </p:txBody>
                                                      </p:sp>
                                                    </p:grpSp>
                                                    <p:sp>
                                                      <p:nvSpPr>
                                                        <p:cNvPr id="18" name="TextBox 17"/>
                                                        <p:cNvSpPr txBox="1"/>
                                                        <p:nvPr/>
                                                      </p:nvSpPr>
                                                      <p:spPr>
                                                        <a:xfrm>
                                                          <a:off x="5230685" y="2227676"/>
                                                          <a:ext cx="2232223" cy="331899"/>
                                                        </a:xfrm>
                                                        <a:prstGeom prst="rect">
                                                          <a:avLst/>
                                                        </a:prstGeom>
                                                        <a:noFill/>
                                                      </p:spPr>
                                                      <p:txBody>
                                                        <a:bodyPr wrap="square" rtlCol="0">
                                                          <a:spAutoFit/>
                                                        </a:bodyPr>
                                                        <a:lstStyle/>
                                                        <a:p>
                                                          <a:pPr algn="ctr"/>
                                                          <a:r>
                                                            <a:rPr lang="en-US" altLang="zh-CN" dirty="0">
                                                              <a:latin typeface="+mn-lt"/>
                                                            </a:rPr>
                                                            <a:t>Crystal structure</a:t>
                                                          </a:r>
                                                          <a:endParaRPr lang="zh-CN" altLang="en-US" dirty="0">
                                                            <a:latin typeface="+mn-lt"/>
                                                          </a:endParaRPr>
                                                        </a:p>
                                                      </p:txBody>
                                                    </p:sp>
                                                  </p:grpSp>
                                                  <p:cxnSp>
                                                    <p:nvCxnSpPr>
                                                      <p:cNvPr id="19" name="Straight Arrow Connector 18"/>
                                                      <p:cNvCxnSpPr>
                                                        <a:stCxn id="18" idx="2"/>
                                                      </p:cNvCxnSpPr>
                                                      <p:nvPr/>
                                                    </p:nvCxnSpPr>
                                                    <p:spPr>
                                                      <a:xfrm flipH="1">
                                                        <a:off x="5076056" y="2559575"/>
                                                        <a:ext cx="1270740" cy="581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4" name="Rectangle 23"/>
                                                    <p:cNvSpPr/>
                                                    <p:nvPr/>
                                                  </p:nvSpPr>
                                                  <p:spPr>
                                                    <a:xfrm>
                                                      <a:off x="3874445" y="3130483"/>
                                                      <a:ext cx="2161518" cy="331899"/>
                                                    </a:xfrm>
                                                    <a:prstGeom prst="rect">
                                                      <a:avLst/>
                                                    </a:prstGeom>
                                                  </p:spPr>
                                                  <p:txBody>
                                                    <a:bodyPr wrap="none">
                                                      <a:spAutoFit/>
                                                    </a:bodyPr>
                                                    <a:lstStyle/>
                                                    <a:p>
                                                      <a:r>
                                                        <a:rPr lang="en-US" altLang="zh-CN" dirty="0">
                                                          <a:latin typeface="+mn-lt"/>
                                                        </a:rPr>
                                                        <a:t>Macroscopic crystal</a:t>
                                                      </a:r>
                                                      <a:endParaRPr lang="zh-CN" altLang="en-US" dirty="0">
                                                        <a:latin typeface="+mn-lt"/>
                                                      </a:endParaRPr>
                                                    </a:p>
                                                  </p:txBody>
                                                </p:sp>
                                              </p:grpSp>
                                            </p:grpSp>
                                            <p:sp>
                                              <p:nvSpPr>
                                                <p:cNvPr id="29" name="Rectangle 28"/>
                                                <p:cNvSpPr/>
                                                <p:nvPr/>
                                              </p:nvSpPr>
                                              <p:spPr>
                                                <a:xfrm>
                                                  <a:off x="5220072" y="3064867"/>
                                                  <a:ext cx="2090940" cy="331899"/>
                                                </a:xfrm>
                                                <a:prstGeom prst="rect">
                                                  <a:avLst/>
                                                </a:prstGeom>
                                              </p:spPr>
                                              <p:txBody>
                                                <a:bodyPr wrap="none">
                                                  <a:spAutoFit/>
                                                </a:bodyPr>
                                                <a:lstStyle/>
                                                <a:p>
                                                  <a:r>
                                                    <a:rPr lang="en-US" altLang="zh-CN" dirty="0">
                                                      <a:latin typeface="+mn-lt"/>
                                                    </a:rPr>
                                                    <a:t>Microscopic crystal</a:t>
                                                  </a:r>
                                                  <a:endParaRPr lang="zh-CN" altLang="en-US" dirty="0">
                                                    <a:latin typeface="+mn-lt"/>
                                                  </a:endParaRPr>
                                                </a:p>
                                              </p:txBody>
                                            </p:sp>
                                          </p:grpSp>
                                          <p:cxnSp>
                                            <p:nvCxnSpPr>
                                              <p:cNvPr id="31" name="Straight Arrow Connector 30"/>
                                              <p:cNvCxnSpPr/>
                                              <p:nvPr/>
                                            </p:nvCxnSpPr>
                                            <p:spPr>
                                              <a:xfrm flipH="1">
                                                <a:off x="1741162" y="3391459"/>
                                                <a:ext cx="1" cy="526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flipH="1">
                                                <a:off x="4557110" y="3334750"/>
                                                <a:ext cx="1" cy="526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4" name="TextBox 33"/>
                                            <p:cNvSpPr txBox="1"/>
                                            <p:nvPr/>
                                          </p:nvSpPr>
                                          <p:spPr>
                                            <a:xfrm>
                                              <a:off x="1301234" y="3425085"/>
                                              <a:ext cx="2232223" cy="331898"/>
                                            </a:xfrm>
                                            <a:prstGeom prst="rect">
                                              <a:avLst/>
                                            </a:prstGeom>
                                            <a:noFill/>
                                          </p:spPr>
                                          <p:txBody>
                                            <a:bodyPr wrap="square" rtlCol="0">
                                              <a:spAutoFit/>
                                            </a:bodyPr>
                                            <a:lstStyle/>
                                            <a:p>
                                              <a:pPr algn="ctr"/>
                                              <a:r>
                                                <a:rPr lang="en-US" altLang="zh-CN" dirty="0">
                                                  <a:latin typeface="+mn-lt"/>
                                                </a:rPr>
                                                <a:t>Symmetry</a:t>
                                              </a:r>
                                              <a:endParaRPr lang="zh-CN" altLang="en-US" dirty="0">
                                                <a:latin typeface="+mn-lt"/>
                                              </a:endParaRPr>
                                            </a:p>
                                          </p:txBody>
                                        </p:sp>
                                      </p:grpSp>
                                      <p:sp>
                                        <p:nvSpPr>
                                          <p:cNvPr id="36" name="TextBox 35"/>
                                          <p:cNvSpPr txBox="1"/>
                                          <p:nvPr/>
                                        </p:nvSpPr>
                                        <p:spPr>
                                          <a:xfrm>
                                            <a:off x="4068252" y="3432310"/>
                                            <a:ext cx="2232223" cy="331898"/>
                                          </a:xfrm>
                                          <a:prstGeom prst="rect">
                                            <a:avLst/>
                                          </a:prstGeom>
                                          <a:noFill/>
                                        </p:spPr>
                                        <p:txBody>
                                          <a:bodyPr wrap="square" rtlCol="0">
                                            <a:spAutoFit/>
                                          </a:bodyPr>
                                          <a:lstStyle/>
                                          <a:p>
                                            <a:pPr algn="ctr"/>
                                            <a:r>
                                              <a:rPr lang="en-US" altLang="zh-CN" dirty="0">
                                                <a:latin typeface="+mn-lt"/>
                                              </a:rPr>
                                              <a:t>Symmetry</a:t>
                                            </a:r>
                                            <a:endParaRPr lang="zh-CN" altLang="en-US" dirty="0">
                                              <a:latin typeface="+mn-lt"/>
                                            </a:endParaRPr>
                                          </a:p>
                                        </p:txBody>
                                      </p:sp>
                                    </p:grpSp>
                                    <p:sp>
                                      <p:nvSpPr>
                                        <p:cNvPr id="38" name="TextBox 37"/>
                                        <p:cNvSpPr txBox="1"/>
                                        <p:nvPr/>
                                      </p:nvSpPr>
                                      <p:spPr>
                                        <a:xfrm>
                                          <a:off x="625050" y="3932916"/>
                                          <a:ext cx="2232223" cy="331899"/>
                                        </a:xfrm>
                                        <a:prstGeom prst="rect">
                                          <a:avLst/>
                                        </a:prstGeom>
                                        <a:noFill/>
                                      </p:spPr>
                                      <p:txBody>
                                        <a:bodyPr wrap="square" rtlCol="0">
                                          <a:spAutoFit/>
                                        </a:bodyPr>
                                        <a:lstStyle/>
                                        <a:p>
                                          <a:pPr algn="ctr"/>
                                          <a:r>
                                            <a:rPr lang="en-US" altLang="zh-CN" dirty="0">
                                              <a:latin typeface="+mn-lt"/>
                                            </a:rPr>
                                            <a:t>32 point groups</a:t>
                                          </a:r>
                                          <a:endParaRPr lang="zh-CN" altLang="en-US" dirty="0">
                                            <a:latin typeface="+mn-lt"/>
                                          </a:endParaRPr>
                                        </a:p>
                                      </p:txBody>
                                    </p:sp>
                                  </p:grpSp>
                                  <p:sp>
                                    <p:nvSpPr>
                                      <p:cNvPr id="40" name="TextBox 39"/>
                                      <p:cNvSpPr txBox="1"/>
                                      <p:nvPr/>
                                    </p:nvSpPr>
                                    <p:spPr>
                                      <a:xfrm>
                                        <a:off x="3419872" y="3956015"/>
                                        <a:ext cx="2232223" cy="331899"/>
                                      </a:xfrm>
                                      <a:prstGeom prst="rect">
                                        <a:avLst/>
                                      </a:prstGeom>
                                      <a:noFill/>
                                    </p:spPr>
                                    <p:txBody>
                                      <a:bodyPr wrap="square" rtlCol="0">
                                        <a:spAutoFit/>
                                      </a:bodyPr>
                                      <a:lstStyle/>
                                      <a:p>
                                        <a:pPr algn="ctr"/>
                                        <a:r>
                                          <a:rPr lang="en-US" altLang="zh-CN" dirty="0">
                                            <a:latin typeface="+mn-lt"/>
                                          </a:rPr>
                                          <a:t> 230 space groups</a:t>
                                        </a:r>
                                        <a:endParaRPr lang="zh-CN" altLang="en-US" dirty="0">
                                          <a:latin typeface="+mn-lt"/>
                                        </a:endParaRPr>
                                      </a:p>
                                    </p:txBody>
                                  </p:sp>
                                </p:grpSp>
                                <p:sp>
                                  <p:nvSpPr>
                                    <p:cNvPr id="42" name="TextBox 41"/>
                                    <p:cNvSpPr txBox="1"/>
                                    <p:nvPr/>
                                  </p:nvSpPr>
                                  <p:spPr>
                                    <a:xfrm>
                                      <a:off x="1402939" y="4647455"/>
                                      <a:ext cx="2232223" cy="331899"/>
                                    </a:xfrm>
                                    <a:prstGeom prst="rect">
                                      <a:avLst/>
                                    </a:prstGeom>
                                    <a:noFill/>
                                  </p:spPr>
                                  <p:txBody>
                                    <a:bodyPr wrap="square" rtlCol="0">
                                      <a:spAutoFit/>
                                    </a:bodyPr>
                                    <a:lstStyle/>
                                    <a:p>
                                      <a:pPr algn="ctr"/>
                                      <a:r>
                                        <a:rPr lang="en-US" altLang="zh-CN" dirty="0">
                                          <a:latin typeface="+mn-lt"/>
                                        </a:rPr>
                                        <a:t>7 crystal system</a:t>
                                      </a:r>
                                      <a:endParaRPr lang="zh-CN" altLang="en-US" dirty="0">
                                        <a:latin typeface="+mn-lt"/>
                                      </a:endParaRPr>
                                    </a:p>
                                  </p:txBody>
                                </p:sp>
                                <p:cxnSp>
                                  <p:nvCxnSpPr>
                                    <p:cNvPr id="43" name="Straight Arrow Connector 42"/>
                                    <p:cNvCxnSpPr/>
                                    <p:nvPr/>
                                  </p:nvCxnSpPr>
                                  <p:spPr>
                                    <a:xfrm flipH="1">
                                      <a:off x="2519050" y="4071219"/>
                                      <a:ext cx="1" cy="526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45" name="Straight Arrow Connector 44"/>
                                  <p:cNvCxnSpPr/>
                                  <p:nvPr/>
                                </p:nvCxnSpPr>
                                <p:spPr>
                                  <a:xfrm flipH="1">
                                    <a:off x="5334998" y="4111494"/>
                                    <a:ext cx="1" cy="526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TextBox 45"/>
                                  <p:cNvSpPr txBox="1"/>
                                  <p:nvPr/>
                                </p:nvSpPr>
                                <p:spPr>
                                  <a:xfrm>
                                    <a:off x="4398366" y="4630694"/>
                                    <a:ext cx="2232223" cy="331899"/>
                                  </a:xfrm>
                                  <a:prstGeom prst="rect">
                                    <a:avLst/>
                                  </a:prstGeom>
                                  <a:noFill/>
                                </p:spPr>
                                <p:txBody>
                                  <a:bodyPr wrap="square" rtlCol="0">
                                    <a:spAutoFit/>
                                  </a:bodyPr>
                                  <a:lstStyle/>
                                  <a:p>
                                    <a:pPr algn="ctr"/>
                                    <a:r>
                                      <a:rPr lang="en-US" altLang="zh-CN" dirty="0">
                                        <a:latin typeface="+mn-lt"/>
                                      </a:rPr>
                                      <a:t>14 space lattice</a:t>
                                    </a:r>
                                    <a:endParaRPr lang="zh-CN" altLang="en-US" dirty="0">
                                      <a:latin typeface="+mn-lt"/>
                                    </a:endParaRPr>
                                  </a:p>
                                </p:txBody>
                              </p:sp>
                            </p:grpSp>
                            <p:cxnSp>
                              <p:nvCxnSpPr>
                                <p:cNvPr id="49" name="Straight Arrow Connector 48"/>
                                <p:cNvCxnSpPr/>
                                <p:nvPr/>
                              </p:nvCxnSpPr>
                              <p:spPr>
                                <a:xfrm flipH="1">
                                  <a:off x="3491880" y="4815360"/>
                                  <a:ext cx="10743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054863" y="4922276"/>
                                  <a:ext cx="2232223" cy="331899"/>
                                </a:xfrm>
                                <a:prstGeom prst="rect">
                                  <a:avLst/>
                                </a:prstGeom>
                                <a:noFill/>
                              </p:spPr>
                              <p:txBody>
                                <a:bodyPr wrap="square" rtlCol="0">
                                  <a:spAutoFit/>
                                </a:bodyPr>
                                <a:lstStyle/>
                                <a:p>
                                  <a:pPr algn="ctr"/>
                                  <a:r>
                                    <a:rPr lang="en-US" altLang="zh-CN" dirty="0">
                                      <a:latin typeface="+mn-lt"/>
                                    </a:rPr>
                                    <a:t>Symmetry</a:t>
                                  </a:r>
                                  <a:endParaRPr lang="zh-CN" altLang="en-US" dirty="0">
                                    <a:latin typeface="+mn-lt"/>
                                  </a:endParaRPr>
                                </a:p>
                              </p:txBody>
                            </p:sp>
                          </p:grpSp>
                          <p:cxnSp>
                            <p:nvCxnSpPr>
                              <p:cNvPr id="53" name="Straight Arrow Connector 52"/>
                              <p:cNvCxnSpPr/>
                              <p:nvPr/>
                            </p:nvCxnSpPr>
                            <p:spPr>
                              <a:xfrm flipV="1">
                                <a:off x="1497743" y="3249982"/>
                                <a:ext cx="986025" cy="4855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57" name="Straight Arrow Connector 56"/>
                            <p:cNvCxnSpPr/>
                            <p:nvPr/>
                          </p:nvCxnSpPr>
                          <p:spPr>
                            <a:xfrm flipH="1">
                              <a:off x="1763688" y="3920179"/>
                              <a:ext cx="9361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2" name="TextBox 61"/>
                          <p:cNvSpPr txBox="1"/>
                          <p:nvPr/>
                        </p:nvSpPr>
                        <p:spPr>
                          <a:xfrm>
                            <a:off x="1379026" y="3483837"/>
                            <a:ext cx="1866424" cy="276582"/>
                          </a:xfrm>
                          <a:prstGeom prst="rect">
                            <a:avLst/>
                          </a:prstGeom>
                          <a:noFill/>
                        </p:spPr>
                        <p:txBody>
                          <a:bodyPr wrap="square" rtlCol="0">
                            <a:spAutoFit/>
                          </a:bodyPr>
                          <a:lstStyle/>
                          <a:p>
                            <a:pPr algn="ctr"/>
                            <a:r>
                              <a:rPr lang="en-US" altLang="zh-CN" sz="1400" dirty="0">
                                <a:latin typeface="+mn-lt"/>
                              </a:rPr>
                              <a:t>Symmetry operation</a:t>
                            </a:r>
                            <a:endParaRPr lang="zh-CN" altLang="en-US" sz="1400" dirty="0">
                              <a:latin typeface="+mn-lt"/>
                            </a:endParaRPr>
                          </a:p>
                        </p:txBody>
                      </p:sp>
                    </p:grpSp>
                  </p:grpSp>
                  <p:cxnSp>
                    <p:nvCxnSpPr>
                      <p:cNvPr id="66" name="Straight Arrow Connector 65"/>
                      <p:cNvCxnSpPr/>
                      <p:nvPr/>
                    </p:nvCxnSpPr>
                    <p:spPr>
                      <a:xfrm>
                        <a:off x="7570805" y="3956926"/>
                        <a:ext cx="1008112" cy="11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Rectangle 64"/>
                      <p:cNvSpPr/>
                      <p:nvPr/>
                    </p:nvSpPr>
                    <p:spPr>
                      <a:xfrm>
                        <a:off x="8484809" y="3598359"/>
                        <a:ext cx="1346150" cy="829746"/>
                      </a:xfrm>
                      <a:prstGeom prst="rect">
                        <a:avLst/>
                      </a:prstGeom>
                    </p:spPr>
                    <p:txBody>
                      <a:bodyPr wrap="square">
                        <a:spAutoFit/>
                      </a:bodyPr>
                      <a:lstStyle/>
                      <a:p>
                        <a:pPr algn="ctr"/>
                        <a:r>
                          <a:rPr lang="en-US" altLang="zh-CN" dirty="0">
                            <a:latin typeface="+mn-lt"/>
                          </a:rPr>
                          <a:t>equivalent point system</a:t>
                        </a:r>
                        <a:endParaRPr lang="zh-CN" altLang="en-US" dirty="0">
                          <a:latin typeface="+mn-lt"/>
                        </a:endParaRPr>
                      </a:p>
                    </p:txBody>
                  </p:sp>
                </p:grpSp>
                <p:sp>
                  <p:nvSpPr>
                    <p:cNvPr id="72" name="Rectangle 71"/>
                    <p:cNvSpPr/>
                    <p:nvPr/>
                  </p:nvSpPr>
                  <p:spPr>
                    <a:xfrm>
                      <a:off x="1900808" y="3987768"/>
                      <a:ext cx="1715517" cy="580823"/>
                    </a:xfrm>
                    <a:prstGeom prst="rect">
                      <a:avLst/>
                    </a:prstGeom>
                  </p:spPr>
                  <p:txBody>
                    <a:bodyPr wrap="square">
                      <a:spAutoFit/>
                    </a:bodyPr>
                    <a:lstStyle/>
                    <a:p>
                      <a:pPr algn="ctr"/>
                      <a:r>
                        <a:rPr lang="en-US" altLang="zh-CN" dirty="0">
                          <a:latin typeface="+mn-lt"/>
                        </a:rPr>
                        <a:t>characteristic element</a:t>
                      </a:r>
                      <a:endParaRPr lang="zh-CN" altLang="en-US" dirty="0">
                        <a:latin typeface="+mn-lt"/>
                      </a:endParaRPr>
                    </a:p>
                  </p:txBody>
                </p:sp>
              </p:grpSp>
              <p:sp>
                <p:nvSpPr>
                  <p:cNvPr id="74" name="Rectangle 73"/>
                  <p:cNvSpPr/>
                  <p:nvPr/>
                </p:nvSpPr>
                <p:spPr>
                  <a:xfrm>
                    <a:off x="6551145" y="4149080"/>
                    <a:ext cx="2216828" cy="331899"/>
                  </a:xfrm>
                  <a:prstGeom prst="rect">
                    <a:avLst/>
                  </a:prstGeom>
                </p:spPr>
                <p:txBody>
                  <a:bodyPr wrap="square">
                    <a:spAutoFit/>
                  </a:bodyPr>
                  <a:lstStyle/>
                  <a:p>
                    <a:r>
                      <a:rPr lang="en-US" altLang="zh-CN" dirty="0">
                        <a:latin typeface="+mn-lt"/>
                      </a:rPr>
                      <a:t>lattice translation</a:t>
                    </a:r>
                    <a:endParaRPr lang="zh-CN" altLang="en-US" dirty="0">
                      <a:latin typeface="+mn-lt"/>
                    </a:endParaRPr>
                  </a:p>
                </p:txBody>
              </p:sp>
            </p:grpSp>
            <p:sp>
              <p:nvSpPr>
                <p:cNvPr id="78" name="TextBox 77"/>
                <p:cNvSpPr txBox="1"/>
                <p:nvPr/>
              </p:nvSpPr>
              <p:spPr>
                <a:xfrm>
                  <a:off x="558796" y="3036696"/>
                  <a:ext cx="2232223" cy="331899"/>
                </a:xfrm>
                <a:prstGeom prst="rect">
                  <a:avLst/>
                </a:prstGeom>
                <a:noFill/>
              </p:spPr>
              <p:txBody>
                <a:bodyPr wrap="square" rtlCol="0">
                  <a:spAutoFit/>
                </a:bodyPr>
                <a:lstStyle/>
                <a:p>
                  <a:pPr algn="ctr"/>
                  <a:r>
                    <a:rPr lang="en-US" altLang="zh-CN" dirty="0">
                      <a:latin typeface="+mn-lt"/>
                    </a:rPr>
                    <a:t>n groups</a:t>
                  </a:r>
                  <a:endParaRPr lang="zh-CN" altLang="en-US" dirty="0">
                    <a:latin typeface="+mn-lt"/>
                  </a:endParaRPr>
                </a:p>
              </p:txBody>
            </p:sp>
          </p:grpSp>
        </p:grpSp>
        <p:sp>
          <p:nvSpPr>
            <p:cNvPr id="82" name="TextBox 81"/>
            <p:cNvSpPr txBox="1"/>
            <p:nvPr/>
          </p:nvSpPr>
          <p:spPr>
            <a:xfrm>
              <a:off x="6490627" y="2978233"/>
              <a:ext cx="2232223" cy="331899"/>
            </a:xfrm>
            <a:prstGeom prst="rect">
              <a:avLst/>
            </a:prstGeom>
            <a:noFill/>
          </p:spPr>
          <p:txBody>
            <a:bodyPr wrap="square" rtlCol="0">
              <a:spAutoFit/>
            </a:bodyPr>
            <a:lstStyle/>
            <a:p>
              <a:pPr algn="ctr"/>
              <a:r>
                <a:rPr lang="en-US" altLang="zh-CN" dirty="0">
                  <a:latin typeface="+mn-lt"/>
                </a:rPr>
                <a:t>n sets</a:t>
              </a:r>
              <a:endParaRPr lang="zh-CN" altLang="en-US" dirty="0">
                <a:latin typeface="+mn-lt"/>
              </a:endParaRPr>
            </a:p>
          </p:txBody>
        </p:sp>
      </p:grpSp>
      <p:cxnSp>
        <p:nvCxnSpPr>
          <p:cNvPr id="84" name="Straight Arrow Connector 83"/>
          <p:cNvCxnSpPr>
            <a:stCxn id="40" idx="1"/>
          </p:cNvCxnSpPr>
          <p:nvPr/>
        </p:nvCxnSpPr>
        <p:spPr>
          <a:xfrm flipH="1">
            <a:off x="3810960" y="4896535"/>
            <a:ext cx="689370" cy="327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Rectangle 84"/>
          <p:cNvSpPr/>
          <p:nvPr/>
        </p:nvSpPr>
        <p:spPr>
          <a:xfrm>
            <a:off x="3493590" y="4992040"/>
            <a:ext cx="1445076" cy="369332"/>
          </a:xfrm>
          <a:prstGeom prst="rect">
            <a:avLst/>
          </a:prstGeom>
        </p:spPr>
        <p:txBody>
          <a:bodyPr wrap="none">
            <a:spAutoFit/>
          </a:bodyPr>
          <a:lstStyle/>
          <a:p>
            <a:r>
              <a:rPr lang="en-US" altLang="zh-CN" dirty="0">
                <a:latin typeface="+mn-lt"/>
              </a:rPr>
              <a:t>isomorphism</a:t>
            </a:r>
            <a:endParaRPr lang="zh-CN" altLang="en-US" dirty="0">
              <a:latin typeface="+mn-lt"/>
            </a:endParaRPr>
          </a:p>
        </p:txBody>
      </p:sp>
    </p:spTree>
  </p:cSld>
  <p:clrMapOvr>
    <a:masterClrMapping/>
  </p:clrMapOvr>
  <p:transition spd="med">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Homework</a:t>
            </a:r>
          </a:p>
        </p:txBody>
      </p:sp>
      <p:sp>
        <p:nvSpPr>
          <p:cNvPr id="7" name="Content Placeholder 6"/>
          <p:cNvSpPr>
            <a:spLocks noGrp="1"/>
          </p:cNvSpPr>
          <p:nvPr>
            <p:ph idx="1"/>
          </p:nvPr>
        </p:nvSpPr>
        <p:spPr/>
        <p:txBody>
          <a:bodyPr/>
          <a:lstStyle/>
          <a:p>
            <a:r>
              <a:rPr lang="en-US" dirty="0"/>
              <a:t>All the exercises in the </a:t>
            </a:r>
            <a:r>
              <a:rPr lang="en-US" dirty="0" err="1"/>
              <a:t>ppt</a:t>
            </a:r>
            <a:endParaRPr lang="en-US" dirty="0"/>
          </a:p>
          <a:p>
            <a:r>
              <a:rPr lang="en-US" altLang="zh-CN" dirty="0">
                <a:latin typeface="Times New Roman" panose="02020603050405020304" pitchFamily="18" charset="0"/>
              </a:rPr>
              <a:t>Find the exact positions one by one corresponding to the general equivalent point system (table 7-6 in textbook) space group </a:t>
            </a:r>
            <a:r>
              <a:rPr lang="en-US" altLang="zh-CN" dirty="0" err="1">
                <a:latin typeface="Times New Roman" panose="02020603050405020304" pitchFamily="18" charset="0"/>
              </a:rPr>
              <a:t>Pnma</a:t>
            </a:r>
            <a:endParaRPr lang="zh-CN" altLang="en-US" dirty="0">
              <a:latin typeface="Times New Roman" panose="02020603050405020304" pitchFamily="18" charset="0"/>
            </a:endParaRPr>
          </a:p>
          <a:p>
            <a:endParaRPr lang="en-US" dirty="0"/>
          </a:p>
        </p:txBody>
      </p:sp>
    </p:spTree>
  </p:cSld>
  <p:clrMapOvr>
    <a:masterClrMapping/>
  </p:clrMapOvr>
  <p:transition spd="med">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7319</Words>
  <Application>Microsoft Office PowerPoint</Application>
  <PresentationFormat>全屏显示(4:3)</PresentationFormat>
  <Paragraphs>954</Paragraphs>
  <Slides>111</Slides>
  <Notes>40</Notes>
  <HiddenSlides>23</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111</vt:i4>
      </vt:variant>
    </vt:vector>
  </HeadingPairs>
  <TitlesOfParts>
    <vt:vector size="125" baseType="lpstr">
      <vt:lpstr>黑体</vt:lpstr>
      <vt:lpstr>隶书</vt:lpstr>
      <vt:lpstr>宋体</vt:lpstr>
      <vt:lpstr>微软雅黑</vt:lpstr>
      <vt:lpstr>Arial</vt:lpstr>
      <vt:lpstr>Calibri</vt:lpstr>
      <vt:lpstr>Cambria Math</vt:lpstr>
      <vt:lpstr>Century Schoolbook</vt:lpstr>
      <vt:lpstr>Franklin Gothic Book</vt:lpstr>
      <vt:lpstr>Franklin Gothic Medium</vt:lpstr>
      <vt:lpstr>Times New Roman</vt:lpstr>
      <vt:lpstr>Wingdings</vt:lpstr>
      <vt:lpstr>Office Theme</vt:lpstr>
      <vt:lpstr>Microsoft Equation 3.0</vt:lpstr>
      <vt:lpstr>Chap.6 Microscopic symmetry and space groups of crystals </vt:lpstr>
      <vt:lpstr>Macroscopic and microscopic symmetry of crystals</vt:lpstr>
      <vt:lpstr>Examples</vt:lpstr>
      <vt:lpstr>Macroscopic symmetry element in crystals</vt:lpstr>
      <vt:lpstr>Combination of macroscopic symmetry elements</vt:lpstr>
      <vt:lpstr>Combination of macroscopic symmetry elements</vt:lpstr>
      <vt:lpstr>Combination of macroscopic symmetry elements</vt:lpstr>
      <vt:lpstr>Combination of macroscopic symmetry elements</vt:lpstr>
      <vt:lpstr>Symmetry elements of 32 crystallographic point groups</vt:lpstr>
      <vt:lpstr>Symmetry elements of 32 crystallographic point groups</vt:lpstr>
      <vt:lpstr>Characteristic symmetry elements</vt:lpstr>
      <vt:lpstr>Characteristic symmetry elements</vt:lpstr>
      <vt:lpstr>Characteristic symmetry elements of seven crystal systems </vt:lpstr>
      <vt:lpstr>Classification of crystal systems and the selection of crystal axis</vt:lpstr>
      <vt:lpstr>PowerPoint 演示文稿</vt:lpstr>
      <vt:lpstr>PowerPoint 演示文稿</vt:lpstr>
      <vt:lpstr>Significance of the point groups</vt:lpstr>
      <vt:lpstr>Point groups and physical properties</vt:lpstr>
      <vt:lpstr>PowerPoint 演示文稿</vt:lpstr>
      <vt:lpstr>Microscopic symmetry of crystals</vt:lpstr>
      <vt:lpstr>Microscopic symmetry of crystals</vt:lpstr>
      <vt:lpstr>Microscopic symmetry elements of crystals </vt:lpstr>
      <vt:lpstr>Lattice and translation operation</vt:lpstr>
      <vt:lpstr>Translation vector</vt:lpstr>
      <vt:lpstr>Additional translation vector in complex lattice</vt:lpstr>
      <vt:lpstr>Microscopic symmetry elements of crystals </vt:lpstr>
      <vt:lpstr>Microscopic symmetry elements of crystals </vt:lpstr>
      <vt:lpstr>PowerPoint 演示文稿</vt:lpstr>
      <vt:lpstr>What does  ns mean respectively?</vt:lpstr>
      <vt:lpstr>PowerPoint 演示文稿</vt:lpstr>
      <vt:lpstr>Examples</vt:lpstr>
      <vt:lpstr>PowerPoint 演示文稿</vt:lpstr>
      <vt:lpstr>PowerPoint 演示文稿</vt:lpstr>
      <vt:lpstr>Microscopic symmetry elements of crystals </vt:lpstr>
      <vt:lpstr>PowerPoint 演示文稿</vt:lpstr>
      <vt:lpstr>PowerPoint 演示文稿</vt:lpstr>
      <vt:lpstr>PowerPoint 演示文稿</vt:lpstr>
      <vt:lpstr>PowerPoint 演示文稿</vt:lpstr>
      <vt:lpstr>PowerPoint 演示文稿</vt:lpstr>
      <vt:lpstr>PowerPoint 演示文稿</vt:lpstr>
      <vt:lpstr>Microscopic symmetry elements of crystals </vt:lpstr>
      <vt:lpstr>PowerPoint 演示文稿</vt:lpstr>
      <vt:lpstr>PowerPoint 演示文稿</vt:lpstr>
      <vt:lpstr>PowerPoint 演示文稿</vt:lpstr>
      <vt:lpstr>Symmetry elements and symbols</vt:lpstr>
      <vt:lpstr>PowerPoint 演示文稿</vt:lpstr>
      <vt:lpstr>Space Groups</vt:lpstr>
      <vt:lpstr>2D Groups (plane groups)</vt:lpstr>
      <vt:lpstr>HRTEM  images of certain axial directions in silicon crystals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3D space group</vt:lpstr>
      <vt:lpstr>The relationship of macroscopic symmetry and microscopic symmetry</vt:lpstr>
      <vt:lpstr>Isomorphic space group(同形空间群)</vt:lpstr>
      <vt:lpstr>The derivation of space group</vt:lpstr>
      <vt:lpstr>The derivation of space group</vt:lpstr>
      <vt:lpstr>PowerPoint 演示文稿</vt:lpstr>
      <vt:lpstr>PowerPoint 演示文稿</vt:lpstr>
      <vt:lpstr>PowerPoint 演示文稿</vt:lpstr>
      <vt:lpstr>PowerPoint 演示文稿</vt:lpstr>
      <vt:lpstr>PowerPoint 演示文稿</vt:lpstr>
      <vt:lpstr>Type and distribution of 230 space groups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P21/c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Homework</vt:lpstr>
    </vt:vector>
  </TitlesOfParts>
  <Company>MSE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晶体内部结构的微观对称 </dc:title>
  <dc:creator>Tan Jin</dc:creator>
  <cp:lastModifiedBy>cheng chun</cp:lastModifiedBy>
  <cp:revision>1252</cp:revision>
  <dcterms:created xsi:type="dcterms:W3CDTF">2000-10-08T13:26:00Z</dcterms:created>
  <dcterms:modified xsi:type="dcterms:W3CDTF">2020-12-08T08:00:25Z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