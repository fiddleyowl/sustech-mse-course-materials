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heme/themeOverride1.xml" ContentType="application/vnd.openxmlformats-officedocument.themeOverr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heme/themeOverride2.xml" ContentType="application/vnd.openxmlformats-officedocument.themeOverride+xml"/>
  <Override PartName="/ppt/notesSlides/notesSlide34.xml" ContentType="application/vnd.openxmlformats-officedocument.presentationml.notesSlide+xml"/>
  <Override PartName="/ppt/theme/themeOverride3.xml" ContentType="application/vnd.openxmlformats-officedocument.themeOverride+xml"/>
  <Override PartName="/ppt/notesSlides/notesSlide35.xml" ContentType="application/vnd.openxmlformats-officedocument.presentationml.notesSlide+xml"/>
  <Override PartName="/ppt/theme/themeOverride4.xml" ContentType="application/vnd.openxmlformats-officedocument.themeOverride+xml"/>
  <Override PartName="/ppt/notesSlides/notesSlide36.xml" ContentType="application/vnd.openxmlformats-officedocument.presentationml.notesSlide+xml"/>
  <Override PartName="/ppt/theme/themeOverride5.xml" ContentType="application/vnd.openxmlformats-officedocument.themeOverr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heme/themeOverride6.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9"/>
  </p:notesMasterIdLst>
  <p:handoutMasterIdLst>
    <p:handoutMasterId r:id="rId90"/>
  </p:handoutMasterIdLst>
  <p:sldIdLst>
    <p:sldId id="288" r:id="rId2"/>
    <p:sldId id="380" r:id="rId3"/>
    <p:sldId id="466" r:id="rId4"/>
    <p:sldId id="355" r:id="rId5"/>
    <p:sldId id="328" r:id="rId6"/>
    <p:sldId id="334" r:id="rId7"/>
    <p:sldId id="461" r:id="rId8"/>
    <p:sldId id="416" r:id="rId9"/>
    <p:sldId id="417" r:id="rId10"/>
    <p:sldId id="381" r:id="rId11"/>
    <p:sldId id="468" r:id="rId12"/>
    <p:sldId id="459" r:id="rId13"/>
    <p:sldId id="382" r:id="rId14"/>
    <p:sldId id="383" r:id="rId15"/>
    <p:sldId id="384" r:id="rId16"/>
    <p:sldId id="385" r:id="rId17"/>
    <p:sldId id="386" r:id="rId18"/>
    <p:sldId id="387" r:id="rId19"/>
    <p:sldId id="331" r:id="rId20"/>
    <p:sldId id="465" r:id="rId21"/>
    <p:sldId id="388" r:id="rId22"/>
    <p:sldId id="329" r:id="rId23"/>
    <p:sldId id="462" r:id="rId24"/>
    <p:sldId id="463" r:id="rId25"/>
    <p:sldId id="464" r:id="rId26"/>
    <p:sldId id="330" r:id="rId27"/>
    <p:sldId id="365" r:id="rId28"/>
    <p:sldId id="366" r:id="rId29"/>
    <p:sldId id="389" r:id="rId30"/>
    <p:sldId id="337" r:id="rId31"/>
    <p:sldId id="276" r:id="rId32"/>
    <p:sldId id="277" r:id="rId33"/>
    <p:sldId id="332" r:id="rId34"/>
    <p:sldId id="460" r:id="rId35"/>
    <p:sldId id="271" r:id="rId36"/>
    <p:sldId id="333" r:id="rId37"/>
    <p:sldId id="390" r:id="rId38"/>
    <p:sldId id="469" r:id="rId39"/>
    <p:sldId id="391" r:id="rId40"/>
    <p:sldId id="392" r:id="rId41"/>
    <p:sldId id="393" r:id="rId42"/>
    <p:sldId id="394" r:id="rId43"/>
    <p:sldId id="395" r:id="rId44"/>
    <p:sldId id="396" r:id="rId45"/>
    <p:sldId id="397" r:id="rId46"/>
    <p:sldId id="398" r:id="rId47"/>
    <p:sldId id="399" r:id="rId48"/>
    <p:sldId id="400" r:id="rId49"/>
    <p:sldId id="401" r:id="rId50"/>
    <p:sldId id="351" r:id="rId51"/>
    <p:sldId id="283" r:id="rId52"/>
    <p:sldId id="284" r:id="rId53"/>
    <p:sldId id="303" r:id="rId54"/>
    <p:sldId id="402" r:id="rId55"/>
    <p:sldId id="304" r:id="rId56"/>
    <p:sldId id="367" r:id="rId57"/>
    <p:sldId id="379" r:id="rId58"/>
    <p:sldId id="369" r:id="rId59"/>
    <p:sldId id="368" r:id="rId60"/>
    <p:sldId id="403" r:id="rId61"/>
    <p:sldId id="285" r:id="rId62"/>
    <p:sldId id="467" r:id="rId63"/>
    <p:sldId id="404" r:id="rId64"/>
    <p:sldId id="470" r:id="rId65"/>
    <p:sldId id="406" r:id="rId66"/>
    <p:sldId id="407" r:id="rId67"/>
    <p:sldId id="286" r:id="rId68"/>
    <p:sldId id="339" r:id="rId69"/>
    <p:sldId id="338" r:id="rId70"/>
    <p:sldId id="305" r:id="rId71"/>
    <p:sldId id="323" r:id="rId72"/>
    <p:sldId id="306" r:id="rId73"/>
    <p:sldId id="307" r:id="rId74"/>
    <p:sldId id="308" r:id="rId75"/>
    <p:sldId id="287" r:id="rId76"/>
    <p:sldId id="410" r:id="rId77"/>
    <p:sldId id="409" r:id="rId78"/>
    <p:sldId id="411" r:id="rId79"/>
    <p:sldId id="414" r:id="rId80"/>
    <p:sldId id="412" r:id="rId81"/>
    <p:sldId id="413" r:id="rId82"/>
    <p:sldId id="415" r:id="rId83"/>
    <p:sldId id="324" r:id="rId84"/>
    <p:sldId id="325" r:id="rId85"/>
    <p:sldId id="319" r:id="rId86"/>
    <p:sldId id="316" r:id="rId87"/>
    <p:sldId id="321" r:id="rId88"/>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FF9900"/>
    <a:srgbClr val="0000FF"/>
    <a:srgbClr val="FF0066"/>
    <a:srgbClr val="7A7A7A"/>
    <a:srgbClr val="FF3300"/>
    <a:srgbClr val="0066CC"/>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93127" autoAdjust="0"/>
  </p:normalViewPr>
  <p:slideViewPr>
    <p:cSldViewPr>
      <p:cViewPr varScale="1">
        <p:scale>
          <a:sx n="79" d="100"/>
          <a:sy n="79" d="100"/>
        </p:scale>
        <p:origin x="1282"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atin typeface="Times New Roman" panose="02020603050405020304" pitchFamily="18" charset="0"/>
              </a:defRPr>
            </a:lvl1pPr>
          </a:lstStyle>
          <a:p>
            <a:pPr>
              <a:defRPr/>
            </a:pPr>
            <a:fld id="{40064128-7D1C-4FA1-AFCC-3E65C93A1488}"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imes New Roman" panose="02020603050405020304" pitchFamily="18"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Times New Roman" panose="02020603050405020304" pitchFamily="18" charset="0"/>
              </a:defRPr>
            </a:lvl1pPr>
          </a:lstStyle>
          <a:p>
            <a:pPr>
              <a:defRPr/>
            </a:pPr>
            <a:fld id="{468FB1A9-D05F-4303-BCA5-D6584C60F5C1}" type="datetimeFigureOut">
              <a:rPr lang="en-US"/>
              <a:t>9/7/2021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pPr>
              <a:defRPr/>
            </a:pPr>
            <a:fld id="{3C9865B4-5489-4239-A523-6532B63A2C40}" type="slidenum">
              <a:rPr lang="en-US"/>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www.britannica.com/science/long-range-order" TargetMode="External"/><Relationship Id="rId2" Type="http://schemas.openxmlformats.org/officeDocument/2006/relationships/slide" Target="../slides/slide30.xml"/><Relationship Id="rId1" Type="http://schemas.openxmlformats.org/officeDocument/2006/relationships/notesMaster" Target="../notesMasters/notesMaster1.xml"/><Relationship Id="rId6" Type="http://schemas.openxmlformats.org/officeDocument/2006/relationships/hyperlink" Target="https://www.britannica.com/science/liquid-state-of-matter" TargetMode="External"/><Relationship Id="rId5" Type="http://schemas.openxmlformats.org/officeDocument/2006/relationships/hyperlink" Target="https://www.britannica.com/science/phase-state-of-matter" TargetMode="External"/><Relationship Id="rId4" Type="http://schemas.openxmlformats.org/officeDocument/2006/relationships/hyperlink" Target="https://www.britannica.com/science/short-range-order"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17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en-US" sz="1200" b="0" i="0" kern="1200" dirty="0">
                <a:solidFill>
                  <a:schemeClr val="tx1"/>
                </a:solidFill>
                <a:effectLst/>
                <a:latin typeface="+mn-lt"/>
                <a:ea typeface="+mn-ea"/>
                <a:cs typeface="+mn-cs"/>
              </a:rPr>
              <a:t>Upperclassman </a:t>
            </a:r>
            <a:r>
              <a:rPr lang="zh-CN" altLang="en-US" sz="1200" b="0" i="0" kern="1200" dirty="0">
                <a:solidFill>
                  <a:schemeClr val="tx1"/>
                </a:solidFill>
                <a:effectLst/>
                <a:latin typeface="+mn-lt"/>
                <a:ea typeface="+mn-ea"/>
                <a:cs typeface="+mn-cs"/>
              </a:rPr>
              <a:t>学长</a:t>
            </a:r>
            <a:endParaRPr lang="en-US" altLang="zh-CN" sz="1200" b="0" i="0" kern="1200" dirty="0">
              <a:solidFill>
                <a:schemeClr val="tx1"/>
              </a:solidFill>
              <a:effectLst/>
              <a:latin typeface="+mn-lt"/>
              <a:ea typeface="+mn-ea"/>
              <a:cs typeface="+mn-cs"/>
            </a:endParaRPr>
          </a:p>
          <a:p>
            <a:endParaRPr lang="en-US"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Class</a:t>
            </a:r>
            <a:r>
              <a:rPr lang="en-US" altLang="zh-CN" sz="1200" b="0" i="0" kern="1200" baseline="0" dirty="0">
                <a:solidFill>
                  <a:schemeClr val="tx1"/>
                </a:solidFill>
                <a:effectLst/>
                <a:latin typeface="+mn-lt"/>
                <a:ea typeface="+mn-ea"/>
                <a:cs typeface="+mn-cs"/>
              </a:rPr>
              <a:t> I is bilingual and class II is taught in English.</a:t>
            </a:r>
            <a:endParaRPr lang="en-US" altLang="en-US" dirty="0">
              <a:ea typeface="宋体" panose="02010600030101010101" pitchFamily="2" charset="-122"/>
            </a:endParaRPr>
          </a:p>
        </p:txBody>
      </p:sp>
      <p:sp>
        <p:nvSpPr>
          <p:cNvPr id="2170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1DFD7EE6-DC66-43FD-BE28-1CC3E905DBDF}" type="slidenum">
              <a:rPr lang="en-US" altLang="en-US" smtClean="0">
                <a:latin typeface="Times New Roman" panose="02020603050405020304" pitchFamily="18" charset="0"/>
              </a:rPr>
              <a:t>2</a:t>
            </a:fld>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analyze the crystal structure, we need to project the crystal, to simplify the three-dimensional problem into a two-dimensional one; At the same time, we have some </a:t>
            </a:r>
            <a:r>
              <a:rPr lang="en-US" altLang="zh-CN" dirty="0"/>
              <a:t>specific </a:t>
            </a:r>
            <a:r>
              <a:rPr lang="en-US" dirty="0"/>
              <a:t>terms for describing the structure of crystals. Next, we study crystal from macroscopic and microscopic symmetry aspects. Finally we discuss the ideal form of crystals deduced</a:t>
            </a:r>
            <a:r>
              <a:rPr lang="en-US" baseline="0" dirty="0"/>
              <a:t> by</a:t>
            </a:r>
            <a:r>
              <a:rPr lang="en-US" dirty="0"/>
              <a:t> the </a:t>
            </a:r>
            <a:r>
              <a:rPr lang="en-US"/>
              <a:t>space groups. </a:t>
            </a:r>
            <a:r>
              <a:rPr lang="en-US" dirty="0"/>
              <a:t>All the above are ideal crystals, and all the crystals that exist in nature are imperfect, so let's take a closer look at the defects in crystals. For 9 through 12</a:t>
            </a:r>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8307"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defRPr/>
            </a:pPr>
            <a:r>
              <a:rPr lang="en-US" altLang="zh-CN" b="0" dirty="0">
                <a:solidFill>
                  <a:schemeClr val="bg1"/>
                </a:solidFill>
                <a:effectLst/>
              </a:rPr>
              <a:t>What you're most concerned about is how this class is graded.</a:t>
            </a:r>
          </a:p>
          <a:p>
            <a:pPr>
              <a:defRPr/>
            </a:pPr>
            <a:r>
              <a:rPr lang="en-US" altLang="zh-CN" b="0" dirty="0">
                <a:solidFill>
                  <a:schemeClr val="bg1"/>
                </a:solidFill>
                <a:effectLst/>
              </a:rPr>
              <a:t>The total score is made up of seven parts: 100 points plus 5 bonus points.</a:t>
            </a:r>
          </a:p>
          <a:p>
            <a:pPr>
              <a:defRPr/>
            </a:pPr>
            <a:endParaRPr lang="en-US" altLang="zh-CN" b="0" dirty="0">
              <a:solidFill>
                <a:schemeClr val="bg1"/>
              </a:solidFill>
              <a:effectLst/>
            </a:endParaRPr>
          </a:p>
          <a:p>
            <a:pPr>
              <a:defRPr/>
            </a:pPr>
            <a:r>
              <a:rPr lang="zh-CN" altLang="en-US" b="1" dirty="0">
                <a:solidFill>
                  <a:schemeClr val="bg1"/>
                </a:solidFill>
                <a:effectLst>
                  <a:outerShdw blurRad="38100" dist="38100" dir="2700000" algn="tl">
                    <a:srgbClr val="000000">
                      <a:alpha val="43137"/>
                    </a:srgbClr>
                  </a:outerShdw>
                </a:effectLst>
              </a:rPr>
              <a:t>期中考试前如果有</a:t>
            </a:r>
            <a:r>
              <a:rPr lang="en-US" altLang="zh-CN" b="1" dirty="0">
                <a:solidFill>
                  <a:schemeClr val="bg1"/>
                </a:solidFill>
                <a:effectLst>
                  <a:outerShdw blurRad="38100" dist="38100" dir="2700000" algn="tl">
                    <a:srgbClr val="000000">
                      <a:alpha val="43137"/>
                    </a:srgbClr>
                  </a:outerShdw>
                </a:effectLst>
              </a:rPr>
              <a:t>5</a:t>
            </a:r>
            <a:r>
              <a:rPr lang="zh-CN" altLang="en-US" b="1" dirty="0">
                <a:solidFill>
                  <a:schemeClr val="bg1"/>
                </a:solidFill>
                <a:effectLst>
                  <a:outerShdw blurRad="38100" dist="38100" dir="2700000" algn="tl">
                    <a:srgbClr val="000000">
                      <a:alpha val="43137"/>
                    </a:srgbClr>
                  </a:outerShdw>
                </a:effectLst>
              </a:rPr>
              <a:t>次记录没有来上课的，请自动退课</a:t>
            </a:r>
            <a:r>
              <a:rPr lang="en-US" altLang="zh-CN" b="1" dirty="0">
                <a:solidFill>
                  <a:schemeClr val="bg1"/>
                </a:solidFill>
                <a:effectLst>
                  <a:outerShdw blurRad="38100" dist="38100" dir="2700000" algn="tl">
                    <a:srgbClr val="000000">
                      <a:alpha val="43137"/>
                    </a:srgbClr>
                  </a:outerShdw>
                </a:effectLst>
              </a:rPr>
              <a:t>; </a:t>
            </a:r>
            <a:r>
              <a:rPr lang="zh-CN" altLang="en-US" b="1" dirty="0">
                <a:solidFill>
                  <a:schemeClr val="bg1"/>
                </a:solidFill>
                <a:effectLst>
                  <a:outerShdw blurRad="38100" dist="38100" dir="2700000" algn="tl">
                    <a:srgbClr val="000000">
                      <a:alpha val="43137"/>
                    </a:srgbClr>
                  </a:outerShdw>
                </a:effectLst>
              </a:rPr>
              <a:t>有特别事情，可以向助教请假，不算旷课</a:t>
            </a:r>
          </a:p>
          <a:p>
            <a:r>
              <a:rPr lang="en-US" sz="1200" b="0" i="0" kern="1200" dirty="0">
                <a:solidFill>
                  <a:schemeClr val="tx1"/>
                </a:solidFill>
                <a:effectLst/>
                <a:latin typeface="+mn-lt"/>
                <a:ea typeface="+mn-ea"/>
                <a:cs typeface="+mn-cs"/>
              </a:rPr>
              <a:t>Please automatically drop out of class if you miss five times</a:t>
            </a:r>
          </a:p>
          <a:p>
            <a:endParaRPr 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Check attendance of your guys</a:t>
            </a:r>
            <a:r>
              <a:rPr lang="en-US" altLang="zh-CN" sz="1200" b="0" i="0" kern="1200" baseline="0" dirty="0">
                <a:solidFill>
                  <a:schemeClr val="tx1"/>
                </a:solidFill>
                <a:effectLst/>
                <a:latin typeface="+mn-lt"/>
                <a:ea typeface="+mn-ea"/>
                <a:cs typeface="+mn-cs"/>
              </a:rPr>
              <a:t> by the signature</a:t>
            </a:r>
            <a:endParaRPr lang="en-US" sz="1200" b="0" i="0" kern="1200" dirty="0">
              <a:solidFill>
                <a:schemeClr val="tx1"/>
              </a:solidFill>
              <a:effectLst/>
              <a:latin typeface="+mn-lt"/>
              <a:ea typeface="+mn-ea"/>
              <a:cs typeface="+mn-cs"/>
            </a:endParaRPr>
          </a:p>
        </p:txBody>
      </p:sp>
      <p:sp>
        <p:nvSpPr>
          <p:cNvPr id="2181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368CB608-9D17-499B-8DAA-7FBFCC1A66D1}" type="slidenum">
              <a:rPr lang="en-US" altLang="en-US" smtClean="0">
                <a:latin typeface="Times New Roman" panose="02020603050405020304" pitchFamily="18" charset="0"/>
              </a:rPr>
              <a:t>6</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punishment is quite harsh/severe.</a:t>
            </a:r>
          </a:p>
          <a:p>
            <a:endParaRPr lang="en-US" dirty="0"/>
          </a:p>
          <a:p>
            <a:r>
              <a:rPr lang="en-US" dirty="0"/>
              <a:t>I'm not against you playing games, but against doing the wrong thing at the wrong time and place. Classroom is only</a:t>
            </a:r>
            <a:r>
              <a:rPr lang="en-US" baseline="0" dirty="0"/>
              <a:t> for study.</a:t>
            </a:r>
          </a:p>
          <a:p>
            <a:endParaRPr lang="en-US" baseline="0" dirty="0"/>
          </a:p>
          <a:p>
            <a:r>
              <a:rPr lang="en-US" altLang="zh-CN" baseline="0" dirty="0"/>
              <a:t>Good study habits</a:t>
            </a:r>
            <a:r>
              <a:rPr lang="zh-CN" altLang="en-US" baseline="0" dirty="0"/>
              <a:t>！</a:t>
            </a:r>
            <a:endParaRPr lang="en-US" dirty="0"/>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sz="1200" b="0" i="0" kern="1200" dirty="0">
                <a:solidFill>
                  <a:schemeClr val="tx1"/>
                </a:solidFill>
                <a:effectLst/>
                <a:latin typeface="+mn-lt"/>
                <a:ea typeface="+mn-ea"/>
                <a:cs typeface="+mn-cs"/>
              </a:rPr>
              <a:t>Usually when we talk about crystals, there</a:t>
            </a:r>
            <a:r>
              <a:rPr lang="en-US" sz="1200" b="0" i="0" kern="1200" baseline="0" dirty="0">
                <a:solidFill>
                  <a:schemeClr val="tx1"/>
                </a:solidFill>
                <a:effectLst/>
                <a:latin typeface="+mn-lt"/>
                <a:ea typeface="+mn-ea"/>
                <a:cs typeface="+mn-cs"/>
              </a:rPr>
              <a:t> will be a quartz-like solid in our brains</a:t>
            </a:r>
            <a:r>
              <a:rPr lang="en-US" sz="1200" b="0" i="0" kern="1200" dirty="0">
                <a:solidFill>
                  <a:schemeClr val="tx1"/>
                </a:solidFill>
                <a:effectLst/>
                <a:latin typeface="+mn-lt"/>
                <a:ea typeface="+mn-ea"/>
                <a:cs typeface="+mn-cs"/>
              </a:rPr>
              <a:t>, transparent, hard.</a:t>
            </a:r>
            <a:r>
              <a:rPr lang="en-US" sz="1200" b="0" i="0" kern="1200" baseline="0" dirty="0">
                <a:solidFill>
                  <a:schemeClr val="tx1"/>
                </a:solidFill>
                <a:effectLst/>
                <a:latin typeface="+mn-lt"/>
                <a:ea typeface="+mn-ea"/>
                <a:cs typeface="+mn-cs"/>
              </a:rPr>
              <a:t> However </a:t>
            </a:r>
            <a:r>
              <a:rPr lang="en-US" sz="1200" b="0" i="0" kern="1200" dirty="0">
                <a:solidFill>
                  <a:schemeClr val="tx1"/>
                </a:solidFill>
                <a:effectLst/>
                <a:latin typeface="+mn-lt"/>
                <a:ea typeface="+mn-ea"/>
                <a:cs typeface="+mn-cs"/>
              </a:rPr>
              <a:t>this is just </a:t>
            </a:r>
            <a:r>
              <a:rPr lang="en-US" altLang="zh-CN" sz="1200" b="0" i="0" kern="1200" dirty="0">
                <a:solidFill>
                  <a:schemeClr val="tx1"/>
                </a:solidFill>
                <a:effectLst/>
                <a:latin typeface="+mn-lt"/>
                <a:ea typeface="+mn-ea"/>
                <a:cs typeface="+mn-cs"/>
              </a:rPr>
              <a:t>quite </a:t>
            </a:r>
            <a:r>
              <a:rPr lang="en-US" sz="1200" b="0" i="0" kern="1200" dirty="0">
                <a:solidFill>
                  <a:schemeClr val="tx1"/>
                </a:solidFill>
                <a:effectLst/>
                <a:latin typeface="+mn-lt"/>
                <a:ea typeface="+mn-ea"/>
                <a:cs typeface="+mn-cs"/>
              </a:rPr>
              <a:t>superficial impression and understanding. What is crystal, why do we study crystal, what is crystallography, what are the intrinsic properties of crystals? That's what we're going to discuss.</a:t>
            </a:r>
            <a:endParaRPr lang="en-US" dirty="0"/>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“哲学是关于世界观和方法论的理论体系。世界观是关于世界的本质、发展的根本规律、人的思维与存在的根本关系的认识，方法论是人类认识世界的根本方法。方法论是世界观的功能，世界观决定方法论。”</a:t>
            </a:r>
          </a:p>
        </p:txBody>
      </p:sp>
      <p:sp>
        <p:nvSpPr>
          <p:cNvPr id="4" name="灯片编号占位符 3"/>
          <p:cNvSpPr>
            <a:spLocks noGrp="1"/>
          </p:cNvSpPr>
          <p:nvPr>
            <p:ph type="sldNum" sz="quarter" idx="5"/>
          </p:nvPr>
        </p:nvSpPr>
        <p:spPr/>
        <p:txBody>
          <a:bodyPr/>
          <a:lstStyle/>
          <a:p>
            <a:pPr>
              <a:defRPr/>
            </a:pPr>
            <a:fld id="{3C9865B4-5489-4239-A523-6532B63A2C40}" type="slidenum">
              <a:rPr lang="en-US" smtClean="0"/>
              <a:t>11</a:t>
            </a:fld>
            <a:endParaRPr lang="en-US"/>
          </a:p>
        </p:txBody>
      </p:sp>
    </p:spTree>
    <p:extLst>
      <p:ext uri="{BB962C8B-B14F-4D97-AF65-F5344CB8AC3E}">
        <p14:creationId xmlns:p14="http://schemas.microsoft.com/office/powerpoint/2010/main" val="4239184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sz="1200" b="0" i="0" kern="1200" dirty="0">
                <a:solidFill>
                  <a:schemeClr val="tx1"/>
                </a:solidFill>
                <a:effectLst/>
                <a:latin typeface="+mn-lt"/>
                <a:ea typeface="+mn-ea"/>
                <a:cs typeface="+mn-cs"/>
              </a:rPr>
              <a:t>Human history has gone through four eras</a:t>
            </a:r>
            <a:r>
              <a:rPr lang="zh-CN" altLang="en-US" sz="1200" b="0" i="0" kern="1200" dirty="0">
                <a:solidFill>
                  <a:schemeClr val="tx1"/>
                </a:solidFill>
                <a:effectLst/>
                <a:latin typeface="+mn-lt"/>
                <a:ea typeface="+mn-ea"/>
                <a:cs typeface="+mn-cs"/>
              </a:rPr>
              <a:t>！</a:t>
            </a:r>
            <a:r>
              <a:rPr lang="en-US" altLang="en-US" sz="1200" b="0" dirty="0">
                <a:latin typeface="Times New Roman" panose="02020603050405020304" pitchFamily="18" charset="0"/>
                <a:ea typeface="宋体" panose="02010600030101010101" pitchFamily="2" charset="-122"/>
              </a:rPr>
              <a:t>From the stone age, bronze ware, iron age to the present silicon information age, every great social progress depended on the discovery and application of new materials.</a:t>
            </a:r>
          </a:p>
          <a:p>
            <a:pPr marL="0" marR="0" indent="0" algn="l" defTabSz="914400" rtl="0" eaLnBrk="0" fontAlgn="base" latinLnBrk="0" hangingPunct="0">
              <a:lnSpc>
                <a:spcPct val="100000"/>
              </a:lnSpc>
              <a:spcBef>
                <a:spcPct val="30000"/>
              </a:spcBef>
              <a:spcAft>
                <a:spcPct val="0"/>
              </a:spcAft>
              <a:buClrTx/>
              <a:buSzTx/>
              <a:buFontTx/>
              <a:buNone/>
              <a:defRPr/>
            </a:pPr>
            <a:endParaRPr lang="en-US" altLang="en-US" sz="1200" b="0" dirty="0">
              <a:latin typeface="Times New Roman" panose="02020603050405020304" pitchFamily="18" charset="0"/>
              <a:ea typeface="宋体" panose="02010600030101010101" pitchFamily="2" charset="-122"/>
            </a:endParaRPr>
          </a:p>
          <a:p>
            <a:pPr marL="0" marR="0" indent="0" algn="l" defTabSz="914400" rtl="0" eaLnBrk="0" fontAlgn="base" latinLnBrk="0" hangingPunct="0">
              <a:lnSpc>
                <a:spcPct val="100000"/>
              </a:lnSpc>
              <a:spcBef>
                <a:spcPct val="30000"/>
              </a:spcBef>
              <a:spcAft>
                <a:spcPct val="0"/>
              </a:spcAft>
              <a:buClrTx/>
              <a:buSzTx/>
              <a:buFontTx/>
              <a:buNone/>
              <a:defRPr/>
            </a:pPr>
            <a:r>
              <a:rPr lang="en-US" altLang="en-US" sz="1200" b="0" dirty="0">
                <a:latin typeface="Times New Roman" panose="02020603050405020304" pitchFamily="18" charset="0"/>
                <a:ea typeface="宋体" panose="02010600030101010101" pitchFamily="2" charset="-122"/>
              </a:rPr>
              <a:t>In the Stone Age, humans used stones directly as </a:t>
            </a:r>
            <a:r>
              <a:rPr lang="en-US" altLang="en-US" sz="1200" b="0" dirty="0" err="1">
                <a:latin typeface="Times New Roman" panose="02020603050405020304" pitchFamily="18" charset="0"/>
                <a:ea typeface="宋体" panose="02010600030101010101" pitchFamily="2" charset="-122"/>
              </a:rPr>
              <a:t>tools;In</a:t>
            </a:r>
            <a:r>
              <a:rPr lang="en-US" altLang="en-US" sz="1200" b="0" dirty="0">
                <a:latin typeface="Times New Roman" panose="02020603050405020304" pitchFamily="18" charset="0"/>
                <a:ea typeface="宋体" panose="02010600030101010101" pitchFamily="2" charset="-122"/>
              </a:rPr>
              <a:t> the Bronze Age, due to the mature use of fire by human beings, alloy metal bronze with relatively low melting point could be smelted as materials for various tools and </a:t>
            </a:r>
            <a:r>
              <a:rPr lang="en-US" altLang="en-US" sz="1200" b="0" dirty="0" err="1">
                <a:latin typeface="Times New Roman" panose="02020603050405020304" pitchFamily="18" charset="0"/>
                <a:ea typeface="宋体" panose="02010600030101010101" pitchFamily="2" charset="-122"/>
              </a:rPr>
              <a:t>weapons.In</a:t>
            </a:r>
            <a:r>
              <a:rPr lang="en-US" altLang="en-US" sz="1200" b="0" dirty="0">
                <a:latin typeface="Times New Roman" panose="02020603050405020304" pitchFamily="18" charset="0"/>
                <a:ea typeface="宋体" panose="02010600030101010101" pitchFamily="2" charset="-122"/>
              </a:rPr>
              <a:t> the iron age, humans mastered the method of producing higher temperatures, and were able to smelting high temperature and high hardness metal iron, which was widely used in agricultural tools and weapons. This led to the rapid development of agriculture, the increase of population and the integration of countries. Now, we are in the information age, and the key material that underpins this age is silicon, which is used in a wide variety of applications.</a:t>
            </a:r>
          </a:p>
          <a:p>
            <a:pPr marL="0" marR="0" indent="0" algn="l" defTabSz="914400" rtl="0" eaLnBrk="0" fontAlgn="base" latinLnBrk="0" hangingPunct="0">
              <a:lnSpc>
                <a:spcPct val="100000"/>
              </a:lnSpc>
              <a:spcBef>
                <a:spcPct val="30000"/>
              </a:spcBef>
              <a:spcAft>
                <a:spcPct val="0"/>
              </a:spcAft>
              <a:buClrTx/>
              <a:buSzTx/>
              <a:buFontTx/>
              <a:buNone/>
              <a:defRPr/>
            </a:pPr>
            <a:r>
              <a:rPr lang="en-US" sz="1200" b="0" i="0" kern="1200" dirty="0">
                <a:solidFill>
                  <a:schemeClr val="tx1"/>
                </a:solidFill>
                <a:effectLst/>
                <a:latin typeface="+mn-lt"/>
                <a:ea typeface="+mn-ea"/>
                <a:cs typeface="+mn-cs"/>
              </a:rPr>
              <a:t>Solids are low energy stable states, where crystals have the lowest energy and are the most stable, so matter tends to exist as crystals.</a:t>
            </a:r>
          </a:p>
          <a:p>
            <a:pPr marL="0" marR="0" indent="0" algn="l" defTabSz="914400" rtl="0" eaLnBrk="0" fontAlgn="base" latinLnBrk="0" hangingPunct="0">
              <a:lnSpc>
                <a:spcPct val="100000"/>
              </a:lnSpc>
              <a:spcBef>
                <a:spcPct val="30000"/>
              </a:spcBef>
              <a:spcAft>
                <a:spcPct val="0"/>
              </a:spcAft>
              <a:buClrTx/>
              <a:buSzTx/>
              <a:buFontTx/>
              <a:buNone/>
              <a:defRPr/>
            </a:pPr>
            <a:endParaRPr lang="en-US" altLang="en-US" sz="1200" b="0" i="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en-US" altLang="en-US" sz="1200" b="0" dirty="0">
                <a:latin typeface="Times New Roman" panose="02020603050405020304" pitchFamily="18" charset="0"/>
                <a:ea typeface="宋体" panose="02010600030101010101" pitchFamily="2" charset="-122"/>
              </a:rPr>
              <a:t>Bronze is an alloy of lead and tin for copper.</a:t>
            </a:r>
          </a:p>
          <a:p>
            <a:endParaRPr lang="en-US" dirty="0"/>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19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a:t>Mineralogy </a:t>
            </a:r>
            <a:r>
              <a:rPr lang="zh-CN" altLang="en-US" dirty="0"/>
              <a:t>英 </a:t>
            </a:r>
            <a:r>
              <a:rPr lang="en-US" altLang="zh-CN" dirty="0"/>
              <a:t>[ˌ</a:t>
            </a:r>
            <a:r>
              <a:rPr lang="en-US" altLang="zh-CN" dirty="0" err="1"/>
              <a:t>mɪnəˈrælədʒi</a:t>
            </a:r>
            <a:r>
              <a:rPr lang="en-US" altLang="zh-CN" dirty="0"/>
              <a:t>]</a:t>
            </a:r>
          </a:p>
          <a:p>
            <a:pPr eaLnBrk="1" hangingPunct="1">
              <a:spcBef>
                <a:spcPct val="0"/>
              </a:spcBef>
            </a:pPr>
            <a:r>
              <a:rPr lang="en-US" sz="1200" b="0" i="0" kern="1200" dirty="0">
                <a:solidFill>
                  <a:schemeClr val="tx1"/>
                </a:solidFill>
                <a:effectLst/>
                <a:latin typeface="+mn-lt"/>
                <a:ea typeface="+mn-ea"/>
                <a:cs typeface="+mn-cs"/>
              </a:rPr>
              <a:t>plane geometry and solid geometry (</a:t>
            </a:r>
            <a:r>
              <a:rPr lang="zh-CN" altLang="en-US" sz="1200" b="0" i="0" kern="1200" dirty="0">
                <a:solidFill>
                  <a:schemeClr val="tx1"/>
                </a:solidFill>
                <a:effectLst/>
                <a:latin typeface="+mn-lt"/>
                <a:ea typeface="+mn-ea"/>
                <a:cs typeface="+mn-cs"/>
              </a:rPr>
              <a:t>平面和立体几何）</a:t>
            </a:r>
            <a:endParaRPr lang="en-US" altLang="en-US" dirty="0">
              <a:ea typeface="宋体" panose="02010600030101010101" pitchFamily="2" charset="-122"/>
            </a:endParaRPr>
          </a:p>
        </p:txBody>
      </p:sp>
      <p:sp>
        <p:nvSpPr>
          <p:cNvPr id="2191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41E8856E-9B64-4E96-B9A8-7085B0A2CEEE}" type="slidenum">
              <a:rPr lang="en-US" altLang="en-US" smtClean="0">
                <a:latin typeface="Times New Roman" panose="02020603050405020304" pitchFamily="18" charset="0"/>
              </a:rPr>
              <a:t>13</a:t>
            </a:fld>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0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en-US" altLang="zh-CN" dirty="0"/>
              <a:t>In ancient times, humans had no ability to process raw materials.</a:t>
            </a:r>
          </a:p>
          <a:p>
            <a:r>
              <a:rPr lang="en-US" altLang="en-US" dirty="0">
                <a:ea typeface="宋体" panose="02010600030101010101" pitchFamily="2" charset="-122"/>
              </a:rPr>
              <a:t>Minerals &amp; mining</a:t>
            </a:r>
          </a:p>
        </p:txBody>
      </p:sp>
      <p:sp>
        <p:nvSpPr>
          <p:cNvPr id="2201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3FEE399F-735D-4DA5-870D-83613DD8794F}" type="slidenum">
              <a:rPr lang="en-US" altLang="en-US" smtClean="0">
                <a:latin typeface="Times New Roman" panose="02020603050405020304" pitchFamily="18" charset="0"/>
              </a:rPr>
              <a:t>14</a:t>
            </a:fld>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11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en-US" altLang="zh-CN"/>
              <a:t>X</a:t>
            </a:r>
            <a:r>
              <a:rPr lang="zh-CN" altLang="en-US"/>
              <a:t>射线的波长范围：</a:t>
            </a:r>
            <a:r>
              <a:rPr lang="en-US" altLang="zh-CN"/>
              <a:t>0.001</a:t>
            </a:r>
            <a:r>
              <a:rPr lang="zh-CN" altLang="en-US"/>
              <a:t>～</a:t>
            </a:r>
            <a:r>
              <a:rPr lang="en-US" altLang="zh-CN"/>
              <a:t>100 </a:t>
            </a:r>
            <a:r>
              <a:rPr lang="zh-CN" altLang="en-US"/>
              <a:t>纳米</a:t>
            </a:r>
            <a:endParaRPr lang="en-US" altLang="zh-CN"/>
          </a:p>
          <a:p>
            <a:r>
              <a:rPr lang="zh-CN" altLang="en-US"/>
              <a:t>买个硅的单晶实物</a:t>
            </a:r>
            <a:endParaRPr lang="en-US" altLang="en-US">
              <a:ea typeface="宋体" panose="02010600030101010101" pitchFamily="2" charset="-122"/>
            </a:endParaRPr>
          </a:p>
          <a:p>
            <a:endParaRPr lang="en-US" altLang="en-US">
              <a:ea typeface="宋体" panose="02010600030101010101" pitchFamily="2" charset="-122"/>
            </a:endParaRPr>
          </a:p>
        </p:txBody>
      </p:sp>
      <p:sp>
        <p:nvSpPr>
          <p:cNvPr id="2211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7F466A89-66C6-43E2-BF7C-3E3A63C2CF60}" type="slidenum">
              <a:rPr lang="en-US" altLang="en-US" smtClean="0">
                <a:latin typeface="Times New Roman" panose="02020603050405020304" pitchFamily="18" charset="0"/>
              </a:rPr>
              <a:t>15</a:t>
            </a:fld>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2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en-US" altLang="zh-CN" dirty="0"/>
              <a:t>X</a:t>
            </a:r>
            <a:r>
              <a:rPr lang="zh-CN" altLang="en-US" dirty="0"/>
              <a:t>射线的波长范围：</a:t>
            </a:r>
            <a:r>
              <a:rPr lang="en-US" altLang="zh-CN" dirty="0"/>
              <a:t>0.001</a:t>
            </a:r>
            <a:r>
              <a:rPr lang="zh-CN" altLang="en-US" dirty="0"/>
              <a:t>～</a:t>
            </a:r>
            <a:r>
              <a:rPr lang="en-US" altLang="zh-CN" dirty="0"/>
              <a:t>100 </a:t>
            </a:r>
            <a:r>
              <a:rPr lang="zh-CN" altLang="en-US" dirty="0"/>
              <a:t>纳米</a:t>
            </a:r>
            <a:endParaRPr lang="en-US" altLang="zh-CN" dirty="0"/>
          </a:p>
          <a:p>
            <a:r>
              <a:rPr lang="zh-CN" altLang="en-US" dirty="0"/>
              <a:t>买个硅的单晶实物</a:t>
            </a:r>
            <a:endParaRPr lang="en-US" altLang="en-US" dirty="0">
              <a:ea typeface="宋体" panose="02010600030101010101" pitchFamily="2" charset="-122"/>
            </a:endParaRPr>
          </a:p>
          <a:p>
            <a:r>
              <a:rPr lang="en-US" altLang="en-US" dirty="0">
                <a:ea typeface="宋体" panose="02010600030101010101" pitchFamily="2" charset="-122"/>
              </a:rPr>
              <a:t>The ray incident into the crystal structure, because of the periodic arrangement of the crystal atoms, the crystal can be regarded as a grating to scatter the ray, thus we get the information of the crystal structure.</a:t>
            </a:r>
          </a:p>
          <a:p>
            <a:r>
              <a:rPr lang="en-US" altLang="en-US" dirty="0">
                <a:ea typeface="宋体" panose="02010600030101010101" pitchFamily="2" charset="-122"/>
              </a:rPr>
              <a:t>In the XRD photo, we can obtain the diffraction pattern of the crystal structure, which can give the periodic information of the crystal structure. Diffraction is the same thing as taking the Fourier transform, giving you the frequency information.</a:t>
            </a:r>
          </a:p>
          <a:p>
            <a:endParaRPr lang="en-US" altLang="en-US" dirty="0">
              <a:ea typeface="宋体" panose="02010600030101010101" pitchFamily="2" charset="-122"/>
            </a:endParaRPr>
          </a:p>
          <a:p>
            <a:r>
              <a:rPr lang="zh-CN" altLang="en-US" dirty="0">
                <a:ea typeface="宋体" panose="02010600030101010101" pitchFamily="2" charset="-122"/>
              </a:rPr>
              <a:t>光的干涉现象 ：它是指因两束光相遇而引起光的强度重新分布的现象。条件：两束光波相遇产生干涉现象的必要条件是：①频率相同；②光矢量</a:t>
            </a:r>
            <a:r>
              <a:rPr lang="en-US" altLang="zh-CN" dirty="0">
                <a:ea typeface="宋体" panose="02010600030101010101" pitchFamily="2" charset="-122"/>
              </a:rPr>
              <a:t>(</a:t>
            </a:r>
            <a:r>
              <a:rPr lang="zh-CN" altLang="en-US" dirty="0">
                <a:ea typeface="宋体" panose="02010600030101010101" pitchFamily="2" charset="-122"/>
              </a:rPr>
              <a:t>即电场强度矢量</a:t>
            </a:r>
            <a:r>
              <a:rPr lang="en-US" altLang="zh-CN" dirty="0">
                <a:ea typeface="宋体" panose="02010600030101010101" pitchFamily="2" charset="-122"/>
              </a:rPr>
              <a:t>E)</a:t>
            </a:r>
            <a:r>
              <a:rPr lang="zh-CN" altLang="en-US" dirty="0">
                <a:ea typeface="宋体" panose="02010600030101010101" pitchFamily="2" charset="-122"/>
              </a:rPr>
              <a:t>的振动方向相同；③在相遇处两束光的相位差恒定。 </a:t>
            </a:r>
            <a:endParaRPr lang="en-US" altLang="zh-CN" dirty="0">
              <a:ea typeface="宋体" panose="02010600030101010101" pitchFamily="2" charset="-122"/>
            </a:endParaRPr>
          </a:p>
          <a:p>
            <a:pPr algn="l"/>
            <a:r>
              <a:rPr lang="zh-CN" altLang="en-US" b="0" i="0" dirty="0">
                <a:solidFill>
                  <a:srgbClr val="333333"/>
                </a:solidFill>
                <a:effectLst/>
                <a:latin typeface="arial" panose="020B0604020202020204" pitchFamily="34" charset="0"/>
              </a:rPr>
              <a:t>光在传播过程中，遇到障碍物或小孔（窄缝）时，它有离开直线路径绕到障碍物阴影里去的现象。这种现象叫</a:t>
            </a:r>
            <a:r>
              <a:rPr lang="zh-CN" altLang="en-US" b="1" i="0" dirty="0">
                <a:solidFill>
                  <a:srgbClr val="333333"/>
                </a:solidFill>
                <a:effectLst/>
                <a:latin typeface="arial" panose="020B0604020202020204" pitchFamily="34" charset="0"/>
              </a:rPr>
              <a:t>光的衍射</a:t>
            </a:r>
            <a:r>
              <a:rPr lang="zh-CN" altLang="en-US" b="0" i="0" dirty="0">
                <a:solidFill>
                  <a:srgbClr val="333333"/>
                </a:solidFill>
                <a:effectLst/>
                <a:latin typeface="arial" panose="020B0604020202020204" pitchFamily="34" charset="0"/>
              </a:rPr>
              <a:t>。</a:t>
            </a:r>
          </a:p>
          <a:p>
            <a:pPr algn="l"/>
            <a:r>
              <a:rPr lang="zh-CN" altLang="en-US" b="0" i="0" dirty="0">
                <a:solidFill>
                  <a:srgbClr val="333333"/>
                </a:solidFill>
                <a:effectLst/>
                <a:latin typeface="arial" panose="020B0604020202020204" pitchFamily="34" charset="0"/>
              </a:rPr>
              <a:t>衍射时产生的明暗条纹或光环，叫</a:t>
            </a:r>
            <a:r>
              <a:rPr lang="zh-CN" altLang="en-US" b="1" i="0" dirty="0">
                <a:solidFill>
                  <a:srgbClr val="333333"/>
                </a:solidFill>
                <a:effectLst/>
                <a:latin typeface="arial" panose="020B0604020202020204" pitchFamily="34" charset="0"/>
              </a:rPr>
              <a:t>衍射图样</a:t>
            </a:r>
            <a:r>
              <a:rPr lang="zh-CN" altLang="en-US" b="0" i="0" dirty="0">
                <a:solidFill>
                  <a:srgbClr val="333333"/>
                </a:solidFill>
                <a:effectLst/>
                <a:latin typeface="arial" panose="020B0604020202020204" pitchFamily="34" charset="0"/>
              </a:rPr>
              <a:t>。</a:t>
            </a:r>
          </a:p>
          <a:p>
            <a:r>
              <a:rPr lang="zh-CN" altLang="en-US" dirty="0">
                <a:ea typeface="宋体" panose="02010600030101010101" pitchFamily="2" charset="-122"/>
              </a:rPr>
              <a:t>产生衍射的必要条件：光波与小孔或者物体尺度可以相比。。。</a:t>
            </a:r>
            <a:endParaRPr lang="en-US" altLang="en-US" dirty="0">
              <a:ea typeface="宋体" panose="02010600030101010101" pitchFamily="2" charset="-122"/>
            </a:endParaRPr>
          </a:p>
        </p:txBody>
      </p:sp>
      <p:sp>
        <p:nvSpPr>
          <p:cNvPr id="2222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04CD949B-19E0-40EB-AC86-3ED557D1B7EE}" type="slidenum">
              <a:rPr lang="en-US" altLang="en-US" smtClean="0">
                <a:latin typeface="Times New Roman" panose="02020603050405020304" pitchFamily="18" charset="0"/>
              </a:rPr>
              <a:t>16</a:t>
            </a:fld>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3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dirty="0"/>
              <a:t>微观粒子的波动性发现（物质波，又称</a:t>
            </a:r>
            <a:r>
              <a:rPr lang="zh-CN" altLang="en-US" b="0" i="0" dirty="0">
                <a:solidFill>
                  <a:srgbClr val="333333"/>
                </a:solidFill>
                <a:effectLst/>
                <a:latin typeface="Arial" panose="020B0604020202020204" pitchFamily="34" charset="0"/>
              </a:rPr>
              <a:t>德布罗意波</a:t>
            </a:r>
            <a:r>
              <a:rPr lang="zh-CN" altLang="en-US" sz="1200" dirty="0"/>
              <a:t>）</a:t>
            </a:r>
            <a:endParaRPr lang="en-US" sz="1200" dirty="0"/>
          </a:p>
          <a:p>
            <a:pPr marL="0" marR="0" indent="0" algn="l" defTabSz="914400" rtl="0" eaLnBrk="0" fontAlgn="base" latinLnBrk="0" hangingPunct="0">
              <a:lnSpc>
                <a:spcPct val="100000"/>
              </a:lnSpc>
              <a:spcBef>
                <a:spcPct val="30000"/>
              </a:spcBef>
              <a:spcAft>
                <a:spcPct val="0"/>
              </a:spcAft>
              <a:buClrTx/>
              <a:buSzTx/>
              <a:buFontTx/>
              <a:buNone/>
              <a:defRPr/>
            </a:pPr>
            <a:endParaRPr lang="en-US" sz="1200" dirty="0"/>
          </a:p>
          <a:p>
            <a:pPr marL="0" marR="0" indent="0" algn="l" defTabSz="914400" rtl="0" eaLnBrk="0" fontAlgn="base" latinLnBrk="0" hangingPunct="0">
              <a:lnSpc>
                <a:spcPct val="100000"/>
              </a:lnSpc>
              <a:spcBef>
                <a:spcPct val="30000"/>
              </a:spcBef>
              <a:spcAft>
                <a:spcPct val="0"/>
              </a:spcAft>
              <a:buClrTx/>
              <a:buSzTx/>
              <a:buFontTx/>
              <a:buNone/>
              <a:defRPr/>
            </a:pPr>
            <a:r>
              <a:rPr lang="en-US" sz="1200" dirty="0"/>
              <a:t>The first practical TEM, originally installed at IG </a:t>
            </a:r>
            <a:r>
              <a:rPr lang="en-US" sz="1200" dirty="0" err="1"/>
              <a:t>Farben</a:t>
            </a:r>
            <a:r>
              <a:rPr lang="en-US" sz="1200" dirty="0"/>
              <a:t>-Werke and now on display at the </a:t>
            </a:r>
            <a:r>
              <a:rPr lang="en-US" sz="1200" dirty="0" err="1"/>
              <a:t>Deutsches</a:t>
            </a:r>
            <a:r>
              <a:rPr lang="en-US" sz="1200" dirty="0"/>
              <a:t> Museum in Munich, Germany.</a:t>
            </a:r>
          </a:p>
          <a:p>
            <a:pPr marL="0" marR="0" indent="0" algn="l" defTabSz="914400" rtl="0" eaLnBrk="0" fontAlgn="base" latinLnBrk="0" hangingPunct="0">
              <a:lnSpc>
                <a:spcPct val="100000"/>
              </a:lnSpc>
              <a:spcBef>
                <a:spcPct val="30000"/>
              </a:spcBef>
              <a:spcAft>
                <a:spcPct val="0"/>
              </a:spcAft>
              <a:buClrTx/>
              <a:buSzTx/>
              <a:buFontTx/>
              <a:buNone/>
              <a:defRPr/>
            </a:pPr>
            <a:endParaRPr lang="en-US" sz="1200" dirty="0"/>
          </a:p>
          <a:p>
            <a:pPr marL="0" marR="0" indent="0" algn="l" defTabSz="914400" rtl="0" eaLnBrk="0" fontAlgn="base" latinLnBrk="0" hangingPunct="0">
              <a:lnSpc>
                <a:spcPct val="100000"/>
              </a:lnSpc>
              <a:spcBef>
                <a:spcPct val="30000"/>
              </a:spcBef>
              <a:spcAft>
                <a:spcPct val="0"/>
              </a:spcAft>
              <a:buClrTx/>
              <a:buSzTx/>
              <a:buFontTx/>
              <a:buNone/>
              <a:defRPr/>
            </a:pPr>
            <a:r>
              <a:rPr lang="en-US" sz="1200" dirty="0"/>
              <a:t>The electron beam has a smaller wavelength, and through two Fourier transforms, the electron interacts with the crystal, showing the structure inside the crystal directly.</a:t>
            </a:r>
            <a:endParaRPr lang="en-US" altLang="en-US" dirty="0">
              <a:ea typeface="宋体" panose="02010600030101010101" pitchFamily="2" charset="-122"/>
            </a:endParaRPr>
          </a:p>
        </p:txBody>
      </p:sp>
      <p:sp>
        <p:nvSpPr>
          <p:cNvPr id="223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DE5FB77A-883B-46E7-A46C-A88B783E786D}" type="slidenum">
              <a:rPr lang="en-US" altLang="en-US" smtClean="0">
                <a:latin typeface="Times New Roman" panose="02020603050405020304" pitchFamily="18" charset="0"/>
              </a:rPr>
              <a:t>17</a:t>
            </a:fld>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42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dirty="0">
              <a:ea typeface="宋体" panose="02010600030101010101" pitchFamily="2" charset="-122"/>
            </a:endParaRPr>
          </a:p>
        </p:txBody>
      </p:sp>
      <p:sp>
        <p:nvSpPr>
          <p:cNvPr id="2242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30D3A232-777F-4466-9E44-7096907AFD98}" type="slidenum">
              <a:rPr lang="en-US" altLang="en-US" smtClean="0">
                <a:latin typeface="Times New Roman" panose="02020603050405020304" pitchFamily="18" charset="0"/>
              </a:rPr>
              <a:t>18</a:t>
            </a:fld>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对称性，群论，晶体原子结构，实际结构，晶体形成，液晶，液体，计算数学，衍射方法，分子生物学，聚合物，物理冶金，矿物学，化学，晶体化学，固体物理，电子性质、声子谱，粒子和准粒子，物理性质的相互作用，晶体物理（电，力，光，磁性质），晶体的工业合成，工程，量子和半导体，电子学，光学，声学，材料，物理化学</a:t>
            </a:r>
            <a:endParaRPr lang="en-US" dirty="0"/>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19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对称性，群论，晶体原子结构，实际结构，晶体形成，液晶，液体，计算数学，衍射方法，分子生物学，聚合物，物理冶金，矿物学，化学，晶体化学，固体物理，电子性质、声子谱，粒子和准粒子，物理性质的相互作用，晶体物理（电，力，光，磁性质），晶体的工业合成，工程，量子和半导体，电子学，光学，声学，材料，物理化学</a:t>
            </a:r>
            <a:endParaRPr lang="en-US" altLang="zh-CN" dirty="0"/>
          </a:p>
          <a:p>
            <a:endParaRPr lang="en-US" dirty="0"/>
          </a:p>
          <a:p>
            <a:r>
              <a:rPr lang="en-US"/>
              <a:t>The atomic structure of a crystal is an abstraction of the actual structure.</a:t>
            </a:r>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20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52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dirty="0"/>
              <a:t>晶体发生学（</a:t>
            </a:r>
            <a:r>
              <a:rPr lang="en-US" altLang="zh-CN" dirty="0"/>
              <a:t>crystallogeny</a:t>
            </a:r>
            <a:r>
              <a:rPr lang="zh-CN" altLang="en-US" dirty="0"/>
              <a:t>）又称晶体生成学。结晶学的一个分支。研究晶体的发生、成长、变化等方面的现象、机理和规律。</a:t>
            </a:r>
            <a:endParaRPr lang="en-US" altLang="en-US" dirty="0">
              <a:ea typeface="宋体" panose="02010600030101010101" pitchFamily="2" charset="-122"/>
            </a:endParaRPr>
          </a:p>
          <a:p>
            <a:endParaRPr lang="en-US" altLang="en-US" dirty="0">
              <a:ea typeface="宋体" panose="02010600030101010101" pitchFamily="2" charset="-122"/>
            </a:endParaRPr>
          </a:p>
        </p:txBody>
      </p:sp>
      <p:sp>
        <p:nvSpPr>
          <p:cNvPr id="2252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6AB3657F-C07B-455C-B742-18EC49016F3E}" type="slidenum">
              <a:rPr lang="en-US" altLang="en-US" smtClean="0">
                <a:latin typeface="Times New Roman" panose="02020603050405020304" pitchFamily="18" charset="0"/>
              </a:rPr>
              <a:t>21</a:t>
            </a:fld>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63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en-US">
                <a:ea typeface="宋体" panose="02010600030101010101" pitchFamily="2" charset="-122"/>
              </a:rPr>
              <a:t>plagloclase feldspar [ˈpleidʒiəukleis ˈfeldspɑ:] </a:t>
            </a:r>
            <a:r>
              <a:rPr lang="zh-CN" altLang="en-US"/>
              <a:t>斜长石，是一种在地球上很常见且很重要的硅酸盐矿物。</a:t>
            </a:r>
            <a:endParaRPr lang="en-US" altLang="zh-CN"/>
          </a:p>
          <a:p>
            <a:pPr eaLnBrk="1" hangingPunct="1">
              <a:spcBef>
                <a:spcPct val="0"/>
              </a:spcBef>
            </a:pPr>
            <a:r>
              <a:rPr lang="en-US" altLang="en-US">
                <a:ea typeface="宋体" panose="02010600030101010101" pitchFamily="2" charset="-122"/>
              </a:rPr>
              <a:t>http://www.scielo.br/scielo.php?pid=S1516-14392007000400007&amp;script=sci_arttext</a:t>
            </a:r>
          </a:p>
          <a:p>
            <a:pPr eaLnBrk="1" hangingPunct="1">
              <a:spcBef>
                <a:spcPct val="0"/>
              </a:spcBef>
            </a:pPr>
            <a:r>
              <a:rPr lang="zh-CN" altLang="en-US"/>
              <a:t>（不锈钢多晶取向</a:t>
            </a:r>
            <a:r>
              <a:rPr lang="en-US" altLang="zh-CN"/>
              <a:t>EBSD</a:t>
            </a:r>
            <a:r>
              <a:rPr lang="zh-CN" altLang="en-US"/>
              <a:t>分布图）</a:t>
            </a:r>
            <a:endParaRPr lang="en-US" altLang="zh-CN"/>
          </a:p>
          <a:p>
            <a:pPr eaLnBrk="1" hangingPunct="1">
              <a:spcBef>
                <a:spcPct val="0"/>
              </a:spcBef>
            </a:pPr>
            <a:r>
              <a:rPr lang="zh-CN" altLang="en-US"/>
              <a:t>云母</a:t>
            </a:r>
          </a:p>
          <a:p>
            <a:pPr eaLnBrk="1" hangingPunct="1">
              <a:spcBef>
                <a:spcPct val="0"/>
              </a:spcBef>
            </a:pPr>
            <a:endParaRPr lang="zh-CN" altLang="en-US"/>
          </a:p>
          <a:p>
            <a:pPr eaLnBrk="1" hangingPunct="1">
              <a:spcBef>
                <a:spcPct val="0"/>
              </a:spcBef>
            </a:pPr>
            <a:r>
              <a:rPr lang="zh-CN" altLang="en-US"/>
              <a:t>云母（</a:t>
            </a:r>
            <a:r>
              <a:rPr lang="en-US" altLang="zh-CN"/>
              <a:t>mica</a:t>
            </a:r>
            <a:r>
              <a:rPr lang="zh-CN" altLang="en-US"/>
              <a:t>或</a:t>
            </a:r>
            <a:r>
              <a:rPr lang="en-US" altLang="zh-CN"/>
              <a:t>glimmer[1] )</a:t>
            </a:r>
            <a:r>
              <a:rPr lang="zh-CN" altLang="en-US"/>
              <a:t>是分布最广的造岩矿物，钾、铝、镁、铁、锂等层状结构铝硅酸盐的总称 </a:t>
            </a:r>
            <a:endParaRPr lang="en-US" altLang="en-US">
              <a:ea typeface="宋体" panose="02010600030101010101" pitchFamily="2" charset="-122"/>
            </a:endParaRPr>
          </a:p>
        </p:txBody>
      </p:sp>
      <p:sp>
        <p:nvSpPr>
          <p:cNvPr id="2263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1D4FE3F6-1DA5-4B2F-BB2D-63506528F0B2}" type="slidenum">
              <a:rPr lang="en-US" altLang="en-US" smtClean="0">
                <a:latin typeface="Times New Roman" panose="02020603050405020304" pitchFamily="18" charset="0"/>
              </a:rPr>
              <a:t>22</a:t>
            </a:fld>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63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sz="1200" b="0" i="0" kern="1200" dirty="0">
                <a:solidFill>
                  <a:schemeClr val="tx1"/>
                </a:solidFill>
                <a:effectLst/>
                <a:latin typeface="+mn-lt"/>
                <a:ea typeface="+mn-ea"/>
                <a:cs typeface="+mn-cs"/>
              </a:rPr>
              <a:t>household appliances </a:t>
            </a:r>
            <a:r>
              <a:rPr lang="zh-CN" altLang="en-US" sz="1200" b="0" i="0" kern="1200" dirty="0">
                <a:solidFill>
                  <a:schemeClr val="tx1"/>
                </a:solidFill>
                <a:effectLst/>
                <a:latin typeface="+mn-lt"/>
                <a:ea typeface="+mn-ea"/>
                <a:cs typeface="+mn-cs"/>
              </a:rPr>
              <a:t>家用电器</a:t>
            </a:r>
            <a:endParaRPr lang="en-US" altLang="zh-CN" sz="1200" b="0" i="0" kern="1200" dirty="0">
              <a:solidFill>
                <a:schemeClr val="tx1"/>
              </a:solidFill>
              <a:effectLst/>
              <a:latin typeface="+mn-lt"/>
              <a:ea typeface="+mn-ea"/>
              <a:cs typeface="+mn-cs"/>
            </a:endParaRPr>
          </a:p>
          <a:p>
            <a:pPr eaLnBrk="1" hangingPunct="1">
              <a:spcBef>
                <a:spcPct val="0"/>
              </a:spcBef>
            </a:pPr>
            <a:r>
              <a:rPr lang="en-US" altLang="en-US" sz="1200" b="0" i="0" kern="1200" dirty="0">
                <a:solidFill>
                  <a:schemeClr val="tx1"/>
                </a:solidFill>
                <a:effectLst/>
                <a:latin typeface="+mn-lt"/>
                <a:ea typeface="+mn-ea"/>
                <a:cs typeface="+mn-cs"/>
              </a:rPr>
              <a:t>Sand</a:t>
            </a:r>
          </a:p>
          <a:p>
            <a:pPr eaLnBrk="1" hangingPunct="1">
              <a:spcBef>
                <a:spcPct val="0"/>
              </a:spcBef>
            </a:pPr>
            <a:endParaRPr lang="en-US" altLang="en-US" sz="1200" b="0" i="0" kern="1200" dirty="0">
              <a:solidFill>
                <a:schemeClr val="tx1"/>
              </a:solidFill>
              <a:effectLst/>
              <a:latin typeface="+mn-lt"/>
              <a:ea typeface="+mn-ea"/>
              <a:cs typeface="+mn-cs"/>
            </a:endParaRPr>
          </a:p>
          <a:p>
            <a:pPr eaLnBrk="1" hangingPunct="1">
              <a:spcBef>
                <a:spcPct val="0"/>
              </a:spcBef>
            </a:pPr>
            <a:r>
              <a:rPr lang="zh-CN" altLang="en-US" b="0" i="0" dirty="0">
                <a:solidFill>
                  <a:srgbClr val="333333"/>
                </a:solidFill>
                <a:effectLst/>
                <a:latin typeface="Arial" panose="020B0604020202020204" pitchFamily="34" charset="0"/>
              </a:rPr>
              <a:t>鳍式场效应晶体管</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FinFET</a:t>
            </a:r>
            <a:endParaRPr lang="en-US" altLang="en-US" dirty="0">
              <a:ea typeface="宋体" panose="02010600030101010101" pitchFamily="2" charset="-122"/>
            </a:endParaRPr>
          </a:p>
        </p:txBody>
      </p:sp>
      <p:sp>
        <p:nvSpPr>
          <p:cNvPr id="2263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1D4FE3F6-1DA5-4B2F-BB2D-63506528F0B2}" type="slidenum">
              <a:rPr lang="en-US" altLang="en-US" smtClean="0">
                <a:latin typeface="Times New Roman" panose="02020603050405020304" pitchFamily="18" charset="0"/>
              </a:rPr>
              <a:t>23</a:t>
            </a:fld>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63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ea typeface="宋体" panose="02010600030101010101" pitchFamily="2" charset="-122"/>
              </a:rPr>
              <a:t>雷达图</a:t>
            </a:r>
            <a:endParaRPr lang="en-US" altLang="zh-CN" dirty="0">
              <a:ea typeface="宋体" panose="02010600030101010101" pitchFamily="2" charset="-122"/>
            </a:endParaRPr>
          </a:p>
          <a:p>
            <a:pPr algn="l" latinLnBrk="1"/>
            <a:r>
              <a:rPr lang="zh-CN" altLang="en-US" b="0" i="0" dirty="0">
                <a:solidFill>
                  <a:srgbClr val="000000"/>
                </a:solidFill>
                <a:effectLst/>
                <a:latin typeface="PingFangSC-Regular"/>
              </a:rPr>
              <a:t>第一代半导体材料以锗和硅为代表，被广泛运用于集成电路制造领域，比如现在大家电脑和手机中的</a:t>
            </a:r>
            <a:r>
              <a:rPr lang="en-US" altLang="zh-CN" b="0" i="0" dirty="0">
                <a:solidFill>
                  <a:srgbClr val="000000"/>
                </a:solidFill>
                <a:effectLst/>
                <a:latin typeface="PingFangSC-Regular"/>
              </a:rPr>
              <a:t>CPU</a:t>
            </a:r>
            <a:r>
              <a:rPr lang="zh-CN" altLang="en-US" b="0" i="0" dirty="0">
                <a:solidFill>
                  <a:srgbClr val="000000"/>
                </a:solidFill>
                <a:effectLst/>
                <a:latin typeface="PingFangSC-Regular"/>
              </a:rPr>
              <a:t>和</a:t>
            </a:r>
            <a:r>
              <a:rPr lang="en-US" altLang="zh-CN" b="0" i="0" dirty="0">
                <a:solidFill>
                  <a:srgbClr val="000000"/>
                </a:solidFill>
                <a:effectLst/>
                <a:latin typeface="PingFangSC-Regular"/>
              </a:rPr>
              <a:t>GPU</a:t>
            </a:r>
            <a:r>
              <a:rPr lang="zh-CN" altLang="en-US" b="0" i="0" dirty="0">
                <a:solidFill>
                  <a:srgbClr val="000000"/>
                </a:solidFill>
                <a:effectLst/>
                <a:latin typeface="PingFangSC-Regular"/>
              </a:rPr>
              <a:t>就是采用硅材料制造的，美国硅谷也因“硅”而得名。</a:t>
            </a:r>
          </a:p>
          <a:p>
            <a:pPr algn="l" latinLnBrk="1"/>
            <a:r>
              <a:rPr lang="zh-CN" altLang="en-US" b="0" i="0" dirty="0">
                <a:solidFill>
                  <a:srgbClr val="000000"/>
                </a:solidFill>
                <a:effectLst/>
                <a:latin typeface="PingFangSC-Regular"/>
              </a:rPr>
              <a:t>第二代半导体材料以砷化镓、磷化铟为代表，主要应用于以光发射器件为基础的光显示、光通信和光存储等光电子系统，比如高通最近就打算让自家的射频芯片采用砷化镓材料。</a:t>
            </a:r>
          </a:p>
          <a:p>
            <a:pPr algn="l" latinLnBrk="1"/>
            <a:r>
              <a:rPr lang="zh-CN" altLang="en-US" b="0" i="0" dirty="0">
                <a:solidFill>
                  <a:srgbClr val="000000"/>
                </a:solidFill>
                <a:effectLst/>
                <a:latin typeface="PingFangSC-Regular"/>
              </a:rPr>
              <a:t>第三代半导体材料则以氮化镓、金刚石、碳化硅等为代表，氮化镓化学性质非常稳定，具有有宽的带隙、强的原子键、高的热导率、耐腐蚀等优点，熔点高达</a:t>
            </a:r>
            <a:r>
              <a:rPr lang="en-US" altLang="zh-CN" b="0" i="0" dirty="0">
                <a:solidFill>
                  <a:srgbClr val="000000"/>
                </a:solidFill>
                <a:effectLst/>
                <a:latin typeface="PingFangSC-Regular"/>
              </a:rPr>
              <a:t>1700</a:t>
            </a:r>
            <a:r>
              <a:rPr lang="zh-CN" altLang="en-US" b="0" i="0" dirty="0">
                <a:solidFill>
                  <a:srgbClr val="000000"/>
                </a:solidFill>
                <a:effectLst/>
                <a:latin typeface="PingFangSC-Regular"/>
              </a:rPr>
              <a:t>摄氏度，击穿电压高，抗辐射能力强。</a:t>
            </a:r>
          </a:p>
          <a:p>
            <a:pPr algn="l" latinLnBrk="1"/>
            <a:r>
              <a:rPr lang="zh-CN" altLang="en-US" b="0" i="0" dirty="0">
                <a:solidFill>
                  <a:srgbClr val="000000"/>
                </a:solidFill>
                <a:effectLst/>
                <a:latin typeface="PingFangSC-Regular"/>
              </a:rPr>
              <a:t>诚然，在军工等对成本不敏感的领域，第三代半导体材料已经被运用，比如国产新锐战机上就搭载了采用氮化镓元器件的雷达。但在民用市场，第三代半导体材料市场前景有限。一方面是因为成本问题，用第三代半导体材料过于昂贵，另一方面，基于第三代半导体材料的特性，在功率器件等方面优势明显，在光电子和高频微波器件等方面具有应用潜力，但在逻辑器件上相对于硅而言是没有任何性价比的。在硅材料成本低廉且产业链成熟的情况下，商家没有动力去使用新材料。事实上，即便是民用器件，一些商家也都在玩“材料降级”，比如一些公司就把原本采用第二代半导体材料砷化镓的射频芯片换成</a:t>
            </a:r>
            <a:r>
              <a:rPr lang="en-US" altLang="zh-CN" b="0" i="0" dirty="0">
                <a:solidFill>
                  <a:srgbClr val="000000"/>
                </a:solidFill>
                <a:effectLst/>
                <a:latin typeface="PingFangSC-Regular"/>
              </a:rPr>
              <a:t>SOI</a:t>
            </a:r>
            <a:r>
              <a:rPr lang="zh-CN" altLang="en-US" b="0" i="0" dirty="0">
                <a:solidFill>
                  <a:srgbClr val="000000"/>
                </a:solidFill>
                <a:effectLst/>
                <a:latin typeface="PingFangSC-Regular"/>
              </a:rPr>
              <a:t>工艺以降低成本。</a:t>
            </a:r>
          </a:p>
          <a:p>
            <a:pPr eaLnBrk="1" hangingPunct="1">
              <a:spcBef>
                <a:spcPct val="0"/>
              </a:spcBef>
            </a:pPr>
            <a:endParaRPr lang="en-US" altLang="en-US" dirty="0">
              <a:ea typeface="宋体" panose="02010600030101010101" pitchFamily="2" charset="-122"/>
            </a:endParaRPr>
          </a:p>
        </p:txBody>
      </p:sp>
      <p:sp>
        <p:nvSpPr>
          <p:cNvPr id="2263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1D4FE3F6-1DA5-4B2F-BB2D-63506528F0B2}" type="slidenum">
              <a:rPr lang="en-US" altLang="en-US" smtClean="0">
                <a:latin typeface="Times New Roman" panose="02020603050405020304" pitchFamily="18" charset="0"/>
              </a:rPr>
              <a:t>24</a:t>
            </a:fld>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73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硅的电子迁移率为</a:t>
            </a:r>
            <a:r>
              <a:rPr lang="en-US" altLang="zh-CN" dirty="0"/>
              <a:t>l400cm2</a:t>
            </a:r>
            <a:r>
              <a:rPr lang="zh-CN" altLang="en-US" dirty="0"/>
              <a:t>／</a:t>
            </a:r>
            <a:r>
              <a:rPr lang="en-US" altLang="zh-CN" dirty="0"/>
              <a:t>(V.s)</a:t>
            </a:r>
            <a:r>
              <a:rPr lang="zh-CN" altLang="en-US" dirty="0"/>
              <a:t>，电子在石墨烯中的传输速度是在硅中的</a:t>
            </a:r>
            <a:r>
              <a:rPr lang="en-US" altLang="zh-CN" dirty="0"/>
              <a:t>100</a:t>
            </a:r>
            <a:r>
              <a:rPr lang="zh-CN" altLang="en-US" dirty="0"/>
              <a:t>倍，因而未来的半导体材料是石墨烯而不是硅。</a:t>
            </a:r>
            <a:endParaRPr lang="en-US" altLang="zh-CN" dirty="0"/>
          </a:p>
          <a:p>
            <a:pPr eaLnBrk="1" hangingPunct="1">
              <a:spcBef>
                <a:spcPct val="0"/>
              </a:spcBef>
            </a:pPr>
            <a:endParaRPr lang="en-US" altLang="en-US" dirty="0">
              <a:ea typeface="宋体" panose="02010600030101010101" pitchFamily="2" charset="-122"/>
            </a:endParaRPr>
          </a:p>
          <a:p>
            <a:pPr eaLnBrk="1" hangingPunct="1">
              <a:spcBef>
                <a:spcPct val="0"/>
              </a:spcBef>
            </a:pPr>
            <a:r>
              <a:rPr lang="en-US" altLang="en-US" dirty="0">
                <a:ea typeface="宋体" panose="02010600030101010101" pitchFamily="2" charset="-122"/>
              </a:rPr>
              <a:t>Allotrope </a:t>
            </a:r>
            <a:r>
              <a:rPr lang="zh-CN" altLang="en-US" dirty="0">
                <a:ea typeface="宋体" panose="02010600030101010101" pitchFamily="2" charset="-122"/>
              </a:rPr>
              <a:t>同素异形体</a:t>
            </a:r>
            <a:endParaRPr lang="en-US" altLang="en-US" dirty="0">
              <a:ea typeface="宋体" panose="02010600030101010101" pitchFamily="2" charset="-122"/>
            </a:endParaRPr>
          </a:p>
        </p:txBody>
      </p:sp>
      <p:sp>
        <p:nvSpPr>
          <p:cNvPr id="2273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0D8EEE9E-E245-43AB-A192-F2CB6747D2F5}" type="slidenum">
              <a:rPr lang="en-US" altLang="en-US" smtClean="0">
                <a:latin typeface="Times New Roman" panose="02020603050405020304" pitchFamily="18" charset="0"/>
              </a:rPr>
              <a:t>26</a:t>
            </a:fld>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83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ea typeface="宋体" panose="02010600030101010101" pitchFamily="2" charset="-122"/>
            </a:endParaRPr>
          </a:p>
        </p:txBody>
      </p:sp>
      <p:sp>
        <p:nvSpPr>
          <p:cNvPr id="2283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00864A69-D5BE-471B-8C4F-E7FE2142DAD3}" type="slidenum">
              <a:rPr lang="en-US" altLang="en-US" smtClean="0">
                <a:latin typeface="Times New Roman" panose="02020603050405020304" pitchFamily="18" charset="0"/>
              </a:rPr>
              <a:t>27</a:t>
            </a:fld>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93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看文章碰到的问题 </a:t>
            </a:r>
            <a:r>
              <a:rPr lang="en-US" altLang="zh-CN"/>
              <a:t>1</a:t>
            </a:r>
            <a:r>
              <a:rPr lang="zh-CN" altLang="en-US"/>
              <a:t>，英语？</a:t>
            </a:r>
            <a:r>
              <a:rPr lang="en-US" altLang="zh-CN"/>
              <a:t>2</a:t>
            </a:r>
            <a:r>
              <a:rPr lang="zh-CN" altLang="en-US"/>
              <a:t>，专业词汇？</a:t>
            </a:r>
            <a:r>
              <a:rPr lang="en-US" altLang="zh-CN"/>
              <a:t>3</a:t>
            </a:r>
            <a:r>
              <a:rPr lang="zh-CN" altLang="en-US"/>
              <a:t>，相关的技术的原理和分析？</a:t>
            </a:r>
            <a:endParaRPr lang="en-US" altLang="en-US">
              <a:ea typeface="宋体" panose="02010600030101010101" pitchFamily="2" charset="-122"/>
            </a:endParaRPr>
          </a:p>
        </p:txBody>
      </p:sp>
      <p:sp>
        <p:nvSpPr>
          <p:cNvPr id="2293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FFC2A7CE-8C3A-4D61-87B3-36426D802026}" type="slidenum">
              <a:rPr lang="en-US" altLang="en-US" smtClean="0">
                <a:latin typeface="Times New Roman" panose="02020603050405020304" pitchFamily="18" charset="0"/>
              </a:rPr>
              <a:t>28</a:t>
            </a:fld>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304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dirty="0">
                <a:ea typeface="宋体" panose="02010600030101010101" pitchFamily="2" charset="-122"/>
              </a:rPr>
              <a:t>从晶体学发展的历史和自然界中存在的晶体，归纳出晶体的本质概念</a:t>
            </a:r>
            <a:endParaRPr lang="en-US" altLang="en-US" dirty="0">
              <a:ea typeface="宋体" panose="02010600030101010101" pitchFamily="2" charset="-122"/>
            </a:endParaRPr>
          </a:p>
          <a:p>
            <a:r>
              <a:rPr lang="en-US" altLang="en-US" dirty="0">
                <a:ea typeface="宋体" panose="02010600030101010101" pitchFamily="2" charset="-122"/>
              </a:rPr>
              <a:t>Solid materials are usually classified into crystalline and amorphous (non-crystalline) materials according to whether the atoms or ions in the solid are arranged regularly or not. </a:t>
            </a:r>
          </a:p>
        </p:txBody>
      </p:sp>
      <p:sp>
        <p:nvSpPr>
          <p:cNvPr id="2304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6E5AAE8E-DF55-47AE-8446-27F1A3BE5506}" type="slidenum">
              <a:rPr lang="en-US" altLang="en-US" smtClean="0">
                <a:latin typeface="Times New Roman" panose="02020603050405020304" pitchFamily="18" charset="0"/>
              </a:rPr>
              <a:t>29</a:t>
            </a:fld>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a:defRPr/>
            </a:pPr>
            <a:r>
              <a:rPr lang="zh-CN" altLang="en-US" dirty="0">
                <a:solidFill>
                  <a:srgbClr val="0000FF"/>
                </a:solidFill>
              </a:rPr>
              <a:t>晶体内部的</a:t>
            </a:r>
            <a:r>
              <a:rPr lang="zh-CN" altLang="en-US" u="sng" dirty="0">
                <a:solidFill>
                  <a:srgbClr val="0000FF"/>
                </a:solidFill>
                <a:effectLst>
                  <a:outerShdw blurRad="38100" dist="38100" dir="2700000" algn="tl">
                    <a:srgbClr val="000000">
                      <a:alpha val="43137"/>
                    </a:srgbClr>
                  </a:outerShdw>
                </a:effectLst>
              </a:rPr>
              <a:t>质点排列具有周期性</a:t>
            </a:r>
            <a:r>
              <a:rPr lang="en-US" altLang="zh-CN" dirty="0">
                <a:solidFill>
                  <a:srgbClr val="0000FF"/>
                </a:solidFill>
              </a:rPr>
              <a:t>(</a:t>
            </a:r>
            <a:r>
              <a:rPr lang="zh-CN" altLang="en-US" dirty="0">
                <a:solidFill>
                  <a:srgbClr val="0000FF"/>
                </a:solidFill>
              </a:rPr>
              <a:t>长程有序</a:t>
            </a:r>
            <a:r>
              <a:rPr lang="en-US" altLang="zh-CN" dirty="0">
                <a:solidFill>
                  <a:srgbClr val="0000FF"/>
                </a:solidFill>
              </a:rPr>
              <a:t>, long-range order)</a:t>
            </a:r>
            <a:r>
              <a:rPr lang="zh-CN" altLang="en-US" dirty="0">
                <a:solidFill>
                  <a:srgbClr val="0000FF"/>
                </a:solidFill>
              </a:rPr>
              <a:t>； 在原子近邻具有的周期性，叫短程有序</a:t>
            </a:r>
            <a:r>
              <a:rPr lang="en-US" altLang="zh-CN" dirty="0">
                <a:solidFill>
                  <a:srgbClr val="0000FF"/>
                </a:solidFill>
              </a:rPr>
              <a:t>(short-range order)</a:t>
            </a:r>
            <a:r>
              <a:rPr lang="zh-CN" altLang="en-US" dirty="0">
                <a:solidFill>
                  <a:srgbClr val="0000FF"/>
                </a:solidFill>
              </a:rPr>
              <a:t>， 液体具有短程有序，无长程有序；气体既无长程，也无短程有序</a:t>
            </a:r>
            <a:endParaRPr lang="en-US" altLang="zh-CN" dirty="0">
              <a:solidFill>
                <a:srgbClr val="0000FF"/>
              </a:solidFill>
            </a:endParaRPr>
          </a:p>
          <a:p>
            <a:pPr>
              <a:defRPr/>
            </a:pPr>
            <a:endParaRPr lang="en-US" dirty="0">
              <a:solidFill>
                <a:srgbClr val="0000FF"/>
              </a:solidFill>
            </a:endParaRPr>
          </a:p>
          <a:p>
            <a:pPr>
              <a:defRPr/>
            </a:pPr>
            <a:r>
              <a:rPr lang="en-US" sz="1200" b="1" i="0" kern="1200" dirty="0">
                <a:solidFill>
                  <a:schemeClr val="tx1"/>
                </a:solidFill>
                <a:effectLst/>
                <a:latin typeface="+mn-lt"/>
                <a:ea typeface="+mn-ea"/>
                <a:cs typeface="+mn-cs"/>
              </a:rPr>
              <a:t>Short range order</a:t>
            </a:r>
            <a:r>
              <a:rPr lang="en-US" sz="1200" b="0" i="0" kern="1200" dirty="0">
                <a:solidFill>
                  <a:schemeClr val="tx1"/>
                </a:solidFill>
                <a:effectLst/>
                <a:latin typeface="+mn-lt"/>
                <a:ea typeface="+mn-ea"/>
                <a:cs typeface="+mn-cs"/>
              </a:rPr>
              <a:t> refers to the regular and predictable arrangement of atoms over a short distance</a:t>
            </a:r>
          </a:p>
          <a:p>
            <a:pPr>
              <a:defRPr/>
            </a:pPr>
            <a:endParaRPr lang="en-US" sz="1200" b="0" i="0" kern="1200" dirty="0">
              <a:solidFill>
                <a:schemeClr val="tx1"/>
              </a:solidFill>
              <a:effectLst/>
              <a:latin typeface="+mn-lt"/>
              <a:ea typeface="+mn-ea"/>
              <a:cs typeface="+mn-cs"/>
            </a:endParaRPr>
          </a:p>
          <a:p>
            <a:pPr>
              <a:defRPr/>
            </a:pPr>
            <a:r>
              <a:rPr lang="zh-CN" altLang="en-US" b="0" i="0" dirty="0">
                <a:solidFill>
                  <a:srgbClr val="333333"/>
                </a:solidFill>
                <a:effectLst/>
                <a:latin typeface="arial" panose="020B0604020202020204" pitchFamily="34" charset="0"/>
              </a:rPr>
              <a:t>在非晶态结构中，原子排列没有规律周期性，原子排列从总体上是无规则的，但是，近邻的原子排列是有一定的规律的这就是“短程有序”。</a:t>
            </a:r>
            <a:endParaRPr lang="en-US" altLang="zh-CN" b="0" i="0" dirty="0">
              <a:solidFill>
                <a:srgbClr val="333333"/>
              </a:solidFill>
              <a:effectLst/>
              <a:latin typeface="arial" panose="020B0604020202020204" pitchFamily="34" charset="0"/>
            </a:endParaRPr>
          </a:p>
          <a:p>
            <a:pPr>
              <a:defRPr/>
            </a:pPr>
            <a:endParaRPr lang="en-US" b="0" i="0" dirty="0">
              <a:solidFill>
                <a:srgbClr val="333333"/>
              </a:solidFill>
              <a:effectLst/>
              <a:latin typeface="arial" panose="020B0604020202020204" pitchFamily="34" charset="0"/>
            </a:endParaRPr>
          </a:p>
          <a:p>
            <a:pPr algn="l"/>
            <a:r>
              <a:rPr lang="en-US" altLang="zh-CN" b="1" i="0" u="none" strike="noStrike" dirty="0">
                <a:solidFill>
                  <a:srgbClr val="14599D"/>
                </a:solidFill>
                <a:effectLst/>
                <a:latin typeface="-apple-system"/>
                <a:hlinkClick r:id="rId3"/>
              </a:rPr>
              <a:t>Long</a:t>
            </a:r>
            <a:r>
              <a:rPr lang="en-US" altLang="zh-CN" b="1" i="0" dirty="0">
                <a:solidFill>
                  <a:srgbClr val="1A1A1A"/>
                </a:solidFill>
                <a:effectLst/>
                <a:latin typeface="-apple-system"/>
              </a:rPr>
              <a:t>- and </a:t>
            </a:r>
            <a:r>
              <a:rPr lang="en-US" altLang="zh-CN" b="1" i="0" u="none" strike="noStrike" dirty="0">
                <a:solidFill>
                  <a:srgbClr val="14599D"/>
                </a:solidFill>
                <a:effectLst/>
                <a:latin typeface="-apple-system"/>
                <a:hlinkClick r:id="rId4"/>
              </a:rPr>
              <a:t>short-range order</a:t>
            </a:r>
            <a:endParaRPr lang="en-US" altLang="zh-CN" b="1" i="0" dirty="0">
              <a:solidFill>
                <a:srgbClr val="1A1A1A"/>
              </a:solidFill>
              <a:effectLst/>
              <a:latin typeface="-apple-system"/>
            </a:endParaRPr>
          </a:p>
          <a:p>
            <a:pPr algn="l"/>
            <a:r>
              <a:rPr lang="en-US" altLang="zh-CN" b="0" i="0" dirty="0">
                <a:solidFill>
                  <a:srgbClr val="1A1A1A"/>
                </a:solidFill>
                <a:effectLst/>
                <a:latin typeface="Georgia" panose="02040502050405020303" pitchFamily="18" charset="0"/>
              </a:rPr>
              <a:t>A solid is crystalline if it has long-range order. Once the positions of an atom and its </a:t>
            </a:r>
            <a:r>
              <a:rPr lang="en-US" altLang="zh-CN" b="0" i="0" dirty="0" err="1">
                <a:solidFill>
                  <a:srgbClr val="1A1A1A"/>
                </a:solidFill>
                <a:effectLst/>
                <a:latin typeface="Georgia" panose="02040502050405020303" pitchFamily="18" charset="0"/>
              </a:rPr>
              <a:t>neighbours</a:t>
            </a:r>
            <a:r>
              <a:rPr lang="en-US" altLang="zh-CN" b="0" i="0" dirty="0">
                <a:solidFill>
                  <a:srgbClr val="1A1A1A"/>
                </a:solidFill>
                <a:effectLst/>
                <a:latin typeface="Georgia" panose="02040502050405020303" pitchFamily="18" charset="0"/>
              </a:rPr>
              <a:t> are known at one point, the place of each atom is known precisely throughout the crystal. Most liquids lack long-range order, although many have short-range order. Short range is defined as the first- or second-nearest </a:t>
            </a:r>
            <a:r>
              <a:rPr lang="en-US" altLang="zh-CN" b="0" i="0" dirty="0" err="1">
                <a:solidFill>
                  <a:srgbClr val="1A1A1A"/>
                </a:solidFill>
                <a:effectLst/>
                <a:latin typeface="Georgia" panose="02040502050405020303" pitchFamily="18" charset="0"/>
              </a:rPr>
              <a:t>neighbours</a:t>
            </a:r>
            <a:r>
              <a:rPr lang="en-US" altLang="zh-CN" b="0" i="0" dirty="0">
                <a:solidFill>
                  <a:srgbClr val="1A1A1A"/>
                </a:solidFill>
                <a:effectLst/>
                <a:latin typeface="Georgia" panose="02040502050405020303" pitchFamily="18" charset="0"/>
              </a:rPr>
              <a:t> of an atom. In many liquids the first-</a:t>
            </a:r>
            <a:r>
              <a:rPr lang="en-US" altLang="zh-CN" b="0" i="0" dirty="0" err="1">
                <a:solidFill>
                  <a:srgbClr val="1A1A1A"/>
                </a:solidFill>
                <a:effectLst/>
                <a:latin typeface="Georgia" panose="02040502050405020303" pitchFamily="18" charset="0"/>
              </a:rPr>
              <a:t>neighbour</a:t>
            </a:r>
            <a:r>
              <a:rPr lang="en-US" altLang="zh-CN" b="0" i="0" dirty="0">
                <a:solidFill>
                  <a:srgbClr val="1A1A1A"/>
                </a:solidFill>
                <a:effectLst/>
                <a:latin typeface="Georgia" panose="02040502050405020303" pitchFamily="18" charset="0"/>
              </a:rPr>
              <a:t> atoms are arranged in the same structure as in the corresponding solid </a:t>
            </a:r>
            <a:r>
              <a:rPr lang="en-US" altLang="zh-CN" b="0" i="0" u="none" strike="noStrike" dirty="0">
                <a:solidFill>
                  <a:srgbClr val="14599D"/>
                </a:solidFill>
                <a:effectLst/>
                <a:latin typeface="Georgia" panose="02040502050405020303" pitchFamily="18" charset="0"/>
                <a:hlinkClick r:id="rId5"/>
              </a:rPr>
              <a:t>phase</a:t>
            </a:r>
            <a:r>
              <a:rPr lang="en-US" altLang="zh-CN" b="0" i="0" dirty="0">
                <a:solidFill>
                  <a:srgbClr val="1A1A1A"/>
                </a:solidFill>
                <a:effectLst/>
                <a:latin typeface="Georgia" panose="02040502050405020303" pitchFamily="18" charset="0"/>
              </a:rPr>
              <a:t>. At distances that are many atoms away, however, the positions of the atoms become uncorrelated. These fluids, such as water, have short-range order but lack long-range order. Certain liquids may have short-range order in one direction and long-range order in another direction; these special substances are called </a:t>
            </a:r>
            <a:r>
              <a:rPr lang="en-US" altLang="zh-CN" b="0" i="0" u="none" strike="noStrike" dirty="0" err="1">
                <a:solidFill>
                  <a:srgbClr val="14599D"/>
                </a:solidFill>
                <a:effectLst/>
                <a:latin typeface="Georgia" panose="02040502050405020303" pitchFamily="18" charset="0"/>
                <a:hlinkClick r:id="rId6"/>
              </a:rPr>
              <a:t>liquid</a:t>
            </a:r>
            <a:r>
              <a:rPr lang="en-US" altLang="zh-CN" b="0" i="0" dirty="0" err="1">
                <a:solidFill>
                  <a:srgbClr val="1A1A1A"/>
                </a:solidFill>
                <a:effectLst/>
                <a:latin typeface="Georgia" panose="02040502050405020303" pitchFamily="18" charset="0"/>
              </a:rPr>
              <a:t>crystals</a:t>
            </a:r>
            <a:r>
              <a:rPr lang="en-US" altLang="zh-CN" b="0" i="0" dirty="0">
                <a:solidFill>
                  <a:srgbClr val="1A1A1A"/>
                </a:solidFill>
                <a:effectLst/>
                <a:latin typeface="Georgia" panose="02040502050405020303" pitchFamily="18" charset="0"/>
              </a:rPr>
              <a:t>. Solid crystals have both short-range order and long-range order.</a:t>
            </a:r>
          </a:p>
          <a:p>
            <a:pPr algn="l"/>
            <a:endParaRPr lang="en-US" altLang="zh-CN" b="0" i="0" dirty="0">
              <a:solidFill>
                <a:srgbClr val="1A1A1A"/>
              </a:solidFill>
              <a:effectLst/>
              <a:latin typeface="Georgia" panose="02040502050405020303" pitchFamily="18" charset="0"/>
            </a:endParaRPr>
          </a:p>
          <a:p>
            <a:pPr>
              <a:defRPr/>
            </a:pPr>
            <a:r>
              <a:rPr lang="en-US" b="0" i="0" dirty="0">
                <a:solidFill>
                  <a:srgbClr val="333333"/>
                </a:solidFill>
                <a:effectLst/>
                <a:latin typeface="arial" panose="020B0604020202020204" pitchFamily="34" charset="0"/>
              </a:rPr>
              <a:t>https://www.britannica.com/science/crystal#ref506252</a:t>
            </a:r>
          </a:p>
          <a:p>
            <a:pPr>
              <a:defRPr/>
            </a:pPr>
            <a:endParaRPr lang="en-US" dirty="0"/>
          </a:p>
        </p:txBody>
      </p:sp>
      <p:sp>
        <p:nvSpPr>
          <p:cNvPr id="2314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3E4CEFE8-66F9-464A-8655-B5822B38A0D4}" type="slidenum">
              <a:rPr lang="en-US" altLang="en-US" smtClean="0">
                <a:latin typeface="Times New Roman" panose="02020603050405020304" pitchFamily="18" charset="0"/>
              </a:rPr>
              <a:t>30</a:t>
            </a:fld>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324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dirty="0"/>
              <a:t>晶体中既存在短程有序又存在长程有序。</a:t>
            </a:r>
          </a:p>
          <a:p>
            <a:r>
              <a:rPr lang="zh-CN" altLang="en-US" dirty="0"/>
              <a:t>但在非晶质体如玻璃体中，质点虽然可以是近程有序的，但不存在长程有序。</a:t>
            </a:r>
          </a:p>
          <a:p>
            <a:r>
              <a:rPr lang="zh-CN" altLang="en-US" dirty="0"/>
              <a:t>在气体中则既不存在长程有序，也不存在近程有序。</a:t>
            </a:r>
          </a:p>
          <a:p>
            <a:r>
              <a:rPr lang="zh-CN" altLang="en-US" dirty="0"/>
              <a:t>准晶体质点的排列应是长程有序，</a:t>
            </a:r>
            <a:r>
              <a:rPr lang="zh-CN" altLang="en-US" b="1" dirty="0"/>
              <a:t>但不体现周期重复</a:t>
            </a:r>
            <a:r>
              <a:rPr lang="zh-CN" altLang="en-US" dirty="0"/>
              <a:t>，即不存在格子构造。</a:t>
            </a:r>
          </a:p>
          <a:p>
            <a:endParaRPr lang="en-US" altLang="en-US" dirty="0">
              <a:ea typeface="宋体" panose="02010600030101010101" pitchFamily="2" charset="-122"/>
            </a:endParaRPr>
          </a:p>
        </p:txBody>
      </p:sp>
      <p:sp>
        <p:nvSpPr>
          <p:cNvPr id="2324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29CF3CD8-7219-4A5B-8C6A-2A181EE0AFC6}" type="slidenum">
              <a:rPr lang="en-US" altLang="en-US" smtClean="0">
                <a:latin typeface="Times New Roman" panose="02020603050405020304" pitchFamily="18" charset="0"/>
              </a:rPr>
              <a:t>32</a:t>
            </a:fld>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莱纳斯</a:t>
            </a:r>
            <a:r>
              <a:rPr lang="en-US" altLang="zh-CN" dirty="0"/>
              <a:t>·</a:t>
            </a:r>
            <a:r>
              <a:rPr lang="zh-CN" altLang="en-US" dirty="0"/>
              <a:t>鲍林</a:t>
            </a:r>
            <a:r>
              <a:rPr lang="en-US" altLang="zh-CN" dirty="0"/>
              <a:t>:</a:t>
            </a:r>
            <a:r>
              <a:rPr lang="zh-CN" altLang="en-US" dirty="0"/>
              <a:t>诺贝尔化学奖和平奖双料得主</a:t>
            </a:r>
          </a:p>
        </p:txBody>
      </p:sp>
      <p:sp>
        <p:nvSpPr>
          <p:cNvPr id="4" name="灯片编号占位符 3"/>
          <p:cNvSpPr>
            <a:spLocks noGrp="1"/>
          </p:cNvSpPr>
          <p:nvPr>
            <p:ph type="sldNum" sz="quarter" idx="5"/>
          </p:nvPr>
        </p:nvSpPr>
        <p:spPr/>
        <p:txBody>
          <a:bodyPr/>
          <a:lstStyle/>
          <a:p>
            <a:pPr>
              <a:defRPr/>
            </a:pPr>
            <a:fld id="{3C9865B4-5489-4239-A523-6532B63A2C40}" type="slidenum">
              <a:rPr lang="en-US" smtClean="0"/>
              <a:t>34</a:t>
            </a:fld>
            <a:endParaRPr lang="en-US"/>
          </a:p>
        </p:txBody>
      </p:sp>
    </p:spTree>
    <p:extLst>
      <p:ext uri="{BB962C8B-B14F-4D97-AF65-F5344CB8AC3E}">
        <p14:creationId xmlns:p14="http://schemas.microsoft.com/office/powerpoint/2010/main" val="37270680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334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en-US">
                <a:ea typeface="宋体" panose="02010600030101010101" pitchFamily="2" charset="-122"/>
              </a:rPr>
              <a:t>http://www.nobelprize.org/nobel_prizes/chemistry/laureates/2011/advanced-chemistryprize2011.pdf</a:t>
            </a:r>
          </a:p>
          <a:p>
            <a:pPr eaLnBrk="1" hangingPunct="1">
              <a:spcBef>
                <a:spcPct val="0"/>
              </a:spcBef>
            </a:pPr>
            <a:r>
              <a:rPr lang="en-US" altLang="en-US">
                <a:ea typeface="宋体" panose="02010600030101010101" pitchFamily="2" charset="-122"/>
              </a:rPr>
              <a:t>http://science.sciencemag.org/content/sci/315/5815/1106.full.pdf</a:t>
            </a:r>
          </a:p>
          <a:p>
            <a:pPr eaLnBrk="1" hangingPunct="1">
              <a:spcBef>
                <a:spcPct val="0"/>
              </a:spcBef>
            </a:pPr>
            <a:r>
              <a:rPr lang="en-US" altLang="en-US">
                <a:ea typeface="宋体" panose="02010600030101010101" pitchFamily="2" charset="-122"/>
              </a:rPr>
              <a:t>(</a:t>
            </a:r>
            <a:r>
              <a:rPr lang="zh-CN" altLang="en-US"/>
              <a:t>参考文章</a:t>
            </a:r>
            <a:r>
              <a:rPr lang="en-US" altLang="zh-CN"/>
              <a:t>)</a:t>
            </a:r>
            <a:endParaRPr lang="en-US" altLang="en-US">
              <a:ea typeface="宋体" panose="02010600030101010101" pitchFamily="2" charset="-122"/>
            </a:endParaRPr>
          </a:p>
          <a:p>
            <a:pPr eaLnBrk="1" hangingPunct="1">
              <a:spcBef>
                <a:spcPct val="0"/>
              </a:spcBef>
            </a:pPr>
            <a:endParaRPr lang="en-US" altLang="en-US">
              <a:ea typeface="宋体" panose="02010600030101010101" pitchFamily="2" charset="-122"/>
            </a:endParaRPr>
          </a:p>
        </p:txBody>
      </p:sp>
      <p:sp>
        <p:nvSpPr>
          <p:cNvPr id="2334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D961E3A1-C656-4962-AB8A-EA17C5F53DCB}" type="slidenum">
              <a:rPr lang="en-US" altLang="en-US" smtClean="0">
                <a:latin typeface="Times New Roman" panose="02020603050405020304" pitchFamily="18" charset="0"/>
              </a:rPr>
              <a:t>35</a:t>
            </a:fld>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344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ea typeface="宋体" panose="02010600030101010101" pitchFamily="2" charset="-122"/>
            </a:endParaRPr>
          </a:p>
        </p:txBody>
      </p:sp>
      <p:sp>
        <p:nvSpPr>
          <p:cNvPr id="2345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F4807003-1C0E-49B3-B7D4-C407EF1AA27D}" type="slidenum">
              <a:rPr lang="en-US" altLang="en-US" smtClean="0">
                <a:latin typeface="Times New Roman" panose="02020603050405020304" pitchFamily="18" charset="0"/>
              </a:rPr>
              <a:t>37</a:t>
            </a:fld>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cesium chloride </a:t>
            </a:r>
            <a:r>
              <a:rPr lang="en-US" altLang="zh-CN" sz="1200" b="0" i="0" kern="1200" dirty="0" err="1">
                <a:solidFill>
                  <a:schemeClr val="tx1"/>
                </a:solidFill>
                <a:effectLst/>
                <a:latin typeface="+mn-lt"/>
                <a:ea typeface="+mn-ea"/>
                <a:cs typeface="+mn-cs"/>
              </a:rPr>
              <a:t>CsCl</a:t>
            </a:r>
            <a:endParaRPr lang="en-US" dirty="0"/>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52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 the lattice </a:t>
            </a:r>
            <a:r>
              <a:rPr lang="en-US" altLang="zh-CN" dirty="0"/>
              <a:t>firstly</a:t>
            </a:r>
            <a:endParaRPr lang="en-US" dirty="0"/>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53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355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晶体和其他固体的区别在于它的周期性重复规律（平移不变性）；</a:t>
            </a:r>
            <a:endParaRPr lang="en-US" altLang="zh-CN"/>
          </a:p>
          <a:p>
            <a:r>
              <a:rPr lang="zh-CN" altLang="en-US"/>
              <a:t>如何把这种周期性重复规律找出来，是我们研究晶体结构的基础。</a:t>
            </a:r>
            <a:endParaRPr lang="en-US" altLang="zh-CN"/>
          </a:p>
          <a:p>
            <a:r>
              <a:rPr lang="zh-CN" altLang="en-US"/>
              <a:t>内部结构看起来很不一样的晶体，其周期重复规律可以是一样。</a:t>
            </a:r>
            <a:endParaRPr lang="en-US" altLang="zh-CN"/>
          </a:p>
          <a:p>
            <a:r>
              <a:rPr lang="zh-CN" altLang="en-US"/>
              <a:t>这里我们要做的事情就是把晶体抽象成空间点阵，它是</a:t>
            </a:r>
            <a:r>
              <a:rPr lang="zh-CN" altLang="en-US">
                <a:solidFill>
                  <a:srgbClr val="0000FF"/>
                </a:solidFill>
                <a:latin typeface="楷体_GB2312" pitchFamily="49" charset="-122"/>
                <a:ea typeface="楷体_GB2312" pitchFamily="49" charset="-122"/>
              </a:rPr>
              <a:t>表示晶体结构周期重复规律的简单几何图形。</a:t>
            </a:r>
            <a:endParaRPr lang="zh-CN" altLang="en-US"/>
          </a:p>
        </p:txBody>
      </p:sp>
      <p:sp>
        <p:nvSpPr>
          <p:cNvPr id="2355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C89BCE6C-0510-4C2B-8787-1CDC2DB39BAD}" type="slidenum">
              <a:rPr lang="en-US" altLang="zh-CN" smtClean="0">
                <a:latin typeface="Times New Roman" panose="02020603050405020304" pitchFamily="18" charset="0"/>
              </a:rPr>
              <a:t>54</a:t>
            </a:fld>
            <a:endParaRPr lang="en-US" altLang="zh-CN">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abstract each ion into a point and you get a lattice</a:t>
            </a:r>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56</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matter where you start, you end up with the same lattice, right</a:t>
            </a:r>
            <a:r>
              <a:rPr lang="zh-CN" altLang="en-US" dirty="0"/>
              <a:t>？</a:t>
            </a:r>
            <a:endParaRPr lang="en-US" dirty="0"/>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57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365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en-US" altLang="en-US">
                <a:ea typeface="宋体" panose="02010600030101010101" pitchFamily="2" charset="-122"/>
              </a:rPr>
              <a:t>http://www.chemie.unibas.ch/~fromm/WEBfromm/res.html</a:t>
            </a:r>
          </a:p>
          <a:p>
            <a:endParaRPr lang="en-US" altLang="en-US">
              <a:ea typeface="宋体" panose="02010600030101010101" pitchFamily="2" charset="-122"/>
            </a:endParaRPr>
          </a:p>
        </p:txBody>
      </p:sp>
      <p:sp>
        <p:nvSpPr>
          <p:cNvPr id="2365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414266DD-7A65-4AA9-B37E-5C820F7ACF75}" type="slidenum">
              <a:rPr lang="en-US" altLang="en-US" smtClean="0">
                <a:latin typeface="Times New Roman" panose="02020603050405020304" pitchFamily="18" charset="0"/>
              </a:rPr>
              <a:t>60</a:t>
            </a:fld>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37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ea typeface="宋体" panose="02010600030101010101" pitchFamily="2" charset="-122"/>
            </a:endParaRPr>
          </a:p>
        </p:txBody>
      </p:sp>
      <p:sp>
        <p:nvSpPr>
          <p:cNvPr id="2375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5E9A5D43-EAE0-4101-9E22-CE604B56BD53}" type="slidenum">
              <a:rPr lang="en-US" altLang="en-US" smtClean="0">
                <a:latin typeface="Times New Roman" panose="02020603050405020304" pitchFamily="18" charset="0"/>
              </a:rPr>
              <a:t>63</a:t>
            </a:fld>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385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ea typeface="宋体" panose="02010600030101010101" pitchFamily="2" charset="-122"/>
            </a:endParaRPr>
          </a:p>
        </p:txBody>
      </p:sp>
      <p:sp>
        <p:nvSpPr>
          <p:cNvPr id="2385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7AD1C420-21C6-4063-AF15-1DBAFD80EEB8}" type="slidenum">
              <a:rPr lang="en-US" altLang="en-US" smtClean="0">
                <a:latin typeface="Times New Roman" panose="02020603050405020304" pitchFamily="18" charset="0"/>
              </a:rPr>
              <a:t>64</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1625995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385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ea typeface="宋体" panose="02010600030101010101" pitchFamily="2" charset="-122"/>
            </a:endParaRPr>
          </a:p>
        </p:txBody>
      </p:sp>
      <p:sp>
        <p:nvSpPr>
          <p:cNvPr id="2385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7AD1C420-21C6-4063-AF15-1DBAFD80EEB8}" type="slidenum">
              <a:rPr lang="en-US" altLang="en-US" smtClean="0">
                <a:latin typeface="Times New Roman" panose="02020603050405020304" pitchFamily="18" charset="0"/>
              </a:rPr>
              <a:t>65</a:t>
            </a:fld>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396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dirty="0">
                <a:ea typeface="宋体" panose="02010600030101010101" pitchFamily="2" charset="-122"/>
              </a:rPr>
              <a:t>窗帘布料贴图 为关键字百度搜索图片</a:t>
            </a:r>
            <a:endParaRPr lang="en-US" altLang="en-US" dirty="0">
              <a:ea typeface="宋体" panose="02010600030101010101" pitchFamily="2" charset="-122"/>
            </a:endParaRPr>
          </a:p>
        </p:txBody>
      </p:sp>
      <p:sp>
        <p:nvSpPr>
          <p:cNvPr id="2396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F954A0F2-7C51-4BA2-86CD-4002AE024396}" type="slidenum">
              <a:rPr lang="en-US" altLang="en-US" smtClean="0">
                <a:latin typeface="Times New Roman" panose="02020603050405020304" pitchFamily="18" charset="0"/>
              </a:rPr>
              <a:t>66</a:t>
            </a:fld>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a:defRPr/>
            </a:pPr>
            <a:r>
              <a:rPr lang="zh-CN" altLang="en-US" b="1" dirty="0">
                <a:solidFill>
                  <a:srgbClr val="0000CC"/>
                </a:solidFill>
                <a:effectLst>
                  <a:outerShdw blurRad="38100" dist="38100" dir="2700000" algn="tl">
                    <a:srgbClr val="000000"/>
                  </a:outerShdw>
                </a:effectLst>
                <a:latin typeface="Arial" panose="020B0604020202020204"/>
                <a:ea typeface="黑体" panose="02010609060101010101" pitchFamily="49" charset="-122"/>
              </a:rPr>
              <a:t>把每一层的点阵画出来，然后层叠就形成晶体的三维点阵？</a:t>
            </a:r>
            <a:endParaRPr lang="en-US" sz="1600" dirty="0">
              <a:solidFill>
                <a:srgbClr val="0000CC"/>
              </a:solidFill>
            </a:endParaRPr>
          </a:p>
          <a:p>
            <a:pPr>
              <a:defRPr/>
            </a:pPr>
            <a:endParaRPr lang="en-US" dirty="0"/>
          </a:p>
        </p:txBody>
      </p:sp>
      <p:sp>
        <p:nvSpPr>
          <p:cNvPr id="2406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2D2428B2-14B8-41FD-A2C6-55A9A5E3BD66}" type="slidenum">
              <a:rPr lang="en-US" altLang="en-US" smtClean="0">
                <a:latin typeface="Times New Roman" panose="02020603050405020304" pitchFamily="18" charset="0"/>
              </a:rPr>
              <a:t>67</a:t>
            </a:fld>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a:defRPr/>
            </a:pPr>
            <a:r>
              <a:rPr lang="en-US" altLang="zh-CN" dirty="0">
                <a:solidFill>
                  <a:srgbClr val="FF3300"/>
                </a:solidFill>
                <a:effectLst>
                  <a:outerShdw blurRad="38100" dist="38100" dir="2700000" algn="tl">
                    <a:srgbClr val="000000"/>
                  </a:outerShdw>
                </a:effectLst>
              </a:rPr>
              <a:t>determine the space lattice of the projections of the right 3D pattern.</a:t>
            </a:r>
          </a:p>
          <a:p>
            <a:pPr>
              <a:defRPr/>
            </a:pPr>
            <a:endParaRPr lang="en-US" dirty="0"/>
          </a:p>
        </p:txBody>
      </p:sp>
      <p:sp>
        <p:nvSpPr>
          <p:cNvPr id="2416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6799B046-6B8E-431C-86EA-AA4CED9B160B}" type="slidenum">
              <a:rPr lang="en-US" altLang="en-US" smtClean="0">
                <a:latin typeface="Times New Roman" panose="02020603050405020304" pitchFamily="18" charset="0"/>
              </a:rPr>
              <a:t>68</a:t>
            </a:fld>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8547"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defRPr/>
            </a:pPr>
            <a:r>
              <a:rPr lang="zh-CN" altLang="en-US" b="1" dirty="0">
                <a:solidFill>
                  <a:srgbClr val="FF0066"/>
                </a:solidFill>
                <a:effectLst>
                  <a:outerShdw blurRad="38100" dist="38100" dir="2700000" algn="tl">
                    <a:srgbClr val="000000">
                      <a:alpha val="43137"/>
                    </a:srgbClr>
                  </a:outerShdw>
                </a:effectLst>
              </a:rPr>
              <a:t>单层石墨烯和石墨晶体的二维点阵（</a:t>
            </a:r>
            <a:r>
              <a:rPr lang="en-US" altLang="zh-CN" b="1" dirty="0">
                <a:solidFill>
                  <a:srgbClr val="FF0066"/>
                </a:solidFill>
                <a:effectLst>
                  <a:outerShdw blurRad="38100" dist="38100" dir="2700000" algn="tl">
                    <a:srgbClr val="000000">
                      <a:alpha val="43137"/>
                    </a:srgbClr>
                  </a:outerShdw>
                </a:effectLst>
              </a:rPr>
              <a:t>Z</a:t>
            </a:r>
            <a:r>
              <a:rPr lang="zh-CN" altLang="en-US" b="1" dirty="0">
                <a:solidFill>
                  <a:srgbClr val="FF0066"/>
                </a:solidFill>
                <a:effectLst>
                  <a:outerShdw blurRad="38100" dist="38100" dir="2700000" algn="tl">
                    <a:srgbClr val="000000">
                      <a:alpha val="43137"/>
                    </a:srgbClr>
                  </a:outerShdw>
                </a:effectLst>
              </a:rPr>
              <a:t>向投影）有什么区别？</a:t>
            </a:r>
            <a:endParaRPr lang="en-US" altLang="zh-CN" b="1" dirty="0">
              <a:solidFill>
                <a:srgbClr val="FF0066"/>
              </a:solidFill>
              <a:effectLst>
                <a:outerShdw blurRad="38100" dist="38100" dir="2700000" algn="tl">
                  <a:srgbClr val="000000">
                    <a:alpha val="43137"/>
                  </a:srgbClr>
                </a:outerShdw>
              </a:effectLst>
            </a:endParaRPr>
          </a:p>
          <a:p>
            <a:pPr>
              <a:defRPr/>
            </a:pPr>
            <a:endParaRPr lang="en-US" altLang="zh-CN" b="1" dirty="0">
              <a:solidFill>
                <a:srgbClr val="FF0066"/>
              </a:solidFill>
              <a:effectLst>
                <a:outerShdw blurRad="38100" dist="38100" dir="2700000" algn="tl">
                  <a:srgbClr val="000000">
                    <a:alpha val="43137"/>
                  </a:srgbClr>
                </a:outerShdw>
              </a:effectLst>
            </a:endParaRPr>
          </a:p>
          <a:p>
            <a:pPr>
              <a:defRPr/>
            </a:pPr>
            <a:r>
              <a:rPr lang="zh-CN" altLang="en-US" b="1" dirty="0">
                <a:solidFill>
                  <a:srgbClr val="FF0066"/>
                </a:solidFill>
                <a:effectLst>
                  <a:outerShdw blurRad="38100" dist="38100" dir="2700000" algn="tl">
                    <a:srgbClr val="000000">
                      <a:alpha val="43137"/>
                    </a:srgbClr>
                  </a:outerShdw>
                </a:effectLst>
              </a:rPr>
              <a:t>纵向上也要注意对等点的概念，石墨晶体的对等点要隔一层才可以。</a:t>
            </a:r>
            <a:endParaRPr lang="en-US" altLang="zh-CN" b="1" dirty="0">
              <a:solidFill>
                <a:srgbClr val="FF0066"/>
              </a:solidFill>
              <a:effectLst>
                <a:outerShdw blurRad="38100" dist="38100" dir="2700000" algn="tl">
                  <a:srgbClr val="000000">
                    <a:alpha val="43137"/>
                  </a:srgbClr>
                </a:outerShdw>
              </a:effectLst>
            </a:endParaRPr>
          </a:p>
        </p:txBody>
      </p:sp>
      <p:sp>
        <p:nvSpPr>
          <p:cNvPr id="2426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C9601F2E-C092-4D0C-B036-E4470942E23B}" type="slidenum">
              <a:rPr lang="en-US" altLang="en-US" smtClean="0">
                <a:latin typeface="Times New Roman" panose="02020603050405020304" pitchFamily="18" charset="0"/>
              </a:rPr>
              <a:t>69</a:t>
            </a:fld>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37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ea typeface="宋体" panose="02010600030101010101" pitchFamily="2" charset="-122"/>
            </a:endParaRPr>
          </a:p>
        </p:txBody>
      </p:sp>
      <p:sp>
        <p:nvSpPr>
          <p:cNvPr id="2437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CB6510AC-253F-4AFD-8612-BD6D280AC4A0}" type="slidenum">
              <a:rPr lang="en-US" altLang="en-US" smtClean="0">
                <a:latin typeface="Times New Roman" panose="02020603050405020304" pitchFamily="18" charset="0"/>
              </a:rPr>
              <a:t>75</a:t>
            </a:fld>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这部分暂时没法讲，很多的概念如密勒指数都没有学，放在后面。</a:t>
            </a:r>
            <a:endParaRPr lang="en-US" dirty="0"/>
          </a:p>
        </p:txBody>
      </p:sp>
      <p:sp>
        <p:nvSpPr>
          <p:cNvPr id="4" name="Slide Number Placeholder 3"/>
          <p:cNvSpPr>
            <a:spLocks noGrp="1"/>
          </p:cNvSpPr>
          <p:nvPr>
            <p:ph type="sldNum" sz="quarter" idx="10"/>
          </p:nvPr>
        </p:nvSpPr>
        <p:spPr/>
        <p:txBody>
          <a:bodyPr/>
          <a:lstStyle/>
          <a:p>
            <a:pPr>
              <a:defRPr/>
            </a:pPr>
            <a:fld id="{3C9865B4-5489-4239-A523-6532B63A2C40}" type="slidenum">
              <a:rPr lang="en-US" smtClean="0"/>
              <a:t>78</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47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石墨层内原子</a:t>
            </a:r>
            <a:r>
              <a:rPr lang="en-US" altLang="zh-CN"/>
              <a:t>sp2</a:t>
            </a:r>
            <a:r>
              <a:rPr lang="zh-CN" altLang="en-US"/>
              <a:t>杂化键，层间大</a:t>
            </a:r>
            <a:r>
              <a:rPr lang="en-US" altLang="zh-CN"/>
              <a:t>Pi</a:t>
            </a:r>
            <a:r>
              <a:rPr lang="zh-CN" altLang="en-US"/>
              <a:t>键，导热，导电均不一样</a:t>
            </a:r>
          </a:p>
        </p:txBody>
      </p:sp>
      <p:sp>
        <p:nvSpPr>
          <p:cNvPr id="2447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8F88A603-37EB-4C81-AE55-1B21921A6135}" type="slidenum">
              <a:rPr lang="en-US" altLang="zh-CN" smtClean="0">
                <a:latin typeface="Times New Roman" panose="02020603050405020304" pitchFamily="18" charset="0"/>
              </a:rPr>
              <a:t>83</a:t>
            </a:fld>
            <a:endParaRPr lang="en-US" altLang="zh-CN">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9001125" y="4846638"/>
            <a:ext cx="142875" cy="20113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9001125" y="0"/>
            <a:ext cx="142875" cy="48466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ctrTitle"/>
          </p:nvPr>
        </p:nvSpPr>
        <p:spPr>
          <a:xfrm>
            <a:off x="457200" y="228604"/>
            <a:ext cx="7772400" cy="4571999"/>
          </a:xfrm>
        </p:spPr>
        <p:txBody>
          <a:bodyPr anchor="ctr">
            <a:noAutofit/>
          </a:bodyPr>
          <a:lstStyle>
            <a:lvl1pPr>
              <a:lnSpc>
                <a:spcPct val="100000"/>
              </a:lnSpc>
              <a:defRPr sz="8800" spc="-8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pPr>
              <a:defRPr/>
            </a:pPr>
            <a:endParaRPr lang="en-US" altLang="zh-CN"/>
          </a:p>
        </p:txBody>
      </p:sp>
      <p:sp>
        <p:nvSpPr>
          <p:cNvPr id="7" name="Footer Placeholder 4"/>
          <p:cNvSpPr>
            <a:spLocks noGrp="1"/>
          </p:cNvSpPr>
          <p:nvPr>
            <p:ph type="ftr" sz="quarter" idx="11"/>
          </p:nvPr>
        </p:nvSpPr>
        <p:spPr/>
        <p:txBody>
          <a:bodyPr/>
          <a:lstStyle>
            <a:lvl1pPr>
              <a:defRPr/>
            </a:lvl1pPr>
          </a:lstStyle>
          <a:p>
            <a:pPr>
              <a:defRPr/>
            </a:pPr>
            <a:endParaRPr lang="en-US" altLang="zh-CN"/>
          </a:p>
        </p:txBody>
      </p:sp>
      <p:sp>
        <p:nvSpPr>
          <p:cNvPr id="8" name="Slide Number Placeholder 5"/>
          <p:cNvSpPr>
            <a:spLocks noGrp="1"/>
          </p:cNvSpPr>
          <p:nvPr>
            <p:ph type="sldNum" sz="quarter" idx="12"/>
          </p:nvPr>
        </p:nvSpPr>
        <p:spPr/>
        <p:txBody>
          <a:bodyPr/>
          <a:lstStyle>
            <a:lvl1pPr>
              <a:defRPr>
                <a:solidFill>
                  <a:schemeClr val="tx1"/>
                </a:solidFill>
              </a:defRPr>
            </a:lvl1pPr>
          </a:lstStyle>
          <a:p>
            <a:pPr>
              <a:defRPr/>
            </a:pPr>
            <a:fld id="{0449B33E-9019-4711-8FD1-13F90E3601CD}"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DB167D53-74CF-4597-B979-3FBF18DED455}"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5"/>
            <a:ext cx="7772400" cy="4321175"/>
          </a:xfrm>
        </p:spPr>
        <p:txBody>
          <a:bodyPr anchor="ctr">
            <a:noAutofit/>
          </a:bodyPr>
          <a:lstStyle>
            <a:lvl1pPr algn="l">
              <a:lnSpc>
                <a:spcPct val="100000"/>
              </a:lnSpc>
              <a:defRPr sz="8800" b="0" cap="all" spc="-8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4155B77D-DF4F-48E1-B012-BB9378AFDB73}"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630680" y="1574801"/>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0160" y="1574801"/>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C1DF56EF-23AC-47CC-A669-BDDD85EDB037}"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27632" y="1572772"/>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3208" y="1572772"/>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F1F48889-385E-4596-9B01-77669B5BC54A}"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9173C8C9-335C-41FD-9902-85B340A6280C}"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zh-CN"/>
          </a:p>
        </p:txBody>
      </p:sp>
      <p:sp>
        <p:nvSpPr>
          <p:cNvPr id="3" name="Footer Placeholder 4"/>
          <p:cNvSpPr>
            <a:spLocks noGrp="1"/>
          </p:cNvSpPr>
          <p:nvPr>
            <p:ph type="ftr" sz="quarter" idx="11"/>
          </p:nvPr>
        </p:nvSpPr>
        <p:spPr/>
        <p:txBody>
          <a:bodyPr/>
          <a:lstStyle>
            <a:lvl1pPr>
              <a:defRPr/>
            </a:lvl1pPr>
          </a:lstStyle>
          <a:p>
            <a:pPr>
              <a:defRPr/>
            </a:pPr>
            <a:endParaRPr lang="en-US" altLang="zh-CN"/>
          </a:p>
        </p:txBody>
      </p:sp>
      <p:sp>
        <p:nvSpPr>
          <p:cNvPr id="4" name="Slide Number Placeholder 5"/>
          <p:cNvSpPr>
            <a:spLocks noGrp="1"/>
          </p:cNvSpPr>
          <p:nvPr>
            <p:ph type="sldNum" sz="quarter" idx="12"/>
          </p:nvPr>
        </p:nvSpPr>
        <p:spPr/>
        <p:txBody>
          <a:bodyPr/>
          <a:lstStyle>
            <a:lvl1pPr>
              <a:defRPr/>
            </a:lvl1pPr>
          </a:lstStyle>
          <a:p>
            <a:pPr>
              <a:defRPr/>
            </a:pPr>
            <a:fld id="{44304F67-36B5-44D6-9968-0537D105402B}"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8"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itle 7"/>
          <p:cNvSpPr>
            <a:spLocks noGrp="1"/>
          </p:cNvSpPr>
          <p:nvPr>
            <p:ph type="title"/>
          </p:nvPr>
        </p:nvSpPr>
        <p:spPr/>
        <p:txBody>
          <a:bodyPr/>
          <a:lstStyle/>
          <a:p>
            <a:r>
              <a:rPr lang="en-US"/>
              <a:t>Click to edit Master title style</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9196239E-8D98-4871-A4B9-FFDC25E8ED4B}"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9001125" y="4846638"/>
            <a:ext cx="142875" cy="20113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9001125" y="0"/>
            <a:ext cx="142875" cy="48466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itle 7"/>
          <p:cNvSpPr>
            <a:spLocks noGrp="1"/>
          </p:cNvSpPr>
          <p:nvPr>
            <p:ph type="title"/>
          </p:nvPr>
        </p:nvSpPr>
        <p:spPr>
          <a:xfrm>
            <a:off x="457200" y="4953000"/>
            <a:ext cx="8153400" cy="762000"/>
          </a:xfrm>
        </p:spPr>
        <p:txBody>
          <a:bodyPr anchor="t"/>
          <a:lstStyle>
            <a:lvl1pPr>
              <a:defRPr sz="3200"/>
            </a:lvl1pPr>
          </a:lstStyle>
          <a:p>
            <a:r>
              <a:rPr lang="en-US"/>
              <a:t>Click to edit Master title style</a:t>
            </a:r>
            <a:endParaRPr lang="en-US" dirty="0"/>
          </a:p>
        </p:txBody>
      </p:sp>
      <p:sp>
        <p:nvSpPr>
          <p:cNvPr id="7" name="Date Placeholder 4"/>
          <p:cNvSpPr>
            <a:spLocks noGrp="1"/>
          </p:cNvSpPr>
          <p:nvPr>
            <p:ph type="dt" sz="half" idx="10"/>
          </p:nvPr>
        </p:nvSpPr>
        <p:spPr/>
        <p:txBody>
          <a:bodyPr/>
          <a:lstStyle>
            <a:lvl1pPr>
              <a:defRPr/>
            </a:lvl1pPr>
          </a:lstStyle>
          <a:p>
            <a:pPr>
              <a:defRPr/>
            </a:pPr>
            <a:endParaRPr lang="en-US" altLang="zh-CN"/>
          </a:p>
        </p:txBody>
      </p:sp>
      <p:sp>
        <p:nvSpPr>
          <p:cNvPr id="9" name="Footer Placeholder 5"/>
          <p:cNvSpPr>
            <a:spLocks noGrp="1"/>
          </p:cNvSpPr>
          <p:nvPr>
            <p:ph type="ftr" sz="quarter" idx="11"/>
          </p:nvPr>
        </p:nvSpPr>
        <p:spPr/>
        <p:txBody>
          <a:bodyPr/>
          <a:lstStyle>
            <a:lvl1pPr>
              <a:defRPr/>
            </a:lvl1pPr>
          </a:lstStyle>
          <a:p>
            <a:pPr>
              <a:defRPr/>
            </a:pPr>
            <a:endParaRPr lang="en-US" altLang="zh-CN"/>
          </a:p>
        </p:txBody>
      </p:sp>
      <p:sp>
        <p:nvSpPr>
          <p:cNvPr id="10" name="Slide Number Placeholder 6"/>
          <p:cNvSpPr>
            <a:spLocks noGrp="1"/>
          </p:cNvSpPr>
          <p:nvPr>
            <p:ph type="sldNum" sz="quarter" idx="12"/>
          </p:nvPr>
        </p:nvSpPr>
        <p:spPr/>
        <p:txBody>
          <a:bodyPr/>
          <a:lstStyle>
            <a:lvl1pPr>
              <a:defRPr>
                <a:solidFill>
                  <a:schemeClr val="tx1"/>
                </a:solidFill>
              </a:defRPr>
            </a:lvl1pPr>
          </a:lstStyle>
          <a:p>
            <a:pPr>
              <a:defRPr/>
            </a:pPr>
            <a:fld id="{E8E92946-FAD9-4FD6-B672-E0BA1300F3F5}"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140E10CA-6798-4DFF-934E-FA85C0D3CC99}"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76B83233-3F2A-4B12-A518-022CB68BB38C}"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pPr>
              <a:defRPr/>
            </a:pPr>
            <a:fld id="{354593BF-B218-4C24-87FB-2B519BF18D1F}"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457200"/>
            <a:ext cx="7772400" cy="563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4" name="Footer Placeholder 3"/>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5" name="Slide Number Placeholder 4"/>
          <p:cNvSpPr>
            <a:spLocks noGrp="1"/>
          </p:cNvSpPr>
          <p:nvPr>
            <p:ph type="sldNum" sz="quarter" idx="12"/>
          </p:nvPr>
        </p:nvSpPr>
        <p:spPr>
          <a:xfrm>
            <a:off x="6553200" y="6248400"/>
            <a:ext cx="1905000" cy="457200"/>
          </a:xfrm>
        </p:spPr>
        <p:txBody>
          <a:bodyPr/>
          <a:lstStyle>
            <a:lvl1pPr>
              <a:defRPr/>
            </a:lvl1pPr>
          </a:lstStyle>
          <a:p>
            <a:pPr>
              <a:defRPr/>
            </a:pPr>
            <a:fld id="{61D8E8F4-9D7A-4F3C-AB7D-4ABD26D61C0D}"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7" name="Text Placeholder 2"/>
          <p:cNvSpPr>
            <a:spLocks noGrp="1"/>
          </p:cNvSpPr>
          <p:nvPr>
            <p:ph type="body" idx="1"/>
          </p:nvPr>
        </p:nvSpPr>
        <p:spPr bwMode="auto">
          <a:xfrm>
            <a:off x="457200" y="1752600"/>
            <a:ext cx="7620000"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a:defRPr sz="1000">
                <a:solidFill>
                  <a:schemeClr val="tx1"/>
                </a:solidFill>
                <a:latin typeface="Times New Roman" panose="02020603050405020304" pitchFamily="18" charset="0"/>
              </a:defRPr>
            </a:lvl1pPr>
          </a:lstStyle>
          <a:p>
            <a:pPr>
              <a:defRPr/>
            </a:pPr>
            <a:endParaRPr lang="en-US" altLang="zh-CN"/>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a:defRPr sz="1000">
                <a:solidFill>
                  <a:schemeClr val="tx1"/>
                </a:solidFill>
                <a:latin typeface="Times New Roman" panose="02020603050405020304" pitchFamily="18" charset="0"/>
              </a:defRPr>
            </a:lvl1pPr>
          </a:lstStyle>
          <a:p>
            <a:pPr>
              <a:defRPr/>
            </a:pPr>
            <a:endParaRPr lang="en-US" altLang="zh-CN"/>
          </a:p>
        </p:txBody>
      </p:sp>
      <p:sp>
        <p:nvSpPr>
          <p:cNvPr id="6" name="Slide Number Placeholder 5"/>
          <p:cNvSpPr>
            <a:spLocks noGrp="1"/>
          </p:cNvSpPr>
          <p:nvPr>
            <p:ph type="sldNum" sz="quarter" idx="4"/>
          </p:nvPr>
        </p:nvSpPr>
        <p:spPr>
          <a:xfrm rot="16200000">
            <a:off x="8227219" y="5885656"/>
            <a:ext cx="1316038" cy="365125"/>
          </a:xfrm>
          <a:prstGeom prst="rect">
            <a:avLst/>
          </a:prstGeom>
        </p:spPr>
        <p:txBody>
          <a:bodyPr vert="horz" lIns="91440" tIns="45720" rIns="91440" bIns="45720" rtlCol="0" anchor="ctr"/>
          <a:lstStyle>
            <a:lvl1pPr algn="l">
              <a:defRPr sz="2400" b="1">
                <a:solidFill>
                  <a:schemeClr val="tx2"/>
                </a:solidFill>
                <a:latin typeface="Times New Roman" panose="02020603050405020304" pitchFamily="18" charset="0"/>
              </a:defRPr>
            </a:lvl1pPr>
          </a:lstStyle>
          <a:p>
            <a:pPr>
              <a:defRPr/>
            </a:pPr>
            <a:fld id="{27A78C1A-E7FD-4D94-926F-BEE35B5004BA}" type="slidenum">
              <a:rPr lang="en-US" altLang="zh-CN"/>
              <a:t>‹#›</a:t>
            </a:fld>
            <a:endParaRPr lang="en-US" altLang="zh-CN"/>
          </a:p>
        </p:txBody>
      </p:sp>
      <p:sp>
        <p:nvSpPr>
          <p:cNvPr id="7" name="Rectangle 6"/>
          <p:cNvSpPr/>
          <p:nvPr/>
        </p:nvSpPr>
        <p:spPr>
          <a:xfrm>
            <a:off x="9001125" y="0"/>
            <a:ext cx="142875"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9001125" y="1371600"/>
            <a:ext cx="142875"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spcBef>
          <a:spcPct val="0"/>
        </a:spcBef>
        <a:spcAft>
          <a:spcPct val="0"/>
        </a:spcAft>
        <a:defRPr sz="3600" kern="1200" cap="all" spc="-6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2pPr>
      <a:lvl3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3pPr>
      <a:lvl4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4pPr>
      <a:lvl5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p:titleStyle>
    <p:bodyStyle>
      <a:lvl1pPr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chengc@sustech.edu.c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www.tf.uni-kiel.de/matwis/amat/def_en/index.html"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jpe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7.png"/></Relationships>
</file>

<file path=ppt/slides/_rels/slide27.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jpeg"/><Relationship Id="rId3" Type="http://schemas.openxmlformats.org/officeDocument/2006/relationships/image" Target="../media/image58.jpeg"/><Relationship Id="rId21" Type="http://schemas.openxmlformats.org/officeDocument/2006/relationships/image" Target="../media/image76.png"/><Relationship Id="rId7" Type="http://schemas.openxmlformats.org/officeDocument/2006/relationships/image" Target="../media/image62.jpe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notesSlide" Target="../notesSlides/notesSlide23.xml"/><Relationship Id="rId16" Type="http://schemas.openxmlformats.org/officeDocument/2006/relationships/image" Target="../media/image71.png"/><Relationship Id="rId20" Type="http://schemas.openxmlformats.org/officeDocument/2006/relationships/image" Target="../media/image75.png"/><Relationship Id="rId1" Type="http://schemas.openxmlformats.org/officeDocument/2006/relationships/slideLayout" Target="../slideLayouts/slideLayout4.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jpeg"/><Relationship Id="rId19" Type="http://schemas.openxmlformats.org/officeDocument/2006/relationships/image" Target="../media/image74.png"/><Relationship Id="rId4" Type="http://schemas.openxmlformats.org/officeDocument/2006/relationships/image" Target="../media/image59.jpeg"/><Relationship Id="rId9" Type="http://schemas.openxmlformats.org/officeDocument/2006/relationships/image" Target="../media/image64.png"/><Relationship Id="rId14" Type="http://schemas.openxmlformats.org/officeDocument/2006/relationships/image" Target="../media/image69.png"/></Relationships>
</file>

<file path=ppt/slides/_rels/slide2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80.emf"/><Relationship Id="rId5" Type="http://schemas.openxmlformats.org/officeDocument/2006/relationships/image" Target="../media/image79.emf"/><Relationship Id="rId4" Type="http://schemas.openxmlformats.org/officeDocument/2006/relationships/image" Target="../media/image78.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31.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image" Target="../media/image86.emf"/><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89.emf"/></Relationships>
</file>

<file path=ppt/slides/_rels/slide33.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png"/><Relationship Id="rId1" Type="http://schemas.openxmlformats.org/officeDocument/2006/relationships/slideLayout" Target="../slideLayouts/slideLayout4.xml"/><Relationship Id="rId5" Type="http://schemas.openxmlformats.org/officeDocument/2006/relationships/hyperlink" Target="https://wenku.baidu.com/view/d482dca6998fcc22bcd10de9.html" TargetMode="External"/><Relationship Id="rId4" Type="http://schemas.openxmlformats.org/officeDocument/2006/relationships/image" Target="../media/image94.png"/></Relationships>
</file>

<file path=ppt/slides/_rels/slide37.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99.jpe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98.jpeg"/><Relationship Id="rId5" Type="http://schemas.openxmlformats.org/officeDocument/2006/relationships/image" Target="../media/image97.png"/><Relationship Id="rId4" Type="http://schemas.openxmlformats.org/officeDocument/2006/relationships/image" Target="../media/image96.png"/></Relationships>
</file>

<file path=ppt/slides/_rels/slide3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image" Target="../media/image103.jpeg"/><Relationship Id="rId1" Type="http://schemas.openxmlformats.org/officeDocument/2006/relationships/slideLayout" Target="../slideLayouts/slideLayout7.xml"/><Relationship Id="rId6" Type="http://schemas.openxmlformats.org/officeDocument/2006/relationships/image" Target="../media/image106.jpeg"/><Relationship Id="rId5" Type="http://schemas.openxmlformats.org/officeDocument/2006/relationships/image" Target="../media/image105.jpeg"/><Relationship Id="rId4" Type="http://schemas.openxmlformats.org/officeDocument/2006/relationships/hyperlink" Target="http://www.123people.fr/s/denis+gratias"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109.jpeg"/><Relationship Id="rId4" Type="http://schemas.openxmlformats.org/officeDocument/2006/relationships/image" Target="../media/image108.png"/></Relationships>
</file>

<file path=ppt/slides/_rels/slide42.xml.rels><?xml version="1.0" encoding="UTF-8" standalone="yes"?>
<Relationships xmlns="http://schemas.openxmlformats.org/package/2006/relationships"><Relationship Id="rId8" Type="http://schemas.openxmlformats.org/officeDocument/2006/relationships/image" Target="../media/image115.jpeg"/><Relationship Id="rId3" Type="http://schemas.openxmlformats.org/officeDocument/2006/relationships/image" Target="../media/image111.png"/><Relationship Id="rId7" Type="http://schemas.openxmlformats.org/officeDocument/2006/relationships/hyperlink" Target="http://tupian.hudong.com/a4_80_95_01300000190939121426958706746_jpg.html" TargetMode="External"/><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4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image" Target="../media/image116.png"/><Relationship Id="rId1" Type="http://schemas.openxmlformats.org/officeDocument/2006/relationships/slideLayout" Target="../slideLayouts/slideLayout7.xml"/><Relationship Id="rId4" Type="http://schemas.openxmlformats.org/officeDocument/2006/relationships/image" Target="../media/image118.png"/></Relationships>
</file>

<file path=ppt/slides/_rels/slide44.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image" Target="../media/image121.jpeg"/><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46.xml.rels><?xml version="1.0" encoding="UTF-8" standalone="yes"?>
<Relationships xmlns="http://schemas.openxmlformats.org/package/2006/relationships"><Relationship Id="rId3" Type="http://schemas.openxmlformats.org/officeDocument/2006/relationships/hyperlink" Target="http://ci.nii.ac.jp/author?q=MASUMOTO+Tsuyoshi" TargetMode="External"/><Relationship Id="rId2" Type="http://schemas.openxmlformats.org/officeDocument/2006/relationships/hyperlink" Target="http://ci.nii.ac.jp/author?q=TSAI+An-Pang" TargetMode="External"/><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47.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image" Target="../media/image127.wmf"/><Relationship Id="rId1" Type="http://schemas.openxmlformats.org/officeDocument/2006/relationships/slideLayout" Target="../slideLayouts/slideLayout7.xml"/><Relationship Id="rId5" Type="http://schemas.openxmlformats.org/officeDocument/2006/relationships/image" Target="../media/image130.png"/><Relationship Id="rId4" Type="http://schemas.openxmlformats.org/officeDocument/2006/relationships/image" Target="../media/image129.jpeg"/></Relationships>
</file>

<file path=ppt/slides/_rels/slide48.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36.png"/><Relationship Id="rId2" Type="http://schemas.openxmlformats.org/officeDocument/2006/relationships/image" Target="../media/image131.jpeg"/><Relationship Id="rId1" Type="http://schemas.openxmlformats.org/officeDocument/2006/relationships/slideLayout" Target="../slideLayouts/slideLayout7.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jpeg"/></Relationships>
</file>

<file path=ppt/slides/_rels/slide49.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hyperlink" Target="http://tupian.hudong.com/a2_76_26_01300000084627131783260166414_gif.html?prd=zhengwenye_left_neirong_tupian" TargetMode="External"/><Relationship Id="rId1" Type="http://schemas.openxmlformats.org/officeDocument/2006/relationships/slideLayout" Target="../slideLayouts/slideLayout2.xml"/><Relationship Id="rId4" Type="http://schemas.openxmlformats.org/officeDocument/2006/relationships/image" Target="../media/image138.jpeg"/></Relationships>
</file>

<file path=ppt/slides/_rels/slide5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wmf"/><Relationship Id="rId1" Type="http://schemas.openxmlformats.org/officeDocument/2006/relationships/slideLayout" Target="../slideLayouts/slideLayout4.xml"/><Relationship Id="rId4" Type="http://schemas.openxmlformats.org/officeDocument/2006/relationships/image" Target="../media/image141.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hemeOverride" Target="../theme/themeOverride1.xml"/><Relationship Id="rId4" Type="http://schemas.openxmlformats.org/officeDocument/2006/relationships/image" Target="../media/image142.GIF"/></Relationships>
</file>

<file path=ppt/slides/_rels/slide53.xml.rels><?xml version="1.0" encoding="UTF-8" standalone="yes"?>
<Relationships xmlns="http://schemas.openxmlformats.org/package/2006/relationships"><Relationship Id="rId3" Type="http://schemas.openxmlformats.org/officeDocument/2006/relationships/image" Target="../media/image143.GIF"/><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144.png"/></Relationships>
</file>

<file path=ppt/slides/_rels/slide5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47.emf"/><Relationship Id="rId5" Type="http://schemas.openxmlformats.org/officeDocument/2006/relationships/image" Target="../media/image146.wmf"/><Relationship Id="rId4" Type="http://schemas.openxmlformats.org/officeDocument/2006/relationships/oleObject" Target="../embeddings/oleObject3.bin"/></Relationships>
</file>

<file path=ppt/slides/_rels/slide5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GIF"/><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hemeOverride" Target="../theme/themeOverride2.xml"/><Relationship Id="rId4" Type="http://schemas.openxmlformats.org/officeDocument/2006/relationships/image" Target="../media/image150.emf"/></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4.xml"/></Relationships>
</file>

<file path=ppt/slides/_rels/slide59.xml.rels><?xml version="1.0" encoding="UTF-8" standalone="yes"?>
<Relationships xmlns="http://schemas.openxmlformats.org/package/2006/relationships"><Relationship Id="rId2" Type="http://schemas.openxmlformats.org/officeDocument/2006/relationships/image" Target="../media/image151.jpe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154.png"/><Relationship Id="rId4" Type="http://schemas.openxmlformats.org/officeDocument/2006/relationships/image" Target="../media/image153.jpeg"/></Relationships>
</file>

<file path=ppt/slides/_rels/slide61.xml.rels><?xml version="1.0" encoding="UTF-8" standalone="yes"?>
<Relationships xmlns="http://schemas.openxmlformats.org/package/2006/relationships"><Relationship Id="rId3" Type="http://schemas.openxmlformats.org/officeDocument/2006/relationships/image" Target="../media/image155.emf"/><Relationship Id="rId2" Type="http://schemas.openxmlformats.org/officeDocument/2006/relationships/slideLayout" Target="../slideLayouts/slideLayout4.xml"/><Relationship Id="rId1" Type="http://schemas.openxmlformats.org/officeDocument/2006/relationships/themeOverride" Target="../theme/themeOverride5.xml"/><Relationship Id="rId4" Type="http://schemas.openxmlformats.org/officeDocument/2006/relationships/image" Target="../media/image156.emf"/></Relationships>
</file>

<file path=ppt/slides/_rels/slide62.xml.rels><?xml version="1.0" encoding="UTF-8" standalone="yes"?>
<Relationships xmlns="http://schemas.openxmlformats.org/package/2006/relationships"><Relationship Id="rId2" Type="http://schemas.openxmlformats.org/officeDocument/2006/relationships/image" Target="../media/image155.emf"/><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65.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66.xml.rels><?xml version="1.0" encoding="UTF-8" standalone="yes"?>
<Relationships xmlns="http://schemas.openxmlformats.org/package/2006/relationships"><Relationship Id="rId3" Type="http://schemas.openxmlformats.org/officeDocument/2006/relationships/image" Target="../media/image162.png"/><Relationship Id="rId7" Type="http://schemas.openxmlformats.org/officeDocument/2006/relationships/image" Target="../media/image166.png"/><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163.png"/></Relationships>
</file>

<file path=ppt/slides/_rels/slide67.xml.rels><?xml version="1.0" encoding="UTF-8" standalone="yes"?>
<Relationships xmlns="http://schemas.openxmlformats.org/package/2006/relationships"><Relationship Id="rId3" Type="http://schemas.openxmlformats.org/officeDocument/2006/relationships/image" Target="../media/image167.emf"/><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168.emf"/></Relationships>
</file>

<file path=ppt/slides/_rels/slide68.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170.png"/></Relationships>
</file>

<file path=ppt/slides/_rels/slide69.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172.GIF"/><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173.GI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73.GIF"/><Relationship Id="rId2" Type="http://schemas.openxmlformats.org/officeDocument/2006/relationships/image" Target="../media/image174.jpe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172.GIF"/><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78.png"/></Relationships>
</file>

<file path=ppt/slides/_rels/slide79.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1.png"/><Relationship Id="rId1" Type="http://schemas.openxmlformats.org/officeDocument/2006/relationships/slideLayout" Target="../slideLayouts/slideLayout2.xml"/><Relationship Id="rId4" Type="http://schemas.openxmlformats.org/officeDocument/2006/relationships/image" Target="../media/image184.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85.wmf"/><Relationship Id="rId2" Type="http://schemas.openxmlformats.org/officeDocument/2006/relationships/oleObject" Target="../embeddings/oleObject4.bin"/><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ChangeArrowheads="1"/>
          </p:cNvSpPr>
          <p:nvPr/>
        </p:nvSpPr>
        <p:spPr bwMode="auto">
          <a:xfrm>
            <a:off x="1835150" y="1557338"/>
            <a:ext cx="4035425"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kumimoji="0" lang="zh-CN" altLang="en-US" sz="9600" i="1">
                <a:solidFill>
                  <a:srgbClr val="08139E"/>
                </a:solidFill>
              </a:rPr>
              <a:t>晶体学</a:t>
            </a:r>
          </a:p>
        </p:txBody>
      </p:sp>
      <p:sp>
        <p:nvSpPr>
          <p:cNvPr id="78851" name="Text Box 3"/>
          <p:cNvSpPr txBox="1">
            <a:spLocks noChangeArrowheads="1"/>
          </p:cNvSpPr>
          <p:nvPr/>
        </p:nvSpPr>
        <p:spPr bwMode="auto">
          <a:xfrm>
            <a:off x="3563938" y="3429000"/>
            <a:ext cx="4968875"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kumimoji="0" lang="en-US" altLang="zh-CN" sz="4800" i="1">
                <a:solidFill>
                  <a:srgbClr val="CC3300"/>
                </a:solidFill>
                <a:ea typeface="宋体" panose="02010600030101010101" pitchFamily="2" charset="-122"/>
              </a:rPr>
              <a:t>Crystallography</a:t>
            </a:r>
          </a:p>
        </p:txBody>
      </p:sp>
      <p:sp>
        <p:nvSpPr>
          <p:cNvPr id="78852" name="TextBox 1"/>
          <p:cNvSpPr txBox="1">
            <a:spLocks noChangeArrowheads="1"/>
          </p:cNvSpPr>
          <p:nvPr/>
        </p:nvSpPr>
        <p:spPr bwMode="auto">
          <a:xfrm>
            <a:off x="1835150" y="5157788"/>
            <a:ext cx="261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2400" b="0">
                <a:latin typeface="Times New Roman" panose="02020603050405020304" pitchFamily="18" charset="0"/>
                <a:ea typeface="宋体" panose="02010600030101010101" pitchFamily="2" charset="-122"/>
              </a:rPr>
              <a:t>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750" y="333375"/>
            <a:ext cx="5791200" cy="938213"/>
          </a:xfrm>
        </p:spPr>
        <p:txBody>
          <a:bodyPr>
            <a:normAutofit fontScale="90000"/>
          </a:bodyPr>
          <a:lstStyle/>
          <a:p>
            <a:pPr eaLnBrk="1" fontAlgn="auto" hangingPunct="1">
              <a:spcAft>
                <a:spcPts val="0"/>
              </a:spcAft>
              <a:defRPr/>
            </a:pPr>
            <a:r>
              <a:rPr lang="en-US" sz="2800" dirty="0"/>
              <a:t>Crystallography </a:t>
            </a:r>
            <a:r>
              <a:rPr lang="en-US" sz="2800" b="1" dirty="0"/>
              <a:t>(MSE203)</a:t>
            </a:r>
            <a:endParaRPr lang="en-US" sz="2800" dirty="0"/>
          </a:p>
        </p:txBody>
      </p:sp>
      <p:sp>
        <p:nvSpPr>
          <p:cNvPr id="128003" name="Content Placeholder 2"/>
          <p:cNvSpPr>
            <a:spLocks noGrp="1"/>
          </p:cNvSpPr>
          <p:nvPr>
            <p:ph idx="1"/>
          </p:nvPr>
        </p:nvSpPr>
        <p:spPr>
          <a:xfrm>
            <a:off x="552450" y="1341120"/>
            <a:ext cx="7936230" cy="5140960"/>
          </a:xfrm>
        </p:spPr>
        <p:txBody>
          <a:bodyPr/>
          <a:lstStyle/>
          <a:p>
            <a:pPr eaLnBrk="1" hangingPunct="1"/>
            <a:r>
              <a:rPr lang="en-US" altLang="en-US" sz="2400" dirty="0">
                <a:ln/>
                <a:solidFill>
                  <a:srgbClr val="FF0000"/>
                </a:solidFill>
                <a:effectLst>
                  <a:outerShdw blurRad="38100" dist="19050" dir="2700000" algn="tl" rotWithShape="0">
                    <a:schemeClr val="dk1">
                      <a:alpha val="40000"/>
                    </a:schemeClr>
                  </a:outerShdw>
                </a:effectLst>
                <a:ea typeface="黑体" panose="02010609060101010101" pitchFamily="49" charset="-122"/>
              </a:rPr>
              <a:t>Time </a:t>
            </a:r>
            <a:r>
              <a:rPr lang="en-US" altLang="zh-CN" sz="2400" dirty="0">
                <a:ln/>
                <a:solidFill>
                  <a:srgbClr val="FF0000"/>
                </a:solidFill>
                <a:effectLst>
                  <a:outerShdw blurRad="38100" dist="19050" dir="2700000" algn="tl" rotWithShape="0">
                    <a:schemeClr val="dk1">
                      <a:alpha val="40000"/>
                    </a:schemeClr>
                  </a:outerShdw>
                </a:effectLst>
                <a:ea typeface="黑体" panose="02010609060101010101" pitchFamily="49" charset="-122"/>
              </a:rPr>
              <a:t>and location</a:t>
            </a:r>
            <a:r>
              <a:rPr lang="en-US" altLang="en-US" sz="2400" dirty="0">
                <a:ln/>
                <a:solidFill>
                  <a:srgbClr val="FF0000"/>
                </a:solidFill>
                <a:effectLst>
                  <a:outerShdw blurRad="38100" dist="19050" dir="2700000" algn="tl" rotWithShape="0">
                    <a:schemeClr val="dk1">
                      <a:alpha val="40000"/>
                    </a:schemeClr>
                  </a:outerShdw>
                </a:effectLst>
                <a:ea typeface="黑体" panose="02010609060101010101" pitchFamily="49" charset="-122"/>
              </a:rPr>
              <a:t>: </a:t>
            </a:r>
          </a:p>
          <a:p>
            <a:pPr eaLnBrk="1" hangingPunct="1"/>
            <a:r>
              <a:rPr lang="en-US" altLang="en-US" sz="1800" dirty="0">
                <a:solidFill>
                  <a:srgbClr val="C00000"/>
                </a:solidFill>
                <a:ea typeface="黑体" panose="02010609060101010101" pitchFamily="49" charset="-122"/>
              </a:rPr>
              <a:t>	</a:t>
            </a:r>
            <a:r>
              <a:rPr lang="en-US" altLang="zh-CN" sz="1600" dirty="0">
                <a:sym typeface="+mn-ea"/>
              </a:rPr>
              <a:t>Tuesday</a:t>
            </a:r>
            <a:r>
              <a:rPr lang="en-US" altLang="en-US" sz="1600" dirty="0">
                <a:ea typeface="黑体" panose="02010609060101010101" pitchFamily="49" charset="-122"/>
              </a:rPr>
              <a:t>, 2:00-3:50 </a:t>
            </a:r>
            <a:r>
              <a:rPr lang="en-US" altLang="zh-CN" sz="1600" dirty="0"/>
              <a:t>PM; Teaching Building I, 305</a:t>
            </a:r>
            <a:r>
              <a:rPr lang="en-US" altLang="en-US" sz="1600" dirty="0">
                <a:ea typeface="黑体" panose="02010609060101010101" pitchFamily="49" charset="-122"/>
              </a:rPr>
              <a:t> (Class </a:t>
            </a:r>
            <a:r>
              <a:rPr lang="en-US" altLang="zh-CN" sz="1600" dirty="0"/>
              <a:t>I, Bilingual</a:t>
            </a:r>
            <a:r>
              <a:rPr lang="en-US" altLang="en-US" sz="1600" dirty="0">
                <a:ea typeface="黑体" panose="02010609060101010101" pitchFamily="49" charset="-122"/>
              </a:rPr>
              <a:t>)</a:t>
            </a:r>
            <a:endParaRPr lang="en-US" altLang="zh-CN" sz="1600" dirty="0"/>
          </a:p>
          <a:p>
            <a:pPr eaLnBrk="1" hangingPunct="1"/>
            <a:r>
              <a:rPr lang="en-US" altLang="zh-CN" sz="1600" dirty="0"/>
              <a:t>	</a:t>
            </a:r>
            <a:r>
              <a:rPr lang="en-US" altLang="en-US" sz="1600" dirty="0">
                <a:sym typeface="+mn-ea"/>
              </a:rPr>
              <a:t>Thursday</a:t>
            </a:r>
            <a:r>
              <a:rPr lang="en-US" altLang="zh-CN" sz="1600" dirty="0"/>
              <a:t>, </a:t>
            </a:r>
            <a:r>
              <a:rPr lang="en-US" altLang="en-US" sz="1600" dirty="0">
                <a:ea typeface="黑体" panose="02010609060101010101" pitchFamily="49" charset="-122"/>
              </a:rPr>
              <a:t>2:00-3:50 </a:t>
            </a:r>
            <a:r>
              <a:rPr lang="en-US" altLang="zh-CN" sz="1600" dirty="0"/>
              <a:t>PM ; Teaching Building I, 304</a:t>
            </a:r>
            <a:r>
              <a:rPr lang="en-US" altLang="en-US" sz="1600" dirty="0">
                <a:ea typeface="黑体" panose="02010609060101010101" pitchFamily="49" charset="-122"/>
              </a:rPr>
              <a:t> (Class </a:t>
            </a:r>
            <a:r>
              <a:rPr lang="en-US" altLang="zh-CN" sz="1600" dirty="0"/>
              <a:t>II, English</a:t>
            </a:r>
            <a:r>
              <a:rPr lang="en-US" altLang="en-US" sz="1600" dirty="0">
                <a:ea typeface="黑体" panose="02010609060101010101" pitchFamily="49" charset="-122"/>
              </a:rPr>
              <a:t>)</a:t>
            </a:r>
          </a:p>
          <a:p>
            <a:pPr eaLnBrk="1" hangingPunct="1"/>
            <a:br>
              <a:rPr lang="en-US" altLang="en-US" sz="1800" dirty="0">
                <a:solidFill>
                  <a:srgbClr val="C00000"/>
                </a:solidFill>
                <a:ea typeface="黑体" panose="02010609060101010101" pitchFamily="49" charset="-122"/>
                <a:sym typeface="+mn-ea"/>
              </a:rPr>
            </a:br>
            <a:r>
              <a:rPr lang="en-US" altLang="en-US" sz="2400" dirty="0">
                <a:ln/>
                <a:solidFill>
                  <a:srgbClr val="FF0000"/>
                </a:solidFill>
                <a:effectLst>
                  <a:outerShdw blurRad="38100" dist="19050" dir="2700000" algn="tl" rotWithShape="0">
                    <a:schemeClr val="dk1">
                      <a:alpha val="40000"/>
                    </a:schemeClr>
                  </a:outerShdw>
                </a:effectLst>
                <a:ea typeface="黑体" panose="02010609060101010101" pitchFamily="49" charset="-122"/>
                <a:sym typeface="+mn-ea"/>
              </a:rPr>
              <a:t>Instructor:</a:t>
            </a:r>
            <a:r>
              <a:rPr lang="en-US" altLang="en-US" sz="2400" i="1" dirty="0">
                <a:ln/>
                <a:solidFill>
                  <a:srgbClr val="FF0000"/>
                </a:solidFill>
                <a:effectLst>
                  <a:outerShdw blurRad="38100" dist="19050" dir="2700000" algn="tl" rotWithShape="0">
                    <a:schemeClr val="dk1">
                      <a:alpha val="40000"/>
                    </a:schemeClr>
                  </a:outerShdw>
                </a:effectLst>
                <a:ea typeface="黑体" panose="02010609060101010101" pitchFamily="49" charset="-122"/>
                <a:sym typeface="+mn-ea"/>
              </a:rPr>
              <a:t> </a:t>
            </a:r>
            <a:endParaRPr lang="en-US" altLang="en-US" sz="1800" i="1" dirty="0">
              <a:ea typeface="黑体" panose="02010609060101010101" pitchFamily="49" charset="-122"/>
            </a:endParaRPr>
          </a:p>
          <a:p>
            <a:pPr eaLnBrk="1" hangingPunct="1"/>
            <a:r>
              <a:rPr lang="en-US" altLang="en-US" sz="1800" dirty="0">
                <a:ea typeface="黑体" panose="02010609060101010101" pitchFamily="49" charset="-122"/>
                <a:sym typeface="+mn-ea"/>
              </a:rPr>
              <a:t>Dr. Chun CHENG </a:t>
            </a:r>
            <a:endParaRPr lang="en-US" altLang="en-US" sz="1800" dirty="0">
              <a:ea typeface="黑体" panose="02010609060101010101" pitchFamily="49" charset="-122"/>
            </a:endParaRPr>
          </a:p>
          <a:p>
            <a:pPr eaLnBrk="1" hangingPunct="1"/>
            <a:r>
              <a:rPr lang="en-US" altLang="en-US" sz="1800" dirty="0">
                <a:ea typeface="黑体" panose="02010609060101010101" pitchFamily="49" charset="-122"/>
                <a:sym typeface="+mn-ea"/>
              </a:rPr>
              <a:t>Email: </a:t>
            </a:r>
            <a:r>
              <a:rPr lang="en-US" altLang="en-US" sz="1800" dirty="0">
                <a:ea typeface="黑体" panose="02010609060101010101" pitchFamily="49" charset="-122"/>
                <a:sym typeface="+mn-ea"/>
                <a:hlinkClick r:id="rId3"/>
              </a:rPr>
              <a:t>chengc@sustech.edu.cn</a:t>
            </a:r>
            <a:r>
              <a:rPr lang="zh-CN" altLang="en-US" sz="1800" dirty="0">
                <a:sym typeface="+mn-ea"/>
              </a:rPr>
              <a:t>；</a:t>
            </a:r>
            <a:endParaRPr lang="en-US" altLang="zh-CN" sz="1800" dirty="0">
              <a:sym typeface="+mn-ea"/>
            </a:endParaRPr>
          </a:p>
          <a:p>
            <a:pPr eaLnBrk="1" hangingPunct="1"/>
            <a:r>
              <a:rPr lang="en-US" altLang="zh-CN" sz="1800" dirty="0">
                <a:sym typeface="+mn-ea"/>
              </a:rPr>
              <a:t>Room 204, North Building, Institute of Technology</a:t>
            </a:r>
            <a:endParaRPr lang="en-US" altLang="en-US" sz="1800" i="1" dirty="0">
              <a:ea typeface="黑体" panose="02010609060101010101" pitchFamily="49" charset="-122"/>
            </a:endParaRPr>
          </a:p>
          <a:p>
            <a:pPr eaLnBrk="1" hangingPunct="1"/>
            <a:r>
              <a:rPr lang="en-US" altLang="zh-CN" sz="2400" dirty="0">
                <a:ln/>
                <a:solidFill>
                  <a:srgbClr val="FF0000"/>
                </a:solidFill>
                <a:effectLst>
                  <a:outerShdw blurRad="38100" dist="19050" dir="2700000" algn="tl" rotWithShape="0">
                    <a:schemeClr val="dk1">
                      <a:alpha val="40000"/>
                    </a:schemeClr>
                  </a:outerShdw>
                </a:effectLst>
              </a:rPr>
              <a:t>Teaching assistants:</a:t>
            </a:r>
          </a:p>
          <a:p>
            <a:pPr eaLnBrk="1" hangingPunct="1"/>
            <a:r>
              <a:rPr lang="en-US" altLang="zh-CN" sz="1600" dirty="0"/>
              <a:t>Mrs. Yulan Huang</a:t>
            </a:r>
            <a:r>
              <a:rPr lang="zh-CN" altLang="it-IT" sz="1600" dirty="0"/>
              <a:t>（</a:t>
            </a:r>
            <a:r>
              <a:rPr lang="zh-CN" altLang="en-US" sz="1600" dirty="0"/>
              <a:t>黄毓岚</a:t>
            </a:r>
            <a:r>
              <a:rPr lang="zh-CN" altLang="it-IT" sz="1600" dirty="0"/>
              <a:t>）</a:t>
            </a:r>
            <a:endParaRPr lang="it-IT" altLang="zh-CN" sz="1600" dirty="0"/>
          </a:p>
          <a:p>
            <a:pPr eaLnBrk="1" hangingPunct="1"/>
            <a:r>
              <a:rPr lang="en-US" altLang="en-US" sz="1600" dirty="0">
                <a:ea typeface="黑体" panose="02010609060101010101" pitchFamily="49" charset="-122"/>
              </a:rPr>
              <a:t>Email: </a:t>
            </a:r>
            <a:r>
              <a:rPr lang="en-US" altLang="zh-CN" sz="1600" dirty="0">
                <a:ea typeface="黑体" panose="02010609060101010101" pitchFamily="49" charset="-122"/>
              </a:rPr>
              <a:t>11953006@mail.sustech.edu.cn</a:t>
            </a:r>
            <a:r>
              <a:rPr lang="zh-CN" altLang="en-US" sz="1600" dirty="0">
                <a:ea typeface="黑体" panose="02010609060101010101" pitchFamily="49" charset="-122"/>
              </a:rPr>
              <a:t>；</a:t>
            </a:r>
            <a:r>
              <a:rPr lang="en-US" altLang="zh-CN" sz="1600" dirty="0">
                <a:ea typeface="黑体" panose="02010609060101010101" pitchFamily="49" charset="-122"/>
              </a:rPr>
              <a:t>QQ group1</a:t>
            </a:r>
            <a:r>
              <a:rPr lang="zh-CN" altLang="en-US" sz="1600" dirty="0">
                <a:ea typeface="黑体" panose="02010609060101010101" pitchFamily="49" charset="-122"/>
              </a:rPr>
              <a:t>： </a:t>
            </a:r>
            <a:r>
              <a:rPr lang="en-US" altLang="zh-CN" sz="1600" dirty="0">
                <a:ea typeface="黑体" panose="02010609060101010101" pitchFamily="49" charset="-122"/>
              </a:rPr>
              <a:t>1002509385 </a:t>
            </a:r>
          </a:p>
          <a:p>
            <a:pPr eaLnBrk="1" hangingPunct="1"/>
            <a:r>
              <a:rPr lang="en-US" altLang="zh-CN" sz="1600" dirty="0"/>
              <a:t>Mr. </a:t>
            </a:r>
            <a:r>
              <a:rPr lang="en-US" sz="1600" dirty="0" err="1"/>
              <a:t>Yichen</a:t>
            </a:r>
            <a:r>
              <a:rPr lang="en-US" sz="1600" dirty="0"/>
              <a:t> Gan</a:t>
            </a:r>
            <a:r>
              <a:rPr lang="zh-CN" altLang="en-US" sz="1600" dirty="0"/>
              <a:t>（甘翊辰）</a:t>
            </a:r>
            <a:endParaRPr lang="it-IT" altLang="zh-CN" sz="1600" dirty="0"/>
          </a:p>
          <a:p>
            <a:pPr eaLnBrk="1" hangingPunct="1"/>
            <a:r>
              <a:rPr lang="en-US" altLang="en-US" sz="1600" dirty="0">
                <a:ea typeface="黑体" panose="02010609060101010101" pitchFamily="49" charset="-122"/>
              </a:rPr>
              <a:t>Email: </a:t>
            </a:r>
            <a:r>
              <a:rPr lang="en-US" altLang="zh-CN" sz="1600" dirty="0">
                <a:ea typeface="黑体" panose="02010609060101010101" pitchFamily="49" charset="-122"/>
              </a:rPr>
              <a:t>12132034@mail.sustech.edu.cn</a:t>
            </a:r>
            <a:r>
              <a:rPr lang="zh-CN" altLang="en-US" sz="1600" dirty="0"/>
              <a:t>；</a:t>
            </a:r>
            <a:r>
              <a:rPr lang="en-US" altLang="zh-CN" sz="1600" dirty="0">
                <a:ea typeface="黑体" panose="02010609060101010101" pitchFamily="49" charset="-122"/>
                <a:sym typeface="+mn-ea"/>
              </a:rPr>
              <a:t>QQ group2</a:t>
            </a:r>
            <a:r>
              <a:rPr lang="zh-CN" altLang="en-US" sz="1600" dirty="0">
                <a:ea typeface="黑体" panose="02010609060101010101" pitchFamily="49" charset="-122"/>
                <a:sym typeface="+mn-ea"/>
              </a:rPr>
              <a:t>： </a:t>
            </a:r>
            <a:r>
              <a:rPr lang="en-US" altLang="zh-CN" sz="1600" dirty="0">
                <a:ea typeface="黑体" panose="02010609060101010101" pitchFamily="49" charset="-122"/>
                <a:sym typeface="+mn-ea"/>
              </a:rPr>
              <a:t>644161794 </a:t>
            </a:r>
          </a:p>
          <a:p>
            <a:pPr eaLnBrk="1" hangingPunct="1"/>
            <a:endParaRPr lang="en-US" altLang="zh-CN"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sz="3600" dirty="0"/>
              <a:t>MSE department</a:t>
            </a:r>
          </a:p>
          <a:p>
            <a:r>
              <a:rPr lang="en-US" sz="3600" dirty="0"/>
              <a:t>Dr. Cheng and his research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750" y="333375"/>
            <a:ext cx="5791200" cy="938213"/>
          </a:xfrm>
        </p:spPr>
        <p:txBody>
          <a:bodyPr>
            <a:normAutofit fontScale="90000"/>
          </a:bodyPr>
          <a:lstStyle/>
          <a:p>
            <a:pPr eaLnBrk="1" fontAlgn="auto" hangingPunct="1">
              <a:spcAft>
                <a:spcPts val="0"/>
              </a:spcAft>
              <a:defRPr/>
            </a:pPr>
            <a:r>
              <a:rPr lang="en-US" sz="2800" dirty="0"/>
              <a:t>Crystallography </a:t>
            </a:r>
            <a:r>
              <a:rPr lang="en-US" sz="2800" b="1" dirty="0"/>
              <a:t>(MSE203)</a:t>
            </a:r>
            <a:endParaRPr lang="en-US" sz="2800" dirty="0"/>
          </a:p>
        </p:txBody>
      </p:sp>
      <p:sp>
        <p:nvSpPr>
          <p:cNvPr id="129027" name="Content Placeholder 2"/>
          <p:cNvSpPr>
            <a:spLocks noGrp="1"/>
          </p:cNvSpPr>
          <p:nvPr>
            <p:ph idx="1"/>
          </p:nvPr>
        </p:nvSpPr>
        <p:spPr>
          <a:xfrm>
            <a:off x="552450" y="1125538"/>
            <a:ext cx="7620000" cy="4373562"/>
          </a:xfrm>
        </p:spPr>
        <p:txBody>
          <a:bodyPr/>
          <a:lstStyle/>
          <a:p>
            <a:pPr eaLnBrk="1" hangingPunct="1"/>
            <a:r>
              <a:rPr lang="en-US" altLang="en-US" sz="1400" dirty="0">
                <a:ea typeface="黑体" panose="02010609060101010101" pitchFamily="49" charset="-122"/>
              </a:rPr>
              <a:t> </a:t>
            </a:r>
          </a:p>
          <a:p>
            <a:pPr eaLnBrk="1" hangingPunct="1"/>
            <a:r>
              <a:rPr lang="en-US" altLang="en-US" sz="1600" dirty="0">
                <a:solidFill>
                  <a:srgbClr val="C00000"/>
                </a:solidFill>
                <a:ea typeface="黑体" panose="02010609060101010101" pitchFamily="49" charset="-122"/>
              </a:rPr>
              <a:t>Reference books </a:t>
            </a:r>
            <a:r>
              <a:rPr lang="zh-CN" altLang="en-US" sz="1600" dirty="0">
                <a:solidFill>
                  <a:srgbClr val="C00000"/>
                </a:solidFill>
              </a:rPr>
              <a:t>（</a:t>
            </a:r>
            <a:r>
              <a:rPr lang="en-US" altLang="zh-CN" sz="1600" dirty="0">
                <a:solidFill>
                  <a:srgbClr val="C00000"/>
                </a:solidFill>
              </a:rPr>
              <a:t>Chinese</a:t>
            </a:r>
            <a:r>
              <a:rPr lang="zh-CN" altLang="en-US" sz="1600" dirty="0">
                <a:solidFill>
                  <a:srgbClr val="C00000"/>
                </a:solidFill>
              </a:rPr>
              <a:t>）</a:t>
            </a:r>
            <a:r>
              <a:rPr lang="en-US" altLang="en-US" sz="1600" dirty="0">
                <a:solidFill>
                  <a:srgbClr val="C00000"/>
                </a:solidFill>
                <a:ea typeface="黑体" panose="02010609060101010101" pitchFamily="49" charset="-122"/>
              </a:rPr>
              <a:t>:  </a:t>
            </a:r>
          </a:p>
          <a:p>
            <a:pPr eaLnBrk="1" hangingPunct="1"/>
            <a:r>
              <a:rPr lang="zh-CN" altLang="en-US" sz="1600" dirty="0">
                <a:ea typeface="黑体" panose="02010609060101010101" pitchFamily="49" charset="-122"/>
              </a:rPr>
              <a:t>晶体学讲义</a:t>
            </a:r>
            <a:endParaRPr lang="en-US" altLang="en-US" sz="1600" dirty="0">
              <a:ea typeface="黑体" panose="02010609060101010101" pitchFamily="49" charset="-122"/>
            </a:endParaRPr>
          </a:p>
          <a:p>
            <a:pPr eaLnBrk="1" hangingPunct="1"/>
            <a:r>
              <a:rPr lang="zh-CN" altLang="en-US" sz="1400" dirty="0"/>
              <a:t>晶体学基础</a:t>
            </a:r>
            <a:r>
              <a:rPr lang="en-US" altLang="en-US" sz="1400" dirty="0">
                <a:ea typeface="黑体" panose="02010609060101010101" pitchFamily="49" charset="-122"/>
              </a:rPr>
              <a:t>, 2004</a:t>
            </a:r>
            <a:r>
              <a:rPr lang="zh-CN" altLang="en-US" sz="1400" dirty="0"/>
              <a:t>年</a:t>
            </a:r>
            <a:r>
              <a:rPr lang="en-US" altLang="en-US" sz="1400" dirty="0">
                <a:ea typeface="黑体" panose="02010609060101010101" pitchFamily="49" charset="-122"/>
              </a:rPr>
              <a:t>9</a:t>
            </a:r>
            <a:r>
              <a:rPr lang="zh-CN" altLang="en-US" sz="1400" dirty="0"/>
              <a:t>月第</a:t>
            </a:r>
            <a:r>
              <a:rPr lang="en-US" altLang="en-US" sz="1400" dirty="0">
                <a:ea typeface="黑体" panose="02010609060101010101" pitchFamily="49" charset="-122"/>
              </a:rPr>
              <a:t>1</a:t>
            </a:r>
            <a:r>
              <a:rPr lang="zh-CN" altLang="en-US" sz="1400" dirty="0"/>
              <a:t>版</a:t>
            </a:r>
            <a:r>
              <a:rPr lang="en-US" altLang="en-US" sz="1400" dirty="0">
                <a:ea typeface="黑体" panose="02010609060101010101" pitchFamily="49" charset="-122"/>
              </a:rPr>
              <a:t>, </a:t>
            </a:r>
            <a:r>
              <a:rPr lang="zh-CN" altLang="en-US" sz="1400" dirty="0"/>
              <a:t>秦善</a:t>
            </a:r>
            <a:r>
              <a:rPr lang="en-US" altLang="en-US" sz="1400" dirty="0">
                <a:ea typeface="黑体" panose="02010609060101010101" pitchFamily="49" charset="-122"/>
              </a:rPr>
              <a:t>, </a:t>
            </a:r>
            <a:r>
              <a:rPr lang="zh-CN" altLang="en-US" sz="1400" dirty="0"/>
              <a:t>北京大学出版社</a:t>
            </a:r>
            <a:r>
              <a:rPr lang="en-US" altLang="en-US" sz="1400" dirty="0">
                <a:ea typeface="黑体" panose="02010609060101010101" pitchFamily="49" charset="-122"/>
              </a:rPr>
              <a:t>, ISBN 9787301075180;</a:t>
            </a:r>
          </a:p>
          <a:p>
            <a:pPr eaLnBrk="1" hangingPunct="1"/>
            <a:r>
              <a:rPr lang="zh-CN" altLang="en-US" sz="1400" dirty="0"/>
              <a:t>现代晶体化学</a:t>
            </a:r>
            <a:r>
              <a:rPr lang="en-US" altLang="en-US" sz="1400" dirty="0">
                <a:ea typeface="黑体" panose="02010609060101010101" pitchFamily="49" charset="-122"/>
              </a:rPr>
              <a:t>, 2001</a:t>
            </a:r>
            <a:r>
              <a:rPr lang="zh-CN" altLang="en-US" sz="1400" dirty="0"/>
              <a:t>年</a:t>
            </a:r>
            <a:r>
              <a:rPr lang="en-US" altLang="en-US" sz="1400" dirty="0">
                <a:ea typeface="黑体" panose="02010609060101010101" pitchFamily="49" charset="-122"/>
              </a:rPr>
              <a:t>8</a:t>
            </a:r>
            <a:r>
              <a:rPr lang="zh-CN" altLang="en-US" sz="1400" dirty="0"/>
              <a:t>月第一版</a:t>
            </a:r>
            <a:r>
              <a:rPr lang="en-US" altLang="en-US" sz="1400" dirty="0">
                <a:ea typeface="黑体" panose="02010609060101010101" pitchFamily="49" charset="-122"/>
              </a:rPr>
              <a:t>, </a:t>
            </a:r>
            <a:r>
              <a:rPr lang="zh-CN" altLang="en-US" sz="1400" dirty="0"/>
              <a:t>陈敬中</a:t>
            </a:r>
            <a:r>
              <a:rPr lang="en-US" altLang="en-US" sz="1400" dirty="0">
                <a:ea typeface="黑体" panose="02010609060101010101" pitchFamily="49" charset="-122"/>
              </a:rPr>
              <a:t>,  </a:t>
            </a:r>
            <a:r>
              <a:rPr lang="zh-CN" altLang="en-US" sz="1400" dirty="0"/>
              <a:t>高等教育出版社</a:t>
            </a:r>
            <a:r>
              <a:rPr lang="en-US" altLang="en-US" sz="1400" dirty="0">
                <a:ea typeface="黑体" panose="02010609060101010101" pitchFamily="49" charset="-122"/>
              </a:rPr>
              <a:t>, ISBN 7040099241</a:t>
            </a:r>
          </a:p>
          <a:p>
            <a:pPr eaLnBrk="1" hangingPunct="1"/>
            <a:r>
              <a:rPr lang="zh-CN" altLang="en-US" sz="1400" dirty="0"/>
              <a:t>现代晶体学（第</a:t>
            </a:r>
            <a:r>
              <a:rPr lang="en-US" altLang="en-US" sz="1400" dirty="0">
                <a:ea typeface="黑体" panose="02010609060101010101" pitchFamily="49" charset="-122"/>
              </a:rPr>
              <a:t>1</a:t>
            </a:r>
            <a:r>
              <a:rPr lang="zh-CN" altLang="en-US" sz="1400" dirty="0"/>
              <a:t>卷）晶体学基础；现代晶体学（第</a:t>
            </a:r>
            <a:r>
              <a:rPr lang="en-US" altLang="en-US" sz="1400" dirty="0">
                <a:ea typeface="黑体" panose="02010609060101010101" pitchFamily="49" charset="-122"/>
              </a:rPr>
              <a:t>2</a:t>
            </a:r>
            <a:r>
              <a:rPr lang="zh-CN" altLang="en-US" sz="1400" dirty="0"/>
              <a:t>卷）晶体的结构，</a:t>
            </a:r>
            <a:r>
              <a:rPr lang="en-US" altLang="en-US" sz="1400" dirty="0">
                <a:ea typeface="黑体" panose="02010609060101010101" pitchFamily="49" charset="-122"/>
              </a:rPr>
              <a:t>2011</a:t>
            </a:r>
            <a:r>
              <a:rPr lang="zh-CN" altLang="en-US" sz="1400" dirty="0"/>
              <a:t>年</a:t>
            </a:r>
            <a:r>
              <a:rPr lang="en-US" altLang="en-US" sz="1400" dirty="0">
                <a:ea typeface="黑体" panose="02010609060101010101" pitchFamily="49" charset="-122"/>
              </a:rPr>
              <a:t>7</a:t>
            </a:r>
            <a:r>
              <a:rPr lang="zh-CN" altLang="en-US" sz="1400" dirty="0"/>
              <a:t>月第一版</a:t>
            </a:r>
            <a:r>
              <a:rPr lang="en-US" altLang="en-US" sz="1400" dirty="0">
                <a:ea typeface="黑体" panose="02010609060101010101" pitchFamily="49" charset="-122"/>
              </a:rPr>
              <a:t>; B</a:t>
            </a:r>
            <a:r>
              <a:rPr lang="en-US" altLang="zh-CN" sz="1400" dirty="0"/>
              <a:t>·</a:t>
            </a:r>
            <a:r>
              <a:rPr lang="en-US" altLang="en-US" sz="1400" dirty="0">
                <a:ea typeface="黑体" panose="02010609060101010101" pitchFamily="49" charset="-122"/>
              </a:rPr>
              <a:t>K</a:t>
            </a:r>
            <a:r>
              <a:rPr lang="zh-CN" altLang="en-US" sz="1400" dirty="0"/>
              <a:t>伐因斯坦</a:t>
            </a:r>
            <a:r>
              <a:rPr lang="en-US" altLang="en-US" sz="1400" dirty="0">
                <a:ea typeface="黑体" panose="02010609060101010101" pitchFamily="49" charset="-122"/>
              </a:rPr>
              <a:t>(</a:t>
            </a:r>
            <a:r>
              <a:rPr lang="en-US" altLang="en-US" sz="1400" dirty="0" err="1">
                <a:ea typeface="黑体" panose="02010609060101010101" pitchFamily="49" charset="-122"/>
              </a:rPr>
              <a:t>Vainshtein</a:t>
            </a:r>
            <a:r>
              <a:rPr lang="en-US" altLang="en-US" sz="1400" dirty="0">
                <a:ea typeface="黑体" panose="02010609060101010101" pitchFamily="49" charset="-122"/>
              </a:rPr>
              <a:t> B.K.), </a:t>
            </a:r>
            <a:r>
              <a:rPr lang="zh-CN" altLang="en-US" sz="1400" dirty="0"/>
              <a:t>中国科学技术大学出版社</a:t>
            </a:r>
            <a:r>
              <a:rPr lang="en-US" altLang="en-US" sz="1400" dirty="0">
                <a:ea typeface="黑体" panose="02010609060101010101" pitchFamily="49" charset="-122"/>
              </a:rPr>
              <a:t>, ISBN 9787312027826 (</a:t>
            </a:r>
            <a:r>
              <a:rPr lang="zh-CN" altLang="en-US" sz="1400" dirty="0"/>
              <a:t>此书有中、英及俄文版本</a:t>
            </a:r>
            <a:r>
              <a:rPr lang="en-US" altLang="en-US" sz="1400" dirty="0">
                <a:ea typeface="黑体" panose="02010609060101010101" pitchFamily="49" charset="-122"/>
              </a:rPr>
              <a:t>)</a:t>
            </a:r>
          </a:p>
          <a:p>
            <a:pPr eaLnBrk="1" hangingPunct="1"/>
            <a:endParaRPr lang="en-US" altLang="en-US" sz="1400" dirty="0">
              <a:ea typeface="黑体" panose="02010609060101010101" pitchFamily="49" charset="-122"/>
            </a:endParaRPr>
          </a:p>
          <a:p>
            <a:pPr eaLnBrk="1" hangingPunct="1"/>
            <a:endParaRPr lang="en-US" altLang="en-US" sz="1400" dirty="0">
              <a:ea typeface="黑体" panose="02010609060101010101" pitchFamily="49" charset="-122"/>
            </a:endParaRPr>
          </a:p>
          <a:p>
            <a:pPr eaLnBrk="1" hangingPunct="1"/>
            <a:r>
              <a:rPr lang="en-US" altLang="en-US" sz="1200" dirty="0">
                <a:ea typeface="黑体" panose="02010609060101010101" pitchFamily="49" charset="-122"/>
              </a:rPr>
              <a:t> </a:t>
            </a:r>
            <a:endParaRPr lang="en-US" altLang="en-US" sz="1400" dirty="0">
              <a:ea typeface="黑体" panose="02010609060101010101" pitchFamily="49" charset="-122"/>
            </a:endParaRPr>
          </a:p>
        </p:txBody>
      </p:sp>
      <p:grpSp>
        <p:nvGrpSpPr>
          <p:cNvPr id="13" name="Group 12"/>
          <p:cNvGrpSpPr/>
          <p:nvPr/>
        </p:nvGrpSpPr>
        <p:grpSpPr bwMode="auto">
          <a:xfrm>
            <a:off x="6588125" y="1729159"/>
            <a:ext cx="2541588" cy="436563"/>
            <a:chOff x="6732240" y="3803483"/>
            <a:chExt cx="2542745" cy="436457"/>
          </a:xfrm>
        </p:grpSpPr>
        <p:sp>
          <p:nvSpPr>
            <p:cNvPr id="3" name="TextBox 2"/>
            <p:cNvSpPr txBox="1"/>
            <p:nvPr/>
          </p:nvSpPr>
          <p:spPr>
            <a:xfrm>
              <a:off x="7080061" y="3803483"/>
              <a:ext cx="2194924" cy="399953"/>
            </a:xfrm>
            <a:prstGeom prst="rect">
              <a:avLst/>
            </a:prstGeom>
            <a:noFill/>
          </p:spPr>
          <p:txBody>
            <a:bodyPr wrap="none">
              <a:spAutoFit/>
            </a:bodyPr>
            <a:lstStyle/>
            <a:p>
              <a:pPr algn="ctr" fontAlgn="auto">
                <a:spcAft>
                  <a:spcPts val="0"/>
                </a:spcAft>
                <a:defRPr/>
              </a:pPr>
              <a:r>
                <a:rPr lang="en-US" altLang="zh-CN" sz="2000" b="1" spc="-60" dirty="0">
                  <a:solidFill>
                    <a:srgbClr val="FF0066"/>
                  </a:solidFill>
                  <a:effectLst>
                    <a:outerShdw blurRad="38100" dist="38100" dir="2700000" algn="tl">
                      <a:srgbClr val="000000"/>
                    </a:outerShdw>
                  </a:effectLst>
                  <a:latin typeface="+mj-lt"/>
                  <a:ea typeface="+mj-ea"/>
                  <a:cs typeface="+mj-cs"/>
                </a:rPr>
                <a:t>Undergraduate</a:t>
              </a:r>
              <a:endParaRPr lang="en-US" sz="2000" b="1" spc="-60" dirty="0">
                <a:solidFill>
                  <a:srgbClr val="FF0066"/>
                </a:solidFill>
                <a:effectLst>
                  <a:outerShdw blurRad="38100" dist="38100" dir="2700000" algn="tl">
                    <a:srgbClr val="000000"/>
                  </a:outerShdw>
                </a:effectLst>
                <a:latin typeface="+mj-lt"/>
                <a:ea typeface="+mj-ea"/>
                <a:cs typeface="+mj-cs"/>
              </a:endParaRPr>
            </a:p>
          </p:txBody>
        </p:sp>
        <p:cxnSp>
          <p:nvCxnSpPr>
            <p:cNvPr id="5" name="Straight Arrow Connector 4"/>
            <p:cNvCxnSpPr/>
            <p:nvPr/>
          </p:nvCxnSpPr>
          <p:spPr>
            <a:xfrm flipV="1">
              <a:off x="6732240" y="4003459"/>
              <a:ext cx="470114" cy="2364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bwMode="auto">
          <a:xfrm>
            <a:off x="6702425" y="2445122"/>
            <a:ext cx="2346325" cy="400050"/>
            <a:chOff x="6846826" y="4519346"/>
            <a:chExt cx="2345861" cy="400563"/>
          </a:xfrm>
        </p:grpSpPr>
        <p:sp>
          <p:nvSpPr>
            <p:cNvPr id="9" name="TextBox 8"/>
            <p:cNvSpPr txBox="1"/>
            <p:nvPr/>
          </p:nvSpPr>
          <p:spPr>
            <a:xfrm>
              <a:off x="7216641" y="4519346"/>
              <a:ext cx="1976046" cy="400563"/>
            </a:xfrm>
            <a:prstGeom prst="rect">
              <a:avLst/>
            </a:prstGeom>
            <a:noFill/>
          </p:spPr>
          <p:txBody>
            <a:bodyPr wrap="none">
              <a:spAutoFit/>
            </a:bodyPr>
            <a:lstStyle/>
            <a:p>
              <a:pPr algn="ctr" fontAlgn="auto">
                <a:spcAft>
                  <a:spcPts val="0"/>
                </a:spcAft>
                <a:defRPr/>
              </a:pPr>
              <a:r>
                <a:rPr lang="en-US" altLang="zh-CN" sz="2000" b="1" spc="-60" dirty="0">
                  <a:solidFill>
                    <a:srgbClr val="FF0066"/>
                  </a:solidFill>
                  <a:effectLst>
                    <a:outerShdw blurRad="38100" dist="38100" dir="2700000" algn="tl">
                      <a:srgbClr val="000000"/>
                    </a:outerShdw>
                  </a:effectLst>
                  <a:latin typeface="+mj-lt"/>
                  <a:ea typeface="+mj-ea"/>
                  <a:cs typeface="+mj-cs"/>
                </a:rPr>
                <a:t>Postgraduate</a:t>
              </a:r>
              <a:endParaRPr lang="en-US" sz="2000" b="1" spc="-60" dirty="0">
                <a:solidFill>
                  <a:srgbClr val="FF0066"/>
                </a:solidFill>
                <a:effectLst>
                  <a:outerShdw blurRad="38100" dist="38100" dir="2700000" algn="tl">
                    <a:srgbClr val="000000"/>
                  </a:outerShdw>
                </a:effectLst>
                <a:latin typeface="+mj-lt"/>
                <a:ea typeface="+mj-ea"/>
                <a:cs typeface="+mj-cs"/>
              </a:endParaRPr>
            </a:p>
          </p:txBody>
        </p:sp>
        <p:cxnSp>
          <p:nvCxnSpPr>
            <p:cNvPr id="10" name="Straight Arrow Connector 9"/>
            <p:cNvCxnSpPr>
              <a:endCxn id="9" idx="1"/>
            </p:cNvCxnSpPr>
            <p:nvPr/>
          </p:nvCxnSpPr>
          <p:spPr>
            <a:xfrm>
              <a:off x="6846826" y="4662404"/>
              <a:ext cx="369815" cy="572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pic>
        <p:nvPicPr>
          <p:cNvPr id="12903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5125" y="3529013"/>
            <a:ext cx="1609725" cy="2289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9032"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2988" y="4554538"/>
            <a:ext cx="1423987" cy="2160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612775" y="3633788"/>
            <a:ext cx="4535488" cy="2579168"/>
          </a:xfrm>
          <a:prstGeom prst="rect">
            <a:avLst/>
          </a:prstGeom>
        </p:spPr>
        <p:txBody>
          <a:bodyPr>
            <a:spAutoFit/>
          </a:bodyPr>
          <a:lstStyle/>
          <a:p>
            <a:pPr>
              <a:spcBef>
                <a:spcPct val="20000"/>
              </a:spcBef>
              <a:spcAft>
                <a:spcPts val="600"/>
              </a:spcAft>
              <a:defRPr/>
            </a:pPr>
            <a:r>
              <a:rPr kumimoji="0" lang="en-US" altLang="en-US" sz="1600" b="1" dirty="0">
                <a:solidFill>
                  <a:srgbClr val="C00000"/>
                </a:solidFill>
                <a:latin typeface="Arial" panose="020B0604020202020204"/>
                <a:ea typeface="黑体" panose="02010609060101010101" pitchFamily="49" charset="-122"/>
              </a:rPr>
              <a:t>Reference books </a:t>
            </a:r>
            <a:r>
              <a:rPr kumimoji="0" lang="zh-CN" altLang="en-US" sz="1600" b="1" dirty="0">
                <a:solidFill>
                  <a:srgbClr val="C00000"/>
                </a:solidFill>
                <a:latin typeface="Arial" panose="020B0604020202020204"/>
                <a:ea typeface="黑体" panose="02010609060101010101" pitchFamily="49" charset="-122"/>
              </a:rPr>
              <a:t>（</a:t>
            </a:r>
            <a:r>
              <a:rPr kumimoji="0" lang="en-US" altLang="zh-CN" sz="1600" b="1" dirty="0">
                <a:solidFill>
                  <a:srgbClr val="C00000"/>
                </a:solidFill>
                <a:latin typeface="Arial" panose="020B0604020202020204"/>
                <a:ea typeface="黑体" panose="02010609060101010101" pitchFamily="49" charset="-122"/>
              </a:rPr>
              <a:t>English</a:t>
            </a:r>
            <a:r>
              <a:rPr kumimoji="0" lang="zh-CN" altLang="en-US" sz="1600" b="1" dirty="0">
                <a:solidFill>
                  <a:srgbClr val="C00000"/>
                </a:solidFill>
                <a:latin typeface="Arial" panose="020B0604020202020204"/>
                <a:ea typeface="黑体" panose="02010609060101010101" pitchFamily="49" charset="-122"/>
              </a:rPr>
              <a:t>）</a:t>
            </a:r>
            <a:r>
              <a:rPr kumimoji="0" lang="en-US" altLang="en-US" sz="1600" b="1" dirty="0">
                <a:solidFill>
                  <a:srgbClr val="C00000"/>
                </a:solidFill>
                <a:latin typeface="Arial" panose="020B0604020202020204"/>
                <a:ea typeface="黑体" panose="02010609060101010101" pitchFamily="49" charset="-122"/>
              </a:rPr>
              <a:t>:  </a:t>
            </a:r>
          </a:p>
          <a:p>
            <a:pPr marL="285750" indent="-285750">
              <a:spcBef>
                <a:spcPct val="20000"/>
              </a:spcBef>
              <a:spcAft>
                <a:spcPts val="600"/>
              </a:spcAft>
              <a:buFont typeface="Wingdings" panose="05000000000000000000" pitchFamily="2" charset="2"/>
              <a:buChar char="ü"/>
              <a:defRPr/>
            </a:pPr>
            <a:r>
              <a:rPr kumimoji="0" lang="en-US" altLang="en-US" sz="1600" b="1" dirty="0">
                <a:latin typeface="Arial" panose="020B0604020202020204"/>
                <a:ea typeface="黑体" panose="02010609060101010101" pitchFamily="49" charset="-122"/>
              </a:rPr>
              <a:t>Lectures</a:t>
            </a:r>
          </a:p>
          <a:p>
            <a:pPr marL="285750" indent="-285750">
              <a:spcBef>
                <a:spcPct val="20000"/>
              </a:spcBef>
              <a:spcAft>
                <a:spcPts val="600"/>
              </a:spcAft>
              <a:buFont typeface="Wingdings" panose="05000000000000000000" pitchFamily="2" charset="2"/>
              <a:buChar char="ü"/>
              <a:defRPr/>
            </a:pPr>
            <a:r>
              <a:rPr kumimoji="0" lang="en-US" altLang="en-US" sz="1400" b="1" dirty="0">
                <a:solidFill>
                  <a:srgbClr val="000000"/>
                </a:solidFill>
                <a:latin typeface="Arial" panose="020B0604020202020204"/>
                <a:ea typeface="黑体" panose="02010609060101010101" pitchFamily="49" charset="-122"/>
              </a:rPr>
              <a:t>Basic concepts of crystallography, </a:t>
            </a:r>
            <a:r>
              <a:rPr kumimoji="0" lang="en-US" sz="1400" b="1" dirty="0">
                <a:solidFill>
                  <a:srgbClr val="000000"/>
                </a:solidFill>
                <a:latin typeface="Arial" panose="020B0604020202020204"/>
                <a:ea typeface="黑体" panose="02010609060101010101" pitchFamily="49" charset="-122"/>
              </a:rPr>
              <a:t>20110101</a:t>
            </a:r>
            <a:r>
              <a:rPr kumimoji="0" lang="zh-CN" altLang="en-US" sz="1400" b="1" dirty="0">
                <a:solidFill>
                  <a:srgbClr val="000000"/>
                </a:solidFill>
                <a:latin typeface="Arial" panose="020B0604020202020204"/>
                <a:ea typeface="黑体" panose="02010609060101010101" pitchFamily="49" charset="-122"/>
              </a:rPr>
              <a:t>，</a:t>
            </a:r>
            <a:r>
              <a:rPr kumimoji="0" lang="en-US" altLang="zh-CN" sz="1400" b="1" dirty="0">
                <a:solidFill>
                  <a:srgbClr val="000000"/>
                </a:solidFill>
                <a:latin typeface="Arial" panose="020B0604020202020204"/>
                <a:ea typeface="黑体" panose="02010609060101010101" pitchFamily="49" charset="-122"/>
              </a:rPr>
              <a:t>Emil &amp; </a:t>
            </a:r>
            <a:r>
              <a:rPr kumimoji="0" lang="en-US" altLang="zh-CN" sz="1400" b="1" dirty="0" err="1">
                <a:solidFill>
                  <a:srgbClr val="000000"/>
                </a:solidFill>
                <a:latin typeface="Arial" panose="020B0604020202020204"/>
                <a:ea typeface="黑体" panose="02010609060101010101" pitchFamily="49" charset="-122"/>
              </a:rPr>
              <a:t>Zolotoyabko</a:t>
            </a:r>
            <a:r>
              <a:rPr kumimoji="0" lang="en-US" altLang="zh-CN" sz="1400" b="1" dirty="0">
                <a:solidFill>
                  <a:srgbClr val="000000"/>
                </a:solidFill>
                <a:latin typeface="Arial" panose="020B0604020202020204"/>
                <a:ea typeface="黑体" panose="02010609060101010101" pitchFamily="49" charset="-122"/>
              </a:rPr>
              <a:t>, </a:t>
            </a:r>
            <a:r>
              <a:rPr kumimoji="0" lang="en-US" altLang="zh-CN" sz="1400" b="1" dirty="0" err="1">
                <a:solidFill>
                  <a:srgbClr val="000000"/>
                </a:solidFill>
                <a:latin typeface="Arial" panose="020B0604020202020204"/>
                <a:ea typeface="黑体" panose="02010609060101010101" pitchFamily="49" charset="-122"/>
              </a:rPr>
              <a:t>Weinheim</a:t>
            </a:r>
            <a:r>
              <a:rPr kumimoji="0" lang="en-US" altLang="zh-CN" sz="1400" b="1" dirty="0">
                <a:solidFill>
                  <a:srgbClr val="000000"/>
                </a:solidFill>
                <a:latin typeface="Arial" panose="020B0604020202020204"/>
                <a:ea typeface="黑体" panose="02010609060101010101" pitchFamily="49" charset="-122"/>
              </a:rPr>
              <a:t>, Germany;</a:t>
            </a:r>
          </a:p>
          <a:p>
            <a:pPr marL="285750" indent="-285750">
              <a:spcBef>
                <a:spcPct val="20000"/>
              </a:spcBef>
              <a:spcAft>
                <a:spcPts val="600"/>
              </a:spcAft>
              <a:buFont typeface="Wingdings" panose="05000000000000000000" pitchFamily="2" charset="2"/>
              <a:buChar char="ü"/>
              <a:defRPr/>
            </a:pPr>
            <a:r>
              <a:rPr kumimoji="0" lang="en-US" altLang="zh-CN" sz="1400" b="1" dirty="0">
                <a:solidFill>
                  <a:srgbClr val="000000"/>
                </a:solidFill>
                <a:latin typeface="Arial" panose="020B0604020202020204"/>
                <a:ea typeface="黑体" panose="02010609060101010101" pitchFamily="49" charset="-122"/>
              </a:rPr>
              <a:t>Fundamentals of crystals symmetry and methods of structural crystallography , 1994, B.K. </a:t>
            </a:r>
            <a:r>
              <a:rPr kumimoji="0" lang="en-US" altLang="zh-CN" sz="1400" b="1" dirty="0" err="1">
                <a:solidFill>
                  <a:srgbClr val="000000"/>
                </a:solidFill>
                <a:latin typeface="Arial" panose="020B0604020202020204"/>
                <a:ea typeface="黑体" panose="02010609060101010101" pitchFamily="49" charset="-122"/>
              </a:rPr>
              <a:t>Vainshtein</a:t>
            </a:r>
            <a:r>
              <a:rPr kumimoji="0" lang="en-US" altLang="zh-CN" sz="1400" b="1" dirty="0">
                <a:solidFill>
                  <a:srgbClr val="000000"/>
                </a:solidFill>
                <a:latin typeface="Arial" panose="020B0604020202020204"/>
                <a:ea typeface="黑体" panose="02010609060101010101" pitchFamily="49" charset="-122"/>
              </a:rPr>
              <a:t>, Springer;</a:t>
            </a:r>
          </a:p>
          <a:p>
            <a:pPr marL="285750" indent="-285750">
              <a:spcBef>
                <a:spcPct val="20000"/>
              </a:spcBef>
              <a:spcAft>
                <a:spcPts val="600"/>
              </a:spcAft>
              <a:buFont typeface="Wingdings" panose="05000000000000000000" pitchFamily="2" charset="2"/>
              <a:buChar char="ü"/>
              <a:defRPr/>
            </a:pPr>
            <a:r>
              <a:rPr kumimoji="0" lang="en-US" sz="1400" b="1" dirty="0">
                <a:solidFill>
                  <a:srgbClr val="000000"/>
                </a:solidFill>
                <a:latin typeface="Arial" panose="020B0604020202020204"/>
                <a:ea typeface="+mn-ea"/>
              </a:rPr>
              <a:t>Defects in Crystals</a:t>
            </a:r>
            <a:r>
              <a:rPr kumimoji="0" lang="en-US" sz="1400" b="1" dirty="0">
                <a:solidFill>
                  <a:srgbClr val="000000"/>
                </a:solidFill>
                <a:latin typeface="Arial" panose="020B0604020202020204"/>
                <a:ea typeface="黑体" panose="02010609060101010101" pitchFamily="49" charset="-122"/>
              </a:rPr>
              <a:t>, </a:t>
            </a:r>
            <a:r>
              <a:rPr kumimoji="0" lang="en-US" sz="1400" b="1" dirty="0">
                <a:solidFill>
                  <a:srgbClr val="000000"/>
                </a:solidFill>
                <a:latin typeface="Arial" panose="020B0604020202020204"/>
                <a:ea typeface="黑体" panose="02010609060101010101" pitchFamily="49" charset="-122"/>
                <a:hlinkClick r:id="rId5"/>
              </a:rPr>
              <a:t>http://www.tf.uni-kiel.de/matwis/amat/def_en/index.html</a:t>
            </a:r>
            <a:endParaRPr kumimoji="0" lang="en-US" sz="1400" b="1" dirty="0">
              <a:solidFill>
                <a:srgbClr val="000000"/>
              </a:solidFill>
              <a:latin typeface="Arial" panose="020B0604020202020204"/>
              <a:ea typeface="黑体" panose="02010609060101010101" pitchFamily="49" charset="-122"/>
            </a:endParaRPr>
          </a:p>
        </p:txBody>
      </p:sp>
      <p:grpSp>
        <p:nvGrpSpPr>
          <p:cNvPr id="16" name="Group 15"/>
          <p:cNvGrpSpPr/>
          <p:nvPr/>
        </p:nvGrpSpPr>
        <p:grpSpPr bwMode="auto">
          <a:xfrm>
            <a:off x="6688138" y="3386509"/>
            <a:ext cx="2333625" cy="690563"/>
            <a:chOff x="6831989" y="5461200"/>
            <a:chExt cx="2333181" cy="689488"/>
          </a:xfrm>
        </p:grpSpPr>
        <p:cxnSp>
          <p:nvCxnSpPr>
            <p:cNvPr id="12" name="Straight Arrow Connector 11"/>
            <p:cNvCxnSpPr/>
            <p:nvPr/>
          </p:nvCxnSpPr>
          <p:spPr>
            <a:xfrm>
              <a:off x="6831989" y="5461200"/>
              <a:ext cx="499967" cy="3899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331956" y="5751261"/>
              <a:ext cx="1833214" cy="399427"/>
            </a:xfrm>
            <a:prstGeom prst="rect">
              <a:avLst/>
            </a:prstGeom>
            <a:noFill/>
          </p:spPr>
          <p:txBody>
            <a:bodyPr wrap="none">
              <a:spAutoFit/>
            </a:bodyPr>
            <a:lstStyle/>
            <a:p>
              <a:pPr algn="ctr" fontAlgn="auto">
                <a:spcAft>
                  <a:spcPts val="0"/>
                </a:spcAft>
                <a:defRPr/>
              </a:pPr>
              <a:r>
                <a:rPr lang="en-US" altLang="zh-CN" sz="2000" b="1" spc="-60" dirty="0">
                  <a:solidFill>
                    <a:srgbClr val="FF0066"/>
                  </a:solidFill>
                  <a:effectLst>
                    <a:outerShdw blurRad="38100" dist="38100" dir="2700000" algn="tl">
                      <a:srgbClr val="000000"/>
                    </a:outerShdw>
                  </a:effectLst>
                  <a:latin typeface="+mj-lt"/>
                  <a:ea typeface="+mj-ea"/>
                  <a:cs typeface="+mj-cs"/>
                </a:rPr>
                <a:t>Professional</a:t>
              </a:r>
              <a:endParaRPr lang="en-US" sz="2000" b="1" spc="-60" dirty="0">
                <a:solidFill>
                  <a:srgbClr val="FF0066"/>
                </a:solidFill>
                <a:effectLst>
                  <a:outerShdw blurRad="38100" dist="38100" dir="2700000" algn="tl">
                    <a:srgbClr val="000000"/>
                  </a:outerShdw>
                </a:effectLst>
                <a:latin typeface="+mj-lt"/>
                <a:ea typeface="+mj-ea"/>
                <a:cs typeface="+mj-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Vertic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inVertical)">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9750" y="1557655"/>
            <a:ext cx="7777480" cy="2761615"/>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539750" y="333375"/>
            <a:ext cx="5791200" cy="938213"/>
          </a:xfrm>
        </p:spPr>
        <p:txBody>
          <a:bodyPr>
            <a:normAutofit fontScale="90000"/>
          </a:bodyPr>
          <a:lstStyle/>
          <a:p>
            <a:pPr eaLnBrk="1" fontAlgn="auto" hangingPunct="1">
              <a:spcAft>
                <a:spcPts val="0"/>
              </a:spcAft>
              <a:defRPr/>
            </a:pPr>
            <a:br>
              <a:rPr lang="en-US" sz="2800" dirty="0"/>
            </a:br>
            <a:r>
              <a:rPr lang="en-US" sz="2800" dirty="0"/>
              <a:t> </a:t>
            </a:r>
            <a:br>
              <a:rPr lang="en-US" sz="2800" dirty="0"/>
            </a:br>
            <a:endParaRPr lang="en-US" sz="2800" dirty="0"/>
          </a:p>
        </p:txBody>
      </p:sp>
      <p:sp>
        <p:nvSpPr>
          <p:cNvPr id="3" name="Content Placeholder 2"/>
          <p:cNvSpPr>
            <a:spLocks noGrp="1"/>
          </p:cNvSpPr>
          <p:nvPr>
            <p:ph idx="1"/>
          </p:nvPr>
        </p:nvSpPr>
        <p:spPr>
          <a:xfrm>
            <a:off x="539750" y="1341438"/>
            <a:ext cx="8123238" cy="5256212"/>
          </a:xfrm>
        </p:spPr>
        <p:txBody>
          <a:bodyPr rtlCol="0">
            <a:noAutofit/>
          </a:bodyPr>
          <a:lstStyle/>
          <a:p>
            <a:pPr eaLnBrk="1" fontAlgn="auto" hangingPunct="1">
              <a:defRPr/>
            </a:pPr>
            <a:endParaRPr lang="en-US" sz="1600" dirty="0"/>
          </a:p>
          <a:p>
            <a:pPr marL="342900" indent="-342900" eaLnBrk="1" fontAlgn="auto" hangingPunct="1">
              <a:buFont typeface="+mj-lt"/>
              <a:buAutoNum type="arabicPeriod"/>
              <a:defRPr/>
            </a:pPr>
            <a:r>
              <a:rPr lang="en-US" altLang="zh-CN" sz="1600" dirty="0">
                <a:solidFill>
                  <a:srgbClr val="00B050"/>
                </a:solidFill>
              </a:rPr>
              <a:t>Introduction to </a:t>
            </a:r>
            <a:r>
              <a:rPr lang="en-US" sz="1600" dirty="0">
                <a:solidFill>
                  <a:srgbClr val="00B050"/>
                </a:solidFill>
              </a:rPr>
              <a:t>crystal</a:t>
            </a:r>
          </a:p>
          <a:p>
            <a:pPr marL="342900" indent="-342900" eaLnBrk="1" fontAlgn="auto" hangingPunct="1">
              <a:buFont typeface="+mj-lt"/>
              <a:buAutoNum type="arabicPeriod"/>
              <a:defRPr/>
            </a:pPr>
            <a:r>
              <a:rPr lang="en-US" altLang="zh-CN" sz="1600" dirty="0">
                <a:solidFill>
                  <a:srgbClr val="00B050"/>
                </a:solidFill>
              </a:rPr>
              <a:t>Crystal formation</a:t>
            </a:r>
          </a:p>
          <a:p>
            <a:pPr marL="342900" indent="-342900" eaLnBrk="1" fontAlgn="auto" hangingPunct="1">
              <a:buFont typeface="+mj-lt"/>
              <a:buAutoNum type="arabicPeriod"/>
              <a:defRPr/>
            </a:pPr>
            <a:r>
              <a:rPr lang="en-US" sz="1600" dirty="0">
                <a:solidFill>
                  <a:srgbClr val="00B050"/>
                </a:solidFill>
              </a:rPr>
              <a:t>Crystal projection</a:t>
            </a:r>
          </a:p>
          <a:p>
            <a:pPr marL="342900" indent="-342900" eaLnBrk="1" fontAlgn="auto" hangingPunct="1">
              <a:buFont typeface="+mj-lt"/>
              <a:buAutoNum type="arabicPeriod"/>
              <a:defRPr/>
            </a:pPr>
            <a:r>
              <a:rPr lang="en-US" altLang="zh-CN" sz="1600" dirty="0">
                <a:solidFill>
                  <a:srgbClr val="00B050"/>
                </a:solidFill>
              </a:rPr>
              <a:t>Space lattice </a:t>
            </a:r>
            <a:r>
              <a:rPr lang="en-US" sz="1600" dirty="0">
                <a:solidFill>
                  <a:srgbClr val="00B050"/>
                </a:solidFill>
              </a:rPr>
              <a:t>&amp; crystallographic symbol</a:t>
            </a:r>
          </a:p>
          <a:p>
            <a:pPr marL="342900" indent="-342900" eaLnBrk="1" fontAlgn="auto" hangingPunct="1">
              <a:buFont typeface="+mj-lt"/>
              <a:buAutoNum type="arabicPeriod"/>
              <a:defRPr/>
            </a:pPr>
            <a:r>
              <a:rPr lang="en-US" sz="1600" dirty="0">
                <a:solidFill>
                  <a:srgbClr val="00B050"/>
                </a:solidFill>
              </a:rPr>
              <a:t>Macroscopic symmetry of crystal</a:t>
            </a:r>
          </a:p>
          <a:p>
            <a:pPr marL="342900" indent="-342900" eaLnBrk="1" fontAlgn="auto" hangingPunct="1">
              <a:buFont typeface="+mj-lt"/>
              <a:buAutoNum type="arabicPeriod"/>
              <a:defRPr/>
            </a:pPr>
            <a:r>
              <a:rPr lang="en-US" sz="1600" dirty="0">
                <a:solidFill>
                  <a:srgbClr val="00B050"/>
                </a:solidFill>
              </a:rPr>
              <a:t>Microscopic symmetry and space groups of crystal</a:t>
            </a:r>
          </a:p>
          <a:p>
            <a:pPr marL="342900" indent="-342900" eaLnBrk="1" fontAlgn="auto" hangingPunct="1">
              <a:buFont typeface="+mj-lt"/>
              <a:buAutoNum type="arabicPeriod"/>
              <a:defRPr/>
            </a:pPr>
            <a:r>
              <a:rPr lang="en-US" sz="1600" dirty="0">
                <a:solidFill>
                  <a:srgbClr val="00B050"/>
                </a:solidFill>
              </a:rPr>
              <a:t>Ideal crystal morphology</a:t>
            </a:r>
          </a:p>
          <a:p>
            <a:pPr marL="342900" indent="-342900" eaLnBrk="1" fontAlgn="auto" hangingPunct="1">
              <a:buFont typeface="+mj-lt"/>
              <a:buAutoNum type="arabicPeriod"/>
              <a:defRPr/>
            </a:pPr>
            <a:r>
              <a:rPr lang="en-US" sz="1600" dirty="0">
                <a:solidFill>
                  <a:srgbClr val="FF0000"/>
                </a:solidFill>
              </a:rPr>
              <a:t>Defects in crystals</a:t>
            </a:r>
          </a:p>
          <a:p>
            <a:pPr marL="342900" indent="-342900" eaLnBrk="1" fontAlgn="auto" hangingPunct="1">
              <a:buFont typeface="+mj-lt"/>
              <a:buAutoNum type="arabicPeriod"/>
              <a:defRPr/>
            </a:pPr>
            <a:r>
              <a:rPr lang="en-US" sz="1600" dirty="0">
                <a:solidFill>
                  <a:srgbClr val="FF0066"/>
                </a:solidFill>
              </a:rPr>
              <a:t>Crystal chemistry</a:t>
            </a:r>
          </a:p>
          <a:p>
            <a:pPr marL="342900" indent="-342900" eaLnBrk="1" fontAlgn="auto" hangingPunct="1">
              <a:buFont typeface="+mj-lt"/>
              <a:buAutoNum type="arabicPeriod"/>
              <a:defRPr/>
            </a:pPr>
            <a:r>
              <a:rPr lang="en-US" sz="1600" dirty="0">
                <a:solidFill>
                  <a:srgbClr val="FF0066"/>
                </a:solidFill>
              </a:rPr>
              <a:t>Crystal physics</a:t>
            </a:r>
          </a:p>
          <a:p>
            <a:pPr marL="342900" indent="-342900" eaLnBrk="1" fontAlgn="auto" hangingPunct="1">
              <a:buFont typeface="+mj-lt"/>
              <a:buAutoNum type="arabicPeriod"/>
              <a:defRPr/>
            </a:pPr>
            <a:r>
              <a:rPr lang="en-US" sz="1600" dirty="0">
                <a:solidFill>
                  <a:schemeClr val="accent5"/>
                </a:solidFill>
              </a:rPr>
              <a:t>Crystal characterization technologies: x-ray diffraction </a:t>
            </a:r>
          </a:p>
          <a:p>
            <a:pPr marL="342900" indent="-342900" eaLnBrk="1" fontAlgn="auto" hangingPunct="1">
              <a:buFont typeface="+mj-lt"/>
              <a:buAutoNum type="arabicPeriod"/>
              <a:defRPr/>
            </a:pPr>
            <a:r>
              <a:rPr lang="en-US" sz="1600" dirty="0">
                <a:solidFill>
                  <a:schemeClr val="accent5"/>
                </a:solidFill>
              </a:rPr>
              <a:t>Crystal characterization technologies: transmission electron microscopy </a:t>
            </a:r>
          </a:p>
        </p:txBody>
      </p:sp>
      <p:sp>
        <p:nvSpPr>
          <p:cNvPr id="5" name="Title 1"/>
          <p:cNvSpPr txBox="1"/>
          <p:nvPr/>
        </p:nvSpPr>
        <p:spPr>
          <a:xfrm>
            <a:off x="692150" y="485775"/>
            <a:ext cx="5791200" cy="938213"/>
          </a:xfrm>
          <a:prstGeom prst="rect">
            <a:avLst/>
          </a:prstGeom>
        </p:spPr>
        <p:txBody>
          <a:bodyPr anchor="b">
            <a:normAutofit fontScale="97500"/>
          </a:bodyPr>
          <a:lstStyle>
            <a:lvl1pPr algn="l" rtl="0" eaLnBrk="0" fontAlgn="base" hangingPunct="0">
              <a:spcBef>
                <a:spcPct val="0"/>
              </a:spcBef>
              <a:spcAft>
                <a:spcPct val="0"/>
              </a:spcAft>
              <a:defRPr sz="3600" kern="1200" cap="all" spc="-6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2pPr>
            <a:lvl3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3pPr>
            <a:lvl4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4pPr>
            <a:lvl5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eaLnBrk="1" fontAlgn="auto" hangingPunct="1">
              <a:spcAft>
                <a:spcPts val="0"/>
              </a:spcAft>
              <a:defRPr/>
            </a:pPr>
            <a:r>
              <a:rPr kumimoji="0" lang="en-US" sz="2800" dirty="0"/>
              <a:t>Crystallography </a:t>
            </a:r>
            <a:r>
              <a:rPr kumimoji="0" lang="en-US" sz="2800" b="1" dirty="0"/>
              <a:t>(MSE203)</a:t>
            </a:r>
            <a:endParaRPr kumimoji="0" lang="en-US" sz="2800" dirty="0"/>
          </a:p>
        </p:txBody>
      </p:sp>
      <p:sp>
        <p:nvSpPr>
          <p:cNvPr id="6" name="Rectangle 5"/>
          <p:cNvSpPr/>
          <p:nvPr/>
        </p:nvSpPr>
        <p:spPr>
          <a:xfrm>
            <a:off x="6659563" y="962025"/>
            <a:ext cx="1606550" cy="461963"/>
          </a:xfrm>
          <a:prstGeom prst="rect">
            <a:avLst/>
          </a:prstGeom>
        </p:spPr>
        <p:txBody>
          <a:bodyPr wrap="none">
            <a:spAutoFit/>
          </a:bodyPr>
          <a:lstStyle/>
          <a:p>
            <a:pPr>
              <a:defRPr/>
            </a:pPr>
            <a:r>
              <a:rPr lang="en-US" dirty="0">
                <a:latin typeface="+mj-lt"/>
              </a:rPr>
              <a:t>Syllabus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2150" y="1628775"/>
            <a:ext cx="8123238" cy="4833938"/>
          </a:xfrm>
        </p:spPr>
        <p:txBody>
          <a:bodyPr rtlCol="0">
            <a:noAutofit/>
          </a:bodyPr>
          <a:lstStyle/>
          <a:p>
            <a:pPr eaLnBrk="1" fontAlgn="auto" hangingPunct="1">
              <a:defRPr/>
            </a:pPr>
            <a:r>
              <a:rPr lang="en-US" sz="1800" u="sng" dirty="0">
                <a:effectLst>
                  <a:outerShdw blurRad="38100" dist="38100" dir="2700000" algn="tl">
                    <a:srgbClr val="000000">
                      <a:alpha val="43137"/>
                    </a:srgbClr>
                  </a:outerShdw>
                </a:effectLst>
              </a:rPr>
              <a:t>SCORES  (</a:t>
            </a:r>
            <a:r>
              <a:rPr lang="en-US" altLang="zh-CN" sz="1800" u="sng" dirty="0">
                <a:effectLst>
                  <a:outerShdw blurRad="38100" dist="38100" dir="2700000" algn="tl">
                    <a:srgbClr val="000000">
                      <a:alpha val="43137"/>
                    </a:srgbClr>
                  </a:outerShdw>
                </a:effectLst>
              </a:rPr>
              <a:t>100+5 bonus)</a:t>
            </a:r>
            <a:endParaRPr lang="en-US" sz="1800" u="sng" dirty="0">
              <a:effectLst>
                <a:outerShdw blurRad="38100" dist="38100" dir="2700000" algn="tl">
                  <a:srgbClr val="000000">
                    <a:alpha val="43137"/>
                  </a:srgbClr>
                </a:outerShdw>
              </a:effectLst>
            </a:endParaRPr>
          </a:p>
          <a:p>
            <a:pPr eaLnBrk="1" fontAlgn="auto" hangingPunct="1">
              <a:defRPr/>
            </a:pPr>
            <a:r>
              <a:rPr lang="en-US" sz="1800" dirty="0"/>
              <a:t> </a:t>
            </a:r>
          </a:p>
          <a:p>
            <a:pPr eaLnBrk="1" fontAlgn="auto" hangingPunct="1">
              <a:buFont typeface="Arial" panose="020B0604020202020204" pitchFamily="34" charset="0"/>
              <a:buNone/>
              <a:defRPr/>
            </a:pPr>
            <a:r>
              <a:rPr lang="en-US" sz="1800" dirty="0"/>
              <a:t>Attendance</a:t>
            </a:r>
            <a:r>
              <a:rPr lang="zh-CN" altLang="en-US" sz="1800" dirty="0"/>
              <a:t>*</a:t>
            </a:r>
            <a:r>
              <a:rPr lang="en-US" sz="1800" dirty="0"/>
              <a:t> and Class </a:t>
            </a:r>
            <a:r>
              <a:rPr lang="en-US" altLang="zh-CN" sz="1800" dirty="0"/>
              <a:t>p</a:t>
            </a:r>
            <a:r>
              <a:rPr lang="en-US" sz="1800" dirty="0"/>
              <a:t>erformance			10%</a:t>
            </a:r>
          </a:p>
          <a:p>
            <a:pPr eaLnBrk="1" fontAlgn="auto" hangingPunct="1">
              <a:buFont typeface="Arial" panose="020B0604020202020204" pitchFamily="34" charset="0"/>
              <a:buNone/>
              <a:defRPr/>
            </a:pPr>
            <a:r>
              <a:rPr lang="en-US" altLang="zh-CN" sz="1800" dirty="0"/>
              <a:t>Quiz							5%</a:t>
            </a:r>
          </a:p>
          <a:p>
            <a:pPr eaLnBrk="1" fontAlgn="auto" hangingPunct="1">
              <a:buFont typeface="Arial" panose="020B0604020202020204" pitchFamily="34" charset="0"/>
              <a:buNone/>
              <a:defRPr/>
            </a:pPr>
            <a:r>
              <a:rPr lang="en-US" altLang="zh-CN" sz="1800" dirty="0"/>
              <a:t>Project							5%</a:t>
            </a:r>
          </a:p>
          <a:p>
            <a:pPr eaLnBrk="1" fontAlgn="auto" hangingPunct="1">
              <a:buFont typeface="Arial" panose="020B0604020202020204" pitchFamily="34" charset="0"/>
              <a:buNone/>
              <a:defRPr/>
            </a:pPr>
            <a:r>
              <a:rPr lang="en-US" sz="1800" dirty="0"/>
              <a:t>Assignment						10</a:t>
            </a:r>
            <a:r>
              <a:rPr lang="en-US" altLang="zh-CN" sz="1800" dirty="0"/>
              <a:t>%</a:t>
            </a:r>
            <a:endParaRPr lang="en-US" sz="1800" dirty="0"/>
          </a:p>
          <a:p>
            <a:pPr eaLnBrk="1" fontAlgn="auto" hangingPunct="1">
              <a:defRPr/>
            </a:pPr>
            <a:r>
              <a:rPr lang="en-US" sz="1800" dirty="0"/>
              <a:t>Mid-term </a:t>
            </a:r>
            <a:r>
              <a:rPr lang="en-US" altLang="zh-CN" sz="1800" dirty="0"/>
              <a:t>projects</a:t>
            </a:r>
            <a:r>
              <a:rPr lang="en-US" sz="1800" dirty="0"/>
              <a:t>                                                                       30%</a:t>
            </a:r>
          </a:p>
          <a:p>
            <a:pPr eaLnBrk="1" fontAlgn="auto" hangingPunct="1">
              <a:defRPr/>
            </a:pPr>
            <a:r>
              <a:rPr lang="en-US" sz="1800" dirty="0"/>
              <a:t>Final-term exam                                                                          40%</a:t>
            </a:r>
          </a:p>
          <a:p>
            <a:pPr eaLnBrk="1" fontAlgn="auto" hangingPunct="1">
              <a:defRPr/>
            </a:pPr>
            <a:r>
              <a:rPr lang="en-US" altLang="zh-CN" sz="1800" dirty="0">
                <a:solidFill>
                  <a:srgbClr val="FF0000"/>
                </a:solidFill>
              </a:rPr>
              <a:t>Mini project (bonus)					 5%</a:t>
            </a:r>
            <a:endParaRPr lang="en-US" sz="1800" dirty="0">
              <a:solidFill>
                <a:srgbClr val="FF0000"/>
              </a:solidFill>
            </a:endParaRPr>
          </a:p>
          <a:p>
            <a:pPr eaLnBrk="1" fontAlgn="auto" hangingPunct="1">
              <a:defRPr/>
            </a:pPr>
            <a:r>
              <a:rPr lang="en-US" sz="1800" dirty="0"/>
              <a:t>*5% for full attendance; 1% will be taken off for each absence.</a:t>
            </a:r>
          </a:p>
        </p:txBody>
      </p:sp>
      <p:sp>
        <p:nvSpPr>
          <p:cNvPr id="5" name="Title 1"/>
          <p:cNvSpPr txBox="1"/>
          <p:nvPr/>
        </p:nvSpPr>
        <p:spPr>
          <a:xfrm>
            <a:off x="692150" y="485775"/>
            <a:ext cx="5791200" cy="938213"/>
          </a:xfrm>
          <a:prstGeom prst="rect">
            <a:avLst/>
          </a:prstGeom>
        </p:spPr>
        <p:txBody>
          <a:bodyPr anchor="b">
            <a:normAutofit fontScale="97500"/>
          </a:bodyPr>
          <a:lstStyle>
            <a:lvl1pPr algn="l" rtl="0" eaLnBrk="0" fontAlgn="base" hangingPunct="0">
              <a:spcBef>
                <a:spcPct val="0"/>
              </a:spcBef>
              <a:spcAft>
                <a:spcPct val="0"/>
              </a:spcAft>
              <a:defRPr sz="3600" kern="1200" cap="all" spc="-6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2pPr>
            <a:lvl3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3pPr>
            <a:lvl4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4pPr>
            <a:lvl5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eaLnBrk="1" fontAlgn="auto" hangingPunct="1">
              <a:spcAft>
                <a:spcPts val="0"/>
              </a:spcAft>
              <a:defRPr/>
            </a:pPr>
            <a:r>
              <a:rPr kumimoji="0" lang="en-US" sz="2800" dirty="0"/>
              <a:t>Crystallography </a:t>
            </a:r>
            <a:r>
              <a:rPr kumimoji="0" lang="en-US" sz="2800" b="1" dirty="0"/>
              <a:t>(MSE203)</a:t>
            </a:r>
            <a:endParaRPr kumimoji="0" lang="en-US" sz="2800" dirty="0"/>
          </a:p>
        </p:txBody>
      </p:sp>
      <p:sp>
        <p:nvSpPr>
          <p:cNvPr id="6" name="Rectangle 5"/>
          <p:cNvSpPr/>
          <p:nvPr/>
        </p:nvSpPr>
        <p:spPr>
          <a:xfrm>
            <a:off x="6659563" y="962025"/>
            <a:ext cx="1606550" cy="461963"/>
          </a:xfrm>
          <a:prstGeom prst="rect">
            <a:avLst/>
          </a:prstGeom>
        </p:spPr>
        <p:txBody>
          <a:bodyPr wrap="none">
            <a:spAutoFit/>
          </a:bodyPr>
          <a:lstStyle/>
          <a:p>
            <a:pPr>
              <a:defRPr/>
            </a:pPr>
            <a:r>
              <a:rPr lang="en-US" dirty="0">
                <a:latin typeface="+mj-lt"/>
              </a:rPr>
              <a:t>Syllabus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915000" cy="684312"/>
          </a:xfrm>
        </p:spPr>
        <p:txBody>
          <a:bodyPr/>
          <a:lstStyle/>
          <a:p>
            <a:pPr>
              <a:defRPr/>
            </a:pPr>
            <a:r>
              <a:rPr lang="en-US" altLang="zh-CN" dirty="0"/>
              <a:t>Some RULEs</a:t>
            </a:r>
            <a:endParaRPr lang="zh-CN" altLang="en-US" dirty="0"/>
          </a:p>
        </p:txBody>
      </p:sp>
      <p:sp>
        <p:nvSpPr>
          <p:cNvPr id="132099" name="Content Placeholder 2"/>
          <p:cNvSpPr>
            <a:spLocks noGrp="1"/>
          </p:cNvSpPr>
          <p:nvPr>
            <p:ph idx="1"/>
          </p:nvPr>
        </p:nvSpPr>
        <p:spPr>
          <a:xfrm>
            <a:off x="457200" y="980728"/>
            <a:ext cx="7620000" cy="2952328"/>
          </a:xfrm>
        </p:spPr>
        <p:txBody>
          <a:bodyPr/>
          <a:lstStyle/>
          <a:p>
            <a:pPr marL="457200" indent="-457200">
              <a:buFont typeface="Arial" panose="020B0604020202020204" pitchFamily="34" charset="0"/>
              <a:buAutoNum type="arabicPeriod"/>
            </a:pPr>
            <a:r>
              <a:rPr lang="en-US" altLang="zh-CN" dirty="0"/>
              <a:t>Mobile electronics are allowed to use in class only for study. No electronic games and net-chat in class !!!</a:t>
            </a:r>
          </a:p>
          <a:p>
            <a:pPr marL="457200" indent="-457200">
              <a:buFont typeface="Arial" panose="020B0604020202020204" pitchFamily="34" charset="0"/>
              <a:buAutoNum type="arabicPeriod"/>
            </a:pPr>
            <a:r>
              <a:rPr lang="en-US" altLang="zh-CN" dirty="0"/>
              <a:t>You can do anything that doesn't affect others' study, including learning other things, sleeping and so on.</a:t>
            </a:r>
          </a:p>
          <a:p>
            <a:pPr marL="457200" indent="-457200">
              <a:buFont typeface="Arial" panose="020B0604020202020204" pitchFamily="34" charset="0"/>
              <a:buAutoNum type="arabicPeriod"/>
            </a:pPr>
            <a:r>
              <a:rPr lang="en-US" altLang="zh-CN" dirty="0"/>
              <a:t>Cheating or missing exams are </a:t>
            </a:r>
            <a:r>
              <a:rPr lang="en-US" altLang="zh-CN" dirty="0">
                <a:solidFill>
                  <a:schemeClr val="tx2"/>
                </a:solidFill>
              </a:rPr>
              <a:t>FORBIDDEN</a:t>
            </a:r>
            <a:r>
              <a:rPr lang="en-US" altLang="zh-CN" dirty="0"/>
              <a:t> !</a:t>
            </a:r>
          </a:p>
          <a:p>
            <a:pPr marL="457200" indent="-457200">
              <a:buFont typeface="Arial" panose="020B0604020202020204" pitchFamily="34" charset="0"/>
              <a:buAutoNum type="arabicPeriod"/>
            </a:pPr>
            <a:endParaRPr lang="zh-CN" altLang="en-US" dirty="0"/>
          </a:p>
        </p:txBody>
      </p:sp>
      <p:sp>
        <p:nvSpPr>
          <p:cNvPr id="4" name="Title 1"/>
          <p:cNvSpPr txBox="1"/>
          <p:nvPr/>
        </p:nvSpPr>
        <p:spPr>
          <a:xfrm>
            <a:off x="447869" y="3063551"/>
            <a:ext cx="5915000" cy="684312"/>
          </a:xfrm>
          <a:prstGeom prst="rect">
            <a:avLst/>
          </a:prstGeom>
        </p:spPr>
        <p:txBody>
          <a:bodyPr vert="horz" lIns="91440" tIns="45720" rIns="91440" bIns="45720" rtlCol="0" anchor="b">
            <a:normAutofit/>
          </a:bodyPr>
          <a:lstStyle>
            <a:lvl1pPr algn="l" rtl="0" eaLnBrk="0" fontAlgn="base" hangingPunct="0">
              <a:spcBef>
                <a:spcPct val="0"/>
              </a:spcBef>
              <a:spcAft>
                <a:spcPct val="0"/>
              </a:spcAft>
              <a:defRPr sz="3600" kern="1200" cap="all" spc="-6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2pPr>
            <a:lvl3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3pPr>
            <a:lvl4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4pPr>
            <a:lvl5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defRPr/>
            </a:pPr>
            <a:r>
              <a:rPr kumimoji="0" lang="en-US" altLang="zh-CN" dirty="0"/>
              <a:t>Some Suggestions</a:t>
            </a:r>
            <a:endParaRPr kumimoji="0" lang="zh-CN" altLang="en-US" dirty="0"/>
          </a:p>
        </p:txBody>
      </p:sp>
      <p:sp>
        <p:nvSpPr>
          <p:cNvPr id="5" name="Content Placeholder 2"/>
          <p:cNvSpPr txBox="1"/>
          <p:nvPr/>
        </p:nvSpPr>
        <p:spPr bwMode="auto">
          <a:xfrm>
            <a:off x="447869" y="3891879"/>
            <a:ext cx="7620000" cy="295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marL="457200" indent="-457200">
              <a:buFont typeface="Arial" panose="020B0604020202020204" pitchFamily="34" charset="0"/>
              <a:buAutoNum type="arabicPeriod"/>
            </a:pPr>
            <a:r>
              <a:rPr kumimoji="0" lang="en-US" altLang="zh-CN" dirty="0"/>
              <a:t>Don‘t be absent from class if possible</a:t>
            </a:r>
            <a:r>
              <a:rPr kumimoji="0" lang="zh-CN" altLang="en-US" dirty="0"/>
              <a:t>！</a:t>
            </a:r>
            <a:endParaRPr kumimoji="0" lang="en-US" altLang="zh-CN" dirty="0"/>
          </a:p>
          <a:p>
            <a:pPr marL="457200" indent="-457200">
              <a:buFont typeface="Arial" panose="020B0604020202020204" pitchFamily="34" charset="0"/>
              <a:buAutoNum type="arabicPeriod"/>
            </a:pPr>
            <a:r>
              <a:rPr kumimoji="0" lang="en-US" altLang="zh-CN" dirty="0"/>
              <a:t>Complete each assignment as carefully as possible and volunteer to serve your class or your group</a:t>
            </a:r>
            <a:r>
              <a:rPr kumimoji="0" lang="zh-CN" altLang="en-US" dirty="0"/>
              <a:t>！</a:t>
            </a:r>
            <a:endParaRPr kumimoji="0" lang="en-US" altLang="zh-CN" dirty="0"/>
          </a:p>
          <a:p>
            <a:pPr marL="457200" indent="-457200">
              <a:buFont typeface="Arial" panose="020B0604020202020204" pitchFamily="34" charset="0"/>
              <a:buAutoNum type="arabicPeriod"/>
            </a:pPr>
            <a:r>
              <a:rPr kumimoji="0" lang="en-US" altLang="zh-CN" dirty="0"/>
              <a:t>Review lessons and welcome questions and discussions </a:t>
            </a:r>
            <a:r>
              <a:rPr kumimoji="0" lang="en-US" altLang="zh-CN" sz="2000" dirty="0"/>
              <a:t>in class</a:t>
            </a:r>
            <a:r>
              <a:rPr kumimoji="0" lang="en-US" altLang="zh-CN" dirty="0"/>
              <a:t>.</a:t>
            </a:r>
          </a:p>
          <a:p>
            <a:pPr marL="457200" indent="-457200">
              <a:buFont typeface="Arial" panose="020B0604020202020204" pitchFamily="34" charset="0"/>
              <a:buAutoNum type="arabicPeriod"/>
            </a:pPr>
            <a:r>
              <a:rPr kumimoji="0" lang="en-US" altLang="zh-CN" dirty="0"/>
              <a:t>Try to apply what you have learned in class to your research.</a:t>
            </a:r>
            <a:endParaRPr kumimoji="0"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zh-CN" dirty="0"/>
              <a:t>Some stuffs</a:t>
            </a:r>
            <a:endParaRPr lang="zh-CN" altLang="en-US" dirty="0"/>
          </a:p>
        </p:txBody>
      </p:sp>
      <p:sp>
        <p:nvSpPr>
          <p:cNvPr id="132099" name="Content Placeholder 2"/>
          <p:cNvSpPr>
            <a:spLocks noGrp="1"/>
          </p:cNvSpPr>
          <p:nvPr>
            <p:ph idx="1"/>
          </p:nvPr>
        </p:nvSpPr>
        <p:spPr/>
        <p:txBody>
          <a:bodyPr/>
          <a:lstStyle/>
          <a:p>
            <a:pPr marL="457200" indent="-457200">
              <a:buFont typeface="Arial" panose="020B0604020202020204" pitchFamily="34" charset="0"/>
              <a:buAutoNum type="arabicPeriod"/>
            </a:pPr>
            <a:r>
              <a:rPr lang="en-US" altLang="zh-CN" dirty="0"/>
              <a:t>A </a:t>
            </a:r>
            <a:r>
              <a:rPr lang="en-US" altLang="zh-CN" dirty="0">
                <a:solidFill>
                  <a:schemeClr val="tx2"/>
                </a:solidFill>
              </a:rPr>
              <a:t>coordinator </a:t>
            </a:r>
            <a:r>
              <a:rPr lang="en-US" altLang="zh-CN" dirty="0"/>
              <a:t>for class business; helper for TAs</a:t>
            </a:r>
          </a:p>
          <a:p>
            <a:pPr marL="457200" indent="-457200">
              <a:buFont typeface="Arial" panose="020B0604020202020204" pitchFamily="34" charset="0"/>
              <a:buAutoNum type="arabicPeriod"/>
            </a:pPr>
            <a:endParaRPr lang="en-US" altLang="zh-CN" sz="1000" dirty="0"/>
          </a:p>
          <a:p>
            <a:pPr marL="457200" indent="-457200">
              <a:buFont typeface="Arial" panose="020B0604020202020204" pitchFamily="34" charset="0"/>
              <a:buAutoNum type="arabicPeriod"/>
            </a:pPr>
            <a:r>
              <a:rPr lang="en-US" altLang="zh-CN" dirty="0"/>
              <a:t>Mini project</a:t>
            </a:r>
            <a:r>
              <a:rPr lang="zh-CN" altLang="en-US" dirty="0"/>
              <a:t>：</a:t>
            </a:r>
            <a:r>
              <a:rPr lang="en-US" altLang="zh-CN" b="0" dirty="0"/>
              <a:t>some interesting points or questions that can not be solved in class. One can take these kinds of topics as mini projects and shares with others by a ten mins presentation in next class. One mini project will be awarded one score and one can only take five scores;</a:t>
            </a:r>
          </a:p>
          <a:p>
            <a:pPr marL="457200" indent="-457200">
              <a:buFont typeface="Arial" panose="020B0604020202020204" pitchFamily="34" charset="0"/>
              <a:buAutoNum type="arabicPeriod"/>
            </a:pPr>
            <a:endParaRPr lang="en-US" altLang="zh-CN" sz="1000" dirty="0"/>
          </a:p>
          <a:p>
            <a:pPr marL="457200" indent="-457200">
              <a:buFont typeface="Arial" panose="020B0604020202020204" pitchFamily="34" charset="0"/>
              <a:buAutoNum type="arabicPeriod"/>
            </a:pPr>
            <a:r>
              <a:rPr lang="en-US" altLang="zh-CN" dirty="0"/>
              <a:t>Mid-term presentation</a:t>
            </a:r>
            <a:r>
              <a:rPr lang="zh-CN" altLang="en-US" dirty="0"/>
              <a:t>：</a:t>
            </a:r>
            <a:r>
              <a:rPr lang="en-US" altLang="zh-CN" dirty="0"/>
              <a:t> </a:t>
            </a:r>
            <a:r>
              <a:rPr lang="en-US" altLang="zh-CN" b="0" dirty="0">
                <a:solidFill>
                  <a:srgbClr val="FF0000"/>
                </a:solidFill>
              </a:rPr>
              <a:t>Groups; Choose a paper </a:t>
            </a:r>
            <a:r>
              <a:rPr lang="en-US" altLang="zh-CN" b="0" dirty="0"/>
              <a:t>about the latest progress of crystals reported by </a:t>
            </a:r>
            <a:r>
              <a:rPr lang="en-US" altLang="zh-CN" b="0" i="1" dirty="0">
                <a:solidFill>
                  <a:srgbClr val="FF0000"/>
                </a:solidFill>
              </a:rPr>
              <a:t>Nature</a:t>
            </a:r>
            <a:r>
              <a:rPr lang="en-US" altLang="zh-CN" b="0" dirty="0">
                <a:solidFill>
                  <a:srgbClr val="FF0000"/>
                </a:solidFill>
              </a:rPr>
              <a:t> </a:t>
            </a:r>
            <a:r>
              <a:rPr lang="en-US" altLang="zh-CN" b="0" dirty="0"/>
              <a:t>or </a:t>
            </a:r>
            <a:r>
              <a:rPr lang="en-US" altLang="zh-CN" b="0" i="1" dirty="0">
                <a:solidFill>
                  <a:srgbClr val="FF0000"/>
                </a:solidFill>
              </a:rPr>
              <a:t>Science</a:t>
            </a:r>
            <a:r>
              <a:rPr lang="en-US" altLang="zh-CN" b="0" dirty="0">
                <a:solidFill>
                  <a:srgbClr val="FF0000"/>
                </a:solidFill>
              </a:rPr>
              <a:t> </a:t>
            </a:r>
            <a:r>
              <a:rPr lang="en-US" altLang="zh-CN" b="0" dirty="0"/>
              <a:t>while each group should take different topics. Then a group PPT is prepared and will be presented in class.</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188" y="476250"/>
            <a:ext cx="7772400" cy="595313"/>
          </a:xfrm>
        </p:spPr>
        <p:txBody>
          <a:bodyPr>
            <a:noAutofit/>
          </a:bodyPr>
          <a:lstStyle/>
          <a:p>
            <a:pPr>
              <a:defRPr/>
            </a:pPr>
            <a:r>
              <a:rPr lang="en-US" altLang="zh-CN" sz="3200" cap="none" dirty="0"/>
              <a:t>Arrangement for mid-term projects</a:t>
            </a:r>
            <a:endParaRPr lang="en-US" sz="3200" cap="none" dirty="0"/>
          </a:p>
        </p:txBody>
      </p:sp>
      <p:sp>
        <p:nvSpPr>
          <p:cNvPr id="133123" name="Text Placeholder 2"/>
          <p:cNvSpPr>
            <a:spLocks noGrp="1"/>
          </p:cNvSpPr>
          <p:nvPr>
            <p:ph type="body" sz="half" idx="1"/>
          </p:nvPr>
        </p:nvSpPr>
        <p:spPr>
          <a:xfrm>
            <a:off x="250825" y="1412875"/>
            <a:ext cx="8497888" cy="4824413"/>
          </a:xfrm>
        </p:spPr>
        <p:txBody>
          <a:bodyPr/>
          <a:lstStyle/>
          <a:p>
            <a:pPr marL="457200" indent="-457200">
              <a:buFont typeface="Arial" panose="020B0604020202020204" pitchFamily="34" charset="0"/>
              <a:buAutoNum type="arabicPeriod"/>
            </a:pPr>
            <a:r>
              <a:rPr lang="en-US" altLang="zh-CN" sz="2400" dirty="0"/>
              <a:t>All the group members or only one representative give  the presentation.. </a:t>
            </a:r>
          </a:p>
          <a:p>
            <a:pPr marL="457200" indent="-457200">
              <a:buFont typeface="Arial" panose="020B0604020202020204" pitchFamily="34" charset="0"/>
              <a:buAutoNum type="arabicPeriod"/>
            </a:pPr>
            <a:endParaRPr lang="en-US" altLang="zh-CN" sz="2400" dirty="0"/>
          </a:p>
          <a:p>
            <a:pPr marL="457200" indent="-457200">
              <a:buFont typeface="Arial" panose="020B0604020202020204" pitchFamily="34" charset="0"/>
              <a:buAutoNum type="arabicPeriod"/>
            </a:pPr>
            <a:r>
              <a:rPr lang="en-US" altLang="zh-CN" sz="2400" dirty="0">
                <a:solidFill>
                  <a:srgbClr val="FF0000"/>
                </a:solidFill>
              </a:rPr>
              <a:t>15 mins for Pre. and 5 mins for question time </a:t>
            </a:r>
            <a:r>
              <a:rPr lang="en-US" altLang="zh-CN" sz="2400" dirty="0"/>
              <a:t>(</a:t>
            </a:r>
            <a:r>
              <a:rPr lang="en-US" altLang="zh-CN" sz="2400" dirty="0">
                <a:solidFill>
                  <a:srgbClr val="FF0000"/>
                </a:solidFill>
              </a:rPr>
              <a:t>TBD</a:t>
            </a:r>
            <a:r>
              <a:rPr lang="en-US" altLang="zh-CN" sz="2400" dirty="0"/>
              <a:t>); </a:t>
            </a:r>
          </a:p>
          <a:p>
            <a:pPr marL="457200" indent="-457200">
              <a:buFont typeface="Arial" panose="020B0604020202020204" pitchFamily="34" charset="0"/>
              <a:buAutoNum type="arabicPeriod"/>
            </a:pPr>
            <a:endParaRPr lang="en-US" altLang="zh-CN" sz="2400" dirty="0"/>
          </a:p>
          <a:p>
            <a:pPr marL="457200" indent="-457200">
              <a:buFont typeface="Arial" panose="020B0604020202020204" pitchFamily="34" charset="0"/>
              <a:buAutoNum type="arabicPeriod"/>
            </a:pPr>
            <a:r>
              <a:rPr lang="en-US" altLang="zh-CN" sz="2400" dirty="0"/>
              <a:t>The team leaders in the audience will give the scores of the ongoing Pre.</a:t>
            </a:r>
            <a:endParaRPr lang="en-US" altLang="en-US" sz="2400" dirty="0">
              <a:ea typeface="黑体" panose="02010609060101010101" pitchFamily="49"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3414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1341438"/>
            <a:ext cx="2232025" cy="2230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3250" name="Rectangle 2"/>
          <p:cNvSpPr>
            <a:spLocks noGrp="1" noChangeArrowheads="1"/>
          </p:cNvSpPr>
          <p:nvPr>
            <p:ph type="title"/>
          </p:nvPr>
        </p:nvSpPr>
        <p:spPr>
          <a:xfrm>
            <a:off x="685800" y="266700"/>
            <a:ext cx="7772400" cy="800100"/>
          </a:xfrm>
        </p:spPr>
        <p:txBody>
          <a:bodyPr/>
          <a:lstStyle/>
          <a:p>
            <a:pPr algn="ctr" eaLnBrk="1" fontAlgn="auto" hangingPunct="1">
              <a:spcAft>
                <a:spcPts val="0"/>
              </a:spcAft>
              <a:defRPr/>
            </a:pPr>
            <a:r>
              <a:rPr kumimoji="1" lang="en-US" altLang="zh-CN" sz="3200" dirty="0">
                <a:solidFill>
                  <a:srgbClr val="C00000"/>
                </a:solidFill>
              </a:rPr>
              <a:t>Introduction to Crystal</a:t>
            </a:r>
            <a:endParaRPr kumimoji="1" lang="zh-CN" altLang="en-US" sz="3200" dirty="0">
              <a:solidFill>
                <a:srgbClr val="C00000"/>
              </a:solidFill>
            </a:endParaRPr>
          </a:p>
        </p:txBody>
      </p:sp>
      <p:sp>
        <p:nvSpPr>
          <p:cNvPr id="134148" name="Rectangle 3"/>
          <p:cNvSpPr>
            <a:spLocks noGrp="1" noChangeArrowheads="1"/>
          </p:cNvSpPr>
          <p:nvPr>
            <p:ph sz="half" idx="1"/>
          </p:nvPr>
        </p:nvSpPr>
        <p:spPr>
          <a:xfrm>
            <a:off x="900113" y="1700213"/>
            <a:ext cx="7481887" cy="3581400"/>
          </a:xfrm>
        </p:spPr>
        <p:txBody>
          <a:bodyPr/>
          <a:lstStyle/>
          <a:p>
            <a:pPr eaLnBrk="1" hangingPunct="1">
              <a:buFont typeface="Wingdings" panose="05000000000000000000" pitchFamily="2" charset="2"/>
              <a:buChar char="q"/>
            </a:pPr>
            <a:r>
              <a:rPr lang="en-US" altLang="zh-CN" dirty="0"/>
              <a:t> Introduction</a:t>
            </a:r>
            <a:r>
              <a:rPr lang="zh-CN" altLang="en-US" dirty="0"/>
              <a:t> </a:t>
            </a:r>
            <a:r>
              <a:rPr lang="en-US" altLang="zh-CN" dirty="0"/>
              <a:t>of crystallography</a:t>
            </a:r>
            <a:endParaRPr lang="zh-CN" altLang="en-US" dirty="0"/>
          </a:p>
          <a:p>
            <a:pPr eaLnBrk="1" hangingPunct="1">
              <a:buFont typeface="Wingdings" panose="05000000000000000000" pitchFamily="2" charset="2"/>
              <a:buChar char="q"/>
            </a:pPr>
            <a:r>
              <a:rPr lang="zh-CN" altLang="en-US" dirty="0"/>
              <a:t> </a:t>
            </a:r>
            <a:r>
              <a:rPr lang="en-US" altLang="zh-CN" dirty="0"/>
              <a:t>History and content</a:t>
            </a:r>
            <a:endParaRPr lang="zh-CN" altLang="en-US" dirty="0"/>
          </a:p>
          <a:p>
            <a:pPr eaLnBrk="1" hangingPunct="1">
              <a:buFont typeface="Wingdings" panose="05000000000000000000" pitchFamily="2" charset="2"/>
              <a:buChar char="q"/>
            </a:pPr>
            <a:r>
              <a:rPr lang="zh-CN" altLang="en-US" dirty="0"/>
              <a:t> </a:t>
            </a:r>
            <a:r>
              <a:rPr lang="en-US" altLang="zh-CN" dirty="0"/>
              <a:t>Concept of crystal</a:t>
            </a:r>
            <a:endParaRPr lang="zh-CN" altLang="en-US" dirty="0"/>
          </a:p>
          <a:p>
            <a:pPr eaLnBrk="1" hangingPunct="1">
              <a:buFont typeface="Wingdings" panose="05000000000000000000" pitchFamily="2" charset="2"/>
              <a:buChar char="q"/>
            </a:pPr>
            <a:r>
              <a:rPr lang="zh-CN" altLang="en-US" dirty="0"/>
              <a:t> </a:t>
            </a:r>
            <a:r>
              <a:rPr lang="en-US" altLang="zh-CN" dirty="0"/>
              <a:t>Non-crystal and quasi-crystal</a:t>
            </a:r>
            <a:endParaRPr lang="zh-CN" altLang="en-US" dirty="0"/>
          </a:p>
          <a:p>
            <a:pPr eaLnBrk="1" hangingPunct="1">
              <a:buFont typeface="Wingdings" panose="05000000000000000000" pitchFamily="2" charset="2"/>
              <a:buChar char="q"/>
            </a:pPr>
            <a:r>
              <a:rPr lang="zh-CN" altLang="en-US" dirty="0"/>
              <a:t> </a:t>
            </a:r>
            <a:r>
              <a:rPr lang="en-US" altLang="zh-CN" dirty="0"/>
              <a:t>Space lattice</a:t>
            </a:r>
            <a:endParaRPr lang="zh-CN" altLang="en-US" dirty="0"/>
          </a:p>
          <a:p>
            <a:pPr eaLnBrk="1" hangingPunct="1">
              <a:buFont typeface="Wingdings" panose="05000000000000000000" pitchFamily="2" charset="2"/>
              <a:buChar char="q"/>
            </a:pPr>
            <a:r>
              <a:rPr lang="zh-CN" altLang="en-US" dirty="0"/>
              <a:t> </a:t>
            </a:r>
            <a:r>
              <a:rPr lang="en-US" altLang="zh-CN" dirty="0"/>
              <a:t>The basic properties of crystals</a:t>
            </a:r>
            <a:endParaRPr lang="zh-CN" altLang="en-US" dirty="0"/>
          </a:p>
        </p:txBody>
      </p:sp>
      <p:sp>
        <p:nvSpPr>
          <p:cNvPr id="134149"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53254" name="Rectangle 6"/>
          <p:cNvSpPr>
            <a:spLocks noChangeArrowheads="1"/>
          </p:cNvSpPr>
          <p:nvPr/>
        </p:nvSpPr>
        <p:spPr bwMode="auto">
          <a:xfrm>
            <a:off x="914400" y="5502275"/>
            <a:ext cx="754380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CN" sz="2800" b="1" dirty="0">
                <a:solidFill>
                  <a:srgbClr val="FF0000"/>
                </a:solidFill>
                <a:latin typeface="+mn-lt"/>
                <a:ea typeface="+mn-ea"/>
              </a:rPr>
              <a:t>A regular geometric solid bounded by smooth surfaces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a:extLst>
              <a:ext uri="{FF2B5EF4-FFF2-40B4-BE49-F238E27FC236}">
                <a16:creationId xmlns:a16="http://schemas.microsoft.com/office/drawing/2014/main" id="{7DBA03D7-6865-46CA-93A1-BC2E6851B5FB}"/>
              </a:ext>
            </a:extLst>
          </p:cNvPr>
          <p:cNvSpPr>
            <a:spLocks noGrp="1"/>
          </p:cNvSpPr>
          <p:nvPr>
            <p:ph/>
          </p:nvPr>
        </p:nvSpPr>
        <p:spPr/>
        <p:txBody>
          <a:bodyPr anchor="ctr"/>
          <a:lstStyle/>
          <a:p>
            <a:r>
              <a:rPr lang="zh-CN" altLang="en-US" sz="3200" dirty="0"/>
              <a:t>“</a:t>
            </a:r>
            <a:r>
              <a:rPr lang="zh-CN" altLang="en-US" sz="3200" dirty="0">
                <a:solidFill>
                  <a:srgbClr val="FF0000"/>
                </a:solidFill>
              </a:rPr>
              <a:t>世界是物质的</a:t>
            </a:r>
            <a:r>
              <a:rPr lang="zh-CN" altLang="en-US" sz="3200" dirty="0"/>
              <a:t>，物质是运动的，运动是有规律的，规律是可以认识的，认识是发展变化的 ” </a:t>
            </a:r>
            <a:r>
              <a:rPr lang="en-US" altLang="zh-CN" sz="3200" dirty="0"/>
              <a:t>——</a:t>
            </a:r>
            <a:r>
              <a:rPr lang="zh-CN" altLang="en-US" dirty="0"/>
              <a:t>卡尔</a:t>
            </a:r>
            <a:r>
              <a:rPr lang="en-US" altLang="zh-CN" dirty="0"/>
              <a:t>·</a:t>
            </a:r>
            <a:r>
              <a:rPr lang="zh-CN" altLang="en-US" dirty="0"/>
              <a:t>马克思（</a:t>
            </a:r>
            <a:r>
              <a:rPr lang="en-US" altLang="zh-CN" dirty="0"/>
              <a:t>Karl Heinrich Marx</a:t>
            </a:r>
            <a:r>
              <a:rPr lang="zh-CN" altLang="en-US" dirty="0"/>
              <a:t>）</a:t>
            </a:r>
            <a:br>
              <a:rPr lang="en-US" altLang="zh-CN" dirty="0"/>
            </a:br>
            <a:endParaRPr lang="en-US" altLang="zh-CN" dirty="0"/>
          </a:p>
          <a:p>
            <a:r>
              <a:rPr lang="en-US" altLang="zh-CN" sz="3200" dirty="0">
                <a:solidFill>
                  <a:srgbClr val="FF0000"/>
                </a:solidFill>
              </a:rPr>
              <a:t>   </a:t>
            </a:r>
            <a:r>
              <a:rPr lang="zh-CN" altLang="en-US" sz="3200" dirty="0">
                <a:solidFill>
                  <a:srgbClr val="FF0000"/>
                </a:solidFill>
              </a:rPr>
              <a:t>材料</a:t>
            </a:r>
            <a:r>
              <a:rPr lang="zh-CN" altLang="en-US" sz="3200" dirty="0"/>
              <a:t>是人类赖以生存和发展的</a:t>
            </a:r>
            <a:r>
              <a:rPr lang="zh-CN" altLang="en-US" sz="3200" dirty="0">
                <a:solidFill>
                  <a:srgbClr val="FF0000"/>
                </a:solidFill>
              </a:rPr>
              <a:t>物质基础</a:t>
            </a:r>
            <a:r>
              <a:rPr lang="zh-CN" altLang="en-US" sz="3200" dirty="0"/>
              <a:t>，</a:t>
            </a:r>
            <a:r>
              <a:rPr lang="zh-CN" altLang="en-US" sz="3200" dirty="0">
                <a:solidFill>
                  <a:srgbClr val="FF0000"/>
                </a:solidFill>
              </a:rPr>
              <a:t>有用的物质</a:t>
            </a:r>
            <a:r>
              <a:rPr lang="zh-CN" altLang="en-US" sz="3200" dirty="0"/>
              <a:t>都可以称之为材料（主观的定义）。</a:t>
            </a:r>
            <a:r>
              <a:rPr lang="en-US" altLang="zh-CN" sz="3200" dirty="0"/>
              <a:t>—— </a:t>
            </a:r>
            <a:r>
              <a:rPr lang="zh-CN" altLang="en-US" sz="3200" dirty="0"/>
              <a:t>百度</a:t>
            </a:r>
            <a:endParaRPr lang="en-US" altLang="zh-CN" sz="3200" dirty="0"/>
          </a:p>
          <a:p>
            <a:endParaRPr lang="en-US" altLang="zh-CN" sz="3200" dirty="0"/>
          </a:p>
          <a:p>
            <a:r>
              <a:rPr lang="en-US" altLang="zh-CN" sz="3200" dirty="0">
                <a:sym typeface="Wingdings" panose="05000000000000000000" pitchFamily="2" charset="2"/>
              </a:rPr>
              <a:t> </a:t>
            </a:r>
            <a:r>
              <a:rPr lang="zh-CN" altLang="en-US" sz="3200" dirty="0">
                <a:solidFill>
                  <a:srgbClr val="FF0000"/>
                </a:solidFill>
                <a:sym typeface="Wingdings" panose="05000000000000000000" pitchFamily="2" charset="2"/>
              </a:rPr>
              <a:t>人类社会是材料的</a:t>
            </a:r>
            <a:endParaRPr lang="zh-CN" altLang="en-US" sz="3200" dirty="0">
              <a:solidFill>
                <a:srgbClr val="FF0000"/>
              </a:solidFill>
            </a:endParaRPr>
          </a:p>
        </p:txBody>
      </p:sp>
    </p:spTree>
    <p:extLst>
      <p:ext uri="{BB962C8B-B14F-4D97-AF65-F5344CB8AC3E}">
        <p14:creationId xmlns:p14="http://schemas.microsoft.com/office/powerpoint/2010/main" val="726834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ight Arrow 2"/>
          <p:cNvSpPr/>
          <p:nvPr/>
        </p:nvSpPr>
        <p:spPr bwMode="auto">
          <a:xfrm>
            <a:off x="1993901" y="2916498"/>
            <a:ext cx="273844" cy="268486"/>
          </a:xfrm>
          <a:prstGeom prst="rightArrow">
            <a:avLst/>
          </a:prstGeom>
          <a:solidFill>
            <a:srgbClr val="FF6600"/>
          </a:solidFill>
          <a:ln w="12700" cap="flat" cmpd="sng" algn="ctr">
            <a:solidFill>
              <a:srgbClr val="0000FF"/>
            </a:solidFill>
            <a:prstDash val="solid"/>
            <a:round/>
            <a:headEnd type="none" w="med" len="med"/>
            <a:tailEnd type="none" w="med" len="med"/>
          </a:ln>
          <a:effectLst/>
        </p:spPr>
        <p:txBody>
          <a:bodyPr/>
          <a:lstStyle/>
          <a:p>
            <a:pPr eaLnBrk="0" hangingPunct="0">
              <a:defRPr/>
            </a:pPr>
            <a:endParaRPr kumimoji="0" lang="en-US" sz="1600" dirty="0">
              <a:solidFill>
                <a:prstClr val="white">
                  <a:lumMod val="95000"/>
                </a:prstClr>
              </a:solidFill>
              <a:latin typeface="Arial" panose="020B0604020202020204" pitchFamily="34" charset="0"/>
              <a:ea typeface="+mn-ea"/>
            </a:endParaRPr>
          </a:p>
        </p:txBody>
      </p:sp>
      <p:pic>
        <p:nvPicPr>
          <p:cNvPr id="135171"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46325" y="2242815"/>
            <a:ext cx="1851025"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72"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4325" y="2242815"/>
            <a:ext cx="1592263"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73" name="Picture 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39257" y="2242815"/>
            <a:ext cx="1990725"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74" name="Picture 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038975" y="2242815"/>
            <a:ext cx="1781175"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7" name="Rectangle 14"/>
          <p:cNvSpPr>
            <a:spLocks noChangeArrowheads="1"/>
          </p:cNvSpPr>
          <p:nvPr/>
        </p:nvSpPr>
        <p:spPr bwMode="auto">
          <a:xfrm>
            <a:off x="334963" y="746701"/>
            <a:ext cx="845978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2800" b="0" dirty="0">
                <a:latin typeface="+mn-lt"/>
                <a:ea typeface="宋体" panose="02010600030101010101" pitchFamily="2" charset="-122"/>
              </a:rPr>
              <a:t>Material is a broad term for a chemical substance or mixture of substances that constitute a thing.</a:t>
            </a:r>
          </a:p>
        </p:txBody>
      </p:sp>
      <p:sp>
        <p:nvSpPr>
          <p:cNvPr id="135178" name="Rectangle 15"/>
          <p:cNvSpPr>
            <a:spLocks noChangeArrowheads="1"/>
          </p:cNvSpPr>
          <p:nvPr/>
        </p:nvSpPr>
        <p:spPr bwMode="auto">
          <a:xfrm>
            <a:off x="314325" y="4277414"/>
            <a:ext cx="850582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marL="342900" indent="-342900" algn="just" eaLnBrk="1" hangingPunct="1">
              <a:spcBef>
                <a:spcPct val="0"/>
              </a:spcBef>
              <a:spcAft>
                <a:spcPct val="0"/>
              </a:spcAft>
              <a:buFont typeface="Wingdings" panose="05000000000000000000" pitchFamily="2" charset="2"/>
              <a:buChar char="ü"/>
            </a:pPr>
            <a:r>
              <a:rPr lang="en-US" altLang="en-US" sz="2800" b="0" dirty="0">
                <a:latin typeface="Times New Roman" panose="02020603050405020304" pitchFamily="18" charset="0"/>
                <a:ea typeface="宋体" panose="02010600030101010101" pitchFamily="2" charset="-122"/>
              </a:rPr>
              <a:t>Material is the substance foundation for human survival and development. </a:t>
            </a:r>
          </a:p>
          <a:p>
            <a:pPr marL="342900" indent="-342900" algn="just" eaLnBrk="1" hangingPunct="1">
              <a:spcBef>
                <a:spcPct val="0"/>
              </a:spcBef>
              <a:spcAft>
                <a:spcPct val="0"/>
              </a:spcAft>
              <a:buFont typeface="Wingdings" panose="05000000000000000000" pitchFamily="2" charset="2"/>
              <a:buChar char="ü"/>
            </a:pPr>
            <a:r>
              <a:rPr lang="en-US" altLang="en-US" sz="2800" b="0" dirty="0">
                <a:latin typeface="Times New Roman" panose="02020603050405020304" pitchFamily="18" charset="0"/>
                <a:ea typeface="宋体" panose="02010600030101010101" pitchFamily="2" charset="-122"/>
              </a:rPr>
              <a:t>Most materials </a:t>
            </a:r>
            <a:r>
              <a:rPr lang="en-US" altLang="zh-CN" sz="2800" b="0" dirty="0">
                <a:latin typeface="Times New Roman" panose="02020603050405020304" pitchFamily="18" charset="0"/>
                <a:ea typeface="宋体" panose="02010600030101010101" pitchFamily="2" charset="-122"/>
              </a:rPr>
              <a:t>exist as</a:t>
            </a:r>
            <a:r>
              <a:rPr lang="en-US" altLang="en-US" sz="2800" b="0" dirty="0">
                <a:latin typeface="Times New Roman" panose="02020603050405020304" pitchFamily="18" charset="0"/>
                <a:ea typeface="宋体" panose="02010600030101010101" pitchFamily="2" charset="-122"/>
              </a:rPr>
              <a:t> solids; Most solids are crystals and </a:t>
            </a:r>
            <a:r>
              <a:rPr lang="en-US" altLang="en-US" sz="2800" b="0" dirty="0">
                <a:solidFill>
                  <a:srgbClr val="FF0000"/>
                </a:solidFill>
                <a:latin typeface="Times New Roman" panose="02020603050405020304" pitchFamily="18" charset="0"/>
                <a:ea typeface="宋体" panose="02010600030101010101" pitchFamily="2" charset="-122"/>
              </a:rPr>
              <a:t>crystals are one form of materials (why?)</a:t>
            </a:r>
            <a:r>
              <a:rPr lang="en-US" altLang="en-US" sz="2800" b="0" dirty="0">
                <a:latin typeface="Times New Roman" panose="02020603050405020304" pitchFamily="18" charset="0"/>
                <a:ea typeface="宋体" panose="02010600030101010101" pitchFamily="2" charset="-122"/>
              </a:rPr>
              <a:t>.</a:t>
            </a:r>
          </a:p>
        </p:txBody>
      </p:sp>
      <p:sp>
        <p:nvSpPr>
          <p:cNvPr id="12" name="Right Arrow 2"/>
          <p:cNvSpPr/>
          <p:nvPr/>
        </p:nvSpPr>
        <p:spPr bwMode="auto">
          <a:xfrm>
            <a:off x="6702902" y="2916498"/>
            <a:ext cx="273844" cy="268486"/>
          </a:xfrm>
          <a:prstGeom prst="rightArrow">
            <a:avLst/>
          </a:prstGeom>
          <a:solidFill>
            <a:srgbClr val="FF6600"/>
          </a:solidFill>
          <a:ln w="12700" cap="flat" cmpd="sng" algn="ctr">
            <a:solidFill>
              <a:srgbClr val="0000FF"/>
            </a:solidFill>
            <a:prstDash val="solid"/>
            <a:round/>
            <a:headEnd type="none" w="med" len="med"/>
            <a:tailEnd type="none" w="med" len="med"/>
          </a:ln>
          <a:effectLst/>
        </p:spPr>
        <p:txBody>
          <a:bodyPr/>
          <a:lstStyle/>
          <a:p>
            <a:pPr eaLnBrk="0" hangingPunct="0">
              <a:defRPr/>
            </a:pPr>
            <a:endParaRPr kumimoji="0" lang="en-US" sz="1600" dirty="0">
              <a:solidFill>
                <a:prstClr val="white">
                  <a:lumMod val="95000"/>
                </a:prstClr>
              </a:solidFill>
              <a:latin typeface="Arial" panose="020B0604020202020204" pitchFamily="34" charset="0"/>
              <a:ea typeface="+mn-ea"/>
            </a:endParaRPr>
          </a:p>
        </p:txBody>
      </p:sp>
      <p:sp>
        <p:nvSpPr>
          <p:cNvPr id="15" name="Right Arrow 2"/>
          <p:cNvSpPr/>
          <p:nvPr/>
        </p:nvSpPr>
        <p:spPr bwMode="auto">
          <a:xfrm>
            <a:off x="4295602" y="2916498"/>
            <a:ext cx="273844" cy="268486"/>
          </a:xfrm>
          <a:prstGeom prst="rightArrow">
            <a:avLst/>
          </a:prstGeom>
          <a:solidFill>
            <a:srgbClr val="FF6600"/>
          </a:solidFill>
          <a:ln w="12700" cap="flat" cmpd="sng" algn="ctr">
            <a:solidFill>
              <a:srgbClr val="0000FF"/>
            </a:solidFill>
            <a:prstDash val="solid"/>
            <a:round/>
            <a:headEnd type="none" w="med" len="med"/>
            <a:tailEnd type="none" w="med" len="med"/>
          </a:ln>
          <a:effectLst/>
        </p:spPr>
        <p:txBody>
          <a:bodyPr/>
          <a:lstStyle/>
          <a:p>
            <a:pPr eaLnBrk="0" hangingPunct="0">
              <a:defRPr/>
            </a:pPr>
            <a:endParaRPr kumimoji="0" lang="en-US" sz="1600" dirty="0">
              <a:solidFill>
                <a:prstClr val="white">
                  <a:lumMod val="95000"/>
                </a:prstClr>
              </a:solidFill>
              <a:latin typeface="Arial" panose="020B0604020202020204" pitchFamily="34" charset="0"/>
              <a:ea typeface="+mn-ea"/>
            </a:endParaRPr>
          </a:p>
        </p:txBody>
      </p:sp>
      <p:sp>
        <p:nvSpPr>
          <p:cNvPr id="2" name="Rectangle 1"/>
          <p:cNvSpPr/>
          <p:nvPr/>
        </p:nvSpPr>
        <p:spPr>
          <a:xfrm>
            <a:off x="327176" y="3808054"/>
            <a:ext cx="1579412" cy="369332"/>
          </a:xfrm>
          <a:prstGeom prst="rect">
            <a:avLst/>
          </a:prstGeom>
        </p:spPr>
        <p:txBody>
          <a:bodyPr wrap="square">
            <a:spAutoFit/>
          </a:bodyPr>
          <a:lstStyle/>
          <a:p>
            <a:r>
              <a:rPr lang="en-US" sz="1800" dirty="0"/>
              <a:t>The Stone Age</a:t>
            </a:r>
          </a:p>
        </p:txBody>
      </p:sp>
      <p:sp>
        <p:nvSpPr>
          <p:cNvPr id="4" name="Rectangle 3"/>
          <p:cNvSpPr/>
          <p:nvPr/>
        </p:nvSpPr>
        <p:spPr>
          <a:xfrm>
            <a:off x="2422728" y="3808054"/>
            <a:ext cx="1698217" cy="369332"/>
          </a:xfrm>
          <a:prstGeom prst="rect">
            <a:avLst/>
          </a:prstGeom>
        </p:spPr>
        <p:txBody>
          <a:bodyPr wrap="square">
            <a:spAutoFit/>
          </a:bodyPr>
          <a:lstStyle/>
          <a:p>
            <a:r>
              <a:rPr lang="en-US" sz="1800" dirty="0">
                <a:solidFill>
                  <a:srgbClr val="000000"/>
                </a:solidFill>
              </a:rPr>
              <a:t>the Bronze Age </a:t>
            </a:r>
            <a:endParaRPr lang="en-US" sz="1800" dirty="0"/>
          </a:p>
        </p:txBody>
      </p:sp>
      <p:sp>
        <p:nvSpPr>
          <p:cNvPr id="5" name="Rectangle 4"/>
          <p:cNvSpPr/>
          <p:nvPr/>
        </p:nvSpPr>
        <p:spPr>
          <a:xfrm>
            <a:off x="4906687" y="3808054"/>
            <a:ext cx="1454309" cy="369332"/>
          </a:xfrm>
          <a:prstGeom prst="rect">
            <a:avLst/>
          </a:prstGeom>
        </p:spPr>
        <p:txBody>
          <a:bodyPr wrap="none">
            <a:spAutoFit/>
          </a:bodyPr>
          <a:lstStyle/>
          <a:p>
            <a:r>
              <a:rPr lang="en-US" sz="1800" dirty="0">
                <a:solidFill>
                  <a:srgbClr val="000000"/>
                </a:solidFill>
              </a:rPr>
              <a:t> the </a:t>
            </a:r>
            <a:r>
              <a:rPr lang="en-US" altLang="zh-CN" sz="1800" dirty="0">
                <a:solidFill>
                  <a:srgbClr val="000000"/>
                </a:solidFill>
              </a:rPr>
              <a:t>I</a:t>
            </a:r>
            <a:r>
              <a:rPr lang="en-US" sz="1800" dirty="0">
                <a:solidFill>
                  <a:srgbClr val="000000"/>
                </a:solidFill>
              </a:rPr>
              <a:t>ron </a:t>
            </a:r>
            <a:r>
              <a:rPr lang="en-US" altLang="zh-CN" sz="1800" dirty="0">
                <a:solidFill>
                  <a:srgbClr val="000000"/>
                </a:solidFill>
              </a:rPr>
              <a:t>A</a:t>
            </a:r>
            <a:r>
              <a:rPr lang="en-US" sz="1800" dirty="0">
                <a:solidFill>
                  <a:srgbClr val="000000"/>
                </a:solidFill>
              </a:rPr>
              <a:t>ge </a:t>
            </a:r>
            <a:endParaRPr lang="en-US" sz="1800" dirty="0"/>
          </a:p>
        </p:txBody>
      </p:sp>
      <p:sp>
        <p:nvSpPr>
          <p:cNvPr id="6" name="Rectangle 5"/>
          <p:cNvSpPr/>
          <p:nvPr/>
        </p:nvSpPr>
        <p:spPr>
          <a:xfrm>
            <a:off x="6933134" y="3808054"/>
            <a:ext cx="2107380" cy="369332"/>
          </a:xfrm>
          <a:prstGeom prst="rect">
            <a:avLst/>
          </a:prstGeom>
        </p:spPr>
        <p:txBody>
          <a:bodyPr wrap="square">
            <a:spAutoFit/>
          </a:bodyPr>
          <a:lstStyle/>
          <a:p>
            <a:pPr lvl="0" algn="just"/>
            <a:r>
              <a:rPr lang="en-US" sz="1800" dirty="0">
                <a:solidFill>
                  <a:srgbClr val="000000"/>
                </a:solidFill>
              </a:rPr>
              <a:t>the Information 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528638" y="1340768"/>
            <a:ext cx="7859712"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b="1" dirty="0">
                <a:latin typeface="+mn-lt"/>
                <a:ea typeface="+mn-ea"/>
              </a:rPr>
              <a:t>Crystallography: a subject based on crystal. </a:t>
            </a:r>
          </a:p>
          <a:p>
            <a:pPr>
              <a:defRPr/>
            </a:pPr>
            <a:r>
              <a:rPr lang="en-US" altLang="zh-CN" dirty="0">
                <a:latin typeface="+mn-lt"/>
                <a:ea typeface="+mn-ea"/>
              </a:rPr>
              <a:t>It mainly studies the symmetry of crystals, including the common law of crystals, but not the specific crystals.</a:t>
            </a:r>
          </a:p>
          <a:p>
            <a:pPr>
              <a:defRPr/>
            </a:pPr>
            <a:endParaRPr lang="en-US" altLang="zh-CN" sz="1000" dirty="0">
              <a:latin typeface="+mn-lt"/>
              <a:ea typeface="+mn-ea"/>
            </a:endParaRPr>
          </a:p>
          <a:p>
            <a:pPr>
              <a:defRPr/>
            </a:pPr>
            <a:r>
              <a:rPr lang="en-US" altLang="zh-CN" b="1" dirty="0">
                <a:latin typeface="+mn-lt"/>
                <a:ea typeface="+mn-ea"/>
              </a:rPr>
              <a:t>Features: </a:t>
            </a:r>
            <a:r>
              <a:rPr lang="en-US" altLang="zh-CN" dirty="0">
                <a:latin typeface="+mn-lt"/>
                <a:ea typeface="+mn-ea"/>
              </a:rPr>
              <a:t>spatiality</a:t>
            </a:r>
            <a:r>
              <a:rPr lang="zh-CN" altLang="en-US" dirty="0">
                <a:latin typeface="+mn-lt"/>
                <a:ea typeface="+mn-ea"/>
              </a:rPr>
              <a:t>（空间性）</a:t>
            </a:r>
            <a:r>
              <a:rPr lang="en-US" altLang="zh-CN" dirty="0">
                <a:latin typeface="+mn-lt"/>
                <a:ea typeface="+mn-ea"/>
              </a:rPr>
              <a:t>, abstractness, logic and generality</a:t>
            </a:r>
          </a:p>
          <a:p>
            <a:pPr>
              <a:defRPr/>
            </a:pPr>
            <a:endParaRPr lang="zh-CN" altLang="en-US" sz="1600" dirty="0">
              <a:latin typeface="+mn-lt"/>
              <a:ea typeface="+mn-ea"/>
            </a:endParaRPr>
          </a:p>
          <a:p>
            <a:pPr>
              <a:defRPr/>
            </a:pPr>
            <a:r>
              <a:rPr lang="en-US" altLang="zh-CN" sz="2800" dirty="0">
                <a:solidFill>
                  <a:srgbClr val="FF0000"/>
                </a:solidFill>
                <a:latin typeface="+mn-lt"/>
                <a:ea typeface="+mn-ea"/>
              </a:rPr>
              <a:t>Significantly different with mineralogy</a:t>
            </a:r>
          </a:p>
          <a:p>
            <a:pPr>
              <a:defRPr/>
            </a:pPr>
            <a:endParaRPr lang="zh-CN" altLang="en-US" sz="1600" dirty="0">
              <a:solidFill>
                <a:srgbClr val="FF0000"/>
              </a:solidFill>
              <a:latin typeface="+mn-lt"/>
              <a:ea typeface="+mn-ea"/>
            </a:endParaRPr>
          </a:p>
          <a:p>
            <a:pPr>
              <a:defRPr/>
            </a:pPr>
            <a:r>
              <a:rPr lang="en-US" altLang="zh-CN" sz="2800" b="1" dirty="0">
                <a:latin typeface="+mn-lt"/>
                <a:ea typeface="+mn-ea"/>
              </a:rPr>
              <a:t>Mineralogy: a subject about mineral crystal. </a:t>
            </a:r>
            <a:r>
              <a:rPr lang="en-US" altLang="zh-CN" sz="2800" dirty="0">
                <a:latin typeface="+mn-lt"/>
                <a:ea typeface="+mn-ea"/>
              </a:rPr>
              <a:t>It </a:t>
            </a:r>
            <a:r>
              <a:rPr lang="en-US" altLang="zh-CN" dirty="0">
                <a:latin typeface="+mn-lt"/>
                <a:ea typeface="+mn-ea"/>
              </a:rPr>
              <a:t>mainly study the compositions, physical properties and growth characteristics of specific mineral crystals.</a:t>
            </a:r>
          </a:p>
          <a:p>
            <a:pPr>
              <a:defRPr/>
            </a:pPr>
            <a:endParaRPr lang="en-US" altLang="zh-CN" sz="1000" dirty="0">
              <a:latin typeface="+mn-lt"/>
              <a:ea typeface="+mn-ea"/>
            </a:endParaRPr>
          </a:p>
          <a:p>
            <a:pPr>
              <a:defRPr/>
            </a:pPr>
            <a:r>
              <a:rPr lang="en-US" altLang="zh-CN" b="1" dirty="0">
                <a:latin typeface="+mn-lt"/>
                <a:ea typeface="+mn-ea"/>
              </a:rPr>
              <a:t>Features: </a:t>
            </a:r>
            <a:r>
              <a:rPr lang="en-US" altLang="zh-CN" dirty="0">
                <a:latin typeface="+mn-lt"/>
                <a:ea typeface="+mn-ea"/>
              </a:rPr>
              <a:t>experience, sensibility, concreteness </a:t>
            </a:r>
            <a:r>
              <a:rPr lang="zh-CN" altLang="en-US" dirty="0">
                <a:latin typeface="+mn-lt"/>
                <a:ea typeface="+mn-ea"/>
              </a:rPr>
              <a:t>（具体性）</a:t>
            </a:r>
            <a:r>
              <a:rPr lang="en-US" altLang="zh-CN" dirty="0">
                <a:latin typeface="+mn-lt"/>
                <a:ea typeface="+mn-ea"/>
              </a:rPr>
              <a:t>, classification and individuality</a:t>
            </a:r>
            <a:endParaRPr lang="zh-CN" altLang="en-US" dirty="0">
              <a:latin typeface="+mn-lt"/>
              <a:ea typeface="+mn-ea"/>
            </a:endParaRPr>
          </a:p>
        </p:txBody>
      </p:sp>
      <p:sp>
        <p:nvSpPr>
          <p:cNvPr id="136195" name="Line 3"/>
          <p:cNvSpPr>
            <a:spLocks noChangeShapeType="1"/>
          </p:cNvSpPr>
          <p:nvPr/>
        </p:nvSpPr>
        <p:spPr bwMode="auto">
          <a:xfrm>
            <a:off x="900113"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11268" name="Rectangle 4"/>
          <p:cNvSpPr>
            <a:spLocks noChangeArrowheads="1"/>
          </p:cNvSpPr>
          <p:nvPr/>
        </p:nvSpPr>
        <p:spPr bwMode="auto">
          <a:xfrm>
            <a:off x="2789238" y="558800"/>
            <a:ext cx="36639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fontAlgn="auto" hangingPunct="1">
              <a:spcBef>
                <a:spcPct val="0"/>
              </a:spcBef>
              <a:spcAft>
                <a:spcPts val="0"/>
              </a:spcAft>
              <a:buFontTx/>
              <a:buNone/>
              <a:defRPr/>
            </a:pPr>
            <a:r>
              <a:rPr lang="en-US" altLang="zh-CN" sz="3200" b="0" cap="all" spc="-60" dirty="0">
                <a:solidFill>
                  <a:srgbClr val="C00000"/>
                </a:solidFill>
                <a:latin typeface="+mj-lt"/>
                <a:ea typeface="+mj-ea"/>
                <a:cs typeface="+mj-cs"/>
              </a:rPr>
              <a:t>Introduction</a:t>
            </a:r>
            <a:endParaRPr lang="zh-CN" altLang="en-US" sz="3200" b="0" cap="all" spc="-60" dirty="0">
              <a:solidFill>
                <a:srgbClr val="C00000"/>
              </a:solidFill>
              <a:latin typeface="+mj-lt"/>
              <a:ea typeface="+mj-ea"/>
              <a:cs typeface="+mj-cs"/>
            </a:endParaRPr>
          </a:p>
        </p:txBody>
      </p:sp>
    </p:spTree>
  </p:cSld>
  <p:clrMapOvr>
    <a:masterClrMapping/>
  </p:clrMapOvr>
  <p:transition spd="med">
    <p:blinds/>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090613" y="396875"/>
            <a:ext cx="7539037"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History of crystallography</a:t>
            </a:r>
            <a:endParaRPr kumimoji="1" lang="zh-CN" altLang="en-US" sz="3200" dirty="0">
              <a:solidFill>
                <a:srgbClr val="C00000"/>
              </a:solidFill>
            </a:endParaRPr>
          </a:p>
        </p:txBody>
      </p:sp>
      <p:sp>
        <p:nvSpPr>
          <p:cNvPr id="137219" name="Rectangle 3"/>
          <p:cNvSpPr>
            <a:spLocks noGrp="1" noChangeArrowheads="1"/>
          </p:cNvSpPr>
          <p:nvPr>
            <p:ph idx="1"/>
          </p:nvPr>
        </p:nvSpPr>
        <p:spPr>
          <a:xfrm>
            <a:off x="611188" y="765175"/>
            <a:ext cx="8064500" cy="4537075"/>
          </a:xfrm>
        </p:spPr>
        <p:txBody>
          <a:bodyPr/>
          <a:lstStyle/>
          <a:p>
            <a:pPr eaLnBrk="1" hangingPunct="1">
              <a:lnSpc>
                <a:spcPct val="110000"/>
              </a:lnSpc>
              <a:buFont typeface="Monotype Sorts" pitchFamily="2" charset="2"/>
              <a:buNone/>
            </a:pPr>
            <a:endParaRPr lang="en-US" altLang="zh-CN" sz="2400" b="0" dirty="0"/>
          </a:p>
          <a:p>
            <a:pPr eaLnBrk="1" hangingPunct="1">
              <a:lnSpc>
                <a:spcPct val="110000"/>
              </a:lnSpc>
              <a:buFont typeface="Monotype Sorts" pitchFamily="2" charset="2"/>
              <a:buNone/>
            </a:pPr>
            <a:r>
              <a:rPr lang="en-US" altLang="zh-CN" sz="2400" b="0" dirty="0"/>
              <a:t>Crystallography originates from </a:t>
            </a:r>
            <a:r>
              <a:rPr lang="en-US" altLang="zh-CN" sz="2400" dirty="0"/>
              <a:t>human mining activities </a:t>
            </a:r>
            <a:r>
              <a:rPr lang="en-US" altLang="zh-CN" sz="2400" b="0" dirty="0"/>
              <a:t>in the middle of the 17th Century. </a:t>
            </a:r>
          </a:p>
          <a:p>
            <a:pPr eaLnBrk="1" hangingPunct="1">
              <a:lnSpc>
                <a:spcPct val="110000"/>
              </a:lnSpc>
              <a:buFont typeface="Monotype Sorts" pitchFamily="2" charset="2"/>
              <a:buNone/>
            </a:pPr>
            <a:r>
              <a:rPr lang="en-US" altLang="zh-CN" sz="2400" b="0" dirty="0"/>
              <a:t>It is </a:t>
            </a:r>
            <a:r>
              <a:rPr lang="en-US" altLang="zh-CN" sz="2400" dirty="0"/>
              <a:t>one of the two earliest sciences </a:t>
            </a:r>
            <a:r>
              <a:rPr lang="en-US" altLang="zh-CN" sz="2400" b="0" dirty="0"/>
              <a:t>in human history (astronomy is the other one).</a:t>
            </a:r>
            <a:endParaRPr lang="zh-CN" altLang="en-US" sz="1400" b="0" dirty="0"/>
          </a:p>
        </p:txBody>
      </p:sp>
      <p:sp>
        <p:nvSpPr>
          <p:cNvPr id="137220"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372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50096"/>
            <a:ext cx="3673475" cy="2366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722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1298" y="2924944"/>
            <a:ext cx="2520702" cy="25207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36737" y="4896342"/>
            <a:ext cx="2755689" cy="19616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68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6300" y="5251432"/>
            <a:ext cx="2286000"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7" name="Picture 4"/>
          <p:cNvPicPr>
            <a:picLocks noChangeAspect="1" noChangeArrowheads="1"/>
          </p:cNvPicPr>
          <p:nvPr/>
        </p:nvPicPr>
        <p:blipFill>
          <a:blip r:embed="rId3">
            <a:extLst>
              <a:ext uri="{28A0092B-C50C-407E-A947-70E740481C1C}">
                <a14:useLocalDpi xmlns:a14="http://schemas.microsoft.com/office/drawing/2010/main" val="0"/>
              </a:ext>
            </a:extLst>
          </a:blip>
          <a:srcRect r="19128"/>
          <a:stretch>
            <a:fillRect/>
          </a:stretch>
        </p:blipFill>
        <p:spPr bwMode="auto">
          <a:xfrm>
            <a:off x="4431793" y="2348880"/>
            <a:ext cx="2706428" cy="223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5298" name="Rectangle 2"/>
          <p:cNvSpPr>
            <a:spLocks noGrp="1" noChangeArrowheads="1"/>
          </p:cNvSpPr>
          <p:nvPr>
            <p:ph type="title"/>
          </p:nvPr>
        </p:nvSpPr>
        <p:spPr>
          <a:xfrm>
            <a:off x="1090613" y="396875"/>
            <a:ext cx="7539037"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History of crystallography</a:t>
            </a:r>
            <a:endParaRPr kumimoji="1" lang="zh-CN" altLang="en-US" sz="3200" dirty="0">
              <a:solidFill>
                <a:srgbClr val="C00000"/>
              </a:solidFill>
            </a:endParaRPr>
          </a:p>
        </p:txBody>
      </p:sp>
      <p:sp>
        <p:nvSpPr>
          <p:cNvPr id="138243" name="Rectangle 3"/>
          <p:cNvSpPr>
            <a:spLocks noGrp="1" noChangeArrowheads="1"/>
          </p:cNvSpPr>
          <p:nvPr>
            <p:ph idx="1"/>
          </p:nvPr>
        </p:nvSpPr>
        <p:spPr>
          <a:xfrm>
            <a:off x="611188" y="1340768"/>
            <a:ext cx="8064500" cy="4537075"/>
          </a:xfrm>
        </p:spPr>
        <p:txBody>
          <a:bodyPr/>
          <a:lstStyle/>
          <a:p>
            <a:pPr eaLnBrk="1" hangingPunct="1">
              <a:lnSpc>
                <a:spcPct val="110000"/>
              </a:lnSpc>
              <a:buFont typeface="Monotype Sorts" pitchFamily="2" charset="2"/>
              <a:buNone/>
            </a:pPr>
            <a:r>
              <a:rPr lang="en-US" altLang="zh-CN" sz="2400" b="0" dirty="0"/>
              <a:t>The 17~18th century: Study of crystal morphology and the preliminarily study on geometric laws of the internal structure of crystals began.</a:t>
            </a:r>
          </a:p>
        </p:txBody>
      </p:sp>
      <p:sp>
        <p:nvSpPr>
          <p:cNvPr id="138244"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3824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222" y="2708920"/>
            <a:ext cx="3279960" cy="244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824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4088" y="4743502"/>
            <a:ext cx="3312368" cy="1919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pic>
        <p:nvPicPr>
          <p:cNvPr id="138249"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95936" y="4916488"/>
            <a:ext cx="931651" cy="1847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pic>
        <p:nvPicPr>
          <p:cNvPr id="9"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2114" y="5213241"/>
            <a:ext cx="1584176" cy="15830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73"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2708920"/>
            <a:ext cx="2699367" cy="17900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5298" name="Rectangle 2"/>
          <p:cNvSpPr>
            <a:spLocks noGrp="1" noChangeArrowheads="1"/>
          </p:cNvSpPr>
          <p:nvPr>
            <p:ph type="title"/>
          </p:nvPr>
        </p:nvSpPr>
        <p:spPr>
          <a:xfrm>
            <a:off x="1090613" y="396875"/>
            <a:ext cx="7539037"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History of crystallography</a:t>
            </a:r>
            <a:endParaRPr kumimoji="1" lang="zh-CN" altLang="en-US" sz="3200" dirty="0">
              <a:solidFill>
                <a:srgbClr val="C00000"/>
              </a:solidFill>
            </a:endParaRPr>
          </a:p>
        </p:txBody>
      </p:sp>
      <p:sp>
        <p:nvSpPr>
          <p:cNvPr id="139267" name="Rectangle 3"/>
          <p:cNvSpPr>
            <a:spLocks noGrp="1" noChangeArrowheads="1"/>
          </p:cNvSpPr>
          <p:nvPr>
            <p:ph idx="1"/>
          </p:nvPr>
        </p:nvSpPr>
        <p:spPr>
          <a:xfrm>
            <a:off x="611188" y="1340768"/>
            <a:ext cx="8064500" cy="4537075"/>
          </a:xfrm>
        </p:spPr>
        <p:txBody>
          <a:bodyPr/>
          <a:lstStyle/>
          <a:p>
            <a:pPr eaLnBrk="1" hangingPunct="1">
              <a:lnSpc>
                <a:spcPct val="110000"/>
              </a:lnSpc>
              <a:buFont typeface="Monotype Sorts" pitchFamily="2" charset="2"/>
              <a:buNone/>
            </a:pPr>
            <a:r>
              <a:rPr lang="en-US" altLang="zh-CN" sz="2400" b="0" dirty="0"/>
              <a:t>At the end of 19 century to early 20th century: the finding of X-ray and its applications on crystal structure measurement lead to the research into the internal structure of crystals;</a:t>
            </a:r>
          </a:p>
        </p:txBody>
      </p:sp>
      <p:sp>
        <p:nvSpPr>
          <p:cNvPr id="139268"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3926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4788" y="5449260"/>
            <a:ext cx="2592387" cy="135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927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3429000"/>
            <a:ext cx="1590675"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9271"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5702" y="2657794"/>
            <a:ext cx="1503859" cy="15038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9272" name="Rectangle 1"/>
          <p:cNvSpPr>
            <a:spLocks noChangeArrowheads="1"/>
          </p:cNvSpPr>
          <p:nvPr/>
        </p:nvSpPr>
        <p:spPr bwMode="auto">
          <a:xfrm>
            <a:off x="796925" y="5541963"/>
            <a:ext cx="136287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2400" b="0" dirty="0">
                <a:latin typeface="Times New Roman" panose="02020603050405020304" pitchFamily="18" charset="0"/>
                <a:ea typeface="宋体" panose="02010600030101010101" pitchFamily="2" charset="-122"/>
              </a:rPr>
              <a:t>Roentgen</a:t>
            </a:r>
          </a:p>
          <a:p>
            <a:pPr eaLnBrk="1" hangingPunct="1">
              <a:spcBef>
                <a:spcPct val="0"/>
              </a:spcBef>
              <a:spcAft>
                <a:spcPct val="0"/>
              </a:spcAft>
              <a:buFontTx/>
              <a:buNone/>
            </a:pPr>
            <a:r>
              <a:rPr lang="en-US" altLang="en-US" sz="2400" b="0" dirty="0">
                <a:latin typeface="Times New Roman" panose="02020603050405020304" pitchFamily="18" charset="0"/>
                <a:ea typeface="宋体" panose="02010600030101010101" pitchFamily="2" charset="-122"/>
              </a:rPr>
              <a:t>(</a:t>
            </a:r>
            <a:r>
              <a:rPr lang="zh-CN" altLang="en-US" sz="2400" b="0" dirty="0">
                <a:latin typeface="Times New Roman" panose="02020603050405020304" pitchFamily="18" charset="0"/>
                <a:ea typeface="宋体" panose="02010600030101010101" pitchFamily="2" charset="-122"/>
              </a:rPr>
              <a:t>德</a:t>
            </a:r>
            <a:r>
              <a:rPr lang="en-US" altLang="zh-CN" sz="2400" b="0" dirty="0">
                <a:latin typeface="Times New Roman" panose="02020603050405020304" pitchFamily="18" charset="0"/>
                <a:ea typeface="宋体" panose="02010600030101010101" pitchFamily="2" charset="-122"/>
              </a:rPr>
              <a:t>)</a:t>
            </a:r>
            <a:r>
              <a:rPr lang="zh-CN" altLang="en-US" sz="2400" b="0" dirty="0">
                <a:latin typeface="Times New Roman" panose="02020603050405020304" pitchFamily="18" charset="0"/>
                <a:ea typeface="宋体" panose="02010600030101010101" pitchFamily="2" charset="-122"/>
              </a:rPr>
              <a:t>伦琴</a:t>
            </a:r>
            <a:endParaRPr lang="en-US" altLang="en-US" sz="2400" b="0" dirty="0">
              <a:latin typeface="Times New Roman" panose="02020603050405020304" pitchFamily="18" charset="0"/>
              <a:ea typeface="宋体" panose="02010600030101010101" pitchFamily="2" charset="-122"/>
            </a:endParaRPr>
          </a:p>
        </p:txBody>
      </p:sp>
      <p:sp>
        <p:nvSpPr>
          <p:cNvPr id="2" name="TextBox 1"/>
          <p:cNvSpPr txBox="1"/>
          <p:nvPr/>
        </p:nvSpPr>
        <p:spPr>
          <a:xfrm>
            <a:off x="4182835" y="5105742"/>
            <a:ext cx="1946367" cy="461665"/>
          </a:xfrm>
          <a:prstGeom prst="rect">
            <a:avLst/>
          </a:prstGeom>
          <a:noFill/>
        </p:spPr>
        <p:txBody>
          <a:bodyPr wrap="none" rtlCol="0">
            <a:spAutoFit/>
          </a:bodyPr>
          <a:lstStyle/>
          <a:p>
            <a:r>
              <a:rPr lang="zh-CN" altLang="en-US" dirty="0"/>
              <a:t>特征</a:t>
            </a:r>
            <a:r>
              <a:rPr lang="en-US" altLang="zh-CN" dirty="0"/>
              <a:t>X</a:t>
            </a:r>
            <a:r>
              <a:rPr lang="zh-CN" altLang="en-US" dirty="0"/>
              <a:t>射线？</a:t>
            </a:r>
            <a:endParaRPr lang="en-US" dirty="0"/>
          </a:p>
        </p:txBody>
      </p:sp>
      <p:pic>
        <p:nvPicPr>
          <p:cNvPr id="205826" name="Picture 2"/>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7837" t="4813" r="6147" b="7075"/>
          <a:stretch>
            <a:fillRect/>
          </a:stretch>
        </p:blipFill>
        <p:spPr bwMode="auto">
          <a:xfrm>
            <a:off x="7597612" y="2018065"/>
            <a:ext cx="1253479" cy="17900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395536" y="6380059"/>
            <a:ext cx="2419252" cy="461665"/>
          </a:xfrm>
          <a:prstGeom prst="rect">
            <a:avLst/>
          </a:prstGeom>
        </p:spPr>
        <p:txBody>
          <a:bodyPr wrap="none">
            <a:spAutoFit/>
          </a:bodyPr>
          <a:lstStyle/>
          <a:p>
            <a:r>
              <a:rPr lang="el-GR" dirty="0"/>
              <a:t>λ</a:t>
            </a:r>
            <a:r>
              <a:rPr lang="en-US" dirty="0"/>
              <a:t>  0.001～100 </a:t>
            </a:r>
            <a:r>
              <a:rPr lang="en-US" altLang="zh-CN" dirty="0"/>
              <a:t>nm</a:t>
            </a:r>
            <a:endParaRPr lang="en-US" dirty="0"/>
          </a:p>
        </p:txBody>
      </p:sp>
      <p:pic>
        <p:nvPicPr>
          <p:cNvPr id="4" name="图片 3">
            <a:extLst>
              <a:ext uri="{FF2B5EF4-FFF2-40B4-BE49-F238E27FC236}">
                <a16:creationId xmlns:a16="http://schemas.microsoft.com/office/drawing/2014/main" id="{B89ECC5F-EF73-4512-A94C-5D75DDFF152F}"/>
              </a:ext>
            </a:extLst>
          </p:cNvPr>
          <p:cNvPicPr>
            <a:picLocks noChangeAspect="1"/>
          </p:cNvPicPr>
          <p:nvPr/>
        </p:nvPicPr>
        <p:blipFill>
          <a:blip r:embed="rId8"/>
          <a:stretch>
            <a:fillRect/>
          </a:stretch>
        </p:blipFill>
        <p:spPr>
          <a:xfrm>
            <a:off x="5947075" y="5292042"/>
            <a:ext cx="1946367" cy="1509768"/>
          </a:xfrm>
          <a:prstGeom prst="rect">
            <a:avLst/>
          </a:prstGeom>
        </p:spPr>
      </p:pic>
      <p:pic>
        <p:nvPicPr>
          <p:cNvPr id="207874" name="Picture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914321" y="4005838"/>
            <a:ext cx="1973819" cy="1330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文本框 14">
            <a:extLst>
              <a:ext uri="{FF2B5EF4-FFF2-40B4-BE49-F238E27FC236}">
                <a16:creationId xmlns:a16="http://schemas.microsoft.com/office/drawing/2014/main" id="{0B684F61-6844-42B9-AF6A-D9747B9168F7}"/>
              </a:ext>
            </a:extLst>
          </p:cNvPr>
          <p:cNvSpPr txBox="1"/>
          <p:nvPr/>
        </p:nvSpPr>
        <p:spPr>
          <a:xfrm>
            <a:off x="16540" y="22923"/>
            <a:ext cx="5731056" cy="461665"/>
          </a:xfrm>
          <a:prstGeom prst="rect">
            <a:avLst/>
          </a:prstGeom>
          <a:solidFill>
            <a:schemeClr val="tx2">
              <a:lumMod val="20000"/>
              <a:lumOff val="80000"/>
            </a:schemeClr>
          </a:solidFill>
        </p:spPr>
        <p:txBody>
          <a:bodyPr wrap="none" rtlCol="0">
            <a:spAutoFit/>
          </a:bodyPr>
          <a:lstStyle/>
          <a:p>
            <a:r>
              <a:rPr lang="en-US" altLang="zh-CN" dirty="0"/>
              <a:t>Mini Project</a:t>
            </a:r>
            <a:r>
              <a:rPr lang="zh-CN" altLang="en-US" dirty="0"/>
              <a:t>：光的单缝衍射和多缝干涉？</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738" y="2204864"/>
            <a:ext cx="1885950" cy="2952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5298" name="Rectangle 2"/>
          <p:cNvSpPr>
            <a:spLocks noGrp="1" noChangeArrowheads="1"/>
          </p:cNvSpPr>
          <p:nvPr>
            <p:ph type="title"/>
          </p:nvPr>
        </p:nvSpPr>
        <p:spPr>
          <a:xfrm>
            <a:off x="1090613" y="396875"/>
            <a:ext cx="7539037"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History of crystallography</a:t>
            </a:r>
            <a:endParaRPr kumimoji="1" lang="zh-CN" altLang="en-US" sz="3200" dirty="0">
              <a:solidFill>
                <a:srgbClr val="C00000"/>
              </a:solidFill>
            </a:endParaRPr>
          </a:p>
        </p:txBody>
      </p:sp>
      <p:sp>
        <p:nvSpPr>
          <p:cNvPr id="140292" name="Rectangle 3"/>
          <p:cNvSpPr>
            <a:spLocks noGrp="1" noChangeArrowheads="1"/>
          </p:cNvSpPr>
          <p:nvPr>
            <p:ph idx="1"/>
          </p:nvPr>
        </p:nvSpPr>
        <p:spPr>
          <a:xfrm>
            <a:off x="611188" y="1268760"/>
            <a:ext cx="8064500" cy="4537075"/>
          </a:xfrm>
        </p:spPr>
        <p:txBody>
          <a:bodyPr/>
          <a:lstStyle/>
          <a:p>
            <a:pPr eaLnBrk="1" hangingPunct="1">
              <a:lnSpc>
                <a:spcPct val="110000"/>
              </a:lnSpc>
              <a:buFont typeface="Monotype Sorts" pitchFamily="2" charset="2"/>
              <a:buNone/>
            </a:pPr>
            <a:r>
              <a:rPr lang="en-US" altLang="zh-CN" sz="2400" b="0" dirty="0"/>
              <a:t>Since 1970s, the ultrastructures of crystals have been studied by transmission electron microscopy;</a:t>
            </a:r>
          </a:p>
        </p:txBody>
      </p:sp>
      <p:sp>
        <p:nvSpPr>
          <p:cNvPr id="140293"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402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2352502"/>
            <a:ext cx="1508125" cy="2592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0295" name="Picture 3"/>
          <p:cNvPicPr>
            <a:picLocks noChangeAspect="1" noChangeArrowheads="1"/>
          </p:cNvPicPr>
          <p:nvPr/>
        </p:nvPicPr>
        <p:blipFill>
          <a:blip r:embed="rId5">
            <a:extLst>
              <a:ext uri="{28A0092B-C50C-407E-A947-70E740481C1C}">
                <a14:useLocalDpi xmlns:a14="http://schemas.microsoft.com/office/drawing/2010/main" val="0"/>
              </a:ext>
            </a:extLst>
          </a:blip>
          <a:srcRect l="24072" r="19830"/>
          <a:stretch>
            <a:fillRect/>
          </a:stretch>
        </p:blipFill>
        <p:spPr bwMode="auto">
          <a:xfrm>
            <a:off x="1952625" y="2358852"/>
            <a:ext cx="2332038" cy="2493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0296"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4508" y="2410212"/>
            <a:ext cx="2727325" cy="178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0297"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24606" y="3372926"/>
            <a:ext cx="1493837" cy="1466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0298" name="TextBox 1"/>
          <p:cNvSpPr txBox="1">
            <a:spLocks noChangeArrowheads="1"/>
          </p:cNvSpPr>
          <p:nvPr/>
        </p:nvSpPr>
        <p:spPr bwMode="auto">
          <a:xfrm>
            <a:off x="590550" y="5089352"/>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2400" b="0">
                <a:latin typeface="Times New Roman" panose="02020603050405020304" pitchFamily="18" charset="0"/>
                <a:ea typeface="宋体" panose="02010600030101010101" pitchFamily="2" charset="-122"/>
              </a:rPr>
              <a:t>1928</a:t>
            </a:r>
          </a:p>
        </p:txBody>
      </p:sp>
      <p:sp>
        <p:nvSpPr>
          <p:cNvPr id="140299" name="TextBox 1"/>
          <p:cNvSpPr txBox="1">
            <a:spLocks noChangeArrowheads="1"/>
          </p:cNvSpPr>
          <p:nvPr/>
        </p:nvSpPr>
        <p:spPr bwMode="auto">
          <a:xfrm>
            <a:off x="2195513" y="4944889"/>
            <a:ext cx="15097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lang="en-US" altLang="zh-CN" sz="2400" b="0">
                <a:latin typeface="Times New Roman" panose="02020603050405020304" pitchFamily="18" charset="0"/>
                <a:ea typeface="宋体" panose="02010600030101010101" pitchFamily="2" charset="-122"/>
              </a:rPr>
              <a:t>Cs Correct</a:t>
            </a:r>
          </a:p>
          <a:p>
            <a:pPr algn="ctr" eaLnBrk="1" hangingPunct="1">
              <a:spcBef>
                <a:spcPct val="0"/>
              </a:spcBef>
              <a:spcAft>
                <a:spcPct val="0"/>
              </a:spcAft>
              <a:buFontTx/>
              <a:buNone/>
            </a:pPr>
            <a:r>
              <a:rPr lang="en-US" altLang="zh-CN" sz="2400" b="0">
                <a:latin typeface="Times New Roman" panose="02020603050405020304" pitchFamily="18" charset="0"/>
                <a:ea typeface="宋体" panose="02010600030101010101" pitchFamily="2" charset="-122"/>
              </a:rPr>
              <a:t> TEM</a:t>
            </a:r>
            <a:endParaRPr lang="en-US" altLang="en-US" sz="2400" b="0">
              <a:latin typeface="Times New Roman" panose="02020603050405020304" pitchFamily="18" charset="0"/>
              <a:ea typeface="宋体" panose="02010600030101010101" pitchFamily="2" charset="-122"/>
            </a:endParaRPr>
          </a:p>
        </p:txBody>
      </p:sp>
      <p:pic>
        <p:nvPicPr>
          <p:cNvPr id="140300" name="Picture 12"/>
          <p:cNvPicPr>
            <a:picLocks noChangeAspect="1" noChangeArrowheads="1"/>
          </p:cNvPicPr>
          <p:nvPr/>
        </p:nvPicPr>
        <p:blipFill rotWithShape="1">
          <a:blip r:embed="rId8">
            <a:extLst>
              <a:ext uri="{28A0092B-C50C-407E-A947-70E740481C1C}">
                <a14:useLocalDpi xmlns:a14="http://schemas.microsoft.com/office/drawing/2010/main" val="0"/>
              </a:ext>
            </a:extLst>
          </a:blip>
          <a:srcRect/>
          <a:stretch>
            <a:fillRect/>
          </a:stretch>
        </p:blipFill>
        <p:spPr bwMode="auto">
          <a:xfrm>
            <a:off x="5790610" y="4862153"/>
            <a:ext cx="3159070" cy="1916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sp>
        <p:nvSpPr>
          <p:cNvPr id="14" name="文本框 13">
            <a:extLst>
              <a:ext uri="{FF2B5EF4-FFF2-40B4-BE49-F238E27FC236}">
                <a16:creationId xmlns:a16="http://schemas.microsoft.com/office/drawing/2014/main" id="{029D05C5-1123-4B9D-9929-017DC7E01340}"/>
              </a:ext>
            </a:extLst>
          </p:cNvPr>
          <p:cNvSpPr txBox="1"/>
          <p:nvPr/>
        </p:nvSpPr>
        <p:spPr>
          <a:xfrm>
            <a:off x="216567" y="5798989"/>
            <a:ext cx="5313784" cy="892552"/>
          </a:xfrm>
          <a:prstGeom prst="rect">
            <a:avLst/>
          </a:prstGeom>
          <a:solidFill>
            <a:schemeClr val="bg1">
              <a:lumMod val="95000"/>
            </a:schemeClr>
          </a:solidFill>
        </p:spPr>
        <p:txBody>
          <a:bodyPr wrap="square">
            <a:spAutoFit/>
          </a:bodyPr>
          <a:lstStyle/>
          <a:p>
            <a:pPr algn="ctr"/>
            <a:r>
              <a:rPr lang="zh-CN" altLang="en-US" dirty="0"/>
              <a:t>加速的电子</a:t>
            </a:r>
            <a:r>
              <a:rPr lang="en-US" altLang="zh-CN" dirty="0"/>
              <a:t>-</a:t>
            </a:r>
            <a:r>
              <a:rPr lang="zh-CN" altLang="en-US" dirty="0"/>
              <a:t>物质波，又称德布罗意波</a:t>
            </a:r>
            <a:endParaRPr lang="en-US" altLang="zh-CN" dirty="0"/>
          </a:p>
          <a:p>
            <a:pPr algn="ctr"/>
            <a:r>
              <a:rPr lang="el-GR" altLang="zh-CN" sz="2800" dirty="0"/>
              <a:t>λ=</a:t>
            </a:r>
            <a:r>
              <a:rPr lang="en-US" altLang="zh-CN" sz="2800" dirty="0"/>
              <a:t>h/p </a:t>
            </a:r>
            <a:endParaRPr lang="zh-CN" altLang="en-US" sz="2800" dirty="0"/>
          </a:p>
        </p:txBody>
      </p:sp>
      <p:sp>
        <p:nvSpPr>
          <p:cNvPr id="3" name="文本框 2">
            <a:extLst>
              <a:ext uri="{FF2B5EF4-FFF2-40B4-BE49-F238E27FC236}">
                <a16:creationId xmlns:a16="http://schemas.microsoft.com/office/drawing/2014/main" id="{2264C8D4-882D-4B1D-890D-281116905928}"/>
              </a:ext>
            </a:extLst>
          </p:cNvPr>
          <p:cNvSpPr txBox="1"/>
          <p:nvPr/>
        </p:nvSpPr>
        <p:spPr>
          <a:xfrm>
            <a:off x="-15113" y="10890"/>
            <a:ext cx="6962162" cy="461665"/>
          </a:xfrm>
          <a:prstGeom prst="rect">
            <a:avLst/>
          </a:prstGeom>
          <a:solidFill>
            <a:schemeClr val="tx2">
              <a:lumMod val="20000"/>
              <a:lumOff val="80000"/>
            </a:schemeClr>
          </a:solidFill>
        </p:spPr>
        <p:txBody>
          <a:bodyPr wrap="none" rtlCol="0">
            <a:spAutoFit/>
          </a:bodyPr>
          <a:lstStyle/>
          <a:p>
            <a:r>
              <a:rPr lang="en-US" altLang="zh-CN" dirty="0"/>
              <a:t>Mini Project</a:t>
            </a:r>
            <a:r>
              <a:rPr lang="zh-CN" altLang="en-US" dirty="0"/>
              <a:t>：透射显微镜的发展历史和基本原理？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090613" y="396875"/>
            <a:ext cx="7539037"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History of crystallography</a:t>
            </a:r>
            <a:endParaRPr kumimoji="1" lang="zh-CN" altLang="en-US" sz="3200" dirty="0">
              <a:solidFill>
                <a:srgbClr val="C00000"/>
              </a:solidFill>
            </a:endParaRPr>
          </a:p>
        </p:txBody>
      </p:sp>
      <p:sp>
        <p:nvSpPr>
          <p:cNvPr id="141315" name="Rectangle 3"/>
          <p:cNvSpPr>
            <a:spLocks noGrp="1" noChangeArrowheads="1"/>
          </p:cNvSpPr>
          <p:nvPr>
            <p:ph idx="1"/>
          </p:nvPr>
        </p:nvSpPr>
        <p:spPr>
          <a:xfrm>
            <a:off x="654050" y="1196752"/>
            <a:ext cx="8064500" cy="4537075"/>
          </a:xfrm>
        </p:spPr>
        <p:txBody>
          <a:bodyPr/>
          <a:lstStyle/>
          <a:p>
            <a:pPr eaLnBrk="1" hangingPunct="1">
              <a:lnSpc>
                <a:spcPct val="110000"/>
              </a:lnSpc>
              <a:buFont typeface="Monotype Sorts" pitchFamily="2" charset="2"/>
              <a:buNone/>
            </a:pPr>
            <a:r>
              <a:rPr lang="en-US" altLang="zh-CN" sz="2400" b="0" dirty="0"/>
              <a:t>In 1980s, the discovery of quasicrystals has opened up </a:t>
            </a:r>
            <a:r>
              <a:rPr lang="en-US" altLang="zh-CN" sz="2400" b="0" dirty="0">
                <a:solidFill>
                  <a:srgbClr val="FF0000"/>
                </a:solidFill>
              </a:rPr>
              <a:t>a new field of crystal symmetry theory</a:t>
            </a:r>
            <a:r>
              <a:rPr lang="zh-CN" altLang="en-US" sz="2400" b="0" dirty="0">
                <a:solidFill>
                  <a:srgbClr val="FF0000"/>
                </a:solidFill>
              </a:rPr>
              <a:t>，</a:t>
            </a:r>
            <a:r>
              <a:rPr lang="en-US" altLang="zh-CN" sz="2400" b="0" dirty="0">
                <a:solidFill>
                  <a:srgbClr val="FF0000"/>
                </a:solidFill>
              </a:rPr>
              <a:t>awarded Nobel Prize on Chemistry, 2011</a:t>
            </a:r>
            <a:r>
              <a:rPr lang="en-US" altLang="zh-CN" sz="2400" b="0" dirty="0"/>
              <a:t>.</a:t>
            </a:r>
            <a:endParaRPr lang="zh-CN" altLang="en-US" sz="2400" b="0" dirty="0"/>
          </a:p>
        </p:txBody>
      </p:sp>
      <p:sp>
        <p:nvSpPr>
          <p:cNvPr id="141316"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4131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2565400"/>
            <a:ext cx="3168650" cy="3182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1318" name="Picture 3"/>
          <p:cNvPicPr>
            <a:picLocks noChangeAspect="1" noChangeArrowheads="1"/>
          </p:cNvPicPr>
          <p:nvPr/>
        </p:nvPicPr>
        <p:blipFill>
          <a:blip r:embed="rId4">
            <a:extLst>
              <a:ext uri="{28A0092B-C50C-407E-A947-70E740481C1C}">
                <a14:useLocalDpi xmlns:a14="http://schemas.microsoft.com/office/drawing/2010/main" val="0"/>
              </a:ext>
            </a:extLst>
          </a:blip>
          <a:srcRect l="14867" t="6416" r="14023" b="57967"/>
          <a:stretch>
            <a:fillRect/>
          </a:stretch>
        </p:blipFill>
        <p:spPr bwMode="auto">
          <a:xfrm>
            <a:off x="4572000" y="2565400"/>
            <a:ext cx="3144838" cy="3182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1319" name="Rectangle 1"/>
          <p:cNvSpPr>
            <a:spLocks noChangeArrowheads="1"/>
          </p:cNvSpPr>
          <p:nvPr/>
        </p:nvSpPr>
        <p:spPr bwMode="auto">
          <a:xfrm>
            <a:off x="827088" y="5805488"/>
            <a:ext cx="75850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1800" b="0" dirty="0">
                <a:latin typeface="Times New Roman" panose="02020603050405020304" pitchFamily="18" charset="0"/>
                <a:ea typeface="宋体" panose="02010600030101010101" pitchFamily="2" charset="-122"/>
              </a:rPr>
              <a:t>Atomic image of a micron-sized grain of the natural Al71Ni24Fe5 quasicrystal (shown in the inset) from a </a:t>
            </a:r>
            <a:r>
              <a:rPr lang="en-US" altLang="en-US" sz="1800" b="0" dirty="0" err="1">
                <a:latin typeface="Times New Roman" panose="02020603050405020304" pitchFamily="18" charset="0"/>
                <a:ea typeface="宋体" panose="02010600030101010101" pitchFamily="2" charset="-122"/>
              </a:rPr>
              <a:t>Khatyrka</a:t>
            </a:r>
            <a:r>
              <a:rPr lang="en-US" altLang="en-US" sz="1800" b="0" dirty="0">
                <a:latin typeface="Times New Roman" panose="02020603050405020304" pitchFamily="18" charset="0"/>
                <a:ea typeface="宋体" panose="02010600030101010101" pitchFamily="2" charset="-122"/>
              </a:rPr>
              <a:t> meteorite. The corresponding diffraction patterns reveal a </a:t>
            </a:r>
            <a:r>
              <a:rPr lang="en-US" altLang="en-US" sz="1800" dirty="0">
                <a:latin typeface="Times New Roman" panose="02020603050405020304" pitchFamily="18" charset="0"/>
                <a:ea typeface="宋体" panose="02010600030101010101" pitchFamily="2" charset="-122"/>
              </a:rPr>
              <a:t>ten-fold</a:t>
            </a:r>
            <a:r>
              <a:rPr lang="en-US" altLang="en-US" sz="1800" b="0" dirty="0">
                <a:latin typeface="Times New Roman" panose="02020603050405020304" pitchFamily="18" charset="0"/>
                <a:ea typeface="宋体" panose="02010600030101010101" pitchFamily="2" charset="-122"/>
              </a:rPr>
              <a:t> symmetry</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554163" y="65088"/>
            <a:ext cx="6142037" cy="107791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The relationships with</a:t>
            </a:r>
            <a:br>
              <a:rPr kumimoji="1" lang="en-US" altLang="zh-CN" sz="3200" dirty="0">
                <a:solidFill>
                  <a:srgbClr val="C00000"/>
                </a:solidFill>
              </a:rPr>
            </a:br>
            <a:r>
              <a:rPr kumimoji="1" lang="en-US" altLang="zh-CN" sz="3200" dirty="0">
                <a:solidFill>
                  <a:srgbClr val="C00000"/>
                </a:solidFill>
              </a:rPr>
              <a:t> other subjects</a:t>
            </a:r>
            <a:endParaRPr kumimoji="1" lang="zh-CN" altLang="en-US" sz="3200" dirty="0">
              <a:solidFill>
                <a:srgbClr val="C00000"/>
              </a:solidFill>
            </a:endParaRPr>
          </a:p>
        </p:txBody>
      </p:sp>
      <p:sp>
        <p:nvSpPr>
          <p:cNvPr id="142339"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4234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518" y="1270000"/>
            <a:ext cx="6913563" cy="5183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ounded Rectangle 1"/>
          <p:cNvSpPr/>
          <p:nvPr/>
        </p:nvSpPr>
        <p:spPr>
          <a:xfrm>
            <a:off x="3563938" y="1341438"/>
            <a:ext cx="1122362" cy="5040312"/>
          </a:xfrm>
          <a:prstGeom prst="roundRect">
            <a:avLst/>
          </a:prstGeom>
          <a:noFill/>
          <a:ln>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val 44"/>
          <p:cNvSpPr/>
          <p:nvPr/>
        </p:nvSpPr>
        <p:spPr>
          <a:xfrm>
            <a:off x="3747086" y="4447877"/>
            <a:ext cx="3456384" cy="3456384"/>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438904" y="3798777"/>
            <a:ext cx="3456384" cy="3456384"/>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p:cNvSpPr/>
          <p:nvPr/>
        </p:nvSpPr>
        <p:spPr>
          <a:xfrm>
            <a:off x="5997988" y="1264077"/>
            <a:ext cx="2750476" cy="2853623"/>
          </a:xfrm>
          <a:prstGeom prst="roundRect">
            <a:avLst>
              <a:gd name="adj" fmla="val 3776"/>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98" name="Rectangle 2"/>
          <p:cNvSpPr>
            <a:spLocks noGrp="1" noChangeArrowheads="1"/>
          </p:cNvSpPr>
          <p:nvPr>
            <p:ph type="title"/>
          </p:nvPr>
        </p:nvSpPr>
        <p:spPr>
          <a:xfrm>
            <a:off x="1554163" y="65088"/>
            <a:ext cx="6142037" cy="107791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The relationships with</a:t>
            </a:r>
            <a:br>
              <a:rPr kumimoji="1" lang="en-US" altLang="zh-CN" sz="3200" dirty="0">
                <a:solidFill>
                  <a:srgbClr val="C00000"/>
                </a:solidFill>
              </a:rPr>
            </a:br>
            <a:r>
              <a:rPr kumimoji="1" lang="en-US" altLang="zh-CN" sz="3200" dirty="0">
                <a:solidFill>
                  <a:srgbClr val="C00000"/>
                </a:solidFill>
              </a:rPr>
              <a:t> other subjects</a:t>
            </a:r>
            <a:endParaRPr kumimoji="1" lang="zh-CN" altLang="en-US" sz="3200" dirty="0">
              <a:solidFill>
                <a:srgbClr val="C00000"/>
              </a:solidFill>
            </a:endParaRPr>
          </a:p>
        </p:txBody>
      </p:sp>
      <p:sp>
        <p:nvSpPr>
          <p:cNvPr id="142339"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dirty="0"/>
          </a:p>
        </p:txBody>
      </p:sp>
      <p:sp>
        <p:nvSpPr>
          <p:cNvPr id="3" name="Rectangle 2"/>
          <p:cNvSpPr/>
          <p:nvPr/>
        </p:nvSpPr>
        <p:spPr>
          <a:xfrm>
            <a:off x="7366617" y="6353279"/>
            <a:ext cx="995400" cy="338554"/>
          </a:xfrm>
          <a:prstGeom prst="rect">
            <a:avLst/>
          </a:prstGeom>
          <a:solidFill>
            <a:schemeClr val="bg1">
              <a:lumMod val="95000"/>
            </a:schemeClr>
          </a:solidFill>
          <a:ln>
            <a:solidFill>
              <a:srgbClr val="FF0000"/>
            </a:solidFill>
          </a:ln>
        </p:spPr>
        <p:txBody>
          <a:bodyPr wrap="square">
            <a:spAutoFit/>
          </a:bodyPr>
          <a:lstStyle/>
          <a:p>
            <a:pPr algn="ctr"/>
            <a:r>
              <a:rPr lang="en-US" sz="1600" dirty="0"/>
              <a:t>Material </a:t>
            </a:r>
          </a:p>
        </p:txBody>
      </p:sp>
      <p:sp>
        <p:nvSpPr>
          <p:cNvPr id="4" name="Rectangle 3"/>
          <p:cNvSpPr/>
          <p:nvPr/>
        </p:nvSpPr>
        <p:spPr>
          <a:xfrm>
            <a:off x="3578836" y="1264077"/>
            <a:ext cx="2286000" cy="830997"/>
          </a:xfrm>
          <a:prstGeom prst="rect">
            <a:avLst/>
          </a:prstGeom>
          <a:solidFill>
            <a:schemeClr val="bg2"/>
          </a:solidFill>
          <a:ln>
            <a:solidFill>
              <a:schemeClr val="accent2">
                <a:lumMod val="60000"/>
                <a:lumOff val="40000"/>
              </a:schemeClr>
            </a:solidFill>
          </a:ln>
        </p:spPr>
        <p:txBody>
          <a:bodyPr>
            <a:spAutoFit/>
          </a:bodyPr>
          <a:lstStyle/>
          <a:p>
            <a:pPr algn="ctr"/>
            <a:r>
              <a:rPr lang="en-US" b="1" dirty="0">
                <a:solidFill>
                  <a:srgbClr val="000000"/>
                </a:solidFill>
              </a:rPr>
              <a:t>Symmetry, group theory, </a:t>
            </a:r>
            <a:endParaRPr lang="en-US" b="1" dirty="0"/>
          </a:p>
        </p:txBody>
      </p:sp>
      <p:sp>
        <p:nvSpPr>
          <p:cNvPr id="5" name="Rectangle 4"/>
          <p:cNvSpPr/>
          <p:nvPr/>
        </p:nvSpPr>
        <p:spPr>
          <a:xfrm>
            <a:off x="3578836" y="2398165"/>
            <a:ext cx="2286000" cy="830997"/>
          </a:xfrm>
          <a:prstGeom prst="rect">
            <a:avLst/>
          </a:prstGeom>
          <a:solidFill>
            <a:schemeClr val="bg2"/>
          </a:solidFill>
          <a:ln>
            <a:solidFill>
              <a:schemeClr val="accent2">
                <a:lumMod val="60000"/>
                <a:lumOff val="40000"/>
              </a:schemeClr>
            </a:solidFill>
          </a:ln>
        </p:spPr>
        <p:txBody>
          <a:bodyPr>
            <a:spAutoFit/>
          </a:bodyPr>
          <a:lstStyle/>
          <a:p>
            <a:pPr algn="ctr"/>
            <a:r>
              <a:rPr lang="en-US" b="1" dirty="0">
                <a:solidFill>
                  <a:srgbClr val="000000"/>
                </a:solidFill>
              </a:rPr>
              <a:t>Crystal atomic structure </a:t>
            </a:r>
            <a:endParaRPr lang="en-US" b="1" dirty="0"/>
          </a:p>
        </p:txBody>
      </p:sp>
      <p:sp>
        <p:nvSpPr>
          <p:cNvPr id="6" name="Rectangle 5"/>
          <p:cNvSpPr/>
          <p:nvPr/>
        </p:nvSpPr>
        <p:spPr>
          <a:xfrm>
            <a:off x="3578836" y="3512354"/>
            <a:ext cx="2286000" cy="830997"/>
          </a:xfrm>
          <a:prstGeom prst="rect">
            <a:avLst/>
          </a:prstGeom>
          <a:solidFill>
            <a:schemeClr val="accent2"/>
          </a:solidFill>
          <a:ln>
            <a:solidFill>
              <a:schemeClr val="accent2">
                <a:lumMod val="60000"/>
                <a:lumOff val="40000"/>
              </a:schemeClr>
            </a:solidFill>
          </a:ln>
        </p:spPr>
        <p:txBody>
          <a:bodyPr>
            <a:spAutoFit/>
          </a:bodyPr>
          <a:lstStyle/>
          <a:p>
            <a:pPr algn="ctr"/>
            <a:r>
              <a:rPr lang="en-US" b="1" dirty="0">
                <a:solidFill>
                  <a:srgbClr val="000000"/>
                </a:solidFill>
              </a:rPr>
              <a:t>Actual structure </a:t>
            </a:r>
            <a:endParaRPr lang="en-US" b="1" dirty="0"/>
          </a:p>
        </p:txBody>
      </p:sp>
      <p:sp>
        <p:nvSpPr>
          <p:cNvPr id="7" name="Rectangle 6"/>
          <p:cNvSpPr/>
          <p:nvPr/>
        </p:nvSpPr>
        <p:spPr>
          <a:xfrm>
            <a:off x="3445686" y="4695527"/>
            <a:ext cx="2552302" cy="461665"/>
          </a:xfrm>
          <a:prstGeom prst="rect">
            <a:avLst/>
          </a:prstGeom>
          <a:solidFill>
            <a:schemeClr val="bg2"/>
          </a:solidFill>
          <a:ln>
            <a:solidFill>
              <a:schemeClr val="accent2">
                <a:lumMod val="60000"/>
                <a:lumOff val="40000"/>
              </a:schemeClr>
            </a:solidFill>
          </a:ln>
        </p:spPr>
        <p:txBody>
          <a:bodyPr wrap="none">
            <a:spAutoFit/>
          </a:bodyPr>
          <a:lstStyle/>
          <a:p>
            <a:pPr algn="ctr"/>
            <a:r>
              <a:rPr lang="en-US" b="1" dirty="0">
                <a:solidFill>
                  <a:srgbClr val="000000"/>
                </a:solidFill>
              </a:rPr>
              <a:t>Crystal formation</a:t>
            </a:r>
            <a:endParaRPr lang="en-US" b="1" dirty="0"/>
          </a:p>
        </p:txBody>
      </p:sp>
      <p:sp>
        <p:nvSpPr>
          <p:cNvPr id="9" name="Rectangle 8"/>
          <p:cNvSpPr/>
          <p:nvPr/>
        </p:nvSpPr>
        <p:spPr>
          <a:xfrm>
            <a:off x="400731" y="1332057"/>
            <a:ext cx="2286000" cy="584775"/>
          </a:xfrm>
          <a:prstGeom prst="rect">
            <a:avLst/>
          </a:prstGeom>
          <a:solidFill>
            <a:schemeClr val="bg1">
              <a:lumMod val="95000"/>
            </a:schemeClr>
          </a:solidFill>
          <a:ln>
            <a:solidFill>
              <a:srgbClr val="FF0000"/>
            </a:solidFill>
          </a:ln>
        </p:spPr>
        <p:txBody>
          <a:bodyPr wrap="square">
            <a:spAutoFit/>
          </a:bodyPr>
          <a:lstStyle/>
          <a:p>
            <a:r>
              <a:rPr lang="en-US" sz="1600" dirty="0">
                <a:solidFill>
                  <a:srgbClr val="000000"/>
                </a:solidFill>
              </a:rPr>
              <a:t>Computational mathematics</a:t>
            </a:r>
          </a:p>
        </p:txBody>
      </p:sp>
      <p:sp>
        <p:nvSpPr>
          <p:cNvPr id="10" name="Rectangle 9"/>
          <p:cNvSpPr/>
          <p:nvPr/>
        </p:nvSpPr>
        <p:spPr>
          <a:xfrm>
            <a:off x="2115231" y="2269578"/>
            <a:ext cx="1143000" cy="584775"/>
          </a:xfrm>
          <a:prstGeom prst="rect">
            <a:avLst/>
          </a:prstGeom>
          <a:solidFill>
            <a:schemeClr val="bg1">
              <a:lumMod val="95000"/>
            </a:schemeClr>
          </a:solidFill>
          <a:ln>
            <a:solidFill>
              <a:srgbClr val="FF0000"/>
            </a:solidFill>
          </a:ln>
        </p:spPr>
        <p:txBody>
          <a:bodyPr wrap="square">
            <a:spAutoFit/>
          </a:bodyPr>
          <a:lstStyle/>
          <a:p>
            <a:r>
              <a:rPr lang="en-US" sz="1600" dirty="0">
                <a:solidFill>
                  <a:srgbClr val="000000"/>
                </a:solidFill>
              </a:rPr>
              <a:t>Diffraction method</a:t>
            </a:r>
          </a:p>
        </p:txBody>
      </p:sp>
      <p:sp>
        <p:nvSpPr>
          <p:cNvPr id="11" name="Rectangle 10"/>
          <p:cNvSpPr/>
          <p:nvPr/>
        </p:nvSpPr>
        <p:spPr>
          <a:xfrm>
            <a:off x="400731" y="3040482"/>
            <a:ext cx="1907704" cy="1077218"/>
          </a:xfrm>
          <a:prstGeom prst="rect">
            <a:avLst/>
          </a:prstGeom>
          <a:solidFill>
            <a:schemeClr val="bg2">
              <a:lumMod val="20000"/>
              <a:lumOff val="80000"/>
            </a:schemeClr>
          </a:solidFill>
          <a:ln>
            <a:solidFill>
              <a:srgbClr val="FF0000"/>
            </a:solidFill>
          </a:ln>
        </p:spPr>
        <p:txBody>
          <a:bodyPr wrap="square">
            <a:spAutoFit/>
          </a:bodyPr>
          <a:lstStyle/>
          <a:p>
            <a:r>
              <a:rPr lang="en-US" sz="1600" dirty="0">
                <a:solidFill>
                  <a:srgbClr val="000000"/>
                </a:solidFill>
              </a:rPr>
              <a:t>Molecular biology </a:t>
            </a:r>
          </a:p>
          <a:p>
            <a:r>
              <a:rPr lang="en-US" sz="1600" dirty="0">
                <a:solidFill>
                  <a:srgbClr val="000000"/>
                </a:solidFill>
              </a:rPr>
              <a:t>Polymer</a:t>
            </a:r>
          </a:p>
          <a:p>
            <a:r>
              <a:rPr lang="en-US" sz="1600" dirty="0">
                <a:solidFill>
                  <a:srgbClr val="000000"/>
                </a:solidFill>
              </a:rPr>
              <a:t>Physical metallurgy mineralogy</a:t>
            </a:r>
            <a:endParaRPr lang="en-US" sz="1600" dirty="0"/>
          </a:p>
        </p:txBody>
      </p:sp>
      <p:sp>
        <p:nvSpPr>
          <p:cNvPr id="12" name="Rectangle 11"/>
          <p:cNvSpPr/>
          <p:nvPr/>
        </p:nvSpPr>
        <p:spPr>
          <a:xfrm>
            <a:off x="1259632" y="4579351"/>
            <a:ext cx="1048804" cy="584775"/>
          </a:xfrm>
          <a:prstGeom prst="rect">
            <a:avLst/>
          </a:prstGeom>
          <a:solidFill>
            <a:schemeClr val="bg2">
              <a:lumMod val="20000"/>
              <a:lumOff val="80000"/>
            </a:schemeClr>
          </a:solidFill>
          <a:ln>
            <a:solidFill>
              <a:srgbClr val="FF0000"/>
            </a:solidFill>
          </a:ln>
        </p:spPr>
        <p:txBody>
          <a:bodyPr wrap="square">
            <a:spAutoFit/>
          </a:bodyPr>
          <a:lstStyle/>
          <a:p>
            <a:pPr algn="ctr"/>
            <a:r>
              <a:rPr lang="en-US" sz="1600" dirty="0">
                <a:solidFill>
                  <a:srgbClr val="000000"/>
                </a:solidFill>
              </a:rPr>
              <a:t>Crystal chemistry</a:t>
            </a:r>
            <a:endParaRPr lang="en-US" sz="1600" dirty="0"/>
          </a:p>
        </p:txBody>
      </p:sp>
      <p:sp>
        <p:nvSpPr>
          <p:cNvPr id="13" name="Rectangle 12"/>
          <p:cNvSpPr/>
          <p:nvPr/>
        </p:nvSpPr>
        <p:spPr>
          <a:xfrm>
            <a:off x="6077173" y="1355284"/>
            <a:ext cx="2383259" cy="1569660"/>
          </a:xfrm>
          <a:prstGeom prst="rect">
            <a:avLst/>
          </a:prstGeom>
          <a:solidFill>
            <a:schemeClr val="bg1">
              <a:lumMod val="95000"/>
            </a:schemeClr>
          </a:solidFill>
          <a:ln>
            <a:noFill/>
          </a:ln>
        </p:spPr>
        <p:txBody>
          <a:bodyPr wrap="square">
            <a:spAutoFit/>
          </a:bodyPr>
          <a:lstStyle/>
          <a:p>
            <a:r>
              <a:rPr lang="en-US" sz="1600" dirty="0">
                <a:solidFill>
                  <a:srgbClr val="000000"/>
                </a:solidFill>
              </a:rPr>
              <a:t>Solid state physics, electronic properties, phonon spectrum, particles and particles, </a:t>
            </a:r>
          </a:p>
          <a:p>
            <a:r>
              <a:rPr lang="en-US" sz="1600" dirty="0">
                <a:solidFill>
                  <a:srgbClr val="000000"/>
                </a:solidFill>
              </a:rPr>
              <a:t>The interaction of physical properties</a:t>
            </a:r>
            <a:endParaRPr lang="en-US" sz="1600" dirty="0"/>
          </a:p>
        </p:txBody>
      </p:sp>
      <p:sp>
        <p:nvSpPr>
          <p:cNvPr id="14" name="Rectangle 13"/>
          <p:cNvSpPr/>
          <p:nvPr/>
        </p:nvSpPr>
        <p:spPr>
          <a:xfrm>
            <a:off x="6077173" y="2996952"/>
            <a:ext cx="2467591" cy="830997"/>
          </a:xfrm>
          <a:prstGeom prst="rect">
            <a:avLst/>
          </a:prstGeom>
          <a:solidFill>
            <a:schemeClr val="bg1">
              <a:lumMod val="95000"/>
            </a:schemeClr>
          </a:solidFill>
          <a:ln>
            <a:solidFill>
              <a:srgbClr val="FF0000"/>
            </a:solidFill>
          </a:ln>
        </p:spPr>
        <p:txBody>
          <a:bodyPr wrap="square">
            <a:spAutoFit/>
          </a:bodyPr>
          <a:lstStyle/>
          <a:p>
            <a:r>
              <a:rPr lang="en-US" sz="1600" dirty="0">
                <a:solidFill>
                  <a:srgbClr val="000000"/>
                </a:solidFill>
              </a:rPr>
              <a:t>Crystal physics (electrical, mechanical, optical and magnetic properties</a:t>
            </a:r>
            <a:endParaRPr lang="en-US" sz="1600" dirty="0"/>
          </a:p>
        </p:txBody>
      </p:sp>
      <p:sp>
        <p:nvSpPr>
          <p:cNvPr id="15" name="Rectangle 14"/>
          <p:cNvSpPr/>
          <p:nvPr/>
        </p:nvSpPr>
        <p:spPr>
          <a:xfrm>
            <a:off x="7452320" y="4177565"/>
            <a:ext cx="1512168" cy="1569660"/>
          </a:xfrm>
          <a:prstGeom prst="rect">
            <a:avLst/>
          </a:prstGeom>
          <a:solidFill>
            <a:schemeClr val="bg1">
              <a:lumMod val="95000"/>
            </a:schemeClr>
          </a:solidFill>
          <a:ln>
            <a:solidFill>
              <a:srgbClr val="FF0000"/>
            </a:solidFill>
          </a:ln>
        </p:spPr>
        <p:txBody>
          <a:bodyPr wrap="square">
            <a:spAutoFit/>
          </a:bodyPr>
          <a:lstStyle/>
          <a:p>
            <a:r>
              <a:rPr lang="en-US" sz="1600" dirty="0">
                <a:solidFill>
                  <a:srgbClr val="000000"/>
                </a:solidFill>
              </a:rPr>
              <a:t>Engineering, quantum and semiconductor, electronics, optics, acoustics</a:t>
            </a:r>
          </a:p>
        </p:txBody>
      </p:sp>
      <p:sp>
        <p:nvSpPr>
          <p:cNvPr id="16" name="Rectangle 15"/>
          <p:cNvSpPr/>
          <p:nvPr/>
        </p:nvSpPr>
        <p:spPr>
          <a:xfrm>
            <a:off x="5483020" y="5613387"/>
            <a:ext cx="1346312" cy="584775"/>
          </a:xfrm>
          <a:prstGeom prst="rect">
            <a:avLst/>
          </a:prstGeom>
          <a:solidFill>
            <a:schemeClr val="bg2">
              <a:lumMod val="20000"/>
              <a:lumOff val="80000"/>
            </a:schemeClr>
          </a:solidFill>
        </p:spPr>
        <p:txBody>
          <a:bodyPr wrap="square">
            <a:spAutoFit/>
          </a:bodyPr>
          <a:lstStyle/>
          <a:p>
            <a:pPr lvl="0"/>
            <a:r>
              <a:rPr lang="en-US" sz="1600" dirty="0">
                <a:solidFill>
                  <a:srgbClr val="000000"/>
                </a:solidFill>
              </a:rPr>
              <a:t>Physics and chemistry</a:t>
            </a:r>
          </a:p>
        </p:txBody>
      </p:sp>
      <p:sp>
        <p:nvSpPr>
          <p:cNvPr id="17" name="Rectangle 16"/>
          <p:cNvSpPr/>
          <p:nvPr/>
        </p:nvSpPr>
        <p:spPr>
          <a:xfrm>
            <a:off x="6077173" y="4398203"/>
            <a:ext cx="1312798" cy="830997"/>
          </a:xfrm>
          <a:prstGeom prst="rect">
            <a:avLst/>
          </a:prstGeom>
          <a:solidFill>
            <a:schemeClr val="bg1">
              <a:lumMod val="95000"/>
            </a:schemeClr>
          </a:solidFill>
          <a:ln>
            <a:solidFill>
              <a:srgbClr val="FF0000"/>
            </a:solidFill>
          </a:ln>
        </p:spPr>
        <p:txBody>
          <a:bodyPr wrap="square">
            <a:spAutoFit/>
          </a:bodyPr>
          <a:lstStyle/>
          <a:p>
            <a:r>
              <a:rPr lang="en-US" sz="1600" dirty="0">
                <a:solidFill>
                  <a:srgbClr val="000000"/>
                </a:solidFill>
              </a:rPr>
              <a:t>Industrial synthesis of crystal,</a:t>
            </a:r>
          </a:p>
        </p:txBody>
      </p:sp>
      <p:sp>
        <p:nvSpPr>
          <p:cNvPr id="21" name="Rectangle 20"/>
          <p:cNvSpPr/>
          <p:nvPr/>
        </p:nvSpPr>
        <p:spPr>
          <a:xfrm>
            <a:off x="2688232" y="5343168"/>
            <a:ext cx="1112978" cy="584775"/>
          </a:xfrm>
          <a:prstGeom prst="rect">
            <a:avLst/>
          </a:prstGeom>
          <a:solidFill>
            <a:schemeClr val="bg2">
              <a:lumMod val="20000"/>
              <a:lumOff val="80000"/>
            </a:schemeClr>
          </a:solidFill>
        </p:spPr>
        <p:txBody>
          <a:bodyPr wrap="square">
            <a:spAutoFit/>
          </a:bodyPr>
          <a:lstStyle/>
          <a:p>
            <a:pPr lvl="0" algn="ctr"/>
            <a:r>
              <a:rPr lang="en-US" altLang="zh-CN" sz="1600" dirty="0">
                <a:solidFill>
                  <a:srgbClr val="000000"/>
                </a:solidFill>
              </a:rPr>
              <a:t>Pure materials</a:t>
            </a:r>
            <a:endParaRPr lang="en-US" sz="1600" dirty="0">
              <a:solidFill>
                <a:srgbClr val="000000"/>
              </a:solidFill>
            </a:endParaRPr>
          </a:p>
        </p:txBody>
      </p:sp>
      <p:cxnSp>
        <p:nvCxnSpPr>
          <p:cNvPr id="19" name="Straight Arrow Connector 18"/>
          <p:cNvCxnSpPr>
            <a:stCxn id="9" idx="2"/>
          </p:cNvCxnSpPr>
          <p:nvPr/>
        </p:nvCxnSpPr>
        <p:spPr>
          <a:xfrm>
            <a:off x="1543731" y="1916832"/>
            <a:ext cx="571500" cy="3527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4" idx="1"/>
          </p:cNvCxnSpPr>
          <p:nvPr/>
        </p:nvCxnSpPr>
        <p:spPr>
          <a:xfrm flipH="1">
            <a:off x="3258231" y="1679576"/>
            <a:ext cx="320605" cy="5900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4" idx="3"/>
          </p:cNvCxnSpPr>
          <p:nvPr/>
        </p:nvCxnSpPr>
        <p:spPr>
          <a:xfrm>
            <a:off x="5864836" y="1679576"/>
            <a:ext cx="291340" cy="1652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Down Arrow 26"/>
          <p:cNvSpPr/>
          <p:nvPr/>
        </p:nvSpPr>
        <p:spPr>
          <a:xfrm>
            <a:off x="4590661" y="2061518"/>
            <a:ext cx="216024" cy="25380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own Arrow 30"/>
          <p:cNvSpPr/>
          <p:nvPr/>
        </p:nvSpPr>
        <p:spPr>
          <a:xfrm>
            <a:off x="4590661" y="3205417"/>
            <a:ext cx="216024" cy="25380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own Arrow 31"/>
          <p:cNvSpPr/>
          <p:nvPr/>
        </p:nvSpPr>
        <p:spPr>
          <a:xfrm flipV="1">
            <a:off x="4590661" y="4297098"/>
            <a:ext cx="216024" cy="25380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p:cNvCxnSpPr/>
          <p:nvPr/>
        </p:nvCxnSpPr>
        <p:spPr>
          <a:xfrm flipV="1">
            <a:off x="5673960" y="2348880"/>
            <a:ext cx="482216" cy="5144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14" idx="1"/>
          </p:cNvCxnSpPr>
          <p:nvPr/>
        </p:nvCxnSpPr>
        <p:spPr>
          <a:xfrm flipV="1">
            <a:off x="5673960" y="3412451"/>
            <a:ext cx="403213" cy="2425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5" idx="1"/>
            <a:endCxn id="11" idx="3"/>
          </p:cNvCxnSpPr>
          <p:nvPr/>
        </p:nvCxnSpPr>
        <p:spPr>
          <a:xfrm flipH="1">
            <a:off x="2308435" y="2813664"/>
            <a:ext cx="1270401" cy="7654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2167096" y="4158064"/>
            <a:ext cx="1042273" cy="338554"/>
          </a:xfrm>
          <a:prstGeom prst="rect">
            <a:avLst/>
          </a:prstGeom>
          <a:solidFill>
            <a:schemeClr val="bg2">
              <a:lumMod val="20000"/>
              <a:lumOff val="80000"/>
            </a:schemeClr>
          </a:solidFill>
        </p:spPr>
        <p:txBody>
          <a:bodyPr wrap="square">
            <a:spAutoFit/>
          </a:bodyPr>
          <a:lstStyle/>
          <a:p>
            <a:pPr algn="ctr"/>
            <a:r>
              <a:rPr lang="en-US" sz="1600" dirty="0">
                <a:solidFill>
                  <a:srgbClr val="000000"/>
                </a:solidFill>
              </a:rPr>
              <a:t>Chemistry</a:t>
            </a:r>
          </a:p>
        </p:txBody>
      </p:sp>
      <p:cxnSp>
        <p:nvCxnSpPr>
          <p:cNvPr id="46" name="Straight Arrow Connector 45"/>
          <p:cNvCxnSpPr>
            <a:stCxn id="7" idx="2"/>
          </p:cNvCxnSpPr>
          <p:nvPr/>
        </p:nvCxnSpPr>
        <p:spPr>
          <a:xfrm>
            <a:off x="4721837" y="5157192"/>
            <a:ext cx="761183" cy="4561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rot="19946488">
            <a:off x="5196053" y="4159094"/>
            <a:ext cx="1568018" cy="338554"/>
          </a:xfrm>
          <a:prstGeom prst="rect">
            <a:avLst/>
          </a:prstGeom>
          <a:solidFill>
            <a:schemeClr val="tx2">
              <a:lumMod val="20000"/>
              <a:lumOff val="80000"/>
            </a:schemeClr>
          </a:solidFill>
          <a:ln>
            <a:solidFill>
              <a:schemeClr val="tx2">
                <a:lumMod val="60000"/>
                <a:lumOff val="40000"/>
              </a:schemeClr>
            </a:solidFill>
          </a:ln>
        </p:spPr>
        <p:txBody>
          <a:bodyPr wrap="square">
            <a:spAutoFit/>
          </a:bodyPr>
          <a:lstStyle/>
          <a:p>
            <a:pPr lvl="0"/>
            <a:r>
              <a:rPr lang="en-US" altLang="zh-CN" sz="1600" dirty="0">
                <a:solidFill>
                  <a:srgbClr val="000000"/>
                </a:solidFill>
              </a:rPr>
              <a:t>Phase transition</a:t>
            </a:r>
            <a:endParaRPr lang="en-US" sz="1600" dirty="0">
              <a:solidFill>
                <a:srgbClr val="000000"/>
              </a:solidFill>
            </a:endParaRPr>
          </a:p>
        </p:txBody>
      </p:sp>
      <p:cxnSp>
        <p:nvCxnSpPr>
          <p:cNvPr id="48" name="Straight Arrow Connector 47"/>
          <p:cNvCxnSpPr>
            <a:stCxn id="17" idx="2"/>
            <a:endCxn id="3" idx="0"/>
          </p:cNvCxnSpPr>
          <p:nvPr/>
        </p:nvCxnSpPr>
        <p:spPr>
          <a:xfrm>
            <a:off x="6733572" y="5229200"/>
            <a:ext cx="1130745" cy="112407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6" idx="3"/>
            <a:endCxn id="17" idx="0"/>
          </p:cNvCxnSpPr>
          <p:nvPr/>
        </p:nvCxnSpPr>
        <p:spPr>
          <a:xfrm>
            <a:off x="5864836" y="3927853"/>
            <a:ext cx="868736" cy="4703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3" name="Right Arrow 52"/>
          <p:cNvSpPr/>
          <p:nvPr/>
        </p:nvSpPr>
        <p:spPr>
          <a:xfrm>
            <a:off x="7310968" y="4697678"/>
            <a:ext cx="213360" cy="2714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p:cNvCxnSpPr>
            <a:stCxn id="10" idx="2"/>
            <a:endCxn id="6" idx="1"/>
          </p:cNvCxnSpPr>
          <p:nvPr/>
        </p:nvCxnSpPr>
        <p:spPr>
          <a:xfrm>
            <a:off x="2686731" y="2854353"/>
            <a:ext cx="892105" cy="1073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0" idx="2"/>
          </p:cNvCxnSpPr>
          <p:nvPr/>
        </p:nvCxnSpPr>
        <p:spPr>
          <a:xfrm>
            <a:off x="2686731" y="2854353"/>
            <a:ext cx="758955" cy="1843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5" idx="1"/>
            <a:endCxn id="12" idx="0"/>
          </p:cNvCxnSpPr>
          <p:nvPr/>
        </p:nvCxnSpPr>
        <p:spPr>
          <a:xfrm flipH="1">
            <a:off x="1784034" y="2813664"/>
            <a:ext cx="1794802" cy="17656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4290261" y="5628645"/>
            <a:ext cx="835485" cy="461665"/>
          </a:xfrm>
          <a:prstGeom prst="rect">
            <a:avLst/>
          </a:prstGeom>
        </p:spPr>
        <p:txBody>
          <a:bodyPr wrap="none">
            <a:spAutoFit/>
          </a:bodyPr>
          <a:lstStyle/>
          <a:p>
            <a:pPr lvl="0" algn="ctr"/>
            <a:r>
              <a:rPr lang="en-US" altLang="zh-CN" b="1" dirty="0">
                <a:solidFill>
                  <a:srgbClr val="000000"/>
                </a:solidFill>
              </a:rPr>
              <a:t>LCD</a:t>
            </a:r>
          </a:p>
        </p:txBody>
      </p:sp>
      <p:sp>
        <p:nvSpPr>
          <p:cNvPr id="26" name="Oval 25"/>
          <p:cNvSpPr/>
          <p:nvPr/>
        </p:nvSpPr>
        <p:spPr>
          <a:xfrm>
            <a:off x="4290261" y="5445224"/>
            <a:ext cx="812167" cy="81216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336631" y="6066449"/>
            <a:ext cx="732893" cy="338554"/>
          </a:xfrm>
          <a:prstGeom prst="rect">
            <a:avLst/>
          </a:prstGeom>
          <a:solidFill>
            <a:schemeClr val="bg1">
              <a:lumMod val="95000"/>
            </a:schemeClr>
          </a:solidFill>
          <a:ln>
            <a:solidFill>
              <a:srgbClr val="FF0000"/>
            </a:solidFill>
          </a:ln>
        </p:spPr>
        <p:txBody>
          <a:bodyPr wrap="square">
            <a:spAutoFit/>
          </a:bodyPr>
          <a:lstStyle/>
          <a:p>
            <a:pPr algn="ctr"/>
            <a:r>
              <a:rPr lang="en-US" sz="1600" dirty="0"/>
              <a:t>Liquid</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995363" y="396875"/>
            <a:ext cx="7729537"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content of crystallography</a:t>
            </a:r>
            <a:endParaRPr kumimoji="1" lang="zh-CN" altLang="en-US" sz="3200" dirty="0">
              <a:solidFill>
                <a:srgbClr val="C00000"/>
              </a:solidFill>
            </a:endParaRPr>
          </a:p>
        </p:txBody>
      </p:sp>
      <p:sp>
        <p:nvSpPr>
          <p:cNvPr id="143363"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4" name="Rectangle 3"/>
          <p:cNvSpPr/>
          <p:nvPr/>
        </p:nvSpPr>
        <p:spPr>
          <a:xfrm>
            <a:off x="869950" y="1157288"/>
            <a:ext cx="7632700" cy="511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0" lvl="2" fontAlgn="auto">
              <a:lnSpc>
                <a:spcPct val="110000"/>
              </a:lnSpc>
              <a:spcAft>
                <a:spcPts val="0"/>
              </a:spcAft>
              <a:defRPr/>
            </a:pPr>
            <a:r>
              <a:rPr lang="en-US" altLang="zh-CN" dirty="0">
                <a:latin typeface="+mn-lt"/>
                <a:ea typeface="+mn-ea"/>
              </a:rPr>
              <a:t>Crystallography has several branch subjects such as crystallogeny (</a:t>
            </a:r>
            <a:r>
              <a:rPr lang="zh-CN" altLang="en-US" dirty="0">
                <a:latin typeface="+mn-lt"/>
                <a:ea typeface="+mn-ea"/>
              </a:rPr>
              <a:t>晶体生成学</a:t>
            </a:r>
            <a:r>
              <a:rPr lang="en-US" altLang="zh-CN" dirty="0">
                <a:latin typeface="+mn-lt"/>
                <a:ea typeface="+mn-ea"/>
              </a:rPr>
              <a:t>), geometrical crystallography, crystal structure, crystal chemistry, crystal physics.</a:t>
            </a:r>
            <a:endParaRPr lang="zh-CN" altLang="en-US" dirty="0">
              <a:latin typeface="+mn-lt"/>
              <a:ea typeface="+mn-ea"/>
            </a:endParaRPr>
          </a:p>
          <a:p>
            <a:pPr fontAlgn="auto">
              <a:lnSpc>
                <a:spcPct val="110000"/>
              </a:lnSpc>
              <a:spcBef>
                <a:spcPct val="20000"/>
              </a:spcBef>
              <a:spcAft>
                <a:spcPts val="600"/>
              </a:spcAft>
              <a:buFont typeface="Monotype Sorts" pitchFamily="2" charset="2"/>
              <a:buNone/>
              <a:defRPr/>
            </a:pPr>
            <a:r>
              <a:rPr lang="en-US" dirty="0">
                <a:latin typeface="+mn-lt"/>
                <a:ea typeface="+mn-ea"/>
              </a:rPr>
              <a:t>This course mainly focuses on </a:t>
            </a:r>
            <a:r>
              <a:rPr lang="en-US" b="1" dirty="0">
                <a:latin typeface="+mn-lt"/>
                <a:ea typeface="+mn-ea"/>
              </a:rPr>
              <a:t>crystal morphology, symmetry law</a:t>
            </a:r>
            <a:r>
              <a:rPr lang="en-US" altLang="zh-CN" b="1" dirty="0">
                <a:latin typeface="+mn-lt"/>
                <a:ea typeface="+mn-ea"/>
              </a:rPr>
              <a:t>s</a:t>
            </a:r>
            <a:r>
              <a:rPr lang="en-US" b="1" dirty="0">
                <a:latin typeface="+mn-lt"/>
                <a:ea typeface="+mn-ea"/>
              </a:rPr>
              <a:t> of crystal structure</a:t>
            </a:r>
            <a:r>
              <a:rPr lang="en-US" dirty="0">
                <a:latin typeface="+mn-lt"/>
                <a:ea typeface="+mn-ea"/>
              </a:rPr>
              <a:t>. Crystal growth will also be introduced.</a:t>
            </a:r>
          </a:p>
        </p:txBody>
      </p:sp>
      <p:pic>
        <p:nvPicPr>
          <p:cNvPr id="14336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4293096"/>
            <a:ext cx="2967038" cy="2305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6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4351833"/>
            <a:ext cx="3149600" cy="2187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38213" y="520700"/>
            <a:ext cx="7267575"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Crystals in Nature and Life</a:t>
            </a:r>
            <a:endParaRPr kumimoji="1" lang="zh-CN" altLang="en-US" sz="3200" dirty="0">
              <a:solidFill>
                <a:srgbClr val="C00000"/>
              </a:solidFill>
            </a:endParaRPr>
          </a:p>
        </p:txBody>
      </p:sp>
      <p:sp>
        <p:nvSpPr>
          <p:cNvPr id="144387" name="Line 7"/>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4438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284656"/>
            <a:ext cx="3685700" cy="1925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439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3800" y="1196975"/>
            <a:ext cx="3378200" cy="2528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4395" name="Picture 5"/>
          <p:cNvPicPr>
            <a:picLocks noChangeAspect="1" noChangeArrowheads="1"/>
          </p:cNvPicPr>
          <p:nvPr/>
        </p:nvPicPr>
        <p:blipFill>
          <a:blip r:embed="rId5">
            <a:extLst>
              <a:ext uri="{28A0092B-C50C-407E-A947-70E740481C1C}">
                <a14:useLocalDpi xmlns:a14="http://schemas.microsoft.com/office/drawing/2010/main" val="0"/>
              </a:ext>
            </a:extLst>
          </a:blip>
          <a:srcRect l="2841" t="1630" r="2660" b="18536"/>
          <a:stretch>
            <a:fillRect/>
          </a:stretch>
        </p:blipFill>
        <p:spPr bwMode="auto">
          <a:xfrm>
            <a:off x="395288" y="4005263"/>
            <a:ext cx="4392612" cy="283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4392" name="Group 2"/>
          <p:cNvGrpSpPr/>
          <p:nvPr/>
        </p:nvGrpSpPr>
        <p:grpSpPr bwMode="auto">
          <a:xfrm>
            <a:off x="5180013" y="4049713"/>
            <a:ext cx="3024187" cy="2619375"/>
            <a:chOff x="468313" y="4081463"/>
            <a:chExt cx="3024187" cy="2618740"/>
          </a:xfrm>
        </p:grpSpPr>
        <p:pic>
          <p:nvPicPr>
            <p:cNvPr id="14439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4081463"/>
              <a:ext cx="3024187" cy="2435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4394" name="Rectangle 1"/>
            <p:cNvSpPr>
              <a:spLocks noChangeArrowheads="1"/>
            </p:cNvSpPr>
            <p:nvPr/>
          </p:nvSpPr>
          <p:spPr bwMode="auto">
            <a:xfrm>
              <a:off x="867619" y="6330950"/>
              <a:ext cx="2403222" cy="36925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1800" b="0">
                  <a:latin typeface="Times New Roman" panose="02020603050405020304" pitchFamily="18" charset="0"/>
                  <a:ea typeface="宋体" panose="02010600030101010101" pitchFamily="2" charset="-122"/>
                </a:rPr>
                <a:t>EBSD of </a:t>
              </a:r>
              <a:r>
                <a:rPr lang="en-US" altLang="en-US" sz="1800" b="0">
                  <a:latin typeface="Times New Roman" panose="02020603050405020304" pitchFamily="18" charset="0"/>
                  <a:ea typeface="宋体" panose="02010600030101010101" pitchFamily="2" charset="-122"/>
                </a:rPr>
                <a:t>stainless steel </a:t>
              </a:r>
            </a:p>
          </p:txBody>
        </p:sp>
      </p:grpSp>
      <p:pic>
        <p:nvPicPr>
          <p:cNvPr id="144388"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99792" y="2552464"/>
            <a:ext cx="1804988" cy="13771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6668068" y="1196975"/>
            <a:ext cx="1713931" cy="461665"/>
          </a:xfrm>
          <a:prstGeom prst="rect">
            <a:avLst/>
          </a:prstGeom>
          <a:solidFill>
            <a:schemeClr val="bg1"/>
          </a:solidFill>
        </p:spPr>
        <p:txBody>
          <a:bodyPr wrap="none" rtlCol="0">
            <a:spAutoFit/>
          </a:bodyPr>
          <a:lstStyle/>
          <a:p>
            <a:r>
              <a:rPr lang="en-US" altLang="zh-CN" dirty="0"/>
              <a:t>Rock Candy</a:t>
            </a:r>
            <a:endParaRPr lang="en-US" dirty="0"/>
          </a:p>
        </p:txBody>
      </p:sp>
      <p:sp>
        <p:nvSpPr>
          <p:cNvPr id="3" name="TextBox 2"/>
          <p:cNvSpPr txBox="1"/>
          <p:nvPr/>
        </p:nvSpPr>
        <p:spPr>
          <a:xfrm>
            <a:off x="3987805" y="4221088"/>
            <a:ext cx="800219" cy="338554"/>
          </a:xfrm>
          <a:prstGeom prst="rect">
            <a:avLst/>
          </a:prstGeom>
          <a:solidFill>
            <a:schemeClr val="bg1"/>
          </a:solidFill>
        </p:spPr>
        <p:txBody>
          <a:bodyPr wrap="none" rtlCol="0">
            <a:spAutoFit/>
          </a:bodyPr>
          <a:lstStyle/>
          <a:p>
            <a:r>
              <a:rPr lang="zh-CN" altLang="en-US" sz="1600" dirty="0"/>
              <a:t>斜长石</a:t>
            </a:r>
            <a:endParaRPr lang="en-US" sz="1600" dirty="0"/>
          </a:p>
        </p:txBody>
      </p:sp>
      <p:pic>
        <p:nvPicPr>
          <p:cNvPr id="208898"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47482" y="3929621"/>
            <a:ext cx="1334311" cy="1422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Box 2">
            <a:extLst>
              <a:ext uri="{FF2B5EF4-FFF2-40B4-BE49-F238E27FC236}">
                <a16:creationId xmlns:a16="http://schemas.microsoft.com/office/drawing/2014/main" id="{7C820DC1-C48E-4223-9492-5E0B91072C23}"/>
              </a:ext>
            </a:extLst>
          </p:cNvPr>
          <p:cNvSpPr txBox="1"/>
          <p:nvPr/>
        </p:nvSpPr>
        <p:spPr>
          <a:xfrm>
            <a:off x="127648" y="6240870"/>
            <a:ext cx="800219" cy="338554"/>
          </a:xfrm>
          <a:prstGeom prst="rect">
            <a:avLst/>
          </a:prstGeom>
          <a:solidFill>
            <a:schemeClr val="bg1"/>
          </a:solidFill>
        </p:spPr>
        <p:txBody>
          <a:bodyPr wrap="none" rtlCol="0">
            <a:spAutoFit/>
          </a:bodyPr>
          <a:lstStyle/>
          <a:p>
            <a:r>
              <a:rPr lang="zh-CN" altLang="en-US" sz="1600" dirty="0"/>
              <a:t>斜长石</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38213" y="520700"/>
            <a:ext cx="7267575"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Crystals in Nature and Life</a:t>
            </a:r>
            <a:endParaRPr kumimoji="1" lang="zh-CN" altLang="en-US" sz="3200" dirty="0">
              <a:solidFill>
                <a:srgbClr val="C00000"/>
              </a:solidFill>
            </a:endParaRPr>
          </a:p>
        </p:txBody>
      </p:sp>
      <p:sp>
        <p:nvSpPr>
          <p:cNvPr id="144387" name="Line 7"/>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2109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374642"/>
            <a:ext cx="3763479" cy="2126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09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5304" y="1391275"/>
            <a:ext cx="4746104" cy="40460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094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37325" y="5196388"/>
            <a:ext cx="1427570" cy="106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H="1">
            <a:off x="7524328" y="4509120"/>
            <a:ext cx="216024" cy="7980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8172400" y="4689140"/>
            <a:ext cx="209600" cy="6180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7651962" y="5471575"/>
            <a:ext cx="518797" cy="51879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p:cNvGrpSpPr/>
          <p:nvPr/>
        </p:nvGrpSpPr>
        <p:grpSpPr>
          <a:xfrm>
            <a:off x="4184348" y="4689140"/>
            <a:ext cx="3445306" cy="1772816"/>
            <a:chOff x="0" y="3809022"/>
            <a:chExt cx="5925411" cy="3048978"/>
          </a:xfrm>
        </p:grpSpPr>
        <p:pic>
          <p:nvPicPr>
            <p:cNvPr id="210948"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3809022"/>
              <a:ext cx="4065304" cy="30489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0" name="Straight Arrow Connector 9"/>
            <p:cNvCxnSpPr/>
            <p:nvPr/>
          </p:nvCxnSpPr>
          <p:spPr>
            <a:xfrm flipH="1" flipV="1">
              <a:off x="4065304" y="3861048"/>
              <a:ext cx="1860107" cy="144609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4065304" y="5825939"/>
              <a:ext cx="1860107" cy="1032061"/>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5" name="Down Arrow 14"/>
          <p:cNvSpPr/>
          <p:nvPr/>
        </p:nvSpPr>
        <p:spPr>
          <a:xfrm>
            <a:off x="611560" y="2976970"/>
            <a:ext cx="576064" cy="110010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195736" y="1268760"/>
            <a:ext cx="1781257" cy="461665"/>
          </a:xfrm>
          <a:prstGeom prst="rect">
            <a:avLst/>
          </a:prstGeom>
          <a:noFill/>
        </p:spPr>
        <p:txBody>
          <a:bodyPr wrap="none" rtlCol="0">
            <a:spAutoFit/>
          </a:bodyPr>
          <a:lstStyle/>
          <a:p>
            <a:r>
              <a:rPr lang="en-US" altLang="zh-CN" dirty="0"/>
              <a:t>Silicon Ingot</a:t>
            </a:r>
            <a:endParaRPr lang="en-US" dirty="0"/>
          </a:p>
        </p:txBody>
      </p:sp>
      <p:sp>
        <p:nvSpPr>
          <p:cNvPr id="17" name="TextBox 16"/>
          <p:cNvSpPr txBox="1"/>
          <p:nvPr/>
        </p:nvSpPr>
        <p:spPr>
          <a:xfrm>
            <a:off x="3760140" y="3399383"/>
            <a:ext cx="927883" cy="461665"/>
          </a:xfrm>
          <a:prstGeom prst="rect">
            <a:avLst/>
          </a:prstGeom>
          <a:noFill/>
        </p:spPr>
        <p:txBody>
          <a:bodyPr wrap="none" rtlCol="0">
            <a:spAutoFit/>
          </a:bodyPr>
          <a:lstStyle/>
          <a:p>
            <a:r>
              <a:rPr lang="en-US" altLang="zh-CN" dirty="0"/>
              <a:t>Wafer</a:t>
            </a:r>
            <a:endParaRPr lang="en-US" dirty="0"/>
          </a:p>
        </p:txBody>
      </p:sp>
      <p:sp>
        <p:nvSpPr>
          <p:cNvPr id="32" name="TextBox 31"/>
          <p:cNvSpPr txBox="1"/>
          <p:nvPr/>
        </p:nvSpPr>
        <p:spPr>
          <a:xfrm>
            <a:off x="7741773" y="6303844"/>
            <a:ext cx="782587" cy="461665"/>
          </a:xfrm>
          <a:prstGeom prst="rect">
            <a:avLst/>
          </a:prstGeom>
          <a:noFill/>
        </p:spPr>
        <p:txBody>
          <a:bodyPr wrap="none" rtlCol="0">
            <a:spAutoFit/>
          </a:bodyPr>
          <a:lstStyle/>
          <a:p>
            <a:r>
              <a:rPr lang="en-US" altLang="zh-CN" dirty="0"/>
              <a:t>Chip</a:t>
            </a:r>
            <a:endParaRPr lang="en-US" dirty="0"/>
          </a:p>
        </p:txBody>
      </p:sp>
      <p:sp>
        <p:nvSpPr>
          <p:cNvPr id="18" name="TextBox 17"/>
          <p:cNvSpPr txBox="1"/>
          <p:nvPr/>
        </p:nvSpPr>
        <p:spPr>
          <a:xfrm>
            <a:off x="6438356" y="6377793"/>
            <a:ext cx="936475" cy="461665"/>
          </a:xfrm>
          <a:prstGeom prst="rect">
            <a:avLst/>
          </a:prstGeom>
          <a:noFill/>
        </p:spPr>
        <p:txBody>
          <a:bodyPr wrap="none" rtlCol="0">
            <a:spAutoFit/>
          </a:bodyPr>
          <a:lstStyle/>
          <a:p>
            <a:r>
              <a:rPr lang="en-US" altLang="zh-CN" dirty="0"/>
              <a:t>Inside</a:t>
            </a:r>
            <a:endParaRPr lang="en-US" dirty="0"/>
          </a:p>
        </p:txBody>
      </p:sp>
      <p:cxnSp>
        <p:nvCxnSpPr>
          <p:cNvPr id="22" name="Straight Arrow Connector 21"/>
          <p:cNvCxnSpPr/>
          <p:nvPr/>
        </p:nvCxnSpPr>
        <p:spPr>
          <a:xfrm flipH="1" flipV="1">
            <a:off x="3870983" y="4088707"/>
            <a:ext cx="353098" cy="60043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3870983" y="6461956"/>
            <a:ext cx="353098" cy="40369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554131E9-E19C-469C-9ED9-6FC5092AEF52}"/>
              </a:ext>
            </a:extLst>
          </p:cNvPr>
          <p:cNvPicPr>
            <a:picLocks noChangeAspect="1"/>
          </p:cNvPicPr>
          <p:nvPr/>
        </p:nvPicPr>
        <p:blipFill>
          <a:blip r:embed="rId7"/>
          <a:stretch>
            <a:fillRect/>
          </a:stretch>
        </p:blipFill>
        <p:spPr>
          <a:xfrm>
            <a:off x="29037" y="3986807"/>
            <a:ext cx="3841946" cy="2697046"/>
          </a:xfrm>
          <a:prstGeom prst="rect">
            <a:avLst/>
          </a:prstGeom>
        </p:spPr>
      </p:pic>
      <p:sp>
        <p:nvSpPr>
          <p:cNvPr id="3" name="文本框 2">
            <a:extLst>
              <a:ext uri="{FF2B5EF4-FFF2-40B4-BE49-F238E27FC236}">
                <a16:creationId xmlns:a16="http://schemas.microsoft.com/office/drawing/2014/main" id="{F47CB390-3DE8-441E-8B16-6D8F8918DCE7}"/>
              </a:ext>
            </a:extLst>
          </p:cNvPr>
          <p:cNvSpPr txBox="1"/>
          <p:nvPr/>
        </p:nvSpPr>
        <p:spPr>
          <a:xfrm>
            <a:off x="2434712" y="6202137"/>
            <a:ext cx="1141659" cy="461665"/>
          </a:xfrm>
          <a:prstGeom prst="rect">
            <a:avLst/>
          </a:prstGeom>
          <a:noFill/>
        </p:spPr>
        <p:txBody>
          <a:bodyPr wrap="none" rtlCol="0">
            <a:spAutoFit/>
          </a:bodyPr>
          <a:lstStyle/>
          <a:p>
            <a:r>
              <a:rPr lang="en-US" altLang="zh-CN" dirty="0" err="1"/>
              <a:t>FinFET</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38213" y="520700"/>
            <a:ext cx="7267575"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Crystals in Nature and Life</a:t>
            </a:r>
            <a:endParaRPr kumimoji="1" lang="zh-CN" altLang="en-US" sz="3200" dirty="0">
              <a:solidFill>
                <a:srgbClr val="C00000"/>
              </a:solidFill>
            </a:endParaRPr>
          </a:p>
        </p:txBody>
      </p:sp>
      <p:sp>
        <p:nvSpPr>
          <p:cNvPr id="144387" name="Line 7"/>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2119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412776"/>
            <a:ext cx="5237583" cy="3546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19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112" y="1281024"/>
            <a:ext cx="3218284" cy="17879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694412" y="3345547"/>
            <a:ext cx="3087508" cy="2923877"/>
          </a:xfrm>
          <a:prstGeom prst="rect">
            <a:avLst/>
          </a:prstGeom>
          <a:noFill/>
        </p:spPr>
        <p:txBody>
          <a:bodyPr wrap="square" rtlCol="0">
            <a:spAutoFit/>
          </a:bodyPr>
          <a:lstStyle/>
          <a:p>
            <a:r>
              <a:rPr lang="en-US" sz="2800" dirty="0">
                <a:solidFill>
                  <a:srgbClr val="FF0000"/>
                </a:solidFill>
              </a:rPr>
              <a:t>1</a:t>
            </a:r>
            <a:r>
              <a:rPr lang="en-US" sz="2800" baseline="30000" dirty="0">
                <a:solidFill>
                  <a:srgbClr val="FF0000"/>
                </a:solidFill>
              </a:rPr>
              <a:t>st</a:t>
            </a:r>
            <a:r>
              <a:rPr lang="en-US" sz="2800" dirty="0">
                <a:solidFill>
                  <a:srgbClr val="FF0000"/>
                </a:solidFill>
              </a:rPr>
              <a:t>  Si &amp; Ge </a:t>
            </a:r>
          </a:p>
          <a:p>
            <a:r>
              <a:rPr lang="en-US" sz="2000" dirty="0"/>
              <a:t>(</a:t>
            </a:r>
            <a:r>
              <a:rPr lang="en-US" altLang="zh-CN" sz="2000" dirty="0"/>
              <a:t>ICs)</a:t>
            </a:r>
          </a:p>
          <a:p>
            <a:endParaRPr lang="en-US" sz="2000" dirty="0"/>
          </a:p>
          <a:p>
            <a:r>
              <a:rPr lang="en-US" sz="2800" dirty="0">
                <a:solidFill>
                  <a:srgbClr val="FF0000"/>
                </a:solidFill>
              </a:rPr>
              <a:t>2</a:t>
            </a:r>
            <a:r>
              <a:rPr lang="en-US" sz="2800" baseline="30000" dirty="0">
                <a:solidFill>
                  <a:srgbClr val="FF0000"/>
                </a:solidFill>
              </a:rPr>
              <a:t>nd</a:t>
            </a:r>
            <a:r>
              <a:rPr lang="en-US" sz="2800" dirty="0">
                <a:solidFill>
                  <a:srgbClr val="FF0000"/>
                </a:solidFill>
              </a:rPr>
              <a:t> GaAs </a:t>
            </a:r>
            <a:r>
              <a:rPr lang="en-US" sz="2000" dirty="0"/>
              <a:t>(Optoelectronic system)</a:t>
            </a:r>
          </a:p>
          <a:p>
            <a:endParaRPr lang="en-US" sz="2000" dirty="0"/>
          </a:p>
          <a:p>
            <a:r>
              <a:rPr lang="en-US" sz="2800" b="1" dirty="0">
                <a:solidFill>
                  <a:srgbClr val="FF0000"/>
                </a:solidFill>
              </a:rPr>
              <a:t>3</a:t>
            </a:r>
            <a:r>
              <a:rPr lang="en-US" sz="2800" b="1" baseline="30000" dirty="0">
                <a:solidFill>
                  <a:srgbClr val="FF0000"/>
                </a:solidFill>
              </a:rPr>
              <a:t>rd</a:t>
            </a:r>
            <a:r>
              <a:rPr lang="en-US" sz="2800" b="1" dirty="0">
                <a:solidFill>
                  <a:srgbClr val="FF0000"/>
                </a:solidFill>
              </a:rPr>
              <a:t> </a:t>
            </a:r>
            <a:r>
              <a:rPr lang="en-US" sz="2800" b="1" dirty="0" err="1">
                <a:solidFill>
                  <a:srgbClr val="FF0000"/>
                </a:solidFill>
              </a:rPr>
              <a:t>SiC</a:t>
            </a:r>
            <a:r>
              <a:rPr lang="en-US" sz="2800" b="1" dirty="0">
                <a:solidFill>
                  <a:srgbClr val="FF0000"/>
                </a:solidFill>
              </a:rPr>
              <a:t> &amp; </a:t>
            </a:r>
            <a:r>
              <a:rPr lang="en-US" sz="2800" b="1" dirty="0" err="1">
                <a:solidFill>
                  <a:srgbClr val="FF0000"/>
                </a:solidFill>
              </a:rPr>
              <a:t>GaN</a:t>
            </a:r>
            <a:endParaRPr lang="en-US" sz="2800" b="1" dirty="0">
              <a:solidFill>
                <a:srgbClr val="FF0000"/>
              </a:solidFill>
            </a:endParaRPr>
          </a:p>
          <a:p>
            <a:r>
              <a:rPr lang="en-US" sz="2000" dirty="0"/>
              <a:t>(</a:t>
            </a:r>
            <a:r>
              <a:rPr lang="en-US" altLang="zh-CN" sz="2000" dirty="0"/>
              <a:t>Power Devices)</a:t>
            </a:r>
            <a:endParaRPr lang="en-US" sz="2000" dirty="0"/>
          </a:p>
        </p:txBody>
      </p:sp>
      <p:pic>
        <p:nvPicPr>
          <p:cNvPr id="21197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8103" y="5172064"/>
            <a:ext cx="2160240"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197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8188" y="4926288"/>
            <a:ext cx="2016224" cy="1931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129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548680"/>
            <a:ext cx="7848872" cy="5886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38213" y="520700"/>
            <a:ext cx="7267575"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Crystals in Nature and Life</a:t>
            </a:r>
            <a:endParaRPr kumimoji="1" lang="zh-CN" altLang="en-US" sz="3200" dirty="0">
              <a:solidFill>
                <a:srgbClr val="C00000"/>
              </a:solidFill>
            </a:endParaRPr>
          </a:p>
        </p:txBody>
      </p:sp>
      <p:sp>
        <p:nvSpPr>
          <p:cNvPr id="145411" name="Line 7"/>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45412"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3301" r="9744"/>
          <a:stretch>
            <a:fillRect/>
          </a:stretch>
        </p:blipFill>
        <p:spPr bwMode="auto">
          <a:xfrm>
            <a:off x="352338" y="1977334"/>
            <a:ext cx="2206304" cy="1590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541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1699" y="3443289"/>
            <a:ext cx="2162714" cy="1497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5414" name="Picture 6"/>
          <p:cNvPicPr>
            <a:picLocks noChangeAspect="1" noChangeArrowheads="1"/>
          </p:cNvPicPr>
          <p:nvPr/>
        </p:nvPicPr>
        <p:blipFill>
          <a:blip r:embed="rId5">
            <a:extLst>
              <a:ext uri="{28A0092B-C50C-407E-A947-70E740481C1C}">
                <a14:useLocalDpi xmlns:a14="http://schemas.microsoft.com/office/drawing/2010/main" val="0"/>
              </a:ext>
            </a:extLst>
          </a:blip>
          <a:srcRect l="2646" t="4916" r="2107" b="6561"/>
          <a:stretch>
            <a:fillRect/>
          </a:stretch>
        </p:blipFill>
        <p:spPr bwMode="auto">
          <a:xfrm>
            <a:off x="471422" y="3717032"/>
            <a:ext cx="5528295" cy="27634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5416"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6216" y="1794324"/>
            <a:ext cx="2065809" cy="1547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5417"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43145" y="5264089"/>
            <a:ext cx="2419822" cy="13315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541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7568" y="2132856"/>
            <a:ext cx="2557463" cy="145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9923" name="Picture 3"/>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4350" t="3035" r="29428" b="18781"/>
          <a:stretch>
            <a:fillRect/>
          </a:stretch>
        </p:blipFill>
        <p:spPr bwMode="auto">
          <a:xfrm>
            <a:off x="2839206" y="1299664"/>
            <a:ext cx="1012714" cy="1279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 name="Rectangle 37"/>
          <p:cNvSpPr/>
          <p:nvPr/>
        </p:nvSpPr>
        <p:spPr>
          <a:xfrm>
            <a:off x="3703638" y="2443163"/>
            <a:ext cx="5045075" cy="420370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0" name="Rectangle 39"/>
          <p:cNvSpPr/>
          <p:nvPr/>
        </p:nvSpPr>
        <p:spPr>
          <a:xfrm>
            <a:off x="4189413" y="4941888"/>
            <a:ext cx="4414837" cy="1452562"/>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9" name="Rectangle 38"/>
          <p:cNvSpPr/>
          <p:nvPr/>
        </p:nvSpPr>
        <p:spPr>
          <a:xfrm>
            <a:off x="5237163" y="2484438"/>
            <a:ext cx="3475037" cy="23241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Rectangle 34"/>
          <p:cNvSpPr/>
          <p:nvPr/>
        </p:nvSpPr>
        <p:spPr>
          <a:xfrm>
            <a:off x="636588" y="2451100"/>
            <a:ext cx="2884487" cy="420211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2044700" y="1196975"/>
            <a:ext cx="6203950" cy="1211263"/>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506" name="Rectangle 2"/>
          <p:cNvSpPr>
            <a:spLocks noGrp="1" noChangeArrowheads="1"/>
          </p:cNvSpPr>
          <p:nvPr>
            <p:ph type="title"/>
          </p:nvPr>
        </p:nvSpPr>
        <p:spPr>
          <a:xfrm>
            <a:off x="1731963" y="520700"/>
            <a:ext cx="5680075"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Crystals in research</a:t>
            </a:r>
            <a:endParaRPr kumimoji="1" lang="zh-CN" altLang="en-US" sz="3200" dirty="0">
              <a:solidFill>
                <a:srgbClr val="C00000"/>
              </a:solidFill>
            </a:endParaRPr>
          </a:p>
        </p:txBody>
      </p:sp>
      <p:sp>
        <p:nvSpPr>
          <p:cNvPr id="146440" name="Line 7"/>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46441" name="Picture 2" descr="D:\data from hkust\ZnO nanostructures for MCPF\15AX10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400" y="1303338"/>
            <a:ext cx="1325563"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42" name="Picture 3" descr="D:\data from hkust\ZnO nanostructures for MCPF\S3-108.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1274763"/>
            <a:ext cx="1325562"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43" name="Picture 4" descr="D:\data from hkust\ZnO nanostructures for MCPF\104.T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3675" y="2479675"/>
            <a:ext cx="12954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44" name="Picture 5" descr="D:\data from hkust\ZnO nanostructures for MCPF\112.T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22688" y="2471738"/>
            <a:ext cx="129540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45" name="Picture 6" descr="D:\data from hkust\ZnO nanostructures for MCPF\D613.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73675" y="1303338"/>
            <a:ext cx="1325563"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46" name="Picture 7" descr="D:\data from hkust\ZnO nanostructures for MCPF\043.T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54813" y="1303338"/>
            <a:ext cx="136525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47" name="Picture 8" descr="D:\data from hkust\ZnO nanostructures for MCPF\405.TIF"/>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6975" y="3549650"/>
            <a:ext cx="1296988"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48" name="Picture 9" descr="D:\data from hkust\ZnO nanostructures for MCPF\215.jp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81225" y="4556125"/>
            <a:ext cx="1311275"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49" name="Picture 10" descr="D:\data from hkust\ZnO nanostructures for MCPF\224.TIF"/>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95513" y="3513138"/>
            <a:ext cx="12969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50" name="Picture 11" descr="D:\data from hkust\ZnO nanostructures for MCPF\225.TIF"/>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95513" y="2484438"/>
            <a:ext cx="12969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own Arrow 3"/>
          <p:cNvSpPr/>
          <p:nvPr/>
        </p:nvSpPr>
        <p:spPr>
          <a:xfrm>
            <a:off x="4241800" y="2278063"/>
            <a:ext cx="287338" cy="357187"/>
          </a:xfrm>
          <a:prstGeom prst="downArrow">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Down Arrow 21"/>
          <p:cNvSpPr/>
          <p:nvPr/>
        </p:nvSpPr>
        <p:spPr>
          <a:xfrm rot="3298120">
            <a:off x="3433763" y="2200275"/>
            <a:ext cx="287338" cy="357187"/>
          </a:xfrm>
          <a:prstGeom prst="downArrow">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Down Arrow 22"/>
          <p:cNvSpPr/>
          <p:nvPr/>
        </p:nvSpPr>
        <p:spPr>
          <a:xfrm rot="19322995">
            <a:off x="4975225" y="2260600"/>
            <a:ext cx="287338" cy="357188"/>
          </a:xfrm>
          <a:prstGeom prst="downArrow">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46454" name="Picture 12" descr="D:\data from hkust\ZnO nanostructures for MCPF\C-06.TIF"/>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2788" y="2474913"/>
            <a:ext cx="129540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Down Arrow 24"/>
          <p:cNvSpPr/>
          <p:nvPr/>
        </p:nvSpPr>
        <p:spPr>
          <a:xfrm rot="5400000">
            <a:off x="1900238" y="2751138"/>
            <a:ext cx="288925" cy="358775"/>
          </a:xfrm>
          <a:prstGeom prst="downArrow">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46456" name="Picture 13" descr="D:\data from hkust\ZnO nanostructures for MCPF\A295.TIF"/>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78563" y="3062288"/>
            <a:ext cx="129540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57" name="Picture 14" descr="D:\data from hkust\ZnO nanostructures for MCPF\412.TIF"/>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81225" y="5637213"/>
            <a:ext cx="12954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58" name="Picture 15" descr="D:\data from hkust\ZnO nanostructures for MCPF\1208.TIF"/>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08850" y="3678238"/>
            <a:ext cx="12954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59" name="Picture 16" descr="D:\data from hkust\ZnO nanostructures for MCPF\PH1106.TIF"/>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26288" y="5138738"/>
            <a:ext cx="12954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60" name="Picture 17" descr="D:\data from hkust\ZnO nanostructures for MCPF\PH901.jpg"/>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95963" y="5138738"/>
            <a:ext cx="1277937"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61" name="Picture 18" descr="D:\data from hkust\ZnO nanostructures for MCPF\SI30102.TIF"/>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12788" y="3560763"/>
            <a:ext cx="12954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62" name="Picture 19" descr="D:\data from hkust\ZnO nanostructures for MCPF\318.TIF"/>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12788" y="4605338"/>
            <a:ext cx="1328737"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63" name="Picture 32" descr="D:\Academica writting\writting\The self assembly of ZnO nanocrystals by a smart connection\CVD-78-tetrapod\SMALL07.TIF"/>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25950" y="5138738"/>
            <a:ext cx="12954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07504" y="1412776"/>
            <a:ext cx="1713931" cy="461665"/>
          </a:xfrm>
          <a:prstGeom prst="rect">
            <a:avLst/>
          </a:prstGeom>
          <a:noFill/>
        </p:spPr>
        <p:txBody>
          <a:bodyPr wrap="none" rtlCol="0">
            <a:spAutoFit/>
          </a:bodyPr>
          <a:lstStyle/>
          <a:p>
            <a:r>
              <a:rPr lang="en-US" altLang="zh-CN" b="1" dirty="0"/>
              <a:t>ZnO family</a:t>
            </a:r>
            <a:endParaRPr 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8348" y="115868"/>
            <a:ext cx="5175904" cy="95410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2800" dirty="0">
                <a:solidFill>
                  <a:srgbClr val="C00000"/>
                </a:solidFill>
              </a:rPr>
              <a:t>Crystallography and </a:t>
            </a:r>
            <a:br>
              <a:rPr kumimoji="1" lang="en-US" altLang="zh-CN" sz="2800" dirty="0">
                <a:solidFill>
                  <a:srgbClr val="C00000"/>
                </a:solidFill>
              </a:rPr>
            </a:br>
            <a:r>
              <a:rPr kumimoji="1" lang="en-US" altLang="zh-CN" sz="2800" dirty="0">
                <a:solidFill>
                  <a:srgbClr val="C00000"/>
                </a:solidFill>
              </a:rPr>
              <a:t>materials Science</a:t>
            </a:r>
            <a:endParaRPr kumimoji="1" lang="en-US" sz="2800" dirty="0">
              <a:solidFill>
                <a:srgbClr val="C00000"/>
              </a:solidFill>
            </a:endParaRPr>
          </a:p>
        </p:txBody>
      </p:sp>
      <p:pic>
        <p:nvPicPr>
          <p:cNvPr id="147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007194"/>
            <a:ext cx="5024437" cy="909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746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58888" y="1916113"/>
            <a:ext cx="3065462" cy="237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7461"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9250" y="4395788"/>
            <a:ext cx="2511425" cy="230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746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5575" y="1901825"/>
            <a:ext cx="2643188" cy="469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7463" name="Line 4"/>
          <p:cNvSpPr>
            <a:spLocks noChangeShapeType="1"/>
          </p:cNvSpPr>
          <p:nvPr/>
        </p:nvSpPr>
        <p:spPr bwMode="auto">
          <a:xfrm>
            <a:off x="952938" y="1243407"/>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5" name="TextBox 4"/>
          <p:cNvSpPr txBox="1"/>
          <p:nvPr/>
        </p:nvSpPr>
        <p:spPr>
          <a:xfrm>
            <a:off x="107950" y="2463800"/>
            <a:ext cx="852488" cy="461963"/>
          </a:xfrm>
          <a:prstGeom prst="rect">
            <a:avLst/>
          </a:prstGeom>
          <a:noFill/>
        </p:spPr>
        <p:txBody>
          <a:bodyPr wrap="none">
            <a:spAutoFit/>
          </a:bodyPr>
          <a:lstStyle/>
          <a:p>
            <a:pPr>
              <a:defRPr/>
            </a:pP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rPr>
              <a:t>XRD</a:t>
            </a:r>
            <a:endParaRPr lang="en-US" b="1" dirty="0">
              <a:solidFill>
                <a:srgbClr val="FF0000"/>
              </a:solidFill>
              <a:effectLst>
                <a:outerShdw blurRad="38100" dist="38100" dir="2700000" algn="tl">
                  <a:srgbClr val="000000">
                    <a:alpha val="43137"/>
                  </a:srgbClr>
                </a:outerShdw>
              </a:effectLst>
              <a:latin typeface="Times New Roman" panose="02020603050405020304" pitchFamily="18" charset="0"/>
            </a:endParaRPr>
          </a:p>
        </p:txBody>
      </p:sp>
      <p:sp>
        <p:nvSpPr>
          <p:cNvPr id="12" name="TextBox 11"/>
          <p:cNvSpPr txBox="1"/>
          <p:nvPr/>
        </p:nvSpPr>
        <p:spPr>
          <a:xfrm>
            <a:off x="4284663" y="3797300"/>
            <a:ext cx="1007007" cy="830997"/>
          </a:xfrm>
          <a:prstGeom prst="rect">
            <a:avLst/>
          </a:prstGeom>
          <a:noFill/>
        </p:spPr>
        <p:txBody>
          <a:bodyPr wrap="none">
            <a:spAutoFit/>
          </a:bodyPr>
          <a:lstStyle/>
          <a:p>
            <a:pPr>
              <a:defRPr/>
            </a:pP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rPr>
              <a:t>SAED</a:t>
            </a:r>
          </a:p>
          <a:p>
            <a:pPr>
              <a:defRPr/>
            </a:pPr>
            <a:r>
              <a:rPr lang="en-US" b="1" dirty="0">
                <a:solidFill>
                  <a:srgbClr val="FF0000"/>
                </a:solidFill>
                <a:effectLst>
                  <a:outerShdw blurRad="38100" dist="38100" dir="2700000" algn="tl">
                    <a:srgbClr val="000000">
                      <a:alpha val="43137"/>
                    </a:srgbClr>
                  </a:outerShdw>
                </a:effectLst>
              </a:rPr>
              <a:t>(FFT)</a:t>
            </a:r>
            <a:endParaRPr lang="en-US" b="1" dirty="0">
              <a:solidFill>
                <a:srgbClr val="FF0000"/>
              </a:solidFill>
              <a:effectLst>
                <a:outerShdw blurRad="38100" dist="38100" dir="2700000" algn="tl">
                  <a:srgbClr val="000000">
                    <a:alpha val="43137"/>
                  </a:srgbClr>
                </a:outerShdw>
              </a:effectLst>
              <a:latin typeface="Times New Roman" panose="02020603050405020304" pitchFamily="18" charset="0"/>
            </a:endParaRPr>
          </a:p>
        </p:txBody>
      </p:sp>
      <p:sp>
        <p:nvSpPr>
          <p:cNvPr id="13" name="TextBox 12"/>
          <p:cNvSpPr txBox="1"/>
          <p:nvPr/>
        </p:nvSpPr>
        <p:spPr>
          <a:xfrm>
            <a:off x="4094163" y="5903913"/>
            <a:ext cx="1041400" cy="461962"/>
          </a:xfrm>
          <a:prstGeom prst="rect">
            <a:avLst/>
          </a:prstGeom>
          <a:noFill/>
        </p:spPr>
        <p:txBody>
          <a:bodyPr wrap="none">
            <a:spAutoFit/>
          </a:bodyPr>
          <a:lstStyle/>
          <a:p>
            <a:pPr>
              <a:defRPr/>
            </a:pP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rPr>
              <a:t>CBED</a:t>
            </a:r>
            <a:endParaRPr lang="en-US" b="1" dirty="0">
              <a:solidFill>
                <a:srgbClr val="FF0000"/>
              </a:solidFill>
              <a:effectLst>
                <a:outerShdw blurRad="38100" dist="38100" dir="2700000" algn="tl">
                  <a:srgbClr val="000000">
                    <a:alpha val="43137"/>
                  </a:srgbClr>
                </a:outerShdw>
              </a:effectLst>
              <a:latin typeface="Times New Roman" panose="02020603050405020304" pitchFamily="18" charset="0"/>
            </a:endParaRPr>
          </a:p>
        </p:txBody>
      </p:sp>
      <p:sp>
        <p:nvSpPr>
          <p:cNvPr id="6" name="TextBox 5"/>
          <p:cNvSpPr txBox="1"/>
          <p:nvPr/>
        </p:nvSpPr>
        <p:spPr>
          <a:xfrm>
            <a:off x="6011863" y="1373188"/>
            <a:ext cx="1336675" cy="461962"/>
          </a:xfrm>
          <a:prstGeom prst="rect">
            <a:avLst/>
          </a:prstGeom>
          <a:noFill/>
        </p:spPr>
        <p:txBody>
          <a:bodyPr wrap="none">
            <a:spAutoFit/>
          </a:bodyPr>
          <a:lstStyle/>
          <a:p>
            <a:pPr>
              <a:defRPr/>
            </a:pP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rPr>
              <a:t>HRTEM</a:t>
            </a:r>
            <a:endParaRPr lang="en-US" b="1" dirty="0">
              <a:solidFill>
                <a:srgbClr val="FF0000"/>
              </a:solidFill>
              <a:effectLst>
                <a:outerShdw blurRad="38100" dist="38100" dir="2700000" algn="tl">
                  <a:srgbClr val="000000">
                    <a:alpha val="43137"/>
                  </a:srgbClr>
                </a:outerShdw>
              </a:effectLst>
              <a:latin typeface="Times New Roman" panose="02020603050405020304" pitchFamily="18" charset="0"/>
            </a:endParaRPr>
          </a:p>
        </p:txBody>
      </p:sp>
      <p:cxnSp>
        <p:nvCxnSpPr>
          <p:cNvPr id="8" name="Straight Arrow Connector 7"/>
          <p:cNvCxnSpPr/>
          <p:nvPr/>
        </p:nvCxnSpPr>
        <p:spPr>
          <a:xfrm flipV="1">
            <a:off x="5135563" y="3357563"/>
            <a:ext cx="1957387" cy="43973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flipV="1">
            <a:off x="3995738" y="3571875"/>
            <a:ext cx="431800" cy="2159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846138" y="2482850"/>
            <a:ext cx="412750" cy="10795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235200" y="520700"/>
            <a:ext cx="4673600"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Crystal(concept)</a:t>
            </a:r>
            <a:endParaRPr kumimoji="1" lang="zh-CN" altLang="en-US" sz="3200" dirty="0">
              <a:solidFill>
                <a:srgbClr val="C00000"/>
              </a:solidFill>
            </a:endParaRPr>
          </a:p>
        </p:txBody>
      </p:sp>
      <p:sp>
        <p:nvSpPr>
          <p:cNvPr id="21507" name="Rectangle 3"/>
          <p:cNvSpPr>
            <a:spLocks noGrp="1" noChangeArrowheads="1"/>
          </p:cNvSpPr>
          <p:nvPr>
            <p:ph sz="half" idx="1"/>
          </p:nvPr>
        </p:nvSpPr>
        <p:spPr>
          <a:xfrm>
            <a:off x="611188" y="1412875"/>
            <a:ext cx="8001000" cy="4824413"/>
          </a:xfrm>
        </p:spPr>
        <p:txBody>
          <a:bodyPr rtlCol="0">
            <a:normAutofit fontScale="85000" lnSpcReduction="20000"/>
          </a:bodyPr>
          <a:lstStyle/>
          <a:p>
            <a:pPr algn="just" eaLnBrk="1" fontAlgn="auto" hangingPunct="1">
              <a:buFont typeface="Arial" panose="020B0604020202020204" pitchFamily="34" charset="0"/>
              <a:buNone/>
              <a:defRPr/>
            </a:pPr>
            <a:r>
              <a:rPr lang="en-US" altLang="zh-CN" dirty="0"/>
              <a:t>Crystal(</a:t>
            </a:r>
            <a:r>
              <a:rPr lang="zh-CN" altLang="en-US" dirty="0"/>
              <a:t>晶体</a:t>
            </a:r>
            <a:r>
              <a:rPr lang="en-US" altLang="zh-CN" dirty="0"/>
              <a:t>)</a:t>
            </a:r>
            <a:r>
              <a:rPr lang="zh-CN" altLang="en-US" b="0" dirty="0"/>
              <a:t>：</a:t>
            </a:r>
            <a:r>
              <a:rPr lang="en-US" altLang="zh-CN" sz="2600" u="sng" dirty="0"/>
              <a:t>homogeneous solid containing </a:t>
            </a:r>
            <a:r>
              <a:rPr lang="en-US" altLang="zh-CN" sz="2600" u="sng" dirty="0">
                <a:solidFill>
                  <a:srgbClr val="FF0000"/>
                </a:solidFill>
              </a:rPr>
              <a:t>long-range order</a:t>
            </a:r>
            <a:r>
              <a:rPr lang="en-US" altLang="zh-CN" sz="2600" u="sng" dirty="0"/>
              <a:t> in three dimensional space. </a:t>
            </a:r>
            <a:r>
              <a:rPr lang="en-US" sz="2600" dirty="0"/>
              <a:t>A crystalline solid or a crystal is one in which groups of atoms or ions are bonded to each other in a regular manner to form a periodic array</a:t>
            </a:r>
            <a:r>
              <a:rPr lang="zh-CN" altLang="en-US" sz="2600" dirty="0"/>
              <a:t>（</a:t>
            </a:r>
            <a:r>
              <a:rPr lang="en-US" altLang="zh-CN" sz="2600" dirty="0">
                <a:solidFill>
                  <a:srgbClr val="FF0000"/>
                </a:solidFill>
              </a:rPr>
              <a:t>translational symmetry</a:t>
            </a:r>
            <a:r>
              <a:rPr lang="zh-CN" altLang="en-US" sz="2600" dirty="0"/>
              <a:t>）</a:t>
            </a:r>
            <a:r>
              <a:rPr lang="en-US" sz="2600" dirty="0"/>
              <a:t>. </a:t>
            </a:r>
            <a:endParaRPr lang="en-US" altLang="zh-CN" sz="2600" dirty="0"/>
          </a:p>
          <a:p>
            <a:pPr marL="457200" indent="-457200" algn="just" eaLnBrk="1" fontAlgn="auto" hangingPunct="1">
              <a:lnSpc>
                <a:spcPct val="110000"/>
              </a:lnSpc>
              <a:spcBef>
                <a:spcPts val="600"/>
              </a:spcBef>
              <a:buFont typeface="+mj-lt"/>
              <a:buAutoNum type="arabicParenR"/>
              <a:defRPr/>
            </a:pPr>
            <a:r>
              <a:rPr lang="en-US" sz="2400" b="0" dirty="0"/>
              <a:t>The long-range order of the regular array, or </a:t>
            </a:r>
            <a:r>
              <a:rPr lang="en-US" sz="2400" dirty="0"/>
              <a:t>periodicity</a:t>
            </a:r>
            <a:r>
              <a:rPr lang="en-US" sz="2400" b="0" dirty="0"/>
              <a:t>, is the most important property of crystal</a:t>
            </a:r>
            <a:r>
              <a:rPr lang="en-US" altLang="zh-CN" sz="2400" b="0" dirty="0"/>
              <a:t>s</a:t>
            </a:r>
            <a:r>
              <a:rPr lang="en-US" sz="2400" b="0" dirty="0"/>
              <a:t>. </a:t>
            </a:r>
          </a:p>
          <a:p>
            <a:pPr marL="457200" indent="-457200" algn="just" eaLnBrk="1" fontAlgn="auto" hangingPunct="1">
              <a:lnSpc>
                <a:spcPct val="110000"/>
              </a:lnSpc>
              <a:spcBef>
                <a:spcPts val="600"/>
              </a:spcBef>
              <a:buFont typeface="+mj-lt"/>
              <a:buAutoNum type="arabicParenR"/>
              <a:defRPr/>
            </a:pPr>
            <a:r>
              <a:rPr lang="en-US" sz="2400" b="0" dirty="0"/>
              <a:t>The regular array of atoms in a crystal is manifested by the flat faces of the characteristic polyhedral shape of the crystal. </a:t>
            </a:r>
          </a:p>
          <a:p>
            <a:pPr marL="457200" indent="-457200" algn="just" eaLnBrk="1" fontAlgn="auto" hangingPunct="1">
              <a:lnSpc>
                <a:spcPct val="110000"/>
              </a:lnSpc>
              <a:spcBef>
                <a:spcPts val="600"/>
              </a:spcBef>
              <a:buFont typeface="+mj-lt"/>
              <a:buAutoNum type="arabicParenR"/>
              <a:defRPr/>
            </a:pPr>
            <a:r>
              <a:rPr lang="en-US" sz="2400" b="0" dirty="0"/>
              <a:t>However, crystals are often too small to be seen without a microscope. </a:t>
            </a:r>
          </a:p>
          <a:p>
            <a:pPr marL="457200" indent="-457200" algn="just" eaLnBrk="1" fontAlgn="auto" hangingPunct="1">
              <a:lnSpc>
                <a:spcPct val="110000"/>
              </a:lnSpc>
              <a:spcBef>
                <a:spcPts val="600"/>
              </a:spcBef>
              <a:buFont typeface="+mj-lt"/>
              <a:buAutoNum type="arabicParenR"/>
              <a:defRPr/>
            </a:pPr>
            <a:r>
              <a:rPr lang="en-US" sz="2400" b="0" dirty="0"/>
              <a:t>Many of the materials we are familiar with are composed of a collection of many small crystals. Such materials are termed </a:t>
            </a:r>
            <a:r>
              <a:rPr lang="en-US" sz="2400" dirty="0"/>
              <a:t>polycrystalline</a:t>
            </a:r>
            <a:r>
              <a:rPr lang="en-US" sz="2400" b="0" dirty="0"/>
              <a:t>. </a:t>
            </a:r>
            <a:endParaRPr lang="zh-CN" altLang="en-US" b="0" dirty="0"/>
          </a:p>
        </p:txBody>
      </p:sp>
      <p:sp>
        <p:nvSpPr>
          <p:cNvPr id="148484" name="Line 7"/>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235200" y="520700"/>
            <a:ext cx="4673600"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Crystal(concept)</a:t>
            </a:r>
            <a:endParaRPr kumimoji="1" lang="zh-CN" altLang="en-US" sz="3200" dirty="0">
              <a:solidFill>
                <a:srgbClr val="C00000"/>
              </a:solidFill>
            </a:endParaRPr>
          </a:p>
        </p:txBody>
      </p:sp>
      <p:sp>
        <p:nvSpPr>
          <p:cNvPr id="149507" name="Line 7"/>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3379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492375"/>
            <a:ext cx="3384550" cy="2770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79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3" y="2492375"/>
            <a:ext cx="2400300"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Arrow Connector 3"/>
          <p:cNvCxnSpPr/>
          <p:nvPr/>
        </p:nvCxnSpPr>
        <p:spPr>
          <a:xfrm flipH="1">
            <a:off x="2359025" y="3357563"/>
            <a:ext cx="268288" cy="0"/>
          </a:xfrm>
          <a:prstGeom prst="straightConnector1">
            <a:avLst/>
          </a:prstGeom>
          <a:ln w="28575">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5695950" y="2205038"/>
            <a:ext cx="460375" cy="192087"/>
          </a:xfrm>
          <a:prstGeom prst="straightConnector1">
            <a:avLst/>
          </a:prstGeom>
          <a:ln w="28575">
            <a:solidFill>
              <a:srgbClr val="00B0F0"/>
            </a:solidFill>
            <a:tailEnd type="arrow"/>
          </a:ln>
        </p:spPr>
        <p:style>
          <a:lnRef idx="1">
            <a:schemeClr val="accent1"/>
          </a:lnRef>
          <a:fillRef idx="0">
            <a:schemeClr val="accent1"/>
          </a:fillRef>
          <a:effectRef idx="0">
            <a:schemeClr val="accent1"/>
          </a:effectRef>
          <a:fontRef idx="minor">
            <a:schemeClr val="tx1"/>
          </a:fontRef>
        </p:style>
      </p:cxnSp>
      <p:pic>
        <p:nvPicPr>
          <p:cNvPr id="33800"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00788" y="1249363"/>
            <a:ext cx="2219325" cy="1909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0" name="Straight Arrow Connector 9"/>
          <p:cNvCxnSpPr/>
          <p:nvPr/>
        </p:nvCxnSpPr>
        <p:spPr>
          <a:xfrm>
            <a:off x="4932363" y="5084763"/>
            <a:ext cx="503237" cy="296862"/>
          </a:xfrm>
          <a:prstGeom prst="straightConnector1">
            <a:avLst/>
          </a:prstGeom>
          <a:ln w="28575">
            <a:solidFill>
              <a:srgbClr val="00B0F0"/>
            </a:solidFill>
            <a:tailEnd type="arrow"/>
          </a:ln>
        </p:spPr>
        <p:style>
          <a:lnRef idx="1">
            <a:schemeClr val="accent1"/>
          </a:lnRef>
          <a:fillRef idx="0">
            <a:schemeClr val="accent1"/>
          </a:fillRef>
          <a:effectRef idx="0">
            <a:schemeClr val="accent1"/>
          </a:effectRef>
          <a:fontRef idx="minor">
            <a:schemeClr val="tx1"/>
          </a:fontRef>
        </p:style>
      </p:cxnSp>
      <p:grpSp>
        <p:nvGrpSpPr>
          <p:cNvPr id="33802" name="Group 10"/>
          <p:cNvGrpSpPr/>
          <p:nvPr/>
        </p:nvGrpSpPr>
        <p:grpSpPr bwMode="auto">
          <a:xfrm>
            <a:off x="5589588" y="5148263"/>
            <a:ext cx="1716087" cy="1638300"/>
            <a:chOff x="5423795" y="5290021"/>
            <a:chExt cx="1716544" cy="1637414"/>
          </a:xfrm>
        </p:grpSpPr>
        <p:pic>
          <p:nvPicPr>
            <p:cNvPr id="14951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645746" y="5371455"/>
              <a:ext cx="450080" cy="304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952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4321443" flipH="1">
              <a:off x="5351255" y="5900448"/>
              <a:ext cx="450080" cy="304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9521"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7042725" flipH="1">
              <a:off x="6000699" y="5935758"/>
              <a:ext cx="450080" cy="304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9522"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2110680" flipH="1">
              <a:off x="6690259" y="5290021"/>
              <a:ext cx="450080" cy="304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952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6432123" flipH="1">
              <a:off x="6010376" y="6549895"/>
              <a:ext cx="450080" cy="304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9524"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9153405" flipH="1">
              <a:off x="6640103" y="6077059"/>
              <a:ext cx="450080" cy="304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49515" name="Picture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1638" y="5137150"/>
            <a:ext cx="1619250" cy="1619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9516" name="Rectangle 1"/>
          <p:cNvSpPr>
            <a:spLocks noChangeArrowheads="1"/>
          </p:cNvSpPr>
          <p:nvPr/>
        </p:nvSpPr>
        <p:spPr bwMode="auto">
          <a:xfrm>
            <a:off x="92075" y="1249363"/>
            <a:ext cx="2319338" cy="461962"/>
          </a:xfrm>
          <a:prstGeom prst="rect">
            <a:avLst/>
          </a:prstGeom>
          <a:solidFill>
            <a:schemeClr val="bg1">
              <a:lumMod val="85000"/>
            </a:schemeClr>
          </a:solidFill>
          <a:ln>
            <a:noFill/>
          </a:ln>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b="0" dirty="0">
                <a:solidFill>
                  <a:srgbClr val="0000FF"/>
                </a:solidFill>
                <a:latin typeface="Times New Roman" panose="02020603050405020304" pitchFamily="18" charset="0"/>
                <a:ea typeface="宋体" panose="02010600030101010101" pitchFamily="2" charset="-122"/>
              </a:rPr>
              <a:t> long-range order</a:t>
            </a:r>
            <a:endParaRPr lang="en-US" altLang="en-US" sz="2400" b="0" dirty="0">
              <a:latin typeface="Times New Roman" panose="02020603050405020304" pitchFamily="18" charset="0"/>
              <a:ea typeface="宋体" panose="02010600030101010101" pitchFamily="2" charset="-122"/>
            </a:endParaRPr>
          </a:p>
        </p:txBody>
      </p:sp>
      <p:sp>
        <p:nvSpPr>
          <p:cNvPr id="149517" name="Rectangle 2"/>
          <p:cNvSpPr>
            <a:spLocks noChangeArrowheads="1"/>
          </p:cNvSpPr>
          <p:nvPr/>
        </p:nvSpPr>
        <p:spPr bwMode="auto">
          <a:xfrm>
            <a:off x="92075" y="1710194"/>
            <a:ext cx="2319338" cy="461963"/>
          </a:xfrm>
          <a:prstGeom prst="rect">
            <a:avLst/>
          </a:prstGeom>
          <a:solidFill>
            <a:schemeClr val="bg1">
              <a:lumMod val="85000"/>
            </a:schemeClr>
          </a:solidFill>
          <a:ln>
            <a:noFill/>
          </a:ln>
        </p:spPr>
        <p:txBody>
          <a:bodyPr wrap="squar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b="0" dirty="0">
                <a:solidFill>
                  <a:srgbClr val="0000FF"/>
                </a:solidFill>
                <a:latin typeface="Times New Roman" panose="02020603050405020304" pitchFamily="18" charset="0"/>
                <a:ea typeface="宋体" panose="02010600030101010101" pitchFamily="2" charset="-122"/>
              </a:rPr>
              <a:t>short-range order</a:t>
            </a:r>
            <a:endParaRPr lang="en-US" altLang="en-US" sz="2400" b="0" dirty="0">
              <a:latin typeface="Times New Roman" panose="02020603050405020304" pitchFamily="18" charset="0"/>
              <a:ea typeface="宋体" panose="02010600030101010101" pitchFamily="2" charset="-122"/>
            </a:endParaRPr>
          </a:p>
        </p:txBody>
      </p:sp>
      <p:sp>
        <p:nvSpPr>
          <p:cNvPr id="149518" name="Rectangle 4"/>
          <p:cNvSpPr>
            <a:spLocks noChangeArrowheads="1"/>
          </p:cNvSpPr>
          <p:nvPr/>
        </p:nvSpPr>
        <p:spPr bwMode="auto">
          <a:xfrm>
            <a:off x="2987824" y="1404937"/>
            <a:ext cx="3514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2400" b="0" dirty="0">
                <a:latin typeface="Times New Roman" panose="02020603050405020304" pitchFamily="18" charset="0"/>
                <a:ea typeface="宋体" panose="02010600030101010101" pitchFamily="2" charset="-122"/>
              </a:rPr>
              <a:t>hydrogen peroxide(H</a:t>
            </a:r>
            <a:r>
              <a:rPr lang="en-US" altLang="en-US" sz="2400" b="0" baseline="-25000" dirty="0">
                <a:latin typeface="Times New Roman" panose="02020603050405020304" pitchFamily="18" charset="0"/>
                <a:ea typeface="宋体" panose="02010600030101010101" pitchFamily="2" charset="-122"/>
              </a:rPr>
              <a:t>2</a:t>
            </a:r>
            <a:r>
              <a:rPr lang="en-US" altLang="en-US" sz="2400" b="0" dirty="0">
                <a:latin typeface="Times New Roman" panose="02020603050405020304" pitchFamily="18" charset="0"/>
                <a:ea typeface="宋体" panose="02010600030101010101" pitchFamily="2" charset="-122"/>
              </a:rPr>
              <a:t>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3796"/>
                                        </p:tgtEl>
                                        <p:attrNameLst>
                                          <p:attrName>style.visibility</p:attrName>
                                        </p:attrNameLst>
                                      </p:cBhvr>
                                      <p:to>
                                        <p:strVal val="visible"/>
                                      </p:to>
                                    </p:set>
                                    <p:animEffect transition="in" filter="barn(inVertical)">
                                      <p:cBhvr>
                                        <p:cTn id="7" dur="500"/>
                                        <p:tgtEl>
                                          <p:spTgt spid="33796"/>
                                        </p:tgtEl>
                                      </p:cBhvr>
                                    </p:animEffect>
                                  </p:childTnLst>
                                </p:cTn>
                              </p:par>
                              <p:par>
                                <p:cTn id="8" presetID="16" presetClass="entr" presetSubtype="21" fill="hold" nodeType="withEffect">
                                  <p:stCondLst>
                                    <p:cond delay="0"/>
                                  </p:stCondLst>
                                  <p:childTnLst>
                                    <p:set>
                                      <p:cBhvr>
                                        <p:cTn id="9" dur="1" fill="hold">
                                          <p:stCondLst>
                                            <p:cond delay="0"/>
                                          </p:stCondLst>
                                        </p:cTn>
                                        <p:tgtEl>
                                          <p:spTgt spid="33797"/>
                                        </p:tgtEl>
                                        <p:attrNameLst>
                                          <p:attrName>style.visibility</p:attrName>
                                        </p:attrNameLst>
                                      </p:cBhvr>
                                      <p:to>
                                        <p:strVal val="visible"/>
                                      </p:to>
                                    </p:set>
                                    <p:animEffect transition="in" filter="barn(inVertical)">
                                      <p:cBhvr>
                                        <p:cTn id="10" dur="500"/>
                                        <p:tgtEl>
                                          <p:spTgt spid="33797"/>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par>
                                <p:cTn id="14" presetID="16" presetClass="entr" presetSubtype="21"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inVertical)">
                                      <p:cBhvr>
                                        <p:cTn id="16" dur="500"/>
                                        <p:tgtEl>
                                          <p:spTgt spid="6"/>
                                        </p:tgtEl>
                                      </p:cBhvr>
                                    </p:animEffect>
                                  </p:childTnLst>
                                </p:cTn>
                              </p:par>
                              <p:par>
                                <p:cTn id="17" presetID="16" presetClass="entr" presetSubtype="21" fill="hold" nodeType="withEffect">
                                  <p:stCondLst>
                                    <p:cond delay="0"/>
                                  </p:stCondLst>
                                  <p:childTnLst>
                                    <p:set>
                                      <p:cBhvr>
                                        <p:cTn id="18" dur="1" fill="hold">
                                          <p:stCondLst>
                                            <p:cond delay="0"/>
                                          </p:stCondLst>
                                        </p:cTn>
                                        <p:tgtEl>
                                          <p:spTgt spid="33800"/>
                                        </p:tgtEl>
                                        <p:attrNameLst>
                                          <p:attrName>style.visibility</p:attrName>
                                        </p:attrNameLst>
                                      </p:cBhvr>
                                      <p:to>
                                        <p:strVal val="visible"/>
                                      </p:to>
                                    </p:set>
                                    <p:animEffect transition="in" filter="barn(inVertical)">
                                      <p:cBhvr>
                                        <p:cTn id="19" dur="500"/>
                                        <p:tgtEl>
                                          <p:spTgt spid="33800"/>
                                        </p:tgtEl>
                                      </p:cBhvr>
                                    </p:animEffect>
                                  </p:childTnLst>
                                </p:cTn>
                              </p:par>
                              <p:par>
                                <p:cTn id="20" presetID="16" presetClass="entr" presetSubtype="21"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par>
                                <p:cTn id="23" presetID="16" presetClass="entr" presetSubtype="21" fill="hold" nodeType="withEffect">
                                  <p:stCondLst>
                                    <p:cond delay="0"/>
                                  </p:stCondLst>
                                  <p:childTnLst>
                                    <p:set>
                                      <p:cBhvr>
                                        <p:cTn id="24" dur="1" fill="hold">
                                          <p:stCondLst>
                                            <p:cond delay="0"/>
                                          </p:stCondLst>
                                        </p:cTn>
                                        <p:tgtEl>
                                          <p:spTgt spid="33802"/>
                                        </p:tgtEl>
                                        <p:attrNameLst>
                                          <p:attrName>style.visibility</p:attrName>
                                        </p:attrNameLst>
                                      </p:cBhvr>
                                      <p:to>
                                        <p:strVal val="visible"/>
                                      </p:to>
                                    </p:set>
                                    <p:animEffect transition="in" filter="barn(inVertical)">
                                      <p:cBhvr>
                                        <p:cTn id="25" dur="500"/>
                                        <p:tgtEl>
                                          <p:spTgt spid="33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514350" y="520700"/>
            <a:ext cx="8115300"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Non-crystal and quasicrystal</a:t>
            </a:r>
            <a:endParaRPr kumimoji="1" lang="zh-CN" altLang="en-US" sz="3200" dirty="0">
              <a:solidFill>
                <a:srgbClr val="C00000"/>
              </a:solidFill>
            </a:endParaRPr>
          </a:p>
        </p:txBody>
      </p:sp>
      <p:sp>
        <p:nvSpPr>
          <p:cNvPr id="38915" name="Rectangle 3"/>
          <p:cNvSpPr>
            <a:spLocks noGrp="1" noChangeArrowheads="1"/>
          </p:cNvSpPr>
          <p:nvPr>
            <p:ph sz="half" idx="1"/>
          </p:nvPr>
        </p:nvSpPr>
        <p:spPr>
          <a:xfrm>
            <a:off x="582613" y="1341438"/>
            <a:ext cx="8207375" cy="1371600"/>
          </a:xfrm>
        </p:spPr>
        <p:txBody>
          <a:bodyPr rtlCol="0">
            <a:normAutofit fontScale="92500" lnSpcReduction="10000"/>
          </a:bodyPr>
          <a:lstStyle/>
          <a:p>
            <a:pPr algn="just" eaLnBrk="1" fontAlgn="auto" hangingPunct="1">
              <a:buFont typeface="Arial" panose="020B0604020202020204" pitchFamily="34" charset="0"/>
              <a:buNone/>
              <a:defRPr/>
            </a:pPr>
            <a:r>
              <a:rPr lang="en-US" altLang="zh-CN" sz="2600" dirty="0">
                <a:solidFill>
                  <a:srgbClr val="FF0000"/>
                </a:solidFill>
              </a:rPr>
              <a:t>Non-crystal</a:t>
            </a:r>
            <a:r>
              <a:rPr lang="zh-CN" altLang="en-US" sz="2600" dirty="0">
                <a:solidFill>
                  <a:srgbClr val="FF0000"/>
                </a:solidFill>
              </a:rPr>
              <a:t> </a:t>
            </a:r>
            <a:r>
              <a:rPr lang="en-US" altLang="zh-CN" sz="2600" dirty="0">
                <a:solidFill>
                  <a:srgbClr val="FF0000"/>
                </a:solidFill>
              </a:rPr>
              <a:t>(</a:t>
            </a:r>
            <a:r>
              <a:rPr lang="zh-CN" altLang="en-US" sz="2600" dirty="0">
                <a:solidFill>
                  <a:srgbClr val="FF0000"/>
                </a:solidFill>
              </a:rPr>
              <a:t>非晶体</a:t>
            </a:r>
            <a:r>
              <a:rPr lang="en-US" altLang="zh-CN" sz="2600" dirty="0">
                <a:solidFill>
                  <a:srgbClr val="FF0000"/>
                </a:solidFill>
              </a:rPr>
              <a:t>): </a:t>
            </a:r>
            <a:r>
              <a:rPr lang="en-US" altLang="zh-CN" sz="2400" dirty="0"/>
              <a:t>Solids that internal mass particles are not periodically repeated in three-dimensional space. (glass, rosin, amber, </a:t>
            </a:r>
            <a:r>
              <a:rPr lang="en-US" altLang="zh-CN" sz="2400" i="1" dirty="0" err="1"/>
              <a:t>etc</a:t>
            </a:r>
            <a:r>
              <a:rPr lang="en-US" altLang="zh-CN" sz="2400" dirty="0"/>
              <a:t>). They possess of short-range order but do not have long-range order.</a:t>
            </a:r>
          </a:p>
        </p:txBody>
      </p:sp>
      <p:sp>
        <p:nvSpPr>
          <p:cNvPr id="150532" name="Line 7"/>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grpSp>
        <p:nvGrpSpPr>
          <p:cNvPr id="150533" name="Group 12"/>
          <p:cNvGrpSpPr/>
          <p:nvPr/>
        </p:nvGrpSpPr>
        <p:grpSpPr bwMode="auto">
          <a:xfrm>
            <a:off x="1171575" y="2903538"/>
            <a:ext cx="7029450" cy="2882900"/>
            <a:chOff x="675" y="1824"/>
            <a:chExt cx="4428" cy="1816"/>
          </a:xfrm>
        </p:grpSpPr>
        <p:pic>
          <p:nvPicPr>
            <p:cNvPr id="150536" name="Picture 8" descr="pic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 y="1824"/>
              <a:ext cx="2160" cy="1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0537" name="Picture 9" descr="pic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1" y="1824"/>
              <a:ext cx="2112" cy="1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0534" name="Text Box 10"/>
          <p:cNvSpPr txBox="1">
            <a:spLocks noChangeArrowheads="1"/>
          </p:cNvSpPr>
          <p:nvPr/>
        </p:nvSpPr>
        <p:spPr bwMode="auto">
          <a:xfrm>
            <a:off x="1403350" y="5949950"/>
            <a:ext cx="29527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spcAft>
                <a:spcPct val="0"/>
              </a:spcAft>
              <a:buFontTx/>
              <a:buNone/>
            </a:pPr>
            <a:r>
              <a:rPr lang="en-US" altLang="zh-CN" sz="1800" b="0">
                <a:latin typeface="Times New Roman" panose="02020603050405020304" pitchFamily="18" charset="0"/>
                <a:ea typeface="宋体" panose="02010600030101010101" pitchFamily="2" charset="-122"/>
              </a:rPr>
              <a:t>Internal structure of α-silica </a:t>
            </a:r>
            <a:endParaRPr lang="zh-CN" altLang="en-US" sz="1800" b="0">
              <a:latin typeface="Times New Roman" panose="02020603050405020304" pitchFamily="18" charset="0"/>
              <a:ea typeface="宋体" panose="02010600030101010101" pitchFamily="2" charset="-122"/>
            </a:endParaRPr>
          </a:p>
        </p:txBody>
      </p:sp>
      <p:sp>
        <p:nvSpPr>
          <p:cNvPr id="150535" name="Text Box 11"/>
          <p:cNvSpPr txBox="1">
            <a:spLocks noChangeArrowheads="1"/>
          </p:cNvSpPr>
          <p:nvPr/>
        </p:nvSpPr>
        <p:spPr bwMode="auto">
          <a:xfrm>
            <a:off x="5003800" y="5940425"/>
            <a:ext cx="31702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1800" b="0">
                <a:latin typeface="Times New Roman" panose="02020603050405020304" pitchFamily="18" charset="0"/>
                <a:ea typeface="宋体" panose="02010600030101010101" pitchFamily="2" charset="-122"/>
              </a:rPr>
              <a:t>Internal structure of SiO</a:t>
            </a:r>
            <a:r>
              <a:rPr lang="en-US" altLang="zh-CN" sz="1800" b="0" baseline="-25000">
                <a:latin typeface="Times New Roman" panose="02020603050405020304" pitchFamily="18" charset="0"/>
                <a:ea typeface="宋体" panose="02010600030101010101" pitchFamily="2" charset="-122"/>
              </a:rPr>
              <a:t>2</a:t>
            </a:r>
            <a:r>
              <a:rPr lang="zh-CN" altLang="en-US" sz="1800" b="0">
                <a:latin typeface="Times New Roman" panose="02020603050405020304" pitchFamily="18" charset="0"/>
                <a:ea typeface="宋体" panose="02010600030101010101" pitchFamily="2" charset="-122"/>
              </a:rPr>
              <a:t> </a:t>
            </a:r>
            <a:r>
              <a:rPr lang="en-US" altLang="zh-CN" sz="1800" b="0">
                <a:latin typeface="Times New Roman" panose="02020603050405020304" pitchFamily="18" charset="0"/>
                <a:ea typeface="宋体" panose="02010600030101010101" pitchFamily="2" charset="-122"/>
              </a:rPr>
              <a:t>glass</a:t>
            </a:r>
            <a:endParaRPr lang="zh-CN" altLang="en-US" sz="1800" b="0">
              <a:latin typeface="Times New Roman" panose="02020603050405020304" pitchFamily="18"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95300" y="490538"/>
            <a:ext cx="8115300"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Non-crystal and quasicrystal</a:t>
            </a:r>
            <a:endParaRPr kumimoji="1" lang="zh-CN" altLang="en-US" sz="3200" dirty="0">
              <a:solidFill>
                <a:srgbClr val="C00000"/>
              </a:solidFill>
            </a:endParaRPr>
          </a:p>
        </p:txBody>
      </p:sp>
      <p:sp>
        <p:nvSpPr>
          <p:cNvPr id="39939" name="Rectangle 3"/>
          <p:cNvSpPr>
            <a:spLocks noGrp="1" noChangeArrowheads="1"/>
          </p:cNvSpPr>
          <p:nvPr>
            <p:ph sz="half" idx="1"/>
          </p:nvPr>
        </p:nvSpPr>
        <p:spPr>
          <a:xfrm>
            <a:off x="438150" y="1417638"/>
            <a:ext cx="5862638" cy="5440362"/>
          </a:xfrm>
        </p:spPr>
        <p:txBody>
          <a:bodyPr rtlCol="0">
            <a:noAutofit/>
          </a:bodyPr>
          <a:lstStyle/>
          <a:p>
            <a:pPr eaLnBrk="1" fontAlgn="auto" hangingPunct="1">
              <a:buFont typeface="Arial" panose="020B0604020202020204" pitchFamily="34" charset="0"/>
              <a:buNone/>
              <a:defRPr/>
            </a:pPr>
            <a:r>
              <a:rPr lang="en-US" altLang="zh-CN" dirty="0">
                <a:solidFill>
                  <a:srgbClr val="FF0066"/>
                </a:solidFill>
                <a:effectLst>
                  <a:outerShdw blurRad="38100" dist="38100" dir="2700000" algn="tl">
                    <a:srgbClr val="000000"/>
                  </a:outerShdw>
                </a:effectLst>
              </a:rPr>
              <a:t>Quasicrystal</a:t>
            </a:r>
            <a:r>
              <a:rPr lang="zh-CN" altLang="en-US" dirty="0">
                <a:solidFill>
                  <a:srgbClr val="FF0066"/>
                </a:solidFill>
                <a:effectLst>
                  <a:outerShdw blurRad="38100" dist="38100" dir="2700000" algn="tl">
                    <a:srgbClr val="000000"/>
                  </a:outerShdw>
                </a:effectLst>
              </a:rPr>
              <a:t>（准晶体）：</a:t>
            </a:r>
            <a:r>
              <a:rPr lang="en-US" altLang="zh-CN" sz="2400" b="0" dirty="0"/>
              <a:t>A quasiperiodic crystal, or quasicrystal, is a structure that </a:t>
            </a:r>
            <a:r>
              <a:rPr lang="en-US" altLang="zh-CN" sz="2400" dirty="0"/>
              <a:t>is ordered but not periodic</a:t>
            </a:r>
            <a:r>
              <a:rPr lang="en-US" altLang="zh-CN" sz="2400" b="0" dirty="0"/>
              <a:t>. A quasicrystalline pattern can continuously fill all available space, but it </a:t>
            </a:r>
            <a:r>
              <a:rPr lang="en-US" altLang="zh-CN" sz="2400" dirty="0"/>
              <a:t>lacks translational symmetry</a:t>
            </a:r>
            <a:r>
              <a:rPr lang="en-US" altLang="zh-CN" sz="2400" b="0" dirty="0"/>
              <a:t>.</a:t>
            </a:r>
          </a:p>
          <a:p>
            <a:pPr eaLnBrk="1" fontAlgn="auto" hangingPunct="1">
              <a:buFont typeface="Arial" panose="020B0604020202020204" pitchFamily="34" charset="0"/>
              <a:buNone/>
              <a:defRPr/>
            </a:pPr>
            <a:r>
              <a:rPr lang="zh-CN" altLang="en-US" sz="2400" b="0" dirty="0"/>
              <a:t> </a:t>
            </a:r>
            <a:r>
              <a:rPr lang="en-US" altLang="zh-CN" sz="2400" b="0" dirty="0"/>
              <a:t>According to the crystallographic restriction theorem</a:t>
            </a:r>
            <a:r>
              <a:rPr lang="zh-CN" altLang="en-US" sz="2400" b="0" dirty="0"/>
              <a:t>，</a:t>
            </a:r>
            <a:r>
              <a:rPr lang="en-US" altLang="zh-CN" sz="2400" b="0" dirty="0"/>
              <a:t>crystals only have </a:t>
            </a:r>
            <a:r>
              <a:rPr lang="en-US" altLang="zh-CN" sz="2400" dirty="0"/>
              <a:t>two, three, four or six fold </a:t>
            </a:r>
            <a:r>
              <a:rPr lang="en-US" altLang="zh-CN" sz="2400" b="0" dirty="0"/>
              <a:t>rotational symmetries, but quasicrystals have other rotational symmetries, such as </a:t>
            </a:r>
            <a:r>
              <a:rPr lang="en-US" altLang="zh-CN" sz="2400" dirty="0"/>
              <a:t>five fold symmetry or higher as more than six fold symmetry</a:t>
            </a:r>
            <a:r>
              <a:rPr lang="en-US" altLang="zh-CN" sz="2400" b="0" dirty="0"/>
              <a:t>.</a:t>
            </a:r>
          </a:p>
        </p:txBody>
      </p:sp>
      <p:sp>
        <p:nvSpPr>
          <p:cNvPr id="151556" name="Line 4"/>
          <p:cNvSpPr>
            <a:spLocks noChangeShapeType="1"/>
          </p:cNvSpPr>
          <p:nvPr/>
        </p:nvSpPr>
        <p:spPr bwMode="auto">
          <a:xfrm>
            <a:off x="971550" y="1112838"/>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51557" name="Picture 5" descr="Untitled ar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7788" y="4292600"/>
            <a:ext cx="2105025"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558" name="Picture 7" descr="pic1-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57938" y="1412875"/>
            <a:ext cx="2174875" cy="213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gular Pentagon 3"/>
          <p:cNvSpPr/>
          <p:nvPr/>
        </p:nvSpPr>
        <p:spPr>
          <a:xfrm rot="19800000">
            <a:off x="6561138" y="4873625"/>
            <a:ext cx="884237" cy="841375"/>
          </a:xfrm>
          <a:prstGeom prst="pentagon">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2578" name="Object 2"/>
          <p:cNvGraphicFramePr>
            <a:graphicFrameLocks noChangeAspect="1"/>
          </p:cNvGraphicFramePr>
          <p:nvPr/>
        </p:nvGraphicFramePr>
        <p:xfrm>
          <a:off x="1600200" y="260350"/>
          <a:ext cx="5943600" cy="5534025"/>
        </p:xfrm>
        <a:graphic>
          <a:graphicData uri="http://schemas.openxmlformats.org/presentationml/2006/ole">
            <mc:AlternateContent xmlns:mc="http://schemas.openxmlformats.org/markup-compatibility/2006">
              <mc:Choice xmlns:v="urn:schemas-microsoft-com:vml" Requires="v">
                <p:oleObj name="CorelDRAW" r:id="rId2" imgW="2085975" imgH="1943100" progId="CorelDRAW.Graphic.12">
                  <p:embed/>
                </p:oleObj>
              </mc:Choice>
              <mc:Fallback>
                <p:oleObj name="CorelDRAW" r:id="rId2" imgW="2085975" imgH="1943100" progId="CorelDRAW.Graphic.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60350"/>
                        <a:ext cx="5943600" cy="553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2579" name="Rectangle 3"/>
          <p:cNvSpPr>
            <a:spLocks noGrp="1" noChangeArrowheads="1"/>
          </p:cNvSpPr>
          <p:nvPr>
            <p:ph type="body" idx="1"/>
          </p:nvPr>
        </p:nvSpPr>
        <p:spPr>
          <a:xfrm>
            <a:off x="900113" y="5989638"/>
            <a:ext cx="7883525" cy="409575"/>
          </a:xfrm>
        </p:spPr>
        <p:txBody>
          <a:bodyPr/>
          <a:lstStyle/>
          <a:p>
            <a:pPr algn="ctr" eaLnBrk="1" hangingPunct="1">
              <a:buFont typeface="Wingdings" panose="05000000000000000000" pitchFamily="2" charset="2"/>
              <a:buNone/>
            </a:pPr>
            <a:r>
              <a:rPr lang="en-US" altLang="zh-CN" sz="2400"/>
              <a:t>Five fold symmetry</a:t>
            </a:r>
            <a:r>
              <a:rPr lang="zh-CN" altLang="en-US" sz="2400"/>
              <a:t> </a:t>
            </a:r>
            <a:r>
              <a:rPr lang="en-US" altLang="zh-CN" sz="2400"/>
              <a:t>without translational symmetry</a:t>
            </a:r>
            <a:endParaRPr lang="zh-CN" altLang="en-US" sz="2400">
              <a:solidFill>
                <a:schemeClr val="folHlink"/>
              </a:solidFill>
            </a:endParaRPr>
          </a:p>
        </p:txBody>
      </p:sp>
      <p:sp>
        <p:nvSpPr>
          <p:cNvPr id="152580" name="Rectangle 5"/>
          <p:cNvSpPr>
            <a:spLocks noChangeArrowheads="1"/>
          </p:cNvSpPr>
          <p:nvPr/>
        </p:nvSpPr>
        <p:spPr bwMode="auto">
          <a:xfrm>
            <a:off x="0" y="2227263"/>
            <a:ext cx="1841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zh-CN" dirty="0"/>
              <a:t>More examples</a:t>
            </a:r>
            <a:endParaRPr lang="en-US" dirty="0"/>
          </a:p>
        </p:txBody>
      </p:sp>
      <p:pic>
        <p:nvPicPr>
          <p:cNvPr id="1536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557338"/>
            <a:ext cx="8777288" cy="3527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3604" name="Rectangle 3"/>
          <p:cNvSpPr>
            <a:spLocks noChangeArrowheads="1"/>
          </p:cNvSpPr>
          <p:nvPr/>
        </p:nvSpPr>
        <p:spPr bwMode="auto">
          <a:xfrm>
            <a:off x="107950" y="5229225"/>
            <a:ext cx="6985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2400" b="0" dirty="0">
                <a:latin typeface="Times New Roman" panose="02020603050405020304" pitchFamily="18" charset="0"/>
                <a:ea typeface="宋体" panose="02010600030101010101" pitchFamily="2" charset="-122"/>
              </a:rPr>
              <a:t>准晶</a:t>
            </a:r>
            <a:r>
              <a:rPr lang="en-US" altLang="zh-CN" sz="2400" b="0" dirty="0">
                <a:latin typeface="Times New Roman" panose="02020603050405020304" pitchFamily="18" charset="0"/>
                <a:ea typeface="宋体" panose="02010600030101010101" pitchFamily="2" charset="-122"/>
              </a:rPr>
              <a:t>:</a:t>
            </a:r>
            <a:r>
              <a:rPr lang="zh-CN" altLang="en-US" sz="2400" b="0" dirty="0">
                <a:latin typeface="Times New Roman" panose="02020603050405020304" pitchFamily="18" charset="0"/>
                <a:ea typeface="宋体" panose="02010600030101010101" pitchFamily="2" charset="-122"/>
              </a:rPr>
              <a:t>被双料诺奖得主鲍林斥为</a:t>
            </a:r>
            <a:r>
              <a:rPr lang="en-US" altLang="zh-CN" sz="2400" b="0" dirty="0">
                <a:latin typeface="Times New Roman" panose="02020603050405020304" pitchFamily="18" charset="0"/>
                <a:ea typeface="宋体" panose="02010600030101010101" pitchFamily="2" charset="-122"/>
              </a:rPr>
              <a:t>nonsense</a:t>
            </a:r>
            <a:r>
              <a:rPr lang="zh-CN" altLang="en-US" sz="2400" b="0" dirty="0">
                <a:latin typeface="Times New Roman" panose="02020603050405020304" pitchFamily="18" charset="0"/>
                <a:ea typeface="宋体" panose="02010600030101010101" pitchFamily="2" charset="-122"/>
              </a:rPr>
              <a:t>的伟大发现</a:t>
            </a:r>
            <a:endParaRPr lang="en-US" altLang="en-US" sz="2400" b="0" dirty="0">
              <a:latin typeface="Times New Roman" panose="02020603050405020304" pitchFamily="18" charset="0"/>
              <a:ea typeface="宋体" panose="02010600030101010101" pitchFamily="2" charset="-122"/>
            </a:endParaRPr>
          </a:p>
        </p:txBody>
      </p:sp>
      <p:sp>
        <p:nvSpPr>
          <p:cNvPr id="153605" name="Rectangle 4"/>
          <p:cNvSpPr>
            <a:spLocks noChangeArrowheads="1"/>
          </p:cNvSpPr>
          <p:nvPr/>
        </p:nvSpPr>
        <p:spPr bwMode="auto">
          <a:xfrm>
            <a:off x="250825" y="5805488"/>
            <a:ext cx="8634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2400" b="0">
                <a:latin typeface="Times New Roman" panose="02020603050405020304" pitchFamily="18" charset="0"/>
                <a:ea typeface="宋体" panose="02010600030101010101" pitchFamily="2" charset="-122"/>
              </a:rPr>
              <a:t>http://www.360doc.com/content/10/1123/11/2291725_71665279.shtml</a:t>
            </a:r>
          </a:p>
        </p:txBody>
      </p:sp>
      <p:sp>
        <p:nvSpPr>
          <p:cNvPr id="6" name="文本框 5">
            <a:extLst>
              <a:ext uri="{FF2B5EF4-FFF2-40B4-BE49-F238E27FC236}">
                <a16:creationId xmlns:a16="http://schemas.microsoft.com/office/drawing/2014/main" id="{66D09F65-27FE-4F72-804F-96CBBCEA5A85}"/>
              </a:ext>
            </a:extLst>
          </p:cNvPr>
          <p:cNvSpPr txBox="1"/>
          <p:nvPr/>
        </p:nvSpPr>
        <p:spPr>
          <a:xfrm>
            <a:off x="-15113" y="10890"/>
            <a:ext cx="6449201" cy="461665"/>
          </a:xfrm>
          <a:prstGeom prst="rect">
            <a:avLst/>
          </a:prstGeom>
          <a:solidFill>
            <a:schemeClr val="tx2">
              <a:lumMod val="20000"/>
              <a:lumOff val="80000"/>
            </a:schemeClr>
          </a:solidFill>
        </p:spPr>
        <p:txBody>
          <a:bodyPr wrap="none" rtlCol="0">
            <a:spAutoFit/>
          </a:bodyPr>
          <a:lstStyle/>
          <a:p>
            <a:r>
              <a:rPr lang="en-US" altLang="zh-CN" dirty="0"/>
              <a:t>Mini Project</a:t>
            </a:r>
            <a:r>
              <a:rPr lang="zh-CN" altLang="en-US" dirty="0"/>
              <a:t>：莱纳斯</a:t>
            </a:r>
            <a:r>
              <a:rPr lang="en-US" altLang="zh-CN" dirty="0"/>
              <a:t>·</a:t>
            </a:r>
            <a:r>
              <a:rPr lang="zh-CN" altLang="en-US" dirty="0"/>
              <a:t>鲍林的生平和科研简介？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514350" y="520700"/>
            <a:ext cx="8115300"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Non-crystal and quasi-crystal</a:t>
            </a:r>
            <a:endParaRPr kumimoji="1" lang="zh-CN" altLang="en-US" sz="3200" dirty="0">
              <a:solidFill>
                <a:srgbClr val="C00000"/>
              </a:solidFill>
            </a:endParaRPr>
          </a:p>
        </p:txBody>
      </p:sp>
      <p:sp>
        <p:nvSpPr>
          <p:cNvPr id="154627" name="Rectangle 3"/>
          <p:cNvSpPr>
            <a:spLocks noGrp="1" noChangeArrowheads="1"/>
          </p:cNvSpPr>
          <p:nvPr>
            <p:ph sz="half" idx="1"/>
          </p:nvPr>
        </p:nvSpPr>
        <p:spPr>
          <a:xfrm>
            <a:off x="955675" y="1484313"/>
            <a:ext cx="7504113" cy="942975"/>
          </a:xfrm>
        </p:spPr>
        <p:txBody>
          <a:bodyPr/>
          <a:lstStyle/>
          <a:p>
            <a:pPr eaLnBrk="1" hangingPunct="1">
              <a:buFont typeface="Monotype Sorts" pitchFamily="2" charset="2"/>
              <a:buNone/>
            </a:pPr>
            <a:r>
              <a:rPr lang="en-US" altLang="zh-CN" sz="2400"/>
              <a:t>At present, there are 28 kinds of quasi crystalline point groups, including 5 crystal systems.</a:t>
            </a:r>
            <a:endParaRPr lang="zh-CN" altLang="en-US" sz="2400"/>
          </a:p>
        </p:txBody>
      </p:sp>
      <p:sp>
        <p:nvSpPr>
          <p:cNvPr id="154628" name="Line 15"/>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3" name="Rectangle 2"/>
          <p:cNvSpPr/>
          <p:nvPr/>
        </p:nvSpPr>
        <p:spPr>
          <a:xfrm>
            <a:off x="612775" y="5799138"/>
            <a:ext cx="8280400" cy="461962"/>
          </a:xfrm>
          <a:prstGeom prst="rect">
            <a:avLst/>
          </a:prstGeom>
        </p:spPr>
        <p:txBody>
          <a:bodyPr>
            <a:spAutoFit/>
          </a:bodyPr>
          <a:lstStyle/>
          <a:p>
            <a:pPr>
              <a:defRPr/>
            </a:pPr>
            <a:r>
              <a:rPr lang="en-US" altLang="zh-CN" b="1" dirty="0">
                <a:latin typeface="+mn-lt"/>
                <a:ea typeface="+mn-ea"/>
              </a:rPr>
              <a:t>2011 Nobel Prize in Chemistry went to Quasi-crystals</a:t>
            </a:r>
            <a:endParaRPr lang="en-US" b="1" dirty="0">
              <a:latin typeface="+mn-lt"/>
              <a:ea typeface="+mn-ea"/>
            </a:endParaRPr>
          </a:p>
        </p:txBody>
      </p:sp>
      <p:graphicFrame>
        <p:nvGraphicFramePr>
          <p:cNvPr id="2" name="Table 1"/>
          <p:cNvGraphicFramePr>
            <a:graphicFrameLocks noGrp="1"/>
          </p:cNvGraphicFramePr>
          <p:nvPr/>
        </p:nvGraphicFramePr>
        <p:xfrm>
          <a:off x="1258888" y="2565400"/>
          <a:ext cx="6408738" cy="2879724"/>
        </p:xfrm>
        <a:graphic>
          <a:graphicData uri="http://schemas.openxmlformats.org/drawingml/2006/table">
            <a:tbl>
              <a:tblPr firstRow="1" bandRow="1">
                <a:tableStyleId>{5C22544A-7EE6-4342-B048-85BDC9FD1C3A}</a:tableStyleId>
              </a:tblPr>
              <a:tblGrid>
                <a:gridCol w="3204369">
                  <a:extLst>
                    <a:ext uri="{9D8B030D-6E8A-4147-A177-3AD203B41FA5}">
                      <a16:colId xmlns:a16="http://schemas.microsoft.com/office/drawing/2014/main" val="20000"/>
                    </a:ext>
                  </a:extLst>
                </a:gridCol>
                <a:gridCol w="3204369">
                  <a:extLst>
                    <a:ext uri="{9D8B030D-6E8A-4147-A177-3AD203B41FA5}">
                      <a16:colId xmlns:a16="http://schemas.microsoft.com/office/drawing/2014/main" val="20001"/>
                    </a:ext>
                  </a:extLst>
                </a:gridCol>
              </a:tblGrid>
              <a:tr h="479954">
                <a:tc>
                  <a:txBody>
                    <a:bodyPr/>
                    <a:lstStyle/>
                    <a:p>
                      <a:pPr algn="ctr"/>
                      <a:r>
                        <a:rPr lang="en-US" sz="1800" dirty="0"/>
                        <a:t>crystal system</a:t>
                      </a:r>
                    </a:p>
                  </a:txBody>
                  <a:tcPr marT="45712" marB="45712"/>
                </a:tc>
                <a:tc>
                  <a:txBody>
                    <a:bodyPr/>
                    <a:lstStyle/>
                    <a:p>
                      <a:pPr algn="ctr"/>
                      <a:r>
                        <a:rPr lang="en-US" sz="1800" dirty="0"/>
                        <a:t> symmetry element</a:t>
                      </a:r>
                    </a:p>
                  </a:txBody>
                  <a:tcPr marT="45712" marB="45712"/>
                </a:tc>
                <a:extLst>
                  <a:ext uri="{0D108BD9-81ED-4DB2-BD59-A6C34878D82A}">
                    <a16:rowId xmlns:a16="http://schemas.microsoft.com/office/drawing/2014/main" val="10000"/>
                  </a:ext>
                </a:extLst>
              </a:tr>
              <a:tr h="479954">
                <a:tc>
                  <a:txBody>
                    <a:bodyPr/>
                    <a:lstStyle/>
                    <a:p>
                      <a:pPr algn="ctr"/>
                      <a:r>
                        <a:rPr lang="en-US" sz="1800" dirty="0"/>
                        <a:t>pentagonal</a:t>
                      </a:r>
                    </a:p>
                  </a:txBody>
                  <a:tcPr marT="45712" marB="45712"/>
                </a:tc>
                <a:tc>
                  <a:txBody>
                    <a:bodyPr/>
                    <a:lstStyle/>
                    <a:p>
                      <a:pPr algn="ctr"/>
                      <a:r>
                        <a:rPr lang="en-US" altLang="zh-CN" sz="1800" dirty="0"/>
                        <a:t>Only one 5 fold axis</a:t>
                      </a:r>
                      <a:endParaRPr lang="en-US" sz="1800" dirty="0"/>
                    </a:p>
                  </a:txBody>
                  <a:tcPr marT="45712" marB="45712"/>
                </a:tc>
                <a:extLst>
                  <a:ext uri="{0D108BD9-81ED-4DB2-BD59-A6C34878D82A}">
                    <a16:rowId xmlns:a16="http://schemas.microsoft.com/office/drawing/2014/main" val="10001"/>
                  </a:ext>
                </a:extLst>
              </a:tr>
              <a:tr h="479954">
                <a:tc>
                  <a:txBody>
                    <a:bodyPr/>
                    <a:lstStyle/>
                    <a:p>
                      <a:pPr algn="ctr"/>
                      <a:r>
                        <a:rPr lang="en-US" sz="1800" dirty="0"/>
                        <a:t>octagonal</a:t>
                      </a:r>
                    </a:p>
                  </a:txBody>
                  <a:tcPr marT="45712" marB="45712"/>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t>Only one 8 fold axis</a:t>
                      </a:r>
                      <a:endParaRPr lang="en-US" sz="1800" dirty="0"/>
                    </a:p>
                  </a:txBody>
                  <a:tcPr marT="45712" marB="45712"/>
                </a:tc>
                <a:extLst>
                  <a:ext uri="{0D108BD9-81ED-4DB2-BD59-A6C34878D82A}">
                    <a16:rowId xmlns:a16="http://schemas.microsoft.com/office/drawing/2014/main" val="10002"/>
                  </a:ext>
                </a:extLst>
              </a:tr>
              <a:tr h="479954">
                <a:tc>
                  <a:txBody>
                    <a:bodyPr/>
                    <a:lstStyle/>
                    <a:p>
                      <a:pPr algn="ctr"/>
                      <a:r>
                        <a:rPr lang="en-US" sz="1800" dirty="0"/>
                        <a:t>decagonal</a:t>
                      </a:r>
                    </a:p>
                  </a:txBody>
                  <a:tcPr marT="45712" marB="45712"/>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t>Only one 10 fold axis</a:t>
                      </a:r>
                      <a:endParaRPr lang="en-US" sz="1800" dirty="0"/>
                    </a:p>
                  </a:txBody>
                  <a:tcPr marT="45712" marB="45712"/>
                </a:tc>
                <a:extLst>
                  <a:ext uri="{0D108BD9-81ED-4DB2-BD59-A6C34878D82A}">
                    <a16:rowId xmlns:a16="http://schemas.microsoft.com/office/drawing/2014/main" val="10003"/>
                  </a:ext>
                </a:extLst>
              </a:tr>
              <a:tr h="479954">
                <a:tc>
                  <a:txBody>
                    <a:bodyPr/>
                    <a:lstStyle/>
                    <a:p>
                      <a:pPr algn="ctr"/>
                      <a:r>
                        <a:rPr lang="en-US" sz="1800" dirty="0"/>
                        <a:t>dodecagonal</a:t>
                      </a:r>
                    </a:p>
                  </a:txBody>
                  <a:tcPr marT="45712" marB="45712"/>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t>Only one 12 fold axis</a:t>
                      </a:r>
                      <a:endParaRPr lang="en-US" sz="1800" dirty="0"/>
                    </a:p>
                  </a:txBody>
                  <a:tcPr marT="45712" marB="45712"/>
                </a:tc>
                <a:extLst>
                  <a:ext uri="{0D108BD9-81ED-4DB2-BD59-A6C34878D82A}">
                    <a16:rowId xmlns:a16="http://schemas.microsoft.com/office/drawing/2014/main" val="10004"/>
                  </a:ext>
                </a:extLst>
              </a:tr>
              <a:tr h="479954">
                <a:tc>
                  <a:txBody>
                    <a:bodyPr/>
                    <a:lstStyle/>
                    <a:p>
                      <a:pPr algn="ctr"/>
                      <a:r>
                        <a:rPr lang="en-US" sz="1800" dirty="0"/>
                        <a:t>icosahedral</a:t>
                      </a:r>
                    </a:p>
                  </a:txBody>
                  <a:tcPr marT="45712" marB="45712"/>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t>Ten 3 fold axis</a:t>
                      </a:r>
                      <a:endParaRPr lang="en-US" sz="1800" dirty="0"/>
                    </a:p>
                  </a:txBody>
                  <a:tcPr marT="45712" marB="45712"/>
                </a:tc>
                <a:extLst>
                  <a:ext uri="{0D108BD9-81ED-4DB2-BD59-A6C34878D82A}">
                    <a16:rowId xmlns:a16="http://schemas.microsoft.com/office/drawing/2014/main" val="10005"/>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638" y="836613"/>
            <a:ext cx="2857500" cy="2457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5651" name="Picture 5" descr="images/stories/qc-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988" y="881063"/>
            <a:ext cx="2481262" cy="245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65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0250" y="836613"/>
            <a:ext cx="2865438" cy="2462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5653" name="Rectangle 4"/>
          <p:cNvSpPr>
            <a:spLocks noChangeArrowheads="1"/>
          </p:cNvSpPr>
          <p:nvPr/>
        </p:nvSpPr>
        <p:spPr bwMode="auto">
          <a:xfrm>
            <a:off x="506413" y="3357563"/>
            <a:ext cx="8386762"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b="0">
                <a:latin typeface="Times New Roman" panose="02020603050405020304" pitchFamily="18" charset="0"/>
                <a:ea typeface="宋体" panose="02010600030101010101" pitchFamily="2" charset="-122"/>
              </a:rPr>
              <a:t>Figures: Electron diffraction, 8-fold symmetry and 2D quasiperiod structure and HRTEM image of the octagonal quasicrystal.</a:t>
            </a:r>
          </a:p>
          <a:p>
            <a:pPr eaLnBrk="1" hangingPunct="1">
              <a:spcBef>
                <a:spcPct val="0"/>
              </a:spcBef>
              <a:spcAft>
                <a:spcPct val="0"/>
              </a:spcAft>
              <a:buFontTx/>
              <a:buNone/>
            </a:pPr>
            <a:endParaRPr lang="en-US" altLang="en-US" b="0">
              <a:latin typeface="Times New Roman" panose="02020603050405020304" pitchFamily="18" charset="0"/>
              <a:ea typeface="宋体" panose="02010600030101010101" pitchFamily="2" charset="-122"/>
            </a:endParaRPr>
          </a:p>
          <a:p>
            <a:pPr eaLnBrk="1" hangingPunct="1">
              <a:spcBef>
                <a:spcPct val="0"/>
              </a:spcBef>
              <a:spcAft>
                <a:spcPct val="0"/>
              </a:spcAft>
              <a:buFontTx/>
              <a:buNone/>
            </a:pPr>
            <a:r>
              <a:rPr lang="en-US" altLang="en-US" b="0">
                <a:latin typeface="Times New Roman" panose="02020603050405020304" pitchFamily="18" charset="0"/>
                <a:ea typeface="宋体" panose="02010600030101010101" pitchFamily="2" charset="-122"/>
              </a:rPr>
              <a:t>See details... “</a:t>
            </a:r>
            <a:r>
              <a:rPr lang="en-US" altLang="en-US">
                <a:latin typeface="Times New Roman" panose="02020603050405020304" pitchFamily="18" charset="0"/>
                <a:ea typeface="宋体" panose="02010600030101010101" pitchFamily="2" charset="-122"/>
              </a:rPr>
              <a:t>Two-dimensional quasicrystal with eightfold rotational symmetry</a:t>
            </a:r>
            <a:r>
              <a:rPr lang="en-US" altLang="en-US" b="0">
                <a:latin typeface="Times New Roman" panose="02020603050405020304" pitchFamily="18" charset="0"/>
                <a:ea typeface="宋体" panose="02010600030101010101" pitchFamily="2" charset="-122"/>
              </a:rPr>
              <a:t>”, N. Wang, H. Chen &amp; K. H. Kuo, Phys. Rev. Lett. 59 (1987) 1010.</a:t>
            </a:r>
          </a:p>
          <a:p>
            <a:pPr eaLnBrk="1" hangingPunct="1">
              <a:spcBef>
                <a:spcPct val="0"/>
              </a:spcBef>
              <a:spcAft>
                <a:spcPct val="0"/>
              </a:spcAft>
              <a:buFontTx/>
              <a:buNone/>
            </a:pPr>
            <a:endParaRPr lang="en-US" altLang="en-US" b="0">
              <a:latin typeface="Times New Roman" panose="02020603050405020304" pitchFamily="18" charset="0"/>
              <a:ea typeface="宋体" panose="02010600030101010101" pitchFamily="2" charset="-122"/>
            </a:endParaRPr>
          </a:p>
          <a:p>
            <a:pPr eaLnBrk="1" hangingPunct="1">
              <a:spcBef>
                <a:spcPct val="0"/>
              </a:spcBef>
              <a:spcAft>
                <a:spcPct val="0"/>
              </a:spcAft>
              <a:buFontTx/>
              <a:buNone/>
            </a:pPr>
            <a:r>
              <a:rPr lang="en-US" altLang="en-US" b="0">
                <a:latin typeface="Times New Roman" panose="02020603050405020304" pitchFamily="18" charset="0"/>
                <a:ea typeface="宋体" panose="02010600030101010101" pitchFamily="2" charset="-122"/>
              </a:rPr>
              <a:t>This work has been </a:t>
            </a:r>
            <a:r>
              <a:rPr lang="en-US" altLang="en-US">
                <a:latin typeface="Times New Roman" panose="02020603050405020304" pitchFamily="18" charset="0"/>
                <a:ea typeface="宋体" panose="02010600030101010101" pitchFamily="2" charset="-122"/>
              </a:rPr>
              <a:t>cited in Scientific Background of the Nobel Prize in Chemistry 2011.</a:t>
            </a:r>
          </a:p>
        </p:txBody>
      </p:sp>
      <p:sp>
        <p:nvSpPr>
          <p:cNvPr id="155654" name="Rectangle 2"/>
          <p:cNvSpPr>
            <a:spLocks noChangeArrowheads="1"/>
          </p:cNvSpPr>
          <p:nvPr/>
        </p:nvSpPr>
        <p:spPr bwMode="auto">
          <a:xfrm>
            <a:off x="179388" y="6027738"/>
            <a:ext cx="87137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b="0">
                <a:latin typeface="Times New Roman" panose="02020603050405020304" pitchFamily="18" charset="0"/>
                <a:ea typeface="宋体" panose="02010600030101010101" pitchFamily="2" charset="-122"/>
              </a:rPr>
              <a:t>The discovery history of quasi-crystals can refer the following file:</a:t>
            </a:r>
          </a:p>
          <a:p>
            <a:pPr eaLnBrk="1" hangingPunct="1">
              <a:spcBef>
                <a:spcPct val="0"/>
              </a:spcBef>
              <a:spcAft>
                <a:spcPct val="0"/>
              </a:spcAft>
              <a:buFontTx/>
              <a:buNone/>
            </a:pPr>
            <a:r>
              <a:rPr lang="en-US" altLang="en-US" sz="2400" b="0">
                <a:latin typeface="Times New Roman" panose="02020603050405020304" pitchFamily="18" charset="0"/>
                <a:ea typeface="宋体" panose="02010600030101010101" pitchFamily="2" charset="-122"/>
                <a:hlinkClick r:id="rId5"/>
              </a:rPr>
              <a:t>https://wenku.baidu.com/view/d482dca6998fcc22bcd10de9.html</a:t>
            </a:r>
            <a:endParaRPr lang="en-US" altLang="en-US" sz="2400" b="0">
              <a:latin typeface="Times New Roman" panose="02020603050405020304" pitchFamily="18" charset="0"/>
              <a:ea typeface="宋体" panose="02010600030101010101" pitchFamily="2" charset="-122"/>
            </a:endParaRPr>
          </a:p>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3"/>
          <p:cNvSpPr>
            <a:spLocks noChangeArrowheads="1"/>
          </p:cNvSpPr>
          <p:nvPr/>
        </p:nvSpPr>
        <p:spPr bwMode="hidden">
          <a:xfrm>
            <a:off x="1608138" y="446356"/>
            <a:ext cx="2244725" cy="5842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3200" dirty="0">
                <a:solidFill>
                  <a:srgbClr val="0000FF"/>
                </a:solidFill>
                <a:latin typeface="黑体" panose="02010609060101010101" pitchFamily="49" charset="-122"/>
              </a:rPr>
              <a:t>准晶的发现</a:t>
            </a:r>
          </a:p>
        </p:txBody>
      </p:sp>
      <p:pic>
        <p:nvPicPr>
          <p:cNvPr id="156675" name="Picture 5" descr="Logbook_NBS_8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9938" y="2570163"/>
            <a:ext cx="5829300" cy="404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6676" name="Picture 6"/>
          <p:cNvPicPr>
            <a:picLocks noChangeAspect="1" noChangeArrowheads="1"/>
          </p:cNvPicPr>
          <p:nvPr/>
        </p:nvPicPr>
        <p:blipFill>
          <a:blip r:embed="rId4">
            <a:lum bright="-12000"/>
            <a:extLst>
              <a:ext uri="{28A0092B-C50C-407E-A947-70E740481C1C}">
                <a14:useLocalDpi xmlns:a14="http://schemas.microsoft.com/office/drawing/2010/main" val="0"/>
              </a:ext>
            </a:extLst>
          </a:blip>
          <a:srcRect l="57484" t="27708" r="6583" b="13197"/>
          <a:stretch>
            <a:fillRect/>
          </a:stretch>
        </p:blipFill>
        <p:spPr bwMode="auto">
          <a:xfrm>
            <a:off x="3660775" y="1870075"/>
            <a:ext cx="2890838"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677" name="AutoShape 7"/>
          <p:cNvSpPr>
            <a:spLocks noChangeArrowheads="1"/>
          </p:cNvSpPr>
          <p:nvPr/>
        </p:nvSpPr>
        <p:spPr bwMode="hidden">
          <a:xfrm>
            <a:off x="7812088" y="2719388"/>
            <a:ext cx="720725" cy="288925"/>
          </a:xfrm>
          <a:prstGeom prst="wedgeRectCallout">
            <a:avLst>
              <a:gd name="adj1" fmla="val -246949"/>
              <a:gd name="adj2" fmla="val -120185"/>
            </a:avLst>
          </a:prstGeom>
          <a:noFill/>
          <a:ln w="9525">
            <a:solidFill>
              <a:srgbClr val="FF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zh-CN" sz="2400" b="0">
              <a:latin typeface="Times New Roman" panose="02020603050405020304" pitchFamily="18" charset="0"/>
              <a:ea typeface="宋体" panose="02010600030101010101" pitchFamily="2" charset="-122"/>
            </a:endParaRPr>
          </a:p>
        </p:txBody>
      </p:sp>
      <p:pic>
        <p:nvPicPr>
          <p:cNvPr id="156678" name="Picture 2" descr="alm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138" y="1243013"/>
            <a:ext cx="3175000" cy="265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679" name="Text Box 4"/>
          <p:cNvSpPr txBox="1">
            <a:spLocks noChangeArrowheads="1"/>
          </p:cNvSpPr>
          <p:nvPr/>
        </p:nvSpPr>
        <p:spPr bwMode="auto">
          <a:xfrm>
            <a:off x="446088" y="1243013"/>
            <a:ext cx="1238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a:solidFill>
                  <a:schemeClr val="tx2"/>
                </a:solidFill>
                <a:latin typeface="Helvetica" pitchFamily="34" charset="0"/>
                <a:ea typeface="宋体" panose="02010600030101010101" pitchFamily="2" charset="-122"/>
              </a:rPr>
              <a:t>Al</a:t>
            </a:r>
            <a:r>
              <a:rPr lang="en-US" altLang="zh-CN" sz="2400" baseline="-25000">
                <a:solidFill>
                  <a:schemeClr val="tx2"/>
                </a:solidFill>
                <a:latin typeface="Helvetica" pitchFamily="34" charset="0"/>
                <a:ea typeface="宋体" panose="02010600030101010101" pitchFamily="2" charset="-122"/>
              </a:rPr>
              <a:t>6</a:t>
            </a:r>
            <a:r>
              <a:rPr lang="en-US" altLang="zh-CN" sz="2400">
                <a:solidFill>
                  <a:schemeClr val="tx2"/>
                </a:solidFill>
                <a:latin typeface="Helvetica" pitchFamily="34" charset="0"/>
                <a:ea typeface="宋体" panose="02010600030101010101" pitchFamily="2" charset="-122"/>
              </a:rPr>
              <a:t>Mn</a:t>
            </a:r>
            <a:endParaRPr lang="en-US" altLang="zh-CN" sz="2400" b="0">
              <a:solidFill>
                <a:schemeClr val="tx2"/>
              </a:solidFill>
              <a:ea typeface="宋体" panose="02010600030101010101" pitchFamily="2" charset="-122"/>
            </a:endParaRPr>
          </a:p>
        </p:txBody>
      </p:sp>
      <p:grpSp>
        <p:nvGrpSpPr>
          <p:cNvPr id="156680" name="组合 1"/>
          <p:cNvGrpSpPr/>
          <p:nvPr/>
        </p:nvGrpSpPr>
        <p:grpSpPr bwMode="auto">
          <a:xfrm>
            <a:off x="1363663" y="1485900"/>
            <a:ext cx="1301750" cy="1323975"/>
            <a:chOff x="1425575" y="1485900"/>
            <a:chExt cx="1301750" cy="1323975"/>
          </a:xfrm>
        </p:grpSpPr>
        <p:grpSp>
          <p:nvGrpSpPr>
            <p:cNvPr id="156686" name="Group 5"/>
            <p:cNvGrpSpPr/>
            <p:nvPr/>
          </p:nvGrpSpPr>
          <p:grpSpPr bwMode="auto">
            <a:xfrm>
              <a:off x="1995488" y="1485900"/>
              <a:ext cx="731837" cy="338404"/>
              <a:chOff x="2520" y="1031"/>
              <a:chExt cx="720" cy="365"/>
            </a:xfrm>
          </p:grpSpPr>
          <p:sp>
            <p:nvSpPr>
              <p:cNvPr id="156688" name="Text Box 6"/>
              <p:cNvSpPr txBox="1">
                <a:spLocks noChangeArrowheads="1"/>
              </p:cNvSpPr>
              <p:nvPr/>
            </p:nvSpPr>
            <p:spPr bwMode="auto">
              <a:xfrm>
                <a:off x="2542" y="1031"/>
                <a:ext cx="64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1600">
                    <a:solidFill>
                      <a:srgbClr val="3333CC"/>
                    </a:solidFill>
                    <a:latin typeface="Helvetica" pitchFamily="34" charset="0"/>
                    <a:ea typeface="宋体" panose="02010600030101010101" pitchFamily="2" charset="-122"/>
                  </a:rPr>
                  <a:t>1 </a:t>
                </a:r>
                <a:r>
                  <a:rPr lang="en-US" altLang="zh-CN" sz="1600">
                    <a:solidFill>
                      <a:srgbClr val="3333CC"/>
                    </a:solidFill>
                    <a:latin typeface="Symbol" panose="05050102010706020507" pitchFamily="18" charset="2"/>
                    <a:ea typeface="宋体" panose="02010600030101010101" pitchFamily="2" charset="-122"/>
                  </a:rPr>
                  <a:t>m</a:t>
                </a:r>
                <a:r>
                  <a:rPr lang="en-US" altLang="zh-CN" sz="1600">
                    <a:solidFill>
                      <a:srgbClr val="3333CC"/>
                    </a:solidFill>
                    <a:latin typeface="Helvetica" pitchFamily="34" charset="0"/>
                    <a:ea typeface="宋体" panose="02010600030101010101" pitchFamily="2" charset="-122"/>
                  </a:rPr>
                  <a:t>m</a:t>
                </a:r>
                <a:endParaRPr lang="en-US" altLang="zh-CN" sz="1600">
                  <a:latin typeface="Helvetica" pitchFamily="34" charset="0"/>
                  <a:ea typeface="宋体" panose="02010600030101010101" pitchFamily="2" charset="-122"/>
                </a:endParaRPr>
              </a:p>
            </p:txBody>
          </p:sp>
          <p:sp>
            <p:nvSpPr>
              <p:cNvPr id="156689" name="Line 7"/>
              <p:cNvSpPr>
                <a:spLocks noChangeShapeType="1"/>
              </p:cNvSpPr>
              <p:nvPr/>
            </p:nvSpPr>
            <p:spPr bwMode="auto">
              <a:xfrm>
                <a:off x="2520" y="1392"/>
                <a:ext cx="720" cy="0"/>
              </a:xfrm>
              <a:prstGeom prst="line">
                <a:avLst/>
              </a:prstGeom>
              <a:noFill/>
              <a:ln w="28575">
                <a:solidFill>
                  <a:srgbClr val="3333CC"/>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156687" name="Oval 8"/>
            <p:cNvSpPr>
              <a:spLocks noChangeArrowheads="1"/>
            </p:cNvSpPr>
            <p:nvPr/>
          </p:nvSpPr>
          <p:spPr bwMode="auto">
            <a:xfrm>
              <a:off x="1425575" y="1820863"/>
              <a:ext cx="1001713" cy="989012"/>
            </a:xfrm>
            <a:prstGeom prst="ellipse">
              <a:avLst/>
            </a:prstGeom>
            <a:solidFill>
              <a:schemeClr val="accent1">
                <a:alpha val="50195"/>
              </a:schemeClr>
            </a:solidFill>
            <a:ln w="28575">
              <a:solidFill>
                <a:srgbClr val="0000FF"/>
              </a:solidFill>
              <a:round/>
            </a:ln>
          </p:spPr>
          <p:txBody>
            <a:bodyPr wrap="none" anchor="ct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zh-CN" altLang="zh-CN" sz="2400" b="0">
                <a:latin typeface="Times New Roman" panose="02020603050405020304" pitchFamily="18" charset="0"/>
                <a:ea typeface="宋体" panose="02010600030101010101" pitchFamily="2" charset="-122"/>
              </a:endParaRPr>
            </a:p>
          </p:txBody>
        </p:sp>
      </p:grpSp>
      <p:sp>
        <p:nvSpPr>
          <p:cNvPr id="156681" name="椭圆 1"/>
          <p:cNvSpPr>
            <a:spLocks noChangeArrowheads="1"/>
          </p:cNvSpPr>
          <p:nvPr/>
        </p:nvSpPr>
        <p:spPr bwMode="auto">
          <a:xfrm>
            <a:off x="4498975" y="3295650"/>
            <a:ext cx="1368425" cy="1296988"/>
          </a:xfrm>
          <a:prstGeom prst="ellipse">
            <a:avLst/>
          </a:prstGeom>
          <a:noFill/>
          <a:ln w="25400" algn="ctr">
            <a:solidFill>
              <a:srgbClr val="C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2400" b="0">
              <a:latin typeface="Times New Roman" panose="02020603050405020304" pitchFamily="18" charset="0"/>
              <a:ea typeface="宋体" panose="02010600030101010101" pitchFamily="2" charset="-122"/>
            </a:endParaRPr>
          </a:p>
        </p:txBody>
      </p:sp>
      <p:sp>
        <p:nvSpPr>
          <p:cNvPr id="156682" name="右箭头 2"/>
          <p:cNvSpPr>
            <a:spLocks noChangeArrowheads="1"/>
          </p:cNvSpPr>
          <p:nvPr/>
        </p:nvSpPr>
        <p:spPr bwMode="auto">
          <a:xfrm rot="8812639">
            <a:off x="2790825" y="4410075"/>
            <a:ext cx="1935163" cy="285750"/>
          </a:xfrm>
          <a:prstGeom prst="rightArrow">
            <a:avLst>
              <a:gd name="adj1" fmla="val 50000"/>
              <a:gd name="adj2" fmla="val 50071"/>
            </a:avLst>
          </a:prstGeom>
          <a:solidFill>
            <a:srgbClr val="00CCFF"/>
          </a:solidFill>
          <a:ln w="9525" algn="ctr">
            <a:solidFill>
              <a:schemeClr val="bg1"/>
            </a:solidFill>
            <a:round/>
          </a:ln>
        </p:spPr>
        <p:txBody>
          <a:bodyPr wrap="none" anchor="ct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2400" b="0">
              <a:latin typeface="Times New Roman" panose="02020603050405020304" pitchFamily="18" charset="0"/>
              <a:ea typeface="宋体" panose="02010600030101010101" pitchFamily="2" charset="-122"/>
            </a:endParaRPr>
          </a:p>
        </p:txBody>
      </p:sp>
      <p:sp>
        <p:nvSpPr>
          <p:cNvPr id="156683" name="矩形 1"/>
          <p:cNvSpPr>
            <a:spLocks noChangeArrowheads="1"/>
          </p:cNvSpPr>
          <p:nvPr/>
        </p:nvSpPr>
        <p:spPr bwMode="auto">
          <a:xfrm>
            <a:off x="3865563" y="4816475"/>
            <a:ext cx="26352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b="0">
                <a:solidFill>
                  <a:srgbClr val="0000FF"/>
                </a:solidFill>
                <a:latin typeface="黑体" panose="02010609060101010101" pitchFamily="49" charset="-122"/>
              </a:rPr>
              <a:t>获得了具有五重对称</a:t>
            </a:r>
            <a:r>
              <a:rPr lang="en-US" altLang="zh-CN" b="0">
                <a:solidFill>
                  <a:srgbClr val="0000FF"/>
                </a:solidFill>
                <a:latin typeface="黑体" panose="02010609060101010101" pitchFamily="49" charset="-122"/>
              </a:rPr>
              <a:t>,</a:t>
            </a:r>
            <a:r>
              <a:rPr lang="zh-CN" altLang="en-US" b="0">
                <a:solidFill>
                  <a:srgbClr val="0000FF"/>
                </a:solidFill>
                <a:latin typeface="黑体" panose="02010609060101010101" pitchFamily="49" charset="-122"/>
              </a:rPr>
              <a:t>斑点明锐的电子衍射图</a:t>
            </a:r>
            <a:r>
              <a:rPr lang="en-US" altLang="zh-CN" b="0">
                <a:solidFill>
                  <a:srgbClr val="0000FF"/>
                </a:solidFill>
                <a:latin typeface="黑体" panose="02010609060101010101" pitchFamily="49" charset="-122"/>
              </a:rPr>
              <a:t>.</a:t>
            </a:r>
          </a:p>
        </p:txBody>
      </p:sp>
      <p:pic>
        <p:nvPicPr>
          <p:cNvPr id="156684" name="图片 1" descr="说明: http://image.sciencenet.cn/album/201110/05/202708knzf2edntdeeg83d.jpg"/>
          <p:cNvPicPr>
            <a:picLocks noChangeAspect="1" noChangeArrowheads="1"/>
          </p:cNvPicPr>
          <p:nvPr/>
        </p:nvPicPr>
        <p:blipFill>
          <a:blip r:embed="rId6">
            <a:extLst>
              <a:ext uri="{28A0092B-C50C-407E-A947-70E740481C1C}">
                <a14:useLocalDpi xmlns:a14="http://schemas.microsoft.com/office/drawing/2010/main" val="0"/>
              </a:ext>
            </a:extLst>
          </a:blip>
          <a:srcRect l="50000"/>
          <a:stretch>
            <a:fillRect/>
          </a:stretch>
        </p:blipFill>
        <p:spPr bwMode="auto">
          <a:xfrm>
            <a:off x="338138" y="4149725"/>
            <a:ext cx="2619375"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6685" name="Picture 19" descr="http://t3.gstatic.com/images?q=tbn:ANd9GcTxlpQ7CRvMuZ0J3VHOGIol_5tZ_heYuPIJALk6pZCjRjYEBh8H"/>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89675" y="420688"/>
            <a:ext cx="2430463" cy="161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文本框 18">
            <a:extLst>
              <a:ext uri="{FF2B5EF4-FFF2-40B4-BE49-F238E27FC236}">
                <a16:creationId xmlns:a16="http://schemas.microsoft.com/office/drawing/2014/main" id="{7B67977C-E604-4EEC-98AA-F44D6A848718}"/>
              </a:ext>
            </a:extLst>
          </p:cNvPr>
          <p:cNvSpPr txBox="1"/>
          <p:nvPr/>
        </p:nvSpPr>
        <p:spPr>
          <a:xfrm>
            <a:off x="3758406" y="1255067"/>
            <a:ext cx="4572000" cy="461665"/>
          </a:xfrm>
          <a:prstGeom prst="rect">
            <a:avLst/>
          </a:prstGeom>
          <a:noFill/>
        </p:spPr>
        <p:txBody>
          <a:bodyPr wrap="square">
            <a:spAutoFit/>
          </a:bodyPr>
          <a:lstStyle/>
          <a:p>
            <a:r>
              <a:rPr lang="en-US" altLang="zh-CN" sz="2400" b="0" dirty="0">
                <a:solidFill>
                  <a:srgbClr val="0000FF"/>
                </a:solidFill>
                <a:latin typeface="Times New Roman" panose="02020603050405020304" pitchFamily="18" charset="0"/>
                <a:ea typeface="宋体" panose="02010600030101010101" pitchFamily="2" charset="-122"/>
              </a:rPr>
              <a:t>Daniel </a:t>
            </a:r>
            <a:r>
              <a:rPr lang="en-US" altLang="zh-CN" sz="2400" b="0" dirty="0" err="1">
                <a:solidFill>
                  <a:srgbClr val="0000FF"/>
                </a:solidFill>
                <a:latin typeface="Times New Roman" panose="02020603050405020304" pitchFamily="18" charset="0"/>
                <a:ea typeface="宋体" panose="02010600030101010101" pitchFamily="2" charset="-122"/>
              </a:rPr>
              <a:t>Shechtman</a:t>
            </a:r>
            <a:endParaRPr lang="zh-CN" altLang="en-US" dirty="0"/>
          </a:p>
        </p:txBody>
      </p:sp>
      <p:sp>
        <p:nvSpPr>
          <p:cNvPr id="20" name="文本框 19">
            <a:extLst>
              <a:ext uri="{FF2B5EF4-FFF2-40B4-BE49-F238E27FC236}">
                <a16:creationId xmlns:a16="http://schemas.microsoft.com/office/drawing/2014/main" id="{8A3A1E03-EE93-45C7-98CB-A0E57CB63461}"/>
              </a:ext>
            </a:extLst>
          </p:cNvPr>
          <p:cNvSpPr txBox="1"/>
          <p:nvPr/>
        </p:nvSpPr>
        <p:spPr>
          <a:xfrm>
            <a:off x="-15113" y="10890"/>
            <a:ext cx="5115503" cy="461665"/>
          </a:xfrm>
          <a:prstGeom prst="rect">
            <a:avLst/>
          </a:prstGeom>
          <a:solidFill>
            <a:schemeClr val="tx2">
              <a:lumMod val="20000"/>
              <a:lumOff val="80000"/>
            </a:schemeClr>
          </a:solidFill>
        </p:spPr>
        <p:txBody>
          <a:bodyPr wrap="none" rtlCol="0">
            <a:spAutoFit/>
          </a:bodyPr>
          <a:lstStyle/>
          <a:p>
            <a:r>
              <a:rPr lang="en-US" altLang="zh-CN" dirty="0"/>
              <a:t>Mini Project</a:t>
            </a:r>
            <a:r>
              <a:rPr lang="zh-CN" altLang="en-US" dirty="0"/>
              <a:t>：准晶最早的发现历史？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7996AFFC-0166-4B2D-BAE4-5FFDB0411453}"/>
              </a:ext>
            </a:extLst>
          </p:cNvPr>
          <p:cNvPicPr>
            <a:picLocks noChangeAspect="1"/>
          </p:cNvPicPr>
          <p:nvPr/>
        </p:nvPicPr>
        <p:blipFill>
          <a:blip r:embed="rId2"/>
          <a:stretch>
            <a:fillRect/>
          </a:stretch>
        </p:blipFill>
        <p:spPr>
          <a:xfrm>
            <a:off x="395536" y="476672"/>
            <a:ext cx="4514850" cy="4448175"/>
          </a:xfrm>
          <a:prstGeom prst="rect">
            <a:avLst/>
          </a:prstGeom>
        </p:spPr>
      </p:pic>
      <p:sp>
        <p:nvSpPr>
          <p:cNvPr id="4" name="文本框 3">
            <a:extLst>
              <a:ext uri="{FF2B5EF4-FFF2-40B4-BE49-F238E27FC236}">
                <a16:creationId xmlns:a16="http://schemas.microsoft.com/office/drawing/2014/main" id="{1A32F516-96B8-41FC-8A00-D1D3DE2D90C9}"/>
              </a:ext>
            </a:extLst>
          </p:cNvPr>
          <p:cNvSpPr txBox="1"/>
          <p:nvPr/>
        </p:nvSpPr>
        <p:spPr>
          <a:xfrm>
            <a:off x="404714" y="5733256"/>
            <a:ext cx="6903590" cy="461665"/>
          </a:xfrm>
          <a:prstGeom prst="rect">
            <a:avLst/>
          </a:prstGeom>
          <a:noFill/>
        </p:spPr>
        <p:txBody>
          <a:bodyPr wrap="square">
            <a:spAutoFit/>
          </a:bodyPr>
          <a:lstStyle/>
          <a:p>
            <a:r>
              <a:rPr lang="en-US" altLang="zh-CN" dirty="0"/>
              <a:t>Phys. Chem. Chem. Phys.,2017, 19, 1311</a:t>
            </a:r>
            <a:endParaRPr lang="zh-CN" altLang="en-US" dirty="0"/>
          </a:p>
        </p:txBody>
      </p:sp>
      <p:sp>
        <p:nvSpPr>
          <p:cNvPr id="6" name="文本框 5">
            <a:extLst>
              <a:ext uri="{FF2B5EF4-FFF2-40B4-BE49-F238E27FC236}">
                <a16:creationId xmlns:a16="http://schemas.microsoft.com/office/drawing/2014/main" id="{09792E60-EEB6-4285-988C-F6CB3FB603BB}"/>
              </a:ext>
            </a:extLst>
          </p:cNvPr>
          <p:cNvSpPr txBox="1"/>
          <p:nvPr/>
        </p:nvSpPr>
        <p:spPr>
          <a:xfrm>
            <a:off x="5148064" y="1052736"/>
            <a:ext cx="3312368" cy="2862322"/>
          </a:xfrm>
          <a:prstGeom prst="rect">
            <a:avLst/>
          </a:prstGeom>
          <a:noFill/>
        </p:spPr>
        <p:txBody>
          <a:bodyPr wrap="square">
            <a:spAutoFit/>
          </a:bodyPr>
          <a:lstStyle/>
          <a:p>
            <a:r>
              <a:rPr lang="en-US" altLang="zh-CN" sz="3600" dirty="0"/>
              <a:t>Size-dependent hardness of five-fold twin structured Ag nanowires</a:t>
            </a:r>
            <a:endParaRPr lang="zh-CN" altLang="en-US" sz="3600" dirty="0"/>
          </a:p>
        </p:txBody>
      </p:sp>
    </p:spTree>
    <p:extLst>
      <p:ext uri="{BB962C8B-B14F-4D97-AF65-F5344CB8AC3E}">
        <p14:creationId xmlns:p14="http://schemas.microsoft.com/office/powerpoint/2010/main" val="4272966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矩形 3"/>
          <p:cNvSpPr>
            <a:spLocks noChangeArrowheads="1"/>
          </p:cNvSpPr>
          <p:nvPr/>
        </p:nvSpPr>
        <p:spPr bwMode="auto">
          <a:xfrm>
            <a:off x="298450" y="5337175"/>
            <a:ext cx="55451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a:latin typeface="Times New Roman" panose="02020603050405020304" pitchFamily="18" charset="0"/>
                <a:ea typeface="宋体" panose="02010600030101010101" pitchFamily="2" charset="-122"/>
              </a:rPr>
              <a:t>1984</a:t>
            </a:r>
            <a:r>
              <a:rPr lang="zh-CN" altLang="en-US" sz="2400">
                <a:latin typeface="Times New Roman" panose="02020603050405020304" pitchFamily="18" charset="0"/>
                <a:ea typeface="宋体" panose="02010600030101010101" pitchFamily="2" charset="-122"/>
              </a:rPr>
              <a:t>年，投‘</a:t>
            </a:r>
            <a:r>
              <a:rPr lang="en-US" altLang="zh-CN" sz="2400">
                <a:solidFill>
                  <a:srgbClr val="FF0000"/>
                </a:solidFill>
                <a:latin typeface="Times New Roman" panose="02020603050405020304" pitchFamily="18" charset="0"/>
                <a:ea typeface="宋体" panose="02010600030101010101" pitchFamily="2" charset="-122"/>
              </a:rPr>
              <a:t>Journal of Applied Physics</a:t>
            </a:r>
            <a:r>
              <a:rPr lang="zh-CN" altLang="en-US"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a:p>
            <a:pPr eaLnBrk="1" hangingPunct="1">
              <a:spcBef>
                <a:spcPct val="0"/>
              </a:spcBef>
              <a:spcAft>
                <a:spcPct val="0"/>
              </a:spcAft>
              <a:buFontTx/>
              <a:buNone/>
            </a:pPr>
            <a:r>
              <a:rPr lang="zh-CN" altLang="en-US" sz="2400">
                <a:latin typeface="Times New Roman" panose="02020603050405020304" pitchFamily="18" charset="0"/>
                <a:ea typeface="宋体" panose="02010600030101010101" pitchFamily="2" charset="-122"/>
              </a:rPr>
              <a:t>编辑的回信：</a:t>
            </a:r>
            <a:r>
              <a:rPr lang="en-US" altLang="zh-CN" sz="2400">
                <a:latin typeface="Times New Roman" panose="02020603050405020304" pitchFamily="18" charset="0"/>
                <a:ea typeface="宋体" panose="02010600030101010101" pitchFamily="2" charset="-122"/>
              </a:rPr>
              <a:t>“rejecting the article as not being of interest to physicists“</a:t>
            </a:r>
            <a:endParaRPr lang="zh-CN" altLang="en-US" sz="2400">
              <a:latin typeface="Times New Roman" panose="02020603050405020304" pitchFamily="18" charset="0"/>
              <a:ea typeface="宋体" panose="02010600030101010101" pitchFamily="2" charset="-122"/>
            </a:endParaRPr>
          </a:p>
        </p:txBody>
      </p:sp>
      <p:sp>
        <p:nvSpPr>
          <p:cNvPr id="157699" name="Rectangle 3"/>
          <p:cNvSpPr>
            <a:spLocks noChangeArrowheads="1"/>
          </p:cNvSpPr>
          <p:nvPr/>
        </p:nvSpPr>
        <p:spPr bwMode="hidden">
          <a:xfrm>
            <a:off x="1414463" y="152400"/>
            <a:ext cx="2655887" cy="5842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3200">
                <a:solidFill>
                  <a:srgbClr val="0000FF"/>
                </a:solidFill>
                <a:latin typeface="黑体" panose="02010609060101010101" pitchFamily="49" charset="-122"/>
              </a:rPr>
              <a:t>准晶不被认可</a:t>
            </a:r>
          </a:p>
        </p:txBody>
      </p:sp>
      <p:pic>
        <p:nvPicPr>
          <p:cNvPr id="157700" name="图片 1" descr="说明: 丹尼尔·舍特曼"/>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9325" y="723900"/>
            <a:ext cx="2743200" cy="169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701" name="Picture 2" descr="linkjapcover 110/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0363" y="4005263"/>
            <a:ext cx="201612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2" name="矩形 1"/>
          <p:cNvSpPr>
            <a:spLocks noChangeArrowheads="1"/>
          </p:cNvSpPr>
          <p:nvPr/>
        </p:nvSpPr>
        <p:spPr bwMode="auto">
          <a:xfrm>
            <a:off x="107950" y="1196975"/>
            <a:ext cx="5832475" cy="1938338"/>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b="0">
                <a:latin typeface="Times New Roman" panose="02020603050405020304" pitchFamily="18" charset="0"/>
                <a:ea typeface="宋体" panose="02010600030101010101" pitchFamily="2" charset="-122"/>
              </a:rPr>
              <a:t>"I told everyone who was ready to listen that I had material with pentagonal symmetry. People just laughed at me," Shechtman said in a description of his work released by his university.</a:t>
            </a:r>
          </a:p>
        </p:txBody>
      </p:sp>
      <p:sp>
        <p:nvSpPr>
          <p:cNvPr id="157703" name="矩形 2"/>
          <p:cNvSpPr>
            <a:spLocks noChangeArrowheads="1"/>
          </p:cNvSpPr>
          <p:nvPr/>
        </p:nvSpPr>
        <p:spPr bwMode="auto">
          <a:xfrm>
            <a:off x="107950" y="3436938"/>
            <a:ext cx="6253163" cy="1570037"/>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b="0">
                <a:latin typeface="Times New Roman" panose="02020603050405020304" pitchFamily="18" charset="0"/>
                <a:ea typeface="宋体" panose="02010600030101010101" pitchFamily="2" charset="-122"/>
              </a:rPr>
              <a:t>For months he tried to persuade his colleagues of his find, but they refused to accept it. Finally he was asked to leave his research group, and moved to another one within the institute.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ChangeArrowheads="1"/>
          </p:cNvSpPr>
          <p:nvPr/>
        </p:nvSpPr>
        <p:spPr bwMode="hidden">
          <a:xfrm>
            <a:off x="0" y="-1588"/>
            <a:ext cx="184150" cy="460376"/>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2400" b="0">
              <a:latin typeface="Times New Roman" panose="02020603050405020304" pitchFamily="18" charset="0"/>
              <a:ea typeface="宋体" panose="02010600030101010101" pitchFamily="2" charset="-122"/>
            </a:endParaRPr>
          </a:p>
        </p:txBody>
      </p:sp>
      <p:pic>
        <p:nvPicPr>
          <p:cNvPr id="158723" name="图片 3" descr="说明: http://blog.sciencenet.cn/upload/blog/images/2010/11/2010111316221792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3276600"/>
            <a:ext cx="6461125"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4" name="Rectangle 3"/>
          <p:cNvSpPr>
            <a:spLocks noChangeArrowheads="1"/>
          </p:cNvSpPr>
          <p:nvPr/>
        </p:nvSpPr>
        <p:spPr bwMode="hidden">
          <a:xfrm>
            <a:off x="0" y="2417763"/>
            <a:ext cx="184150" cy="460375"/>
          </a:xfrm>
          <a:prstGeom prst="rect">
            <a:avLst/>
          </a:prstGeom>
          <a:solidFill>
            <a:srgbClr val="FFFF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zh-CN" altLang="zh-CN" sz="2400" b="0">
              <a:latin typeface="Times New Roman" panose="02020603050405020304" pitchFamily="18" charset="0"/>
              <a:ea typeface="宋体" panose="02010600030101010101" pitchFamily="2" charset="-122"/>
            </a:endParaRPr>
          </a:p>
        </p:txBody>
      </p:sp>
      <p:sp>
        <p:nvSpPr>
          <p:cNvPr id="158725" name="Rectangle 3"/>
          <p:cNvSpPr>
            <a:spLocks noChangeArrowheads="1"/>
          </p:cNvSpPr>
          <p:nvPr/>
        </p:nvSpPr>
        <p:spPr bwMode="hidden">
          <a:xfrm>
            <a:off x="1620838" y="152400"/>
            <a:ext cx="2244725" cy="5842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3200">
                <a:solidFill>
                  <a:srgbClr val="0000FF"/>
                </a:solidFill>
                <a:latin typeface="黑体" panose="02010609060101010101" pitchFamily="49" charset="-122"/>
              </a:rPr>
              <a:t>准晶的确认</a:t>
            </a:r>
          </a:p>
        </p:txBody>
      </p:sp>
      <p:pic>
        <p:nvPicPr>
          <p:cNvPr id="158726" name="Picture 5" descr="denis gratia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1350" y="457200"/>
            <a:ext cx="1379538"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7" name="矩形 3"/>
          <p:cNvSpPr>
            <a:spLocks noChangeArrowheads="1"/>
          </p:cNvSpPr>
          <p:nvPr/>
        </p:nvSpPr>
        <p:spPr bwMode="auto">
          <a:xfrm>
            <a:off x="6686550" y="2163763"/>
            <a:ext cx="1987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u="sng">
                <a:solidFill>
                  <a:srgbClr val="002060"/>
                </a:solidFill>
                <a:latin typeface="Times New Roman" panose="02020603050405020304" pitchFamily="18" charset="0"/>
                <a:ea typeface="宋体" panose="02010600030101010101" pitchFamily="2" charset="-122"/>
                <a:hlinkClick r:id="rId4"/>
              </a:rPr>
              <a:t>Denis Gratias</a:t>
            </a:r>
            <a:endParaRPr lang="zh-CN" altLang="en-US" sz="2400" b="0">
              <a:solidFill>
                <a:srgbClr val="002060"/>
              </a:solidFill>
              <a:latin typeface="Times New Roman" panose="02020603050405020304" pitchFamily="18" charset="0"/>
              <a:ea typeface="宋体" panose="02010600030101010101" pitchFamily="2" charset="-122"/>
            </a:endParaRPr>
          </a:p>
        </p:txBody>
      </p:sp>
      <p:sp>
        <p:nvSpPr>
          <p:cNvPr id="158728" name="矩形 5"/>
          <p:cNvSpPr>
            <a:spLocks noChangeArrowheads="1"/>
          </p:cNvSpPr>
          <p:nvPr/>
        </p:nvSpPr>
        <p:spPr bwMode="auto">
          <a:xfrm>
            <a:off x="3605213" y="804863"/>
            <a:ext cx="3570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zh-CN" sz="2400" b="0">
                <a:solidFill>
                  <a:srgbClr val="002060"/>
                </a:solidFill>
                <a:latin typeface="黑体" panose="02010609060101010101" pitchFamily="49" charset="-122"/>
              </a:rPr>
              <a:t>法国</a:t>
            </a:r>
            <a:r>
              <a:rPr lang="en-US" altLang="zh-CN" sz="2400" b="0">
                <a:solidFill>
                  <a:srgbClr val="002060"/>
                </a:solidFill>
                <a:latin typeface="黑体" panose="02010609060101010101" pitchFamily="49" charset="-122"/>
              </a:rPr>
              <a:t>CNRS</a:t>
            </a:r>
            <a:r>
              <a:rPr lang="zh-CN" altLang="zh-CN" sz="2400" b="0">
                <a:solidFill>
                  <a:srgbClr val="002060"/>
                </a:solidFill>
                <a:latin typeface="黑体" panose="02010609060101010101" pitchFamily="49" charset="-122"/>
              </a:rPr>
              <a:t>冶金化学研究所</a:t>
            </a:r>
            <a:endParaRPr lang="zh-CN" altLang="en-US" sz="2400" b="0">
              <a:solidFill>
                <a:srgbClr val="002060"/>
              </a:solidFill>
              <a:latin typeface="黑体" panose="02010609060101010101" pitchFamily="49" charset="-122"/>
            </a:endParaRPr>
          </a:p>
        </p:txBody>
      </p:sp>
      <p:sp>
        <p:nvSpPr>
          <p:cNvPr id="158729" name="矩形 6"/>
          <p:cNvSpPr>
            <a:spLocks noChangeArrowheads="1"/>
          </p:cNvSpPr>
          <p:nvPr/>
        </p:nvSpPr>
        <p:spPr bwMode="auto">
          <a:xfrm>
            <a:off x="39688" y="1265238"/>
            <a:ext cx="50371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b="0">
                <a:solidFill>
                  <a:srgbClr val="002060"/>
                </a:solidFill>
                <a:latin typeface="黑体" panose="02010609060101010101" pitchFamily="49" charset="-122"/>
              </a:rPr>
              <a:t>1984</a:t>
            </a:r>
            <a:r>
              <a:rPr lang="zh-CN" altLang="zh-CN" b="0">
                <a:solidFill>
                  <a:srgbClr val="002060"/>
                </a:solidFill>
                <a:latin typeface="黑体" panose="02010609060101010101" pitchFamily="49" charset="-122"/>
              </a:rPr>
              <a:t>年秋，</a:t>
            </a:r>
            <a:r>
              <a:rPr lang="en-US" altLang="zh-CN" b="0">
                <a:solidFill>
                  <a:srgbClr val="002060"/>
                </a:solidFill>
                <a:latin typeface="黑体" panose="02010609060101010101" pitchFamily="49" charset="-122"/>
              </a:rPr>
              <a:t>Gratias</a:t>
            </a:r>
            <a:r>
              <a:rPr lang="zh-CN" altLang="zh-CN" b="0">
                <a:solidFill>
                  <a:srgbClr val="002060"/>
                </a:solidFill>
                <a:latin typeface="黑体" panose="02010609060101010101" pitchFamily="49" charset="-122"/>
              </a:rPr>
              <a:t>在加州大学的一次理论物理讨论会中听了</a:t>
            </a:r>
            <a:r>
              <a:rPr lang="en-US" altLang="zh-CN" b="0">
                <a:solidFill>
                  <a:srgbClr val="002060"/>
                </a:solidFill>
                <a:latin typeface="黑体" panose="02010609060101010101" pitchFamily="49" charset="-122"/>
              </a:rPr>
              <a:t>Steinhardt</a:t>
            </a:r>
            <a:r>
              <a:rPr lang="zh-CN" altLang="zh-CN" b="0">
                <a:solidFill>
                  <a:srgbClr val="002060"/>
                </a:solidFill>
                <a:latin typeface="黑体" panose="02010609060101010101" pitchFamily="49" charset="-122"/>
              </a:rPr>
              <a:t>的报告</a:t>
            </a:r>
            <a:endParaRPr lang="zh-CN" altLang="en-US" b="0">
              <a:solidFill>
                <a:srgbClr val="002060"/>
              </a:solidFill>
              <a:latin typeface="黑体" panose="02010609060101010101" pitchFamily="49" charset="-122"/>
            </a:endParaRPr>
          </a:p>
        </p:txBody>
      </p:sp>
      <p:pic>
        <p:nvPicPr>
          <p:cNvPr id="158730" name="Picture 7" descr="http://upload.wikimedia.org/wikipedia/commons/thumb/1/1a/John_W._Cahn.jpg/240px-John_W._Cahn.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875" y="4675188"/>
            <a:ext cx="11239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31" name="矩形 7"/>
          <p:cNvSpPr>
            <a:spLocks noChangeArrowheads="1"/>
          </p:cNvSpPr>
          <p:nvPr/>
        </p:nvSpPr>
        <p:spPr bwMode="auto">
          <a:xfrm>
            <a:off x="284163" y="6122988"/>
            <a:ext cx="1903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John W. Cahn</a:t>
            </a:r>
            <a:endParaRPr lang="zh-CN" altLang="en-US" sz="2400" b="0">
              <a:latin typeface="Times New Roman" panose="02020603050405020304" pitchFamily="18" charset="0"/>
              <a:ea typeface="宋体" panose="02010600030101010101" pitchFamily="2" charset="-122"/>
            </a:endParaRPr>
          </a:p>
        </p:txBody>
      </p:sp>
      <p:pic>
        <p:nvPicPr>
          <p:cNvPr id="158732" name="Picture 9" descr="http://www.cirs.net/Images/chercheurs/steinhardtP.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2757488"/>
            <a:ext cx="1100137" cy="137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33" name="矩形 9"/>
          <p:cNvSpPr>
            <a:spLocks noChangeArrowheads="1"/>
          </p:cNvSpPr>
          <p:nvPr/>
        </p:nvSpPr>
        <p:spPr bwMode="auto">
          <a:xfrm>
            <a:off x="306388" y="4137025"/>
            <a:ext cx="2070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1800" b="0">
                <a:solidFill>
                  <a:srgbClr val="000000"/>
                </a:solidFill>
                <a:ea typeface="宋体" panose="02010600030101010101" pitchFamily="2" charset="-122"/>
              </a:rPr>
              <a:t>Steinhardt</a:t>
            </a:r>
            <a:r>
              <a:rPr lang="zh-CN" altLang="zh-CN" sz="1800" b="0">
                <a:solidFill>
                  <a:srgbClr val="000000"/>
                </a:solidFill>
                <a:ea typeface="宋体" panose="02010600030101010101" pitchFamily="2" charset="-122"/>
              </a:rPr>
              <a:t>, P</a:t>
            </a:r>
            <a:r>
              <a:rPr lang="en-US" altLang="zh-CN" sz="1800" b="0">
                <a:solidFill>
                  <a:srgbClr val="000000"/>
                </a:solidFill>
                <a:ea typeface="宋体" panose="02010600030101010101" pitchFamily="2" charset="-122"/>
              </a:rPr>
              <a:t>aul</a:t>
            </a:r>
            <a:r>
              <a:rPr lang="zh-CN" altLang="zh-CN" sz="1800" b="0">
                <a:solidFill>
                  <a:srgbClr val="000000"/>
                </a:solidFill>
                <a:ea typeface="宋体" panose="02010600030101010101" pitchFamily="2" charset="-122"/>
              </a:rPr>
              <a:t> J.</a:t>
            </a:r>
            <a:endParaRPr lang="zh-CN" altLang="en-US" sz="1800" b="0">
              <a:latin typeface="Times New Roman" panose="02020603050405020304" pitchFamily="18" charset="0"/>
              <a:ea typeface="宋体" panose="02010600030101010101" pitchFamily="2" charset="-122"/>
            </a:endParaRPr>
          </a:p>
        </p:txBody>
      </p:sp>
      <p:sp>
        <p:nvSpPr>
          <p:cNvPr id="158734" name="矩形 10"/>
          <p:cNvSpPr>
            <a:spLocks noChangeArrowheads="1"/>
          </p:cNvSpPr>
          <p:nvPr/>
        </p:nvSpPr>
        <p:spPr bwMode="auto">
          <a:xfrm>
            <a:off x="539750" y="2068513"/>
            <a:ext cx="4032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b="0">
                <a:latin typeface="Times New Roman" panose="02020603050405020304" pitchFamily="18" charset="0"/>
                <a:ea typeface="宋体" panose="02010600030101010101" pitchFamily="2" charset="-122"/>
              </a:rPr>
              <a:t> Princeton University USA</a:t>
            </a:r>
            <a:endParaRPr lang="zh-CN" altLang="en-US" sz="2400" b="0">
              <a:latin typeface="Times New Roman" panose="02020603050405020304" pitchFamily="18" charset="0"/>
              <a:ea typeface="宋体" panose="02010600030101010101" pitchFamily="2" charset="-122"/>
            </a:endParaRPr>
          </a:p>
        </p:txBody>
      </p:sp>
      <p:sp>
        <p:nvSpPr>
          <p:cNvPr id="158735" name="下箭头 11"/>
          <p:cNvSpPr>
            <a:spLocks noChangeArrowheads="1"/>
          </p:cNvSpPr>
          <p:nvPr/>
        </p:nvSpPr>
        <p:spPr bwMode="auto">
          <a:xfrm rot="-1791188">
            <a:off x="2325688" y="2528888"/>
            <a:ext cx="417512" cy="747712"/>
          </a:xfrm>
          <a:prstGeom prst="downArrow">
            <a:avLst>
              <a:gd name="adj1" fmla="val 50000"/>
              <a:gd name="adj2" fmla="val 50178"/>
            </a:avLst>
          </a:prstGeom>
          <a:solidFill>
            <a:srgbClr val="00B0F0"/>
          </a:solidFill>
          <a:ln w="9525" algn="ctr">
            <a:solidFill>
              <a:schemeClr val="bg1"/>
            </a:solidFill>
            <a:round/>
          </a:ln>
        </p:spPr>
        <p:txBody>
          <a:bodyPr wrap="none" anchor="ct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2400" b="0">
              <a:latin typeface="Times New Roman" panose="02020603050405020304" pitchFamily="18" charset="0"/>
              <a:ea typeface="宋体" panose="02010600030101010101" pitchFamily="2" charset="-122"/>
            </a:endParaRPr>
          </a:p>
        </p:txBody>
      </p:sp>
      <p:sp>
        <p:nvSpPr>
          <p:cNvPr id="158736" name="上弧形箭头 1"/>
          <p:cNvSpPr>
            <a:spLocks noChangeArrowheads="1"/>
          </p:cNvSpPr>
          <p:nvPr/>
        </p:nvSpPr>
        <p:spPr bwMode="auto">
          <a:xfrm>
            <a:off x="4932363" y="2474913"/>
            <a:ext cx="1871662" cy="717550"/>
          </a:xfrm>
          <a:prstGeom prst="curvedDownArrow">
            <a:avLst>
              <a:gd name="adj1" fmla="val 24997"/>
              <a:gd name="adj2" fmla="val 50019"/>
              <a:gd name="adj3" fmla="val 25000"/>
            </a:avLst>
          </a:prstGeom>
          <a:solidFill>
            <a:srgbClr val="00B050"/>
          </a:solidFill>
          <a:ln w="9525" algn="ctr">
            <a:solidFill>
              <a:schemeClr val="bg1"/>
            </a:solidFill>
            <a:round/>
          </a:ln>
        </p:spPr>
        <p:txBody>
          <a:bodyPr wrap="none" anchor="ct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2400" b="0">
              <a:latin typeface="Times New Roman" panose="02020603050405020304" pitchFamily="18" charset="0"/>
              <a:ea typeface="宋体" panose="02010600030101010101" pitchFamily="2" charset="-122"/>
            </a:endParaRPr>
          </a:p>
        </p:txBody>
      </p:sp>
      <p:sp>
        <p:nvSpPr>
          <p:cNvPr id="17" name="文本框 16">
            <a:extLst>
              <a:ext uri="{FF2B5EF4-FFF2-40B4-BE49-F238E27FC236}">
                <a16:creationId xmlns:a16="http://schemas.microsoft.com/office/drawing/2014/main" id="{E76761E7-B1FA-49BC-BB10-E433DD3E305A}"/>
              </a:ext>
            </a:extLst>
          </p:cNvPr>
          <p:cNvSpPr txBox="1"/>
          <p:nvPr/>
        </p:nvSpPr>
        <p:spPr>
          <a:xfrm>
            <a:off x="3865563" y="6392862"/>
            <a:ext cx="5115503" cy="461665"/>
          </a:xfrm>
          <a:prstGeom prst="rect">
            <a:avLst/>
          </a:prstGeom>
          <a:solidFill>
            <a:schemeClr val="tx2">
              <a:lumMod val="20000"/>
              <a:lumOff val="80000"/>
            </a:schemeClr>
          </a:solidFill>
        </p:spPr>
        <p:txBody>
          <a:bodyPr wrap="none" rtlCol="0">
            <a:spAutoFit/>
          </a:bodyPr>
          <a:lstStyle/>
          <a:p>
            <a:r>
              <a:rPr lang="en-US" altLang="zh-CN" dirty="0"/>
              <a:t>Mini Project</a:t>
            </a:r>
            <a:r>
              <a:rPr lang="zh-CN" altLang="en-US" dirty="0"/>
              <a:t>：如何区别准晶和孪晶？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3"/>
          <p:cNvSpPr>
            <a:spLocks noChangeArrowheads="1"/>
          </p:cNvSpPr>
          <p:nvPr/>
        </p:nvSpPr>
        <p:spPr bwMode="hidden">
          <a:xfrm>
            <a:off x="1620838" y="152400"/>
            <a:ext cx="2244725" cy="5842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3200">
                <a:solidFill>
                  <a:srgbClr val="0000FF"/>
                </a:solidFill>
                <a:latin typeface="黑体" panose="02010609060101010101" pitchFamily="49" charset="-122"/>
              </a:rPr>
              <a:t>准晶的发表</a:t>
            </a:r>
          </a:p>
        </p:txBody>
      </p:sp>
      <p:graphicFrame>
        <p:nvGraphicFramePr>
          <p:cNvPr id="159747" name="对象 5"/>
          <p:cNvGraphicFramePr>
            <a:graphicFrameLocks noChangeAspect="1"/>
          </p:cNvGraphicFramePr>
          <p:nvPr/>
        </p:nvGraphicFramePr>
        <p:xfrm>
          <a:off x="4019550" y="3311525"/>
          <a:ext cx="5124450" cy="3529013"/>
        </p:xfrm>
        <a:graphic>
          <a:graphicData uri="http://schemas.openxmlformats.org/presentationml/2006/ole">
            <mc:AlternateContent xmlns:mc="http://schemas.openxmlformats.org/markup-compatibility/2006">
              <mc:Choice xmlns:v="urn:schemas-microsoft-com:vml" Requires="v">
                <p:oleObj name="BMP 图像" r:id="rId2" imgW="4676775" imgH="3371850" progId="Paint.Picture">
                  <p:embed/>
                </p:oleObj>
              </mc:Choice>
              <mc:Fallback>
                <p:oleObj name="BMP 图像" r:id="rId2" imgW="4676775" imgH="3371850" progId="Paint.Picture">
                  <p:embed/>
                  <p:pic>
                    <p:nvPicPr>
                      <p:cNvPr id="0" name="对象 5"/>
                      <p:cNvPicPr>
                        <a:picLocks noChangeAspect="1" noChangeArrowheads="1"/>
                      </p:cNvPicPr>
                      <p:nvPr/>
                    </p:nvPicPr>
                    <p:blipFill>
                      <a:blip r:embed="rId3">
                        <a:lum bright="-6000" contrast="12000"/>
                        <a:extLst>
                          <a:ext uri="{28A0092B-C50C-407E-A947-70E740481C1C}">
                            <a14:useLocalDpi xmlns:a14="http://schemas.microsoft.com/office/drawing/2010/main" val="0"/>
                          </a:ext>
                        </a:extLst>
                      </a:blip>
                      <a:srcRect/>
                      <a:stretch>
                        <a:fillRect/>
                      </a:stretch>
                    </p:blipFill>
                    <p:spPr bwMode="auto">
                      <a:xfrm>
                        <a:off x="4019550" y="3311525"/>
                        <a:ext cx="512445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8437" name="Picture 5"/>
          <p:cNvPicPr>
            <a:picLocks noChangeAspect="1" noChangeArrowheads="1"/>
          </p:cNvPicPr>
          <p:nvPr/>
        </p:nvPicPr>
        <p:blipFill>
          <a:blip r:embed="rId4">
            <a:extLst>
              <a:ext uri="{28A0092B-C50C-407E-A947-70E740481C1C}">
                <a14:useLocalDpi xmlns:a14="http://schemas.microsoft.com/office/drawing/2010/main" val="0"/>
              </a:ext>
            </a:extLst>
          </a:blip>
          <a:srcRect l="7858" r="2077"/>
          <a:stretch>
            <a:fillRect/>
          </a:stretch>
        </p:blipFill>
        <p:spPr bwMode="hidden">
          <a:xfrm>
            <a:off x="32774" y="1052739"/>
            <a:ext cx="5259313" cy="4392488"/>
          </a:xfrm>
          <a:prstGeom prst="round2DiagRect">
            <a:avLst>
              <a:gd name="adj1" fmla="val 16667"/>
              <a:gd name="adj2" fmla="val 0"/>
            </a:avLst>
          </a:prstGeom>
          <a:ln w="88900" cap="sq">
            <a:solidFill>
              <a:srgbClr val="FFFFFF"/>
            </a:solidFill>
            <a:miter lim="800000"/>
            <a:headEnd/>
            <a:tailEnd/>
          </a:ln>
          <a:effectLst>
            <a:outerShdw blurRad="254000" algn="tl" rotWithShape="0">
              <a:schemeClr val="tx2">
                <a:alpha val="43000"/>
              </a:schemeClr>
            </a:outerShdw>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Lst>
        </p:spPr>
      </p:pic>
      <p:pic>
        <p:nvPicPr>
          <p:cNvPr id="159749" name="Picture 6" descr="http://t2.gstatic.com/images?q=tbn:ANd9GcSivBk0WIuB9TOaO2jx8FCggEkXL0FqoMo5_Qlk32E7aZxalog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3713" y="908050"/>
            <a:ext cx="330835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矩形 4"/>
          <p:cNvSpPr>
            <a:spLocks noChangeArrowheads="1"/>
          </p:cNvSpPr>
          <p:nvPr/>
        </p:nvSpPr>
        <p:spPr bwMode="auto">
          <a:xfrm>
            <a:off x="2987675" y="1625600"/>
            <a:ext cx="5235575" cy="1016000"/>
          </a:xfrm>
          <a:prstGeom prst="rect">
            <a:avLst/>
          </a:prstGeom>
          <a:solidFill>
            <a:srgbClr val="7030A0">
              <a:alpha val="2509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b="0">
                <a:solidFill>
                  <a:srgbClr val="0070C0"/>
                </a:solidFill>
                <a:latin typeface="黑体" panose="02010609060101010101" pitchFamily="49" charset="-122"/>
              </a:rPr>
              <a:t>1985</a:t>
            </a:r>
            <a:r>
              <a:rPr lang="zh-CN" altLang="en-US" b="0">
                <a:solidFill>
                  <a:srgbClr val="0070C0"/>
                </a:solidFill>
                <a:latin typeface="黑体" panose="02010609060101010101" pitchFamily="49" charset="-122"/>
              </a:rPr>
              <a:t>年，</a:t>
            </a:r>
            <a:r>
              <a:rPr lang="en-US" altLang="zh-CN" b="0">
                <a:solidFill>
                  <a:srgbClr val="0070C0"/>
                </a:solidFill>
                <a:latin typeface="黑体" panose="02010609060101010101" pitchFamily="49" charset="-122"/>
              </a:rPr>
              <a:t>Pauling</a:t>
            </a:r>
            <a:r>
              <a:rPr lang="zh-CN" altLang="zh-CN" b="0">
                <a:solidFill>
                  <a:srgbClr val="0070C0"/>
                </a:solidFill>
                <a:latin typeface="黑体" panose="02010609060101010101" pitchFamily="49" charset="-122"/>
              </a:rPr>
              <a:t>的质疑文章发在</a:t>
            </a:r>
            <a:r>
              <a:rPr lang="en-US" altLang="zh-CN" b="0">
                <a:solidFill>
                  <a:srgbClr val="0070C0"/>
                </a:solidFill>
                <a:latin typeface="黑体" panose="02010609060101010101" pitchFamily="49" charset="-122"/>
              </a:rPr>
              <a:t>Nature</a:t>
            </a:r>
            <a:r>
              <a:rPr lang="zh-CN" altLang="zh-CN" b="0">
                <a:solidFill>
                  <a:srgbClr val="0070C0"/>
                </a:solidFill>
                <a:latin typeface="黑体" panose="02010609060101010101" pitchFamily="49" charset="-122"/>
              </a:rPr>
              <a:t>上</a:t>
            </a:r>
            <a:r>
              <a:rPr lang="zh-CN" altLang="zh-CN" b="0">
                <a:solidFill>
                  <a:srgbClr val="002060"/>
                </a:solidFill>
                <a:latin typeface="黑体" panose="02010609060101010101" pitchFamily="49" charset="-122"/>
              </a:rPr>
              <a:t>。</a:t>
            </a:r>
            <a:endParaRPr lang="en-US" altLang="zh-CN" b="0">
              <a:solidFill>
                <a:srgbClr val="002060"/>
              </a:solidFill>
              <a:latin typeface="黑体" panose="02010609060101010101" pitchFamily="49" charset="-122"/>
            </a:endParaRPr>
          </a:p>
          <a:p>
            <a:pPr eaLnBrk="1" hangingPunct="1">
              <a:spcBef>
                <a:spcPct val="0"/>
              </a:spcBef>
              <a:spcAft>
                <a:spcPct val="0"/>
              </a:spcAft>
              <a:buFontTx/>
              <a:buNone/>
            </a:pPr>
            <a:r>
              <a:rPr lang="en-US" altLang="zh-CN" b="0">
                <a:solidFill>
                  <a:srgbClr val="002060"/>
                </a:solidFill>
                <a:latin typeface="黑体" panose="02010609060101010101" pitchFamily="49" charset="-122"/>
              </a:rPr>
              <a:t>1986</a:t>
            </a:r>
            <a:r>
              <a:rPr lang="zh-CN" altLang="en-US" b="0">
                <a:solidFill>
                  <a:srgbClr val="002060"/>
                </a:solidFill>
                <a:latin typeface="黑体" panose="02010609060101010101" pitchFamily="49" charset="-122"/>
              </a:rPr>
              <a:t>年，</a:t>
            </a:r>
            <a:r>
              <a:rPr lang="en-US" altLang="zh-CN" b="0">
                <a:solidFill>
                  <a:srgbClr val="002060"/>
                </a:solidFill>
                <a:latin typeface="黑体" panose="02010609060101010101" pitchFamily="49" charset="-122"/>
              </a:rPr>
              <a:t>Shechtman</a:t>
            </a:r>
            <a:r>
              <a:rPr lang="zh-CN" altLang="zh-CN" b="0">
                <a:solidFill>
                  <a:srgbClr val="002060"/>
                </a:solidFill>
                <a:latin typeface="黑体" panose="02010609060101010101" pitchFamily="49" charset="-122"/>
              </a:rPr>
              <a:t>通过精确的观察否定了这些质疑，</a:t>
            </a:r>
            <a:r>
              <a:rPr lang="zh-CN" altLang="zh-CN" b="0">
                <a:solidFill>
                  <a:srgbClr val="006600"/>
                </a:solidFill>
                <a:latin typeface="黑体" panose="02010609060101010101" pitchFamily="49" charset="-122"/>
              </a:rPr>
              <a:t>其反驳文章也发在</a:t>
            </a:r>
            <a:r>
              <a:rPr lang="en-US" altLang="zh-CN" b="0">
                <a:solidFill>
                  <a:srgbClr val="006600"/>
                </a:solidFill>
                <a:latin typeface="黑体" panose="02010609060101010101" pitchFamily="49" charset="-122"/>
              </a:rPr>
              <a:t>Nature</a:t>
            </a:r>
            <a:r>
              <a:rPr lang="zh-CN" altLang="en-US" b="0">
                <a:solidFill>
                  <a:srgbClr val="006600"/>
                </a:solidFill>
                <a:latin typeface="黑体" panose="02010609060101010101" pitchFamily="49" charset="-122"/>
              </a:rPr>
              <a:t>上</a:t>
            </a:r>
            <a:r>
              <a:rPr lang="zh-CN" altLang="zh-CN" b="0">
                <a:solidFill>
                  <a:srgbClr val="002060"/>
                </a:solidFill>
                <a:latin typeface="黑体" panose="02010609060101010101" pitchFamily="49" charset="-122"/>
              </a:rPr>
              <a:t>。</a:t>
            </a:r>
            <a:endParaRPr lang="zh-CN" altLang="en-US" b="0">
              <a:solidFill>
                <a:srgbClr val="002060"/>
              </a:solidFill>
              <a:latin typeface="黑体" panose="02010609060101010101" pitchFamily="49" charset="-122"/>
            </a:endParaRPr>
          </a:p>
        </p:txBody>
      </p:sp>
      <p:pic>
        <p:nvPicPr>
          <p:cNvPr id="1607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hidden">
          <a:xfrm>
            <a:off x="4478338" y="2689225"/>
            <a:ext cx="3586162" cy="64135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07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hidden">
          <a:xfrm>
            <a:off x="4478338" y="3249613"/>
            <a:ext cx="3455987" cy="1368425"/>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hidden">
          <a:xfrm>
            <a:off x="379421" y="4276726"/>
            <a:ext cx="2968625" cy="1600200"/>
          </a:xfrm>
          <a:prstGeom prst="rect">
            <a:avLst/>
          </a:prstGeom>
          <a:ln w="190500" cap="sq">
            <a:solidFill>
              <a:srgbClr val="C8C6BD"/>
            </a:solidFill>
            <a:prstDash val="solid"/>
            <a:miter lim="800000"/>
            <a:headEnd/>
            <a:tailEnd/>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Lst>
        </p:spPr>
      </p:pic>
      <p:pic>
        <p:nvPicPr>
          <p:cNvPr id="1607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hidden">
          <a:xfrm>
            <a:off x="239713" y="3933825"/>
            <a:ext cx="3352800" cy="3429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077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hidden">
          <a:xfrm>
            <a:off x="382588" y="5876925"/>
            <a:ext cx="2965450" cy="588963"/>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0776" name="矩形 3"/>
          <p:cNvSpPr>
            <a:spLocks noChangeArrowheads="1"/>
          </p:cNvSpPr>
          <p:nvPr/>
        </p:nvSpPr>
        <p:spPr bwMode="auto">
          <a:xfrm>
            <a:off x="684213" y="188913"/>
            <a:ext cx="5929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3200" b="0">
                <a:solidFill>
                  <a:srgbClr val="0000FF"/>
                </a:solidFill>
                <a:latin typeface="黑体" panose="02010609060101010101" pitchFamily="49" charset="-122"/>
              </a:rPr>
              <a:t>Pauling and Shechtman</a:t>
            </a:r>
            <a:r>
              <a:rPr lang="zh-CN" altLang="en-US" sz="3200" b="0">
                <a:solidFill>
                  <a:srgbClr val="0000FF"/>
                </a:solidFill>
                <a:latin typeface="黑体" panose="02010609060101010101" pitchFamily="49" charset="-122"/>
              </a:rPr>
              <a:t> 的论战</a:t>
            </a:r>
            <a:endParaRPr lang="zh-CN" altLang="zh-CN" sz="3200" b="0">
              <a:solidFill>
                <a:srgbClr val="0000FF"/>
              </a:solidFill>
              <a:latin typeface="黑体" panose="02010609060101010101" pitchFamily="49" charset="-122"/>
            </a:endParaRPr>
          </a:p>
        </p:txBody>
      </p:sp>
      <p:sp>
        <p:nvSpPr>
          <p:cNvPr id="160777" name="矩形 1"/>
          <p:cNvSpPr>
            <a:spLocks noChangeArrowheads="1"/>
          </p:cNvSpPr>
          <p:nvPr/>
        </p:nvSpPr>
        <p:spPr bwMode="auto">
          <a:xfrm>
            <a:off x="368300" y="1000125"/>
            <a:ext cx="8531225" cy="338138"/>
          </a:xfrm>
          <a:prstGeom prst="rect">
            <a:avLst/>
          </a:prstGeom>
          <a:solidFill>
            <a:srgbClr val="00B050">
              <a:alpha val="12941"/>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1600" b="0">
                <a:solidFill>
                  <a:srgbClr val="C00000"/>
                </a:solidFill>
                <a:latin typeface="Times New Roman" panose="02020603050405020304" pitchFamily="18" charset="0"/>
                <a:ea typeface="宋体" panose="02010600030101010101" pitchFamily="2" charset="-122"/>
              </a:rPr>
              <a:t>“ Danny Shechtman is talking nonsense. There is no such thing as quasicrystals, only quasi-scientists.” </a:t>
            </a:r>
            <a:endParaRPr lang="zh-CN" altLang="en-US" sz="1600" b="0">
              <a:solidFill>
                <a:srgbClr val="C00000"/>
              </a:solidFill>
              <a:latin typeface="Times New Roman" panose="02020603050405020304" pitchFamily="18" charset="0"/>
              <a:ea typeface="宋体" panose="02010600030101010101" pitchFamily="2" charset="-122"/>
            </a:endParaRPr>
          </a:p>
        </p:txBody>
      </p:sp>
      <p:sp>
        <p:nvSpPr>
          <p:cNvPr id="3" name="矩形 2"/>
          <p:cNvSpPr/>
          <p:nvPr/>
        </p:nvSpPr>
        <p:spPr>
          <a:xfrm>
            <a:off x="3913188" y="4730750"/>
            <a:ext cx="4716462" cy="2032000"/>
          </a:xfrm>
          <a:prstGeom prst="rect">
            <a:avLst/>
          </a:prstGeom>
          <a:solidFill>
            <a:srgbClr val="00CCFF">
              <a:alpha val="21000"/>
            </a:srgbClr>
          </a:solidFill>
        </p:spPr>
        <p:txBody>
          <a:bodyPr>
            <a:spAutoFit/>
          </a:bodyPr>
          <a:lstStyle/>
          <a:p>
            <a:pPr>
              <a:defRPr/>
            </a:pPr>
            <a:r>
              <a:rPr lang="en-US" altLang="zh-CN" sz="1800" dirty="0">
                <a:solidFill>
                  <a:srgbClr val="C00000"/>
                </a:solidFill>
                <a:latin typeface="+mj-lt"/>
                <a:ea typeface="黑体" panose="02010609060101010101" pitchFamily="49" charset="-122"/>
              </a:rPr>
              <a:t>1990</a:t>
            </a:r>
            <a:r>
              <a:rPr lang="zh-CN" altLang="zh-CN" sz="1800" dirty="0">
                <a:solidFill>
                  <a:srgbClr val="C00000"/>
                </a:solidFill>
                <a:latin typeface="+mj-lt"/>
                <a:ea typeface="黑体" panose="02010609060101010101" pitchFamily="49" charset="-122"/>
              </a:rPr>
              <a:t>年</a:t>
            </a:r>
            <a:r>
              <a:rPr lang="zh-CN" altLang="zh-CN" sz="1800" dirty="0">
                <a:latin typeface="+mj-lt"/>
                <a:ea typeface="黑体" panose="02010609060101010101" pitchFamily="49" charset="-122"/>
              </a:rPr>
              <a:t>，</a:t>
            </a:r>
            <a:r>
              <a:rPr lang="en-US" altLang="zh-CN" sz="1800" dirty="0">
                <a:latin typeface="+mj-lt"/>
                <a:ea typeface="黑体" panose="02010609060101010101" pitchFamily="49" charset="-122"/>
              </a:rPr>
              <a:t>Linus Pauling</a:t>
            </a:r>
            <a:r>
              <a:rPr lang="zh-CN" altLang="zh-CN" sz="1800" dirty="0">
                <a:latin typeface="+mj-lt"/>
                <a:ea typeface="黑体" panose="02010609060101010101" pitchFamily="49" charset="-122"/>
              </a:rPr>
              <a:t>向</a:t>
            </a:r>
            <a:r>
              <a:rPr lang="en-US" altLang="zh-CN" sz="1800" dirty="0">
                <a:latin typeface="+mj-lt"/>
                <a:ea typeface="黑体" panose="02010609060101010101" pitchFamily="49" charset="-122"/>
              </a:rPr>
              <a:t>Daniel</a:t>
            </a:r>
            <a:r>
              <a:rPr lang="zh-CN" altLang="zh-CN" sz="1800" dirty="0">
                <a:latin typeface="+mj-lt"/>
                <a:ea typeface="黑体" panose="02010609060101010101" pitchFamily="49" charset="-122"/>
              </a:rPr>
              <a:t>伸去了橄榄枝，邀请他共同写篇文章</a:t>
            </a:r>
            <a:r>
              <a:rPr lang="en-US" altLang="zh-CN" sz="1800" dirty="0">
                <a:latin typeface="+mj-lt"/>
                <a:ea typeface="黑体" panose="02010609060101010101" pitchFamily="49" charset="-122"/>
              </a:rPr>
              <a:t> “</a:t>
            </a:r>
            <a:r>
              <a:rPr lang="en-US" altLang="zh-CN" sz="1800" dirty="0" err="1">
                <a:latin typeface="+mj-lt"/>
                <a:ea typeface="黑体" panose="02010609060101010101" pitchFamily="49" charset="-122"/>
              </a:rPr>
              <a:t>Shechtman</a:t>
            </a:r>
            <a:r>
              <a:rPr lang="en-US" altLang="zh-CN" sz="1800" dirty="0">
                <a:latin typeface="+mj-lt"/>
                <a:ea typeface="黑体" panose="02010609060101010101" pitchFamily="49" charset="-122"/>
              </a:rPr>
              <a:t>-Pauling,” on </a:t>
            </a:r>
            <a:r>
              <a:rPr lang="en-US" altLang="zh-CN" sz="1800" dirty="0" err="1">
                <a:latin typeface="+mj-lt"/>
                <a:ea typeface="黑体" panose="02010609060101010101" pitchFamily="49" charset="-122"/>
              </a:rPr>
              <a:t>quasiperiodic</a:t>
            </a:r>
            <a:r>
              <a:rPr lang="en-US" altLang="zh-CN" sz="1800" dirty="0">
                <a:latin typeface="+mj-lt"/>
                <a:ea typeface="黑体" panose="02010609060101010101" pitchFamily="49" charset="-122"/>
              </a:rPr>
              <a:t> crystals</a:t>
            </a:r>
            <a:r>
              <a:rPr lang="zh-CN" altLang="zh-CN" sz="1800" dirty="0">
                <a:latin typeface="+mj-lt"/>
                <a:ea typeface="黑体" panose="02010609060101010101" pitchFamily="49" charset="-122"/>
              </a:rPr>
              <a:t>，</a:t>
            </a:r>
            <a:r>
              <a:rPr lang="en-US" altLang="zh-CN" sz="1800" dirty="0">
                <a:latin typeface="+mj-lt"/>
                <a:ea typeface="黑体" panose="02010609060101010101" pitchFamily="49" charset="-122"/>
              </a:rPr>
              <a:t>Daniel</a:t>
            </a:r>
            <a:r>
              <a:rPr lang="zh-CN" altLang="zh-CN" sz="1800" dirty="0">
                <a:latin typeface="+mj-lt"/>
                <a:ea typeface="黑体" panose="02010609060101010101" pitchFamily="49" charset="-122"/>
              </a:rPr>
              <a:t>回信</a:t>
            </a:r>
            <a:r>
              <a:rPr lang="zh-CN" altLang="en-US" sz="1800" dirty="0">
                <a:latin typeface="+mj-lt"/>
                <a:ea typeface="黑体" panose="02010609060101010101" pitchFamily="49" charset="-122"/>
              </a:rPr>
              <a:t>，</a:t>
            </a:r>
            <a:r>
              <a:rPr lang="zh-CN" altLang="zh-CN" sz="1800" dirty="0">
                <a:latin typeface="+mj-lt"/>
                <a:ea typeface="黑体" panose="02010609060101010101" pitchFamily="49" charset="-122"/>
              </a:rPr>
              <a:t>很高兴写这个东西，不过</a:t>
            </a:r>
            <a:r>
              <a:rPr lang="en-US" altLang="zh-CN" sz="1800" dirty="0">
                <a:latin typeface="+mj-lt"/>
                <a:ea typeface="黑体" panose="02010609060101010101" pitchFamily="49" charset="-122"/>
              </a:rPr>
              <a:t>Linus</a:t>
            </a:r>
            <a:r>
              <a:rPr lang="zh-CN" altLang="zh-CN" sz="1800" dirty="0">
                <a:latin typeface="+mj-lt"/>
                <a:ea typeface="黑体" panose="02010609060101010101" pitchFamily="49" charset="-122"/>
              </a:rPr>
              <a:t>要首先承认准晶是存在的</a:t>
            </a:r>
            <a:r>
              <a:rPr lang="zh-CN" altLang="en-US" sz="1800" dirty="0">
                <a:latin typeface="+mj-lt"/>
                <a:ea typeface="黑体" panose="02010609060101010101" pitchFamily="49" charset="-122"/>
              </a:rPr>
              <a:t>；</a:t>
            </a:r>
            <a:r>
              <a:rPr lang="en-US" altLang="zh-CN" sz="1800" dirty="0">
                <a:latin typeface="+mj-lt"/>
                <a:ea typeface="黑体" panose="02010609060101010101" pitchFamily="49" charset="-122"/>
              </a:rPr>
              <a:t>Linus</a:t>
            </a:r>
            <a:r>
              <a:rPr lang="zh-CN" altLang="zh-CN" sz="1800" dirty="0">
                <a:latin typeface="+mj-lt"/>
                <a:ea typeface="黑体" panose="02010609060101010101" pitchFamily="49" charset="-122"/>
              </a:rPr>
              <a:t>回复</a:t>
            </a:r>
            <a:r>
              <a:rPr lang="zh-CN" altLang="en-US" sz="1800" dirty="0">
                <a:latin typeface="+mj-lt"/>
                <a:ea typeface="黑体" panose="02010609060101010101" pitchFamily="49" charset="-122"/>
              </a:rPr>
              <a:t>，</a:t>
            </a:r>
            <a:r>
              <a:rPr lang="zh-CN" altLang="zh-CN" sz="1800" dirty="0">
                <a:latin typeface="+mj-lt"/>
                <a:ea typeface="黑体" panose="02010609060101010101" pitchFamily="49" charset="-122"/>
              </a:rPr>
              <a:t>那这篇共同署名的文章时机还不成熟。</a:t>
            </a:r>
            <a:endParaRPr lang="zh-CN" altLang="en-US" sz="1800" dirty="0">
              <a:latin typeface="+mj-lt"/>
              <a:ea typeface="黑体" panose="02010609060101010101" pitchFamily="49" charset="-122"/>
            </a:endParaRPr>
          </a:p>
        </p:txBody>
      </p:sp>
      <p:pic>
        <p:nvPicPr>
          <p:cNvPr id="160779" name="图片 10" descr="http://a4.att.hoodong.com/80/95/01300000190939121426958706746_140.jpg">
            <a:hlinkClick r:id="rId7" tooltip="&quot;&quo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1412875"/>
            <a:ext cx="1804987"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80" name="左弧形箭头 1"/>
          <p:cNvSpPr>
            <a:spLocks noChangeArrowheads="1"/>
          </p:cNvSpPr>
          <p:nvPr/>
        </p:nvSpPr>
        <p:spPr bwMode="auto">
          <a:xfrm flipH="1">
            <a:off x="8005763" y="1858963"/>
            <a:ext cx="688975" cy="1930400"/>
          </a:xfrm>
          <a:prstGeom prst="curvedRightArrow">
            <a:avLst>
              <a:gd name="adj1" fmla="val 24983"/>
              <a:gd name="adj2" fmla="val 49992"/>
              <a:gd name="adj3" fmla="val 25000"/>
            </a:avLst>
          </a:prstGeom>
          <a:solidFill>
            <a:srgbClr val="0070C0"/>
          </a:solidFill>
          <a:ln w="9525" algn="ctr">
            <a:solidFill>
              <a:schemeClr val="bg1"/>
            </a:solidFill>
            <a:round/>
          </a:ln>
        </p:spPr>
        <p:txBody>
          <a:bodyPr wrap="none" anchor="ct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2400" b="0">
              <a:latin typeface="Times New Roman" panose="02020603050405020304" pitchFamily="18" charset="0"/>
              <a:ea typeface="宋体" panose="02010600030101010101" pitchFamily="2" charset="-122"/>
            </a:endParaRPr>
          </a:p>
        </p:txBody>
      </p:sp>
      <p:sp>
        <p:nvSpPr>
          <p:cNvPr id="160781" name="左箭头 4"/>
          <p:cNvSpPr>
            <a:spLocks noChangeArrowheads="1"/>
          </p:cNvSpPr>
          <p:nvPr/>
        </p:nvSpPr>
        <p:spPr bwMode="auto">
          <a:xfrm rot="-2429041">
            <a:off x="2695575" y="3116263"/>
            <a:ext cx="1906588" cy="396875"/>
          </a:xfrm>
          <a:prstGeom prst="leftArrow">
            <a:avLst>
              <a:gd name="adj1" fmla="val 50000"/>
              <a:gd name="adj2" fmla="val 50131"/>
            </a:avLst>
          </a:prstGeom>
          <a:solidFill>
            <a:srgbClr val="006600"/>
          </a:solidFill>
          <a:ln w="9525" algn="ctr">
            <a:solidFill>
              <a:schemeClr val="bg1"/>
            </a:solidFill>
            <a:round/>
          </a:ln>
        </p:spPr>
        <p:txBody>
          <a:bodyPr wrap="none" anchor="ct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2400" b="0">
              <a:latin typeface="Times New Roman" panose="02020603050405020304" pitchFamily="18" charset="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hidden">
          <a:xfrm>
            <a:off x="157163" y="2252663"/>
            <a:ext cx="6462712" cy="1662112"/>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1795" name="矩形 1"/>
          <p:cNvSpPr>
            <a:spLocks noChangeArrowheads="1"/>
          </p:cNvSpPr>
          <p:nvPr/>
        </p:nvSpPr>
        <p:spPr bwMode="auto">
          <a:xfrm>
            <a:off x="179388" y="1052513"/>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fr-FR" altLang="zh-CN" sz="2400">
                <a:solidFill>
                  <a:srgbClr val="002060"/>
                </a:solidFill>
                <a:latin typeface="Times New Roman" panose="02020603050405020304" pitchFamily="18" charset="0"/>
                <a:ea typeface="宋体" panose="02010600030101010101" pitchFamily="2" charset="-122"/>
              </a:rPr>
              <a:t>Surface Science</a:t>
            </a:r>
            <a:br>
              <a:rPr lang="fr-FR" altLang="zh-CN" sz="2400" b="0">
                <a:solidFill>
                  <a:srgbClr val="002060"/>
                </a:solidFill>
                <a:latin typeface="Times New Roman" panose="02020603050405020304" pitchFamily="18" charset="0"/>
                <a:ea typeface="宋体" panose="02010600030101010101" pitchFamily="2" charset="-122"/>
              </a:rPr>
            </a:br>
            <a:r>
              <a:rPr lang="fr-FR" altLang="zh-CN" sz="2400" b="0">
                <a:solidFill>
                  <a:srgbClr val="002060"/>
                </a:solidFill>
                <a:latin typeface="Times New Roman" panose="02020603050405020304" pitchFamily="18" charset="0"/>
                <a:ea typeface="宋体" panose="02010600030101010101" pitchFamily="2" charset="-122"/>
              </a:rPr>
              <a:t>Volume 156, Part 1, 3 June 1985, Pages 241-248</a:t>
            </a:r>
            <a:endParaRPr lang="zh-CN" altLang="en-US" sz="2400" b="0">
              <a:solidFill>
                <a:srgbClr val="002060"/>
              </a:solidFill>
              <a:latin typeface="Times New Roman" panose="02020603050405020304" pitchFamily="18" charset="0"/>
              <a:ea typeface="宋体" panose="02010600030101010101" pitchFamily="2" charset="-122"/>
            </a:endParaRPr>
          </a:p>
        </p:txBody>
      </p:sp>
      <p:sp>
        <p:nvSpPr>
          <p:cNvPr id="161796" name="矩形 2"/>
          <p:cNvSpPr>
            <a:spLocks noChangeArrowheads="1"/>
          </p:cNvSpPr>
          <p:nvPr/>
        </p:nvSpPr>
        <p:spPr bwMode="auto">
          <a:xfrm>
            <a:off x="1157288" y="188913"/>
            <a:ext cx="59356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zh-CN" sz="3200" b="0">
                <a:solidFill>
                  <a:srgbClr val="0000FF"/>
                </a:solidFill>
                <a:latin typeface="黑体" panose="02010609060101010101" pitchFamily="49" charset="-122"/>
              </a:rPr>
              <a:t>十二次对称性</a:t>
            </a:r>
            <a:r>
              <a:rPr lang="zh-CN" altLang="en-US" sz="3200" b="0">
                <a:solidFill>
                  <a:srgbClr val="0000FF"/>
                </a:solidFill>
                <a:latin typeface="黑体" panose="02010609060101010101" pitchFamily="49" charset="-122"/>
              </a:rPr>
              <a:t>的发现</a:t>
            </a:r>
          </a:p>
        </p:txBody>
      </p:sp>
      <p:sp>
        <p:nvSpPr>
          <p:cNvPr id="161797" name="矩形 3"/>
          <p:cNvSpPr>
            <a:spLocks noChangeArrowheads="1"/>
          </p:cNvSpPr>
          <p:nvPr/>
        </p:nvSpPr>
        <p:spPr bwMode="auto">
          <a:xfrm>
            <a:off x="5292725" y="1168400"/>
            <a:ext cx="12620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2400" b="0">
                <a:solidFill>
                  <a:srgbClr val="0000FF"/>
                </a:solidFill>
                <a:latin typeface="黑体" panose="02010609060101010101" pitchFamily="49" charset="-122"/>
              </a:rPr>
              <a:t>石政 勉</a:t>
            </a:r>
          </a:p>
        </p:txBody>
      </p:sp>
      <p:pic>
        <p:nvPicPr>
          <p:cNvPr id="161798" name="Picture 4" descr="石政勉氏"/>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6863" y="508000"/>
            <a:ext cx="1657350"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9" name="矩形 6"/>
          <p:cNvSpPr>
            <a:spLocks noChangeArrowheads="1"/>
          </p:cNvSpPr>
          <p:nvPr/>
        </p:nvSpPr>
        <p:spPr bwMode="auto">
          <a:xfrm>
            <a:off x="4113213" y="1901825"/>
            <a:ext cx="2338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2400" b="0">
                <a:solidFill>
                  <a:srgbClr val="0000FF"/>
                </a:solidFill>
                <a:latin typeface="黑体" panose="02010609060101010101" pitchFamily="49" charset="-122"/>
              </a:rPr>
              <a:t>现：北海道大学</a:t>
            </a:r>
          </a:p>
        </p:txBody>
      </p:sp>
      <p:sp>
        <p:nvSpPr>
          <p:cNvPr id="161800" name="矩形 4"/>
          <p:cNvSpPr>
            <a:spLocks noChangeArrowheads="1"/>
          </p:cNvSpPr>
          <p:nvPr/>
        </p:nvSpPr>
        <p:spPr bwMode="auto">
          <a:xfrm>
            <a:off x="474663" y="4437063"/>
            <a:ext cx="39798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1985</a:t>
            </a:r>
            <a:r>
              <a:rPr lang="zh-CN" altLang="zh-CN" sz="2400" b="0">
                <a:latin typeface="Times New Roman" panose="02020603050405020304" pitchFamily="18" charset="0"/>
                <a:ea typeface="宋体" panose="02010600030101010101" pitchFamily="2" charset="-122"/>
              </a:rPr>
              <a:t>年</a:t>
            </a:r>
            <a:r>
              <a:rPr lang="en-US" altLang="zh-CN" sz="2400" b="0">
                <a:latin typeface="Times New Roman" panose="02020603050405020304" pitchFamily="18" charset="0"/>
                <a:ea typeface="宋体" panose="02010600030101010101" pitchFamily="2" charset="-122"/>
              </a:rPr>
              <a:t>Ishimasa</a:t>
            </a:r>
            <a:r>
              <a:rPr lang="zh-CN" altLang="zh-CN" sz="2400" b="0">
                <a:latin typeface="Times New Roman" panose="02020603050405020304" pitchFamily="18" charset="0"/>
                <a:ea typeface="宋体" panose="02010600030101010101" pitchFamily="2" charset="-122"/>
              </a:rPr>
              <a:t>等人报道了</a:t>
            </a:r>
            <a:endParaRPr lang="en-US" altLang="zh-CN" sz="2400" b="0">
              <a:latin typeface="Times New Roman" panose="02020603050405020304" pitchFamily="18" charset="0"/>
              <a:ea typeface="宋体" panose="02010600030101010101" pitchFamily="2" charset="-122"/>
            </a:endParaRPr>
          </a:p>
          <a:p>
            <a:pPr eaLnBrk="1" hangingPunct="1">
              <a:spcBef>
                <a:spcPct val="0"/>
              </a:spcBef>
              <a:spcAft>
                <a:spcPct val="0"/>
              </a:spcAft>
              <a:buFontTx/>
              <a:buNone/>
            </a:pPr>
            <a:r>
              <a:rPr lang="en-US" altLang="zh-CN" sz="2400" b="0">
                <a:latin typeface="Times New Roman" panose="02020603050405020304" pitchFamily="18" charset="0"/>
                <a:ea typeface="宋体" panose="02010600030101010101" pitchFamily="2" charset="-122"/>
              </a:rPr>
              <a:t>Ni-Cr</a:t>
            </a:r>
            <a:r>
              <a:rPr lang="zh-CN" altLang="zh-CN" sz="2400" b="0">
                <a:latin typeface="Times New Roman" panose="02020603050405020304" pitchFamily="18" charset="0"/>
                <a:ea typeface="宋体" panose="02010600030101010101" pitchFamily="2" charset="-122"/>
              </a:rPr>
              <a:t>颗粒中的十二次对称性</a:t>
            </a:r>
            <a:endParaRPr lang="zh-CN" altLang="en-US" sz="2400" b="0">
              <a:latin typeface="Times New Roman" panose="02020603050405020304" pitchFamily="18" charset="0"/>
              <a:ea typeface="宋体" panose="02010600030101010101" pitchFamily="2" charset="-122"/>
            </a:endParaRPr>
          </a:p>
        </p:txBody>
      </p:sp>
      <p:pic>
        <p:nvPicPr>
          <p:cNvPr id="161801" name="Picture 8"/>
          <p:cNvPicPr>
            <a:picLocks noChangeAspect="1" noChangeArrowheads="1"/>
          </p:cNvPicPr>
          <p:nvPr/>
        </p:nvPicPr>
        <p:blipFill>
          <a:blip r:embed="rId4">
            <a:lum bright="-6000"/>
            <a:extLst>
              <a:ext uri="{28A0092B-C50C-407E-A947-70E740481C1C}">
                <a14:useLocalDpi xmlns:a14="http://schemas.microsoft.com/office/drawing/2010/main" val="0"/>
              </a:ext>
            </a:extLst>
          </a:blip>
          <a:srcRect/>
          <a:stretch>
            <a:fillRect/>
          </a:stretch>
        </p:blipFill>
        <p:spPr bwMode="auto">
          <a:xfrm>
            <a:off x="4860925" y="3084513"/>
            <a:ext cx="3573463" cy="333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ChangeArrowheads="1"/>
          </p:cNvSpPr>
          <p:nvPr/>
        </p:nvSpPr>
        <p:spPr bwMode="auto">
          <a:xfrm>
            <a:off x="542925" y="1066800"/>
            <a:ext cx="4460875" cy="17541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just" eaLnBrk="1" hangingPunct="1">
              <a:lnSpc>
                <a:spcPct val="180000"/>
              </a:lnSpc>
              <a:spcBef>
                <a:spcPct val="0"/>
              </a:spcBef>
              <a:spcAft>
                <a:spcPct val="0"/>
              </a:spcAft>
              <a:buFontTx/>
              <a:buNone/>
            </a:pPr>
            <a:r>
              <a:rPr lang="zh-CN" altLang="en-US" b="0">
                <a:solidFill>
                  <a:srgbClr val="002060"/>
                </a:solidFill>
                <a:latin typeface="黑体" panose="02010609060101010101" pitchFamily="49" charset="-122"/>
              </a:rPr>
              <a:t>中科院金属所，物理所 研究员</a:t>
            </a:r>
          </a:p>
          <a:p>
            <a:pPr algn="just" eaLnBrk="1" hangingPunct="1">
              <a:lnSpc>
                <a:spcPct val="150000"/>
              </a:lnSpc>
              <a:spcBef>
                <a:spcPct val="0"/>
              </a:spcBef>
              <a:spcAft>
                <a:spcPct val="0"/>
              </a:spcAft>
              <a:buFontTx/>
              <a:buNone/>
            </a:pPr>
            <a:r>
              <a:rPr lang="en-US" altLang="zh-CN" sz="1600" b="0">
                <a:solidFill>
                  <a:schemeClr val="tx2"/>
                </a:solidFill>
                <a:latin typeface="黑体" panose="02010609060101010101" pitchFamily="49" charset="-122"/>
              </a:rPr>
              <a:t>1984-1985</a:t>
            </a:r>
            <a:r>
              <a:rPr lang="zh-CN" altLang="en-US" sz="1600" b="0">
                <a:solidFill>
                  <a:schemeClr val="tx2"/>
                </a:solidFill>
                <a:latin typeface="黑体" panose="02010609060101010101" pitchFamily="49" charset="-122"/>
              </a:rPr>
              <a:t>年：</a:t>
            </a:r>
            <a:r>
              <a:rPr lang="en-US" altLang="zh-CN" sz="1600" b="0">
                <a:solidFill>
                  <a:schemeClr val="tx2"/>
                </a:solidFill>
                <a:latin typeface="黑体" panose="02010609060101010101" pitchFamily="49" charset="-122"/>
              </a:rPr>
              <a:t>Ti-V-Ni, Ti-Fe, Ti-Co</a:t>
            </a:r>
          </a:p>
          <a:p>
            <a:pPr algn="just" eaLnBrk="1" hangingPunct="1">
              <a:lnSpc>
                <a:spcPct val="150000"/>
              </a:lnSpc>
              <a:spcBef>
                <a:spcPct val="0"/>
              </a:spcBef>
              <a:spcAft>
                <a:spcPct val="0"/>
              </a:spcAft>
              <a:buFontTx/>
              <a:buNone/>
            </a:pPr>
            <a:r>
              <a:rPr lang="en-US" altLang="zh-CN" sz="1600" b="0">
                <a:solidFill>
                  <a:srgbClr val="F85004"/>
                </a:solidFill>
                <a:latin typeface="Times New Roman" panose="02020603050405020304" pitchFamily="18" charset="0"/>
              </a:rPr>
              <a:t>“</a:t>
            </a:r>
            <a:r>
              <a:rPr lang="zh-CN" altLang="en-US" sz="1600" b="0">
                <a:solidFill>
                  <a:srgbClr val="F85004"/>
                </a:solidFill>
                <a:latin typeface="黑体" panose="02010609060101010101" pitchFamily="49" charset="-122"/>
              </a:rPr>
              <a:t>五次对称性及</a:t>
            </a:r>
            <a:r>
              <a:rPr lang="en-US" altLang="zh-CN" sz="1600" b="0">
                <a:solidFill>
                  <a:srgbClr val="F85004"/>
                </a:solidFill>
                <a:latin typeface="黑体" panose="02010609060101010101" pitchFamily="49" charset="-122"/>
              </a:rPr>
              <a:t>Ti-Ni</a:t>
            </a:r>
            <a:r>
              <a:rPr lang="zh-CN" altLang="en-US" sz="1600" b="0">
                <a:solidFill>
                  <a:srgbClr val="F85004"/>
                </a:solidFill>
                <a:latin typeface="黑体" panose="02010609060101010101" pitchFamily="49" charset="-122"/>
              </a:rPr>
              <a:t>准晶相的发现与研究</a:t>
            </a:r>
            <a:r>
              <a:rPr lang="zh-CN" altLang="en-US" sz="1600" b="0">
                <a:solidFill>
                  <a:srgbClr val="F85004"/>
                </a:solidFill>
                <a:latin typeface="Times New Roman" panose="02020603050405020304" pitchFamily="18" charset="0"/>
              </a:rPr>
              <a:t>”</a:t>
            </a:r>
            <a:endParaRPr lang="zh-CN" altLang="en-US" sz="1600" b="0">
              <a:solidFill>
                <a:srgbClr val="F85004"/>
              </a:solidFill>
              <a:latin typeface="黑体" panose="02010609060101010101" pitchFamily="49" charset="-122"/>
            </a:endParaRPr>
          </a:p>
          <a:p>
            <a:pPr algn="just" eaLnBrk="1" hangingPunct="1">
              <a:lnSpc>
                <a:spcPct val="150000"/>
              </a:lnSpc>
              <a:spcBef>
                <a:spcPct val="0"/>
              </a:spcBef>
              <a:spcAft>
                <a:spcPct val="0"/>
              </a:spcAft>
              <a:buFontTx/>
              <a:buNone/>
            </a:pPr>
            <a:r>
              <a:rPr lang="zh-CN" altLang="en-US" sz="1600" b="0">
                <a:solidFill>
                  <a:schemeClr val="tx2"/>
                </a:solidFill>
                <a:latin typeface="黑体" panose="02010609060101010101" pitchFamily="49" charset="-122"/>
              </a:rPr>
              <a:t>在</a:t>
            </a:r>
            <a:r>
              <a:rPr lang="en-US" altLang="zh-CN" sz="1600" b="0">
                <a:solidFill>
                  <a:schemeClr val="tx2"/>
                </a:solidFill>
                <a:latin typeface="黑体" panose="02010609060101010101" pitchFamily="49" charset="-122"/>
              </a:rPr>
              <a:t>1987</a:t>
            </a:r>
            <a:r>
              <a:rPr lang="zh-CN" altLang="en-US" sz="1600" b="0">
                <a:solidFill>
                  <a:schemeClr val="tx2"/>
                </a:solidFill>
                <a:latin typeface="黑体" panose="02010609060101010101" pitchFamily="49" charset="-122"/>
              </a:rPr>
              <a:t>年国家自然科学一等奖。</a:t>
            </a:r>
          </a:p>
        </p:txBody>
      </p:sp>
      <p:sp>
        <p:nvSpPr>
          <p:cNvPr id="162819" name="Rectangle 3"/>
          <p:cNvSpPr>
            <a:spLocks noChangeArrowheads="1"/>
          </p:cNvSpPr>
          <p:nvPr/>
        </p:nvSpPr>
        <p:spPr bwMode="hidden">
          <a:xfrm>
            <a:off x="652463" y="152400"/>
            <a:ext cx="2865437" cy="5842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3200">
                <a:solidFill>
                  <a:srgbClr val="0000FF"/>
                </a:solidFill>
                <a:latin typeface="黑体" panose="02010609060101010101" pitchFamily="49" charset="-122"/>
              </a:rPr>
              <a:t>Ti-</a:t>
            </a:r>
            <a:r>
              <a:rPr lang="zh-CN" altLang="en-US" sz="3200">
                <a:solidFill>
                  <a:srgbClr val="0000FF"/>
                </a:solidFill>
                <a:latin typeface="黑体" panose="02010609060101010101" pitchFamily="49" charset="-122"/>
              </a:rPr>
              <a:t>基准晶合金</a:t>
            </a:r>
          </a:p>
        </p:txBody>
      </p:sp>
      <p:sp>
        <p:nvSpPr>
          <p:cNvPr id="162820" name="Text Box 5"/>
          <p:cNvSpPr txBox="1">
            <a:spLocks noChangeArrowheads="1"/>
          </p:cNvSpPr>
          <p:nvPr/>
        </p:nvSpPr>
        <p:spPr bwMode="hidden">
          <a:xfrm>
            <a:off x="3175" y="2771775"/>
            <a:ext cx="4427538" cy="862013"/>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b="0">
                <a:solidFill>
                  <a:srgbClr val="000000"/>
                </a:solidFill>
                <a:latin typeface="Times New Roman" panose="02020603050405020304" pitchFamily="18" charset="0"/>
                <a:ea typeface="宋体" panose="02010600030101010101" pitchFamily="2" charset="-122"/>
              </a:rPr>
              <a:t>*  Phil. Mag. A, 52 , 1985</a:t>
            </a:r>
            <a:r>
              <a:rPr lang="zh-CN" altLang="en-US" b="0">
                <a:solidFill>
                  <a:srgbClr val="000000"/>
                </a:solidFill>
                <a:latin typeface="Times New Roman" panose="02020603050405020304" pitchFamily="18" charset="0"/>
                <a:ea typeface="宋体" panose="02010600030101010101" pitchFamily="2" charset="-122"/>
              </a:rPr>
              <a:t>：</a:t>
            </a:r>
            <a:r>
              <a:rPr lang="en-US" altLang="zh-CN" b="0">
                <a:solidFill>
                  <a:srgbClr val="000000"/>
                </a:solidFill>
                <a:latin typeface="Times New Roman" panose="02020603050405020304" pitchFamily="18" charset="0"/>
                <a:ea typeface="宋体" panose="02010600030101010101" pitchFamily="2" charset="-122"/>
              </a:rPr>
              <a:t>L49</a:t>
            </a:r>
          </a:p>
          <a:p>
            <a:pPr eaLnBrk="1" hangingPunct="1">
              <a:spcBef>
                <a:spcPct val="50000"/>
              </a:spcBef>
              <a:spcAft>
                <a:spcPct val="0"/>
              </a:spcAft>
              <a:buFontTx/>
              <a:buNone/>
            </a:pPr>
            <a:r>
              <a:rPr lang="en-US" altLang="zh-CN" b="0">
                <a:solidFill>
                  <a:srgbClr val="000000"/>
                </a:solidFill>
                <a:latin typeface="Times New Roman" panose="02020603050405020304" pitchFamily="18" charset="0"/>
                <a:ea typeface="宋体" panose="02010600030101010101" pitchFamily="2" charset="-122"/>
              </a:rPr>
              <a:t>*  Phil. Mag. A, 54 , 1986</a:t>
            </a:r>
            <a:r>
              <a:rPr lang="zh-CN" altLang="en-US" b="0">
                <a:solidFill>
                  <a:srgbClr val="000000"/>
                </a:solidFill>
                <a:latin typeface="Times New Roman" panose="02020603050405020304" pitchFamily="18" charset="0"/>
                <a:ea typeface="宋体" panose="02010600030101010101" pitchFamily="2" charset="-122"/>
              </a:rPr>
              <a:t>：</a:t>
            </a:r>
            <a:r>
              <a:rPr lang="en-US" altLang="zh-CN" b="0">
                <a:solidFill>
                  <a:srgbClr val="000000"/>
                </a:solidFill>
                <a:latin typeface="Times New Roman" panose="02020603050405020304" pitchFamily="18" charset="0"/>
                <a:ea typeface="宋体" panose="02010600030101010101" pitchFamily="2" charset="-122"/>
              </a:rPr>
              <a:t>L83</a:t>
            </a:r>
          </a:p>
        </p:txBody>
      </p:sp>
      <p:pic>
        <p:nvPicPr>
          <p:cNvPr id="30725" name="Picture 8" descr="khkuo"/>
          <p:cNvPicPr>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5191864" y="404813"/>
            <a:ext cx="2332886" cy="3385468"/>
          </a:xfrm>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62822" name="Rectangle 9"/>
          <p:cNvSpPr>
            <a:spLocks noChangeArrowheads="1"/>
          </p:cNvSpPr>
          <p:nvPr/>
        </p:nvSpPr>
        <p:spPr bwMode="hidden">
          <a:xfrm>
            <a:off x="7729538" y="280988"/>
            <a:ext cx="1108075" cy="461962"/>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2400" b="0">
                <a:solidFill>
                  <a:schemeClr val="tx2"/>
                </a:solidFill>
                <a:latin typeface="Times New Roman" panose="02020603050405020304" pitchFamily="18" charset="0"/>
              </a:rPr>
              <a:t>郭可信</a:t>
            </a:r>
          </a:p>
        </p:txBody>
      </p:sp>
      <p:sp>
        <p:nvSpPr>
          <p:cNvPr id="2" name="矩形 1"/>
          <p:cNvSpPr/>
          <p:nvPr/>
        </p:nvSpPr>
        <p:spPr>
          <a:xfrm>
            <a:off x="3707909" y="3982188"/>
            <a:ext cx="4392487" cy="2585323"/>
          </a:xfrm>
          <a:prstGeom prst="rect">
            <a:avLst/>
          </a:prstGeom>
          <a:ln>
            <a:gradFill>
              <a:gsLst>
                <a:gs pos="0">
                  <a:srgbClr val="0070C0"/>
                </a:gs>
                <a:gs pos="50000">
                  <a:schemeClr val="accent1">
                    <a:shade val="67500"/>
                    <a:satMod val="115000"/>
                  </a:schemeClr>
                </a:gs>
                <a:gs pos="100000">
                  <a:schemeClr val="accent1">
                    <a:shade val="100000"/>
                    <a:satMod val="115000"/>
                  </a:schemeClr>
                </a:gs>
              </a:gsLst>
              <a:lin ang="5400000" scaled="0"/>
            </a:gradFill>
          </a:ln>
        </p:spPr>
        <p:txBody>
          <a:bodyPr>
            <a:spAutoFit/>
          </a:bodyPr>
          <a:lstStyle/>
          <a:p>
            <a:pPr>
              <a:lnSpc>
                <a:spcPct val="150000"/>
              </a:lnSpc>
              <a:defRPr/>
            </a:pPr>
            <a:r>
              <a:rPr lang="en-US" altLang="zh-CN" sz="1800" dirty="0">
                <a:latin typeface="黑体" panose="02010609060101010101" pitchFamily="49" charset="-122"/>
                <a:ea typeface="黑体" panose="02010609060101010101" pitchFamily="49" charset="-122"/>
              </a:rPr>
              <a:t>    Ti</a:t>
            </a:r>
            <a:r>
              <a:rPr lang="zh-CN" altLang="en-US" sz="1800" dirty="0">
                <a:latin typeface="黑体" panose="02010609060101010101" pitchFamily="49" charset="-122"/>
                <a:ea typeface="黑体" panose="02010609060101010101" pitchFamily="49" charset="-122"/>
              </a:rPr>
              <a:t>基</a:t>
            </a:r>
            <a:r>
              <a:rPr lang="zh-CN" altLang="zh-CN" sz="1800" dirty="0">
                <a:latin typeface="黑体" panose="02010609060101010101" pitchFamily="49" charset="-122"/>
                <a:ea typeface="黑体" panose="02010609060101010101" pitchFamily="49" charset="-122"/>
              </a:rPr>
              <a:t>准晶的发现，创造了中国科学的一个奇迹，被认为是真正达到国际</a:t>
            </a:r>
            <a:r>
              <a:rPr lang="zh-CN" altLang="en-US" sz="1800" dirty="0">
                <a:latin typeface="黑体" panose="02010609060101010101" pitchFamily="49" charset="-122"/>
                <a:ea typeface="黑体" panose="02010609060101010101" pitchFamily="49" charset="-122"/>
              </a:rPr>
              <a:t>一流</a:t>
            </a:r>
            <a:r>
              <a:rPr lang="zh-CN" altLang="zh-CN" sz="1800" dirty="0">
                <a:latin typeface="黑体" panose="02010609060101010101" pitchFamily="49" charset="-122"/>
                <a:ea typeface="黑体" panose="02010609060101010101" pitchFamily="49" charset="-122"/>
              </a:rPr>
              <a:t>水平的研究，这项研究不仅培养了一大批青年科学家，还</a:t>
            </a:r>
            <a:r>
              <a:rPr lang="en-US" altLang="zh-CN" sz="1800" dirty="0">
                <a:latin typeface="黑体" panose="02010609060101010101" pitchFamily="49" charset="-122"/>
                <a:ea typeface="黑体" panose="02010609060101010101" pitchFamily="49" charset="-122"/>
              </a:rPr>
              <a:t>“</a:t>
            </a:r>
            <a:r>
              <a:rPr lang="zh-CN" altLang="zh-CN" sz="1800" dirty="0">
                <a:latin typeface="黑体" panose="02010609060101010101" pitchFamily="49" charset="-122"/>
                <a:ea typeface="黑体" panose="02010609060101010101" pitchFamily="49" charset="-122"/>
              </a:rPr>
              <a:t>培养</a:t>
            </a:r>
            <a:r>
              <a:rPr lang="en-US" altLang="zh-CN" sz="1800" dirty="0">
                <a:latin typeface="黑体" panose="02010609060101010101" pitchFamily="49" charset="-122"/>
                <a:ea typeface="黑体" panose="02010609060101010101" pitchFamily="49" charset="-122"/>
              </a:rPr>
              <a:t>”</a:t>
            </a:r>
            <a:r>
              <a:rPr lang="zh-CN" altLang="zh-CN" sz="1800" dirty="0">
                <a:latin typeface="黑体" panose="02010609060101010101" pitchFamily="49" charset="-122"/>
                <a:ea typeface="黑体" panose="02010609060101010101" pitchFamily="49" charset="-122"/>
              </a:rPr>
              <a:t>了四位中国科学院院士，他们是</a:t>
            </a:r>
            <a:r>
              <a:rPr lang="zh-CN" altLang="zh-CN" sz="1800" dirty="0">
                <a:solidFill>
                  <a:srgbClr val="C00000"/>
                </a:solidFill>
                <a:latin typeface="黑体" panose="02010609060101010101" pitchFamily="49" charset="-122"/>
                <a:ea typeface="黑体" panose="02010609060101010101" pitchFamily="49" charset="-122"/>
              </a:rPr>
              <a:t>叶恒强、李方华、张殿林和张泽</a:t>
            </a:r>
            <a:r>
              <a:rPr lang="zh-CN" altLang="zh-CN" sz="1800" dirty="0">
                <a:latin typeface="黑体" panose="02010609060101010101" pitchFamily="49" charset="-122"/>
                <a:ea typeface="黑体" panose="02010609060101010101" pitchFamily="49" charset="-122"/>
              </a:rPr>
              <a:t>院士</a:t>
            </a:r>
            <a:r>
              <a:rPr lang="zh-CN" altLang="en-US" sz="1800" dirty="0">
                <a:latin typeface="黑体" panose="02010609060101010101" pitchFamily="49" charset="-122"/>
                <a:ea typeface="黑体" panose="02010609060101010101" pitchFamily="49" charset="-122"/>
              </a:rPr>
              <a:t>。</a:t>
            </a:r>
          </a:p>
        </p:txBody>
      </p:sp>
      <p:pic>
        <p:nvPicPr>
          <p:cNvPr id="162826" name="图片 9" descr="http://www.imr.cas.cn/xwzx/zhxw/201111/W02011110235000488407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5" y="3981450"/>
            <a:ext cx="3176588"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27" name="Rectangle 9"/>
          <p:cNvSpPr>
            <a:spLocks noChangeArrowheads="1"/>
          </p:cNvSpPr>
          <p:nvPr/>
        </p:nvSpPr>
        <p:spPr bwMode="hidden">
          <a:xfrm>
            <a:off x="314325" y="3987800"/>
            <a:ext cx="1108075" cy="461963"/>
          </a:xfrm>
          <a:prstGeom prst="rect">
            <a:avLst/>
          </a:prstGeom>
          <a:solidFill>
            <a:schemeClr val="bg1"/>
          </a:solidFill>
          <a:ln>
            <a:noFill/>
          </a:ln>
          <a:effec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2400" b="0" dirty="0">
                <a:solidFill>
                  <a:schemeClr val="tx2"/>
                </a:solidFill>
                <a:latin typeface="Times New Roman" panose="02020603050405020304" pitchFamily="18" charset="0"/>
              </a:rPr>
              <a:t>叶恒强</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3"/>
          <p:cNvSpPr>
            <a:spLocks noChangeArrowheads="1"/>
          </p:cNvSpPr>
          <p:nvPr/>
        </p:nvSpPr>
        <p:spPr bwMode="hidden">
          <a:xfrm>
            <a:off x="331788" y="152400"/>
            <a:ext cx="3479800" cy="5842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3200">
                <a:solidFill>
                  <a:srgbClr val="0000FF"/>
                </a:solidFill>
                <a:latin typeface="黑体" panose="02010609060101010101" pitchFamily="49" charset="-122"/>
              </a:rPr>
              <a:t>一、二维准晶合金</a:t>
            </a:r>
          </a:p>
        </p:txBody>
      </p:sp>
      <p:pic>
        <p:nvPicPr>
          <p:cNvPr id="163843" name="Picture 25" descr="1710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628775"/>
            <a:ext cx="184150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44" name="矩形 2"/>
          <p:cNvSpPr>
            <a:spLocks noChangeArrowheads="1"/>
          </p:cNvSpPr>
          <p:nvPr/>
        </p:nvSpPr>
        <p:spPr bwMode="auto">
          <a:xfrm>
            <a:off x="2339975" y="908050"/>
            <a:ext cx="660717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1800" b="0">
                <a:solidFill>
                  <a:srgbClr val="002060"/>
                </a:solidFill>
                <a:latin typeface="Times New Roman" panose="02020603050405020304" pitchFamily="18" charset="0"/>
                <a:ea typeface="宋体" panose="02010600030101010101" pitchFamily="2" charset="-122"/>
              </a:rPr>
              <a:t>  1988</a:t>
            </a:r>
            <a:r>
              <a:rPr lang="zh-CN" altLang="zh-CN" sz="1800" b="0">
                <a:solidFill>
                  <a:srgbClr val="002060"/>
                </a:solidFill>
                <a:latin typeface="Times New Roman" panose="02020603050405020304" pitchFamily="18" charset="0"/>
                <a:ea typeface="宋体" panose="02010600030101010101" pitchFamily="2" charset="-122"/>
              </a:rPr>
              <a:t>年</a:t>
            </a:r>
            <a:r>
              <a:rPr lang="en-US" altLang="zh-CN" sz="1800" b="0">
                <a:solidFill>
                  <a:srgbClr val="002060"/>
                </a:solidFill>
                <a:latin typeface="Times New Roman" panose="02020603050405020304" pitchFamily="18" charset="0"/>
                <a:ea typeface="宋体" panose="02010600030101010101" pitchFamily="2" charset="-122"/>
              </a:rPr>
              <a:t>5</a:t>
            </a:r>
            <a:r>
              <a:rPr lang="zh-CN" altLang="zh-CN" sz="1800" b="0">
                <a:solidFill>
                  <a:srgbClr val="002060"/>
                </a:solidFill>
                <a:latin typeface="Times New Roman" panose="02020603050405020304" pitchFamily="18" charset="0"/>
                <a:ea typeface="宋体" panose="02010600030101010101" pitchFamily="2" charset="-122"/>
              </a:rPr>
              <a:t>月至</a:t>
            </a:r>
            <a:r>
              <a:rPr lang="en-US" altLang="zh-CN" sz="1800" b="0">
                <a:solidFill>
                  <a:srgbClr val="002060"/>
                </a:solidFill>
                <a:latin typeface="Times New Roman" panose="02020603050405020304" pitchFamily="18" charset="0"/>
                <a:ea typeface="宋体" panose="02010600030101010101" pitchFamily="2" charset="-122"/>
              </a:rPr>
              <a:t>1990</a:t>
            </a:r>
            <a:r>
              <a:rPr lang="zh-CN" altLang="zh-CN" sz="1800" b="0">
                <a:solidFill>
                  <a:srgbClr val="002060"/>
                </a:solidFill>
                <a:latin typeface="Times New Roman" panose="02020603050405020304" pitchFamily="18" charset="0"/>
                <a:ea typeface="宋体" panose="02010600030101010101" pitchFamily="2" charset="-122"/>
              </a:rPr>
              <a:t>年</a:t>
            </a:r>
            <a:r>
              <a:rPr lang="en-US" altLang="zh-CN" sz="1800" b="0">
                <a:solidFill>
                  <a:srgbClr val="002060"/>
                </a:solidFill>
                <a:latin typeface="Times New Roman" panose="02020603050405020304" pitchFamily="18" charset="0"/>
                <a:ea typeface="宋体" panose="02010600030101010101" pitchFamily="2" charset="-122"/>
              </a:rPr>
              <a:t>12</a:t>
            </a:r>
            <a:r>
              <a:rPr lang="zh-CN" altLang="zh-CN" sz="1800" b="0">
                <a:solidFill>
                  <a:srgbClr val="002060"/>
                </a:solidFill>
                <a:latin typeface="Times New Roman" panose="02020603050405020304" pitchFamily="18" charset="0"/>
                <a:ea typeface="宋体" panose="02010600030101010101" pitchFamily="2" charset="-122"/>
              </a:rPr>
              <a:t>月张院士以客座科学家身份在德国核研究中心固体物理所工作，其间他在铝铜钴合金的二维准晶研究中发现一维准晶，在</a:t>
            </a:r>
            <a:r>
              <a:rPr lang="en-US" altLang="zh-CN" sz="1800" b="0">
                <a:solidFill>
                  <a:srgbClr val="C00000"/>
                </a:solidFill>
                <a:latin typeface="Times New Roman" panose="02020603050405020304" pitchFamily="18" charset="0"/>
                <a:ea typeface="宋体" panose="02010600030101010101" pitchFamily="2" charset="-122"/>
              </a:rPr>
              <a:t>Al-Cu-Fe</a:t>
            </a:r>
            <a:r>
              <a:rPr lang="zh-CN" altLang="zh-CN" sz="1800" b="0">
                <a:solidFill>
                  <a:srgbClr val="002060"/>
                </a:solidFill>
                <a:latin typeface="Times New Roman" panose="02020603050405020304" pitchFamily="18" charset="0"/>
                <a:ea typeface="宋体" panose="02010600030101010101" pitchFamily="2" charset="-122"/>
              </a:rPr>
              <a:t>合金的三维准晶相变研究中发现二维准晶。特别是，他在世界上首次发现了铝铜钻十次对称准晶中的位错及层错；首次用常规衍射衬度方法系统地研究了五次对称准晶的位错；在世界上首次发现十次对称准晶中的</a:t>
            </a:r>
            <a:r>
              <a:rPr lang="en-US" altLang="zh-CN" sz="1800" b="0">
                <a:solidFill>
                  <a:srgbClr val="002060"/>
                </a:solidFill>
                <a:latin typeface="Times New Roman" panose="02020603050405020304" pitchFamily="18" charset="0"/>
                <a:ea typeface="宋体" panose="02010600030101010101" pitchFamily="2" charset="-122"/>
              </a:rPr>
              <a:t>“</a:t>
            </a:r>
            <a:r>
              <a:rPr lang="zh-CN" altLang="zh-CN" sz="1800" b="0">
                <a:solidFill>
                  <a:srgbClr val="002060"/>
                </a:solidFill>
                <a:latin typeface="Times New Roman" panose="02020603050405020304" pitchFamily="18" charset="0"/>
                <a:ea typeface="宋体" panose="02010600030101010101" pitchFamily="2" charset="-122"/>
              </a:rPr>
              <a:t>位错</a:t>
            </a:r>
            <a:r>
              <a:rPr lang="en-US" altLang="zh-CN" sz="1800" b="0">
                <a:solidFill>
                  <a:srgbClr val="002060"/>
                </a:solidFill>
                <a:latin typeface="Times New Roman" panose="02020603050405020304" pitchFamily="18" charset="0"/>
                <a:ea typeface="宋体" panose="02010600030101010101" pitchFamily="2" charset="-122"/>
              </a:rPr>
              <a:t>”</a:t>
            </a:r>
            <a:r>
              <a:rPr lang="zh-CN" altLang="zh-CN" sz="1800" b="0">
                <a:solidFill>
                  <a:srgbClr val="002060"/>
                </a:solidFill>
                <a:latin typeface="Times New Roman" panose="02020603050405020304" pitchFamily="18" charset="0"/>
                <a:ea typeface="宋体" panose="02010600030101010101" pitchFamily="2" charset="-122"/>
              </a:rPr>
              <a:t>等缺陷，并在国际上率先开展了系统的观察和研究。提出准晶中位错研究的新理论。两篇关于准晶中缺陷研究的代表性论文在发表后三年内被引用</a:t>
            </a:r>
            <a:r>
              <a:rPr lang="en-US" altLang="zh-CN" sz="1800" b="0">
                <a:solidFill>
                  <a:srgbClr val="002060"/>
                </a:solidFill>
                <a:latin typeface="Times New Roman" panose="02020603050405020304" pitchFamily="18" charset="0"/>
                <a:ea typeface="宋体" panose="02010600030101010101" pitchFamily="2" charset="-122"/>
              </a:rPr>
              <a:t>110</a:t>
            </a:r>
            <a:r>
              <a:rPr lang="zh-CN" altLang="zh-CN" sz="1800" b="0">
                <a:solidFill>
                  <a:srgbClr val="002060"/>
                </a:solidFill>
                <a:latin typeface="Times New Roman" panose="02020603050405020304" pitchFamily="18" charset="0"/>
                <a:ea typeface="宋体" panose="02010600030101010101" pitchFamily="2" charset="-122"/>
              </a:rPr>
              <a:t>余次，并被国际学术会议特邀报告人在报告中多次引用。</a:t>
            </a:r>
            <a:endParaRPr lang="zh-CN" altLang="en-US" sz="1800" b="0">
              <a:solidFill>
                <a:srgbClr val="002060"/>
              </a:solidFill>
              <a:latin typeface="Times New Roman" panose="02020603050405020304" pitchFamily="18" charset="0"/>
              <a:ea typeface="宋体" panose="02010600030101010101" pitchFamily="2" charset="-122"/>
            </a:endParaRPr>
          </a:p>
        </p:txBody>
      </p:sp>
      <p:sp>
        <p:nvSpPr>
          <p:cNvPr id="163845" name="Rectangle 9"/>
          <p:cNvSpPr>
            <a:spLocks noChangeArrowheads="1"/>
          </p:cNvSpPr>
          <p:nvPr/>
        </p:nvSpPr>
        <p:spPr bwMode="hidden">
          <a:xfrm>
            <a:off x="904875" y="1052513"/>
            <a:ext cx="800100" cy="461962"/>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2400" b="0">
                <a:solidFill>
                  <a:schemeClr val="tx2"/>
                </a:solidFill>
                <a:latin typeface="Times New Roman" panose="02020603050405020304" pitchFamily="18" charset="0"/>
              </a:rPr>
              <a:t>张泽</a:t>
            </a:r>
          </a:p>
        </p:txBody>
      </p:sp>
      <p:pic>
        <p:nvPicPr>
          <p:cNvPr id="163846" name="Picture 2" descr="http://www.sciencedirect.com/cache/MiamiImageURL/1-s2.0-S003960280101500X-gr1.jpg/0?wchp=dGLzVlt-zSkzS"/>
          <p:cNvPicPr>
            <a:picLocks noChangeAspect="1" noChangeArrowheads="1"/>
          </p:cNvPicPr>
          <p:nvPr/>
        </p:nvPicPr>
        <p:blipFill>
          <a:blip r:embed="rId3">
            <a:extLst>
              <a:ext uri="{28A0092B-C50C-407E-A947-70E740481C1C}">
                <a14:useLocalDpi xmlns:a14="http://schemas.microsoft.com/office/drawing/2010/main" val="0"/>
              </a:ext>
            </a:extLst>
          </a:blip>
          <a:srcRect l="75256" t="50000"/>
          <a:stretch>
            <a:fillRect/>
          </a:stretch>
        </p:blipFill>
        <p:spPr bwMode="auto">
          <a:xfrm>
            <a:off x="5794375" y="3973513"/>
            <a:ext cx="2517775"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47" name="Picture 4" descr="Full-size image (12K) - Opens new windo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4437063"/>
            <a:ext cx="2592387"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48" name="Picture 2" descr="http://www.sciencedirect.com/cache/MiamiImageURL/1-s2.0-S003960280101500X-gr1.jpg/0?wchp=dGLzVlt-zSkzS"/>
          <p:cNvPicPr>
            <a:picLocks noChangeAspect="1" noChangeArrowheads="1"/>
          </p:cNvPicPr>
          <p:nvPr/>
        </p:nvPicPr>
        <p:blipFill>
          <a:blip r:embed="rId3">
            <a:extLst>
              <a:ext uri="{28A0092B-C50C-407E-A947-70E740481C1C}">
                <a14:useLocalDpi xmlns:a14="http://schemas.microsoft.com/office/drawing/2010/main" val="0"/>
              </a:ext>
            </a:extLst>
          </a:blip>
          <a:srcRect t="50000" r="75975"/>
          <a:stretch>
            <a:fillRect/>
          </a:stretch>
        </p:blipFill>
        <p:spPr bwMode="auto">
          <a:xfrm>
            <a:off x="3376613" y="4000500"/>
            <a:ext cx="2417762"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矩形 3"/>
          <p:cNvSpPr>
            <a:spLocks noChangeArrowheads="1"/>
          </p:cNvSpPr>
          <p:nvPr/>
        </p:nvSpPr>
        <p:spPr bwMode="auto">
          <a:xfrm>
            <a:off x="323850" y="1125538"/>
            <a:ext cx="85693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b="0" dirty="0">
                <a:solidFill>
                  <a:srgbClr val="002060"/>
                </a:solidFill>
                <a:latin typeface="黑体" panose="02010609060101010101" pitchFamily="49" charset="-122"/>
              </a:rPr>
              <a:t>1987</a:t>
            </a:r>
            <a:r>
              <a:rPr lang="zh-CN" altLang="zh-CN" b="0" dirty="0">
                <a:solidFill>
                  <a:srgbClr val="002060"/>
                </a:solidFill>
                <a:latin typeface="黑体" panose="02010609060101010101" pitchFamily="49" charset="-122"/>
              </a:rPr>
              <a:t>年法国和日本的同行终于</a:t>
            </a:r>
            <a:r>
              <a:rPr lang="zh-CN" altLang="en-US" b="0" dirty="0">
                <a:solidFill>
                  <a:srgbClr val="002060"/>
                </a:solidFill>
                <a:latin typeface="黑体" panose="02010609060101010101" pitchFamily="49" charset="-122"/>
              </a:rPr>
              <a:t>发现</a:t>
            </a:r>
            <a:r>
              <a:rPr lang="zh-CN" altLang="zh-CN" b="0" dirty="0">
                <a:solidFill>
                  <a:srgbClr val="002060"/>
                </a:solidFill>
                <a:latin typeface="黑体" panose="02010609060101010101" pitchFamily="49" charset="-122"/>
              </a:rPr>
              <a:t>了足够大的准晶来做</a:t>
            </a:r>
            <a:r>
              <a:rPr lang="en-US" altLang="zh-CN" b="0" dirty="0">
                <a:solidFill>
                  <a:srgbClr val="002060"/>
                </a:solidFill>
                <a:latin typeface="黑体" panose="02010609060101010101" pitchFamily="49" charset="-122"/>
              </a:rPr>
              <a:t>X</a:t>
            </a:r>
            <a:r>
              <a:rPr lang="zh-CN" altLang="zh-CN" b="0" dirty="0">
                <a:solidFill>
                  <a:srgbClr val="002060"/>
                </a:solidFill>
                <a:latin typeface="黑体" panose="02010609060101010101" pitchFamily="49" charset="-122"/>
              </a:rPr>
              <a:t>射线衍射</a:t>
            </a:r>
            <a:r>
              <a:rPr lang="zh-CN" altLang="en-US" b="0" dirty="0">
                <a:solidFill>
                  <a:srgbClr val="002060"/>
                </a:solidFill>
                <a:latin typeface="黑体" panose="02010609060101010101" pitchFamily="49" charset="-122"/>
              </a:rPr>
              <a:t>。</a:t>
            </a:r>
            <a:endParaRPr lang="en-US" altLang="zh-CN" b="0" dirty="0">
              <a:solidFill>
                <a:srgbClr val="002060"/>
              </a:solidFill>
              <a:latin typeface="黑体" panose="02010609060101010101" pitchFamily="49" charset="-122"/>
            </a:endParaRPr>
          </a:p>
          <a:p>
            <a:pPr eaLnBrk="1" hangingPunct="1">
              <a:spcBef>
                <a:spcPct val="0"/>
              </a:spcBef>
              <a:spcAft>
                <a:spcPct val="0"/>
              </a:spcAft>
              <a:buFontTx/>
              <a:buNone/>
            </a:pPr>
            <a:r>
              <a:rPr lang="en-US" altLang="zh-CN" b="0" dirty="0">
                <a:solidFill>
                  <a:srgbClr val="002060"/>
                </a:solidFill>
                <a:latin typeface="黑体" panose="02010609060101010101" pitchFamily="49" charset="-122"/>
              </a:rPr>
              <a:t>1987</a:t>
            </a:r>
            <a:r>
              <a:rPr lang="zh-CN" altLang="zh-CN" b="0" dirty="0">
                <a:solidFill>
                  <a:srgbClr val="002060"/>
                </a:solidFill>
                <a:latin typeface="黑体" panose="02010609060101010101" pitchFamily="49" charset="-122"/>
              </a:rPr>
              <a:t>年</a:t>
            </a:r>
            <a:r>
              <a:rPr lang="en-US" altLang="zh-CN" b="0" dirty="0">
                <a:solidFill>
                  <a:srgbClr val="002060"/>
                </a:solidFill>
                <a:latin typeface="黑体" panose="02010609060101010101" pitchFamily="49" charset="-122"/>
              </a:rPr>
              <a:t>Daniel</a:t>
            </a:r>
            <a:r>
              <a:rPr lang="zh-CN" altLang="zh-CN" b="0" dirty="0">
                <a:solidFill>
                  <a:srgbClr val="002060"/>
                </a:solidFill>
                <a:latin typeface="黑体" panose="02010609060101010101" pitchFamily="49" charset="-122"/>
              </a:rPr>
              <a:t>带着</a:t>
            </a:r>
            <a:r>
              <a:rPr lang="en-US" altLang="zh-CN" b="0" dirty="0">
                <a:solidFill>
                  <a:srgbClr val="002060"/>
                </a:solidFill>
                <a:latin typeface="黑体" panose="02010609060101010101" pitchFamily="49" charset="-122"/>
              </a:rPr>
              <a:t>X</a:t>
            </a:r>
            <a:r>
              <a:rPr lang="zh-CN" altLang="zh-CN" b="0" dirty="0">
                <a:solidFill>
                  <a:srgbClr val="002060"/>
                </a:solidFill>
                <a:latin typeface="黑体" panose="02010609060101010101" pitchFamily="49" charset="-122"/>
              </a:rPr>
              <a:t>射线衍射的照片到了奥地利的一个晶体学大会，</a:t>
            </a:r>
            <a:r>
              <a:rPr lang="zh-CN" altLang="zh-CN" b="0" u="sng" dirty="0">
                <a:solidFill>
                  <a:srgbClr val="FF0000"/>
                </a:solidFill>
                <a:latin typeface="黑体" panose="02010609060101010101" pitchFamily="49" charset="-122"/>
              </a:rPr>
              <a:t>把准晶这事给铁板定钉了。</a:t>
            </a:r>
            <a:endParaRPr lang="zh-CN" altLang="en-US" b="0" u="sng" dirty="0">
              <a:solidFill>
                <a:srgbClr val="FF0000"/>
              </a:solidFill>
              <a:latin typeface="黑体" panose="02010609060101010101" pitchFamily="49" charset="-122"/>
            </a:endParaRPr>
          </a:p>
        </p:txBody>
      </p:sp>
      <p:sp>
        <p:nvSpPr>
          <p:cNvPr id="164867" name="Text Box 40"/>
          <p:cNvSpPr txBox="1">
            <a:spLocks noChangeArrowheads="1"/>
          </p:cNvSpPr>
          <p:nvPr/>
        </p:nvSpPr>
        <p:spPr bwMode="hidden">
          <a:xfrm>
            <a:off x="395288" y="173038"/>
            <a:ext cx="5443537" cy="5842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zh-CN" altLang="en-US" sz="3200" b="0">
                <a:solidFill>
                  <a:srgbClr val="0000FF"/>
                </a:solidFill>
                <a:latin typeface="黑体" panose="02010609060101010101" pitchFamily="49" charset="-122"/>
              </a:rPr>
              <a:t>稳定准晶的发现</a:t>
            </a:r>
          </a:p>
        </p:txBody>
      </p:sp>
      <p:sp>
        <p:nvSpPr>
          <p:cNvPr id="164868" name="矩形 5"/>
          <p:cNvSpPr>
            <a:spLocks noChangeArrowheads="1"/>
          </p:cNvSpPr>
          <p:nvPr/>
        </p:nvSpPr>
        <p:spPr bwMode="auto">
          <a:xfrm>
            <a:off x="211138" y="4221163"/>
            <a:ext cx="6246812"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1800">
                <a:latin typeface="Times New Roman" panose="02020603050405020304" pitchFamily="18" charset="0"/>
                <a:ea typeface="宋体" panose="02010600030101010101" pitchFamily="2" charset="-122"/>
              </a:rPr>
              <a:t>A Stable Quasicrystal in Al-Cu-Fe System</a:t>
            </a:r>
          </a:p>
          <a:p>
            <a:pPr eaLnBrk="1" hangingPunct="1">
              <a:spcBef>
                <a:spcPct val="0"/>
              </a:spcBef>
              <a:spcAft>
                <a:spcPct val="0"/>
              </a:spcAft>
              <a:buFontTx/>
              <a:buNone/>
            </a:pPr>
            <a:r>
              <a:rPr lang="en-US" altLang="zh-CN" sz="1800" u="sng">
                <a:latin typeface="Times New Roman" panose="02020603050405020304" pitchFamily="18" charset="0"/>
                <a:ea typeface="宋体" panose="02010600030101010101" pitchFamily="2" charset="-122"/>
                <a:hlinkClick r:id="rId2"/>
              </a:rPr>
              <a:t>TSAI An-Pang</a:t>
            </a:r>
            <a:r>
              <a:rPr lang="zh-CN" altLang="en-US" sz="1800" u="sng">
                <a:latin typeface="Times New Roman" panose="02020603050405020304" pitchFamily="18" charset="0"/>
                <a:ea typeface="宋体" panose="02010600030101010101" pitchFamily="2" charset="-122"/>
              </a:rPr>
              <a:t>，</a:t>
            </a:r>
            <a:r>
              <a:rPr lang="en-US" altLang="zh-CN" sz="1800" u="sng">
                <a:solidFill>
                  <a:srgbClr val="FF0000"/>
                </a:solidFill>
                <a:latin typeface="Times New Roman" panose="02020603050405020304" pitchFamily="18" charset="0"/>
                <a:ea typeface="宋体" panose="02010600030101010101" pitchFamily="2" charset="-122"/>
              </a:rPr>
              <a:t>INOUE Akihisa</a:t>
            </a:r>
            <a:r>
              <a:rPr lang="zh-CN" altLang="en-US" sz="1800" u="sng">
                <a:latin typeface="Times New Roman" panose="02020603050405020304" pitchFamily="18" charset="0"/>
                <a:ea typeface="宋体" panose="02010600030101010101" pitchFamily="2" charset="-122"/>
              </a:rPr>
              <a:t>，</a:t>
            </a:r>
            <a:endParaRPr lang="en-US" altLang="zh-CN" sz="1800" u="sng">
              <a:latin typeface="Times New Roman" panose="02020603050405020304" pitchFamily="18" charset="0"/>
              <a:ea typeface="宋体" panose="02010600030101010101" pitchFamily="2" charset="-122"/>
            </a:endParaRPr>
          </a:p>
          <a:p>
            <a:pPr eaLnBrk="1" hangingPunct="1">
              <a:spcBef>
                <a:spcPct val="0"/>
              </a:spcBef>
              <a:spcAft>
                <a:spcPct val="0"/>
              </a:spcAft>
              <a:buFontTx/>
              <a:buNone/>
            </a:pPr>
            <a:r>
              <a:rPr lang="en-US" altLang="zh-CN" sz="1800" u="sng">
                <a:latin typeface="Times New Roman" panose="02020603050405020304" pitchFamily="18" charset="0"/>
                <a:ea typeface="宋体" panose="02010600030101010101" pitchFamily="2" charset="-122"/>
                <a:hlinkClick r:id="rId3"/>
              </a:rPr>
              <a:t>MASUMOTO Tsuyoshi</a:t>
            </a:r>
            <a:endParaRPr lang="en-US" altLang="zh-CN" sz="1800" b="0">
              <a:latin typeface="Times New Roman" panose="02020603050405020304" pitchFamily="18" charset="0"/>
              <a:ea typeface="宋体" panose="02010600030101010101" pitchFamily="2" charset="-122"/>
            </a:endParaRPr>
          </a:p>
          <a:p>
            <a:pPr eaLnBrk="1" hangingPunct="1">
              <a:spcBef>
                <a:spcPct val="0"/>
              </a:spcBef>
              <a:spcAft>
                <a:spcPct val="0"/>
              </a:spcAft>
              <a:buFontTx/>
              <a:buNone/>
            </a:pPr>
            <a:r>
              <a:rPr lang="en-US" altLang="zh-CN" sz="1800" b="0">
                <a:latin typeface="Times New Roman" panose="02020603050405020304" pitchFamily="18" charset="0"/>
                <a:ea typeface="宋体" panose="02010600030101010101" pitchFamily="2" charset="-122"/>
              </a:rPr>
              <a:t>Institute for Materials Research, </a:t>
            </a:r>
          </a:p>
          <a:p>
            <a:pPr eaLnBrk="1" hangingPunct="1">
              <a:spcBef>
                <a:spcPct val="0"/>
              </a:spcBef>
              <a:spcAft>
                <a:spcPct val="0"/>
              </a:spcAft>
              <a:buFontTx/>
              <a:buNone/>
            </a:pPr>
            <a:r>
              <a:rPr lang="en-US" altLang="zh-CN" sz="1800" b="0">
                <a:latin typeface="Times New Roman" panose="02020603050405020304" pitchFamily="18" charset="0"/>
                <a:ea typeface="宋体" panose="02010600030101010101" pitchFamily="2" charset="-122"/>
              </a:rPr>
              <a:t>Graduate School, Tohoku University</a:t>
            </a:r>
          </a:p>
        </p:txBody>
      </p:sp>
      <p:sp>
        <p:nvSpPr>
          <p:cNvPr id="164869" name="矩形 6"/>
          <p:cNvSpPr>
            <a:spLocks noChangeArrowheads="1"/>
          </p:cNvSpPr>
          <p:nvPr/>
        </p:nvSpPr>
        <p:spPr bwMode="auto">
          <a:xfrm>
            <a:off x="-96838" y="6084888"/>
            <a:ext cx="4681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1600" b="0">
                <a:latin typeface="Times New Roman" panose="02020603050405020304" pitchFamily="18" charset="0"/>
                <a:ea typeface="宋体" panose="02010600030101010101" pitchFamily="2" charset="-122"/>
              </a:rPr>
              <a:t>Japanese journal of applied physics. </a:t>
            </a:r>
          </a:p>
          <a:p>
            <a:pPr eaLnBrk="1" hangingPunct="1">
              <a:spcBef>
                <a:spcPct val="0"/>
              </a:spcBef>
              <a:spcAft>
                <a:spcPct val="0"/>
              </a:spcAft>
              <a:buFontTx/>
              <a:buNone/>
            </a:pPr>
            <a:r>
              <a:rPr lang="en-US" altLang="zh-CN" sz="1600" b="0">
                <a:latin typeface="Times New Roman" panose="02020603050405020304" pitchFamily="18" charset="0"/>
                <a:ea typeface="宋体" panose="02010600030101010101" pitchFamily="2" charset="-122"/>
              </a:rPr>
              <a:t>Pt. 2, Letters 26(9), L1505-L1507, 1987-09-20</a:t>
            </a:r>
            <a:endParaRPr lang="zh-CN" altLang="en-US" sz="1600" b="0">
              <a:latin typeface="Times New Roman" panose="02020603050405020304" pitchFamily="18" charset="0"/>
              <a:ea typeface="宋体" panose="02010600030101010101" pitchFamily="2" charset="-122"/>
            </a:endParaRPr>
          </a:p>
        </p:txBody>
      </p:sp>
      <p:pic>
        <p:nvPicPr>
          <p:cNvPr id="1648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hidden">
          <a:xfrm>
            <a:off x="4624388" y="4486275"/>
            <a:ext cx="2209800" cy="21336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487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hidden">
          <a:xfrm>
            <a:off x="6834188" y="4538663"/>
            <a:ext cx="2092325" cy="21336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4872"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hidden">
          <a:xfrm>
            <a:off x="344488" y="2276475"/>
            <a:ext cx="7899400" cy="1724025"/>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bwMode="auto">
          <a:xfrm>
            <a:off x="395288" y="2288382"/>
            <a:ext cx="1849437" cy="44291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wrap="none" anchor="ctr"/>
          <a:lstStyle/>
          <a:p>
            <a:pPr>
              <a:defRPr/>
            </a:pP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hidden">
          <a:xfrm>
            <a:off x="317500" y="973138"/>
            <a:ext cx="1614488" cy="1781175"/>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5891" name="Rectangle 20"/>
          <p:cNvSpPr>
            <a:spLocks noChangeArrowheads="1"/>
          </p:cNvSpPr>
          <p:nvPr/>
        </p:nvSpPr>
        <p:spPr bwMode="hidden">
          <a:xfrm>
            <a:off x="320675" y="2754313"/>
            <a:ext cx="4206875" cy="120015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zh-CN" altLang="en-US" sz="2400">
                <a:solidFill>
                  <a:srgbClr val="0000FF"/>
                </a:solidFill>
                <a:latin typeface="Times New Roman" panose="02020603050405020304" pitchFamily="18" charset="0"/>
                <a:ea typeface="宋体" panose="02010600030101010101" pitchFamily="2" charset="-122"/>
              </a:rPr>
              <a:t>日本东北大学金属材料研究所</a:t>
            </a:r>
          </a:p>
          <a:p>
            <a:pPr eaLnBrk="1" hangingPunct="1">
              <a:spcBef>
                <a:spcPct val="0"/>
              </a:spcBef>
              <a:spcAft>
                <a:spcPct val="0"/>
              </a:spcAft>
              <a:buFontTx/>
              <a:buNone/>
            </a:pPr>
            <a:r>
              <a:rPr lang="zh-CN" altLang="en-US" sz="2400">
                <a:solidFill>
                  <a:srgbClr val="0000FF"/>
                </a:solidFill>
                <a:latin typeface="Times New Roman" panose="02020603050405020304" pitchFamily="18" charset="0"/>
                <a:ea typeface="宋体" panose="02010600030101010101" pitchFamily="2" charset="-122"/>
              </a:rPr>
              <a:t>日本金属材料技术研究所</a:t>
            </a:r>
          </a:p>
          <a:p>
            <a:pPr eaLnBrk="1" hangingPunct="1">
              <a:spcBef>
                <a:spcPct val="0"/>
              </a:spcBef>
              <a:spcAft>
                <a:spcPct val="0"/>
              </a:spcAft>
              <a:buFontTx/>
              <a:buNone/>
            </a:pPr>
            <a:r>
              <a:rPr lang="zh-CN" altLang="en-US" sz="2400">
                <a:solidFill>
                  <a:srgbClr val="0000FF"/>
                </a:solidFill>
                <a:latin typeface="Times New Roman" panose="02020603050405020304" pitchFamily="18" charset="0"/>
                <a:ea typeface="宋体" panose="02010600030101010101" pitchFamily="2" charset="-122"/>
              </a:rPr>
              <a:t>日本东北大学多元研究所</a:t>
            </a:r>
          </a:p>
        </p:txBody>
      </p:sp>
      <p:sp>
        <p:nvSpPr>
          <p:cNvPr id="165892" name="Text Box 39"/>
          <p:cNvSpPr txBox="1">
            <a:spLocks noChangeArrowheads="1"/>
          </p:cNvSpPr>
          <p:nvPr/>
        </p:nvSpPr>
        <p:spPr bwMode="hidden">
          <a:xfrm>
            <a:off x="1931988" y="996950"/>
            <a:ext cx="2535237" cy="1323975"/>
          </a:xfrm>
          <a:prstGeom prst="rect">
            <a:avLst/>
          </a:prstGeom>
          <a:noFill/>
          <a:ln w="12700">
            <a:solidFill>
              <a:srgbClr val="FF66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b="0">
                <a:solidFill>
                  <a:srgbClr val="0000FF"/>
                </a:solidFill>
                <a:latin typeface="黑体" panose="02010609060101010101" pitchFamily="49" charset="-122"/>
              </a:rPr>
              <a:t>1, </a:t>
            </a:r>
            <a:r>
              <a:rPr lang="zh-CN" altLang="en-US" b="0">
                <a:solidFill>
                  <a:srgbClr val="0000FF"/>
                </a:solidFill>
                <a:latin typeface="黑体" panose="02010609060101010101" pitchFamily="49" charset="-122"/>
              </a:rPr>
              <a:t>稳定准晶的发现</a:t>
            </a:r>
          </a:p>
          <a:p>
            <a:pPr eaLnBrk="1" hangingPunct="1">
              <a:spcBef>
                <a:spcPct val="50000"/>
              </a:spcBef>
              <a:spcAft>
                <a:spcPct val="0"/>
              </a:spcAft>
              <a:buFontTx/>
              <a:buNone/>
            </a:pPr>
            <a:r>
              <a:rPr lang="en-US" altLang="zh-CN" b="0">
                <a:solidFill>
                  <a:srgbClr val="0000FF"/>
                </a:solidFill>
                <a:latin typeface="黑体" panose="02010609060101010101" pitchFamily="49" charset="-122"/>
              </a:rPr>
              <a:t>2, </a:t>
            </a:r>
            <a:r>
              <a:rPr lang="zh-CN" altLang="en-US" b="0">
                <a:solidFill>
                  <a:srgbClr val="0000FF"/>
                </a:solidFill>
                <a:latin typeface="黑体" panose="02010609060101010101" pitchFamily="49" charset="-122"/>
              </a:rPr>
              <a:t>准晶形成</a:t>
            </a:r>
          </a:p>
          <a:p>
            <a:pPr eaLnBrk="1" hangingPunct="1">
              <a:spcBef>
                <a:spcPct val="50000"/>
              </a:spcBef>
              <a:spcAft>
                <a:spcPct val="0"/>
              </a:spcAft>
              <a:buFontTx/>
              <a:buNone/>
            </a:pPr>
            <a:r>
              <a:rPr lang="en-US" altLang="zh-CN" b="0">
                <a:solidFill>
                  <a:srgbClr val="0000FF"/>
                </a:solidFill>
                <a:latin typeface="黑体" panose="02010609060101010101" pitchFamily="49" charset="-122"/>
              </a:rPr>
              <a:t>3, </a:t>
            </a:r>
            <a:r>
              <a:rPr lang="zh-CN" altLang="en-US" b="0">
                <a:solidFill>
                  <a:srgbClr val="0000FF"/>
                </a:solidFill>
                <a:latin typeface="黑体" panose="02010609060101010101" pitchFamily="49" charset="-122"/>
              </a:rPr>
              <a:t>准晶特性</a:t>
            </a:r>
          </a:p>
        </p:txBody>
      </p:sp>
      <p:sp>
        <p:nvSpPr>
          <p:cNvPr id="165893" name="Text Box 40"/>
          <p:cNvSpPr txBox="1">
            <a:spLocks noChangeArrowheads="1"/>
          </p:cNvSpPr>
          <p:nvPr/>
        </p:nvSpPr>
        <p:spPr bwMode="hidden">
          <a:xfrm>
            <a:off x="-7938" y="177800"/>
            <a:ext cx="8035926" cy="5842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zh-CN" altLang="en-US" sz="3200" b="0">
                <a:solidFill>
                  <a:srgbClr val="0000FF"/>
                </a:solidFill>
                <a:latin typeface="黑体" panose="02010609060101010101" pitchFamily="49" charset="-122"/>
              </a:rPr>
              <a:t>稳定准晶的发现</a:t>
            </a:r>
          </a:p>
        </p:txBody>
      </p:sp>
      <p:pic>
        <p:nvPicPr>
          <p:cNvPr id="165894" name="Picture 41" descr="IMGP06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2100" y="762000"/>
            <a:ext cx="2871788"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895" name="Text Box 42"/>
          <p:cNvSpPr txBox="1">
            <a:spLocks noChangeArrowheads="1"/>
          </p:cNvSpPr>
          <p:nvPr/>
        </p:nvSpPr>
        <p:spPr bwMode="hidden">
          <a:xfrm>
            <a:off x="5508625" y="760413"/>
            <a:ext cx="2871788" cy="338137"/>
          </a:xfrm>
          <a:prstGeom prst="rect">
            <a:avLst/>
          </a:prstGeom>
          <a:solidFill>
            <a:srgbClr val="CCFFCC"/>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1600" b="0">
                <a:solidFill>
                  <a:srgbClr val="FF0000"/>
                </a:solidFill>
                <a:latin typeface="Times New Roman" panose="02020603050405020304" pitchFamily="18" charset="0"/>
                <a:ea typeface="宋体" panose="02010600030101010101" pitchFamily="2" charset="-122"/>
              </a:rPr>
              <a:t>2010.6</a:t>
            </a:r>
            <a:r>
              <a:rPr lang="zh-CN" altLang="en-US" sz="1600" b="0">
                <a:solidFill>
                  <a:srgbClr val="FF0000"/>
                </a:solidFill>
                <a:latin typeface="Times New Roman" panose="02020603050405020304" pitchFamily="18" charset="0"/>
                <a:ea typeface="宋体" panose="02010600030101010101" pitchFamily="2" charset="-122"/>
              </a:rPr>
              <a:t>北海道准晶会议</a:t>
            </a:r>
          </a:p>
        </p:txBody>
      </p:sp>
      <p:sp>
        <p:nvSpPr>
          <p:cNvPr id="165896" name="矩形 1"/>
          <p:cNvSpPr>
            <a:spLocks noChangeArrowheads="1"/>
          </p:cNvSpPr>
          <p:nvPr/>
        </p:nvSpPr>
        <p:spPr bwMode="auto">
          <a:xfrm>
            <a:off x="160338" y="4365625"/>
            <a:ext cx="4572000" cy="1938338"/>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b="0">
                <a:solidFill>
                  <a:srgbClr val="002060"/>
                </a:solidFill>
                <a:latin typeface="黑体" panose="02010609060101010101" pitchFamily="49" charset="-122"/>
              </a:rPr>
              <a:t>    </a:t>
            </a:r>
            <a:r>
              <a:rPr lang="zh-CN" altLang="zh-CN" sz="2400" b="0">
                <a:solidFill>
                  <a:srgbClr val="002060"/>
                </a:solidFill>
                <a:latin typeface="黑体" panose="02010609060101010101" pitchFamily="49" charset="-122"/>
              </a:rPr>
              <a:t>发现由</a:t>
            </a:r>
            <a:r>
              <a:rPr lang="en-US" altLang="zh-CN" sz="2400" b="0">
                <a:solidFill>
                  <a:srgbClr val="002060"/>
                </a:solidFill>
                <a:latin typeface="黑体" panose="02010609060101010101" pitchFamily="49" charset="-122"/>
              </a:rPr>
              <a:t>Cd-Yb</a:t>
            </a:r>
            <a:r>
              <a:rPr lang="zh-CN" altLang="zh-CN" sz="2400" b="0">
                <a:solidFill>
                  <a:srgbClr val="002060"/>
                </a:solidFill>
                <a:latin typeface="黑体" panose="02010609060101010101" pitchFamily="49" charset="-122"/>
              </a:rPr>
              <a:t>两种元素构成的稳定准晶相，这些稳定准晶体具有极大的科学价值，他的这一科研成果发表在</a:t>
            </a:r>
            <a:r>
              <a:rPr lang="en-US" altLang="zh-CN" sz="2400" b="0">
                <a:solidFill>
                  <a:srgbClr val="002060"/>
                </a:solidFill>
                <a:latin typeface="黑体" panose="02010609060101010101" pitchFamily="49" charset="-122"/>
              </a:rPr>
              <a:t>2000</a:t>
            </a:r>
            <a:r>
              <a:rPr lang="zh-CN" altLang="zh-CN" sz="2400" b="0">
                <a:solidFill>
                  <a:srgbClr val="002060"/>
                </a:solidFill>
                <a:latin typeface="黑体" panose="02010609060101010101" pitchFamily="49" charset="-122"/>
              </a:rPr>
              <a:t>年</a:t>
            </a:r>
            <a:r>
              <a:rPr lang="en-US" altLang="zh-CN" sz="2400" b="0">
                <a:solidFill>
                  <a:srgbClr val="002060"/>
                </a:solidFill>
                <a:latin typeface="黑体" panose="02010609060101010101" pitchFamily="49" charset="-122"/>
              </a:rPr>
              <a:t>11</a:t>
            </a:r>
            <a:r>
              <a:rPr lang="zh-CN" altLang="zh-CN" sz="2400" b="0">
                <a:solidFill>
                  <a:srgbClr val="002060"/>
                </a:solidFill>
                <a:latin typeface="黑体" panose="02010609060101010101" pitchFamily="49" charset="-122"/>
              </a:rPr>
              <a:t>月</a:t>
            </a:r>
            <a:r>
              <a:rPr lang="en-US" altLang="zh-CN" sz="2400" b="0">
                <a:solidFill>
                  <a:srgbClr val="002060"/>
                </a:solidFill>
                <a:latin typeface="黑体" panose="02010609060101010101" pitchFamily="49" charset="-122"/>
              </a:rPr>
              <a:t>30</a:t>
            </a:r>
            <a:r>
              <a:rPr lang="zh-CN" altLang="zh-CN" sz="2400" b="0">
                <a:solidFill>
                  <a:srgbClr val="002060"/>
                </a:solidFill>
                <a:latin typeface="黑体" panose="02010609060101010101" pitchFamily="49" charset="-122"/>
              </a:rPr>
              <a:t>日出版的英国《自然》杂志上。</a:t>
            </a:r>
            <a:endParaRPr lang="zh-CN" altLang="en-US" sz="2400" b="0">
              <a:solidFill>
                <a:srgbClr val="002060"/>
              </a:solidFill>
              <a:latin typeface="黑体" panose="02010609060101010101" pitchFamily="49" charset="-122"/>
            </a:endParaRPr>
          </a:p>
        </p:txBody>
      </p:sp>
      <p:pic>
        <p:nvPicPr>
          <p:cNvPr id="165897" name="Picture 12" descr="http://www.nature.com/nature/journal/v408/n6812/images/408537ba.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9538" y="4376738"/>
            <a:ext cx="351155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5898"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hidden">
          <a:xfrm>
            <a:off x="4919663" y="2909888"/>
            <a:ext cx="4219575" cy="146685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1725" y="2586038"/>
            <a:ext cx="1517650" cy="392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6691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6588" y="2478088"/>
            <a:ext cx="3005137" cy="411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66916" name="Text Box 7"/>
          <p:cNvSpPr txBox="1">
            <a:spLocks noChangeArrowheads="1"/>
          </p:cNvSpPr>
          <p:nvPr/>
        </p:nvSpPr>
        <p:spPr bwMode="hidden">
          <a:xfrm>
            <a:off x="971550" y="188913"/>
            <a:ext cx="3529013" cy="584200"/>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zh-CN" altLang="en-US" sz="3200" b="0">
                <a:solidFill>
                  <a:srgbClr val="0000FF"/>
                </a:solidFill>
                <a:latin typeface="Times New Roman" panose="02020603050405020304" pitchFamily="18" charset="0"/>
              </a:rPr>
              <a:t>天然准晶</a:t>
            </a:r>
          </a:p>
        </p:txBody>
      </p:sp>
      <p:sp>
        <p:nvSpPr>
          <p:cNvPr id="166917" name="矩形 2"/>
          <p:cNvSpPr>
            <a:spLocks noChangeArrowheads="1"/>
          </p:cNvSpPr>
          <p:nvPr/>
        </p:nvSpPr>
        <p:spPr bwMode="auto">
          <a:xfrm>
            <a:off x="533400" y="990600"/>
            <a:ext cx="5191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1600" b="0">
                <a:solidFill>
                  <a:srgbClr val="002060"/>
                </a:solidFill>
                <a:latin typeface="黑体" panose="02010609060101010101" pitchFamily="49" charset="-122"/>
              </a:rPr>
              <a:t>2009</a:t>
            </a:r>
            <a:r>
              <a:rPr lang="zh-CN" altLang="en-US" sz="1600" b="0">
                <a:solidFill>
                  <a:srgbClr val="002060"/>
                </a:solidFill>
                <a:latin typeface="黑体" panose="02010609060101010101" pitchFamily="49" charset="-122"/>
              </a:rPr>
              <a:t>年，</a:t>
            </a:r>
            <a:r>
              <a:rPr lang="zh-CN" altLang="zh-CN" sz="1600" b="0">
                <a:solidFill>
                  <a:srgbClr val="002060"/>
                </a:solidFill>
                <a:latin typeface="黑体" panose="02010609060101010101" pitchFamily="49" charset="-122"/>
              </a:rPr>
              <a:t>在俄罗斯一条河流内的矿物样品中发现了自然生成的</a:t>
            </a:r>
            <a:r>
              <a:rPr lang="en-US" altLang="zh-CN" sz="1600" b="0">
                <a:solidFill>
                  <a:srgbClr val="002060"/>
                </a:solidFill>
                <a:latin typeface="黑体" panose="02010609060101010101" pitchFamily="49" charset="-122"/>
              </a:rPr>
              <a:t>Al</a:t>
            </a:r>
            <a:r>
              <a:rPr lang="en-US" altLang="zh-CN" sz="1100" b="0">
                <a:solidFill>
                  <a:srgbClr val="002060"/>
                </a:solidFill>
                <a:latin typeface="黑体" panose="02010609060101010101" pitchFamily="49" charset="-122"/>
              </a:rPr>
              <a:t>63</a:t>
            </a:r>
            <a:r>
              <a:rPr lang="en-US" altLang="zh-CN" sz="1600" b="0">
                <a:solidFill>
                  <a:srgbClr val="002060"/>
                </a:solidFill>
                <a:latin typeface="黑体" panose="02010609060101010101" pitchFamily="49" charset="-122"/>
              </a:rPr>
              <a:t>Cu</a:t>
            </a:r>
            <a:r>
              <a:rPr lang="en-US" altLang="zh-CN" sz="1100" b="0">
                <a:solidFill>
                  <a:srgbClr val="002060"/>
                </a:solidFill>
                <a:latin typeface="黑体" panose="02010609060101010101" pitchFamily="49" charset="-122"/>
              </a:rPr>
              <a:t>24</a:t>
            </a:r>
            <a:r>
              <a:rPr lang="en-US" altLang="zh-CN" sz="1600" b="0">
                <a:solidFill>
                  <a:srgbClr val="002060"/>
                </a:solidFill>
                <a:latin typeface="黑体" panose="02010609060101010101" pitchFamily="49" charset="-122"/>
              </a:rPr>
              <a:t>Fe</a:t>
            </a:r>
            <a:r>
              <a:rPr lang="en-US" altLang="zh-CN" sz="1100" b="0">
                <a:solidFill>
                  <a:srgbClr val="002060"/>
                </a:solidFill>
                <a:latin typeface="黑体" panose="02010609060101010101" pitchFamily="49" charset="-122"/>
              </a:rPr>
              <a:t>13</a:t>
            </a:r>
            <a:r>
              <a:rPr lang="zh-CN" altLang="zh-CN" sz="1600" b="0">
                <a:solidFill>
                  <a:srgbClr val="002060"/>
                </a:solidFill>
                <a:latin typeface="黑体" panose="02010609060101010101" pitchFamily="49" charset="-122"/>
              </a:rPr>
              <a:t>准晶体</a:t>
            </a:r>
            <a:endParaRPr lang="zh-CN" altLang="en-US" sz="1600" b="0">
              <a:solidFill>
                <a:srgbClr val="002060"/>
              </a:solidFill>
              <a:latin typeface="黑体" panose="02010609060101010101" pitchFamily="49" charset="-122"/>
            </a:endParaRPr>
          </a:p>
        </p:txBody>
      </p:sp>
      <p:pic>
        <p:nvPicPr>
          <p:cNvPr id="166918" name="Picture 6" descr="110328-g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2588" y="611188"/>
            <a:ext cx="1978025"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91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hidden">
          <a:xfrm>
            <a:off x="46038" y="2673350"/>
            <a:ext cx="4454525" cy="1296988"/>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692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hidden">
          <a:xfrm>
            <a:off x="179388" y="1700213"/>
            <a:ext cx="3935412" cy="955675"/>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6921"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hidden">
          <a:xfrm>
            <a:off x="77788" y="3970338"/>
            <a:ext cx="4206875" cy="2600325"/>
          </a:xfrm>
          <a:prstGeom prst="rect">
            <a:avLst/>
          </a:prstGeom>
          <a:noFill/>
          <a:ln>
            <a:noFill/>
          </a:ln>
          <a:effectLst/>
          <a:extLst>
            <a:ext uri="{909E8E84-426E-40DD-AFC4-6F175D3DCCD1}">
              <a14:hiddenFill xmlns:a14="http://schemas.microsoft.com/office/drawing/2010/main">
                <a:gradFill rotWithShape="0">
                  <a:gsLst>
                    <a:gs pos="0">
                      <a:schemeClr val="bg1"/>
                    </a:gs>
                    <a:gs pos="100000">
                      <a:srgbClr val="CEFFA9"/>
                    </a:gs>
                  </a:gsLst>
                  <a:path path="shape">
                    <a:fillToRect l="50000" t="50000" r="50000" b="50000"/>
                  </a:path>
                </a:gra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矩形 3"/>
          <p:cNvSpPr>
            <a:spLocks noChangeArrowheads="1"/>
          </p:cNvSpPr>
          <p:nvPr/>
        </p:nvSpPr>
        <p:spPr bwMode="auto">
          <a:xfrm>
            <a:off x="165100" y="188913"/>
            <a:ext cx="40274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3200" b="0" dirty="0">
                <a:solidFill>
                  <a:srgbClr val="0000FF"/>
                </a:solidFill>
                <a:latin typeface="Times New Roman" panose="02020603050405020304" pitchFamily="18" charset="0"/>
                <a:ea typeface="宋体" panose="02010600030101010101" pitchFamily="2" charset="-122"/>
              </a:rPr>
              <a:t>Daniel </a:t>
            </a:r>
            <a:r>
              <a:rPr lang="en-US" altLang="zh-CN" sz="3200" b="0" dirty="0" err="1">
                <a:solidFill>
                  <a:srgbClr val="0000FF"/>
                </a:solidFill>
                <a:latin typeface="Times New Roman" panose="02020603050405020304" pitchFamily="18" charset="0"/>
                <a:ea typeface="宋体" panose="02010600030101010101" pitchFamily="2" charset="-122"/>
              </a:rPr>
              <a:t>Shechtman</a:t>
            </a:r>
            <a:r>
              <a:rPr lang="zh-CN" altLang="en-US" sz="3200" b="0" dirty="0">
                <a:solidFill>
                  <a:srgbClr val="0000FF"/>
                </a:solidFill>
                <a:latin typeface="黑体" panose="02010609060101010101" pitchFamily="49" charset="-122"/>
              </a:rPr>
              <a:t>简历</a:t>
            </a:r>
            <a:endParaRPr lang="zh-CN" altLang="zh-CN" sz="3200" b="0" dirty="0">
              <a:solidFill>
                <a:srgbClr val="0000FF"/>
              </a:solidFill>
              <a:latin typeface="黑体" panose="02010609060101010101" pitchFamily="49" charset="-122"/>
            </a:endParaRPr>
          </a:p>
        </p:txBody>
      </p:sp>
      <p:sp>
        <p:nvSpPr>
          <p:cNvPr id="167939" name="Rectangle 5">
            <a:hlinkClick r:id="rId2" tooltip="丹尼尔·舍特曼"/>
          </p:cNvPr>
          <p:cNvSpPr>
            <a:spLocks noChangeArrowheads="1"/>
          </p:cNvSpPr>
          <p:nvPr/>
        </p:nvSpPr>
        <p:spPr bwMode="hidden">
          <a:xfrm>
            <a:off x="323850" y="1125538"/>
            <a:ext cx="4608513" cy="5046662"/>
          </a:xfrm>
          <a:prstGeom prst="rect">
            <a:avLst/>
          </a:prstGeom>
          <a:solidFill>
            <a:srgbClr val="FAFAFA"/>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zh-CN" altLang="en-US" sz="1400" dirty="0">
                <a:solidFill>
                  <a:srgbClr val="C00000"/>
                </a:solidFill>
                <a:latin typeface="黑体" panose="02010609060101010101" pitchFamily="49" charset="-122"/>
                <a:ea typeface="宋体" panose="02010600030101010101" pitchFamily="2" charset="-122"/>
              </a:rPr>
              <a:t>个人经历</a:t>
            </a:r>
            <a:endParaRPr lang="zh-CN" altLang="en-US" sz="1400" b="0" dirty="0">
              <a:solidFill>
                <a:srgbClr val="C00000"/>
              </a:solidFill>
              <a:latin typeface="黑体" panose="02010609060101010101" pitchFamily="49" charset="-122"/>
              <a:ea typeface="宋体" panose="02010600030101010101" pitchFamily="2" charset="-122"/>
            </a:endParaRPr>
          </a:p>
          <a:p>
            <a:pPr>
              <a:spcBef>
                <a:spcPct val="0"/>
              </a:spcBef>
              <a:spcAft>
                <a:spcPct val="0"/>
              </a:spcAft>
              <a:buFontTx/>
              <a:buNone/>
            </a:pPr>
            <a:r>
              <a:rPr lang="en-US" altLang="zh-CN" sz="1400" b="0" dirty="0">
                <a:solidFill>
                  <a:srgbClr val="333333"/>
                </a:solidFill>
                <a:latin typeface="黑体" panose="02010609060101010101" pitchFamily="49" charset="-122"/>
                <a:ea typeface="宋体" panose="02010600030101010101" pitchFamily="2" charset="-122"/>
              </a:rPr>
              <a:t>1941</a:t>
            </a:r>
            <a:r>
              <a:rPr lang="zh-CN" altLang="en-US" sz="1400" b="0" dirty="0">
                <a:solidFill>
                  <a:srgbClr val="333333"/>
                </a:solidFill>
                <a:latin typeface="黑体" panose="02010609060101010101" pitchFamily="49" charset="-122"/>
                <a:ea typeface="宋体" panose="02010600030101010101" pitchFamily="2" charset="-122"/>
              </a:rPr>
              <a:t>年出生于</a:t>
            </a:r>
            <a:r>
              <a:rPr lang="zh-CN" altLang="en-US" sz="1400" b="0" dirty="0">
                <a:solidFill>
                  <a:srgbClr val="0268CD"/>
                </a:solidFill>
                <a:latin typeface="黑体" panose="02010609060101010101" pitchFamily="49" charset="-122"/>
                <a:ea typeface="宋体" panose="02010600030101010101" pitchFamily="2" charset="-122"/>
              </a:rPr>
              <a:t>特拉维夫</a:t>
            </a:r>
            <a:r>
              <a:rPr lang="zh-CN" altLang="en-US" sz="1400" b="0" dirty="0">
                <a:solidFill>
                  <a:srgbClr val="333333"/>
                </a:solidFill>
                <a:latin typeface="黑体" panose="02010609060101010101" pitchFamily="49" charset="-122"/>
                <a:ea typeface="宋体" panose="02010600030101010101" pitchFamily="2" charset="-122"/>
              </a:rPr>
              <a:t>（英属</a:t>
            </a:r>
            <a:r>
              <a:rPr lang="zh-CN" altLang="en-US" sz="1400" b="0" dirty="0">
                <a:solidFill>
                  <a:srgbClr val="0268CD"/>
                </a:solidFill>
                <a:latin typeface="黑体" panose="02010609060101010101" pitchFamily="49" charset="-122"/>
                <a:ea typeface="宋体" panose="02010600030101010101" pitchFamily="2" charset="-122"/>
              </a:rPr>
              <a:t>巴勒斯坦</a:t>
            </a:r>
            <a:r>
              <a:rPr lang="zh-CN" altLang="en-US" sz="1400" b="0" dirty="0">
                <a:solidFill>
                  <a:srgbClr val="333333"/>
                </a:solidFill>
                <a:latin typeface="黑体" panose="02010609060101010101" pitchFamily="49" charset="-122"/>
                <a:ea typeface="宋体" panose="02010600030101010101" pitchFamily="2" charset="-122"/>
              </a:rPr>
              <a:t>托管地），</a:t>
            </a:r>
            <a:r>
              <a:rPr lang="zh-CN" altLang="en-US" sz="1400" b="0" dirty="0">
                <a:solidFill>
                  <a:srgbClr val="0268CD"/>
                </a:solidFill>
                <a:latin typeface="黑体" panose="02010609060101010101" pitchFamily="49" charset="-122"/>
                <a:ea typeface="宋体" panose="02010600030101010101" pitchFamily="2" charset="-122"/>
              </a:rPr>
              <a:t>以色列</a:t>
            </a:r>
            <a:r>
              <a:rPr lang="zh-CN" altLang="en-US" sz="1400" b="0" dirty="0">
                <a:solidFill>
                  <a:srgbClr val="333333"/>
                </a:solidFill>
                <a:latin typeface="黑体" panose="02010609060101010101" pitchFamily="49" charset="-122"/>
                <a:ea typeface="宋体" panose="02010600030101010101" pitchFamily="2" charset="-122"/>
              </a:rPr>
              <a:t>材料科学家，</a:t>
            </a:r>
            <a:endParaRPr lang="en-US" altLang="zh-CN" sz="1400" b="0" dirty="0">
              <a:solidFill>
                <a:srgbClr val="333333"/>
              </a:solidFill>
              <a:latin typeface="黑体" panose="02010609060101010101" pitchFamily="49" charset="-122"/>
              <a:ea typeface="宋体" panose="02010600030101010101" pitchFamily="2" charset="-122"/>
            </a:endParaRPr>
          </a:p>
          <a:p>
            <a:pPr>
              <a:spcBef>
                <a:spcPct val="0"/>
              </a:spcBef>
              <a:spcAft>
                <a:spcPct val="0"/>
              </a:spcAft>
              <a:buFontTx/>
              <a:buNone/>
            </a:pPr>
            <a:r>
              <a:rPr lang="zh-CN" altLang="en-US" sz="1400" b="0" dirty="0">
                <a:solidFill>
                  <a:srgbClr val="DE0000"/>
                </a:solidFill>
                <a:latin typeface="黑体" panose="02010609060101010101" pitchFamily="49" charset="-122"/>
                <a:ea typeface="宋体" panose="02010600030101010101" pitchFamily="2" charset="-122"/>
              </a:rPr>
              <a:t>以色列理工学院</a:t>
            </a:r>
            <a:r>
              <a:rPr lang="zh-CN" altLang="en-US" sz="1400" b="0" dirty="0">
                <a:solidFill>
                  <a:srgbClr val="333333"/>
                </a:solidFill>
                <a:latin typeface="黑体" panose="02010609060101010101" pitchFamily="49" charset="-122"/>
                <a:ea typeface="宋体" panose="02010600030101010101" pitchFamily="2" charset="-122"/>
              </a:rPr>
              <a:t>取得机械工程学士后，又接连取得材料科学硕士与博士学位。</a:t>
            </a:r>
            <a:endParaRPr lang="en-US" altLang="zh-CN" sz="1400" b="0" dirty="0">
              <a:solidFill>
                <a:srgbClr val="333333"/>
              </a:solidFill>
              <a:latin typeface="黑体" panose="02010609060101010101" pitchFamily="49" charset="-122"/>
              <a:ea typeface="宋体" panose="02010600030101010101" pitchFamily="2" charset="-122"/>
            </a:endParaRPr>
          </a:p>
          <a:p>
            <a:pPr>
              <a:spcBef>
                <a:spcPct val="0"/>
              </a:spcBef>
              <a:spcAft>
                <a:spcPct val="0"/>
              </a:spcAft>
              <a:buFontTx/>
              <a:buNone/>
            </a:pPr>
            <a:r>
              <a:rPr lang="zh-CN" altLang="en-US" sz="1400" b="0" dirty="0">
                <a:solidFill>
                  <a:srgbClr val="0268CD"/>
                </a:solidFill>
                <a:latin typeface="黑体" panose="02010609060101010101" pitchFamily="49" charset="-122"/>
                <a:ea typeface="宋体" panose="02010600030101010101" pitchFamily="2" charset="-122"/>
              </a:rPr>
              <a:t>美国能源部</a:t>
            </a:r>
            <a:r>
              <a:rPr lang="zh-CN" altLang="en-US" sz="1400" b="0" dirty="0">
                <a:solidFill>
                  <a:srgbClr val="333333"/>
                </a:solidFill>
                <a:latin typeface="黑体" panose="02010609060101010101" pitchFamily="49" charset="-122"/>
                <a:ea typeface="宋体" panose="02010600030101010101" pitchFamily="2" charset="-122"/>
              </a:rPr>
              <a:t>埃姆斯实验室</a:t>
            </a:r>
            <a:r>
              <a:rPr lang="en-US" altLang="zh-CN" sz="1400" b="0" dirty="0">
                <a:solidFill>
                  <a:srgbClr val="333333"/>
                </a:solidFill>
                <a:latin typeface="黑体" panose="02010609060101010101" pitchFamily="49" charset="-122"/>
                <a:ea typeface="宋体" panose="02010600030101010101" pitchFamily="2" charset="-122"/>
              </a:rPr>
              <a:t>(Ames Laboratory)</a:t>
            </a:r>
            <a:r>
              <a:rPr lang="zh-CN" altLang="en-US" sz="1400" b="0" dirty="0">
                <a:solidFill>
                  <a:srgbClr val="333333"/>
                </a:solidFill>
                <a:latin typeface="黑体" panose="02010609060101010101" pitchFamily="49" charset="-122"/>
                <a:ea typeface="宋体" panose="02010600030101010101" pitchFamily="2" charset="-122"/>
              </a:rPr>
              <a:t>助理、艾奥瓦州立大学材料科学教授。</a:t>
            </a:r>
            <a:endParaRPr lang="en-US" altLang="zh-CN" sz="1400" b="0" dirty="0">
              <a:solidFill>
                <a:srgbClr val="333333"/>
              </a:solidFill>
              <a:latin typeface="黑体" panose="02010609060101010101" pitchFamily="49" charset="-122"/>
              <a:ea typeface="宋体" panose="02010600030101010101" pitchFamily="2" charset="-122"/>
            </a:endParaRPr>
          </a:p>
          <a:p>
            <a:pPr>
              <a:spcBef>
                <a:spcPct val="0"/>
              </a:spcBef>
              <a:spcAft>
                <a:spcPct val="0"/>
              </a:spcAft>
              <a:buFontTx/>
              <a:buNone/>
            </a:pPr>
            <a:endParaRPr lang="en-US" altLang="zh-CN" sz="1400" b="0" dirty="0">
              <a:latin typeface="Times New Roman" panose="02020603050405020304" pitchFamily="18" charset="0"/>
              <a:ea typeface="宋体" panose="02010600030101010101" pitchFamily="2" charset="-122"/>
            </a:endParaRPr>
          </a:p>
          <a:p>
            <a:pPr>
              <a:spcBef>
                <a:spcPct val="0"/>
              </a:spcBef>
              <a:spcAft>
                <a:spcPct val="0"/>
              </a:spcAft>
              <a:buFontTx/>
              <a:buNone/>
            </a:pPr>
            <a:r>
              <a:rPr lang="zh-CN" altLang="en-US" sz="1400" b="0" dirty="0">
                <a:latin typeface="Times New Roman" panose="02020603050405020304" pitchFamily="18" charset="0"/>
                <a:ea typeface="宋体" panose="02010600030101010101" pitchFamily="2" charset="-122"/>
              </a:rPr>
              <a:t>美国工程院院士，欧洲科学院院士，以色列科学院院士</a:t>
            </a:r>
            <a:endParaRPr lang="en-US" altLang="zh-CN" sz="1400" b="0" dirty="0">
              <a:solidFill>
                <a:srgbClr val="333333"/>
              </a:solidFill>
              <a:latin typeface="黑体" panose="02010609060101010101" pitchFamily="49" charset="-122"/>
              <a:ea typeface="宋体" panose="02010600030101010101" pitchFamily="2" charset="-122"/>
            </a:endParaRPr>
          </a:p>
          <a:p>
            <a:pPr>
              <a:spcBef>
                <a:spcPct val="0"/>
              </a:spcBef>
              <a:spcAft>
                <a:spcPct val="0"/>
              </a:spcAft>
              <a:buFontTx/>
              <a:buNone/>
            </a:pPr>
            <a:endParaRPr lang="en-US" altLang="zh-CN" sz="1400" b="0" dirty="0">
              <a:solidFill>
                <a:srgbClr val="333333"/>
              </a:solidFill>
              <a:latin typeface="黑体" panose="02010609060101010101" pitchFamily="49" charset="-122"/>
              <a:ea typeface="宋体" panose="02010600030101010101" pitchFamily="2" charset="-122"/>
            </a:endParaRPr>
          </a:p>
          <a:p>
            <a:pPr>
              <a:spcBef>
                <a:spcPct val="0"/>
              </a:spcBef>
              <a:spcAft>
                <a:spcPct val="0"/>
              </a:spcAft>
              <a:buFontTx/>
              <a:buNone/>
            </a:pPr>
            <a:r>
              <a:rPr lang="zh-CN" altLang="en-US" sz="1400" b="0" dirty="0">
                <a:solidFill>
                  <a:srgbClr val="002060"/>
                </a:solidFill>
                <a:latin typeface="黑体" panose="02010609060101010101" pitchFamily="49" charset="-122"/>
                <a:ea typeface="宋体" panose="02010600030101010101" pitchFamily="2" charset="-122"/>
              </a:rPr>
              <a:t>现任以色列理工学院</a:t>
            </a:r>
            <a:r>
              <a:rPr lang="zh-CN" altLang="en-US" sz="1400" b="0" dirty="0">
                <a:solidFill>
                  <a:srgbClr val="002060"/>
                </a:solidFill>
                <a:latin typeface="Times New Roman" panose="02020603050405020304" pitchFamily="18" charset="0"/>
                <a:ea typeface="宋体" panose="02010600030101010101" pitchFamily="2" charset="-122"/>
              </a:rPr>
              <a:t>杰出教授，</a:t>
            </a:r>
            <a:endParaRPr lang="en-US" altLang="zh-CN" sz="1400" b="0" dirty="0">
              <a:solidFill>
                <a:srgbClr val="002060"/>
              </a:solidFill>
              <a:latin typeface="Times New Roman" panose="02020603050405020304" pitchFamily="18" charset="0"/>
              <a:ea typeface="宋体" panose="02010600030101010101" pitchFamily="2" charset="-122"/>
            </a:endParaRPr>
          </a:p>
          <a:p>
            <a:pPr>
              <a:spcBef>
                <a:spcPct val="0"/>
              </a:spcBef>
              <a:spcAft>
                <a:spcPct val="0"/>
              </a:spcAft>
              <a:buFontTx/>
              <a:buNone/>
            </a:pPr>
            <a:r>
              <a:rPr lang="zh-CN" altLang="en-US" sz="1400" b="0" dirty="0">
                <a:solidFill>
                  <a:srgbClr val="002060"/>
                </a:solidFill>
                <a:latin typeface="Times New Roman" panose="02020603050405020304" pitchFamily="18" charset="0"/>
                <a:ea typeface="宋体" panose="02010600030101010101" pitchFamily="2" charset="-122"/>
              </a:rPr>
              <a:t>美国</a:t>
            </a:r>
            <a:r>
              <a:rPr lang="zh-CN" altLang="en-US" sz="1400" b="0" dirty="0">
                <a:solidFill>
                  <a:srgbClr val="002060"/>
                </a:solidFill>
                <a:latin typeface="黑体" panose="02010609060101010101" pitchFamily="49" charset="-122"/>
                <a:ea typeface="宋体" panose="02010600030101010101" pitchFamily="2" charset="-122"/>
              </a:rPr>
              <a:t>菲利普托比亚斯材料科学</a:t>
            </a:r>
            <a:r>
              <a:rPr lang="zh-CN" altLang="en-US" sz="1400" b="0" dirty="0">
                <a:solidFill>
                  <a:srgbClr val="002060"/>
                </a:solidFill>
                <a:latin typeface="Times New Roman" panose="02020603050405020304" pitchFamily="18" charset="0"/>
                <a:ea typeface="宋体" panose="02010600030101010101" pitchFamily="2" charset="-122"/>
              </a:rPr>
              <a:t>列席</a:t>
            </a:r>
            <a:r>
              <a:rPr lang="zh-CN" altLang="en-US" sz="1400" b="0" dirty="0">
                <a:solidFill>
                  <a:srgbClr val="002060"/>
                </a:solidFill>
                <a:latin typeface="黑体" panose="02010609060101010101" pitchFamily="49" charset="-122"/>
                <a:ea typeface="宋体" panose="02010600030101010101" pitchFamily="2" charset="-122"/>
              </a:rPr>
              <a:t>教授；</a:t>
            </a:r>
            <a:endParaRPr lang="en-US" altLang="zh-CN" sz="1400" b="0" dirty="0">
              <a:solidFill>
                <a:srgbClr val="002060"/>
              </a:solidFill>
              <a:latin typeface="黑体" panose="02010609060101010101" pitchFamily="49" charset="-122"/>
              <a:ea typeface="宋体" panose="02010600030101010101" pitchFamily="2" charset="-122"/>
            </a:endParaRPr>
          </a:p>
          <a:p>
            <a:pPr>
              <a:spcBef>
                <a:spcPct val="0"/>
              </a:spcBef>
              <a:spcAft>
                <a:spcPct val="0"/>
              </a:spcAft>
              <a:buFontTx/>
              <a:buNone/>
            </a:pPr>
            <a:r>
              <a:rPr lang="zh-CN" altLang="en-US" sz="1400" b="0" dirty="0">
                <a:solidFill>
                  <a:srgbClr val="002060"/>
                </a:solidFill>
                <a:latin typeface="Times New Roman" panose="02020603050405020304" pitchFamily="18" charset="0"/>
                <a:ea typeface="宋体" panose="02010600030101010101" pitchFamily="2" charset="-122"/>
              </a:rPr>
              <a:t>美国爱荷华州立大学杰出</a:t>
            </a:r>
            <a:endParaRPr lang="en-US" altLang="zh-CN" sz="1400" b="0" dirty="0">
              <a:solidFill>
                <a:srgbClr val="002060"/>
              </a:solidFill>
              <a:latin typeface="Times New Roman" panose="02020603050405020304" pitchFamily="18" charset="0"/>
              <a:ea typeface="宋体" panose="02010600030101010101" pitchFamily="2" charset="-122"/>
            </a:endParaRPr>
          </a:p>
          <a:p>
            <a:pPr>
              <a:spcBef>
                <a:spcPct val="0"/>
              </a:spcBef>
              <a:spcAft>
                <a:spcPct val="0"/>
              </a:spcAft>
              <a:buFontTx/>
              <a:buNone/>
            </a:pPr>
            <a:r>
              <a:rPr lang="zh-CN" altLang="en-US" sz="1400" b="0" dirty="0">
                <a:solidFill>
                  <a:srgbClr val="002060"/>
                </a:solidFill>
                <a:latin typeface="Times New Roman" panose="02020603050405020304" pitchFamily="18" charset="0"/>
                <a:ea typeface="宋体" panose="02010600030101010101" pitchFamily="2" charset="-122"/>
              </a:rPr>
              <a:t>日本东北大学杰出教授</a:t>
            </a:r>
            <a:endParaRPr lang="en-US" altLang="zh-CN" sz="1400" b="0" dirty="0">
              <a:solidFill>
                <a:srgbClr val="002060"/>
              </a:solidFill>
              <a:latin typeface="Times New Roman" panose="02020603050405020304" pitchFamily="18" charset="0"/>
              <a:ea typeface="宋体" panose="02010600030101010101" pitchFamily="2" charset="-122"/>
            </a:endParaRPr>
          </a:p>
          <a:p>
            <a:pPr>
              <a:spcBef>
                <a:spcPct val="0"/>
              </a:spcBef>
              <a:spcAft>
                <a:spcPct val="0"/>
              </a:spcAft>
              <a:buFontTx/>
              <a:buNone/>
            </a:pPr>
            <a:r>
              <a:rPr lang="zh-CN" altLang="en-US" sz="1400" b="0" dirty="0">
                <a:solidFill>
                  <a:srgbClr val="002060"/>
                </a:solidFill>
                <a:latin typeface="黑体" panose="02010609060101010101" pitchFamily="49" charset="-122"/>
                <a:ea typeface="宋体" panose="02010600030101010101" pitchFamily="2" charset="-122"/>
              </a:rPr>
              <a:t>河南理工大学兼职教授</a:t>
            </a:r>
            <a:endParaRPr lang="en-US" altLang="zh-CN" sz="1400" b="0" dirty="0">
              <a:solidFill>
                <a:srgbClr val="002060"/>
              </a:solidFill>
              <a:latin typeface="黑体" panose="02010609060101010101" pitchFamily="49" charset="-122"/>
              <a:ea typeface="宋体" panose="02010600030101010101" pitchFamily="2" charset="-122"/>
            </a:endParaRPr>
          </a:p>
          <a:p>
            <a:pPr>
              <a:spcBef>
                <a:spcPct val="0"/>
              </a:spcBef>
              <a:spcAft>
                <a:spcPct val="0"/>
              </a:spcAft>
              <a:buFontTx/>
              <a:buNone/>
            </a:pPr>
            <a:r>
              <a:rPr lang="zh-CN" altLang="en-US" sz="1400" b="0" dirty="0">
                <a:solidFill>
                  <a:srgbClr val="002060"/>
                </a:solidFill>
                <a:latin typeface="黑体" panose="02010609060101010101" pitchFamily="49" charset="-122"/>
                <a:ea typeface="宋体" panose="02010600030101010101" pitchFamily="2" charset="-122"/>
              </a:rPr>
              <a:t>北京工业大学兼职教授</a:t>
            </a:r>
            <a:endParaRPr lang="en-US" altLang="zh-CN" sz="1400" b="0" dirty="0">
              <a:solidFill>
                <a:srgbClr val="002060"/>
              </a:solidFill>
              <a:latin typeface="黑体" panose="02010609060101010101" pitchFamily="49" charset="-122"/>
              <a:ea typeface="宋体" panose="02010600030101010101" pitchFamily="2" charset="-122"/>
            </a:endParaRPr>
          </a:p>
          <a:p>
            <a:pPr>
              <a:spcBef>
                <a:spcPct val="0"/>
              </a:spcBef>
              <a:spcAft>
                <a:spcPct val="0"/>
              </a:spcAft>
              <a:buFontTx/>
              <a:buNone/>
            </a:pPr>
            <a:endParaRPr lang="en-US" altLang="zh-CN" sz="1400" dirty="0">
              <a:solidFill>
                <a:srgbClr val="333333"/>
              </a:solidFill>
              <a:latin typeface="黑体" panose="02010609060101010101" pitchFamily="49" charset="-122"/>
              <a:ea typeface="宋体" panose="02010600030101010101" pitchFamily="2" charset="-122"/>
            </a:endParaRPr>
          </a:p>
          <a:p>
            <a:pPr>
              <a:spcBef>
                <a:spcPct val="0"/>
              </a:spcBef>
              <a:spcAft>
                <a:spcPct val="0"/>
              </a:spcAft>
              <a:buFontTx/>
              <a:buNone/>
            </a:pPr>
            <a:r>
              <a:rPr lang="zh-CN" altLang="en-US" sz="1400" dirty="0">
                <a:solidFill>
                  <a:srgbClr val="FF0000"/>
                </a:solidFill>
                <a:latin typeface="黑体" panose="02010609060101010101" pitchFamily="49" charset="-122"/>
                <a:ea typeface="宋体" panose="02010600030101010101" pitchFamily="2" charset="-122"/>
              </a:rPr>
              <a:t>获奖（</a:t>
            </a:r>
            <a:r>
              <a:rPr lang="en-US" altLang="zh-CN" sz="1400" dirty="0">
                <a:solidFill>
                  <a:srgbClr val="FF0000"/>
                </a:solidFill>
                <a:latin typeface="黑体" panose="02010609060101010101" pitchFamily="49" charset="-122"/>
                <a:ea typeface="宋体" panose="02010600030101010101" pitchFamily="2" charset="-122"/>
              </a:rPr>
              <a:t>10</a:t>
            </a:r>
            <a:r>
              <a:rPr lang="zh-CN" altLang="en-US" sz="1400" dirty="0">
                <a:solidFill>
                  <a:srgbClr val="FF0000"/>
                </a:solidFill>
                <a:latin typeface="黑体" panose="02010609060101010101" pitchFamily="49" charset="-122"/>
                <a:ea typeface="宋体" panose="02010600030101010101" pitchFamily="2" charset="-122"/>
              </a:rPr>
              <a:t>多项）</a:t>
            </a:r>
            <a:endParaRPr lang="zh-CN" altLang="en-US" sz="1400" b="0" dirty="0">
              <a:solidFill>
                <a:srgbClr val="FF0000"/>
              </a:solidFill>
              <a:latin typeface="黑体" panose="02010609060101010101" pitchFamily="49" charset="-122"/>
              <a:ea typeface="宋体" panose="02010600030101010101" pitchFamily="2" charset="-122"/>
            </a:endParaRPr>
          </a:p>
          <a:p>
            <a:pPr>
              <a:spcBef>
                <a:spcPct val="0"/>
              </a:spcBef>
              <a:spcAft>
                <a:spcPct val="0"/>
              </a:spcAft>
              <a:buFontTx/>
              <a:buNone/>
            </a:pPr>
            <a:r>
              <a:rPr lang="zh-CN" altLang="en-US" sz="1400" b="0" dirty="0">
                <a:solidFill>
                  <a:srgbClr val="7030A0"/>
                </a:solidFill>
                <a:latin typeface="黑体" panose="02010609060101010101" pitchFamily="49" charset="-122"/>
                <a:ea typeface="宋体" panose="02010600030101010101" pitchFamily="2" charset="-122"/>
              </a:rPr>
              <a:t>诺贝尔化学奖（准晶体的发现）（</a:t>
            </a:r>
            <a:r>
              <a:rPr lang="en-US" altLang="zh-CN" sz="1400" b="0" dirty="0">
                <a:solidFill>
                  <a:srgbClr val="7030A0"/>
                </a:solidFill>
                <a:latin typeface="黑体" panose="02010609060101010101" pitchFamily="49" charset="-122"/>
                <a:ea typeface="宋体" panose="02010600030101010101" pitchFamily="2" charset="-122"/>
              </a:rPr>
              <a:t>2011</a:t>
            </a:r>
            <a:r>
              <a:rPr lang="zh-CN" altLang="en-US" sz="1400" b="0" dirty="0">
                <a:solidFill>
                  <a:srgbClr val="7030A0"/>
                </a:solidFill>
                <a:latin typeface="黑体" panose="02010609060101010101" pitchFamily="49" charset="-122"/>
                <a:ea typeface="宋体" panose="02010600030101010101" pitchFamily="2" charset="-122"/>
              </a:rPr>
              <a:t>年） </a:t>
            </a:r>
            <a:br>
              <a:rPr lang="en-US" altLang="zh-CN" sz="1400" b="0" dirty="0">
                <a:solidFill>
                  <a:srgbClr val="7030A0"/>
                </a:solidFill>
                <a:latin typeface="黑体" panose="02010609060101010101" pitchFamily="49" charset="-122"/>
                <a:ea typeface="宋体" panose="02010600030101010101" pitchFamily="2" charset="-122"/>
              </a:rPr>
            </a:br>
            <a:r>
              <a:rPr lang="en-US" altLang="zh-CN" sz="1400" b="0" dirty="0">
                <a:solidFill>
                  <a:srgbClr val="7030A0"/>
                </a:solidFill>
                <a:latin typeface="黑体" panose="02010609060101010101" pitchFamily="49" charset="-122"/>
                <a:ea typeface="宋体" panose="02010600030101010101" pitchFamily="2" charset="-122"/>
              </a:rPr>
              <a:t>Wolf</a:t>
            </a:r>
            <a:r>
              <a:rPr lang="zh-CN" altLang="en-US" sz="1400" b="0" dirty="0">
                <a:solidFill>
                  <a:srgbClr val="7030A0"/>
                </a:solidFill>
                <a:latin typeface="黑体" panose="02010609060101010101" pitchFamily="49" charset="-122"/>
                <a:ea typeface="宋体" panose="02010600030101010101" pitchFamily="2" charset="-122"/>
              </a:rPr>
              <a:t>奖（物理）（</a:t>
            </a:r>
            <a:r>
              <a:rPr lang="en-US" altLang="zh-CN" sz="1400" b="0" dirty="0">
                <a:solidFill>
                  <a:srgbClr val="7030A0"/>
                </a:solidFill>
                <a:latin typeface="黑体" panose="02010609060101010101" pitchFamily="49" charset="-122"/>
                <a:ea typeface="宋体" panose="02010600030101010101" pitchFamily="2" charset="-122"/>
              </a:rPr>
              <a:t>1999</a:t>
            </a:r>
            <a:r>
              <a:rPr lang="zh-CN" altLang="en-US" sz="1400" b="0" dirty="0">
                <a:solidFill>
                  <a:srgbClr val="7030A0"/>
                </a:solidFill>
                <a:latin typeface="黑体" panose="02010609060101010101" pitchFamily="49" charset="-122"/>
                <a:ea typeface="宋体" panose="02010600030101010101" pitchFamily="2" charset="-122"/>
              </a:rPr>
              <a:t>年） </a:t>
            </a:r>
            <a:br>
              <a:rPr lang="zh-CN" altLang="en-US" sz="1400" b="0" dirty="0">
                <a:solidFill>
                  <a:srgbClr val="7030A0"/>
                </a:solidFill>
                <a:latin typeface="黑体" panose="02010609060101010101" pitchFamily="49" charset="-122"/>
                <a:ea typeface="宋体" panose="02010600030101010101" pitchFamily="2" charset="-122"/>
              </a:rPr>
            </a:br>
            <a:r>
              <a:rPr lang="zh-CN" altLang="en-US" sz="1400" b="0" dirty="0">
                <a:solidFill>
                  <a:srgbClr val="7030A0"/>
                </a:solidFill>
                <a:latin typeface="黑体" panose="02010609060101010101" pitchFamily="49" charset="-122"/>
                <a:ea typeface="宋体" panose="02010600030101010101" pitchFamily="2" charset="-122"/>
              </a:rPr>
              <a:t>以色列奖（物理）（</a:t>
            </a:r>
            <a:r>
              <a:rPr lang="en-US" altLang="zh-CN" sz="1400" b="0" dirty="0">
                <a:solidFill>
                  <a:srgbClr val="7030A0"/>
                </a:solidFill>
                <a:latin typeface="黑体" panose="02010609060101010101" pitchFamily="49" charset="-122"/>
                <a:ea typeface="宋体" panose="02010600030101010101" pitchFamily="2" charset="-122"/>
              </a:rPr>
              <a:t>1998</a:t>
            </a:r>
            <a:r>
              <a:rPr lang="zh-CN" altLang="en-US" sz="1400" b="0" dirty="0">
                <a:solidFill>
                  <a:srgbClr val="7030A0"/>
                </a:solidFill>
                <a:latin typeface="黑体" panose="02010609060101010101" pitchFamily="49" charset="-122"/>
                <a:ea typeface="宋体" panose="02010600030101010101" pitchFamily="2" charset="-122"/>
              </a:rPr>
              <a:t>年</a:t>
            </a:r>
            <a:endParaRPr lang="en-US" altLang="zh-CN" sz="1400" b="0" dirty="0">
              <a:solidFill>
                <a:srgbClr val="7030A0"/>
              </a:solidFill>
              <a:latin typeface="黑体" panose="02010609060101010101" pitchFamily="49" charset="-122"/>
              <a:ea typeface="宋体" panose="02010600030101010101" pitchFamily="2" charset="-122"/>
            </a:endParaRPr>
          </a:p>
          <a:p>
            <a:pPr>
              <a:spcBef>
                <a:spcPct val="0"/>
              </a:spcBef>
              <a:spcAft>
                <a:spcPct val="0"/>
              </a:spcAft>
              <a:buFontTx/>
              <a:buNone/>
            </a:pPr>
            <a:r>
              <a:rPr lang="en-US" altLang="zh-CN" sz="1400" b="0" dirty="0">
                <a:solidFill>
                  <a:srgbClr val="7030A0"/>
                </a:solidFill>
                <a:latin typeface="Times New Roman" panose="02020603050405020304" pitchFamily="18" charset="0"/>
                <a:ea typeface="宋体" panose="02010600030101010101" pitchFamily="2" charset="-122"/>
              </a:rPr>
              <a:t>Weizmann</a:t>
            </a:r>
            <a:r>
              <a:rPr lang="zh-CN" altLang="en-US" sz="1400" b="0" dirty="0">
                <a:solidFill>
                  <a:srgbClr val="7030A0"/>
                </a:solidFill>
                <a:latin typeface="Times New Roman" panose="02020603050405020304" pitchFamily="18" charset="0"/>
                <a:ea typeface="宋体" panose="02010600030101010101" pitchFamily="2" charset="-122"/>
              </a:rPr>
              <a:t>科学奖</a:t>
            </a:r>
            <a:endParaRPr lang="en-US" altLang="zh-CN" sz="1400" b="0" dirty="0">
              <a:solidFill>
                <a:srgbClr val="7030A0"/>
              </a:solidFill>
              <a:latin typeface="Times New Roman" panose="02020603050405020304" pitchFamily="18" charset="0"/>
              <a:ea typeface="宋体" panose="02010600030101010101" pitchFamily="2" charset="-122"/>
            </a:endParaRPr>
          </a:p>
          <a:p>
            <a:pPr>
              <a:spcBef>
                <a:spcPct val="0"/>
              </a:spcBef>
              <a:spcAft>
                <a:spcPct val="0"/>
              </a:spcAft>
              <a:buFontTx/>
              <a:buNone/>
            </a:pPr>
            <a:r>
              <a:rPr lang="zh-CN" altLang="en-US" sz="1400" b="0" dirty="0">
                <a:solidFill>
                  <a:srgbClr val="7030A0"/>
                </a:solidFill>
                <a:latin typeface="Times New Roman" panose="02020603050405020304" pitchFamily="18" charset="0"/>
                <a:ea typeface="宋体" panose="02010600030101010101" pitchFamily="2" charset="-122"/>
              </a:rPr>
              <a:t>瑞典皇家科学院</a:t>
            </a:r>
            <a:r>
              <a:rPr lang="en-US" altLang="zh-CN" sz="1400" b="0" dirty="0">
                <a:solidFill>
                  <a:srgbClr val="7030A0"/>
                </a:solidFill>
                <a:latin typeface="Times New Roman" panose="02020603050405020304" pitchFamily="18" charset="0"/>
                <a:ea typeface="宋体" panose="02010600030101010101" pitchFamily="2" charset="-122"/>
              </a:rPr>
              <a:t>Aminoff</a:t>
            </a:r>
            <a:r>
              <a:rPr lang="zh-CN" altLang="en-US" sz="1400" b="0" dirty="0">
                <a:solidFill>
                  <a:srgbClr val="7030A0"/>
                </a:solidFill>
                <a:latin typeface="Times New Roman" panose="02020603050405020304" pitchFamily="18" charset="0"/>
                <a:ea typeface="宋体" panose="02010600030101010101" pitchFamily="2" charset="-122"/>
              </a:rPr>
              <a:t>奖</a:t>
            </a:r>
            <a:endParaRPr lang="en-US" altLang="zh-CN" sz="1400" b="0" dirty="0">
              <a:solidFill>
                <a:srgbClr val="7030A0"/>
              </a:solidFill>
              <a:latin typeface="黑体" panose="02010609060101010101" pitchFamily="49" charset="-122"/>
              <a:ea typeface="宋体" panose="02010600030101010101" pitchFamily="2" charset="-122"/>
            </a:endParaRPr>
          </a:p>
        </p:txBody>
      </p:sp>
      <p:pic>
        <p:nvPicPr>
          <p:cNvPr id="167940" name="图片 4" descr="http://www.bioon.com/master/UploadFiles/201110/201110091901499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115888"/>
            <a:ext cx="3273425" cy="399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941" name="Picture 6" descr="nobel-prize-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2063" y="4508500"/>
            <a:ext cx="3565525"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3324225" y="3503613"/>
            <a:ext cx="1543050" cy="294972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Rectangle 16"/>
          <p:cNvSpPr/>
          <p:nvPr/>
        </p:nvSpPr>
        <p:spPr>
          <a:xfrm>
            <a:off x="1804988" y="3503613"/>
            <a:ext cx="1543050" cy="2949723"/>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Rectangle 15"/>
          <p:cNvSpPr/>
          <p:nvPr/>
        </p:nvSpPr>
        <p:spPr>
          <a:xfrm>
            <a:off x="4859338" y="3503613"/>
            <a:ext cx="3455987" cy="2949723"/>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Rectangle 6"/>
          <p:cNvSpPr/>
          <p:nvPr/>
        </p:nvSpPr>
        <p:spPr>
          <a:xfrm>
            <a:off x="4859338" y="3502025"/>
            <a:ext cx="1728787" cy="2951386"/>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Title 1"/>
          <p:cNvSpPr>
            <a:spLocks noGrp="1"/>
          </p:cNvSpPr>
          <p:nvPr>
            <p:ph type="title"/>
          </p:nvPr>
        </p:nvSpPr>
        <p:spPr>
          <a:xfrm>
            <a:off x="455613" y="273050"/>
            <a:ext cx="8396287" cy="70802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2000" dirty="0">
                <a:solidFill>
                  <a:srgbClr val="C00000"/>
                </a:solidFill>
              </a:rPr>
              <a:t>The difference between crystal, quasi-crystal and </a:t>
            </a:r>
            <a:br>
              <a:rPr kumimoji="1" lang="en-US" altLang="zh-CN" sz="2000" dirty="0">
                <a:solidFill>
                  <a:srgbClr val="C00000"/>
                </a:solidFill>
              </a:rPr>
            </a:br>
            <a:r>
              <a:rPr kumimoji="1" lang="en-US" altLang="zh-CN" sz="2000" dirty="0">
                <a:solidFill>
                  <a:srgbClr val="C00000"/>
                </a:solidFill>
              </a:rPr>
              <a:t>non-crystal (amorphous)</a:t>
            </a:r>
            <a:endParaRPr kumimoji="1" lang="en-US" sz="2000" dirty="0">
              <a:solidFill>
                <a:srgbClr val="C00000"/>
              </a:solidFill>
            </a:endParaRPr>
          </a:p>
        </p:txBody>
      </p:sp>
      <p:sp>
        <p:nvSpPr>
          <p:cNvPr id="168967" name="Content Placeholder 2"/>
          <p:cNvSpPr>
            <a:spLocks noGrp="1"/>
          </p:cNvSpPr>
          <p:nvPr>
            <p:ph sz="half" idx="1"/>
          </p:nvPr>
        </p:nvSpPr>
        <p:spPr>
          <a:xfrm>
            <a:off x="1724025" y="3503613"/>
            <a:ext cx="1584325" cy="690562"/>
          </a:xfrm>
        </p:spPr>
        <p:txBody>
          <a:bodyPr/>
          <a:lstStyle/>
          <a:p>
            <a:pPr algn="ctr"/>
            <a:r>
              <a:rPr lang="en-US" altLang="zh-CN" sz="1600"/>
              <a:t>Short range</a:t>
            </a:r>
          </a:p>
          <a:p>
            <a:pPr algn="ctr"/>
            <a:r>
              <a:rPr lang="en-US" altLang="zh-CN" sz="1600"/>
              <a:t>order</a:t>
            </a:r>
            <a:endParaRPr lang="en-US" altLang="en-US" sz="1600">
              <a:solidFill>
                <a:srgbClr val="7030A0"/>
              </a:solidFill>
              <a:ea typeface="黑体" panose="02010609060101010101" pitchFamily="49" charset="-122"/>
            </a:endParaRPr>
          </a:p>
        </p:txBody>
      </p:sp>
      <p:sp>
        <p:nvSpPr>
          <p:cNvPr id="3" name="Rectangle 2"/>
          <p:cNvSpPr/>
          <p:nvPr/>
        </p:nvSpPr>
        <p:spPr>
          <a:xfrm>
            <a:off x="427284" y="4256666"/>
            <a:ext cx="999633" cy="400110"/>
          </a:xfrm>
          <a:prstGeom prst="rect">
            <a:avLst/>
          </a:prstGeom>
        </p:spPr>
        <p:txBody>
          <a:bodyPr wrap="none">
            <a:spAutoFit/>
          </a:bodyPr>
          <a:lstStyle/>
          <a:p>
            <a:pPr algn="ctr">
              <a:defRPr/>
            </a:pPr>
            <a:r>
              <a:rPr lang="en-US" altLang="zh-CN" sz="2000" b="1" spc="-60" dirty="0">
                <a:latin typeface="+mn-lt"/>
                <a:ea typeface="+mj-ea"/>
                <a:cs typeface="+mj-cs"/>
              </a:rPr>
              <a:t>Crystal</a:t>
            </a:r>
            <a:endParaRPr lang="en-US" sz="2000" b="1" spc="-60" dirty="0">
              <a:latin typeface="+mn-lt"/>
              <a:ea typeface="+mj-ea"/>
              <a:cs typeface="+mj-cs"/>
            </a:endParaRPr>
          </a:p>
        </p:txBody>
      </p:sp>
      <p:sp>
        <p:nvSpPr>
          <p:cNvPr id="6" name="L-Shape 5"/>
          <p:cNvSpPr/>
          <p:nvPr/>
        </p:nvSpPr>
        <p:spPr>
          <a:xfrm rot="18488254">
            <a:off x="2264569" y="4273365"/>
            <a:ext cx="501650" cy="366712"/>
          </a:xfrm>
          <a:prstGeom prst="corne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L-Shape 7"/>
          <p:cNvSpPr/>
          <p:nvPr/>
        </p:nvSpPr>
        <p:spPr>
          <a:xfrm rot="18488254">
            <a:off x="3779044" y="4273365"/>
            <a:ext cx="501650" cy="366712"/>
          </a:xfrm>
          <a:prstGeom prst="corne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L-Shape 8"/>
          <p:cNvSpPr/>
          <p:nvPr/>
        </p:nvSpPr>
        <p:spPr>
          <a:xfrm rot="18488254">
            <a:off x="5512594" y="4273365"/>
            <a:ext cx="501650" cy="366712"/>
          </a:xfrm>
          <a:prstGeom prst="corne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L-Shape 9"/>
          <p:cNvSpPr/>
          <p:nvPr/>
        </p:nvSpPr>
        <p:spPr>
          <a:xfrm rot="18488254">
            <a:off x="7341394" y="4273365"/>
            <a:ext cx="501650" cy="366712"/>
          </a:xfrm>
          <a:prstGeom prst="corne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L-Shape 10"/>
          <p:cNvSpPr/>
          <p:nvPr/>
        </p:nvSpPr>
        <p:spPr>
          <a:xfrm rot="18488254">
            <a:off x="7341394" y="5066308"/>
            <a:ext cx="501650" cy="366712"/>
          </a:xfrm>
          <a:prstGeom prst="corner">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L-Shape 11"/>
          <p:cNvSpPr/>
          <p:nvPr/>
        </p:nvSpPr>
        <p:spPr>
          <a:xfrm rot="18488254">
            <a:off x="3811588" y="5066308"/>
            <a:ext cx="500062" cy="366712"/>
          </a:xfrm>
          <a:prstGeom prst="corne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L-Shape 12"/>
          <p:cNvSpPr/>
          <p:nvPr/>
        </p:nvSpPr>
        <p:spPr>
          <a:xfrm rot="18488254">
            <a:off x="2251076" y="5066308"/>
            <a:ext cx="500062" cy="366713"/>
          </a:xfrm>
          <a:prstGeom prst="corne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L-Shape 13"/>
          <p:cNvSpPr/>
          <p:nvPr/>
        </p:nvSpPr>
        <p:spPr>
          <a:xfrm rot="18488254">
            <a:off x="2264569" y="5858740"/>
            <a:ext cx="501650" cy="366712"/>
          </a:xfrm>
          <a:prstGeom prst="corner">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68977" name="Picture 30" descr="vic-fig12"/>
          <p:cNvPicPr>
            <a:picLocks noGrp="1" noChangeAspect="1" noChangeArrowheads="1"/>
          </p:cNvPicPr>
          <p:nvPr>
            <p:ph sz="quarter" idx="2"/>
          </p:nvPr>
        </p:nvPicPr>
        <p:blipFill>
          <a:blip r:embed="rId2" cstate="print">
            <a:extLst>
              <a:ext uri="{28A0092B-C50C-407E-A947-70E740481C1C}">
                <a14:useLocalDpi xmlns:a14="http://schemas.microsoft.com/office/drawing/2010/main" val="0"/>
              </a:ext>
            </a:extLst>
          </a:blip>
          <a:srcRect l="16942" t="16942" r="16942" b="16942"/>
          <a:stretch>
            <a:fillRect/>
          </a:stretch>
        </p:blipFill>
        <p:spPr>
          <a:xfrm>
            <a:off x="1946275" y="1208088"/>
            <a:ext cx="2011363" cy="2089150"/>
          </a:xfrm>
          <a:noFill/>
        </p:spPr>
      </p:pic>
      <p:pic>
        <p:nvPicPr>
          <p:cNvPr id="168978" name="Picture 31" descr="penrose"/>
          <p:cNvPicPr>
            <a:picLocks noChangeAspect="1" noChangeArrowheads="1"/>
          </p:cNvPicPr>
          <p:nvPr/>
        </p:nvPicPr>
        <p:blipFill>
          <a:blip r:embed="rId3">
            <a:extLst>
              <a:ext uri="{28A0092B-C50C-407E-A947-70E740481C1C}">
                <a14:useLocalDpi xmlns:a14="http://schemas.microsoft.com/office/drawing/2010/main" val="0"/>
              </a:ext>
            </a:extLst>
          </a:blip>
          <a:srcRect l="19460" t="26030" r="32129" b="26030"/>
          <a:stretch>
            <a:fillRect/>
          </a:stretch>
        </p:blipFill>
        <p:spPr bwMode="auto">
          <a:xfrm>
            <a:off x="4106863" y="1281113"/>
            <a:ext cx="2087562"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79" name="Picture 33" descr="AMORFO1"/>
          <p:cNvPicPr>
            <a:picLocks noChangeAspect="1" noChangeArrowheads="1"/>
          </p:cNvPicPr>
          <p:nvPr/>
        </p:nvPicPr>
        <p:blipFill>
          <a:blip r:embed="rId4">
            <a:extLst>
              <a:ext uri="{28A0092B-C50C-407E-A947-70E740481C1C}">
                <a14:useLocalDpi xmlns:a14="http://schemas.microsoft.com/office/drawing/2010/main" val="0"/>
              </a:ext>
            </a:extLst>
          </a:blip>
          <a:srcRect l="10545" t="21797" r="10545" b="21797"/>
          <a:stretch>
            <a:fillRect/>
          </a:stretch>
        </p:blipFill>
        <p:spPr bwMode="auto">
          <a:xfrm>
            <a:off x="6410325" y="1281113"/>
            <a:ext cx="1906588"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80" name="Content Placeholder 2"/>
          <p:cNvSpPr txBox="1"/>
          <p:nvPr/>
        </p:nvSpPr>
        <p:spPr bwMode="auto">
          <a:xfrm>
            <a:off x="3290888" y="3503613"/>
            <a:ext cx="1582737"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indent="-18288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a:r>
              <a:rPr kumimoji="0" lang="en-US" altLang="zh-CN" sz="1600"/>
              <a:t>Long range</a:t>
            </a:r>
          </a:p>
          <a:p>
            <a:pPr algn="ctr"/>
            <a:r>
              <a:rPr kumimoji="0" lang="en-US" altLang="zh-CN" sz="1600"/>
              <a:t>order</a:t>
            </a:r>
            <a:endParaRPr kumimoji="0" lang="en-US" altLang="en-US" sz="1600">
              <a:solidFill>
                <a:srgbClr val="7030A0"/>
              </a:solidFill>
            </a:endParaRPr>
          </a:p>
        </p:txBody>
      </p:sp>
      <p:sp>
        <p:nvSpPr>
          <p:cNvPr id="168981" name="Content Placeholder 2"/>
          <p:cNvSpPr txBox="1"/>
          <p:nvPr/>
        </p:nvSpPr>
        <p:spPr bwMode="auto">
          <a:xfrm>
            <a:off x="4937125" y="3500438"/>
            <a:ext cx="158273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indent="-18288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a:r>
              <a:rPr kumimoji="0" lang="en-US" altLang="zh-CN" sz="1600">
                <a:solidFill>
                  <a:srgbClr val="7030A0"/>
                </a:solidFill>
              </a:rPr>
              <a:t>Translational symmetry</a:t>
            </a:r>
            <a:endParaRPr kumimoji="0" lang="en-US" altLang="en-US" sz="1600">
              <a:solidFill>
                <a:srgbClr val="7030A0"/>
              </a:solidFill>
            </a:endParaRPr>
          </a:p>
        </p:txBody>
      </p:sp>
      <p:sp>
        <p:nvSpPr>
          <p:cNvPr id="168982" name="Content Placeholder 2"/>
          <p:cNvSpPr txBox="1"/>
          <p:nvPr/>
        </p:nvSpPr>
        <p:spPr bwMode="auto">
          <a:xfrm>
            <a:off x="6654800" y="3508375"/>
            <a:ext cx="1582738"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indent="-18288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a:r>
              <a:rPr kumimoji="0" lang="en-US" altLang="zh-CN" sz="1600">
                <a:solidFill>
                  <a:srgbClr val="7030A0"/>
                </a:solidFill>
              </a:rPr>
              <a:t>Rotational symmetry</a:t>
            </a:r>
            <a:endParaRPr kumimoji="0" lang="en-US" altLang="en-US" sz="1600">
              <a:solidFill>
                <a:srgbClr val="7030A0"/>
              </a:solidFill>
            </a:endParaRPr>
          </a:p>
        </p:txBody>
      </p:sp>
      <p:sp>
        <p:nvSpPr>
          <p:cNvPr id="25" name="Rectangle 24"/>
          <p:cNvSpPr/>
          <p:nvPr/>
        </p:nvSpPr>
        <p:spPr>
          <a:xfrm>
            <a:off x="427284" y="4895721"/>
            <a:ext cx="999633" cy="707886"/>
          </a:xfrm>
          <a:prstGeom prst="rect">
            <a:avLst/>
          </a:prstGeom>
        </p:spPr>
        <p:txBody>
          <a:bodyPr wrap="none">
            <a:spAutoFit/>
          </a:bodyPr>
          <a:lstStyle/>
          <a:p>
            <a:pPr algn="ctr">
              <a:defRPr/>
            </a:pPr>
            <a:r>
              <a:rPr lang="en-US" altLang="zh-CN" sz="2000" b="1" spc="-60" dirty="0">
                <a:latin typeface="+mn-lt"/>
                <a:ea typeface="+mj-ea"/>
                <a:cs typeface="+mj-cs"/>
              </a:rPr>
              <a:t>Quasi</a:t>
            </a:r>
          </a:p>
          <a:p>
            <a:pPr algn="ctr">
              <a:defRPr/>
            </a:pPr>
            <a:r>
              <a:rPr lang="en-US" altLang="zh-CN" sz="2000" b="1" spc="-60" dirty="0">
                <a:latin typeface="+mn-lt"/>
                <a:ea typeface="+mj-ea"/>
                <a:cs typeface="+mj-cs"/>
              </a:rPr>
              <a:t>Crystal</a:t>
            </a:r>
            <a:endParaRPr lang="en-US" sz="2000" b="1" spc="-60" dirty="0">
              <a:latin typeface="+mn-lt"/>
              <a:ea typeface="+mj-ea"/>
              <a:cs typeface="+mj-cs"/>
            </a:endParaRPr>
          </a:p>
        </p:txBody>
      </p:sp>
      <p:sp>
        <p:nvSpPr>
          <p:cNvPr id="26" name="Rectangle 25"/>
          <p:cNvSpPr/>
          <p:nvPr/>
        </p:nvSpPr>
        <p:spPr>
          <a:xfrm>
            <a:off x="427284" y="5699196"/>
            <a:ext cx="999633" cy="707886"/>
          </a:xfrm>
          <a:prstGeom prst="rect">
            <a:avLst/>
          </a:prstGeom>
        </p:spPr>
        <p:txBody>
          <a:bodyPr wrap="none">
            <a:spAutoFit/>
          </a:bodyPr>
          <a:lstStyle/>
          <a:p>
            <a:pPr algn="ctr">
              <a:defRPr/>
            </a:pPr>
            <a:r>
              <a:rPr lang="en-US" altLang="zh-CN" sz="2000" b="1" spc="-60" dirty="0">
                <a:latin typeface="+mn-lt"/>
                <a:ea typeface="+mj-ea"/>
                <a:cs typeface="+mj-cs"/>
              </a:rPr>
              <a:t>Non-</a:t>
            </a:r>
          </a:p>
          <a:p>
            <a:pPr algn="ctr">
              <a:defRPr/>
            </a:pPr>
            <a:r>
              <a:rPr lang="en-US" altLang="zh-CN" sz="2000" b="1" spc="-60" dirty="0">
                <a:latin typeface="+mn-lt"/>
                <a:ea typeface="+mj-ea"/>
                <a:cs typeface="+mj-cs"/>
              </a:rPr>
              <a:t>Crystal</a:t>
            </a:r>
            <a:endParaRPr lang="en-US" sz="2000" b="1" spc="-60" dirty="0">
              <a:latin typeface="+mn-lt"/>
              <a:ea typeface="+mj-ea"/>
              <a:cs typeface="+mj-cs"/>
            </a:endParaRPr>
          </a:p>
        </p:txBody>
      </p:sp>
      <p:cxnSp>
        <p:nvCxnSpPr>
          <p:cNvPr id="5" name="Straight Connector 4"/>
          <p:cNvCxnSpPr/>
          <p:nvPr/>
        </p:nvCxnSpPr>
        <p:spPr>
          <a:xfrm>
            <a:off x="179512" y="4843807"/>
            <a:ext cx="813581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88842" y="5692781"/>
            <a:ext cx="8135813"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604963" y="520700"/>
            <a:ext cx="5934075"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rPr>
              <a:t>Space Lattice( </a:t>
            </a:r>
            <a:r>
              <a:rPr kumimoji="1" lang="zh-CN" altLang="en-US" sz="3200" dirty="0">
                <a:solidFill>
                  <a:srgbClr val="C00000"/>
                </a:solidFill>
              </a:rPr>
              <a:t>空间点阵）</a:t>
            </a:r>
          </a:p>
        </p:txBody>
      </p:sp>
      <p:sp>
        <p:nvSpPr>
          <p:cNvPr id="46083" name="Rectangle 3"/>
          <p:cNvSpPr>
            <a:spLocks noGrp="1" noChangeArrowheads="1"/>
          </p:cNvSpPr>
          <p:nvPr>
            <p:ph sz="half" idx="1"/>
          </p:nvPr>
        </p:nvSpPr>
        <p:spPr>
          <a:xfrm>
            <a:off x="762000" y="1341438"/>
            <a:ext cx="8202488" cy="4679950"/>
          </a:xfrm>
        </p:spPr>
        <p:txBody>
          <a:bodyPr rtlCol="0">
            <a:normAutofit lnSpcReduction="10000"/>
          </a:bodyPr>
          <a:lstStyle/>
          <a:p>
            <a:pPr eaLnBrk="1" fontAlgn="auto" hangingPunct="1">
              <a:lnSpc>
                <a:spcPct val="110000"/>
              </a:lnSpc>
              <a:buFont typeface="Arial" panose="020B0604020202020204" pitchFamily="34" charset="0"/>
              <a:buNone/>
              <a:defRPr/>
            </a:pPr>
            <a:r>
              <a:rPr lang="en-US" altLang="zh-CN" sz="3200" dirty="0">
                <a:solidFill>
                  <a:srgbClr val="FF0000"/>
                </a:solidFill>
                <a:effectLst>
                  <a:outerShdw blurRad="38100" dist="38100" dir="2700000" algn="tl">
                    <a:srgbClr val="000000"/>
                  </a:outerShdw>
                </a:effectLst>
              </a:rPr>
              <a:t>Basic Terms (</a:t>
            </a:r>
            <a:r>
              <a:rPr lang="zh-CN" altLang="en-US" sz="3200" dirty="0">
                <a:solidFill>
                  <a:srgbClr val="FF0000"/>
                </a:solidFill>
                <a:effectLst>
                  <a:outerShdw blurRad="38100" dist="38100" dir="2700000" algn="tl">
                    <a:srgbClr val="000000"/>
                  </a:outerShdw>
                </a:effectLst>
              </a:rPr>
              <a:t>基本术语</a:t>
            </a:r>
            <a:r>
              <a:rPr lang="en-US" altLang="zh-CN" sz="3200" dirty="0">
                <a:solidFill>
                  <a:srgbClr val="FF0000"/>
                </a:solidFill>
                <a:effectLst>
                  <a:outerShdw blurRad="38100" dist="38100" dir="2700000" algn="tl">
                    <a:srgbClr val="000000"/>
                  </a:outerShdw>
                </a:effectLst>
              </a:rPr>
              <a:t>)</a:t>
            </a:r>
            <a:endParaRPr lang="zh-CN" altLang="en-US" sz="3200" dirty="0">
              <a:solidFill>
                <a:srgbClr val="FF0000"/>
              </a:solidFill>
            </a:endParaRPr>
          </a:p>
          <a:p>
            <a:pPr marL="731520" lvl="1" indent="-457200" eaLnBrk="1" fontAlgn="auto" hangingPunct="1">
              <a:lnSpc>
                <a:spcPct val="150000"/>
              </a:lnSpc>
              <a:spcAft>
                <a:spcPts val="0"/>
              </a:spcAft>
              <a:buFont typeface="Wingdings" panose="05000000000000000000" pitchFamily="2" charset="2"/>
              <a:buChar char="ü"/>
              <a:defRPr/>
            </a:pPr>
            <a:r>
              <a:rPr lang="en-US" altLang="zh-CN" dirty="0"/>
              <a:t>mass point</a:t>
            </a:r>
            <a:r>
              <a:rPr lang="zh-CN" altLang="en-US" dirty="0"/>
              <a:t>（质点）</a:t>
            </a:r>
            <a:r>
              <a:rPr lang="en-US" altLang="zh-CN" dirty="0"/>
              <a:t>, such as atom</a:t>
            </a:r>
            <a:r>
              <a:rPr lang="zh-CN" altLang="en-US" dirty="0"/>
              <a:t>、</a:t>
            </a:r>
            <a:r>
              <a:rPr lang="en-US" altLang="zh-CN" dirty="0"/>
              <a:t>ion or molecule</a:t>
            </a:r>
            <a:r>
              <a:rPr lang="zh-CN" altLang="en-US" dirty="0"/>
              <a:t> </a:t>
            </a:r>
            <a:endParaRPr lang="en-US" altLang="zh-CN" dirty="0"/>
          </a:p>
          <a:p>
            <a:pPr marL="731520" lvl="1" indent="-457200" eaLnBrk="1" fontAlgn="auto" hangingPunct="1">
              <a:lnSpc>
                <a:spcPct val="150000"/>
              </a:lnSpc>
              <a:spcAft>
                <a:spcPts val="0"/>
              </a:spcAft>
              <a:buFont typeface="Wingdings" panose="05000000000000000000" pitchFamily="2" charset="2"/>
              <a:buChar char="ü"/>
              <a:defRPr/>
            </a:pPr>
            <a:r>
              <a:rPr lang="en-US" altLang="zh-CN" dirty="0"/>
              <a:t>node (</a:t>
            </a:r>
            <a:r>
              <a:rPr lang="zh-CN" altLang="en-US" dirty="0"/>
              <a:t>结点</a:t>
            </a:r>
            <a:r>
              <a:rPr lang="en-US" altLang="zh-CN" dirty="0"/>
              <a:t>) or lattice point</a:t>
            </a:r>
            <a:r>
              <a:rPr lang="zh-CN" altLang="en-US" dirty="0"/>
              <a:t> </a:t>
            </a:r>
            <a:r>
              <a:rPr lang="en-US" altLang="zh-CN" dirty="0"/>
              <a:t>(</a:t>
            </a:r>
            <a:r>
              <a:rPr lang="zh-CN" altLang="en-US" dirty="0"/>
              <a:t>阵点</a:t>
            </a:r>
            <a:r>
              <a:rPr lang="en-US" altLang="zh-CN" dirty="0"/>
              <a:t>)</a:t>
            </a:r>
          </a:p>
          <a:p>
            <a:pPr marL="731520" lvl="1" indent="-457200" eaLnBrk="1" fontAlgn="auto" hangingPunct="1">
              <a:lnSpc>
                <a:spcPct val="150000"/>
              </a:lnSpc>
              <a:spcAft>
                <a:spcPts val="0"/>
              </a:spcAft>
              <a:buFont typeface="Wingdings" panose="05000000000000000000" pitchFamily="2" charset="2"/>
              <a:buChar char="ü"/>
              <a:defRPr/>
            </a:pPr>
            <a:r>
              <a:rPr lang="en-US" altLang="zh-CN" dirty="0"/>
              <a:t>row (</a:t>
            </a:r>
            <a:r>
              <a:rPr lang="zh-CN" altLang="en-US" dirty="0"/>
              <a:t>行列</a:t>
            </a:r>
            <a:r>
              <a:rPr lang="en-US" altLang="zh-CN" dirty="0"/>
              <a:t>) and row-spacing</a:t>
            </a:r>
            <a:r>
              <a:rPr lang="zh-CN" altLang="en-US" dirty="0"/>
              <a:t> </a:t>
            </a:r>
            <a:r>
              <a:rPr lang="en-US" altLang="zh-CN" dirty="0"/>
              <a:t>(</a:t>
            </a:r>
            <a:r>
              <a:rPr lang="zh-CN" altLang="en-US" dirty="0"/>
              <a:t>结点间距</a:t>
            </a:r>
            <a:r>
              <a:rPr lang="en-US" altLang="zh-CN" dirty="0"/>
              <a:t>)</a:t>
            </a:r>
          </a:p>
          <a:p>
            <a:pPr marL="731520" lvl="1" indent="-457200" eaLnBrk="1" fontAlgn="auto" hangingPunct="1">
              <a:lnSpc>
                <a:spcPct val="150000"/>
              </a:lnSpc>
              <a:spcAft>
                <a:spcPts val="0"/>
              </a:spcAft>
              <a:buFont typeface="Wingdings" panose="05000000000000000000" pitchFamily="2" charset="2"/>
              <a:buChar char="ü"/>
              <a:defRPr/>
            </a:pPr>
            <a:r>
              <a:rPr lang="en-US" altLang="zh-CN" dirty="0"/>
              <a:t>net (</a:t>
            </a:r>
            <a:r>
              <a:rPr lang="zh-CN" altLang="en-US" dirty="0"/>
              <a:t>面网</a:t>
            </a:r>
            <a:r>
              <a:rPr lang="en-US" altLang="zh-CN" dirty="0"/>
              <a:t>), reticular density</a:t>
            </a:r>
            <a:r>
              <a:rPr lang="zh-CN" altLang="en-US" dirty="0"/>
              <a:t> </a:t>
            </a:r>
            <a:r>
              <a:rPr lang="en-US" altLang="zh-CN" dirty="0"/>
              <a:t>(</a:t>
            </a:r>
            <a:r>
              <a:rPr lang="zh-CN" altLang="en-US" dirty="0"/>
              <a:t>面网密度</a:t>
            </a:r>
            <a:r>
              <a:rPr lang="en-US" altLang="zh-CN" dirty="0"/>
              <a:t>) and plane spacing</a:t>
            </a:r>
            <a:r>
              <a:rPr lang="zh-CN" altLang="en-US" dirty="0"/>
              <a:t> </a:t>
            </a:r>
            <a:r>
              <a:rPr lang="en-US" altLang="zh-CN" dirty="0"/>
              <a:t>(</a:t>
            </a:r>
            <a:r>
              <a:rPr lang="zh-CN" altLang="en-US" dirty="0"/>
              <a:t>面网间距</a:t>
            </a:r>
            <a:r>
              <a:rPr lang="en-US" altLang="zh-CN" dirty="0"/>
              <a:t>)</a:t>
            </a:r>
          </a:p>
          <a:p>
            <a:pPr marL="731520" lvl="1" indent="-457200" eaLnBrk="1" fontAlgn="auto" hangingPunct="1">
              <a:lnSpc>
                <a:spcPct val="150000"/>
              </a:lnSpc>
              <a:spcAft>
                <a:spcPts val="0"/>
              </a:spcAft>
              <a:buFont typeface="Wingdings" panose="05000000000000000000" pitchFamily="2" charset="2"/>
              <a:buChar char="ü"/>
              <a:defRPr/>
            </a:pPr>
            <a:r>
              <a:rPr lang="en-US" altLang="zh-CN" dirty="0"/>
              <a:t>space lattice or lattice</a:t>
            </a:r>
            <a:r>
              <a:rPr lang="zh-CN" altLang="en-US" dirty="0"/>
              <a:t> </a:t>
            </a:r>
            <a:r>
              <a:rPr lang="en-US" altLang="zh-CN" dirty="0"/>
              <a:t>(</a:t>
            </a:r>
            <a:r>
              <a:rPr lang="zh-CN" altLang="en-US" dirty="0"/>
              <a:t>空间点阵或格子</a:t>
            </a:r>
            <a:r>
              <a:rPr lang="en-US" altLang="zh-CN" dirty="0"/>
              <a:t>)</a:t>
            </a:r>
            <a:endParaRPr lang="zh-CN" altLang="en-US" dirty="0"/>
          </a:p>
          <a:p>
            <a:pPr marL="731520" lvl="1" indent="-457200" eaLnBrk="1" fontAlgn="auto" hangingPunct="1">
              <a:lnSpc>
                <a:spcPct val="150000"/>
              </a:lnSpc>
              <a:spcAft>
                <a:spcPts val="0"/>
              </a:spcAft>
              <a:buFont typeface="Wingdings" panose="05000000000000000000" pitchFamily="2" charset="2"/>
              <a:buChar char="ü"/>
              <a:defRPr/>
            </a:pPr>
            <a:r>
              <a:rPr lang="en-US" altLang="zh-CN" dirty="0"/>
              <a:t>unit cell</a:t>
            </a:r>
            <a:r>
              <a:rPr lang="zh-CN" altLang="en-US" dirty="0"/>
              <a:t> </a:t>
            </a:r>
            <a:r>
              <a:rPr lang="en-US" altLang="zh-CN" dirty="0"/>
              <a:t>(</a:t>
            </a:r>
            <a:r>
              <a:rPr lang="zh-CN" altLang="en-US" dirty="0"/>
              <a:t>单位晶胞</a:t>
            </a:r>
            <a:r>
              <a:rPr lang="en-US" altLang="zh-CN" dirty="0"/>
              <a:t>)</a:t>
            </a:r>
          </a:p>
        </p:txBody>
      </p:sp>
      <p:sp>
        <p:nvSpPr>
          <p:cNvPr id="169988"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836738" y="520700"/>
            <a:ext cx="5470525"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sym typeface="Symbol" panose="05050102010706020507" pitchFamily="18" charset="2"/>
              </a:rPr>
              <a:t>Structure </a:t>
            </a:r>
            <a:r>
              <a:rPr kumimoji="1" lang="zh-CN" altLang="en-US" sz="3200" dirty="0">
                <a:solidFill>
                  <a:srgbClr val="C00000"/>
                </a:solidFill>
                <a:sym typeface="Symbol" panose="05050102010706020507" pitchFamily="18" charset="2"/>
              </a:rPr>
              <a:t> </a:t>
            </a:r>
            <a:r>
              <a:rPr kumimoji="1" lang="en-US" altLang="zh-CN" sz="3200" dirty="0">
                <a:solidFill>
                  <a:srgbClr val="C00000"/>
                </a:solidFill>
              </a:rPr>
              <a:t>lattice</a:t>
            </a:r>
            <a:endParaRPr kumimoji="1" lang="zh-CN" altLang="en-US" sz="3200" dirty="0">
              <a:solidFill>
                <a:srgbClr val="C00000"/>
              </a:solidFill>
            </a:endParaRPr>
          </a:p>
        </p:txBody>
      </p:sp>
      <p:sp>
        <p:nvSpPr>
          <p:cNvPr id="171011"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71012" name="Picture 4" descr="CsCl晶体结构空间格子2"/>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228725" y="1412875"/>
            <a:ext cx="6913563"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3"/>
          <p:cNvSpPr>
            <a:spLocks noGrp="1" noChangeArrowheads="1"/>
          </p:cNvSpPr>
          <p:nvPr>
            <p:ph type="body" sz="half" idx="1"/>
          </p:nvPr>
        </p:nvSpPr>
        <p:spPr>
          <a:xfrm>
            <a:off x="684213" y="1268413"/>
            <a:ext cx="7488237" cy="1728787"/>
          </a:xfrm>
        </p:spPr>
        <p:txBody>
          <a:bodyPr/>
          <a:lstStyle/>
          <a:p>
            <a:pPr marL="457200" indent="-457200" eaLnBrk="1" hangingPunct="1">
              <a:buFont typeface="Arial" panose="020B0604020202020204" pitchFamily="34" charset="0"/>
              <a:buChar char="•"/>
            </a:pPr>
            <a:r>
              <a:rPr lang="en-US" altLang="zh-CN" sz="2800" dirty="0">
                <a:solidFill>
                  <a:srgbClr val="00000C"/>
                </a:solidFill>
              </a:rPr>
              <a:t>Find equivalent points (EP) firstly</a:t>
            </a:r>
          </a:p>
          <a:p>
            <a:pPr marL="457200" indent="-457200" eaLnBrk="1" hangingPunct="1">
              <a:buFont typeface="Arial" panose="020B0604020202020204" pitchFamily="34" charset="0"/>
              <a:buChar char="•"/>
            </a:pPr>
            <a:r>
              <a:rPr lang="en-US" altLang="zh-CN" sz="2800" dirty="0">
                <a:solidFill>
                  <a:schemeClr val="tx1">
                    <a:lumMod val="50000"/>
                    <a:lumOff val="50000"/>
                  </a:schemeClr>
                </a:solidFill>
              </a:rPr>
              <a:t>Connect these EPs  to form lattice   </a:t>
            </a:r>
          </a:p>
        </p:txBody>
      </p:sp>
      <p:sp>
        <p:nvSpPr>
          <p:cNvPr id="172035" name="Line 5"/>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72036" name="Picture 8" descr="相当点"/>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68313" y="3230563"/>
            <a:ext cx="4878387" cy="354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7" name="TextBox 2"/>
          <p:cNvSpPr txBox="1">
            <a:spLocks noChangeArrowheads="1"/>
          </p:cNvSpPr>
          <p:nvPr/>
        </p:nvSpPr>
        <p:spPr bwMode="auto">
          <a:xfrm>
            <a:off x="5795963" y="5507038"/>
            <a:ext cx="186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b="0">
                <a:latin typeface="Times New Roman" panose="02020603050405020304" pitchFamily="18" charset="0"/>
                <a:ea typeface="宋体" panose="02010600030101010101" pitchFamily="2" charset="-122"/>
              </a:rPr>
              <a:t>Simple Cubic</a:t>
            </a:r>
            <a:endParaRPr lang="zh-CN" altLang="en-US" sz="2400" b="0">
              <a:latin typeface="Times New Roman" panose="02020603050405020304" pitchFamily="18" charset="0"/>
              <a:ea typeface="宋体" panose="02010600030101010101" pitchFamily="2" charset="-122"/>
            </a:endParaRPr>
          </a:p>
        </p:txBody>
      </p:sp>
      <p:sp>
        <p:nvSpPr>
          <p:cNvPr id="18" name="Rectangle 2"/>
          <p:cNvSpPr>
            <a:spLocks noGrp="1" noChangeArrowheads="1"/>
          </p:cNvSpPr>
          <p:nvPr>
            <p:ph type="title"/>
          </p:nvPr>
        </p:nvSpPr>
        <p:spPr>
          <a:xfrm>
            <a:off x="1836738" y="520700"/>
            <a:ext cx="5470525" cy="584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3200" dirty="0">
                <a:solidFill>
                  <a:srgbClr val="C00000"/>
                </a:solidFill>
                <a:sym typeface="Symbol" panose="05050102010706020507" pitchFamily="18" charset="2"/>
              </a:rPr>
              <a:t>Structure </a:t>
            </a:r>
            <a:r>
              <a:rPr kumimoji="1" lang="zh-CN" altLang="en-US" sz="3200" dirty="0">
                <a:solidFill>
                  <a:srgbClr val="C00000"/>
                </a:solidFill>
                <a:sym typeface="Symbol" panose="05050102010706020507" pitchFamily="18" charset="2"/>
              </a:rPr>
              <a:t> </a:t>
            </a:r>
            <a:r>
              <a:rPr kumimoji="1" lang="en-US" altLang="zh-CN" sz="3200" dirty="0">
                <a:solidFill>
                  <a:srgbClr val="C00000"/>
                </a:solidFill>
              </a:rPr>
              <a:t>lattice</a:t>
            </a:r>
            <a:endParaRPr kumimoji="1" lang="zh-CN" altLang="en-US" sz="3200" dirty="0">
              <a:solidFill>
                <a:srgbClr val="C00000"/>
              </a:solidFill>
            </a:endParaRPr>
          </a:p>
        </p:txBody>
      </p:sp>
      <p:sp>
        <p:nvSpPr>
          <p:cNvPr id="172039" name="Rectangle 2"/>
          <p:cNvSpPr>
            <a:spLocks noChangeArrowheads="1"/>
          </p:cNvSpPr>
          <p:nvPr/>
        </p:nvSpPr>
        <p:spPr bwMode="auto">
          <a:xfrm>
            <a:off x="755650" y="2400300"/>
            <a:ext cx="81137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kumimoji="0" lang="en-US" altLang="zh-CN" sz="2400" dirty="0">
                <a:solidFill>
                  <a:srgbClr val="FF0066"/>
                </a:solidFill>
              </a:rPr>
              <a:t>EPs(</a:t>
            </a:r>
            <a:r>
              <a:rPr kumimoji="0" lang="zh-CN" altLang="en-US" sz="2400" dirty="0">
                <a:solidFill>
                  <a:srgbClr val="FF0066"/>
                </a:solidFill>
              </a:rPr>
              <a:t>相当点</a:t>
            </a:r>
            <a:r>
              <a:rPr kumimoji="0" lang="en-US" altLang="zh-CN" sz="2400" dirty="0">
                <a:solidFill>
                  <a:srgbClr val="FF0066"/>
                </a:solidFill>
              </a:rPr>
              <a:t>): points have the same properties and environment</a:t>
            </a:r>
            <a:endParaRPr lang="en-US" altLang="en-US" sz="1600" b="0" dirty="0">
              <a:latin typeface="Times New Roman" panose="02020603050405020304" pitchFamily="18" charset="0"/>
              <a:ea typeface="宋体" panose="02010600030101010101" pitchFamily="2" charset="-122"/>
            </a:endParaRPr>
          </a:p>
        </p:txBody>
      </p:sp>
      <p:pic>
        <p:nvPicPr>
          <p:cNvPr id="172040"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9125" y="3573463"/>
            <a:ext cx="1962150" cy="1816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Down Arrow 22"/>
          <p:cNvSpPr/>
          <p:nvPr/>
        </p:nvSpPr>
        <p:spPr>
          <a:xfrm>
            <a:off x="7956550" y="1785938"/>
            <a:ext cx="792163" cy="31273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7592" name="Rectangle 8"/>
          <p:cNvSpPr>
            <a:spLocks noGrp="1" noChangeArrowheads="1"/>
          </p:cNvSpPr>
          <p:nvPr>
            <p:ph type="title"/>
          </p:nvPr>
        </p:nvSpPr>
        <p:spPr>
          <a:xfrm>
            <a:off x="528638" y="590550"/>
            <a:ext cx="8231187" cy="46196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Aft>
                <a:spcPts val="0"/>
              </a:spcAft>
              <a:defRPr/>
            </a:pPr>
            <a:r>
              <a:rPr kumimoji="1" lang="en-US" altLang="zh-CN" sz="2400" dirty="0">
                <a:solidFill>
                  <a:srgbClr val="C00000"/>
                </a:solidFill>
              </a:rPr>
              <a:t>Extract symmetry of crystal structures</a:t>
            </a:r>
            <a:endParaRPr kumimoji="1" lang="zh-CN" altLang="en-US" sz="2400" dirty="0">
              <a:solidFill>
                <a:srgbClr val="C00000"/>
              </a:solidFill>
            </a:endParaRPr>
          </a:p>
        </p:txBody>
      </p:sp>
      <p:sp>
        <p:nvSpPr>
          <p:cNvPr id="173060" name="Line 6"/>
          <p:cNvSpPr>
            <a:spLocks noChangeShapeType="1"/>
          </p:cNvSpPr>
          <p:nvPr/>
        </p:nvSpPr>
        <p:spPr bwMode="auto">
          <a:xfrm>
            <a:off x="1060450" y="1095375"/>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173061" name="Rectangle 9"/>
          <p:cNvSpPr>
            <a:spLocks noChangeArrowheads="1"/>
          </p:cNvSpPr>
          <p:nvPr/>
        </p:nvSpPr>
        <p:spPr bwMode="auto">
          <a:xfrm>
            <a:off x="3282950" y="4335189"/>
            <a:ext cx="2746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kumimoji="0" lang="en-US" altLang="zh-CN" sz="2400" dirty="0">
                <a:solidFill>
                  <a:srgbClr val="0000FF"/>
                </a:solidFill>
                <a:ea typeface="隶书" panose="02010509060101010101" pitchFamily="49" charset="-122"/>
              </a:rPr>
              <a:t>Equivalent points</a:t>
            </a:r>
            <a:endParaRPr lang="en-US" altLang="en-US" sz="2800" dirty="0">
              <a:latin typeface="Times New Roman" panose="02020603050405020304" pitchFamily="18" charset="0"/>
              <a:ea typeface="宋体" panose="02010600030101010101" pitchFamily="2" charset="-122"/>
            </a:endParaRPr>
          </a:p>
        </p:txBody>
      </p:sp>
      <p:sp>
        <p:nvSpPr>
          <p:cNvPr id="173062" name="Rectangle 10"/>
          <p:cNvSpPr>
            <a:spLocks noChangeArrowheads="1"/>
          </p:cNvSpPr>
          <p:nvPr/>
        </p:nvSpPr>
        <p:spPr bwMode="auto">
          <a:xfrm>
            <a:off x="3625850" y="2714625"/>
            <a:ext cx="2060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hangingPunct="1">
              <a:lnSpc>
                <a:spcPct val="90000"/>
              </a:lnSpc>
              <a:buFontTx/>
              <a:buNone/>
            </a:pPr>
            <a:r>
              <a:rPr kumimoji="0" lang="en-US" altLang="zh-CN" sz="2200">
                <a:solidFill>
                  <a:srgbClr val="0000FF"/>
                </a:solidFill>
                <a:ea typeface="隶书" panose="02010509060101010101" pitchFamily="49" charset="-122"/>
              </a:rPr>
              <a:t>Structure</a:t>
            </a:r>
            <a:endParaRPr kumimoji="0" lang="en-US" altLang="en-US" sz="2200">
              <a:solidFill>
                <a:srgbClr val="0000FF"/>
              </a:solidFill>
              <a:ea typeface="隶书" panose="02010509060101010101" pitchFamily="49" charset="-122"/>
            </a:endParaRPr>
          </a:p>
        </p:txBody>
      </p:sp>
      <p:grpSp>
        <p:nvGrpSpPr>
          <p:cNvPr id="173063" name="Group 2"/>
          <p:cNvGrpSpPr/>
          <p:nvPr/>
        </p:nvGrpSpPr>
        <p:grpSpPr bwMode="auto">
          <a:xfrm>
            <a:off x="1430338" y="3627438"/>
            <a:ext cx="5940425" cy="606425"/>
            <a:chOff x="1440" y="6668"/>
            <a:chExt cx="9356" cy="955"/>
          </a:xfrm>
        </p:grpSpPr>
        <p:pic>
          <p:nvPicPr>
            <p:cNvPr id="173071" name="Picture 3"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0" y="6668"/>
              <a:ext cx="9356" cy="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3072" name="Group 4"/>
            <p:cNvGrpSpPr/>
            <p:nvPr/>
          </p:nvGrpSpPr>
          <p:grpSpPr bwMode="auto">
            <a:xfrm>
              <a:off x="2973" y="6868"/>
              <a:ext cx="6084" cy="348"/>
              <a:chOff x="2700" y="8493"/>
              <a:chExt cx="6084" cy="348"/>
            </a:xfrm>
          </p:grpSpPr>
          <p:sp>
            <p:nvSpPr>
              <p:cNvPr id="173073" name="Rectangle 5"/>
              <p:cNvSpPr>
                <a:spLocks noChangeArrowheads="1"/>
              </p:cNvSpPr>
              <p:nvPr/>
            </p:nvSpPr>
            <p:spPr bwMode="auto">
              <a:xfrm>
                <a:off x="2700" y="8697"/>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173074" name="Rectangle 6"/>
              <p:cNvSpPr>
                <a:spLocks noChangeArrowheads="1"/>
              </p:cNvSpPr>
              <p:nvPr/>
            </p:nvSpPr>
            <p:spPr bwMode="auto">
              <a:xfrm rot="-5400000">
                <a:off x="2698" y="8663"/>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173075" name="Rectangle 7"/>
              <p:cNvSpPr>
                <a:spLocks noChangeArrowheads="1"/>
              </p:cNvSpPr>
              <p:nvPr/>
            </p:nvSpPr>
            <p:spPr bwMode="auto">
              <a:xfrm>
                <a:off x="3852" y="8690"/>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173076" name="Rectangle 8"/>
              <p:cNvSpPr>
                <a:spLocks noChangeArrowheads="1"/>
              </p:cNvSpPr>
              <p:nvPr/>
            </p:nvSpPr>
            <p:spPr bwMode="auto">
              <a:xfrm rot="-5400000">
                <a:off x="3838" y="8675"/>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173077" name="Rectangle 9"/>
              <p:cNvSpPr>
                <a:spLocks noChangeArrowheads="1"/>
              </p:cNvSpPr>
              <p:nvPr/>
            </p:nvSpPr>
            <p:spPr bwMode="auto">
              <a:xfrm>
                <a:off x="4992" y="8685"/>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173078" name="Rectangle 10"/>
              <p:cNvSpPr>
                <a:spLocks noChangeArrowheads="1"/>
              </p:cNvSpPr>
              <p:nvPr/>
            </p:nvSpPr>
            <p:spPr bwMode="auto">
              <a:xfrm rot="-5400000">
                <a:off x="4990" y="8663"/>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173079" name="Rectangle 11"/>
              <p:cNvSpPr>
                <a:spLocks noChangeArrowheads="1"/>
              </p:cNvSpPr>
              <p:nvPr/>
            </p:nvSpPr>
            <p:spPr bwMode="auto">
              <a:xfrm>
                <a:off x="6168" y="8685"/>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173080" name="Rectangle 12"/>
              <p:cNvSpPr>
                <a:spLocks noChangeArrowheads="1"/>
              </p:cNvSpPr>
              <p:nvPr/>
            </p:nvSpPr>
            <p:spPr bwMode="auto">
              <a:xfrm rot="-5400000">
                <a:off x="6166" y="8651"/>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173081" name="Rectangle 13"/>
              <p:cNvSpPr>
                <a:spLocks noChangeArrowheads="1"/>
              </p:cNvSpPr>
              <p:nvPr/>
            </p:nvSpPr>
            <p:spPr bwMode="auto">
              <a:xfrm>
                <a:off x="8496" y="8685"/>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173082" name="Rectangle 14"/>
              <p:cNvSpPr>
                <a:spLocks noChangeArrowheads="1"/>
              </p:cNvSpPr>
              <p:nvPr/>
            </p:nvSpPr>
            <p:spPr bwMode="auto">
              <a:xfrm rot="-5400000">
                <a:off x="8494" y="8615"/>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173083" name="Rectangle 15"/>
              <p:cNvSpPr>
                <a:spLocks noChangeArrowheads="1"/>
              </p:cNvSpPr>
              <p:nvPr/>
            </p:nvSpPr>
            <p:spPr bwMode="auto">
              <a:xfrm rot="-5400000">
                <a:off x="7318" y="8651"/>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173084" name="Rectangle 16"/>
              <p:cNvSpPr>
                <a:spLocks noChangeArrowheads="1"/>
              </p:cNvSpPr>
              <p:nvPr/>
            </p:nvSpPr>
            <p:spPr bwMode="auto">
              <a:xfrm>
                <a:off x="7320" y="8673"/>
                <a:ext cx="288" cy="43"/>
              </a:xfrm>
              <a:prstGeom prst="rect">
                <a:avLst/>
              </a:prstGeom>
              <a:solidFill>
                <a:srgbClr val="000000"/>
              </a:solidFill>
              <a:ln w="3175">
                <a:solidFill>
                  <a:srgbClr val="000000"/>
                </a:solidFill>
                <a:miter lim="800000"/>
              </a:ln>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grpSp>
      </p:grpSp>
      <p:graphicFrame>
        <p:nvGraphicFramePr>
          <p:cNvPr id="173064" name="Object 21"/>
          <p:cNvGraphicFramePr>
            <a:graphicFrameLocks noChangeAspect="1"/>
          </p:cNvGraphicFramePr>
          <p:nvPr/>
        </p:nvGraphicFramePr>
        <p:xfrm>
          <a:off x="1281113" y="1995488"/>
          <a:ext cx="5940425" cy="609600"/>
        </p:xfrm>
        <a:graphic>
          <a:graphicData uri="http://schemas.openxmlformats.org/presentationml/2006/ole">
            <mc:AlternateContent xmlns:mc="http://schemas.openxmlformats.org/markup-compatibility/2006">
              <mc:Choice xmlns:v="urn:schemas-microsoft-com:vml" Requires="v">
                <p:oleObj name="Picture" r:id="rId4" imgW="5940425" imgH="610870" progId="Word.Picture.8">
                  <p:embed/>
                </p:oleObj>
              </mc:Choice>
              <mc:Fallback>
                <p:oleObj name="Picture" r:id="rId4" imgW="5940425" imgH="610870" progId="Word.Picture.8">
                  <p:embed/>
                  <p:pic>
                    <p:nvPicPr>
                      <p:cNvPr id="0" name="Object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1113" y="1995488"/>
                        <a:ext cx="594042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73065" name="Picture 18"/>
          <p:cNvPicPr>
            <a:picLocks noChangeAspect="1" noChangeArrowheads="1"/>
          </p:cNvPicPr>
          <p:nvPr/>
        </p:nvPicPr>
        <p:blipFill>
          <a:blip r:embed="rId6" cstate="print">
            <a:extLst>
              <a:ext uri="{28A0092B-C50C-407E-A947-70E740481C1C}">
                <a14:useLocalDpi xmlns:a14="http://schemas.microsoft.com/office/drawing/2010/main" val="0"/>
              </a:ext>
            </a:extLst>
          </a:blip>
          <a:srcRect b="29892"/>
          <a:stretch>
            <a:fillRect/>
          </a:stretch>
        </p:blipFill>
        <p:spPr bwMode="auto">
          <a:xfrm>
            <a:off x="628650" y="5199063"/>
            <a:ext cx="79756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066" name="Rectangle 31"/>
          <p:cNvSpPr>
            <a:spLocks noChangeArrowheads="1"/>
          </p:cNvSpPr>
          <p:nvPr/>
        </p:nvSpPr>
        <p:spPr bwMode="auto">
          <a:xfrm>
            <a:off x="4067175" y="5775325"/>
            <a:ext cx="1177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kumimoji="0" lang="en-US" altLang="zh-CN" sz="2400">
                <a:solidFill>
                  <a:srgbClr val="0000FF"/>
                </a:solidFill>
                <a:ea typeface="隶书" panose="02010509060101010101" pitchFamily="49" charset="-122"/>
              </a:rPr>
              <a:t>Lattice</a:t>
            </a:r>
            <a:endParaRPr lang="en-US" altLang="en-US" sz="2800">
              <a:latin typeface="Times New Roman" panose="02020603050405020304" pitchFamily="18" charset="0"/>
              <a:ea typeface="宋体" panose="02010600030101010101" pitchFamily="2" charset="-122"/>
            </a:endParaRPr>
          </a:p>
        </p:txBody>
      </p:sp>
      <p:sp>
        <p:nvSpPr>
          <p:cNvPr id="2" name="TextBox 1"/>
          <p:cNvSpPr txBox="1"/>
          <p:nvPr/>
        </p:nvSpPr>
        <p:spPr>
          <a:xfrm>
            <a:off x="2306638" y="1912938"/>
            <a:ext cx="476250" cy="708025"/>
          </a:xfrm>
          <a:prstGeom prst="rect">
            <a:avLst/>
          </a:prstGeom>
          <a:noFill/>
        </p:spPr>
        <p:txBody>
          <a:bodyPr wrap="none">
            <a:spAutoFit/>
          </a:bodyPr>
          <a:lstStyle/>
          <a:p>
            <a:pPr>
              <a:defRPr/>
            </a:pPr>
            <a:r>
              <a:rPr lang="en-US" altLang="zh-CN" sz="4000" b="1" dirty="0">
                <a:solidFill>
                  <a:srgbClr val="FF0000"/>
                </a:solidFill>
                <a:effectLst>
                  <a:outerShdw blurRad="38100" dist="38100" dir="2700000" algn="tl">
                    <a:srgbClr val="000000">
                      <a:alpha val="43137"/>
                    </a:srgbClr>
                  </a:outerShdw>
                </a:effectLst>
              </a:rPr>
              <a:t>+</a:t>
            </a:r>
            <a:endParaRPr lang="en-US" sz="4000" b="1" dirty="0">
              <a:solidFill>
                <a:srgbClr val="FF0000"/>
              </a:solidFill>
              <a:effectLst>
                <a:outerShdw blurRad="38100" dist="38100" dir="2700000" algn="tl">
                  <a:srgbClr val="000000">
                    <a:alpha val="43137"/>
                  </a:srgbClr>
                </a:outerShdw>
              </a:effectLst>
            </a:endParaRPr>
          </a:p>
        </p:txBody>
      </p:sp>
      <p:sp>
        <p:nvSpPr>
          <p:cNvPr id="173068" name="TextBox 2"/>
          <p:cNvSpPr txBox="1">
            <a:spLocks noChangeArrowheads="1"/>
          </p:cNvSpPr>
          <p:nvPr/>
        </p:nvSpPr>
        <p:spPr bwMode="auto">
          <a:xfrm>
            <a:off x="107950" y="1455738"/>
            <a:ext cx="4416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2400" dirty="0">
                <a:latin typeface="Times New Roman" panose="02020603050405020304" pitchFamily="18" charset="0"/>
                <a:ea typeface="宋体" panose="02010600030101010101" pitchFamily="2" charset="-122"/>
              </a:rPr>
              <a:t>1. </a:t>
            </a:r>
            <a:r>
              <a:rPr lang="en-US" altLang="zh-CN" sz="2400" dirty="0">
                <a:latin typeface="Times New Roman" panose="02020603050405020304" pitchFamily="18" charset="0"/>
                <a:ea typeface="宋体" panose="02010600030101010101" pitchFamily="2" charset="-122"/>
              </a:rPr>
              <a:t>Set one point as original point</a:t>
            </a:r>
            <a:endParaRPr lang="en-US" altLang="en-US" sz="2400" dirty="0">
              <a:latin typeface="Times New Roman" panose="02020603050405020304" pitchFamily="18" charset="0"/>
              <a:ea typeface="宋体" panose="02010600030101010101" pitchFamily="2" charset="-122"/>
            </a:endParaRPr>
          </a:p>
        </p:txBody>
      </p:sp>
      <p:sp>
        <p:nvSpPr>
          <p:cNvPr id="173069" name="TextBox 26"/>
          <p:cNvSpPr txBox="1">
            <a:spLocks noChangeArrowheads="1"/>
          </p:cNvSpPr>
          <p:nvPr/>
        </p:nvSpPr>
        <p:spPr bwMode="auto">
          <a:xfrm>
            <a:off x="107950" y="3119438"/>
            <a:ext cx="4381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2400">
                <a:latin typeface="Times New Roman" panose="02020603050405020304" pitchFamily="18" charset="0"/>
                <a:ea typeface="宋体" panose="02010600030101010101" pitchFamily="2" charset="-122"/>
              </a:rPr>
              <a:t>2. </a:t>
            </a:r>
            <a:r>
              <a:rPr lang="en-US" altLang="zh-CN" sz="2400">
                <a:latin typeface="Times New Roman" panose="02020603050405020304" pitchFamily="18" charset="0"/>
                <a:ea typeface="宋体" panose="02010600030101010101" pitchFamily="2" charset="-122"/>
              </a:rPr>
              <a:t>Find EPs of the original point</a:t>
            </a:r>
            <a:endParaRPr lang="en-US" altLang="en-US" sz="2400">
              <a:latin typeface="Times New Roman" panose="02020603050405020304" pitchFamily="18" charset="0"/>
              <a:ea typeface="宋体" panose="02010600030101010101" pitchFamily="2" charset="-122"/>
            </a:endParaRPr>
          </a:p>
        </p:txBody>
      </p:sp>
      <p:sp>
        <p:nvSpPr>
          <p:cNvPr id="173070" name="TextBox 27"/>
          <p:cNvSpPr txBox="1">
            <a:spLocks noChangeArrowheads="1"/>
          </p:cNvSpPr>
          <p:nvPr/>
        </p:nvSpPr>
        <p:spPr bwMode="auto">
          <a:xfrm>
            <a:off x="107950" y="4816475"/>
            <a:ext cx="795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2400">
                <a:latin typeface="Times New Roman" panose="02020603050405020304" pitchFamily="18" charset="0"/>
                <a:ea typeface="宋体" panose="02010600030101010101" pitchFamily="2" charset="-122"/>
              </a:rPr>
              <a:t>3. </a:t>
            </a:r>
            <a:r>
              <a:rPr lang="en-US" altLang="zh-CN" sz="2400">
                <a:latin typeface="Times New Roman" panose="02020603050405020304" pitchFamily="18" charset="0"/>
                <a:ea typeface="宋体" panose="02010600030101010101" pitchFamily="2" charset="-122"/>
              </a:rPr>
              <a:t>The EPs form the lattice of the studied pattern/ structure</a:t>
            </a:r>
            <a:endParaRPr lang="en-US" altLang="en-US" sz="2400">
              <a:latin typeface="Times New Roman" panose="02020603050405020304" pitchFamily="18" charset="0"/>
              <a:ea typeface="宋体" panose="02010600030101010101" pitchFamily="2" charset="-122"/>
            </a:endParaRPr>
          </a:p>
        </p:txBody>
      </p:sp>
      <p:pic>
        <p:nvPicPr>
          <p:cNvPr id="29" name="Picture 18"/>
          <p:cNvPicPr>
            <a:picLocks noChangeAspect="1" noChangeArrowheads="1"/>
          </p:cNvPicPr>
          <p:nvPr/>
        </p:nvPicPr>
        <p:blipFill>
          <a:blip r:embed="rId6" cstate="print">
            <a:extLst>
              <a:ext uri="{28A0092B-C50C-407E-A947-70E740481C1C}">
                <a14:useLocalDpi xmlns:a14="http://schemas.microsoft.com/office/drawing/2010/main" val="0"/>
              </a:ext>
            </a:extLst>
          </a:blip>
          <a:srcRect b="29892"/>
          <a:stretch>
            <a:fillRect/>
          </a:stretch>
        </p:blipFill>
        <p:spPr bwMode="auto">
          <a:xfrm>
            <a:off x="644870" y="6190633"/>
            <a:ext cx="79756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p:cNvCxnSpPr/>
          <p:nvPr/>
        </p:nvCxnSpPr>
        <p:spPr>
          <a:xfrm>
            <a:off x="1773019" y="6530763"/>
            <a:ext cx="518457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body" sz="half" idx="1"/>
          </p:nvPr>
        </p:nvSpPr>
        <p:spPr>
          <a:xfrm>
            <a:off x="395288" y="1125538"/>
            <a:ext cx="8280400" cy="1079500"/>
          </a:xfrm>
        </p:spPr>
        <p:txBody>
          <a:bodyPr/>
          <a:lstStyle/>
          <a:p>
            <a:pPr eaLnBrk="1" hangingPunct="1">
              <a:lnSpc>
                <a:spcPct val="110000"/>
              </a:lnSpc>
              <a:buFont typeface="Monotype Sorts" pitchFamily="2" charset="2"/>
              <a:buNone/>
            </a:pPr>
            <a:r>
              <a:rPr lang="en-US" altLang="zh-CN" sz="2400">
                <a:solidFill>
                  <a:srgbClr val="00000C"/>
                </a:solidFill>
              </a:rPr>
              <a:t> A crystal structure can be regarded to be constructed by several sets of space lattices with the same periods.</a:t>
            </a:r>
            <a:endParaRPr lang="zh-CN" altLang="en-US" sz="2400">
              <a:solidFill>
                <a:srgbClr val="0000CC"/>
              </a:solidFill>
            </a:endParaRPr>
          </a:p>
        </p:txBody>
      </p:sp>
      <p:sp>
        <p:nvSpPr>
          <p:cNvPr id="174083"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29700" name="Rectangle 7"/>
          <p:cNvSpPr>
            <a:spLocks noChangeArrowheads="1"/>
          </p:cNvSpPr>
          <p:nvPr/>
        </p:nvSpPr>
        <p:spPr bwMode="auto">
          <a:xfrm>
            <a:off x="657225" y="641350"/>
            <a:ext cx="7770813" cy="36988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algn="ctr" fontAlgn="auto">
              <a:spcAft>
                <a:spcPts val="0"/>
              </a:spcAft>
              <a:defRPr/>
            </a:pPr>
            <a:r>
              <a:rPr lang="en-US" altLang="zh-CN" sz="1800" cap="all" spc="-60" dirty="0">
                <a:solidFill>
                  <a:srgbClr val="C00000"/>
                </a:solidFill>
                <a:latin typeface="+mj-lt"/>
                <a:ea typeface="+mj-ea"/>
                <a:cs typeface="+mj-cs"/>
              </a:rPr>
              <a:t>Relationship between crystal structure and lattice</a:t>
            </a:r>
            <a:endParaRPr lang="zh-CN" altLang="en-US" sz="1800" cap="all" spc="-60" dirty="0">
              <a:solidFill>
                <a:srgbClr val="C00000"/>
              </a:solidFill>
              <a:latin typeface="+mj-lt"/>
              <a:ea typeface="+mj-ea"/>
              <a:cs typeface="+mj-cs"/>
            </a:endParaRPr>
          </a:p>
        </p:txBody>
      </p:sp>
      <p:pic>
        <p:nvPicPr>
          <p:cNvPr id="174085" name="Picture 9" descr="晶体平面结构中多套相当点级空间格子"/>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846138" y="3986213"/>
            <a:ext cx="2268537"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086" name="Rectangle 10"/>
          <p:cNvSpPr>
            <a:spLocks noChangeArrowheads="1"/>
          </p:cNvSpPr>
          <p:nvPr/>
        </p:nvSpPr>
        <p:spPr bwMode="auto">
          <a:xfrm>
            <a:off x="3708400" y="1916113"/>
            <a:ext cx="5184775" cy="483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lnSpc>
                <a:spcPct val="140000"/>
              </a:lnSpc>
              <a:spcBef>
                <a:spcPct val="0"/>
              </a:spcBef>
              <a:spcAft>
                <a:spcPct val="0"/>
              </a:spcAft>
              <a:buFontTx/>
              <a:buNone/>
            </a:pPr>
            <a:r>
              <a:rPr lang="en-US" altLang="zh-CN" b="0">
                <a:latin typeface="Times New Roman" panose="02020603050405020304" pitchFamily="18" charset="0"/>
                <a:ea typeface="宋体" panose="02010600030101010101" pitchFamily="2" charset="-122"/>
              </a:rPr>
              <a:t>It is hard to directly find the period of detailed </a:t>
            </a:r>
            <a:r>
              <a:rPr lang="en-US" altLang="zh-CN">
                <a:latin typeface="Times New Roman" panose="02020603050405020304" pitchFamily="18" charset="0"/>
                <a:ea typeface="宋体" panose="02010600030101010101" pitchFamily="2" charset="-122"/>
              </a:rPr>
              <a:t>crystal structures</a:t>
            </a:r>
            <a:r>
              <a:rPr lang="en-US" altLang="zh-CN" b="0">
                <a:latin typeface="Times New Roman" panose="02020603050405020304" pitchFamily="18" charset="0"/>
                <a:ea typeface="宋体" panose="02010600030101010101" pitchFamily="2" charset="-122"/>
              </a:rPr>
              <a:t>, which always consist of several kinds of atoms and ions.</a:t>
            </a:r>
          </a:p>
          <a:p>
            <a:pPr eaLnBrk="1" hangingPunct="1">
              <a:lnSpc>
                <a:spcPct val="140000"/>
              </a:lnSpc>
              <a:spcBef>
                <a:spcPct val="0"/>
              </a:spcBef>
              <a:spcAft>
                <a:spcPct val="0"/>
              </a:spcAft>
              <a:buFontTx/>
              <a:buNone/>
            </a:pPr>
            <a:endParaRPr lang="en-US" altLang="zh-CN" b="0">
              <a:latin typeface="Times New Roman" panose="02020603050405020304" pitchFamily="18" charset="0"/>
              <a:ea typeface="宋体" panose="02010600030101010101" pitchFamily="2" charset="-122"/>
            </a:endParaRPr>
          </a:p>
          <a:p>
            <a:pPr eaLnBrk="1" hangingPunct="1">
              <a:lnSpc>
                <a:spcPct val="140000"/>
              </a:lnSpc>
              <a:spcBef>
                <a:spcPct val="0"/>
              </a:spcBef>
              <a:spcAft>
                <a:spcPct val="0"/>
              </a:spcAft>
              <a:buFontTx/>
              <a:buNone/>
            </a:pPr>
            <a:r>
              <a:rPr lang="en-US" altLang="zh-CN">
                <a:latin typeface="Times New Roman" panose="02020603050405020304" pitchFamily="18" charset="0"/>
                <a:ea typeface="宋体" panose="02010600030101010101" pitchFamily="2" charset="-122"/>
              </a:rPr>
              <a:t>Space lattice </a:t>
            </a:r>
            <a:r>
              <a:rPr lang="en-US" altLang="zh-CN" b="0">
                <a:latin typeface="Times New Roman" panose="02020603050405020304" pitchFamily="18" charset="0"/>
                <a:ea typeface="宋体" panose="02010600030101010101" pitchFamily="2" charset="-122"/>
              </a:rPr>
              <a:t>can make the period of crystal structures more prominent.</a:t>
            </a:r>
          </a:p>
          <a:p>
            <a:pPr eaLnBrk="1" hangingPunct="1">
              <a:lnSpc>
                <a:spcPct val="140000"/>
              </a:lnSpc>
              <a:spcBef>
                <a:spcPct val="0"/>
              </a:spcBef>
              <a:spcAft>
                <a:spcPct val="0"/>
              </a:spcAft>
              <a:buFontTx/>
              <a:buNone/>
            </a:pPr>
            <a:endParaRPr lang="en-US" altLang="zh-CN" b="0">
              <a:latin typeface="Times New Roman" panose="02020603050405020304" pitchFamily="18" charset="0"/>
              <a:ea typeface="宋体" panose="02010600030101010101" pitchFamily="2" charset="-122"/>
            </a:endParaRPr>
          </a:p>
          <a:p>
            <a:pPr eaLnBrk="1" hangingPunct="1">
              <a:lnSpc>
                <a:spcPct val="140000"/>
              </a:lnSpc>
              <a:spcBef>
                <a:spcPct val="0"/>
              </a:spcBef>
              <a:spcAft>
                <a:spcPct val="0"/>
              </a:spcAft>
              <a:buFontTx/>
              <a:buNone/>
            </a:pPr>
            <a:r>
              <a:rPr lang="en-US" altLang="zh-CN">
                <a:latin typeface="Times New Roman" panose="02020603050405020304" pitchFamily="18" charset="0"/>
                <a:ea typeface="宋体" panose="02010600030101010101" pitchFamily="2" charset="-122"/>
              </a:rPr>
              <a:t>Space lattice </a:t>
            </a:r>
            <a:r>
              <a:rPr lang="en-US" altLang="zh-CN" b="0">
                <a:latin typeface="Times New Roman" panose="02020603050405020304" pitchFamily="18" charset="0"/>
                <a:ea typeface="宋体" panose="02010600030101010101" pitchFamily="2" charset="-122"/>
              </a:rPr>
              <a:t>is only </a:t>
            </a:r>
            <a:r>
              <a:rPr lang="en-US" altLang="zh-CN">
                <a:latin typeface="Times New Roman" panose="02020603050405020304" pitchFamily="18" charset="0"/>
                <a:ea typeface="宋体" panose="02010600030101010101" pitchFamily="2" charset="-122"/>
              </a:rPr>
              <a:t>a geometric representation of periodic repetition</a:t>
            </a:r>
            <a:r>
              <a:rPr lang="en-US" altLang="zh-CN" b="0">
                <a:latin typeface="Times New Roman" panose="02020603050405020304" pitchFamily="18" charset="0"/>
                <a:ea typeface="宋体" panose="02010600030101010101" pitchFamily="2" charset="-122"/>
              </a:rPr>
              <a:t> in a crystal structure. It is much simpler than a specific crystal structure.</a:t>
            </a:r>
            <a:endParaRPr lang="zh-CN" altLang="en-US" b="0">
              <a:latin typeface="Times New Roman" panose="02020603050405020304" pitchFamily="18" charset="0"/>
              <a:ea typeface="宋体" panose="02010600030101010101" pitchFamily="2" charset="-122"/>
            </a:endParaRPr>
          </a:p>
        </p:txBody>
      </p:sp>
      <p:pic>
        <p:nvPicPr>
          <p:cNvPr id="17408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2060575"/>
            <a:ext cx="3024187" cy="226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176463" y="581025"/>
            <a:ext cx="4791075" cy="5238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Aft>
                <a:spcPts val="0"/>
              </a:spcAft>
              <a:defRPr/>
            </a:pPr>
            <a:r>
              <a:rPr kumimoji="1" lang="en-US" altLang="zh-CN" sz="2800" dirty="0">
                <a:solidFill>
                  <a:srgbClr val="C00000"/>
                </a:solidFill>
                <a:sym typeface="Symbol" panose="05050102010706020507" pitchFamily="18" charset="2"/>
              </a:rPr>
              <a:t>Structure </a:t>
            </a:r>
            <a:r>
              <a:rPr kumimoji="1" lang="zh-CN" altLang="en-US" sz="2800" dirty="0">
                <a:solidFill>
                  <a:srgbClr val="C00000"/>
                </a:solidFill>
                <a:sym typeface="Symbol" panose="05050102010706020507" pitchFamily="18" charset="2"/>
              </a:rPr>
              <a:t> </a:t>
            </a:r>
            <a:r>
              <a:rPr kumimoji="1" lang="en-US" altLang="zh-CN" sz="2800" dirty="0">
                <a:solidFill>
                  <a:srgbClr val="C00000"/>
                </a:solidFill>
              </a:rPr>
              <a:t>lattice</a:t>
            </a:r>
            <a:endParaRPr kumimoji="1" lang="zh-CN" altLang="en-US" sz="2800" dirty="0">
              <a:solidFill>
                <a:srgbClr val="C00000"/>
              </a:solidFill>
            </a:endParaRPr>
          </a:p>
        </p:txBody>
      </p:sp>
      <p:sp>
        <p:nvSpPr>
          <p:cNvPr id="175107" name="Rectangle 3"/>
          <p:cNvSpPr>
            <a:spLocks noGrp="1" noChangeArrowheads="1"/>
          </p:cNvSpPr>
          <p:nvPr>
            <p:ph sz="half" idx="1"/>
          </p:nvPr>
        </p:nvSpPr>
        <p:spPr>
          <a:xfrm>
            <a:off x="762000" y="1600200"/>
            <a:ext cx="7772400" cy="4648200"/>
          </a:xfrm>
        </p:spPr>
        <p:txBody>
          <a:bodyPr/>
          <a:lstStyle/>
          <a:p>
            <a:pPr eaLnBrk="1" hangingPunct="1">
              <a:lnSpc>
                <a:spcPct val="90000"/>
              </a:lnSpc>
              <a:buFont typeface="Wingdings" panose="05000000000000000000" pitchFamily="2" charset="2"/>
              <a:buChar char="q"/>
            </a:pPr>
            <a:r>
              <a:rPr lang="en-US" altLang="zh-CN" sz="3200">
                <a:solidFill>
                  <a:srgbClr val="FF0000"/>
                </a:solidFill>
              </a:rPr>
              <a:t> one dimensional </a:t>
            </a:r>
            <a:r>
              <a:rPr lang="zh-CN" altLang="en-US" sz="3200">
                <a:solidFill>
                  <a:srgbClr val="FF0000"/>
                </a:solidFill>
              </a:rPr>
              <a:t>（</a:t>
            </a:r>
            <a:r>
              <a:rPr lang="en-US" altLang="zh-CN" sz="3200">
                <a:solidFill>
                  <a:srgbClr val="FF0000"/>
                </a:solidFill>
              </a:rPr>
              <a:t>1D</a:t>
            </a:r>
            <a:r>
              <a:rPr lang="zh-CN" altLang="en-US" sz="3200">
                <a:solidFill>
                  <a:srgbClr val="FF0000"/>
                </a:solidFill>
              </a:rPr>
              <a:t>）</a:t>
            </a:r>
          </a:p>
          <a:p>
            <a:pPr eaLnBrk="1" hangingPunct="1">
              <a:lnSpc>
                <a:spcPct val="90000"/>
              </a:lnSpc>
              <a:buFont typeface="Wingdings" panose="05000000000000000000" pitchFamily="2" charset="2"/>
              <a:buChar char="q"/>
            </a:pPr>
            <a:endParaRPr lang="zh-CN" altLang="en-US" sz="3200"/>
          </a:p>
          <a:p>
            <a:pPr eaLnBrk="1" hangingPunct="1">
              <a:lnSpc>
                <a:spcPct val="90000"/>
              </a:lnSpc>
              <a:buFont typeface="Wingdings" panose="05000000000000000000" pitchFamily="2" charset="2"/>
              <a:buChar char="q"/>
            </a:pPr>
            <a:endParaRPr lang="zh-CN" altLang="en-US" sz="3200"/>
          </a:p>
          <a:p>
            <a:pPr eaLnBrk="1" hangingPunct="1">
              <a:lnSpc>
                <a:spcPct val="90000"/>
              </a:lnSpc>
              <a:buFont typeface="Wingdings" panose="05000000000000000000" pitchFamily="2" charset="2"/>
              <a:buChar char="q"/>
            </a:pPr>
            <a:endParaRPr lang="zh-CN" altLang="en-US" sz="3200"/>
          </a:p>
          <a:p>
            <a:pPr eaLnBrk="1" hangingPunct="1">
              <a:lnSpc>
                <a:spcPct val="90000"/>
              </a:lnSpc>
              <a:buFont typeface="Wingdings" panose="05000000000000000000" pitchFamily="2" charset="2"/>
              <a:buChar char="q"/>
            </a:pPr>
            <a:endParaRPr lang="zh-CN" altLang="en-US" sz="3200"/>
          </a:p>
          <a:p>
            <a:pPr eaLnBrk="1" hangingPunct="1">
              <a:lnSpc>
                <a:spcPct val="90000"/>
              </a:lnSpc>
              <a:buFont typeface="Wingdings" panose="05000000000000000000" pitchFamily="2" charset="2"/>
              <a:buChar char="q"/>
            </a:pPr>
            <a:r>
              <a:rPr lang="en-US" altLang="zh-CN" sz="2400" b="0"/>
              <a:t>A</a:t>
            </a:r>
            <a:r>
              <a:rPr lang="zh-CN" altLang="en-US" sz="2400" b="0"/>
              <a:t>－</a:t>
            </a:r>
            <a:r>
              <a:rPr lang="en-US" altLang="zh-CN" sz="2400" b="0"/>
              <a:t>NaCl structure in y axis </a:t>
            </a:r>
          </a:p>
          <a:p>
            <a:pPr eaLnBrk="1" hangingPunct="1">
              <a:lnSpc>
                <a:spcPct val="90000"/>
              </a:lnSpc>
              <a:buFont typeface="Wingdings" panose="05000000000000000000" pitchFamily="2" charset="2"/>
              <a:buChar char="q"/>
            </a:pPr>
            <a:r>
              <a:rPr lang="en-US" altLang="zh-CN" sz="2400" b="0"/>
              <a:t>B</a:t>
            </a:r>
            <a:r>
              <a:rPr lang="zh-CN" altLang="en-US" sz="2400" b="0"/>
              <a:t>－</a:t>
            </a:r>
            <a:r>
              <a:rPr lang="en-US" altLang="zh-CN" sz="2400" b="0"/>
              <a:t>The linear array of Na+</a:t>
            </a:r>
            <a:r>
              <a:rPr lang="zh-CN" altLang="en-US" sz="2400" b="0"/>
              <a:t> （</a:t>
            </a:r>
            <a:r>
              <a:rPr lang="en-US" altLang="zh-CN" sz="2400" b="0"/>
              <a:t>same as </a:t>
            </a:r>
            <a:r>
              <a:rPr lang="en-US" altLang="zh-CN" sz="2600" b="0"/>
              <a:t>Cl</a:t>
            </a:r>
            <a:r>
              <a:rPr lang="en-US" altLang="zh-CN" sz="2600" b="0" baseline="30000"/>
              <a:t>-</a:t>
            </a:r>
            <a:r>
              <a:rPr lang="zh-CN" altLang="en-US" sz="2400" b="0"/>
              <a:t>）</a:t>
            </a:r>
          </a:p>
          <a:p>
            <a:pPr eaLnBrk="1" hangingPunct="1">
              <a:lnSpc>
                <a:spcPct val="90000"/>
              </a:lnSpc>
              <a:buFont typeface="Wingdings" panose="05000000000000000000" pitchFamily="2" charset="2"/>
              <a:buChar char="q"/>
            </a:pPr>
            <a:r>
              <a:rPr lang="en-US" altLang="zh-CN" sz="2400" b="0"/>
              <a:t>C</a:t>
            </a:r>
            <a:r>
              <a:rPr lang="zh-CN" altLang="en-US" sz="2400" b="0"/>
              <a:t>－</a:t>
            </a:r>
            <a:r>
              <a:rPr lang="en-US" altLang="zh-CN" sz="2400" b="0"/>
              <a:t>abstracted as a linear dot chain (lattice)</a:t>
            </a:r>
            <a:endParaRPr lang="zh-CN" altLang="en-US" sz="2400" b="0"/>
          </a:p>
          <a:p>
            <a:pPr algn="ctr" eaLnBrk="1" hangingPunct="1">
              <a:lnSpc>
                <a:spcPct val="90000"/>
              </a:lnSpc>
              <a:buFont typeface="Wingdings" panose="05000000000000000000" pitchFamily="2" charset="2"/>
              <a:buNone/>
            </a:pPr>
            <a:endParaRPr lang="zh-CN" altLang="en-US" sz="2400"/>
          </a:p>
        </p:txBody>
      </p:sp>
      <p:sp>
        <p:nvSpPr>
          <p:cNvPr id="175108"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75109" name="Picture 5" descr="pic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2205038"/>
            <a:ext cx="5486400"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urved Left Arrow 2"/>
          <p:cNvSpPr/>
          <p:nvPr/>
        </p:nvSpPr>
        <p:spPr>
          <a:xfrm>
            <a:off x="7164388" y="2636838"/>
            <a:ext cx="503237" cy="1595437"/>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75111" name="TextBox 1"/>
          <p:cNvSpPr txBox="1">
            <a:spLocks noChangeArrowheads="1"/>
          </p:cNvSpPr>
          <p:nvPr/>
        </p:nvSpPr>
        <p:spPr bwMode="auto">
          <a:xfrm>
            <a:off x="2938463" y="2776538"/>
            <a:ext cx="2247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lang="en-US" altLang="zh-CN" sz="2400">
                <a:latin typeface="Times New Roman" panose="02020603050405020304" pitchFamily="18" charset="0"/>
                <a:ea typeface="宋体" panose="02010600030101010101" pitchFamily="2" charset="-122"/>
              </a:rPr>
              <a:t>Where is EPs</a:t>
            </a:r>
            <a:r>
              <a:rPr lang="zh-CN" altLang="en-US" sz="2400">
                <a:latin typeface="Times New Roman" panose="02020603050405020304" pitchFamily="18" charset="0"/>
                <a:ea typeface="宋体" panose="02010600030101010101" pitchFamily="2" charset="-122"/>
              </a:rPr>
              <a:t>？</a:t>
            </a:r>
            <a:endParaRPr lang="en-US" altLang="en-US" sz="2400">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76132" name="TextBox 36"/>
          <p:cNvSpPr txBox="1">
            <a:spLocks noChangeArrowheads="1"/>
          </p:cNvSpPr>
          <p:nvPr/>
        </p:nvSpPr>
        <p:spPr bwMode="auto">
          <a:xfrm>
            <a:off x="1724422" y="2068988"/>
            <a:ext cx="887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a:latin typeface="Times New Roman" panose="02020603050405020304" pitchFamily="18" charset="0"/>
                <a:ea typeface="宋体" panose="02010600030101010101" pitchFamily="2" charset="-122"/>
              </a:rPr>
              <a:t>EP</a:t>
            </a:r>
            <a:r>
              <a:rPr lang="zh-CN" altLang="en-US"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cxnSp>
        <p:nvCxnSpPr>
          <p:cNvPr id="33" name="Straight Arrow Connector 32"/>
          <p:cNvCxnSpPr/>
          <p:nvPr/>
        </p:nvCxnSpPr>
        <p:spPr>
          <a:xfrm>
            <a:off x="1891109" y="1372075"/>
            <a:ext cx="173038" cy="7096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2164159" y="1397475"/>
            <a:ext cx="238125" cy="6842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51BB5DC9-931C-4EE6-A17D-28BBC4257135}"/>
              </a:ext>
            </a:extLst>
          </p:cNvPr>
          <p:cNvCxnSpPr/>
          <p:nvPr/>
        </p:nvCxnSpPr>
        <p:spPr>
          <a:xfrm>
            <a:off x="251520" y="1246667"/>
            <a:ext cx="792088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椭圆 3">
            <a:extLst>
              <a:ext uri="{FF2B5EF4-FFF2-40B4-BE49-F238E27FC236}">
                <a16:creationId xmlns:a16="http://schemas.microsoft.com/office/drawing/2014/main" id="{5E9ADB36-F62D-49DE-A8BA-105D9C8D5DEA}"/>
              </a:ext>
            </a:extLst>
          </p:cNvPr>
          <p:cNvSpPr/>
          <p:nvPr/>
        </p:nvSpPr>
        <p:spPr>
          <a:xfrm>
            <a:off x="632637" y="1148317"/>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D4944406-7F3E-4D38-A475-3C927B65B557}"/>
              </a:ext>
            </a:extLst>
          </p:cNvPr>
          <p:cNvSpPr/>
          <p:nvPr/>
        </p:nvSpPr>
        <p:spPr>
          <a:xfrm>
            <a:off x="1786270" y="1148317"/>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239DAC57-5AFF-459C-8D64-F5FB413DA1AF}"/>
              </a:ext>
            </a:extLst>
          </p:cNvPr>
          <p:cNvSpPr/>
          <p:nvPr/>
        </p:nvSpPr>
        <p:spPr>
          <a:xfrm>
            <a:off x="2339163" y="1148317"/>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2CD40C42-E5F0-4B4A-8A3C-D45C3C305E0A}"/>
              </a:ext>
            </a:extLst>
          </p:cNvPr>
          <p:cNvSpPr/>
          <p:nvPr/>
        </p:nvSpPr>
        <p:spPr>
          <a:xfrm>
            <a:off x="3492795" y="1148318"/>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a:extLst>
              <a:ext uri="{FF2B5EF4-FFF2-40B4-BE49-F238E27FC236}">
                <a16:creationId xmlns:a16="http://schemas.microsoft.com/office/drawing/2014/main" id="{96E83F54-CAE6-4F9D-8619-F264DA417E0A}"/>
              </a:ext>
            </a:extLst>
          </p:cNvPr>
          <p:cNvSpPr/>
          <p:nvPr/>
        </p:nvSpPr>
        <p:spPr>
          <a:xfrm>
            <a:off x="4045688" y="1148318"/>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E70763F9-DD23-4BE1-974F-A464C77C72C3}"/>
              </a:ext>
            </a:extLst>
          </p:cNvPr>
          <p:cNvSpPr/>
          <p:nvPr/>
        </p:nvSpPr>
        <p:spPr>
          <a:xfrm>
            <a:off x="5194005" y="1158950"/>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a:extLst>
              <a:ext uri="{FF2B5EF4-FFF2-40B4-BE49-F238E27FC236}">
                <a16:creationId xmlns:a16="http://schemas.microsoft.com/office/drawing/2014/main" id="{3D34EF0D-D9E4-4D51-9F14-95C849DC4970}"/>
              </a:ext>
            </a:extLst>
          </p:cNvPr>
          <p:cNvSpPr/>
          <p:nvPr/>
        </p:nvSpPr>
        <p:spPr>
          <a:xfrm>
            <a:off x="5746898" y="1158950"/>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a:extLst>
              <a:ext uri="{FF2B5EF4-FFF2-40B4-BE49-F238E27FC236}">
                <a16:creationId xmlns:a16="http://schemas.microsoft.com/office/drawing/2014/main" id="{A2B02D25-6A2D-4EA5-A738-E14E809ABD11}"/>
              </a:ext>
            </a:extLst>
          </p:cNvPr>
          <p:cNvSpPr/>
          <p:nvPr/>
        </p:nvSpPr>
        <p:spPr>
          <a:xfrm>
            <a:off x="6900530" y="1158951"/>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a:extLst>
              <a:ext uri="{FF2B5EF4-FFF2-40B4-BE49-F238E27FC236}">
                <a16:creationId xmlns:a16="http://schemas.microsoft.com/office/drawing/2014/main" id="{27618662-5DDA-4047-973E-259BA11C4D16}"/>
              </a:ext>
            </a:extLst>
          </p:cNvPr>
          <p:cNvSpPr/>
          <p:nvPr/>
        </p:nvSpPr>
        <p:spPr>
          <a:xfrm>
            <a:off x="7453423" y="1158951"/>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Straight Arrow Connector 41">
            <a:extLst>
              <a:ext uri="{FF2B5EF4-FFF2-40B4-BE49-F238E27FC236}">
                <a16:creationId xmlns:a16="http://schemas.microsoft.com/office/drawing/2014/main" id="{0683B5AF-C41D-4D11-BFB8-6B2D15076F3D}"/>
              </a:ext>
            </a:extLst>
          </p:cNvPr>
          <p:cNvCxnSpPr/>
          <p:nvPr/>
        </p:nvCxnSpPr>
        <p:spPr>
          <a:xfrm>
            <a:off x="2526193" y="1374813"/>
            <a:ext cx="804863" cy="10604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42">
            <a:extLst>
              <a:ext uri="{FF2B5EF4-FFF2-40B4-BE49-F238E27FC236}">
                <a16:creationId xmlns:a16="http://schemas.microsoft.com/office/drawing/2014/main" id="{01851050-7D15-4E31-8076-28A285B790F8}"/>
              </a:ext>
            </a:extLst>
          </p:cNvPr>
          <p:cNvCxnSpPr/>
          <p:nvPr/>
        </p:nvCxnSpPr>
        <p:spPr>
          <a:xfrm flipH="1">
            <a:off x="3540606" y="1417675"/>
            <a:ext cx="441325" cy="1017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5" name="TextBox 45">
            <a:extLst>
              <a:ext uri="{FF2B5EF4-FFF2-40B4-BE49-F238E27FC236}">
                <a16:creationId xmlns:a16="http://schemas.microsoft.com/office/drawing/2014/main" id="{D3FF4AD7-3472-45FE-AC7A-F0E199EDB620}"/>
              </a:ext>
            </a:extLst>
          </p:cNvPr>
          <p:cNvSpPr txBox="1">
            <a:spLocks noChangeArrowheads="1"/>
          </p:cNvSpPr>
          <p:nvPr/>
        </p:nvSpPr>
        <p:spPr bwMode="auto">
          <a:xfrm>
            <a:off x="3094518" y="2396633"/>
            <a:ext cx="887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dirty="0">
                <a:latin typeface="Times New Roman" panose="02020603050405020304" pitchFamily="18" charset="0"/>
                <a:ea typeface="宋体" panose="02010600030101010101" pitchFamily="2" charset="-122"/>
              </a:rPr>
              <a:t>EP</a:t>
            </a:r>
            <a:r>
              <a:rPr lang="zh-CN" altLang="en-US"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cxnSp>
        <p:nvCxnSpPr>
          <p:cNvPr id="66" name="直接连接符 65">
            <a:extLst>
              <a:ext uri="{FF2B5EF4-FFF2-40B4-BE49-F238E27FC236}">
                <a16:creationId xmlns:a16="http://schemas.microsoft.com/office/drawing/2014/main" id="{5A31F206-9791-4171-914E-FEC2737967B1}"/>
              </a:ext>
            </a:extLst>
          </p:cNvPr>
          <p:cNvCxnSpPr/>
          <p:nvPr/>
        </p:nvCxnSpPr>
        <p:spPr>
          <a:xfrm>
            <a:off x="219622" y="3219006"/>
            <a:ext cx="7920880" cy="0"/>
          </a:xfrm>
          <a:prstGeom prst="line">
            <a:avLst/>
          </a:prstGeom>
        </p:spPr>
        <p:style>
          <a:lnRef idx="1">
            <a:schemeClr val="accent1"/>
          </a:lnRef>
          <a:fillRef idx="0">
            <a:schemeClr val="accent1"/>
          </a:fillRef>
          <a:effectRef idx="0">
            <a:schemeClr val="accent1"/>
          </a:effectRef>
          <a:fontRef idx="minor">
            <a:schemeClr val="tx1"/>
          </a:fontRef>
        </p:style>
      </p:cxnSp>
      <p:sp>
        <p:nvSpPr>
          <p:cNvPr id="67" name="椭圆 66">
            <a:extLst>
              <a:ext uri="{FF2B5EF4-FFF2-40B4-BE49-F238E27FC236}">
                <a16:creationId xmlns:a16="http://schemas.microsoft.com/office/drawing/2014/main" id="{B75FCACF-F825-481A-87B8-BF4D54E1C79F}"/>
              </a:ext>
            </a:extLst>
          </p:cNvPr>
          <p:cNvSpPr/>
          <p:nvPr/>
        </p:nvSpPr>
        <p:spPr>
          <a:xfrm>
            <a:off x="600739" y="3120656"/>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a:extLst>
              <a:ext uri="{FF2B5EF4-FFF2-40B4-BE49-F238E27FC236}">
                <a16:creationId xmlns:a16="http://schemas.microsoft.com/office/drawing/2014/main" id="{146679D7-4ECC-4A0E-8BFC-3E75903B6BF6}"/>
              </a:ext>
            </a:extLst>
          </p:cNvPr>
          <p:cNvSpPr/>
          <p:nvPr/>
        </p:nvSpPr>
        <p:spPr>
          <a:xfrm>
            <a:off x="2307265" y="3120656"/>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A01E0BCE-F728-454D-9D39-5126180FA057}"/>
              </a:ext>
            </a:extLst>
          </p:cNvPr>
          <p:cNvSpPr/>
          <p:nvPr/>
        </p:nvSpPr>
        <p:spPr>
          <a:xfrm>
            <a:off x="4013790" y="3120657"/>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a:extLst>
              <a:ext uri="{FF2B5EF4-FFF2-40B4-BE49-F238E27FC236}">
                <a16:creationId xmlns:a16="http://schemas.microsoft.com/office/drawing/2014/main" id="{B006B0DC-4AD6-4F81-B61C-E9466F8E68F3}"/>
              </a:ext>
            </a:extLst>
          </p:cNvPr>
          <p:cNvSpPr/>
          <p:nvPr/>
        </p:nvSpPr>
        <p:spPr>
          <a:xfrm>
            <a:off x="5715000" y="3131289"/>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a:extLst>
              <a:ext uri="{FF2B5EF4-FFF2-40B4-BE49-F238E27FC236}">
                <a16:creationId xmlns:a16="http://schemas.microsoft.com/office/drawing/2014/main" id="{4E42EBC3-7E21-4AAF-9BB1-9B72FEA14FB2}"/>
              </a:ext>
            </a:extLst>
          </p:cNvPr>
          <p:cNvSpPr/>
          <p:nvPr/>
        </p:nvSpPr>
        <p:spPr>
          <a:xfrm>
            <a:off x="7421525" y="3131290"/>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2" name="直接连接符 71">
            <a:extLst>
              <a:ext uri="{FF2B5EF4-FFF2-40B4-BE49-F238E27FC236}">
                <a16:creationId xmlns:a16="http://schemas.microsoft.com/office/drawing/2014/main" id="{BD5A4C65-9B58-4899-8DEE-EE9250C6C468}"/>
              </a:ext>
            </a:extLst>
          </p:cNvPr>
          <p:cNvCxnSpPr/>
          <p:nvPr/>
        </p:nvCxnSpPr>
        <p:spPr>
          <a:xfrm>
            <a:off x="219623" y="4282263"/>
            <a:ext cx="7920880" cy="0"/>
          </a:xfrm>
          <a:prstGeom prst="line">
            <a:avLst/>
          </a:prstGeom>
        </p:spPr>
        <p:style>
          <a:lnRef idx="1">
            <a:schemeClr val="accent1"/>
          </a:lnRef>
          <a:fillRef idx="0">
            <a:schemeClr val="accent1"/>
          </a:fillRef>
          <a:effectRef idx="0">
            <a:schemeClr val="accent1"/>
          </a:effectRef>
          <a:fontRef idx="minor">
            <a:schemeClr val="tx1"/>
          </a:fontRef>
        </p:style>
      </p:cxnSp>
      <p:sp>
        <p:nvSpPr>
          <p:cNvPr id="73" name="椭圆 72">
            <a:extLst>
              <a:ext uri="{FF2B5EF4-FFF2-40B4-BE49-F238E27FC236}">
                <a16:creationId xmlns:a16="http://schemas.microsoft.com/office/drawing/2014/main" id="{50BA90C9-ADD7-4DFB-BA7B-E5F0F8686D1A}"/>
              </a:ext>
            </a:extLst>
          </p:cNvPr>
          <p:cNvSpPr/>
          <p:nvPr/>
        </p:nvSpPr>
        <p:spPr>
          <a:xfrm>
            <a:off x="1754373" y="4183913"/>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085E019A-845F-4690-A796-FF369249EEF6}"/>
              </a:ext>
            </a:extLst>
          </p:cNvPr>
          <p:cNvSpPr/>
          <p:nvPr/>
        </p:nvSpPr>
        <p:spPr>
          <a:xfrm>
            <a:off x="3460898" y="4183914"/>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49AFBB66-FDFA-4397-A771-4EE68AE5D95D}"/>
              </a:ext>
            </a:extLst>
          </p:cNvPr>
          <p:cNvSpPr/>
          <p:nvPr/>
        </p:nvSpPr>
        <p:spPr>
          <a:xfrm>
            <a:off x="5162108" y="4194546"/>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B86457BE-1DD3-4F53-B48A-2783A4E13B36}"/>
              </a:ext>
            </a:extLst>
          </p:cNvPr>
          <p:cNvSpPr/>
          <p:nvPr/>
        </p:nvSpPr>
        <p:spPr>
          <a:xfrm>
            <a:off x="6868633" y="4194547"/>
            <a:ext cx="186069" cy="18606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48D31D75-27E9-4DF9-9D19-310F8FDE5FE8}"/>
              </a:ext>
            </a:extLst>
          </p:cNvPr>
          <p:cNvCxnSpPr/>
          <p:nvPr/>
        </p:nvCxnSpPr>
        <p:spPr>
          <a:xfrm>
            <a:off x="725671" y="1484784"/>
            <a:ext cx="0" cy="1440160"/>
          </a:xfrm>
          <a:prstGeom prst="straightConnector1">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7" name="直接箭头连接符 76">
            <a:extLst>
              <a:ext uri="{FF2B5EF4-FFF2-40B4-BE49-F238E27FC236}">
                <a16:creationId xmlns:a16="http://schemas.microsoft.com/office/drawing/2014/main" id="{760A5054-4DE7-4623-880F-5953E18276E5}"/>
              </a:ext>
            </a:extLst>
          </p:cNvPr>
          <p:cNvCxnSpPr>
            <a:cxnSpLocks/>
          </p:cNvCxnSpPr>
          <p:nvPr/>
        </p:nvCxnSpPr>
        <p:spPr>
          <a:xfrm>
            <a:off x="1873987" y="1468835"/>
            <a:ext cx="0" cy="2536229"/>
          </a:xfrm>
          <a:prstGeom prst="straightConnector1">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grpSp>
        <p:nvGrpSpPr>
          <p:cNvPr id="177154" name="Group 9"/>
          <p:cNvGrpSpPr/>
          <p:nvPr/>
        </p:nvGrpSpPr>
        <p:grpSpPr bwMode="auto">
          <a:xfrm>
            <a:off x="1133475" y="2466975"/>
            <a:ext cx="6816725" cy="342900"/>
            <a:chOff x="1259632" y="5164522"/>
            <a:chExt cx="6816252" cy="342348"/>
          </a:xfrm>
        </p:grpSpPr>
        <p:cxnSp>
          <p:nvCxnSpPr>
            <p:cNvPr id="11" name="Straight Connector 10"/>
            <p:cNvCxnSpPr/>
            <p:nvPr/>
          </p:nvCxnSpPr>
          <p:spPr>
            <a:xfrm>
              <a:off x="1356463" y="5265958"/>
              <a:ext cx="6708309" cy="144230"/>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1259632" y="5164522"/>
              <a:ext cx="215885" cy="215552"/>
            </a:xfrm>
            <a:prstGeom prst="ellipse">
              <a:avLst/>
            </a:prstGeom>
            <a:solidFill>
              <a:srgbClr val="0066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Oval 12"/>
            <p:cNvSpPr/>
            <p:nvPr/>
          </p:nvSpPr>
          <p:spPr>
            <a:xfrm>
              <a:off x="2904168" y="5218410"/>
              <a:ext cx="215885" cy="215552"/>
            </a:xfrm>
            <a:prstGeom prst="ellipse">
              <a:avLst/>
            </a:prstGeom>
            <a:solidFill>
              <a:srgbClr val="0066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Oval 13"/>
            <p:cNvSpPr/>
            <p:nvPr/>
          </p:nvSpPr>
          <p:spPr>
            <a:xfrm>
              <a:off x="4562991" y="5229505"/>
              <a:ext cx="215885" cy="215552"/>
            </a:xfrm>
            <a:prstGeom prst="ellipse">
              <a:avLst/>
            </a:prstGeom>
            <a:solidFill>
              <a:srgbClr val="0066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Oval 14"/>
            <p:cNvSpPr/>
            <p:nvPr/>
          </p:nvSpPr>
          <p:spPr>
            <a:xfrm>
              <a:off x="6204352" y="5272298"/>
              <a:ext cx="215885" cy="215552"/>
            </a:xfrm>
            <a:prstGeom prst="ellipse">
              <a:avLst/>
            </a:prstGeom>
            <a:solidFill>
              <a:srgbClr val="0066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Oval 15"/>
            <p:cNvSpPr/>
            <p:nvPr/>
          </p:nvSpPr>
          <p:spPr>
            <a:xfrm>
              <a:off x="7859999" y="5291318"/>
              <a:ext cx="215885" cy="215552"/>
            </a:xfrm>
            <a:prstGeom prst="ellipse">
              <a:avLst/>
            </a:prstGeom>
            <a:solidFill>
              <a:srgbClr val="0066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24" name="Group 23"/>
          <p:cNvGrpSpPr/>
          <p:nvPr/>
        </p:nvGrpSpPr>
        <p:grpSpPr>
          <a:xfrm>
            <a:off x="1133475" y="2755208"/>
            <a:ext cx="6816252" cy="342348"/>
            <a:chOff x="1259632" y="5164522"/>
            <a:chExt cx="6816252" cy="342348"/>
          </a:xfrm>
          <a:solidFill>
            <a:srgbClr val="FF0066"/>
          </a:solidFill>
        </p:grpSpPr>
        <p:cxnSp>
          <p:nvCxnSpPr>
            <p:cNvPr id="25" name="Straight Connector 24"/>
            <p:cNvCxnSpPr/>
            <p:nvPr/>
          </p:nvCxnSpPr>
          <p:spPr>
            <a:xfrm>
              <a:off x="1355769" y="5265583"/>
              <a:ext cx="6708240" cy="145150"/>
            </a:xfrm>
            <a:prstGeom prst="line">
              <a:avLst/>
            </a:prstGeom>
            <a:grpFill/>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1259632" y="5164522"/>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Oval 26"/>
            <p:cNvSpPr/>
            <p:nvPr/>
          </p:nvSpPr>
          <p:spPr>
            <a:xfrm>
              <a:off x="2903941" y="5218127"/>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Oval 27"/>
            <p:cNvSpPr/>
            <p:nvPr/>
          </p:nvSpPr>
          <p:spPr>
            <a:xfrm>
              <a:off x="4563378" y="5229200"/>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Oval 28"/>
            <p:cNvSpPr/>
            <p:nvPr/>
          </p:nvSpPr>
          <p:spPr>
            <a:xfrm>
              <a:off x="6204434" y="5272534"/>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Oval 29"/>
            <p:cNvSpPr/>
            <p:nvPr/>
          </p:nvSpPr>
          <p:spPr>
            <a:xfrm>
              <a:off x="7859860" y="5290846"/>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17" name="Group 16"/>
          <p:cNvGrpSpPr/>
          <p:nvPr/>
        </p:nvGrpSpPr>
        <p:grpSpPr>
          <a:xfrm>
            <a:off x="1925563" y="2781307"/>
            <a:ext cx="5160826" cy="324036"/>
            <a:chOff x="1259632" y="5164522"/>
            <a:chExt cx="5160826" cy="324036"/>
          </a:xfrm>
          <a:solidFill>
            <a:srgbClr val="FF0066"/>
          </a:solidFill>
        </p:grpSpPr>
        <p:sp>
          <p:nvSpPr>
            <p:cNvPr id="19" name="Oval 18"/>
            <p:cNvSpPr/>
            <p:nvPr/>
          </p:nvSpPr>
          <p:spPr>
            <a:xfrm>
              <a:off x="1259632" y="5164522"/>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Oval 19"/>
            <p:cNvSpPr/>
            <p:nvPr/>
          </p:nvSpPr>
          <p:spPr>
            <a:xfrm>
              <a:off x="2903941" y="5218127"/>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Oval 20"/>
            <p:cNvSpPr/>
            <p:nvPr/>
          </p:nvSpPr>
          <p:spPr>
            <a:xfrm>
              <a:off x="4563378" y="5229200"/>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Oval 21"/>
            <p:cNvSpPr/>
            <p:nvPr/>
          </p:nvSpPr>
          <p:spPr>
            <a:xfrm>
              <a:off x="6204434" y="5272534"/>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cxnSp>
        <p:nvCxnSpPr>
          <p:cNvPr id="7" name="Straight Arrow Connector 6"/>
          <p:cNvCxnSpPr/>
          <p:nvPr/>
        </p:nvCxnSpPr>
        <p:spPr>
          <a:xfrm flipV="1">
            <a:off x="1241425" y="1412875"/>
            <a:ext cx="792163" cy="1054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3" idx="0"/>
          </p:cNvCxnSpPr>
          <p:nvPr/>
        </p:nvCxnSpPr>
        <p:spPr>
          <a:xfrm flipH="1" flipV="1">
            <a:off x="2141538" y="1412875"/>
            <a:ext cx="744537" cy="11080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7159" name="TextBox 30"/>
          <p:cNvSpPr txBox="1">
            <a:spLocks noChangeArrowheads="1"/>
          </p:cNvSpPr>
          <p:nvPr/>
        </p:nvSpPr>
        <p:spPr bwMode="auto">
          <a:xfrm>
            <a:off x="1812925" y="901700"/>
            <a:ext cx="8874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a:latin typeface="Times New Roman" panose="02020603050405020304" pitchFamily="18" charset="0"/>
                <a:ea typeface="宋体" panose="02010600030101010101" pitchFamily="2" charset="-122"/>
              </a:rPr>
              <a:t>EP</a:t>
            </a:r>
            <a:r>
              <a:rPr lang="zh-CN" altLang="en-US"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77160" name="TextBox 36"/>
          <p:cNvSpPr txBox="1">
            <a:spLocks noChangeArrowheads="1"/>
          </p:cNvSpPr>
          <p:nvPr/>
        </p:nvSpPr>
        <p:spPr bwMode="auto">
          <a:xfrm>
            <a:off x="2047875" y="3908425"/>
            <a:ext cx="8874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a:latin typeface="Times New Roman" panose="02020603050405020304" pitchFamily="18" charset="0"/>
                <a:ea typeface="宋体" panose="02010600030101010101" pitchFamily="2" charset="-122"/>
              </a:rPr>
              <a:t>EP</a:t>
            </a:r>
            <a:r>
              <a:rPr lang="zh-CN" altLang="en-US"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cxnSp>
        <p:nvCxnSpPr>
          <p:cNvPr id="33" name="Straight Arrow Connector 32"/>
          <p:cNvCxnSpPr/>
          <p:nvPr/>
        </p:nvCxnSpPr>
        <p:spPr>
          <a:xfrm>
            <a:off x="2093913" y="3062288"/>
            <a:ext cx="346075" cy="7270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2540000" y="3105150"/>
            <a:ext cx="238125" cy="6842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2981325" y="3103563"/>
            <a:ext cx="804863" cy="10604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3995738" y="3146425"/>
            <a:ext cx="441325" cy="1017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7165" name="TextBox 45"/>
          <p:cNvSpPr txBox="1">
            <a:spLocks noChangeArrowheads="1"/>
          </p:cNvSpPr>
          <p:nvPr/>
        </p:nvSpPr>
        <p:spPr bwMode="auto">
          <a:xfrm>
            <a:off x="3538538" y="4187825"/>
            <a:ext cx="887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a:latin typeface="Times New Roman" panose="02020603050405020304" pitchFamily="18" charset="0"/>
                <a:ea typeface="宋体" panose="02010600030101010101" pitchFamily="2" charset="-122"/>
              </a:rPr>
              <a:t>EP</a:t>
            </a:r>
            <a:r>
              <a:rPr lang="zh-CN" altLang="en-US"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grpSp>
        <p:nvGrpSpPr>
          <p:cNvPr id="47" name="Group 46"/>
          <p:cNvGrpSpPr/>
          <p:nvPr/>
        </p:nvGrpSpPr>
        <p:grpSpPr>
          <a:xfrm>
            <a:off x="1121600" y="4967615"/>
            <a:ext cx="6816252" cy="342348"/>
            <a:chOff x="1259632" y="5164522"/>
            <a:chExt cx="6816252" cy="342348"/>
          </a:xfrm>
          <a:solidFill>
            <a:schemeClr val="tx1"/>
          </a:solidFill>
        </p:grpSpPr>
        <p:cxnSp>
          <p:nvCxnSpPr>
            <p:cNvPr id="48" name="Straight Connector 47"/>
            <p:cNvCxnSpPr/>
            <p:nvPr/>
          </p:nvCxnSpPr>
          <p:spPr>
            <a:xfrm>
              <a:off x="1355769" y="5265583"/>
              <a:ext cx="6708240" cy="145150"/>
            </a:xfrm>
            <a:prstGeom prst="line">
              <a:avLst/>
            </a:prstGeom>
            <a:grpFill/>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1259632" y="5164522"/>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0" name="Oval 49"/>
            <p:cNvSpPr/>
            <p:nvPr/>
          </p:nvSpPr>
          <p:spPr>
            <a:xfrm>
              <a:off x="2903941" y="5218127"/>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1" name="Oval 50"/>
            <p:cNvSpPr/>
            <p:nvPr/>
          </p:nvSpPr>
          <p:spPr>
            <a:xfrm>
              <a:off x="4563378" y="5229200"/>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2" name="Oval 51"/>
            <p:cNvSpPr/>
            <p:nvPr/>
          </p:nvSpPr>
          <p:spPr>
            <a:xfrm>
              <a:off x="6204434" y="5272534"/>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3" name="Oval 52"/>
            <p:cNvSpPr/>
            <p:nvPr/>
          </p:nvSpPr>
          <p:spPr>
            <a:xfrm>
              <a:off x="7859860" y="5290846"/>
              <a:ext cx="216024" cy="21602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inVertical)">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Exercise 1</a:t>
            </a:r>
          </a:p>
        </p:txBody>
      </p:sp>
      <p:pic>
        <p:nvPicPr>
          <p:cNvPr id="178179" name="Picture 6" descr="cha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1484313"/>
            <a:ext cx="8143875"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 name="Group 33"/>
          <p:cNvGrpSpPr/>
          <p:nvPr/>
        </p:nvGrpSpPr>
        <p:grpSpPr bwMode="auto">
          <a:xfrm>
            <a:off x="1258888" y="5164138"/>
            <a:ext cx="6816725" cy="342900"/>
            <a:chOff x="1259632" y="5164522"/>
            <a:chExt cx="6816252" cy="342348"/>
          </a:xfrm>
        </p:grpSpPr>
        <p:cxnSp>
          <p:nvCxnSpPr>
            <p:cNvPr id="32" name="Straight Connector 31"/>
            <p:cNvCxnSpPr/>
            <p:nvPr/>
          </p:nvCxnSpPr>
          <p:spPr>
            <a:xfrm>
              <a:off x="1356462" y="5265958"/>
              <a:ext cx="6708309" cy="144229"/>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1259632" y="5164522"/>
              <a:ext cx="215885" cy="215552"/>
            </a:xfrm>
            <a:prstGeom prst="ellipse">
              <a:avLst/>
            </a:prstGeom>
            <a:solidFill>
              <a:srgbClr val="0066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Oval 21"/>
            <p:cNvSpPr/>
            <p:nvPr/>
          </p:nvSpPr>
          <p:spPr>
            <a:xfrm>
              <a:off x="2904168" y="5218410"/>
              <a:ext cx="215885" cy="215552"/>
            </a:xfrm>
            <a:prstGeom prst="ellipse">
              <a:avLst/>
            </a:prstGeom>
            <a:solidFill>
              <a:srgbClr val="0066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Oval 22"/>
            <p:cNvSpPr/>
            <p:nvPr/>
          </p:nvSpPr>
          <p:spPr>
            <a:xfrm>
              <a:off x="4562990" y="5229504"/>
              <a:ext cx="215885" cy="215552"/>
            </a:xfrm>
            <a:prstGeom prst="ellipse">
              <a:avLst/>
            </a:prstGeom>
            <a:solidFill>
              <a:srgbClr val="0066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Oval 23"/>
            <p:cNvSpPr/>
            <p:nvPr/>
          </p:nvSpPr>
          <p:spPr>
            <a:xfrm>
              <a:off x="6204351" y="5272298"/>
              <a:ext cx="215885" cy="215552"/>
            </a:xfrm>
            <a:prstGeom prst="ellipse">
              <a:avLst/>
            </a:prstGeom>
            <a:solidFill>
              <a:srgbClr val="0066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Oval 24"/>
            <p:cNvSpPr/>
            <p:nvPr/>
          </p:nvSpPr>
          <p:spPr>
            <a:xfrm>
              <a:off x="7859999" y="5291318"/>
              <a:ext cx="215885" cy="215552"/>
            </a:xfrm>
            <a:prstGeom prst="ellipse">
              <a:avLst/>
            </a:prstGeom>
            <a:solidFill>
              <a:srgbClr val="0066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arn(inVertical)">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Exercise 2</a:t>
            </a:r>
          </a:p>
        </p:txBody>
      </p:sp>
      <p:grpSp>
        <p:nvGrpSpPr>
          <p:cNvPr id="179203" name="Group 3"/>
          <p:cNvGrpSpPr/>
          <p:nvPr/>
        </p:nvGrpSpPr>
        <p:grpSpPr bwMode="auto">
          <a:xfrm>
            <a:off x="355600" y="3149600"/>
            <a:ext cx="8221663" cy="1389063"/>
            <a:chOff x="539552" y="3356993"/>
            <a:chExt cx="8599286" cy="1453547"/>
          </a:xfrm>
        </p:grpSpPr>
        <p:pic>
          <p:nvPicPr>
            <p:cNvPr id="179215" name="Picture 3"/>
            <p:cNvPicPr>
              <a:picLocks noChangeAspect="1" noChangeArrowheads="1"/>
            </p:cNvPicPr>
            <p:nvPr/>
          </p:nvPicPr>
          <p:blipFill>
            <a:blip r:embed="rId3">
              <a:extLst>
                <a:ext uri="{28A0092B-C50C-407E-A947-70E740481C1C}">
                  <a14:useLocalDpi xmlns:a14="http://schemas.microsoft.com/office/drawing/2010/main" val="0"/>
                </a:ext>
              </a:extLst>
            </a:blip>
            <a:srcRect b="11897"/>
            <a:stretch>
              <a:fillRect/>
            </a:stretch>
          </p:blipFill>
          <p:spPr bwMode="auto">
            <a:xfrm>
              <a:off x="539552" y="3356993"/>
              <a:ext cx="2847975" cy="1334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9216" name="Picture 3"/>
            <p:cNvPicPr>
              <a:picLocks noChangeAspect="1" noChangeArrowheads="1"/>
            </p:cNvPicPr>
            <p:nvPr/>
          </p:nvPicPr>
          <p:blipFill>
            <a:blip r:embed="rId3">
              <a:extLst>
                <a:ext uri="{28A0092B-C50C-407E-A947-70E740481C1C}">
                  <a14:useLocalDpi xmlns:a14="http://schemas.microsoft.com/office/drawing/2010/main" val="0"/>
                </a:ext>
              </a:extLst>
            </a:blip>
            <a:srcRect l="12604" t="16174" b="13474"/>
            <a:stretch>
              <a:fillRect/>
            </a:stretch>
          </p:blipFill>
          <p:spPr bwMode="auto">
            <a:xfrm>
              <a:off x="2332250" y="3625795"/>
              <a:ext cx="2489030" cy="106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9217" name="Picture 3"/>
            <p:cNvPicPr>
              <a:picLocks noChangeAspect="1" noChangeArrowheads="1"/>
            </p:cNvPicPr>
            <p:nvPr/>
          </p:nvPicPr>
          <p:blipFill>
            <a:blip r:embed="rId3">
              <a:extLst>
                <a:ext uri="{28A0092B-C50C-407E-A947-70E740481C1C}">
                  <a14:useLocalDpi xmlns:a14="http://schemas.microsoft.com/office/drawing/2010/main" val="0"/>
                </a:ext>
              </a:extLst>
            </a:blip>
            <a:srcRect l="12604" t="16174" b="13474"/>
            <a:stretch>
              <a:fillRect/>
            </a:stretch>
          </p:blipFill>
          <p:spPr bwMode="auto">
            <a:xfrm>
              <a:off x="3771436" y="3665552"/>
              <a:ext cx="2489030" cy="106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9218" name="Picture 3"/>
            <p:cNvPicPr>
              <a:picLocks noChangeAspect="1" noChangeArrowheads="1"/>
            </p:cNvPicPr>
            <p:nvPr/>
          </p:nvPicPr>
          <p:blipFill>
            <a:blip r:embed="rId3">
              <a:extLst>
                <a:ext uri="{28A0092B-C50C-407E-A947-70E740481C1C}">
                  <a14:useLocalDpi xmlns:a14="http://schemas.microsoft.com/office/drawing/2010/main" val="0"/>
                </a:ext>
              </a:extLst>
            </a:blip>
            <a:srcRect l="12604" t="16174" b="13474"/>
            <a:stretch>
              <a:fillRect/>
            </a:stretch>
          </p:blipFill>
          <p:spPr bwMode="auto">
            <a:xfrm>
              <a:off x="5210622" y="3705308"/>
              <a:ext cx="2489030" cy="106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9219" name="Picture 3"/>
            <p:cNvPicPr>
              <a:picLocks noChangeAspect="1" noChangeArrowheads="1"/>
            </p:cNvPicPr>
            <p:nvPr/>
          </p:nvPicPr>
          <p:blipFill>
            <a:blip r:embed="rId3">
              <a:extLst>
                <a:ext uri="{28A0092B-C50C-407E-A947-70E740481C1C}">
                  <a14:useLocalDpi xmlns:a14="http://schemas.microsoft.com/office/drawing/2010/main" val="0"/>
                </a:ext>
              </a:extLst>
            </a:blip>
            <a:srcRect l="12604" t="16174" b="13474"/>
            <a:stretch>
              <a:fillRect/>
            </a:stretch>
          </p:blipFill>
          <p:spPr bwMode="auto">
            <a:xfrm>
              <a:off x="6649808" y="3745065"/>
              <a:ext cx="2489030" cy="106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79204" name="Group 6"/>
          <p:cNvGrpSpPr/>
          <p:nvPr/>
        </p:nvGrpSpPr>
        <p:grpSpPr bwMode="auto">
          <a:xfrm>
            <a:off x="468313" y="1628775"/>
            <a:ext cx="7704137" cy="1752600"/>
            <a:chOff x="251520" y="1747932"/>
            <a:chExt cx="7704856" cy="1753076"/>
          </a:xfrm>
        </p:grpSpPr>
        <p:grpSp>
          <p:nvGrpSpPr>
            <p:cNvPr id="179211" name="Group 2"/>
            <p:cNvGrpSpPr/>
            <p:nvPr/>
          </p:nvGrpSpPr>
          <p:grpSpPr bwMode="auto">
            <a:xfrm>
              <a:off x="1211194" y="1747933"/>
              <a:ext cx="6745182" cy="1753075"/>
              <a:chOff x="251520" y="1556792"/>
              <a:chExt cx="6745182" cy="1753075"/>
            </a:xfrm>
          </p:grpSpPr>
          <p:pic>
            <p:nvPicPr>
              <p:cNvPr id="179213" name="Picture 2" descr="Image result for one dimensional cha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1556792"/>
                <a:ext cx="4248472" cy="1586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14" name="Picture 2" descr="Image result for one dimensional chain"/>
              <p:cNvPicPr>
                <a:picLocks noChangeAspect="1" noChangeArrowheads="1"/>
              </p:cNvPicPr>
              <p:nvPr/>
            </p:nvPicPr>
            <p:blipFill>
              <a:blip r:embed="rId4">
                <a:extLst>
                  <a:ext uri="{28A0092B-C50C-407E-A947-70E740481C1C}">
                    <a14:useLocalDpi xmlns:a14="http://schemas.microsoft.com/office/drawing/2010/main" val="0"/>
                  </a:ext>
                </a:extLst>
              </a:blip>
              <a:srcRect l="6432"/>
              <a:stretch>
                <a:fillRect/>
              </a:stretch>
            </p:blipFill>
            <p:spPr bwMode="auto">
              <a:xfrm>
                <a:off x="3021496" y="1723769"/>
                <a:ext cx="3975206" cy="1586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Rectangle 4"/>
            <p:cNvSpPr/>
            <p:nvPr/>
          </p:nvSpPr>
          <p:spPr>
            <a:xfrm>
              <a:off x="251520" y="1747932"/>
              <a:ext cx="2368771" cy="276300"/>
            </a:xfrm>
            <a:prstGeom prst="rect">
              <a:avLst/>
            </a:prstGeom>
          </p:spPr>
          <p:txBody>
            <a:bodyPr wrap="none">
              <a:spAutoFit/>
            </a:bodyPr>
            <a:lstStyle/>
            <a:p>
              <a:pPr>
                <a:defRPr/>
              </a:pPr>
              <a:r>
                <a:rPr lang="en-US" sz="1200" b="1" dirty="0">
                  <a:solidFill>
                    <a:schemeClr val="accent3"/>
                  </a:solidFill>
                </a:rPr>
                <a:t>1-dimensional chain of [Cu(L)Cl]</a:t>
              </a:r>
            </a:p>
          </p:txBody>
        </p:sp>
      </p:grpSp>
      <p:grpSp>
        <p:nvGrpSpPr>
          <p:cNvPr id="179205" name="Group 5"/>
          <p:cNvGrpSpPr/>
          <p:nvPr/>
        </p:nvGrpSpPr>
        <p:grpSpPr bwMode="auto">
          <a:xfrm>
            <a:off x="1135063" y="5095875"/>
            <a:ext cx="6627812" cy="1300163"/>
            <a:chOff x="453528" y="5069281"/>
            <a:chExt cx="7430049" cy="1660026"/>
          </a:xfrm>
        </p:grpSpPr>
        <p:pic>
          <p:nvPicPr>
            <p:cNvPr id="179207" name="Picture 5" descr="A ball-stick diagram showing the one-dimensional chain. All water molecules and H atoms have been omitted for clarit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3528" y="5085184"/>
              <a:ext cx="2881902" cy="1644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08" name="Picture 5" descr="A ball-stick diagram showing the one-dimensional chain. All water molecules and H atoms have been omitted for clarity."/>
            <p:cNvPicPr>
              <a:picLocks noChangeAspect="1" noChangeArrowheads="1"/>
            </p:cNvPicPr>
            <p:nvPr/>
          </p:nvPicPr>
          <p:blipFill>
            <a:blip r:embed="rId5">
              <a:extLst>
                <a:ext uri="{28A0092B-C50C-407E-A947-70E740481C1C}">
                  <a14:useLocalDpi xmlns:a14="http://schemas.microsoft.com/office/drawing/2010/main" val="0"/>
                </a:ext>
              </a:extLst>
            </a:blip>
            <a:srcRect l="18320"/>
            <a:stretch>
              <a:fillRect/>
            </a:stretch>
          </p:blipFill>
          <p:spPr bwMode="auto">
            <a:xfrm>
              <a:off x="2277571" y="5077233"/>
              <a:ext cx="2353922" cy="1644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09" name="Picture 5" descr="A ball-stick diagram showing the one-dimensional chain. All water molecules and H atoms have been omitted for clarity."/>
            <p:cNvPicPr>
              <a:picLocks noChangeAspect="1" noChangeArrowheads="1"/>
            </p:cNvPicPr>
            <p:nvPr/>
          </p:nvPicPr>
          <p:blipFill>
            <a:blip r:embed="rId5">
              <a:extLst>
                <a:ext uri="{28A0092B-C50C-407E-A947-70E740481C1C}">
                  <a14:useLocalDpi xmlns:a14="http://schemas.microsoft.com/office/drawing/2010/main" val="0"/>
                </a:ext>
              </a:extLst>
            </a:blip>
            <a:srcRect l="18320"/>
            <a:stretch>
              <a:fillRect/>
            </a:stretch>
          </p:blipFill>
          <p:spPr bwMode="auto">
            <a:xfrm>
              <a:off x="4225641" y="5077233"/>
              <a:ext cx="2353922" cy="1644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10" name="Picture 5" descr="A ball-stick diagram showing the one-dimensional chain. All water molecules and H atoms have been omitted for clarity."/>
            <p:cNvPicPr>
              <a:picLocks noChangeAspect="1" noChangeArrowheads="1"/>
            </p:cNvPicPr>
            <p:nvPr/>
          </p:nvPicPr>
          <p:blipFill>
            <a:blip r:embed="rId5">
              <a:extLst>
                <a:ext uri="{28A0092B-C50C-407E-A947-70E740481C1C}">
                  <a14:useLocalDpi xmlns:a14="http://schemas.microsoft.com/office/drawing/2010/main" val="0"/>
                </a:ext>
              </a:extLst>
            </a:blip>
            <a:srcRect l="18320"/>
            <a:stretch>
              <a:fillRect/>
            </a:stretch>
          </p:blipFill>
          <p:spPr bwMode="auto">
            <a:xfrm>
              <a:off x="5529655" y="5069281"/>
              <a:ext cx="2353922" cy="1644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9206" name="Rectangle 7"/>
          <p:cNvSpPr>
            <a:spLocks noChangeArrowheads="1"/>
          </p:cNvSpPr>
          <p:nvPr/>
        </p:nvSpPr>
        <p:spPr bwMode="auto">
          <a:xfrm>
            <a:off x="228600" y="6519863"/>
            <a:ext cx="8915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1400" b="0">
                <a:latin typeface="Times New Roman" panose="02020603050405020304" pitchFamily="18" charset="0"/>
                <a:ea typeface="宋体" panose="02010600030101010101" pitchFamily="2" charset="-122"/>
              </a:rPr>
              <a:t>catena-Poly[[[diaqua-bis(2-methyl-6-oxo-1,6-dihydro-3,4'-bipyridine-5-carbo-nitrile)copper(II)]-</a:t>
            </a:r>
            <a:r>
              <a:rPr lang="el-GR" altLang="en-US" sz="1400" b="0">
                <a:latin typeface="Times New Roman" panose="02020603050405020304" pitchFamily="18" charset="0"/>
                <a:ea typeface="宋体" panose="02010600030101010101" pitchFamily="2" charset="-122"/>
              </a:rPr>
              <a:t>μ-</a:t>
            </a:r>
            <a:r>
              <a:rPr lang="en-US" altLang="en-US" sz="1400" b="0">
                <a:latin typeface="Times New Roman" panose="02020603050405020304" pitchFamily="18" charset="0"/>
                <a:ea typeface="宋体" panose="02010600030101010101" pitchFamily="2" charset="-122"/>
              </a:rPr>
              <a:t>sulfato] tetra-hydrate].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sz="half" idx="1"/>
          </p:nvPr>
        </p:nvSpPr>
        <p:spPr>
          <a:xfrm>
            <a:off x="762000" y="1600200"/>
            <a:ext cx="7772400" cy="4343400"/>
          </a:xfrm>
        </p:spPr>
        <p:txBody>
          <a:bodyPr rtlCol="0">
            <a:normAutofit fontScale="92500" lnSpcReduction="10000"/>
          </a:bodyPr>
          <a:lstStyle/>
          <a:p>
            <a:pPr eaLnBrk="1" fontAlgn="auto" hangingPunct="1">
              <a:buFont typeface="Wingdings" panose="05000000000000000000" pitchFamily="2" charset="2"/>
              <a:buChar char="q"/>
              <a:defRPr/>
            </a:pPr>
            <a:r>
              <a:rPr lang="en-US" altLang="zh-CN" dirty="0">
                <a:solidFill>
                  <a:srgbClr val="FF3300"/>
                </a:solidFill>
                <a:effectLst>
                  <a:outerShdw blurRad="38100" dist="38100" dir="2700000" algn="tl">
                    <a:srgbClr val="000000"/>
                  </a:outerShdw>
                </a:effectLst>
              </a:rPr>
              <a:t> 2D structure</a:t>
            </a:r>
            <a:endParaRPr lang="zh-CN" altLang="en-US"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r>
              <a:rPr lang="en-US" altLang="zh-CN" sz="2000" b="0" dirty="0"/>
              <a:t>(a)</a:t>
            </a:r>
            <a:r>
              <a:rPr lang="zh-CN" altLang="en-US" sz="2000" b="0" dirty="0"/>
              <a:t>－</a:t>
            </a:r>
            <a:r>
              <a:rPr lang="en-US" altLang="zh-CN" sz="2000" b="0" dirty="0" err="1"/>
              <a:t>NaCl</a:t>
            </a:r>
            <a:r>
              <a:rPr lang="en-US" altLang="zh-CN" sz="2000" b="0" dirty="0"/>
              <a:t> structure in </a:t>
            </a:r>
            <a:r>
              <a:rPr lang="en-US" altLang="zh-CN" sz="2000" b="0" dirty="0" err="1"/>
              <a:t>xy</a:t>
            </a:r>
            <a:r>
              <a:rPr lang="en-US" altLang="zh-CN" sz="2000" b="0" dirty="0"/>
              <a:t> plane</a:t>
            </a:r>
          </a:p>
          <a:p>
            <a:pPr eaLnBrk="1" fontAlgn="auto" hangingPunct="1">
              <a:buFont typeface="Wingdings" panose="05000000000000000000" pitchFamily="2" charset="2"/>
              <a:buChar char="q"/>
              <a:defRPr/>
            </a:pPr>
            <a:r>
              <a:rPr lang="en-US" altLang="zh-CN" sz="2000" b="0" dirty="0"/>
              <a:t>(b)</a:t>
            </a:r>
            <a:r>
              <a:rPr lang="zh-CN" altLang="en-US" sz="2000" b="0" dirty="0"/>
              <a:t>－</a:t>
            </a:r>
            <a:r>
              <a:rPr lang="en-US" altLang="zh-CN" sz="2000" b="0" dirty="0"/>
              <a:t>Na</a:t>
            </a:r>
            <a:r>
              <a:rPr lang="en-US" altLang="zh-CN" sz="2000" b="0" baseline="30000" dirty="0"/>
              <a:t>+</a:t>
            </a:r>
            <a:r>
              <a:rPr lang="zh-CN" altLang="en-US" sz="2000" b="0" dirty="0"/>
              <a:t> </a:t>
            </a:r>
            <a:r>
              <a:rPr lang="en-US" altLang="zh-CN" sz="2000" b="0" dirty="0"/>
              <a:t>or Cl</a:t>
            </a:r>
            <a:r>
              <a:rPr lang="en-US" altLang="zh-CN" sz="2000" b="0" baseline="30000" dirty="0"/>
              <a:t>-</a:t>
            </a:r>
            <a:r>
              <a:rPr lang="zh-CN" altLang="en-US" sz="2000" b="0" dirty="0"/>
              <a:t> </a:t>
            </a:r>
            <a:r>
              <a:rPr lang="en-US" altLang="zh-CN" sz="2000" b="0" dirty="0"/>
              <a:t>array</a:t>
            </a:r>
            <a:endParaRPr lang="zh-CN" altLang="en-US" sz="2000" b="0" dirty="0"/>
          </a:p>
          <a:p>
            <a:pPr eaLnBrk="1" fontAlgn="auto" hangingPunct="1">
              <a:buFont typeface="Wingdings" panose="05000000000000000000" pitchFamily="2" charset="2"/>
              <a:buChar char="q"/>
              <a:defRPr/>
            </a:pPr>
            <a:r>
              <a:rPr lang="en-US" altLang="zh-CN" sz="2000" b="0" dirty="0"/>
              <a:t>below</a:t>
            </a:r>
            <a:r>
              <a:rPr lang="zh-CN" altLang="en-US" sz="2000" b="0" dirty="0"/>
              <a:t>－</a:t>
            </a:r>
            <a:r>
              <a:rPr lang="en-US" altLang="zh-CN" sz="2000" b="0" dirty="0"/>
              <a:t> abstracted as plane dot arrays</a:t>
            </a:r>
            <a:endParaRPr lang="zh-CN" altLang="en-US" sz="2000" b="0" dirty="0"/>
          </a:p>
          <a:p>
            <a:pPr algn="ctr" eaLnBrk="1" fontAlgn="auto" hangingPunct="1">
              <a:buFont typeface="Wingdings" panose="05000000000000000000" pitchFamily="2" charset="2"/>
              <a:buNone/>
              <a:defRPr/>
            </a:pPr>
            <a:endParaRPr lang="zh-CN" altLang="en-US" dirty="0">
              <a:solidFill>
                <a:srgbClr val="0000FF"/>
              </a:solidFill>
            </a:endParaRPr>
          </a:p>
        </p:txBody>
      </p:sp>
      <p:sp>
        <p:nvSpPr>
          <p:cNvPr id="180227" name="Line 3"/>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80228" name="Picture 4" descr="pic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16238" y="1371600"/>
            <a:ext cx="5181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5" descr="pic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4083050"/>
            <a:ext cx="25082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ectangle 2"/>
          <p:cNvSpPr>
            <a:spLocks noGrp="1" noChangeArrowheads="1"/>
          </p:cNvSpPr>
          <p:nvPr>
            <p:ph type="title"/>
          </p:nvPr>
        </p:nvSpPr>
        <p:spPr>
          <a:xfrm>
            <a:off x="2176463" y="581025"/>
            <a:ext cx="4791075" cy="5238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Aft>
                <a:spcPts val="0"/>
              </a:spcAft>
              <a:defRPr/>
            </a:pPr>
            <a:r>
              <a:rPr kumimoji="1" lang="en-US" altLang="zh-CN" sz="2800" dirty="0">
                <a:solidFill>
                  <a:srgbClr val="C00000"/>
                </a:solidFill>
                <a:sym typeface="Symbol" panose="05050102010706020507" pitchFamily="18" charset="2"/>
              </a:rPr>
              <a:t>Structure </a:t>
            </a:r>
            <a:r>
              <a:rPr kumimoji="1" lang="zh-CN" altLang="en-US" sz="2800" dirty="0">
                <a:solidFill>
                  <a:srgbClr val="C00000"/>
                </a:solidFill>
                <a:sym typeface="Symbol" panose="05050102010706020507" pitchFamily="18" charset="2"/>
              </a:rPr>
              <a:t> </a:t>
            </a:r>
            <a:r>
              <a:rPr kumimoji="1" lang="en-US" altLang="zh-CN" sz="2800" dirty="0">
                <a:solidFill>
                  <a:srgbClr val="C00000"/>
                </a:solidFill>
              </a:rPr>
              <a:t>lattice</a:t>
            </a:r>
            <a:endParaRPr kumimoji="1" lang="zh-CN" altLang="en-US" sz="2800" dirty="0">
              <a:solidFill>
                <a:srgbClr val="C00000"/>
              </a:solidFil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7350"/>
                                        </p:tgtEl>
                                        <p:attrNameLst>
                                          <p:attrName>style.visibility</p:attrName>
                                        </p:attrNameLst>
                                      </p:cBhvr>
                                      <p:to>
                                        <p:strVal val="visible"/>
                                      </p:to>
                                    </p:set>
                                    <p:animEffect transition="in" filter="barn(inVertical)">
                                      <p:cBhvr>
                                        <p:cTn id="7" dur="500"/>
                                        <p:tgtEl>
                                          <p:spTgt spid="57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0227" name="Line 3"/>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80228" name="Picture 4" descr="pic1-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54360"/>
          <a:stretch>
            <a:fillRect/>
          </a:stretch>
        </p:blipFill>
        <p:spPr bwMode="auto">
          <a:xfrm>
            <a:off x="1053507" y="1490464"/>
            <a:ext cx="2364889"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p:cNvGrpSpPr/>
          <p:nvPr/>
        </p:nvGrpSpPr>
        <p:grpSpPr bwMode="auto">
          <a:xfrm>
            <a:off x="999532" y="1446014"/>
            <a:ext cx="2189162" cy="2174875"/>
            <a:chOff x="2861796" y="1327784"/>
            <a:chExt cx="2190028" cy="2173481"/>
          </a:xfrm>
        </p:grpSpPr>
        <p:grpSp>
          <p:nvGrpSpPr>
            <p:cNvPr id="180232" name="Group 3"/>
            <p:cNvGrpSpPr/>
            <p:nvPr/>
          </p:nvGrpSpPr>
          <p:grpSpPr bwMode="auto">
            <a:xfrm>
              <a:off x="2861796" y="1327784"/>
              <a:ext cx="1465485" cy="1433125"/>
              <a:chOff x="2861796" y="1327784"/>
              <a:chExt cx="1465485" cy="1433125"/>
            </a:xfrm>
          </p:grpSpPr>
          <p:sp>
            <p:nvSpPr>
              <p:cNvPr id="19" name="Cross 18"/>
              <p:cNvSpPr/>
              <p:nvPr/>
            </p:nvSpPr>
            <p:spPr>
              <a:xfrm rot="2684150">
                <a:off x="4132298" y="1327784"/>
                <a:ext cx="195339" cy="195138"/>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Cross 23"/>
              <p:cNvSpPr/>
              <p:nvPr/>
            </p:nvSpPr>
            <p:spPr>
              <a:xfrm rot="2684150">
                <a:off x="3859140" y="1580035"/>
                <a:ext cx="193752" cy="195137"/>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Cross 24"/>
              <p:cNvSpPr/>
              <p:nvPr/>
            </p:nvSpPr>
            <p:spPr>
              <a:xfrm rot="2684150">
                <a:off x="3619332" y="1824354"/>
                <a:ext cx="195340" cy="195137"/>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Cross 25"/>
              <p:cNvSpPr/>
              <p:nvPr/>
            </p:nvSpPr>
            <p:spPr>
              <a:xfrm rot="2684150">
                <a:off x="3366821" y="2063912"/>
                <a:ext cx="195339" cy="195138"/>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Cross 26"/>
              <p:cNvSpPr/>
              <p:nvPr/>
            </p:nvSpPr>
            <p:spPr>
              <a:xfrm rot="2684150">
                <a:off x="3123837" y="2316163"/>
                <a:ext cx="195340" cy="195137"/>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Cross 27"/>
              <p:cNvSpPr/>
              <p:nvPr/>
            </p:nvSpPr>
            <p:spPr>
              <a:xfrm rot="2684150">
                <a:off x="2861796" y="2565240"/>
                <a:ext cx="195339" cy="195138"/>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180233" name="Group 29"/>
            <p:cNvGrpSpPr/>
            <p:nvPr/>
          </p:nvGrpSpPr>
          <p:grpSpPr bwMode="auto">
            <a:xfrm>
              <a:off x="3361031" y="1835966"/>
              <a:ext cx="1465485" cy="1433125"/>
              <a:chOff x="2861796" y="1327784"/>
              <a:chExt cx="1465485" cy="1433125"/>
            </a:xfrm>
          </p:grpSpPr>
          <p:sp>
            <p:nvSpPr>
              <p:cNvPr id="31" name="Cross 30"/>
              <p:cNvSpPr/>
              <p:nvPr/>
            </p:nvSpPr>
            <p:spPr>
              <a:xfrm rot="2684150">
                <a:off x="4131735" y="1327276"/>
                <a:ext cx="195339" cy="195138"/>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Cross 31"/>
              <p:cNvSpPr/>
              <p:nvPr/>
            </p:nvSpPr>
            <p:spPr>
              <a:xfrm rot="2684150">
                <a:off x="3858577" y="1579528"/>
                <a:ext cx="193752" cy="195137"/>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Cross 32"/>
              <p:cNvSpPr/>
              <p:nvPr/>
            </p:nvSpPr>
            <p:spPr>
              <a:xfrm rot="2684150">
                <a:off x="3618769" y="1823846"/>
                <a:ext cx="195340" cy="195137"/>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 name="Cross 33"/>
              <p:cNvSpPr/>
              <p:nvPr/>
            </p:nvSpPr>
            <p:spPr>
              <a:xfrm rot="2684150">
                <a:off x="3366257" y="2064991"/>
                <a:ext cx="195339" cy="195137"/>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Cross 34"/>
              <p:cNvSpPr/>
              <p:nvPr/>
            </p:nvSpPr>
            <p:spPr>
              <a:xfrm rot="2684150">
                <a:off x="3123273" y="2317242"/>
                <a:ext cx="195340" cy="195138"/>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6" name="Cross 35"/>
              <p:cNvSpPr/>
              <p:nvPr/>
            </p:nvSpPr>
            <p:spPr>
              <a:xfrm rot="2684150">
                <a:off x="2861233" y="2566320"/>
                <a:ext cx="195339" cy="195137"/>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180234" name="Group 36"/>
            <p:cNvGrpSpPr/>
            <p:nvPr/>
          </p:nvGrpSpPr>
          <p:grpSpPr bwMode="auto">
            <a:xfrm>
              <a:off x="4121749" y="2569526"/>
              <a:ext cx="930075" cy="931739"/>
              <a:chOff x="3123279" y="1580370"/>
              <a:chExt cx="930075" cy="931739"/>
            </a:xfrm>
          </p:grpSpPr>
          <p:sp>
            <p:nvSpPr>
              <p:cNvPr id="39" name="Cross 38"/>
              <p:cNvSpPr/>
              <p:nvPr/>
            </p:nvSpPr>
            <p:spPr>
              <a:xfrm rot="2684150">
                <a:off x="3858015" y="1580845"/>
                <a:ext cx="195339" cy="195137"/>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0" name="Cross 39"/>
              <p:cNvSpPr/>
              <p:nvPr/>
            </p:nvSpPr>
            <p:spPr>
              <a:xfrm rot="2684150">
                <a:off x="3618207" y="1825163"/>
                <a:ext cx="195340" cy="195137"/>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1" name="Cross 40"/>
              <p:cNvSpPr/>
              <p:nvPr/>
            </p:nvSpPr>
            <p:spPr>
              <a:xfrm rot="2684150">
                <a:off x="3365695" y="2064721"/>
                <a:ext cx="195339" cy="195138"/>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2" name="Cross 41"/>
              <p:cNvSpPr/>
              <p:nvPr/>
            </p:nvSpPr>
            <p:spPr>
              <a:xfrm rot="2684150">
                <a:off x="3122711" y="2316972"/>
                <a:ext cx="195340" cy="195137"/>
              </a:xfrm>
              <a:prstGeom prst="plus">
                <a:avLst>
                  <a:gd name="adj" fmla="val 399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sp>
        <p:nvSpPr>
          <p:cNvPr id="30" name="Rectangle 2"/>
          <p:cNvSpPr>
            <a:spLocks noGrp="1" noChangeArrowheads="1"/>
          </p:cNvSpPr>
          <p:nvPr>
            <p:ph type="title"/>
          </p:nvPr>
        </p:nvSpPr>
        <p:spPr>
          <a:xfrm>
            <a:off x="2176463" y="581025"/>
            <a:ext cx="4791075" cy="5238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Aft>
                <a:spcPts val="0"/>
              </a:spcAft>
              <a:defRPr/>
            </a:pPr>
            <a:r>
              <a:rPr kumimoji="1" lang="en-US" altLang="zh-CN" sz="2800" dirty="0">
                <a:solidFill>
                  <a:srgbClr val="C00000"/>
                </a:solidFill>
                <a:sym typeface="Symbol" panose="05050102010706020507" pitchFamily="18" charset="2"/>
              </a:rPr>
              <a:t>Structure </a:t>
            </a:r>
            <a:r>
              <a:rPr kumimoji="1" lang="zh-CN" altLang="en-US" sz="2800" dirty="0">
                <a:solidFill>
                  <a:srgbClr val="C00000"/>
                </a:solidFill>
                <a:sym typeface="Symbol" panose="05050102010706020507" pitchFamily="18" charset="2"/>
              </a:rPr>
              <a:t> </a:t>
            </a:r>
            <a:r>
              <a:rPr kumimoji="1" lang="en-US" altLang="zh-CN" sz="2800" dirty="0">
                <a:solidFill>
                  <a:srgbClr val="C00000"/>
                </a:solidFill>
              </a:rPr>
              <a:t>lattice</a:t>
            </a:r>
            <a:endParaRPr kumimoji="1" lang="zh-CN" altLang="en-US" sz="2800" dirty="0">
              <a:solidFill>
                <a:srgbClr val="C00000"/>
              </a:solidFill>
            </a:endParaRPr>
          </a:p>
        </p:txBody>
      </p:sp>
      <p:pic>
        <p:nvPicPr>
          <p:cNvPr id="29" name="Picture 4" descr="pic1-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54360"/>
          <a:stretch>
            <a:fillRect/>
          </a:stretch>
        </p:blipFill>
        <p:spPr bwMode="auto">
          <a:xfrm>
            <a:off x="5004048" y="1477144"/>
            <a:ext cx="2364889"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p:cNvGrpSpPr/>
          <p:nvPr/>
        </p:nvGrpSpPr>
        <p:grpSpPr>
          <a:xfrm>
            <a:off x="4981981" y="1456373"/>
            <a:ext cx="2150330" cy="2135892"/>
            <a:chOff x="4981981" y="1456373"/>
            <a:chExt cx="2150330" cy="2135892"/>
          </a:xfrm>
        </p:grpSpPr>
        <p:sp>
          <p:nvSpPr>
            <p:cNvPr id="61" name="Oval 60"/>
            <p:cNvSpPr/>
            <p:nvPr/>
          </p:nvSpPr>
          <p:spPr>
            <a:xfrm>
              <a:off x="5987821" y="1697005"/>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5732752" y="1937637"/>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5468057" y="2202332"/>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5227425" y="2447776"/>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6218827" y="1456373"/>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4981981" y="2693219"/>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6478709" y="2197518"/>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6223640" y="2438150"/>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p:cNvSpPr/>
            <p:nvPr/>
          </p:nvSpPr>
          <p:spPr>
            <a:xfrm>
              <a:off x="5958945" y="2702845"/>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5718313" y="2948289"/>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6709715" y="1956886"/>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5472869" y="3193732"/>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6988848" y="2693220"/>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p:cNvSpPr/>
            <p:nvPr/>
          </p:nvSpPr>
          <p:spPr>
            <a:xfrm>
              <a:off x="6724153" y="2957915"/>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6483521" y="3203359"/>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6238077" y="3448802"/>
              <a:ext cx="143463" cy="143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Exercise 3</a:t>
            </a:r>
          </a:p>
        </p:txBody>
      </p:sp>
      <p:sp>
        <p:nvSpPr>
          <p:cNvPr id="181251" name="Rectangle 3"/>
          <p:cNvSpPr>
            <a:spLocks noChangeArrowheads="1"/>
          </p:cNvSpPr>
          <p:nvPr/>
        </p:nvSpPr>
        <p:spPr bwMode="auto">
          <a:xfrm>
            <a:off x="468313" y="1614488"/>
            <a:ext cx="8064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b="0">
                <a:latin typeface="Times New Roman" panose="02020603050405020304" pitchFamily="18" charset="0"/>
                <a:ea typeface="宋体" panose="02010600030101010101" pitchFamily="2" charset="-122"/>
              </a:rPr>
              <a:t>Determine the lattice of the 2D structure (graphene).</a:t>
            </a:r>
          </a:p>
        </p:txBody>
      </p:sp>
      <p:pic>
        <p:nvPicPr>
          <p:cNvPr id="18125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349500"/>
            <a:ext cx="5849937" cy="3095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Exercise 4</a:t>
            </a:r>
          </a:p>
        </p:txBody>
      </p:sp>
      <p:grpSp>
        <p:nvGrpSpPr>
          <p:cNvPr id="182275" name="Group 2"/>
          <p:cNvGrpSpPr/>
          <p:nvPr/>
        </p:nvGrpSpPr>
        <p:grpSpPr bwMode="auto">
          <a:xfrm>
            <a:off x="468313" y="1570038"/>
            <a:ext cx="4398962" cy="2016125"/>
            <a:chOff x="467544" y="1745309"/>
            <a:chExt cx="4436827" cy="1924217"/>
          </a:xfrm>
        </p:grpSpPr>
        <p:pic>
          <p:nvPicPr>
            <p:cNvPr id="182279" name="Picture 2"/>
            <p:cNvPicPr>
              <a:picLocks noChangeAspect="1" noChangeArrowheads="1"/>
            </p:cNvPicPr>
            <p:nvPr/>
          </p:nvPicPr>
          <p:blipFill>
            <a:blip r:embed="rId3">
              <a:extLst>
                <a:ext uri="{28A0092B-C50C-407E-A947-70E740481C1C}">
                  <a14:useLocalDpi xmlns:a14="http://schemas.microsoft.com/office/drawing/2010/main" val="0"/>
                </a:ext>
              </a:extLst>
            </a:blip>
            <a:srcRect l="26804" t="33560" r="11581" b="10355"/>
            <a:stretch>
              <a:fillRect/>
            </a:stretch>
          </p:blipFill>
          <p:spPr bwMode="auto">
            <a:xfrm>
              <a:off x="467544" y="1745309"/>
              <a:ext cx="2218413" cy="19162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2280" name="Picture 2"/>
            <p:cNvPicPr>
              <a:picLocks noChangeAspect="1" noChangeArrowheads="1"/>
            </p:cNvPicPr>
            <p:nvPr/>
          </p:nvPicPr>
          <p:blipFill>
            <a:blip r:embed="rId3">
              <a:extLst>
                <a:ext uri="{28A0092B-C50C-407E-A947-70E740481C1C}">
                  <a14:useLocalDpi xmlns:a14="http://schemas.microsoft.com/office/drawing/2010/main" val="0"/>
                </a:ext>
              </a:extLst>
            </a:blip>
            <a:srcRect l="26804" t="33560" r="11581" b="10355"/>
            <a:stretch>
              <a:fillRect/>
            </a:stretch>
          </p:blipFill>
          <p:spPr bwMode="auto">
            <a:xfrm>
              <a:off x="2685958" y="1753261"/>
              <a:ext cx="2218413" cy="19162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8227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1560513"/>
            <a:ext cx="3024188" cy="2187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2277" name="Picture 4"/>
          <p:cNvPicPr>
            <a:picLocks noChangeAspect="1" noChangeArrowheads="1"/>
          </p:cNvPicPr>
          <p:nvPr/>
        </p:nvPicPr>
        <p:blipFill>
          <a:blip r:embed="rId5">
            <a:extLst>
              <a:ext uri="{28A0092B-C50C-407E-A947-70E740481C1C}">
                <a14:useLocalDpi xmlns:a14="http://schemas.microsoft.com/office/drawing/2010/main" val="0"/>
              </a:ext>
            </a:extLst>
          </a:blip>
          <a:srcRect l="4858" t="15709" r="4715" b="15649"/>
          <a:stretch>
            <a:fillRect/>
          </a:stretch>
        </p:blipFill>
        <p:spPr bwMode="auto">
          <a:xfrm>
            <a:off x="5435600" y="3946525"/>
            <a:ext cx="3024188" cy="229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2278" name="Picture 5"/>
          <p:cNvPicPr>
            <a:picLocks noChangeAspect="1" noChangeArrowheads="1"/>
          </p:cNvPicPr>
          <p:nvPr/>
        </p:nvPicPr>
        <p:blipFill>
          <a:blip r:embed="rId6">
            <a:extLst>
              <a:ext uri="{28A0092B-C50C-407E-A947-70E740481C1C}">
                <a14:useLocalDpi xmlns:a14="http://schemas.microsoft.com/office/drawing/2010/main" val="0"/>
              </a:ext>
            </a:extLst>
          </a:blip>
          <a:srcRect l="1610" t="16135" r="1785" b="10847"/>
          <a:stretch>
            <a:fillRect/>
          </a:stretch>
        </p:blipFill>
        <p:spPr bwMode="auto">
          <a:xfrm>
            <a:off x="468313" y="3946525"/>
            <a:ext cx="4398962" cy="219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364503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Exercise 4</a:t>
            </a:r>
          </a:p>
        </p:txBody>
      </p:sp>
      <p:grpSp>
        <p:nvGrpSpPr>
          <p:cNvPr id="182275" name="Group 2"/>
          <p:cNvGrpSpPr/>
          <p:nvPr/>
        </p:nvGrpSpPr>
        <p:grpSpPr bwMode="auto">
          <a:xfrm>
            <a:off x="468313" y="1570038"/>
            <a:ext cx="4398962" cy="2016125"/>
            <a:chOff x="467544" y="1745309"/>
            <a:chExt cx="4436827" cy="1924217"/>
          </a:xfrm>
        </p:grpSpPr>
        <p:pic>
          <p:nvPicPr>
            <p:cNvPr id="182279" name="Picture 2"/>
            <p:cNvPicPr>
              <a:picLocks noChangeAspect="1" noChangeArrowheads="1"/>
            </p:cNvPicPr>
            <p:nvPr/>
          </p:nvPicPr>
          <p:blipFill>
            <a:blip r:embed="rId3">
              <a:extLst>
                <a:ext uri="{28A0092B-C50C-407E-A947-70E740481C1C}">
                  <a14:useLocalDpi xmlns:a14="http://schemas.microsoft.com/office/drawing/2010/main" val="0"/>
                </a:ext>
              </a:extLst>
            </a:blip>
            <a:srcRect l="26804" t="33560" r="11581" b="10355"/>
            <a:stretch>
              <a:fillRect/>
            </a:stretch>
          </p:blipFill>
          <p:spPr bwMode="auto">
            <a:xfrm>
              <a:off x="467544" y="1745309"/>
              <a:ext cx="2218413" cy="19162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2280" name="Picture 2"/>
            <p:cNvPicPr>
              <a:picLocks noChangeAspect="1" noChangeArrowheads="1"/>
            </p:cNvPicPr>
            <p:nvPr/>
          </p:nvPicPr>
          <p:blipFill>
            <a:blip r:embed="rId3">
              <a:extLst>
                <a:ext uri="{28A0092B-C50C-407E-A947-70E740481C1C}">
                  <a14:useLocalDpi xmlns:a14="http://schemas.microsoft.com/office/drawing/2010/main" val="0"/>
                </a:ext>
              </a:extLst>
            </a:blip>
            <a:srcRect l="26804" t="33560" r="11581" b="10355"/>
            <a:stretch>
              <a:fillRect/>
            </a:stretch>
          </p:blipFill>
          <p:spPr bwMode="auto">
            <a:xfrm>
              <a:off x="2685958" y="1753261"/>
              <a:ext cx="2218413" cy="19162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8227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1560513"/>
            <a:ext cx="3024188" cy="2187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2277" name="Picture 4"/>
          <p:cNvPicPr>
            <a:picLocks noChangeAspect="1" noChangeArrowheads="1"/>
          </p:cNvPicPr>
          <p:nvPr/>
        </p:nvPicPr>
        <p:blipFill>
          <a:blip r:embed="rId5">
            <a:extLst>
              <a:ext uri="{28A0092B-C50C-407E-A947-70E740481C1C}">
                <a14:useLocalDpi xmlns:a14="http://schemas.microsoft.com/office/drawing/2010/main" val="0"/>
              </a:ext>
            </a:extLst>
          </a:blip>
          <a:srcRect l="4858" t="15709" r="4715" b="15649"/>
          <a:stretch>
            <a:fillRect/>
          </a:stretch>
        </p:blipFill>
        <p:spPr bwMode="auto">
          <a:xfrm>
            <a:off x="5435600" y="3946525"/>
            <a:ext cx="3024188" cy="229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2278" name="Picture 5"/>
          <p:cNvPicPr>
            <a:picLocks noChangeAspect="1" noChangeArrowheads="1"/>
          </p:cNvPicPr>
          <p:nvPr/>
        </p:nvPicPr>
        <p:blipFill>
          <a:blip r:embed="rId6">
            <a:extLst>
              <a:ext uri="{28A0092B-C50C-407E-A947-70E740481C1C}">
                <a14:useLocalDpi xmlns:a14="http://schemas.microsoft.com/office/drawing/2010/main" val="0"/>
              </a:ext>
            </a:extLst>
          </a:blip>
          <a:srcRect l="1610" t="16135" r="1785" b="10847"/>
          <a:stretch>
            <a:fillRect/>
          </a:stretch>
        </p:blipFill>
        <p:spPr bwMode="auto">
          <a:xfrm>
            <a:off x="468313" y="3946525"/>
            <a:ext cx="4398962" cy="219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椭圆 2">
            <a:extLst>
              <a:ext uri="{FF2B5EF4-FFF2-40B4-BE49-F238E27FC236}">
                <a16:creationId xmlns:a16="http://schemas.microsoft.com/office/drawing/2014/main" id="{0F8632E9-139B-4D75-A7CA-7CCAAB6EC113}"/>
              </a:ext>
            </a:extLst>
          </p:cNvPr>
          <p:cNvSpPr/>
          <p:nvPr/>
        </p:nvSpPr>
        <p:spPr>
          <a:xfrm>
            <a:off x="1523402" y="1816937"/>
            <a:ext cx="72008" cy="7200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2DE2F71F-D86E-4DB5-B83B-4C9995C901D1}"/>
              </a:ext>
            </a:extLst>
          </p:cNvPr>
          <p:cNvSpPr/>
          <p:nvPr/>
        </p:nvSpPr>
        <p:spPr>
          <a:xfrm>
            <a:off x="3729738" y="1834255"/>
            <a:ext cx="72008" cy="7200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B93C8D8F-7D10-4F10-BE3D-BF91D86C12A4}"/>
              </a:ext>
            </a:extLst>
          </p:cNvPr>
          <p:cNvSpPr/>
          <p:nvPr/>
        </p:nvSpPr>
        <p:spPr>
          <a:xfrm>
            <a:off x="1821274" y="3285519"/>
            <a:ext cx="72008" cy="7200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B6366C6D-E835-456B-A563-42B722676920}"/>
              </a:ext>
            </a:extLst>
          </p:cNvPr>
          <p:cNvSpPr/>
          <p:nvPr/>
        </p:nvSpPr>
        <p:spPr>
          <a:xfrm>
            <a:off x="4020683" y="3282055"/>
            <a:ext cx="72008" cy="7200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Exercise 5</a:t>
            </a:r>
          </a:p>
        </p:txBody>
      </p:sp>
      <p:pic>
        <p:nvPicPr>
          <p:cNvPr id="183299" name="Picture 2"/>
          <p:cNvPicPr>
            <a:picLocks noChangeAspect="1" noChangeArrowheads="1"/>
          </p:cNvPicPr>
          <p:nvPr/>
        </p:nvPicPr>
        <p:blipFill>
          <a:blip r:embed="rId3">
            <a:extLst>
              <a:ext uri="{28A0092B-C50C-407E-A947-70E740481C1C}">
                <a14:useLocalDpi xmlns:a14="http://schemas.microsoft.com/office/drawing/2010/main" val="0"/>
              </a:ext>
            </a:extLst>
          </a:blip>
          <a:srcRect l="3436" t="3651" r="3989" b="5045"/>
          <a:stretch>
            <a:fillRect/>
          </a:stretch>
        </p:blipFill>
        <p:spPr bwMode="auto">
          <a:xfrm>
            <a:off x="681038" y="1847850"/>
            <a:ext cx="2095500" cy="1944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330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1847850"/>
            <a:ext cx="1970088" cy="1968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3303" name="Picture 6"/>
          <p:cNvPicPr>
            <a:picLocks noChangeAspect="1" noChangeArrowheads="1"/>
          </p:cNvPicPr>
          <p:nvPr/>
        </p:nvPicPr>
        <p:blipFill>
          <a:blip r:embed="rId5">
            <a:extLst>
              <a:ext uri="{28A0092B-C50C-407E-A947-70E740481C1C}">
                <a14:useLocalDpi xmlns:a14="http://schemas.microsoft.com/office/drawing/2010/main" val="0"/>
              </a:ext>
            </a:extLst>
          </a:blip>
          <a:srcRect b="15849"/>
          <a:stretch>
            <a:fillRect/>
          </a:stretch>
        </p:blipFill>
        <p:spPr bwMode="auto">
          <a:xfrm>
            <a:off x="1619672" y="4118587"/>
            <a:ext cx="2501900" cy="2038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3304"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0032" y="4172562"/>
            <a:ext cx="1992313" cy="193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图片 3">
            <a:extLst>
              <a:ext uri="{FF2B5EF4-FFF2-40B4-BE49-F238E27FC236}">
                <a16:creationId xmlns:a16="http://schemas.microsoft.com/office/drawing/2014/main" id="{6A82A787-3D21-46D6-8B59-D5B3CC29A718}"/>
              </a:ext>
            </a:extLst>
          </p:cNvPr>
          <p:cNvPicPr>
            <a:picLocks noChangeAspect="1"/>
          </p:cNvPicPr>
          <p:nvPr/>
        </p:nvPicPr>
        <p:blipFill>
          <a:blip r:embed="rId7"/>
          <a:stretch>
            <a:fillRect/>
          </a:stretch>
        </p:blipFill>
        <p:spPr>
          <a:xfrm>
            <a:off x="5652120" y="1909006"/>
            <a:ext cx="2580719" cy="186327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sz="half" idx="1"/>
          </p:nvPr>
        </p:nvSpPr>
        <p:spPr>
          <a:xfrm>
            <a:off x="769938" y="1412875"/>
            <a:ext cx="7772400" cy="4343400"/>
          </a:xfrm>
        </p:spPr>
        <p:txBody>
          <a:bodyPr rtlCol="0">
            <a:normAutofit fontScale="92500" lnSpcReduction="10000"/>
          </a:bodyPr>
          <a:lstStyle/>
          <a:p>
            <a:pPr eaLnBrk="1" fontAlgn="auto" hangingPunct="1">
              <a:buFont typeface="Wingdings" panose="05000000000000000000" pitchFamily="2" charset="2"/>
              <a:buChar char="q"/>
              <a:defRPr/>
            </a:pPr>
            <a:r>
              <a:rPr lang="en-US" altLang="zh-CN" dirty="0">
                <a:solidFill>
                  <a:srgbClr val="FF3300"/>
                </a:solidFill>
              </a:rPr>
              <a:t>3D pattern</a:t>
            </a:r>
            <a:endParaRPr lang="zh-CN" altLang="en-US" dirty="0">
              <a:solidFill>
                <a:srgbClr val="FF3300"/>
              </a:solidFill>
            </a:endParaRPr>
          </a:p>
          <a:p>
            <a:pPr eaLnBrk="1" fontAlgn="auto" hangingPunct="1">
              <a:buFont typeface="Wingdings" panose="05000000000000000000" pitchFamily="2" charset="2"/>
              <a:buChar char="q"/>
              <a:defRPr/>
            </a:pPr>
            <a:endParaRPr lang="zh-CN" altLang="en-US"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sz="2000" dirty="0">
              <a:solidFill>
                <a:srgbClr val="FF3300"/>
              </a:solidFill>
              <a:effectLst>
                <a:outerShdw blurRad="38100" dist="38100" dir="2700000" algn="tl">
                  <a:srgbClr val="000000"/>
                </a:outerShdw>
              </a:effectLst>
            </a:endParaRPr>
          </a:p>
          <a:p>
            <a:pPr marL="342900" indent="-342900" eaLnBrk="1" fontAlgn="auto" hangingPunct="1">
              <a:buFont typeface="Wingdings" panose="05000000000000000000" pitchFamily="2" charset="2"/>
              <a:buChar char="q"/>
              <a:defRPr/>
            </a:pPr>
            <a:r>
              <a:rPr lang="en-US" altLang="zh-CN" sz="2100" b="0" dirty="0"/>
              <a:t>Left</a:t>
            </a:r>
            <a:r>
              <a:rPr lang="zh-CN" altLang="en-US" sz="2100" b="0" dirty="0"/>
              <a:t>－</a:t>
            </a:r>
            <a:r>
              <a:rPr lang="en-US" altLang="zh-CN" sz="2100" b="0" dirty="0" err="1"/>
              <a:t>NaCl</a:t>
            </a:r>
            <a:r>
              <a:rPr lang="en-US" altLang="zh-CN" sz="2100" b="0" dirty="0"/>
              <a:t> structure in 3D space</a:t>
            </a:r>
            <a:endParaRPr lang="zh-CN" altLang="en-US" sz="2100" b="0" dirty="0"/>
          </a:p>
          <a:p>
            <a:pPr marL="342900" indent="-342900" eaLnBrk="1" fontAlgn="auto" hangingPunct="1">
              <a:buFont typeface="Wingdings" panose="05000000000000000000" pitchFamily="2" charset="2"/>
              <a:buChar char="q"/>
              <a:defRPr/>
            </a:pPr>
            <a:r>
              <a:rPr lang="en-US" altLang="zh-CN" sz="2100" b="0" dirty="0"/>
              <a:t>Right </a:t>
            </a:r>
            <a:r>
              <a:rPr lang="zh-CN" altLang="en-US" sz="2100" b="0" dirty="0"/>
              <a:t>－</a:t>
            </a:r>
            <a:r>
              <a:rPr lang="en-US" altLang="zh-CN" sz="2100" b="0" dirty="0"/>
              <a:t>abstracted as space lattice</a:t>
            </a:r>
          </a:p>
          <a:p>
            <a:pPr eaLnBrk="1" fontAlgn="auto" hangingPunct="1">
              <a:buFont typeface="Wingdings" panose="05000000000000000000" pitchFamily="2" charset="2"/>
              <a:buChar char="q"/>
              <a:defRPr/>
            </a:pPr>
            <a:endParaRPr lang="zh-CN" altLang="en-US" sz="2000" dirty="0">
              <a:solidFill>
                <a:srgbClr val="FF3300"/>
              </a:solidFill>
              <a:effectLst>
                <a:outerShdw blurRad="38100" dist="38100" dir="2700000" algn="tl">
                  <a:srgbClr val="000000"/>
                </a:outerShdw>
              </a:effectLst>
            </a:endParaRPr>
          </a:p>
          <a:p>
            <a:pPr algn="ctr" eaLnBrk="1" fontAlgn="auto" hangingPunct="1">
              <a:buFont typeface="Wingdings" panose="05000000000000000000" pitchFamily="2" charset="2"/>
              <a:buNone/>
              <a:defRPr/>
            </a:pPr>
            <a:endParaRPr lang="zh-CN" altLang="en-US" dirty="0">
              <a:solidFill>
                <a:srgbClr val="0000FF"/>
              </a:solidFill>
            </a:endParaRPr>
          </a:p>
        </p:txBody>
      </p:sp>
      <p:sp>
        <p:nvSpPr>
          <p:cNvPr id="184323" name="Line 3"/>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grpSp>
        <p:nvGrpSpPr>
          <p:cNvPr id="184324" name="Group 7"/>
          <p:cNvGrpSpPr/>
          <p:nvPr/>
        </p:nvGrpSpPr>
        <p:grpSpPr bwMode="auto">
          <a:xfrm>
            <a:off x="1684338" y="2398713"/>
            <a:ext cx="5911850" cy="2182812"/>
            <a:chOff x="1061" y="1511"/>
            <a:chExt cx="3724" cy="1375"/>
          </a:xfrm>
        </p:grpSpPr>
        <p:pic>
          <p:nvPicPr>
            <p:cNvPr id="184326" name="Picture 5" descr="pic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1" y="1511"/>
              <a:ext cx="1728" cy="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27" name="Picture 6" descr="pic1-9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1" y="1524"/>
              <a:ext cx="1824" cy="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Rectangle 2"/>
          <p:cNvSpPr txBox="1">
            <a:spLocks noChangeArrowheads="1"/>
          </p:cNvSpPr>
          <p:nvPr/>
        </p:nvSpPr>
        <p:spPr>
          <a:xfrm>
            <a:off x="2176463" y="581025"/>
            <a:ext cx="479107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lvl1pPr algn="ctr" eaLnBrk="0" fontAlgn="auto" hangingPunct="0">
              <a:spcAft>
                <a:spcPts val="0"/>
              </a:spcAft>
              <a:defRPr sz="2800" cap="all" spc="-60">
                <a:solidFill>
                  <a:srgbClr val="C00000"/>
                </a:solidFill>
                <a:latin typeface="+mj-lt"/>
                <a:ea typeface="+mj-ea"/>
                <a:cs typeface="+mj-cs"/>
              </a:defRPr>
            </a:lvl1pPr>
            <a:lvl2pPr eaLnBrk="0" hangingPunct="0">
              <a:defRPr sz="3600">
                <a:solidFill>
                  <a:schemeClr val="tx2"/>
                </a:solidFill>
                <a:latin typeface="Arial Black" panose="020B0A04020102020204" pitchFamily="34" charset="0"/>
                <a:ea typeface="微软雅黑" panose="020B0503020204020204" pitchFamily="34" charset="-122"/>
              </a:defRPr>
            </a:lvl2pPr>
            <a:lvl3pPr eaLnBrk="0" hangingPunct="0">
              <a:defRPr sz="3600">
                <a:solidFill>
                  <a:schemeClr val="tx2"/>
                </a:solidFill>
                <a:latin typeface="Arial Black" panose="020B0A04020102020204" pitchFamily="34" charset="0"/>
                <a:ea typeface="微软雅黑" panose="020B0503020204020204" pitchFamily="34" charset="-122"/>
              </a:defRPr>
            </a:lvl3pPr>
            <a:lvl4pPr eaLnBrk="0" hangingPunct="0">
              <a:defRPr sz="3600">
                <a:solidFill>
                  <a:schemeClr val="tx2"/>
                </a:solidFill>
                <a:latin typeface="Arial Black" panose="020B0A04020102020204" pitchFamily="34" charset="0"/>
                <a:ea typeface="微软雅黑" panose="020B0503020204020204" pitchFamily="34" charset="-122"/>
              </a:defRPr>
            </a:lvl4pPr>
            <a:lvl5pPr eaLnBrk="0" hangingPunct="0">
              <a:defRPr sz="3600">
                <a:solidFill>
                  <a:schemeClr val="tx2"/>
                </a:solidFill>
                <a:latin typeface="Arial Black" panose="020B0A04020102020204" pitchFamily="34" charset="0"/>
                <a:ea typeface="微软雅黑" panose="020B0503020204020204" pitchFamily="34" charset="-122"/>
              </a:defRPr>
            </a:lvl5pPr>
            <a:lvl6pPr marL="4572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defRPr/>
            </a:pPr>
            <a:r>
              <a:rPr lang="en-US" altLang="zh-CN" dirty="0">
                <a:sym typeface="Symbol" panose="05050102010706020507" pitchFamily="18" charset="2"/>
              </a:rPr>
              <a:t>Structure </a:t>
            </a:r>
            <a:r>
              <a:rPr lang="zh-CN" altLang="en-US" dirty="0">
                <a:sym typeface="Symbol" panose="05050102010706020507" pitchFamily="18" charset="2"/>
              </a:rPr>
              <a:t> </a:t>
            </a:r>
            <a:r>
              <a:rPr lang="en-US" altLang="zh-CN" dirty="0"/>
              <a:t>lattice</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853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2301875"/>
            <a:ext cx="3529012" cy="3286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8130" name="Rectangle 2"/>
          <p:cNvSpPr>
            <a:spLocks noGrp="1" noChangeArrowheads="1"/>
          </p:cNvSpPr>
          <p:nvPr>
            <p:ph sz="half" idx="1"/>
          </p:nvPr>
        </p:nvSpPr>
        <p:spPr>
          <a:xfrm>
            <a:off x="244475" y="1628775"/>
            <a:ext cx="8137525" cy="525463"/>
          </a:xfrm>
        </p:spPr>
        <p:txBody>
          <a:bodyPr rtlCol="0">
            <a:normAutofit lnSpcReduction="10000"/>
          </a:bodyPr>
          <a:lstStyle/>
          <a:p>
            <a:pPr eaLnBrk="1" fontAlgn="auto" hangingPunct="1">
              <a:buFont typeface="Wingdings" panose="05000000000000000000" pitchFamily="2" charset="2"/>
              <a:buChar char="q"/>
              <a:defRPr/>
            </a:pPr>
            <a:r>
              <a:rPr lang="en-US" altLang="zh-CN" sz="2400" dirty="0">
                <a:solidFill>
                  <a:srgbClr val="FF3300"/>
                </a:solidFill>
                <a:effectLst>
                  <a:outerShdw blurRad="38100" dist="38100" dir="2700000" algn="tl">
                    <a:srgbClr val="000000"/>
                  </a:outerShdw>
                </a:effectLst>
              </a:rPr>
              <a:t> </a:t>
            </a:r>
            <a:r>
              <a:rPr lang="en-US" altLang="zh-CN" sz="2400" dirty="0">
                <a:solidFill>
                  <a:srgbClr val="FF3300"/>
                </a:solidFill>
              </a:rPr>
              <a:t>determine the space lattice of graphite structure.</a:t>
            </a:r>
            <a:endParaRPr lang="zh-CN" altLang="en-US" sz="2400" dirty="0">
              <a:solidFill>
                <a:srgbClr val="FF3300"/>
              </a:solidFill>
            </a:endParaRPr>
          </a:p>
          <a:p>
            <a:pPr eaLnBrk="1" fontAlgn="auto" hangingPunct="1">
              <a:buFont typeface="Wingdings" panose="05000000000000000000" pitchFamily="2" charset="2"/>
              <a:buChar char="q"/>
              <a:defRPr/>
            </a:pPr>
            <a:endParaRPr lang="zh-CN" altLang="en-US" sz="2400"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sz="2400" dirty="0">
              <a:solidFill>
                <a:srgbClr val="FF3300"/>
              </a:solidFill>
              <a:effectLst>
                <a:outerShdw blurRad="38100" dist="38100" dir="2700000" algn="tl">
                  <a:srgbClr val="000000"/>
                </a:outerShdw>
              </a:effectLst>
            </a:endParaRPr>
          </a:p>
          <a:p>
            <a:pPr eaLnBrk="1" fontAlgn="auto" hangingPunct="1">
              <a:buFont typeface="Wingdings" panose="05000000000000000000" pitchFamily="2" charset="2"/>
              <a:buChar char="q"/>
              <a:defRPr/>
            </a:pPr>
            <a:endParaRPr lang="zh-CN" altLang="en-US" sz="2400" dirty="0">
              <a:solidFill>
                <a:srgbClr val="FF3300"/>
              </a:solidFill>
              <a:effectLst>
                <a:outerShdw blurRad="38100" dist="38100" dir="2700000" algn="tl">
                  <a:srgbClr val="000000"/>
                </a:outerShdw>
              </a:effectLst>
            </a:endParaRPr>
          </a:p>
          <a:p>
            <a:pPr algn="ctr" eaLnBrk="1" fontAlgn="auto" hangingPunct="1">
              <a:buFont typeface="Wingdings" panose="05000000000000000000" pitchFamily="2" charset="2"/>
              <a:buNone/>
              <a:defRPr/>
            </a:pPr>
            <a:endParaRPr lang="zh-CN" altLang="en-US" sz="2400" dirty="0">
              <a:solidFill>
                <a:srgbClr val="0000FF"/>
              </a:solidFill>
            </a:endParaRPr>
          </a:p>
        </p:txBody>
      </p:sp>
      <p:pic>
        <p:nvPicPr>
          <p:cNvPr id="18534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9875" y="2420938"/>
            <a:ext cx="2819400" cy="1619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ight Arrow 1"/>
          <p:cNvSpPr/>
          <p:nvPr/>
        </p:nvSpPr>
        <p:spPr>
          <a:xfrm>
            <a:off x="3348038" y="5516563"/>
            <a:ext cx="649287" cy="3603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Freeform 2"/>
          <p:cNvSpPr/>
          <p:nvPr/>
        </p:nvSpPr>
        <p:spPr>
          <a:xfrm>
            <a:off x="6207125" y="3276600"/>
            <a:ext cx="319088" cy="163513"/>
          </a:xfrm>
          <a:custGeom>
            <a:avLst/>
            <a:gdLst>
              <a:gd name="connsiteX0" fmla="*/ 94891 w 319178"/>
              <a:gd name="connsiteY0" fmla="*/ 0 h 163902"/>
              <a:gd name="connsiteX1" fmla="*/ 319178 w 319178"/>
              <a:gd name="connsiteY1" fmla="*/ 0 h 163902"/>
              <a:gd name="connsiteX2" fmla="*/ 215661 w 319178"/>
              <a:gd name="connsiteY2" fmla="*/ 155275 h 163902"/>
              <a:gd name="connsiteX3" fmla="*/ 0 w 319178"/>
              <a:gd name="connsiteY3" fmla="*/ 163902 h 163902"/>
              <a:gd name="connsiteX4" fmla="*/ 94891 w 319178"/>
              <a:gd name="connsiteY4" fmla="*/ 0 h 163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178" h="163902">
                <a:moveTo>
                  <a:pt x="94891" y="0"/>
                </a:moveTo>
                <a:lnTo>
                  <a:pt x="319178" y="0"/>
                </a:lnTo>
                <a:lnTo>
                  <a:pt x="215661" y="155275"/>
                </a:lnTo>
                <a:lnTo>
                  <a:pt x="0" y="163902"/>
                </a:lnTo>
                <a:lnTo>
                  <a:pt x="94891" y="0"/>
                </a:lnTo>
                <a:close/>
              </a:path>
            </a:pathLst>
          </a:cu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ight Arrow 4"/>
          <p:cNvSpPr/>
          <p:nvPr/>
        </p:nvSpPr>
        <p:spPr>
          <a:xfrm>
            <a:off x="4284663" y="2779713"/>
            <a:ext cx="647700" cy="431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7" name="Straight Arrow Connector 6"/>
          <p:cNvCxnSpPr/>
          <p:nvPr/>
        </p:nvCxnSpPr>
        <p:spPr>
          <a:xfrm>
            <a:off x="4500563" y="2457450"/>
            <a:ext cx="0" cy="1546225"/>
          </a:xfrm>
          <a:prstGeom prst="straightConnector1">
            <a:avLst/>
          </a:prstGeom>
          <a:ln w="381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258888" y="5156200"/>
            <a:ext cx="1849437" cy="419100"/>
          </a:xfrm>
          <a:prstGeom prst="straightConnector1">
            <a:avLst/>
          </a:prstGeom>
          <a:ln w="3810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31" name="Title 1"/>
          <p:cNvSpPr>
            <a:spLocks noGrp="1"/>
          </p:cNvSpPr>
          <p:nvPr>
            <p:ph type="title"/>
          </p:nvPr>
        </p:nvSpPr>
        <p:spPr>
          <a:xfrm>
            <a:off x="457200" y="439738"/>
            <a:ext cx="5791200" cy="901700"/>
          </a:xfrm>
        </p:spPr>
        <p:txBody>
          <a:bodyPr/>
          <a:lstStyle/>
          <a:p>
            <a:pPr>
              <a:defRPr/>
            </a:pPr>
            <a:r>
              <a:rPr lang="en-US" dirty="0"/>
              <a:t>Exercise 6</a:t>
            </a:r>
          </a:p>
        </p:txBody>
      </p:sp>
      <p:sp>
        <p:nvSpPr>
          <p:cNvPr id="4" name="TextBox 3"/>
          <p:cNvSpPr txBox="1"/>
          <p:nvPr/>
        </p:nvSpPr>
        <p:spPr>
          <a:xfrm>
            <a:off x="4608513" y="5575300"/>
            <a:ext cx="1832553" cy="461665"/>
          </a:xfrm>
          <a:prstGeom prst="rect">
            <a:avLst/>
          </a:prstGeom>
          <a:noFill/>
        </p:spPr>
        <p:txBody>
          <a:bodyPr wrap="none" rtlCol="0">
            <a:spAutoFit/>
          </a:bodyPr>
          <a:lstStyle/>
          <a:p>
            <a:r>
              <a:rPr lang="en-US" dirty="0"/>
              <a:t>Projection </a:t>
            </a:r>
            <a:r>
              <a:rPr lang="zh-CN" altLang="en-US" dirty="0"/>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86370"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600" y="4457700"/>
            <a:ext cx="719138" cy="474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6371"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6075" y="4457700"/>
            <a:ext cx="719138" cy="474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6372"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5" y="5183188"/>
            <a:ext cx="720725" cy="474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6373"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9863" y="5183188"/>
            <a:ext cx="720725" cy="474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Parallelogram 42"/>
          <p:cNvSpPr/>
          <p:nvPr/>
        </p:nvSpPr>
        <p:spPr>
          <a:xfrm>
            <a:off x="384175" y="4694238"/>
            <a:ext cx="1295400" cy="720725"/>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86375"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8913" y="4457700"/>
            <a:ext cx="719137" cy="474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6376"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4288" y="5183188"/>
            <a:ext cx="719137" cy="474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9" name="Parallelogram 48"/>
          <p:cNvSpPr/>
          <p:nvPr/>
        </p:nvSpPr>
        <p:spPr>
          <a:xfrm>
            <a:off x="1497013" y="4694238"/>
            <a:ext cx="1295400" cy="720725"/>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155575" y="1249363"/>
            <a:ext cx="8593138" cy="220503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8134" name="Rectangle 6"/>
          <p:cNvSpPr>
            <a:spLocks noGrp="1" noChangeArrowheads="1"/>
          </p:cNvSpPr>
          <p:nvPr>
            <p:ph type="title"/>
          </p:nvPr>
        </p:nvSpPr>
        <p:spPr>
          <a:xfrm>
            <a:off x="2176463" y="619125"/>
            <a:ext cx="4791075" cy="5238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Aft>
                <a:spcPts val="0"/>
              </a:spcAft>
              <a:defRPr/>
            </a:pPr>
            <a:r>
              <a:rPr kumimoji="1" lang="en-US" altLang="zh-CN" sz="2800" dirty="0">
                <a:solidFill>
                  <a:srgbClr val="C00000"/>
                </a:solidFill>
                <a:sym typeface="Symbol" panose="05050102010706020507" pitchFamily="18" charset="2"/>
              </a:rPr>
              <a:t>Structure </a:t>
            </a:r>
            <a:r>
              <a:rPr kumimoji="1" lang="zh-CN" altLang="en-US" sz="2800" dirty="0">
                <a:solidFill>
                  <a:srgbClr val="C00000"/>
                </a:solidFill>
                <a:sym typeface="Symbol" panose="05050102010706020507" pitchFamily="18" charset="2"/>
              </a:rPr>
              <a:t> </a:t>
            </a:r>
            <a:r>
              <a:rPr kumimoji="1" lang="en-US" altLang="zh-CN" sz="2800" dirty="0">
                <a:solidFill>
                  <a:srgbClr val="C00000"/>
                </a:solidFill>
              </a:rPr>
              <a:t>lattice</a:t>
            </a:r>
            <a:endParaRPr kumimoji="1" lang="zh-CN" altLang="en-US" sz="2800" dirty="0">
              <a:solidFill>
                <a:srgbClr val="C00000"/>
              </a:solidFill>
            </a:endParaRPr>
          </a:p>
        </p:txBody>
      </p:sp>
      <p:sp>
        <p:nvSpPr>
          <p:cNvPr id="2" name="Rectangle 1"/>
          <p:cNvSpPr/>
          <p:nvPr/>
        </p:nvSpPr>
        <p:spPr>
          <a:xfrm>
            <a:off x="179388" y="1393825"/>
            <a:ext cx="8174037" cy="646113"/>
          </a:xfrm>
          <a:prstGeom prst="rect">
            <a:avLst/>
          </a:prstGeom>
        </p:spPr>
        <p:txBody>
          <a:bodyPr wrap="none">
            <a:spAutoFit/>
          </a:bodyPr>
          <a:lstStyle/>
          <a:p>
            <a:pPr>
              <a:defRPr/>
            </a:pPr>
            <a:r>
              <a:rPr lang="en-US" altLang="zh-CN" sz="3600" b="1" dirty="0">
                <a:solidFill>
                  <a:srgbClr val="7030A0"/>
                </a:solidFill>
                <a:effectLst>
                  <a:outerShdw blurRad="38100" dist="38100" dir="2700000" algn="tl">
                    <a:srgbClr val="000000"/>
                  </a:outerShdw>
                </a:effectLst>
              </a:rPr>
              <a:t>Structure </a:t>
            </a:r>
            <a:r>
              <a:rPr lang="en-US" altLang="zh-CN" sz="3600" b="1" dirty="0">
                <a:solidFill>
                  <a:srgbClr val="7030A0"/>
                </a:solidFill>
                <a:effectLst>
                  <a:outerShdw blurRad="38100" dist="38100" dir="2700000" algn="tl">
                    <a:srgbClr val="000000"/>
                  </a:outerShdw>
                </a:effectLst>
                <a:sym typeface="Symbol" panose="05050102010706020507" pitchFamily="18" charset="2"/>
              </a:rPr>
              <a:t>=        Motif</a:t>
            </a:r>
            <a:r>
              <a:rPr lang="zh-CN" altLang="en-US" sz="3600" b="1" dirty="0">
                <a:solidFill>
                  <a:srgbClr val="7030A0"/>
                </a:solidFill>
                <a:effectLst>
                  <a:outerShdw blurRad="38100" dist="38100" dir="2700000" algn="tl">
                    <a:srgbClr val="000000"/>
                  </a:outerShdw>
                </a:effectLst>
                <a:sym typeface="Symbol" panose="05050102010706020507" pitchFamily="18" charset="2"/>
              </a:rPr>
              <a:t>        </a:t>
            </a:r>
            <a:r>
              <a:rPr lang="en-US" altLang="zh-CN" sz="3600" b="1" dirty="0">
                <a:solidFill>
                  <a:srgbClr val="7030A0"/>
                </a:solidFill>
                <a:effectLst>
                  <a:outerShdw blurRad="38100" dist="38100" dir="2700000" algn="tl">
                    <a:srgbClr val="000000"/>
                  </a:outerShdw>
                </a:effectLst>
                <a:sym typeface="Symbol" panose="05050102010706020507" pitchFamily="18" charset="2"/>
              </a:rPr>
              <a:t>×        Lattice</a:t>
            </a:r>
            <a:endParaRPr lang="en-US" sz="3600" dirty="0">
              <a:solidFill>
                <a:srgbClr val="7030A0"/>
              </a:solidFill>
            </a:endParaRPr>
          </a:p>
        </p:txBody>
      </p:sp>
      <p:sp>
        <p:nvSpPr>
          <p:cNvPr id="3" name="TextBox 2"/>
          <p:cNvSpPr txBox="1"/>
          <p:nvPr/>
        </p:nvSpPr>
        <p:spPr>
          <a:xfrm>
            <a:off x="2309813" y="2462213"/>
            <a:ext cx="3489325" cy="830262"/>
          </a:xfrm>
          <a:prstGeom prst="rect">
            <a:avLst/>
          </a:prstGeom>
          <a:noFill/>
        </p:spPr>
        <p:txBody>
          <a:bodyPr wrap="none">
            <a:spAutoFit/>
          </a:bodyPr>
          <a:lstStyle/>
          <a:p>
            <a:pPr algn="ctr">
              <a:defRPr/>
            </a:pPr>
            <a:r>
              <a:rPr lang="en-US" altLang="zh-CN" b="1" dirty="0">
                <a:solidFill>
                  <a:srgbClr val="7030A0"/>
                </a:solidFill>
                <a:effectLst>
                  <a:outerShdw blurRad="38100" dist="38100" dir="2700000" algn="tl">
                    <a:srgbClr val="000000"/>
                  </a:outerShdw>
                </a:effectLst>
              </a:rPr>
              <a:t>Point group</a:t>
            </a:r>
          </a:p>
          <a:p>
            <a:pPr algn="ctr">
              <a:defRPr/>
            </a:pPr>
            <a:r>
              <a:rPr lang="zh-CN" altLang="en-US" b="1" dirty="0">
                <a:solidFill>
                  <a:srgbClr val="7030A0"/>
                </a:solidFill>
                <a:effectLst>
                  <a:outerShdw blurRad="38100" dist="38100" dir="2700000" algn="tl">
                    <a:srgbClr val="000000"/>
                  </a:outerShdw>
                </a:effectLst>
              </a:rPr>
              <a:t>（</a:t>
            </a:r>
            <a:r>
              <a:rPr lang="en-US" altLang="zh-CN" b="1" dirty="0">
                <a:solidFill>
                  <a:srgbClr val="7030A0"/>
                </a:solidFill>
                <a:effectLst>
                  <a:outerShdw blurRad="38100" dist="38100" dir="2700000" algn="tl">
                    <a:srgbClr val="000000"/>
                  </a:outerShdw>
                </a:effectLst>
              </a:rPr>
              <a:t>rotational symmetry</a:t>
            </a:r>
            <a:r>
              <a:rPr lang="zh-CN" altLang="en-US" b="1" dirty="0">
                <a:solidFill>
                  <a:srgbClr val="7030A0"/>
                </a:solidFill>
                <a:effectLst>
                  <a:outerShdw blurRad="38100" dist="38100" dir="2700000" algn="tl">
                    <a:srgbClr val="000000"/>
                  </a:outerShdw>
                </a:effectLst>
              </a:rPr>
              <a:t>）</a:t>
            </a:r>
            <a:endParaRPr lang="en-US" b="1" dirty="0">
              <a:solidFill>
                <a:srgbClr val="7030A0"/>
              </a:solidFill>
              <a:effectLst>
                <a:outerShdw blurRad="38100" dist="38100" dir="2700000" algn="tl">
                  <a:srgbClr val="000000"/>
                </a:outerShdw>
              </a:effectLst>
            </a:endParaRPr>
          </a:p>
        </p:txBody>
      </p:sp>
      <p:sp>
        <p:nvSpPr>
          <p:cNvPr id="16" name="TextBox 15"/>
          <p:cNvSpPr txBox="1"/>
          <p:nvPr/>
        </p:nvSpPr>
        <p:spPr>
          <a:xfrm>
            <a:off x="5651500" y="2546350"/>
            <a:ext cx="3252788" cy="769938"/>
          </a:xfrm>
          <a:prstGeom prst="rect">
            <a:avLst/>
          </a:prstGeom>
          <a:noFill/>
        </p:spPr>
        <p:txBody>
          <a:bodyPr wrap="none">
            <a:spAutoFit/>
          </a:bodyPr>
          <a:lstStyle/>
          <a:p>
            <a:pPr algn="ctr">
              <a:defRPr/>
            </a:pPr>
            <a:r>
              <a:rPr lang="en-US" altLang="zh-CN" b="1" dirty="0">
                <a:solidFill>
                  <a:srgbClr val="7030A0"/>
                </a:solidFill>
                <a:effectLst>
                  <a:outerShdw blurRad="38100" dist="38100" dir="2700000" algn="tl">
                    <a:srgbClr val="000000"/>
                  </a:outerShdw>
                </a:effectLst>
              </a:rPr>
              <a:t>Translational group</a:t>
            </a:r>
          </a:p>
          <a:p>
            <a:pPr algn="ctr">
              <a:defRPr/>
            </a:pPr>
            <a:r>
              <a:rPr lang="zh-CN" altLang="en-US" sz="2000" b="1" dirty="0">
                <a:solidFill>
                  <a:srgbClr val="7030A0"/>
                </a:solidFill>
                <a:effectLst>
                  <a:outerShdw blurRad="38100" dist="38100" dir="2700000" algn="tl">
                    <a:srgbClr val="000000"/>
                  </a:outerShdw>
                </a:effectLst>
              </a:rPr>
              <a:t>（</a:t>
            </a:r>
            <a:r>
              <a:rPr lang="en-US" altLang="zh-CN" sz="2000" b="1" dirty="0">
                <a:solidFill>
                  <a:srgbClr val="7030A0"/>
                </a:solidFill>
                <a:effectLst>
                  <a:outerShdw blurRad="38100" dist="38100" dir="2700000" algn="tl">
                    <a:srgbClr val="000000"/>
                  </a:outerShdw>
                </a:effectLst>
              </a:rPr>
              <a:t>translational symmetry</a:t>
            </a:r>
            <a:r>
              <a:rPr lang="zh-CN" altLang="en-US" sz="2000" b="1" dirty="0">
                <a:solidFill>
                  <a:srgbClr val="7030A0"/>
                </a:solidFill>
                <a:effectLst>
                  <a:outerShdw blurRad="38100" dist="38100" dir="2700000" algn="tl">
                    <a:srgbClr val="000000"/>
                  </a:outerShdw>
                </a:effectLst>
              </a:rPr>
              <a:t>）</a:t>
            </a:r>
            <a:endParaRPr lang="en-US" sz="2000" b="1" dirty="0">
              <a:solidFill>
                <a:srgbClr val="7030A0"/>
              </a:solidFill>
              <a:effectLst>
                <a:outerShdw blurRad="38100" dist="38100" dir="2700000" algn="tl">
                  <a:srgbClr val="000000"/>
                </a:outerShdw>
              </a:effectLst>
            </a:endParaRPr>
          </a:p>
        </p:txBody>
      </p:sp>
      <p:cxnSp>
        <p:nvCxnSpPr>
          <p:cNvPr id="5" name="Straight Arrow Connector 4"/>
          <p:cNvCxnSpPr/>
          <p:nvPr/>
        </p:nvCxnSpPr>
        <p:spPr>
          <a:xfrm>
            <a:off x="7235825" y="2084388"/>
            <a:ext cx="0" cy="533400"/>
          </a:xfrm>
          <a:prstGeom prst="straightConnector1">
            <a:avLst/>
          </a:prstGeom>
          <a:ln w="28575">
            <a:solidFill>
              <a:srgbClr val="FF0066"/>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4054475" y="2011363"/>
            <a:ext cx="0" cy="533400"/>
          </a:xfrm>
          <a:prstGeom prst="straightConnector1">
            <a:avLst/>
          </a:prstGeom>
          <a:ln w="28575">
            <a:solidFill>
              <a:srgbClr val="FF0066"/>
            </a:solidFill>
            <a:tailEnd type="arrow"/>
          </a:ln>
        </p:spPr>
        <p:style>
          <a:lnRef idx="1">
            <a:schemeClr val="accent1"/>
          </a:lnRef>
          <a:fillRef idx="0">
            <a:schemeClr val="accent1"/>
          </a:fillRef>
          <a:effectRef idx="0">
            <a:schemeClr val="accent1"/>
          </a:effectRef>
          <a:fontRef idx="minor">
            <a:schemeClr val="tx1"/>
          </a:fontRef>
        </p:style>
      </p:cxnSp>
      <p:pic>
        <p:nvPicPr>
          <p:cNvPr id="186385"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163" y="3725863"/>
            <a:ext cx="719137" cy="474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6386"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8638" y="3725863"/>
            <a:ext cx="719137" cy="474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Parallelogram 5"/>
          <p:cNvSpPr/>
          <p:nvPr/>
        </p:nvSpPr>
        <p:spPr>
          <a:xfrm>
            <a:off x="566738" y="3962400"/>
            <a:ext cx="1295400" cy="720725"/>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86388"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1475" y="3725863"/>
            <a:ext cx="720725" cy="474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Parallelogram 37"/>
          <p:cNvSpPr/>
          <p:nvPr/>
        </p:nvSpPr>
        <p:spPr>
          <a:xfrm>
            <a:off x="1679575" y="3962400"/>
            <a:ext cx="1295400" cy="720725"/>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86390"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481513"/>
            <a:ext cx="720725" cy="474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5" name="Parallelogram 54"/>
          <p:cNvSpPr/>
          <p:nvPr/>
        </p:nvSpPr>
        <p:spPr>
          <a:xfrm>
            <a:off x="6011863" y="4694238"/>
            <a:ext cx="1296987" cy="720725"/>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9" name="Parallelogram 58"/>
          <p:cNvSpPr/>
          <p:nvPr/>
        </p:nvSpPr>
        <p:spPr>
          <a:xfrm>
            <a:off x="7124700" y="4694238"/>
            <a:ext cx="1296988" cy="720725"/>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2" name="Parallelogram 61"/>
          <p:cNvSpPr/>
          <p:nvPr/>
        </p:nvSpPr>
        <p:spPr>
          <a:xfrm>
            <a:off x="6194425" y="3962400"/>
            <a:ext cx="1296988" cy="720725"/>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4" name="Parallelogram 63"/>
          <p:cNvSpPr/>
          <p:nvPr/>
        </p:nvSpPr>
        <p:spPr>
          <a:xfrm>
            <a:off x="7308850" y="3962400"/>
            <a:ext cx="1295400" cy="720725"/>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5343525" y="4479925"/>
            <a:ext cx="493713" cy="461963"/>
          </a:xfrm>
          <a:prstGeom prst="rect">
            <a:avLst/>
          </a:prstGeom>
        </p:spPr>
        <p:txBody>
          <a:bodyPr wrap="none">
            <a:spAutoFit/>
          </a:bodyPr>
          <a:lstStyle/>
          <a:p>
            <a:pPr>
              <a:defRPr/>
            </a:pPr>
            <a:r>
              <a:rPr lang="en-US" altLang="zh-CN" b="1" dirty="0">
                <a:solidFill>
                  <a:srgbClr val="7030A0"/>
                </a:solidFill>
                <a:effectLst>
                  <a:outerShdw blurRad="38100" dist="38100" dir="2700000" algn="tl">
                    <a:srgbClr val="000000"/>
                  </a:outerShdw>
                </a:effectLst>
                <a:sym typeface="Symbol" panose="05050102010706020507" pitchFamily="18" charset="2"/>
              </a:rPr>
              <a:t>×</a:t>
            </a:r>
            <a:endParaRPr lang="en-US" dirty="0"/>
          </a:p>
        </p:txBody>
      </p:sp>
      <p:sp>
        <p:nvSpPr>
          <p:cNvPr id="10" name="Rectangle 9"/>
          <p:cNvSpPr/>
          <p:nvPr/>
        </p:nvSpPr>
        <p:spPr>
          <a:xfrm>
            <a:off x="3898900" y="4448175"/>
            <a:ext cx="436563" cy="461963"/>
          </a:xfrm>
          <a:prstGeom prst="rect">
            <a:avLst/>
          </a:prstGeom>
        </p:spPr>
        <p:txBody>
          <a:bodyPr wrap="none">
            <a:spAutoFit/>
          </a:bodyPr>
          <a:lstStyle/>
          <a:p>
            <a:pPr>
              <a:defRPr/>
            </a:pPr>
            <a:r>
              <a:rPr lang="en-US" altLang="zh-CN" b="1" dirty="0">
                <a:solidFill>
                  <a:srgbClr val="7030A0"/>
                </a:solidFill>
                <a:effectLst>
                  <a:outerShdw blurRad="38100" dist="38100" dir="2700000" algn="tl">
                    <a:srgbClr val="000000"/>
                  </a:outerShdw>
                </a:effectLst>
                <a:sym typeface="Symbol" panose="05050102010706020507" pitchFamily="18" charset="2"/>
              </a:rPr>
              <a:t>= </a:t>
            </a:r>
            <a:endParaRPr lang="en-US" dirty="0"/>
          </a:p>
        </p:txBody>
      </p:sp>
      <p:sp>
        <p:nvSpPr>
          <p:cNvPr id="29" name="TextBox 28"/>
          <p:cNvSpPr txBox="1"/>
          <p:nvPr/>
        </p:nvSpPr>
        <p:spPr>
          <a:xfrm>
            <a:off x="295275" y="2600325"/>
            <a:ext cx="1812925" cy="461963"/>
          </a:xfrm>
          <a:prstGeom prst="rect">
            <a:avLst/>
          </a:prstGeom>
          <a:noFill/>
        </p:spPr>
        <p:txBody>
          <a:bodyPr wrap="none">
            <a:spAutoFit/>
          </a:bodyPr>
          <a:lstStyle/>
          <a:p>
            <a:pPr algn="ctr">
              <a:defRPr/>
            </a:pPr>
            <a:r>
              <a:rPr lang="en-US" altLang="zh-CN" b="1" dirty="0">
                <a:solidFill>
                  <a:srgbClr val="7030A0"/>
                </a:solidFill>
                <a:effectLst>
                  <a:outerShdw blurRad="38100" dist="38100" dir="2700000" algn="tl">
                    <a:srgbClr val="000000"/>
                  </a:outerShdw>
                </a:effectLst>
              </a:rPr>
              <a:t>Space group</a:t>
            </a:r>
          </a:p>
        </p:txBody>
      </p:sp>
      <p:cxnSp>
        <p:nvCxnSpPr>
          <p:cNvPr id="30" name="Straight Arrow Connector 22">
            <a:extLst>
              <a:ext uri="{FF2B5EF4-FFF2-40B4-BE49-F238E27FC236}">
                <a16:creationId xmlns:a16="http://schemas.microsoft.com/office/drawing/2014/main" id="{AB7DA9A7-12C8-4049-BA62-9968357B3CE6}"/>
              </a:ext>
            </a:extLst>
          </p:cNvPr>
          <p:cNvCxnSpPr/>
          <p:nvPr/>
        </p:nvCxnSpPr>
        <p:spPr>
          <a:xfrm>
            <a:off x="1192213" y="2063751"/>
            <a:ext cx="0" cy="533400"/>
          </a:xfrm>
          <a:prstGeom prst="straightConnector1">
            <a:avLst/>
          </a:prstGeom>
          <a:ln w="28575">
            <a:solidFill>
              <a:srgbClr val="FF0066"/>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394" name="Picture 11" descr="空间格子"/>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3286125"/>
            <a:ext cx="445770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p:cNvSpPr>
            <a:spLocks noGrp="1" noChangeArrowheads="1"/>
          </p:cNvSpPr>
          <p:nvPr>
            <p:ph type="title"/>
          </p:nvPr>
        </p:nvSpPr>
        <p:spPr>
          <a:xfrm>
            <a:off x="582613" y="1268413"/>
            <a:ext cx="8207375" cy="1943100"/>
          </a:xfrm>
        </p:spPr>
        <p:txBody>
          <a:bodyPr>
            <a:normAutofit fontScale="90000"/>
          </a:bodyPr>
          <a:lstStyle/>
          <a:p>
            <a:pPr eaLnBrk="1" fontAlgn="auto" hangingPunct="1">
              <a:lnSpc>
                <a:spcPct val="150000"/>
              </a:lnSpc>
              <a:spcAft>
                <a:spcPts val="0"/>
              </a:spcAft>
              <a:defRPr/>
            </a:pPr>
            <a:r>
              <a:rPr lang="en-US" altLang="zh-CN" sz="2400" b="1" cap="none" dirty="0">
                <a:solidFill>
                  <a:schemeClr val="tx1"/>
                </a:solidFill>
                <a:latin typeface="+mn-lt"/>
                <a:ea typeface="宋体" panose="02010600030101010101" pitchFamily="2" charset="-122"/>
              </a:rPr>
              <a:t>Node </a:t>
            </a:r>
            <a:r>
              <a:rPr lang="en-US" altLang="zh-CN" sz="2400" b="1" dirty="0">
                <a:solidFill>
                  <a:schemeClr val="tx1"/>
                </a:solidFill>
                <a:latin typeface="+mn-lt"/>
                <a:ea typeface="宋体" panose="02010600030101010101" pitchFamily="2" charset="-122"/>
              </a:rPr>
              <a:t>(</a:t>
            </a:r>
            <a:r>
              <a:rPr lang="zh-CN" altLang="en-US" sz="2400" b="1" dirty="0">
                <a:solidFill>
                  <a:schemeClr val="tx1"/>
                </a:solidFill>
                <a:latin typeface="+mn-lt"/>
                <a:ea typeface="宋体" panose="02010600030101010101" pitchFamily="2" charset="-122"/>
              </a:rPr>
              <a:t>结点</a:t>
            </a:r>
            <a:r>
              <a:rPr lang="en-US" altLang="zh-CN" sz="2400" b="1" dirty="0">
                <a:solidFill>
                  <a:schemeClr val="tx1"/>
                </a:solidFill>
                <a:latin typeface="+mn-lt"/>
                <a:ea typeface="宋体" panose="02010600030101010101" pitchFamily="2" charset="-122"/>
              </a:rPr>
              <a:t>) </a:t>
            </a:r>
            <a:r>
              <a:rPr lang="en-US" altLang="zh-CN" sz="2400" b="1" cap="none" dirty="0">
                <a:solidFill>
                  <a:schemeClr val="tx1"/>
                </a:solidFill>
                <a:latin typeface="+mn-lt"/>
                <a:ea typeface="宋体" panose="02010600030101010101" pitchFamily="2" charset="-122"/>
              </a:rPr>
              <a:t>or Lattice point(</a:t>
            </a:r>
            <a:r>
              <a:rPr lang="zh-CN" altLang="en-US" sz="2400" b="1" cap="none" dirty="0">
                <a:solidFill>
                  <a:schemeClr val="tx1"/>
                </a:solidFill>
                <a:latin typeface="+mn-lt"/>
                <a:ea typeface="宋体" panose="02010600030101010101" pitchFamily="2" charset="-122"/>
              </a:rPr>
              <a:t>阵点</a:t>
            </a:r>
            <a:r>
              <a:rPr lang="en-US" altLang="zh-CN" sz="2400" b="1" cap="none" dirty="0">
                <a:solidFill>
                  <a:schemeClr val="tx1"/>
                </a:solidFill>
                <a:latin typeface="+mn-lt"/>
                <a:ea typeface="宋体" panose="02010600030101010101" pitchFamily="2" charset="-122"/>
              </a:rPr>
              <a:t>)</a:t>
            </a:r>
            <a:r>
              <a:rPr lang="en-US" altLang="zh-CN" sz="2400" b="1" dirty="0">
                <a:solidFill>
                  <a:schemeClr val="tx1"/>
                </a:solidFill>
                <a:latin typeface="+mn-lt"/>
                <a:ea typeface="宋体" panose="02010600030101010101" pitchFamily="2" charset="-122"/>
              </a:rPr>
              <a:t>:</a:t>
            </a:r>
            <a:r>
              <a:rPr lang="en-US" altLang="zh-CN" sz="2400" b="1" cap="none" dirty="0">
                <a:solidFill>
                  <a:schemeClr val="tx1"/>
                </a:solidFill>
                <a:latin typeface="+mn-lt"/>
                <a:ea typeface="宋体" panose="02010600030101010101" pitchFamily="2" charset="-122"/>
              </a:rPr>
              <a:t> </a:t>
            </a:r>
            <a:r>
              <a:rPr lang="en-US" altLang="zh-CN" sz="2400" cap="none" dirty="0">
                <a:solidFill>
                  <a:schemeClr val="tx1"/>
                </a:solidFill>
                <a:latin typeface="+mn-lt"/>
                <a:ea typeface="宋体" panose="02010600030101010101" pitchFamily="2" charset="-122"/>
              </a:rPr>
              <a:t>each point in space lattice, equals to the EPs in crystal structures.</a:t>
            </a:r>
            <a:br>
              <a:rPr lang="zh-CN" altLang="en-US" sz="2400" b="1" dirty="0">
                <a:solidFill>
                  <a:srgbClr val="333333"/>
                </a:solidFill>
                <a:latin typeface="+mn-lt"/>
                <a:ea typeface="宋体" panose="02010600030101010101" pitchFamily="2" charset="-122"/>
              </a:rPr>
            </a:br>
            <a:r>
              <a:rPr lang="en-US" altLang="zh-CN" sz="2400" b="1" cap="none" dirty="0">
                <a:solidFill>
                  <a:schemeClr val="tx1"/>
                </a:solidFill>
                <a:latin typeface="+mn-lt"/>
                <a:ea typeface="宋体" panose="02010600030101010101" pitchFamily="2" charset="-122"/>
              </a:rPr>
              <a:t>Row </a:t>
            </a:r>
            <a:r>
              <a:rPr lang="en-US" altLang="zh-CN" sz="2400" b="1" dirty="0">
                <a:solidFill>
                  <a:schemeClr val="tx1"/>
                </a:solidFill>
                <a:latin typeface="+mn-lt"/>
                <a:ea typeface="宋体" panose="02010600030101010101" pitchFamily="2" charset="-122"/>
              </a:rPr>
              <a:t>(</a:t>
            </a:r>
            <a:r>
              <a:rPr lang="zh-CN" altLang="en-US" sz="2400" b="1" dirty="0">
                <a:solidFill>
                  <a:schemeClr val="tx1"/>
                </a:solidFill>
                <a:latin typeface="+mn-lt"/>
                <a:ea typeface="宋体" panose="02010600030101010101" pitchFamily="2" charset="-122"/>
              </a:rPr>
              <a:t>行列</a:t>
            </a:r>
            <a:r>
              <a:rPr lang="en-US" altLang="zh-CN" sz="2400" b="1" dirty="0">
                <a:solidFill>
                  <a:schemeClr val="tx1"/>
                </a:solidFill>
                <a:latin typeface="+mn-lt"/>
                <a:ea typeface="宋体" panose="02010600030101010101" pitchFamily="2" charset="-122"/>
              </a:rPr>
              <a:t>)</a:t>
            </a:r>
            <a:r>
              <a:rPr lang="en-US" altLang="zh-CN" sz="2400" dirty="0">
                <a:solidFill>
                  <a:schemeClr val="tx1"/>
                </a:solidFill>
                <a:latin typeface="+mn-lt"/>
                <a:ea typeface="宋体" panose="02010600030101010101" pitchFamily="2" charset="-122"/>
              </a:rPr>
              <a:t>: </a:t>
            </a:r>
            <a:r>
              <a:rPr lang="en-US" altLang="zh-CN" sz="2400" cap="none" dirty="0">
                <a:solidFill>
                  <a:schemeClr val="tx1"/>
                </a:solidFill>
                <a:latin typeface="+mn-lt"/>
                <a:ea typeface="宋体" panose="02010600030101010101" pitchFamily="2" charset="-122"/>
              </a:rPr>
              <a:t>the arrangement of lattice points in certain direction with the same distance</a:t>
            </a:r>
            <a:endParaRPr lang="zh-CN" altLang="en-US" sz="2400" cap="none" dirty="0">
              <a:solidFill>
                <a:schemeClr val="tx1"/>
              </a:solidFill>
              <a:latin typeface="+mn-lt"/>
              <a:ea typeface="宋体" panose="02010600030101010101" pitchFamily="2" charset="-122"/>
            </a:endParaRPr>
          </a:p>
        </p:txBody>
      </p:sp>
      <p:sp>
        <p:nvSpPr>
          <p:cNvPr id="187396" name="Text Box 4"/>
          <p:cNvSpPr txBox="1">
            <a:spLocks noChangeArrowheads="1"/>
          </p:cNvSpPr>
          <p:nvPr/>
        </p:nvSpPr>
        <p:spPr bwMode="auto">
          <a:xfrm>
            <a:off x="6227763" y="6400800"/>
            <a:ext cx="22320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endParaRPr lang="en-US" altLang="en-US" sz="2400" b="0">
              <a:latin typeface="Arial Narrow" panose="020B0606020202030204" pitchFamily="34" charset="0"/>
              <a:ea typeface="宋体" panose="02010600030101010101" pitchFamily="2" charset="-122"/>
            </a:endParaRPr>
          </a:p>
        </p:txBody>
      </p:sp>
      <p:sp>
        <p:nvSpPr>
          <p:cNvPr id="187397" name="Line 6"/>
          <p:cNvSpPr>
            <a:spLocks noChangeShapeType="1"/>
          </p:cNvSpPr>
          <p:nvPr/>
        </p:nvSpPr>
        <p:spPr bwMode="auto">
          <a:xfrm>
            <a:off x="990600" y="90805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70663" name="Rectangle 7"/>
          <p:cNvSpPr>
            <a:spLocks noChangeArrowheads="1"/>
          </p:cNvSpPr>
          <p:nvPr/>
        </p:nvSpPr>
        <p:spPr bwMode="auto">
          <a:xfrm>
            <a:off x="2076450" y="176213"/>
            <a:ext cx="4684713"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algn="ctr" eaLnBrk="0" fontAlgn="auto" hangingPunct="0">
              <a:spcAft>
                <a:spcPts val="0"/>
              </a:spcAft>
              <a:defRPr/>
            </a:pPr>
            <a:r>
              <a:rPr lang="en-US" altLang="zh-CN" sz="2800" cap="all" spc="-60" dirty="0">
                <a:solidFill>
                  <a:srgbClr val="C00000"/>
                </a:solidFill>
                <a:latin typeface="+mj-lt"/>
                <a:ea typeface="+mj-ea"/>
                <a:cs typeface="+mj-cs"/>
              </a:rPr>
              <a:t>Elements of lattice</a:t>
            </a:r>
            <a:endParaRPr lang="zh-CN" altLang="en-US" sz="2800" cap="all" spc="-60" dirty="0">
              <a:solidFill>
                <a:srgbClr val="C00000"/>
              </a:solidFill>
              <a:latin typeface="+mj-lt"/>
              <a:ea typeface="+mj-ea"/>
              <a:cs typeface="+mj-cs"/>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3"/>
          <p:cNvSpPr>
            <a:spLocks noGrp="1" noChangeArrowheads="1"/>
          </p:cNvSpPr>
          <p:nvPr>
            <p:ph idx="1"/>
          </p:nvPr>
        </p:nvSpPr>
        <p:spPr>
          <a:xfrm>
            <a:off x="755650" y="1196975"/>
            <a:ext cx="7772400" cy="1511300"/>
          </a:xfrm>
        </p:spPr>
        <p:txBody>
          <a:bodyPr/>
          <a:lstStyle/>
          <a:p>
            <a:pPr eaLnBrk="1" hangingPunct="1">
              <a:lnSpc>
                <a:spcPct val="120000"/>
              </a:lnSpc>
            </a:pPr>
            <a:r>
              <a:rPr lang="en-US" altLang="zh-CN" sz="2800"/>
              <a:t>Net</a:t>
            </a:r>
            <a:r>
              <a:rPr lang="zh-CN" altLang="en-US" sz="2800"/>
              <a:t> </a:t>
            </a:r>
            <a:r>
              <a:rPr lang="en-US" altLang="zh-CN" sz="2800"/>
              <a:t>(</a:t>
            </a:r>
            <a:r>
              <a:rPr lang="zh-CN" altLang="en-US" sz="2800"/>
              <a:t>面网</a:t>
            </a:r>
            <a:r>
              <a:rPr lang="en-US" altLang="zh-CN" sz="2800"/>
              <a:t>): </a:t>
            </a:r>
            <a:r>
              <a:rPr lang="en-US" altLang="zh-CN" sz="2400" b="0"/>
              <a:t>the distribution of lattice points in plane. </a:t>
            </a:r>
            <a:endParaRPr lang="zh-CN" altLang="en-US" sz="2400" b="0"/>
          </a:p>
        </p:txBody>
      </p:sp>
      <p:sp>
        <p:nvSpPr>
          <p:cNvPr id="188419" name="Line 4"/>
          <p:cNvSpPr>
            <a:spLocks noChangeShapeType="1"/>
          </p:cNvSpPr>
          <p:nvPr/>
        </p:nvSpPr>
        <p:spPr bwMode="auto">
          <a:xfrm>
            <a:off x="990600" y="90805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99333" name="Rectangle 5"/>
          <p:cNvSpPr>
            <a:spLocks noChangeArrowheads="1"/>
          </p:cNvSpPr>
          <p:nvPr/>
        </p:nvSpPr>
        <p:spPr bwMode="auto">
          <a:xfrm>
            <a:off x="2344738" y="176213"/>
            <a:ext cx="468312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algn="ctr" eaLnBrk="0" fontAlgn="auto" hangingPunct="0">
              <a:spcAft>
                <a:spcPts val="0"/>
              </a:spcAft>
              <a:defRPr/>
            </a:pPr>
            <a:r>
              <a:rPr lang="en-US" altLang="zh-CN" sz="2800" cap="all" spc="-60" dirty="0">
                <a:solidFill>
                  <a:srgbClr val="C00000"/>
                </a:solidFill>
                <a:latin typeface="+mj-lt"/>
                <a:ea typeface="+mj-ea"/>
                <a:cs typeface="+mj-cs"/>
              </a:rPr>
              <a:t>Elements of lattice</a:t>
            </a:r>
          </a:p>
        </p:txBody>
      </p:sp>
      <p:pic>
        <p:nvPicPr>
          <p:cNvPr id="188421" name="Picture 7" descr="面网"/>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933575" y="1989138"/>
            <a:ext cx="5329238" cy="399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reeform 3"/>
          <p:cNvSpPr/>
          <p:nvPr/>
        </p:nvSpPr>
        <p:spPr>
          <a:xfrm>
            <a:off x="3101975" y="3125788"/>
            <a:ext cx="3600450" cy="381000"/>
          </a:xfrm>
          <a:custGeom>
            <a:avLst/>
            <a:gdLst>
              <a:gd name="connsiteX0" fmla="*/ 523875 w 3600450"/>
              <a:gd name="connsiteY0" fmla="*/ 0 h 381000"/>
              <a:gd name="connsiteX1" fmla="*/ 3600450 w 3600450"/>
              <a:gd name="connsiteY1" fmla="*/ 0 h 381000"/>
              <a:gd name="connsiteX2" fmla="*/ 3086100 w 3600450"/>
              <a:gd name="connsiteY2" fmla="*/ 381000 h 381000"/>
              <a:gd name="connsiteX3" fmla="*/ 0 w 3600450"/>
              <a:gd name="connsiteY3" fmla="*/ 371475 h 381000"/>
              <a:gd name="connsiteX4" fmla="*/ 523875 w 3600450"/>
              <a:gd name="connsiteY4" fmla="*/ 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450" h="381000">
                <a:moveTo>
                  <a:pt x="523875" y="0"/>
                </a:moveTo>
                <a:lnTo>
                  <a:pt x="3600450" y="0"/>
                </a:lnTo>
                <a:lnTo>
                  <a:pt x="3086100" y="381000"/>
                </a:lnTo>
                <a:lnTo>
                  <a:pt x="0" y="371475"/>
                </a:lnTo>
                <a:lnTo>
                  <a:pt x="523875" y="0"/>
                </a:lnTo>
                <a:close/>
              </a:path>
            </a:pathLst>
          </a:custGeom>
          <a:solidFill>
            <a:srgbClr val="00B050">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Freeform 4"/>
          <p:cNvSpPr/>
          <p:nvPr/>
        </p:nvSpPr>
        <p:spPr>
          <a:xfrm>
            <a:off x="3101975" y="3116263"/>
            <a:ext cx="2781300" cy="1819275"/>
          </a:xfrm>
          <a:custGeom>
            <a:avLst/>
            <a:gdLst>
              <a:gd name="connsiteX0" fmla="*/ 514350 w 2781300"/>
              <a:gd name="connsiteY0" fmla="*/ 0 h 1819275"/>
              <a:gd name="connsiteX1" fmla="*/ 2781300 w 2781300"/>
              <a:gd name="connsiteY1" fmla="*/ 1438275 h 1819275"/>
              <a:gd name="connsiteX2" fmla="*/ 2257425 w 2781300"/>
              <a:gd name="connsiteY2" fmla="*/ 1819275 h 1819275"/>
              <a:gd name="connsiteX3" fmla="*/ 0 w 2781300"/>
              <a:gd name="connsiteY3" fmla="*/ 390525 h 1819275"/>
              <a:gd name="connsiteX4" fmla="*/ 514350 w 2781300"/>
              <a:gd name="connsiteY4" fmla="*/ 0 h 1819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1300" h="1819275">
                <a:moveTo>
                  <a:pt x="514350" y="0"/>
                </a:moveTo>
                <a:lnTo>
                  <a:pt x="2781300" y="1438275"/>
                </a:lnTo>
                <a:lnTo>
                  <a:pt x="2257425" y="1819275"/>
                </a:lnTo>
                <a:lnTo>
                  <a:pt x="0" y="390525"/>
                </a:lnTo>
                <a:lnTo>
                  <a:pt x="514350" y="0"/>
                </a:lnTo>
                <a:close/>
              </a:path>
            </a:pathLst>
          </a:custGeom>
          <a:solidFill>
            <a:srgbClr val="0000FF">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Freeform 10"/>
          <p:cNvSpPr/>
          <p:nvPr/>
        </p:nvSpPr>
        <p:spPr>
          <a:xfrm>
            <a:off x="2692400" y="3797300"/>
            <a:ext cx="3600450" cy="381000"/>
          </a:xfrm>
          <a:custGeom>
            <a:avLst/>
            <a:gdLst>
              <a:gd name="connsiteX0" fmla="*/ 523875 w 3600450"/>
              <a:gd name="connsiteY0" fmla="*/ 0 h 381000"/>
              <a:gd name="connsiteX1" fmla="*/ 3600450 w 3600450"/>
              <a:gd name="connsiteY1" fmla="*/ 0 h 381000"/>
              <a:gd name="connsiteX2" fmla="*/ 3086100 w 3600450"/>
              <a:gd name="connsiteY2" fmla="*/ 381000 h 381000"/>
              <a:gd name="connsiteX3" fmla="*/ 0 w 3600450"/>
              <a:gd name="connsiteY3" fmla="*/ 371475 h 381000"/>
              <a:gd name="connsiteX4" fmla="*/ 523875 w 3600450"/>
              <a:gd name="connsiteY4" fmla="*/ 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450" h="381000">
                <a:moveTo>
                  <a:pt x="523875" y="0"/>
                </a:moveTo>
                <a:lnTo>
                  <a:pt x="3600450" y="0"/>
                </a:lnTo>
                <a:lnTo>
                  <a:pt x="3086100" y="381000"/>
                </a:lnTo>
                <a:lnTo>
                  <a:pt x="0" y="371475"/>
                </a:lnTo>
                <a:lnTo>
                  <a:pt x="523875" y="0"/>
                </a:lnTo>
                <a:close/>
              </a:path>
            </a:pathLst>
          </a:custGeom>
          <a:solidFill>
            <a:srgbClr val="00B050">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Freeform 11"/>
          <p:cNvSpPr/>
          <p:nvPr/>
        </p:nvSpPr>
        <p:spPr>
          <a:xfrm>
            <a:off x="2282825" y="4554538"/>
            <a:ext cx="3600450" cy="381000"/>
          </a:xfrm>
          <a:custGeom>
            <a:avLst/>
            <a:gdLst>
              <a:gd name="connsiteX0" fmla="*/ 523875 w 3600450"/>
              <a:gd name="connsiteY0" fmla="*/ 0 h 381000"/>
              <a:gd name="connsiteX1" fmla="*/ 3600450 w 3600450"/>
              <a:gd name="connsiteY1" fmla="*/ 0 h 381000"/>
              <a:gd name="connsiteX2" fmla="*/ 3086100 w 3600450"/>
              <a:gd name="connsiteY2" fmla="*/ 381000 h 381000"/>
              <a:gd name="connsiteX3" fmla="*/ 0 w 3600450"/>
              <a:gd name="connsiteY3" fmla="*/ 371475 h 381000"/>
              <a:gd name="connsiteX4" fmla="*/ 523875 w 3600450"/>
              <a:gd name="connsiteY4" fmla="*/ 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450" h="381000">
                <a:moveTo>
                  <a:pt x="523875" y="0"/>
                </a:moveTo>
                <a:lnTo>
                  <a:pt x="3600450" y="0"/>
                </a:lnTo>
                <a:lnTo>
                  <a:pt x="3086100" y="381000"/>
                </a:lnTo>
                <a:lnTo>
                  <a:pt x="0" y="371475"/>
                </a:lnTo>
                <a:lnTo>
                  <a:pt x="523875" y="0"/>
                </a:lnTo>
                <a:close/>
              </a:path>
            </a:pathLst>
          </a:custGeom>
          <a:solidFill>
            <a:srgbClr val="00B050">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Freeform 5"/>
          <p:cNvSpPr/>
          <p:nvPr/>
        </p:nvSpPr>
        <p:spPr>
          <a:xfrm>
            <a:off x="2273300" y="3497263"/>
            <a:ext cx="3914775" cy="1447800"/>
          </a:xfrm>
          <a:custGeom>
            <a:avLst/>
            <a:gdLst>
              <a:gd name="connsiteX0" fmla="*/ 809625 w 3914775"/>
              <a:gd name="connsiteY0" fmla="*/ 0 h 1447800"/>
              <a:gd name="connsiteX1" fmla="*/ 3914775 w 3914775"/>
              <a:gd name="connsiteY1" fmla="*/ 28575 h 1447800"/>
              <a:gd name="connsiteX2" fmla="*/ 3086100 w 3914775"/>
              <a:gd name="connsiteY2" fmla="*/ 1447800 h 1447800"/>
              <a:gd name="connsiteX3" fmla="*/ 0 w 3914775"/>
              <a:gd name="connsiteY3" fmla="*/ 1438275 h 1447800"/>
              <a:gd name="connsiteX4" fmla="*/ 809625 w 3914775"/>
              <a:gd name="connsiteY4" fmla="*/ 0 h 14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4775" h="1447800">
                <a:moveTo>
                  <a:pt x="809625" y="0"/>
                </a:moveTo>
                <a:lnTo>
                  <a:pt x="3914775" y="28575"/>
                </a:lnTo>
                <a:lnTo>
                  <a:pt x="3086100" y="1447800"/>
                </a:lnTo>
                <a:lnTo>
                  <a:pt x="0" y="1438275"/>
                </a:lnTo>
                <a:lnTo>
                  <a:pt x="809625" y="0"/>
                </a:lnTo>
                <a:close/>
              </a:path>
            </a:pathLst>
          </a:custGeom>
          <a:solidFill>
            <a:srgbClr val="FF9900">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inVertical)">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arn(inVertical)">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 Box 2"/>
          <p:cNvSpPr txBox="1">
            <a:spLocks noChangeArrowheads="1"/>
          </p:cNvSpPr>
          <p:nvPr/>
        </p:nvSpPr>
        <p:spPr bwMode="auto">
          <a:xfrm>
            <a:off x="1187450" y="4221163"/>
            <a:ext cx="2627313" cy="249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400">
                <a:solidFill>
                  <a:srgbClr val="333333"/>
                </a:solidFill>
                <a:latin typeface="Arial Narrow" panose="020B0606020202030204" pitchFamily="34" charset="0"/>
                <a:ea typeface="宋体" panose="02010600030101010101" pitchFamily="2" charset="-122"/>
              </a:rPr>
              <a:t>Net AA</a:t>
            </a:r>
            <a:r>
              <a:rPr lang="en-US" altLang="zh-CN" sz="2400">
                <a:solidFill>
                  <a:srgbClr val="333333"/>
                </a:solidFill>
                <a:latin typeface="Times New Roman" panose="02020603050405020304" pitchFamily="18" charset="0"/>
                <a:ea typeface="宋体" panose="02010600030101010101" pitchFamily="2" charset="-122"/>
              </a:rPr>
              <a:t>’ </a:t>
            </a:r>
            <a:r>
              <a:rPr lang="en-US" altLang="zh-CN" sz="2400">
                <a:solidFill>
                  <a:srgbClr val="333333"/>
                </a:solidFill>
                <a:latin typeface="Arial Narrow" panose="020B0606020202030204" pitchFamily="34" charset="0"/>
                <a:ea typeface="宋体" panose="02010600030101010101" pitchFamily="2" charset="-122"/>
              </a:rPr>
              <a:t>distance d</a:t>
            </a:r>
            <a:r>
              <a:rPr lang="en-US" altLang="zh-CN" sz="2400" baseline="-25000">
                <a:solidFill>
                  <a:srgbClr val="333333"/>
                </a:solidFill>
                <a:latin typeface="Arial Narrow" panose="020B0606020202030204" pitchFamily="34" charset="0"/>
                <a:ea typeface="宋体" panose="02010600030101010101" pitchFamily="2" charset="-122"/>
              </a:rPr>
              <a:t>1</a:t>
            </a:r>
          </a:p>
          <a:p>
            <a:pPr eaLnBrk="1" hangingPunct="1">
              <a:spcBef>
                <a:spcPct val="50000"/>
              </a:spcBef>
              <a:spcAft>
                <a:spcPct val="0"/>
              </a:spcAft>
              <a:buFontTx/>
              <a:buNone/>
            </a:pPr>
            <a:r>
              <a:rPr lang="en-US" altLang="zh-CN" sz="2400">
                <a:solidFill>
                  <a:srgbClr val="333333"/>
                </a:solidFill>
                <a:latin typeface="Arial Narrow" panose="020B0606020202030204" pitchFamily="34" charset="0"/>
                <a:ea typeface="宋体" panose="02010600030101010101" pitchFamily="2" charset="-122"/>
              </a:rPr>
              <a:t>Net BB</a:t>
            </a:r>
            <a:r>
              <a:rPr lang="en-US" altLang="zh-CN" sz="2400">
                <a:solidFill>
                  <a:srgbClr val="333333"/>
                </a:solidFill>
                <a:latin typeface="Times New Roman" panose="02020603050405020304" pitchFamily="18" charset="0"/>
                <a:ea typeface="宋体" panose="02010600030101010101" pitchFamily="2" charset="-122"/>
              </a:rPr>
              <a:t>’</a:t>
            </a:r>
            <a:r>
              <a:rPr lang="en-US" altLang="zh-CN" sz="2400">
                <a:solidFill>
                  <a:srgbClr val="333333"/>
                </a:solidFill>
                <a:latin typeface="Arial Narrow" panose="020B0606020202030204" pitchFamily="34" charset="0"/>
                <a:ea typeface="宋体" panose="02010600030101010101" pitchFamily="2" charset="-122"/>
              </a:rPr>
              <a:t> distance d</a:t>
            </a:r>
            <a:r>
              <a:rPr lang="en-US" altLang="zh-CN" sz="2400" baseline="-25000">
                <a:solidFill>
                  <a:srgbClr val="333333"/>
                </a:solidFill>
                <a:latin typeface="Arial Narrow" panose="020B0606020202030204" pitchFamily="34" charset="0"/>
                <a:ea typeface="宋体" panose="02010600030101010101" pitchFamily="2" charset="-122"/>
              </a:rPr>
              <a:t>2</a:t>
            </a:r>
          </a:p>
          <a:p>
            <a:pPr eaLnBrk="1" hangingPunct="1">
              <a:spcBef>
                <a:spcPct val="50000"/>
              </a:spcBef>
              <a:spcAft>
                <a:spcPct val="0"/>
              </a:spcAft>
              <a:buFontTx/>
              <a:buNone/>
            </a:pPr>
            <a:r>
              <a:rPr lang="en-US" altLang="zh-CN" sz="2400">
                <a:solidFill>
                  <a:srgbClr val="333333"/>
                </a:solidFill>
                <a:latin typeface="Arial Narrow" panose="020B0606020202030204" pitchFamily="34" charset="0"/>
                <a:ea typeface="宋体" panose="02010600030101010101" pitchFamily="2" charset="-122"/>
              </a:rPr>
              <a:t>Net CC</a:t>
            </a:r>
            <a:r>
              <a:rPr lang="en-US" altLang="zh-CN" sz="2400">
                <a:solidFill>
                  <a:srgbClr val="333333"/>
                </a:solidFill>
                <a:latin typeface="Times New Roman" panose="02020603050405020304" pitchFamily="18" charset="0"/>
                <a:ea typeface="宋体" panose="02010600030101010101" pitchFamily="2" charset="-122"/>
              </a:rPr>
              <a:t>’</a:t>
            </a:r>
            <a:r>
              <a:rPr lang="en-US" altLang="zh-CN" sz="2400">
                <a:solidFill>
                  <a:srgbClr val="333333"/>
                </a:solidFill>
                <a:latin typeface="Arial Narrow" panose="020B0606020202030204" pitchFamily="34" charset="0"/>
                <a:ea typeface="宋体" panose="02010600030101010101" pitchFamily="2" charset="-122"/>
              </a:rPr>
              <a:t> distance d</a:t>
            </a:r>
            <a:r>
              <a:rPr lang="en-US" altLang="zh-CN" sz="2400" baseline="-25000">
                <a:solidFill>
                  <a:srgbClr val="333333"/>
                </a:solidFill>
                <a:latin typeface="Arial Narrow" panose="020B0606020202030204" pitchFamily="34" charset="0"/>
                <a:ea typeface="宋体" panose="02010600030101010101" pitchFamily="2" charset="-122"/>
              </a:rPr>
              <a:t>3</a:t>
            </a:r>
          </a:p>
          <a:p>
            <a:pPr eaLnBrk="1" hangingPunct="1">
              <a:spcBef>
                <a:spcPct val="50000"/>
              </a:spcBef>
              <a:spcAft>
                <a:spcPct val="0"/>
              </a:spcAft>
              <a:buFontTx/>
              <a:buNone/>
            </a:pPr>
            <a:r>
              <a:rPr lang="en-US" altLang="zh-CN" sz="2400">
                <a:solidFill>
                  <a:srgbClr val="333333"/>
                </a:solidFill>
                <a:latin typeface="Arial Narrow" panose="020B0606020202030204" pitchFamily="34" charset="0"/>
                <a:ea typeface="宋体" panose="02010600030101010101" pitchFamily="2" charset="-122"/>
              </a:rPr>
              <a:t>Net DD</a:t>
            </a:r>
            <a:r>
              <a:rPr lang="en-US" altLang="zh-CN" sz="2400">
                <a:solidFill>
                  <a:srgbClr val="333333"/>
                </a:solidFill>
                <a:latin typeface="Times New Roman" panose="02020603050405020304" pitchFamily="18" charset="0"/>
                <a:ea typeface="宋体" panose="02010600030101010101" pitchFamily="2" charset="-122"/>
              </a:rPr>
              <a:t>’</a:t>
            </a:r>
            <a:r>
              <a:rPr lang="en-US" altLang="zh-CN" sz="2400">
                <a:solidFill>
                  <a:srgbClr val="333333"/>
                </a:solidFill>
                <a:latin typeface="Arial Narrow" panose="020B0606020202030204" pitchFamily="34" charset="0"/>
                <a:ea typeface="宋体" panose="02010600030101010101" pitchFamily="2" charset="-122"/>
              </a:rPr>
              <a:t> distance d</a:t>
            </a:r>
            <a:r>
              <a:rPr lang="en-US" altLang="zh-CN" sz="2400" baseline="-25000">
                <a:solidFill>
                  <a:srgbClr val="333333"/>
                </a:solidFill>
                <a:latin typeface="Arial Narrow" panose="020B0606020202030204" pitchFamily="34" charset="0"/>
                <a:ea typeface="宋体" panose="02010600030101010101" pitchFamily="2" charset="-122"/>
              </a:rPr>
              <a:t>4</a:t>
            </a:r>
          </a:p>
          <a:p>
            <a:pPr eaLnBrk="1" hangingPunct="1">
              <a:spcBef>
                <a:spcPct val="50000"/>
              </a:spcBef>
              <a:spcAft>
                <a:spcPct val="0"/>
              </a:spcAft>
              <a:buFontTx/>
              <a:buNone/>
            </a:pPr>
            <a:endParaRPr lang="en-US" altLang="zh-CN" sz="2400" baseline="-25000">
              <a:solidFill>
                <a:srgbClr val="333333"/>
              </a:solidFill>
              <a:latin typeface="Arial Narrow" panose="020B0606020202030204" pitchFamily="34" charset="0"/>
              <a:ea typeface="宋体" panose="02010600030101010101" pitchFamily="2" charset="-122"/>
            </a:endParaRPr>
          </a:p>
        </p:txBody>
      </p:sp>
      <p:sp>
        <p:nvSpPr>
          <p:cNvPr id="189443" name="Line 3"/>
          <p:cNvSpPr>
            <a:spLocks noChangeShapeType="1"/>
          </p:cNvSpPr>
          <p:nvPr/>
        </p:nvSpPr>
        <p:spPr bwMode="auto">
          <a:xfrm>
            <a:off x="3779838" y="4292600"/>
            <a:ext cx="0" cy="2016125"/>
          </a:xfrm>
          <a:prstGeom prst="line">
            <a:avLst/>
          </a:prstGeom>
          <a:noFill/>
          <a:ln w="9525">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6564" name="Text Box 4"/>
          <p:cNvSpPr txBox="1">
            <a:spLocks noChangeArrowheads="1"/>
          </p:cNvSpPr>
          <p:nvPr/>
        </p:nvSpPr>
        <p:spPr bwMode="auto">
          <a:xfrm>
            <a:off x="3924300" y="4073525"/>
            <a:ext cx="4535488"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lnSpc>
                <a:spcPct val="200000"/>
              </a:lnSpc>
              <a:spcBef>
                <a:spcPct val="50000"/>
              </a:spcBef>
              <a:spcAft>
                <a:spcPct val="0"/>
              </a:spcAft>
              <a:buFontTx/>
              <a:buNone/>
              <a:defRPr/>
            </a:pPr>
            <a:r>
              <a:rPr lang="en-US" altLang="zh-CN" sz="2400" b="0" dirty="0">
                <a:solidFill>
                  <a:srgbClr val="333333"/>
                </a:solidFill>
                <a:latin typeface="+mn-lt"/>
                <a:ea typeface="宋体" panose="02010600030101010101" pitchFamily="2" charset="-122"/>
              </a:rPr>
              <a:t>Net density decreases with net distance. Therefore these two elements are in proportional.</a:t>
            </a:r>
            <a:endParaRPr lang="en-US" altLang="zh-CN" b="0" dirty="0">
              <a:solidFill>
                <a:srgbClr val="FF0000"/>
              </a:solidFill>
              <a:latin typeface="+mn-lt"/>
              <a:ea typeface="宋体" panose="02010600030101010101" pitchFamily="2" charset="-122"/>
            </a:endParaRPr>
          </a:p>
        </p:txBody>
      </p:sp>
      <p:pic>
        <p:nvPicPr>
          <p:cNvPr id="189445" name="Picture 5" descr="netden"/>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2606675" y="1765233"/>
            <a:ext cx="3023790" cy="207036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9446" name="Line 6"/>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71687" name="Rectangle 7"/>
          <p:cNvSpPr>
            <a:spLocks noChangeArrowheads="1"/>
          </p:cNvSpPr>
          <p:nvPr/>
        </p:nvSpPr>
        <p:spPr bwMode="auto">
          <a:xfrm>
            <a:off x="2344738" y="404813"/>
            <a:ext cx="468312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algn="ctr" eaLnBrk="0" fontAlgn="auto" hangingPunct="0">
              <a:spcAft>
                <a:spcPts val="0"/>
              </a:spcAft>
              <a:defRPr/>
            </a:pPr>
            <a:r>
              <a:rPr lang="en-US" altLang="zh-CN" sz="2800" cap="all" spc="-60" dirty="0">
                <a:solidFill>
                  <a:srgbClr val="C00000"/>
                </a:solidFill>
                <a:latin typeface="+mj-lt"/>
                <a:ea typeface="+mj-ea"/>
                <a:cs typeface="+mj-cs"/>
              </a:rPr>
              <a:t>Elements of lattice</a:t>
            </a:r>
          </a:p>
        </p:txBody>
      </p:sp>
      <p:sp>
        <p:nvSpPr>
          <p:cNvPr id="2" name="Rectangle 1"/>
          <p:cNvSpPr/>
          <p:nvPr/>
        </p:nvSpPr>
        <p:spPr>
          <a:xfrm>
            <a:off x="282575" y="1628775"/>
            <a:ext cx="2324100" cy="954088"/>
          </a:xfrm>
          <a:prstGeom prst="rect">
            <a:avLst/>
          </a:prstGeom>
        </p:spPr>
        <p:txBody>
          <a:bodyPr wrap="none">
            <a:spAutoFit/>
          </a:bodyPr>
          <a:lstStyle/>
          <a:p>
            <a:pPr>
              <a:defRPr/>
            </a:pPr>
            <a:r>
              <a:rPr lang="en-US" altLang="zh-CN" sz="2800" b="1" dirty="0">
                <a:latin typeface="+mn-lt"/>
              </a:rPr>
              <a:t>Net distance</a:t>
            </a:r>
          </a:p>
          <a:p>
            <a:pPr>
              <a:defRPr/>
            </a:pPr>
            <a:r>
              <a:rPr lang="en-US" altLang="zh-CN" sz="2800" b="1" dirty="0">
                <a:latin typeface="+mn-lt"/>
              </a:rPr>
              <a:t>Net density</a:t>
            </a:r>
            <a:endParaRPr lang="en-US" sz="2800" b="1" dirty="0">
              <a:latin typeface="+mn-lt"/>
            </a:endParaRPr>
          </a:p>
        </p:txBody>
      </p:sp>
      <p:pic>
        <p:nvPicPr>
          <p:cNvPr id="3" name="Picture 7" descr="面网">
            <a:extLst>
              <a:ext uri="{FF2B5EF4-FFF2-40B4-BE49-F238E27FC236}">
                <a16:creationId xmlns:a16="http://schemas.microsoft.com/office/drawing/2014/main" id="{338E5DCF-2910-4BDE-87E7-6B401FAD4055}"/>
              </a:ext>
            </a:extLst>
          </p:cNvP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2160" y="1849350"/>
            <a:ext cx="2494409" cy="1870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Line 4"/>
          <p:cNvSpPr>
            <a:spLocks noChangeShapeType="1"/>
          </p:cNvSpPr>
          <p:nvPr/>
        </p:nvSpPr>
        <p:spPr bwMode="auto">
          <a:xfrm>
            <a:off x="6437313" y="3763963"/>
            <a:ext cx="1081087" cy="0"/>
          </a:xfrm>
          <a:prstGeom prst="line">
            <a:avLst/>
          </a:prstGeom>
          <a:noFill/>
          <a:ln w="28575">
            <a:solidFill>
              <a:srgbClr val="339966"/>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67" name="Line 5"/>
          <p:cNvSpPr>
            <a:spLocks noChangeShapeType="1"/>
          </p:cNvSpPr>
          <p:nvPr/>
        </p:nvSpPr>
        <p:spPr bwMode="auto">
          <a:xfrm>
            <a:off x="6005513" y="4195763"/>
            <a:ext cx="1081087" cy="0"/>
          </a:xfrm>
          <a:prstGeom prst="line">
            <a:avLst/>
          </a:prstGeom>
          <a:noFill/>
          <a:ln w="28575">
            <a:solidFill>
              <a:srgbClr val="339966"/>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68" name="Line 6"/>
          <p:cNvSpPr>
            <a:spLocks noChangeShapeType="1"/>
          </p:cNvSpPr>
          <p:nvPr/>
        </p:nvSpPr>
        <p:spPr bwMode="auto">
          <a:xfrm>
            <a:off x="5645150" y="5275263"/>
            <a:ext cx="1081088" cy="0"/>
          </a:xfrm>
          <a:prstGeom prst="line">
            <a:avLst/>
          </a:prstGeom>
          <a:noFill/>
          <a:ln w="28575">
            <a:solidFill>
              <a:srgbClr val="339966"/>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69" name="Line 7"/>
          <p:cNvSpPr>
            <a:spLocks noChangeShapeType="1"/>
          </p:cNvSpPr>
          <p:nvPr/>
        </p:nvSpPr>
        <p:spPr bwMode="auto">
          <a:xfrm>
            <a:off x="6078538" y="4843463"/>
            <a:ext cx="1081087" cy="0"/>
          </a:xfrm>
          <a:prstGeom prst="line">
            <a:avLst/>
          </a:prstGeom>
          <a:noFill/>
          <a:ln w="28575">
            <a:solidFill>
              <a:srgbClr val="339966"/>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70" name="Line 8"/>
          <p:cNvSpPr>
            <a:spLocks noChangeShapeType="1"/>
          </p:cNvSpPr>
          <p:nvPr/>
        </p:nvSpPr>
        <p:spPr bwMode="auto">
          <a:xfrm flipH="1">
            <a:off x="6005513" y="3763963"/>
            <a:ext cx="431800" cy="431800"/>
          </a:xfrm>
          <a:prstGeom prst="line">
            <a:avLst/>
          </a:prstGeom>
          <a:noFill/>
          <a:ln w="28575">
            <a:solidFill>
              <a:srgbClr val="339966"/>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71" name="Line 9"/>
          <p:cNvSpPr>
            <a:spLocks noChangeShapeType="1"/>
          </p:cNvSpPr>
          <p:nvPr/>
        </p:nvSpPr>
        <p:spPr bwMode="auto">
          <a:xfrm flipH="1">
            <a:off x="7086600" y="3763963"/>
            <a:ext cx="431800" cy="431800"/>
          </a:xfrm>
          <a:prstGeom prst="line">
            <a:avLst/>
          </a:prstGeom>
          <a:noFill/>
          <a:ln w="28575">
            <a:solidFill>
              <a:srgbClr val="339966"/>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72" name="Line 10"/>
          <p:cNvSpPr>
            <a:spLocks noChangeShapeType="1"/>
          </p:cNvSpPr>
          <p:nvPr/>
        </p:nvSpPr>
        <p:spPr bwMode="auto">
          <a:xfrm flipH="1">
            <a:off x="5645150" y="4843463"/>
            <a:ext cx="431800" cy="431800"/>
          </a:xfrm>
          <a:prstGeom prst="line">
            <a:avLst/>
          </a:prstGeom>
          <a:noFill/>
          <a:ln w="28575">
            <a:solidFill>
              <a:srgbClr val="339966"/>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73" name="Line 11"/>
          <p:cNvSpPr>
            <a:spLocks noChangeShapeType="1"/>
          </p:cNvSpPr>
          <p:nvPr/>
        </p:nvSpPr>
        <p:spPr bwMode="auto">
          <a:xfrm flipH="1">
            <a:off x="6726238" y="4843463"/>
            <a:ext cx="431800" cy="431800"/>
          </a:xfrm>
          <a:prstGeom prst="line">
            <a:avLst/>
          </a:prstGeom>
          <a:noFill/>
          <a:ln w="28575">
            <a:solidFill>
              <a:srgbClr val="339966"/>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74" name="Line 12"/>
          <p:cNvSpPr>
            <a:spLocks noChangeShapeType="1"/>
          </p:cNvSpPr>
          <p:nvPr/>
        </p:nvSpPr>
        <p:spPr bwMode="auto">
          <a:xfrm flipH="1">
            <a:off x="5645150" y="4195763"/>
            <a:ext cx="360363" cy="1079500"/>
          </a:xfrm>
          <a:prstGeom prst="line">
            <a:avLst/>
          </a:prstGeom>
          <a:noFill/>
          <a:ln w="28575">
            <a:solidFill>
              <a:srgbClr val="339966"/>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75" name="Line 13"/>
          <p:cNvSpPr>
            <a:spLocks noChangeShapeType="1"/>
          </p:cNvSpPr>
          <p:nvPr/>
        </p:nvSpPr>
        <p:spPr bwMode="auto">
          <a:xfrm flipH="1">
            <a:off x="6726238" y="4195763"/>
            <a:ext cx="360362" cy="1079500"/>
          </a:xfrm>
          <a:prstGeom prst="line">
            <a:avLst/>
          </a:prstGeom>
          <a:noFill/>
          <a:ln w="28575">
            <a:solidFill>
              <a:srgbClr val="339966"/>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76" name="Line 14"/>
          <p:cNvSpPr>
            <a:spLocks noChangeShapeType="1"/>
          </p:cNvSpPr>
          <p:nvPr/>
        </p:nvSpPr>
        <p:spPr bwMode="auto">
          <a:xfrm flipH="1">
            <a:off x="7158038" y="3763963"/>
            <a:ext cx="360362" cy="1079500"/>
          </a:xfrm>
          <a:prstGeom prst="line">
            <a:avLst/>
          </a:prstGeom>
          <a:noFill/>
          <a:ln w="28575">
            <a:solidFill>
              <a:srgbClr val="339966"/>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77" name="Line 15"/>
          <p:cNvSpPr>
            <a:spLocks noChangeShapeType="1"/>
          </p:cNvSpPr>
          <p:nvPr/>
        </p:nvSpPr>
        <p:spPr bwMode="auto">
          <a:xfrm flipH="1">
            <a:off x="6078538" y="3763963"/>
            <a:ext cx="360362" cy="1079500"/>
          </a:xfrm>
          <a:prstGeom prst="line">
            <a:avLst/>
          </a:prstGeom>
          <a:noFill/>
          <a:ln w="28575">
            <a:solidFill>
              <a:srgbClr val="339966"/>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0478" name="Arc 16"/>
          <p:cNvSpPr/>
          <p:nvPr/>
        </p:nvSpPr>
        <p:spPr bwMode="auto">
          <a:xfrm>
            <a:off x="6221413" y="4556125"/>
            <a:ext cx="276225" cy="360363"/>
          </a:xfrm>
          <a:custGeom>
            <a:avLst/>
            <a:gdLst>
              <a:gd name="T0" fmla="*/ 0 w 20729"/>
              <a:gd name="T1" fmla="*/ 0 h 21600"/>
              <a:gd name="T2" fmla="*/ 2147483647 w 20729"/>
              <a:gd name="T3" fmla="*/ 2147483647 h 21600"/>
              <a:gd name="T4" fmla="*/ 0 w 20729"/>
              <a:gd name="T5" fmla="*/ 2147483647 h 21600"/>
              <a:gd name="T6" fmla="*/ 0 60000 65536"/>
              <a:gd name="T7" fmla="*/ 0 60000 65536"/>
              <a:gd name="T8" fmla="*/ 0 60000 65536"/>
            </a:gdLst>
            <a:ahLst/>
            <a:cxnLst>
              <a:cxn ang="T6">
                <a:pos x="T0" y="T1"/>
              </a:cxn>
              <a:cxn ang="T7">
                <a:pos x="T2" y="T3"/>
              </a:cxn>
              <a:cxn ang="T8">
                <a:pos x="T4" y="T5"/>
              </a:cxn>
            </a:cxnLst>
            <a:rect l="0" t="0" r="r" b="b"/>
            <a:pathLst>
              <a:path w="20729" h="21600" fill="none" extrusionOk="0">
                <a:moveTo>
                  <a:pt x="-1" y="0"/>
                </a:moveTo>
                <a:cubicBezTo>
                  <a:pt x="9591" y="0"/>
                  <a:pt x="18033" y="6324"/>
                  <a:pt x="20729" y="15528"/>
                </a:cubicBezTo>
              </a:path>
              <a:path w="20729" h="21600" stroke="0" extrusionOk="0">
                <a:moveTo>
                  <a:pt x="-1" y="0"/>
                </a:moveTo>
                <a:cubicBezTo>
                  <a:pt x="9591" y="0"/>
                  <a:pt x="18033" y="6324"/>
                  <a:pt x="20729" y="15528"/>
                </a:cubicBezTo>
                <a:lnTo>
                  <a:pt x="0" y="21600"/>
                </a:lnTo>
                <a:lnTo>
                  <a:pt x="-1" y="0"/>
                </a:lnTo>
                <a:close/>
              </a:path>
            </a:pathLst>
          </a:custGeom>
          <a:noFill/>
          <a:ln w="9525">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79" name="Arc 17"/>
          <p:cNvSpPr/>
          <p:nvPr/>
        </p:nvSpPr>
        <p:spPr bwMode="auto">
          <a:xfrm rot="6513492">
            <a:off x="6014244" y="4618832"/>
            <a:ext cx="479425" cy="496887"/>
          </a:xfrm>
          <a:custGeom>
            <a:avLst/>
            <a:gdLst>
              <a:gd name="T0" fmla="*/ 2147483647 w 21600"/>
              <a:gd name="T1" fmla="*/ 0 h 29792"/>
              <a:gd name="T2" fmla="*/ 2147483647 w 21600"/>
              <a:gd name="T3" fmla="*/ 2147483647 h 29792"/>
              <a:gd name="T4" fmla="*/ 0 w 21600"/>
              <a:gd name="T5" fmla="*/ 2147483647 h 29792"/>
              <a:gd name="T6" fmla="*/ 0 60000 65536"/>
              <a:gd name="T7" fmla="*/ 0 60000 65536"/>
              <a:gd name="T8" fmla="*/ 0 60000 65536"/>
              <a:gd name="T9" fmla="*/ 0 w 21600"/>
              <a:gd name="T10" fmla="*/ 0 h 29792"/>
              <a:gd name="T11" fmla="*/ 21600 w 21600"/>
              <a:gd name="T12" fmla="*/ 29792 h 29792"/>
            </a:gdLst>
            <a:ahLst/>
            <a:cxnLst>
              <a:cxn ang="T6">
                <a:pos x="T0" y="T1"/>
              </a:cxn>
              <a:cxn ang="T7">
                <a:pos x="T2" y="T3"/>
              </a:cxn>
              <a:cxn ang="T8">
                <a:pos x="T4" y="T5"/>
              </a:cxn>
            </a:cxnLst>
            <a:rect l="T9" t="T10" r="T11" b="T12"/>
            <a:pathLst>
              <a:path w="21600" h="29792" fill="none" extrusionOk="0">
                <a:moveTo>
                  <a:pt x="10360" y="0"/>
                </a:moveTo>
                <a:cubicBezTo>
                  <a:pt x="17290" y="3788"/>
                  <a:pt x="21600" y="11055"/>
                  <a:pt x="21600" y="18953"/>
                </a:cubicBezTo>
                <a:cubicBezTo>
                  <a:pt x="21600" y="22759"/>
                  <a:pt x="20593" y="26499"/>
                  <a:pt x="18683" y="29792"/>
                </a:cubicBezTo>
              </a:path>
              <a:path w="21600" h="29792" stroke="0" extrusionOk="0">
                <a:moveTo>
                  <a:pt x="10360" y="0"/>
                </a:moveTo>
                <a:cubicBezTo>
                  <a:pt x="17290" y="3788"/>
                  <a:pt x="21600" y="11055"/>
                  <a:pt x="21600" y="18953"/>
                </a:cubicBezTo>
                <a:cubicBezTo>
                  <a:pt x="21600" y="22759"/>
                  <a:pt x="20593" y="26499"/>
                  <a:pt x="18683" y="29792"/>
                </a:cubicBezTo>
                <a:lnTo>
                  <a:pt x="0" y="18953"/>
                </a:lnTo>
                <a:lnTo>
                  <a:pt x="10360" y="0"/>
                </a:lnTo>
                <a:close/>
              </a:path>
            </a:pathLst>
          </a:custGeom>
          <a:noFill/>
          <a:ln w="9525">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lang="en-US" altLang="zh-CN" sz="2400" b="0">
                <a:solidFill>
                  <a:srgbClr val="080808"/>
                </a:solidFill>
                <a:latin typeface="Arial Narrow" panose="020B0606020202030204" pitchFamily="34" charset="0"/>
                <a:ea typeface="宋体" panose="02010600030101010101" pitchFamily="2" charset="-122"/>
                <a:sym typeface="Symbol" panose="05050102010706020507" pitchFamily="18" charset="2"/>
              </a:rPr>
              <a:t></a:t>
            </a:r>
          </a:p>
        </p:txBody>
      </p:sp>
      <p:sp>
        <p:nvSpPr>
          <p:cNvPr id="190480" name="Arc 18"/>
          <p:cNvSpPr/>
          <p:nvPr/>
        </p:nvSpPr>
        <p:spPr bwMode="auto">
          <a:xfrm rot="-5926582">
            <a:off x="5803900" y="4548188"/>
            <a:ext cx="465137" cy="338138"/>
          </a:xfrm>
          <a:custGeom>
            <a:avLst/>
            <a:gdLst>
              <a:gd name="T0" fmla="*/ 0 w 24495"/>
              <a:gd name="T1" fmla="*/ 2147483647 h 21600"/>
              <a:gd name="T2" fmla="*/ 2147483647 w 24495"/>
              <a:gd name="T3" fmla="*/ 2147483647 h 21600"/>
              <a:gd name="T4" fmla="*/ 2147483647 w 24495"/>
              <a:gd name="T5" fmla="*/ 2147483647 h 21600"/>
              <a:gd name="T6" fmla="*/ 0 60000 65536"/>
              <a:gd name="T7" fmla="*/ 0 60000 65536"/>
              <a:gd name="T8" fmla="*/ 0 60000 65536"/>
            </a:gdLst>
            <a:ahLst/>
            <a:cxnLst>
              <a:cxn ang="T6">
                <a:pos x="T0" y="T1"/>
              </a:cxn>
              <a:cxn ang="T7">
                <a:pos x="T2" y="T3"/>
              </a:cxn>
              <a:cxn ang="T8">
                <a:pos x="T4" y="T5"/>
              </a:cxn>
            </a:cxnLst>
            <a:rect l="0" t="0" r="r" b="b"/>
            <a:pathLst>
              <a:path w="24495" h="21600" fill="none" extrusionOk="0">
                <a:moveTo>
                  <a:pt x="-1" y="194"/>
                </a:moveTo>
                <a:cubicBezTo>
                  <a:pt x="959" y="65"/>
                  <a:pt x="1926" y="-1"/>
                  <a:pt x="2895" y="0"/>
                </a:cubicBezTo>
                <a:cubicBezTo>
                  <a:pt x="14824" y="0"/>
                  <a:pt x="24495" y="9670"/>
                  <a:pt x="24495" y="21600"/>
                </a:cubicBezTo>
              </a:path>
              <a:path w="24495" h="21600" stroke="0" extrusionOk="0">
                <a:moveTo>
                  <a:pt x="-1" y="194"/>
                </a:moveTo>
                <a:cubicBezTo>
                  <a:pt x="959" y="65"/>
                  <a:pt x="1926" y="-1"/>
                  <a:pt x="2895" y="0"/>
                </a:cubicBezTo>
                <a:cubicBezTo>
                  <a:pt x="14824" y="0"/>
                  <a:pt x="24495" y="9670"/>
                  <a:pt x="24495" y="21600"/>
                </a:cubicBezTo>
                <a:lnTo>
                  <a:pt x="2895" y="21600"/>
                </a:lnTo>
                <a:lnTo>
                  <a:pt x="-1" y="194"/>
                </a:lnTo>
                <a:close/>
              </a:path>
            </a:pathLst>
          </a:custGeom>
          <a:noFill/>
          <a:ln w="9525">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81" name="Text Box 19"/>
          <p:cNvSpPr txBox="1">
            <a:spLocks noChangeArrowheads="1"/>
          </p:cNvSpPr>
          <p:nvPr/>
        </p:nvSpPr>
        <p:spPr bwMode="auto">
          <a:xfrm>
            <a:off x="5645150" y="4411663"/>
            <a:ext cx="36036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400" b="0">
                <a:solidFill>
                  <a:srgbClr val="080808"/>
                </a:solidFill>
                <a:latin typeface="Arial Narrow" panose="020B0606020202030204" pitchFamily="34" charset="0"/>
                <a:ea typeface="宋体" panose="02010600030101010101" pitchFamily="2" charset="-122"/>
                <a:sym typeface="Symbol" panose="05050102010706020507" pitchFamily="18" charset="2"/>
              </a:rPr>
              <a:t></a:t>
            </a:r>
          </a:p>
        </p:txBody>
      </p:sp>
      <p:sp>
        <p:nvSpPr>
          <p:cNvPr id="190482" name="Text Box 20"/>
          <p:cNvSpPr txBox="1">
            <a:spLocks noChangeArrowheads="1"/>
          </p:cNvSpPr>
          <p:nvPr/>
        </p:nvSpPr>
        <p:spPr bwMode="auto">
          <a:xfrm>
            <a:off x="6294438" y="4195763"/>
            <a:ext cx="5048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400" b="0">
                <a:solidFill>
                  <a:srgbClr val="080808"/>
                </a:solidFill>
                <a:latin typeface="Arial Narrow" panose="020B0606020202030204" pitchFamily="34" charset="0"/>
                <a:ea typeface="宋体" panose="02010600030101010101" pitchFamily="2" charset="-122"/>
                <a:sym typeface="Symbol" panose="05050102010706020507" pitchFamily="18" charset="2"/>
              </a:rPr>
              <a:t></a:t>
            </a:r>
          </a:p>
        </p:txBody>
      </p:sp>
      <p:sp>
        <p:nvSpPr>
          <p:cNvPr id="190483" name="Text Box 21"/>
          <p:cNvSpPr txBox="1">
            <a:spLocks noChangeArrowheads="1"/>
          </p:cNvSpPr>
          <p:nvPr/>
        </p:nvSpPr>
        <p:spPr bwMode="auto">
          <a:xfrm>
            <a:off x="6942138" y="5059363"/>
            <a:ext cx="2889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400" b="0">
                <a:solidFill>
                  <a:srgbClr val="080808"/>
                </a:solidFill>
                <a:latin typeface="Arial Narrow" panose="020B0606020202030204" pitchFamily="34" charset="0"/>
                <a:ea typeface="宋体" panose="02010600030101010101" pitchFamily="2" charset="-122"/>
              </a:rPr>
              <a:t>a</a:t>
            </a:r>
          </a:p>
        </p:txBody>
      </p:sp>
      <p:sp>
        <p:nvSpPr>
          <p:cNvPr id="190484" name="Text Box 22"/>
          <p:cNvSpPr txBox="1">
            <a:spLocks noChangeArrowheads="1"/>
          </p:cNvSpPr>
          <p:nvPr/>
        </p:nvSpPr>
        <p:spPr bwMode="auto">
          <a:xfrm>
            <a:off x="6149975" y="5348288"/>
            <a:ext cx="2889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400" b="0">
                <a:solidFill>
                  <a:srgbClr val="080808"/>
                </a:solidFill>
                <a:latin typeface="Arial Narrow" panose="020B0606020202030204" pitchFamily="34" charset="0"/>
                <a:ea typeface="宋体" panose="02010600030101010101" pitchFamily="2" charset="-122"/>
              </a:rPr>
              <a:t>b</a:t>
            </a:r>
          </a:p>
        </p:txBody>
      </p:sp>
      <p:sp>
        <p:nvSpPr>
          <p:cNvPr id="190485" name="Text Box 23"/>
          <p:cNvSpPr txBox="1">
            <a:spLocks noChangeArrowheads="1"/>
          </p:cNvSpPr>
          <p:nvPr/>
        </p:nvSpPr>
        <p:spPr bwMode="auto">
          <a:xfrm>
            <a:off x="6780213" y="4341813"/>
            <a:ext cx="2889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400" b="0">
                <a:solidFill>
                  <a:srgbClr val="080808"/>
                </a:solidFill>
                <a:latin typeface="Arial Narrow" panose="020B0606020202030204" pitchFamily="34" charset="0"/>
                <a:ea typeface="宋体" panose="02010600030101010101" pitchFamily="2" charset="-122"/>
              </a:rPr>
              <a:t>c</a:t>
            </a:r>
          </a:p>
        </p:txBody>
      </p:sp>
      <p:sp>
        <p:nvSpPr>
          <p:cNvPr id="190486" name="Line 33"/>
          <p:cNvSpPr>
            <a:spLocks noChangeShapeType="1"/>
          </p:cNvSpPr>
          <p:nvPr/>
        </p:nvSpPr>
        <p:spPr bwMode="auto">
          <a:xfrm flipH="1">
            <a:off x="6078538" y="3763963"/>
            <a:ext cx="360362" cy="1079500"/>
          </a:xfrm>
          <a:prstGeom prst="line">
            <a:avLst/>
          </a:prstGeom>
          <a:noFill/>
          <a:ln w="28575">
            <a:solidFill>
              <a:srgbClr val="339966"/>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90487" name="Picture 43" descr="空间格子"/>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55650" y="3038475"/>
            <a:ext cx="445770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4" name="Rectangle 2"/>
          <p:cNvSpPr>
            <a:spLocks noChangeArrowheads="1"/>
          </p:cNvSpPr>
          <p:nvPr/>
        </p:nvSpPr>
        <p:spPr bwMode="auto">
          <a:xfrm>
            <a:off x="900113" y="1196975"/>
            <a:ext cx="7632700"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lnSpc>
                <a:spcPct val="130000"/>
              </a:lnSpc>
              <a:spcBef>
                <a:spcPct val="0"/>
              </a:spcBef>
              <a:spcAft>
                <a:spcPct val="0"/>
              </a:spcAft>
              <a:buFontTx/>
              <a:buNone/>
              <a:defRPr/>
            </a:pPr>
            <a:r>
              <a:rPr lang="en-US" altLang="zh-CN" sz="2400" b="0" dirty="0">
                <a:solidFill>
                  <a:srgbClr val="FF0066"/>
                </a:solidFill>
                <a:latin typeface="+mn-lt"/>
              </a:rPr>
              <a:t>Unit cell</a:t>
            </a:r>
            <a:r>
              <a:rPr lang="zh-CN" altLang="en-US" sz="2400" b="0" dirty="0">
                <a:solidFill>
                  <a:srgbClr val="FF0066"/>
                </a:solidFill>
                <a:latin typeface="+mn-lt"/>
              </a:rPr>
              <a:t>（晶胞）</a:t>
            </a:r>
            <a:r>
              <a:rPr lang="en-US" altLang="zh-CN" sz="2400" b="0" dirty="0">
                <a:latin typeface="+mn-lt"/>
              </a:rPr>
              <a:t>:</a:t>
            </a:r>
            <a:r>
              <a:rPr lang="en-US" altLang="zh-CN" sz="2400" b="0" dirty="0">
                <a:latin typeface="+mn-lt"/>
                <a:ea typeface="宋体" panose="02010600030101010101" pitchFamily="2" charset="-122"/>
              </a:rPr>
              <a:t> the smallest unit formed by lattice points in 3D space </a:t>
            </a:r>
            <a:r>
              <a:rPr lang="en-US" altLang="zh-CN" sz="2400" dirty="0">
                <a:latin typeface="+mn-lt"/>
                <a:ea typeface="宋体" panose="02010600030101010101" pitchFamily="2" charset="-122"/>
              </a:rPr>
              <a:t>after considering symmetry</a:t>
            </a:r>
            <a:r>
              <a:rPr lang="en-US" altLang="zh-CN" sz="2400" b="0" dirty="0">
                <a:latin typeface="+mn-lt"/>
                <a:ea typeface="宋体" panose="02010600030101010101" pitchFamily="2" charset="-122"/>
              </a:rPr>
              <a:t>. </a:t>
            </a:r>
          </a:p>
          <a:p>
            <a:pPr eaLnBrk="1" hangingPunct="1">
              <a:lnSpc>
                <a:spcPct val="130000"/>
              </a:lnSpc>
              <a:spcBef>
                <a:spcPct val="0"/>
              </a:spcBef>
              <a:spcAft>
                <a:spcPct val="0"/>
              </a:spcAft>
              <a:buFontTx/>
              <a:buNone/>
              <a:defRPr/>
            </a:pPr>
            <a:r>
              <a:rPr lang="en-US" altLang="zh-CN" sz="2400" b="0" dirty="0">
                <a:solidFill>
                  <a:srgbClr val="FF0066"/>
                </a:solidFill>
                <a:latin typeface="+mn-lt"/>
                <a:ea typeface="宋体" panose="02010600030101010101" pitchFamily="2" charset="-122"/>
              </a:rPr>
              <a:t>Cell parameters/lattice parameters</a:t>
            </a:r>
            <a:r>
              <a:rPr lang="zh-CN" altLang="en-US" sz="2400" b="0" dirty="0">
                <a:solidFill>
                  <a:srgbClr val="FF0066"/>
                </a:solidFill>
                <a:latin typeface="+mn-lt"/>
                <a:ea typeface="宋体" panose="02010600030101010101" pitchFamily="2" charset="-122"/>
              </a:rPr>
              <a:t>（</a:t>
            </a:r>
            <a:r>
              <a:rPr lang="zh-CN" altLang="en-US" sz="2400" dirty="0">
                <a:solidFill>
                  <a:srgbClr val="FF0066"/>
                </a:solidFill>
                <a:latin typeface="+mn-lt"/>
                <a:ea typeface="宋体" panose="02010600030101010101" pitchFamily="2" charset="-122"/>
              </a:rPr>
              <a:t>晶胞参数</a:t>
            </a:r>
            <a:r>
              <a:rPr lang="zh-CN" altLang="en-US" sz="2400" b="0" dirty="0">
                <a:solidFill>
                  <a:srgbClr val="FF0066"/>
                </a:solidFill>
                <a:latin typeface="+mn-lt"/>
                <a:ea typeface="宋体" panose="02010600030101010101" pitchFamily="2" charset="-122"/>
              </a:rPr>
              <a:t>）</a:t>
            </a:r>
            <a:r>
              <a:rPr lang="en-US" altLang="zh-CN" sz="2400" b="0" dirty="0">
                <a:solidFill>
                  <a:srgbClr val="FF0066"/>
                </a:solidFill>
                <a:latin typeface="+mn-lt"/>
                <a:ea typeface="宋体" panose="02010600030101010101" pitchFamily="2" charset="-122"/>
              </a:rPr>
              <a:t>: </a:t>
            </a:r>
          </a:p>
          <a:p>
            <a:pPr eaLnBrk="1" hangingPunct="1">
              <a:lnSpc>
                <a:spcPct val="130000"/>
              </a:lnSpc>
              <a:spcBef>
                <a:spcPct val="0"/>
              </a:spcBef>
              <a:spcAft>
                <a:spcPct val="0"/>
              </a:spcAft>
              <a:buFontTx/>
              <a:buNone/>
              <a:defRPr/>
            </a:pPr>
            <a:r>
              <a:rPr lang="en-US" altLang="zh-CN" sz="2400" b="0" dirty="0">
                <a:solidFill>
                  <a:srgbClr val="00000C"/>
                </a:solidFill>
                <a:latin typeface="+mn-lt"/>
              </a:rPr>
              <a:t>a, b, c; α,β,γ ,also called axial lengths and axial angles</a:t>
            </a:r>
            <a:endParaRPr lang="zh-CN" altLang="en-US" sz="2400" b="0" dirty="0">
              <a:solidFill>
                <a:srgbClr val="00000C"/>
              </a:solidFill>
              <a:latin typeface="+mn-lt"/>
            </a:endParaRPr>
          </a:p>
        </p:txBody>
      </p:sp>
      <p:sp>
        <p:nvSpPr>
          <p:cNvPr id="190489" name="Line 2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72729" name="Rectangle 25"/>
          <p:cNvSpPr>
            <a:spLocks noChangeArrowheads="1"/>
          </p:cNvSpPr>
          <p:nvPr/>
        </p:nvSpPr>
        <p:spPr bwMode="auto">
          <a:xfrm>
            <a:off x="2205038" y="411163"/>
            <a:ext cx="4684712"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algn="ctr" eaLnBrk="0" fontAlgn="auto" hangingPunct="0">
              <a:spcAft>
                <a:spcPts val="0"/>
              </a:spcAft>
              <a:defRPr/>
            </a:pPr>
            <a:r>
              <a:rPr lang="en-US" altLang="zh-CN" sz="2800" cap="all" spc="-60" dirty="0">
                <a:solidFill>
                  <a:srgbClr val="C00000"/>
                </a:solidFill>
                <a:latin typeface="+mj-lt"/>
                <a:ea typeface="+mj-ea"/>
                <a:cs typeface="+mj-cs"/>
              </a:rPr>
              <a:t>Elements of lattice</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idx="1"/>
          </p:nvPr>
        </p:nvSpPr>
        <p:spPr>
          <a:xfrm>
            <a:off x="381000" y="1495425"/>
            <a:ext cx="8229600" cy="5029200"/>
          </a:xfrm>
        </p:spPr>
        <p:txBody>
          <a:bodyPr/>
          <a:lstStyle/>
          <a:p>
            <a:pPr eaLnBrk="1" hangingPunct="1">
              <a:buFont typeface="Monotype Sorts" pitchFamily="2" charset="2"/>
              <a:buNone/>
            </a:pPr>
            <a:r>
              <a:rPr lang="en-US" altLang="zh-CN" sz="2800" b="0">
                <a:solidFill>
                  <a:srgbClr val="00000C"/>
                </a:solidFill>
                <a:ea typeface="楷体_GB2312" pitchFamily="49" charset="-122"/>
              </a:rPr>
              <a:t>  Unit cells are always parallelepiped</a:t>
            </a:r>
            <a:r>
              <a:rPr lang="zh-CN" altLang="en-US" sz="2800" b="0">
                <a:solidFill>
                  <a:srgbClr val="00000C"/>
                </a:solidFill>
                <a:ea typeface="楷体_GB2312" pitchFamily="49" charset="-122"/>
              </a:rPr>
              <a:t>（</a:t>
            </a:r>
            <a:r>
              <a:rPr lang="zh-CN" altLang="en-US" sz="2800">
                <a:solidFill>
                  <a:srgbClr val="00000C"/>
                </a:solidFill>
                <a:ea typeface="楷体_GB2312" pitchFamily="49" charset="-122"/>
              </a:rPr>
              <a:t>平行六面体</a:t>
            </a:r>
            <a:r>
              <a:rPr lang="zh-CN" altLang="en-US" sz="2800" b="0">
                <a:solidFill>
                  <a:srgbClr val="00000C"/>
                </a:solidFill>
                <a:ea typeface="楷体_GB2312" pitchFamily="49" charset="-122"/>
              </a:rPr>
              <a:t>）</a:t>
            </a:r>
            <a:r>
              <a:rPr lang="en-US" altLang="zh-CN" sz="2800" b="0">
                <a:solidFill>
                  <a:srgbClr val="00000C"/>
                </a:solidFill>
                <a:ea typeface="楷体_GB2312" pitchFamily="49" charset="-122"/>
              </a:rPr>
              <a:t> in different shapes, which have various lattice parameters. </a:t>
            </a:r>
            <a:endParaRPr lang="zh-CN" altLang="en-US" sz="2800" b="0">
              <a:solidFill>
                <a:srgbClr val="00000C"/>
              </a:solidFill>
              <a:ea typeface="楷体_GB2312" pitchFamily="49" charset="-122"/>
            </a:endParaRPr>
          </a:p>
          <a:p>
            <a:pPr eaLnBrk="1" hangingPunct="1">
              <a:buFont typeface="Monotype Sorts" pitchFamily="2" charset="2"/>
              <a:buNone/>
            </a:pPr>
            <a:endParaRPr lang="zh-CN" altLang="en-US" sz="2800">
              <a:solidFill>
                <a:srgbClr val="00000C"/>
              </a:solidFill>
              <a:latin typeface="楷体_GB2312" pitchFamily="49" charset="-122"/>
              <a:ea typeface="楷体_GB2312" pitchFamily="49" charset="-122"/>
            </a:endParaRPr>
          </a:p>
          <a:p>
            <a:pPr eaLnBrk="1" hangingPunct="1">
              <a:buFont typeface="Monotype Sorts" pitchFamily="2" charset="2"/>
              <a:buNone/>
            </a:pPr>
            <a:endParaRPr lang="zh-CN" altLang="en-US" sz="2800">
              <a:solidFill>
                <a:srgbClr val="00000C"/>
              </a:solidFill>
              <a:latin typeface="楷体_GB2312" pitchFamily="49" charset="-122"/>
              <a:ea typeface="楷体_GB2312" pitchFamily="49" charset="-122"/>
            </a:endParaRPr>
          </a:p>
          <a:p>
            <a:pPr eaLnBrk="1" hangingPunct="1">
              <a:buFont typeface="Monotype Sorts" pitchFamily="2" charset="2"/>
              <a:buNone/>
            </a:pPr>
            <a:endParaRPr lang="zh-CN" altLang="en-US" sz="2800">
              <a:solidFill>
                <a:srgbClr val="00000C"/>
              </a:solidFill>
              <a:latin typeface="楷体_GB2312" pitchFamily="49" charset="-122"/>
              <a:ea typeface="楷体_GB2312" pitchFamily="49" charset="-122"/>
            </a:endParaRPr>
          </a:p>
          <a:p>
            <a:pPr eaLnBrk="1" hangingPunct="1">
              <a:buFont typeface="Monotype Sorts" pitchFamily="2" charset="2"/>
              <a:buNone/>
            </a:pPr>
            <a:endParaRPr lang="zh-CN" altLang="en-US" sz="2800">
              <a:solidFill>
                <a:srgbClr val="00000C"/>
              </a:solidFill>
              <a:latin typeface="楷体_GB2312" pitchFamily="49" charset="-122"/>
              <a:ea typeface="楷体_GB2312" pitchFamily="49" charset="-122"/>
            </a:endParaRPr>
          </a:p>
          <a:p>
            <a:pPr eaLnBrk="1" hangingPunct="1">
              <a:buFont typeface="Monotype Sorts" pitchFamily="2" charset="2"/>
              <a:buNone/>
            </a:pPr>
            <a:r>
              <a:rPr lang="zh-CN" altLang="en-US" sz="2800">
                <a:solidFill>
                  <a:srgbClr val="00000C"/>
                </a:solidFill>
                <a:latin typeface="楷体_GB2312" pitchFamily="49" charset="-122"/>
                <a:ea typeface="楷体_GB2312" pitchFamily="49" charset="-122"/>
              </a:rPr>
              <a:t> </a:t>
            </a:r>
            <a:r>
              <a:rPr lang="en-US" altLang="zh-CN" sz="2400" b="0">
                <a:solidFill>
                  <a:srgbClr val="00000C"/>
                </a:solidFill>
                <a:ea typeface="楷体_GB2312" pitchFamily="49" charset="-122"/>
              </a:rPr>
              <a:t>There are only seven kinds of parallelepipeds, which correspond to 7 sets of cell parameters and crystal systems</a:t>
            </a:r>
            <a:endParaRPr lang="zh-CN" altLang="en-US" sz="2400" b="0">
              <a:solidFill>
                <a:srgbClr val="00000C"/>
              </a:solidFill>
              <a:latin typeface="楷体_GB2312" pitchFamily="49" charset="-122"/>
              <a:ea typeface="楷体_GB2312" pitchFamily="49" charset="-122"/>
            </a:endParaRPr>
          </a:p>
        </p:txBody>
      </p:sp>
      <p:grpSp>
        <p:nvGrpSpPr>
          <p:cNvPr id="191491" name="Group 42"/>
          <p:cNvGrpSpPr/>
          <p:nvPr/>
        </p:nvGrpSpPr>
        <p:grpSpPr bwMode="auto">
          <a:xfrm>
            <a:off x="1122363" y="3213100"/>
            <a:ext cx="1001712" cy="1066800"/>
            <a:chOff x="521" y="1987"/>
            <a:chExt cx="631" cy="672"/>
          </a:xfrm>
        </p:grpSpPr>
        <p:sp>
          <p:nvSpPr>
            <p:cNvPr id="191524" name="Line 7"/>
            <p:cNvSpPr>
              <a:spLocks noChangeShapeType="1"/>
            </p:cNvSpPr>
            <p:nvPr/>
          </p:nvSpPr>
          <p:spPr bwMode="auto">
            <a:xfrm>
              <a:off x="1008" y="2275"/>
              <a:ext cx="0" cy="384"/>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91525" name="Group 41"/>
            <p:cNvGrpSpPr/>
            <p:nvPr/>
          </p:nvGrpSpPr>
          <p:grpSpPr bwMode="auto">
            <a:xfrm>
              <a:off x="521" y="1987"/>
              <a:ext cx="631" cy="672"/>
              <a:chOff x="521" y="1632"/>
              <a:chExt cx="631" cy="672"/>
            </a:xfrm>
          </p:grpSpPr>
          <p:sp>
            <p:nvSpPr>
              <p:cNvPr id="191526" name="Line 3"/>
              <p:cNvSpPr>
                <a:spLocks noChangeShapeType="1"/>
              </p:cNvSpPr>
              <p:nvPr/>
            </p:nvSpPr>
            <p:spPr bwMode="auto">
              <a:xfrm>
                <a:off x="672" y="1632"/>
                <a:ext cx="480" cy="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27" name="Line 4"/>
              <p:cNvSpPr>
                <a:spLocks noChangeShapeType="1"/>
              </p:cNvSpPr>
              <p:nvPr/>
            </p:nvSpPr>
            <p:spPr bwMode="auto">
              <a:xfrm>
                <a:off x="521" y="2296"/>
                <a:ext cx="480" cy="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28" name="Line 5"/>
              <p:cNvSpPr>
                <a:spLocks noChangeShapeType="1"/>
              </p:cNvSpPr>
              <p:nvPr/>
            </p:nvSpPr>
            <p:spPr bwMode="auto">
              <a:xfrm>
                <a:off x="528" y="1920"/>
                <a:ext cx="480" cy="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29" name="Line 6"/>
              <p:cNvSpPr>
                <a:spLocks noChangeShapeType="1"/>
              </p:cNvSpPr>
              <p:nvPr/>
            </p:nvSpPr>
            <p:spPr bwMode="auto">
              <a:xfrm>
                <a:off x="528" y="1920"/>
                <a:ext cx="0" cy="384"/>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30" name="Line 8"/>
              <p:cNvSpPr>
                <a:spLocks noChangeShapeType="1"/>
              </p:cNvSpPr>
              <p:nvPr/>
            </p:nvSpPr>
            <p:spPr bwMode="auto">
              <a:xfrm>
                <a:off x="1152" y="1632"/>
                <a:ext cx="0" cy="384"/>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31" name="Line 9"/>
              <p:cNvSpPr>
                <a:spLocks noChangeShapeType="1"/>
              </p:cNvSpPr>
              <p:nvPr/>
            </p:nvSpPr>
            <p:spPr bwMode="auto">
              <a:xfrm flipH="1">
                <a:off x="528" y="1632"/>
                <a:ext cx="144" cy="288"/>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32" name="Line 10"/>
              <p:cNvSpPr>
                <a:spLocks noChangeShapeType="1"/>
              </p:cNvSpPr>
              <p:nvPr/>
            </p:nvSpPr>
            <p:spPr bwMode="auto">
              <a:xfrm flipH="1">
                <a:off x="1008" y="1632"/>
                <a:ext cx="144" cy="288"/>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33" name="Line 11"/>
              <p:cNvSpPr>
                <a:spLocks noChangeShapeType="1"/>
              </p:cNvSpPr>
              <p:nvPr/>
            </p:nvSpPr>
            <p:spPr bwMode="auto">
              <a:xfrm flipH="1">
                <a:off x="1008" y="2016"/>
                <a:ext cx="144" cy="288"/>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191492" name="Group 48"/>
          <p:cNvGrpSpPr/>
          <p:nvPr/>
        </p:nvGrpSpPr>
        <p:grpSpPr bwMode="auto">
          <a:xfrm>
            <a:off x="4340225" y="3284538"/>
            <a:ext cx="1600200" cy="838200"/>
            <a:chOff x="2592" y="1536"/>
            <a:chExt cx="1008" cy="528"/>
          </a:xfrm>
        </p:grpSpPr>
        <p:sp>
          <p:nvSpPr>
            <p:cNvPr id="191515" name="Line 21"/>
            <p:cNvSpPr>
              <a:spLocks noChangeShapeType="1"/>
            </p:cNvSpPr>
            <p:nvPr/>
          </p:nvSpPr>
          <p:spPr bwMode="auto">
            <a:xfrm>
              <a:off x="2832" y="1536"/>
              <a:ext cx="768" cy="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16" name="Line 22"/>
            <p:cNvSpPr>
              <a:spLocks noChangeShapeType="1"/>
            </p:cNvSpPr>
            <p:nvPr/>
          </p:nvSpPr>
          <p:spPr bwMode="auto">
            <a:xfrm>
              <a:off x="2592" y="1872"/>
              <a:ext cx="768" cy="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17" name="Line 23"/>
            <p:cNvSpPr>
              <a:spLocks noChangeShapeType="1"/>
            </p:cNvSpPr>
            <p:nvPr/>
          </p:nvSpPr>
          <p:spPr bwMode="auto">
            <a:xfrm>
              <a:off x="2592" y="2064"/>
              <a:ext cx="768" cy="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18" name="Line 24"/>
            <p:cNvSpPr>
              <a:spLocks noChangeShapeType="1"/>
            </p:cNvSpPr>
            <p:nvPr/>
          </p:nvSpPr>
          <p:spPr bwMode="auto">
            <a:xfrm flipH="1">
              <a:off x="3360" y="1536"/>
              <a:ext cx="240" cy="336"/>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19" name="Line 25"/>
            <p:cNvSpPr>
              <a:spLocks noChangeShapeType="1"/>
            </p:cNvSpPr>
            <p:nvPr/>
          </p:nvSpPr>
          <p:spPr bwMode="auto">
            <a:xfrm flipH="1">
              <a:off x="2592" y="1536"/>
              <a:ext cx="240" cy="336"/>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20" name="Line 26"/>
            <p:cNvSpPr>
              <a:spLocks noChangeShapeType="1"/>
            </p:cNvSpPr>
            <p:nvPr/>
          </p:nvSpPr>
          <p:spPr bwMode="auto">
            <a:xfrm flipH="1">
              <a:off x="3360" y="1728"/>
              <a:ext cx="240" cy="336"/>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21" name="Line 27"/>
            <p:cNvSpPr>
              <a:spLocks noChangeShapeType="1"/>
            </p:cNvSpPr>
            <p:nvPr/>
          </p:nvSpPr>
          <p:spPr bwMode="auto">
            <a:xfrm>
              <a:off x="2592" y="1872"/>
              <a:ext cx="0" cy="192"/>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22" name="Line 28"/>
            <p:cNvSpPr>
              <a:spLocks noChangeShapeType="1"/>
            </p:cNvSpPr>
            <p:nvPr/>
          </p:nvSpPr>
          <p:spPr bwMode="auto">
            <a:xfrm>
              <a:off x="3600" y="1536"/>
              <a:ext cx="0" cy="192"/>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23" name="Line 29"/>
            <p:cNvSpPr>
              <a:spLocks noChangeShapeType="1"/>
            </p:cNvSpPr>
            <p:nvPr/>
          </p:nvSpPr>
          <p:spPr bwMode="auto">
            <a:xfrm>
              <a:off x="3360" y="1872"/>
              <a:ext cx="0" cy="192"/>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91493" name="Group 49"/>
          <p:cNvGrpSpPr/>
          <p:nvPr/>
        </p:nvGrpSpPr>
        <p:grpSpPr bwMode="auto">
          <a:xfrm>
            <a:off x="6705600" y="2924175"/>
            <a:ext cx="1143000" cy="1600200"/>
            <a:chOff x="4224" y="1584"/>
            <a:chExt cx="720" cy="1008"/>
          </a:xfrm>
        </p:grpSpPr>
        <p:sp>
          <p:nvSpPr>
            <p:cNvPr id="191506" name="Line 30"/>
            <p:cNvSpPr>
              <a:spLocks noChangeShapeType="1"/>
            </p:cNvSpPr>
            <p:nvPr/>
          </p:nvSpPr>
          <p:spPr bwMode="auto">
            <a:xfrm>
              <a:off x="4320" y="1584"/>
              <a:ext cx="528" cy="192"/>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07" name="Line 31"/>
            <p:cNvSpPr>
              <a:spLocks noChangeShapeType="1"/>
            </p:cNvSpPr>
            <p:nvPr/>
          </p:nvSpPr>
          <p:spPr bwMode="auto">
            <a:xfrm>
              <a:off x="4320" y="2400"/>
              <a:ext cx="528" cy="192"/>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08" name="Line 32"/>
            <p:cNvSpPr>
              <a:spLocks noChangeShapeType="1"/>
            </p:cNvSpPr>
            <p:nvPr/>
          </p:nvSpPr>
          <p:spPr bwMode="auto">
            <a:xfrm>
              <a:off x="4224" y="2064"/>
              <a:ext cx="528" cy="192"/>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09" name="Line 33"/>
            <p:cNvSpPr>
              <a:spLocks noChangeShapeType="1"/>
            </p:cNvSpPr>
            <p:nvPr/>
          </p:nvSpPr>
          <p:spPr bwMode="auto">
            <a:xfrm flipH="1">
              <a:off x="4224" y="1584"/>
              <a:ext cx="96" cy="48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10" name="Line 34"/>
            <p:cNvSpPr>
              <a:spLocks noChangeShapeType="1"/>
            </p:cNvSpPr>
            <p:nvPr/>
          </p:nvSpPr>
          <p:spPr bwMode="auto">
            <a:xfrm flipH="1">
              <a:off x="4848" y="2112"/>
              <a:ext cx="96" cy="48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11" name="Line 35"/>
            <p:cNvSpPr>
              <a:spLocks noChangeShapeType="1"/>
            </p:cNvSpPr>
            <p:nvPr/>
          </p:nvSpPr>
          <p:spPr bwMode="auto">
            <a:xfrm flipH="1">
              <a:off x="4752" y="1776"/>
              <a:ext cx="96" cy="48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12" name="Line 36"/>
            <p:cNvSpPr>
              <a:spLocks noChangeShapeType="1"/>
            </p:cNvSpPr>
            <p:nvPr/>
          </p:nvSpPr>
          <p:spPr bwMode="auto">
            <a:xfrm>
              <a:off x="4224" y="2064"/>
              <a:ext cx="96" cy="336"/>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13" name="Line 37"/>
            <p:cNvSpPr>
              <a:spLocks noChangeShapeType="1"/>
            </p:cNvSpPr>
            <p:nvPr/>
          </p:nvSpPr>
          <p:spPr bwMode="auto">
            <a:xfrm>
              <a:off x="4848" y="1776"/>
              <a:ext cx="96" cy="336"/>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14" name="Line 38"/>
            <p:cNvSpPr>
              <a:spLocks noChangeShapeType="1"/>
            </p:cNvSpPr>
            <p:nvPr/>
          </p:nvSpPr>
          <p:spPr bwMode="auto">
            <a:xfrm>
              <a:off x="4752" y="2256"/>
              <a:ext cx="96" cy="336"/>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91494" name="Line 39"/>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73768" name="Rectangle 40"/>
          <p:cNvSpPr>
            <a:spLocks noChangeArrowheads="1"/>
          </p:cNvSpPr>
          <p:nvPr/>
        </p:nvSpPr>
        <p:spPr bwMode="auto">
          <a:xfrm>
            <a:off x="2392363" y="333375"/>
            <a:ext cx="468312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algn="ctr" eaLnBrk="0" fontAlgn="auto" hangingPunct="0">
              <a:spcAft>
                <a:spcPts val="0"/>
              </a:spcAft>
              <a:defRPr/>
            </a:pPr>
            <a:r>
              <a:rPr lang="en-US" altLang="zh-CN" sz="2800" cap="all" spc="-60" dirty="0">
                <a:solidFill>
                  <a:srgbClr val="C00000"/>
                </a:solidFill>
                <a:latin typeface="+mj-lt"/>
                <a:ea typeface="+mj-ea"/>
                <a:cs typeface="+mj-cs"/>
              </a:rPr>
              <a:t>Elements of lattice</a:t>
            </a:r>
          </a:p>
        </p:txBody>
      </p:sp>
      <p:grpSp>
        <p:nvGrpSpPr>
          <p:cNvPr id="191496" name="Group 47"/>
          <p:cNvGrpSpPr/>
          <p:nvPr/>
        </p:nvGrpSpPr>
        <p:grpSpPr bwMode="auto">
          <a:xfrm>
            <a:off x="2700338" y="2852738"/>
            <a:ext cx="998537" cy="1833562"/>
            <a:chOff x="1488" y="1389"/>
            <a:chExt cx="629" cy="1155"/>
          </a:xfrm>
        </p:grpSpPr>
        <p:sp>
          <p:nvSpPr>
            <p:cNvPr id="191497" name="Line 14"/>
            <p:cNvSpPr>
              <a:spLocks noChangeShapeType="1"/>
            </p:cNvSpPr>
            <p:nvPr/>
          </p:nvSpPr>
          <p:spPr bwMode="auto">
            <a:xfrm>
              <a:off x="1488" y="2544"/>
              <a:ext cx="480" cy="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498" name="Line 17"/>
            <p:cNvSpPr>
              <a:spLocks noChangeShapeType="1"/>
            </p:cNvSpPr>
            <p:nvPr/>
          </p:nvSpPr>
          <p:spPr bwMode="auto">
            <a:xfrm flipH="1">
              <a:off x="1968" y="2256"/>
              <a:ext cx="144" cy="288"/>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499" name="Line 18"/>
            <p:cNvSpPr>
              <a:spLocks noChangeShapeType="1"/>
            </p:cNvSpPr>
            <p:nvPr/>
          </p:nvSpPr>
          <p:spPr bwMode="auto">
            <a:xfrm>
              <a:off x="1968" y="1680"/>
              <a:ext cx="0" cy="864"/>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00" name="Line 19"/>
            <p:cNvSpPr>
              <a:spLocks noChangeShapeType="1"/>
            </p:cNvSpPr>
            <p:nvPr/>
          </p:nvSpPr>
          <p:spPr bwMode="auto">
            <a:xfrm>
              <a:off x="1488" y="1680"/>
              <a:ext cx="0" cy="864"/>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01" name="Line 20"/>
            <p:cNvSpPr>
              <a:spLocks noChangeShapeType="1"/>
            </p:cNvSpPr>
            <p:nvPr/>
          </p:nvSpPr>
          <p:spPr bwMode="auto">
            <a:xfrm>
              <a:off x="2112" y="1392"/>
              <a:ext cx="0" cy="864"/>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02" name="Line 43"/>
            <p:cNvSpPr>
              <a:spLocks noChangeShapeType="1"/>
            </p:cNvSpPr>
            <p:nvPr/>
          </p:nvSpPr>
          <p:spPr bwMode="auto">
            <a:xfrm>
              <a:off x="1637" y="1389"/>
              <a:ext cx="480" cy="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03" name="Line 44"/>
            <p:cNvSpPr>
              <a:spLocks noChangeShapeType="1"/>
            </p:cNvSpPr>
            <p:nvPr/>
          </p:nvSpPr>
          <p:spPr bwMode="auto">
            <a:xfrm>
              <a:off x="1493" y="1677"/>
              <a:ext cx="480" cy="0"/>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04" name="Line 45"/>
            <p:cNvSpPr>
              <a:spLocks noChangeShapeType="1"/>
            </p:cNvSpPr>
            <p:nvPr/>
          </p:nvSpPr>
          <p:spPr bwMode="auto">
            <a:xfrm flipH="1">
              <a:off x="1493" y="1389"/>
              <a:ext cx="144" cy="288"/>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1505" name="Line 46"/>
            <p:cNvSpPr>
              <a:spLocks noChangeShapeType="1"/>
            </p:cNvSpPr>
            <p:nvPr/>
          </p:nvSpPr>
          <p:spPr bwMode="auto">
            <a:xfrm flipH="1">
              <a:off x="1973" y="1389"/>
              <a:ext cx="144" cy="288"/>
            </a:xfrm>
            <a:prstGeom prst="line">
              <a:avLst/>
            </a:prstGeom>
            <a:noFill/>
            <a:ln w="28575">
              <a:solidFill>
                <a:srgbClr val="00000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939800" y="581025"/>
            <a:ext cx="7264400" cy="5238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Aft>
                <a:spcPts val="0"/>
              </a:spcAft>
              <a:defRPr/>
            </a:pPr>
            <a:r>
              <a:rPr kumimoji="1" lang="en-US" altLang="zh-CN" sz="2800" dirty="0">
                <a:solidFill>
                  <a:srgbClr val="C00000"/>
                </a:solidFill>
              </a:rPr>
              <a:t>The basic laws of space lattice</a:t>
            </a:r>
            <a:endParaRPr kumimoji="1" lang="zh-CN" altLang="en-US" sz="2800" dirty="0">
              <a:solidFill>
                <a:srgbClr val="C00000"/>
              </a:solidFill>
            </a:endParaRPr>
          </a:p>
        </p:txBody>
      </p:sp>
      <p:sp>
        <p:nvSpPr>
          <p:cNvPr id="50179" name="Rectangle 3"/>
          <p:cNvSpPr>
            <a:spLocks noGrp="1" noChangeArrowheads="1"/>
          </p:cNvSpPr>
          <p:nvPr>
            <p:ph sz="half" idx="1"/>
          </p:nvPr>
        </p:nvSpPr>
        <p:spPr>
          <a:xfrm>
            <a:off x="468313" y="1368425"/>
            <a:ext cx="8229600" cy="5156200"/>
          </a:xfrm>
        </p:spPr>
        <p:txBody>
          <a:bodyPr rtlCol="0">
            <a:normAutofit fontScale="92500" lnSpcReduction="20000"/>
          </a:bodyPr>
          <a:lstStyle/>
          <a:p>
            <a:pPr algn="just" eaLnBrk="1" fontAlgn="auto" hangingPunct="1">
              <a:lnSpc>
                <a:spcPct val="120000"/>
              </a:lnSpc>
              <a:buFont typeface="Wingdings" panose="05000000000000000000" pitchFamily="2" charset="2"/>
              <a:buChar char="q"/>
              <a:defRPr/>
            </a:pPr>
            <a:r>
              <a:rPr lang="en-US" altLang="zh-CN" sz="2200" b="0" dirty="0"/>
              <a:t> The</a:t>
            </a:r>
            <a:r>
              <a:rPr lang="zh-CN" altLang="en-US" sz="2200" b="0" dirty="0"/>
              <a:t> </a:t>
            </a:r>
            <a:r>
              <a:rPr lang="en-US" altLang="zh-CN" sz="2200" b="0" dirty="0"/>
              <a:t>nodes/lattice points distributed in the same lines form a row. In a space lattice, there can be many rows in different directions. The parallel rows must have the same spacing; the </a:t>
            </a:r>
            <a:r>
              <a:rPr lang="en-US" altLang="zh-CN" sz="2200" b="0" dirty="0" err="1"/>
              <a:t>unparallel</a:t>
            </a:r>
            <a:r>
              <a:rPr lang="en-US" altLang="zh-CN" sz="2200" b="0" dirty="0"/>
              <a:t> rows are generally different in their spacing</a:t>
            </a:r>
            <a:r>
              <a:rPr lang="zh-CN" altLang="en-US" sz="2200" b="0" dirty="0"/>
              <a:t>；</a:t>
            </a:r>
            <a:endParaRPr lang="en-US" altLang="zh-CN" sz="2200" b="0" dirty="0"/>
          </a:p>
          <a:p>
            <a:pPr algn="just" eaLnBrk="1" fontAlgn="auto" hangingPunct="1">
              <a:lnSpc>
                <a:spcPct val="120000"/>
              </a:lnSpc>
              <a:buFont typeface="Wingdings" panose="05000000000000000000" pitchFamily="2" charset="2"/>
              <a:buChar char="q"/>
              <a:defRPr/>
            </a:pPr>
            <a:r>
              <a:rPr lang="en-US" altLang="zh-CN" sz="2200" b="0" dirty="0"/>
              <a:t> The nodes that are connected together in the same plane form a net. In a space lattice, there can be infinite nets in different directions, but the spacing and the density of the parallel planes must be equal;</a:t>
            </a:r>
          </a:p>
          <a:p>
            <a:pPr eaLnBrk="1" fontAlgn="auto" hangingPunct="1">
              <a:lnSpc>
                <a:spcPct val="120000"/>
              </a:lnSpc>
              <a:buFont typeface="Wingdings" panose="05000000000000000000" pitchFamily="2" charset="2"/>
              <a:buChar char="q"/>
              <a:defRPr/>
            </a:pPr>
            <a:r>
              <a:rPr lang="en-US" altLang="zh-CN" sz="2200" b="0" dirty="0"/>
              <a:t> The nodes connected in the three-dimensional space form a space lattice. The space lattice can divided as a series of parallel parallelepipeds by three sets of parallel rows with the nodes are distributed on the top of their corners. </a:t>
            </a:r>
          </a:p>
          <a:p>
            <a:pPr eaLnBrk="1" fontAlgn="auto" hangingPunct="1">
              <a:lnSpc>
                <a:spcPct val="120000"/>
              </a:lnSpc>
              <a:buFont typeface="Wingdings" panose="05000000000000000000" pitchFamily="2" charset="2"/>
              <a:buChar char="q"/>
              <a:defRPr/>
            </a:pPr>
            <a:r>
              <a:rPr lang="en-US" altLang="zh-CN" sz="2200" b="0" dirty="0"/>
              <a:t> The size and shape of a parallelepiped can be expressed by node </a:t>
            </a:r>
            <a:r>
              <a:rPr lang="en-US" altLang="zh-CN" sz="2200" b="0" dirty="0" err="1"/>
              <a:t>spacings</a:t>
            </a:r>
            <a:r>
              <a:rPr lang="en-US" altLang="zh-CN" sz="2200" b="0" dirty="0"/>
              <a:t> of a, b, c and their intersection </a:t>
            </a:r>
            <a:r>
              <a:rPr lang="en-US" altLang="zh-CN" sz="2200" b="0" i="1" dirty="0">
                <a:latin typeface="Symbol" panose="05050102010706020507" pitchFamily="18" charset="2"/>
              </a:rPr>
              <a:t>a</a:t>
            </a:r>
            <a:r>
              <a:rPr lang="zh-CN" altLang="en-US" sz="2200" b="0" dirty="0">
                <a:latin typeface="Symbol" panose="05050102010706020507" pitchFamily="18" charset="2"/>
              </a:rPr>
              <a:t>、</a:t>
            </a:r>
            <a:r>
              <a:rPr lang="en-US" altLang="zh-CN" sz="2200" b="0" i="1" dirty="0">
                <a:latin typeface="Symbol" panose="05050102010706020507" pitchFamily="18" charset="2"/>
              </a:rPr>
              <a:t>b</a:t>
            </a:r>
            <a:r>
              <a:rPr lang="zh-CN" altLang="en-US" sz="2200" b="0" dirty="0">
                <a:latin typeface="Symbol" panose="05050102010706020507" pitchFamily="18" charset="2"/>
              </a:rPr>
              <a:t>、</a:t>
            </a:r>
            <a:r>
              <a:rPr lang="en-US" altLang="zh-CN" sz="2200" b="0" i="1" dirty="0">
                <a:latin typeface="Symbol" panose="05050102010706020507" pitchFamily="18" charset="2"/>
              </a:rPr>
              <a:t>g</a:t>
            </a:r>
            <a:r>
              <a:rPr lang="en-US" altLang="zh-CN" sz="2200" b="0" dirty="0"/>
              <a:t>. They are called lattice parameters or cell parameters.</a:t>
            </a:r>
          </a:p>
        </p:txBody>
      </p:sp>
      <p:sp>
        <p:nvSpPr>
          <p:cNvPr id="192516"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339975" y="274638"/>
            <a:ext cx="4140200" cy="490537"/>
          </a:xfrm>
        </p:spPr>
        <p:txBody>
          <a:bodyPr>
            <a:normAutofit fontScale="90000"/>
          </a:bodyPr>
          <a:lstStyle/>
          <a:p>
            <a:pPr eaLnBrk="1" fontAlgn="auto" hangingPunct="1">
              <a:spcAft>
                <a:spcPts val="0"/>
              </a:spcAft>
              <a:defRPr/>
            </a:pPr>
            <a:r>
              <a:rPr lang="en-US" altLang="zh-CN" sz="2800" dirty="0">
                <a:solidFill>
                  <a:srgbClr val="3333FF"/>
                </a:solidFill>
              </a:rPr>
              <a:t> </a:t>
            </a:r>
            <a:endParaRPr lang="en-US" altLang="zh-CN" sz="2800" b="1" dirty="0">
              <a:solidFill>
                <a:srgbClr val="3333FF"/>
              </a:solidFill>
            </a:endParaRPr>
          </a:p>
        </p:txBody>
      </p:sp>
      <p:sp>
        <p:nvSpPr>
          <p:cNvPr id="194563" name="Rectangle 3"/>
          <p:cNvSpPr>
            <a:spLocks noGrp="1" noChangeArrowheads="1"/>
          </p:cNvSpPr>
          <p:nvPr>
            <p:ph type="body" idx="1"/>
          </p:nvPr>
        </p:nvSpPr>
        <p:spPr>
          <a:xfrm>
            <a:off x="395288" y="1268413"/>
            <a:ext cx="5329237" cy="2736850"/>
          </a:xfrm>
        </p:spPr>
        <p:txBody>
          <a:bodyPr/>
          <a:lstStyle/>
          <a:p>
            <a:pPr eaLnBrk="1" hangingPunct="1">
              <a:lnSpc>
                <a:spcPct val="120000"/>
              </a:lnSpc>
              <a:spcBef>
                <a:spcPct val="0"/>
              </a:spcBef>
              <a:buFontTx/>
              <a:buNone/>
            </a:pPr>
            <a:r>
              <a:rPr lang="zh-CN" altLang="en-US" b="0"/>
              <a:t>        </a:t>
            </a:r>
            <a:r>
              <a:rPr lang="en-US" altLang="zh-CN" b="0"/>
              <a:t>With the development of crystallography, P.P., Ewald introduced the concept of </a:t>
            </a:r>
            <a:r>
              <a:rPr lang="en-US" altLang="zh-CN"/>
              <a:t>reciprocal lattice </a:t>
            </a:r>
            <a:r>
              <a:rPr lang="en-US" altLang="zh-CN" b="0"/>
              <a:t>in 1920 in order to explain crystal diffraction phenomenon and some problems in crystal physics.</a:t>
            </a:r>
          </a:p>
        </p:txBody>
      </p:sp>
      <p:sp>
        <p:nvSpPr>
          <p:cNvPr id="4" name="Rectangle 2"/>
          <p:cNvSpPr txBox="1">
            <a:spLocks noChangeArrowheads="1"/>
          </p:cNvSpPr>
          <p:nvPr/>
        </p:nvSpPr>
        <p:spPr>
          <a:xfrm>
            <a:off x="2351088" y="573088"/>
            <a:ext cx="444182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lvl1pPr algn="ctr" eaLnBrk="0" fontAlgn="auto" hangingPunct="0">
              <a:spcAft>
                <a:spcPts val="0"/>
              </a:spcAft>
              <a:defRPr sz="2800" cap="all" spc="-60">
                <a:solidFill>
                  <a:srgbClr val="C00000"/>
                </a:solidFill>
                <a:latin typeface="+mj-lt"/>
                <a:ea typeface="+mj-ea"/>
                <a:cs typeface="+mj-cs"/>
              </a:defRPr>
            </a:lvl1pPr>
            <a:lvl2pPr eaLnBrk="0" hangingPunct="0">
              <a:defRPr sz="3600">
                <a:solidFill>
                  <a:schemeClr val="tx2"/>
                </a:solidFill>
                <a:latin typeface="Arial Black" panose="020B0A04020102020204" pitchFamily="34" charset="0"/>
                <a:ea typeface="微软雅黑" panose="020B0503020204020204" pitchFamily="34" charset="-122"/>
              </a:defRPr>
            </a:lvl2pPr>
            <a:lvl3pPr eaLnBrk="0" hangingPunct="0">
              <a:defRPr sz="3600">
                <a:solidFill>
                  <a:schemeClr val="tx2"/>
                </a:solidFill>
                <a:latin typeface="Arial Black" panose="020B0A04020102020204" pitchFamily="34" charset="0"/>
                <a:ea typeface="微软雅黑" panose="020B0503020204020204" pitchFamily="34" charset="-122"/>
              </a:defRPr>
            </a:lvl3pPr>
            <a:lvl4pPr eaLnBrk="0" hangingPunct="0">
              <a:defRPr sz="3600">
                <a:solidFill>
                  <a:schemeClr val="tx2"/>
                </a:solidFill>
                <a:latin typeface="Arial Black" panose="020B0A04020102020204" pitchFamily="34" charset="0"/>
                <a:ea typeface="微软雅黑" panose="020B0503020204020204" pitchFamily="34" charset="-122"/>
              </a:defRPr>
            </a:lvl4pPr>
            <a:lvl5pPr eaLnBrk="0" hangingPunct="0">
              <a:defRPr sz="3600">
                <a:solidFill>
                  <a:schemeClr val="tx2"/>
                </a:solidFill>
                <a:latin typeface="Arial Black" panose="020B0A04020102020204" pitchFamily="34" charset="0"/>
                <a:ea typeface="微软雅黑" panose="020B0503020204020204" pitchFamily="34" charset="-122"/>
              </a:defRPr>
            </a:lvl5pPr>
            <a:lvl6pPr marL="4572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defRPr/>
            </a:pPr>
            <a:r>
              <a:rPr lang="en-US" altLang="zh-CN" dirty="0"/>
              <a:t>Reciprocal lattice</a:t>
            </a:r>
            <a:endParaRPr lang="zh-CN" altLang="en-US" dirty="0"/>
          </a:p>
        </p:txBody>
      </p:sp>
      <p:sp>
        <p:nvSpPr>
          <p:cNvPr id="194565" name="Line 5"/>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945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0575" y="1373188"/>
            <a:ext cx="2346325" cy="3817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4567" name="Rectangle 1"/>
          <p:cNvSpPr>
            <a:spLocks noChangeArrowheads="1"/>
          </p:cNvSpPr>
          <p:nvPr/>
        </p:nvSpPr>
        <p:spPr bwMode="auto">
          <a:xfrm>
            <a:off x="5770563" y="5334000"/>
            <a:ext cx="25463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lang="en-US" altLang="en-US" sz="2400">
                <a:latin typeface="Times New Roman" panose="02020603050405020304" pitchFamily="18" charset="0"/>
                <a:ea typeface="宋体" panose="02010600030101010101" pitchFamily="2" charset="-122"/>
              </a:rPr>
              <a:t>Paul Peter Ewald </a:t>
            </a:r>
          </a:p>
          <a:p>
            <a:pPr algn="ctr" eaLnBrk="1" hangingPunct="1">
              <a:spcBef>
                <a:spcPct val="0"/>
              </a:spcBef>
              <a:spcAft>
                <a:spcPct val="0"/>
              </a:spcAft>
              <a:buFontTx/>
              <a:buNone/>
            </a:pPr>
            <a:r>
              <a:rPr lang="en-US" altLang="en-US" sz="2400">
                <a:latin typeface="Times New Roman" panose="02020603050405020304" pitchFamily="18" charset="0"/>
                <a:ea typeface="宋体" panose="02010600030101010101" pitchFamily="2" charset="-122"/>
              </a:rPr>
              <a:t>(1888-1985)</a:t>
            </a:r>
          </a:p>
        </p:txBody>
      </p:sp>
      <p:pic>
        <p:nvPicPr>
          <p:cNvPr id="194568" name="Picture 9" descr="Image result for The reciprocal latt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438525"/>
            <a:ext cx="2786062" cy="309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339975" y="274638"/>
            <a:ext cx="4140200" cy="490537"/>
          </a:xfrm>
        </p:spPr>
        <p:txBody>
          <a:bodyPr>
            <a:normAutofit fontScale="90000"/>
          </a:bodyPr>
          <a:lstStyle/>
          <a:p>
            <a:pPr eaLnBrk="1" fontAlgn="auto" hangingPunct="1">
              <a:spcAft>
                <a:spcPts val="0"/>
              </a:spcAft>
              <a:defRPr/>
            </a:pPr>
            <a:r>
              <a:rPr lang="en-US" altLang="zh-CN" sz="2800" dirty="0">
                <a:solidFill>
                  <a:srgbClr val="3333FF"/>
                </a:solidFill>
              </a:rPr>
              <a:t> </a:t>
            </a:r>
            <a:endParaRPr lang="en-US" altLang="zh-CN" sz="2800" b="1" dirty="0">
              <a:solidFill>
                <a:srgbClr val="3333FF"/>
              </a:solidFill>
            </a:endParaRPr>
          </a:p>
        </p:txBody>
      </p:sp>
      <p:sp>
        <p:nvSpPr>
          <p:cNvPr id="48131" name="Rectangle 3"/>
          <p:cNvSpPr>
            <a:spLocks noGrp="1" noChangeArrowheads="1"/>
          </p:cNvSpPr>
          <p:nvPr>
            <p:ph type="body" idx="1"/>
          </p:nvPr>
        </p:nvSpPr>
        <p:spPr>
          <a:xfrm>
            <a:off x="457200" y="1308100"/>
            <a:ext cx="8362950" cy="5360988"/>
          </a:xfrm>
        </p:spPr>
        <p:txBody>
          <a:bodyPr rtlCol="0">
            <a:normAutofit fontScale="92500" lnSpcReduction="20000"/>
          </a:bodyPr>
          <a:lstStyle/>
          <a:p>
            <a:pPr eaLnBrk="1" fontAlgn="auto" hangingPunct="1">
              <a:lnSpc>
                <a:spcPct val="120000"/>
              </a:lnSpc>
              <a:spcBef>
                <a:spcPct val="0"/>
              </a:spcBef>
              <a:buFontTx/>
              <a:buNone/>
              <a:defRPr/>
            </a:pPr>
            <a:r>
              <a:rPr lang="en-US" altLang="zh-CN" sz="2600" dirty="0">
                <a:solidFill>
                  <a:srgbClr val="FF0000"/>
                </a:solidFill>
              </a:rPr>
              <a:t>The reciprocal lattice:</a:t>
            </a:r>
            <a:r>
              <a:rPr lang="en-US" altLang="zh-CN" sz="2400" dirty="0"/>
              <a:t> a kind of spatial geometry established on the basis of crystal lattice. </a:t>
            </a:r>
            <a:r>
              <a:rPr lang="en-US" altLang="zh-CN" sz="2400" dirty="0">
                <a:solidFill>
                  <a:srgbClr val="C00000"/>
                </a:solidFill>
              </a:rPr>
              <a:t>It is another form of crystal lattice, directly showing the periodicity of lattice.</a:t>
            </a:r>
          </a:p>
          <a:p>
            <a:pPr marL="342900" indent="-342900" eaLnBrk="1" fontAlgn="auto" hangingPunct="1">
              <a:lnSpc>
                <a:spcPct val="120000"/>
              </a:lnSpc>
              <a:spcBef>
                <a:spcPct val="0"/>
              </a:spcBef>
              <a:buFont typeface="Arial" panose="020B0604020202020204" pitchFamily="34" charset="0"/>
              <a:buChar char="•"/>
              <a:defRPr/>
            </a:pPr>
            <a:r>
              <a:rPr lang="en-US" altLang="zh-CN" sz="2400" b="0" dirty="0"/>
              <a:t>It is called </a:t>
            </a:r>
            <a:r>
              <a:rPr lang="en-US" altLang="zh-CN" sz="2400" b="0" dirty="0">
                <a:solidFill>
                  <a:srgbClr val="FF0000"/>
                </a:solidFill>
              </a:rPr>
              <a:t>inverted lattice </a:t>
            </a:r>
            <a:r>
              <a:rPr lang="en-US" altLang="zh-CN" sz="2400" b="0" dirty="0"/>
              <a:t>because of the existence of reciprocity relationship between many of its properties and those of the crystal lattice. </a:t>
            </a:r>
          </a:p>
          <a:p>
            <a:pPr marL="342900" indent="-342900" eaLnBrk="1" fontAlgn="auto" hangingPunct="1">
              <a:lnSpc>
                <a:spcPct val="120000"/>
              </a:lnSpc>
              <a:spcBef>
                <a:spcPct val="0"/>
              </a:spcBef>
              <a:buFont typeface="Arial" panose="020B0604020202020204" pitchFamily="34" charset="0"/>
              <a:buChar char="•"/>
              <a:defRPr/>
            </a:pPr>
            <a:r>
              <a:rPr lang="en-US" altLang="zh-CN" sz="2400" b="0" dirty="0"/>
              <a:t>The use of reciprocal lattices to deal with geometric relations and diffraction problems of crystals can make </a:t>
            </a:r>
            <a:r>
              <a:rPr lang="en-US" altLang="zh-CN" sz="2400" b="0" dirty="0">
                <a:solidFill>
                  <a:srgbClr val="FF0000"/>
                </a:solidFill>
              </a:rPr>
              <a:t>geometric concepts clearer and mathematical deduction easier</a:t>
            </a:r>
            <a:r>
              <a:rPr lang="en-US" altLang="zh-CN" sz="2400" b="0" dirty="0"/>
              <a:t>. </a:t>
            </a:r>
          </a:p>
          <a:p>
            <a:pPr marL="342900" indent="-342900" eaLnBrk="1" fontAlgn="auto" hangingPunct="1">
              <a:lnSpc>
                <a:spcPct val="120000"/>
              </a:lnSpc>
              <a:spcBef>
                <a:spcPct val="0"/>
              </a:spcBef>
              <a:buFont typeface="Arial" panose="020B0604020202020204" pitchFamily="34" charset="0"/>
              <a:buChar char="•"/>
              <a:defRPr/>
            </a:pPr>
            <a:r>
              <a:rPr lang="en-US" altLang="zh-CN" sz="2400" b="0" dirty="0"/>
              <a:t>Diffraction patterns that we observe is actually meet the conditions of the diffraction projection of the reciprocal lattice points. It is thus clear that diffraction patterns are the images of crystal structures in reciprocal spaces. </a:t>
            </a:r>
            <a:r>
              <a:rPr lang="en-US" altLang="zh-CN" sz="2400" b="0" dirty="0">
                <a:solidFill>
                  <a:srgbClr val="FF0000"/>
                </a:solidFill>
              </a:rPr>
              <a:t>So, in this sense, the reciprocal lattice itself has diffraction properties.</a:t>
            </a:r>
            <a:endParaRPr lang="zh-CN" altLang="en-US" sz="2400" b="0" dirty="0">
              <a:solidFill>
                <a:srgbClr val="FF0000"/>
              </a:solidFill>
            </a:endParaRPr>
          </a:p>
        </p:txBody>
      </p:sp>
      <p:sp>
        <p:nvSpPr>
          <p:cNvPr id="4" name="Rectangle 2"/>
          <p:cNvSpPr txBox="1">
            <a:spLocks noChangeArrowheads="1"/>
          </p:cNvSpPr>
          <p:nvPr/>
        </p:nvSpPr>
        <p:spPr>
          <a:xfrm>
            <a:off x="2351088" y="573088"/>
            <a:ext cx="444182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defPPr>
              <a:defRPr lang="zh-CN"/>
            </a:defPPr>
            <a:lvl1pPr algn="ctr" eaLnBrk="0" fontAlgn="auto" hangingPunct="0">
              <a:spcAft>
                <a:spcPts val="0"/>
              </a:spcAft>
              <a:defRPr sz="2800" cap="all" spc="-60">
                <a:solidFill>
                  <a:srgbClr val="C00000"/>
                </a:solidFill>
                <a:latin typeface="+mj-lt"/>
                <a:ea typeface="+mj-ea"/>
                <a:cs typeface="+mj-cs"/>
              </a:defRPr>
            </a:lvl1pPr>
            <a:lvl2pPr eaLnBrk="0" hangingPunct="0">
              <a:defRPr sz="3600">
                <a:solidFill>
                  <a:schemeClr val="tx2"/>
                </a:solidFill>
                <a:latin typeface="Arial Black" panose="020B0A04020102020204" pitchFamily="34" charset="0"/>
                <a:ea typeface="微软雅黑" panose="020B0503020204020204" pitchFamily="34" charset="-122"/>
              </a:defRPr>
            </a:lvl2pPr>
            <a:lvl3pPr eaLnBrk="0" hangingPunct="0">
              <a:defRPr sz="3600">
                <a:solidFill>
                  <a:schemeClr val="tx2"/>
                </a:solidFill>
                <a:latin typeface="Arial Black" panose="020B0A04020102020204" pitchFamily="34" charset="0"/>
                <a:ea typeface="微软雅黑" panose="020B0503020204020204" pitchFamily="34" charset="-122"/>
              </a:defRPr>
            </a:lvl3pPr>
            <a:lvl4pPr eaLnBrk="0" hangingPunct="0">
              <a:defRPr sz="3600">
                <a:solidFill>
                  <a:schemeClr val="tx2"/>
                </a:solidFill>
                <a:latin typeface="Arial Black" panose="020B0A04020102020204" pitchFamily="34" charset="0"/>
                <a:ea typeface="微软雅黑" panose="020B0503020204020204" pitchFamily="34" charset="-122"/>
              </a:defRPr>
            </a:lvl4pPr>
            <a:lvl5pPr eaLnBrk="0" hangingPunct="0">
              <a:defRPr sz="3600">
                <a:solidFill>
                  <a:schemeClr val="tx2"/>
                </a:solidFill>
                <a:latin typeface="Arial Black" panose="020B0A04020102020204" pitchFamily="34" charset="0"/>
                <a:ea typeface="微软雅黑" panose="020B0503020204020204" pitchFamily="34" charset="-122"/>
              </a:defRPr>
            </a:lvl5pPr>
            <a:lvl6pPr marL="4572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defRPr/>
            </a:pPr>
            <a:r>
              <a:rPr lang="en-US" altLang="zh-CN" dirty="0"/>
              <a:t>Reciprocal lattice</a:t>
            </a:r>
            <a:endParaRPr lang="zh-CN" altLang="en-US" dirty="0"/>
          </a:p>
        </p:txBody>
      </p:sp>
      <p:sp>
        <p:nvSpPr>
          <p:cNvPr id="195589" name="Line 5"/>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339975" y="274638"/>
            <a:ext cx="4140200" cy="490537"/>
          </a:xfrm>
        </p:spPr>
        <p:txBody>
          <a:bodyPr>
            <a:normAutofit fontScale="90000"/>
          </a:bodyPr>
          <a:lstStyle/>
          <a:p>
            <a:pPr eaLnBrk="1" fontAlgn="auto" hangingPunct="1">
              <a:spcAft>
                <a:spcPts val="0"/>
              </a:spcAft>
              <a:defRPr/>
            </a:pPr>
            <a:r>
              <a:rPr lang="en-US" altLang="zh-CN" sz="2800" dirty="0">
                <a:solidFill>
                  <a:srgbClr val="3333FF"/>
                </a:solidFill>
              </a:rPr>
              <a:t> </a:t>
            </a:r>
            <a:endParaRPr lang="en-US" altLang="zh-CN" sz="2800" b="1" dirty="0">
              <a:solidFill>
                <a:srgbClr val="3333FF"/>
              </a:solidFill>
            </a:endParaRPr>
          </a:p>
        </p:txBody>
      </p:sp>
      <p:sp>
        <p:nvSpPr>
          <p:cNvPr id="4" name="Rectangle 2"/>
          <p:cNvSpPr txBox="1">
            <a:spLocks noChangeArrowheads="1"/>
          </p:cNvSpPr>
          <p:nvPr/>
        </p:nvSpPr>
        <p:spPr>
          <a:xfrm>
            <a:off x="2351088" y="573088"/>
            <a:ext cx="444182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defPPr>
              <a:defRPr lang="zh-CN"/>
            </a:defPPr>
            <a:lvl1pPr algn="ctr" eaLnBrk="0" fontAlgn="auto" hangingPunct="0">
              <a:spcAft>
                <a:spcPts val="0"/>
              </a:spcAft>
              <a:defRPr sz="2800" cap="all" spc="-60">
                <a:solidFill>
                  <a:srgbClr val="C00000"/>
                </a:solidFill>
                <a:latin typeface="+mj-lt"/>
                <a:ea typeface="+mj-ea"/>
                <a:cs typeface="+mj-cs"/>
              </a:defRPr>
            </a:lvl1pPr>
            <a:lvl2pPr eaLnBrk="0" hangingPunct="0">
              <a:defRPr sz="3600">
                <a:solidFill>
                  <a:schemeClr val="tx2"/>
                </a:solidFill>
                <a:latin typeface="Arial Black" panose="020B0A04020102020204" pitchFamily="34" charset="0"/>
                <a:ea typeface="微软雅黑" panose="020B0503020204020204" pitchFamily="34" charset="-122"/>
              </a:defRPr>
            </a:lvl2pPr>
            <a:lvl3pPr eaLnBrk="0" hangingPunct="0">
              <a:defRPr sz="3600">
                <a:solidFill>
                  <a:schemeClr val="tx2"/>
                </a:solidFill>
                <a:latin typeface="Arial Black" panose="020B0A04020102020204" pitchFamily="34" charset="0"/>
                <a:ea typeface="微软雅黑" panose="020B0503020204020204" pitchFamily="34" charset="-122"/>
              </a:defRPr>
            </a:lvl3pPr>
            <a:lvl4pPr eaLnBrk="0" hangingPunct="0">
              <a:defRPr sz="3600">
                <a:solidFill>
                  <a:schemeClr val="tx2"/>
                </a:solidFill>
                <a:latin typeface="Arial Black" panose="020B0A04020102020204" pitchFamily="34" charset="0"/>
                <a:ea typeface="微软雅黑" panose="020B0503020204020204" pitchFamily="34" charset="-122"/>
              </a:defRPr>
            </a:lvl4pPr>
            <a:lvl5pPr eaLnBrk="0" hangingPunct="0">
              <a:defRPr sz="3600">
                <a:solidFill>
                  <a:schemeClr val="tx2"/>
                </a:solidFill>
                <a:latin typeface="Arial Black" panose="020B0A04020102020204" pitchFamily="34" charset="0"/>
                <a:ea typeface="微软雅黑" panose="020B0503020204020204" pitchFamily="34" charset="-122"/>
              </a:defRPr>
            </a:lvl5pPr>
            <a:lvl6pPr marL="4572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defRPr/>
            </a:pPr>
            <a:r>
              <a:rPr lang="en-US" altLang="zh-CN" dirty="0"/>
              <a:t>Reciprocal lattice</a:t>
            </a:r>
            <a:endParaRPr lang="zh-CN" altLang="en-US" dirty="0"/>
          </a:p>
        </p:txBody>
      </p:sp>
      <p:sp>
        <p:nvSpPr>
          <p:cNvPr id="196612" name="Line 5"/>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96613"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025" y="1150938"/>
            <a:ext cx="7702550" cy="4608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6614"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400" y="5732463"/>
            <a:ext cx="7888288" cy="1089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339975" y="274638"/>
            <a:ext cx="4140200" cy="490537"/>
          </a:xfrm>
        </p:spPr>
        <p:txBody>
          <a:bodyPr>
            <a:normAutofit fontScale="90000"/>
          </a:bodyPr>
          <a:lstStyle/>
          <a:p>
            <a:pPr eaLnBrk="1" fontAlgn="auto" hangingPunct="1">
              <a:spcAft>
                <a:spcPts val="0"/>
              </a:spcAft>
              <a:defRPr/>
            </a:pPr>
            <a:r>
              <a:rPr lang="en-US" altLang="zh-CN" sz="2800" dirty="0">
                <a:solidFill>
                  <a:srgbClr val="3333FF"/>
                </a:solidFill>
              </a:rPr>
              <a:t> </a:t>
            </a:r>
            <a:endParaRPr lang="en-US" altLang="zh-CN" sz="2800" b="1" dirty="0">
              <a:solidFill>
                <a:srgbClr val="3333FF"/>
              </a:solidFill>
            </a:endParaRPr>
          </a:p>
        </p:txBody>
      </p:sp>
      <p:sp>
        <p:nvSpPr>
          <p:cNvPr id="4" name="Rectangle 2"/>
          <p:cNvSpPr txBox="1">
            <a:spLocks noChangeArrowheads="1"/>
          </p:cNvSpPr>
          <p:nvPr/>
        </p:nvSpPr>
        <p:spPr>
          <a:xfrm>
            <a:off x="2351088" y="573088"/>
            <a:ext cx="444182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defPPr>
              <a:defRPr lang="zh-CN"/>
            </a:defPPr>
            <a:lvl1pPr algn="ctr" eaLnBrk="0" fontAlgn="auto" hangingPunct="0">
              <a:spcAft>
                <a:spcPts val="0"/>
              </a:spcAft>
              <a:defRPr sz="2800" cap="all" spc="-60">
                <a:solidFill>
                  <a:srgbClr val="C00000"/>
                </a:solidFill>
                <a:latin typeface="+mj-lt"/>
                <a:ea typeface="+mj-ea"/>
                <a:cs typeface="+mj-cs"/>
              </a:defRPr>
            </a:lvl1pPr>
            <a:lvl2pPr eaLnBrk="0" hangingPunct="0">
              <a:defRPr sz="3600">
                <a:solidFill>
                  <a:schemeClr val="tx2"/>
                </a:solidFill>
                <a:latin typeface="Arial Black" panose="020B0A04020102020204" pitchFamily="34" charset="0"/>
                <a:ea typeface="微软雅黑" panose="020B0503020204020204" pitchFamily="34" charset="-122"/>
              </a:defRPr>
            </a:lvl2pPr>
            <a:lvl3pPr eaLnBrk="0" hangingPunct="0">
              <a:defRPr sz="3600">
                <a:solidFill>
                  <a:schemeClr val="tx2"/>
                </a:solidFill>
                <a:latin typeface="Arial Black" panose="020B0A04020102020204" pitchFamily="34" charset="0"/>
                <a:ea typeface="微软雅黑" panose="020B0503020204020204" pitchFamily="34" charset="-122"/>
              </a:defRPr>
            </a:lvl3pPr>
            <a:lvl4pPr eaLnBrk="0" hangingPunct="0">
              <a:defRPr sz="3600">
                <a:solidFill>
                  <a:schemeClr val="tx2"/>
                </a:solidFill>
                <a:latin typeface="Arial Black" panose="020B0A04020102020204" pitchFamily="34" charset="0"/>
                <a:ea typeface="微软雅黑" panose="020B0503020204020204" pitchFamily="34" charset="-122"/>
              </a:defRPr>
            </a:lvl4pPr>
            <a:lvl5pPr eaLnBrk="0" hangingPunct="0">
              <a:defRPr sz="3600">
                <a:solidFill>
                  <a:schemeClr val="tx2"/>
                </a:solidFill>
                <a:latin typeface="Arial Black" panose="020B0A04020102020204" pitchFamily="34" charset="0"/>
                <a:ea typeface="微软雅黑" panose="020B0503020204020204" pitchFamily="34" charset="-122"/>
              </a:defRPr>
            </a:lvl5pPr>
            <a:lvl6pPr marL="4572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defRPr/>
            </a:pPr>
            <a:r>
              <a:rPr lang="en-US" altLang="zh-CN" dirty="0"/>
              <a:t>Reciprocal lattice</a:t>
            </a:r>
            <a:endParaRPr lang="zh-CN" altLang="en-US" dirty="0"/>
          </a:p>
        </p:txBody>
      </p:sp>
      <p:sp>
        <p:nvSpPr>
          <p:cNvPr id="197636" name="Line 5"/>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9763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41438"/>
            <a:ext cx="7613650" cy="4365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339975" y="274638"/>
            <a:ext cx="4140200" cy="490537"/>
          </a:xfrm>
        </p:spPr>
        <p:txBody>
          <a:bodyPr>
            <a:normAutofit fontScale="90000"/>
          </a:bodyPr>
          <a:lstStyle/>
          <a:p>
            <a:pPr eaLnBrk="1" fontAlgn="auto" hangingPunct="1">
              <a:spcAft>
                <a:spcPts val="0"/>
              </a:spcAft>
              <a:defRPr/>
            </a:pPr>
            <a:r>
              <a:rPr lang="en-US" altLang="zh-CN" sz="2800" dirty="0">
                <a:solidFill>
                  <a:srgbClr val="3333FF"/>
                </a:solidFill>
              </a:rPr>
              <a:t> </a:t>
            </a:r>
            <a:endParaRPr lang="en-US" altLang="zh-CN" sz="2800" b="1" dirty="0">
              <a:solidFill>
                <a:srgbClr val="3333FF"/>
              </a:solidFill>
            </a:endParaRPr>
          </a:p>
        </p:txBody>
      </p:sp>
      <p:sp>
        <p:nvSpPr>
          <p:cNvPr id="4" name="Rectangle 2"/>
          <p:cNvSpPr txBox="1">
            <a:spLocks noChangeArrowheads="1"/>
          </p:cNvSpPr>
          <p:nvPr/>
        </p:nvSpPr>
        <p:spPr>
          <a:xfrm>
            <a:off x="2351088" y="573088"/>
            <a:ext cx="444182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defPPr>
              <a:defRPr lang="zh-CN"/>
            </a:defPPr>
            <a:lvl1pPr algn="ctr" eaLnBrk="0" fontAlgn="auto" hangingPunct="0">
              <a:spcAft>
                <a:spcPts val="0"/>
              </a:spcAft>
              <a:defRPr sz="2800" cap="all" spc="-60">
                <a:solidFill>
                  <a:srgbClr val="C00000"/>
                </a:solidFill>
                <a:latin typeface="+mj-lt"/>
                <a:ea typeface="+mj-ea"/>
                <a:cs typeface="+mj-cs"/>
              </a:defRPr>
            </a:lvl1pPr>
            <a:lvl2pPr eaLnBrk="0" hangingPunct="0">
              <a:defRPr sz="3600">
                <a:solidFill>
                  <a:schemeClr val="tx2"/>
                </a:solidFill>
                <a:latin typeface="Arial Black" panose="020B0A04020102020204" pitchFamily="34" charset="0"/>
                <a:ea typeface="微软雅黑" panose="020B0503020204020204" pitchFamily="34" charset="-122"/>
              </a:defRPr>
            </a:lvl2pPr>
            <a:lvl3pPr eaLnBrk="0" hangingPunct="0">
              <a:defRPr sz="3600">
                <a:solidFill>
                  <a:schemeClr val="tx2"/>
                </a:solidFill>
                <a:latin typeface="Arial Black" panose="020B0A04020102020204" pitchFamily="34" charset="0"/>
                <a:ea typeface="微软雅黑" panose="020B0503020204020204" pitchFamily="34" charset="-122"/>
              </a:defRPr>
            </a:lvl3pPr>
            <a:lvl4pPr eaLnBrk="0" hangingPunct="0">
              <a:defRPr sz="3600">
                <a:solidFill>
                  <a:schemeClr val="tx2"/>
                </a:solidFill>
                <a:latin typeface="Arial Black" panose="020B0A04020102020204" pitchFamily="34" charset="0"/>
                <a:ea typeface="微软雅黑" panose="020B0503020204020204" pitchFamily="34" charset="-122"/>
              </a:defRPr>
            </a:lvl4pPr>
            <a:lvl5pPr eaLnBrk="0" hangingPunct="0">
              <a:defRPr sz="3600">
                <a:solidFill>
                  <a:schemeClr val="tx2"/>
                </a:solidFill>
                <a:latin typeface="Arial Black" panose="020B0A04020102020204" pitchFamily="34" charset="0"/>
                <a:ea typeface="微软雅黑" panose="020B0503020204020204" pitchFamily="34" charset="-122"/>
              </a:defRPr>
            </a:lvl5pPr>
            <a:lvl6pPr marL="4572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defRPr/>
            </a:pPr>
            <a:r>
              <a:rPr lang="en-US" altLang="zh-CN" dirty="0"/>
              <a:t>Reciprocal lattice</a:t>
            </a:r>
            <a:endParaRPr lang="zh-CN" altLang="en-US" dirty="0"/>
          </a:p>
        </p:txBody>
      </p:sp>
      <p:sp>
        <p:nvSpPr>
          <p:cNvPr id="198660" name="Line 5"/>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9866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401763"/>
            <a:ext cx="7745413" cy="367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339975" y="274638"/>
            <a:ext cx="4140200" cy="490537"/>
          </a:xfrm>
        </p:spPr>
        <p:txBody>
          <a:bodyPr>
            <a:normAutofit fontScale="90000"/>
          </a:bodyPr>
          <a:lstStyle/>
          <a:p>
            <a:pPr eaLnBrk="1" fontAlgn="auto" hangingPunct="1">
              <a:spcAft>
                <a:spcPts val="0"/>
              </a:spcAft>
              <a:defRPr/>
            </a:pPr>
            <a:r>
              <a:rPr lang="en-US" altLang="zh-CN" sz="2800" dirty="0">
                <a:solidFill>
                  <a:srgbClr val="3333FF"/>
                </a:solidFill>
              </a:rPr>
              <a:t> </a:t>
            </a:r>
            <a:endParaRPr lang="en-US" altLang="zh-CN" sz="2800" b="1" dirty="0">
              <a:solidFill>
                <a:srgbClr val="3333FF"/>
              </a:solidFill>
            </a:endParaRPr>
          </a:p>
        </p:txBody>
      </p:sp>
      <p:sp>
        <p:nvSpPr>
          <p:cNvPr id="4" name="Rectangle 2"/>
          <p:cNvSpPr txBox="1">
            <a:spLocks noChangeArrowheads="1"/>
          </p:cNvSpPr>
          <p:nvPr/>
        </p:nvSpPr>
        <p:spPr>
          <a:xfrm>
            <a:off x="2351088" y="573088"/>
            <a:ext cx="444182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defPPr>
              <a:defRPr lang="zh-CN"/>
            </a:defPPr>
            <a:lvl1pPr algn="ctr" eaLnBrk="0" fontAlgn="auto" hangingPunct="0">
              <a:spcAft>
                <a:spcPts val="0"/>
              </a:spcAft>
              <a:defRPr sz="2800" cap="all" spc="-60">
                <a:solidFill>
                  <a:srgbClr val="C00000"/>
                </a:solidFill>
                <a:latin typeface="+mj-lt"/>
                <a:ea typeface="+mj-ea"/>
                <a:cs typeface="+mj-cs"/>
              </a:defRPr>
            </a:lvl1pPr>
            <a:lvl2pPr eaLnBrk="0" hangingPunct="0">
              <a:defRPr sz="3600">
                <a:solidFill>
                  <a:schemeClr val="tx2"/>
                </a:solidFill>
                <a:latin typeface="Arial Black" panose="020B0A04020102020204" pitchFamily="34" charset="0"/>
                <a:ea typeface="微软雅黑" panose="020B0503020204020204" pitchFamily="34" charset="-122"/>
              </a:defRPr>
            </a:lvl2pPr>
            <a:lvl3pPr eaLnBrk="0" hangingPunct="0">
              <a:defRPr sz="3600">
                <a:solidFill>
                  <a:schemeClr val="tx2"/>
                </a:solidFill>
                <a:latin typeface="Arial Black" panose="020B0A04020102020204" pitchFamily="34" charset="0"/>
                <a:ea typeface="微软雅黑" panose="020B0503020204020204" pitchFamily="34" charset="-122"/>
              </a:defRPr>
            </a:lvl3pPr>
            <a:lvl4pPr eaLnBrk="0" hangingPunct="0">
              <a:defRPr sz="3600">
                <a:solidFill>
                  <a:schemeClr val="tx2"/>
                </a:solidFill>
                <a:latin typeface="Arial Black" panose="020B0A04020102020204" pitchFamily="34" charset="0"/>
                <a:ea typeface="微软雅黑" panose="020B0503020204020204" pitchFamily="34" charset="-122"/>
              </a:defRPr>
            </a:lvl4pPr>
            <a:lvl5pPr eaLnBrk="0" hangingPunct="0">
              <a:defRPr sz="3600">
                <a:solidFill>
                  <a:schemeClr val="tx2"/>
                </a:solidFill>
                <a:latin typeface="Arial Black" panose="020B0A04020102020204" pitchFamily="34" charset="0"/>
                <a:ea typeface="微软雅黑" panose="020B0503020204020204" pitchFamily="34" charset="-122"/>
              </a:defRPr>
            </a:lvl5pPr>
            <a:lvl6pPr marL="4572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defRPr/>
            </a:pPr>
            <a:r>
              <a:rPr lang="en-US" altLang="zh-CN" dirty="0"/>
              <a:t>Reciprocal lattice</a:t>
            </a:r>
            <a:endParaRPr lang="zh-CN" altLang="en-US" dirty="0"/>
          </a:p>
        </p:txBody>
      </p:sp>
      <p:sp>
        <p:nvSpPr>
          <p:cNvPr id="199684" name="Line 5"/>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199685" name="Picture 2"/>
          <p:cNvPicPr>
            <a:picLocks noChangeAspect="1" noChangeArrowheads="1"/>
          </p:cNvPicPr>
          <p:nvPr/>
        </p:nvPicPr>
        <p:blipFill>
          <a:blip r:embed="rId2">
            <a:extLst>
              <a:ext uri="{28A0092B-C50C-407E-A947-70E740481C1C}">
                <a14:useLocalDpi xmlns:a14="http://schemas.microsoft.com/office/drawing/2010/main" val="0"/>
              </a:ext>
            </a:extLst>
          </a:blip>
          <a:srcRect b="55128"/>
          <a:stretch>
            <a:fillRect/>
          </a:stretch>
        </p:blipFill>
        <p:spPr bwMode="auto">
          <a:xfrm>
            <a:off x="1835150" y="3284538"/>
            <a:ext cx="4802188" cy="174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968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313" y="1341438"/>
            <a:ext cx="7577137" cy="151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339975" y="274638"/>
            <a:ext cx="4140200" cy="490537"/>
          </a:xfrm>
        </p:spPr>
        <p:txBody>
          <a:bodyPr>
            <a:normAutofit fontScale="90000"/>
          </a:bodyPr>
          <a:lstStyle/>
          <a:p>
            <a:pPr eaLnBrk="1" fontAlgn="auto" hangingPunct="1">
              <a:spcAft>
                <a:spcPts val="0"/>
              </a:spcAft>
              <a:defRPr/>
            </a:pPr>
            <a:r>
              <a:rPr lang="en-US" altLang="zh-CN" sz="2800" dirty="0">
                <a:solidFill>
                  <a:srgbClr val="3333FF"/>
                </a:solidFill>
              </a:rPr>
              <a:t> </a:t>
            </a:r>
            <a:endParaRPr lang="en-US" altLang="zh-CN" sz="2800" b="1" dirty="0">
              <a:solidFill>
                <a:srgbClr val="3333FF"/>
              </a:solidFill>
            </a:endParaRPr>
          </a:p>
        </p:txBody>
      </p:sp>
      <p:sp>
        <p:nvSpPr>
          <p:cNvPr id="4" name="Rectangle 2"/>
          <p:cNvSpPr txBox="1">
            <a:spLocks noChangeArrowheads="1"/>
          </p:cNvSpPr>
          <p:nvPr/>
        </p:nvSpPr>
        <p:spPr>
          <a:xfrm>
            <a:off x="2351088" y="573088"/>
            <a:ext cx="444182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defPPr>
              <a:defRPr lang="zh-CN"/>
            </a:defPPr>
            <a:lvl1pPr algn="ctr" eaLnBrk="0" fontAlgn="auto" hangingPunct="0">
              <a:spcAft>
                <a:spcPts val="0"/>
              </a:spcAft>
              <a:defRPr sz="2800" cap="all" spc="-60">
                <a:solidFill>
                  <a:srgbClr val="C00000"/>
                </a:solidFill>
                <a:latin typeface="+mj-lt"/>
                <a:ea typeface="+mj-ea"/>
                <a:cs typeface="+mj-cs"/>
              </a:defRPr>
            </a:lvl1pPr>
            <a:lvl2pPr eaLnBrk="0" hangingPunct="0">
              <a:defRPr sz="3600">
                <a:solidFill>
                  <a:schemeClr val="tx2"/>
                </a:solidFill>
                <a:latin typeface="Arial Black" panose="020B0A04020102020204" pitchFamily="34" charset="0"/>
                <a:ea typeface="微软雅黑" panose="020B0503020204020204" pitchFamily="34" charset="-122"/>
              </a:defRPr>
            </a:lvl2pPr>
            <a:lvl3pPr eaLnBrk="0" hangingPunct="0">
              <a:defRPr sz="3600">
                <a:solidFill>
                  <a:schemeClr val="tx2"/>
                </a:solidFill>
                <a:latin typeface="Arial Black" panose="020B0A04020102020204" pitchFamily="34" charset="0"/>
                <a:ea typeface="微软雅黑" panose="020B0503020204020204" pitchFamily="34" charset="-122"/>
              </a:defRPr>
            </a:lvl3pPr>
            <a:lvl4pPr eaLnBrk="0" hangingPunct="0">
              <a:defRPr sz="3600">
                <a:solidFill>
                  <a:schemeClr val="tx2"/>
                </a:solidFill>
                <a:latin typeface="Arial Black" panose="020B0A04020102020204" pitchFamily="34" charset="0"/>
                <a:ea typeface="微软雅黑" panose="020B0503020204020204" pitchFamily="34" charset="-122"/>
              </a:defRPr>
            </a:lvl4pPr>
            <a:lvl5pPr eaLnBrk="0" hangingPunct="0">
              <a:defRPr sz="3600">
                <a:solidFill>
                  <a:schemeClr val="tx2"/>
                </a:solidFill>
                <a:latin typeface="Arial Black" panose="020B0A04020102020204" pitchFamily="34" charset="0"/>
                <a:ea typeface="微软雅黑" panose="020B0503020204020204" pitchFamily="34" charset="-122"/>
              </a:defRPr>
            </a:lvl5pPr>
            <a:lvl6pPr marL="4572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defRPr/>
            </a:pPr>
            <a:r>
              <a:rPr lang="en-US" altLang="zh-CN" dirty="0"/>
              <a:t>Reciprocal lattice</a:t>
            </a:r>
            <a:endParaRPr lang="zh-CN" altLang="en-US" dirty="0"/>
          </a:p>
        </p:txBody>
      </p:sp>
      <p:sp>
        <p:nvSpPr>
          <p:cNvPr id="200708" name="Line 5"/>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pic>
        <p:nvPicPr>
          <p:cNvPr id="200709" name="Picture 2"/>
          <p:cNvPicPr>
            <a:picLocks noChangeAspect="1" noChangeArrowheads="1"/>
          </p:cNvPicPr>
          <p:nvPr/>
        </p:nvPicPr>
        <p:blipFill>
          <a:blip r:embed="rId2">
            <a:extLst>
              <a:ext uri="{28A0092B-C50C-407E-A947-70E740481C1C}">
                <a14:useLocalDpi xmlns:a14="http://schemas.microsoft.com/office/drawing/2010/main" val="0"/>
              </a:ext>
            </a:extLst>
          </a:blip>
          <a:srcRect t="44753" b="13736"/>
          <a:stretch>
            <a:fillRect/>
          </a:stretch>
        </p:blipFill>
        <p:spPr bwMode="auto">
          <a:xfrm>
            <a:off x="2051050" y="3213100"/>
            <a:ext cx="4802188" cy="161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07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268413"/>
            <a:ext cx="7407275" cy="1873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07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250" y="4941888"/>
            <a:ext cx="7551738" cy="1655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2"/>
          <p:cNvSpPr>
            <a:spLocks noGrp="1" noChangeArrowheads="1"/>
          </p:cNvSpPr>
          <p:nvPr>
            <p:ph sz="half" idx="1"/>
          </p:nvPr>
        </p:nvSpPr>
        <p:spPr>
          <a:xfrm>
            <a:off x="685800" y="1600200"/>
            <a:ext cx="8077200" cy="4191000"/>
          </a:xfrm>
        </p:spPr>
        <p:txBody>
          <a:bodyPr rtlCol="0">
            <a:normAutofit fontScale="85000" lnSpcReduction="20000"/>
          </a:bodyPr>
          <a:lstStyle/>
          <a:p>
            <a:pPr eaLnBrk="1" fontAlgn="auto" hangingPunct="1">
              <a:buFont typeface="Arial" panose="020B0604020202020204" pitchFamily="34" charset="0"/>
              <a:buNone/>
              <a:defRPr/>
            </a:pPr>
            <a:r>
              <a:rPr lang="en-US" altLang="zh-CN" sz="2400" dirty="0">
                <a:solidFill>
                  <a:srgbClr val="C00000"/>
                </a:solidFill>
              </a:rPr>
              <a:t>Homogeneity: </a:t>
            </a:r>
            <a:r>
              <a:rPr lang="en-US" altLang="zh-CN" sz="2400" b="0" dirty="0"/>
              <a:t>The chemical compositions and physical properties of any two parts of a crystal are equivalent. The mathematical formula can be used to represent the small crystals obtained at </a:t>
            </a:r>
            <a:r>
              <a:rPr lang="en-US" altLang="zh-CN" sz="2400" b="0" i="1" dirty="0"/>
              <a:t>x</a:t>
            </a:r>
            <a:r>
              <a:rPr lang="en-US" altLang="zh-CN" sz="2400" b="0" dirty="0"/>
              <a:t> and </a:t>
            </a:r>
            <a:r>
              <a:rPr lang="en-US" altLang="zh-CN" sz="1700" b="0" i="1" dirty="0"/>
              <a:t>X + X’ </a:t>
            </a:r>
            <a:r>
              <a:rPr lang="en-US" altLang="zh-CN" sz="2400" b="0" dirty="0"/>
              <a:t>in a crystal.</a:t>
            </a:r>
          </a:p>
          <a:p>
            <a:pPr algn="ctr" eaLnBrk="1" fontAlgn="auto" hangingPunct="1">
              <a:spcBef>
                <a:spcPts val="600"/>
              </a:spcBef>
              <a:buFont typeface="Wingdings" panose="05000000000000000000" pitchFamily="2" charset="2"/>
              <a:buNone/>
              <a:defRPr/>
            </a:pPr>
            <a:r>
              <a:rPr lang="en-US" altLang="zh-CN" sz="2400" b="0" i="1" dirty="0"/>
              <a:t>F</a:t>
            </a:r>
            <a:r>
              <a:rPr lang="en-US" altLang="zh-CN" sz="2400" b="0" dirty="0"/>
              <a:t>(</a:t>
            </a:r>
            <a:r>
              <a:rPr lang="en-US" altLang="zh-CN" sz="2400" b="0" i="1" dirty="0"/>
              <a:t>x</a:t>
            </a:r>
            <a:r>
              <a:rPr lang="en-US" altLang="zh-CN" sz="2400" b="0" dirty="0"/>
              <a:t>) </a:t>
            </a:r>
            <a:r>
              <a:rPr lang="en-US" altLang="zh-CN" sz="2400" b="0" dirty="0">
                <a:sym typeface="Symbol" panose="05050102010706020507" pitchFamily="18" charset="2"/>
              </a:rPr>
              <a:t></a:t>
            </a:r>
            <a:r>
              <a:rPr lang="en-US" altLang="zh-CN" sz="2400" b="0" dirty="0"/>
              <a:t> </a:t>
            </a:r>
            <a:r>
              <a:rPr lang="en-US" altLang="zh-CN" sz="2400" b="0" i="1" dirty="0"/>
              <a:t>F</a:t>
            </a:r>
            <a:r>
              <a:rPr lang="en-US" altLang="zh-CN" sz="2400" b="0" dirty="0"/>
              <a:t> (</a:t>
            </a:r>
            <a:r>
              <a:rPr lang="en-US" altLang="zh-CN" sz="2400" b="0" i="1" dirty="0"/>
              <a:t>x </a:t>
            </a:r>
            <a:r>
              <a:rPr lang="en-US" altLang="zh-CN" sz="2400" b="0" dirty="0"/>
              <a:t>+ </a:t>
            </a:r>
            <a:r>
              <a:rPr lang="en-US" altLang="zh-CN" sz="2400" b="0" i="1" dirty="0"/>
              <a:t>x</a:t>
            </a:r>
            <a:r>
              <a:rPr lang="en-US" altLang="zh-CN" sz="2400" b="0" dirty="0"/>
              <a:t>’)</a:t>
            </a:r>
          </a:p>
          <a:p>
            <a:pPr algn="just" eaLnBrk="1" fontAlgn="auto" hangingPunct="1">
              <a:spcBef>
                <a:spcPts val="600"/>
              </a:spcBef>
              <a:buFont typeface="Wingdings" panose="05000000000000000000" pitchFamily="2" charset="2"/>
              <a:buNone/>
              <a:defRPr/>
            </a:pPr>
            <a:r>
              <a:rPr lang="en-US" altLang="zh-CN" sz="2400" b="0" dirty="0"/>
              <a:t>	Here, </a:t>
            </a:r>
            <a:r>
              <a:rPr lang="en-US" altLang="zh-CN" sz="2400" b="0" i="1" dirty="0"/>
              <a:t>F</a:t>
            </a:r>
            <a:r>
              <a:rPr lang="en-US" altLang="zh-CN" sz="2400" b="0" dirty="0"/>
              <a:t> represents physical measures such as chemical compositions and properties; </a:t>
            </a:r>
            <a:r>
              <a:rPr lang="en-US" altLang="zh-CN" sz="1600" b="0" i="1" dirty="0"/>
              <a:t>X</a:t>
            </a:r>
            <a:r>
              <a:rPr lang="en-US" altLang="zh-CN" sz="2400" b="0" dirty="0"/>
              <a:t> and </a:t>
            </a:r>
            <a:r>
              <a:rPr lang="en-US" altLang="zh-CN" sz="1600" b="0" i="1" dirty="0"/>
              <a:t>X’ </a:t>
            </a:r>
            <a:r>
              <a:rPr lang="en-US" altLang="zh-CN" sz="2400" b="0" dirty="0"/>
              <a:t>are lattice vectors.</a:t>
            </a:r>
          </a:p>
          <a:p>
            <a:pPr algn="just" eaLnBrk="1" fontAlgn="auto" hangingPunct="1">
              <a:spcBef>
                <a:spcPts val="600"/>
              </a:spcBef>
              <a:buFont typeface="Wingdings" panose="05000000000000000000" pitchFamily="2" charset="2"/>
              <a:buNone/>
              <a:defRPr/>
            </a:pPr>
            <a:endParaRPr lang="en-US" altLang="zh-CN" sz="2400" b="0" dirty="0"/>
          </a:p>
          <a:p>
            <a:pPr algn="just" eaLnBrk="1" fontAlgn="auto" hangingPunct="1">
              <a:spcBef>
                <a:spcPts val="600"/>
              </a:spcBef>
              <a:buFont typeface="Wingdings" panose="05000000000000000000" pitchFamily="2" charset="2"/>
              <a:buNone/>
              <a:defRPr/>
            </a:pPr>
            <a:r>
              <a:rPr lang="en-US" altLang="zh-CN" sz="2400" dirty="0">
                <a:solidFill>
                  <a:srgbClr val="C00000"/>
                </a:solidFill>
              </a:rPr>
              <a:t>Anisotropy: </a:t>
            </a:r>
            <a:r>
              <a:rPr lang="en-US" altLang="zh-CN" sz="2400" b="0" dirty="0"/>
              <a:t>The physical properties of crystals are related to their directionality. If taken two arbitrary directions, n</a:t>
            </a:r>
            <a:r>
              <a:rPr lang="en-US" altLang="zh-CN" sz="2400" b="0" baseline="-25000" dirty="0"/>
              <a:t>1</a:t>
            </a:r>
            <a:r>
              <a:rPr lang="en-US" altLang="zh-CN" sz="2400" b="0" dirty="0"/>
              <a:t>and n</a:t>
            </a:r>
            <a:r>
              <a:rPr lang="en-US" altLang="zh-CN" sz="2400" b="0" baseline="-25000" dirty="0"/>
              <a:t>2</a:t>
            </a:r>
            <a:r>
              <a:rPr lang="en-US" altLang="zh-CN" sz="2400" b="0" dirty="0"/>
              <a:t>, </a:t>
            </a:r>
          </a:p>
          <a:p>
            <a:pPr algn="just" eaLnBrk="1" fontAlgn="auto" hangingPunct="1">
              <a:spcBef>
                <a:spcPts val="600"/>
              </a:spcBef>
              <a:buFont typeface="Wingdings" panose="05000000000000000000" pitchFamily="2" charset="2"/>
              <a:buNone/>
              <a:defRPr/>
            </a:pPr>
            <a:r>
              <a:rPr lang="en-US" altLang="zh-CN" sz="2400" b="0" i="1" dirty="0">
                <a:solidFill>
                  <a:srgbClr val="0000CC"/>
                </a:solidFill>
              </a:rPr>
              <a:t>			</a:t>
            </a:r>
            <a:r>
              <a:rPr lang="en-US" altLang="zh-CN" sz="2400" b="0" i="1" dirty="0"/>
              <a:t>       F</a:t>
            </a:r>
            <a:r>
              <a:rPr lang="en-US" altLang="zh-CN" sz="2400" b="0" dirty="0"/>
              <a:t>(n</a:t>
            </a:r>
            <a:r>
              <a:rPr lang="en-US" altLang="zh-CN" sz="2400" b="0" baseline="-25000" dirty="0"/>
              <a:t>1</a:t>
            </a:r>
            <a:r>
              <a:rPr lang="en-US" altLang="zh-CN" sz="2400" b="0" dirty="0"/>
              <a:t>) </a:t>
            </a:r>
            <a:r>
              <a:rPr lang="en-US" altLang="zh-CN" sz="2400" b="0" dirty="0">
                <a:sym typeface="Symbol" panose="05050102010706020507" pitchFamily="18" charset="2"/>
              </a:rPr>
              <a:t></a:t>
            </a:r>
            <a:r>
              <a:rPr lang="en-US" altLang="zh-CN" sz="2400" b="0" dirty="0"/>
              <a:t> </a:t>
            </a:r>
            <a:r>
              <a:rPr lang="en-US" altLang="zh-CN" sz="2400" b="0" i="1" dirty="0"/>
              <a:t>F</a:t>
            </a:r>
            <a:r>
              <a:rPr lang="en-US" altLang="zh-CN" sz="2400" b="0" dirty="0"/>
              <a:t>(n</a:t>
            </a:r>
            <a:r>
              <a:rPr lang="en-US" altLang="zh-CN" sz="2400" b="0" baseline="-25000" dirty="0"/>
              <a:t>2</a:t>
            </a:r>
            <a:r>
              <a:rPr lang="en-US" altLang="zh-CN" sz="2400" b="0" dirty="0"/>
              <a:t>) </a:t>
            </a:r>
          </a:p>
          <a:p>
            <a:pPr algn="just" eaLnBrk="1" fontAlgn="auto" hangingPunct="1">
              <a:buFont typeface="Wingdings" panose="05000000000000000000" pitchFamily="2" charset="2"/>
              <a:buNone/>
              <a:defRPr/>
            </a:pPr>
            <a:r>
              <a:rPr lang="en-US" altLang="zh-CN" sz="2400" dirty="0">
                <a:solidFill>
                  <a:srgbClr val="0000CC"/>
                </a:solidFill>
              </a:rPr>
              <a:t>	 </a:t>
            </a:r>
            <a:r>
              <a:rPr lang="en-US" altLang="zh-CN" sz="2400" b="0" dirty="0"/>
              <a:t>That is, the physical properties of crystals vary in different directions.</a:t>
            </a:r>
            <a:endParaRPr lang="zh-CN" altLang="en-US" sz="2400" b="0" dirty="0"/>
          </a:p>
        </p:txBody>
      </p:sp>
      <p:sp>
        <p:nvSpPr>
          <p:cNvPr id="100355" name="Rectangle 3"/>
          <p:cNvSpPr>
            <a:spLocks noChangeArrowheads="1"/>
          </p:cNvSpPr>
          <p:nvPr/>
        </p:nvSpPr>
        <p:spPr bwMode="auto">
          <a:xfrm>
            <a:off x="1211263" y="581025"/>
            <a:ext cx="6721475" cy="523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algn="ctr" eaLnBrk="0" fontAlgn="auto" hangingPunct="0">
              <a:spcAft>
                <a:spcPts val="0"/>
              </a:spcAft>
              <a:defRPr/>
            </a:pPr>
            <a:r>
              <a:rPr lang="en-US" altLang="zh-CN" sz="2800" cap="all" spc="-60" dirty="0">
                <a:solidFill>
                  <a:srgbClr val="C00000"/>
                </a:solidFill>
                <a:latin typeface="+mj-lt"/>
                <a:ea typeface="+mj-ea"/>
                <a:cs typeface="+mj-cs"/>
              </a:rPr>
              <a:t>Basic properties of crystals</a:t>
            </a:r>
            <a:endParaRPr lang="zh-CN" altLang="en-US" sz="2800" cap="all" spc="-60" dirty="0">
              <a:solidFill>
                <a:srgbClr val="C00000"/>
              </a:solidFill>
              <a:latin typeface="+mj-lt"/>
              <a:ea typeface="+mj-ea"/>
              <a:cs typeface="+mj-cs"/>
            </a:endParaRPr>
          </a:p>
        </p:txBody>
      </p:sp>
      <p:sp>
        <p:nvSpPr>
          <p:cNvPr id="201732"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354">
                                            <p:txEl>
                                              <p:pRg st="0" end="0"/>
                                            </p:txEl>
                                          </p:spTgt>
                                        </p:tgtEl>
                                        <p:attrNameLst>
                                          <p:attrName>style.visibility</p:attrName>
                                        </p:attrNameLst>
                                      </p:cBhvr>
                                      <p:to>
                                        <p:strVal val="visible"/>
                                      </p:to>
                                    </p:set>
                                    <p:anim calcmode="lin" valueType="num">
                                      <p:cBhvr additive="base">
                                        <p:cTn id="7" dur="500" fill="hold"/>
                                        <p:tgtEl>
                                          <p:spTgt spid="10035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03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354">
                                            <p:txEl>
                                              <p:pRg st="1" end="1"/>
                                            </p:txEl>
                                          </p:spTgt>
                                        </p:tgtEl>
                                        <p:attrNameLst>
                                          <p:attrName>style.visibility</p:attrName>
                                        </p:attrNameLst>
                                      </p:cBhvr>
                                      <p:to>
                                        <p:strVal val="visible"/>
                                      </p:to>
                                    </p:set>
                                    <p:anim calcmode="lin" valueType="num">
                                      <p:cBhvr additive="base">
                                        <p:cTn id="13" dur="500" fill="hold"/>
                                        <p:tgtEl>
                                          <p:spTgt spid="10035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035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0354">
                                            <p:txEl>
                                              <p:pRg st="2" end="2"/>
                                            </p:txEl>
                                          </p:spTgt>
                                        </p:tgtEl>
                                        <p:attrNameLst>
                                          <p:attrName>style.visibility</p:attrName>
                                        </p:attrNameLst>
                                      </p:cBhvr>
                                      <p:to>
                                        <p:strVal val="visible"/>
                                      </p:to>
                                    </p:set>
                                    <p:anim calcmode="lin" valueType="num">
                                      <p:cBhvr additive="base">
                                        <p:cTn id="19" dur="500" fill="hold"/>
                                        <p:tgtEl>
                                          <p:spTgt spid="10035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035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0354">
                                            <p:txEl>
                                              <p:pRg st="4" end="4"/>
                                            </p:txEl>
                                          </p:spTgt>
                                        </p:tgtEl>
                                        <p:attrNameLst>
                                          <p:attrName>style.visibility</p:attrName>
                                        </p:attrNameLst>
                                      </p:cBhvr>
                                      <p:to>
                                        <p:strVal val="visible"/>
                                      </p:to>
                                    </p:set>
                                    <p:anim calcmode="lin" valueType="num">
                                      <p:cBhvr additive="base">
                                        <p:cTn id="25" dur="500" fill="hold"/>
                                        <p:tgtEl>
                                          <p:spTgt spid="100354">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035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0354">
                                            <p:txEl>
                                              <p:pRg st="5" end="5"/>
                                            </p:txEl>
                                          </p:spTgt>
                                        </p:tgtEl>
                                        <p:attrNameLst>
                                          <p:attrName>style.visibility</p:attrName>
                                        </p:attrNameLst>
                                      </p:cBhvr>
                                      <p:to>
                                        <p:strVal val="visible"/>
                                      </p:to>
                                    </p:set>
                                    <p:anim calcmode="lin" valueType="num">
                                      <p:cBhvr additive="base">
                                        <p:cTn id="31" dur="500" fill="hold"/>
                                        <p:tgtEl>
                                          <p:spTgt spid="100354">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035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0354">
                                            <p:txEl>
                                              <p:pRg st="6" end="6"/>
                                            </p:txEl>
                                          </p:spTgt>
                                        </p:tgtEl>
                                        <p:attrNameLst>
                                          <p:attrName>style.visibility</p:attrName>
                                        </p:attrNameLst>
                                      </p:cBhvr>
                                      <p:to>
                                        <p:strVal val="visible"/>
                                      </p:to>
                                    </p:set>
                                    <p:anim calcmode="lin" valueType="num">
                                      <p:cBhvr additive="base">
                                        <p:cTn id="37" dur="500" fill="hold"/>
                                        <p:tgtEl>
                                          <p:spTgt spid="100354">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0354">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01378" name="Rectangle 2"/>
          <p:cNvSpPr>
            <a:spLocks noGrp="1" noChangeArrowheads="1"/>
          </p:cNvSpPr>
          <p:nvPr>
            <p:ph sz="half" idx="1"/>
          </p:nvPr>
        </p:nvSpPr>
        <p:spPr>
          <a:xfrm>
            <a:off x="609600" y="1524000"/>
            <a:ext cx="8139113" cy="5073650"/>
          </a:xfrm>
        </p:spPr>
        <p:txBody>
          <a:bodyPr rtlCol="0">
            <a:normAutofit fontScale="70000" lnSpcReduction="20000"/>
          </a:bodyPr>
          <a:lstStyle/>
          <a:p>
            <a:pPr eaLnBrk="1" fontAlgn="auto" hangingPunct="1">
              <a:buFont typeface="Arial" panose="020B0604020202020204" pitchFamily="34" charset="0"/>
              <a:buNone/>
              <a:defRPr/>
            </a:pPr>
            <a:r>
              <a:rPr lang="en-US" altLang="zh-CN" sz="2500" dirty="0">
                <a:solidFill>
                  <a:srgbClr val="C00000"/>
                </a:solidFill>
              </a:rPr>
              <a:t>Symmetry: </a:t>
            </a:r>
            <a:r>
              <a:rPr lang="en-US" altLang="zh-CN" sz="2500" b="0" dirty="0"/>
              <a:t>if the directions </a:t>
            </a:r>
            <a:r>
              <a:rPr lang="en-US" altLang="zh-CN" sz="2500" dirty="0"/>
              <a:t>of </a:t>
            </a:r>
            <a:r>
              <a:rPr lang="en-US" altLang="zh-CN" sz="2300" dirty="0"/>
              <a:t>n</a:t>
            </a:r>
            <a:r>
              <a:rPr lang="en-US" altLang="zh-CN" sz="2300" baseline="-25000" dirty="0"/>
              <a:t>1</a:t>
            </a:r>
            <a:r>
              <a:rPr lang="zh-CN" altLang="en-US" sz="2300" baseline="-25000" dirty="0"/>
              <a:t>，</a:t>
            </a:r>
            <a:r>
              <a:rPr lang="en-US" altLang="zh-CN" sz="2300" dirty="0"/>
              <a:t>n</a:t>
            </a:r>
            <a:r>
              <a:rPr lang="en-US" altLang="zh-CN" sz="2300" baseline="-25000" dirty="0"/>
              <a:t>2</a:t>
            </a:r>
            <a:r>
              <a:rPr lang="zh-CN" altLang="en-US" sz="2300" baseline="-25000" dirty="0"/>
              <a:t>，</a:t>
            </a:r>
            <a:r>
              <a:rPr lang="en-US" altLang="zh-CN" sz="2300" dirty="0"/>
              <a:t>and even </a:t>
            </a:r>
            <a:r>
              <a:rPr lang="en-US" altLang="zh-CN" sz="2300" dirty="0" err="1"/>
              <a:t>n</a:t>
            </a:r>
            <a:r>
              <a:rPr lang="en-US" altLang="zh-CN" sz="2300" baseline="-25000" dirty="0" err="1"/>
              <a:t>n</a:t>
            </a:r>
            <a:r>
              <a:rPr lang="en-US" altLang="zh-CN" sz="2300" baseline="-25000" dirty="0"/>
              <a:t>  </a:t>
            </a:r>
            <a:r>
              <a:rPr lang="en-US" altLang="zh-CN" sz="2500" b="0" dirty="0"/>
              <a:t>can be coincident by symmetric operations, there is</a:t>
            </a:r>
          </a:p>
          <a:p>
            <a:pPr algn="ctr" eaLnBrk="1" fontAlgn="auto" hangingPunct="1">
              <a:spcBef>
                <a:spcPts val="600"/>
              </a:spcBef>
              <a:buFont typeface="Arial" panose="020B0604020202020204" pitchFamily="34" charset="0"/>
              <a:buNone/>
              <a:defRPr/>
            </a:pPr>
            <a:r>
              <a:rPr lang="en-US" altLang="zh-CN" sz="2100" i="1" dirty="0"/>
              <a:t>F</a:t>
            </a:r>
            <a:r>
              <a:rPr lang="en-US" altLang="zh-CN" sz="2100" dirty="0"/>
              <a:t>(n</a:t>
            </a:r>
            <a:r>
              <a:rPr lang="en-US" altLang="zh-CN" sz="2100" baseline="-25000" dirty="0"/>
              <a:t>1</a:t>
            </a:r>
            <a:r>
              <a:rPr lang="en-US" altLang="zh-CN" sz="2100" dirty="0"/>
              <a:t>) = </a:t>
            </a:r>
            <a:r>
              <a:rPr lang="en-US" altLang="zh-CN" sz="2100" i="1" dirty="0"/>
              <a:t>F</a:t>
            </a:r>
            <a:r>
              <a:rPr lang="en-US" altLang="zh-CN" sz="2100" dirty="0"/>
              <a:t>(n</a:t>
            </a:r>
            <a:r>
              <a:rPr lang="en-US" altLang="zh-CN" sz="2100" baseline="-25000" dirty="0"/>
              <a:t>2</a:t>
            </a:r>
            <a:r>
              <a:rPr lang="en-US" altLang="zh-CN" sz="2100" dirty="0"/>
              <a:t>) = </a:t>
            </a:r>
            <a:r>
              <a:rPr lang="en-US" altLang="zh-CN" sz="2100" dirty="0">
                <a:sym typeface="Symbol" panose="05050102010706020507" pitchFamily="18" charset="2"/>
              </a:rPr>
              <a:t></a:t>
            </a:r>
            <a:r>
              <a:rPr lang="en-US" altLang="zh-CN" sz="2100" dirty="0"/>
              <a:t>= </a:t>
            </a:r>
            <a:r>
              <a:rPr lang="en-US" altLang="zh-CN" sz="2100" i="1" dirty="0"/>
              <a:t>F</a:t>
            </a:r>
            <a:r>
              <a:rPr lang="en-US" altLang="zh-CN" sz="2100" dirty="0"/>
              <a:t>(</a:t>
            </a:r>
            <a:r>
              <a:rPr lang="en-US" altLang="zh-CN" sz="2100" dirty="0" err="1"/>
              <a:t>n</a:t>
            </a:r>
            <a:r>
              <a:rPr lang="en-US" altLang="zh-CN" sz="2100" baseline="-25000" dirty="0" err="1"/>
              <a:t>n</a:t>
            </a:r>
            <a:r>
              <a:rPr lang="en-US" altLang="zh-CN" sz="2100" dirty="0"/>
              <a:t>) </a:t>
            </a:r>
          </a:p>
          <a:p>
            <a:pPr eaLnBrk="1" fontAlgn="auto" hangingPunct="1">
              <a:buFont typeface="Arial" panose="020B0604020202020204" pitchFamily="34" charset="0"/>
              <a:buNone/>
              <a:defRPr/>
            </a:pPr>
            <a:r>
              <a:rPr lang="en-US" altLang="zh-CN" sz="2500" b="0" dirty="0"/>
              <a:t> That is to say the crystal properties of F is symmetrically configured about </a:t>
            </a:r>
            <a:r>
              <a:rPr lang="en-US" altLang="zh-CN" sz="2300" dirty="0">
                <a:solidFill>
                  <a:srgbClr val="000000"/>
                </a:solidFill>
              </a:rPr>
              <a:t>n</a:t>
            </a:r>
            <a:r>
              <a:rPr lang="en-US" altLang="zh-CN" sz="2300" baseline="-25000" dirty="0">
                <a:solidFill>
                  <a:srgbClr val="000000"/>
                </a:solidFill>
              </a:rPr>
              <a:t>1</a:t>
            </a:r>
            <a:r>
              <a:rPr lang="zh-CN" altLang="en-US" sz="2300" baseline="-25000" dirty="0">
                <a:solidFill>
                  <a:srgbClr val="000000"/>
                </a:solidFill>
              </a:rPr>
              <a:t>，</a:t>
            </a:r>
            <a:r>
              <a:rPr lang="en-US" altLang="zh-CN" sz="2300" dirty="0">
                <a:solidFill>
                  <a:srgbClr val="000000"/>
                </a:solidFill>
              </a:rPr>
              <a:t>n</a:t>
            </a:r>
            <a:r>
              <a:rPr lang="en-US" altLang="zh-CN" sz="2300" baseline="-25000" dirty="0">
                <a:solidFill>
                  <a:srgbClr val="000000"/>
                </a:solidFill>
              </a:rPr>
              <a:t>2</a:t>
            </a:r>
            <a:r>
              <a:rPr lang="zh-CN" altLang="en-US" sz="2300" baseline="-25000" dirty="0">
                <a:solidFill>
                  <a:srgbClr val="000000"/>
                </a:solidFill>
              </a:rPr>
              <a:t>，</a:t>
            </a:r>
            <a:r>
              <a:rPr lang="en-US" altLang="zh-CN" sz="2300" dirty="0">
                <a:solidFill>
                  <a:srgbClr val="000000"/>
                </a:solidFill>
              </a:rPr>
              <a:t>and even </a:t>
            </a:r>
            <a:r>
              <a:rPr lang="en-US" altLang="zh-CN" sz="2300" dirty="0" err="1">
                <a:solidFill>
                  <a:srgbClr val="000000"/>
                </a:solidFill>
              </a:rPr>
              <a:t>n</a:t>
            </a:r>
            <a:r>
              <a:rPr lang="en-US" altLang="zh-CN" sz="2300" baseline="-25000" dirty="0" err="1">
                <a:solidFill>
                  <a:srgbClr val="000000"/>
                </a:solidFill>
              </a:rPr>
              <a:t>n</a:t>
            </a:r>
            <a:r>
              <a:rPr lang="en-US" altLang="zh-CN" sz="2300" dirty="0">
                <a:solidFill>
                  <a:srgbClr val="000000"/>
                </a:solidFill>
              </a:rPr>
              <a:t>.</a:t>
            </a:r>
          </a:p>
          <a:p>
            <a:pPr eaLnBrk="1" fontAlgn="auto" hangingPunct="1">
              <a:buFont typeface="Arial" panose="020B0604020202020204" pitchFamily="34" charset="0"/>
              <a:buNone/>
              <a:defRPr/>
            </a:pPr>
            <a:endParaRPr lang="en-US" altLang="zh-CN" sz="1100" dirty="0">
              <a:solidFill>
                <a:srgbClr val="000000"/>
              </a:solidFill>
            </a:endParaRPr>
          </a:p>
          <a:p>
            <a:pPr eaLnBrk="1" fontAlgn="auto" hangingPunct="1">
              <a:buFont typeface="Arial" panose="020B0604020202020204" pitchFamily="34" charset="0"/>
              <a:buNone/>
              <a:defRPr/>
            </a:pPr>
            <a:r>
              <a:rPr lang="en-US" altLang="zh-CN" sz="2500" dirty="0">
                <a:solidFill>
                  <a:srgbClr val="C00000"/>
                </a:solidFill>
              </a:rPr>
              <a:t>Self – norm (self - limiting) anisotropy: </a:t>
            </a:r>
            <a:r>
              <a:rPr lang="en-US" altLang="zh-CN" sz="2500" b="0" dirty="0"/>
              <a:t>the appearance of crystalline physical can  spontaneously forms a closed convex geometry (</a:t>
            </a:r>
            <a:r>
              <a:rPr lang="zh-CN" altLang="en-US" sz="2500" b="0" dirty="0"/>
              <a:t>凸面几何体）</a:t>
            </a:r>
            <a:r>
              <a:rPr lang="en-US" altLang="zh-CN" sz="2500" b="0" dirty="0"/>
              <a:t>, and satisfies the laws of Euler</a:t>
            </a:r>
          </a:p>
          <a:p>
            <a:pPr algn="ctr" eaLnBrk="1" fontAlgn="auto" hangingPunct="1">
              <a:buFont typeface="Arial" panose="020B0604020202020204" pitchFamily="34" charset="0"/>
              <a:buNone/>
              <a:defRPr/>
            </a:pPr>
            <a:r>
              <a:rPr lang="en-US" altLang="zh-CN" sz="2500" i="1" dirty="0"/>
              <a:t>F + V = E + 2</a:t>
            </a:r>
          </a:p>
          <a:p>
            <a:pPr algn="ctr" eaLnBrk="1" fontAlgn="auto" hangingPunct="1">
              <a:buFont typeface="Arial" panose="020B0604020202020204" pitchFamily="34" charset="0"/>
              <a:buNone/>
              <a:defRPr/>
            </a:pPr>
            <a:r>
              <a:rPr lang="en-US" altLang="zh-CN" sz="2500" b="0" i="1" dirty="0"/>
              <a:t>F: number of crystal facets; E: number of crystal edges; V: number of vertexes</a:t>
            </a:r>
          </a:p>
          <a:p>
            <a:pPr algn="ctr" eaLnBrk="1" fontAlgn="auto" hangingPunct="1">
              <a:buFont typeface="Arial" panose="020B0604020202020204" pitchFamily="34" charset="0"/>
              <a:buNone/>
              <a:defRPr/>
            </a:pPr>
            <a:endParaRPr lang="en-US" altLang="zh-CN" sz="1300" b="0" i="1" dirty="0"/>
          </a:p>
          <a:p>
            <a:pPr eaLnBrk="1" fontAlgn="auto" hangingPunct="1">
              <a:buFont typeface="Arial" panose="020B0604020202020204" pitchFamily="34" charset="0"/>
              <a:buNone/>
              <a:defRPr/>
            </a:pPr>
            <a:r>
              <a:rPr lang="en-US" altLang="zh-CN" sz="2500" dirty="0">
                <a:solidFill>
                  <a:srgbClr val="C00000"/>
                </a:solidFill>
              </a:rPr>
              <a:t>Minimum internal energy: </a:t>
            </a:r>
            <a:r>
              <a:rPr lang="en-US" altLang="zh-CN" sz="2500" b="0" dirty="0"/>
              <a:t>in the same thermodynamic conditions, the internal energy of crystals is the smallest compared to those of gases, liquids, and amorphous compounds with the same chemical compositions.</a:t>
            </a:r>
          </a:p>
          <a:p>
            <a:pPr eaLnBrk="1" fontAlgn="auto" hangingPunct="1">
              <a:buFont typeface="Arial" panose="020B0604020202020204" pitchFamily="34" charset="0"/>
              <a:buNone/>
              <a:defRPr/>
            </a:pPr>
            <a:endParaRPr lang="en-US" altLang="zh-CN" sz="1100" b="0" dirty="0"/>
          </a:p>
          <a:p>
            <a:pPr eaLnBrk="1" fontAlgn="auto" hangingPunct="1">
              <a:buFont typeface="Arial" panose="020B0604020202020204" pitchFamily="34" charset="0"/>
              <a:buNone/>
              <a:defRPr/>
            </a:pPr>
            <a:r>
              <a:rPr lang="en-US" altLang="zh-CN" sz="2500" dirty="0">
                <a:solidFill>
                  <a:srgbClr val="C00000"/>
                </a:solidFill>
              </a:rPr>
              <a:t>Stability: </a:t>
            </a:r>
            <a:r>
              <a:rPr lang="en-US" altLang="zh-CN" sz="2500" b="0" dirty="0"/>
              <a:t>in the same thermodynamic conditions, the crystals are stable compared to those with the same chemical compositions.</a:t>
            </a:r>
          </a:p>
        </p:txBody>
      </p:sp>
      <p:sp>
        <p:nvSpPr>
          <p:cNvPr id="101379" name="Rectangle 3"/>
          <p:cNvSpPr>
            <a:spLocks noChangeArrowheads="1"/>
          </p:cNvSpPr>
          <p:nvPr/>
        </p:nvSpPr>
        <p:spPr bwMode="auto">
          <a:xfrm>
            <a:off x="685800" y="304800"/>
            <a:ext cx="7772400" cy="80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fontAlgn="auto">
              <a:spcAft>
                <a:spcPts val="0"/>
              </a:spcAft>
              <a:defRPr/>
            </a:pPr>
            <a:r>
              <a:rPr lang="en-US" altLang="zh-CN" sz="2800" cap="all" spc="-60" dirty="0">
                <a:solidFill>
                  <a:srgbClr val="C00000"/>
                </a:solidFill>
                <a:latin typeface="+mj-lt"/>
                <a:ea typeface="+mj-ea"/>
                <a:cs typeface="+mj-cs"/>
              </a:rPr>
              <a:t>Basic</a:t>
            </a:r>
            <a:r>
              <a:rPr lang="en-US" altLang="zh-CN" sz="3200" b="1" cap="all" spc="-60" dirty="0">
                <a:solidFill>
                  <a:srgbClr val="FF0066"/>
                </a:solidFill>
                <a:effectLst>
                  <a:outerShdw blurRad="38100" dist="38100" dir="2700000" algn="tl">
                    <a:srgbClr val="000000"/>
                  </a:outerShdw>
                </a:effectLst>
                <a:latin typeface="+mj-lt"/>
                <a:ea typeface="+mj-ea"/>
                <a:cs typeface="+mj-cs"/>
              </a:rPr>
              <a:t> </a:t>
            </a:r>
            <a:r>
              <a:rPr lang="en-US" altLang="zh-CN" sz="2800" cap="all" spc="-60" dirty="0">
                <a:solidFill>
                  <a:srgbClr val="C00000"/>
                </a:solidFill>
                <a:latin typeface="+mj-lt"/>
                <a:ea typeface="+mj-ea"/>
                <a:cs typeface="+mj-cs"/>
              </a:rPr>
              <a:t>properties of crystals</a:t>
            </a:r>
          </a:p>
        </p:txBody>
      </p:sp>
      <p:sp>
        <p:nvSpPr>
          <p:cNvPr id="202756" name="Line 4"/>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1378">
                                            <p:txEl>
                                              <p:pRg st="0" end="0"/>
                                            </p:txEl>
                                          </p:spTgt>
                                        </p:tgtEl>
                                        <p:attrNameLst>
                                          <p:attrName>style.visibility</p:attrName>
                                        </p:attrNameLst>
                                      </p:cBhvr>
                                      <p:to>
                                        <p:strVal val="visible"/>
                                      </p:to>
                                    </p:set>
                                    <p:anim calcmode="lin" valueType="num">
                                      <p:cBhvr additive="base">
                                        <p:cTn id="7" dur="500" fill="hold"/>
                                        <p:tgtEl>
                                          <p:spTgt spid="10137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137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1378">
                                            <p:txEl>
                                              <p:pRg st="1" end="1"/>
                                            </p:txEl>
                                          </p:spTgt>
                                        </p:tgtEl>
                                        <p:attrNameLst>
                                          <p:attrName>style.visibility</p:attrName>
                                        </p:attrNameLst>
                                      </p:cBhvr>
                                      <p:to>
                                        <p:strVal val="visible"/>
                                      </p:to>
                                    </p:set>
                                    <p:anim calcmode="lin" valueType="num">
                                      <p:cBhvr additive="base">
                                        <p:cTn id="13" dur="500" fill="hold"/>
                                        <p:tgtEl>
                                          <p:spTgt spid="10137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137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1378">
                                            <p:txEl>
                                              <p:pRg st="2" end="2"/>
                                            </p:txEl>
                                          </p:spTgt>
                                        </p:tgtEl>
                                        <p:attrNameLst>
                                          <p:attrName>style.visibility</p:attrName>
                                        </p:attrNameLst>
                                      </p:cBhvr>
                                      <p:to>
                                        <p:strVal val="visible"/>
                                      </p:to>
                                    </p:set>
                                    <p:anim calcmode="lin" valueType="num">
                                      <p:cBhvr additive="base">
                                        <p:cTn id="19" dur="500" fill="hold"/>
                                        <p:tgtEl>
                                          <p:spTgt spid="10137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137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1378">
                                            <p:txEl>
                                              <p:pRg st="4" end="4"/>
                                            </p:txEl>
                                          </p:spTgt>
                                        </p:tgtEl>
                                        <p:attrNameLst>
                                          <p:attrName>style.visibility</p:attrName>
                                        </p:attrNameLst>
                                      </p:cBhvr>
                                      <p:to>
                                        <p:strVal val="visible"/>
                                      </p:to>
                                    </p:set>
                                    <p:anim calcmode="lin" valueType="num">
                                      <p:cBhvr additive="base">
                                        <p:cTn id="25" dur="500" fill="hold"/>
                                        <p:tgtEl>
                                          <p:spTgt spid="101378">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137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1378">
                                            <p:txEl>
                                              <p:pRg st="5" end="5"/>
                                            </p:txEl>
                                          </p:spTgt>
                                        </p:tgtEl>
                                        <p:attrNameLst>
                                          <p:attrName>style.visibility</p:attrName>
                                        </p:attrNameLst>
                                      </p:cBhvr>
                                      <p:to>
                                        <p:strVal val="visible"/>
                                      </p:to>
                                    </p:set>
                                    <p:anim calcmode="lin" valueType="num">
                                      <p:cBhvr additive="base">
                                        <p:cTn id="31" dur="500" fill="hold"/>
                                        <p:tgtEl>
                                          <p:spTgt spid="101378">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137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1378">
                                            <p:txEl>
                                              <p:pRg st="6" end="6"/>
                                            </p:txEl>
                                          </p:spTgt>
                                        </p:tgtEl>
                                        <p:attrNameLst>
                                          <p:attrName>style.visibility</p:attrName>
                                        </p:attrNameLst>
                                      </p:cBhvr>
                                      <p:to>
                                        <p:strVal val="visible"/>
                                      </p:to>
                                    </p:set>
                                    <p:anim calcmode="lin" valueType="num">
                                      <p:cBhvr additive="base">
                                        <p:cTn id="37" dur="500" fill="hold"/>
                                        <p:tgtEl>
                                          <p:spTgt spid="101378">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137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1378">
                                            <p:txEl>
                                              <p:pRg st="8" end="8"/>
                                            </p:txEl>
                                          </p:spTgt>
                                        </p:tgtEl>
                                        <p:attrNameLst>
                                          <p:attrName>style.visibility</p:attrName>
                                        </p:attrNameLst>
                                      </p:cBhvr>
                                      <p:to>
                                        <p:strVal val="visible"/>
                                      </p:to>
                                    </p:set>
                                    <p:anim calcmode="lin" valueType="num">
                                      <p:cBhvr additive="base">
                                        <p:cTn id="43" dur="500" fill="hold"/>
                                        <p:tgtEl>
                                          <p:spTgt spid="101378">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137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1378">
                                            <p:txEl>
                                              <p:pRg st="10" end="10"/>
                                            </p:txEl>
                                          </p:spTgt>
                                        </p:tgtEl>
                                        <p:attrNameLst>
                                          <p:attrName>style.visibility</p:attrName>
                                        </p:attrNameLst>
                                      </p:cBhvr>
                                      <p:to>
                                        <p:strVal val="visible"/>
                                      </p:to>
                                    </p:set>
                                    <p:anim calcmode="lin" valueType="num">
                                      <p:cBhvr additive="base">
                                        <p:cTn id="49" dur="500" fill="hold"/>
                                        <p:tgtEl>
                                          <p:spTgt spid="101378">
                                            <p:txEl>
                                              <p:pRg st="10" end="10"/>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1378">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idx="1"/>
          </p:nvPr>
        </p:nvSpPr>
        <p:spPr>
          <a:xfrm>
            <a:off x="827088" y="1412875"/>
            <a:ext cx="7791450" cy="4464050"/>
          </a:xfrm>
        </p:spPr>
        <p:txBody>
          <a:bodyPr/>
          <a:lstStyle/>
          <a:p>
            <a:pPr eaLnBrk="1" hangingPunct="1">
              <a:buFont typeface="Monotype Sorts" pitchFamily="2" charset="2"/>
              <a:buNone/>
            </a:pPr>
            <a:r>
              <a:rPr lang="en-US" altLang="zh-CN" sz="2400">
                <a:solidFill>
                  <a:srgbClr val="FF0000"/>
                </a:solidFill>
              </a:rPr>
              <a:t>The most important concepts of this chapter:</a:t>
            </a:r>
          </a:p>
          <a:p>
            <a:pPr eaLnBrk="1" hangingPunct="1">
              <a:buFont typeface="Monotype Sorts" pitchFamily="2" charset="2"/>
              <a:buNone/>
            </a:pPr>
            <a:endParaRPr lang="en-US" altLang="zh-CN" sz="800"/>
          </a:p>
          <a:p>
            <a:pPr eaLnBrk="1" hangingPunct="1">
              <a:buClr>
                <a:srgbClr val="0066CC"/>
              </a:buClr>
              <a:buFont typeface="Monotype Sorts" pitchFamily="2" charset="2"/>
              <a:buChar char="q"/>
            </a:pPr>
            <a:r>
              <a:rPr lang="zh-CN" altLang="en-US" sz="2400">
                <a:solidFill>
                  <a:srgbClr val="660033"/>
                </a:solidFill>
              </a:rPr>
              <a:t> </a:t>
            </a:r>
            <a:r>
              <a:rPr lang="en-US" altLang="zh-CN" sz="2400">
                <a:solidFill>
                  <a:srgbClr val="660033"/>
                </a:solidFill>
              </a:rPr>
              <a:t>crystal, non-crystal, quasi-crystal; crystal structure, lattice construction, space lattice, equivalent point; </a:t>
            </a:r>
          </a:p>
          <a:p>
            <a:pPr eaLnBrk="1" hangingPunct="1">
              <a:buClr>
                <a:srgbClr val="0066CC"/>
              </a:buClr>
              <a:buFont typeface="Monotype Sorts" pitchFamily="2" charset="2"/>
              <a:buChar char="q"/>
            </a:pPr>
            <a:r>
              <a:rPr lang="en-US" altLang="zh-CN" sz="2400">
                <a:solidFill>
                  <a:srgbClr val="660033"/>
                </a:solidFill>
              </a:rPr>
              <a:t> node/lattice point, row, net, parallelepiped; node distance, net distance and net density;</a:t>
            </a:r>
            <a:r>
              <a:rPr lang="zh-CN" altLang="en-US" sz="2400">
                <a:solidFill>
                  <a:srgbClr val="660033"/>
                </a:solidFill>
              </a:rPr>
              <a:t> </a:t>
            </a:r>
            <a:endParaRPr lang="en-US" altLang="zh-CN" sz="2400">
              <a:solidFill>
                <a:srgbClr val="660033"/>
              </a:solidFill>
            </a:endParaRPr>
          </a:p>
          <a:p>
            <a:pPr eaLnBrk="1" hangingPunct="1">
              <a:buClr>
                <a:srgbClr val="0066CC"/>
              </a:buClr>
              <a:buFont typeface="Monotype Sorts" pitchFamily="2" charset="2"/>
              <a:buChar char="q"/>
            </a:pPr>
            <a:r>
              <a:rPr lang="en-US" altLang="zh-CN" sz="2400">
                <a:solidFill>
                  <a:srgbClr val="660033"/>
                </a:solidFill>
              </a:rPr>
              <a:t> basic properties of crystals: homogeneity, anisotropy, symmetry: self – norm (self - limiting) anisotropy, minimum internal energy, stability.</a:t>
            </a:r>
          </a:p>
        </p:txBody>
      </p:sp>
      <p:sp>
        <p:nvSpPr>
          <p:cNvPr id="203779" name="Line 3"/>
          <p:cNvSpPr>
            <a:spLocks noChangeShapeType="1"/>
          </p:cNvSpPr>
          <p:nvPr/>
        </p:nvSpPr>
        <p:spPr bwMode="auto">
          <a:xfrm>
            <a:off x="990600" y="1143000"/>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56324" name="Rectangle 5"/>
          <p:cNvSpPr>
            <a:spLocks noChangeArrowheads="1"/>
          </p:cNvSpPr>
          <p:nvPr/>
        </p:nvSpPr>
        <p:spPr bwMode="auto">
          <a:xfrm>
            <a:off x="3051175" y="477838"/>
            <a:ext cx="3114675"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p>
            <a:pPr algn="ctr" fontAlgn="auto">
              <a:spcAft>
                <a:spcPts val="0"/>
              </a:spcAft>
              <a:defRPr/>
            </a:pPr>
            <a:r>
              <a:rPr lang="en-US" altLang="zh-CN" sz="2800" cap="all" spc="-60" dirty="0">
                <a:solidFill>
                  <a:srgbClr val="C00000"/>
                </a:solidFill>
                <a:latin typeface="+mj-lt"/>
                <a:ea typeface="+mj-ea"/>
                <a:cs typeface="+mj-cs"/>
              </a:rPr>
              <a:t>Key summary</a:t>
            </a:r>
            <a:endParaRPr lang="zh-CN" altLang="en-US" sz="2800" cap="all" spc="-60" dirty="0">
              <a:solidFill>
                <a:srgbClr val="C00000"/>
              </a:solidFill>
              <a:latin typeface="+mj-lt"/>
              <a:ea typeface="+mj-ea"/>
              <a:cs typeface="+mj-cs"/>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02" name="Object 2"/>
          <p:cNvGraphicFramePr>
            <a:graphicFrameLocks noGrp="1" noChangeAspect="1"/>
          </p:cNvGraphicFramePr>
          <p:nvPr>
            <p:ph type="subTitle" idx="1"/>
          </p:nvPr>
        </p:nvGraphicFramePr>
        <p:xfrm>
          <a:off x="917575" y="1916113"/>
          <a:ext cx="7537450" cy="3725862"/>
        </p:xfrm>
        <a:graphic>
          <a:graphicData uri="http://schemas.openxmlformats.org/presentationml/2006/ole">
            <mc:AlternateContent xmlns:mc="http://schemas.openxmlformats.org/markup-compatibility/2006">
              <mc:Choice xmlns:v="urn:schemas-microsoft-com:vml" Requires="v">
                <p:oleObj name="CorelDRAW" r:id="rId2" imgW="9455150" imgH="4672330" progId="CorelDRAW.Graphic.12">
                  <p:embed/>
                </p:oleObj>
              </mc:Choice>
              <mc:Fallback>
                <p:oleObj name="CorelDRAW" r:id="rId2" imgW="9455150" imgH="4672330" progId="CorelDRAW.Graphic.12">
                  <p:embed/>
                  <p:pic>
                    <p:nvPicPr>
                      <p:cNvPr id="0"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575" y="1916113"/>
                        <a:ext cx="7537450" cy="372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03" name="Rectangle 5"/>
          <p:cNvSpPr>
            <a:spLocks noChangeArrowheads="1"/>
          </p:cNvSpPr>
          <p:nvPr/>
        </p:nvSpPr>
        <p:spPr bwMode="auto">
          <a:xfrm>
            <a:off x="657225" y="1268413"/>
            <a:ext cx="8058150" cy="549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indent="-18288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hangingPunct="1">
              <a:spcAft>
                <a:spcPct val="0"/>
              </a:spcAft>
              <a:buClr>
                <a:schemeClr val="bg2"/>
              </a:buClr>
              <a:buFont typeface="Monotype Sorts" pitchFamily="2" charset="2"/>
              <a:buNone/>
            </a:pPr>
            <a:r>
              <a:rPr lang="en-US" altLang="zh-CN" sz="2400">
                <a:solidFill>
                  <a:srgbClr val="00000C"/>
                </a:solidFill>
                <a:latin typeface="Times New Roman" panose="02020603050405020304" pitchFamily="18" charset="0"/>
                <a:ea typeface="宋体" panose="02010600030101010101" pitchFamily="2" charset="-122"/>
              </a:rPr>
              <a:t>Provide the crystal lattices of the two structures below </a:t>
            </a:r>
            <a:r>
              <a:rPr lang="zh-CN" altLang="en-US" sz="2400">
                <a:solidFill>
                  <a:srgbClr val="00000C"/>
                </a:solidFill>
                <a:latin typeface="Times New Roman" panose="02020603050405020304" pitchFamily="18" charset="0"/>
                <a:ea typeface="宋体" panose="02010600030101010101" pitchFamily="2" charset="-122"/>
              </a:rPr>
              <a:t>                                                                                         </a:t>
            </a:r>
            <a:endParaRPr lang="zh-CN" altLang="zh-CN" sz="2400">
              <a:latin typeface="Arial Unicode MS" pitchFamily="34" charset="-122"/>
              <a:ea typeface="Arial Unicode MS" pitchFamily="34" charset="-122"/>
              <a:cs typeface="Arial Unicode MS" pitchFamily="34" charset="-122"/>
            </a:endParaRPr>
          </a:p>
        </p:txBody>
      </p:sp>
      <p:sp>
        <p:nvSpPr>
          <p:cNvPr id="204804" name="Line 6"/>
          <p:cNvSpPr>
            <a:spLocks noChangeShapeType="1"/>
          </p:cNvSpPr>
          <p:nvPr/>
        </p:nvSpPr>
        <p:spPr bwMode="auto">
          <a:xfrm>
            <a:off x="990600" y="885825"/>
            <a:ext cx="7391400" cy="0"/>
          </a:xfrm>
          <a:prstGeom prst="line">
            <a:avLst/>
          </a:prstGeom>
          <a:noFill/>
          <a:ln w="28575">
            <a:solidFill>
              <a:srgbClr val="0066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a:p>
        </p:txBody>
      </p:sp>
      <p:sp>
        <p:nvSpPr>
          <p:cNvPr id="86021" name="Rectangle 7"/>
          <p:cNvSpPr>
            <a:spLocks noChangeArrowheads="1"/>
          </p:cNvSpPr>
          <p:nvPr/>
        </p:nvSpPr>
        <p:spPr bwMode="auto">
          <a:xfrm>
            <a:off x="3395663" y="260350"/>
            <a:ext cx="2581275"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p>
            <a:pPr algn="ctr" fontAlgn="auto">
              <a:spcAft>
                <a:spcPts val="0"/>
              </a:spcAft>
              <a:defRPr/>
            </a:pPr>
            <a:r>
              <a:rPr lang="en-US" altLang="zh-CN" sz="2800" b="1" cap="all" spc="-60" dirty="0">
                <a:solidFill>
                  <a:srgbClr val="C00000"/>
                </a:solidFill>
                <a:latin typeface="+mj-lt"/>
                <a:ea typeface="+mj-ea"/>
                <a:cs typeface="+mj-cs"/>
              </a:rPr>
              <a:t>homework</a:t>
            </a:r>
            <a:endParaRPr lang="zh-CN" altLang="en-US" sz="2800" b="1" cap="all" spc="-60" dirty="0">
              <a:solidFill>
                <a:srgbClr val="C00000"/>
              </a:solidFill>
              <a:latin typeface="+mj-lt"/>
              <a:ea typeface="+mj-ea"/>
              <a:cs typeface="+mj-cs"/>
            </a:endParaRPr>
          </a:p>
        </p:txBody>
      </p:sp>
      <p:sp>
        <p:nvSpPr>
          <p:cNvPr id="204806" name="TextBox 1"/>
          <p:cNvSpPr txBox="1">
            <a:spLocks noChangeArrowheads="1"/>
          </p:cNvSpPr>
          <p:nvPr/>
        </p:nvSpPr>
        <p:spPr bwMode="auto">
          <a:xfrm>
            <a:off x="990600" y="5876925"/>
            <a:ext cx="32536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400" dirty="0">
                <a:latin typeface="Times New Roman" panose="02020603050405020304" pitchFamily="18" charset="0"/>
                <a:ea typeface="宋体" panose="02010600030101010101" pitchFamily="2" charset="-122"/>
              </a:rPr>
              <a:t>Exercise 1-6 in the PPT</a:t>
            </a:r>
            <a:endParaRPr lang="en-US" altLang="en-US" sz="24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AutoShape 6" descr="http://img4.imgtn.bdimg.com/it/u=2131337091,3211414367&amp;fm=23&amp;gp=0.jpg"/>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205827" name="AutoShape 8" descr="http://img4.imgtn.bdimg.com/it/u=2131337091,3211414367&amp;fm=23&amp;gp=0.jpg"/>
          <p:cNvSpPr>
            <a:spLocks noChangeAspect="1" noChangeArrowheads="1"/>
          </p:cNvSpPr>
          <p:nvPr/>
        </p:nvSpPr>
        <p:spPr bwMode="auto">
          <a:xfrm>
            <a:off x="320675" y="-30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sp>
        <p:nvSpPr>
          <p:cNvPr id="205828" name="AutoShape 11" descr="http://img5.imgtn.bdimg.com/it/u=2723417228,1309364427&amp;fm=23&amp;gp=0.jpg"/>
          <p:cNvSpPr>
            <a:spLocks noChangeAspect="1" noChangeArrowheads="1"/>
          </p:cNvSpPr>
          <p:nvPr/>
        </p:nvSpPr>
        <p:spPr bwMode="auto">
          <a:xfrm>
            <a:off x="473075" y="1222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2400" b="0">
              <a:latin typeface="Times New Roman" panose="02020603050405020304" pitchFamily="18" charset="0"/>
              <a:ea typeface="宋体" panose="02010600030101010101" pitchFamily="2" charset="-122"/>
            </a:endParaRPr>
          </a:p>
        </p:txBody>
      </p:sp>
      <p:pic>
        <p:nvPicPr>
          <p:cNvPr id="205829"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2237"/>
            <a:ext cx="5796136" cy="38731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图片 1">
            <a:extLst>
              <a:ext uri="{FF2B5EF4-FFF2-40B4-BE49-F238E27FC236}">
                <a16:creationId xmlns:a16="http://schemas.microsoft.com/office/drawing/2014/main" id="{C561CA1B-3EE7-467B-8EE5-C00C82419595}"/>
              </a:ext>
            </a:extLst>
          </p:cNvPr>
          <p:cNvPicPr>
            <a:picLocks noChangeAspect="1"/>
          </p:cNvPicPr>
          <p:nvPr/>
        </p:nvPicPr>
        <p:blipFill>
          <a:blip r:embed="rId3"/>
          <a:stretch>
            <a:fillRect/>
          </a:stretch>
        </p:blipFill>
        <p:spPr>
          <a:xfrm>
            <a:off x="0" y="3276040"/>
            <a:ext cx="7596336" cy="3137005"/>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themeOverride>
</file>

<file path=ppt/theme/themeOverride2.xml><?xml version="1.0" encoding="utf-8"?>
<a:themeOverride xmlns:a="http://schemas.openxmlformats.org/drawingml/2006/main">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themeOverride>
</file>

<file path=ppt/theme/themeOverride3.xml><?xml version="1.0" encoding="utf-8"?>
<a:themeOverride xmlns:a="http://schemas.openxmlformats.org/drawingml/2006/main">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themeOverride>
</file>

<file path=ppt/theme/themeOverride4.xml><?xml version="1.0" encoding="utf-8"?>
<a:themeOverride xmlns:a="http://schemas.openxmlformats.org/drawingml/2006/main">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themeOverride>
</file>

<file path=ppt/theme/themeOverride5.xml><?xml version="1.0" encoding="utf-8"?>
<a:themeOverride xmlns:a="http://schemas.openxmlformats.org/drawingml/2006/main">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themeOverride>
</file>

<file path=ppt/theme/themeOverride6.xml><?xml version="1.0" encoding="utf-8"?>
<a:themeOverride xmlns:a="http://schemas.openxmlformats.org/drawingml/2006/main">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otalTime>1568</TotalTime>
  <Words>6594</Words>
  <Application>Microsoft Office PowerPoint</Application>
  <PresentationFormat>全屏显示(4:3)</PresentationFormat>
  <Paragraphs>660</Paragraphs>
  <Slides>87</Slides>
  <Notes>46</Notes>
  <HiddenSlides>9</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3</vt:i4>
      </vt:variant>
      <vt:variant>
        <vt:lpstr>幻灯片标题</vt:lpstr>
      </vt:variant>
      <vt:variant>
        <vt:i4>87</vt:i4>
      </vt:variant>
    </vt:vector>
  </HeadingPairs>
  <TitlesOfParts>
    <vt:vector size="107" baseType="lpstr">
      <vt:lpstr>-apple-system</vt:lpstr>
      <vt:lpstr>Arial Unicode MS</vt:lpstr>
      <vt:lpstr>Monotype Sorts</vt:lpstr>
      <vt:lpstr>PingFangSC-Regular</vt:lpstr>
      <vt:lpstr>黑体</vt:lpstr>
      <vt:lpstr>楷体_GB2312</vt:lpstr>
      <vt:lpstr>Arial</vt:lpstr>
      <vt:lpstr>Arial</vt:lpstr>
      <vt:lpstr>Arial Black</vt:lpstr>
      <vt:lpstr>Arial Narrow</vt:lpstr>
      <vt:lpstr>Calibri</vt:lpstr>
      <vt:lpstr>Georgia</vt:lpstr>
      <vt:lpstr>Helvetica</vt:lpstr>
      <vt:lpstr>Symbol</vt:lpstr>
      <vt:lpstr>Times New Roman</vt:lpstr>
      <vt:lpstr>Wingdings</vt:lpstr>
      <vt:lpstr>Essential</vt:lpstr>
      <vt:lpstr>CorelDRAW</vt:lpstr>
      <vt:lpstr>BMP 图像</vt:lpstr>
      <vt:lpstr>Picture</vt:lpstr>
      <vt:lpstr>PowerPoint 演示文稿</vt:lpstr>
      <vt:lpstr>Crystallography (MSE203)</vt:lpstr>
      <vt:lpstr>introduction</vt:lpstr>
      <vt:lpstr>Crystallography (MSE203)</vt:lpstr>
      <vt:lpstr>   </vt:lpstr>
      <vt:lpstr>PowerPoint 演示文稿</vt:lpstr>
      <vt:lpstr>Some RULEs</vt:lpstr>
      <vt:lpstr>Some stuffs</vt:lpstr>
      <vt:lpstr>Arrangement for mid-term projects</vt:lpstr>
      <vt:lpstr>Introduction to Crystal</vt:lpstr>
      <vt:lpstr>PowerPoint 演示文稿</vt:lpstr>
      <vt:lpstr>PowerPoint 演示文稿</vt:lpstr>
      <vt:lpstr>PowerPoint 演示文稿</vt:lpstr>
      <vt:lpstr>History of crystallography</vt:lpstr>
      <vt:lpstr>History of crystallography</vt:lpstr>
      <vt:lpstr>History of crystallography</vt:lpstr>
      <vt:lpstr>History of crystallography</vt:lpstr>
      <vt:lpstr>History of crystallography</vt:lpstr>
      <vt:lpstr>The relationships with  other subjects</vt:lpstr>
      <vt:lpstr>The relationships with  other subjects</vt:lpstr>
      <vt:lpstr>content of crystallography</vt:lpstr>
      <vt:lpstr>Crystals in Nature and Life</vt:lpstr>
      <vt:lpstr>Crystals in Nature and Life</vt:lpstr>
      <vt:lpstr>Crystals in Nature and Life</vt:lpstr>
      <vt:lpstr>PowerPoint 演示文稿</vt:lpstr>
      <vt:lpstr>Crystals in Nature and Life</vt:lpstr>
      <vt:lpstr>Crystals in research</vt:lpstr>
      <vt:lpstr>Crystallography and  materials Science</vt:lpstr>
      <vt:lpstr>Crystal(concept)</vt:lpstr>
      <vt:lpstr>Crystal(concept)</vt:lpstr>
      <vt:lpstr>Non-crystal and quasicrystal</vt:lpstr>
      <vt:lpstr>Non-crystal and quasicrystal</vt:lpstr>
      <vt:lpstr>PowerPoint 演示文稿</vt:lpstr>
      <vt:lpstr>More examples</vt:lpstr>
      <vt:lpstr>Non-crystal and quasi-crystal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The difference between crystal, quasi-crystal and  non-crystal (amorphous)</vt:lpstr>
      <vt:lpstr>Space Lattice( 空间点阵）</vt:lpstr>
      <vt:lpstr>Structure  lattice</vt:lpstr>
      <vt:lpstr>Structure  lattice</vt:lpstr>
      <vt:lpstr>Extract symmetry of crystal structures</vt:lpstr>
      <vt:lpstr>PowerPoint 演示文稿</vt:lpstr>
      <vt:lpstr>Structure  lattice</vt:lpstr>
      <vt:lpstr>PowerPoint 演示文稿</vt:lpstr>
      <vt:lpstr>PowerPoint 演示文稿</vt:lpstr>
      <vt:lpstr>Exercise 1</vt:lpstr>
      <vt:lpstr>Exercise 2</vt:lpstr>
      <vt:lpstr>Structure  lattice</vt:lpstr>
      <vt:lpstr>Structure  lattice</vt:lpstr>
      <vt:lpstr>Exercise 3</vt:lpstr>
      <vt:lpstr>Exercise 4</vt:lpstr>
      <vt:lpstr>Exercise 4</vt:lpstr>
      <vt:lpstr>Exercise 5</vt:lpstr>
      <vt:lpstr>PowerPoint 演示文稿</vt:lpstr>
      <vt:lpstr>Exercise 6</vt:lpstr>
      <vt:lpstr>Structure  lattice</vt:lpstr>
      <vt:lpstr>Node (结点) or Lattice point(阵点): each point in space lattice, equals to the EPs in crystal structures. Row (行列): the arrangement of lattice points in certain direction with the same distance</vt:lpstr>
      <vt:lpstr>PowerPoint 演示文稿</vt:lpstr>
      <vt:lpstr>PowerPoint 演示文稿</vt:lpstr>
      <vt:lpstr>PowerPoint 演示文稿</vt:lpstr>
      <vt:lpstr>PowerPoint 演示文稿</vt:lpstr>
      <vt:lpstr>The basic laws of space lattice</vt:lpstr>
      <vt:lpstr> </vt:lpstr>
      <vt:lpstr> </vt:lpstr>
      <vt:lpstr> </vt:lpstr>
      <vt:lpstr> </vt:lpstr>
      <vt:lpstr> </vt:lpstr>
      <vt:lpstr> </vt:lpstr>
      <vt:lpstr> </vt:lpstr>
      <vt:lpstr>PowerPoint 演示文稿</vt:lpstr>
      <vt:lpstr>PowerPoint 演示文稿</vt:lpstr>
      <vt:lpstr>PowerPoint 演示文稿</vt:lpstr>
      <vt:lpstr>PowerPoint 演示文稿</vt:lpstr>
      <vt:lpstr>PowerPoint 演示文稿</vt:lpstr>
    </vt:vector>
  </TitlesOfParts>
  <Company>PKU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sqin</dc:creator>
  <cp:lastModifiedBy>cheng chun</cp:lastModifiedBy>
  <cp:revision>679</cp:revision>
  <dcterms:created xsi:type="dcterms:W3CDTF">2001-02-12T06:44:00Z</dcterms:created>
  <dcterms:modified xsi:type="dcterms:W3CDTF">2021-09-07T08:06:20Z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