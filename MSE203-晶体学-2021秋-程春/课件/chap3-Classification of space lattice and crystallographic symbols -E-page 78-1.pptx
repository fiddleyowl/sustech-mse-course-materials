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handoutMasterIdLst>
    <p:handoutMasterId r:id="rId83"/>
  </p:handoutMasterIdLst>
  <p:sldIdLst>
    <p:sldId id="503" r:id="rId2"/>
    <p:sldId id="542" r:id="rId3"/>
    <p:sldId id="390" r:id="rId4"/>
    <p:sldId id="455" r:id="rId5"/>
    <p:sldId id="452" r:id="rId6"/>
    <p:sldId id="544" r:id="rId7"/>
    <p:sldId id="391" r:id="rId8"/>
    <p:sldId id="507" r:id="rId9"/>
    <p:sldId id="538" r:id="rId10"/>
    <p:sldId id="506" r:id="rId11"/>
    <p:sldId id="508" r:id="rId12"/>
    <p:sldId id="536" r:id="rId13"/>
    <p:sldId id="509" r:id="rId14"/>
    <p:sldId id="510" r:id="rId15"/>
    <p:sldId id="511" r:id="rId16"/>
    <p:sldId id="512" r:id="rId17"/>
    <p:sldId id="513" r:id="rId18"/>
    <p:sldId id="517" r:id="rId19"/>
    <p:sldId id="518" r:id="rId20"/>
    <p:sldId id="393" r:id="rId21"/>
    <p:sldId id="545" r:id="rId22"/>
    <p:sldId id="523" r:id="rId23"/>
    <p:sldId id="394" r:id="rId24"/>
    <p:sldId id="485" r:id="rId25"/>
    <p:sldId id="546" r:id="rId26"/>
    <p:sldId id="399" r:id="rId27"/>
    <p:sldId id="402" r:id="rId28"/>
    <p:sldId id="403" r:id="rId29"/>
    <p:sldId id="404" r:id="rId30"/>
    <p:sldId id="406" r:id="rId31"/>
    <p:sldId id="407" r:id="rId32"/>
    <p:sldId id="408" r:id="rId33"/>
    <p:sldId id="519" r:id="rId34"/>
    <p:sldId id="524" r:id="rId35"/>
    <p:sldId id="486" r:id="rId36"/>
    <p:sldId id="539" r:id="rId37"/>
    <p:sldId id="484" r:id="rId38"/>
    <p:sldId id="547" r:id="rId39"/>
    <p:sldId id="487" r:id="rId40"/>
    <p:sldId id="489" r:id="rId41"/>
    <p:sldId id="514" r:id="rId42"/>
    <p:sldId id="515" r:id="rId43"/>
    <p:sldId id="488" r:id="rId44"/>
    <p:sldId id="490" r:id="rId45"/>
    <p:sldId id="525" r:id="rId46"/>
    <p:sldId id="463" r:id="rId47"/>
    <p:sldId id="464" r:id="rId48"/>
    <p:sldId id="492" r:id="rId49"/>
    <p:sldId id="493" r:id="rId50"/>
    <p:sldId id="494" r:id="rId51"/>
    <p:sldId id="551" r:id="rId52"/>
    <p:sldId id="465" r:id="rId53"/>
    <p:sldId id="466" r:id="rId54"/>
    <p:sldId id="467" r:id="rId55"/>
    <p:sldId id="468" r:id="rId56"/>
    <p:sldId id="469" r:id="rId57"/>
    <p:sldId id="470" r:id="rId58"/>
    <p:sldId id="471" r:id="rId59"/>
    <p:sldId id="500" r:id="rId60"/>
    <p:sldId id="497" r:id="rId61"/>
    <p:sldId id="501" r:id="rId62"/>
    <p:sldId id="499" r:id="rId63"/>
    <p:sldId id="498" r:id="rId64"/>
    <p:sldId id="502" r:id="rId65"/>
    <p:sldId id="534" r:id="rId66"/>
    <p:sldId id="550" r:id="rId67"/>
    <p:sldId id="475" r:id="rId68"/>
    <p:sldId id="476" r:id="rId69"/>
    <p:sldId id="478" r:id="rId70"/>
    <p:sldId id="548" r:id="rId71"/>
    <p:sldId id="480" r:id="rId72"/>
    <p:sldId id="549" r:id="rId73"/>
    <p:sldId id="481" r:id="rId74"/>
    <p:sldId id="482" r:id="rId75"/>
    <p:sldId id="533" r:id="rId76"/>
    <p:sldId id="540" r:id="rId77"/>
    <p:sldId id="541" r:id="rId78"/>
    <p:sldId id="483" r:id="rId79"/>
    <p:sldId id="520" r:id="rId80"/>
    <p:sldId id="522" r:id="rId81"/>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3300"/>
    <a:srgbClr val="0000CC"/>
    <a:srgbClr val="FF0066"/>
    <a:srgbClr val="0000FF"/>
    <a:srgbClr val="7A7A7A"/>
    <a:srgbClr val="92D050"/>
    <a:srgbClr val="D9D9D9"/>
    <a:srgbClr val="585858"/>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2" autoAdjust="0"/>
    <p:restoredTop sz="82687" autoAdjust="0"/>
  </p:normalViewPr>
  <p:slideViewPr>
    <p:cSldViewPr>
      <p:cViewPr varScale="1">
        <p:scale>
          <a:sx n="70" d="100"/>
          <a:sy n="70" d="100"/>
        </p:scale>
        <p:origin x="1534" y="22"/>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atin typeface="Times New Roman" panose="02020603050405020304" pitchFamily="18" charset="0"/>
              </a:defRPr>
            </a:lvl1pPr>
          </a:lstStyle>
          <a:p>
            <a:pPr>
              <a:defRPr/>
            </a:pPr>
            <a:fld id="{C28988C7-6959-4D42-88D4-F87BCE54992E}" type="slidenum">
              <a:rPr lang="en-US" altLang="zh-CN"/>
              <a:t>‹#›</a:t>
            </a:fld>
            <a:endParaRPr lang="en-US" altLang="zh-CN"/>
          </a:p>
        </p:txBody>
      </p:sp>
    </p:spTree>
    <p:extLst>
      <p:ext uri="{BB962C8B-B14F-4D97-AF65-F5344CB8AC3E}">
        <p14:creationId xmlns:p14="http://schemas.microsoft.com/office/powerpoint/2010/main" val="34421371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panose="02020603050405020304" pitchFamily="18"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panose="02020603050405020304" pitchFamily="18" charset="0"/>
              </a:defRPr>
            </a:lvl1pPr>
          </a:lstStyle>
          <a:p>
            <a:pPr>
              <a:defRPr/>
            </a:pPr>
            <a:fld id="{B01278BC-347A-4706-96A2-D6C0C3CC82FA}" type="datetimeFigureOut">
              <a:rPr lang="en-US"/>
              <a:t>11/2/2021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pPr>
              <a:defRPr/>
            </a:pPr>
            <a:fld id="{EE74FEFB-5C9D-4FDD-9DA3-FB375CC818A2}" type="slidenum">
              <a:rPr lang="en-US"/>
              <a:t>‹#›</a:t>
            </a:fld>
            <a:endParaRPr lang="en-US"/>
          </a:p>
        </p:txBody>
      </p:sp>
    </p:spTree>
    <p:extLst>
      <p:ext uri="{BB962C8B-B14F-4D97-AF65-F5344CB8AC3E}">
        <p14:creationId xmlns:p14="http://schemas.microsoft.com/office/powerpoint/2010/main" val="13464000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baike.baidu.com/view/797827.htm"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baike.baidu.com/view/797838.htm"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baike.baidu.com/view/797827.htm"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baike.baidu.com/view/797838.htm"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a:p>
            <a:r>
              <a:rPr lang="zh-CN" altLang="en-US" dirty="0"/>
              <a:t>第</a:t>
            </a:r>
            <a:r>
              <a:rPr lang="en-US" altLang="zh-CN" dirty="0"/>
              <a:t>29</a:t>
            </a:r>
            <a:r>
              <a:rPr lang="zh-CN" altLang="en-US" dirty="0"/>
              <a:t>回，小霸王怒斩于吉 碧眼儿坐领江东</a:t>
            </a:r>
          </a:p>
          <a:p>
            <a:r>
              <a:rPr lang="zh-CN" altLang="en-US" dirty="0"/>
              <a:t>策曰：弟才胜儿十倍，足当大任。倘内事不决，可问张昭；外事不决，可问周瑜。恨周瑜不在此，不得面嘱之也！</a:t>
            </a:r>
            <a:endParaRPr lang="en-US" altLang="zh-CN"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在第一章，在得到点阵之后，我们发现点阵点很多，周期性排布，如果划分成格子就比较容易记得它的特征。。。特殊的对称性</a:t>
            </a:r>
            <a:endParaRPr lang="en-US" altLang="zh-CN" dirty="0"/>
          </a:p>
          <a:p>
            <a:endParaRPr lang="en-US" dirty="0"/>
          </a:p>
          <a:p>
            <a:r>
              <a:rPr lang="en-US" altLang="zh-CN" dirty="0"/>
              <a:t>Degree</a:t>
            </a:r>
            <a:r>
              <a:rPr lang="en-US" altLang="zh-CN" baseline="0" dirty="0"/>
              <a:t> of freedom</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050" b="1" dirty="0"/>
              <a:t> </a:t>
            </a:r>
            <a:r>
              <a:rPr lang="zh-CN" altLang="en-US" b="1" dirty="0"/>
              <a:t>晶体内部最基本的特征是具有</a:t>
            </a:r>
            <a:r>
              <a:rPr lang="zh-CN" altLang="en-US" b="1" dirty="0">
                <a:solidFill>
                  <a:srgbClr val="FF0000"/>
                </a:solidFill>
                <a:effectLst>
                  <a:outerShdw blurRad="38100" dist="38100" dir="2700000" algn="tl">
                    <a:srgbClr val="000000">
                      <a:alpha val="43137"/>
                    </a:srgbClr>
                  </a:outerShdw>
                </a:effectLst>
              </a:rPr>
              <a:t>格子构造</a:t>
            </a:r>
            <a:r>
              <a:rPr lang="zh-CN" altLang="en-US" b="1" dirty="0"/>
              <a:t>，即晶体内部的质点在三维空间呈周期性排列。这种质点排列的周期性，可以抽象成只有数学意义的周期性图形，称为</a:t>
            </a:r>
            <a:r>
              <a:rPr lang="zh-CN" altLang="en-US" b="1" dirty="0">
                <a:solidFill>
                  <a:srgbClr val="FF0000"/>
                </a:solidFill>
                <a:effectLst>
                  <a:outerShdw blurRad="38100" dist="38100" dir="2700000" algn="tl">
                    <a:srgbClr val="000000">
                      <a:alpha val="43137"/>
                    </a:srgbClr>
                  </a:outerShdw>
                </a:effectLst>
              </a:rPr>
              <a:t>点阵</a:t>
            </a:r>
            <a:r>
              <a:rPr lang="zh-CN" altLang="en-US" b="1" dirty="0"/>
              <a:t>（</a:t>
            </a:r>
            <a:r>
              <a:rPr lang="en-US" altLang="zh-CN" b="1" dirty="0"/>
              <a:t>lattice</a:t>
            </a:r>
            <a:r>
              <a:rPr lang="zh-CN" altLang="en-US" b="1" dirty="0"/>
              <a:t>），也</a:t>
            </a:r>
            <a:r>
              <a:rPr lang="zh-CN" altLang="en-US" dirty="0"/>
              <a:t>叫空间点阵（</a:t>
            </a:r>
            <a:r>
              <a:rPr lang="en-US" altLang="zh-CN" dirty="0"/>
              <a:t>space lattice</a:t>
            </a:r>
            <a:r>
              <a:rPr lang="zh-CN" altLang="en-US" dirty="0"/>
              <a:t>）。空间点阵中的每一个点称为</a:t>
            </a:r>
            <a:r>
              <a:rPr lang="zh-CN" altLang="en-US" dirty="0">
                <a:solidFill>
                  <a:srgbClr val="FF0000"/>
                </a:solidFill>
                <a:effectLst>
                  <a:outerShdw blurRad="38100" dist="38100" dir="2700000" algn="tl">
                    <a:srgbClr val="000000">
                      <a:alpha val="43137"/>
                    </a:srgbClr>
                  </a:outerShdw>
                </a:effectLst>
              </a:rPr>
              <a:t>阵点</a:t>
            </a:r>
            <a:r>
              <a:rPr lang="zh-CN" altLang="en-US" dirty="0"/>
              <a:t>（</a:t>
            </a:r>
            <a:r>
              <a:rPr lang="en-US" altLang="zh-CN" dirty="0"/>
              <a:t>lattice point</a:t>
            </a:r>
            <a:r>
              <a:rPr lang="zh-CN" altLang="en-US" dirty="0"/>
              <a:t>）。</a:t>
            </a:r>
            <a:endParaRPr lang="en-US" altLang="zh-CN" dirty="0"/>
          </a:p>
          <a:p>
            <a:endParaRPr lang="en-US" dirty="0"/>
          </a:p>
          <a:p>
            <a:r>
              <a:rPr lang="zh-CN" altLang="en-US" b="1" dirty="0">
                <a:solidFill>
                  <a:srgbClr val="FF3300"/>
                </a:solidFill>
              </a:rPr>
              <a:t>晶体也可以看成是平行六面体</a:t>
            </a:r>
            <a:r>
              <a:rPr lang="en-US" altLang="zh-CN" b="1" dirty="0">
                <a:solidFill>
                  <a:srgbClr val="FF3300"/>
                </a:solidFill>
              </a:rPr>
              <a:t>-</a:t>
            </a:r>
            <a:r>
              <a:rPr lang="zh-CN" altLang="en-US" b="1" dirty="0">
                <a:solidFill>
                  <a:srgbClr val="FF3300"/>
                </a:solidFill>
              </a:rPr>
              <a:t>空间格子重复而成。</a:t>
            </a:r>
            <a:endParaRPr lang="en-US" altLang="zh-CN" b="1" dirty="0">
              <a:solidFill>
                <a:srgbClr val="FF3300"/>
              </a:solidFill>
            </a:endParaRPr>
          </a:p>
          <a:p>
            <a:endParaRPr lang="en-US" b="1" dirty="0">
              <a:solidFill>
                <a:srgbClr val="FF3300"/>
              </a:solidFill>
            </a:endParaRPr>
          </a:p>
          <a:p>
            <a:r>
              <a:rPr lang="zh-CN" altLang="en-US" b="1" dirty="0">
                <a:solidFill>
                  <a:srgbClr val="FF3300"/>
                </a:solidFill>
              </a:rPr>
              <a:t>原胞是结构基元，但结构基元不是原胞，可以是各种形状，但是两者的体积一定相等。</a:t>
            </a:r>
            <a:endParaRPr lang="en-US" b="1" dirty="0">
              <a:solidFill>
                <a:srgbClr val="FF3300"/>
              </a:solidFill>
            </a:endParaRP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Parallelogram </a:t>
            </a:r>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/ˌ</a:t>
            </a:r>
            <a:r>
              <a:rPr lang="en-US" sz="1200" b="0" i="0" kern="1200" dirty="0" err="1">
                <a:solidFill>
                  <a:schemeClr val="tx1"/>
                </a:solidFill>
                <a:effectLst/>
                <a:latin typeface="+mn-lt"/>
                <a:ea typeface="+mn-ea"/>
                <a:cs typeface="+mn-cs"/>
              </a:rPr>
              <a:t>pærə'leləgræm</a:t>
            </a:r>
            <a:r>
              <a:rPr lang="en-US"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a:t>
            </a:fld>
            <a:endParaRPr lang="en-US"/>
          </a:p>
        </p:txBody>
      </p:sp>
    </p:spTree>
    <p:extLst>
      <p:ext uri="{BB962C8B-B14F-4D97-AF65-F5344CB8AC3E}">
        <p14:creationId xmlns:p14="http://schemas.microsoft.com/office/powerpoint/2010/main" val="1487569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能反应平移不变性的平行六面体有很多，体积也可以不是最小。</a:t>
            </a:r>
            <a:endParaRPr lang="en-US" altLang="zh-CN" dirty="0"/>
          </a:p>
          <a:p>
            <a:endParaRPr lang="en-US" dirty="0"/>
          </a:p>
          <a:p>
            <a:r>
              <a:rPr lang="zh-CN" altLang="en-US" b="1" dirty="0"/>
              <a:t>任意选择的平行六面体不便反应晶体的结构特征和在一个统一的标准下对晶体结构进行研究。</a:t>
            </a:r>
            <a:endParaRPr lang="en-US" b="1"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能反应平移不变性的平行六面体有很多，体积也可以不是最小。</a:t>
            </a:r>
            <a:endParaRPr lang="en-US" altLang="zh-CN" dirty="0"/>
          </a:p>
          <a:p>
            <a:endParaRPr lang="en-US" dirty="0"/>
          </a:p>
          <a:p>
            <a:r>
              <a:rPr lang="zh-CN" altLang="en-US" b="1" dirty="0"/>
              <a:t>任意选择的平行六面体不便反应晶体的结构特征和在一个统一的标准下对晶体结构进行研究。</a:t>
            </a:r>
            <a:endParaRPr lang="en-US" b="1"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晶胞（</a:t>
            </a:r>
            <a:r>
              <a:rPr lang="en-US" altLang="zh-CN" dirty="0"/>
              <a:t>Unit Cell</a:t>
            </a:r>
            <a:r>
              <a:rPr lang="zh-CN" altLang="en-US" dirty="0"/>
              <a:t>）能完整反映晶体内部原子或离子在三维空间分布之化学</a:t>
            </a:r>
            <a:r>
              <a:rPr lang="en-US" altLang="zh-CN" dirty="0"/>
              <a:t>-</a:t>
            </a:r>
            <a:r>
              <a:rPr lang="zh-CN" altLang="en-US" dirty="0"/>
              <a:t>结构特征的平行六面体最小单元。其中既能够保持晶体结构的对称性而体积又最基本特称“单位晶胞”，但亦常简称晶胞。</a:t>
            </a:r>
            <a:endParaRPr lang="en-US" altLang="zh-CN" dirty="0"/>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在倒格子空间中的</a:t>
            </a:r>
            <a:r>
              <a:rPr lang="en-US" altLang="zh-CN" dirty="0"/>
              <a:t>WS</a:t>
            </a:r>
            <a:r>
              <a:rPr lang="zh-CN" altLang="en-US" dirty="0"/>
              <a:t>原胞，也就是晶体中的晶体格波和电子的简约</a:t>
            </a:r>
            <a:r>
              <a:rPr lang="en-US" altLang="zh-CN" dirty="0" err="1"/>
              <a:t>Brillouin</a:t>
            </a:r>
            <a:r>
              <a:rPr lang="zh-CN" altLang="en-US" dirty="0"/>
              <a:t>区（布里渊区）。</a:t>
            </a:r>
            <a:endParaRPr lang="en-US" altLang="zh-CN" dirty="0"/>
          </a:p>
          <a:p>
            <a:endParaRPr lang="en-US" dirty="0"/>
          </a:p>
          <a:p>
            <a:r>
              <a:rPr lang="zh-CN" altLang="en-US" dirty="0"/>
              <a:t>只要求体积最小就得到了原胞 原胞的选择也不是唯一的，但是必须只包含一个节点，是晶体结构的最小单元，选取原则 是尽量使得各边都是点阵的最短平移矢量。</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perpendicular bisector</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9</a:t>
            </a:fld>
            <a:endParaRPr lang="en-US"/>
          </a:p>
        </p:txBody>
      </p:sp>
    </p:spTree>
    <p:extLst>
      <p:ext uri="{BB962C8B-B14F-4D97-AF65-F5344CB8AC3E}">
        <p14:creationId xmlns:p14="http://schemas.microsoft.com/office/powerpoint/2010/main" val="62738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有同学问为什么右图中晶胞不能选为菱形；我们选择布拉菲格子的第一条菱形是满足的，但是与带心的矩形比，它的直角不是最多，因此还是选择带心的矩形作为晶胞。</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如何记忆：“斜角方交” ：</a:t>
            </a:r>
            <a:endParaRPr lang="en-US" altLang="zh-CN" dirty="0"/>
          </a:p>
          <a:p>
            <a:r>
              <a:rPr lang="zh-CN" altLang="en-US" b="1" dirty="0"/>
              <a:t>三斜，单斜</a:t>
            </a:r>
            <a:r>
              <a:rPr lang="zh-CN" altLang="en-US" dirty="0"/>
              <a:t>；三角，六角；</a:t>
            </a:r>
            <a:r>
              <a:rPr lang="zh-CN" altLang="en-US" b="1" dirty="0"/>
              <a:t>正方，立方</a:t>
            </a:r>
            <a:r>
              <a:rPr lang="zh-CN" altLang="en-US" dirty="0"/>
              <a:t>；正交（斜方）。</a:t>
            </a:r>
            <a:endParaRPr lang="en-US" altLang="zh-CN" dirty="0"/>
          </a:p>
          <a:p>
            <a:r>
              <a:rPr lang="zh-CN" altLang="en-US" sz="1200" b="0" i="0" kern="1200" dirty="0">
                <a:solidFill>
                  <a:schemeClr val="tx1"/>
                </a:solidFill>
                <a:effectLst/>
                <a:latin typeface="+mn-lt"/>
                <a:ea typeface="+mn-ea"/>
                <a:cs typeface="+mn-cs"/>
              </a:rPr>
              <a:t>晶体通常可以分为七个不同的晶系，即等轴（立方）晶系、六角（六方）晶系、四方（正方）晶系、三角（三方、菱方）晶系、斜方（正交）晶系、</a:t>
            </a:r>
            <a:r>
              <a:rPr lang="zh-CN" altLang="en-US" sz="1200" b="0" i="0" u="none" strike="noStrike" kern="1200" dirty="0">
                <a:solidFill>
                  <a:schemeClr val="tx1"/>
                </a:solidFill>
                <a:effectLst/>
                <a:latin typeface="+mn-lt"/>
                <a:ea typeface="+mn-ea"/>
                <a:cs typeface="+mn-cs"/>
                <a:hlinkClick r:id="rId3"/>
              </a:rPr>
              <a:t>单斜晶系</a:t>
            </a:r>
            <a:r>
              <a:rPr lang="zh-CN" altLang="en-US"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hlinkClick r:id="rId4"/>
              </a:rPr>
              <a:t>三斜晶系</a:t>
            </a:r>
            <a:endParaRPr lang="en-US" altLang="zh-CN"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如何记忆：“斜角方交” ：</a:t>
            </a:r>
            <a:endParaRPr lang="en-US" altLang="zh-CN" dirty="0"/>
          </a:p>
          <a:p>
            <a:r>
              <a:rPr lang="zh-CN" altLang="en-US" b="1" dirty="0"/>
              <a:t>三斜，单斜</a:t>
            </a:r>
            <a:r>
              <a:rPr lang="zh-CN" altLang="en-US" dirty="0"/>
              <a:t>；三角，六角；</a:t>
            </a:r>
            <a:r>
              <a:rPr lang="zh-CN" altLang="en-US" b="1" dirty="0"/>
              <a:t>正方，立方</a:t>
            </a:r>
            <a:r>
              <a:rPr lang="zh-CN" altLang="en-US" dirty="0"/>
              <a:t>；正交（斜方）。</a:t>
            </a:r>
            <a:endParaRPr lang="en-US" altLang="zh-CN" dirty="0"/>
          </a:p>
          <a:p>
            <a:r>
              <a:rPr lang="zh-CN" altLang="en-US" sz="1200" b="0" i="0" kern="1200" dirty="0">
                <a:solidFill>
                  <a:schemeClr val="tx1"/>
                </a:solidFill>
                <a:effectLst/>
                <a:latin typeface="+mn-lt"/>
                <a:ea typeface="+mn-ea"/>
                <a:cs typeface="+mn-cs"/>
              </a:rPr>
              <a:t>晶体通常可以分为七个不同的晶系，即等轴（立方）晶系、六角（六方）晶系、四方（正方）晶系、三角（三方、菱方）晶系、斜方（正交）晶系、</a:t>
            </a:r>
            <a:r>
              <a:rPr lang="zh-CN" altLang="en-US" sz="1200" b="0" i="0" u="none" strike="noStrike" kern="1200" dirty="0">
                <a:solidFill>
                  <a:schemeClr val="tx1"/>
                </a:solidFill>
                <a:effectLst/>
                <a:latin typeface="+mn-lt"/>
                <a:ea typeface="+mn-ea"/>
                <a:cs typeface="+mn-cs"/>
                <a:hlinkClick r:id="rId3"/>
              </a:rPr>
              <a:t>单斜晶系</a:t>
            </a:r>
            <a:r>
              <a:rPr lang="zh-CN" altLang="en-US"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hlinkClick r:id="rId4"/>
              </a:rPr>
              <a:t>三斜晶系</a:t>
            </a:r>
            <a:endParaRPr lang="en-US" altLang="zh-CN"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右上图晶胞可以是六方，也可以是菱方</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22</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outerShdw blurRad="38100" dist="38100" dir="2700000" algn="tl">
                    <a:srgbClr val="000000">
                      <a:alpha val="43137"/>
                    </a:srgbClr>
                  </a:outerShdw>
                </a:effectLst>
              </a:rPr>
              <a:t>PCIF</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23</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latin typeface="Arial" panose="020B0604020202020204" pitchFamily="34" charset="0"/>
              </a:rPr>
              <a:t>In the cubic crystal system, if the centers of a pair of parallel planes are occupied by nodes, the final lattice will not have the symmetry characteristics of 4L</a:t>
            </a:r>
            <a:r>
              <a:rPr lang="en-US" altLang="zh-CN" sz="1200" baseline="30000" dirty="0">
                <a:latin typeface="Arial" panose="020B0604020202020204" pitchFamily="34" charset="0"/>
              </a:rPr>
              <a:t>3</a:t>
            </a:r>
            <a:r>
              <a:rPr lang="en-US" altLang="zh-CN" sz="1200" dirty="0">
                <a:latin typeface="Arial" panose="020B0604020202020204" pitchFamily="34" charset="0"/>
              </a:rPr>
              <a:t> (Figure 3-14 in textbook), thus the existence of end-centered cubic lattice is impossible</a:t>
            </a: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err="1"/>
              <a:t>CsCl</a:t>
            </a:r>
            <a:r>
              <a:rPr lang="en-US" altLang="zh-CN" dirty="0"/>
              <a:t> </a:t>
            </a:r>
            <a:r>
              <a:rPr lang="zh-CN" altLang="en-US" dirty="0"/>
              <a:t>简单立方；</a:t>
            </a:r>
            <a:r>
              <a:rPr lang="en-US" sz="1200" b="0" i="0" u="none" strike="noStrike" kern="1200">
                <a:solidFill>
                  <a:schemeClr val="tx1"/>
                </a:solidFill>
                <a:effectLst/>
                <a:latin typeface="+mn-lt"/>
                <a:ea typeface="+mn-ea"/>
                <a:cs typeface="+mn-cs"/>
              </a:rPr>
              <a:t>cesium</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rPr>
              <a:t>chloride</a:t>
            </a:r>
            <a:endParaRPr lang="en-US" altLang="zh-CN" dirty="0"/>
          </a:p>
          <a:p>
            <a:r>
              <a:rPr lang="en-US" altLang="zh-CN" dirty="0" err="1"/>
              <a:t>NaCl</a:t>
            </a:r>
            <a:r>
              <a:rPr lang="en-US" altLang="zh-CN" dirty="0"/>
              <a:t> </a:t>
            </a:r>
            <a:r>
              <a:rPr lang="zh-CN" altLang="en-US" dirty="0"/>
              <a:t>面心立方；</a:t>
            </a:r>
            <a:r>
              <a:rPr lang="en-US" sz="1200" b="0" i="0" u="none" strike="noStrike" kern="1200" dirty="0">
                <a:solidFill>
                  <a:schemeClr val="tx1"/>
                </a:solidFill>
                <a:effectLst/>
                <a:latin typeface="+mn-lt"/>
                <a:ea typeface="+mn-ea"/>
                <a:cs typeface="+mn-cs"/>
              </a:rPr>
              <a:t>sodium</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chloride</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30000"/>
              </a:lnSpc>
            </a:pPr>
            <a:r>
              <a:rPr kumimoji="1" lang="en-US" altLang="zh-CN" b="0" dirty="0">
                <a:latin typeface="Times New Roman" panose="02020603050405020304" pitchFamily="18" charset="0"/>
                <a:ea typeface="宋体" panose="02010600030101010101" pitchFamily="2" charset="-122"/>
              </a:rPr>
              <a:t>In the macroscopic morphology of the crystal, we can get the crystal parameters of each crystal system, which is based on the crystal axis symmetry. The characteristics of the microscopic lattice parameters correspond to the macroscopic crystal parameters, furthermore we can get the specific values of the lattice parameters in the microscopic crystal structure.</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30</a:t>
            </a:fld>
            <a:endParaRPr lang="en-US"/>
          </a:p>
        </p:txBody>
      </p:sp>
    </p:spTree>
    <p:extLst>
      <p:ext uri="{BB962C8B-B14F-4D97-AF65-F5344CB8AC3E}">
        <p14:creationId xmlns:p14="http://schemas.microsoft.com/office/powerpoint/2010/main" val="1703364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Hexagonal </a:t>
            </a:r>
            <a:r>
              <a:rPr lang="en-US" dirty="0">
                <a:sym typeface="Wingdings" panose="05000000000000000000" pitchFamily="2" charset="2"/>
              </a:rPr>
              <a:t> Rhombohedral</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mn-ea"/>
                <a:cs typeface="+mn-cs"/>
              </a:rPr>
              <a:t>sodium chloride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35</a:t>
            </a:fld>
            <a:endParaRPr lang="en-US"/>
          </a:p>
        </p:txBody>
      </p:sp>
    </p:spTree>
    <p:extLst>
      <p:ext uri="{BB962C8B-B14F-4D97-AF65-F5344CB8AC3E}">
        <p14:creationId xmlns:p14="http://schemas.microsoft.com/office/powerpoint/2010/main" val="707048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36</a:t>
            </a:fld>
            <a:endParaRPr lang="en-US"/>
          </a:p>
        </p:txBody>
      </p:sp>
    </p:spTree>
    <p:extLst>
      <p:ext uri="{BB962C8B-B14F-4D97-AF65-F5344CB8AC3E}">
        <p14:creationId xmlns:p14="http://schemas.microsoft.com/office/powerpoint/2010/main" val="3000249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他们都是等效点；格点在格子平行六面体的顶点；结点除了在</a:t>
            </a:r>
            <a:r>
              <a:rPr lang="zh-CN" altLang="en-US" sz="1200" dirty="0">
                <a:solidFill>
                  <a:srgbClr val="0000FF"/>
                </a:solidFill>
              </a:rPr>
              <a:t>顶点</a:t>
            </a:r>
            <a:r>
              <a:rPr lang="zh-CN" altLang="en-US" sz="1200" dirty="0"/>
              <a:t>外，还可以在</a:t>
            </a:r>
            <a:r>
              <a:rPr lang="zh-CN" altLang="en-US" sz="1200" dirty="0">
                <a:solidFill>
                  <a:srgbClr val="0000FF"/>
                </a:solidFill>
              </a:rPr>
              <a:t>底心，面心和体心</a:t>
            </a:r>
            <a:r>
              <a:rPr lang="zh-CN" altLang="en-US" sz="1200" dirty="0"/>
              <a:t>。</a:t>
            </a:r>
            <a:endParaRPr lang="en-US" altLang="zh-CN" sz="120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t>They are both equivalent point</a:t>
            </a:r>
            <a:r>
              <a:rPr lang="zh-CN" altLang="en-US" sz="1200" dirty="0"/>
              <a:t>；</a:t>
            </a:r>
            <a:r>
              <a:rPr lang="en-US" altLang="zh-CN" sz="1200" dirty="0">
                <a:solidFill>
                  <a:srgbClr val="FF0000"/>
                </a:solidFill>
              </a:rPr>
              <a:t>lattice points</a:t>
            </a:r>
            <a:r>
              <a:rPr lang="en-US" altLang="zh-CN" sz="1200" dirty="0">
                <a:solidFill>
                  <a:schemeClr val="tx1"/>
                </a:solidFill>
              </a:rPr>
              <a:t> only</a:t>
            </a:r>
            <a:r>
              <a:rPr lang="en-US" altLang="zh-CN" sz="1200" dirty="0">
                <a:solidFill>
                  <a:srgbClr val="FF0000"/>
                </a:solidFill>
              </a:rPr>
              <a:t> </a:t>
            </a:r>
            <a:r>
              <a:rPr lang="en-US" altLang="zh-CN" sz="1200" dirty="0">
                <a:sym typeface="+mn-ea"/>
              </a:rPr>
              <a:t>occupy the eight vertices of parallelepiped</a:t>
            </a:r>
            <a:r>
              <a:rPr lang="zh-CN" altLang="en-US" sz="1200" dirty="0"/>
              <a:t>；</a:t>
            </a:r>
            <a:r>
              <a:rPr lang="en-US" altLang="zh-CN" sz="1200" dirty="0"/>
              <a:t>besides </a:t>
            </a:r>
            <a:r>
              <a:rPr lang="en-US" altLang="zh-CN" sz="1200" dirty="0">
                <a:sym typeface="+mn-ea"/>
              </a:rPr>
              <a:t>vertices, </a:t>
            </a:r>
            <a:r>
              <a:rPr lang="en-US" altLang="zh-CN" sz="1200" dirty="0">
                <a:solidFill>
                  <a:srgbClr val="FF0000"/>
                </a:solidFill>
              </a:rPr>
              <a:t>nodes</a:t>
            </a:r>
            <a:r>
              <a:rPr lang="en-US" altLang="zh-CN" sz="1200" dirty="0"/>
              <a:t> can also occupy the end-centers, face-centers and body center of </a:t>
            </a:r>
            <a:r>
              <a:rPr lang="en-US" altLang="zh-CN" sz="1200" dirty="0">
                <a:sym typeface="+mn-ea"/>
              </a:rPr>
              <a:t>parallelepiped.</a:t>
            </a: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37</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他们都是等效点；格点在格子平行六面体的顶点；结点除了在</a:t>
            </a:r>
            <a:r>
              <a:rPr lang="zh-CN" altLang="en-US" sz="1200" dirty="0">
                <a:solidFill>
                  <a:srgbClr val="0000FF"/>
                </a:solidFill>
              </a:rPr>
              <a:t>顶点</a:t>
            </a:r>
            <a:r>
              <a:rPr lang="zh-CN" altLang="en-US" sz="1200" dirty="0"/>
              <a:t>外，还可以在</a:t>
            </a:r>
            <a:r>
              <a:rPr lang="zh-CN" altLang="en-US" sz="1200" dirty="0">
                <a:solidFill>
                  <a:srgbClr val="0000FF"/>
                </a:solidFill>
              </a:rPr>
              <a:t>底心，面心和体心</a:t>
            </a:r>
            <a:r>
              <a:rPr lang="zh-CN" altLang="en-US" sz="1200" dirty="0"/>
              <a:t>。</a:t>
            </a:r>
            <a:endParaRPr lang="en-US" altLang="zh-CN" sz="120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t>They are both equivalent point</a:t>
            </a:r>
            <a:r>
              <a:rPr lang="zh-CN" altLang="en-US" sz="1200" dirty="0"/>
              <a:t>；</a:t>
            </a:r>
            <a:r>
              <a:rPr lang="en-US" altLang="zh-CN" sz="1200" dirty="0">
                <a:solidFill>
                  <a:srgbClr val="FF0000"/>
                </a:solidFill>
              </a:rPr>
              <a:t>lattice points</a:t>
            </a:r>
            <a:r>
              <a:rPr lang="en-US" altLang="zh-CN" sz="1200" dirty="0">
                <a:solidFill>
                  <a:schemeClr val="tx1"/>
                </a:solidFill>
              </a:rPr>
              <a:t> only</a:t>
            </a:r>
            <a:r>
              <a:rPr lang="en-US" altLang="zh-CN" sz="1200" dirty="0">
                <a:solidFill>
                  <a:srgbClr val="FF0000"/>
                </a:solidFill>
              </a:rPr>
              <a:t> </a:t>
            </a:r>
            <a:r>
              <a:rPr lang="en-US" altLang="zh-CN" sz="1200" dirty="0">
                <a:sym typeface="+mn-ea"/>
              </a:rPr>
              <a:t>occupy the eight vertices of parallelepiped</a:t>
            </a:r>
            <a:r>
              <a:rPr lang="zh-CN" altLang="en-US" sz="1200" dirty="0"/>
              <a:t>；</a:t>
            </a:r>
            <a:r>
              <a:rPr lang="en-US" altLang="zh-CN" sz="1200" dirty="0"/>
              <a:t>besides </a:t>
            </a:r>
            <a:r>
              <a:rPr lang="en-US" altLang="zh-CN" sz="1200" dirty="0">
                <a:sym typeface="+mn-ea"/>
              </a:rPr>
              <a:t>vertices, </a:t>
            </a:r>
            <a:r>
              <a:rPr lang="en-US" altLang="zh-CN" sz="1200" dirty="0">
                <a:solidFill>
                  <a:srgbClr val="FF0000"/>
                </a:solidFill>
              </a:rPr>
              <a:t>nodes</a:t>
            </a:r>
            <a:r>
              <a:rPr lang="en-US" altLang="zh-CN" sz="1200" dirty="0"/>
              <a:t> can also occupy the end-centers, face-centers and body center of </a:t>
            </a:r>
            <a:r>
              <a:rPr lang="en-US" altLang="zh-CN" sz="1200" dirty="0">
                <a:sym typeface="+mn-ea"/>
              </a:rPr>
              <a:t>parallelepiped.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sym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dirty="0">
                <a:solidFill>
                  <a:schemeClr val="tx1"/>
                </a:solidFill>
                <a:effectLst/>
                <a:latin typeface="+mn-lt"/>
                <a:ea typeface="+mn-ea"/>
                <a:cs typeface="+mn-cs"/>
              </a:rPr>
              <a:t>coefficient</a:t>
            </a:r>
            <a:r>
              <a:rPr lang="en-US"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系数</a:t>
            </a:r>
            <a:endParaRPr lang="en-US" altLang="zh-CN" sz="1200" dirty="0">
              <a:sym typeface="+mn-ea"/>
            </a:endParaRPr>
          </a:p>
          <a:p>
            <a:endParaRPr lang="en-US" dirty="0"/>
          </a:p>
          <a:p>
            <a:r>
              <a:rPr lang="en-US" sz="1200" b="0" i="0" kern="1200" dirty="0">
                <a:solidFill>
                  <a:schemeClr val="tx1"/>
                </a:solidFill>
                <a:effectLst/>
                <a:latin typeface="+mn-lt"/>
                <a:ea typeface="+mn-ea"/>
                <a:cs typeface="+mn-cs"/>
              </a:rPr>
              <a:t>double brackets</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38</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 </a:t>
            </a:r>
            <a:r>
              <a:rPr lang="zh-CN" altLang="en-US" dirty="0"/>
              <a:t>射线</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41</a:t>
            </a:fld>
            <a:endParaRPr lang="en-US"/>
          </a:p>
        </p:txBody>
      </p:sp>
    </p:spTree>
    <p:extLst>
      <p:ext uri="{BB962C8B-B14F-4D97-AF65-F5344CB8AC3E}">
        <p14:creationId xmlns:p14="http://schemas.microsoft.com/office/powerpoint/2010/main" val="4122318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43</a:t>
            </a:fld>
            <a:endParaRPr lang="en-US"/>
          </a:p>
        </p:txBody>
      </p:sp>
    </p:spTree>
    <p:extLst>
      <p:ext uri="{BB962C8B-B14F-4D97-AF65-F5344CB8AC3E}">
        <p14:creationId xmlns:p14="http://schemas.microsoft.com/office/powerpoint/2010/main" val="16615231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晶向族</a:t>
            </a:r>
            <a:r>
              <a:rPr lang="en-US" altLang="zh-CN" sz="1200" dirty="0"/>
              <a:t>&lt;111&gt;</a:t>
            </a:r>
            <a:r>
              <a:rPr lang="zh-CN" altLang="en-US" sz="1200" dirty="0"/>
              <a:t>包括</a:t>
            </a:r>
            <a:r>
              <a:rPr lang="en-US" dirty="0"/>
              <a:t>8</a:t>
            </a:r>
            <a:r>
              <a:rPr lang="zh-CN" altLang="en-US" dirty="0"/>
              <a:t>个</a:t>
            </a:r>
            <a:r>
              <a:rPr lang="en-US" altLang="zh-CN" dirty="0"/>
              <a:t>111</a:t>
            </a:r>
            <a:r>
              <a:rPr lang="zh-CN" altLang="en-US" dirty="0"/>
              <a:t>晶向</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44</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47</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在立方晶系中，具有相同指数的晶向和晶面必定是相垂直的，即</a:t>
            </a:r>
            <a:r>
              <a:rPr lang="en-US" altLang="zh-CN" dirty="0"/>
              <a:t>[</a:t>
            </a:r>
            <a:r>
              <a:rPr lang="en-US" altLang="zh-CN" dirty="0" err="1"/>
              <a:t>hkl</a:t>
            </a:r>
            <a:r>
              <a:rPr lang="en-US" altLang="zh-CN" dirty="0"/>
              <a:t>] </a:t>
            </a:r>
            <a:r>
              <a:rPr lang="zh-CN" altLang="en-US" dirty="0"/>
              <a:t>垂直于（</a:t>
            </a:r>
            <a:r>
              <a:rPr lang="en-US" altLang="zh-CN" dirty="0" err="1"/>
              <a:t>hkl</a:t>
            </a:r>
            <a:r>
              <a:rPr lang="zh-CN" altLang="en-US" dirty="0"/>
              <a:t>）。例如：</a:t>
            </a:r>
            <a:r>
              <a:rPr lang="en-US" altLang="zh-CN" dirty="0"/>
              <a:t>[100] </a:t>
            </a:r>
            <a:r>
              <a:rPr lang="zh-CN" altLang="en-US" dirty="0"/>
              <a:t>垂直于（</a:t>
            </a:r>
            <a:r>
              <a:rPr lang="en-US" altLang="zh-CN" dirty="0"/>
              <a:t>100</a:t>
            </a:r>
            <a:r>
              <a:rPr lang="zh-CN" altLang="en-US" dirty="0"/>
              <a:t>），</a:t>
            </a:r>
            <a:r>
              <a:rPr lang="en-US" altLang="zh-CN" dirty="0"/>
              <a:t>[110] </a:t>
            </a:r>
            <a:r>
              <a:rPr lang="zh-CN" altLang="en-US" dirty="0"/>
              <a:t>垂直于（</a:t>
            </a:r>
            <a:r>
              <a:rPr lang="en-US" altLang="zh-CN" dirty="0"/>
              <a:t>110</a:t>
            </a:r>
            <a:r>
              <a:rPr lang="zh-CN" altLang="en-US" dirty="0"/>
              <a:t>），</a:t>
            </a:r>
            <a:r>
              <a:rPr lang="en-US" altLang="zh-CN" dirty="0"/>
              <a:t>[111] </a:t>
            </a:r>
            <a:r>
              <a:rPr lang="zh-CN" altLang="en-US" dirty="0"/>
              <a:t>垂直于（</a:t>
            </a:r>
            <a:r>
              <a:rPr lang="en-US" altLang="zh-CN" dirty="0"/>
              <a:t>111</a:t>
            </a:r>
            <a:r>
              <a:rPr lang="zh-CN" altLang="en-US" dirty="0"/>
              <a:t>），等等。但是，此关系不适用于其它晶系。</a:t>
            </a:r>
            <a:endParaRPr lang="en-US" altLang="zh-CN" dirty="0"/>
          </a:p>
          <a:p>
            <a:endParaRPr lang="en-US" dirty="0"/>
          </a:p>
          <a:p>
            <a:r>
              <a:rPr lang="zh-CN" altLang="en-US" dirty="0"/>
              <a:t>（</a:t>
            </a:r>
            <a:r>
              <a:rPr lang="en-US" altLang="zh-CN" dirty="0"/>
              <a:t>C31*C21</a:t>
            </a:r>
            <a:r>
              <a:rPr lang="zh-CN" altLang="en-US" dirty="0"/>
              <a:t>）</a:t>
            </a:r>
            <a:r>
              <a:rPr lang="en-US" altLang="zh-CN" dirty="0"/>
              <a:t>*</a:t>
            </a:r>
            <a:r>
              <a:rPr lang="zh-CN" altLang="en-US" dirty="0"/>
              <a:t>（</a:t>
            </a:r>
            <a:r>
              <a:rPr lang="en-US" altLang="zh-CN" dirty="0"/>
              <a:t>C21*C21</a:t>
            </a:r>
            <a:r>
              <a:rPr lang="zh-CN" altLang="en-US" dirty="0"/>
              <a:t>）</a:t>
            </a:r>
            <a:r>
              <a:rPr lang="en-US" altLang="zh-CN" dirty="0"/>
              <a:t>*C21;</a:t>
            </a:r>
            <a:r>
              <a:rPr lang="en-US" altLang="zh-CN" baseline="0" dirty="0"/>
              <a:t> </a:t>
            </a:r>
            <a:r>
              <a:rPr lang="zh-CN" altLang="en-US" baseline="0" dirty="0"/>
              <a:t>然后有</a:t>
            </a:r>
            <a:r>
              <a:rPr lang="en-US" dirty="0"/>
              <a:t>123 </a:t>
            </a:r>
            <a:r>
              <a:rPr lang="zh-CN" altLang="en-US" dirty="0"/>
              <a:t>和</a:t>
            </a:r>
            <a:r>
              <a:rPr lang="en-US" altLang="zh-CN" dirty="0"/>
              <a:t>-1-2-3</a:t>
            </a:r>
            <a:r>
              <a:rPr lang="zh-CN" altLang="en-US" dirty="0"/>
              <a:t>等同；因此总数要除以</a:t>
            </a:r>
            <a:r>
              <a:rPr lang="en-US" altLang="zh-CN" dirty="0"/>
              <a:t>2</a:t>
            </a:r>
          </a:p>
          <a:p>
            <a:r>
              <a:rPr lang="zh-CN" altLang="en-US" dirty="0"/>
              <a:t>排列组合，</a:t>
            </a:r>
            <a:r>
              <a:rPr lang="en-US" altLang="zh-CN" dirty="0"/>
              <a:t>3</a:t>
            </a:r>
            <a:r>
              <a:rPr lang="zh-CN" altLang="en-US" dirty="0"/>
              <a:t>个位置，先选数字，再选符号，去掉平行的重复组合。</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在立方晶系中，具有相同指数的晶向和晶面必定是相垂直的，即</a:t>
            </a:r>
            <a:r>
              <a:rPr lang="en-US" altLang="zh-CN" dirty="0"/>
              <a:t>[</a:t>
            </a:r>
            <a:r>
              <a:rPr lang="en-US" altLang="zh-CN" dirty="0" err="1"/>
              <a:t>hkl</a:t>
            </a:r>
            <a:r>
              <a:rPr lang="en-US" altLang="zh-CN" dirty="0"/>
              <a:t>] </a:t>
            </a:r>
            <a:r>
              <a:rPr lang="zh-CN" altLang="en-US" dirty="0"/>
              <a:t>垂直于（</a:t>
            </a:r>
            <a:r>
              <a:rPr lang="en-US" altLang="zh-CN" dirty="0" err="1"/>
              <a:t>hkl</a:t>
            </a:r>
            <a:r>
              <a:rPr lang="zh-CN" altLang="en-US" dirty="0"/>
              <a:t>）。例如：</a:t>
            </a:r>
            <a:r>
              <a:rPr lang="en-US" altLang="zh-CN" dirty="0"/>
              <a:t>[100] </a:t>
            </a:r>
            <a:r>
              <a:rPr lang="zh-CN" altLang="en-US" dirty="0"/>
              <a:t>垂直于（</a:t>
            </a:r>
            <a:r>
              <a:rPr lang="en-US" altLang="zh-CN" dirty="0"/>
              <a:t>100</a:t>
            </a:r>
            <a:r>
              <a:rPr lang="zh-CN" altLang="en-US" dirty="0"/>
              <a:t>），</a:t>
            </a:r>
            <a:r>
              <a:rPr lang="en-US" altLang="zh-CN" dirty="0"/>
              <a:t>[110] </a:t>
            </a:r>
            <a:r>
              <a:rPr lang="zh-CN" altLang="en-US" dirty="0"/>
              <a:t>垂直于（</a:t>
            </a:r>
            <a:r>
              <a:rPr lang="en-US" altLang="zh-CN" dirty="0"/>
              <a:t>110</a:t>
            </a:r>
            <a:r>
              <a:rPr lang="zh-CN" altLang="en-US" dirty="0"/>
              <a:t>），</a:t>
            </a:r>
            <a:r>
              <a:rPr lang="en-US" altLang="zh-CN" dirty="0"/>
              <a:t>[111] </a:t>
            </a:r>
            <a:r>
              <a:rPr lang="zh-CN" altLang="en-US" dirty="0"/>
              <a:t>垂直于（</a:t>
            </a:r>
            <a:r>
              <a:rPr lang="en-US" altLang="zh-CN" dirty="0"/>
              <a:t>111</a:t>
            </a:r>
            <a:r>
              <a:rPr lang="zh-CN" altLang="en-US" dirty="0"/>
              <a:t>），等等。但是，此关系不适用于其它晶系。</a:t>
            </a:r>
            <a:endParaRPr lang="en-US" altLang="zh-CN" dirty="0"/>
          </a:p>
          <a:p>
            <a:endParaRPr lang="en-US" dirty="0"/>
          </a:p>
          <a:p>
            <a:r>
              <a:rPr lang="zh-CN" altLang="en-US" dirty="0"/>
              <a:t>（</a:t>
            </a:r>
            <a:r>
              <a:rPr lang="en-US" altLang="zh-CN" dirty="0"/>
              <a:t>C31*C21</a:t>
            </a:r>
            <a:r>
              <a:rPr lang="zh-CN" altLang="en-US" dirty="0"/>
              <a:t>）</a:t>
            </a:r>
            <a:r>
              <a:rPr lang="en-US" altLang="zh-CN" dirty="0"/>
              <a:t>*</a:t>
            </a:r>
            <a:r>
              <a:rPr lang="zh-CN" altLang="en-US" dirty="0"/>
              <a:t>（</a:t>
            </a:r>
            <a:r>
              <a:rPr lang="en-US" altLang="zh-CN" dirty="0"/>
              <a:t>C21*C21</a:t>
            </a:r>
            <a:r>
              <a:rPr lang="zh-CN" altLang="en-US" dirty="0"/>
              <a:t>）</a:t>
            </a:r>
            <a:r>
              <a:rPr lang="en-US" altLang="zh-CN" dirty="0"/>
              <a:t>*C21;</a:t>
            </a:r>
            <a:r>
              <a:rPr lang="en-US" altLang="zh-CN" baseline="0" dirty="0"/>
              <a:t> </a:t>
            </a:r>
            <a:r>
              <a:rPr lang="zh-CN" altLang="en-US" baseline="0" dirty="0"/>
              <a:t>然后有</a:t>
            </a:r>
            <a:r>
              <a:rPr lang="en-US" dirty="0"/>
              <a:t>123 </a:t>
            </a:r>
            <a:r>
              <a:rPr lang="zh-CN" altLang="en-US" dirty="0"/>
              <a:t>和</a:t>
            </a:r>
            <a:r>
              <a:rPr lang="en-US" altLang="zh-CN" dirty="0"/>
              <a:t>-1-2-3</a:t>
            </a:r>
            <a:r>
              <a:rPr lang="zh-CN" altLang="en-US" dirty="0"/>
              <a:t>等同；因此总数要除以</a:t>
            </a:r>
            <a:r>
              <a:rPr lang="en-US" altLang="zh-CN" dirty="0"/>
              <a:t>2</a:t>
            </a:r>
          </a:p>
          <a:p>
            <a:r>
              <a:rPr lang="zh-CN" altLang="en-US" dirty="0"/>
              <a:t>排列组合，</a:t>
            </a:r>
            <a:r>
              <a:rPr lang="en-US" altLang="zh-CN" dirty="0"/>
              <a:t>3</a:t>
            </a:r>
            <a:r>
              <a:rPr lang="zh-CN" altLang="en-US" dirty="0"/>
              <a:t>个位置，先选数字，再选符号，去掉平行的重复组合。</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51</a:t>
            </a:fld>
            <a:endParaRPr lang="en-US"/>
          </a:p>
        </p:txBody>
      </p:sp>
    </p:spTree>
    <p:extLst>
      <p:ext uri="{BB962C8B-B14F-4D97-AF65-F5344CB8AC3E}">
        <p14:creationId xmlns:p14="http://schemas.microsoft.com/office/powerpoint/2010/main" val="9662044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hangingPunct="0">
              <a:spcBef>
                <a:spcPct val="50000"/>
              </a:spcBef>
            </a:pPr>
            <a:r>
              <a:rPr lang="en-US" altLang="zh-CN" sz="1200" dirty="0">
                <a:effectLst>
                  <a:outerShdw blurRad="38100" dist="38100" dir="2700000" algn="tl">
                    <a:srgbClr val="C0C0C0"/>
                  </a:outerShdw>
                </a:effectLst>
                <a:latin typeface="Times New Roman" panose="02020603050405020304" pitchFamily="18" charset="0"/>
              </a:rPr>
              <a:t>	</a:t>
            </a:r>
            <a:r>
              <a:rPr lang="en-US" altLang="zh-CN" sz="1200" dirty="0">
                <a:solidFill>
                  <a:srgbClr val="FF0066"/>
                </a:solidFill>
                <a:effectLst>
                  <a:outerShdw blurRad="38100" dist="38100" dir="2700000" algn="tl">
                    <a:srgbClr val="C0C0C0"/>
                  </a:outerShdw>
                </a:effectLst>
                <a:latin typeface="Times New Roman" panose="02020603050405020304" pitchFamily="18" charset="0"/>
              </a:rPr>
              <a:t>x = (1 1 0)</a:t>
            </a:r>
            <a:endParaRPr lang="en-US" altLang="zh-CN" sz="1200" dirty="0">
              <a:effectLst>
                <a:outerShdw blurRad="38100" dist="38100" dir="2700000" algn="tl">
                  <a:srgbClr val="C0C0C0"/>
                </a:outerShdw>
              </a:effectLst>
              <a:latin typeface="Times New Roman" panose="02020603050405020304" pitchFamily="18" charset="0"/>
            </a:endParaRPr>
          </a:p>
          <a:p>
            <a:pPr eaLnBrk="0" hangingPunct="0">
              <a:spcBef>
                <a:spcPct val="50000"/>
              </a:spcBef>
            </a:pPr>
            <a:r>
              <a:rPr lang="en-US" altLang="zh-CN" sz="1200" dirty="0">
                <a:effectLst>
                  <a:outerShdw blurRad="38100" dist="38100" dir="2700000" algn="tl">
                    <a:srgbClr val="C0C0C0"/>
                  </a:outerShdw>
                </a:effectLst>
                <a:latin typeface="Times New Roman" panose="02020603050405020304" pitchFamily="18" charset="0"/>
              </a:rPr>
              <a:t>	</a:t>
            </a:r>
            <a:r>
              <a:rPr lang="en-US" altLang="zh-CN" sz="1200" dirty="0">
                <a:solidFill>
                  <a:srgbClr val="0066FF"/>
                </a:solidFill>
                <a:effectLst>
                  <a:outerShdw blurRad="38100" dist="38100" dir="2700000" algn="tl">
                    <a:srgbClr val="C0C0C0"/>
                  </a:outerShdw>
                </a:effectLst>
                <a:latin typeface="Times New Roman" panose="02020603050405020304" pitchFamily="18" charset="0"/>
              </a:rPr>
              <a:t>y = (2 1 0)</a:t>
            </a: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dirty="0">
                <a:solidFill>
                  <a:srgbClr val="FF33CC"/>
                </a:solidFill>
                <a:effectLst>
                  <a:outerShdw blurRad="38100" dist="38100" dir="2700000" algn="tl">
                    <a:srgbClr val="C0C0C0"/>
                  </a:outerShdw>
                </a:effectLst>
                <a:latin typeface="Times New Roman" panose="02020603050405020304" pitchFamily="18" charset="0"/>
              </a:rPr>
              <a:t>ABC = (12</a:t>
            </a:r>
            <a:r>
              <a:rPr lang="zh-CN" altLang="en-US" sz="1200" dirty="0">
                <a:solidFill>
                  <a:srgbClr val="FF33CC"/>
                </a:solidFill>
                <a:effectLst>
                  <a:outerShdw blurRad="38100" dist="38100" dir="2700000" algn="tl">
                    <a:srgbClr val="C0C0C0"/>
                  </a:outerShdw>
                </a:effectLst>
                <a:latin typeface="Times New Roman" panose="02020603050405020304" pitchFamily="18" charset="0"/>
              </a:rPr>
              <a:t>，</a:t>
            </a:r>
            <a:r>
              <a:rPr lang="en-US" altLang="zh-CN" sz="1200" dirty="0">
                <a:solidFill>
                  <a:srgbClr val="FF33CC"/>
                </a:solidFill>
                <a:effectLst>
                  <a:outerShdw blurRad="38100" dist="38100" dir="2700000" algn="tl">
                    <a:srgbClr val="C0C0C0"/>
                  </a:outerShdw>
                </a:effectLst>
                <a:latin typeface="Times New Roman" panose="02020603050405020304" pitchFamily="18" charset="0"/>
              </a:rPr>
              <a:t> 3</a:t>
            </a:r>
            <a:r>
              <a:rPr lang="zh-CN" altLang="en-US" sz="1200" dirty="0">
                <a:solidFill>
                  <a:srgbClr val="FF33CC"/>
                </a:solidFill>
                <a:effectLst>
                  <a:outerShdw blurRad="38100" dist="38100" dir="2700000" algn="tl">
                    <a:srgbClr val="C0C0C0"/>
                  </a:outerShdw>
                </a:effectLst>
                <a:latin typeface="Times New Roman" panose="02020603050405020304" pitchFamily="18" charset="0"/>
              </a:rPr>
              <a:t>，</a:t>
            </a:r>
            <a:r>
              <a:rPr lang="en-US" altLang="zh-CN" sz="1200" dirty="0">
                <a:solidFill>
                  <a:srgbClr val="FF33CC"/>
                </a:solidFill>
                <a:effectLst>
                  <a:outerShdw blurRad="38100" dist="38100" dir="2700000" algn="tl">
                    <a:srgbClr val="C0C0C0"/>
                  </a:outerShdw>
                </a:effectLst>
                <a:latin typeface="Times New Roman" panose="02020603050405020304" pitchFamily="18" charset="0"/>
              </a:rPr>
              <a:t> 4)</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FF33CC"/>
                </a:solidFill>
                <a:effectLst>
                  <a:outerShdw blurRad="38100" dist="38100" dir="2700000" algn="tl">
                    <a:srgbClr val="C0C0C0"/>
                  </a:outerShdw>
                </a:effectLst>
                <a:latin typeface="Times New Roman" panose="02020603050405020304" pitchFamily="18" charset="0"/>
              </a:rPr>
              <a:t>ABC = (2</a:t>
            </a:r>
            <a:r>
              <a:rPr lang="zh-CN" altLang="en-US" sz="1200" dirty="0">
                <a:solidFill>
                  <a:srgbClr val="FF33CC"/>
                </a:solidFill>
                <a:effectLst>
                  <a:outerShdw blurRad="38100" dist="38100" dir="2700000" algn="tl">
                    <a:srgbClr val="C0C0C0"/>
                  </a:outerShdw>
                </a:effectLst>
                <a:latin typeface="Times New Roman" panose="02020603050405020304" pitchFamily="18" charset="0"/>
              </a:rPr>
              <a:t>，</a:t>
            </a:r>
            <a:r>
              <a:rPr lang="en-US" altLang="zh-CN" sz="1200" dirty="0">
                <a:solidFill>
                  <a:srgbClr val="FF33CC"/>
                </a:solidFill>
                <a:effectLst>
                  <a:outerShdw blurRad="38100" dist="38100" dir="2700000" algn="tl">
                    <a:srgbClr val="C0C0C0"/>
                  </a:outerShdw>
                </a:effectLst>
                <a:latin typeface="Times New Roman" panose="02020603050405020304" pitchFamily="18" charset="0"/>
              </a:rPr>
              <a:t> 1</a:t>
            </a:r>
            <a:r>
              <a:rPr lang="zh-CN" altLang="en-US" sz="1200" dirty="0">
                <a:solidFill>
                  <a:srgbClr val="FF33CC"/>
                </a:solidFill>
                <a:effectLst>
                  <a:outerShdw blurRad="38100" dist="38100" dir="2700000" algn="tl">
                    <a:srgbClr val="C0C0C0"/>
                  </a:outerShdw>
                </a:effectLst>
                <a:latin typeface="Times New Roman" panose="02020603050405020304" pitchFamily="18" charset="0"/>
              </a:rPr>
              <a:t>，</a:t>
            </a:r>
            <a:r>
              <a:rPr lang="en-US" altLang="zh-CN" sz="1200" dirty="0">
                <a:solidFill>
                  <a:srgbClr val="FF33CC"/>
                </a:solidFill>
                <a:effectLst>
                  <a:outerShdw blurRad="38100" dist="38100" dir="2700000" algn="tl">
                    <a:srgbClr val="C0C0C0"/>
                  </a:outerShdw>
                </a:effectLst>
                <a:latin typeface="Times New Roman" panose="02020603050405020304" pitchFamily="18" charset="0"/>
              </a:rPr>
              <a:t> 2)</a:t>
            </a: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dirty="0">
              <a:solidFill>
                <a:srgbClr val="FF33CC"/>
              </a:solidFill>
              <a:effectLst>
                <a:outerShdw blurRad="38100" dist="38100" dir="2700000" algn="tl">
                  <a:srgbClr val="C0C0C0"/>
                </a:outerShdw>
              </a:effectLst>
              <a:latin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58</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Unify </a:t>
            </a:r>
            <a:r>
              <a:rPr lang="zh-CN" altLang="en-US" dirty="0"/>
              <a:t>统一</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63</a:t>
            </a:fld>
            <a:endParaRPr lang="en-US"/>
          </a:p>
        </p:txBody>
      </p:sp>
    </p:spTree>
    <p:extLst>
      <p:ext uri="{BB962C8B-B14F-4D97-AF65-F5344CB8AC3E}">
        <p14:creationId xmlns:p14="http://schemas.microsoft.com/office/powerpoint/2010/main" val="29791740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64</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rectangular coordinates, </a:t>
            </a:r>
            <a:r>
              <a:rPr lang="zh-CN" altLang="en-US" sz="1200" b="0" i="0" kern="1200" dirty="0">
                <a:solidFill>
                  <a:schemeClr val="tx1"/>
                </a:solidFill>
                <a:effectLst/>
                <a:latin typeface="+mn-lt"/>
                <a:ea typeface="+mn-ea"/>
                <a:cs typeface="+mn-cs"/>
              </a:rPr>
              <a:t>直角坐标系</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65</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66</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实际晶体外露晶面的晶面指数一般都是小的整数。</a:t>
            </a:r>
            <a:endParaRPr lang="en-US" altLang="zh-CN" dirty="0"/>
          </a:p>
          <a:p>
            <a:r>
              <a:rPr lang="zh-CN" altLang="en-US" dirty="0"/>
              <a:t>大大慢留，小小快无</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67</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若是在立方晶系，</a:t>
            </a:r>
            <a:r>
              <a:rPr lang="en-US" altLang="zh-CN" dirty="0"/>
              <a:t>&lt;110&gt;</a:t>
            </a:r>
            <a:r>
              <a:rPr lang="zh-CN" altLang="en-US" dirty="0"/>
              <a:t>有</a:t>
            </a:r>
            <a:r>
              <a:rPr lang="en-US" altLang="zh-CN" dirty="0"/>
              <a:t>6</a:t>
            </a:r>
            <a:r>
              <a:rPr lang="zh-CN" altLang="en-US" dirty="0"/>
              <a:t>个面，可以组成三个带轴。</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69</a:t>
            </a:fld>
            <a:endParaRPr lang="en-US"/>
          </a:p>
        </p:txBody>
      </p:sp>
    </p:spTree>
    <p:extLst>
      <p:ext uri="{BB962C8B-B14F-4D97-AF65-F5344CB8AC3E}">
        <p14:creationId xmlns:p14="http://schemas.microsoft.com/office/powerpoint/2010/main" val="10253886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linear algebra </a:t>
            </a:r>
            <a:r>
              <a:rPr lang="zh-CN" altLang="en-US" sz="1200" b="0" i="0" kern="1200" dirty="0">
                <a:solidFill>
                  <a:schemeClr val="tx1"/>
                </a:solidFill>
                <a:effectLst/>
                <a:latin typeface="+mn-lt"/>
                <a:ea typeface="+mn-ea"/>
                <a:cs typeface="+mn-cs"/>
              </a:rPr>
              <a:t>线性代数 </a:t>
            </a:r>
            <a:r>
              <a:rPr lang="en-US" altLang="zh-CN" sz="1200" b="0" i="0" kern="1200" dirty="0">
                <a:solidFill>
                  <a:schemeClr val="tx1"/>
                </a:solidFill>
                <a:effectLst/>
                <a:latin typeface="+mn-lt"/>
                <a:ea typeface="+mn-ea"/>
                <a:cs typeface="+mn-cs"/>
              </a:rPr>
              <a:t>integer </a:t>
            </a:r>
            <a:r>
              <a:rPr lang="zh-CN" altLang="en-US" sz="1200" b="0" i="0" kern="1200" dirty="0">
                <a:solidFill>
                  <a:schemeClr val="tx1"/>
                </a:solidFill>
                <a:effectLst/>
                <a:latin typeface="+mn-lt"/>
                <a:ea typeface="+mn-ea"/>
                <a:cs typeface="+mn-cs"/>
              </a:rPr>
              <a:t>整数</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74</a:t>
            </a:fld>
            <a:endParaRPr lang="en-US"/>
          </a:p>
        </p:txBody>
      </p:sp>
    </p:spTree>
    <p:extLst>
      <p:ext uri="{BB962C8B-B14F-4D97-AF65-F5344CB8AC3E}">
        <p14:creationId xmlns:p14="http://schemas.microsoft.com/office/powerpoint/2010/main" val="36462510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[1-10]</a:t>
            </a:r>
            <a:endParaRPr lang="zh-CN" altLang="en-US" dirty="0"/>
          </a:p>
        </p:txBody>
      </p:sp>
      <p:sp>
        <p:nvSpPr>
          <p:cNvPr id="4" name="灯片编号占位符 3"/>
          <p:cNvSpPr>
            <a:spLocks noGrp="1"/>
          </p:cNvSpPr>
          <p:nvPr>
            <p:ph type="sldNum" sz="quarter" idx="5"/>
          </p:nvPr>
        </p:nvSpPr>
        <p:spPr/>
        <p:txBody>
          <a:bodyPr/>
          <a:lstStyle/>
          <a:p>
            <a:pPr>
              <a:defRPr/>
            </a:pPr>
            <a:fld id="{EE74FEFB-5C9D-4FDD-9DA3-FB375CC818A2}" type="slidenum">
              <a:rPr lang="en-US" smtClean="0"/>
              <a:t>76</a:t>
            </a:fld>
            <a:endParaRPr lang="en-US"/>
          </a:p>
        </p:txBody>
      </p:sp>
    </p:spTree>
    <p:extLst>
      <p:ext uri="{BB962C8B-B14F-4D97-AF65-F5344CB8AC3E}">
        <p14:creationId xmlns:p14="http://schemas.microsoft.com/office/powerpoint/2010/main" val="3283082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ctrTitle"/>
          </p:nvPr>
        </p:nvSpPr>
        <p:spPr>
          <a:xfrm>
            <a:off x="457200" y="228600"/>
            <a:ext cx="7772400" cy="4571999"/>
          </a:xfrm>
        </p:spPr>
        <p:txBody>
          <a:bodyPr anchor="ctr">
            <a:noAutofit/>
          </a:bodyPr>
          <a:lstStyle>
            <a:lvl1pPr algn="ctr" rtl="0" eaLnBrk="1" fontAlgn="auto" hangingPunct="1">
              <a:lnSpc>
                <a:spcPct val="100000"/>
              </a:lnSpc>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stStyle>
          <a:p>
            <a:r>
              <a:rPr lang="en-US" dirty="0"/>
              <a:t>Click to edit Master title style</a:t>
            </a:r>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solidFill>
                  <a:schemeClr val="tx1"/>
                </a:solidFill>
              </a:defRPr>
            </a:lvl1pPr>
          </a:lstStyle>
          <a:p>
            <a:pPr>
              <a:defRPr/>
            </a:pPr>
            <a:fld id="{05D7D2E9-BF4E-42CC-9D18-B9209F2F178E}"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rtl="0" eaLnBrk="1" fontAlgn="auto" hangingPunct="1">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483C8CCB-2D58-44C5-975C-448546CC998D}"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ctr" rtl="0" eaLnBrk="1" fontAlgn="auto" hangingPunct="1">
              <a:lnSpc>
                <a:spcPct val="100000"/>
              </a:lnSpc>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stStyle>
          <a:p>
            <a:r>
              <a:rPr lang="en-US" dirty="0"/>
              <a:t>Click to edit Master title style</a:t>
            </a:r>
          </a:p>
        </p:txBody>
      </p:sp>
      <p:sp>
        <p:nvSpPr>
          <p:cNvPr id="3" name="Text Placeholder 2"/>
          <p:cNvSpPr>
            <a:spLocks noGrp="1"/>
          </p:cNvSpPr>
          <p:nvPr>
            <p:ph type="body" idx="1"/>
          </p:nvPr>
        </p:nvSpPr>
        <p:spPr>
          <a:xfrm>
            <a:off x="457200" y="228601"/>
            <a:ext cx="7772400" cy="1066800"/>
          </a:xfrm>
        </p:spPr>
        <p:txBody>
          <a:bodyPr anchor="b"/>
          <a:lstStyle>
            <a:lvl1pPr marL="0" indent="0" algn="ctr" rtl="0" eaLnBrk="1" fontAlgn="auto" hangingPunct="1">
              <a:lnSpc>
                <a:spcPct val="100000"/>
              </a:lnSpc>
              <a:spcBef>
                <a:spcPct val="0"/>
              </a:spcBef>
              <a:spcAft>
                <a:spcPts val="0"/>
              </a:spcAft>
              <a:buNone/>
              <a:defRPr kumimoji="1" lang="en-US" sz="3200" b="1" kern="1200" cap="all" spc="-60" dirty="0" smtClean="0">
                <a:solidFill>
                  <a:srgbClr val="FF0066"/>
                </a:solidFill>
                <a:effectLst>
                  <a:outerShdw blurRad="38100" dist="38100" dir="2700000" algn="tl">
                    <a:srgbClr val="000000"/>
                  </a:outerShdw>
                </a:effectLst>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0E3A14B3-DE60-4AF9-99CA-43843F991B64}"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D6D73B09-27E8-4BBB-B95B-58EF579F8CF2}"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A67BF1C2-0632-4BE7-89F5-C68B4626A605}"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D31B74C2-ACF9-4AC9-AF30-C687D1797BD7}"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0CA1A317-142D-407A-AD32-51DEA3F4E0DB}"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p:txBody>
          <a:bodyPr/>
          <a:lstStyle/>
          <a:p>
            <a:r>
              <a:rPr lang="en-US"/>
              <a:t>Click to edit Master title style</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9676CE2C-91EA-4C17-99D0-517D4530B43F}"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a:xfrm>
            <a:off x="457200" y="4953000"/>
            <a:ext cx="8153400" cy="762000"/>
          </a:xfrm>
        </p:spPr>
        <p:txBody>
          <a:bodyPr anchor="t"/>
          <a:lstStyle>
            <a:lvl1pPr>
              <a:defRPr sz="3200"/>
            </a:lvl1pPr>
          </a:lstStyle>
          <a:p>
            <a:r>
              <a:rPr lang="en-US"/>
              <a:t>Click to edit Master title style</a:t>
            </a:r>
            <a:endParaRPr lang="en-US" dirty="0"/>
          </a:p>
        </p:txBody>
      </p:sp>
      <p:sp>
        <p:nvSpPr>
          <p:cNvPr id="7" name="Date Placeholder 4"/>
          <p:cNvSpPr>
            <a:spLocks noGrp="1"/>
          </p:cNvSpPr>
          <p:nvPr>
            <p:ph type="dt" sz="half" idx="10"/>
          </p:nvPr>
        </p:nvSpPr>
        <p:spPr/>
        <p:txBody>
          <a:bodyPr/>
          <a:lstStyle>
            <a:lvl1pPr>
              <a:defRPr/>
            </a:lvl1pPr>
          </a:lstStyle>
          <a:p>
            <a:pPr>
              <a:defRPr/>
            </a:pPr>
            <a:endParaRPr lang="en-US" altLang="zh-CN"/>
          </a:p>
        </p:txBody>
      </p:sp>
      <p:sp>
        <p:nvSpPr>
          <p:cNvPr id="9" name="Footer Placeholder 5"/>
          <p:cNvSpPr>
            <a:spLocks noGrp="1"/>
          </p:cNvSpPr>
          <p:nvPr>
            <p:ph type="ftr" sz="quarter" idx="11"/>
          </p:nvPr>
        </p:nvSpPr>
        <p:spPr/>
        <p:txBody>
          <a:bodyPr/>
          <a:lstStyle>
            <a:lvl1pPr>
              <a:defRPr/>
            </a:lvl1pPr>
          </a:lstStyle>
          <a:p>
            <a:pPr>
              <a:defRPr/>
            </a:pPr>
            <a:endParaRPr lang="en-US" altLang="zh-CN"/>
          </a:p>
        </p:txBody>
      </p:sp>
      <p:sp>
        <p:nvSpPr>
          <p:cNvPr id="10" name="Slide Number Placeholder 6"/>
          <p:cNvSpPr>
            <a:spLocks noGrp="1"/>
          </p:cNvSpPr>
          <p:nvPr>
            <p:ph type="sldNum" sz="quarter" idx="12"/>
          </p:nvPr>
        </p:nvSpPr>
        <p:spPr/>
        <p:txBody>
          <a:bodyPr/>
          <a:lstStyle>
            <a:lvl1pPr>
              <a:defRPr>
                <a:solidFill>
                  <a:schemeClr val="tx1"/>
                </a:solidFill>
              </a:defRPr>
            </a:lvl1pPr>
          </a:lstStyle>
          <a:p>
            <a:pPr>
              <a:defRPr/>
            </a:pPr>
            <a:fld id="{0043F532-29B4-493F-B026-723C5A70A14D}"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6E108AE5-802E-49E8-A9B1-6D512D6FB989}"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D04A1AB1-890D-4069-B434-3D5727A71F51}"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7813"/>
            <a:ext cx="8229600" cy="5848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9A0DD3DC-E98A-406D-903F-1739AE57488A}" type="slidenum">
              <a:rPr lang="en-US" altLang="zh-CN"/>
              <a:t>‹#›</a:t>
            </a:fld>
            <a:endParaRPr lang="en-US" altLang="zh-CN"/>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381F4F7B-7619-45FB-979A-B58E5AF28CB6}" type="slidenum">
              <a:rPr lang="en-US" altLang="zh-CN"/>
              <a:t>‹#›</a:t>
            </a:fld>
            <a:endParaRPr lang="en-US" altLang="zh-CN"/>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a:defRPr sz="1000">
                <a:solidFill>
                  <a:schemeClr val="tx1"/>
                </a:solidFill>
                <a:latin typeface="Times New Roman" panose="02020603050405020304" pitchFamily="18" charset="0"/>
              </a:defRPr>
            </a:lvl1pPr>
          </a:lstStyle>
          <a:p>
            <a:pPr>
              <a:defRPr/>
            </a:pPr>
            <a:endParaRPr lang="en-US" altLang="zh-CN"/>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a:defRPr sz="1000">
                <a:solidFill>
                  <a:schemeClr val="tx1"/>
                </a:solidFill>
                <a:latin typeface="Times New Roman" panose="02020603050405020304" pitchFamily="18" charset="0"/>
              </a:defRPr>
            </a:lvl1pPr>
          </a:lstStyle>
          <a:p>
            <a:pPr>
              <a:defRPr/>
            </a:pPr>
            <a:endParaRPr lang="en-US" altLang="zh-CN"/>
          </a:p>
        </p:txBody>
      </p:sp>
      <p:sp>
        <p:nvSpPr>
          <p:cNvPr id="6" name="Slide Number Placeholder 5"/>
          <p:cNvSpPr>
            <a:spLocks noGrp="1"/>
          </p:cNvSpPr>
          <p:nvPr>
            <p:ph type="sldNum" sz="quarter" idx="4"/>
          </p:nvPr>
        </p:nvSpPr>
        <p:spPr>
          <a:xfrm rot="16200000">
            <a:off x="8227219" y="5885656"/>
            <a:ext cx="1316038" cy="365125"/>
          </a:xfrm>
          <a:prstGeom prst="rect">
            <a:avLst/>
          </a:prstGeom>
        </p:spPr>
        <p:txBody>
          <a:bodyPr vert="horz" lIns="91440" tIns="45720" rIns="91440" bIns="45720" rtlCol="0" anchor="ctr"/>
          <a:lstStyle>
            <a:lvl1pPr algn="l">
              <a:defRPr sz="2400" b="1">
                <a:solidFill>
                  <a:schemeClr val="tx2"/>
                </a:solidFill>
                <a:latin typeface="Times New Roman" panose="02020603050405020304" pitchFamily="18" charset="0"/>
              </a:defRPr>
            </a:lvl1pPr>
          </a:lstStyle>
          <a:p>
            <a:pPr>
              <a:defRPr/>
            </a:pPr>
            <a:fld id="{555BCCF9-4475-48A9-91F5-E58BF86D008C}" type="slidenum">
              <a:rPr lang="en-US" altLang="zh-CN"/>
              <a:t>‹#›</a:t>
            </a:fld>
            <a:endParaRPr lang="en-US" altLang="zh-CN"/>
          </a:p>
        </p:txBody>
      </p:sp>
      <p:sp>
        <p:nvSpPr>
          <p:cNvPr id="7" name="Rectangle 6"/>
          <p:cNvSpPr/>
          <p:nvPr/>
        </p:nvSpPr>
        <p:spPr>
          <a:xfrm>
            <a:off x="9001125" y="0"/>
            <a:ext cx="142875"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9001125" y="1371600"/>
            <a:ext cx="142875"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p:titleStyle>
    <p:bodyStyle>
      <a:lvl1pPr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en.wikipedia.org/wiki/Wiki" TargetMode="External"/><Relationship Id="rId4" Type="http://schemas.openxmlformats.org/officeDocument/2006/relationships/hyperlink" Target="http://www.answers.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video" Target="file:///E:\&#31934;&#21697;&#35838;&#31243;\&#32467;&#26230;&#23398;&#32032;&#26448;\&#21160;&#30011;\j6574cc.avi" TargetMode="External"/><Relationship Id="rId13" Type="http://schemas.openxmlformats.org/officeDocument/2006/relationships/image" Target="../media/image15.png"/><Relationship Id="rId3" Type="http://schemas.microsoft.com/office/2007/relationships/media" Target="file:///E:\&#31934;&#21697;&#35838;&#31243;\&#32467;&#26230;&#23398;&#32032;&#26448;\&#21160;&#30011;\j6572cc.avi" TargetMode="External"/><Relationship Id="rId7" Type="http://schemas.microsoft.com/office/2007/relationships/media" Target="file:///E:\&#31934;&#21697;&#35838;&#31243;\&#32467;&#26230;&#23398;&#32032;&#26448;\&#21160;&#30011;\j6574cc.avi" TargetMode="External"/><Relationship Id="rId12" Type="http://schemas.openxmlformats.org/officeDocument/2006/relationships/image" Target="../media/image14.png"/><Relationship Id="rId2" Type="http://schemas.openxmlformats.org/officeDocument/2006/relationships/video" Target="file:///E:\&#31934;&#21697;&#35838;&#31243;\&#32467;&#26230;&#23398;&#32032;&#26448;\&#21160;&#30011;\j6571cc.avi" TargetMode="External"/><Relationship Id="rId1" Type="http://schemas.microsoft.com/office/2007/relationships/media" Target="file:///E:\&#31934;&#21697;&#35838;&#31243;\&#32467;&#26230;&#23398;&#32032;&#26448;\&#21160;&#30011;\j6571cc.avi" TargetMode="External"/><Relationship Id="rId6" Type="http://schemas.openxmlformats.org/officeDocument/2006/relationships/video" Target="file:///E:\&#31934;&#21697;&#35838;&#31243;\&#32467;&#26230;&#23398;&#32032;&#26448;\&#21160;&#30011;\j6573cc.avi" TargetMode="External"/><Relationship Id="rId11" Type="http://schemas.openxmlformats.org/officeDocument/2006/relationships/image" Target="../media/image13.png"/><Relationship Id="rId5" Type="http://schemas.microsoft.com/office/2007/relationships/media" Target="file:///E:\&#31934;&#21697;&#35838;&#31243;\&#32467;&#26230;&#23398;&#32032;&#26448;\&#21160;&#30011;\j6573cc.avi" TargetMode="External"/><Relationship Id="rId10" Type="http://schemas.openxmlformats.org/officeDocument/2006/relationships/notesSlide" Target="../notesSlides/notesSlide16.xml"/><Relationship Id="rId4" Type="http://schemas.openxmlformats.org/officeDocument/2006/relationships/video" Target="file:///E:\&#31934;&#21697;&#35838;&#31243;\&#32467;&#26230;&#23398;&#32032;&#26448;\&#21160;&#30011;\j6572cc.avi" TargetMode="External"/><Relationship Id="rId9" Type="http://schemas.openxmlformats.org/officeDocument/2006/relationships/slideLayout" Target="../slideLayouts/slideLayout1.xml"/><Relationship Id="rId1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4.wmf"/><Relationship Id="rId4" Type="http://schemas.openxmlformats.org/officeDocument/2006/relationships/oleObject" Target="../embeddings/oleObject1.bin"/></Relationships>
</file>

<file path=ppt/slides/_rels/slide7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2852936"/>
            <a:ext cx="3121694" cy="3337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07504" y="188640"/>
            <a:ext cx="8568952" cy="1371600"/>
          </a:xfrm>
        </p:spPr>
        <p:txBody>
          <a:bodyPr>
            <a:normAutofit/>
          </a:bodyPr>
          <a:lstStyle/>
          <a:p>
            <a:pPr algn="l"/>
            <a:r>
              <a:rPr lang="en-US" altLang="zh-CN" sz="2400" cap="none" dirty="0">
                <a:solidFill>
                  <a:schemeClr val="tx1"/>
                </a:solidFill>
                <a:effectLst/>
                <a:latin typeface="+mn-lt"/>
              </a:rPr>
              <a:t>Why the pulling method involves a rotation operation when it is applied on the growth of Si crystals? </a:t>
            </a:r>
            <a:endParaRPr lang="en-US" sz="2400" dirty="0">
              <a:solidFill>
                <a:schemeClr val="tx1"/>
              </a:solidFill>
              <a:effectLst/>
              <a:latin typeface="+mn-lt"/>
            </a:endParaRPr>
          </a:p>
        </p:txBody>
      </p:sp>
      <p:sp>
        <p:nvSpPr>
          <p:cNvPr id="3" name="Content Placeholder 2"/>
          <p:cNvSpPr>
            <a:spLocks noGrp="1"/>
          </p:cNvSpPr>
          <p:nvPr>
            <p:ph idx="1"/>
          </p:nvPr>
        </p:nvSpPr>
        <p:spPr>
          <a:xfrm>
            <a:off x="179512" y="1556792"/>
            <a:ext cx="6536962" cy="4808512"/>
          </a:xfrm>
        </p:spPr>
        <p:txBody>
          <a:bodyPr/>
          <a:lstStyle/>
          <a:p>
            <a:r>
              <a:rPr lang="en-US" altLang="zh-CN" dirty="0">
                <a:solidFill>
                  <a:srgbClr val="FF0000"/>
                </a:solidFill>
              </a:rPr>
              <a:t>Answers: Since new nuclei may form due to large vertical temperature gradient, rotation operation can   keep the temperature balance across crystal growth interface, inhibiting the growth of polycrystals.</a:t>
            </a:r>
          </a:p>
          <a:p>
            <a:endParaRPr lang="en-US" dirty="0"/>
          </a:p>
          <a:p>
            <a:pPr marL="457200" indent="-457200">
              <a:buFont typeface="Wingdings" panose="05000000000000000000"/>
              <a:buChar char="è"/>
            </a:pPr>
            <a:r>
              <a:rPr lang="en-US" altLang="zh-CN" sz="2400" dirty="0">
                <a:sym typeface="Wingdings" panose="05000000000000000000" pitchFamily="2" charset="2"/>
              </a:rPr>
              <a:t>Try to think with your own brain firstly</a:t>
            </a:r>
          </a:p>
          <a:p>
            <a:pPr marL="457200" indent="-457200">
              <a:buFont typeface="Wingdings" panose="05000000000000000000"/>
              <a:buChar char="è"/>
            </a:pPr>
            <a:r>
              <a:rPr lang="en-US" altLang="zh-CN" sz="2400" dirty="0">
                <a:sym typeface="Wingdings" panose="05000000000000000000" pitchFamily="2" charset="2"/>
              </a:rPr>
              <a:t>Google, Bing &amp; Baidu</a:t>
            </a:r>
          </a:p>
          <a:p>
            <a:pPr marL="457200" indent="-457200">
              <a:buFont typeface="Wingdings" panose="05000000000000000000"/>
              <a:buChar char="è"/>
            </a:pPr>
            <a:r>
              <a:rPr lang="en-US" sz="2400" dirty="0">
                <a:hlinkClick r:id="rId4"/>
              </a:rPr>
              <a:t>http://www.answers.com</a:t>
            </a:r>
            <a:endParaRPr lang="en-US" sz="2400" dirty="0"/>
          </a:p>
          <a:p>
            <a:pPr marL="457200" indent="-457200">
              <a:buFont typeface="Wingdings" panose="05000000000000000000"/>
              <a:buChar char="è"/>
            </a:pPr>
            <a:r>
              <a:rPr lang="en-US" sz="2400" dirty="0">
                <a:hlinkClick r:id="rId5"/>
              </a:rPr>
              <a:t>http://en.wikipedia.org/wiki/Wiki</a:t>
            </a:r>
            <a:r>
              <a:rPr lang="en-US" sz="2400" dirty="0"/>
              <a:t> </a:t>
            </a:r>
          </a:p>
          <a:p>
            <a:pPr marL="457200" indent="-457200">
              <a:buFont typeface="Wingdings" panose="05000000000000000000"/>
              <a:buChar char="è"/>
            </a:pPr>
            <a:r>
              <a:rPr lang="en-US" altLang="zh-CN" sz="2400" dirty="0"/>
              <a:t>LIBRARY</a:t>
            </a:r>
          </a:p>
          <a:p>
            <a:pPr marL="457200" indent="-457200">
              <a:buFont typeface="Wingdings" panose="05000000000000000000"/>
              <a:buChar char="è"/>
            </a:pPr>
            <a:r>
              <a:rPr lang="en-US" sz="2400" dirty="0"/>
              <a:t>Discussion</a:t>
            </a:r>
          </a:p>
          <a:p>
            <a:pPr marL="457200" indent="-457200">
              <a:buFont typeface="Wingdings" panose="05000000000000000000"/>
              <a:buChar char="è"/>
            </a:pPr>
            <a:endParaRPr lang="en-US" sz="2400" dirty="0"/>
          </a:p>
        </p:txBody>
      </p:sp>
      <p:sp>
        <p:nvSpPr>
          <p:cNvPr id="4" name="Curved Right Arrow 3"/>
          <p:cNvSpPr/>
          <p:nvPr/>
        </p:nvSpPr>
        <p:spPr>
          <a:xfrm>
            <a:off x="6660232" y="2600908"/>
            <a:ext cx="912775" cy="504056"/>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arn(inVertical)">
                                      <p:cBhvr>
                                        <p:cTn id="16" dur="500"/>
                                        <p:tgtEl>
                                          <p:spTgt spid="3">
                                            <p:txEl>
                                              <p:pRg st="7" end="7"/>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81000" y="188640"/>
            <a:ext cx="8458200" cy="1729383"/>
          </a:xfrm>
        </p:spPr>
        <p:txBody>
          <a:bodyPr/>
          <a:lstStyle/>
          <a:p>
            <a:r>
              <a:rPr lang="en-US" altLang="zh-CN" sz="2400" cap="none" dirty="0">
                <a:effectLst/>
                <a:latin typeface="+mn-lt"/>
              </a:rPr>
              <a:t>Chapter 3</a:t>
            </a:r>
            <a:r>
              <a:rPr lang="zh-CN" altLang="en-US" sz="2400" cap="none" dirty="0">
                <a:effectLst/>
                <a:latin typeface="+mn-lt"/>
              </a:rPr>
              <a:t> </a:t>
            </a:r>
            <a:r>
              <a:rPr lang="en-US" altLang="zh-CN" sz="2400" cap="none" dirty="0">
                <a:effectLst/>
                <a:latin typeface="+mn-lt"/>
              </a:rPr>
              <a:t>Classification of space lattice and crystallographic symbols</a:t>
            </a:r>
            <a:r>
              <a:rPr lang="zh-CN" altLang="en-US" sz="2400" cap="none" dirty="0">
                <a:effectLst/>
                <a:latin typeface="+mn-lt"/>
              </a:rPr>
              <a:t> </a:t>
            </a:r>
            <a:endParaRPr lang="zh-CN" altLang="en-US" sz="2400" dirty="0">
              <a:effectLst/>
              <a:latin typeface="+mn-lt"/>
            </a:endParaRPr>
          </a:p>
        </p:txBody>
      </p:sp>
      <p:sp>
        <p:nvSpPr>
          <p:cNvPr id="2061" name="Rectangle 13"/>
          <p:cNvSpPr>
            <a:spLocks noGrp="1" noChangeArrowheads="1"/>
          </p:cNvSpPr>
          <p:nvPr>
            <p:ph type="subTitle" idx="1"/>
          </p:nvPr>
        </p:nvSpPr>
        <p:spPr>
          <a:xfrm>
            <a:off x="683568" y="1556792"/>
            <a:ext cx="7920880" cy="5040560"/>
          </a:xfrm>
        </p:spPr>
        <p:txBody>
          <a:bodyPr/>
          <a:lstStyle/>
          <a:p>
            <a:pPr>
              <a:lnSpc>
                <a:spcPct val="120000"/>
              </a:lnSpc>
              <a:buSzPct val="85000"/>
            </a:pPr>
            <a:r>
              <a:rPr kumimoji="1" lang="en-US" altLang="zh-CN" b="1" cap="none" spc="-60" dirty="0">
                <a:solidFill>
                  <a:srgbClr val="FF0000"/>
                </a:solidFill>
                <a:effectLst>
                  <a:outerShdw blurRad="38100" dist="38100" dir="2700000" algn="tl">
                    <a:srgbClr val="000000">
                      <a:alpha val="43137"/>
                    </a:srgbClr>
                  </a:outerShdw>
                </a:effectLst>
                <a:latin typeface="+mn-lt"/>
                <a:ea typeface="+mj-ea"/>
                <a:cs typeface="+mj-cs"/>
              </a:rPr>
              <a:t>Space lattice</a:t>
            </a:r>
          </a:p>
          <a:p>
            <a:pPr marL="457200" indent="-457200">
              <a:lnSpc>
                <a:spcPct val="120000"/>
              </a:lnSpc>
              <a:buSzPct val="85000"/>
              <a:buFont typeface="Wingdings" panose="05000000000000000000" pitchFamily="2" charset="2"/>
              <a:buChar char="q"/>
            </a:pPr>
            <a:r>
              <a:rPr kumimoji="1" lang="en-US" altLang="zh-CN" b="1" cap="none" spc="-60" dirty="0">
                <a:solidFill>
                  <a:schemeClr val="tx1"/>
                </a:solidFill>
                <a:latin typeface="+mn-lt"/>
                <a:ea typeface="+mj-ea"/>
                <a:cs typeface="+mj-cs"/>
              </a:rPr>
              <a:t>Classification of space lattice </a:t>
            </a:r>
            <a:r>
              <a:rPr kumimoji="1" lang="zh-CN" altLang="en-US" b="1" cap="none" spc="-60" dirty="0">
                <a:solidFill>
                  <a:schemeClr val="tx1"/>
                </a:solidFill>
                <a:latin typeface="+mn-lt"/>
                <a:ea typeface="+mj-ea"/>
                <a:cs typeface="+mj-cs"/>
              </a:rPr>
              <a:t>（空间格子）</a:t>
            </a:r>
            <a:endParaRPr kumimoji="1" lang="en-US" altLang="zh-CN" b="1" cap="none" spc="-60" dirty="0">
              <a:solidFill>
                <a:schemeClr val="tx1"/>
              </a:solidFill>
              <a:latin typeface="+mn-lt"/>
              <a:ea typeface="+mj-ea"/>
              <a:cs typeface="+mj-cs"/>
            </a:endParaRPr>
          </a:p>
          <a:p>
            <a:pPr marL="457200" indent="-457200">
              <a:lnSpc>
                <a:spcPct val="120000"/>
              </a:lnSpc>
              <a:buSzPct val="85000"/>
              <a:buFont typeface="Wingdings" panose="05000000000000000000" pitchFamily="2" charset="2"/>
              <a:buChar char="q"/>
            </a:pPr>
            <a:r>
              <a:rPr kumimoji="1" lang="en-US" altLang="zh-CN" b="1" cap="none" spc="-60" dirty="0">
                <a:solidFill>
                  <a:schemeClr val="tx1"/>
                </a:solidFill>
                <a:latin typeface="+mn-lt"/>
                <a:ea typeface="+mj-ea"/>
                <a:cs typeface="+mj-cs"/>
              </a:rPr>
              <a:t>Primitive cell, Wigner Seitz primitive cell and unit cell.</a:t>
            </a:r>
          </a:p>
          <a:p>
            <a:pPr marL="457200" indent="-457200">
              <a:lnSpc>
                <a:spcPct val="120000"/>
              </a:lnSpc>
              <a:buSzPct val="85000"/>
              <a:buFont typeface="Wingdings" panose="05000000000000000000" pitchFamily="2" charset="2"/>
              <a:buChar char="q"/>
            </a:pPr>
            <a:r>
              <a:rPr kumimoji="1" lang="en-US" altLang="zh-CN" b="1" cap="none" spc="-60" dirty="0">
                <a:solidFill>
                  <a:schemeClr val="tx1"/>
                </a:solidFill>
                <a:latin typeface="+mn-lt"/>
                <a:ea typeface="+mj-ea"/>
                <a:cs typeface="+mj-cs"/>
              </a:rPr>
              <a:t>7 crystal systems, 14 space lattices;</a:t>
            </a:r>
          </a:p>
          <a:p>
            <a:pPr>
              <a:lnSpc>
                <a:spcPct val="120000"/>
              </a:lnSpc>
              <a:buSzPct val="85000"/>
            </a:pPr>
            <a:r>
              <a:rPr kumimoji="1" lang="en-US" altLang="zh-CN" b="1" cap="none" spc="-60" dirty="0">
                <a:solidFill>
                  <a:srgbClr val="FF0000"/>
                </a:solidFill>
                <a:effectLst>
                  <a:outerShdw blurRad="38100" dist="38100" dir="2700000" algn="tl">
                    <a:srgbClr val="000000">
                      <a:alpha val="43137"/>
                    </a:srgbClr>
                  </a:outerShdw>
                </a:effectLst>
                <a:latin typeface="+mn-lt"/>
                <a:ea typeface="+mj-ea"/>
                <a:cs typeface="+mj-cs"/>
              </a:rPr>
              <a:t>Node, Crystallographic direction, lattice plane and Miller index </a:t>
            </a:r>
          </a:p>
          <a:p>
            <a:pPr marL="457200" indent="-457200">
              <a:lnSpc>
                <a:spcPct val="120000"/>
              </a:lnSpc>
              <a:buSzPct val="85000"/>
              <a:buFont typeface="Wingdings" panose="05000000000000000000" pitchFamily="2" charset="2"/>
              <a:buChar char="q"/>
            </a:pPr>
            <a:r>
              <a:rPr kumimoji="1" lang="en-US" altLang="zh-CN" b="1" cap="none" spc="-60" dirty="0">
                <a:solidFill>
                  <a:schemeClr val="tx1"/>
                </a:solidFill>
                <a:latin typeface="+mn-lt"/>
                <a:ea typeface="+mj-ea"/>
                <a:cs typeface="+mj-cs"/>
              </a:rPr>
              <a:t>Denotation of node, crystallographic direction and plane;</a:t>
            </a:r>
          </a:p>
          <a:p>
            <a:pPr marL="457200" indent="-457200">
              <a:lnSpc>
                <a:spcPct val="120000"/>
              </a:lnSpc>
              <a:buSzPct val="85000"/>
              <a:buFont typeface="Wingdings" panose="05000000000000000000" pitchFamily="2" charset="2"/>
              <a:buChar char="q"/>
            </a:pPr>
            <a:r>
              <a:rPr kumimoji="1" lang="en-US" altLang="zh-CN" b="1" cap="none" spc="-60" dirty="0">
                <a:solidFill>
                  <a:schemeClr val="tx1"/>
                </a:solidFill>
                <a:latin typeface="+mn-lt"/>
                <a:ea typeface="+mj-ea"/>
                <a:cs typeface="+mj-cs"/>
              </a:rPr>
              <a:t>Denotation of  direction and plane in hexagonal crystal system;</a:t>
            </a:r>
          </a:p>
          <a:p>
            <a:pPr marL="457200" indent="-457200">
              <a:lnSpc>
                <a:spcPct val="120000"/>
              </a:lnSpc>
              <a:buSzPct val="85000"/>
              <a:buFont typeface="Wingdings" panose="05000000000000000000" pitchFamily="2" charset="2"/>
              <a:buChar char="q"/>
            </a:pPr>
            <a:r>
              <a:rPr kumimoji="1" lang="en-US" altLang="zh-CN" b="1" cap="none" spc="-60" dirty="0">
                <a:solidFill>
                  <a:schemeClr val="tx1"/>
                </a:solidFill>
                <a:latin typeface="+mn-lt"/>
                <a:ea typeface="+mj-ea"/>
                <a:cs typeface="+mj-cs"/>
              </a:rPr>
              <a:t>Zone axis law.</a:t>
            </a:r>
            <a:endParaRPr kumimoji="1" lang="zh-CN" altLang="en-US" b="1" cap="none" spc="-60" dirty="0">
              <a:solidFill>
                <a:schemeClr val="tx1"/>
              </a:solidFill>
              <a:latin typeface="+mn-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89246" y="1296144"/>
            <a:ext cx="8785671" cy="5445224"/>
          </a:xfrm>
        </p:spPr>
        <p:txBody>
          <a:bodyPr/>
          <a:lstStyle/>
          <a:p>
            <a:pPr>
              <a:lnSpc>
                <a:spcPct val="120000"/>
              </a:lnSpc>
              <a:spcBef>
                <a:spcPct val="0"/>
              </a:spcBef>
              <a:spcAft>
                <a:spcPct val="0"/>
              </a:spcAft>
            </a:pPr>
            <a:r>
              <a:rPr lang="en-US" altLang="zh-CN" sz="2400" spc="-60" dirty="0">
                <a:solidFill>
                  <a:srgbClr val="FF0066"/>
                </a:solidFill>
              </a:rPr>
              <a:t>Elements of a spatial lattice (review)</a:t>
            </a:r>
            <a:r>
              <a:rPr lang="en-US" altLang="zh-CN" sz="1800" spc="-60" dirty="0">
                <a:solidFill>
                  <a:srgbClr val="FF0066"/>
                </a:solidFill>
              </a:rPr>
              <a:t> </a:t>
            </a:r>
          </a:p>
          <a:p>
            <a:pPr>
              <a:lnSpc>
                <a:spcPct val="120000"/>
              </a:lnSpc>
              <a:spcBef>
                <a:spcPct val="0"/>
              </a:spcBef>
              <a:spcAft>
                <a:spcPct val="0"/>
              </a:spcAft>
            </a:pPr>
            <a:endParaRPr lang="en-US" altLang="zh-CN" sz="1800" spc="-60" dirty="0">
              <a:solidFill>
                <a:srgbClr val="FF0066"/>
              </a:solidFill>
            </a:endParaRPr>
          </a:p>
          <a:p>
            <a:pPr marL="342900" indent="-342900">
              <a:lnSpc>
                <a:spcPct val="120000"/>
              </a:lnSpc>
              <a:spcBef>
                <a:spcPct val="0"/>
              </a:spcBef>
              <a:spcAft>
                <a:spcPct val="0"/>
              </a:spcAft>
              <a:buFont typeface="Wingdings" panose="05000000000000000000" pitchFamily="2" charset="2"/>
              <a:buChar char="q"/>
            </a:pPr>
            <a:r>
              <a:rPr lang="en-US" altLang="zh-CN" sz="2400" dirty="0"/>
              <a:t>motif</a:t>
            </a:r>
            <a:r>
              <a:rPr lang="zh-CN" altLang="en-US" sz="2400" dirty="0"/>
              <a:t>（结构基元，质点的集合）</a:t>
            </a:r>
            <a:endParaRPr lang="en-US" altLang="zh-CN" sz="2400" dirty="0"/>
          </a:p>
          <a:p>
            <a:pPr marL="342900" indent="-342900">
              <a:lnSpc>
                <a:spcPct val="120000"/>
              </a:lnSpc>
              <a:spcBef>
                <a:spcPct val="0"/>
              </a:spcBef>
              <a:spcAft>
                <a:spcPct val="0"/>
              </a:spcAft>
              <a:buFont typeface="Wingdings" panose="05000000000000000000" pitchFamily="2" charset="2"/>
              <a:buChar char="q"/>
            </a:pPr>
            <a:r>
              <a:rPr lang="en-US" altLang="zh-CN" sz="2400" b="1" dirty="0"/>
              <a:t>node</a:t>
            </a:r>
            <a:r>
              <a:rPr lang="zh-CN" altLang="en-US" sz="2400" b="1" dirty="0"/>
              <a:t> </a:t>
            </a:r>
            <a:r>
              <a:rPr lang="en-US" altLang="zh-CN" sz="2400" b="1" dirty="0"/>
              <a:t>(</a:t>
            </a:r>
            <a:r>
              <a:rPr lang="zh-CN" altLang="en-US" sz="2400" b="1" dirty="0"/>
              <a:t>结点</a:t>
            </a:r>
            <a:r>
              <a:rPr lang="en-US" altLang="zh-CN" sz="2400" b="1" dirty="0"/>
              <a:t>)</a:t>
            </a:r>
            <a:r>
              <a:rPr lang="zh-CN" altLang="en-US" sz="2400" b="1" dirty="0"/>
              <a:t> ，</a:t>
            </a:r>
            <a:r>
              <a:rPr lang="en-US" altLang="zh-CN" sz="2400" dirty="0"/>
              <a:t>lattice point</a:t>
            </a:r>
            <a:r>
              <a:rPr lang="zh-CN" altLang="en-US" sz="2400" b="1" dirty="0"/>
              <a:t> </a:t>
            </a:r>
            <a:r>
              <a:rPr lang="en-US" altLang="zh-CN" sz="2400" b="1" dirty="0"/>
              <a:t>(</a:t>
            </a:r>
            <a:r>
              <a:rPr lang="zh-CN" altLang="en-US" sz="2400" dirty="0"/>
              <a:t>格点或阵点</a:t>
            </a:r>
            <a:r>
              <a:rPr lang="en-US" altLang="zh-CN" sz="2400" b="1" dirty="0"/>
              <a:t>)</a:t>
            </a:r>
            <a:endParaRPr lang="en-US" altLang="zh-CN" sz="2400" dirty="0"/>
          </a:p>
          <a:p>
            <a:pPr marL="342900" indent="-342900">
              <a:lnSpc>
                <a:spcPct val="120000"/>
              </a:lnSpc>
              <a:spcBef>
                <a:spcPct val="0"/>
              </a:spcBef>
              <a:spcAft>
                <a:spcPct val="0"/>
              </a:spcAft>
              <a:buFont typeface="Wingdings" panose="05000000000000000000" pitchFamily="2" charset="2"/>
              <a:buChar char="q"/>
            </a:pPr>
            <a:r>
              <a:rPr lang="en-US" altLang="zh-CN" sz="2400" b="1" dirty="0"/>
              <a:t>row (</a:t>
            </a:r>
            <a:r>
              <a:rPr lang="zh-CN" altLang="en-US" sz="2400" b="1" dirty="0"/>
              <a:t>行列</a:t>
            </a:r>
            <a:r>
              <a:rPr lang="en-US" altLang="zh-CN" sz="2400" b="1" dirty="0"/>
              <a:t>)</a:t>
            </a:r>
            <a:r>
              <a:rPr lang="zh-CN" altLang="en-US" sz="2400" b="1" dirty="0"/>
              <a:t>，</a:t>
            </a:r>
            <a:r>
              <a:rPr lang="en-US" altLang="zh-CN" sz="2400" dirty="0"/>
              <a:t>net</a:t>
            </a:r>
            <a:r>
              <a:rPr lang="zh-CN" altLang="en-US" sz="2400" b="1" dirty="0"/>
              <a:t> </a:t>
            </a:r>
            <a:r>
              <a:rPr lang="en-US" altLang="zh-CN" sz="2400" b="1" dirty="0"/>
              <a:t>(</a:t>
            </a:r>
            <a:r>
              <a:rPr lang="zh-CN" altLang="en-US" sz="2400" dirty="0"/>
              <a:t>面网</a:t>
            </a:r>
            <a:r>
              <a:rPr lang="en-US" altLang="zh-CN" sz="2400" b="1" dirty="0"/>
              <a:t>)</a:t>
            </a:r>
          </a:p>
          <a:p>
            <a:pPr marL="342900" indent="-342900">
              <a:lnSpc>
                <a:spcPct val="120000"/>
              </a:lnSpc>
              <a:spcBef>
                <a:spcPct val="0"/>
              </a:spcBef>
              <a:spcAft>
                <a:spcPct val="0"/>
              </a:spcAft>
              <a:buFont typeface="Wingdings" panose="05000000000000000000" pitchFamily="2" charset="2"/>
              <a:buChar char="q"/>
            </a:pPr>
            <a:r>
              <a:rPr lang="en-US" altLang="zh-CN" sz="2400" dirty="0"/>
              <a:t>space lattice</a:t>
            </a:r>
            <a:r>
              <a:rPr lang="zh-CN" altLang="en-US" sz="2400" b="1" dirty="0"/>
              <a:t> </a:t>
            </a:r>
            <a:r>
              <a:rPr lang="en-US" altLang="zh-CN" sz="2400" b="1" dirty="0"/>
              <a:t>(</a:t>
            </a:r>
            <a:r>
              <a:rPr lang="zh-CN" altLang="en-US" sz="2400" dirty="0"/>
              <a:t>空间点阵</a:t>
            </a:r>
            <a:r>
              <a:rPr lang="en-US" altLang="zh-CN" sz="2400" b="1" dirty="0"/>
              <a:t>)</a:t>
            </a:r>
          </a:p>
          <a:p>
            <a:pPr marL="0" lvl="1" indent="0" eaLnBrk="1" fontAlgn="auto" hangingPunct="1">
              <a:lnSpc>
                <a:spcPct val="110000"/>
              </a:lnSpc>
              <a:spcAft>
                <a:spcPts val="0"/>
              </a:spcAft>
              <a:buNone/>
              <a:defRPr/>
            </a:pPr>
            <a:endParaRPr lang="en-US" altLang="zh-CN" sz="2800" b="1" u="sng" dirty="0">
              <a:solidFill>
                <a:srgbClr val="0000FF"/>
              </a:solidFill>
              <a:sym typeface="Wingdings" panose="05000000000000000000" pitchFamily="2" charset="2"/>
            </a:endParaRPr>
          </a:p>
          <a:p>
            <a:pPr marL="0" lvl="1" indent="0" eaLnBrk="1" fontAlgn="auto" hangingPunct="1">
              <a:lnSpc>
                <a:spcPct val="110000"/>
              </a:lnSpc>
              <a:spcAft>
                <a:spcPts val="0"/>
              </a:spcAft>
              <a:buNone/>
              <a:defRPr/>
            </a:pPr>
            <a:endParaRPr lang="en-US" altLang="zh-CN" sz="2800" b="1" u="sng" dirty="0">
              <a:solidFill>
                <a:srgbClr val="0000FF"/>
              </a:solidFill>
              <a:sym typeface="Wingdings" panose="05000000000000000000" pitchFamily="2" charset="2"/>
            </a:endParaRPr>
          </a:p>
          <a:p>
            <a:pPr marL="0" lvl="1" indent="0" eaLnBrk="1" fontAlgn="auto" hangingPunct="1">
              <a:lnSpc>
                <a:spcPct val="110000"/>
              </a:lnSpc>
              <a:spcAft>
                <a:spcPts val="0"/>
              </a:spcAft>
              <a:buNone/>
              <a:defRPr/>
            </a:pPr>
            <a:endParaRPr lang="en-US" altLang="zh-CN" sz="2800" b="1" u="sng" dirty="0">
              <a:solidFill>
                <a:srgbClr val="0000FF"/>
              </a:solidFill>
              <a:sym typeface="Wingdings" panose="05000000000000000000" pitchFamily="2" charset="2"/>
            </a:endParaRPr>
          </a:p>
          <a:p>
            <a:pPr marL="0" lvl="1" indent="0" eaLnBrk="1" fontAlgn="auto" hangingPunct="1">
              <a:lnSpc>
                <a:spcPct val="110000"/>
              </a:lnSpc>
              <a:spcAft>
                <a:spcPts val="0"/>
              </a:spcAft>
              <a:buNone/>
              <a:defRPr/>
            </a:pPr>
            <a:endParaRPr lang="en-US" altLang="zh-CN" sz="2800" b="1" u="sng" dirty="0">
              <a:solidFill>
                <a:srgbClr val="0000FF"/>
              </a:solidFill>
              <a:sym typeface="Wingdings" panose="05000000000000000000" pitchFamily="2" charset="2"/>
            </a:endParaRPr>
          </a:p>
        </p:txBody>
      </p:sp>
      <p:sp>
        <p:nvSpPr>
          <p:cNvPr id="33799" name="Rectangle 7"/>
          <p:cNvSpPr>
            <a:spLocks noChangeArrowheads="1"/>
          </p:cNvSpPr>
          <p:nvPr/>
        </p:nvSpPr>
        <p:spPr bwMode="auto">
          <a:xfrm>
            <a:off x="323528" y="404664"/>
            <a:ext cx="7993063"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spc="-60" dirty="0">
                <a:solidFill>
                  <a:srgbClr val="FF0066"/>
                </a:solidFill>
                <a:effectLst>
                  <a:outerShdw blurRad="38100" dist="38100" dir="2700000" algn="tl">
                    <a:srgbClr val="000000"/>
                  </a:outerShdw>
                </a:effectLst>
                <a:latin typeface="+mj-lt"/>
                <a:ea typeface="+mj-ea"/>
                <a:cs typeface="+mj-cs"/>
              </a:rPr>
              <a:t>I. Space lattice</a:t>
            </a:r>
            <a:endParaRPr lang="zh-CN" altLang="en-US" sz="3600" b="1" spc="-60" dirty="0">
              <a:solidFill>
                <a:srgbClr val="FF0066"/>
              </a:solidFill>
              <a:effectLst>
                <a:outerShdw blurRad="38100" dist="38100" dir="2700000" algn="tl">
                  <a:srgbClr val="000000"/>
                </a:outerShdw>
              </a:effectLst>
              <a:latin typeface="+mj-lt"/>
              <a:ea typeface="+mj-ea"/>
              <a:cs typeface="+mj-cs"/>
            </a:endParaRPr>
          </a:p>
        </p:txBody>
      </p:sp>
      <p:sp>
        <p:nvSpPr>
          <p:cNvPr id="86" name="Rectangle 85"/>
          <p:cNvSpPr/>
          <p:nvPr/>
        </p:nvSpPr>
        <p:spPr>
          <a:xfrm>
            <a:off x="323528" y="6074132"/>
            <a:ext cx="5344668" cy="523220"/>
          </a:xfrm>
          <a:prstGeom prst="rect">
            <a:avLst/>
          </a:prstGeom>
        </p:spPr>
        <p:txBody>
          <a:bodyPr wrap="none">
            <a:spAutoFit/>
          </a:bodyPr>
          <a:lstStyle/>
          <a:p>
            <a:pPr>
              <a:defRPr/>
            </a:pPr>
            <a:r>
              <a:rPr lang="en-US" altLang="zh-CN" sz="2800" b="1" dirty="0">
                <a:solidFill>
                  <a:srgbClr val="7030A0"/>
                </a:solidFill>
                <a:effectLst>
                  <a:outerShdw blurRad="38100" dist="38100" dir="2700000" algn="tl">
                    <a:srgbClr val="000000"/>
                  </a:outerShdw>
                </a:effectLst>
                <a:sym typeface="Symbol" panose="05050102010706020507" pitchFamily="18" charset="2"/>
              </a:rPr>
              <a:t>Crystal structure = motif + </a:t>
            </a:r>
            <a:r>
              <a:rPr lang="en-US" altLang="zh-CN" sz="2800" b="1" dirty="0">
                <a:solidFill>
                  <a:srgbClr val="7030A0"/>
                </a:solidFill>
                <a:effectLst>
                  <a:outerShdw blurRad="38100" dist="38100" dir="2700000" algn="tl">
                    <a:srgbClr val="000000"/>
                  </a:outerShdw>
                </a:effectLst>
              </a:rPr>
              <a:t>lattice</a:t>
            </a:r>
            <a:endParaRPr lang="en-US" sz="2800" dirty="0">
              <a:solidFill>
                <a:srgbClr val="7030A0"/>
              </a:solidFill>
            </a:endParaRPr>
          </a:p>
        </p:txBody>
      </p:sp>
      <p:sp>
        <p:nvSpPr>
          <p:cNvPr id="80" name="TextBox 79"/>
          <p:cNvSpPr txBox="1"/>
          <p:nvPr/>
        </p:nvSpPr>
        <p:spPr>
          <a:xfrm>
            <a:off x="357848" y="5012953"/>
            <a:ext cx="5176417" cy="461665"/>
          </a:xfrm>
          <a:prstGeom prst="rect">
            <a:avLst/>
          </a:prstGeom>
          <a:solidFill>
            <a:srgbClr val="FF3300"/>
          </a:solidFill>
        </p:spPr>
        <p:txBody>
          <a:bodyPr wrap="none" rtlCol="0">
            <a:spAutoFit/>
          </a:bodyPr>
          <a:lstStyle/>
          <a:p>
            <a:r>
              <a:rPr lang="en-US" altLang="zh-CN" b="1" dirty="0"/>
              <a:t>Abstract one motif as one lattice point</a:t>
            </a:r>
            <a:endParaRPr lang="en-US" b="1" dirty="0"/>
          </a:p>
        </p:txBody>
      </p:sp>
      <p:sp>
        <p:nvSpPr>
          <p:cNvPr id="81" name="Curved Down Arrow 80"/>
          <p:cNvSpPr/>
          <p:nvPr/>
        </p:nvSpPr>
        <p:spPr>
          <a:xfrm>
            <a:off x="835622" y="5564712"/>
            <a:ext cx="4320480" cy="46166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0" name="Group 19"/>
          <p:cNvGrpSpPr/>
          <p:nvPr/>
        </p:nvGrpSpPr>
        <p:grpSpPr>
          <a:xfrm>
            <a:off x="5962602" y="1603629"/>
            <a:ext cx="2976268" cy="3039144"/>
            <a:chOff x="5586358" y="1541239"/>
            <a:chExt cx="2976268" cy="3039144"/>
          </a:xfrm>
        </p:grpSpPr>
        <p:sp>
          <p:nvSpPr>
            <p:cNvPr id="2" name="TextBox 1"/>
            <p:cNvSpPr txBox="1"/>
            <p:nvPr/>
          </p:nvSpPr>
          <p:spPr>
            <a:xfrm>
              <a:off x="5789171" y="1568690"/>
              <a:ext cx="849913" cy="461665"/>
            </a:xfrm>
            <a:prstGeom prst="rect">
              <a:avLst/>
            </a:prstGeom>
            <a:solidFill>
              <a:srgbClr val="00B0F0"/>
            </a:solidFill>
          </p:spPr>
          <p:txBody>
            <a:bodyPr wrap="none" rtlCol="0">
              <a:spAutoFit/>
            </a:bodyPr>
            <a:lstStyle/>
            <a:p>
              <a:r>
                <a:rPr lang="en-US" altLang="zh-CN" dirty="0"/>
                <a:t>motif</a:t>
              </a:r>
              <a:endParaRPr lang="en-US" dirty="0"/>
            </a:p>
          </p:txBody>
        </p:sp>
        <p:sp>
          <p:nvSpPr>
            <p:cNvPr id="8" name="TextBox 7"/>
            <p:cNvSpPr txBox="1"/>
            <p:nvPr/>
          </p:nvSpPr>
          <p:spPr>
            <a:xfrm>
              <a:off x="7704698" y="1541239"/>
              <a:ext cx="782587" cy="461665"/>
            </a:xfrm>
            <a:prstGeom prst="rect">
              <a:avLst/>
            </a:prstGeom>
            <a:solidFill>
              <a:srgbClr val="00B0F0"/>
            </a:solidFill>
          </p:spPr>
          <p:txBody>
            <a:bodyPr wrap="none" rtlCol="0">
              <a:spAutoFit/>
            </a:bodyPr>
            <a:lstStyle/>
            <a:p>
              <a:r>
                <a:rPr lang="en-US" altLang="zh-CN" dirty="0"/>
                <a:t>node</a:t>
              </a:r>
              <a:endParaRPr lang="en-US" dirty="0"/>
            </a:p>
          </p:txBody>
        </p:sp>
        <p:sp>
          <p:nvSpPr>
            <p:cNvPr id="9" name="TextBox 8"/>
            <p:cNvSpPr txBox="1"/>
            <p:nvPr/>
          </p:nvSpPr>
          <p:spPr>
            <a:xfrm>
              <a:off x="7764009" y="2322289"/>
              <a:ext cx="663964" cy="461665"/>
            </a:xfrm>
            <a:prstGeom prst="rect">
              <a:avLst/>
            </a:prstGeom>
            <a:solidFill>
              <a:srgbClr val="00B0F0"/>
            </a:solidFill>
          </p:spPr>
          <p:txBody>
            <a:bodyPr wrap="none" rtlCol="0">
              <a:spAutoFit/>
            </a:bodyPr>
            <a:lstStyle/>
            <a:p>
              <a:r>
                <a:rPr lang="en-US" altLang="zh-CN" dirty="0"/>
                <a:t>row</a:t>
              </a:r>
              <a:endParaRPr lang="en-US" dirty="0"/>
            </a:p>
          </p:txBody>
        </p:sp>
        <p:sp>
          <p:nvSpPr>
            <p:cNvPr id="10" name="TextBox 9"/>
            <p:cNvSpPr txBox="1"/>
            <p:nvPr/>
          </p:nvSpPr>
          <p:spPr>
            <a:xfrm>
              <a:off x="7816107" y="3103339"/>
              <a:ext cx="559769" cy="461665"/>
            </a:xfrm>
            <a:prstGeom prst="rect">
              <a:avLst/>
            </a:prstGeom>
            <a:solidFill>
              <a:srgbClr val="00B0F0"/>
            </a:solidFill>
          </p:spPr>
          <p:txBody>
            <a:bodyPr wrap="none" rtlCol="0">
              <a:spAutoFit/>
            </a:bodyPr>
            <a:lstStyle/>
            <a:p>
              <a:r>
                <a:rPr lang="en-US" altLang="zh-CN" dirty="0"/>
                <a:t>net</a:t>
              </a:r>
              <a:endParaRPr lang="en-US" dirty="0"/>
            </a:p>
          </p:txBody>
        </p:sp>
        <p:sp>
          <p:nvSpPr>
            <p:cNvPr id="13" name="TextBox 12"/>
            <p:cNvSpPr txBox="1"/>
            <p:nvPr/>
          </p:nvSpPr>
          <p:spPr>
            <a:xfrm>
              <a:off x="7629357" y="3909094"/>
              <a:ext cx="933269" cy="461665"/>
            </a:xfrm>
            <a:prstGeom prst="rect">
              <a:avLst/>
            </a:prstGeom>
            <a:solidFill>
              <a:srgbClr val="00B0F0"/>
            </a:solidFill>
          </p:spPr>
          <p:txBody>
            <a:bodyPr wrap="none" rtlCol="0">
              <a:spAutoFit/>
            </a:bodyPr>
            <a:lstStyle/>
            <a:p>
              <a:r>
                <a:rPr lang="en-US" altLang="zh-CN" dirty="0"/>
                <a:t>lattice</a:t>
              </a:r>
              <a:endParaRPr lang="en-US" dirty="0"/>
            </a:p>
          </p:txBody>
        </p:sp>
        <p:sp>
          <p:nvSpPr>
            <p:cNvPr id="3" name="Right Arrow 2"/>
            <p:cNvSpPr/>
            <p:nvPr/>
          </p:nvSpPr>
          <p:spPr>
            <a:xfrm>
              <a:off x="7095315" y="1627724"/>
              <a:ext cx="281042" cy="3435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wn Arrow 3"/>
            <p:cNvSpPr/>
            <p:nvPr/>
          </p:nvSpPr>
          <p:spPr>
            <a:xfrm>
              <a:off x="7989693" y="2004020"/>
              <a:ext cx="212597" cy="318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a:off x="7989693" y="2785070"/>
              <a:ext cx="212597" cy="318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p:cNvSpPr/>
            <p:nvPr/>
          </p:nvSpPr>
          <p:spPr>
            <a:xfrm>
              <a:off x="7989693" y="3585170"/>
              <a:ext cx="212597" cy="3182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586358" y="3749386"/>
              <a:ext cx="1311578" cy="830997"/>
            </a:xfrm>
            <a:prstGeom prst="rect">
              <a:avLst/>
            </a:prstGeom>
            <a:solidFill>
              <a:srgbClr val="00B0F0"/>
            </a:solidFill>
          </p:spPr>
          <p:txBody>
            <a:bodyPr wrap="none" rtlCol="0">
              <a:spAutoFit/>
            </a:bodyPr>
            <a:lstStyle/>
            <a:p>
              <a:pPr algn="ctr"/>
              <a:r>
                <a:rPr lang="en-US" altLang="zh-CN" dirty="0"/>
                <a:t>Crystal</a:t>
              </a:r>
            </a:p>
            <a:p>
              <a:pPr algn="ctr"/>
              <a:r>
                <a:rPr lang="en-US" altLang="zh-CN" dirty="0"/>
                <a:t>Structure</a:t>
              </a:r>
              <a:endParaRPr lang="en-US" dirty="0"/>
            </a:p>
          </p:txBody>
        </p:sp>
        <p:cxnSp>
          <p:nvCxnSpPr>
            <p:cNvPr id="14" name="Straight Arrow Connector 13"/>
            <p:cNvCxnSpPr/>
            <p:nvPr/>
          </p:nvCxnSpPr>
          <p:spPr>
            <a:xfrm>
              <a:off x="6206780" y="2077351"/>
              <a:ext cx="0" cy="1581150"/>
            </a:xfrm>
            <a:prstGeom prst="straightConnector1">
              <a:avLst/>
            </a:prstGeom>
            <a:ln w="762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7016080" y="4134271"/>
              <a:ext cx="303828" cy="1"/>
            </a:xfrm>
            <a:prstGeom prst="straightConnector1">
              <a:avLst/>
            </a:prstGeom>
            <a:ln w="76200">
              <a:headEnd type="arrow"/>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43608"/>
          </a:xfrm>
        </p:spPr>
        <p:txBody>
          <a:bodyPr>
            <a:noAutofit/>
          </a:bodyPr>
          <a:lstStyle/>
          <a:p>
            <a:r>
              <a:rPr lang="en-US" altLang="zh-CN" sz="3600" cap="none" dirty="0"/>
              <a:t>Motif and Lattice</a:t>
            </a:r>
            <a:endParaRPr lang="en-US" sz="3600" cap="none" dirty="0"/>
          </a:p>
        </p:txBody>
      </p:sp>
      <p:sp>
        <p:nvSpPr>
          <p:cNvPr id="4" name="Rectangle 3"/>
          <p:cNvSpPr/>
          <p:nvPr/>
        </p:nvSpPr>
        <p:spPr>
          <a:xfrm>
            <a:off x="322534" y="3922253"/>
            <a:ext cx="8292056" cy="1569660"/>
          </a:xfrm>
          <a:prstGeom prst="rect">
            <a:avLst/>
          </a:prstGeom>
        </p:spPr>
        <p:txBody>
          <a:bodyPr wrap="square">
            <a:spAutoFit/>
          </a:bodyPr>
          <a:lstStyle/>
          <a:p>
            <a:r>
              <a:rPr lang="en-US" altLang="zh-CN" dirty="0"/>
              <a:t>Crystal structure can be represented by a translation of equivalent point in space and </a:t>
            </a:r>
            <a:r>
              <a:rPr lang="en-US" altLang="zh-CN" b="1" dirty="0">
                <a:solidFill>
                  <a:srgbClr val="FF0000"/>
                </a:solidFill>
              </a:rPr>
              <a:t>the entity represented by equivalent point is called primitive element </a:t>
            </a:r>
            <a:r>
              <a:rPr lang="en-US" altLang="zh-CN" dirty="0"/>
              <a:t>(or motif</a:t>
            </a:r>
            <a:r>
              <a:rPr lang="zh-CN" altLang="en-US" dirty="0"/>
              <a:t>，基元</a:t>
            </a:r>
            <a:r>
              <a:rPr lang="en-US" altLang="zh-CN" dirty="0"/>
              <a:t>), which does not have to be a parallelogram (</a:t>
            </a:r>
            <a:r>
              <a:rPr lang="zh-CN" altLang="en-US" dirty="0"/>
              <a:t>平行四边形）</a:t>
            </a:r>
            <a:r>
              <a:rPr lang="en-US" altLang="zh-CN" dirty="0"/>
              <a:t>.</a:t>
            </a:r>
            <a:endParaRPr lang="en-US" dirty="0"/>
          </a:p>
        </p:txBody>
      </p:sp>
      <p:sp>
        <p:nvSpPr>
          <p:cNvPr id="5" name="Rectangle 4"/>
          <p:cNvSpPr/>
          <p:nvPr/>
        </p:nvSpPr>
        <p:spPr>
          <a:xfrm>
            <a:off x="283119" y="5541039"/>
            <a:ext cx="8237942" cy="1200329"/>
          </a:xfrm>
          <a:prstGeom prst="rect">
            <a:avLst/>
          </a:prstGeom>
        </p:spPr>
        <p:txBody>
          <a:bodyPr wrap="square">
            <a:spAutoFit/>
          </a:bodyPr>
          <a:lstStyle/>
          <a:p>
            <a:r>
              <a:rPr lang="en-US" altLang="zh-CN" dirty="0"/>
              <a:t>Abstracting motif as point and repeating regular arrangement in space will form a space lattice (</a:t>
            </a:r>
            <a:r>
              <a:rPr lang="zh-CN" altLang="en-US" dirty="0"/>
              <a:t>空间点阵</a:t>
            </a:r>
            <a:r>
              <a:rPr lang="en-US" altLang="zh-CN" dirty="0"/>
              <a:t>). The corresponding points called lattice points (</a:t>
            </a:r>
            <a:r>
              <a:rPr lang="zh-CN" altLang="en-US" dirty="0"/>
              <a:t>阵点</a:t>
            </a:r>
            <a:r>
              <a:rPr lang="en-US" altLang="zh-CN" dirty="0"/>
              <a:t>).</a:t>
            </a:r>
            <a:endParaRPr lang="en-US" b="1" dirty="0"/>
          </a:p>
        </p:txBody>
      </p:sp>
      <p:grpSp>
        <p:nvGrpSpPr>
          <p:cNvPr id="9" name="Group 8"/>
          <p:cNvGrpSpPr/>
          <p:nvPr/>
        </p:nvGrpSpPr>
        <p:grpSpPr>
          <a:xfrm>
            <a:off x="179512" y="1844824"/>
            <a:ext cx="6478169" cy="1550383"/>
            <a:chOff x="312391" y="1916832"/>
            <a:chExt cx="6478169" cy="1550383"/>
          </a:xfrm>
        </p:grpSpPr>
        <p:pic>
          <p:nvPicPr>
            <p:cNvPr id="1026" name="Picture 2" descr="http://image.sciencenet.cn/album/201101/25/1124272fdwxt1dctxdqf7c.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3877"/>
            <a:stretch>
              <a:fillRect/>
            </a:stretch>
          </p:blipFill>
          <p:spPr bwMode="auto">
            <a:xfrm>
              <a:off x="312391" y="1916832"/>
              <a:ext cx="6478169" cy="155038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664530" y="2327564"/>
              <a:ext cx="620414" cy="615170"/>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182588" y="2339440"/>
              <a:ext cx="620414" cy="615170"/>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66899" y="2315689"/>
              <a:ext cx="620414" cy="615170"/>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Oval 18"/>
          <p:cNvSpPr/>
          <p:nvPr/>
        </p:nvSpPr>
        <p:spPr>
          <a:xfrm>
            <a:off x="7308304" y="2486269"/>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308304" y="1844824"/>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949749" y="1844824"/>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584370" y="1844824"/>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949749" y="2479445"/>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584370" y="2479445"/>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7308304" y="3127714"/>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7949749" y="3120890"/>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8584370" y="3120890"/>
            <a:ext cx="60441" cy="620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3615980" y="2793432"/>
            <a:ext cx="4591840" cy="3443880"/>
            <a:chOff x="2411760" y="3614117"/>
            <a:chExt cx="4457700" cy="3343275"/>
          </a:xfrm>
        </p:grpSpPr>
        <p:pic>
          <p:nvPicPr>
            <p:cNvPr id="54298" name="Picture 43" descr="空间格子"/>
            <p:cNvPicPr>
              <a:picLocks noChangeAspect="1" noChangeArrowheads="1" noCrop="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2411760" y="3614117"/>
              <a:ext cx="44577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0"/>
            <p:cNvGrpSpPr/>
            <p:nvPr/>
          </p:nvGrpSpPr>
          <p:grpSpPr>
            <a:xfrm>
              <a:off x="4242710" y="4622382"/>
              <a:ext cx="1158921" cy="1001440"/>
              <a:chOff x="2587579" y="3962400"/>
              <a:chExt cx="1158921" cy="1001440"/>
            </a:xfrm>
          </p:grpSpPr>
          <p:cxnSp>
            <p:nvCxnSpPr>
              <p:cNvPr id="32" name="Straight Connector 31"/>
              <p:cNvCxnSpPr/>
              <p:nvPr/>
            </p:nvCxnSpPr>
            <p:spPr>
              <a:xfrm>
                <a:off x="2814398" y="4199465"/>
                <a:ext cx="636105" cy="373712"/>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096101" y="3983234"/>
                <a:ext cx="636105" cy="373712"/>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587579" y="4570730"/>
                <a:ext cx="636105" cy="373712"/>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869282" y="4354499"/>
                <a:ext cx="636105" cy="373712"/>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2590800" y="4197350"/>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3225800" y="4584700"/>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3530600" y="4368800"/>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814398" y="398323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3455748" y="437058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3227148" y="477698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21480000" flipV="1">
                <a:off x="2604848" y="436423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895600" y="3962400"/>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3369382" y="4628862"/>
              <a:ext cx="953612" cy="1436688"/>
              <a:chOff x="2571673" y="3962400"/>
              <a:chExt cx="953612" cy="1436688"/>
            </a:xfrm>
          </p:grpSpPr>
          <p:cxnSp>
            <p:nvCxnSpPr>
              <p:cNvPr id="46" name="Straight Connector 45"/>
              <p:cNvCxnSpPr/>
              <p:nvPr/>
            </p:nvCxnSpPr>
            <p:spPr>
              <a:xfrm>
                <a:off x="2571673" y="4557713"/>
                <a:ext cx="431877" cy="841375"/>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857423" y="4341813"/>
                <a:ext cx="431877" cy="841375"/>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089347" y="3962400"/>
                <a:ext cx="431877" cy="841375"/>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2800234" y="4170090"/>
                <a:ext cx="423450" cy="80831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2584334" y="4180084"/>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2997200" y="4984750"/>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3276600" y="4781550"/>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2870084" y="3976884"/>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2811782" y="3972463"/>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3243582" y="4753513"/>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2989582" y="5153563"/>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2589532" y="4366163"/>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grpSp>
        <p:cxnSp>
          <p:nvCxnSpPr>
            <p:cNvPr id="77" name="Straight Connector 76"/>
            <p:cNvCxnSpPr/>
            <p:nvPr/>
          </p:nvCxnSpPr>
          <p:spPr>
            <a:xfrm flipV="1">
              <a:off x="4621929" y="4795616"/>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5328643" y="4224116"/>
              <a:ext cx="1371600" cy="629840"/>
              <a:chOff x="3678883" y="3553224"/>
              <a:chExt cx="1371600" cy="629840"/>
            </a:xfrm>
          </p:grpSpPr>
          <p:cxnSp>
            <p:nvCxnSpPr>
              <p:cNvPr id="66" name="Straight Connector 65"/>
              <p:cNvCxnSpPr/>
              <p:nvPr/>
            </p:nvCxnSpPr>
            <p:spPr>
              <a:xfrm flipV="1">
                <a:off x="3678883" y="3799619"/>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4529783" y="3801004"/>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4834583" y="3585104"/>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3983683" y="3564669"/>
                <a:ext cx="215900" cy="374650"/>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4199583" y="3564669"/>
                <a:ext cx="850900" cy="8795"/>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3863033" y="3767869"/>
                <a:ext cx="850900" cy="8795"/>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977333" y="3964719"/>
                <a:ext cx="850900" cy="8795"/>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3678883" y="4174269"/>
                <a:ext cx="850900" cy="8795"/>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3899269" y="355322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4762869" y="357227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V="1">
                <a:off x="4546969" y="397232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3696069" y="3965974"/>
                <a:ext cx="281703" cy="186856"/>
              </a:xfrm>
              <a:prstGeom prst="line">
                <a:avLst/>
              </a:prstGeom>
              <a:ln w="28575">
                <a:solidFill>
                  <a:srgbClr val="FF0066"/>
                </a:solidFill>
                <a:prstDash val="sysDash"/>
              </a:ln>
            </p:spPr>
            <p:style>
              <a:lnRef idx="1">
                <a:schemeClr val="accent1"/>
              </a:lnRef>
              <a:fillRef idx="0">
                <a:schemeClr val="accent1"/>
              </a:fillRef>
              <a:effectRef idx="0">
                <a:schemeClr val="accent1"/>
              </a:effectRef>
              <a:fontRef idx="minor">
                <a:schemeClr val="tx1"/>
              </a:fontRef>
            </p:style>
          </p:cxnSp>
        </p:grpSp>
      </p:grpSp>
      <p:sp>
        <p:nvSpPr>
          <p:cNvPr id="72729" name="Rectangle 25"/>
          <p:cNvSpPr>
            <a:spLocks noChangeArrowheads="1"/>
          </p:cNvSpPr>
          <p:nvPr/>
        </p:nvSpPr>
        <p:spPr bwMode="auto">
          <a:xfrm>
            <a:off x="738305" y="332656"/>
            <a:ext cx="25107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600" b="1" cap="all" spc="-60" dirty="0">
                <a:solidFill>
                  <a:srgbClr val="FF0066"/>
                </a:solidFill>
                <a:effectLst>
                  <a:outerShdw blurRad="38100" dist="38100" dir="2700000" algn="tl">
                    <a:srgbClr val="000000"/>
                  </a:outerShdw>
                </a:effectLst>
                <a:latin typeface="+mj-lt"/>
                <a:ea typeface="+mj-ea"/>
                <a:cs typeface="+mj-cs"/>
              </a:rPr>
              <a:t>2. </a:t>
            </a:r>
            <a:r>
              <a:rPr lang="en-US" altLang="zh-CN" sz="3600" b="1" spc="-60" dirty="0">
                <a:solidFill>
                  <a:srgbClr val="FF0066"/>
                </a:solidFill>
                <a:effectLst>
                  <a:outerShdw blurRad="38100" dist="38100" dir="2700000" algn="tl">
                    <a:srgbClr val="000000"/>
                  </a:outerShdw>
                </a:effectLst>
                <a:latin typeface="+mj-lt"/>
                <a:ea typeface="+mj-ea"/>
                <a:cs typeface="+mj-cs"/>
              </a:rPr>
              <a:t>Lattice</a:t>
            </a:r>
            <a:endParaRPr lang="zh-CN" altLang="en-US" sz="3600" b="1" spc="-60" dirty="0">
              <a:solidFill>
                <a:srgbClr val="FF0066"/>
              </a:solidFill>
              <a:effectLst>
                <a:outerShdw blurRad="38100" dist="38100" dir="2700000" algn="tl">
                  <a:srgbClr val="000000"/>
                </a:outerShdw>
              </a:effectLst>
              <a:latin typeface="+mj-lt"/>
              <a:ea typeface="+mj-ea"/>
              <a:cs typeface="+mj-cs"/>
            </a:endParaRPr>
          </a:p>
        </p:txBody>
      </p:sp>
      <p:sp>
        <p:nvSpPr>
          <p:cNvPr id="18" name="Rectangle 17"/>
          <p:cNvSpPr/>
          <p:nvPr/>
        </p:nvSpPr>
        <p:spPr>
          <a:xfrm>
            <a:off x="738305" y="1209409"/>
            <a:ext cx="7996231" cy="1643527"/>
          </a:xfrm>
          <a:prstGeom prst="rect">
            <a:avLst/>
          </a:prstGeom>
        </p:spPr>
        <p:txBody>
          <a:bodyPr wrap="square">
            <a:spAutoFit/>
          </a:bodyPr>
          <a:lstStyle/>
          <a:p>
            <a:pPr>
              <a:lnSpc>
                <a:spcPct val="120000"/>
              </a:lnSpc>
            </a:pPr>
            <a:r>
              <a:rPr lang="en-US" altLang="zh-CN" b="1" dirty="0">
                <a:solidFill>
                  <a:srgbClr val="FF0066"/>
                </a:solidFill>
                <a:latin typeface="+mn-lt"/>
                <a:ea typeface="黑体" panose="02010609060101010101" pitchFamily="49" charset="-122"/>
              </a:rPr>
              <a:t>The choice of parallelepiped cell in 3D lattice</a:t>
            </a:r>
          </a:p>
          <a:p>
            <a:pPr>
              <a:lnSpc>
                <a:spcPct val="120000"/>
              </a:lnSpc>
            </a:pPr>
            <a:r>
              <a:rPr lang="en-US" altLang="zh-CN" sz="2000" b="1" dirty="0">
                <a:latin typeface="+mn-lt"/>
                <a:ea typeface="黑体" panose="02010609060101010101" pitchFamily="49" charset="-122"/>
              </a:rPr>
              <a:t>For each crystal structure, the distribution of nodes (or lattice arrangement) is objective, but the choice of parallelepiped is subjective.</a:t>
            </a:r>
            <a:endParaRPr lang="zh-CN" altLang="en-US" sz="1800" b="1" dirty="0">
              <a:latin typeface="+mn-lt"/>
              <a:ea typeface="黑体" panose="02010609060101010101" pitchFamily="49" charset="-122"/>
            </a:endParaRPr>
          </a:p>
        </p:txBody>
      </p:sp>
      <p:pic>
        <p:nvPicPr>
          <p:cNvPr id="4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348" y="3203763"/>
            <a:ext cx="2051295" cy="2362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 name="TextBox 47"/>
          <p:cNvSpPr txBox="1"/>
          <p:nvPr/>
        </p:nvSpPr>
        <p:spPr>
          <a:xfrm>
            <a:off x="1403648" y="5505387"/>
            <a:ext cx="1941037" cy="461665"/>
          </a:xfrm>
          <a:prstGeom prst="rect">
            <a:avLst/>
          </a:prstGeom>
          <a:noFill/>
        </p:spPr>
        <p:txBody>
          <a:bodyPr wrap="square" rtlCol="0">
            <a:spAutoFit/>
          </a:bodyPr>
          <a:lstStyle/>
          <a:p>
            <a:pPr algn="ctr"/>
            <a:r>
              <a:rPr lang="en-US" altLang="zh-CN" b="1" dirty="0">
                <a:effectLst>
                  <a:outerShdw blurRad="38100" dist="38100" dir="2700000" algn="tl">
                    <a:srgbClr val="000000">
                      <a:alpha val="43137"/>
                    </a:srgbClr>
                  </a:outerShdw>
                </a:effectLst>
              </a:rPr>
              <a:t>2D lattice</a:t>
            </a:r>
            <a:endParaRPr lang="en-US" b="1" dirty="0">
              <a:effectLst>
                <a:outerShdw blurRad="38100" dist="38100" dir="2700000" algn="tl">
                  <a:srgbClr val="000000">
                    <a:alpha val="43137"/>
                  </a:srgbClr>
                </a:outerShdw>
              </a:effectLst>
            </a:endParaRPr>
          </a:p>
        </p:txBody>
      </p:sp>
      <p:sp>
        <p:nvSpPr>
          <p:cNvPr id="50" name="TextBox 49"/>
          <p:cNvSpPr txBox="1"/>
          <p:nvPr/>
        </p:nvSpPr>
        <p:spPr>
          <a:xfrm>
            <a:off x="5041244" y="5505387"/>
            <a:ext cx="1941037" cy="461665"/>
          </a:xfrm>
          <a:prstGeom prst="rect">
            <a:avLst/>
          </a:prstGeom>
          <a:noFill/>
        </p:spPr>
        <p:txBody>
          <a:bodyPr wrap="square" rtlCol="0">
            <a:spAutoFit/>
          </a:bodyPr>
          <a:lstStyle/>
          <a:p>
            <a:pPr algn="ctr"/>
            <a:r>
              <a:rPr lang="en-US" altLang="zh-CN" b="1" dirty="0">
                <a:effectLst>
                  <a:outerShdw blurRad="38100" dist="38100" dir="2700000" algn="tl">
                    <a:srgbClr val="000000">
                      <a:alpha val="43137"/>
                    </a:srgbClr>
                  </a:outerShdw>
                </a:effectLst>
              </a:rPr>
              <a:t>3D lattice</a:t>
            </a:r>
            <a:endParaRPr lang="en-US" b="1" dirty="0">
              <a:effectLst>
                <a:outerShdw blurRad="38100" dist="38100" dir="2700000" algn="tl">
                  <a:srgbClr val="000000">
                    <a:alpha val="43137"/>
                  </a:srgbClr>
                </a:outerShdw>
              </a:effectLst>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29" name="Rectangle 25"/>
          <p:cNvSpPr>
            <a:spLocks noChangeArrowheads="1"/>
          </p:cNvSpPr>
          <p:nvPr/>
        </p:nvSpPr>
        <p:spPr bwMode="auto">
          <a:xfrm>
            <a:off x="738305" y="332656"/>
            <a:ext cx="25107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600" b="1" cap="all" spc="-60" dirty="0">
                <a:solidFill>
                  <a:srgbClr val="FF0066"/>
                </a:solidFill>
                <a:effectLst>
                  <a:outerShdw blurRad="38100" dist="38100" dir="2700000" algn="tl">
                    <a:srgbClr val="000000"/>
                  </a:outerShdw>
                </a:effectLst>
                <a:latin typeface="+mj-lt"/>
                <a:ea typeface="+mj-ea"/>
                <a:cs typeface="+mj-cs"/>
              </a:rPr>
              <a:t>2. </a:t>
            </a:r>
            <a:r>
              <a:rPr lang="en-US" altLang="zh-CN" sz="3600" b="1" spc="-60" dirty="0">
                <a:solidFill>
                  <a:srgbClr val="FF0066"/>
                </a:solidFill>
                <a:effectLst>
                  <a:outerShdw blurRad="38100" dist="38100" dir="2700000" algn="tl">
                    <a:srgbClr val="000000"/>
                  </a:outerShdw>
                </a:effectLst>
                <a:latin typeface="+mj-lt"/>
                <a:ea typeface="+mj-ea"/>
                <a:cs typeface="+mj-cs"/>
              </a:rPr>
              <a:t>Lattice</a:t>
            </a:r>
            <a:endParaRPr lang="zh-CN" altLang="en-US" sz="3600" b="1" spc="-60" dirty="0">
              <a:solidFill>
                <a:srgbClr val="FF0066"/>
              </a:solidFill>
              <a:effectLst>
                <a:outerShdw blurRad="38100" dist="38100" dir="2700000" algn="tl">
                  <a:srgbClr val="000000"/>
                </a:outerShdw>
              </a:effectLst>
              <a:latin typeface="+mj-lt"/>
              <a:ea typeface="+mj-ea"/>
              <a:cs typeface="+mj-cs"/>
            </a:endParaRPr>
          </a:p>
        </p:txBody>
      </p:sp>
      <p:sp>
        <p:nvSpPr>
          <p:cNvPr id="18" name="Rectangle 17"/>
          <p:cNvSpPr/>
          <p:nvPr/>
        </p:nvSpPr>
        <p:spPr>
          <a:xfrm>
            <a:off x="738305" y="1209409"/>
            <a:ext cx="7996231" cy="494751"/>
          </a:xfrm>
          <a:prstGeom prst="rect">
            <a:avLst/>
          </a:prstGeom>
        </p:spPr>
        <p:txBody>
          <a:bodyPr wrap="square">
            <a:spAutoFit/>
          </a:bodyPr>
          <a:lstStyle/>
          <a:p>
            <a:pPr>
              <a:lnSpc>
                <a:spcPct val="120000"/>
              </a:lnSpc>
            </a:pPr>
            <a:r>
              <a:rPr lang="en-US" altLang="zh-CN" b="1" dirty="0">
                <a:solidFill>
                  <a:srgbClr val="FF0066"/>
                </a:solidFill>
                <a:latin typeface="+mn-lt"/>
                <a:ea typeface="黑体" panose="02010609060101010101" pitchFamily="49" charset="-122"/>
              </a:rPr>
              <a:t>The choice of parallelepiped cell</a:t>
            </a:r>
          </a:p>
        </p:txBody>
      </p:sp>
      <p:sp>
        <p:nvSpPr>
          <p:cNvPr id="51" name="Rectangle 50"/>
          <p:cNvSpPr/>
          <p:nvPr/>
        </p:nvSpPr>
        <p:spPr>
          <a:xfrm>
            <a:off x="738305" y="1988840"/>
            <a:ext cx="7996231" cy="4154984"/>
          </a:xfrm>
          <a:prstGeom prst="rect">
            <a:avLst/>
          </a:prstGeom>
        </p:spPr>
        <p:txBody>
          <a:bodyPr wrap="square">
            <a:spAutoFit/>
          </a:bodyPr>
          <a:lstStyle/>
          <a:p>
            <a:pPr marL="342900" indent="-342900">
              <a:buFont typeface="Arial" panose="020B0604020202020204" pitchFamily="34" charset="0"/>
              <a:buChar char="•"/>
            </a:pPr>
            <a:r>
              <a:rPr lang="en-US" altLang="zh-CN" dirty="0">
                <a:latin typeface="+mn-lt"/>
              </a:rPr>
              <a:t>There are many parallelepipeds that can reflect translational invariance of a crystal, and their volume does not have to be the minimal.</a:t>
            </a:r>
          </a:p>
          <a:p>
            <a:pPr marL="342900" indent="-342900">
              <a:buFont typeface="Arial" panose="020B0604020202020204" pitchFamily="34" charset="0"/>
              <a:buChar char="•"/>
            </a:pPr>
            <a:endParaRPr lang="en-US" altLang="zh-CN" dirty="0">
              <a:latin typeface="+mn-lt"/>
            </a:endParaRPr>
          </a:p>
          <a:p>
            <a:pPr marL="342900" indent="-342900">
              <a:buFont typeface="Arial" panose="020B0604020202020204" pitchFamily="34" charset="0"/>
              <a:buChar char="•"/>
            </a:pPr>
            <a:r>
              <a:rPr lang="en-US" altLang="zh-CN" b="1" dirty="0">
                <a:latin typeface="+mn-lt"/>
              </a:rPr>
              <a:t>Subjective selection of parallelepipeds is not convenient </a:t>
            </a:r>
            <a:r>
              <a:rPr lang="en-US" altLang="zh-CN" dirty="0">
                <a:latin typeface="+mn-lt"/>
              </a:rPr>
              <a:t>for the reflection of structural characteristics of crystal and structural studies.</a:t>
            </a:r>
          </a:p>
          <a:p>
            <a:pPr marL="342900" indent="-342900">
              <a:buFont typeface="Arial" panose="020B0604020202020204" pitchFamily="34" charset="0"/>
              <a:buChar char="•"/>
            </a:pPr>
            <a:endParaRPr lang="en-US" altLang="zh-CN" dirty="0">
              <a:latin typeface="+mn-lt"/>
            </a:endParaRPr>
          </a:p>
          <a:p>
            <a:pPr marL="342900" indent="-342900">
              <a:buFont typeface="Arial" panose="020B0604020202020204" pitchFamily="34" charset="0"/>
              <a:buChar char="•"/>
            </a:pPr>
            <a:r>
              <a:rPr lang="en-US" altLang="zh-CN" dirty="0">
                <a:latin typeface="+mn-lt"/>
              </a:rPr>
              <a:t>The parallelepiped cell chosen according to the unified rules in crystallography gives “</a:t>
            </a:r>
            <a:r>
              <a:rPr lang="en-US" altLang="zh-CN" b="1" dirty="0">
                <a:latin typeface="+mn-lt"/>
              </a:rPr>
              <a:t>Bravais lattice</a:t>
            </a:r>
            <a:r>
              <a:rPr lang="en-US" altLang="zh-CN" dirty="0">
                <a:latin typeface="+mn-lt"/>
              </a:rPr>
              <a:t>”</a:t>
            </a:r>
            <a:endParaRPr lang="zh-CN" altLang="en-US" dirty="0">
              <a:latin typeface="+mn-lt"/>
            </a:endParaRPr>
          </a:p>
          <a:p>
            <a:pPr marL="342900" indent="-342900">
              <a:buFont typeface="Arial" panose="020B0604020202020204" pitchFamily="34" charset="0"/>
              <a:buChar char="•"/>
            </a:pPr>
            <a:endParaRPr lang="zh-CN" altLang="en-US" dirty="0">
              <a:latin typeface="+mn-lt"/>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p:cNvSpPr/>
          <p:nvPr/>
        </p:nvSpPr>
        <p:spPr>
          <a:xfrm>
            <a:off x="827584" y="5445224"/>
            <a:ext cx="7560840" cy="136815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07" name="Rectangle 3"/>
          <p:cNvSpPr>
            <a:spLocks noGrp="1" noChangeArrowheads="1"/>
          </p:cNvSpPr>
          <p:nvPr>
            <p:ph type="body" idx="1"/>
          </p:nvPr>
        </p:nvSpPr>
        <p:spPr>
          <a:xfrm>
            <a:off x="827584" y="1887264"/>
            <a:ext cx="7560840" cy="4566072"/>
          </a:xfrm>
        </p:spPr>
        <p:txBody>
          <a:bodyPr/>
          <a:lstStyle/>
          <a:p>
            <a:pPr algn="just"/>
            <a:r>
              <a:rPr lang="en-US" altLang="zh-CN" b="0" dirty="0"/>
              <a:t>(1) the selected parallelepiped must fully reflect the point group and the translation group of the studied lattice, that is, the parallelepiped must be </a:t>
            </a:r>
            <a:r>
              <a:rPr lang="en-US" altLang="zh-CN" dirty="0">
                <a:solidFill>
                  <a:srgbClr val="FF0000"/>
                </a:solidFill>
              </a:rPr>
              <a:t>consistent with the symmetry characteristics of the entire lattice</a:t>
            </a:r>
            <a:r>
              <a:rPr lang="en-US" altLang="zh-CN" b="0" dirty="0"/>
              <a:t>.</a:t>
            </a:r>
          </a:p>
          <a:p>
            <a:pPr algn="just"/>
            <a:r>
              <a:rPr lang="en-US" altLang="zh-CN" b="0" dirty="0"/>
              <a:t>(2) the chosen parallelepiped should </a:t>
            </a:r>
            <a:r>
              <a:rPr lang="en-US" altLang="zh-CN" dirty="0">
                <a:solidFill>
                  <a:srgbClr val="FF0000"/>
                </a:solidFill>
              </a:rPr>
              <a:t>have the most number of right angles</a:t>
            </a:r>
            <a:r>
              <a:rPr lang="en-US" altLang="zh-CN" b="0" dirty="0"/>
              <a:t>. If there is no right angles, choose the parallelepiped  with angles as close as possible to right angle.</a:t>
            </a:r>
          </a:p>
          <a:p>
            <a:pPr algn="just"/>
            <a:r>
              <a:rPr lang="en-US" altLang="zh-CN" b="0" dirty="0"/>
              <a:t>(3) In addition to meeting the above (1) (2) requirements, the chosen parallelepiped should be of </a:t>
            </a:r>
            <a:r>
              <a:rPr lang="en-US" altLang="zh-CN" dirty="0">
                <a:solidFill>
                  <a:srgbClr val="FF0000"/>
                </a:solidFill>
              </a:rPr>
              <a:t>the smallest size</a:t>
            </a:r>
            <a:r>
              <a:rPr lang="en-US" altLang="zh-CN" b="0" dirty="0"/>
              <a:t>.</a:t>
            </a:r>
          </a:p>
          <a:p>
            <a:pPr algn="just"/>
            <a:endParaRPr lang="en-US" altLang="zh-CN" b="0" dirty="0"/>
          </a:p>
          <a:p>
            <a:pPr algn="just"/>
            <a:r>
              <a:rPr lang="en-US" altLang="zh-CN" b="0" dirty="0"/>
              <a:t>The above parallelepiped is called </a:t>
            </a:r>
            <a:r>
              <a:rPr lang="en-US" altLang="zh-CN" dirty="0">
                <a:solidFill>
                  <a:srgbClr val="FF0000"/>
                </a:solidFill>
              </a:rPr>
              <a:t>Bravais cell</a:t>
            </a:r>
            <a:r>
              <a:rPr lang="en-US" altLang="zh-CN" b="0" dirty="0"/>
              <a:t>, crystallographic unit cell, referred to as </a:t>
            </a:r>
            <a:r>
              <a:rPr lang="en-US" altLang="zh-CN" dirty="0">
                <a:solidFill>
                  <a:srgbClr val="FF0000"/>
                </a:solidFill>
              </a:rPr>
              <a:t>unit cell (</a:t>
            </a:r>
            <a:r>
              <a:rPr lang="zh-CN" altLang="en-US" dirty="0">
                <a:solidFill>
                  <a:srgbClr val="FF0000"/>
                </a:solidFill>
              </a:rPr>
              <a:t>晶胞）</a:t>
            </a:r>
            <a:r>
              <a:rPr lang="en-US" altLang="zh-CN" b="0" dirty="0"/>
              <a:t>. Unit cell is the smallest structural element that can fully reflect the </a:t>
            </a:r>
            <a:r>
              <a:rPr lang="en-US" altLang="zh-CN" dirty="0">
                <a:solidFill>
                  <a:srgbClr val="FF0000"/>
                </a:solidFill>
              </a:rPr>
              <a:t>symmetry characteristics </a:t>
            </a:r>
            <a:r>
              <a:rPr lang="en-US" altLang="zh-CN" b="0" dirty="0"/>
              <a:t>of crystal structure.</a:t>
            </a:r>
            <a:endParaRPr lang="zh-CN" altLang="en-US" b="0" dirty="0">
              <a:solidFill>
                <a:srgbClr val="0000CC"/>
              </a:solidFill>
            </a:endParaRPr>
          </a:p>
        </p:txBody>
      </p:sp>
      <p:sp>
        <p:nvSpPr>
          <p:cNvPr id="72709" name="Rectangle 5"/>
          <p:cNvSpPr>
            <a:spLocks noChangeArrowheads="1"/>
          </p:cNvSpPr>
          <p:nvPr/>
        </p:nvSpPr>
        <p:spPr bwMode="auto">
          <a:xfrm>
            <a:off x="353011" y="571868"/>
            <a:ext cx="8460432"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3600" b="1" spc="-60" dirty="0">
                <a:solidFill>
                  <a:srgbClr val="FF0066"/>
                </a:solidFill>
                <a:effectLst>
                  <a:outerShdw blurRad="38100" dist="38100" dir="2700000" algn="tl">
                    <a:srgbClr val="000000"/>
                  </a:outerShdw>
                </a:effectLst>
                <a:latin typeface="+mj-lt"/>
                <a:ea typeface="+mj-ea"/>
                <a:cs typeface="+mj-cs"/>
              </a:rPr>
              <a:t>3. The principle for choosing cells of Bravais lattice</a:t>
            </a:r>
            <a:endParaRPr lang="zh-CN" altLang="en-US" sz="3600" b="1" spc="-60" dirty="0">
              <a:effectLst>
                <a:outerShdw blurRad="38100" dist="38100" dir="2700000" algn="tl">
                  <a:srgbClr val="000000"/>
                </a:outerShdw>
              </a:effectLst>
              <a:latin typeface="+mj-lt"/>
              <a:ea typeface="+mj-ea"/>
              <a:cs typeface="+mj-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91264" cy="972344"/>
          </a:xfrm>
        </p:spPr>
        <p:txBody>
          <a:bodyPr>
            <a:normAutofit/>
          </a:bodyPr>
          <a:lstStyle/>
          <a:p>
            <a:r>
              <a:rPr lang="en-US" altLang="zh-CN" cap="none" dirty="0"/>
              <a:t>Primitive Cell and Wigner-Seitz Cell</a:t>
            </a:r>
            <a:endParaRPr lang="en-US" cap="none" dirty="0"/>
          </a:p>
        </p:txBody>
      </p:sp>
      <p:sp>
        <p:nvSpPr>
          <p:cNvPr id="3" name="Content Placeholder 2"/>
          <p:cNvSpPr>
            <a:spLocks noGrp="1"/>
          </p:cNvSpPr>
          <p:nvPr>
            <p:ph idx="1"/>
          </p:nvPr>
        </p:nvSpPr>
        <p:spPr>
          <a:xfrm>
            <a:off x="467544" y="1628800"/>
            <a:ext cx="8196064" cy="5040560"/>
          </a:xfrm>
        </p:spPr>
        <p:txBody>
          <a:bodyPr/>
          <a:lstStyle/>
          <a:p>
            <a:r>
              <a:rPr lang="en-US" altLang="zh-CN" sz="2400" dirty="0"/>
              <a:t>Primitive cell (</a:t>
            </a:r>
            <a:r>
              <a:rPr lang="zh-CN" altLang="en-US" sz="2400" dirty="0">
                <a:effectLst>
                  <a:outerShdw blurRad="38100" dist="38100" dir="2700000" algn="tl">
                    <a:srgbClr val="000000">
                      <a:alpha val="43137"/>
                    </a:srgbClr>
                  </a:outerShdw>
                </a:effectLst>
              </a:rPr>
              <a:t>初基原胞</a:t>
            </a:r>
            <a:r>
              <a:rPr lang="en-US" altLang="zh-CN" sz="2400" dirty="0">
                <a:effectLst>
                  <a:outerShdw blurRad="38100" dist="38100" dir="2700000" algn="tl">
                    <a:srgbClr val="000000">
                      <a:alpha val="43137"/>
                    </a:srgbClr>
                  </a:outerShdw>
                </a:effectLst>
              </a:rPr>
              <a:t>) </a:t>
            </a:r>
            <a:r>
              <a:rPr lang="en-US" altLang="zh-CN" sz="2400" b="0" dirty="0"/>
              <a:t>is</a:t>
            </a:r>
            <a:r>
              <a:rPr lang="en-US" altLang="zh-CN" sz="2400" dirty="0"/>
              <a:t> </a:t>
            </a:r>
            <a:r>
              <a:rPr lang="en-US" altLang="zh-CN" sz="2400" b="0" dirty="0"/>
              <a:t>the </a:t>
            </a:r>
            <a:r>
              <a:rPr lang="en-US" altLang="zh-CN" sz="2400" dirty="0">
                <a:solidFill>
                  <a:srgbClr val="FF0000"/>
                </a:solidFill>
              </a:rPr>
              <a:t>smallest repeating unit </a:t>
            </a:r>
            <a:r>
              <a:rPr lang="en-US" altLang="zh-CN" sz="2400" b="0" dirty="0"/>
              <a:t>that constitutes crystal lattice, also named as primitive unit cell (</a:t>
            </a:r>
            <a:r>
              <a:rPr lang="zh-CN" altLang="en-US" sz="2400" dirty="0">
                <a:effectLst>
                  <a:outerShdw blurRad="38100" dist="38100" dir="2700000" algn="tl">
                    <a:srgbClr val="000000">
                      <a:alpha val="43137"/>
                    </a:srgbClr>
                  </a:outerShdw>
                </a:effectLst>
              </a:rPr>
              <a:t>原胞</a:t>
            </a:r>
            <a:r>
              <a:rPr lang="en-US" altLang="zh-CN" sz="2400" b="0" dirty="0"/>
              <a:t>). The vectors describing primitive cell are primitive translation vectors, or </a:t>
            </a:r>
            <a:r>
              <a:rPr lang="en-US" altLang="zh-CN" sz="2400" dirty="0">
                <a:solidFill>
                  <a:srgbClr val="FF0000"/>
                </a:solidFill>
              </a:rPr>
              <a:t>base vectors</a:t>
            </a:r>
            <a:r>
              <a:rPr lang="en-US" altLang="zh-CN" sz="2400" b="0" dirty="0"/>
              <a:t> (</a:t>
            </a:r>
            <a:r>
              <a:rPr lang="zh-CN" altLang="en-US" sz="2400" dirty="0"/>
              <a:t>基矢</a:t>
            </a:r>
            <a:r>
              <a:rPr lang="en-US" altLang="zh-CN" sz="2400" b="0" dirty="0"/>
              <a:t>).</a:t>
            </a:r>
          </a:p>
          <a:p>
            <a:endParaRPr lang="en-US" altLang="zh-CN" sz="2400" b="0" dirty="0"/>
          </a:p>
          <a:p>
            <a:r>
              <a:rPr lang="en-US" altLang="zh-CN" sz="2400" b="0" dirty="0"/>
              <a:t>For a certain crystal,  the selection of primitive unit cell is subjective while only one kind of bravais lattice or unit cell.</a:t>
            </a:r>
          </a:p>
          <a:p>
            <a:endParaRPr lang="en-US" altLang="zh-CN" sz="2400" b="0" dirty="0"/>
          </a:p>
          <a:p>
            <a:r>
              <a:rPr lang="en-US" altLang="zh-CN" sz="2400" b="0" dirty="0"/>
              <a:t>For convenience, we usually choose the primitive cell </a:t>
            </a:r>
            <a:r>
              <a:rPr lang="en-US" altLang="zh-CN" sz="2400" dirty="0">
                <a:solidFill>
                  <a:srgbClr val="FF0000"/>
                </a:solidFill>
              </a:rPr>
              <a:t>with  each side as the shortest translation vector of the lattice</a:t>
            </a:r>
            <a:r>
              <a:rPr lang="en-US" altLang="zh-CN" sz="2400" b="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2123728" y="2636912"/>
            <a:ext cx="5150962" cy="2845488"/>
            <a:chOff x="1359413" y="2143940"/>
            <a:chExt cx="5876527" cy="3246303"/>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204864"/>
              <a:ext cx="5832292"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1881963" y="2222205"/>
              <a:ext cx="1339703" cy="786809"/>
            </a:xfrm>
            <a:custGeom>
              <a:avLst/>
              <a:gdLst>
                <a:gd name="connsiteX0" fmla="*/ 148856 w 1382233"/>
                <a:gd name="connsiteY0" fmla="*/ 0 h 786809"/>
                <a:gd name="connsiteX1" fmla="*/ 1382233 w 1382233"/>
                <a:gd name="connsiteY1" fmla="*/ 0 h 786809"/>
                <a:gd name="connsiteX2" fmla="*/ 1222744 w 1382233"/>
                <a:gd name="connsiteY2" fmla="*/ 786809 h 786809"/>
                <a:gd name="connsiteX3" fmla="*/ 0 w 1382233"/>
                <a:gd name="connsiteY3" fmla="*/ 786809 h 786809"/>
                <a:gd name="connsiteX4" fmla="*/ 148856 w 1382233"/>
                <a:gd name="connsiteY4" fmla="*/ 0 h 78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233" h="786809">
                  <a:moveTo>
                    <a:pt x="148856" y="0"/>
                  </a:moveTo>
                  <a:lnTo>
                    <a:pt x="1382233" y="0"/>
                  </a:lnTo>
                  <a:lnTo>
                    <a:pt x="1222744" y="786809"/>
                  </a:lnTo>
                  <a:lnTo>
                    <a:pt x="0" y="786809"/>
                  </a:lnTo>
                  <a:lnTo>
                    <a:pt x="148856" y="0"/>
                  </a:lnTo>
                  <a:close/>
                </a:path>
              </a:pathLst>
            </a:custGeom>
            <a:solidFill>
              <a:srgbClr val="FFFF00"/>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937383" y="2143940"/>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134416" y="2149482"/>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342532" y="2149482"/>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523933" y="2149482"/>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732049" y="2149482"/>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790734" y="2911691"/>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987767" y="2917233"/>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195883" y="2917233"/>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377284" y="2917233"/>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585400" y="2917233"/>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644084" y="3688068"/>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2841117" y="3693610"/>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049233" y="3693610"/>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230634" y="3693610"/>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6438750" y="3693610"/>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1488809" y="4464446"/>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2685842" y="4469988"/>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893958" y="4469988"/>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075359" y="4469988"/>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6283475" y="4469988"/>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359413" y="5214944"/>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2556446" y="5220486"/>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764562" y="5220486"/>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4945963" y="5220486"/>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154079" y="5220486"/>
              <a:ext cx="169757" cy="1697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文本框 35">
            <a:extLst>
              <a:ext uri="{FF2B5EF4-FFF2-40B4-BE49-F238E27FC236}">
                <a16:creationId xmlns:a16="http://schemas.microsoft.com/office/drawing/2014/main" id="{A7AC2839-EA4B-4284-B730-C787DACA6FEB}"/>
              </a:ext>
            </a:extLst>
          </p:cNvPr>
          <p:cNvSpPr txBox="1"/>
          <p:nvPr/>
        </p:nvSpPr>
        <p:spPr>
          <a:xfrm>
            <a:off x="351850" y="220074"/>
            <a:ext cx="8324606"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ts val="600"/>
              </a:spcAft>
              <a:buClrTx/>
              <a:buSzTx/>
              <a:buFont typeface="Arial" panose="020B0604020202020204" pitchFamily="34" charset="0"/>
              <a:buNone/>
              <a:tabLst/>
              <a:defRPr/>
            </a:pPr>
            <a:r>
              <a:rPr kumimoji="0" lang="en-US" altLang="zh-CN" sz="2400" b="1"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Wigner-Seitz Cell </a:t>
            </a:r>
            <a:r>
              <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is</a:t>
            </a:r>
            <a:r>
              <a:rPr kumimoji="0" lang="en-US" altLang="zh-CN" sz="2400" b="1"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 </a:t>
            </a:r>
            <a:r>
              <a:rPr kumimoji="0" lang="en-US" altLang="zh-CN" sz="2400" b="0" i="0" u="none" strike="noStrike" kern="1200" cap="none" spc="0" normalizeH="0" baseline="0" noProof="0" dirty="0">
                <a:ln>
                  <a:noFill/>
                </a:ln>
                <a:solidFill>
                  <a:srgbClr val="000000"/>
                </a:solidFill>
                <a:effectLst/>
                <a:uLnTx/>
                <a:uFillTx/>
                <a:latin typeface="Arial"/>
                <a:ea typeface="黑体" panose="02010609060101010101" pitchFamily="49" charset="-122"/>
                <a:cs typeface="+mn-cs"/>
              </a:rPr>
              <a:t>also a common cell form. The selection method is as follows: On the base of crystal lattice, connect one lattice point with its nearest point and then make the perpendicular bisector of these lines, the enclosed area is the Wigner Seitz primitive cell.</a:t>
            </a:r>
            <a:endParaRPr kumimoji="0" lang="en-US" altLang="zh-CN" sz="24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08720"/>
            <a:ext cx="7211144" cy="615280"/>
          </a:xfrm>
        </p:spPr>
        <p:txBody>
          <a:bodyPr>
            <a:normAutofit/>
          </a:bodyPr>
          <a:lstStyle/>
          <a:p>
            <a:pPr algn="l"/>
            <a:r>
              <a:rPr lang="en-US" altLang="zh-CN" cap="none" dirty="0"/>
              <a:t>Primitive cell and unit cell</a:t>
            </a:r>
            <a:endParaRPr lang="en-US" cap="none" dirty="0"/>
          </a:p>
        </p:txBody>
      </p:sp>
      <p:sp>
        <p:nvSpPr>
          <p:cNvPr id="5" name="TextBox 4"/>
          <p:cNvSpPr txBox="1"/>
          <p:nvPr/>
        </p:nvSpPr>
        <p:spPr>
          <a:xfrm>
            <a:off x="467544" y="4149080"/>
            <a:ext cx="7704856" cy="707886"/>
          </a:xfrm>
          <a:prstGeom prst="rect">
            <a:avLst/>
          </a:prstGeom>
          <a:noFill/>
        </p:spPr>
        <p:txBody>
          <a:bodyPr wrap="square" rtlCol="0">
            <a:spAutoFit/>
          </a:bodyPr>
          <a:lstStyle/>
          <a:p>
            <a:r>
              <a:rPr lang="en-US" altLang="zh-CN" sz="2000" b="1" dirty="0">
                <a:latin typeface="+mn-lt"/>
              </a:rPr>
              <a:t>The volume of unit cell is always one or several times of primitive cell.</a:t>
            </a:r>
            <a:endParaRPr lang="en-US" sz="2000" b="1" dirty="0">
              <a:latin typeface="+mn-lt"/>
            </a:endParaRPr>
          </a:p>
        </p:txBody>
      </p:sp>
      <p:graphicFrame>
        <p:nvGraphicFramePr>
          <p:cNvPr id="4" name="Table 3"/>
          <p:cNvGraphicFramePr>
            <a:graphicFrameLocks noGrp="1"/>
          </p:cNvGraphicFramePr>
          <p:nvPr/>
        </p:nvGraphicFramePr>
        <p:xfrm>
          <a:off x="467544" y="2204864"/>
          <a:ext cx="6960096" cy="1554480"/>
        </p:xfrm>
        <a:graphic>
          <a:graphicData uri="http://schemas.openxmlformats.org/drawingml/2006/table">
            <a:tbl>
              <a:tblPr firstRow="1" bandRow="1">
                <a:tableStyleId>{BC89EF96-8CEA-46FF-86C4-4CE0E7609802}</a:tableStyleId>
              </a:tblPr>
              <a:tblGrid>
                <a:gridCol w="2032000">
                  <a:extLst>
                    <a:ext uri="{9D8B030D-6E8A-4147-A177-3AD203B41FA5}">
                      <a16:colId xmlns:a16="http://schemas.microsoft.com/office/drawing/2014/main" val="20000"/>
                    </a:ext>
                  </a:extLst>
                </a:gridCol>
                <a:gridCol w="3847976">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370840">
                <a:tc>
                  <a:txBody>
                    <a:bodyPr/>
                    <a:lstStyle/>
                    <a:p>
                      <a:r>
                        <a:rPr lang="en-US" dirty="0"/>
                        <a:t>Primitive cell</a:t>
                      </a:r>
                    </a:p>
                  </a:txBody>
                  <a:tcPr/>
                </a:tc>
                <a:tc>
                  <a:txBody>
                    <a:bodyPr/>
                    <a:lstStyle/>
                    <a:p>
                      <a:r>
                        <a:rPr lang="en-US" dirty="0"/>
                        <a:t>The smallest repeat unit that constructs lattice</a:t>
                      </a:r>
                    </a:p>
                  </a:txBody>
                  <a:tcPr/>
                </a:tc>
                <a:tc>
                  <a:txBody>
                    <a:bodyPr/>
                    <a:lstStyle/>
                    <a:p>
                      <a:r>
                        <a:rPr lang="zh-CN" altLang="en-US" dirty="0"/>
                        <a:t>原胞</a:t>
                      </a:r>
                      <a:endParaRPr lang="en-US" dirty="0"/>
                    </a:p>
                  </a:txBody>
                  <a:tcPr/>
                </a:tc>
                <a:extLst>
                  <a:ext uri="{0D108BD9-81ED-4DB2-BD59-A6C34878D82A}">
                    <a16:rowId xmlns:a16="http://schemas.microsoft.com/office/drawing/2014/main" val="10000"/>
                  </a:ext>
                </a:extLst>
              </a:tr>
              <a:tr h="370840">
                <a:tc>
                  <a:txBody>
                    <a:bodyPr/>
                    <a:lstStyle/>
                    <a:p>
                      <a:r>
                        <a:rPr lang="en-US" b="1" dirty="0"/>
                        <a:t>Unit</a:t>
                      </a:r>
                      <a:r>
                        <a:rPr lang="en-US" b="1" baseline="0" dirty="0"/>
                        <a:t> cell</a:t>
                      </a:r>
                      <a:endParaRPr lang="en-US" b="1" dirty="0"/>
                    </a:p>
                  </a:txBody>
                  <a:tcPr/>
                </a:tc>
                <a:tc>
                  <a:txBody>
                    <a:bodyPr/>
                    <a:lstStyle/>
                    <a:p>
                      <a:r>
                        <a:rPr lang="en-US" altLang="zh-CN" b="1" dirty="0"/>
                        <a:t>The</a:t>
                      </a:r>
                      <a:r>
                        <a:rPr lang="en-US" altLang="zh-CN" b="1" baseline="0" dirty="0"/>
                        <a:t> smallest repeat unit considering the symmetry of crystals</a:t>
                      </a:r>
                      <a:endParaRPr lang="en-US" b="1" dirty="0"/>
                    </a:p>
                  </a:txBody>
                  <a:tcPr/>
                </a:tc>
                <a:tc>
                  <a:txBody>
                    <a:bodyPr/>
                    <a:lstStyle/>
                    <a:p>
                      <a:r>
                        <a:rPr lang="zh-CN" altLang="en-US" b="1" dirty="0"/>
                        <a:t>晶胞</a:t>
                      </a:r>
                      <a:endParaRPr lang="en-US" b="1"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0" name="Rectangle 2"/>
          <p:cNvSpPr>
            <a:spLocks noGrp="1" noChangeArrowheads="1"/>
          </p:cNvSpPr>
          <p:nvPr>
            <p:ph type="body" idx="1"/>
          </p:nvPr>
        </p:nvSpPr>
        <p:spPr>
          <a:xfrm>
            <a:off x="611505" y="1554480"/>
            <a:ext cx="7705725" cy="634365"/>
          </a:xfrm>
        </p:spPr>
        <p:txBody>
          <a:bodyPr/>
          <a:lstStyle/>
          <a:p>
            <a:pPr>
              <a:lnSpc>
                <a:spcPct val="90000"/>
              </a:lnSpc>
              <a:buFont typeface="Wingdings" panose="05000000000000000000" pitchFamily="2" charset="2"/>
              <a:buNone/>
            </a:pPr>
            <a:r>
              <a:rPr lang="en-US" altLang="zh-CN" b="1" dirty="0"/>
              <a:t>Plot the corresponding Bravais lattice/ unit cell of the following 2D patterns</a:t>
            </a:r>
            <a:r>
              <a:rPr lang="zh-CN" altLang="en-US" b="1" dirty="0"/>
              <a:t>：</a:t>
            </a:r>
            <a:r>
              <a:rPr lang="zh-CN" altLang="en-US" sz="1800" b="1" dirty="0"/>
              <a:t>      </a:t>
            </a:r>
          </a:p>
        </p:txBody>
      </p:sp>
      <p:grpSp>
        <p:nvGrpSpPr>
          <p:cNvPr id="150531" name="Group 3"/>
          <p:cNvGrpSpPr/>
          <p:nvPr/>
        </p:nvGrpSpPr>
        <p:grpSpPr bwMode="auto">
          <a:xfrm>
            <a:off x="1476375" y="2612963"/>
            <a:ext cx="2663825" cy="2667000"/>
            <a:chOff x="624" y="1344"/>
            <a:chExt cx="1632" cy="1680"/>
          </a:xfrm>
        </p:grpSpPr>
        <p:sp>
          <p:nvSpPr>
            <p:cNvPr id="150532" name="Oval 4"/>
            <p:cNvSpPr>
              <a:spLocks noChangeArrowheads="1"/>
            </p:cNvSpPr>
            <p:nvPr/>
          </p:nvSpPr>
          <p:spPr bwMode="auto">
            <a:xfrm>
              <a:off x="624" y="134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33" name="Oval 5"/>
            <p:cNvSpPr>
              <a:spLocks noChangeArrowheads="1"/>
            </p:cNvSpPr>
            <p:nvPr/>
          </p:nvSpPr>
          <p:spPr bwMode="auto">
            <a:xfrm>
              <a:off x="1152" y="134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34" name="Oval 6"/>
            <p:cNvSpPr>
              <a:spLocks noChangeArrowheads="1"/>
            </p:cNvSpPr>
            <p:nvPr/>
          </p:nvSpPr>
          <p:spPr bwMode="auto">
            <a:xfrm>
              <a:off x="624" y="1872"/>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35" name="Oval 7"/>
            <p:cNvSpPr>
              <a:spLocks noChangeArrowheads="1"/>
            </p:cNvSpPr>
            <p:nvPr/>
          </p:nvSpPr>
          <p:spPr bwMode="auto">
            <a:xfrm>
              <a:off x="624" y="292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36" name="Oval 8"/>
            <p:cNvSpPr>
              <a:spLocks noChangeArrowheads="1"/>
            </p:cNvSpPr>
            <p:nvPr/>
          </p:nvSpPr>
          <p:spPr bwMode="auto">
            <a:xfrm>
              <a:off x="624" y="240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37" name="Oval 9"/>
            <p:cNvSpPr>
              <a:spLocks noChangeArrowheads="1"/>
            </p:cNvSpPr>
            <p:nvPr/>
          </p:nvSpPr>
          <p:spPr bwMode="auto">
            <a:xfrm>
              <a:off x="1152" y="1872"/>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38" name="Oval 10"/>
            <p:cNvSpPr>
              <a:spLocks noChangeArrowheads="1"/>
            </p:cNvSpPr>
            <p:nvPr/>
          </p:nvSpPr>
          <p:spPr bwMode="auto">
            <a:xfrm>
              <a:off x="1152" y="240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39" name="Oval 11"/>
            <p:cNvSpPr>
              <a:spLocks noChangeArrowheads="1"/>
            </p:cNvSpPr>
            <p:nvPr/>
          </p:nvSpPr>
          <p:spPr bwMode="auto">
            <a:xfrm>
              <a:off x="1152" y="292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0" name="Oval 12"/>
            <p:cNvSpPr>
              <a:spLocks noChangeArrowheads="1"/>
            </p:cNvSpPr>
            <p:nvPr/>
          </p:nvSpPr>
          <p:spPr bwMode="auto">
            <a:xfrm>
              <a:off x="1632" y="134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1" name="Oval 13"/>
            <p:cNvSpPr>
              <a:spLocks noChangeArrowheads="1"/>
            </p:cNvSpPr>
            <p:nvPr/>
          </p:nvSpPr>
          <p:spPr bwMode="auto">
            <a:xfrm>
              <a:off x="1632" y="1872"/>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2" name="Oval 14"/>
            <p:cNvSpPr>
              <a:spLocks noChangeArrowheads="1"/>
            </p:cNvSpPr>
            <p:nvPr/>
          </p:nvSpPr>
          <p:spPr bwMode="auto">
            <a:xfrm>
              <a:off x="1632" y="240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3" name="Oval 15"/>
            <p:cNvSpPr>
              <a:spLocks noChangeArrowheads="1"/>
            </p:cNvSpPr>
            <p:nvPr/>
          </p:nvSpPr>
          <p:spPr bwMode="auto">
            <a:xfrm>
              <a:off x="1632" y="292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4" name="Oval 16"/>
            <p:cNvSpPr>
              <a:spLocks noChangeArrowheads="1"/>
            </p:cNvSpPr>
            <p:nvPr/>
          </p:nvSpPr>
          <p:spPr bwMode="auto">
            <a:xfrm>
              <a:off x="2160" y="134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5" name="Oval 17"/>
            <p:cNvSpPr>
              <a:spLocks noChangeArrowheads="1"/>
            </p:cNvSpPr>
            <p:nvPr/>
          </p:nvSpPr>
          <p:spPr bwMode="auto">
            <a:xfrm>
              <a:off x="2112" y="1872"/>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6" name="Oval 18"/>
            <p:cNvSpPr>
              <a:spLocks noChangeArrowheads="1"/>
            </p:cNvSpPr>
            <p:nvPr/>
          </p:nvSpPr>
          <p:spPr bwMode="auto">
            <a:xfrm>
              <a:off x="2112" y="240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0547" name="Oval 19"/>
            <p:cNvSpPr>
              <a:spLocks noChangeArrowheads="1"/>
            </p:cNvSpPr>
            <p:nvPr/>
          </p:nvSpPr>
          <p:spPr bwMode="auto">
            <a:xfrm>
              <a:off x="2112" y="292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0548" name="Line 20"/>
          <p:cNvSpPr>
            <a:spLocks noChangeShapeType="1"/>
          </p:cNvSpPr>
          <p:nvPr/>
        </p:nvSpPr>
        <p:spPr bwMode="auto">
          <a:xfrm>
            <a:off x="5181600" y="3170175"/>
            <a:ext cx="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50549" name="Group 21"/>
          <p:cNvGrpSpPr/>
          <p:nvPr/>
        </p:nvGrpSpPr>
        <p:grpSpPr bwMode="auto">
          <a:xfrm>
            <a:off x="5518970" y="2597170"/>
            <a:ext cx="2057400" cy="2770435"/>
            <a:chOff x="3216" y="1296"/>
            <a:chExt cx="1296" cy="1200"/>
          </a:xfrm>
        </p:grpSpPr>
        <p:sp>
          <p:nvSpPr>
            <p:cNvPr id="150550" name="Oval 22"/>
            <p:cNvSpPr>
              <a:spLocks noChangeArrowheads="1"/>
            </p:cNvSpPr>
            <p:nvPr/>
          </p:nvSpPr>
          <p:spPr bwMode="auto">
            <a:xfrm>
              <a:off x="3216"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1" name="Oval 23"/>
            <p:cNvSpPr>
              <a:spLocks noChangeArrowheads="1"/>
            </p:cNvSpPr>
            <p:nvPr/>
          </p:nvSpPr>
          <p:spPr bwMode="auto">
            <a:xfrm>
              <a:off x="3216"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2" name="Oval 24"/>
            <p:cNvSpPr>
              <a:spLocks noChangeArrowheads="1"/>
            </p:cNvSpPr>
            <p:nvPr/>
          </p:nvSpPr>
          <p:spPr bwMode="auto">
            <a:xfrm>
              <a:off x="3552"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3" name="Oval 25"/>
            <p:cNvSpPr>
              <a:spLocks noChangeArrowheads="1"/>
            </p:cNvSpPr>
            <p:nvPr/>
          </p:nvSpPr>
          <p:spPr bwMode="auto">
            <a:xfrm>
              <a:off x="3552"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4" name="Oval 26"/>
            <p:cNvSpPr>
              <a:spLocks noChangeArrowheads="1"/>
            </p:cNvSpPr>
            <p:nvPr/>
          </p:nvSpPr>
          <p:spPr bwMode="auto">
            <a:xfrm>
              <a:off x="3840"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5" name="Oval 27"/>
            <p:cNvSpPr>
              <a:spLocks noChangeArrowheads="1"/>
            </p:cNvSpPr>
            <p:nvPr/>
          </p:nvSpPr>
          <p:spPr bwMode="auto">
            <a:xfrm>
              <a:off x="4128"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6" name="Oval 28"/>
            <p:cNvSpPr>
              <a:spLocks noChangeArrowheads="1"/>
            </p:cNvSpPr>
            <p:nvPr/>
          </p:nvSpPr>
          <p:spPr bwMode="auto">
            <a:xfrm>
              <a:off x="4416"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7" name="Oval 29"/>
            <p:cNvSpPr>
              <a:spLocks noChangeArrowheads="1"/>
            </p:cNvSpPr>
            <p:nvPr/>
          </p:nvSpPr>
          <p:spPr bwMode="auto">
            <a:xfrm>
              <a:off x="3840"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8" name="Oval 30"/>
            <p:cNvSpPr>
              <a:spLocks noChangeArrowheads="1"/>
            </p:cNvSpPr>
            <p:nvPr/>
          </p:nvSpPr>
          <p:spPr bwMode="auto">
            <a:xfrm>
              <a:off x="4128"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59" name="Oval 31"/>
            <p:cNvSpPr>
              <a:spLocks noChangeArrowheads="1"/>
            </p:cNvSpPr>
            <p:nvPr/>
          </p:nvSpPr>
          <p:spPr bwMode="auto">
            <a:xfrm>
              <a:off x="4416"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0" name="Oval 32"/>
            <p:cNvSpPr>
              <a:spLocks noChangeArrowheads="1"/>
            </p:cNvSpPr>
            <p:nvPr/>
          </p:nvSpPr>
          <p:spPr bwMode="auto">
            <a:xfrm>
              <a:off x="3216"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1" name="Oval 33"/>
            <p:cNvSpPr>
              <a:spLocks noChangeArrowheads="1"/>
            </p:cNvSpPr>
            <p:nvPr/>
          </p:nvSpPr>
          <p:spPr bwMode="auto">
            <a:xfrm>
              <a:off x="3552"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2" name="Oval 34"/>
            <p:cNvSpPr>
              <a:spLocks noChangeArrowheads="1"/>
            </p:cNvSpPr>
            <p:nvPr/>
          </p:nvSpPr>
          <p:spPr bwMode="auto">
            <a:xfrm>
              <a:off x="3840"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3" name="Oval 35"/>
            <p:cNvSpPr>
              <a:spLocks noChangeArrowheads="1"/>
            </p:cNvSpPr>
            <p:nvPr/>
          </p:nvSpPr>
          <p:spPr bwMode="auto">
            <a:xfrm>
              <a:off x="4128"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4" name="Oval 36"/>
            <p:cNvSpPr>
              <a:spLocks noChangeArrowheads="1"/>
            </p:cNvSpPr>
            <p:nvPr/>
          </p:nvSpPr>
          <p:spPr bwMode="auto">
            <a:xfrm>
              <a:off x="4416"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5" name="Oval 37"/>
            <p:cNvSpPr>
              <a:spLocks noChangeArrowheads="1"/>
            </p:cNvSpPr>
            <p:nvPr/>
          </p:nvSpPr>
          <p:spPr bwMode="auto">
            <a:xfrm>
              <a:off x="3408"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6" name="Oval 38"/>
            <p:cNvSpPr>
              <a:spLocks noChangeArrowheads="1"/>
            </p:cNvSpPr>
            <p:nvPr/>
          </p:nvSpPr>
          <p:spPr bwMode="auto">
            <a:xfrm>
              <a:off x="3696"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7" name="Oval 39"/>
            <p:cNvSpPr>
              <a:spLocks noChangeArrowheads="1"/>
            </p:cNvSpPr>
            <p:nvPr/>
          </p:nvSpPr>
          <p:spPr bwMode="auto">
            <a:xfrm>
              <a:off x="3984"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8" name="Oval 40"/>
            <p:cNvSpPr>
              <a:spLocks noChangeArrowheads="1"/>
            </p:cNvSpPr>
            <p:nvPr/>
          </p:nvSpPr>
          <p:spPr bwMode="auto">
            <a:xfrm>
              <a:off x="4272"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69" name="Oval 41"/>
            <p:cNvSpPr>
              <a:spLocks noChangeArrowheads="1"/>
            </p:cNvSpPr>
            <p:nvPr/>
          </p:nvSpPr>
          <p:spPr bwMode="auto">
            <a:xfrm>
              <a:off x="3360"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70" name="Oval 42"/>
            <p:cNvSpPr>
              <a:spLocks noChangeArrowheads="1"/>
            </p:cNvSpPr>
            <p:nvPr/>
          </p:nvSpPr>
          <p:spPr bwMode="auto">
            <a:xfrm>
              <a:off x="3696"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71" name="Oval 43"/>
            <p:cNvSpPr>
              <a:spLocks noChangeArrowheads="1"/>
            </p:cNvSpPr>
            <p:nvPr/>
          </p:nvSpPr>
          <p:spPr bwMode="auto">
            <a:xfrm>
              <a:off x="3984"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0572" name="Oval 44"/>
            <p:cNvSpPr>
              <a:spLocks noChangeArrowheads="1"/>
            </p:cNvSpPr>
            <p:nvPr/>
          </p:nvSpPr>
          <p:spPr bwMode="auto">
            <a:xfrm>
              <a:off x="4272"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grpSp>
      <p:sp>
        <p:nvSpPr>
          <p:cNvPr id="150573" name="Rectangle 45"/>
          <p:cNvSpPr>
            <a:spLocks noChangeArrowheads="1"/>
          </p:cNvSpPr>
          <p:nvPr/>
        </p:nvSpPr>
        <p:spPr bwMode="auto">
          <a:xfrm>
            <a:off x="539750" y="301625"/>
            <a:ext cx="84086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b="1" spc="-60" dirty="0">
                <a:solidFill>
                  <a:srgbClr val="FF0066"/>
                </a:solidFill>
                <a:effectLst>
                  <a:outerShdw blurRad="38100" dist="38100" dir="2700000" algn="tl">
                    <a:srgbClr val="000000"/>
                  </a:outerShdw>
                </a:effectLst>
                <a:latin typeface="+mj-lt"/>
                <a:ea typeface="+mj-ea"/>
                <a:cs typeface="+mj-cs"/>
              </a:rPr>
              <a:t>Practice 1</a:t>
            </a:r>
            <a:r>
              <a:rPr lang="zh-CN" altLang="en-US" sz="3200" b="1" spc="-60" dirty="0">
                <a:solidFill>
                  <a:srgbClr val="FF0066"/>
                </a:solidFill>
                <a:effectLst>
                  <a:outerShdw blurRad="38100" dist="38100" dir="2700000" algn="tl">
                    <a:srgbClr val="000000"/>
                  </a:outerShdw>
                </a:effectLst>
                <a:latin typeface="+mj-lt"/>
                <a:ea typeface="+mj-ea"/>
                <a:cs typeface="+mj-cs"/>
              </a:rPr>
              <a:t>：</a:t>
            </a:r>
            <a:r>
              <a:rPr lang="en-US" altLang="zh-CN" sz="3200" b="1" spc="-60" dirty="0">
                <a:solidFill>
                  <a:srgbClr val="FF0066"/>
                </a:solidFill>
                <a:effectLst>
                  <a:outerShdw blurRad="38100" dist="38100" dir="2700000" algn="tl">
                    <a:srgbClr val="000000"/>
                  </a:outerShdw>
                </a:effectLst>
                <a:latin typeface="+mj-lt"/>
                <a:ea typeface="+mj-ea"/>
                <a:cs typeface="+mj-cs"/>
              </a:rPr>
              <a:t>choose 2D bravais lattice</a:t>
            </a:r>
          </a:p>
        </p:txBody>
      </p:sp>
      <p:sp>
        <p:nvSpPr>
          <p:cNvPr id="150574" name="Rectangle 46"/>
          <p:cNvSpPr>
            <a:spLocks noChangeArrowheads="1"/>
          </p:cNvSpPr>
          <p:nvPr/>
        </p:nvSpPr>
        <p:spPr bwMode="auto">
          <a:xfrm>
            <a:off x="1979712" y="5913598"/>
            <a:ext cx="1654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t>4mm(L</a:t>
            </a:r>
            <a:r>
              <a:rPr lang="en-US" altLang="zh-CN" b="1" baseline="30000" dirty="0"/>
              <a:t>4</a:t>
            </a:r>
            <a:r>
              <a:rPr lang="en-US" altLang="zh-CN" b="1" dirty="0"/>
              <a:t>4P)</a:t>
            </a:r>
          </a:p>
        </p:txBody>
      </p:sp>
      <p:sp>
        <p:nvSpPr>
          <p:cNvPr id="150575" name="Rectangle 47"/>
          <p:cNvSpPr>
            <a:spLocks noChangeArrowheads="1"/>
          </p:cNvSpPr>
          <p:nvPr/>
        </p:nvSpPr>
        <p:spPr bwMode="auto">
          <a:xfrm>
            <a:off x="5509610" y="5956596"/>
            <a:ext cx="212725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20000"/>
              </a:spcBef>
              <a:buClr>
                <a:schemeClr val="hlink"/>
              </a:buClr>
              <a:buSzPct val="80000"/>
              <a:buFont typeface="Wingdings" panose="05000000000000000000" pitchFamily="2" charset="2"/>
              <a:buNone/>
            </a:pPr>
            <a:r>
              <a:rPr lang="en-US" altLang="zh-CN" b="1" dirty="0"/>
              <a:t>mm2(L</a:t>
            </a:r>
            <a:r>
              <a:rPr lang="en-US" altLang="zh-CN" b="1" baseline="30000" dirty="0"/>
              <a:t>2</a:t>
            </a:r>
            <a:r>
              <a:rPr lang="en-US" altLang="zh-CN" b="1" dirty="0"/>
              <a:t>2P)</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Group 110"/>
          <p:cNvGrpSpPr/>
          <p:nvPr/>
        </p:nvGrpSpPr>
        <p:grpSpPr>
          <a:xfrm>
            <a:off x="1583668" y="778096"/>
            <a:ext cx="5715061" cy="4416211"/>
            <a:chOff x="724043" y="587035"/>
            <a:chExt cx="5715061" cy="4416211"/>
          </a:xfrm>
        </p:grpSpPr>
        <p:grpSp>
          <p:nvGrpSpPr>
            <p:cNvPr id="44" name="Group 43"/>
            <p:cNvGrpSpPr/>
            <p:nvPr/>
          </p:nvGrpSpPr>
          <p:grpSpPr>
            <a:xfrm>
              <a:off x="724043" y="587035"/>
              <a:ext cx="1694854" cy="1704541"/>
              <a:chOff x="724043" y="587035"/>
              <a:chExt cx="1694854" cy="1704541"/>
            </a:xfrm>
          </p:grpSpPr>
          <p:sp>
            <p:nvSpPr>
              <p:cNvPr id="41" name="Oval 40"/>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p:cNvGrpSpPr/>
            <p:nvPr/>
          </p:nvGrpSpPr>
          <p:grpSpPr>
            <a:xfrm>
              <a:off x="2064112" y="587035"/>
              <a:ext cx="1694854" cy="1704541"/>
              <a:chOff x="724043" y="587035"/>
              <a:chExt cx="1694854" cy="1704541"/>
            </a:xfrm>
          </p:grpSpPr>
          <p:sp>
            <p:nvSpPr>
              <p:cNvPr id="46" name="Oval 45"/>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p:cNvGrpSpPr/>
            <p:nvPr/>
          </p:nvGrpSpPr>
          <p:grpSpPr>
            <a:xfrm>
              <a:off x="3404181" y="602801"/>
              <a:ext cx="1694854" cy="1704541"/>
              <a:chOff x="724043" y="587035"/>
              <a:chExt cx="1694854" cy="1704541"/>
            </a:xfrm>
          </p:grpSpPr>
          <p:sp>
            <p:nvSpPr>
              <p:cNvPr id="52" name="Oval 51"/>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p:cNvGrpSpPr/>
            <p:nvPr/>
          </p:nvGrpSpPr>
          <p:grpSpPr>
            <a:xfrm>
              <a:off x="4744250" y="602801"/>
              <a:ext cx="1694854" cy="1704541"/>
              <a:chOff x="724043" y="587035"/>
              <a:chExt cx="1694854" cy="1704541"/>
            </a:xfrm>
          </p:grpSpPr>
          <p:sp>
            <p:nvSpPr>
              <p:cNvPr id="58" name="Oval 57"/>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p:cNvGrpSpPr/>
            <p:nvPr/>
          </p:nvGrpSpPr>
          <p:grpSpPr>
            <a:xfrm>
              <a:off x="724043" y="1927104"/>
              <a:ext cx="1694854" cy="1704541"/>
              <a:chOff x="724043" y="587035"/>
              <a:chExt cx="1694854" cy="1704541"/>
            </a:xfrm>
          </p:grpSpPr>
          <p:sp>
            <p:nvSpPr>
              <p:cNvPr id="64" name="Oval 63"/>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p:cNvGrpSpPr/>
            <p:nvPr/>
          </p:nvGrpSpPr>
          <p:grpSpPr>
            <a:xfrm>
              <a:off x="2064112" y="1927104"/>
              <a:ext cx="1694854" cy="1704541"/>
              <a:chOff x="724043" y="587035"/>
              <a:chExt cx="1694854" cy="1704541"/>
            </a:xfrm>
          </p:grpSpPr>
          <p:sp>
            <p:nvSpPr>
              <p:cNvPr id="70" name="Oval 69"/>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p:cNvGrpSpPr/>
            <p:nvPr/>
          </p:nvGrpSpPr>
          <p:grpSpPr>
            <a:xfrm>
              <a:off x="3404181" y="1942870"/>
              <a:ext cx="1694854" cy="1704541"/>
              <a:chOff x="724043" y="587035"/>
              <a:chExt cx="1694854" cy="1704541"/>
            </a:xfrm>
          </p:grpSpPr>
          <p:sp>
            <p:nvSpPr>
              <p:cNvPr id="76" name="Oval 75"/>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p:cNvGrpSpPr/>
            <p:nvPr/>
          </p:nvGrpSpPr>
          <p:grpSpPr>
            <a:xfrm>
              <a:off x="4744250" y="1942870"/>
              <a:ext cx="1694854" cy="1704541"/>
              <a:chOff x="724043" y="587035"/>
              <a:chExt cx="1694854" cy="1704541"/>
            </a:xfrm>
          </p:grpSpPr>
          <p:sp>
            <p:nvSpPr>
              <p:cNvPr id="82" name="Oval 81"/>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p:cNvGrpSpPr/>
            <p:nvPr/>
          </p:nvGrpSpPr>
          <p:grpSpPr>
            <a:xfrm>
              <a:off x="724043" y="3282939"/>
              <a:ext cx="1694854" cy="1704541"/>
              <a:chOff x="724043" y="587035"/>
              <a:chExt cx="1694854" cy="1704541"/>
            </a:xfrm>
          </p:grpSpPr>
          <p:sp>
            <p:nvSpPr>
              <p:cNvPr id="88" name="Oval 87"/>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p:cNvGrpSpPr/>
            <p:nvPr/>
          </p:nvGrpSpPr>
          <p:grpSpPr>
            <a:xfrm>
              <a:off x="2064112" y="3282939"/>
              <a:ext cx="1694854" cy="1704541"/>
              <a:chOff x="724043" y="587035"/>
              <a:chExt cx="1694854" cy="1704541"/>
            </a:xfrm>
          </p:grpSpPr>
          <p:sp>
            <p:nvSpPr>
              <p:cNvPr id="94" name="Oval 93"/>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p:cNvGrpSpPr/>
            <p:nvPr/>
          </p:nvGrpSpPr>
          <p:grpSpPr>
            <a:xfrm>
              <a:off x="3404181" y="3298705"/>
              <a:ext cx="1694854" cy="1704541"/>
              <a:chOff x="724043" y="587035"/>
              <a:chExt cx="1694854" cy="1704541"/>
            </a:xfrm>
          </p:grpSpPr>
          <p:sp>
            <p:nvSpPr>
              <p:cNvPr id="100" name="Oval 99"/>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 name="Group 104"/>
            <p:cNvGrpSpPr/>
            <p:nvPr/>
          </p:nvGrpSpPr>
          <p:grpSpPr>
            <a:xfrm>
              <a:off x="4744250" y="3298705"/>
              <a:ext cx="1694854" cy="1704541"/>
              <a:chOff x="724043" y="587035"/>
              <a:chExt cx="1694854" cy="1704541"/>
            </a:xfrm>
          </p:grpSpPr>
          <p:sp>
            <p:nvSpPr>
              <p:cNvPr id="106" name="Oval 105"/>
              <p:cNvSpPr/>
              <p:nvPr/>
            </p:nvSpPr>
            <p:spPr>
              <a:xfrm>
                <a:off x="2058857" y="193153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724043" y="192102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2058857"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p:cNvSpPr/>
              <p:nvPr/>
            </p:nvSpPr>
            <p:spPr>
              <a:xfrm>
                <a:off x="724043" y="587035"/>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403648" y="1270327"/>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3851275" y="5373688"/>
            <a:ext cx="862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b="0"/>
              <a:t>4mm</a:t>
            </a:r>
          </a:p>
        </p:txBody>
      </p:sp>
      <p:grpSp>
        <p:nvGrpSpPr>
          <p:cNvPr id="151557" name="Group 5"/>
          <p:cNvGrpSpPr/>
          <p:nvPr/>
        </p:nvGrpSpPr>
        <p:grpSpPr bwMode="auto">
          <a:xfrm>
            <a:off x="4933950" y="2133600"/>
            <a:ext cx="2590800" cy="2667000"/>
            <a:chOff x="3024" y="1440"/>
            <a:chExt cx="1632" cy="1680"/>
          </a:xfrm>
        </p:grpSpPr>
        <p:grpSp>
          <p:nvGrpSpPr>
            <p:cNvPr id="151558" name="Group 6"/>
            <p:cNvGrpSpPr/>
            <p:nvPr/>
          </p:nvGrpSpPr>
          <p:grpSpPr bwMode="auto">
            <a:xfrm>
              <a:off x="3061" y="1483"/>
              <a:ext cx="1536" cy="1584"/>
              <a:chOff x="3072" y="1488"/>
              <a:chExt cx="1536" cy="1584"/>
            </a:xfrm>
          </p:grpSpPr>
          <p:sp>
            <p:nvSpPr>
              <p:cNvPr id="151559" name="Line 7"/>
              <p:cNvSpPr>
                <a:spLocks noChangeShapeType="1"/>
              </p:cNvSpPr>
              <p:nvPr/>
            </p:nvSpPr>
            <p:spPr bwMode="auto">
              <a:xfrm>
                <a:off x="3072" y="1488"/>
                <a:ext cx="15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60" name="Line 8"/>
              <p:cNvSpPr>
                <a:spLocks noChangeShapeType="1"/>
              </p:cNvSpPr>
              <p:nvPr/>
            </p:nvSpPr>
            <p:spPr bwMode="auto">
              <a:xfrm>
                <a:off x="3072" y="2016"/>
                <a:ext cx="15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61" name="Line 9"/>
              <p:cNvSpPr>
                <a:spLocks noChangeShapeType="1"/>
              </p:cNvSpPr>
              <p:nvPr/>
            </p:nvSpPr>
            <p:spPr bwMode="auto">
              <a:xfrm>
                <a:off x="3072" y="2544"/>
                <a:ext cx="15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62" name="Line 10"/>
              <p:cNvSpPr>
                <a:spLocks noChangeShapeType="1"/>
              </p:cNvSpPr>
              <p:nvPr/>
            </p:nvSpPr>
            <p:spPr bwMode="auto">
              <a:xfrm>
                <a:off x="3072" y="3072"/>
                <a:ext cx="15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63" name="Line 11"/>
              <p:cNvSpPr>
                <a:spLocks noChangeShapeType="1"/>
              </p:cNvSpPr>
              <p:nvPr/>
            </p:nvSpPr>
            <p:spPr bwMode="auto">
              <a:xfrm>
                <a:off x="3072" y="1488"/>
                <a:ext cx="0" cy="15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64" name="Line 12"/>
              <p:cNvSpPr>
                <a:spLocks noChangeShapeType="1"/>
              </p:cNvSpPr>
              <p:nvPr/>
            </p:nvSpPr>
            <p:spPr bwMode="auto">
              <a:xfrm>
                <a:off x="3600" y="1488"/>
                <a:ext cx="0" cy="15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65" name="Line 13"/>
              <p:cNvSpPr>
                <a:spLocks noChangeShapeType="1"/>
              </p:cNvSpPr>
              <p:nvPr/>
            </p:nvSpPr>
            <p:spPr bwMode="auto">
              <a:xfrm>
                <a:off x="4080" y="1488"/>
                <a:ext cx="0" cy="15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66" name="Line 14"/>
              <p:cNvSpPr>
                <a:spLocks noChangeShapeType="1"/>
              </p:cNvSpPr>
              <p:nvPr/>
            </p:nvSpPr>
            <p:spPr bwMode="auto">
              <a:xfrm>
                <a:off x="4608" y="1488"/>
                <a:ext cx="0" cy="15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51567" name="Group 15"/>
            <p:cNvGrpSpPr/>
            <p:nvPr/>
          </p:nvGrpSpPr>
          <p:grpSpPr bwMode="auto">
            <a:xfrm>
              <a:off x="3024" y="1440"/>
              <a:ext cx="1632" cy="1680"/>
              <a:chOff x="3024" y="1440"/>
              <a:chExt cx="1632" cy="1680"/>
            </a:xfrm>
          </p:grpSpPr>
          <p:sp>
            <p:nvSpPr>
              <p:cNvPr id="151568" name="Oval 16"/>
              <p:cNvSpPr>
                <a:spLocks noChangeArrowheads="1"/>
              </p:cNvSpPr>
              <p:nvPr/>
            </p:nvSpPr>
            <p:spPr bwMode="auto">
              <a:xfrm>
                <a:off x="3024" y="144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69" name="Oval 17"/>
              <p:cNvSpPr>
                <a:spLocks noChangeArrowheads="1"/>
              </p:cNvSpPr>
              <p:nvPr/>
            </p:nvSpPr>
            <p:spPr bwMode="auto">
              <a:xfrm>
                <a:off x="3552" y="144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0" name="Oval 18"/>
              <p:cNvSpPr>
                <a:spLocks noChangeArrowheads="1"/>
              </p:cNvSpPr>
              <p:nvPr/>
            </p:nvSpPr>
            <p:spPr bwMode="auto">
              <a:xfrm>
                <a:off x="3024" y="196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1" name="Oval 19"/>
              <p:cNvSpPr>
                <a:spLocks noChangeArrowheads="1"/>
              </p:cNvSpPr>
              <p:nvPr/>
            </p:nvSpPr>
            <p:spPr bwMode="auto">
              <a:xfrm>
                <a:off x="3024" y="302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2" name="Oval 20"/>
              <p:cNvSpPr>
                <a:spLocks noChangeArrowheads="1"/>
              </p:cNvSpPr>
              <p:nvPr/>
            </p:nvSpPr>
            <p:spPr bwMode="auto">
              <a:xfrm>
                <a:off x="3024" y="2496"/>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3" name="Oval 21"/>
              <p:cNvSpPr>
                <a:spLocks noChangeArrowheads="1"/>
              </p:cNvSpPr>
              <p:nvPr/>
            </p:nvSpPr>
            <p:spPr bwMode="auto">
              <a:xfrm>
                <a:off x="3552" y="196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4" name="Oval 22"/>
              <p:cNvSpPr>
                <a:spLocks noChangeArrowheads="1"/>
              </p:cNvSpPr>
              <p:nvPr/>
            </p:nvSpPr>
            <p:spPr bwMode="auto">
              <a:xfrm>
                <a:off x="3552" y="2496"/>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5" name="Oval 23"/>
              <p:cNvSpPr>
                <a:spLocks noChangeArrowheads="1"/>
              </p:cNvSpPr>
              <p:nvPr/>
            </p:nvSpPr>
            <p:spPr bwMode="auto">
              <a:xfrm>
                <a:off x="3552" y="302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6" name="Oval 24"/>
              <p:cNvSpPr>
                <a:spLocks noChangeArrowheads="1"/>
              </p:cNvSpPr>
              <p:nvPr/>
            </p:nvSpPr>
            <p:spPr bwMode="auto">
              <a:xfrm>
                <a:off x="4032" y="144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7" name="Oval 25"/>
              <p:cNvSpPr>
                <a:spLocks noChangeArrowheads="1"/>
              </p:cNvSpPr>
              <p:nvPr/>
            </p:nvSpPr>
            <p:spPr bwMode="auto">
              <a:xfrm>
                <a:off x="4032" y="2496"/>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8" name="Oval 26"/>
              <p:cNvSpPr>
                <a:spLocks noChangeArrowheads="1"/>
              </p:cNvSpPr>
              <p:nvPr/>
            </p:nvSpPr>
            <p:spPr bwMode="auto">
              <a:xfrm>
                <a:off x="4560" y="1440"/>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79" name="Oval 27"/>
              <p:cNvSpPr>
                <a:spLocks noChangeArrowheads="1"/>
              </p:cNvSpPr>
              <p:nvPr/>
            </p:nvSpPr>
            <p:spPr bwMode="auto">
              <a:xfrm>
                <a:off x="4560" y="196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80" name="Oval 28"/>
              <p:cNvSpPr>
                <a:spLocks noChangeArrowheads="1"/>
              </p:cNvSpPr>
              <p:nvPr/>
            </p:nvSpPr>
            <p:spPr bwMode="auto">
              <a:xfrm>
                <a:off x="4560" y="2496"/>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81" name="Oval 29"/>
              <p:cNvSpPr>
                <a:spLocks noChangeArrowheads="1"/>
              </p:cNvSpPr>
              <p:nvPr/>
            </p:nvSpPr>
            <p:spPr bwMode="auto">
              <a:xfrm>
                <a:off x="4512" y="302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82" name="Oval 30"/>
              <p:cNvSpPr>
                <a:spLocks noChangeArrowheads="1"/>
              </p:cNvSpPr>
              <p:nvPr/>
            </p:nvSpPr>
            <p:spPr bwMode="auto">
              <a:xfrm>
                <a:off x="4032" y="3024"/>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83" name="Oval 31"/>
              <p:cNvSpPr>
                <a:spLocks noChangeArrowheads="1"/>
              </p:cNvSpPr>
              <p:nvPr/>
            </p:nvSpPr>
            <p:spPr bwMode="auto">
              <a:xfrm>
                <a:off x="4032" y="1968"/>
                <a:ext cx="96"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51622" name="Group 70"/>
          <p:cNvGrpSpPr/>
          <p:nvPr/>
        </p:nvGrpSpPr>
        <p:grpSpPr bwMode="auto">
          <a:xfrm>
            <a:off x="1263650" y="2205038"/>
            <a:ext cx="2644775" cy="2520950"/>
            <a:chOff x="796" y="1389"/>
            <a:chExt cx="1666" cy="1588"/>
          </a:xfrm>
        </p:grpSpPr>
        <p:sp>
          <p:nvSpPr>
            <p:cNvPr id="151586" name="Line 34"/>
            <p:cNvSpPr>
              <a:spLocks noChangeShapeType="1"/>
            </p:cNvSpPr>
            <p:nvPr/>
          </p:nvSpPr>
          <p:spPr bwMode="auto">
            <a:xfrm flipH="1">
              <a:off x="1380" y="1921"/>
              <a:ext cx="515" cy="528"/>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87" name="Line 35"/>
            <p:cNvSpPr>
              <a:spLocks noChangeShapeType="1"/>
            </p:cNvSpPr>
            <p:nvPr/>
          </p:nvSpPr>
          <p:spPr bwMode="auto">
            <a:xfrm>
              <a:off x="1380" y="2449"/>
              <a:ext cx="515" cy="528"/>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88" name="Line 36"/>
            <p:cNvSpPr>
              <a:spLocks noChangeShapeType="1"/>
            </p:cNvSpPr>
            <p:nvPr/>
          </p:nvSpPr>
          <p:spPr bwMode="auto">
            <a:xfrm>
              <a:off x="1895" y="1921"/>
              <a:ext cx="516" cy="528"/>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89" name="Line 37"/>
            <p:cNvSpPr>
              <a:spLocks noChangeShapeType="1"/>
            </p:cNvSpPr>
            <p:nvPr/>
          </p:nvSpPr>
          <p:spPr bwMode="auto">
            <a:xfrm flipH="1">
              <a:off x="1895" y="2449"/>
              <a:ext cx="516" cy="528"/>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0" name="Line 38"/>
            <p:cNvSpPr>
              <a:spLocks noChangeShapeType="1"/>
            </p:cNvSpPr>
            <p:nvPr/>
          </p:nvSpPr>
          <p:spPr bwMode="auto">
            <a:xfrm>
              <a:off x="812" y="1393"/>
              <a:ext cx="0" cy="528"/>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2" name="Line 40"/>
            <p:cNvSpPr>
              <a:spLocks noChangeShapeType="1"/>
            </p:cNvSpPr>
            <p:nvPr/>
          </p:nvSpPr>
          <p:spPr bwMode="auto">
            <a:xfrm>
              <a:off x="812" y="1921"/>
              <a:ext cx="56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3" name="Line 41"/>
            <p:cNvSpPr>
              <a:spLocks noChangeShapeType="1"/>
            </p:cNvSpPr>
            <p:nvPr/>
          </p:nvSpPr>
          <p:spPr bwMode="auto">
            <a:xfrm>
              <a:off x="1380" y="1393"/>
              <a:ext cx="0" cy="528"/>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4" name="Line 42"/>
            <p:cNvSpPr>
              <a:spLocks noChangeShapeType="1"/>
            </p:cNvSpPr>
            <p:nvPr/>
          </p:nvSpPr>
          <p:spPr bwMode="auto">
            <a:xfrm flipH="1">
              <a:off x="1380" y="1393"/>
              <a:ext cx="515" cy="528"/>
            </a:xfrm>
            <a:prstGeom prst="line">
              <a:avLst/>
            </a:prstGeom>
            <a:noFill/>
            <a:ln w="254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5" name="Line 43"/>
            <p:cNvSpPr>
              <a:spLocks noChangeShapeType="1"/>
            </p:cNvSpPr>
            <p:nvPr/>
          </p:nvSpPr>
          <p:spPr bwMode="auto">
            <a:xfrm>
              <a:off x="1382" y="1933"/>
              <a:ext cx="515" cy="0"/>
            </a:xfrm>
            <a:prstGeom prst="line">
              <a:avLst/>
            </a:prstGeom>
            <a:noFill/>
            <a:ln w="254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6" name="Line 44"/>
            <p:cNvSpPr>
              <a:spLocks noChangeShapeType="1"/>
            </p:cNvSpPr>
            <p:nvPr/>
          </p:nvSpPr>
          <p:spPr bwMode="auto">
            <a:xfrm flipH="1">
              <a:off x="1895" y="1393"/>
              <a:ext cx="567" cy="528"/>
            </a:xfrm>
            <a:prstGeom prst="line">
              <a:avLst/>
            </a:prstGeom>
            <a:noFill/>
            <a:ln w="254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7" name="Line 45"/>
            <p:cNvSpPr>
              <a:spLocks noChangeShapeType="1"/>
            </p:cNvSpPr>
            <p:nvPr/>
          </p:nvSpPr>
          <p:spPr bwMode="auto">
            <a:xfrm>
              <a:off x="812" y="2449"/>
              <a:ext cx="0" cy="528"/>
            </a:xfrm>
            <a:prstGeom prst="line">
              <a:avLst/>
            </a:prstGeom>
            <a:noFill/>
            <a:ln w="254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8" name="Line 46"/>
            <p:cNvSpPr>
              <a:spLocks noChangeShapeType="1"/>
            </p:cNvSpPr>
            <p:nvPr/>
          </p:nvSpPr>
          <p:spPr bwMode="auto">
            <a:xfrm>
              <a:off x="1895" y="2449"/>
              <a:ext cx="0" cy="528"/>
            </a:xfrm>
            <a:prstGeom prst="line">
              <a:avLst/>
            </a:prstGeom>
            <a:noFill/>
            <a:ln w="254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599" name="Line 47"/>
            <p:cNvSpPr>
              <a:spLocks noChangeShapeType="1"/>
            </p:cNvSpPr>
            <p:nvPr/>
          </p:nvSpPr>
          <p:spPr bwMode="auto">
            <a:xfrm>
              <a:off x="1879" y="1393"/>
              <a:ext cx="567" cy="0"/>
            </a:xfrm>
            <a:prstGeom prst="line">
              <a:avLst/>
            </a:prstGeom>
            <a:noFill/>
            <a:ln w="254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600" name="Line 48"/>
            <p:cNvSpPr>
              <a:spLocks noChangeShapeType="1"/>
            </p:cNvSpPr>
            <p:nvPr/>
          </p:nvSpPr>
          <p:spPr bwMode="auto">
            <a:xfrm>
              <a:off x="796" y="2449"/>
              <a:ext cx="1083" cy="0"/>
            </a:xfrm>
            <a:prstGeom prst="line">
              <a:avLst/>
            </a:prstGeom>
            <a:noFill/>
            <a:ln w="254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601" name="Line 49"/>
            <p:cNvSpPr>
              <a:spLocks noChangeShapeType="1"/>
            </p:cNvSpPr>
            <p:nvPr/>
          </p:nvSpPr>
          <p:spPr bwMode="auto">
            <a:xfrm>
              <a:off x="796" y="2977"/>
              <a:ext cx="1083" cy="0"/>
            </a:xfrm>
            <a:prstGeom prst="line">
              <a:avLst/>
            </a:prstGeom>
            <a:noFill/>
            <a:ln w="25400">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1621" name="Line 69"/>
            <p:cNvSpPr>
              <a:spLocks noChangeShapeType="1"/>
            </p:cNvSpPr>
            <p:nvPr/>
          </p:nvSpPr>
          <p:spPr bwMode="auto">
            <a:xfrm>
              <a:off x="809" y="1389"/>
              <a:ext cx="56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51623" name="Group 71"/>
          <p:cNvGrpSpPr/>
          <p:nvPr/>
        </p:nvGrpSpPr>
        <p:grpSpPr bwMode="auto">
          <a:xfrm>
            <a:off x="1187450" y="2152650"/>
            <a:ext cx="2736850" cy="2667000"/>
            <a:chOff x="748" y="1356"/>
            <a:chExt cx="1724" cy="1680"/>
          </a:xfrm>
        </p:grpSpPr>
        <p:sp>
          <p:nvSpPr>
            <p:cNvPr id="151603" name="Oval 51"/>
            <p:cNvSpPr>
              <a:spLocks noChangeArrowheads="1"/>
            </p:cNvSpPr>
            <p:nvPr/>
          </p:nvSpPr>
          <p:spPr bwMode="auto">
            <a:xfrm>
              <a:off x="764" y="1884"/>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04" name="Oval 52"/>
            <p:cNvSpPr>
              <a:spLocks noChangeArrowheads="1"/>
            </p:cNvSpPr>
            <p:nvPr/>
          </p:nvSpPr>
          <p:spPr bwMode="auto">
            <a:xfrm>
              <a:off x="764" y="2940"/>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05" name="Oval 53"/>
            <p:cNvSpPr>
              <a:spLocks noChangeArrowheads="1"/>
            </p:cNvSpPr>
            <p:nvPr/>
          </p:nvSpPr>
          <p:spPr bwMode="auto">
            <a:xfrm>
              <a:off x="764" y="2412"/>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06" name="Oval 54"/>
            <p:cNvSpPr>
              <a:spLocks noChangeArrowheads="1"/>
            </p:cNvSpPr>
            <p:nvPr/>
          </p:nvSpPr>
          <p:spPr bwMode="auto">
            <a:xfrm>
              <a:off x="1331" y="1884"/>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07" name="Oval 55"/>
            <p:cNvSpPr>
              <a:spLocks noChangeArrowheads="1"/>
            </p:cNvSpPr>
            <p:nvPr/>
          </p:nvSpPr>
          <p:spPr bwMode="auto">
            <a:xfrm>
              <a:off x="1331" y="2412"/>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08" name="Oval 56"/>
            <p:cNvSpPr>
              <a:spLocks noChangeArrowheads="1"/>
            </p:cNvSpPr>
            <p:nvPr/>
          </p:nvSpPr>
          <p:spPr bwMode="auto">
            <a:xfrm>
              <a:off x="1331" y="2940"/>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09" name="Oval 57"/>
            <p:cNvSpPr>
              <a:spLocks noChangeArrowheads="1"/>
            </p:cNvSpPr>
            <p:nvPr/>
          </p:nvSpPr>
          <p:spPr bwMode="auto">
            <a:xfrm>
              <a:off x="1847" y="1356"/>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0" name="Oval 58"/>
            <p:cNvSpPr>
              <a:spLocks noChangeArrowheads="1"/>
            </p:cNvSpPr>
            <p:nvPr/>
          </p:nvSpPr>
          <p:spPr bwMode="auto">
            <a:xfrm>
              <a:off x="1847" y="1884"/>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1" name="Oval 59"/>
            <p:cNvSpPr>
              <a:spLocks noChangeArrowheads="1"/>
            </p:cNvSpPr>
            <p:nvPr/>
          </p:nvSpPr>
          <p:spPr bwMode="auto">
            <a:xfrm>
              <a:off x="1847" y="2412"/>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2" name="Oval 60"/>
            <p:cNvSpPr>
              <a:spLocks noChangeArrowheads="1"/>
            </p:cNvSpPr>
            <p:nvPr/>
          </p:nvSpPr>
          <p:spPr bwMode="auto">
            <a:xfrm>
              <a:off x="1847" y="2940"/>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3" name="Oval 61"/>
            <p:cNvSpPr>
              <a:spLocks noChangeArrowheads="1"/>
            </p:cNvSpPr>
            <p:nvPr/>
          </p:nvSpPr>
          <p:spPr bwMode="auto">
            <a:xfrm>
              <a:off x="2369" y="1356"/>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4" name="Oval 62"/>
            <p:cNvSpPr>
              <a:spLocks noChangeArrowheads="1"/>
            </p:cNvSpPr>
            <p:nvPr/>
          </p:nvSpPr>
          <p:spPr bwMode="auto">
            <a:xfrm>
              <a:off x="2362" y="1884"/>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5" name="Oval 63"/>
            <p:cNvSpPr>
              <a:spLocks noChangeArrowheads="1"/>
            </p:cNvSpPr>
            <p:nvPr/>
          </p:nvSpPr>
          <p:spPr bwMode="auto">
            <a:xfrm>
              <a:off x="2362" y="2412"/>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6" name="Oval 64"/>
            <p:cNvSpPr>
              <a:spLocks noChangeArrowheads="1"/>
            </p:cNvSpPr>
            <p:nvPr/>
          </p:nvSpPr>
          <p:spPr bwMode="auto">
            <a:xfrm>
              <a:off x="2362" y="2940"/>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7" name="Oval 65"/>
            <p:cNvSpPr>
              <a:spLocks noChangeArrowheads="1"/>
            </p:cNvSpPr>
            <p:nvPr/>
          </p:nvSpPr>
          <p:spPr bwMode="auto">
            <a:xfrm>
              <a:off x="748" y="1356"/>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618" name="Oval 66"/>
            <p:cNvSpPr>
              <a:spLocks noChangeArrowheads="1"/>
            </p:cNvSpPr>
            <p:nvPr/>
          </p:nvSpPr>
          <p:spPr bwMode="auto">
            <a:xfrm>
              <a:off x="1315" y="1356"/>
              <a:ext cx="103" cy="96"/>
            </a:xfrm>
            <a:prstGeom prst="ellipse">
              <a:avLst/>
            </a:prstGeom>
            <a:solidFill>
              <a:schemeClr val="accent1"/>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1622"/>
                                        </p:tgtEl>
                                        <p:attrNameLst>
                                          <p:attrName>style.visibility</p:attrName>
                                        </p:attrNameLst>
                                      </p:cBhvr>
                                      <p:to>
                                        <p:strVal val="visible"/>
                                      </p:to>
                                    </p:set>
                                    <p:anim calcmode="lin" valueType="num">
                                      <p:cBhvr additive="base">
                                        <p:cTn id="7" dur="1000" fill="hold"/>
                                        <p:tgtEl>
                                          <p:spTgt spid="151622"/>
                                        </p:tgtEl>
                                        <p:attrNameLst>
                                          <p:attrName>ppt_x</p:attrName>
                                        </p:attrNameLst>
                                      </p:cBhvr>
                                      <p:tavLst>
                                        <p:tav tm="0">
                                          <p:val>
                                            <p:strVal val="0-#ppt_w/2"/>
                                          </p:val>
                                        </p:tav>
                                        <p:tav tm="100000">
                                          <p:val>
                                            <p:strVal val="#ppt_x"/>
                                          </p:val>
                                        </p:tav>
                                      </p:tavLst>
                                    </p:anim>
                                    <p:anim calcmode="lin" valueType="num">
                                      <p:cBhvr additive="base">
                                        <p:cTn id="8" dur="1000" fill="hold"/>
                                        <p:tgtEl>
                                          <p:spTgt spid="1516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51557"/>
                                        </p:tgtEl>
                                        <p:attrNameLst>
                                          <p:attrName>style.visibility</p:attrName>
                                        </p:attrNameLst>
                                      </p:cBhvr>
                                      <p:to>
                                        <p:strVal val="visible"/>
                                      </p:to>
                                    </p:set>
                                    <p:anim calcmode="lin" valueType="num">
                                      <p:cBhvr additive="base">
                                        <p:cTn id="13" dur="1000" fill="hold"/>
                                        <p:tgtEl>
                                          <p:spTgt spid="151557"/>
                                        </p:tgtEl>
                                        <p:attrNameLst>
                                          <p:attrName>ppt_x</p:attrName>
                                        </p:attrNameLst>
                                      </p:cBhvr>
                                      <p:tavLst>
                                        <p:tav tm="0">
                                          <p:val>
                                            <p:strVal val="1+#ppt_w/2"/>
                                          </p:val>
                                        </p:tav>
                                        <p:tav tm="100000">
                                          <p:val>
                                            <p:strVal val="#ppt_x"/>
                                          </p:val>
                                        </p:tav>
                                      </p:tavLst>
                                    </p:anim>
                                    <p:anim calcmode="lin" valueType="num">
                                      <p:cBhvr additive="base">
                                        <p:cTn id="14" dur="1000" fill="hold"/>
                                        <p:tgtEl>
                                          <p:spTgt spid="1515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9" name="Line 3"/>
          <p:cNvSpPr>
            <a:spLocks noChangeShapeType="1"/>
          </p:cNvSpPr>
          <p:nvPr/>
        </p:nvSpPr>
        <p:spPr bwMode="auto">
          <a:xfrm>
            <a:off x="4317365" y="2294255"/>
            <a:ext cx="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52659" name="Group 83"/>
          <p:cNvGrpSpPr/>
          <p:nvPr/>
        </p:nvGrpSpPr>
        <p:grpSpPr bwMode="auto">
          <a:xfrm>
            <a:off x="1742440" y="1095693"/>
            <a:ext cx="1620838" cy="2143125"/>
            <a:chOff x="0" y="1253"/>
            <a:chExt cx="1021" cy="1350"/>
          </a:xfrm>
        </p:grpSpPr>
        <p:sp>
          <p:nvSpPr>
            <p:cNvPr id="152580" name="Line 4"/>
            <p:cNvSpPr>
              <a:spLocks noChangeShapeType="1"/>
            </p:cNvSpPr>
            <p:nvPr/>
          </p:nvSpPr>
          <p:spPr bwMode="auto">
            <a:xfrm>
              <a:off x="720" y="2056"/>
              <a:ext cx="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84" name="Line 8"/>
            <p:cNvSpPr>
              <a:spLocks noChangeShapeType="1"/>
            </p:cNvSpPr>
            <p:nvPr/>
          </p:nvSpPr>
          <p:spPr bwMode="auto">
            <a:xfrm>
              <a:off x="0" y="1309"/>
              <a:ext cx="37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85" name="Line 9"/>
            <p:cNvSpPr>
              <a:spLocks noChangeShapeType="1"/>
            </p:cNvSpPr>
            <p:nvPr/>
          </p:nvSpPr>
          <p:spPr bwMode="auto">
            <a:xfrm>
              <a:off x="0" y="1984"/>
              <a:ext cx="37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86" name="Line 10"/>
            <p:cNvSpPr>
              <a:spLocks noChangeShapeType="1"/>
            </p:cNvSpPr>
            <p:nvPr/>
          </p:nvSpPr>
          <p:spPr bwMode="auto">
            <a:xfrm>
              <a:off x="0" y="1309"/>
              <a:ext cx="0" cy="6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87" name="Line 11"/>
            <p:cNvSpPr>
              <a:spLocks noChangeShapeType="1"/>
            </p:cNvSpPr>
            <p:nvPr/>
          </p:nvSpPr>
          <p:spPr bwMode="auto">
            <a:xfrm>
              <a:off x="376" y="1309"/>
              <a:ext cx="0" cy="6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88" name="Line 12"/>
            <p:cNvSpPr>
              <a:spLocks noChangeShapeType="1"/>
            </p:cNvSpPr>
            <p:nvPr/>
          </p:nvSpPr>
          <p:spPr bwMode="auto">
            <a:xfrm flipH="1">
              <a:off x="537" y="1253"/>
              <a:ext cx="162" cy="394"/>
            </a:xfrm>
            <a:prstGeom prst="line">
              <a:avLst/>
            </a:prstGeom>
            <a:noFill/>
            <a:ln w="254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89" name="Line 13"/>
            <p:cNvSpPr>
              <a:spLocks noChangeShapeType="1"/>
            </p:cNvSpPr>
            <p:nvPr/>
          </p:nvSpPr>
          <p:spPr bwMode="auto">
            <a:xfrm flipH="1">
              <a:off x="699" y="1591"/>
              <a:ext cx="161" cy="393"/>
            </a:xfrm>
            <a:prstGeom prst="line">
              <a:avLst/>
            </a:prstGeom>
            <a:noFill/>
            <a:ln w="254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90" name="Line 14"/>
            <p:cNvSpPr>
              <a:spLocks noChangeShapeType="1"/>
            </p:cNvSpPr>
            <p:nvPr/>
          </p:nvSpPr>
          <p:spPr bwMode="auto">
            <a:xfrm>
              <a:off x="537" y="1647"/>
              <a:ext cx="162" cy="337"/>
            </a:xfrm>
            <a:prstGeom prst="line">
              <a:avLst/>
            </a:prstGeom>
            <a:noFill/>
            <a:ln w="254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91" name="Line 15"/>
            <p:cNvSpPr>
              <a:spLocks noChangeShapeType="1"/>
            </p:cNvSpPr>
            <p:nvPr/>
          </p:nvSpPr>
          <p:spPr bwMode="auto">
            <a:xfrm>
              <a:off x="699" y="1269"/>
              <a:ext cx="161" cy="338"/>
            </a:xfrm>
            <a:prstGeom prst="line">
              <a:avLst/>
            </a:prstGeom>
            <a:noFill/>
            <a:ln w="25400">
              <a:solidFill>
                <a:srgbClr val="0000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92" name="Line 16"/>
            <p:cNvSpPr>
              <a:spLocks noChangeShapeType="1"/>
            </p:cNvSpPr>
            <p:nvPr/>
          </p:nvSpPr>
          <p:spPr bwMode="auto">
            <a:xfrm>
              <a:off x="537" y="2266"/>
              <a:ext cx="323" cy="0"/>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93" name="Line 17"/>
            <p:cNvSpPr>
              <a:spLocks noChangeShapeType="1"/>
            </p:cNvSpPr>
            <p:nvPr/>
          </p:nvSpPr>
          <p:spPr bwMode="auto">
            <a:xfrm>
              <a:off x="699" y="2603"/>
              <a:ext cx="322" cy="0"/>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94" name="Line 18"/>
            <p:cNvSpPr>
              <a:spLocks noChangeShapeType="1"/>
            </p:cNvSpPr>
            <p:nvPr/>
          </p:nvSpPr>
          <p:spPr bwMode="auto">
            <a:xfrm>
              <a:off x="537" y="2266"/>
              <a:ext cx="162" cy="337"/>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595" name="Line 19"/>
            <p:cNvSpPr>
              <a:spLocks noChangeShapeType="1"/>
            </p:cNvSpPr>
            <p:nvPr/>
          </p:nvSpPr>
          <p:spPr bwMode="auto">
            <a:xfrm>
              <a:off x="860" y="2266"/>
              <a:ext cx="161" cy="337"/>
            </a:xfrm>
            <a:prstGeom prst="line">
              <a:avLst/>
            </a:prstGeom>
            <a:noFill/>
            <a:ln w="2540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52660" name="Group 84"/>
          <p:cNvGrpSpPr/>
          <p:nvPr/>
        </p:nvGrpSpPr>
        <p:grpSpPr bwMode="auto">
          <a:xfrm>
            <a:off x="1666240" y="1090930"/>
            <a:ext cx="2303463" cy="2232025"/>
            <a:chOff x="1066" y="1298"/>
            <a:chExt cx="1451" cy="1406"/>
          </a:xfrm>
        </p:grpSpPr>
        <p:sp>
          <p:nvSpPr>
            <p:cNvPr id="152597" name="Oval 21"/>
            <p:cNvSpPr>
              <a:spLocks noChangeArrowheads="1"/>
            </p:cNvSpPr>
            <p:nvPr/>
          </p:nvSpPr>
          <p:spPr bwMode="auto">
            <a:xfrm>
              <a:off x="1066" y="1298"/>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598" name="Oval 22"/>
            <p:cNvSpPr>
              <a:spLocks noChangeArrowheads="1"/>
            </p:cNvSpPr>
            <p:nvPr/>
          </p:nvSpPr>
          <p:spPr bwMode="auto">
            <a:xfrm>
              <a:off x="1442" y="1298"/>
              <a:ext cx="108"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599" name="Oval 23"/>
            <p:cNvSpPr>
              <a:spLocks noChangeArrowheads="1"/>
            </p:cNvSpPr>
            <p:nvPr/>
          </p:nvSpPr>
          <p:spPr bwMode="auto">
            <a:xfrm>
              <a:off x="1442" y="1973"/>
              <a:ext cx="108"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0" name="Oval 24"/>
            <p:cNvSpPr>
              <a:spLocks noChangeArrowheads="1"/>
            </p:cNvSpPr>
            <p:nvPr/>
          </p:nvSpPr>
          <p:spPr bwMode="auto">
            <a:xfrm>
              <a:off x="1765" y="1298"/>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1" name="Oval 25"/>
            <p:cNvSpPr>
              <a:spLocks noChangeArrowheads="1"/>
            </p:cNvSpPr>
            <p:nvPr/>
          </p:nvSpPr>
          <p:spPr bwMode="auto">
            <a:xfrm>
              <a:off x="2087" y="1298"/>
              <a:ext cx="108"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2" name="Oval 26"/>
            <p:cNvSpPr>
              <a:spLocks noChangeArrowheads="1"/>
            </p:cNvSpPr>
            <p:nvPr/>
          </p:nvSpPr>
          <p:spPr bwMode="auto">
            <a:xfrm>
              <a:off x="2410" y="1298"/>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3" name="Oval 27"/>
            <p:cNvSpPr>
              <a:spLocks noChangeArrowheads="1"/>
            </p:cNvSpPr>
            <p:nvPr/>
          </p:nvSpPr>
          <p:spPr bwMode="auto">
            <a:xfrm>
              <a:off x="1765" y="1973"/>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4" name="Oval 28"/>
            <p:cNvSpPr>
              <a:spLocks noChangeArrowheads="1"/>
            </p:cNvSpPr>
            <p:nvPr/>
          </p:nvSpPr>
          <p:spPr bwMode="auto">
            <a:xfrm>
              <a:off x="2087" y="1973"/>
              <a:ext cx="108"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5" name="Oval 29"/>
            <p:cNvSpPr>
              <a:spLocks noChangeArrowheads="1"/>
            </p:cNvSpPr>
            <p:nvPr/>
          </p:nvSpPr>
          <p:spPr bwMode="auto">
            <a:xfrm>
              <a:off x="2410" y="1973"/>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6" name="Oval 30"/>
            <p:cNvSpPr>
              <a:spLocks noChangeArrowheads="1"/>
            </p:cNvSpPr>
            <p:nvPr/>
          </p:nvSpPr>
          <p:spPr bwMode="auto">
            <a:xfrm>
              <a:off x="1066" y="2592"/>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7" name="Oval 31"/>
            <p:cNvSpPr>
              <a:spLocks noChangeArrowheads="1"/>
            </p:cNvSpPr>
            <p:nvPr/>
          </p:nvSpPr>
          <p:spPr bwMode="auto">
            <a:xfrm>
              <a:off x="1442" y="2592"/>
              <a:ext cx="108"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8" name="Oval 32"/>
            <p:cNvSpPr>
              <a:spLocks noChangeArrowheads="1"/>
            </p:cNvSpPr>
            <p:nvPr/>
          </p:nvSpPr>
          <p:spPr bwMode="auto">
            <a:xfrm>
              <a:off x="1765" y="2592"/>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09" name="Oval 33"/>
            <p:cNvSpPr>
              <a:spLocks noChangeArrowheads="1"/>
            </p:cNvSpPr>
            <p:nvPr/>
          </p:nvSpPr>
          <p:spPr bwMode="auto">
            <a:xfrm>
              <a:off x="2087" y="2592"/>
              <a:ext cx="108"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0" name="Oval 34"/>
            <p:cNvSpPr>
              <a:spLocks noChangeArrowheads="1"/>
            </p:cNvSpPr>
            <p:nvPr/>
          </p:nvSpPr>
          <p:spPr bwMode="auto">
            <a:xfrm>
              <a:off x="2410" y="2592"/>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1" name="Oval 35"/>
            <p:cNvSpPr>
              <a:spLocks noChangeArrowheads="1"/>
            </p:cNvSpPr>
            <p:nvPr/>
          </p:nvSpPr>
          <p:spPr bwMode="auto">
            <a:xfrm>
              <a:off x="1281" y="1635"/>
              <a:ext cx="107"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2" name="Oval 36"/>
            <p:cNvSpPr>
              <a:spLocks noChangeArrowheads="1"/>
            </p:cNvSpPr>
            <p:nvPr/>
          </p:nvSpPr>
          <p:spPr bwMode="auto">
            <a:xfrm>
              <a:off x="1603" y="1635"/>
              <a:ext cx="108"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3" name="Oval 37"/>
            <p:cNvSpPr>
              <a:spLocks noChangeArrowheads="1"/>
            </p:cNvSpPr>
            <p:nvPr/>
          </p:nvSpPr>
          <p:spPr bwMode="auto">
            <a:xfrm>
              <a:off x="1926" y="1635"/>
              <a:ext cx="107"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4" name="Oval 38"/>
            <p:cNvSpPr>
              <a:spLocks noChangeArrowheads="1"/>
            </p:cNvSpPr>
            <p:nvPr/>
          </p:nvSpPr>
          <p:spPr bwMode="auto">
            <a:xfrm>
              <a:off x="2248" y="1635"/>
              <a:ext cx="108"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5" name="Oval 39"/>
            <p:cNvSpPr>
              <a:spLocks noChangeArrowheads="1"/>
            </p:cNvSpPr>
            <p:nvPr/>
          </p:nvSpPr>
          <p:spPr bwMode="auto">
            <a:xfrm>
              <a:off x="1281" y="2254"/>
              <a:ext cx="107"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6" name="Oval 40"/>
            <p:cNvSpPr>
              <a:spLocks noChangeArrowheads="1"/>
            </p:cNvSpPr>
            <p:nvPr/>
          </p:nvSpPr>
          <p:spPr bwMode="auto">
            <a:xfrm>
              <a:off x="1603" y="2254"/>
              <a:ext cx="108"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7" name="Oval 41"/>
            <p:cNvSpPr>
              <a:spLocks noChangeArrowheads="1"/>
            </p:cNvSpPr>
            <p:nvPr/>
          </p:nvSpPr>
          <p:spPr bwMode="auto">
            <a:xfrm>
              <a:off x="1926" y="2254"/>
              <a:ext cx="107"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8" name="Oval 42"/>
            <p:cNvSpPr>
              <a:spLocks noChangeArrowheads="1"/>
            </p:cNvSpPr>
            <p:nvPr/>
          </p:nvSpPr>
          <p:spPr bwMode="auto">
            <a:xfrm>
              <a:off x="2248" y="2254"/>
              <a:ext cx="108" cy="113"/>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19" name="Oval 43"/>
            <p:cNvSpPr>
              <a:spLocks noChangeArrowheads="1"/>
            </p:cNvSpPr>
            <p:nvPr/>
          </p:nvSpPr>
          <p:spPr bwMode="auto">
            <a:xfrm>
              <a:off x="1066" y="1973"/>
              <a:ext cx="107" cy="112"/>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grpSp>
      <p:grpSp>
        <p:nvGrpSpPr>
          <p:cNvPr id="152620" name="Group 44"/>
          <p:cNvGrpSpPr/>
          <p:nvPr/>
        </p:nvGrpSpPr>
        <p:grpSpPr bwMode="auto">
          <a:xfrm>
            <a:off x="4906328" y="1090930"/>
            <a:ext cx="2520950" cy="2305050"/>
            <a:chOff x="2688" y="1296"/>
            <a:chExt cx="1304" cy="1200"/>
          </a:xfrm>
        </p:grpSpPr>
        <p:grpSp>
          <p:nvGrpSpPr>
            <p:cNvPr id="152621" name="Group 45"/>
            <p:cNvGrpSpPr/>
            <p:nvPr/>
          </p:nvGrpSpPr>
          <p:grpSpPr bwMode="auto">
            <a:xfrm>
              <a:off x="2744" y="1344"/>
              <a:ext cx="1248" cy="1104"/>
              <a:chOff x="2736" y="1344"/>
              <a:chExt cx="1248" cy="1104"/>
            </a:xfrm>
          </p:grpSpPr>
          <p:sp>
            <p:nvSpPr>
              <p:cNvPr id="152622" name="Line 46"/>
              <p:cNvSpPr>
                <a:spLocks noChangeShapeType="1"/>
              </p:cNvSpPr>
              <p:nvPr/>
            </p:nvSpPr>
            <p:spPr bwMode="auto">
              <a:xfrm>
                <a:off x="2736" y="1344"/>
                <a:ext cx="12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623" name="Line 47"/>
              <p:cNvSpPr>
                <a:spLocks noChangeShapeType="1"/>
              </p:cNvSpPr>
              <p:nvPr/>
            </p:nvSpPr>
            <p:spPr bwMode="auto">
              <a:xfrm>
                <a:off x="2736" y="2448"/>
                <a:ext cx="12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624" name="Line 48"/>
              <p:cNvSpPr>
                <a:spLocks noChangeShapeType="1"/>
              </p:cNvSpPr>
              <p:nvPr/>
            </p:nvSpPr>
            <p:spPr bwMode="auto">
              <a:xfrm>
                <a:off x="2784" y="1920"/>
                <a:ext cx="12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625" name="Line 49"/>
              <p:cNvSpPr>
                <a:spLocks noChangeShapeType="1"/>
              </p:cNvSpPr>
              <p:nvPr/>
            </p:nvSpPr>
            <p:spPr bwMode="auto">
              <a:xfrm>
                <a:off x="2736" y="1344"/>
                <a:ext cx="0" cy="11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626" name="Line 50"/>
              <p:cNvSpPr>
                <a:spLocks noChangeShapeType="1"/>
              </p:cNvSpPr>
              <p:nvPr/>
            </p:nvSpPr>
            <p:spPr bwMode="auto">
              <a:xfrm>
                <a:off x="3072" y="1344"/>
                <a:ext cx="0" cy="11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627" name="Line 51"/>
              <p:cNvSpPr>
                <a:spLocks noChangeShapeType="1"/>
              </p:cNvSpPr>
              <p:nvPr/>
            </p:nvSpPr>
            <p:spPr bwMode="auto">
              <a:xfrm>
                <a:off x="3360" y="1344"/>
                <a:ext cx="0" cy="11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628" name="Line 52"/>
              <p:cNvSpPr>
                <a:spLocks noChangeShapeType="1"/>
              </p:cNvSpPr>
              <p:nvPr/>
            </p:nvSpPr>
            <p:spPr bwMode="auto">
              <a:xfrm>
                <a:off x="3936" y="1344"/>
                <a:ext cx="0" cy="11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2629" name="Line 53"/>
              <p:cNvSpPr>
                <a:spLocks noChangeShapeType="1"/>
              </p:cNvSpPr>
              <p:nvPr/>
            </p:nvSpPr>
            <p:spPr bwMode="auto">
              <a:xfrm>
                <a:off x="3648" y="1344"/>
                <a:ext cx="0" cy="11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52630" name="Group 54"/>
            <p:cNvGrpSpPr/>
            <p:nvPr/>
          </p:nvGrpSpPr>
          <p:grpSpPr bwMode="auto">
            <a:xfrm>
              <a:off x="2688" y="1296"/>
              <a:ext cx="1296" cy="1200"/>
              <a:chOff x="2688" y="1296"/>
              <a:chExt cx="1296" cy="1200"/>
            </a:xfrm>
          </p:grpSpPr>
          <p:sp>
            <p:nvSpPr>
              <p:cNvPr id="152631" name="Oval 55"/>
              <p:cNvSpPr>
                <a:spLocks noChangeArrowheads="1"/>
              </p:cNvSpPr>
              <p:nvPr/>
            </p:nvSpPr>
            <p:spPr bwMode="auto">
              <a:xfrm>
                <a:off x="2688"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2" name="Oval 56"/>
              <p:cNvSpPr>
                <a:spLocks noChangeArrowheads="1"/>
              </p:cNvSpPr>
              <p:nvPr/>
            </p:nvSpPr>
            <p:spPr bwMode="auto">
              <a:xfrm>
                <a:off x="3024"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3" name="Oval 57"/>
              <p:cNvSpPr>
                <a:spLocks noChangeArrowheads="1"/>
              </p:cNvSpPr>
              <p:nvPr/>
            </p:nvSpPr>
            <p:spPr bwMode="auto">
              <a:xfrm>
                <a:off x="3024"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4" name="Oval 58"/>
              <p:cNvSpPr>
                <a:spLocks noChangeArrowheads="1"/>
              </p:cNvSpPr>
              <p:nvPr/>
            </p:nvSpPr>
            <p:spPr bwMode="auto">
              <a:xfrm>
                <a:off x="3312"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5" name="Oval 59"/>
              <p:cNvSpPr>
                <a:spLocks noChangeArrowheads="1"/>
              </p:cNvSpPr>
              <p:nvPr/>
            </p:nvSpPr>
            <p:spPr bwMode="auto">
              <a:xfrm>
                <a:off x="3600"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6" name="Oval 60"/>
              <p:cNvSpPr>
                <a:spLocks noChangeArrowheads="1"/>
              </p:cNvSpPr>
              <p:nvPr/>
            </p:nvSpPr>
            <p:spPr bwMode="auto">
              <a:xfrm>
                <a:off x="3888" y="1296"/>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7" name="Oval 61"/>
              <p:cNvSpPr>
                <a:spLocks noChangeArrowheads="1"/>
              </p:cNvSpPr>
              <p:nvPr/>
            </p:nvSpPr>
            <p:spPr bwMode="auto">
              <a:xfrm>
                <a:off x="3312"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8" name="Oval 62"/>
              <p:cNvSpPr>
                <a:spLocks noChangeArrowheads="1"/>
              </p:cNvSpPr>
              <p:nvPr/>
            </p:nvSpPr>
            <p:spPr bwMode="auto">
              <a:xfrm>
                <a:off x="3600"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39" name="Oval 63"/>
              <p:cNvSpPr>
                <a:spLocks noChangeArrowheads="1"/>
              </p:cNvSpPr>
              <p:nvPr/>
            </p:nvSpPr>
            <p:spPr bwMode="auto">
              <a:xfrm>
                <a:off x="3888"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0" name="Oval 64"/>
              <p:cNvSpPr>
                <a:spLocks noChangeArrowheads="1"/>
              </p:cNvSpPr>
              <p:nvPr/>
            </p:nvSpPr>
            <p:spPr bwMode="auto">
              <a:xfrm>
                <a:off x="2688"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1" name="Oval 65"/>
              <p:cNvSpPr>
                <a:spLocks noChangeArrowheads="1"/>
              </p:cNvSpPr>
              <p:nvPr/>
            </p:nvSpPr>
            <p:spPr bwMode="auto">
              <a:xfrm>
                <a:off x="3024"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2" name="Oval 66"/>
              <p:cNvSpPr>
                <a:spLocks noChangeArrowheads="1"/>
              </p:cNvSpPr>
              <p:nvPr/>
            </p:nvSpPr>
            <p:spPr bwMode="auto">
              <a:xfrm>
                <a:off x="3312"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3" name="Oval 67"/>
              <p:cNvSpPr>
                <a:spLocks noChangeArrowheads="1"/>
              </p:cNvSpPr>
              <p:nvPr/>
            </p:nvSpPr>
            <p:spPr bwMode="auto">
              <a:xfrm>
                <a:off x="3600"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4" name="Oval 68"/>
              <p:cNvSpPr>
                <a:spLocks noChangeArrowheads="1"/>
              </p:cNvSpPr>
              <p:nvPr/>
            </p:nvSpPr>
            <p:spPr bwMode="auto">
              <a:xfrm>
                <a:off x="3888" y="2400"/>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5" name="Oval 69"/>
              <p:cNvSpPr>
                <a:spLocks noChangeArrowheads="1"/>
              </p:cNvSpPr>
              <p:nvPr/>
            </p:nvSpPr>
            <p:spPr bwMode="auto">
              <a:xfrm>
                <a:off x="2880"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6" name="Oval 70"/>
              <p:cNvSpPr>
                <a:spLocks noChangeArrowheads="1"/>
              </p:cNvSpPr>
              <p:nvPr/>
            </p:nvSpPr>
            <p:spPr bwMode="auto">
              <a:xfrm>
                <a:off x="3168"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7" name="Oval 71"/>
              <p:cNvSpPr>
                <a:spLocks noChangeArrowheads="1"/>
              </p:cNvSpPr>
              <p:nvPr/>
            </p:nvSpPr>
            <p:spPr bwMode="auto">
              <a:xfrm>
                <a:off x="3456"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8" name="Oval 72"/>
              <p:cNvSpPr>
                <a:spLocks noChangeArrowheads="1"/>
              </p:cNvSpPr>
              <p:nvPr/>
            </p:nvSpPr>
            <p:spPr bwMode="auto">
              <a:xfrm>
                <a:off x="3744" y="1584"/>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49" name="Oval 73"/>
              <p:cNvSpPr>
                <a:spLocks noChangeArrowheads="1"/>
              </p:cNvSpPr>
              <p:nvPr/>
            </p:nvSpPr>
            <p:spPr bwMode="auto">
              <a:xfrm>
                <a:off x="2880"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50" name="Oval 74"/>
              <p:cNvSpPr>
                <a:spLocks noChangeArrowheads="1"/>
              </p:cNvSpPr>
              <p:nvPr/>
            </p:nvSpPr>
            <p:spPr bwMode="auto">
              <a:xfrm>
                <a:off x="3168"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51" name="Oval 75"/>
              <p:cNvSpPr>
                <a:spLocks noChangeArrowheads="1"/>
              </p:cNvSpPr>
              <p:nvPr/>
            </p:nvSpPr>
            <p:spPr bwMode="auto">
              <a:xfrm>
                <a:off x="3456"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52" name="Oval 76"/>
              <p:cNvSpPr>
                <a:spLocks noChangeArrowheads="1"/>
              </p:cNvSpPr>
              <p:nvPr/>
            </p:nvSpPr>
            <p:spPr bwMode="auto">
              <a:xfrm>
                <a:off x="3744" y="211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2653" name="Oval 77"/>
              <p:cNvSpPr>
                <a:spLocks noChangeArrowheads="1"/>
              </p:cNvSpPr>
              <p:nvPr/>
            </p:nvSpPr>
            <p:spPr bwMode="auto">
              <a:xfrm>
                <a:off x="2688" y="1872"/>
                <a:ext cx="96" cy="96"/>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grpSp>
      </p:grpSp>
      <p:sp>
        <p:nvSpPr>
          <p:cNvPr id="152655" name="Rectangle 79"/>
          <p:cNvSpPr>
            <a:spLocks noChangeArrowheads="1"/>
          </p:cNvSpPr>
          <p:nvPr/>
        </p:nvSpPr>
        <p:spPr bwMode="auto">
          <a:xfrm>
            <a:off x="3898265" y="3538855"/>
            <a:ext cx="10795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chemeClr val="hlink"/>
              </a:buClr>
              <a:buSzPct val="80000"/>
              <a:buFont typeface="Wingdings" panose="05000000000000000000" pitchFamily="2" charset="2"/>
              <a:buNone/>
            </a:pPr>
            <a:r>
              <a:rPr lang="en-US" altLang="zh-CN" sz="2400">
                <a:effectLst>
                  <a:outerShdw blurRad="38100" dist="38100" dir="2700000" algn="tl">
                    <a:srgbClr val="000000"/>
                  </a:outerShdw>
                </a:effectLst>
              </a:rPr>
              <a:t>mm2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2659"/>
                                        </p:tgtEl>
                                        <p:attrNameLst>
                                          <p:attrName>style.visibility</p:attrName>
                                        </p:attrNameLst>
                                      </p:cBhvr>
                                      <p:to>
                                        <p:strVal val="visible"/>
                                      </p:to>
                                    </p:set>
                                    <p:anim calcmode="lin" valueType="num">
                                      <p:cBhvr additive="base">
                                        <p:cTn id="7" dur="1000" fill="hold"/>
                                        <p:tgtEl>
                                          <p:spTgt spid="152659"/>
                                        </p:tgtEl>
                                        <p:attrNameLst>
                                          <p:attrName>ppt_x</p:attrName>
                                        </p:attrNameLst>
                                      </p:cBhvr>
                                      <p:tavLst>
                                        <p:tav tm="0">
                                          <p:val>
                                            <p:strVal val="0-#ppt_w/2"/>
                                          </p:val>
                                        </p:tav>
                                        <p:tav tm="100000">
                                          <p:val>
                                            <p:strVal val="#ppt_x"/>
                                          </p:val>
                                        </p:tav>
                                      </p:tavLst>
                                    </p:anim>
                                    <p:anim calcmode="lin" valueType="num">
                                      <p:cBhvr additive="base">
                                        <p:cTn id="8" dur="1000" fill="hold"/>
                                        <p:tgtEl>
                                          <p:spTgt spid="1526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52620"/>
                                        </p:tgtEl>
                                        <p:attrNameLst>
                                          <p:attrName>style.visibility</p:attrName>
                                        </p:attrNameLst>
                                      </p:cBhvr>
                                      <p:to>
                                        <p:strVal val="visible"/>
                                      </p:to>
                                    </p:set>
                                    <p:anim calcmode="lin" valueType="num">
                                      <p:cBhvr additive="base">
                                        <p:cTn id="13" dur="1000" fill="hold"/>
                                        <p:tgtEl>
                                          <p:spTgt spid="152620"/>
                                        </p:tgtEl>
                                        <p:attrNameLst>
                                          <p:attrName>ppt_x</p:attrName>
                                        </p:attrNameLst>
                                      </p:cBhvr>
                                      <p:tavLst>
                                        <p:tav tm="0">
                                          <p:val>
                                            <p:strVal val="1+#ppt_w/2"/>
                                          </p:val>
                                        </p:tav>
                                        <p:tav tm="100000">
                                          <p:val>
                                            <p:strVal val="#ppt_x"/>
                                          </p:val>
                                        </p:tav>
                                      </p:tavLst>
                                    </p:anim>
                                    <p:anim calcmode="lin" valueType="num">
                                      <p:cBhvr additive="base">
                                        <p:cTn id="14" dur="1000" fill="hold"/>
                                        <p:tgtEl>
                                          <p:spTgt spid="1526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Straight Arrow Connector 58"/>
          <p:cNvCxnSpPr>
            <a:stCxn id="20" idx="2"/>
            <a:endCxn id="19" idx="6"/>
          </p:cNvCxnSpPr>
          <p:nvPr/>
        </p:nvCxnSpPr>
        <p:spPr>
          <a:xfrm flipH="1">
            <a:off x="1501503" y="2685257"/>
            <a:ext cx="467196"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52400"/>
            <a:ext cx="8075240" cy="1371600"/>
          </a:xfrm>
        </p:spPr>
        <p:txBody>
          <a:bodyPr>
            <a:normAutofit/>
          </a:bodyPr>
          <a:lstStyle/>
          <a:p>
            <a:r>
              <a:rPr lang="en-US" cap="none" dirty="0">
                <a:sym typeface="+mn-ea"/>
              </a:rPr>
              <a:t>Practice 2</a:t>
            </a:r>
            <a:r>
              <a:rPr lang="zh-CN" altLang="en-US" cap="none" dirty="0">
                <a:sym typeface="+mn-ea"/>
              </a:rPr>
              <a:t>：</a:t>
            </a:r>
            <a:r>
              <a:rPr lang="en-US" altLang="zh-CN" cap="none" dirty="0">
                <a:sym typeface="+mn-ea"/>
              </a:rPr>
              <a:t>choose the unit cell of  2-D hexagonal lattice</a:t>
            </a:r>
            <a:endParaRPr lang="en-US" cap="none" dirty="0"/>
          </a:p>
        </p:txBody>
      </p:sp>
      <p:sp>
        <p:nvSpPr>
          <p:cNvPr id="6" name="Oval 22"/>
          <p:cNvSpPr>
            <a:spLocks noChangeArrowheads="1"/>
          </p:cNvSpPr>
          <p:nvPr/>
        </p:nvSpPr>
        <p:spPr bwMode="auto">
          <a:xfrm>
            <a:off x="1664543" y="2047875"/>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 name="Oval 23"/>
          <p:cNvSpPr>
            <a:spLocks noChangeArrowheads="1"/>
          </p:cNvSpPr>
          <p:nvPr/>
        </p:nvSpPr>
        <p:spPr bwMode="auto">
          <a:xfrm>
            <a:off x="1664543" y="3132138"/>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8" name="Oval 24"/>
          <p:cNvSpPr>
            <a:spLocks noChangeArrowheads="1"/>
          </p:cNvSpPr>
          <p:nvPr/>
        </p:nvSpPr>
        <p:spPr bwMode="auto">
          <a:xfrm>
            <a:off x="2339380" y="2060575"/>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1" name="Oval 27"/>
          <p:cNvSpPr>
            <a:spLocks noChangeArrowheads="1"/>
          </p:cNvSpPr>
          <p:nvPr/>
        </p:nvSpPr>
        <p:spPr bwMode="auto">
          <a:xfrm>
            <a:off x="2310805" y="3132138"/>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9" name="Oval 35"/>
          <p:cNvSpPr>
            <a:spLocks noChangeArrowheads="1"/>
          </p:cNvSpPr>
          <p:nvPr/>
        </p:nvSpPr>
        <p:spPr bwMode="auto">
          <a:xfrm>
            <a:off x="1331640"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0" name="Oval 36"/>
          <p:cNvSpPr>
            <a:spLocks noChangeArrowheads="1"/>
          </p:cNvSpPr>
          <p:nvPr/>
        </p:nvSpPr>
        <p:spPr bwMode="auto">
          <a:xfrm>
            <a:off x="1968699" y="2595563"/>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1" name="Oval 37"/>
          <p:cNvSpPr>
            <a:spLocks noChangeArrowheads="1"/>
          </p:cNvSpPr>
          <p:nvPr/>
        </p:nvSpPr>
        <p:spPr bwMode="auto">
          <a:xfrm>
            <a:off x="2610843"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8" name="Oval 22"/>
          <p:cNvSpPr>
            <a:spLocks noChangeArrowheads="1"/>
          </p:cNvSpPr>
          <p:nvPr/>
        </p:nvSpPr>
        <p:spPr bwMode="auto">
          <a:xfrm>
            <a:off x="2950418" y="2047875"/>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9" name="Oval 23"/>
          <p:cNvSpPr>
            <a:spLocks noChangeArrowheads="1"/>
          </p:cNvSpPr>
          <p:nvPr/>
        </p:nvSpPr>
        <p:spPr bwMode="auto">
          <a:xfrm>
            <a:off x="2950418" y="3132138"/>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0" name="Oval 24"/>
          <p:cNvSpPr>
            <a:spLocks noChangeArrowheads="1"/>
          </p:cNvSpPr>
          <p:nvPr/>
        </p:nvSpPr>
        <p:spPr bwMode="auto">
          <a:xfrm>
            <a:off x="3625255" y="2060575"/>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1" name="Oval 27"/>
          <p:cNvSpPr>
            <a:spLocks noChangeArrowheads="1"/>
          </p:cNvSpPr>
          <p:nvPr/>
        </p:nvSpPr>
        <p:spPr bwMode="auto">
          <a:xfrm>
            <a:off x="3596680" y="3132138"/>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3" name="Oval 36"/>
          <p:cNvSpPr>
            <a:spLocks noChangeArrowheads="1"/>
          </p:cNvSpPr>
          <p:nvPr/>
        </p:nvSpPr>
        <p:spPr bwMode="auto">
          <a:xfrm>
            <a:off x="3254574" y="2595563"/>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4" name="Oval 37"/>
          <p:cNvSpPr>
            <a:spLocks noChangeArrowheads="1"/>
          </p:cNvSpPr>
          <p:nvPr/>
        </p:nvSpPr>
        <p:spPr bwMode="auto">
          <a:xfrm>
            <a:off x="3896718"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6" name="Oval 23"/>
          <p:cNvSpPr>
            <a:spLocks noChangeArrowheads="1"/>
          </p:cNvSpPr>
          <p:nvPr/>
        </p:nvSpPr>
        <p:spPr bwMode="auto">
          <a:xfrm>
            <a:off x="1664543" y="4208463"/>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8" name="Oval 27"/>
          <p:cNvSpPr>
            <a:spLocks noChangeArrowheads="1"/>
          </p:cNvSpPr>
          <p:nvPr/>
        </p:nvSpPr>
        <p:spPr bwMode="auto">
          <a:xfrm>
            <a:off x="2310805" y="4208463"/>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9" name="Oval 35"/>
          <p:cNvSpPr>
            <a:spLocks noChangeArrowheads="1"/>
          </p:cNvSpPr>
          <p:nvPr/>
        </p:nvSpPr>
        <p:spPr bwMode="auto">
          <a:xfrm>
            <a:off x="1331640"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0" name="Oval 36"/>
          <p:cNvSpPr>
            <a:spLocks noChangeArrowheads="1"/>
          </p:cNvSpPr>
          <p:nvPr/>
        </p:nvSpPr>
        <p:spPr bwMode="auto">
          <a:xfrm>
            <a:off x="1968699" y="3671888"/>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1" name="Oval 37"/>
          <p:cNvSpPr>
            <a:spLocks noChangeArrowheads="1"/>
          </p:cNvSpPr>
          <p:nvPr/>
        </p:nvSpPr>
        <p:spPr bwMode="auto">
          <a:xfrm>
            <a:off x="2610843"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3" name="Oval 23"/>
          <p:cNvSpPr>
            <a:spLocks noChangeArrowheads="1"/>
          </p:cNvSpPr>
          <p:nvPr/>
        </p:nvSpPr>
        <p:spPr bwMode="auto">
          <a:xfrm>
            <a:off x="2950418" y="4208463"/>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5" name="Oval 27"/>
          <p:cNvSpPr>
            <a:spLocks noChangeArrowheads="1"/>
          </p:cNvSpPr>
          <p:nvPr/>
        </p:nvSpPr>
        <p:spPr bwMode="auto">
          <a:xfrm>
            <a:off x="3596680" y="4208463"/>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6" name="Oval 36"/>
          <p:cNvSpPr>
            <a:spLocks noChangeArrowheads="1"/>
          </p:cNvSpPr>
          <p:nvPr/>
        </p:nvSpPr>
        <p:spPr bwMode="auto">
          <a:xfrm>
            <a:off x="3254574" y="3671888"/>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7" name="Oval 37"/>
          <p:cNvSpPr>
            <a:spLocks noChangeArrowheads="1"/>
          </p:cNvSpPr>
          <p:nvPr/>
        </p:nvSpPr>
        <p:spPr bwMode="auto">
          <a:xfrm>
            <a:off x="3896718"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8" name="Oval 22"/>
          <p:cNvSpPr>
            <a:spLocks noChangeArrowheads="1"/>
          </p:cNvSpPr>
          <p:nvPr/>
        </p:nvSpPr>
        <p:spPr bwMode="auto">
          <a:xfrm>
            <a:off x="4264868" y="2047875"/>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9" name="Oval 23"/>
          <p:cNvSpPr>
            <a:spLocks noChangeArrowheads="1"/>
          </p:cNvSpPr>
          <p:nvPr/>
        </p:nvSpPr>
        <p:spPr bwMode="auto">
          <a:xfrm>
            <a:off x="4264868" y="3132138"/>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0" name="Oval 24"/>
          <p:cNvSpPr>
            <a:spLocks noChangeArrowheads="1"/>
          </p:cNvSpPr>
          <p:nvPr/>
        </p:nvSpPr>
        <p:spPr bwMode="auto">
          <a:xfrm>
            <a:off x="4939705" y="2060575"/>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1" name="Oval 27"/>
          <p:cNvSpPr>
            <a:spLocks noChangeArrowheads="1"/>
          </p:cNvSpPr>
          <p:nvPr/>
        </p:nvSpPr>
        <p:spPr bwMode="auto">
          <a:xfrm>
            <a:off x="4911130" y="3132138"/>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2" name="Oval 36"/>
          <p:cNvSpPr>
            <a:spLocks noChangeArrowheads="1"/>
          </p:cNvSpPr>
          <p:nvPr/>
        </p:nvSpPr>
        <p:spPr bwMode="auto">
          <a:xfrm>
            <a:off x="4569024" y="2595563"/>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3" name="Oval 37"/>
          <p:cNvSpPr>
            <a:spLocks noChangeArrowheads="1"/>
          </p:cNvSpPr>
          <p:nvPr/>
        </p:nvSpPr>
        <p:spPr bwMode="auto">
          <a:xfrm>
            <a:off x="5211168"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4" name="Oval 23"/>
          <p:cNvSpPr>
            <a:spLocks noChangeArrowheads="1"/>
          </p:cNvSpPr>
          <p:nvPr/>
        </p:nvSpPr>
        <p:spPr bwMode="auto">
          <a:xfrm>
            <a:off x="4264868" y="4208463"/>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5" name="Oval 27"/>
          <p:cNvSpPr>
            <a:spLocks noChangeArrowheads="1"/>
          </p:cNvSpPr>
          <p:nvPr/>
        </p:nvSpPr>
        <p:spPr bwMode="auto">
          <a:xfrm>
            <a:off x="4911130" y="4208463"/>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6" name="Oval 36"/>
          <p:cNvSpPr>
            <a:spLocks noChangeArrowheads="1"/>
          </p:cNvSpPr>
          <p:nvPr/>
        </p:nvSpPr>
        <p:spPr bwMode="auto">
          <a:xfrm>
            <a:off x="4569024" y="3671888"/>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7" name="Oval 37"/>
          <p:cNvSpPr>
            <a:spLocks noChangeArrowheads="1"/>
          </p:cNvSpPr>
          <p:nvPr/>
        </p:nvSpPr>
        <p:spPr bwMode="auto">
          <a:xfrm>
            <a:off x="5211168"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cxnSp>
        <p:nvCxnSpPr>
          <p:cNvPr id="62" name="Straight Arrow Connector 61"/>
          <p:cNvCxnSpPr>
            <a:stCxn id="20" idx="7"/>
            <a:endCxn id="8" idx="3"/>
          </p:cNvCxnSpPr>
          <p:nvPr/>
        </p:nvCxnSpPr>
        <p:spPr>
          <a:xfrm flipV="1">
            <a:off x="2115041" y="2212337"/>
            <a:ext cx="249215" cy="40949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20" idx="5"/>
            <a:endCxn id="11" idx="1"/>
          </p:cNvCxnSpPr>
          <p:nvPr/>
        </p:nvCxnSpPr>
        <p:spPr>
          <a:xfrm>
            <a:off x="2115041" y="2748680"/>
            <a:ext cx="220640" cy="40949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Straight Arrow Connector 58"/>
          <p:cNvCxnSpPr>
            <a:stCxn id="20" idx="2"/>
            <a:endCxn id="19" idx="6"/>
          </p:cNvCxnSpPr>
          <p:nvPr/>
        </p:nvCxnSpPr>
        <p:spPr>
          <a:xfrm flipH="1">
            <a:off x="1501503" y="2685257"/>
            <a:ext cx="467196"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Oval 22"/>
          <p:cNvSpPr>
            <a:spLocks noChangeArrowheads="1"/>
          </p:cNvSpPr>
          <p:nvPr/>
        </p:nvSpPr>
        <p:spPr bwMode="auto">
          <a:xfrm>
            <a:off x="1664543" y="2047875"/>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 name="Oval 23"/>
          <p:cNvSpPr>
            <a:spLocks noChangeArrowheads="1"/>
          </p:cNvSpPr>
          <p:nvPr/>
        </p:nvSpPr>
        <p:spPr bwMode="auto">
          <a:xfrm>
            <a:off x="1664543" y="3132138"/>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8" name="Oval 24"/>
          <p:cNvSpPr>
            <a:spLocks noChangeArrowheads="1"/>
          </p:cNvSpPr>
          <p:nvPr/>
        </p:nvSpPr>
        <p:spPr bwMode="auto">
          <a:xfrm>
            <a:off x="2339380" y="2060575"/>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1" name="Oval 27"/>
          <p:cNvSpPr>
            <a:spLocks noChangeArrowheads="1"/>
          </p:cNvSpPr>
          <p:nvPr/>
        </p:nvSpPr>
        <p:spPr bwMode="auto">
          <a:xfrm>
            <a:off x="2310805" y="3132138"/>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9" name="Oval 35"/>
          <p:cNvSpPr>
            <a:spLocks noChangeArrowheads="1"/>
          </p:cNvSpPr>
          <p:nvPr/>
        </p:nvSpPr>
        <p:spPr bwMode="auto">
          <a:xfrm>
            <a:off x="1331640"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0" name="Oval 36"/>
          <p:cNvSpPr>
            <a:spLocks noChangeArrowheads="1"/>
          </p:cNvSpPr>
          <p:nvPr/>
        </p:nvSpPr>
        <p:spPr bwMode="auto">
          <a:xfrm>
            <a:off x="1968699" y="2595563"/>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1" name="Oval 37"/>
          <p:cNvSpPr>
            <a:spLocks noChangeArrowheads="1"/>
          </p:cNvSpPr>
          <p:nvPr/>
        </p:nvSpPr>
        <p:spPr bwMode="auto">
          <a:xfrm>
            <a:off x="2610843"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8" name="Oval 22"/>
          <p:cNvSpPr>
            <a:spLocks noChangeArrowheads="1"/>
          </p:cNvSpPr>
          <p:nvPr/>
        </p:nvSpPr>
        <p:spPr bwMode="auto">
          <a:xfrm>
            <a:off x="2950418" y="2047875"/>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9" name="Oval 23"/>
          <p:cNvSpPr>
            <a:spLocks noChangeArrowheads="1"/>
          </p:cNvSpPr>
          <p:nvPr/>
        </p:nvSpPr>
        <p:spPr bwMode="auto">
          <a:xfrm>
            <a:off x="2950418" y="3132138"/>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0" name="Oval 24"/>
          <p:cNvSpPr>
            <a:spLocks noChangeArrowheads="1"/>
          </p:cNvSpPr>
          <p:nvPr/>
        </p:nvSpPr>
        <p:spPr bwMode="auto">
          <a:xfrm>
            <a:off x="3625255" y="2060575"/>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1" name="Oval 27"/>
          <p:cNvSpPr>
            <a:spLocks noChangeArrowheads="1"/>
          </p:cNvSpPr>
          <p:nvPr/>
        </p:nvSpPr>
        <p:spPr bwMode="auto">
          <a:xfrm>
            <a:off x="3596680" y="3132138"/>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3" name="Oval 36"/>
          <p:cNvSpPr>
            <a:spLocks noChangeArrowheads="1"/>
          </p:cNvSpPr>
          <p:nvPr/>
        </p:nvSpPr>
        <p:spPr bwMode="auto">
          <a:xfrm>
            <a:off x="3254574" y="2595563"/>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4" name="Oval 37"/>
          <p:cNvSpPr>
            <a:spLocks noChangeArrowheads="1"/>
          </p:cNvSpPr>
          <p:nvPr/>
        </p:nvSpPr>
        <p:spPr bwMode="auto">
          <a:xfrm>
            <a:off x="3896718"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6" name="Oval 23"/>
          <p:cNvSpPr>
            <a:spLocks noChangeArrowheads="1"/>
          </p:cNvSpPr>
          <p:nvPr/>
        </p:nvSpPr>
        <p:spPr bwMode="auto">
          <a:xfrm>
            <a:off x="1664543" y="4208463"/>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8" name="Oval 27"/>
          <p:cNvSpPr>
            <a:spLocks noChangeArrowheads="1"/>
          </p:cNvSpPr>
          <p:nvPr/>
        </p:nvSpPr>
        <p:spPr bwMode="auto">
          <a:xfrm>
            <a:off x="2310805" y="4208463"/>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9" name="Oval 35"/>
          <p:cNvSpPr>
            <a:spLocks noChangeArrowheads="1"/>
          </p:cNvSpPr>
          <p:nvPr/>
        </p:nvSpPr>
        <p:spPr bwMode="auto">
          <a:xfrm>
            <a:off x="1331640"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0" name="Oval 36"/>
          <p:cNvSpPr>
            <a:spLocks noChangeArrowheads="1"/>
          </p:cNvSpPr>
          <p:nvPr/>
        </p:nvSpPr>
        <p:spPr bwMode="auto">
          <a:xfrm>
            <a:off x="1968699" y="3671888"/>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1" name="Oval 37"/>
          <p:cNvSpPr>
            <a:spLocks noChangeArrowheads="1"/>
          </p:cNvSpPr>
          <p:nvPr/>
        </p:nvSpPr>
        <p:spPr bwMode="auto">
          <a:xfrm>
            <a:off x="2610843"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3" name="Oval 23"/>
          <p:cNvSpPr>
            <a:spLocks noChangeArrowheads="1"/>
          </p:cNvSpPr>
          <p:nvPr/>
        </p:nvSpPr>
        <p:spPr bwMode="auto">
          <a:xfrm>
            <a:off x="2950418" y="4208463"/>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5" name="Oval 27"/>
          <p:cNvSpPr>
            <a:spLocks noChangeArrowheads="1"/>
          </p:cNvSpPr>
          <p:nvPr/>
        </p:nvSpPr>
        <p:spPr bwMode="auto">
          <a:xfrm>
            <a:off x="3596680" y="4208463"/>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6" name="Oval 36"/>
          <p:cNvSpPr>
            <a:spLocks noChangeArrowheads="1"/>
          </p:cNvSpPr>
          <p:nvPr/>
        </p:nvSpPr>
        <p:spPr bwMode="auto">
          <a:xfrm>
            <a:off x="3254574" y="3671888"/>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7" name="Oval 37"/>
          <p:cNvSpPr>
            <a:spLocks noChangeArrowheads="1"/>
          </p:cNvSpPr>
          <p:nvPr/>
        </p:nvSpPr>
        <p:spPr bwMode="auto">
          <a:xfrm>
            <a:off x="3896718"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8" name="Oval 22"/>
          <p:cNvSpPr>
            <a:spLocks noChangeArrowheads="1"/>
          </p:cNvSpPr>
          <p:nvPr/>
        </p:nvSpPr>
        <p:spPr bwMode="auto">
          <a:xfrm>
            <a:off x="4264868" y="2047875"/>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9" name="Oval 23"/>
          <p:cNvSpPr>
            <a:spLocks noChangeArrowheads="1"/>
          </p:cNvSpPr>
          <p:nvPr/>
        </p:nvSpPr>
        <p:spPr bwMode="auto">
          <a:xfrm>
            <a:off x="4264868" y="3132138"/>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0" name="Oval 24"/>
          <p:cNvSpPr>
            <a:spLocks noChangeArrowheads="1"/>
          </p:cNvSpPr>
          <p:nvPr/>
        </p:nvSpPr>
        <p:spPr bwMode="auto">
          <a:xfrm>
            <a:off x="4939705" y="2060575"/>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1" name="Oval 27"/>
          <p:cNvSpPr>
            <a:spLocks noChangeArrowheads="1"/>
          </p:cNvSpPr>
          <p:nvPr/>
        </p:nvSpPr>
        <p:spPr bwMode="auto">
          <a:xfrm>
            <a:off x="4911130" y="3132138"/>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2" name="Oval 36"/>
          <p:cNvSpPr>
            <a:spLocks noChangeArrowheads="1"/>
          </p:cNvSpPr>
          <p:nvPr/>
        </p:nvSpPr>
        <p:spPr bwMode="auto">
          <a:xfrm>
            <a:off x="4569024" y="2595563"/>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3" name="Oval 37"/>
          <p:cNvSpPr>
            <a:spLocks noChangeArrowheads="1"/>
          </p:cNvSpPr>
          <p:nvPr/>
        </p:nvSpPr>
        <p:spPr bwMode="auto">
          <a:xfrm>
            <a:off x="5211168" y="2595563"/>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4" name="Oval 23"/>
          <p:cNvSpPr>
            <a:spLocks noChangeArrowheads="1"/>
          </p:cNvSpPr>
          <p:nvPr/>
        </p:nvSpPr>
        <p:spPr bwMode="auto">
          <a:xfrm>
            <a:off x="4264868" y="4208463"/>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5" name="Oval 27"/>
          <p:cNvSpPr>
            <a:spLocks noChangeArrowheads="1"/>
          </p:cNvSpPr>
          <p:nvPr/>
        </p:nvSpPr>
        <p:spPr bwMode="auto">
          <a:xfrm>
            <a:off x="4911130" y="4208463"/>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6" name="Oval 36"/>
          <p:cNvSpPr>
            <a:spLocks noChangeArrowheads="1"/>
          </p:cNvSpPr>
          <p:nvPr/>
        </p:nvSpPr>
        <p:spPr bwMode="auto">
          <a:xfrm>
            <a:off x="4569024" y="3671888"/>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7" name="Oval 37"/>
          <p:cNvSpPr>
            <a:spLocks noChangeArrowheads="1"/>
          </p:cNvSpPr>
          <p:nvPr/>
        </p:nvSpPr>
        <p:spPr bwMode="auto">
          <a:xfrm>
            <a:off x="5211168" y="3671888"/>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cxnSp>
        <p:nvCxnSpPr>
          <p:cNvPr id="62" name="Straight Arrow Connector 61"/>
          <p:cNvCxnSpPr>
            <a:stCxn id="20" idx="7"/>
            <a:endCxn id="8" idx="3"/>
          </p:cNvCxnSpPr>
          <p:nvPr/>
        </p:nvCxnSpPr>
        <p:spPr>
          <a:xfrm flipV="1">
            <a:off x="2115041" y="2212337"/>
            <a:ext cx="249215" cy="40949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20" idx="5"/>
            <a:endCxn id="11" idx="1"/>
          </p:cNvCxnSpPr>
          <p:nvPr/>
        </p:nvCxnSpPr>
        <p:spPr>
          <a:xfrm>
            <a:off x="2115041" y="2748680"/>
            <a:ext cx="220640" cy="40949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 name="Freeform 3"/>
          <p:cNvSpPr/>
          <p:nvPr/>
        </p:nvSpPr>
        <p:spPr>
          <a:xfrm>
            <a:off x="2699309" y="2136038"/>
            <a:ext cx="1294790" cy="1089965"/>
          </a:xfrm>
          <a:custGeom>
            <a:avLst/>
            <a:gdLst>
              <a:gd name="connsiteX0" fmla="*/ 336499 w 1294790"/>
              <a:gd name="connsiteY0" fmla="*/ 0 h 1089965"/>
              <a:gd name="connsiteX1" fmla="*/ 1024128 w 1294790"/>
              <a:gd name="connsiteY1" fmla="*/ 7316 h 1089965"/>
              <a:gd name="connsiteX2" fmla="*/ 1294790 w 1294790"/>
              <a:gd name="connsiteY2" fmla="*/ 555956 h 1089965"/>
              <a:gd name="connsiteX3" fmla="*/ 987552 w 1294790"/>
              <a:gd name="connsiteY3" fmla="*/ 1089965 h 1089965"/>
              <a:gd name="connsiteX4" fmla="*/ 343814 w 1294790"/>
              <a:gd name="connsiteY4" fmla="*/ 1082650 h 1089965"/>
              <a:gd name="connsiteX5" fmla="*/ 0 w 1294790"/>
              <a:gd name="connsiteY5" fmla="*/ 541325 h 1089965"/>
              <a:gd name="connsiteX6" fmla="*/ 336499 w 1294790"/>
              <a:gd name="connsiteY6" fmla="*/ 0 h 108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790" h="1089965">
                <a:moveTo>
                  <a:pt x="336499" y="0"/>
                </a:moveTo>
                <a:lnTo>
                  <a:pt x="1024128" y="7316"/>
                </a:lnTo>
                <a:lnTo>
                  <a:pt x="1294790" y="555956"/>
                </a:lnTo>
                <a:lnTo>
                  <a:pt x="987552" y="1089965"/>
                </a:lnTo>
                <a:lnTo>
                  <a:pt x="343814" y="1082650"/>
                </a:lnTo>
                <a:lnTo>
                  <a:pt x="0" y="541325"/>
                </a:lnTo>
                <a:lnTo>
                  <a:pt x="336499" y="0"/>
                </a:lnTo>
                <a:close/>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4339087" y="3209026"/>
            <a:ext cx="664234" cy="1086929"/>
          </a:xfrm>
          <a:custGeom>
            <a:avLst/>
            <a:gdLst>
              <a:gd name="connsiteX0" fmla="*/ 0 w 664234"/>
              <a:gd name="connsiteY0" fmla="*/ 0 h 1086929"/>
              <a:gd name="connsiteX1" fmla="*/ 664234 w 664234"/>
              <a:gd name="connsiteY1" fmla="*/ 0 h 1086929"/>
              <a:gd name="connsiteX2" fmla="*/ 664234 w 664234"/>
              <a:gd name="connsiteY2" fmla="*/ 1086929 h 1086929"/>
              <a:gd name="connsiteX3" fmla="*/ 8626 w 664234"/>
              <a:gd name="connsiteY3" fmla="*/ 1086929 h 1086929"/>
              <a:gd name="connsiteX4" fmla="*/ 0 w 664234"/>
              <a:gd name="connsiteY4" fmla="*/ 0 h 1086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234" h="1086929">
                <a:moveTo>
                  <a:pt x="0" y="0"/>
                </a:moveTo>
                <a:lnTo>
                  <a:pt x="664234" y="0"/>
                </a:lnTo>
                <a:lnTo>
                  <a:pt x="664234" y="1086929"/>
                </a:lnTo>
                <a:lnTo>
                  <a:pt x="8626" y="1086929"/>
                </a:lnTo>
                <a:cubicBezTo>
                  <a:pt x="5751" y="724619"/>
                  <a:pt x="2875" y="362310"/>
                  <a:pt x="0" y="0"/>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2398143" y="3761117"/>
            <a:ext cx="948906" cy="543464"/>
          </a:xfrm>
          <a:custGeom>
            <a:avLst/>
            <a:gdLst>
              <a:gd name="connsiteX0" fmla="*/ 293299 w 948906"/>
              <a:gd name="connsiteY0" fmla="*/ 0 h 543464"/>
              <a:gd name="connsiteX1" fmla="*/ 948906 w 948906"/>
              <a:gd name="connsiteY1" fmla="*/ 0 h 543464"/>
              <a:gd name="connsiteX2" fmla="*/ 638355 w 948906"/>
              <a:gd name="connsiteY2" fmla="*/ 543464 h 543464"/>
              <a:gd name="connsiteX3" fmla="*/ 0 w 948906"/>
              <a:gd name="connsiteY3" fmla="*/ 534838 h 543464"/>
              <a:gd name="connsiteX4" fmla="*/ 293299 w 948906"/>
              <a:gd name="connsiteY4" fmla="*/ 0 h 543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906" h="543464">
                <a:moveTo>
                  <a:pt x="293299" y="0"/>
                </a:moveTo>
                <a:lnTo>
                  <a:pt x="948906" y="0"/>
                </a:lnTo>
                <a:lnTo>
                  <a:pt x="638355" y="543464"/>
                </a:lnTo>
                <a:lnTo>
                  <a:pt x="0" y="534838"/>
                </a:lnTo>
                <a:lnTo>
                  <a:pt x="293299"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34" idx="6"/>
          </p:cNvCxnSpPr>
          <p:nvPr/>
        </p:nvCxnSpPr>
        <p:spPr>
          <a:xfrm>
            <a:off x="4066581" y="2685257"/>
            <a:ext cx="1840035" cy="5407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5" idx="6"/>
          </p:cNvCxnSpPr>
          <p:nvPr/>
        </p:nvCxnSpPr>
        <p:spPr>
          <a:xfrm flipV="1">
            <a:off x="5080993" y="3429000"/>
            <a:ext cx="825623" cy="8683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084168" y="3110479"/>
            <a:ext cx="2191626" cy="523220"/>
          </a:xfrm>
          <a:prstGeom prst="rect">
            <a:avLst/>
          </a:prstGeom>
          <a:noFill/>
        </p:spPr>
        <p:txBody>
          <a:bodyPr wrap="none" rtlCol="0">
            <a:spAutoFit/>
          </a:bodyPr>
          <a:lstStyle/>
          <a:p>
            <a:r>
              <a:rPr lang="en-US" altLang="zh-CN" sz="2800" b="1" dirty="0"/>
              <a:t>Which one</a:t>
            </a:r>
            <a:r>
              <a:rPr lang="zh-CN" altLang="en-US" sz="2800" b="1"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79512" y="188640"/>
            <a:ext cx="3476083" cy="2655760"/>
            <a:chOff x="879893" y="1086927"/>
            <a:chExt cx="5571626" cy="4256774"/>
          </a:xfrm>
        </p:grpSpPr>
        <p:pic>
          <p:nvPicPr>
            <p:cNvPr id="1433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099" t="22247" r="13875" b="22524"/>
            <a:stretch>
              <a:fillRect/>
            </a:stretch>
          </p:blipFill>
          <p:spPr bwMode="auto">
            <a:xfrm>
              <a:off x="879894" y="1086927"/>
              <a:ext cx="3101557" cy="213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099" t="22247" r="13875" b="22524"/>
            <a:stretch>
              <a:fillRect/>
            </a:stretch>
          </p:blipFill>
          <p:spPr bwMode="auto">
            <a:xfrm>
              <a:off x="879893" y="3212976"/>
              <a:ext cx="3101557" cy="213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099" t="22247" r="13875" b="22524"/>
            <a:stretch>
              <a:fillRect/>
            </a:stretch>
          </p:blipFill>
          <p:spPr bwMode="auto">
            <a:xfrm>
              <a:off x="3349962" y="1086927"/>
              <a:ext cx="3101557" cy="213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099" t="22247" r="13875" b="22524"/>
            <a:stretch>
              <a:fillRect/>
            </a:stretch>
          </p:blipFill>
          <p:spPr bwMode="auto">
            <a:xfrm>
              <a:off x="3349961" y="3212976"/>
              <a:ext cx="3101557" cy="213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8" name="Rectangle 7"/>
          <p:cNvSpPr/>
          <p:nvPr/>
        </p:nvSpPr>
        <p:spPr>
          <a:xfrm>
            <a:off x="184150" y="2992755"/>
            <a:ext cx="3658870" cy="1198880"/>
          </a:xfrm>
          <a:prstGeom prst="rect">
            <a:avLst/>
          </a:prstGeom>
        </p:spPr>
        <p:txBody>
          <a:bodyPr wrap="square">
            <a:spAutoFit/>
          </a:bodyPr>
          <a:lstStyle/>
          <a:p>
            <a:pPr algn="l"/>
            <a:r>
              <a:rPr lang="en-US" altLang="zh-CN" b="1" dirty="0">
                <a:effectLst>
                  <a:outerShdw blurRad="38100" dist="38100" dir="2700000" algn="tl">
                    <a:srgbClr val="000000">
                      <a:alpha val="43137"/>
                    </a:srgbClr>
                  </a:outerShdw>
                </a:effectLst>
              </a:rPr>
              <a:t>The projection of b</a:t>
            </a:r>
            <a:r>
              <a:rPr lang="zh-CN" altLang="en-US" b="1" dirty="0">
                <a:effectLst>
                  <a:outerShdw blurRad="38100" dist="38100" dir="2700000" algn="tl">
                    <a:srgbClr val="000000">
                      <a:alpha val="43137"/>
                    </a:srgbClr>
                  </a:outerShdw>
                </a:effectLst>
              </a:rPr>
              <a:t>eryl </a:t>
            </a:r>
            <a:r>
              <a:rPr lang="en-US" altLang="zh-CN" b="1" dirty="0">
                <a:effectLst>
                  <a:outerShdw blurRad="38100" dist="38100" dir="2700000" algn="tl">
                    <a:srgbClr val="000000">
                      <a:alpha val="43137"/>
                    </a:srgbClr>
                  </a:outerShdw>
                </a:effectLst>
              </a:rPr>
              <a:t>crystal structure along z axis</a:t>
            </a:r>
            <a:endParaRPr lang="en-US" b="1" dirty="0">
              <a:effectLst>
                <a:outerShdw blurRad="38100" dist="38100" dir="2700000" algn="tl">
                  <a:srgbClr val="000000">
                    <a:alpha val="43137"/>
                  </a:srgbClr>
                </a:outerShdw>
              </a:effectLst>
            </a:endParaRPr>
          </a:p>
        </p:txBody>
      </p:sp>
      <p:grpSp>
        <p:nvGrpSpPr>
          <p:cNvPr id="9" name="Group 8"/>
          <p:cNvGrpSpPr/>
          <p:nvPr/>
        </p:nvGrpSpPr>
        <p:grpSpPr>
          <a:xfrm>
            <a:off x="3804732" y="188640"/>
            <a:ext cx="4973857" cy="2889448"/>
            <a:chOff x="4350215" y="795184"/>
            <a:chExt cx="4049391" cy="2338388"/>
          </a:xfrm>
        </p:grpSpPr>
        <p:cxnSp>
          <p:nvCxnSpPr>
            <p:cNvPr id="10" name="Straight Arrow Connector 9"/>
            <p:cNvCxnSpPr>
              <a:stCxn id="16" idx="2"/>
              <a:endCxn id="15" idx="6"/>
            </p:cNvCxnSpPr>
            <p:nvPr/>
          </p:nvCxnSpPr>
          <p:spPr>
            <a:xfrm flipH="1">
              <a:off x="4520078" y="1432566"/>
              <a:ext cx="467196"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1" name="Oval 22"/>
            <p:cNvSpPr>
              <a:spLocks noChangeArrowheads="1"/>
            </p:cNvSpPr>
            <p:nvPr/>
          </p:nvSpPr>
          <p:spPr bwMode="auto">
            <a:xfrm>
              <a:off x="4683118" y="795184"/>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2" name="Oval 23"/>
            <p:cNvSpPr>
              <a:spLocks noChangeArrowheads="1"/>
            </p:cNvSpPr>
            <p:nvPr/>
          </p:nvSpPr>
          <p:spPr bwMode="auto">
            <a:xfrm>
              <a:off x="4683118" y="1879447"/>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3" name="Oval 24"/>
            <p:cNvSpPr>
              <a:spLocks noChangeArrowheads="1"/>
            </p:cNvSpPr>
            <p:nvPr/>
          </p:nvSpPr>
          <p:spPr bwMode="auto">
            <a:xfrm>
              <a:off x="5357955" y="807884"/>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4" name="Oval 27"/>
            <p:cNvSpPr>
              <a:spLocks noChangeArrowheads="1"/>
            </p:cNvSpPr>
            <p:nvPr/>
          </p:nvSpPr>
          <p:spPr bwMode="auto">
            <a:xfrm>
              <a:off x="5329380" y="1879447"/>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5" name="Oval 35"/>
            <p:cNvSpPr>
              <a:spLocks noChangeArrowheads="1"/>
            </p:cNvSpPr>
            <p:nvPr/>
          </p:nvSpPr>
          <p:spPr bwMode="auto">
            <a:xfrm>
              <a:off x="4350215"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6" name="Oval 36"/>
            <p:cNvSpPr>
              <a:spLocks noChangeArrowheads="1"/>
            </p:cNvSpPr>
            <p:nvPr/>
          </p:nvSpPr>
          <p:spPr bwMode="auto">
            <a:xfrm>
              <a:off x="4987274" y="1342872"/>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7" name="Oval 37"/>
            <p:cNvSpPr>
              <a:spLocks noChangeArrowheads="1"/>
            </p:cNvSpPr>
            <p:nvPr/>
          </p:nvSpPr>
          <p:spPr bwMode="auto">
            <a:xfrm>
              <a:off x="5629418"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8" name="Oval 22"/>
            <p:cNvSpPr>
              <a:spLocks noChangeArrowheads="1"/>
            </p:cNvSpPr>
            <p:nvPr/>
          </p:nvSpPr>
          <p:spPr bwMode="auto">
            <a:xfrm>
              <a:off x="5968993" y="795184"/>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19" name="Oval 23"/>
            <p:cNvSpPr>
              <a:spLocks noChangeArrowheads="1"/>
            </p:cNvSpPr>
            <p:nvPr/>
          </p:nvSpPr>
          <p:spPr bwMode="auto">
            <a:xfrm>
              <a:off x="5968993" y="1879447"/>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0" name="Oval 24"/>
            <p:cNvSpPr>
              <a:spLocks noChangeArrowheads="1"/>
            </p:cNvSpPr>
            <p:nvPr/>
          </p:nvSpPr>
          <p:spPr bwMode="auto">
            <a:xfrm>
              <a:off x="6643830" y="807884"/>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1" name="Oval 27"/>
            <p:cNvSpPr>
              <a:spLocks noChangeArrowheads="1"/>
            </p:cNvSpPr>
            <p:nvPr/>
          </p:nvSpPr>
          <p:spPr bwMode="auto">
            <a:xfrm>
              <a:off x="6615255" y="1879447"/>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2" name="Oval 36"/>
            <p:cNvSpPr>
              <a:spLocks noChangeArrowheads="1"/>
            </p:cNvSpPr>
            <p:nvPr/>
          </p:nvSpPr>
          <p:spPr bwMode="auto">
            <a:xfrm>
              <a:off x="6273149" y="1342872"/>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3" name="Oval 37"/>
            <p:cNvSpPr>
              <a:spLocks noChangeArrowheads="1"/>
            </p:cNvSpPr>
            <p:nvPr/>
          </p:nvSpPr>
          <p:spPr bwMode="auto">
            <a:xfrm>
              <a:off x="6915293"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4" name="Oval 23"/>
            <p:cNvSpPr>
              <a:spLocks noChangeArrowheads="1"/>
            </p:cNvSpPr>
            <p:nvPr/>
          </p:nvSpPr>
          <p:spPr bwMode="auto">
            <a:xfrm>
              <a:off x="4683118" y="2955772"/>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5" name="Oval 27"/>
            <p:cNvSpPr>
              <a:spLocks noChangeArrowheads="1"/>
            </p:cNvSpPr>
            <p:nvPr/>
          </p:nvSpPr>
          <p:spPr bwMode="auto">
            <a:xfrm>
              <a:off x="5329380" y="2955772"/>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6" name="Oval 35"/>
            <p:cNvSpPr>
              <a:spLocks noChangeArrowheads="1"/>
            </p:cNvSpPr>
            <p:nvPr/>
          </p:nvSpPr>
          <p:spPr bwMode="auto">
            <a:xfrm>
              <a:off x="4350215"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7" name="Oval 36"/>
            <p:cNvSpPr>
              <a:spLocks noChangeArrowheads="1"/>
            </p:cNvSpPr>
            <p:nvPr/>
          </p:nvSpPr>
          <p:spPr bwMode="auto">
            <a:xfrm>
              <a:off x="4987274" y="2419197"/>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8" name="Oval 37"/>
            <p:cNvSpPr>
              <a:spLocks noChangeArrowheads="1"/>
            </p:cNvSpPr>
            <p:nvPr/>
          </p:nvSpPr>
          <p:spPr bwMode="auto">
            <a:xfrm>
              <a:off x="5629418"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29" name="Oval 23"/>
            <p:cNvSpPr>
              <a:spLocks noChangeArrowheads="1"/>
            </p:cNvSpPr>
            <p:nvPr/>
          </p:nvSpPr>
          <p:spPr bwMode="auto">
            <a:xfrm>
              <a:off x="5968993" y="2955772"/>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0" name="Oval 27"/>
            <p:cNvSpPr>
              <a:spLocks noChangeArrowheads="1"/>
            </p:cNvSpPr>
            <p:nvPr/>
          </p:nvSpPr>
          <p:spPr bwMode="auto">
            <a:xfrm>
              <a:off x="6615255" y="2955772"/>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1" name="Oval 36"/>
            <p:cNvSpPr>
              <a:spLocks noChangeArrowheads="1"/>
            </p:cNvSpPr>
            <p:nvPr/>
          </p:nvSpPr>
          <p:spPr bwMode="auto">
            <a:xfrm>
              <a:off x="6273149" y="2419197"/>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2" name="Oval 37"/>
            <p:cNvSpPr>
              <a:spLocks noChangeArrowheads="1"/>
            </p:cNvSpPr>
            <p:nvPr/>
          </p:nvSpPr>
          <p:spPr bwMode="auto">
            <a:xfrm>
              <a:off x="6915293"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3" name="Oval 22"/>
            <p:cNvSpPr>
              <a:spLocks noChangeArrowheads="1"/>
            </p:cNvSpPr>
            <p:nvPr/>
          </p:nvSpPr>
          <p:spPr bwMode="auto">
            <a:xfrm>
              <a:off x="7283443" y="795184"/>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4" name="Oval 23"/>
            <p:cNvSpPr>
              <a:spLocks noChangeArrowheads="1"/>
            </p:cNvSpPr>
            <p:nvPr/>
          </p:nvSpPr>
          <p:spPr bwMode="auto">
            <a:xfrm>
              <a:off x="7283443" y="1879447"/>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5" name="Oval 24"/>
            <p:cNvSpPr>
              <a:spLocks noChangeArrowheads="1"/>
            </p:cNvSpPr>
            <p:nvPr/>
          </p:nvSpPr>
          <p:spPr bwMode="auto">
            <a:xfrm>
              <a:off x="7958280" y="807884"/>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6" name="Oval 27"/>
            <p:cNvSpPr>
              <a:spLocks noChangeArrowheads="1"/>
            </p:cNvSpPr>
            <p:nvPr/>
          </p:nvSpPr>
          <p:spPr bwMode="auto">
            <a:xfrm>
              <a:off x="7929705" y="1879447"/>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7" name="Oval 36"/>
            <p:cNvSpPr>
              <a:spLocks noChangeArrowheads="1"/>
            </p:cNvSpPr>
            <p:nvPr/>
          </p:nvSpPr>
          <p:spPr bwMode="auto">
            <a:xfrm>
              <a:off x="7587599" y="1342872"/>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8" name="Oval 37"/>
            <p:cNvSpPr>
              <a:spLocks noChangeArrowheads="1"/>
            </p:cNvSpPr>
            <p:nvPr/>
          </p:nvSpPr>
          <p:spPr bwMode="auto">
            <a:xfrm>
              <a:off x="8229743"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39" name="Oval 23"/>
            <p:cNvSpPr>
              <a:spLocks noChangeArrowheads="1"/>
            </p:cNvSpPr>
            <p:nvPr/>
          </p:nvSpPr>
          <p:spPr bwMode="auto">
            <a:xfrm>
              <a:off x="7283443" y="2955772"/>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0" name="Oval 27"/>
            <p:cNvSpPr>
              <a:spLocks noChangeArrowheads="1"/>
            </p:cNvSpPr>
            <p:nvPr/>
          </p:nvSpPr>
          <p:spPr bwMode="auto">
            <a:xfrm>
              <a:off x="7929705" y="2955772"/>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1" name="Oval 36"/>
            <p:cNvSpPr>
              <a:spLocks noChangeArrowheads="1"/>
            </p:cNvSpPr>
            <p:nvPr/>
          </p:nvSpPr>
          <p:spPr bwMode="auto">
            <a:xfrm>
              <a:off x="7587599" y="2419197"/>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42" name="Oval 37"/>
            <p:cNvSpPr>
              <a:spLocks noChangeArrowheads="1"/>
            </p:cNvSpPr>
            <p:nvPr/>
          </p:nvSpPr>
          <p:spPr bwMode="auto">
            <a:xfrm>
              <a:off x="8229743"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cxnSp>
          <p:nvCxnSpPr>
            <p:cNvPr id="43" name="Straight Arrow Connector 42"/>
            <p:cNvCxnSpPr>
              <a:stCxn id="16" idx="7"/>
              <a:endCxn id="13" idx="3"/>
            </p:cNvCxnSpPr>
            <p:nvPr/>
          </p:nvCxnSpPr>
          <p:spPr>
            <a:xfrm flipV="1">
              <a:off x="5133616" y="959646"/>
              <a:ext cx="249215" cy="40949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6" idx="5"/>
              <a:endCxn id="14" idx="1"/>
            </p:cNvCxnSpPr>
            <p:nvPr/>
          </p:nvCxnSpPr>
          <p:spPr>
            <a:xfrm>
              <a:off x="5133616" y="1495989"/>
              <a:ext cx="220640" cy="40949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grpSp>
        <p:nvGrpSpPr>
          <p:cNvPr id="47" name="Group 46"/>
          <p:cNvGrpSpPr/>
          <p:nvPr/>
        </p:nvGrpSpPr>
        <p:grpSpPr>
          <a:xfrm>
            <a:off x="3842832" y="3825280"/>
            <a:ext cx="4973857" cy="2889448"/>
            <a:chOff x="4350215" y="795184"/>
            <a:chExt cx="4049391" cy="2338388"/>
          </a:xfrm>
        </p:grpSpPr>
        <p:cxnSp>
          <p:nvCxnSpPr>
            <p:cNvPr id="48" name="Straight Arrow Connector 47"/>
            <p:cNvCxnSpPr>
              <a:stCxn id="54" idx="2"/>
              <a:endCxn id="53" idx="6"/>
            </p:cNvCxnSpPr>
            <p:nvPr/>
          </p:nvCxnSpPr>
          <p:spPr>
            <a:xfrm flipH="1">
              <a:off x="4520078" y="1432566"/>
              <a:ext cx="467196"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9" name="Oval 22"/>
            <p:cNvSpPr>
              <a:spLocks noChangeArrowheads="1"/>
            </p:cNvSpPr>
            <p:nvPr/>
          </p:nvSpPr>
          <p:spPr bwMode="auto">
            <a:xfrm>
              <a:off x="4683118" y="795184"/>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0" name="Oval 23"/>
            <p:cNvSpPr>
              <a:spLocks noChangeArrowheads="1"/>
            </p:cNvSpPr>
            <p:nvPr/>
          </p:nvSpPr>
          <p:spPr bwMode="auto">
            <a:xfrm>
              <a:off x="4683118" y="1879447"/>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1" name="Oval 24"/>
            <p:cNvSpPr>
              <a:spLocks noChangeArrowheads="1"/>
            </p:cNvSpPr>
            <p:nvPr/>
          </p:nvSpPr>
          <p:spPr bwMode="auto">
            <a:xfrm>
              <a:off x="5357955" y="807884"/>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2" name="Oval 27"/>
            <p:cNvSpPr>
              <a:spLocks noChangeArrowheads="1"/>
            </p:cNvSpPr>
            <p:nvPr/>
          </p:nvSpPr>
          <p:spPr bwMode="auto">
            <a:xfrm>
              <a:off x="5329380" y="1879447"/>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3" name="Oval 35"/>
            <p:cNvSpPr>
              <a:spLocks noChangeArrowheads="1"/>
            </p:cNvSpPr>
            <p:nvPr/>
          </p:nvSpPr>
          <p:spPr bwMode="auto">
            <a:xfrm>
              <a:off x="4350215"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4" name="Oval 36"/>
            <p:cNvSpPr>
              <a:spLocks noChangeArrowheads="1"/>
            </p:cNvSpPr>
            <p:nvPr/>
          </p:nvSpPr>
          <p:spPr bwMode="auto">
            <a:xfrm>
              <a:off x="4987274" y="1342872"/>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5" name="Oval 37"/>
            <p:cNvSpPr>
              <a:spLocks noChangeArrowheads="1"/>
            </p:cNvSpPr>
            <p:nvPr/>
          </p:nvSpPr>
          <p:spPr bwMode="auto">
            <a:xfrm>
              <a:off x="5629418"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6" name="Oval 22"/>
            <p:cNvSpPr>
              <a:spLocks noChangeArrowheads="1"/>
            </p:cNvSpPr>
            <p:nvPr/>
          </p:nvSpPr>
          <p:spPr bwMode="auto">
            <a:xfrm>
              <a:off x="5968993" y="795184"/>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7" name="Oval 23"/>
            <p:cNvSpPr>
              <a:spLocks noChangeArrowheads="1"/>
            </p:cNvSpPr>
            <p:nvPr/>
          </p:nvSpPr>
          <p:spPr bwMode="auto">
            <a:xfrm>
              <a:off x="5968993" y="1879447"/>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8" name="Oval 24"/>
            <p:cNvSpPr>
              <a:spLocks noChangeArrowheads="1"/>
            </p:cNvSpPr>
            <p:nvPr/>
          </p:nvSpPr>
          <p:spPr bwMode="auto">
            <a:xfrm>
              <a:off x="6643830" y="807884"/>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59" name="Oval 27"/>
            <p:cNvSpPr>
              <a:spLocks noChangeArrowheads="1"/>
            </p:cNvSpPr>
            <p:nvPr/>
          </p:nvSpPr>
          <p:spPr bwMode="auto">
            <a:xfrm>
              <a:off x="6615255" y="1879447"/>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0" name="Oval 36"/>
            <p:cNvSpPr>
              <a:spLocks noChangeArrowheads="1"/>
            </p:cNvSpPr>
            <p:nvPr/>
          </p:nvSpPr>
          <p:spPr bwMode="auto">
            <a:xfrm>
              <a:off x="6273149" y="1342872"/>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1" name="Oval 37"/>
            <p:cNvSpPr>
              <a:spLocks noChangeArrowheads="1"/>
            </p:cNvSpPr>
            <p:nvPr/>
          </p:nvSpPr>
          <p:spPr bwMode="auto">
            <a:xfrm>
              <a:off x="6915293"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2" name="Oval 61"/>
            <p:cNvSpPr>
              <a:spLocks noChangeArrowheads="1"/>
            </p:cNvSpPr>
            <p:nvPr/>
          </p:nvSpPr>
          <p:spPr bwMode="auto">
            <a:xfrm>
              <a:off x="4683118" y="2955772"/>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3" name="Oval 27"/>
            <p:cNvSpPr>
              <a:spLocks noChangeArrowheads="1"/>
            </p:cNvSpPr>
            <p:nvPr/>
          </p:nvSpPr>
          <p:spPr bwMode="auto">
            <a:xfrm>
              <a:off x="5329380" y="2955772"/>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4" name="Oval 35"/>
            <p:cNvSpPr>
              <a:spLocks noChangeArrowheads="1"/>
            </p:cNvSpPr>
            <p:nvPr/>
          </p:nvSpPr>
          <p:spPr bwMode="auto">
            <a:xfrm>
              <a:off x="4350215"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5" name="Oval 36"/>
            <p:cNvSpPr>
              <a:spLocks noChangeArrowheads="1"/>
            </p:cNvSpPr>
            <p:nvPr/>
          </p:nvSpPr>
          <p:spPr bwMode="auto">
            <a:xfrm>
              <a:off x="4987274" y="2419197"/>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6" name="Oval 37"/>
            <p:cNvSpPr>
              <a:spLocks noChangeArrowheads="1"/>
            </p:cNvSpPr>
            <p:nvPr/>
          </p:nvSpPr>
          <p:spPr bwMode="auto">
            <a:xfrm>
              <a:off x="5629418"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7" name="Oval 23"/>
            <p:cNvSpPr>
              <a:spLocks noChangeArrowheads="1"/>
            </p:cNvSpPr>
            <p:nvPr/>
          </p:nvSpPr>
          <p:spPr bwMode="auto">
            <a:xfrm>
              <a:off x="5968993" y="2955772"/>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8" name="Oval 27"/>
            <p:cNvSpPr>
              <a:spLocks noChangeArrowheads="1"/>
            </p:cNvSpPr>
            <p:nvPr/>
          </p:nvSpPr>
          <p:spPr bwMode="auto">
            <a:xfrm>
              <a:off x="6615255" y="2955772"/>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69" name="Oval 36"/>
            <p:cNvSpPr>
              <a:spLocks noChangeArrowheads="1"/>
            </p:cNvSpPr>
            <p:nvPr/>
          </p:nvSpPr>
          <p:spPr bwMode="auto">
            <a:xfrm>
              <a:off x="6273149" y="2419197"/>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0" name="Oval 37"/>
            <p:cNvSpPr>
              <a:spLocks noChangeArrowheads="1"/>
            </p:cNvSpPr>
            <p:nvPr/>
          </p:nvSpPr>
          <p:spPr bwMode="auto">
            <a:xfrm>
              <a:off x="6915293"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1" name="Oval 22"/>
            <p:cNvSpPr>
              <a:spLocks noChangeArrowheads="1"/>
            </p:cNvSpPr>
            <p:nvPr/>
          </p:nvSpPr>
          <p:spPr bwMode="auto">
            <a:xfrm>
              <a:off x="7283443" y="795184"/>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2" name="Oval 23"/>
            <p:cNvSpPr>
              <a:spLocks noChangeArrowheads="1"/>
            </p:cNvSpPr>
            <p:nvPr/>
          </p:nvSpPr>
          <p:spPr bwMode="auto">
            <a:xfrm>
              <a:off x="7283443" y="1879447"/>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3" name="Oval 24"/>
            <p:cNvSpPr>
              <a:spLocks noChangeArrowheads="1"/>
            </p:cNvSpPr>
            <p:nvPr/>
          </p:nvSpPr>
          <p:spPr bwMode="auto">
            <a:xfrm>
              <a:off x="7958280" y="807884"/>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4" name="Oval 27"/>
            <p:cNvSpPr>
              <a:spLocks noChangeArrowheads="1"/>
            </p:cNvSpPr>
            <p:nvPr/>
          </p:nvSpPr>
          <p:spPr bwMode="auto">
            <a:xfrm>
              <a:off x="7929705" y="1879447"/>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5" name="Oval 74"/>
            <p:cNvSpPr>
              <a:spLocks noChangeArrowheads="1"/>
            </p:cNvSpPr>
            <p:nvPr/>
          </p:nvSpPr>
          <p:spPr bwMode="auto">
            <a:xfrm>
              <a:off x="7587599" y="1342872"/>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6" name="Oval 75"/>
            <p:cNvSpPr>
              <a:spLocks noChangeArrowheads="1"/>
            </p:cNvSpPr>
            <p:nvPr/>
          </p:nvSpPr>
          <p:spPr bwMode="auto">
            <a:xfrm>
              <a:off x="8229743" y="1342872"/>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7" name="Oval 23"/>
            <p:cNvSpPr>
              <a:spLocks noChangeArrowheads="1"/>
            </p:cNvSpPr>
            <p:nvPr/>
          </p:nvSpPr>
          <p:spPr bwMode="auto">
            <a:xfrm>
              <a:off x="7283443" y="2955772"/>
              <a:ext cx="171450"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8" name="Oval 27"/>
            <p:cNvSpPr>
              <a:spLocks noChangeArrowheads="1"/>
            </p:cNvSpPr>
            <p:nvPr/>
          </p:nvSpPr>
          <p:spPr bwMode="auto">
            <a:xfrm>
              <a:off x="7929705" y="2955772"/>
              <a:ext cx="169863" cy="177800"/>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79" name="Oval 36"/>
            <p:cNvSpPr>
              <a:spLocks noChangeArrowheads="1"/>
            </p:cNvSpPr>
            <p:nvPr/>
          </p:nvSpPr>
          <p:spPr bwMode="auto">
            <a:xfrm>
              <a:off x="7587599" y="2419197"/>
              <a:ext cx="171450"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sp>
          <p:nvSpPr>
            <p:cNvPr id="80" name="Oval 37"/>
            <p:cNvSpPr>
              <a:spLocks noChangeArrowheads="1"/>
            </p:cNvSpPr>
            <p:nvPr/>
          </p:nvSpPr>
          <p:spPr bwMode="auto">
            <a:xfrm>
              <a:off x="8229743" y="2419197"/>
              <a:ext cx="169863" cy="179388"/>
            </a:xfrm>
            <a:prstGeom prst="ellipse">
              <a:avLst/>
            </a:prstGeom>
            <a:solidFill>
              <a:srgbClr val="FF0000"/>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b="0">
                <a:latin typeface="Times New Roman" panose="02020603050405020304" pitchFamily="18" charset="0"/>
              </a:endParaRPr>
            </a:p>
          </p:txBody>
        </p:sp>
        <p:cxnSp>
          <p:nvCxnSpPr>
            <p:cNvPr id="81" name="Straight Arrow Connector 80"/>
            <p:cNvCxnSpPr>
              <a:stCxn id="54" idx="7"/>
              <a:endCxn id="51" idx="3"/>
            </p:cNvCxnSpPr>
            <p:nvPr/>
          </p:nvCxnSpPr>
          <p:spPr>
            <a:xfrm flipV="1">
              <a:off x="5133616" y="959646"/>
              <a:ext cx="249215" cy="40949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54" idx="5"/>
              <a:endCxn id="52" idx="1"/>
            </p:cNvCxnSpPr>
            <p:nvPr/>
          </p:nvCxnSpPr>
          <p:spPr>
            <a:xfrm>
              <a:off x="5133616" y="1495989"/>
              <a:ext cx="220640" cy="40949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sp>
        <p:nvSpPr>
          <p:cNvPr id="83" name="Freeform 82"/>
          <p:cNvSpPr/>
          <p:nvPr/>
        </p:nvSpPr>
        <p:spPr>
          <a:xfrm>
            <a:off x="5943683" y="4620166"/>
            <a:ext cx="1571225" cy="1322670"/>
          </a:xfrm>
          <a:custGeom>
            <a:avLst/>
            <a:gdLst>
              <a:gd name="connsiteX0" fmla="*/ 336499 w 1294790"/>
              <a:gd name="connsiteY0" fmla="*/ 0 h 1089965"/>
              <a:gd name="connsiteX1" fmla="*/ 1024128 w 1294790"/>
              <a:gd name="connsiteY1" fmla="*/ 7316 h 1089965"/>
              <a:gd name="connsiteX2" fmla="*/ 1294790 w 1294790"/>
              <a:gd name="connsiteY2" fmla="*/ 555956 h 1089965"/>
              <a:gd name="connsiteX3" fmla="*/ 987552 w 1294790"/>
              <a:gd name="connsiteY3" fmla="*/ 1089965 h 1089965"/>
              <a:gd name="connsiteX4" fmla="*/ 343814 w 1294790"/>
              <a:gd name="connsiteY4" fmla="*/ 1082650 h 1089965"/>
              <a:gd name="connsiteX5" fmla="*/ 0 w 1294790"/>
              <a:gd name="connsiteY5" fmla="*/ 541325 h 1089965"/>
              <a:gd name="connsiteX6" fmla="*/ 336499 w 1294790"/>
              <a:gd name="connsiteY6" fmla="*/ 0 h 108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790" h="1089965">
                <a:moveTo>
                  <a:pt x="336499" y="0"/>
                </a:moveTo>
                <a:lnTo>
                  <a:pt x="1024128" y="7316"/>
                </a:lnTo>
                <a:lnTo>
                  <a:pt x="1294790" y="555956"/>
                </a:lnTo>
                <a:lnTo>
                  <a:pt x="987552" y="1089965"/>
                </a:lnTo>
                <a:lnTo>
                  <a:pt x="343814" y="1082650"/>
                </a:lnTo>
                <a:lnTo>
                  <a:pt x="0" y="541325"/>
                </a:lnTo>
                <a:lnTo>
                  <a:pt x="336499" y="0"/>
                </a:lnTo>
                <a:close/>
              </a:path>
            </a:pathLst>
          </a:custGeom>
          <a:solidFill>
            <a:srgbClr val="FF0066">
              <a:alpha val="50196"/>
            </a:srgb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6" name="Right Arrow 14335"/>
          <p:cNvSpPr/>
          <p:nvPr/>
        </p:nvSpPr>
        <p:spPr>
          <a:xfrm>
            <a:off x="3616520" y="1307593"/>
            <a:ext cx="434954" cy="681247"/>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7" name="Down Arrow 14336"/>
          <p:cNvSpPr/>
          <p:nvPr/>
        </p:nvSpPr>
        <p:spPr>
          <a:xfrm>
            <a:off x="6166667" y="3181613"/>
            <a:ext cx="1097546" cy="606852"/>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85"/>
          <p:cNvSpPr/>
          <p:nvPr/>
        </p:nvSpPr>
        <p:spPr>
          <a:xfrm>
            <a:off x="4743533" y="3972466"/>
            <a:ext cx="1571225" cy="1322670"/>
          </a:xfrm>
          <a:custGeom>
            <a:avLst/>
            <a:gdLst>
              <a:gd name="connsiteX0" fmla="*/ 336499 w 1294790"/>
              <a:gd name="connsiteY0" fmla="*/ 0 h 1089965"/>
              <a:gd name="connsiteX1" fmla="*/ 1024128 w 1294790"/>
              <a:gd name="connsiteY1" fmla="*/ 7316 h 1089965"/>
              <a:gd name="connsiteX2" fmla="*/ 1294790 w 1294790"/>
              <a:gd name="connsiteY2" fmla="*/ 555956 h 1089965"/>
              <a:gd name="connsiteX3" fmla="*/ 987552 w 1294790"/>
              <a:gd name="connsiteY3" fmla="*/ 1089965 h 1089965"/>
              <a:gd name="connsiteX4" fmla="*/ 343814 w 1294790"/>
              <a:gd name="connsiteY4" fmla="*/ 1082650 h 1089965"/>
              <a:gd name="connsiteX5" fmla="*/ 0 w 1294790"/>
              <a:gd name="connsiteY5" fmla="*/ 541325 h 1089965"/>
              <a:gd name="connsiteX6" fmla="*/ 336499 w 1294790"/>
              <a:gd name="connsiteY6" fmla="*/ 0 h 108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790" h="1089965">
                <a:moveTo>
                  <a:pt x="336499" y="0"/>
                </a:moveTo>
                <a:lnTo>
                  <a:pt x="1024128" y="7316"/>
                </a:lnTo>
                <a:lnTo>
                  <a:pt x="1294790" y="555956"/>
                </a:lnTo>
                <a:lnTo>
                  <a:pt x="987552" y="1089965"/>
                </a:lnTo>
                <a:lnTo>
                  <a:pt x="343814" y="1082650"/>
                </a:lnTo>
                <a:lnTo>
                  <a:pt x="0" y="541325"/>
                </a:lnTo>
                <a:lnTo>
                  <a:pt x="336499" y="0"/>
                </a:lnTo>
                <a:close/>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p:cNvSpPr/>
          <p:nvPr/>
        </p:nvSpPr>
        <p:spPr>
          <a:xfrm>
            <a:off x="4762583" y="5286916"/>
            <a:ext cx="1571225" cy="1322670"/>
          </a:xfrm>
          <a:custGeom>
            <a:avLst/>
            <a:gdLst>
              <a:gd name="connsiteX0" fmla="*/ 336499 w 1294790"/>
              <a:gd name="connsiteY0" fmla="*/ 0 h 1089965"/>
              <a:gd name="connsiteX1" fmla="*/ 1024128 w 1294790"/>
              <a:gd name="connsiteY1" fmla="*/ 7316 h 1089965"/>
              <a:gd name="connsiteX2" fmla="*/ 1294790 w 1294790"/>
              <a:gd name="connsiteY2" fmla="*/ 555956 h 1089965"/>
              <a:gd name="connsiteX3" fmla="*/ 987552 w 1294790"/>
              <a:gd name="connsiteY3" fmla="*/ 1089965 h 1089965"/>
              <a:gd name="connsiteX4" fmla="*/ 343814 w 1294790"/>
              <a:gd name="connsiteY4" fmla="*/ 1082650 h 1089965"/>
              <a:gd name="connsiteX5" fmla="*/ 0 w 1294790"/>
              <a:gd name="connsiteY5" fmla="*/ 541325 h 1089965"/>
              <a:gd name="connsiteX6" fmla="*/ 336499 w 1294790"/>
              <a:gd name="connsiteY6" fmla="*/ 0 h 108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790" h="1089965">
                <a:moveTo>
                  <a:pt x="336499" y="0"/>
                </a:moveTo>
                <a:lnTo>
                  <a:pt x="1024128" y="7316"/>
                </a:lnTo>
                <a:lnTo>
                  <a:pt x="1294790" y="555956"/>
                </a:lnTo>
                <a:lnTo>
                  <a:pt x="987552" y="1089965"/>
                </a:lnTo>
                <a:lnTo>
                  <a:pt x="343814" y="1082650"/>
                </a:lnTo>
                <a:lnTo>
                  <a:pt x="0" y="541325"/>
                </a:lnTo>
                <a:lnTo>
                  <a:pt x="336499" y="0"/>
                </a:lnTo>
                <a:close/>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p:nvSpPr>
        <p:spPr>
          <a:xfrm>
            <a:off x="7143833" y="3972466"/>
            <a:ext cx="1571225" cy="1322670"/>
          </a:xfrm>
          <a:custGeom>
            <a:avLst/>
            <a:gdLst>
              <a:gd name="connsiteX0" fmla="*/ 336499 w 1294790"/>
              <a:gd name="connsiteY0" fmla="*/ 0 h 1089965"/>
              <a:gd name="connsiteX1" fmla="*/ 1024128 w 1294790"/>
              <a:gd name="connsiteY1" fmla="*/ 7316 h 1089965"/>
              <a:gd name="connsiteX2" fmla="*/ 1294790 w 1294790"/>
              <a:gd name="connsiteY2" fmla="*/ 555956 h 1089965"/>
              <a:gd name="connsiteX3" fmla="*/ 987552 w 1294790"/>
              <a:gd name="connsiteY3" fmla="*/ 1089965 h 1089965"/>
              <a:gd name="connsiteX4" fmla="*/ 343814 w 1294790"/>
              <a:gd name="connsiteY4" fmla="*/ 1082650 h 1089965"/>
              <a:gd name="connsiteX5" fmla="*/ 0 w 1294790"/>
              <a:gd name="connsiteY5" fmla="*/ 541325 h 1089965"/>
              <a:gd name="connsiteX6" fmla="*/ 336499 w 1294790"/>
              <a:gd name="connsiteY6" fmla="*/ 0 h 108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790" h="1089965">
                <a:moveTo>
                  <a:pt x="336499" y="0"/>
                </a:moveTo>
                <a:lnTo>
                  <a:pt x="1024128" y="7316"/>
                </a:lnTo>
                <a:lnTo>
                  <a:pt x="1294790" y="555956"/>
                </a:lnTo>
                <a:lnTo>
                  <a:pt x="987552" y="1089965"/>
                </a:lnTo>
                <a:lnTo>
                  <a:pt x="343814" y="1082650"/>
                </a:lnTo>
                <a:lnTo>
                  <a:pt x="0" y="541325"/>
                </a:lnTo>
                <a:lnTo>
                  <a:pt x="336499" y="0"/>
                </a:lnTo>
                <a:close/>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p:nvSpPr>
        <p:spPr>
          <a:xfrm>
            <a:off x="7143833" y="5267866"/>
            <a:ext cx="1571225" cy="1322670"/>
          </a:xfrm>
          <a:custGeom>
            <a:avLst/>
            <a:gdLst>
              <a:gd name="connsiteX0" fmla="*/ 336499 w 1294790"/>
              <a:gd name="connsiteY0" fmla="*/ 0 h 1089965"/>
              <a:gd name="connsiteX1" fmla="*/ 1024128 w 1294790"/>
              <a:gd name="connsiteY1" fmla="*/ 7316 h 1089965"/>
              <a:gd name="connsiteX2" fmla="*/ 1294790 w 1294790"/>
              <a:gd name="connsiteY2" fmla="*/ 555956 h 1089965"/>
              <a:gd name="connsiteX3" fmla="*/ 987552 w 1294790"/>
              <a:gd name="connsiteY3" fmla="*/ 1089965 h 1089965"/>
              <a:gd name="connsiteX4" fmla="*/ 343814 w 1294790"/>
              <a:gd name="connsiteY4" fmla="*/ 1082650 h 1089965"/>
              <a:gd name="connsiteX5" fmla="*/ 0 w 1294790"/>
              <a:gd name="connsiteY5" fmla="*/ 541325 h 1089965"/>
              <a:gd name="connsiteX6" fmla="*/ 336499 w 1294790"/>
              <a:gd name="connsiteY6" fmla="*/ 0 h 108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4790" h="1089965">
                <a:moveTo>
                  <a:pt x="336499" y="0"/>
                </a:moveTo>
                <a:lnTo>
                  <a:pt x="1024128" y="7316"/>
                </a:lnTo>
                <a:lnTo>
                  <a:pt x="1294790" y="555956"/>
                </a:lnTo>
                <a:lnTo>
                  <a:pt x="987552" y="1089965"/>
                </a:lnTo>
                <a:lnTo>
                  <a:pt x="343814" y="1082650"/>
                </a:lnTo>
                <a:lnTo>
                  <a:pt x="0" y="541325"/>
                </a:lnTo>
                <a:lnTo>
                  <a:pt x="336499" y="0"/>
                </a:lnTo>
                <a:close/>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9" name="TextBox 14338"/>
          <p:cNvSpPr txBox="1"/>
          <p:nvPr/>
        </p:nvSpPr>
        <p:spPr>
          <a:xfrm>
            <a:off x="7289650" y="67657"/>
            <a:ext cx="1730375" cy="460375"/>
          </a:xfrm>
          <a:prstGeom prst="rect">
            <a:avLst/>
          </a:prstGeom>
          <a:solidFill>
            <a:schemeClr val="bg2"/>
          </a:solidFill>
        </p:spPr>
        <p:txBody>
          <a:bodyPr wrap="none" rtlCol="0">
            <a:spAutoFit/>
          </a:bodyPr>
          <a:lstStyle/>
          <a:p>
            <a:r>
              <a:rPr lang="en-US" dirty="0">
                <a:solidFill>
                  <a:srgbClr val="0000FF"/>
                </a:solidFill>
              </a:rPr>
              <a:t>Space lattice</a:t>
            </a:r>
          </a:p>
        </p:txBody>
      </p:sp>
      <p:sp>
        <p:nvSpPr>
          <p:cNvPr id="91" name="TextBox 90"/>
          <p:cNvSpPr txBox="1"/>
          <p:nvPr/>
        </p:nvSpPr>
        <p:spPr>
          <a:xfrm>
            <a:off x="7346800" y="3229957"/>
            <a:ext cx="1933575" cy="460375"/>
          </a:xfrm>
          <a:prstGeom prst="rect">
            <a:avLst/>
          </a:prstGeom>
          <a:solidFill>
            <a:srgbClr val="FFFF00"/>
          </a:solidFill>
        </p:spPr>
        <p:txBody>
          <a:bodyPr wrap="none" rtlCol="0">
            <a:spAutoFit/>
          </a:bodyPr>
          <a:lstStyle/>
          <a:p>
            <a:r>
              <a:rPr lang="en-US" dirty="0">
                <a:solidFill>
                  <a:srgbClr val="FF0000"/>
                </a:solidFill>
              </a:rPr>
              <a:t>Bravais lattice</a:t>
            </a:r>
          </a:p>
        </p:txBody>
      </p:sp>
      <p:sp>
        <p:nvSpPr>
          <p:cNvPr id="14340" name="Freeform 14339"/>
          <p:cNvSpPr/>
          <p:nvPr/>
        </p:nvSpPr>
        <p:spPr>
          <a:xfrm>
            <a:off x="933450" y="1162050"/>
            <a:ext cx="1181100" cy="704850"/>
          </a:xfrm>
          <a:custGeom>
            <a:avLst/>
            <a:gdLst>
              <a:gd name="connsiteX0" fmla="*/ 0 w 1181100"/>
              <a:gd name="connsiteY0" fmla="*/ 0 h 704850"/>
              <a:gd name="connsiteX1" fmla="*/ 0 w 1181100"/>
              <a:gd name="connsiteY1" fmla="*/ 0 h 704850"/>
              <a:gd name="connsiteX2" fmla="*/ 800100 w 1181100"/>
              <a:gd name="connsiteY2" fmla="*/ 0 h 704850"/>
              <a:gd name="connsiteX3" fmla="*/ 1181100 w 1181100"/>
              <a:gd name="connsiteY3" fmla="*/ 704850 h 704850"/>
              <a:gd name="connsiteX4" fmla="*/ 400050 w 1181100"/>
              <a:gd name="connsiteY4" fmla="*/ 685800 h 704850"/>
              <a:gd name="connsiteX5" fmla="*/ 0 w 1181100"/>
              <a:gd name="connsiteY5"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1100" h="704850">
                <a:moveTo>
                  <a:pt x="0" y="0"/>
                </a:moveTo>
                <a:lnTo>
                  <a:pt x="0" y="0"/>
                </a:lnTo>
                <a:lnTo>
                  <a:pt x="800100" y="0"/>
                </a:lnTo>
                <a:lnTo>
                  <a:pt x="1181100" y="704850"/>
                </a:lnTo>
                <a:lnTo>
                  <a:pt x="400050" y="685800"/>
                </a:lnTo>
                <a:lnTo>
                  <a:pt x="0"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p:cNvSpPr txBox="1"/>
          <p:nvPr/>
        </p:nvSpPr>
        <p:spPr>
          <a:xfrm>
            <a:off x="1540070" y="619082"/>
            <a:ext cx="876935" cy="460375"/>
          </a:xfrm>
          <a:prstGeom prst="rect">
            <a:avLst/>
          </a:prstGeom>
          <a:solidFill>
            <a:schemeClr val="bg2"/>
          </a:solidFill>
        </p:spPr>
        <p:txBody>
          <a:bodyPr wrap="none" rtlCol="0">
            <a:spAutoFit/>
          </a:bodyPr>
          <a:lstStyle/>
          <a:p>
            <a:r>
              <a:rPr lang="en-US" dirty="0">
                <a:solidFill>
                  <a:srgbClr val="0000FF"/>
                </a:solidFill>
              </a:rPr>
              <a:t>Motif</a:t>
            </a:r>
          </a:p>
        </p:txBody>
      </p:sp>
      <p:sp>
        <p:nvSpPr>
          <p:cNvPr id="94" name="Freeform 93"/>
          <p:cNvSpPr/>
          <p:nvPr/>
        </p:nvSpPr>
        <p:spPr>
          <a:xfrm>
            <a:off x="5878653" y="1636415"/>
            <a:ext cx="1181100" cy="704850"/>
          </a:xfrm>
          <a:custGeom>
            <a:avLst/>
            <a:gdLst>
              <a:gd name="connsiteX0" fmla="*/ 0 w 1181100"/>
              <a:gd name="connsiteY0" fmla="*/ 0 h 704850"/>
              <a:gd name="connsiteX1" fmla="*/ 0 w 1181100"/>
              <a:gd name="connsiteY1" fmla="*/ 0 h 704850"/>
              <a:gd name="connsiteX2" fmla="*/ 800100 w 1181100"/>
              <a:gd name="connsiteY2" fmla="*/ 0 h 704850"/>
              <a:gd name="connsiteX3" fmla="*/ 1181100 w 1181100"/>
              <a:gd name="connsiteY3" fmla="*/ 704850 h 704850"/>
              <a:gd name="connsiteX4" fmla="*/ 400050 w 1181100"/>
              <a:gd name="connsiteY4" fmla="*/ 685800 h 704850"/>
              <a:gd name="connsiteX5" fmla="*/ 0 w 1181100"/>
              <a:gd name="connsiteY5"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1100" h="704850">
                <a:moveTo>
                  <a:pt x="0" y="0"/>
                </a:moveTo>
                <a:lnTo>
                  <a:pt x="0" y="0"/>
                </a:lnTo>
                <a:lnTo>
                  <a:pt x="800100" y="0"/>
                </a:lnTo>
                <a:lnTo>
                  <a:pt x="1181100" y="704850"/>
                </a:lnTo>
                <a:lnTo>
                  <a:pt x="400050" y="685800"/>
                </a:lnTo>
                <a:lnTo>
                  <a:pt x="0" y="0"/>
                </a:lnTo>
                <a:close/>
              </a:path>
            </a:pathLst>
          </a:custGeom>
          <a:solidFill>
            <a:srgbClr val="FF0066">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p:cNvSpPr txBox="1"/>
          <p:nvPr/>
        </p:nvSpPr>
        <p:spPr>
          <a:xfrm>
            <a:off x="7271418" y="1844531"/>
            <a:ext cx="1831975" cy="460375"/>
          </a:xfrm>
          <a:prstGeom prst="rect">
            <a:avLst/>
          </a:prstGeom>
          <a:solidFill>
            <a:schemeClr val="bg2"/>
          </a:solidFill>
        </p:spPr>
        <p:txBody>
          <a:bodyPr wrap="none" rtlCol="0">
            <a:spAutoFit/>
          </a:bodyPr>
          <a:lstStyle/>
          <a:p>
            <a:r>
              <a:rPr lang="en-US" dirty="0">
                <a:solidFill>
                  <a:srgbClr val="0000FF"/>
                </a:solidFill>
              </a:rPr>
              <a:t>Primitive cell</a:t>
            </a:r>
          </a:p>
        </p:txBody>
      </p:sp>
      <p:sp>
        <p:nvSpPr>
          <p:cNvPr id="96" name="TextBox 95"/>
          <p:cNvSpPr txBox="1"/>
          <p:nvPr/>
        </p:nvSpPr>
        <p:spPr>
          <a:xfrm>
            <a:off x="7431474" y="5510544"/>
            <a:ext cx="1240155" cy="460375"/>
          </a:xfrm>
          <a:prstGeom prst="rect">
            <a:avLst/>
          </a:prstGeom>
          <a:solidFill>
            <a:schemeClr val="bg2"/>
          </a:solidFill>
        </p:spPr>
        <p:txBody>
          <a:bodyPr wrap="none" rtlCol="0">
            <a:spAutoFit/>
          </a:bodyPr>
          <a:lstStyle/>
          <a:p>
            <a:r>
              <a:rPr lang="en-US" dirty="0">
                <a:solidFill>
                  <a:srgbClr val="0000FF"/>
                </a:solidFill>
              </a:rPr>
              <a:t>Unit cell</a:t>
            </a:r>
          </a:p>
        </p:txBody>
      </p:sp>
      <p:cxnSp>
        <p:nvCxnSpPr>
          <p:cNvPr id="14342" name="Straight Arrow Connector 14341"/>
          <p:cNvCxnSpPr>
            <a:stCxn id="24" idx="4"/>
          </p:cNvCxnSpPr>
          <p:nvPr/>
        </p:nvCxnSpPr>
        <p:spPr>
          <a:xfrm flipH="1">
            <a:off x="2955842" y="3078088"/>
            <a:ext cx="1363090" cy="14239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343" name="TextBox 14342"/>
          <p:cNvSpPr txBox="1"/>
          <p:nvPr/>
        </p:nvSpPr>
        <p:spPr>
          <a:xfrm>
            <a:off x="1539788" y="4263659"/>
            <a:ext cx="2204720" cy="460375"/>
          </a:xfrm>
          <a:prstGeom prst="rect">
            <a:avLst/>
          </a:prstGeom>
          <a:solidFill>
            <a:schemeClr val="bg2"/>
          </a:solidFill>
        </p:spPr>
        <p:txBody>
          <a:bodyPr wrap="none" rtlCol="0">
            <a:spAutoFit/>
          </a:bodyPr>
          <a:lstStyle/>
          <a:p>
            <a:r>
              <a:rPr lang="en-US" dirty="0">
                <a:solidFill>
                  <a:srgbClr val="0000FF"/>
                </a:solidFill>
              </a:rPr>
              <a:t>Equivalent point</a:t>
            </a:r>
          </a:p>
        </p:txBody>
      </p:sp>
      <p:sp>
        <p:nvSpPr>
          <p:cNvPr id="97" name="TextBox 96"/>
          <p:cNvSpPr txBox="1"/>
          <p:nvPr/>
        </p:nvSpPr>
        <p:spPr>
          <a:xfrm>
            <a:off x="17407" y="6378753"/>
            <a:ext cx="6575425" cy="460375"/>
          </a:xfrm>
          <a:prstGeom prst="rect">
            <a:avLst/>
          </a:prstGeom>
          <a:solidFill>
            <a:schemeClr val="accent2"/>
          </a:solidFill>
        </p:spPr>
        <p:txBody>
          <a:bodyPr wrap="none" rtlCol="0">
            <a:spAutoFit/>
          </a:bodyPr>
          <a:lstStyle/>
          <a:p>
            <a:r>
              <a:rPr lang="en-US" altLang="zh-CN" b="1" dirty="0">
                <a:effectLst>
                  <a:outerShdw blurRad="38100" dist="38100" dir="2700000" algn="tl">
                    <a:srgbClr val="000000">
                      <a:alpha val="43137"/>
                    </a:srgbClr>
                  </a:outerShdw>
                </a:effectLst>
              </a:rPr>
              <a:t>Crystal structure</a:t>
            </a:r>
            <a:r>
              <a:rPr lang="en-US" altLang="zh-CN" b="1" dirty="0">
                <a:effectLst>
                  <a:outerShdw blurRad="38100" dist="38100" dir="2700000" algn="tl">
                    <a:srgbClr val="000000">
                      <a:alpha val="43137"/>
                    </a:srgbClr>
                  </a:outerShdw>
                </a:effectLst>
                <a:sym typeface="Wingdings" panose="05000000000000000000" pitchFamily="2" charset="2"/>
              </a:rPr>
              <a:t>Space lattice</a:t>
            </a:r>
            <a:r>
              <a:rPr lang="en-US" b="1" dirty="0">
                <a:effectLst>
                  <a:outerShdw blurRad="38100" dist="38100" dir="2700000" algn="tl">
                    <a:srgbClr val="000000">
                      <a:alpha val="43137"/>
                    </a:srgbClr>
                  </a:outerShdw>
                </a:effectLst>
                <a:sym typeface="Wingdings" panose="05000000000000000000" pitchFamily="2" charset="2"/>
              </a:rPr>
              <a:t>Bravais lattice</a:t>
            </a:r>
            <a:endParaRPr lang="en-US"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arn(inVertical)">
                                      <p:cBhvr>
                                        <p:cTn id="7" dur="500"/>
                                        <p:tgtEl>
                                          <p:spTgt spid="1434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3"/>
                                        </p:tgtEl>
                                        <p:attrNameLst>
                                          <p:attrName>style.visibility</p:attrName>
                                        </p:attrNameLst>
                                      </p:cBhvr>
                                      <p:to>
                                        <p:strVal val="visible"/>
                                      </p:to>
                                    </p:set>
                                    <p:animEffect transition="in" filter="barn(inVertical)">
                                      <p:cBhvr>
                                        <p:cTn id="10" dur="500"/>
                                        <p:tgtEl>
                                          <p:spTgt spid="9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4336"/>
                                        </p:tgtEl>
                                        <p:attrNameLst>
                                          <p:attrName>style.visibility</p:attrName>
                                        </p:attrNameLst>
                                      </p:cBhvr>
                                      <p:to>
                                        <p:strVal val="visible"/>
                                      </p:to>
                                    </p:set>
                                    <p:animEffect transition="in" filter="barn(inVertical)">
                                      <p:cBhvr>
                                        <p:cTn id="15" dur="500"/>
                                        <p:tgtEl>
                                          <p:spTgt spid="14336"/>
                                        </p:tgtEl>
                                      </p:cBhvr>
                                    </p:animEffect>
                                  </p:childTnLst>
                                </p:cTn>
                              </p:par>
                              <p:par>
                                <p:cTn id="16" presetID="16" presetClass="entr" presetSubtype="21"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4343"/>
                                        </p:tgtEl>
                                        <p:attrNameLst>
                                          <p:attrName>style.visibility</p:attrName>
                                        </p:attrNameLst>
                                      </p:cBhvr>
                                      <p:to>
                                        <p:strVal val="visible"/>
                                      </p:to>
                                    </p:set>
                                    <p:animEffect transition="in" filter="barn(inVertical)">
                                      <p:cBhvr>
                                        <p:cTn id="23" dur="500"/>
                                        <p:tgtEl>
                                          <p:spTgt spid="14343"/>
                                        </p:tgtEl>
                                      </p:cBhvr>
                                    </p:animEffect>
                                  </p:childTnLst>
                                </p:cTn>
                              </p:par>
                              <p:par>
                                <p:cTn id="24" presetID="16" presetClass="entr" presetSubtype="21" fill="hold" nodeType="withEffect">
                                  <p:stCondLst>
                                    <p:cond delay="0"/>
                                  </p:stCondLst>
                                  <p:childTnLst>
                                    <p:set>
                                      <p:cBhvr>
                                        <p:cTn id="25" dur="1" fill="hold">
                                          <p:stCondLst>
                                            <p:cond delay="0"/>
                                          </p:stCondLst>
                                        </p:cTn>
                                        <p:tgtEl>
                                          <p:spTgt spid="14342"/>
                                        </p:tgtEl>
                                        <p:attrNameLst>
                                          <p:attrName>style.visibility</p:attrName>
                                        </p:attrNameLst>
                                      </p:cBhvr>
                                      <p:to>
                                        <p:strVal val="visible"/>
                                      </p:to>
                                    </p:set>
                                    <p:animEffect transition="in" filter="barn(inVertical)">
                                      <p:cBhvr>
                                        <p:cTn id="26" dur="500"/>
                                        <p:tgtEl>
                                          <p:spTgt spid="14342"/>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4339"/>
                                        </p:tgtEl>
                                        <p:attrNameLst>
                                          <p:attrName>style.visibility</p:attrName>
                                        </p:attrNameLst>
                                      </p:cBhvr>
                                      <p:to>
                                        <p:strVal val="visible"/>
                                      </p:to>
                                    </p:set>
                                    <p:animEffect transition="in" filter="barn(inVertical)">
                                      <p:cBhvr>
                                        <p:cTn id="29" dur="500"/>
                                        <p:tgtEl>
                                          <p:spTgt spid="1433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94"/>
                                        </p:tgtEl>
                                        <p:attrNameLst>
                                          <p:attrName>style.visibility</p:attrName>
                                        </p:attrNameLst>
                                      </p:cBhvr>
                                      <p:to>
                                        <p:strVal val="visible"/>
                                      </p:to>
                                    </p:set>
                                    <p:animEffect transition="in" filter="barn(inVertical)">
                                      <p:cBhvr>
                                        <p:cTn id="34" dur="500"/>
                                        <p:tgtEl>
                                          <p:spTgt spid="9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95"/>
                                        </p:tgtEl>
                                        <p:attrNameLst>
                                          <p:attrName>style.visibility</p:attrName>
                                        </p:attrNameLst>
                                      </p:cBhvr>
                                      <p:to>
                                        <p:strVal val="visible"/>
                                      </p:to>
                                    </p:set>
                                    <p:animEffect transition="in" filter="barn(inVertical)">
                                      <p:cBhvr>
                                        <p:cTn id="37" dur="500"/>
                                        <p:tgtEl>
                                          <p:spTgt spid="9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barn(inVertical)">
                                      <p:cBhvr>
                                        <p:cTn id="42" dur="500"/>
                                        <p:tgtEl>
                                          <p:spTgt spid="47"/>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83"/>
                                        </p:tgtEl>
                                        <p:attrNameLst>
                                          <p:attrName>style.visibility</p:attrName>
                                        </p:attrNameLst>
                                      </p:cBhvr>
                                      <p:to>
                                        <p:strVal val="visible"/>
                                      </p:to>
                                    </p:set>
                                    <p:animEffect transition="in" filter="barn(inVertical)">
                                      <p:cBhvr>
                                        <p:cTn id="45" dur="500"/>
                                        <p:tgtEl>
                                          <p:spTgt spid="83"/>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4337"/>
                                        </p:tgtEl>
                                        <p:attrNameLst>
                                          <p:attrName>style.visibility</p:attrName>
                                        </p:attrNameLst>
                                      </p:cBhvr>
                                      <p:to>
                                        <p:strVal val="visible"/>
                                      </p:to>
                                    </p:set>
                                    <p:animEffect transition="in" filter="barn(inVertical)">
                                      <p:cBhvr>
                                        <p:cTn id="48" dur="500"/>
                                        <p:tgtEl>
                                          <p:spTgt spid="14337"/>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86"/>
                                        </p:tgtEl>
                                        <p:attrNameLst>
                                          <p:attrName>style.visibility</p:attrName>
                                        </p:attrNameLst>
                                      </p:cBhvr>
                                      <p:to>
                                        <p:strVal val="visible"/>
                                      </p:to>
                                    </p:set>
                                    <p:animEffect transition="in" filter="barn(inVertical)">
                                      <p:cBhvr>
                                        <p:cTn id="51" dur="500"/>
                                        <p:tgtEl>
                                          <p:spTgt spid="86"/>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87"/>
                                        </p:tgtEl>
                                        <p:attrNameLst>
                                          <p:attrName>style.visibility</p:attrName>
                                        </p:attrNameLst>
                                      </p:cBhvr>
                                      <p:to>
                                        <p:strVal val="visible"/>
                                      </p:to>
                                    </p:set>
                                    <p:animEffect transition="in" filter="barn(inVertical)">
                                      <p:cBhvr>
                                        <p:cTn id="54" dur="500"/>
                                        <p:tgtEl>
                                          <p:spTgt spid="87"/>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88"/>
                                        </p:tgtEl>
                                        <p:attrNameLst>
                                          <p:attrName>style.visibility</p:attrName>
                                        </p:attrNameLst>
                                      </p:cBhvr>
                                      <p:to>
                                        <p:strVal val="visible"/>
                                      </p:to>
                                    </p:set>
                                    <p:animEffect transition="in" filter="barn(inVertical)">
                                      <p:cBhvr>
                                        <p:cTn id="57" dur="500"/>
                                        <p:tgtEl>
                                          <p:spTgt spid="88"/>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89"/>
                                        </p:tgtEl>
                                        <p:attrNameLst>
                                          <p:attrName>style.visibility</p:attrName>
                                        </p:attrNameLst>
                                      </p:cBhvr>
                                      <p:to>
                                        <p:strVal val="visible"/>
                                      </p:to>
                                    </p:set>
                                    <p:animEffect transition="in" filter="barn(inVertical)">
                                      <p:cBhvr>
                                        <p:cTn id="60" dur="500"/>
                                        <p:tgtEl>
                                          <p:spTgt spid="89"/>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91"/>
                                        </p:tgtEl>
                                        <p:attrNameLst>
                                          <p:attrName>style.visibility</p:attrName>
                                        </p:attrNameLst>
                                      </p:cBhvr>
                                      <p:to>
                                        <p:strVal val="visible"/>
                                      </p:to>
                                    </p:set>
                                    <p:animEffect transition="in" filter="barn(inVertical)">
                                      <p:cBhvr>
                                        <p:cTn id="63" dur="500"/>
                                        <p:tgtEl>
                                          <p:spTgt spid="91"/>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96"/>
                                        </p:tgtEl>
                                        <p:attrNameLst>
                                          <p:attrName>style.visibility</p:attrName>
                                        </p:attrNameLst>
                                      </p:cBhvr>
                                      <p:to>
                                        <p:strVal val="visible"/>
                                      </p:to>
                                    </p:set>
                                    <p:animEffect transition="in" filter="barn(inVertical)">
                                      <p:cBhvr>
                                        <p:cTn id="66" dur="500"/>
                                        <p:tgtEl>
                                          <p:spTgt spid="96"/>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97"/>
                                        </p:tgtEl>
                                        <p:attrNameLst>
                                          <p:attrName>style.visibility</p:attrName>
                                        </p:attrNameLst>
                                      </p:cBhvr>
                                      <p:to>
                                        <p:strVal val="visible"/>
                                      </p:to>
                                    </p:set>
                                    <p:animEffect transition="in" filter="barn(inVertical)">
                                      <p:cBhvr>
                                        <p:cTn id="71"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14336" grpId="0" animBg="1"/>
      <p:bldP spid="14337" grpId="0" animBg="1"/>
      <p:bldP spid="86" grpId="0" animBg="1"/>
      <p:bldP spid="87" grpId="0" animBg="1"/>
      <p:bldP spid="88" grpId="0" animBg="1"/>
      <p:bldP spid="89" grpId="0" animBg="1"/>
      <p:bldP spid="14339" grpId="0" animBg="1"/>
      <p:bldP spid="91" grpId="0" animBg="1"/>
      <p:bldP spid="14340" grpId="0" animBg="1"/>
      <p:bldP spid="93" grpId="0" animBg="1"/>
      <p:bldP spid="94" grpId="0" animBg="1"/>
      <p:bldP spid="95" grpId="0" animBg="1"/>
      <p:bldP spid="96" grpId="0" animBg="1"/>
      <p:bldP spid="14343" grpId="0" animBg="1"/>
      <p:bldP spid="9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731" y="-406"/>
            <a:ext cx="8277225" cy="1371600"/>
          </a:xfrm>
        </p:spPr>
        <p:txBody>
          <a:bodyPr>
            <a:noAutofit/>
          </a:bodyPr>
          <a:lstStyle/>
          <a:p>
            <a:r>
              <a:rPr lang="en-US" altLang="zh-CN" cap="none" dirty="0"/>
              <a:t>Primitive cell and unit cell of cubic crystal systems (FCC and BCC)</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8" y="1887091"/>
            <a:ext cx="4158315" cy="3313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66725" y="5455285"/>
            <a:ext cx="3422650" cy="1198880"/>
          </a:xfrm>
          <a:prstGeom prst="rect">
            <a:avLst/>
          </a:prstGeom>
          <a:noFill/>
        </p:spPr>
        <p:txBody>
          <a:bodyPr wrap="square" rtlCol="0">
            <a:spAutoFit/>
          </a:bodyPr>
          <a:lstStyle/>
          <a:p>
            <a:r>
              <a:rPr lang="en-US" altLang="zh-CN" b="1" dirty="0">
                <a:effectLst>
                  <a:outerShdw blurRad="38100" dist="38100" dir="2700000" algn="tl">
                    <a:srgbClr val="000000">
                      <a:alpha val="43137"/>
                    </a:srgbClr>
                  </a:outerShdw>
                </a:effectLst>
              </a:rPr>
              <a:t>The primitive cell and unit cell of face-centered cube</a:t>
            </a:r>
          </a:p>
        </p:txBody>
      </p:sp>
      <p:sp>
        <p:nvSpPr>
          <p:cNvPr id="31" name="Oval 30"/>
          <p:cNvSpPr/>
          <p:nvPr/>
        </p:nvSpPr>
        <p:spPr>
          <a:xfrm>
            <a:off x="5553075" y="2228850"/>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6372225" y="174307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8153400" y="176212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7381875" y="220027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5534025" y="4076700"/>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6353175" y="359092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8134350" y="360997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7362825" y="404812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4229100" y="3352800"/>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5019675" y="290512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6829425" y="288607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p:cNvSpPr/>
          <p:nvPr/>
        </p:nvSpPr>
        <p:spPr>
          <a:xfrm>
            <a:off x="6057900" y="332422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4229100" y="5181600"/>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p:cNvSpPr/>
          <p:nvPr/>
        </p:nvSpPr>
        <p:spPr>
          <a:xfrm>
            <a:off x="5004048" y="473392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6829425" y="471487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6057900" y="5153025"/>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22" name="Straight Connector 9221"/>
          <p:cNvCxnSpPr>
            <a:stCxn id="31" idx="6"/>
            <a:endCxn id="99" idx="3"/>
          </p:cNvCxnSpPr>
          <p:nvPr/>
        </p:nvCxnSpPr>
        <p:spPr>
          <a:xfrm flipV="1">
            <a:off x="5705475" y="1873157"/>
            <a:ext cx="689068" cy="43189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24" name="Straight Connector 9223"/>
          <p:cNvCxnSpPr>
            <a:stCxn id="99" idx="6"/>
            <a:endCxn id="100" idx="2"/>
          </p:cNvCxnSpPr>
          <p:nvPr/>
        </p:nvCxnSpPr>
        <p:spPr>
          <a:xfrm>
            <a:off x="6524625" y="1819275"/>
            <a:ext cx="1628775" cy="190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26" name="Straight Connector 9225"/>
          <p:cNvCxnSpPr>
            <a:endCxn id="101" idx="6"/>
          </p:cNvCxnSpPr>
          <p:nvPr/>
        </p:nvCxnSpPr>
        <p:spPr>
          <a:xfrm flipH="1">
            <a:off x="7534275" y="1914525"/>
            <a:ext cx="600075" cy="3619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28" name="Straight Connector 9227"/>
          <p:cNvCxnSpPr/>
          <p:nvPr/>
        </p:nvCxnSpPr>
        <p:spPr>
          <a:xfrm>
            <a:off x="5705475" y="2305050"/>
            <a:ext cx="16748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31" name="Straight Connector 9230"/>
          <p:cNvCxnSpPr>
            <a:endCxn id="105" idx="0"/>
          </p:cNvCxnSpPr>
          <p:nvPr/>
        </p:nvCxnSpPr>
        <p:spPr>
          <a:xfrm flipH="1">
            <a:off x="7439025" y="2381250"/>
            <a:ext cx="19050" cy="16668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34" name="Straight Connector 9233"/>
          <p:cNvCxnSpPr>
            <a:stCxn id="105" idx="6"/>
          </p:cNvCxnSpPr>
          <p:nvPr/>
        </p:nvCxnSpPr>
        <p:spPr>
          <a:xfrm flipV="1">
            <a:off x="7515225" y="3717032"/>
            <a:ext cx="619125" cy="40729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8" name="Straight Connector 97"/>
          <p:cNvCxnSpPr>
            <a:endCxn id="103" idx="0"/>
          </p:cNvCxnSpPr>
          <p:nvPr/>
        </p:nvCxnSpPr>
        <p:spPr>
          <a:xfrm flipH="1">
            <a:off x="6438900" y="1924050"/>
            <a:ext cx="9525" cy="1666875"/>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endCxn id="110" idx="1"/>
          </p:cNvCxnSpPr>
          <p:nvPr/>
        </p:nvCxnSpPr>
        <p:spPr>
          <a:xfrm flipH="1">
            <a:off x="4276725" y="3524250"/>
            <a:ext cx="28575" cy="16668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7" name="Straight Connector 116"/>
          <p:cNvCxnSpPr>
            <a:endCxn id="113" idx="0"/>
          </p:cNvCxnSpPr>
          <p:nvPr/>
        </p:nvCxnSpPr>
        <p:spPr>
          <a:xfrm flipH="1">
            <a:off x="6134100" y="3495675"/>
            <a:ext cx="38100" cy="16954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110" idx="6"/>
          </p:cNvCxnSpPr>
          <p:nvPr/>
        </p:nvCxnSpPr>
        <p:spPr>
          <a:xfrm>
            <a:off x="4381500" y="5257800"/>
            <a:ext cx="1666875" cy="952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1" name="Straight Connector 120"/>
          <p:cNvCxnSpPr>
            <a:stCxn id="110" idx="7"/>
            <a:endCxn id="111" idx="3"/>
          </p:cNvCxnSpPr>
          <p:nvPr/>
        </p:nvCxnSpPr>
        <p:spPr>
          <a:xfrm flipV="1">
            <a:off x="4359182" y="4876800"/>
            <a:ext cx="650968" cy="327118"/>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111" idx="0"/>
          </p:cNvCxnSpPr>
          <p:nvPr/>
        </p:nvCxnSpPr>
        <p:spPr>
          <a:xfrm flipH="1" flipV="1">
            <a:off x="5076825" y="3095625"/>
            <a:ext cx="3423" cy="163830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a:endCxn id="112" idx="3"/>
          </p:cNvCxnSpPr>
          <p:nvPr/>
        </p:nvCxnSpPr>
        <p:spPr>
          <a:xfrm flipV="1">
            <a:off x="5172075" y="4848225"/>
            <a:ext cx="1676400" cy="1905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a:stCxn id="106" idx="7"/>
            <a:endCxn id="107" idx="3"/>
          </p:cNvCxnSpPr>
          <p:nvPr/>
        </p:nvCxnSpPr>
        <p:spPr>
          <a:xfrm flipV="1">
            <a:off x="4359182" y="3028950"/>
            <a:ext cx="689068" cy="34616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V="1">
            <a:off x="6216557" y="4876800"/>
            <a:ext cx="650968" cy="32711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a:off x="6515100" y="3676650"/>
            <a:ext cx="1600200" cy="1905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V="1">
            <a:off x="4362450" y="3390900"/>
            <a:ext cx="1666875" cy="38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6210300" y="3009900"/>
            <a:ext cx="600075" cy="3619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V="1">
            <a:off x="8210550" y="1924050"/>
            <a:ext cx="28575" cy="16573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a:off x="5648325" y="4105275"/>
            <a:ext cx="1666875" cy="9525"/>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241" name="Straight Connector 9240"/>
          <p:cNvCxnSpPr>
            <a:endCxn id="108" idx="4"/>
          </p:cNvCxnSpPr>
          <p:nvPr/>
        </p:nvCxnSpPr>
        <p:spPr>
          <a:xfrm flipV="1">
            <a:off x="6905625" y="3038475"/>
            <a:ext cx="28575" cy="1657350"/>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245" name="Straight Connector 9244"/>
          <p:cNvCxnSpPr>
            <a:stCxn id="31" idx="4"/>
            <a:endCxn id="102" idx="0"/>
          </p:cNvCxnSpPr>
          <p:nvPr/>
        </p:nvCxnSpPr>
        <p:spPr>
          <a:xfrm flipH="1">
            <a:off x="5600700" y="2381250"/>
            <a:ext cx="28575" cy="1714500"/>
          </a:xfrm>
          <a:prstGeom prst="line">
            <a:avLst/>
          </a:prstGeom>
          <a:ln w="381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247" name="Straight Connector 9246"/>
          <p:cNvCxnSpPr>
            <a:endCxn id="108" idx="2"/>
          </p:cNvCxnSpPr>
          <p:nvPr/>
        </p:nvCxnSpPr>
        <p:spPr>
          <a:xfrm flipV="1">
            <a:off x="5162550" y="2962275"/>
            <a:ext cx="1666875" cy="38100"/>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V="1">
            <a:off x="5692682" y="3743325"/>
            <a:ext cx="650968" cy="327118"/>
          </a:xfrm>
          <a:prstGeom prst="line">
            <a:avLst/>
          </a:prstGeom>
          <a:ln w="381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a:xfrm>
            <a:off x="5133975" y="2358932"/>
            <a:ext cx="2295525" cy="2397311"/>
            <a:chOff x="5133975" y="2358932"/>
            <a:chExt cx="2295525" cy="2397311"/>
          </a:xfrm>
        </p:grpSpPr>
        <p:cxnSp>
          <p:nvCxnSpPr>
            <p:cNvPr id="176" name="Straight Connector 175"/>
            <p:cNvCxnSpPr>
              <a:endCxn id="109" idx="3"/>
            </p:cNvCxnSpPr>
            <p:nvPr/>
          </p:nvCxnSpPr>
          <p:spPr>
            <a:xfrm flipV="1">
              <a:off x="5638800" y="3454307"/>
              <a:ext cx="441418" cy="631918"/>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grpSp>
          <p:nvGrpSpPr>
            <p:cNvPr id="184" name="Group 183"/>
            <p:cNvGrpSpPr/>
            <p:nvPr/>
          </p:nvGrpSpPr>
          <p:grpSpPr>
            <a:xfrm>
              <a:off x="5133975" y="2358932"/>
              <a:ext cx="2295525" cy="2397311"/>
              <a:chOff x="5133975" y="2358932"/>
              <a:chExt cx="2295525" cy="2397311"/>
            </a:xfrm>
          </p:grpSpPr>
          <p:cxnSp>
            <p:nvCxnSpPr>
              <p:cNvPr id="9217" name="Straight Connector 9216"/>
              <p:cNvCxnSpPr>
                <a:stCxn id="31" idx="4"/>
                <a:endCxn id="107" idx="7"/>
              </p:cNvCxnSpPr>
              <p:nvPr/>
            </p:nvCxnSpPr>
            <p:spPr>
              <a:xfrm flipH="1">
                <a:off x="5149757" y="2381250"/>
                <a:ext cx="479518" cy="546193"/>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9243" name="Straight Connector 9242"/>
              <p:cNvCxnSpPr>
                <a:stCxn id="112" idx="7"/>
                <a:endCxn id="105" idx="3"/>
              </p:cNvCxnSpPr>
              <p:nvPr/>
            </p:nvCxnSpPr>
            <p:spPr>
              <a:xfrm flipV="1">
                <a:off x="6959507" y="4181475"/>
                <a:ext cx="441418" cy="555718"/>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a:off x="5159282" y="3035207"/>
                <a:ext cx="1168586" cy="549461"/>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6457950" y="3714750"/>
                <a:ext cx="447675" cy="1009650"/>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6197507" y="3425732"/>
                <a:ext cx="1203418" cy="641443"/>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5648325" y="2381250"/>
                <a:ext cx="447675" cy="1009650"/>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9236" name="Straight Connector 9235"/>
              <p:cNvCxnSpPr>
                <a:stCxn id="31" idx="5"/>
                <a:endCxn id="108" idx="1"/>
              </p:cNvCxnSpPr>
              <p:nvPr/>
            </p:nvCxnSpPr>
            <p:spPr>
              <a:xfrm>
                <a:off x="5683157" y="2358932"/>
                <a:ext cx="1168586" cy="549461"/>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9238" name="Straight Connector 9237"/>
              <p:cNvCxnSpPr/>
              <p:nvPr/>
            </p:nvCxnSpPr>
            <p:spPr>
              <a:xfrm>
                <a:off x="6981825" y="3057525"/>
                <a:ext cx="447675" cy="1009650"/>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a:off x="5664107" y="4206782"/>
                <a:ext cx="1168586" cy="549461"/>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a:off x="5133975" y="3076575"/>
                <a:ext cx="447675" cy="1009650"/>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flipV="1">
                <a:off x="6477000" y="2987582"/>
                <a:ext cx="441418" cy="631918"/>
              </a:xfrm>
              <a:prstGeom prst="line">
                <a:avLst/>
              </a:prstGeom>
              <a:ln w="38100">
                <a:solidFill>
                  <a:srgbClr val="0000FF"/>
                </a:solidFill>
                <a:prstDash val="dash"/>
              </a:ln>
            </p:spPr>
            <p:style>
              <a:lnRef idx="1">
                <a:schemeClr val="accent1"/>
              </a:lnRef>
              <a:fillRef idx="0">
                <a:schemeClr val="accent1"/>
              </a:fillRef>
              <a:effectRef idx="0">
                <a:schemeClr val="accent1"/>
              </a:effectRef>
              <a:fontRef idx="minor">
                <a:schemeClr val="tx1"/>
              </a:fontRef>
            </p:style>
          </p:cxnSp>
        </p:grpSp>
      </p:grpSp>
      <p:sp>
        <p:nvSpPr>
          <p:cNvPr id="3" name="TextBox 3"/>
          <p:cNvSpPr txBox="1"/>
          <p:nvPr/>
        </p:nvSpPr>
        <p:spPr>
          <a:xfrm>
            <a:off x="4307205" y="5455285"/>
            <a:ext cx="3690620" cy="829945"/>
          </a:xfrm>
          <a:prstGeom prst="rect">
            <a:avLst/>
          </a:prstGeom>
          <a:noFill/>
        </p:spPr>
        <p:txBody>
          <a:bodyPr wrap="square" rtlCol="0">
            <a:spAutoFit/>
          </a:bodyPr>
          <a:lstStyle/>
          <a:p>
            <a:r>
              <a:rPr lang="en-US" altLang="zh-CN" b="1" dirty="0">
                <a:effectLst>
                  <a:outerShdw blurRad="38100" dist="38100" dir="2700000" algn="tl">
                    <a:srgbClr val="000000">
                      <a:alpha val="43137"/>
                    </a:srgbClr>
                  </a:outerShdw>
                </a:effectLst>
              </a:rPr>
              <a:t>The primitive cell and unit cell of body-centered cube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barn(inVertical)">
                                      <p:cBhvr>
                                        <p:cTn id="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75320" y="188640"/>
            <a:ext cx="8501136" cy="720080"/>
          </a:xfrm>
        </p:spPr>
        <p:txBody>
          <a:bodyPr>
            <a:noAutofit/>
          </a:bodyPr>
          <a:lstStyle/>
          <a:p>
            <a:r>
              <a:rPr lang="en-US" sz="2800" b="0" cap="none" dirty="0">
                <a:effectLst/>
              </a:rPr>
              <a:t> 24 distinct forms of </a:t>
            </a:r>
            <a:r>
              <a:rPr lang="en-US" sz="2800" b="0" cap="none" dirty="0" err="1">
                <a:effectLst/>
              </a:rPr>
              <a:t>wigner-seitz</a:t>
            </a:r>
            <a:r>
              <a:rPr lang="en-US" sz="2800" b="0" cap="none" dirty="0">
                <a:effectLst/>
              </a:rPr>
              <a:t> cells</a:t>
            </a:r>
            <a:endParaRPr lang="en-US" sz="2800" cap="none"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165126"/>
            <a:ext cx="3822767" cy="5633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1346528"/>
            <a:ext cx="3657600"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3" name="Rectangle 3"/>
          <p:cNvSpPr>
            <a:spLocks noChangeArrowheads="1"/>
          </p:cNvSpPr>
          <p:nvPr/>
        </p:nvSpPr>
        <p:spPr bwMode="auto">
          <a:xfrm>
            <a:off x="525780" y="116840"/>
            <a:ext cx="85382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3200" b="1" spc="-60" dirty="0">
                <a:solidFill>
                  <a:srgbClr val="FF0066"/>
                </a:solidFill>
                <a:effectLst>
                  <a:outerShdw blurRad="38100" dist="38100" dir="2700000" algn="tl">
                    <a:srgbClr val="000000"/>
                  </a:outerShdw>
                </a:effectLst>
                <a:latin typeface="+mj-lt"/>
                <a:ea typeface="+mj-ea"/>
                <a:cs typeface="+mj-cs"/>
              </a:rPr>
              <a:t>4. Classification of 3-D space lattice</a:t>
            </a:r>
          </a:p>
        </p:txBody>
      </p:sp>
      <p:sp>
        <p:nvSpPr>
          <p:cNvPr id="2" name="Rectangle 1"/>
          <p:cNvSpPr/>
          <p:nvPr/>
        </p:nvSpPr>
        <p:spPr>
          <a:xfrm>
            <a:off x="467544" y="934720"/>
            <a:ext cx="8208912" cy="1384995"/>
          </a:xfrm>
          <a:prstGeom prst="rect">
            <a:avLst/>
          </a:prstGeom>
        </p:spPr>
        <p:txBody>
          <a:bodyPr wrap="square">
            <a:spAutoFit/>
          </a:bodyPr>
          <a:lstStyle/>
          <a:p>
            <a:r>
              <a:rPr sz="2800" b="1" dirty="0"/>
              <a:t>The spa</a:t>
            </a:r>
            <a:r>
              <a:rPr lang="en-US" sz="2800" b="1" dirty="0"/>
              <a:t>ce</a:t>
            </a:r>
            <a:r>
              <a:rPr sz="2800" b="1" dirty="0"/>
              <a:t> lattice of crystal can be divided into seven kinds of parallelepipes, corresponding to seven crystal </a:t>
            </a:r>
            <a:r>
              <a:rPr lang="en-US" sz="2800" b="1" dirty="0"/>
              <a:t>systems</a:t>
            </a:r>
            <a:r>
              <a:rPr sz="2800" b="1" dirty="0"/>
              <a:t> and 14 kinds of Bravais</a:t>
            </a:r>
            <a:r>
              <a:rPr lang="en-US" sz="2800" b="1" dirty="0"/>
              <a:t> </a:t>
            </a:r>
            <a:r>
              <a:rPr sz="2800" b="1" dirty="0"/>
              <a:t>lattice</a:t>
            </a:r>
            <a:r>
              <a:rPr lang="en-US" sz="2800" b="1" dirty="0"/>
              <a:t>s</a:t>
            </a:r>
            <a:r>
              <a:rPr sz="2800" b="1" dirty="0"/>
              <a:t>.</a:t>
            </a:r>
          </a:p>
        </p:txBody>
      </p:sp>
      <p:sp>
        <p:nvSpPr>
          <p:cNvPr id="5" name="Rectangle 4"/>
          <p:cNvSpPr/>
          <p:nvPr/>
        </p:nvSpPr>
        <p:spPr>
          <a:xfrm>
            <a:off x="467544" y="2492896"/>
            <a:ext cx="8181414" cy="3108543"/>
          </a:xfrm>
          <a:prstGeom prst="rect">
            <a:avLst/>
          </a:prstGeom>
        </p:spPr>
        <p:txBody>
          <a:bodyPr wrap="square">
            <a:spAutoFit/>
          </a:bodyPr>
          <a:lstStyle/>
          <a:p>
            <a:r>
              <a:rPr lang="en-US" altLang="zh-CN" sz="2800" dirty="0"/>
              <a:t>Cubic (isometric) system </a:t>
            </a:r>
            <a:r>
              <a:rPr lang="zh-CN" altLang="en-US" sz="2800" dirty="0"/>
              <a:t>立方（等轴）晶系 ；</a:t>
            </a:r>
          </a:p>
          <a:p>
            <a:r>
              <a:rPr lang="en-US" altLang="zh-CN" sz="2800" dirty="0"/>
              <a:t>Tetragonal system </a:t>
            </a:r>
            <a:r>
              <a:rPr lang="zh-CN" altLang="en-US" sz="2800" dirty="0"/>
              <a:t>正方（四方）晶系 ；</a:t>
            </a:r>
          </a:p>
          <a:p>
            <a:r>
              <a:rPr lang="en-US" altLang="zh-CN" sz="2800" dirty="0"/>
              <a:t>Hexagonal system </a:t>
            </a:r>
            <a:r>
              <a:rPr lang="zh-CN" altLang="en-US" sz="2800" dirty="0"/>
              <a:t>六角  </a:t>
            </a:r>
            <a:r>
              <a:rPr lang="en-US" altLang="zh-CN" sz="2800" dirty="0"/>
              <a:t>(</a:t>
            </a:r>
            <a:r>
              <a:rPr lang="zh-CN" altLang="en-US" sz="2800" dirty="0"/>
              <a:t>六方）晶系 ；</a:t>
            </a:r>
          </a:p>
          <a:p>
            <a:r>
              <a:rPr lang="en-US" altLang="zh-CN" sz="2800" dirty="0"/>
              <a:t>Trigonal </a:t>
            </a:r>
            <a:r>
              <a:rPr lang="en-US" altLang="zh-CN" sz="2800" dirty="0">
                <a:sym typeface="+mn-ea"/>
              </a:rPr>
              <a:t>system </a:t>
            </a:r>
            <a:r>
              <a:rPr lang="zh-CN" altLang="en-US" sz="2800" dirty="0"/>
              <a:t>三角（三方，菱方）晶系  ；</a:t>
            </a:r>
          </a:p>
          <a:p>
            <a:r>
              <a:rPr lang="en-US" altLang="zh-CN" sz="2800" dirty="0"/>
              <a:t>Orthorhombic </a:t>
            </a:r>
            <a:r>
              <a:rPr lang="en-US" altLang="zh-CN" sz="2800" dirty="0">
                <a:sym typeface="+mn-ea"/>
              </a:rPr>
              <a:t>system </a:t>
            </a:r>
            <a:r>
              <a:rPr lang="zh-CN" altLang="en-US" sz="2800" dirty="0"/>
              <a:t>正交（斜方）晶系 ；</a:t>
            </a:r>
            <a:r>
              <a:rPr lang="en-US" altLang="zh-CN" sz="2800" dirty="0"/>
              <a:t>Monoclinic </a:t>
            </a:r>
            <a:r>
              <a:rPr lang="en-US" altLang="zh-CN" sz="2800" dirty="0">
                <a:sym typeface="+mn-ea"/>
              </a:rPr>
              <a:t>system </a:t>
            </a:r>
            <a:r>
              <a:rPr lang="zh-CN" altLang="en-US" sz="2800" dirty="0"/>
              <a:t>单斜晶系  ；</a:t>
            </a:r>
          </a:p>
          <a:p>
            <a:r>
              <a:rPr lang="en-US" altLang="zh-CN" sz="2800" dirty="0"/>
              <a:t>Triclinic </a:t>
            </a:r>
            <a:r>
              <a:rPr lang="en-US" altLang="zh-CN" sz="2800" dirty="0">
                <a:sym typeface="+mn-ea"/>
              </a:rPr>
              <a:t>system </a:t>
            </a:r>
            <a:r>
              <a:rPr lang="zh-CN" altLang="en-US" sz="2800" dirty="0"/>
              <a:t>三斜晶系  。</a:t>
            </a:r>
          </a:p>
        </p:txBody>
      </p:sp>
      <p:sp>
        <p:nvSpPr>
          <p:cNvPr id="6" name="文本框 5">
            <a:extLst>
              <a:ext uri="{FF2B5EF4-FFF2-40B4-BE49-F238E27FC236}">
                <a16:creationId xmlns:a16="http://schemas.microsoft.com/office/drawing/2014/main" id="{AF848A28-C928-42CF-B053-C3BD548C3C35}"/>
              </a:ext>
            </a:extLst>
          </p:cNvPr>
          <p:cNvSpPr txBox="1"/>
          <p:nvPr/>
        </p:nvSpPr>
        <p:spPr>
          <a:xfrm>
            <a:off x="467544" y="5657671"/>
            <a:ext cx="7776864" cy="830997"/>
          </a:xfrm>
          <a:prstGeom prst="rect">
            <a:avLst/>
          </a:prstGeom>
          <a:noFill/>
        </p:spPr>
        <p:txBody>
          <a:bodyPr wrap="square">
            <a:spAutoFit/>
          </a:bodyPr>
          <a:lstStyle/>
          <a:p>
            <a:r>
              <a:rPr lang="zh-CN" altLang="en-US" dirty="0"/>
              <a:t>如何记忆：“</a:t>
            </a:r>
            <a:r>
              <a:rPr lang="zh-CN" altLang="en-US" b="1" dirty="0">
                <a:solidFill>
                  <a:srgbClr val="FF0000"/>
                </a:solidFill>
              </a:rPr>
              <a:t>斜</a:t>
            </a:r>
            <a:r>
              <a:rPr lang="zh-CN" altLang="en-US" b="1" dirty="0">
                <a:solidFill>
                  <a:srgbClr val="00B050"/>
                </a:solidFill>
              </a:rPr>
              <a:t>角</a:t>
            </a:r>
            <a:r>
              <a:rPr lang="zh-CN" altLang="en-US" b="1" dirty="0">
                <a:solidFill>
                  <a:srgbClr val="00B0F0"/>
                </a:solidFill>
              </a:rPr>
              <a:t>方</a:t>
            </a:r>
            <a:r>
              <a:rPr lang="zh-CN" altLang="en-US" b="1" dirty="0"/>
              <a:t>交</a:t>
            </a:r>
            <a:r>
              <a:rPr lang="zh-CN" altLang="en-US" dirty="0"/>
              <a:t>” ：</a:t>
            </a:r>
          </a:p>
          <a:p>
            <a:r>
              <a:rPr lang="zh-CN" altLang="en-US" dirty="0">
                <a:solidFill>
                  <a:srgbClr val="FF3300"/>
                </a:solidFill>
              </a:rPr>
              <a:t>三斜，单斜</a:t>
            </a:r>
            <a:r>
              <a:rPr lang="zh-CN" altLang="en-US" dirty="0"/>
              <a:t>；</a:t>
            </a:r>
            <a:r>
              <a:rPr lang="zh-CN" altLang="en-US" dirty="0">
                <a:solidFill>
                  <a:srgbClr val="00B050"/>
                </a:solidFill>
              </a:rPr>
              <a:t>三角，六角</a:t>
            </a:r>
            <a:r>
              <a:rPr lang="zh-CN" altLang="en-US" dirty="0"/>
              <a:t>；</a:t>
            </a:r>
            <a:r>
              <a:rPr lang="zh-CN" altLang="en-US" dirty="0">
                <a:solidFill>
                  <a:srgbClr val="00B0F0"/>
                </a:solidFill>
              </a:rPr>
              <a:t>正方，立方</a:t>
            </a:r>
            <a:r>
              <a:rPr lang="zh-CN" altLang="en-US" dirty="0"/>
              <a:t>；正交（斜方）。</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3" name="Rectangle 3"/>
          <p:cNvSpPr>
            <a:spLocks noChangeArrowheads="1"/>
          </p:cNvSpPr>
          <p:nvPr/>
        </p:nvSpPr>
        <p:spPr bwMode="auto">
          <a:xfrm>
            <a:off x="525780" y="116840"/>
            <a:ext cx="85382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3200" b="1" spc="-60" dirty="0">
                <a:solidFill>
                  <a:srgbClr val="FF0066"/>
                </a:solidFill>
                <a:effectLst>
                  <a:outerShdw blurRad="38100" dist="38100" dir="2700000" algn="tl">
                    <a:srgbClr val="000000"/>
                  </a:outerShdw>
                </a:effectLst>
                <a:latin typeface="+mj-lt"/>
                <a:ea typeface="+mj-ea"/>
                <a:cs typeface="+mj-cs"/>
              </a:rPr>
              <a:t>4. Classification of 3-D space lattice</a:t>
            </a:r>
          </a:p>
        </p:txBody>
      </p:sp>
      <p:pic>
        <p:nvPicPr>
          <p:cNvPr id="13314" name="Picture 2" descr="cry-sy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1760" y="646617"/>
            <a:ext cx="4464496" cy="618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726687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285" t="28453" r="13748" b="5583"/>
          <a:stretch/>
        </p:blipFill>
        <p:spPr bwMode="auto">
          <a:xfrm>
            <a:off x="5076056" y="1556792"/>
            <a:ext cx="3252083" cy="3283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p:cNvSpPr txBox="1"/>
          <p:nvPr/>
        </p:nvSpPr>
        <p:spPr>
          <a:xfrm>
            <a:off x="336426" y="1340768"/>
            <a:ext cx="4451598" cy="4154984"/>
          </a:xfrm>
          <a:prstGeom prst="rect">
            <a:avLst/>
          </a:prstGeom>
          <a:noFill/>
        </p:spPr>
        <p:txBody>
          <a:bodyPr wrap="square" rtlCol="0">
            <a:spAutoFit/>
          </a:bodyPr>
          <a:lstStyle/>
          <a:p>
            <a:pPr algn="just"/>
            <a:r>
              <a:rPr lang="en-US" altLang="zh-CN" dirty="0"/>
              <a:t>Hexagonal unit cell can be found in the lattices of both trigonal crystal system and hexagonal crystal system, thus it has the symmetry characteristics of both </a:t>
            </a:r>
            <a:r>
              <a:rPr lang="en-US" altLang="zh-CN" dirty="0">
                <a:sym typeface="+mn-ea"/>
              </a:rPr>
              <a:t>trigonal crystal system and hexagonal crystal system.</a:t>
            </a:r>
          </a:p>
          <a:p>
            <a:pPr algn="just"/>
            <a:endParaRPr lang="en-US" altLang="zh-CN" dirty="0"/>
          </a:p>
          <a:p>
            <a:pPr algn="just"/>
            <a:r>
              <a:rPr lang="en-US" altLang="zh-CN" dirty="0"/>
              <a:t>Additionally, we can also find the trigonal unit cell in the lattices of hexagonal crystal system.</a:t>
            </a:r>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6" name="Rectangle 2"/>
          <p:cNvSpPr>
            <a:spLocks noGrp="1" noChangeArrowheads="1"/>
          </p:cNvSpPr>
          <p:nvPr>
            <p:ph type="ctrTitle"/>
          </p:nvPr>
        </p:nvSpPr>
        <p:spPr>
          <a:xfrm>
            <a:off x="469900" y="292735"/>
            <a:ext cx="8518525" cy="579120"/>
          </a:xfrm>
        </p:spPr>
        <p:txBody>
          <a:bodyPr/>
          <a:lstStyle/>
          <a:p>
            <a:pPr algn="l"/>
            <a:r>
              <a:rPr lang="en-US" altLang="zh-CN" sz="2400" cap="none" dirty="0">
                <a:effectLst/>
              </a:rPr>
              <a:t>5</a:t>
            </a:r>
            <a:r>
              <a:rPr lang="zh-CN" altLang="en-US" sz="2400" cap="none" dirty="0">
                <a:effectLst/>
              </a:rPr>
              <a:t>．</a:t>
            </a:r>
            <a:r>
              <a:rPr lang="en-US" altLang="zh-CN" sz="2400" cap="none" dirty="0">
                <a:effectLst/>
              </a:rPr>
              <a:t> Lattice type and </a:t>
            </a:r>
            <a:r>
              <a:rPr lang="en-US" altLang="zh-CN" sz="2400" cap="none" dirty="0">
                <a:effectLst/>
                <a:sym typeface="+mn-ea"/>
              </a:rPr>
              <a:t>the distribution of lattice points in </a:t>
            </a:r>
            <a:r>
              <a:rPr lang="en-US" altLang="zh-CN" sz="2400" cap="none" dirty="0">
                <a:effectLst/>
              </a:rPr>
              <a:t>parallelepipeds</a:t>
            </a:r>
          </a:p>
        </p:txBody>
      </p:sp>
      <p:sp>
        <p:nvSpPr>
          <p:cNvPr id="149507" name="Rectangle 3"/>
          <p:cNvSpPr>
            <a:spLocks noGrp="1" noChangeArrowheads="1"/>
          </p:cNvSpPr>
          <p:nvPr>
            <p:ph type="subTitle" idx="1"/>
          </p:nvPr>
        </p:nvSpPr>
        <p:spPr>
          <a:xfrm>
            <a:off x="566738" y="1340768"/>
            <a:ext cx="8013700" cy="3240360"/>
          </a:xfrm>
        </p:spPr>
        <p:txBody>
          <a:bodyPr/>
          <a:lstStyle/>
          <a:p>
            <a:pPr>
              <a:lnSpc>
                <a:spcPct val="110000"/>
              </a:lnSpc>
            </a:pPr>
            <a:r>
              <a:rPr lang="en-US" altLang="zh-CN" sz="1800" cap="none" dirty="0">
                <a:solidFill>
                  <a:schemeClr val="tx1"/>
                </a:solidFill>
                <a:latin typeface="+mn-lt"/>
              </a:rPr>
              <a:t>1</a:t>
            </a:r>
            <a:r>
              <a:rPr lang="zh-CN" altLang="en-US" sz="1800" cap="none" dirty="0">
                <a:solidFill>
                  <a:schemeClr val="tx1"/>
                </a:solidFill>
                <a:latin typeface="+mn-lt"/>
              </a:rPr>
              <a:t>）</a:t>
            </a:r>
            <a:r>
              <a:rPr lang="en-US" altLang="zh-CN" sz="1800" cap="none" dirty="0">
                <a:solidFill>
                  <a:schemeClr val="tx1"/>
                </a:solidFill>
                <a:latin typeface="+mn-lt"/>
              </a:rPr>
              <a:t>Primitive lattice </a:t>
            </a:r>
            <a:r>
              <a:rPr lang="zh-CN" altLang="en-US" sz="1800" cap="none" dirty="0">
                <a:solidFill>
                  <a:schemeClr val="tx1"/>
                </a:solidFill>
                <a:latin typeface="+mn-lt"/>
              </a:rPr>
              <a:t>（</a:t>
            </a:r>
            <a:r>
              <a:rPr lang="en-US" altLang="zh-CN" sz="1800" i="1" cap="none" dirty="0">
                <a:solidFill>
                  <a:schemeClr val="tx1"/>
                </a:solidFill>
                <a:latin typeface="+mn-lt"/>
              </a:rPr>
              <a:t>P</a:t>
            </a:r>
            <a:r>
              <a:rPr lang="en-US" altLang="zh-CN" sz="1800" cap="none" dirty="0">
                <a:solidFill>
                  <a:schemeClr val="tx1"/>
                </a:solidFill>
                <a:latin typeface="+mn-lt"/>
              </a:rPr>
              <a:t>, </a:t>
            </a:r>
            <a:r>
              <a:rPr lang="zh-CN" altLang="en-US" sz="1800" cap="none" dirty="0">
                <a:solidFill>
                  <a:schemeClr val="tx1"/>
                </a:solidFill>
                <a:latin typeface="+mn-lt"/>
              </a:rPr>
              <a:t>原始格子）：</a:t>
            </a:r>
            <a:r>
              <a:rPr lang="en-US" altLang="zh-CN" sz="1800" cap="none" dirty="0">
                <a:solidFill>
                  <a:schemeClr val="tx1"/>
                </a:solidFill>
                <a:latin typeface="+mn-lt"/>
                <a:sym typeface="+mn-ea"/>
              </a:rPr>
              <a:t>node</a:t>
            </a:r>
            <a:r>
              <a:rPr lang="en-US" altLang="zh-CN" sz="1800" cap="none" dirty="0">
                <a:solidFill>
                  <a:schemeClr val="tx1"/>
                </a:solidFill>
                <a:latin typeface="+mn-lt"/>
              </a:rPr>
              <a:t>s occupy the eight vertices of parallelepiped.</a:t>
            </a:r>
          </a:p>
          <a:p>
            <a:pPr>
              <a:lnSpc>
                <a:spcPct val="110000"/>
              </a:lnSpc>
            </a:pPr>
            <a:r>
              <a:rPr lang="en-US" altLang="zh-CN" sz="1800" cap="none" dirty="0">
                <a:solidFill>
                  <a:schemeClr val="tx1"/>
                </a:solidFill>
                <a:latin typeface="+mn-lt"/>
              </a:rPr>
              <a:t>2</a:t>
            </a:r>
            <a:r>
              <a:rPr lang="zh-CN" altLang="en-US" sz="1800" cap="none" dirty="0">
                <a:solidFill>
                  <a:schemeClr val="tx1"/>
                </a:solidFill>
                <a:latin typeface="+mn-lt"/>
              </a:rPr>
              <a:t>）</a:t>
            </a:r>
            <a:r>
              <a:rPr lang="en-US" altLang="zh-CN" sz="1800" cap="none" dirty="0">
                <a:solidFill>
                  <a:schemeClr val="tx1"/>
                </a:solidFill>
                <a:latin typeface="+mn-lt"/>
              </a:rPr>
              <a:t>End-centered lattice</a:t>
            </a:r>
            <a:r>
              <a:rPr lang="zh-CN" altLang="en-US" sz="1800" cap="none" dirty="0">
                <a:solidFill>
                  <a:schemeClr val="tx1"/>
                </a:solidFill>
                <a:latin typeface="+mn-lt"/>
              </a:rPr>
              <a:t>（</a:t>
            </a:r>
            <a:r>
              <a:rPr lang="en-US" altLang="zh-CN" sz="1800" i="1" cap="none" dirty="0">
                <a:solidFill>
                  <a:schemeClr val="tx1"/>
                </a:solidFill>
                <a:latin typeface="+mn-lt"/>
              </a:rPr>
              <a:t>C</a:t>
            </a:r>
            <a:r>
              <a:rPr lang="zh-CN" altLang="en-US" sz="1800" i="1" cap="none" dirty="0">
                <a:solidFill>
                  <a:schemeClr val="tx1"/>
                </a:solidFill>
                <a:latin typeface="+mn-lt"/>
              </a:rPr>
              <a:t>、</a:t>
            </a:r>
            <a:r>
              <a:rPr lang="en-US" altLang="zh-CN" sz="1800" i="1" cap="none" dirty="0">
                <a:solidFill>
                  <a:schemeClr val="tx1"/>
                </a:solidFill>
                <a:latin typeface="+mn-lt"/>
              </a:rPr>
              <a:t>A</a:t>
            </a:r>
            <a:r>
              <a:rPr lang="zh-CN" altLang="en-US" sz="1800" i="1" cap="none" dirty="0">
                <a:solidFill>
                  <a:schemeClr val="tx1"/>
                </a:solidFill>
                <a:latin typeface="+mn-lt"/>
              </a:rPr>
              <a:t>、</a:t>
            </a:r>
            <a:r>
              <a:rPr lang="en-US" altLang="zh-CN" sz="1800" i="1" cap="none" dirty="0">
                <a:solidFill>
                  <a:schemeClr val="tx1"/>
                </a:solidFill>
                <a:latin typeface="+mn-lt"/>
              </a:rPr>
              <a:t>B</a:t>
            </a:r>
            <a:r>
              <a:rPr lang="en-US" altLang="zh-CN" sz="1800" cap="none" dirty="0">
                <a:solidFill>
                  <a:schemeClr val="tx1"/>
                </a:solidFill>
                <a:latin typeface="+mn-lt"/>
              </a:rPr>
              <a:t>, </a:t>
            </a:r>
            <a:r>
              <a:rPr lang="zh-CN" altLang="en-US" sz="1800" cap="none" dirty="0">
                <a:solidFill>
                  <a:schemeClr val="tx1"/>
                </a:solidFill>
                <a:latin typeface="+mn-lt"/>
              </a:rPr>
              <a:t>底心格子）：</a:t>
            </a:r>
            <a:r>
              <a:rPr lang="en-US" altLang="zh-CN" sz="1800" cap="none" dirty="0">
                <a:solidFill>
                  <a:schemeClr val="tx1"/>
                </a:solidFill>
                <a:latin typeface="+mn-lt"/>
                <a:sym typeface="+mn-ea"/>
              </a:rPr>
              <a:t>nodes occupy the eight vertices of parallelepiped and two face centers of a pair of parallel planes. </a:t>
            </a:r>
          </a:p>
          <a:p>
            <a:pPr>
              <a:lnSpc>
                <a:spcPct val="110000"/>
              </a:lnSpc>
            </a:pPr>
            <a:r>
              <a:rPr lang="en-US" altLang="zh-CN" sz="1800" cap="none" dirty="0">
                <a:solidFill>
                  <a:schemeClr val="tx1"/>
                </a:solidFill>
                <a:latin typeface="+mn-lt"/>
              </a:rPr>
              <a:t>3</a:t>
            </a:r>
            <a:r>
              <a:rPr lang="zh-CN" altLang="en-US" sz="1800" cap="none" dirty="0">
                <a:solidFill>
                  <a:schemeClr val="tx1"/>
                </a:solidFill>
                <a:latin typeface="+mn-lt"/>
              </a:rPr>
              <a:t>）</a:t>
            </a:r>
            <a:r>
              <a:rPr lang="en-US" altLang="zh-CN" sz="1800" cap="none" dirty="0">
                <a:solidFill>
                  <a:schemeClr val="tx1"/>
                </a:solidFill>
                <a:latin typeface="+mn-lt"/>
              </a:rPr>
              <a:t>Body-centered lattice </a:t>
            </a:r>
            <a:r>
              <a:rPr lang="zh-CN" altLang="en-US" sz="1800" cap="none" dirty="0">
                <a:solidFill>
                  <a:schemeClr val="tx1"/>
                </a:solidFill>
                <a:latin typeface="+mn-lt"/>
              </a:rPr>
              <a:t>（</a:t>
            </a:r>
            <a:r>
              <a:rPr lang="en-US" altLang="zh-CN" sz="1800" i="1" cap="none" dirty="0">
                <a:solidFill>
                  <a:schemeClr val="tx1"/>
                </a:solidFill>
                <a:latin typeface="+mn-lt"/>
              </a:rPr>
              <a:t>I</a:t>
            </a:r>
            <a:r>
              <a:rPr lang="en-US" altLang="zh-CN" sz="1800" cap="none" dirty="0">
                <a:solidFill>
                  <a:schemeClr val="tx1"/>
                </a:solidFill>
                <a:latin typeface="+mn-lt"/>
              </a:rPr>
              <a:t>, </a:t>
            </a:r>
            <a:r>
              <a:rPr lang="zh-CN" altLang="en-US" sz="1800" cap="none" dirty="0">
                <a:solidFill>
                  <a:schemeClr val="tx1"/>
                </a:solidFill>
                <a:latin typeface="+mn-lt"/>
              </a:rPr>
              <a:t>体心格子）：</a:t>
            </a:r>
            <a:r>
              <a:rPr lang="en-US" altLang="zh-CN" sz="1800" cap="none" dirty="0">
                <a:solidFill>
                  <a:schemeClr val="tx1"/>
                </a:solidFill>
                <a:latin typeface="+mn-lt"/>
                <a:sym typeface="+mn-ea"/>
              </a:rPr>
              <a:t>nodes occupy the eight vertices and the body center of parallelepiped. </a:t>
            </a:r>
          </a:p>
          <a:p>
            <a:pPr>
              <a:lnSpc>
                <a:spcPct val="110000"/>
              </a:lnSpc>
            </a:pPr>
            <a:r>
              <a:rPr lang="en-US" altLang="zh-CN" sz="1800" cap="none" dirty="0">
                <a:solidFill>
                  <a:schemeClr val="tx1"/>
                </a:solidFill>
                <a:latin typeface="+mn-lt"/>
              </a:rPr>
              <a:t>4</a:t>
            </a:r>
            <a:r>
              <a:rPr lang="zh-CN" altLang="en-US" sz="1800" cap="none" dirty="0">
                <a:solidFill>
                  <a:schemeClr val="tx1"/>
                </a:solidFill>
                <a:latin typeface="+mn-lt"/>
              </a:rPr>
              <a:t>）</a:t>
            </a:r>
            <a:r>
              <a:rPr lang="en-US" altLang="zh-CN" sz="1800" cap="none" dirty="0">
                <a:solidFill>
                  <a:schemeClr val="tx1"/>
                </a:solidFill>
                <a:latin typeface="+mn-lt"/>
              </a:rPr>
              <a:t>Face-centered lattice</a:t>
            </a:r>
            <a:r>
              <a:rPr lang="zh-CN" altLang="en-US" sz="1800" cap="none" dirty="0">
                <a:solidFill>
                  <a:schemeClr val="tx1"/>
                </a:solidFill>
                <a:latin typeface="+mn-lt"/>
              </a:rPr>
              <a:t>（</a:t>
            </a:r>
            <a:r>
              <a:rPr lang="en-US" altLang="zh-CN" sz="1800" i="1" cap="none" dirty="0">
                <a:solidFill>
                  <a:schemeClr val="tx1"/>
                </a:solidFill>
                <a:latin typeface="+mn-lt"/>
              </a:rPr>
              <a:t>F</a:t>
            </a:r>
            <a:r>
              <a:rPr lang="en-US" altLang="zh-CN" sz="1800" cap="none" dirty="0">
                <a:solidFill>
                  <a:schemeClr val="tx1"/>
                </a:solidFill>
                <a:latin typeface="+mn-lt"/>
              </a:rPr>
              <a:t>, </a:t>
            </a:r>
            <a:r>
              <a:rPr lang="zh-CN" altLang="en-US" sz="1800" cap="none" dirty="0">
                <a:solidFill>
                  <a:schemeClr val="tx1"/>
                </a:solidFill>
                <a:latin typeface="+mn-lt"/>
              </a:rPr>
              <a:t>面心格子）：</a:t>
            </a:r>
            <a:r>
              <a:rPr lang="en-US" altLang="zh-CN" sz="1800" cap="none" dirty="0">
                <a:solidFill>
                  <a:schemeClr val="tx1"/>
                </a:solidFill>
                <a:latin typeface="+mn-lt"/>
                <a:sym typeface="+mn-ea"/>
              </a:rPr>
              <a:t>nodes occupy the eight vertices and six face centers of parallelepiped </a:t>
            </a:r>
            <a:endParaRPr lang="zh-CN" altLang="en-US" sz="1800" cap="none" dirty="0">
              <a:solidFill>
                <a:schemeClr val="tx1"/>
              </a:solidFill>
              <a:latin typeface="+mn-lt"/>
            </a:endParaRPr>
          </a:p>
        </p:txBody>
      </p:sp>
      <p:pic>
        <p:nvPicPr>
          <p:cNvPr id="149509" name="j6571cc.avi">
            <a:hlinkClick r:id="" action="ppaction://media"/>
          </p:cNvPr>
          <p:cNvPicPr>
            <a:picLocks noRot="1" noChangeAspect="1" noChangeArrowheads="1"/>
          </p:cNvPicPr>
          <p:nvPr>
            <a:videoFile r:link="rId2"/>
            <p:extLst>
              <p:ext uri="{DAA4B4D4-6D71-4841-9C94-3DE7FCFB9230}">
                <p14:media xmlns:p14="http://schemas.microsoft.com/office/powerpoint/2010/main" r:link="rId1"/>
              </p:ext>
            </p:extLst>
          </p:nvPr>
        </p:nvPicPr>
        <p:blipFill>
          <a:blip r:embed="rId11">
            <a:extLst>
              <a:ext uri="{28A0092B-C50C-407E-A947-70E740481C1C}">
                <a14:useLocalDpi xmlns:a14="http://schemas.microsoft.com/office/drawing/2010/main" val="0"/>
              </a:ext>
            </a:extLst>
          </a:blip>
          <a:srcRect/>
          <a:stretch>
            <a:fillRect/>
          </a:stretch>
        </p:blipFill>
        <p:spPr bwMode="auto">
          <a:xfrm>
            <a:off x="469900" y="4800327"/>
            <a:ext cx="2087563"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511" name="j6572cc.avi">
            <a:hlinkClick r:id="" action="ppaction://media"/>
          </p:cNvPr>
          <p:cNvPicPr>
            <a:picLocks noRot="1" noChangeAspect="1" noChangeArrowheads="1"/>
          </p:cNvPicPr>
          <p:nvPr>
            <a:videoFile r:link="rId4"/>
            <p:extLst>
              <p:ext uri="{DAA4B4D4-6D71-4841-9C94-3DE7FCFB9230}">
                <p14:media xmlns:p14="http://schemas.microsoft.com/office/powerpoint/2010/main" r:link="rId3"/>
              </p:ext>
            </p:extLst>
          </p:nvPr>
        </p:nvPicPr>
        <p:blipFill>
          <a:blip r:embed="rId12">
            <a:extLst>
              <a:ext uri="{28A0092B-C50C-407E-A947-70E740481C1C}">
                <a14:useLocalDpi xmlns:a14="http://schemas.microsoft.com/office/drawing/2010/main" val="0"/>
              </a:ext>
            </a:extLst>
          </a:blip>
          <a:srcRect/>
          <a:stretch>
            <a:fillRect/>
          </a:stretch>
        </p:blipFill>
        <p:spPr bwMode="auto">
          <a:xfrm>
            <a:off x="4573588" y="4798740"/>
            <a:ext cx="2087562"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512" name="j6573cc.avi">
            <a:hlinkClick r:id="" action="ppaction://media"/>
          </p:cNvPr>
          <p:cNvPicPr>
            <a:picLocks noRot="1" noChangeAspect="1" noChangeArrowheads="1"/>
          </p:cNvPicPr>
          <p:nvPr>
            <a:videoFile r:link="rId6"/>
            <p:extLst>
              <p:ext uri="{DAA4B4D4-6D71-4841-9C94-3DE7FCFB9230}">
                <p14:media xmlns:p14="http://schemas.microsoft.com/office/powerpoint/2010/main" r:link="rId5"/>
              </p:ext>
            </p:extLst>
          </p:nvPr>
        </p:nvPicPr>
        <p:blipFill>
          <a:blip r:embed="rId13">
            <a:extLst>
              <a:ext uri="{28A0092B-C50C-407E-A947-70E740481C1C}">
                <a14:useLocalDpi xmlns:a14="http://schemas.microsoft.com/office/drawing/2010/main" val="0"/>
              </a:ext>
            </a:extLst>
          </a:blip>
          <a:srcRect/>
          <a:stretch>
            <a:fillRect/>
          </a:stretch>
        </p:blipFill>
        <p:spPr bwMode="auto">
          <a:xfrm>
            <a:off x="2557463" y="4798740"/>
            <a:ext cx="2087562"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513" name="j6574cc.avi">
            <a:hlinkClick r:id="" action="ppaction://media"/>
          </p:cNvPr>
          <p:cNvPicPr>
            <a:picLocks noRot="1" noChangeAspect="1" noChangeArrowheads="1"/>
          </p:cNvPicPr>
          <p:nvPr>
            <a:videoFile r:link="rId8"/>
            <p:extLst>
              <p:ext uri="{DAA4B4D4-6D71-4841-9C94-3DE7FCFB9230}">
                <p14:media xmlns:p14="http://schemas.microsoft.com/office/powerpoint/2010/main" r:link="rId7"/>
              </p:ext>
            </p:extLst>
          </p:nvPr>
        </p:nvPicPr>
        <p:blipFill>
          <a:blip r:embed="rId14">
            <a:extLst>
              <a:ext uri="{28A0092B-C50C-407E-A947-70E740481C1C}">
                <a14:useLocalDpi xmlns:a14="http://schemas.microsoft.com/office/drawing/2010/main" val="0"/>
              </a:ext>
            </a:extLst>
          </a:blip>
          <a:srcRect/>
          <a:stretch>
            <a:fillRect/>
          </a:stretch>
        </p:blipFill>
        <p:spPr bwMode="auto">
          <a:xfrm>
            <a:off x="6661150" y="4797152"/>
            <a:ext cx="2087563"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9509"/>
                                        </p:tgtEl>
                                        <p:attrNameLst>
                                          <p:attrName>style.visibility</p:attrName>
                                        </p:attrNameLst>
                                      </p:cBhvr>
                                      <p:to>
                                        <p:strVal val="visible"/>
                                      </p:to>
                                    </p:set>
                                    <p:anim calcmode="lin" valueType="num">
                                      <p:cBhvr additive="base">
                                        <p:cTn id="7" dur="1000" fill="hold"/>
                                        <p:tgtEl>
                                          <p:spTgt spid="149509"/>
                                        </p:tgtEl>
                                        <p:attrNameLst>
                                          <p:attrName>ppt_x</p:attrName>
                                        </p:attrNameLst>
                                      </p:cBhvr>
                                      <p:tavLst>
                                        <p:tav tm="0">
                                          <p:val>
                                            <p:strVal val="0-#ppt_w/2"/>
                                          </p:val>
                                        </p:tav>
                                        <p:tav tm="100000">
                                          <p:val>
                                            <p:strVal val="#ppt_x"/>
                                          </p:val>
                                        </p:tav>
                                      </p:tavLst>
                                    </p:anim>
                                    <p:anim calcmode="lin" valueType="num">
                                      <p:cBhvr additive="base">
                                        <p:cTn id="8" dur="1000" fill="hold"/>
                                        <p:tgtEl>
                                          <p:spTgt spid="1495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9512"/>
                                        </p:tgtEl>
                                        <p:attrNameLst>
                                          <p:attrName>style.visibility</p:attrName>
                                        </p:attrNameLst>
                                      </p:cBhvr>
                                      <p:to>
                                        <p:strVal val="visible"/>
                                      </p:to>
                                    </p:set>
                                    <p:anim calcmode="lin" valueType="num">
                                      <p:cBhvr additive="base">
                                        <p:cTn id="13" dur="1000" fill="hold"/>
                                        <p:tgtEl>
                                          <p:spTgt spid="149512"/>
                                        </p:tgtEl>
                                        <p:attrNameLst>
                                          <p:attrName>ppt_x</p:attrName>
                                        </p:attrNameLst>
                                      </p:cBhvr>
                                      <p:tavLst>
                                        <p:tav tm="0">
                                          <p:val>
                                            <p:strVal val="#ppt_x"/>
                                          </p:val>
                                        </p:tav>
                                        <p:tav tm="100000">
                                          <p:val>
                                            <p:strVal val="#ppt_x"/>
                                          </p:val>
                                        </p:tav>
                                      </p:tavLst>
                                    </p:anim>
                                    <p:anim calcmode="lin" valueType="num">
                                      <p:cBhvr additive="base">
                                        <p:cTn id="14" dur="1000" fill="hold"/>
                                        <p:tgtEl>
                                          <p:spTgt spid="1495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9511"/>
                                        </p:tgtEl>
                                        <p:attrNameLst>
                                          <p:attrName>style.visibility</p:attrName>
                                        </p:attrNameLst>
                                      </p:cBhvr>
                                      <p:to>
                                        <p:strVal val="visible"/>
                                      </p:to>
                                    </p:set>
                                    <p:anim calcmode="lin" valueType="num">
                                      <p:cBhvr additive="base">
                                        <p:cTn id="19" dur="1000" fill="hold"/>
                                        <p:tgtEl>
                                          <p:spTgt spid="149511"/>
                                        </p:tgtEl>
                                        <p:attrNameLst>
                                          <p:attrName>ppt_x</p:attrName>
                                        </p:attrNameLst>
                                      </p:cBhvr>
                                      <p:tavLst>
                                        <p:tav tm="0">
                                          <p:val>
                                            <p:strVal val="#ppt_x"/>
                                          </p:val>
                                        </p:tav>
                                        <p:tav tm="100000">
                                          <p:val>
                                            <p:strVal val="#ppt_x"/>
                                          </p:val>
                                        </p:tav>
                                      </p:tavLst>
                                    </p:anim>
                                    <p:anim calcmode="lin" valueType="num">
                                      <p:cBhvr additive="base">
                                        <p:cTn id="20" dur="1000" fill="hold"/>
                                        <p:tgtEl>
                                          <p:spTgt spid="1495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49513"/>
                                        </p:tgtEl>
                                        <p:attrNameLst>
                                          <p:attrName>style.visibility</p:attrName>
                                        </p:attrNameLst>
                                      </p:cBhvr>
                                      <p:to>
                                        <p:strVal val="visible"/>
                                      </p:to>
                                    </p:set>
                                    <p:anim calcmode="lin" valueType="num">
                                      <p:cBhvr additive="base">
                                        <p:cTn id="25" dur="1000" fill="hold"/>
                                        <p:tgtEl>
                                          <p:spTgt spid="149513"/>
                                        </p:tgtEl>
                                        <p:attrNameLst>
                                          <p:attrName>ppt_x</p:attrName>
                                        </p:attrNameLst>
                                      </p:cBhvr>
                                      <p:tavLst>
                                        <p:tav tm="0">
                                          <p:val>
                                            <p:strVal val="1+#ppt_w/2"/>
                                          </p:val>
                                        </p:tav>
                                        <p:tav tm="100000">
                                          <p:val>
                                            <p:strVal val="#ppt_x"/>
                                          </p:val>
                                        </p:tav>
                                      </p:tavLst>
                                    </p:anim>
                                    <p:anim calcmode="lin" valueType="num">
                                      <p:cBhvr additive="base">
                                        <p:cTn id="26" dur="1000" fill="hold"/>
                                        <p:tgtEl>
                                          <p:spTgt spid="1495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332656"/>
            <a:ext cx="7620000" cy="6264696"/>
          </a:xfrm>
        </p:spPr>
        <p:txBody>
          <a:bodyPr/>
          <a:lstStyle/>
          <a:p>
            <a:r>
              <a:rPr lang="en-US" altLang="zh-CN" sz="2800" dirty="0">
                <a:solidFill>
                  <a:srgbClr val="FF0066"/>
                </a:solidFill>
              </a:rPr>
              <a:t>Note: the difference between lattice point</a:t>
            </a:r>
            <a:r>
              <a:rPr lang="zh-CN" altLang="en-US" sz="2800" dirty="0">
                <a:solidFill>
                  <a:srgbClr val="FF0066"/>
                </a:solidFill>
              </a:rPr>
              <a:t>（格点）</a:t>
            </a:r>
            <a:r>
              <a:rPr lang="en-US" altLang="zh-CN" sz="2800" dirty="0">
                <a:solidFill>
                  <a:srgbClr val="FF0066"/>
                </a:solidFill>
              </a:rPr>
              <a:t> and node</a:t>
            </a:r>
            <a:r>
              <a:rPr lang="zh-CN" altLang="en-US" sz="2800" dirty="0">
                <a:solidFill>
                  <a:srgbClr val="FF0066"/>
                </a:solidFill>
              </a:rPr>
              <a:t>（结点）</a:t>
            </a:r>
            <a:endParaRPr lang="en-US" altLang="zh-CN" sz="2800" dirty="0">
              <a:solidFill>
                <a:srgbClr val="FF0066"/>
              </a:solidFill>
            </a:endParaRPr>
          </a:p>
          <a:p>
            <a:endParaRPr lang="en-US" altLang="zh-CN" dirty="0"/>
          </a:p>
          <a:p>
            <a:r>
              <a:rPr lang="en-US" altLang="zh-CN" sz="2400" b="0" dirty="0"/>
              <a:t>They are both equivalent points</a:t>
            </a:r>
            <a:r>
              <a:rPr lang="zh-CN" altLang="en-US" sz="2400" b="0" dirty="0"/>
              <a:t>；</a:t>
            </a:r>
            <a:r>
              <a:rPr lang="en-US" altLang="zh-CN" sz="2400" b="0" dirty="0">
                <a:solidFill>
                  <a:srgbClr val="FF0000"/>
                </a:solidFill>
              </a:rPr>
              <a:t>lattice points (</a:t>
            </a:r>
            <a:r>
              <a:rPr lang="zh-CN" altLang="en-US" sz="2400" b="0" dirty="0">
                <a:solidFill>
                  <a:srgbClr val="FF0000"/>
                </a:solidFill>
              </a:rPr>
              <a:t>格点</a:t>
            </a:r>
            <a:r>
              <a:rPr lang="en-US" altLang="zh-CN" sz="2400" b="0" dirty="0">
                <a:solidFill>
                  <a:srgbClr val="FF0000"/>
                </a:solidFill>
              </a:rPr>
              <a:t>)</a:t>
            </a:r>
            <a:r>
              <a:rPr lang="en-US" altLang="zh-CN" sz="2400" b="0" dirty="0">
                <a:solidFill>
                  <a:schemeClr val="tx1"/>
                </a:solidFill>
              </a:rPr>
              <a:t> only</a:t>
            </a:r>
            <a:r>
              <a:rPr lang="en-US" altLang="zh-CN" sz="2400" b="0" dirty="0">
                <a:solidFill>
                  <a:srgbClr val="FF0000"/>
                </a:solidFill>
              </a:rPr>
              <a:t> </a:t>
            </a:r>
            <a:r>
              <a:rPr lang="en-US" altLang="zh-CN" sz="2400" b="0" dirty="0">
                <a:sym typeface="+mn-ea"/>
              </a:rPr>
              <a:t>occupy the eight vertices of parallelepiped(</a:t>
            </a:r>
            <a:r>
              <a:rPr lang="zh-CN" altLang="en-US" sz="2400" b="0" dirty="0">
                <a:sym typeface="+mn-ea"/>
              </a:rPr>
              <a:t>格子</a:t>
            </a:r>
            <a:r>
              <a:rPr lang="en-US" altLang="zh-CN" sz="2400" b="0" dirty="0">
                <a:sym typeface="+mn-ea"/>
              </a:rPr>
              <a:t>)</a:t>
            </a:r>
            <a:r>
              <a:rPr lang="zh-CN" altLang="en-US" sz="2400" b="0" dirty="0"/>
              <a:t>；</a:t>
            </a:r>
            <a:r>
              <a:rPr lang="en-US" altLang="zh-CN" sz="2400" b="0" dirty="0"/>
              <a:t>besides </a:t>
            </a:r>
            <a:r>
              <a:rPr lang="en-US" altLang="zh-CN" sz="2400" b="0" dirty="0">
                <a:sym typeface="+mn-ea"/>
              </a:rPr>
              <a:t>vertices, </a:t>
            </a:r>
            <a:r>
              <a:rPr lang="en-US" altLang="zh-CN" sz="2400" b="0" dirty="0">
                <a:solidFill>
                  <a:srgbClr val="FF0000"/>
                </a:solidFill>
              </a:rPr>
              <a:t>nodes</a:t>
            </a:r>
            <a:r>
              <a:rPr lang="en-US" altLang="zh-CN" sz="2400" b="0" dirty="0"/>
              <a:t> can also occupy end-center, face-center and body center of </a:t>
            </a:r>
            <a:r>
              <a:rPr lang="en-US" altLang="zh-CN" sz="2400" b="0" dirty="0">
                <a:sym typeface="+mn-ea"/>
              </a:rPr>
              <a:t>parallelepiped.</a:t>
            </a:r>
          </a:p>
          <a:p>
            <a:endParaRPr lang="en-US" altLang="zh-CN" sz="2400" b="0" dirty="0">
              <a:sym typeface="+mn-ea"/>
            </a:endParaRPr>
          </a:p>
          <a:p>
            <a:r>
              <a:rPr lang="en-US" altLang="zh-CN" sz="2400" b="0" dirty="0">
                <a:sym typeface="+mn-ea"/>
              </a:rPr>
              <a:t>Limited by the corresponding symetry characteristics in some certain crystal systems, Bravais lattice can not be chosen as primitive lattice but as centered lattice (</a:t>
            </a:r>
            <a:r>
              <a:rPr lang="zh-CN" altLang="en-US" sz="2400" b="0" dirty="0">
                <a:sym typeface="+mn-ea"/>
              </a:rPr>
              <a:t>由于某些晶体的对称性的限制，晶胞只能选为带心的</a:t>
            </a:r>
            <a:r>
              <a:rPr lang="en-US" altLang="zh-CN" sz="2400" b="0" dirty="0">
                <a:sym typeface="+mn-ea"/>
              </a:rPr>
              <a:t>). </a:t>
            </a:r>
          </a:p>
          <a:p>
            <a:endParaRPr lang="en-US" altLang="zh-CN" sz="2400" dirty="0">
              <a:sym typeface="+mn-ea"/>
            </a:endParaRPr>
          </a:p>
          <a:p>
            <a:endParaRPr lang="en-US" sz="3600" dirty="0"/>
          </a:p>
          <a:p>
            <a:endParaRPr lang="en-US"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40" name="Rectangle 4"/>
          <p:cNvSpPr>
            <a:spLocks noChangeArrowheads="1"/>
          </p:cNvSpPr>
          <p:nvPr/>
        </p:nvSpPr>
        <p:spPr bwMode="auto">
          <a:xfrm>
            <a:off x="539750" y="188913"/>
            <a:ext cx="7993063"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4800" b="1" spc="-60" dirty="0">
                <a:solidFill>
                  <a:srgbClr val="FF0066"/>
                </a:solidFill>
                <a:effectLst>
                  <a:outerShdw blurRad="38100" dist="38100" dir="2700000" algn="tl">
                    <a:srgbClr val="000000"/>
                  </a:outerShdw>
                </a:effectLst>
                <a:latin typeface="+mj-lt"/>
                <a:ea typeface="+mj-ea"/>
                <a:cs typeface="+mj-cs"/>
              </a:rPr>
              <a:t>14 bravais lattices</a:t>
            </a:r>
          </a:p>
        </p:txBody>
      </p:sp>
      <p:sp>
        <p:nvSpPr>
          <p:cNvPr id="2" name="文本框 1"/>
          <p:cNvSpPr txBox="1"/>
          <p:nvPr/>
        </p:nvSpPr>
        <p:spPr>
          <a:xfrm>
            <a:off x="467544" y="1114425"/>
            <a:ext cx="8136903" cy="5632311"/>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b="1" dirty="0">
                <a:latin typeface="Arial" panose="020B0604020202020204" pitchFamily="34" charset="0"/>
              </a:rPr>
              <a:t>7 crystal systems</a:t>
            </a:r>
          </a:p>
          <a:p>
            <a:pPr lvl="1" algn="just"/>
            <a:r>
              <a:rPr lang="en-US" altLang="zh-CN" dirty="0">
                <a:latin typeface="Arial" panose="020B0604020202020204" pitchFamily="34" charset="0"/>
                <a:sym typeface="Wingdings" panose="05000000000000000000" pitchFamily="2" charset="2"/>
              </a:rPr>
              <a:t>	 </a:t>
            </a:r>
            <a:r>
              <a:rPr lang="en-US" altLang="zh-CN" dirty="0">
                <a:latin typeface="Arial" panose="020B0604020202020204" pitchFamily="34" charset="0"/>
              </a:rPr>
              <a:t>7 crystal parameters</a:t>
            </a:r>
            <a:r>
              <a:rPr lang="en-US" altLang="zh-CN" dirty="0">
                <a:latin typeface="Arial" panose="020B0604020202020204" pitchFamily="34" charset="0"/>
                <a:sym typeface="Wingdings" panose="05000000000000000000" pitchFamily="2" charset="2"/>
              </a:rPr>
              <a:t> </a:t>
            </a:r>
            <a:r>
              <a:rPr lang="en-US" altLang="zh-CN" dirty="0">
                <a:latin typeface="Arial" panose="020B0604020202020204" pitchFamily="34" charset="0"/>
              </a:rPr>
              <a:t>7 parallelepipeds</a:t>
            </a:r>
          </a:p>
          <a:p>
            <a:pPr marL="342900" indent="-342900" algn="just">
              <a:buFont typeface="Arial" panose="020B0604020202020204" pitchFamily="34" charset="0"/>
              <a:buChar char="•"/>
            </a:pPr>
            <a:endParaRPr lang="en-US" altLang="zh-CN" dirty="0">
              <a:latin typeface="Arial" panose="020B0604020202020204" pitchFamily="34" charset="0"/>
            </a:endParaRPr>
          </a:p>
          <a:p>
            <a:pPr marL="342900" indent="-342900" algn="just">
              <a:buFont typeface="Arial" panose="020B0604020202020204" pitchFamily="34" charset="0"/>
              <a:buChar char="•"/>
            </a:pPr>
            <a:r>
              <a:rPr lang="en-US" altLang="zh-CN" dirty="0">
                <a:latin typeface="Arial" panose="020B0604020202020204" pitchFamily="34" charset="0"/>
              </a:rPr>
              <a:t>Every kind of parallelepiped has 4 possible types, but there are </a:t>
            </a:r>
            <a:r>
              <a:rPr lang="en-US" altLang="zh-CN" b="1" dirty="0">
                <a:solidFill>
                  <a:srgbClr val="FF0000"/>
                </a:solidFill>
                <a:latin typeface="Arial" panose="020B0604020202020204" pitchFamily="34" charset="0"/>
              </a:rPr>
              <a:t>only 14 </a:t>
            </a:r>
            <a:r>
              <a:rPr lang="en-US" altLang="zh-CN" dirty="0">
                <a:latin typeface="Arial" panose="020B0604020202020204" pitchFamily="34" charset="0"/>
              </a:rPr>
              <a:t>kinds of Bravais lattices instead of</a:t>
            </a:r>
          </a:p>
          <a:p>
            <a:pPr algn="just"/>
            <a:r>
              <a:rPr lang="en-US" altLang="zh-CN" dirty="0">
                <a:latin typeface="Arial" panose="020B0604020202020204" pitchFamily="34" charset="0"/>
              </a:rPr>
              <a:t>    			</a:t>
            </a:r>
            <a:r>
              <a:rPr lang="en-US" altLang="zh-CN" b="1" dirty="0">
                <a:latin typeface="Arial" panose="020B0604020202020204" pitchFamily="34" charset="0"/>
              </a:rPr>
              <a:t>      7 x 4 = 28.</a:t>
            </a:r>
          </a:p>
          <a:p>
            <a:pPr marL="342900" indent="-342900" algn="just">
              <a:buFont typeface="Arial" panose="020B0604020202020204" pitchFamily="34" charset="0"/>
              <a:buChar char="•"/>
            </a:pPr>
            <a:endParaRPr lang="en-US" altLang="zh-CN" dirty="0">
              <a:latin typeface="Arial" panose="020B0604020202020204" pitchFamily="34" charset="0"/>
            </a:endParaRPr>
          </a:p>
          <a:p>
            <a:pPr marL="342900" indent="-342900" algn="just">
              <a:buFont typeface="Arial" panose="020B0604020202020204" pitchFamily="34" charset="0"/>
              <a:buChar char="•"/>
            </a:pPr>
            <a:r>
              <a:rPr lang="en-US" altLang="zh-CN" dirty="0">
                <a:latin typeface="Arial" panose="020B0604020202020204" pitchFamily="34" charset="0"/>
              </a:rPr>
              <a:t>Among the 28 theoretically possible lattices, however, some types of lattices are duplicated and convertible with each other. Some do not conform to the symmetry of a certain system and cannot exist in the system. Thus, only 14 kinds of space lattice can be finally obtained, also called the 14 Bravais lattices. (</a:t>
            </a:r>
            <a:r>
              <a:rPr lang="en-US" altLang="zh-CN" b="1" dirty="0">
                <a:latin typeface="Arial" panose="020B0604020202020204" pitchFamily="34" charset="0"/>
              </a:rPr>
              <a:t>Firstly derived by A. Bravais in 1848</a:t>
            </a:r>
            <a:r>
              <a:rPr lang="en-US" altLang="zh-CN" dirty="0">
                <a:latin typeface="Arial" panose="020B0604020202020204" pitchFamily="34" charset="0"/>
              </a:rPr>
              <a:t>)</a:t>
            </a:r>
            <a:r>
              <a:rPr lang="en-US" altLang="zh-CN" b="1" baseline="30000" dirty="0">
                <a:solidFill>
                  <a:srgbClr val="FF0000"/>
                </a:solidFill>
                <a:latin typeface="Arial" panose="020B0604020202020204" pitchFamily="34" charset="0"/>
              </a:rPr>
              <a:t>MP</a:t>
            </a:r>
          </a:p>
          <a:p>
            <a:pPr marL="0" indent="0" algn="just">
              <a:buFont typeface="Arial" panose="020B0604020202020204" pitchFamily="34" charset="0"/>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461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40" name="Rectangle 4"/>
          <p:cNvSpPr>
            <a:spLocks noChangeArrowheads="1"/>
          </p:cNvSpPr>
          <p:nvPr/>
        </p:nvSpPr>
        <p:spPr bwMode="auto">
          <a:xfrm>
            <a:off x="539750" y="188913"/>
            <a:ext cx="7993063"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4800" b="1" spc="-60" dirty="0">
                <a:solidFill>
                  <a:srgbClr val="FF0066"/>
                </a:solidFill>
                <a:effectLst>
                  <a:outerShdw blurRad="38100" dist="38100" dir="2700000" algn="tl">
                    <a:srgbClr val="000000"/>
                  </a:outerShdw>
                </a:effectLst>
                <a:latin typeface="+mj-lt"/>
                <a:ea typeface="+mj-ea"/>
                <a:cs typeface="+mj-cs"/>
              </a:rPr>
              <a:t>14 bravais lattices</a:t>
            </a:r>
          </a:p>
        </p:txBody>
      </p:sp>
      <p:sp>
        <p:nvSpPr>
          <p:cNvPr id="2" name="文本框 1"/>
          <p:cNvSpPr txBox="1"/>
          <p:nvPr/>
        </p:nvSpPr>
        <p:spPr>
          <a:xfrm>
            <a:off x="539750" y="1114425"/>
            <a:ext cx="8096885" cy="707886"/>
          </a:xfrm>
          <a:prstGeom prst="rect">
            <a:avLst/>
          </a:prstGeom>
          <a:noFill/>
        </p:spPr>
        <p:txBody>
          <a:bodyPr wrap="square" rtlCol="0">
            <a:spAutoFit/>
          </a:bodyPr>
          <a:lstStyle/>
          <a:p>
            <a:pPr algn="just"/>
            <a:r>
              <a:rPr lang="en-US" altLang="zh-CN" sz="2000" b="1" dirty="0">
                <a:latin typeface="Arial" panose="020B0604020202020204" pitchFamily="34" charset="0"/>
                <a:sym typeface="+mn-ea"/>
              </a:rPr>
              <a:t>End-centered t</a:t>
            </a:r>
            <a:r>
              <a:rPr lang="en-US" altLang="zh-CN" sz="2000" b="1" dirty="0">
                <a:latin typeface="Arial" panose="020B0604020202020204" pitchFamily="34" charset="0"/>
              </a:rPr>
              <a:t>etragonal lattice is actually the primitive </a:t>
            </a:r>
            <a:r>
              <a:rPr lang="en-US" altLang="zh-CN" sz="2000" b="1" dirty="0">
                <a:latin typeface="Arial" panose="020B0604020202020204" pitchFamily="34" charset="0"/>
                <a:sym typeface="+mn-ea"/>
              </a:rPr>
              <a:t>tetragonal lattice with a smaller volume.</a:t>
            </a:r>
          </a:p>
        </p:txBody>
      </p:sp>
      <p:grpSp>
        <p:nvGrpSpPr>
          <p:cNvPr id="4" name="Group 32"/>
          <p:cNvGrpSpPr/>
          <p:nvPr/>
        </p:nvGrpSpPr>
        <p:grpSpPr bwMode="auto">
          <a:xfrm>
            <a:off x="853129" y="2262204"/>
            <a:ext cx="3022586" cy="2947604"/>
            <a:chOff x="1066" y="1253"/>
            <a:chExt cx="1814" cy="1769"/>
          </a:xfrm>
        </p:grpSpPr>
        <p:sp>
          <p:nvSpPr>
            <p:cNvPr id="5" name="Line 15"/>
            <p:cNvSpPr>
              <a:spLocks noChangeShapeType="1"/>
            </p:cNvSpPr>
            <p:nvPr/>
          </p:nvSpPr>
          <p:spPr bwMode="auto">
            <a:xfrm>
              <a:off x="1160" y="1296"/>
              <a:ext cx="86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Line 16"/>
            <p:cNvSpPr>
              <a:spLocks noChangeShapeType="1"/>
            </p:cNvSpPr>
            <p:nvPr/>
          </p:nvSpPr>
          <p:spPr bwMode="auto">
            <a:xfrm>
              <a:off x="2022" y="1296"/>
              <a:ext cx="0" cy="86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Line 17"/>
            <p:cNvSpPr>
              <a:spLocks noChangeShapeType="1"/>
            </p:cNvSpPr>
            <p:nvPr/>
          </p:nvSpPr>
          <p:spPr bwMode="auto">
            <a:xfrm>
              <a:off x="1114" y="2157"/>
              <a:ext cx="9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8"/>
            <p:cNvSpPr>
              <a:spLocks noChangeShapeType="1"/>
            </p:cNvSpPr>
            <p:nvPr/>
          </p:nvSpPr>
          <p:spPr bwMode="auto">
            <a:xfrm>
              <a:off x="1114" y="1296"/>
              <a:ext cx="0" cy="86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9"/>
            <p:cNvSpPr>
              <a:spLocks noChangeShapeType="1"/>
            </p:cNvSpPr>
            <p:nvPr/>
          </p:nvSpPr>
          <p:spPr bwMode="auto">
            <a:xfrm flipH="1">
              <a:off x="1120" y="1749"/>
              <a:ext cx="408" cy="408"/>
            </a:xfrm>
            <a:prstGeom prst="line">
              <a:avLst/>
            </a:prstGeom>
            <a:noFill/>
            <a:ln w="28575">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20"/>
            <p:cNvSpPr>
              <a:spLocks noChangeShapeType="1"/>
            </p:cNvSpPr>
            <p:nvPr/>
          </p:nvSpPr>
          <p:spPr bwMode="auto">
            <a:xfrm>
              <a:off x="1544" y="1691"/>
              <a:ext cx="454" cy="453"/>
            </a:xfrm>
            <a:prstGeom prst="line">
              <a:avLst/>
            </a:prstGeom>
            <a:noFill/>
            <a:ln w="28575">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21"/>
            <p:cNvSpPr>
              <a:spLocks noChangeShapeType="1"/>
            </p:cNvSpPr>
            <p:nvPr/>
          </p:nvSpPr>
          <p:spPr bwMode="auto">
            <a:xfrm flipH="1">
              <a:off x="1568" y="2157"/>
              <a:ext cx="454" cy="409"/>
            </a:xfrm>
            <a:prstGeom prst="line">
              <a:avLst/>
            </a:prstGeom>
            <a:noFill/>
            <a:ln w="28575">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22"/>
            <p:cNvSpPr>
              <a:spLocks noChangeShapeType="1"/>
            </p:cNvSpPr>
            <p:nvPr/>
          </p:nvSpPr>
          <p:spPr bwMode="auto">
            <a:xfrm>
              <a:off x="1110" y="2122"/>
              <a:ext cx="453" cy="454"/>
            </a:xfrm>
            <a:prstGeom prst="line">
              <a:avLst/>
            </a:prstGeom>
            <a:noFill/>
            <a:ln w="28575">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3" name="Group 28"/>
            <p:cNvGrpSpPr/>
            <p:nvPr/>
          </p:nvGrpSpPr>
          <p:grpSpPr bwMode="auto">
            <a:xfrm>
              <a:off x="1066" y="1253"/>
              <a:ext cx="1814" cy="1769"/>
              <a:chOff x="748" y="935"/>
              <a:chExt cx="1814" cy="1769"/>
            </a:xfrm>
          </p:grpSpPr>
          <p:sp>
            <p:nvSpPr>
              <p:cNvPr id="14" name="Oval 2"/>
              <p:cNvSpPr>
                <a:spLocks noChangeArrowheads="1"/>
              </p:cNvSpPr>
              <p:nvPr/>
            </p:nvSpPr>
            <p:spPr bwMode="auto">
              <a:xfrm>
                <a:off x="748" y="935"/>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Oval 3"/>
              <p:cNvSpPr>
                <a:spLocks noChangeArrowheads="1"/>
              </p:cNvSpPr>
              <p:nvPr/>
            </p:nvSpPr>
            <p:spPr bwMode="auto">
              <a:xfrm>
                <a:off x="1610" y="935"/>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4"/>
              <p:cNvSpPr>
                <a:spLocks noChangeArrowheads="1"/>
              </p:cNvSpPr>
              <p:nvPr/>
            </p:nvSpPr>
            <p:spPr bwMode="auto">
              <a:xfrm>
                <a:off x="2381" y="935"/>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5"/>
              <p:cNvSpPr>
                <a:spLocks noChangeArrowheads="1"/>
              </p:cNvSpPr>
              <p:nvPr/>
            </p:nvSpPr>
            <p:spPr bwMode="auto">
              <a:xfrm>
                <a:off x="748" y="175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Oval 6"/>
              <p:cNvSpPr>
                <a:spLocks noChangeArrowheads="1"/>
              </p:cNvSpPr>
              <p:nvPr/>
            </p:nvSpPr>
            <p:spPr bwMode="auto">
              <a:xfrm>
                <a:off x="1610" y="175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7"/>
              <p:cNvSpPr>
                <a:spLocks noChangeArrowheads="1"/>
              </p:cNvSpPr>
              <p:nvPr/>
            </p:nvSpPr>
            <p:spPr bwMode="auto">
              <a:xfrm>
                <a:off x="2426" y="1797"/>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8"/>
              <p:cNvSpPr>
                <a:spLocks noChangeArrowheads="1"/>
              </p:cNvSpPr>
              <p:nvPr/>
            </p:nvSpPr>
            <p:spPr bwMode="auto">
              <a:xfrm>
                <a:off x="748" y="2568"/>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9"/>
              <p:cNvSpPr>
                <a:spLocks noChangeArrowheads="1"/>
              </p:cNvSpPr>
              <p:nvPr/>
            </p:nvSpPr>
            <p:spPr bwMode="auto">
              <a:xfrm>
                <a:off x="1655" y="2568"/>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10"/>
              <p:cNvSpPr>
                <a:spLocks noChangeArrowheads="1"/>
              </p:cNvSpPr>
              <p:nvPr/>
            </p:nvSpPr>
            <p:spPr bwMode="auto">
              <a:xfrm>
                <a:off x="1202" y="216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11"/>
              <p:cNvSpPr>
                <a:spLocks noChangeArrowheads="1"/>
              </p:cNvSpPr>
              <p:nvPr/>
            </p:nvSpPr>
            <p:spPr bwMode="auto">
              <a:xfrm>
                <a:off x="1156" y="1344"/>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12"/>
              <p:cNvSpPr>
                <a:spLocks noChangeArrowheads="1"/>
              </p:cNvSpPr>
              <p:nvPr/>
            </p:nvSpPr>
            <p:spPr bwMode="auto">
              <a:xfrm>
                <a:off x="2018" y="1344"/>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13"/>
              <p:cNvSpPr>
                <a:spLocks noChangeArrowheads="1"/>
              </p:cNvSpPr>
              <p:nvPr/>
            </p:nvSpPr>
            <p:spPr bwMode="auto">
              <a:xfrm>
                <a:off x="2018" y="216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14"/>
              <p:cNvSpPr>
                <a:spLocks noChangeArrowheads="1"/>
              </p:cNvSpPr>
              <p:nvPr/>
            </p:nvSpPr>
            <p:spPr bwMode="auto">
              <a:xfrm>
                <a:off x="2426" y="2568"/>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pic>
        <p:nvPicPr>
          <p:cNvPr id="27" name="Picture 25" descr="四方格子"/>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927596" y="2200118"/>
            <a:ext cx="2596732" cy="3116078"/>
          </a:xfrm>
          <a:prstGeom prst="rect">
            <a:avLst/>
          </a:prstGeom>
          <a:noFill/>
          <a:extLst>
            <a:ext uri="{909E8E84-426E-40DD-AFC4-6F175D3DCCD1}">
              <a14:hiddenFill xmlns:a14="http://schemas.microsoft.com/office/drawing/2010/main">
                <a:solidFill>
                  <a:srgbClr val="FFFFFF"/>
                </a:solidFill>
              </a14:hiddenFill>
            </a:ext>
          </a:extLst>
        </p:spPr>
      </p:pic>
      <p:sp>
        <p:nvSpPr>
          <p:cNvPr id="28" name="Text Box 23"/>
          <p:cNvSpPr txBox="1">
            <a:spLocks noChangeArrowheads="1"/>
          </p:cNvSpPr>
          <p:nvPr/>
        </p:nvSpPr>
        <p:spPr bwMode="auto">
          <a:xfrm>
            <a:off x="242827" y="5711263"/>
            <a:ext cx="86907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n-US" altLang="zh-CN" sz="2400" b="1" dirty="0">
                <a:latin typeface="+mn-ea"/>
                <a:ea typeface="+mn-ea"/>
              </a:rPr>
              <a:t>Example 1</a:t>
            </a:r>
            <a:r>
              <a:rPr lang="zh-CN" altLang="en-US" sz="2400" dirty="0"/>
              <a:t>：</a:t>
            </a:r>
            <a:r>
              <a:rPr lang="en-US" altLang="zh-CN" sz="2000" dirty="0">
                <a:latin typeface="+mn-lt"/>
                <a:sym typeface="+mn-ea"/>
              </a:rPr>
              <a:t>End-centered tetragonal lattice </a:t>
            </a:r>
            <a:r>
              <a:rPr lang="zh-CN" altLang="en-US" sz="2000" dirty="0">
                <a:latin typeface="+mn-lt"/>
              </a:rPr>
              <a:t>＝ </a:t>
            </a:r>
            <a:r>
              <a:rPr lang="en-US" altLang="zh-CN" sz="2000" dirty="0">
                <a:latin typeface="+mn-lt"/>
              </a:rPr>
              <a:t>P</a:t>
            </a:r>
            <a:r>
              <a:rPr lang="en-US" altLang="zh-CN" sz="2000" dirty="0">
                <a:latin typeface="+mn-lt"/>
                <a:sym typeface="+mn-ea"/>
              </a:rPr>
              <a:t>rimitive tetragonal lattice</a:t>
            </a:r>
            <a:endParaRPr lang="zh-CN" altLang="en-US" sz="20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fill="hold"/>
                                        <p:tgtEl>
                                          <p:spTgt spid="27"/>
                                        </p:tgtEl>
                                        <p:attrNameLst>
                                          <p:attrName>ppt_x</p:attrName>
                                        </p:attrNameLst>
                                      </p:cBhvr>
                                      <p:tavLst>
                                        <p:tav tm="0">
                                          <p:val>
                                            <p:strVal val="1+#ppt_w/2"/>
                                          </p:val>
                                        </p:tav>
                                        <p:tav tm="100000">
                                          <p:val>
                                            <p:strVal val="#ppt_x"/>
                                          </p:val>
                                        </p:tav>
                                      </p:tavLst>
                                    </p:anim>
                                    <p:anim calcmode="lin" valueType="num">
                                      <p:cBhvr additive="base">
                                        <p:cTn id="8"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44386" name="Group 2"/>
          <p:cNvGrpSpPr/>
          <p:nvPr/>
        </p:nvGrpSpPr>
        <p:grpSpPr bwMode="auto">
          <a:xfrm>
            <a:off x="319589" y="1257072"/>
            <a:ext cx="2663825" cy="2520950"/>
            <a:chOff x="2018" y="800"/>
            <a:chExt cx="1678" cy="1588"/>
          </a:xfrm>
        </p:grpSpPr>
        <p:sp>
          <p:nvSpPr>
            <p:cNvPr id="144387" name="Line 3"/>
            <p:cNvSpPr>
              <a:spLocks noChangeShapeType="1"/>
            </p:cNvSpPr>
            <p:nvPr/>
          </p:nvSpPr>
          <p:spPr bwMode="auto">
            <a:xfrm>
              <a:off x="2472" y="845"/>
              <a:ext cx="117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88" name="Line 4"/>
            <p:cNvSpPr>
              <a:spLocks noChangeShapeType="1"/>
            </p:cNvSpPr>
            <p:nvPr/>
          </p:nvSpPr>
          <p:spPr bwMode="auto">
            <a:xfrm flipH="1">
              <a:off x="2063" y="845"/>
              <a:ext cx="454" cy="54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89" name="Line 5"/>
            <p:cNvSpPr>
              <a:spLocks noChangeShapeType="1"/>
            </p:cNvSpPr>
            <p:nvPr/>
          </p:nvSpPr>
          <p:spPr bwMode="auto">
            <a:xfrm flipH="1">
              <a:off x="3197" y="845"/>
              <a:ext cx="454" cy="54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0" name="Line 6"/>
            <p:cNvSpPr>
              <a:spLocks noChangeShapeType="1"/>
            </p:cNvSpPr>
            <p:nvPr/>
          </p:nvSpPr>
          <p:spPr bwMode="auto">
            <a:xfrm>
              <a:off x="2063" y="1390"/>
              <a:ext cx="1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1" name="Line 7"/>
            <p:cNvSpPr>
              <a:spLocks noChangeShapeType="1"/>
            </p:cNvSpPr>
            <p:nvPr/>
          </p:nvSpPr>
          <p:spPr bwMode="auto">
            <a:xfrm>
              <a:off x="2472" y="1843"/>
              <a:ext cx="1180"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2" name="Line 8"/>
            <p:cNvSpPr>
              <a:spLocks noChangeShapeType="1"/>
            </p:cNvSpPr>
            <p:nvPr/>
          </p:nvSpPr>
          <p:spPr bwMode="auto">
            <a:xfrm>
              <a:off x="2063" y="2342"/>
              <a:ext cx="1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3" name="Line 9"/>
            <p:cNvSpPr>
              <a:spLocks noChangeShapeType="1"/>
            </p:cNvSpPr>
            <p:nvPr/>
          </p:nvSpPr>
          <p:spPr bwMode="auto">
            <a:xfrm>
              <a:off x="2063" y="1390"/>
              <a:ext cx="0" cy="9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4" name="Line 10"/>
            <p:cNvSpPr>
              <a:spLocks noChangeShapeType="1"/>
            </p:cNvSpPr>
            <p:nvPr/>
          </p:nvSpPr>
          <p:spPr bwMode="auto">
            <a:xfrm>
              <a:off x="3651" y="891"/>
              <a:ext cx="0" cy="9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5" name="Line 11"/>
            <p:cNvSpPr>
              <a:spLocks noChangeShapeType="1"/>
            </p:cNvSpPr>
            <p:nvPr/>
          </p:nvSpPr>
          <p:spPr bwMode="auto">
            <a:xfrm>
              <a:off x="3197" y="1390"/>
              <a:ext cx="0" cy="9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6" name="Line 12"/>
            <p:cNvSpPr>
              <a:spLocks noChangeShapeType="1"/>
            </p:cNvSpPr>
            <p:nvPr/>
          </p:nvSpPr>
          <p:spPr bwMode="auto">
            <a:xfrm>
              <a:off x="2517" y="845"/>
              <a:ext cx="0" cy="95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7" name="Line 13"/>
            <p:cNvSpPr>
              <a:spLocks noChangeShapeType="1"/>
            </p:cNvSpPr>
            <p:nvPr/>
          </p:nvSpPr>
          <p:spPr bwMode="auto">
            <a:xfrm flipH="1">
              <a:off x="2063" y="1798"/>
              <a:ext cx="454" cy="54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8" name="Line 14"/>
            <p:cNvSpPr>
              <a:spLocks noChangeShapeType="1"/>
            </p:cNvSpPr>
            <p:nvPr/>
          </p:nvSpPr>
          <p:spPr bwMode="auto">
            <a:xfrm flipH="1">
              <a:off x="3197" y="1843"/>
              <a:ext cx="454" cy="54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4399" name="Oval 15"/>
            <p:cNvSpPr>
              <a:spLocks noChangeArrowheads="1"/>
            </p:cNvSpPr>
            <p:nvPr/>
          </p:nvSpPr>
          <p:spPr bwMode="auto">
            <a:xfrm>
              <a:off x="2018" y="1299"/>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0" name="Oval 16"/>
            <p:cNvSpPr>
              <a:spLocks noChangeArrowheads="1"/>
            </p:cNvSpPr>
            <p:nvPr/>
          </p:nvSpPr>
          <p:spPr bwMode="auto">
            <a:xfrm>
              <a:off x="2426" y="80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1" name="Oval 17"/>
            <p:cNvSpPr>
              <a:spLocks noChangeArrowheads="1"/>
            </p:cNvSpPr>
            <p:nvPr/>
          </p:nvSpPr>
          <p:spPr bwMode="auto">
            <a:xfrm>
              <a:off x="2472" y="1753"/>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2" name="Oval 18"/>
            <p:cNvSpPr>
              <a:spLocks noChangeArrowheads="1"/>
            </p:cNvSpPr>
            <p:nvPr/>
          </p:nvSpPr>
          <p:spPr bwMode="auto">
            <a:xfrm>
              <a:off x="2018" y="225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3" name="Oval 19"/>
            <p:cNvSpPr>
              <a:spLocks noChangeArrowheads="1"/>
            </p:cNvSpPr>
            <p:nvPr/>
          </p:nvSpPr>
          <p:spPr bwMode="auto">
            <a:xfrm>
              <a:off x="3560" y="1753"/>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4" name="Oval 20"/>
            <p:cNvSpPr>
              <a:spLocks noChangeArrowheads="1"/>
            </p:cNvSpPr>
            <p:nvPr/>
          </p:nvSpPr>
          <p:spPr bwMode="auto">
            <a:xfrm>
              <a:off x="3107" y="1299"/>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5" name="Oval 21"/>
            <p:cNvSpPr>
              <a:spLocks noChangeArrowheads="1"/>
            </p:cNvSpPr>
            <p:nvPr/>
          </p:nvSpPr>
          <p:spPr bwMode="auto">
            <a:xfrm>
              <a:off x="3152" y="225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6" name="Oval 22"/>
            <p:cNvSpPr>
              <a:spLocks noChangeArrowheads="1"/>
            </p:cNvSpPr>
            <p:nvPr/>
          </p:nvSpPr>
          <p:spPr bwMode="auto">
            <a:xfrm>
              <a:off x="3560" y="80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7" name="Oval 23"/>
            <p:cNvSpPr>
              <a:spLocks noChangeArrowheads="1"/>
            </p:cNvSpPr>
            <p:nvPr/>
          </p:nvSpPr>
          <p:spPr bwMode="auto">
            <a:xfrm>
              <a:off x="2789" y="107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8" name="Oval 24"/>
            <p:cNvSpPr>
              <a:spLocks noChangeArrowheads="1"/>
            </p:cNvSpPr>
            <p:nvPr/>
          </p:nvSpPr>
          <p:spPr bwMode="auto">
            <a:xfrm>
              <a:off x="2789" y="2025"/>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44409" name="Text Box 25"/>
          <p:cNvSpPr txBox="1">
            <a:spLocks noChangeArrowheads="1"/>
          </p:cNvSpPr>
          <p:nvPr/>
        </p:nvSpPr>
        <p:spPr bwMode="auto">
          <a:xfrm>
            <a:off x="324163" y="5505201"/>
            <a:ext cx="8209285"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2400" dirty="0"/>
              <a:t>Example 2</a:t>
            </a:r>
            <a:r>
              <a:rPr lang="zh-CN" altLang="en-US" sz="2400" dirty="0"/>
              <a:t>：</a:t>
            </a:r>
            <a:r>
              <a:rPr lang="en-US" altLang="zh-CN" sz="2400" dirty="0"/>
              <a:t>End-centered cubic lattice, which does not have the </a:t>
            </a:r>
            <a:r>
              <a:rPr lang="en-US" altLang="zh-CN" dirty="0">
                <a:sym typeface="+mn-ea"/>
              </a:rPr>
              <a:t>symetry characteristics of 4L</a:t>
            </a:r>
            <a:r>
              <a:rPr lang="en-US" altLang="zh-CN" baseline="30000" dirty="0">
                <a:sym typeface="+mn-ea"/>
              </a:rPr>
              <a:t>3</a:t>
            </a:r>
            <a:r>
              <a:rPr lang="en-US" altLang="zh-CN" dirty="0">
                <a:sym typeface="+mn-ea"/>
              </a:rPr>
              <a:t>, cannot exist</a:t>
            </a:r>
            <a:r>
              <a:rPr lang="zh-CN" altLang="en-US" sz="2400" dirty="0"/>
              <a:t>，</a:t>
            </a:r>
            <a:r>
              <a:rPr lang="en-US" altLang="zh-CN" sz="2400" dirty="0"/>
              <a:t>but the face-centered cubic lattice can exist.</a:t>
            </a:r>
          </a:p>
        </p:txBody>
      </p:sp>
      <p:pic>
        <p:nvPicPr>
          <p:cNvPr id="1024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4310" b="4921"/>
          <a:stretch>
            <a:fillRect/>
          </a:stretch>
        </p:blipFill>
        <p:spPr bwMode="auto">
          <a:xfrm>
            <a:off x="5699712" y="1212093"/>
            <a:ext cx="3066805" cy="2833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Rectangle 4"/>
          <p:cNvSpPr>
            <a:spLocks noChangeArrowheads="1"/>
          </p:cNvSpPr>
          <p:nvPr/>
        </p:nvSpPr>
        <p:spPr bwMode="auto">
          <a:xfrm>
            <a:off x="539750" y="188913"/>
            <a:ext cx="7993063"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4800" b="1" spc="-60" dirty="0">
                <a:solidFill>
                  <a:srgbClr val="FF0066"/>
                </a:solidFill>
                <a:effectLst>
                  <a:outerShdw blurRad="38100" dist="38100" dir="2700000" algn="tl">
                    <a:srgbClr val="000000"/>
                  </a:outerShdw>
                </a:effectLst>
                <a:latin typeface="+mj-lt"/>
                <a:ea typeface="+mj-ea"/>
                <a:cs typeface="+mj-cs"/>
                <a:sym typeface="+mn-ea"/>
              </a:rPr>
              <a:t>14 bravais lattices</a:t>
            </a:r>
            <a:endParaRPr lang="zh-CN" altLang="en-US" sz="4800" b="1" spc="-60" dirty="0">
              <a:solidFill>
                <a:srgbClr val="FF0066"/>
              </a:solidFill>
              <a:effectLst>
                <a:outerShdw blurRad="38100" dist="38100" dir="2700000" algn="tl">
                  <a:srgbClr val="000000"/>
                </a:outerShdw>
              </a:effectLst>
              <a:latin typeface="+mj-lt"/>
              <a:ea typeface="+mj-ea"/>
              <a:cs typeface="+mj-cs"/>
            </a:endParaRPr>
          </a:p>
        </p:txBody>
      </p:sp>
      <p:grpSp>
        <p:nvGrpSpPr>
          <p:cNvPr id="44" name="Group 2"/>
          <p:cNvGrpSpPr/>
          <p:nvPr/>
        </p:nvGrpSpPr>
        <p:grpSpPr bwMode="auto">
          <a:xfrm>
            <a:off x="2941053" y="2735601"/>
            <a:ext cx="2663825" cy="2520950"/>
            <a:chOff x="2018" y="800"/>
            <a:chExt cx="1678" cy="1588"/>
          </a:xfrm>
        </p:grpSpPr>
        <p:sp>
          <p:nvSpPr>
            <p:cNvPr id="45" name="Line 3"/>
            <p:cNvSpPr>
              <a:spLocks noChangeShapeType="1"/>
            </p:cNvSpPr>
            <p:nvPr/>
          </p:nvSpPr>
          <p:spPr bwMode="auto">
            <a:xfrm>
              <a:off x="2472" y="845"/>
              <a:ext cx="117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
            <p:cNvSpPr>
              <a:spLocks noChangeShapeType="1"/>
            </p:cNvSpPr>
            <p:nvPr/>
          </p:nvSpPr>
          <p:spPr bwMode="auto">
            <a:xfrm flipH="1">
              <a:off x="2063" y="845"/>
              <a:ext cx="454" cy="54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5"/>
            <p:cNvSpPr>
              <a:spLocks noChangeShapeType="1"/>
            </p:cNvSpPr>
            <p:nvPr/>
          </p:nvSpPr>
          <p:spPr bwMode="auto">
            <a:xfrm flipH="1">
              <a:off x="3197" y="845"/>
              <a:ext cx="454" cy="54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6"/>
            <p:cNvSpPr>
              <a:spLocks noChangeShapeType="1"/>
            </p:cNvSpPr>
            <p:nvPr/>
          </p:nvSpPr>
          <p:spPr bwMode="auto">
            <a:xfrm>
              <a:off x="2063" y="1390"/>
              <a:ext cx="1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7"/>
            <p:cNvSpPr>
              <a:spLocks noChangeShapeType="1"/>
            </p:cNvSpPr>
            <p:nvPr/>
          </p:nvSpPr>
          <p:spPr bwMode="auto">
            <a:xfrm>
              <a:off x="2472" y="1843"/>
              <a:ext cx="1180"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8"/>
            <p:cNvSpPr>
              <a:spLocks noChangeShapeType="1"/>
            </p:cNvSpPr>
            <p:nvPr/>
          </p:nvSpPr>
          <p:spPr bwMode="auto">
            <a:xfrm>
              <a:off x="2063" y="2342"/>
              <a:ext cx="1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9"/>
            <p:cNvSpPr>
              <a:spLocks noChangeShapeType="1"/>
            </p:cNvSpPr>
            <p:nvPr/>
          </p:nvSpPr>
          <p:spPr bwMode="auto">
            <a:xfrm>
              <a:off x="2063" y="1390"/>
              <a:ext cx="0" cy="9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10"/>
            <p:cNvSpPr>
              <a:spLocks noChangeShapeType="1"/>
            </p:cNvSpPr>
            <p:nvPr/>
          </p:nvSpPr>
          <p:spPr bwMode="auto">
            <a:xfrm>
              <a:off x="3651" y="891"/>
              <a:ext cx="0" cy="9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11"/>
            <p:cNvSpPr>
              <a:spLocks noChangeShapeType="1"/>
            </p:cNvSpPr>
            <p:nvPr/>
          </p:nvSpPr>
          <p:spPr bwMode="auto">
            <a:xfrm>
              <a:off x="3197" y="1390"/>
              <a:ext cx="0" cy="9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12"/>
            <p:cNvSpPr>
              <a:spLocks noChangeShapeType="1"/>
            </p:cNvSpPr>
            <p:nvPr/>
          </p:nvSpPr>
          <p:spPr bwMode="auto">
            <a:xfrm>
              <a:off x="2517" y="845"/>
              <a:ext cx="0" cy="95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13"/>
            <p:cNvSpPr>
              <a:spLocks noChangeShapeType="1"/>
            </p:cNvSpPr>
            <p:nvPr/>
          </p:nvSpPr>
          <p:spPr bwMode="auto">
            <a:xfrm flipH="1">
              <a:off x="2063" y="1798"/>
              <a:ext cx="454" cy="54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14"/>
            <p:cNvSpPr>
              <a:spLocks noChangeShapeType="1"/>
            </p:cNvSpPr>
            <p:nvPr/>
          </p:nvSpPr>
          <p:spPr bwMode="auto">
            <a:xfrm flipH="1">
              <a:off x="3197" y="1843"/>
              <a:ext cx="454" cy="54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Oval 15"/>
            <p:cNvSpPr>
              <a:spLocks noChangeArrowheads="1"/>
            </p:cNvSpPr>
            <p:nvPr/>
          </p:nvSpPr>
          <p:spPr bwMode="auto">
            <a:xfrm>
              <a:off x="2018" y="1299"/>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Oval 16"/>
            <p:cNvSpPr>
              <a:spLocks noChangeArrowheads="1"/>
            </p:cNvSpPr>
            <p:nvPr/>
          </p:nvSpPr>
          <p:spPr bwMode="auto">
            <a:xfrm>
              <a:off x="2426" y="80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Oval 17"/>
            <p:cNvSpPr>
              <a:spLocks noChangeArrowheads="1"/>
            </p:cNvSpPr>
            <p:nvPr/>
          </p:nvSpPr>
          <p:spPr bwMode="auto">
            <a:xfrm>
              <a:off x="2472" y="1753"/>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 name="Oval 18"/>
            <p:cNvSpPr>
              <a:spLocks noChangeArrowheads="1"/>
            </p:cNvSpPr>
            <p:nvPr/>
          </p:nvSpPr>
          <p:spPr bwMode="auto">
            <a:xfrm>
              <a:off x="2018" y="225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Oval 19"/>
            <p:cNvSpPr>
              <a:spLocks noChangeArrowheads="1"/>
            </p:cNvSpPr>
            <p:nvPr/>
          </p:nvSpPr>
          <p:spPr bwMode="auto">
            <a:xfrm>
              <a:off x="3560" y="1753"/>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Oval 20"/>
            <p:cNvSpPr>
              <a:spLocks noChangeArrowheads="1"/>
            </p:cNvSpPr>
            <p:nvPr/>
          </p:nvSpPr>
          <p:spPr bwMode="auto">
            <a:xfrm>
              <a:off x="3107" y="1299"/>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 name="Oval 21"/>
            <p:cNvSpPr>
              <a:spLocks noChangeArrowheads="1"/>
            </p:cNvSpPr>
            <p:nvPr/>
          </p:nvSpPr>
          <p:spPr bwMode="auto">
            <a:xfrm>
              <a:off x="3152" y="225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Oval 22"/>
            <p:cNvSpPr>
              <a:spLocks noChangeArrowheads="1"/>
            </p:cNvSpPr>
            <p:nvPr/>
          </p:nvSpPr>
          <p:spPr bwMode="auto">
            <a:xfrm>
              <a:off x="3560" y="80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 name="Oval 23"/>
            <p:cNvSpPr>
              <a:spLocks noChangeArrowheads="1"/>
            </p:cNvSpPr>
            <p:nvPr/>
          </p:nvSpPr>
          <p:spPr bwMode="auto">
            <a:xfrm>
              <a:off x="2789" y="1072"/>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Oval 24"/>
            <p:cNvSpPr>
              <a:spLocks noChangeArrowheads="1"/>
            </p:cNvSpPr>
            <p:nvPr/>
          </p:nvSpPr>
          <p:spPr bwMode="auto">
            <a:xfrm>
              <a:off x="2789" y="2025"/>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 name="Oval 23"/>
            <p:cNvSpPr>
              <a:spLocks noChangeArrowheads="1"/>
            </p:cNvSpPr>
            <p:nvPr/>
          </p:nvSpPr>
          <p:spPr bwMode="auto">
            <a:xfrm>
              <a:off x="3353" y="154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 name="Oval 23"/>
            <p:cNvSpPr>
              <a:spLocks noChangeArrowheads="1"/>
            </p:cNvSpPr>
            <p:nvPr/>
          </p:nvSpPr>
          <p:spPr bwMode="auto">
            <a:xfrm>
              <a:off x="2237" y="1528"/>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 name="Oval 23"/>
            <p:cNvSpPr>
              <a:spLocks noChangeArrowheads="1"/>
            </p:cNvSpPr>
            <p:nvPr/>
          </p:nvSpPr>
          <p:spPr bwMode="auto">
            <a:xfrm>
              <a:off x="2621" y="1780"/>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Oval 23"/>
            <p:cNvSpPr>
              <a:spLocks noChangeArrowheads="1"/>
            </p:cNvSpPr>
            <p:nvPr/>
          </p:nvSpPr>
          <p:spPr bwMode="auto">
            <a:xfrm>
              <a:off x="2945" y="1336"/>
              <a:ext cx="136" cy="13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3938" y="0"/>
            <a:ext cx="431006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rot="5400000">
            <a:off x="4652575" y="6286009"/>
            <a:ext cx="665247" cy="246221"/>
          </a:xfrm>
          <a:prstGeom prst="rect">
            <a:avLst/>
          </a:prstGeom>
          <a:solidFill>
            <a:schemeClr val="bg1"/>
          </a:solidFill>
        </p:spPr>
        <p:txBody>
          <a:bodyPr wrap="square" lIns="0" tIns="0" rIns="0" bIns="0" rtlCol="0">
            <a:spAutoFit/>
          </a:bodyPr>
          <a:lstStyle/>
          <a:p>
            <a:pPr algn="ctr"/>
            <a:r>
              <a:rPr lang="en-US" altLang="zh-CN" sz="1600" dirty="0"/>
              <a:t>Cubic</a:t>
            </a:r>
            <a:endParaRPr lang="en-US" sz="1600" dirty="0"/>
          </a:p>
        </p:txBody>
      </p:sp>
      <p:sp>
        <p:nvSpPr>
          <p:cNvPr id="9" name="TextBox 8"/>
          <p:cNvSpPr txBox="1"/>
          <p:nvPr/>
        </p:nvSpPr>
        <p:spPr>
          <a:xfrm rot="5400000">
            <a:off x="4477433" y="2549850"/>
            <a:ext cx="997570" cy="184666"/>
          </a:xfrm>
          <a:prstGeom prst="rect">
            <a:avLst/>
          </a:prstGeom>
          <a:solidFill>
            <a:schemeClr val="bg1"/>
          </a:solidFill>
        </p:spPr>
        <p:txBody>
          <a:bodyPr wrap="square" lIns="0" tIns="0" rIns="0" bIns="0" rtlCol="0">
            <a:spAutoFit/>
          </a:bodyPr>
          <a:lstStyle/>
          <a:p>
            <a:pPr algn="ctr"/>
            <a:r>
              <a:rPr lang="en-US" sz="1200" dirty="0"/>
              <a:t>Orthorhombic</a:t>
            </a:r>
          </a:p>
        </p:txBody>
      </p:sp>
      <p:sp>
        <p:nvSpPr>
          <p:cNvPr id="10" name="TextBox 9"/>
          <p:cNvSpPr txBox="1"/>
          <p:nvPr/>
        </p:nvSpPr>
        <p:spPr>
          <a:xfrm rot="5400000">
            <a:off x="4486310" y="4414333"/>
            <a:ext cx="971914" cy="169277"/>
          </a:xfrm>
          <a:prstGeom prst="rect">
            <a:avLst/>
          </a:prstGeom>
          <a:solidFill>
            <a:schemeClr val="bg1"/>
          </a:solidFill>
        </p:spPr>
        <p:txBody>
          <a:bodyPr wrap="square" lIns="0" tIns="0" rIns="0" bIns="0" rtlCol="0">
            <a:spAutoFit/>
          </a:bodyPr>
          <a:lstStyle/>
          <a:p>
            <a:pPr algn="ctr"/>
            <a:r>
              <a:rPr lang="en-US" sz="1100" dirty="0"/>
              <a:t>Rhombohedral</a:t>
            </a:r>
          </a:p>
        </p:txBody>
      </p:sp>
      <p:sp>
        <p:nvSpPr>
          <p:cNvPr id="11" name="TextBox 10"/>
          <p:cNvSpPr txBox="1"/>
          <p:nvPr/>
        </p:nvSpPr>
        <p:spPr>
          <a:xfrm rot="5400000">
            <a:off x="4514208" y="3469493"/>
            <a:ext cx="936102" cy="215444"/>
          </a:xfrm>
          <a:prstGeom prst="rect">
            <a:avLst/>
          </a:prstGeom>
          <a:solidFill>
            <a:schemeClr val="bg1"/>
          </a:solidFill>
        </p:spPr>
        <p:txBody>
          <a:bodyPr wrap="square" lIns="0" tIns="0" rIns="0" bIns="0" rtlCol="0">
            <a:spAutoFit/>
          </a:bodyPr>
          <a:lstStyle/>
          <a:p>
            <a:pPr algn="ctr"/>
            <a:r>
              <a:rPr lang="en-US" altLang="zh-CN" sz="1400" dirty="0"/>
              <a:t>Tetragonal</a:t>
            </a:r>
            <a:endParaRPr lang="en-US" sz="1400" dirty="0"/>
          </a:p>
        </p:txBody>
      </p:sp>
      <p:sp>
        <p:nvSpPr>
          <p:cNvPr id="12" name="TextBox 11"/>
          <p:cNvSpPr txBox="1"/>
          <p:nvPr/>
        </p:nvSpPr>
        <p:spPr>
          <a:xfrm rot="5400000">
            <a:off x="4570010" y="5367108"/>
            <a:ext cx="827896" cy="215444"/>
          </a:xfrm>
          <a:prstGeom prst="rect">
            <a:avLst/>
          </a:prstGeom>
          <a:solidFill>
            <a:schemeClr val="bg1"/>
          </a:solidFill>
        </p:spPr>
        <p:txBody>
          <a:bodyPr wrap="square" lIns="0" tIns="0" rIns="0" bIns="0" rtlCol="0">
            <a:spAutoFit/>
          </a:bodyPr>
          <a:lstStyle/>
          <a:p>
            <a:pPr algn="ctr"/>
            <a:r>
              <a:rPr lang="en-US" altLang="zh-CN" sz="1400" dirty="0"/>
              <a:t>Hexagonal</a:t>
            </a:r>
            <a:endParaRPr lang="en-US" sz="1400" dirty="0"/>
          </a:p>
        </p:txBody>
      </p:sp>
      <p:sp>
        <p:nvSpPr>
          <p:cNvPr id="13" name="TextBox 12"/>
          <p:cNvSpPr txBox="1"/>
          <p:nvPr/>
        </p:nvSpPr>
        <p:spPr>
          <a:xfrm rot="5400000">
            <a:off x="4511609" y="621041"/>
            <a:ext cx="936102" cy="246221"/>
          </a:xfrm>
          <a:prstGeom prst="rect">
            <a:avLst/>
          </a:prstGeom>
          <a:solidFill>
            <a:schemeClr val="bg1"/>
          </a:solidFill>
        </p:spPr>
        <p:txBody>
          <a:bodyPr wrap="square" lIns="0" tIns="0" rIns="0" bIns="0" rtlCol="0">
            <a:spAutoFit/>
          </a:bodyPr>
          <a:lstStyle/>
          <a:p>
            <a:pPr algn="ctr"/>
            <a:r>
              <a:rPr lang="en-US" altLang="zh-CN" sz="1600" dirty="0"/>
              <a:t>Triclinic</a:t>
            </a:r>
            <a:endParaRPr lang="en-US" sz="1600" dirty="0"/>
          </a:p>
        </p:txBody>
      </p:sp>
      <p:sp>
        <p:nvSpPr>
          <p:cNvPr id="14" name="TextBox 13"/>
          <p:cNvSpPr txBox="1"/>
          <p:nvPr/>
        </p:nvSpPr>
        <p:spPr>
          <a:xfrm rot="5400000">
            <a:off x="4554095" y="1568560"/>
            <a:ext cx="848647" cy="215444"/>
          </a:xfrm>
          <a:prstGeom prst="rect">
            <a:avLst/>
          </a:prstGeom>
          <a:solidFill>
            <a:schemeClr val="bg1"/>
          </a:solidFill>
        </p:spPr>
        <p:txBody>
          <a:bodyPr wrap="square" lIns="0" tIns="0" rIns="0" bIns="0" rtlCol="0">
            <a:spAutoFit/>
          </a:bodyPr>
          <a:lstStyle/>
          <a:p>
            <a:pPr algn="ctr"/>
            <a:r>
              <a:rPr lang="en-US" sz="1400" dirty="0"/>
              <a:t>Monoclinic</a:t>
            </a:r>
          </a:p>
        </p:txBody>
      </p:sp>
      <p:sp>
        <p:nvSpPr>
          <p:cNvPr id="16" name="TextBox 15"/>
          <p:cNvSpPr txBox="1"/>
          <p:nvPr/>
        </p:nvSpPr>
        <p:spPr>
          <a:xfrm>
            <a:off x="5220072" y="13386"/>
            <a:ext cx="720080" cy="246221"/>
          </a:xfrm>
          <a:prstGeom prst="rect">
            <a:avLst/>
          </a:prstGeom>
          <a:solidFill>
            <a:schemeClr val="bg1"/>
          </a:solidFill>
        </p:spPr>
        <p:txBody>
          <a:bodyPr wrap="square" lIns="0" tIns="0" rIns="0" bIns="0" rtlCol="0">
            <a:spAutoFit/>
          </a:bodyPr>
          <a:lstStyle/>
          <a:p>
            <a:pPr algn="ctr"/>
            <a:r>
              <a:rPr lang="en-US" altLang="zh-CN" sz="1600" dirty="0"/>
              <a:t>P</a:t>
            </a:r>
            <a:endParaRPr lang="en-US" sz="1600" dirty="0"/>
          </a:p>
        </p:txBody>
      </p:sp>
      <p:sp>
        <p:nvSpPr>
          <p:cNvPr id="17" name="TextBox 16"/>
          <p:cNvSpPr txBox="1"/>
          <p:nvPr/>
        </p:nvSpPr>
        <p:spPr>
          <a:xfrm>
            <a:off x="6285547" y="13385"/>
            <a:ext cx="720080" cy="246221"/>
          </a:xfrm>
          <a:prstGeom prst="rect">
            <a:avLst/>
          </a:prstGeom>
          <a:solidFill>
            <a:schemeClr val="bg1"/>
          </a:solidFill>
        </p:spPr>
        <p:txBody>
          <a:bodyPr wrap="square" lIns="0" tIns="0" rIns="0" bIns="0" rtlCol="0">
            <a:spAutoFit/>
          </a:bodyPr>
          <a:lstStyle/>
          <a:p>
            <a:pPr algn="ctr"/>
            <a:r>
              <a:rPr lang="en-US" altLang="zh-CN" sz="1600" dirty="0"/>
              <a:t>C</a:t>
            </a:r>
            <a:endParaRPr lang="en-US" sz="1600" dirty="0"/>
          </a:p>
        </p:txBody>
      </p:sp>
      <p:sp>
        <p:nvSpPr>
          <p:cNvPr id="19" name="TextBox 18"/>
          <p:cNvSpPr txBox="1"/>
          <p:nvPr/>
        </p:nvSpPr>
        <p:spPr>
          <a:xfrm>
            <a:off x="7255606" y="13385"/>
            <a:ext cx="720080" cy="246221"/>
          </a:xfrm>
          <a:prstGeom prst="rect">
            <a:avLst/>
          </a:prstGeom>
          <a:solidFill>
            <a:schemeClr val="bg1"/>
          </a:solidFill>
        </p:spPr>
        <p:txBody>
          <a:bodyPr wrap="square" lIns="0" tIns="0" rIns="0" bIns="0" rtlCol="0">
            <a:spAutoFit/>
          </a:bodyPr>
          <a:lstStyle/>
          <a:p>
            <a:pPr algn="ctr"/>
            <a:r>
              <a:rPr lang="en-US" altLang="zh-CN" sz="1600" dirty="0"/>
              <a:t>I</a:t>
            </a:r>
            <a:endParaRPr lang="en-US" sz="1600" dirty="0"/>
          </a:p>
        </p:txBody>
      </p:sp>
      <p:sp>
        <p:nvSpPr>
          <p:cNvPr id="20" name="TextBox 19"/>
          <p:cNvSpPr txBox="1"/>
          <p:nvPr/>
        </p:nvSpPr>
        <p:spPr>
          <a:xfrm>
            <a:off x="8225665" y="13387"/>
            <a:ext cx="720080" cy="246221"/>
          </a:xfrm>
          <a:prstGeom prst="rect">
            <a:avLst/>
          </a:prstGeom>
          <a:solidFill>
            <a:schemeClr val="bg1"/>
          </a:solidFill>
        </p:spPr>
        <p:txBody>
          <a:bodyPr wrap="square" lIns="0" tIns="0" rIns="0" bIns="0" rtlCol="0">
            <a:spAutoFit/>
          </a:bodyPr>
          <a:lstStyle/>
          <a:p>
            <a:pPr algn="ctr"/>
            <a:r>
              <a:rPr lang="en-US" altLang="zh-CN" sz="1600" dirty="0"/>
              <a:t>F</a:t>
            </a:r>
            <a:endParaRPr lang="en-US" sz="1600" dirty="0"/>
          </a:p>
        </p:txBody>
      </p:sp>
      <p:sp>
        <p:nvSpPr>
          <p:cNvPr id="4" name="Rectangle 3"/>
          <p:cNvSpPr/>
          <p:nvPr/>
        </p:nvSpPr>
        <p:spPr>
          <a:xfrm>
            <a:off x="6137636" y="4228053"/>
            <a:ext cx="970546" cy="2585323"/>
          </a:xfrm>
          <a:prstGeom prst="rect">
            <a:avLst/>
          </a:prstGeom>
          <a:solidFill>
            <a:schemeClr val="bg1"/>
          </a:solidFill>
        </p:spPr>
        <p:txBody>
          <a:bodyPr wrap="square">
            <a:spAutoFit/>
          </a:bodyPr>
          <a:lstStyle/>
          <a:p>
            <a:endParaRPr lang="en-US" sz="1800" dirty="0"/>
          </a:p>
          <a:p>
            <a:r>
              <a:rPr lang="en-US" sz="1800" dirty="0"/>
              <a:t>Inconsistent with the symmetry of the crystal system</a:t>
            </a:r>
          </a:p>
          <a:p>
            <a:endParaRPr lang="en-US" sz="1800" dirty="0"/>
          </a:p>
        </p:txBody>
      </p:sp>
      <p:sp>
        <p:nvSpPr>
          <p:cNvPr id="5" name="Rectangle 4"/>
          <p:cNvSpPr/>
          <p:nvPr/>
        </p:nvSpPr>
        <p:spPr>
          <a:xfrm>
            <a:off x="7176096" y="4976034"/>
            <a:ext cx="1888394" cy="923330"/>
          </a:xfrm>
          <a:prstGeom prst="rect">
            <a:avLst/>
          </a:prstGeom>
          <a:solidFill>
            <a:schemeClr val="bg1"/>
          </a:solidFill>
        </p:spPr>
        <p:txBody>
          <a:bodyPr wrap="square">
            <a:spAutoFit/>
          </a:bodyPr>
          <a:lstStyle/>
          <a:p>
            <a:r>
              <a:rPr lang="en-US" sz="1800" dirty="0"/>
              <a:t>Inconsistent with the condition of the space lattice</a:t>
            </a:r>
          </a:p>
        </p:txBody>
      </p:sp>
      <p:sp>
        <p:nvSpPr>
          <p:cNvPr id="25" name="TextBox 24"/>
          <p:cNvSpPr txBox="1"/>
          <p:nvPr/>
        </p:nvSpPr>
        <p:spPr>
          <a:xfrm rot="5400000">
            <a:off x="4123870" y="4357955"/>
            <a:ext cx="936102" cy="246221"/>
          </a:xfrm>
          <a:prstGeom prst="rect">
            <a:avLst/>
          </a:prstGeom>
          <a:solidFill>
            <a:schemeClr val="bg1"/>
          </a:solidFill>
        </p:spPr>
        <p:txBody>
          <a:bodyPr wrap="square" lIns="0" tIns="0" rIns="0" bIns="0" rtlCol="0">
            <a:spAutoFit/>
          </a:bodyPr>
          <a:lstStyle/>
          <a:p>
            <a:pPr algn="ctr"/>
            <a:r>
              <a:rPr lang="en-US" altLang="zh-CN" sz="1600" dirty="0"/>
              <a:t>Trigonal</a:t>
            </a:r>
            <a:endParaRPr lang="en-US" sz="1600" dirty="0"/>
          </a:p>
        </p:txBody>
      </p:sp>
      <p:sp>
        <p:nvSpPr>
          <p:cNvPr id="26" name="Rectangle 4"/>
          <p:cNvSpPr>
            <a:spLocks noChangeArrowheads="1"/>
          </p:cNvSpPr>
          <p:nvPr/>
        </p:nvSpPr>
        <p:spPr bwMode="auto">
          <a:xfrm>
            <a:off x="242431" y="118674"/>
            <a:ext cx="434413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4800" b="1" spc="-60" dirty="0">
                <a:solidFill>
                  <a:srgbClr val="FF0066"/>
                </a:solidFill>
                <a:effectLst>
                  <a:outerShdw blurRad="38100" dist="38100" dir="2700000" algn="tl">
                    <a:srgbClr val="000000"/>
                  </a:outerShdw>
                </a:effectLst>
                <a:latin typeface="+mj-lt"/>
                <a:ea typeface="+mj-ea"/>
                <a:cs typeface="+mj-cs"/>
                <a:sym typeface="+mn-ea"/>
              </a:rPr>
              <a:t>14 bravais lattices</a:t>
            </a:r>
            <a:endParaRPr lang="zh-CN" altLang="en-US" sz="4800" b="1" spc="-60" dirty="0">
              <a:solidFill>
                <a:srgbClr val="FF0066"/>
              </a:solidFill>
              <a:effectLst>
                <a:outerShdw blurRad="38100" dist="38100" dir="2700000" algn="tl">
                  <a:srgbClr val="000000"/>
                </a:outerShdw>
              </a:effectLst>
              <a:latin typeface="+mj-lt"/>
              <a:ea typeface="+mj-ea"/>
              <a:cs typeface="+mj-cs"/>
            </a:endParaRPr>
          </a:p>
        </p:txBody>
      </p:sp>
      <p:sp>
        <p:nvSpPr>
          <p:cNvPr id="6" name="TextBox 5"/>
          <p:cNvSpPr txBox="1"/>
          <p:nvPr/>
        </p:nvSpPr>
        <p:spPr>
          <a:xfrm>
            <a:off x="1" y="2967335"/>
            <a:ext cx="4644008" cy="830997"/>
          </a:xfrm>
          <a:prstGeom prst="rect">
            <a:avLst/>
          </a:prstGeom>
          <a:noFill/>
        </p:spPr>
        <p:txBody>
          <a:bodyPr wrap="square" rtlCol="0">
            <a:spAutoFit/>
          </a:bodyPr>
          <a:lstStyle/>
          <a:p>
            <a:r>
              <a:rPr lang="en-US" dirty="0"/>
              <a:t>Homework: Please derive 14 bravais lattices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Rectangle 3"/>
          <p:cNvSpPr>
            <a:spLocks noGrp="1" noChangeArrowheads="1"/>
          </p:cNvSpPr>
          <p:nvPr>
            <p:ph type="body" idx="1"/>
          </p:nvPr>
        </p:nvSpPr>
        <p:spPr>
          <a:xfrm>
            <a:off x="395536" y="5300663"/>
            <a:ext cx="2828994" cy="604837"/>
          </a:xfrm>
        </p:spPr>
        <p:txBody>
          <a:bodyPr/>
          <a:lstStyle/>
          <a:p>
            <a:pPr>
              <a:buFont typeface="Wingdings" panose="05000000000000000000" pitchFamily="2" charset="2"/>
              <a:buNone/>
            </a:pPr>
            <a:r>
              <a:rPr lang="en-US" sz="2800" spc="-60" dirty="0">
                <a:solidFill>
                  <a:srgbClr val="FF0066"/>
                </a:solidFill>
              </a:rPr>
              <a:t>Practice 3</a:t>
            </a:r>
            <a:r>
              <a:rPr lang="zh-CN" altLang="en-US" sz="2800" spc="-60" dirty="0">
                <a:solidFill>
                  <a:srgbClr val="FF0066"/>
                </a:solidFill>
              </a:rPr>
              <a:t>：</a:t>
            </a:r>
            <a:endParaRPr lang="zh-CN" altLang="en-US" sz="2800" b="1" dirty="0"/>
          </a:p>
        </p:txBody>
      </p:sp>
      <p:sp>
        <p:nvSpPr>
          <p:cNvPr id="205828" name="Rectangle 4"/>
          <p:cNvSpPr>
            <a:spLocks noChangeArrowheads="1"/>
          </p:cNvSpPr>
          <p:nvPr/>
        </p:nvSpPr>
        <p:spPr bwMode="auto">
          <a:xfrm>
            <a:off x="539750" y="301625"/>
            <a:ext cx="7993063"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4800" b="1" spc="-60" dirty="0">
                <a:solidFill>
                  <a:srgbClr val="FF0066"/>
                </a:solidFill>
                <a:effectLst>
                  <a:outerShdw blurRad="38100" dist="38100" dir="2700000" algn="tl">
                    <a:srgbClr val="000000"/>
                  </a:outerShdw>
                </a:effectLst>
                <a:latin typeface="+mj-lt"/>
                <a:ea typeface="+mj-ea"/>
                <a:cs typeface="+mj-cs"/>
                <a:sym typeface="+mn-ea"/>
              </a:rPr>
              <a:t>14 bravais lattices</a:t>
            </a:r>
            <a:endParaRPr lang="zh-CN" altLang="en-US" sz="4800" dirty="0">
              <a:solidFill>
                <a:schemeClr val="hlink"/>
              </a:solidFill>
              <a:effectLst>
                <a:outerShdw blurRad="38100" dist="38100" dir="2700000" algn="tl">
                  <a:srgbClr val="000000"/>
                </a:outerShdw>
              </a:effectLst>
            </a:endParaRPr>
          </a:p>
        </p:txBody>
      </p:sp>
      <p:pic>
        <p:nvPicPr>
          <p:cNvPr id="205829" name="Picture 5" descr="相当点"/>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159013"/>
            <a:ext cx="52387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69257"/>
          <a:stretch>
            <a:fillRect/>
          </a:stretch>
        </p:blipFill>
        <p:spPr bwMode="auto">
          <a:xfrm>
            <a:off x="4915892" y="1159013"/>
            <a:ext cx="2857294" cy="29822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p:cNvSpPr txBox="1"/>
          <p:nvPr/>
        </p:nvSpPr>
        <p:spPr>
          <a:xfrm>
            <a:off x="2339752" y="5356865"/>
            <a:ext cx="5212715" cy="829945"/>
          </a:xfrm>
          <a:prstGeom prst="rect">
            <a:avLst/>
          </a:prstGeom>
          <a:noFill/>
        </p:spPr>
        <p:txBody>
          <a:bodyPr wrap="square" rtlCol="0">
            <a:spAutoFit/>
          </a:bodyPr>
          <a:lstStyle/>
          <a:p>
            <a:r>
              <a:rPr lang="en-US" altLang="zh-CN" dirty="0"/>
              <a:t>Please point out the lattice type of </a:t>
            </a:r>
            <a:r>
              <a:rPr lang="en-US" altLang="zh-CN" dirty="0" err="1"/>
              <a:t>NaCl</a:t>
            </a:r>
            <a:r>
              <a:rPr lang="en-US" altLang="zh-CN" dirty="0"/>
              <a:t> and </a:t>
            </a:r>
            <a:r>
              <a:rPr lang="en-US" altLang="zh-CN" dirty="0" err="1"/>
              <a:t>CsCl</a:t>
            </a:r>
            <a:r>
              <a:rPr lang="en-US" altLang="zh-CN" dirty="0"/>
              <a:t> crystals, respectively.</a:t>
            </a:r>
          </a:p>
        </p:txBody>
      </p:sp>
      <p:sp>
        <p:nvSpPr>
          <p:cNvPr id="3" name="Rectangle 2"/>
          <p:cNvSpPr/>
          <p:nvPr/>
        </p:nvSpPr>
        <p:spPr>
          <a:xfrm>
            <a:off x="286371" y="4437112"/>
            <a:ext cx="1234633" cy="461665"/>
          </a:xfrm>
          <a:prstGeom prst="rect">
            <a:avLst/>
          </a:prstGeom>
          <a:solidFill>
            <a:schemeClr val="bg1"/>
          </a:solidFill>
        </p:spPr>
        <p:txBody>
          <a:bodyPr wrap="none">
            <a:spAutoFit/>
          </a:bodyPr>
          <a:lstStyle/>
          <a:p>
            <a:pPr algn="ctr"/>
            <a:r>
              <a:rPr lang="en-US" altLang="zh-CN" sz="1200" dirty="0" err="1"/>
              <a:t>CsCl</a:t>
            </a:r>
            <a:r>
              <a:rPr lang="en-US" altLang="zh-CN" sz="1200" dirty="0"/>
              <a:t> </a:t>
            </a:r>
          </a:p>
          <a:p>
            <a:pPr algn="ctr"/>
            <a:r>
              <a:rPr lang="en-US" altLang="zh-CN" sz="1200" dirty="0"/>
              <a:t>Crystal Structure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2532" name="Rectangle 4"/>
          <p:cNvSpPr>
            <a:spLocks noChangeArrowheads="1"/>
          </p:cNvSpPr>
          <p:nvPr/>
        </p:nvSpPr>
        <p:spPr bwMode="auto">
          <a:xfrm>
            <a:off x="539750" y="301625"/>
            <a:ext cx="7993063"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4800" b="1" spc="-60" dirty="0">
                <a:solidFill>
                  <a:srgbClr val="FF0066"/>
                </a:solidFill>
                <a:effectLst>
                  <a:outerShdw blurRad="38100" dist="38100" dir="2700000" algn="tl">
                    <a:srgbClr val="000000"/>
                  </a:outerShdw>
                </a:effectLst>
                <a:latin typeface="+mj-lt"/>
                <a:ea typeface="+mj-ea"/>
                <a:cs typeface="+mj-cs"/>
                <a:sym typeface="+mn-ea"/>
              </a:rPr>
              <a:t>14 bravais lattices</a:t>
            </a:r>
            <a:endParaRPr lang="zh-CN" altLang="en-US" sz="4800" b="1" spc="-60" dirty="0">
              <a:solidFill>
                <a:srgbClr val="FF0066"/>
              </a:solidFill>
              <a:effectLst>
                <a:outerShdw blurRad="38100" dist="38100" dir="2700000" algn="tl">
                  <a:srgbClr val="000000"/>
                </a:outerShdw>
              </a:effectLst>
              <a:latin typeface="+mj-lt"/>
              <a:ea typeface="+mj-ea"/>
              <a:cs typeface="+mj-cs"/>
            </a:endParaRPr>
          </a:p>
        </p:txBody>
      </p:sp>
      <p:sp>
        <p:nvSpPr>
          <p:cNvPr id="22533" name="Rectangle 5"/>
          <p:cNvSpPr>
            <a:spLocks noChangeArrowheads="1"/>
          </p:cNvSpPr>
          <p:nvPr/>
        </p:nvSpPr>
        <p:spPr bwMode="auto">
          <a:xfrm>
            <a:off x="719455" y="1772816"/>
            <a:ext cx="7633970"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hlink"/>
              </a:buClr>
              <a:buSzPct val="80000"/>
              <a:buFont typeface="Wingdings" panose="05000000000000000000" pitchFamily="2" charset="2"/>
              <a:buNone/>
            </a:pPr>
            <a:r>
              <a:rPr lang="en-US" altLang="zh-CN" b="1" spc="-60" dirty="0">
                <a:solidFill>
                  <a:srgbClr val="FF0066"/>
                </a:solidFill>
                <a:latin typeface="+mj-lt"/>
                <a:ea typeface="+mj-ea"/>
                <a:cs typeface="+mj-cs"/>
              </a:rPr>
              <a:t>Shape and Size of Parallelepipeds </a:t>
            </a:r>
          </a:p>
          <a:p>
            <a:pPr>
              <a:spcBef>
                <a:spcPct val="20000"/>
              </a:spcBef>
              <a:buClr>
                <a:schemeClr val="hlink"/>
              </a:buClr>
              <a:buSzPct val="80000"/>
              <a:buFont typeface="Wingdings" panose="05000000000000000000" pitchFamily="2" charset="2"/>
              <a:buNone/>
            </a:pPr>
            <a:r>
              <a:rPr lang="en-US" altLang="zh-CN" b="1" spc="-60" dirty="0">
                <a:solidFill>
                  <a:srgbClr val="FF0066"/>
                </a:solidFill>
                <a:latin typeface="+mj-lt"/>
                <a:ea typeface="+mj-ea"/>
                <a:cs typeface="+mj-cs"/>
              </a:rPr>
              <a:t>in Different Crystal Systems</a:t>
            </a:r>
          </a:p>
        </p:txBody>
      </p:sp>
      <p:sp>
        <p:nvSpPr>
          <p:cNvPr id="3" name="文本框 2"/>
          <p:cNvSpPr txBox="1"/>
          <p:nvPr/>
        </p:nvSpPr>
        <p:spPr>
          <a:xfrm>
            <a:off x="722862" y="2857029"/>
            <a:ext cx="7382510" cy="2554545"/>
          </a:xfrm>
          <a:prstGeom prst="rect">
            <a:avLst/>
          </a:prstGeom>
          <a:noFill/>
        </p:spPr>
        <p:txBody>
          <a:bodyPr wrap="square" rtlCol="0">
            <a:spAutoFit/>
          </a:bodyPr>
          <a:lstStyle/>
          <a:p>
            <a:r>
              <a:rPr lang="en-US" altLang="zh-CN" sz="3200" dirty="0"/>
              <a:t>The shape and size of parallelepipeds can be determined by the length of three edges  (axis), referred to as </a:t>
            </a:r>
            <a:r>
              <a:rPr lang="en-US" altLang="zh-CN" sz="3200" b="1" i="1" dirty="0">
                <a:solidFill>
                  <a:srgbClr val="FF0000"/>
                </a:solidFill>
              </a:rPr>
              <a:t>a, b </a:t>
            </a:r>
            <a:r>
              <a:rPr lang="en-US" altLang="zh-CN" sz="3200" dirty="0"/>
              <a:t>and</a:t>
            </a:r>
            <a:r>
              <a:rPr lang="en-US" altLang="zh-CN" sz="3200" dirty="0">
                <a:solidFill>
                  <a:srgbClr val="FF0000"/>
                </a:solidFill>
              </a:rPr>
              <a:t> </a:t>
            </a:r>
            <a:r>
              <a:rPr lang="en-US" altLang="zh-CN" sz="3200" b="1" i="1" dirty="0">
                <a:solidFill>
                  <a:srgbClr val="FF0000"/>
                </a:solidFill>
              </a:rPr>
              <a:t>c</a:t>
            </a:r>
            <a:r>
              <a:rPr lang="en-US" altLang="zh-CN" sz="3200" dirty="0"/>
              <a:t>, as well as the three angles between them, </a:t>
            </a:r>
            <a:r>
              <a:rPr lang="en-US" altLang="zh-CN" sz="3200" b="1" i="1" dirty="0">
                <a:solidFill>
                  <a:srgbClr val="FF0000"/>
                </a:solidFill>
              </a:rPr>
              <a:t>α, β </a:t>
            </a:r>
            <a:r>
              <a:rPr lang="en-US" altLang="zh-CN" sz="3200" dirty="0"/>
              <a:t>and </a:t>
            </a:r>
            <a:r>
              <a:rPr lang="en-US" altLang="zh-CN" sz="3200" b="1" i="1" dirty="0">
                <a:solidFill>
                  <a:srgbClr val="FF0000"/>
                </a:solidFill>
              </a:rPr>
              <a:t>γ</a:t>
            </a:r>
            <a:r>
              <a:rPr lang="en-US" altLang="zh-CN" sz="3200" dirty="0"/>
              <a:t>, all of which are called </a:t>
            </a:r>
            <a:r>
              <a:rPr lang="en-US" altLang="zh-CN" sz="3200" b="1" i="1" dirty="0">
                <a:solidFill>
                  <a:srgbClr val="FF0000"/>
                </a:solidFill>
              </a:rPr>
              <a:t>lattice </a:t>
            </a:r>
            <a:r>
              <a:rPr lang="en-US" altLang="zh-CN" sz="3200" b="1" i="1" dirty="0">
                <a:solidFill>
                  <a:srgbClr val="FF0000"/>
                </a:solidFill>
                <a:sym typeface="+mn-ea"/>
              </a:rPr>
              <a:t>parameters</a:t>
            </a:r>
            <a:r>
              <a:rPr lang="en-US" altLang="zh-CN" sz="3200" dirty="0"/>
              <a:t>.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7218" name="Rectangle 2"/>
          <p:cNvSpPr>
            <a:spLocks noChangeArrowheads="1"/>
          </p:cNvSpPr>
          <p:nvPr/>
        </p:nvSpPr>
        <p:spPr bwMode="auto">
          <a:xfrm>
            <a:off x="2800350" y="3081338"/>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nvGrpSpPr>
          <p:cNvPr id="137389" name="Group 173"/>
          <p:cNvGrpSpPr/>
          <p:nvPr/>
        </p:nvGrpSpPr>
        <p:grpSpPr bwMode="auto">
          <a:xfrm>
            <a:off x="1468438" y="139700"/>
            <a:ext cx="1887537" cy="3575050"/>
            <a:chOff x="925" y="88"/>
            <a:chExt cx="1189" cy="2252"/>
          </a:xfrm>
        </p:grpSpPr>
        <p:sp>
          <p:nvSpPr>
            <p:cNvPr id="137390" name="Freeform 174"/>
            <p:cNvSpPr>
              <a:spLocks noChangeAspect="1"/>
            </p:cNvSpPr>
            <p:nvPr/>
          </p:nvSpPr>
          <p:spPr bwMode="auto">
            <a:xfrm>
              <a:off x="1106" y="405"/>
              <a:ext cx="743" cy="1159"/>
            </a:xfrm>
            <a:custGeom>
              <a:avLst/>
              <a:gdLst>
                <a:gd name="T0" fmla="*/ 314 w 932"/>
                <a:gd name="T1" fmla="*/ 0 h 1453"/>
                <a:gd name="T2" fmla="*/ 0 w 932"/>
                <a:gd name="T3" fmla="*/ 425 h 1453"/>
                <a:gd name="T4" fmla="*/ 5 w 932"/>
                <a:gd name="T5" fmla="*/ 1144 h 1453"/>
                <a:gd name="T6" fmla="*/ 628 w 932"/>
                <a:gd name="T7" fmla="*/ 1453 h 1453"/>
                <a:gd name="T8" fmla="*/ 932 w 932"/>
                <a:gd name="T9" fmla="*/ 1081 h 1453"/>
                <a:gd name="T10" fmla="*/ 922 w 932"/>
                <a:gd name="T11" fmla="*/ 285 h 1453"/>
                <a:gd name="T12" fmla="*/ 314 w 932"/>
                <a:gd name="T13" fmla="*/ 0 h 1453"/>
              </a:gdLst>
              <a:ahLst/>
              <a:cxnLst>
                <a:cxn ang="0">
                  <a:pos x="T0" y="T1"/>
                </a:cxn>
                <a:cxn ang="0">
                  <a:pos x="T2" y="T3"/>
                </a:cxn>
                <a:cxn ang="0">
                  <a:pos x="T4" y="T5"/>
                </a:cxn>
                <a:cxn ang="0">
                  <a:pos x="T6" y="T7"/>
                </a:cxn>
                <a:cxn ang="0">
                  <a:pos x="T8" y="T9"/>
                </a:cxn>
                <a:cxn ang="0">
                  <a:pos x="T10" y="T11"/>
                </a:cxn>
                <a:cxn ang="0">
                  <a:pos x="T12" y="T13"/>
                </a:cxn>
              </a:cxnLst>
              <a:rect l="0" t="0" r="r" b="b"/>
              <a:pathLst>
                <a:path w="932" h="1453">
                  <a:moveTo>
                    <a:pt x="314" y="0"/>
                  </a:moveTo>
                  <a:lnTo>
                    <a:pt x="0" y="425"/>
                  </a:lnTo>
                  <a:lnTo>
                    <a:pt x="5" y="1144"/>
                  </a:lnTo>
                  <a:lnTo>
                    <a:pt x="628" y="1453"/>
                  </a:lnTo>
                  <a:lnTo>
                    <a:pt x="932" y="1081"/>
                  </a:lnTo>
                  <a:lnTo>
                    <a:pt x="922" y="285"/>
                  </a:lnTo>
                  <a:lnTo>
                    <a:pt x="314" y="0"/>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1" name="Freeform 175"/>
            <p:cNvSpPr>
              <a:spLocks noChangeAspect="1"/>
            </p:cNvSpPr>
            <p:nvPr/>
          </p:nvSpPr>
          <p:spPr bwMode="auto">
            <a:xfrm>
              <a:off x="1830" y="1267"/>
              <a:ext cx="15" cy="12"/>
            </a:xfrm>
            <a:custGeom>
              <a:avLst/>
              <a:gdLst>
                <a:gd name="T0" fmla="*/ 19 w 19"/>
                <a:gd name="T1" fmla="*/ 5 h 15"/>
                <a:gd name="T2" fmla="*/ 5 w 19"/>
                <a:gd name="T3" fmla="*/ 0 h 15"/>
                <a:gd name="T4" fmla="*/ 0 w 19"/>
                <a:gd name="T5" fmla="*/ 5 h 15"/>
                <a:gd name="T6" fmla="*/ 19 w 19"/>
                <a:gd name="T7" fmla="*/ 15 h 15"/>
                <a:gd name="T8" fmla="*/ 19 w 19"/>
                <a:gd name="T9" fmla="*/ 5 h 15"/>
              </a:gdLst>
              <a:ahLst/>
              <a:cxnLst>
                <a:cxn ang="0">
                  <a:pos x="T0" y="T1"/>
                </a:cxn>
                <a:cxn ang="0">
                  <a:pos x="T2" y="T3"/>
                </a:cxn>
                <a:cxn ang="0">
                  <a:pos x="T4" y="T5"/>
                </a:cxn>
                <a:cxn ang="0">
                  <a:pos x="T6" y="T7"/>
                </a:cxn>
                <a:cxn ang="0">
                  <a:pos x="T8" y="T9"/>
                </a:cxn>
              </a:cxnLst>
              <a:rect l="0" t="0" r="r" b="b"/>
              <a:pathLst>
                <a:path w="19" h="15">
                  <a:moveTo>
                    <a:pt x="19" y="5"/>
                  </a:moveTo>
                  <a:lnTo>
                    <a:pt x="5" y="0"/>
                  </a:lnTo>
                  <a:lnTo>
                    <a:pt x="0" y="5"/>
                  </a:lnTo>
                  <a:lnTo>
                    <a:pt x="19" y="15"/>
                  </a:lnTo>
                  <a:lnTo>
                    <a:pt x="19"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2" name="Freeform 176"/>
            <p:cNvSpPr>
              <a:spLocks noChangeAspect="1"/>
            </p:cNvSpPr>
            <p:nvPr/>
          </p:nvSpPr>
          <p:spPr bwMode="auto">
            <a:xfrm>
              <a:off x="1799" y="1256"/>
              <a:ext cx="19" cy="11"/>
            </a:xfrm>
            <a:custGeom>
              <a:avLst/>
              <a:gdLst>
                <a:gd name="T0" fmla="*/ 24 w 24"/>
                <a:gd name="T1" fmla="*/ 4 h 14"/>
                <a:gd name="T2" fmla="*/ 5 w 24"/>
                <a:gd name="T3" fmla="*/ 0 h 14"/>
                <a:gd name="T4" fmla="*/ 0 w 24"/>
                <a:gd name="T5" fmla="*/ 4 h 14"/>
                <a:gd name="T6" fmla="*/ 20 w 24"/>
                <a:gd name="T7" fmla="*/ 14 h 14"/>
                <a:gd name="T8" fmla="*/ 24 w 24"/>
                <a:gd name="T9" fmla="*/ 4 h 14"/>
              </a:gdLst>
              <a:ahLst/>
              <a:cxnLst>
                <a:cxn ang="0">
                  <a:pos x="T0" y="T1"/>
                </a:cxn>
                <a:cxn ang="0">
                  <a:pos x="T2" y="T3"/>
                </a:cxn>
                <a:cxn ang="0">
                  <a:pos x="T4" y="T5"/>
                </a:cxn>
                <a:cxn ang="0">
                  <a:pos x="T6" y="T7"/>
                </a:cxn>
                <a:cxn ang="0">
                  <a:pos x="T8" y="T9"/>
                </a:cxn>
              </a:cxnLst>
              <a:rect l="0" t="0" r="r" b="b"/>
              <a:pathLst>
                <a:path w="24" h="14">
                  <a:moveTo>
                    <a:pt x="24" y="4"/>
                  </a:moveTo>
                  <a:lnTo>
                    <a:pt x="5" y="0"/>
                  </a:lnTo>
                  <a:lnTo>
                    <a:pt x="0" y="4"/>
                  </a:lnTo>
                  <a:lnTo>
                    <a:pt x="20" y="14"/>
                  </a:lnTo>
                  <a:lnTo>
                    <a:pt x="2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3" name="Freeform 177"/>
            <p:cNvSpPr>
              <a:spLocks noChangeAspect="1"/>
            </p:cNvSpPr>
            <p:nvPr/>
          </p:nvSpPr>
          <p:spPr bwMode="auto">
            <a:xfrm>
              <a:off x="1772" y="1244"/>
              <a:ext cx="20" cy="12"/>
            </a:xfrm>
            <a:custGeom>
              <a:avLst/>
              <a:gdLst>
                <a:gd name="T0" fmla="*/ 25 w 25"/>
                <a:gd name="T1" fmla="*/ 5 h 15"/>
                <a:gd name="T2" fmla="*/ 5 w 25"/>
                <a:gd name="T3" fmla="*/ 0 h 15"/>
                <a:gd name="T4" fmla="*/ 0 w 25"/>
                <a:gd name="T5" fmla="*/ 5 h 15"/>
                <a:gd name="T6" fmla="*/ 20 w 25"/>
                <a:gd name="T7" fmla="*/ 15 h 15"/>
                <a:gd name="T8" fmla="*/ 25 w 25"/>
                <a:gd name="T9" fmla="*/ 5 h 15"/>
              </a:gdLst>
              <a:ahLst/>
              <a:cxnLst>
                <a:cxn ang="0">
                  <a:pos x="T0" y="T1"/>
                </a:cxn>
                <a:cxn ang="0">
                  <a:pos x="T2" y="T3"/>
                </a:cxn>
                <a:cxn ang="0">
                  <a:pos x="T4" y="T5"/>
                </a:cxn>
                <a:cxn ang="0">
                  <a:pos x="T6" y="T7"/>
                </a:cxn>
                <a:cxn ang="0">
                  <a:pos x="T8" y="T9"/>
                </a:cxn>
              </a:cxnLst>
              <a:rect l="0" t="0" r="r" b="b"/>
              <a:pathLst>
                <a:path w="25" h="15">
                  <a:moveTo>
                    <a:pt x="25" y="5"/>
                  </a:moveTo>
                  <a:lnTo>
                    <a:pt x="5" y="0"/>
                  </a:lnTo>
                  <a:lnTo>
                    <a:pt x="0" y="5"/>
                  </a:lnTo>
                  <a:lnTo>
                    <a:pt x="20" y="15"/>
                  </a:lnTo>
                  <a:lnTo>
                    <a:pt x="25"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4" name="Freeform 178"/>
            <p:cNvSpPr>
              <a:spLocks noChangeAspect="1"/>
            </p:cNvSpPr>
            <p:nvPr/>
          </p:nvSpPr>
          <p:spPr bwMode="auto">
            <a:xfrm>
              <a:off x="1746" y="1233"/>
              <a:ext cx="15" cy="11"/>
            </a:xfrm>
            <a:custGeom>
              <a:avLst/>
              <a:gdLst>
                <a:gd name="T0" fmla="*/ 19 w 19"/>
                <a:gd name="T1" fmla="*/ 4 h 14"/>
                <a:gd name="T2" fmla="*/ 0 w 19"/>
                <a:gd name="T3" fmla="*/ 0 h 14"/>
                <a:gd name="T4" fmla="*/ 0 w 19"/>
                <a:gd name="T5" fmla="*/ 9 h 14"/>
                <a:gd name="T6" fmla="*/ 14 w 19"/>
                <a:gd name="T7" fmla="*/ 14 h 14"/>
                <a:gd name="T8" fmla="*/ 19 w 19"/>
                <a:gd name="T9" fmla="*/ 4 h 14"/>
              </a:gdLst>
              <a:ahLst/>
              <a:cxnLst>
                <a:cxn ang="0">
                  <a:pos x="T0" y="T1"/>
                </a:cxn>
                <a:cxn ang="0">
                  <a:pos x="T2" y="T3"/>
                </a:cxn>
                <a:cxn ang="0">
                  <a:pos x="T4" y="T5"/>
                </a:cxn>
                <a:cxn ang="0">
                  <a:pos x="T6" y="T7"/>
                </a:cxn>
                <a:cxn ang="0">
                  <a:pos x="T8" y="T9"/>
                </a:cxn>
              </a:cxnLst>
              <a:rect l="0" t="0" r="r" b="b"/>
              <a:pathLst>
                <a:path w="19" h="14">
                  <a:moveTo>
                    <a:pt x="19" y="4"/>
                  </a:moveTo>
                  <a:lnTo>
                    <a:pt x="0" y="0"/>
                  </a:lnTo>
                  <a:lnTo>
                    <a:pt x="0" y="9"/>
                  </a:lnTo>
                  <a:lnTo>
                    <a:pt x="14" y="14"/>
                  </a:lnTo>
                  <a:lnTo>
                    <a:pt x="19"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5" name="Freeform 179"/>
            <p:cNvSpPr>
              <a:spLocks noChangeAspect="1"/>
            </p:cNvSpPr>
            <p:nvPr/>
          </p:nvSpPr>
          <p:spPr bwMode="auto">
            <a:xfrm>
              <a:off x="1714" y="1221"/>
              <a:ext cx="20" cy="12"/>
            </a:xfrm>
            <a:custGeom>
              <a:avLst/>
              <a:gdLst>
                <a:gd name="T0" fmla="*/ 24 w 24"/>
                <a:gd name="T1" fmla="*/ 5 h 15"/>
                <a:gd name="T2" fmla="*/ 5 w 24"/>
                <a:gd name="T3" fmla="*/ 0 h 15"/>
                <a:gd name="T4" fmla="*/ 0 w 24"/>
                <a:gd name="T5" fmla="*/ 10 h 15"/>
                <a:gd name="T6" fmla="*/ 19 w 24"/>
                <a:gd name="T7" fmla="*/ 15 h 15"/>
                <a:gd name="T8" fmla="*/ 24 w 24"/>
                <a:gd name="T9" fmla="*/ 5 h 15"/>
              </a:gdLst>
              <a:ahLst/>
              <a:cxnLst>
                <a:cxn ang="0">
                  <a:pos x="T0" y="T1"/>
                </a:cxn>
                <a:cxn ang="0">
                  <a:pos x="T2" y="T3"/>
                </a:cxn>
                <a:cxn ang="0">
                  <a:pos x="T4" y="T5"/>
                </a:cxn>
                <a:cxn ang="0">
                  <a:pos x="T6" y="T7"/>
                </a:cxn>
                <a:cxn ang="0">
                  <a:pos x="T8" y="T9"/>
                </a:cxn>
              </a:cxnLst>
              <a:rect l="0" t="0" r="r" b="b"/>
              <a:pathLst>
                <a:path w="24" h="15">
                  <a:moveTo>
                    <a:pt x="24" y="5"/>
                  </a:moveTo>
                  <a:lnTo>
                    <a:pt x="5" y="0"/>
                  </a:lnTo>
                  <a:lnTo>
                    <a:pt x="0" y="10"/>
                  </a:lnTo>
                  <a:lnTo>
                    <a:pt x="19" y="15"/>
                  </a:lnTo>
                  <a:lnTo>
                    <a:pt x="24"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6" name="Freeform 180"/>
            <p:cNvSpPr>
              <a:spLocks noChangeAspect="1"/>
            </p:cNvSpPr>
            <p:nvPr/>
          </p:nvSpPr>
          <p:spPr bwMode="auto">
            <a:xfrm>
              <a:off x="1687" y="1209"/>
              <a:ext cx="16" cy="12"/>
            </a:xfrm>
            <a:custGeom>
              <a:avLst/>
              <a:gdLst>
                <a:gd name="T0" fmla="*/ 19 w 19"/>
                <a:gd name="T1" fmla="*/ 4 h 14"/>
                <a:gd name="T2" fmla="*/ 5 w 19"/>
                <a:gd name="T3" fmla="*/ 0 h 14"/>
                <a:gd name="T4" fmla="*/ 0 w 19"/>
                <a:gd name="T5" fmla="*/ 9 h 14"/>
                <a:gd name="T6" fmla="*/ 19 w 19"/>
                <a:gd name="T7" fmla="*/ 14 h 14"/>
                <a:gd name="T8" fmla="*/ 19 w 19"/>
                <a:gd name="T9" fmla="*/ 4 h 14"/>
              </a:gdLst>
              <a:ahLst/>
              <a:cxnLst>
                <a:cxn ang="0">
                  <a:pos x="T0" y="T1"/>
                </a:cxn>
                <a:cxn ang="0">
                  <a:pos x="T2" y="T3"/>
                </a:cxn>
                <a:cxn ang="0">
                  <a:pos x="T4" y="T5"/>
                </a:cxn>
                <a:cxn ang="0">
                  <a:pos x="T6" y="T7"/>
                </a:cxn>
                <a:cxn ang="0">
                  <a:pos x="T8" y="T9"/>
                </a:cxn>
              </a:cxnLst>
              <a:rect l="0" t="0" r="r" b="b"/>
              <a:pathLst>
                <a:path w="19" h="14">
                  <a:moveTo>
                    <a:pt x="19" y="4"/>
                  </a:moveTo>
                  <a:lnTo>
                    <a:pt x="5" y="0"/>
                  </a:lnTo>
                  <a:lnTo>
                    <a:pt x="0" y="9"/>
                  </a:lnTo>
                  <a:lnTo>
                    <a:pt x="19" y="14"/>
                  </a:lnTo>
                  <a:lnTo>
                    <a:pt x="19"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7" name="Freeform 181"/>
            <p:cNvSpPr>
              <a:spLocks noChangeAspect="1"/>
            </p:cNvSpPr>
            <p:nvPr/>
          </p:nvSpPr>
          <p:spPr bwMode="auto">
            <a:xfrm>
              <a:off x="1657" y="1197"/>
              <a:ext cx="19" cy="12"/>
            </a:xfrm>
            <a:custGeom>
              <a:avLst/>
              <a:gdLst>
                <a:gd name="T0" fmla="*/ 24 w 24"/>
                <a:gd name="T1" fmla="*/ 5 h 15"/>
                <a:gd name="T2" fmla="*/ 4 w 24"/>
                <a:gd name="T3" fmla="*/ 0 h 15"/>
                <a:gd name="T4" fmla="*/ 0 w 24"/>
                <a:gd name="T5" fmla="*/ 10 h 15"/>
                <a:gd name="T6" fmla="*/ 19 w 24"/>
                <a:gd name="T7" fmla="*/ 15 h 15"/>
                <a:gd name="T8" fmla="*/ 24 w 24"/>
                <a:gd name="T9" fmla="*/ 5 h 15"/>
              </a:gdLst>
              <a:ahLst/>
              <a:cxnLst>
                <a:cxn ang="0">
                  <a:pos x="T0" y="T1"/>
                </a:cxn>
                <a:cxn ang="0">
                  <a:pos x="T2" y="T3"/>
                </a:cxn>
                <a:cxn ang="0">
                  <a:pos x="T4" y="T5"/>
                </a:cxn>
                <a:cxn ang="0">
                  <a:pos x="T6" y="T7"/>
                </a:cxn>
                <a:cxn ang="0">
                  <a:pos x="T8" y="T9"/>
                </a:cxn>
              </a:cxnLst>
              <a:rect l="0" t="0" r="r" b="b"/>
              <a:pathLst>
                <a:path w="24" h="15">
                  <a:moveTo>
                    <a:pt x="24" y="5"/>
                  </a:moveTo>
                  <a:lnTo>
                    <a:pt x="4" y="0"/>
                  </a:lnTo>
                  <a:lnTo>
                    <a:pt x="0" y="10"/>
                  </a:lnTo>
                  <a:lnTo>
                    <a:pt x="19" y="15"/>
                  </a:lnTo>
                  <a:lnTo>
                    <a:pt x="24"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8" name="Freeform 182"/>
            <p:cNvSpPr>
              <a:spLocks noChangeAspect="1"/>
            </p:cNvSpPr>
            <p:nvPr/>
          </p:nvSpPr>
          <p:spPr bwMode="auto">
            <a:xfrm>
              <a:off x="1630" y="1186"/>
              <a:ext cx="15" cy="11"/>
            </a:xfrm>
            <a:custGeom>
              <a:avLst/>
              <a:gdLst>
                <a:gd name="T0" fmla="*/ 19 w 19"/>
                <a:gd name="T1" fmla="*/ 5 h 14"/>
                <a:gd name="T2" fmla="*/ 5 w 19"/>
                <a:gd name="T3" fmla="*/ 0 h 14"/>
                <a:gd name="T4" fmla="*/ 0 w 19"/>
                <a:gd name="T5" fmla="*/ 9 h 14"/>
                <a:gd name="T6" fmla="*/ 19 w 19"/>
                <a:gd name="T7" fmla="*/ 14 h 14"/>
                <a:gd name="T8" fmla="*/ 19 w 19"/>
                <a:gd name="T9" fmla="*/ 5 h 14"/>
              </a:gdLst>
              <a:ahLst/>
              <a:cxnLst>
                <a:cxn ang="0">
                  <a:pos x="T0" y="T1"/>
                </a:cxn>
                <a:cxn ang="0">
                  <a:pos x="T2" y="T3"/>
                </a:cxn>
                <a:cxn ang="0">
                  <a:pos x="T4" y="T5"/>
                </a:cxn>
                <a:cxn ang="0">
                  <a:pos x="T6" y="T7"/>
                </a:cxn>
                <a:cxn ang="0">
                  <a:pos x="T8" y="T9"/>
                </a:cxn>
              </a:cxnLst>
              <a:rect l="0" t="0" r="r" b="b"/>
              <a:pathLst>
                <a:path w="19" h="14">
                  <a:moveTo>
                    <a:pt x="19" y="5"/>
                  </a:moveTo>
                  <a:lnTo>
                    <a:pt x="5" y="0"/>
                  </a:lnTo>
                  <a:lnTo>
                    <a:pt x="0" y="9"/>
                  </a:lnTo>
                  <a:lnTo>
                    <a:pt x="19" y="14"/>
                  </a:lnTo>
                  <a:lnTo>
                    <a:pt x="19"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99" name="Freeform 183"/>
            <p:cNvSpPr>
              <a:spLocks noChangeAspect="1"/>
            </p:cNvSpPr>
            <p:nvPr/>
          </p:nvSpPr>
          <p:spPr bwMode="auto">
            <a:xfrm>
              <a:off x="1603" y="1174"/>
              <a:ext cx="15" cy="12"/>
            </a:xfrm>
            <a:custGeom>
              <a:avLst/>
              <a:gdLst>
                <a:gd name="T0" fmla="*/ 19 w 19"/>
                <a:gd name="T1" fmla="*/ 5 h 15"/>
                <a:gd name="T2" fmla="*/ 0 w 19"/>
                <a:gd name="T3" fmla="*/ 0 h 15"/>
                <a:gd name="T4" fmla="*/ 0 w 19"/>
                <a:gd name="T5" fmla="*/ 10 h 15"/>
                <a:gd name="T6" fmla="*/ 14 w 19"/>
                <a:gd name="T7" fmla="*/ 15 h 15"/>
                <a:gd name="T8" fmla="*/ 19 w 19"/>
                <a:gd name="T9" fmla="*/ 5 h 15"/>
              </a:gdLst>
              <a:ahLst/>
              <a:cxnLst>
                <a:cxn ang="0">
                  <a:pos x="T0" y="T1"/>
                </a:cxn>
                <a:cxn ang="0">
                  <a:pos x="T2" y="T3"/>
                </a:cxn>
                <a:cxn ang="0">
                  <a:pos x="T4" y="T5"/>
                </a:cxn>
                <a:cxn ang="0">
                  <a:pos x="T6" y="T7"/>
                </a:cxn>
                <a:cxn ang="0">
                  <a:pos x="T8" y="T9"/>
                </a:cxn>
              </a:cxnLst>
              <a:rect l="0" t="0" r="r" b="b"/>
              <a:pathLst>
                <a:path w="19" h="15">
                  <a:moveTo>
                    <a:pt x="19" y="5"/>
                  </a:moveTo>
                  <a:lnTo>
                    <a:pt x="0" y="0"/>
                  </a:lnTo>
                  <a:lnTo>
                    <a:pt x="0" y="10"/>
                  </a:lnTo>
                  <a:lnTo>
                    <a:pt x="14" y="15"/>
                  </a:lnTo>
                  <a:lnTo>
                    <a:pt x="19"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0" name="Freeform 184"/>
            <p:cNvSpPr>
              <a:spLocks noChangeAspect="1"/>
            </p:cNvSpPr>
            <p:nvPr/>
          </p:nvSpPr>
          <p:spPr bwMode="auto">
            <a:xfrm>
              <a:off x="1572" y="1163"/>
              <a:ext cx="19" cy="11"/>
            </a:xfrm>
            <a:custGeom>
              <a:avLst/>
              <a:gdLst>
                <a:gd name="T0" fmla="*/ 24 w 24"/>
                <a:gd name="T1" fmla="*/ 5 h 14"/>
                <a:gd name="T2" fmla="*/ 5 w 24"/>
                <a:gd name="T3" fmla="*/ 0 h 14"/>
                <a:gd name="T4" fmla="*/ 0 w 24"/>
                <a:gd name="T5" fmla="*/ 9 h 14"/>
                <a:gd name="T6" fmla="*/ 20 w 24"/>
                <a:gd name="T7" fmla="*/ 14 h 14"/>
                <a:gd name="T8" fmla="*/ 24 w 24"/>
                <a:gd name="T9" fmla="*/ 5 h 14"/>
              </a:gdLst>
              <a:ahLst/>
              <a:cxnLst>
                <a:cxn ang="0">
                  <a:pos x="T0" y="T1"/>
                </a:cxn>
                <a:cxn ang="0">
                  <a:pos x="T2" y="T3"/>
                </a:cxn>
                <a:cxn ang="0">
                  <a:pos x="T4" y="T5"/>
                </a:cxn>
                <a:cxn ang="0">
                  <a:pos x="T6" y="T7"/>
                </a:cxn>
                <a:cxn ang="0">
                  <a:pos x="T8" y="T9"/>
                </a:cxn>
              </a:cxnLst>
              <a:rect l="0" t="0" r="r" b="b"/>
              <a:pathLst>
                <a:path w="24" h="14">
                  <a:moveTo>
                    <a:pt x="24" y="5"/>
                  </a:moveTo>
                  <a:lnTo>
                    <a:pt x="5" y="0"/>
                  </a:lnTo>
                  <a:lnTo>
                    <a:pt x="0" y="9"/>
                  </a:lnTo>
                  <a:lnTo>
                    <a:pt x="20" y="14"/>
                  </a:lnTo>
                  <a:lnTo>
                    <a:pt x="24"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1" name="Freeform 185"/>
            <p:cNvSpPr>
              <a:spLocks noChangeAspect="1"/>
            </p:cNvSpPr>
            <p:nvPr/>
          </p:nvSpPr>
          <p:spPr bwMode="auto">
            <a:xfrm>
              <a:off x="1545" y="1151"/>
              <a:ext cx="16" cy="12"/>
            </a:xfrm>
            <a:custGeom>
              <a:avLst/>
              <a:gdLst>
                <a:gd name="T0" fmla="*/ 20 w 20"/>
                <a:gd name="T1" fmla="*/ 5 h 15"/>
                <a:gd name="T2" fmla="*/ 0 w 20"/>
                <a:gd name="T3" fmla="*/ 0 h 15"/>
                <a:gd name="T4" fmla="*/ 0 w 20"/>
                <a:gd name="T5" fmla="*/ 10 h 15"/>
                <a:gd name="T6" fmla="*/ 15 w 20"/>
                <a:gd name="T7" fmla="*/ 15 h 15"/>
                <a:gd name="T8" fmla="*/ 20 w 20"/>
                <a:gd name="T9" fmla="*/ 5 h 15"/>
              </a:gdLst>
              <a:ahLst/>
              <a:cxnLst>
                <a:cxn ang="0">
                  <a:pos x="T0" y="T1"/>
                </a:cxn>
                <a:cxn ang="0">
                  <a:pos x="T2" y="T3"/>
                </a:cxn>
                <a:cxn ang="0">
                  <a:pos x="T4" y="T5"/>
                </a:cxn>
                <a:cxn ang="0">
                  <a:pos x="T6" y="T7"/>
                </a:cxn>
                <a:cxn ang="0">
                  <a:pos x="T8" y="T9"/>
                </a:cxn>
              </a:cxnLst>
              <a:rect l="0" t="0" r="r" b="b"/>
              <a:pathLst>
                <a:path w="20" h="15">
                  <a:moveTo>
                    <a:pt x="20" y="5"/>
                  </a:moveTo>
                  <a:lnTo>
                    <a:pt x="0" y="0"/>
                  </a:lnTo>
                  <a:lnTo>
                    <a:pt x="0" y="10"/>
                  </a:lnTo>
                  <a:lnTo>
                    <a:pt x="15" y="15"/>
                  </a:lnTo>
                  <a:lnTo>
                    <a:pt x="20"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2" name="Freeform 186"/>
            <p:cNvSpPr>
              <a:spLocks noChangeAspect="1"/>
            </p:cNvSpPr>
            <p:nvPr/>
          </p:nvSpPr>
          <p:spPr bwMode="auto">
            <a:xfrm>
              <a:off x="1514" y="1140"/>
              <a:ext cx="19" cy="11"/>
            </a:xfrm>
            <a:custGeom>
              <a:avLst/>
              <a:gdLst>
                <a:gd name="T0" fmla="*/ 24 w 24"/>
                <a:gd name="T1" fmla="*/ 5 h 14"/>
                <a:gd name="T2" fmla="*/ 5 w 24"/>
                <a:gd name="T3" fmla="*/ 0 h 14"/>
                <a:gd name="T4" fmla="*/ 0 w 24"/>
                <a:gd name="T5" fmla="*/ 9 h 14"/>
                <a:gd name="T6" fmla="*/ 19 w 24"/>
                <a:gd name="T7" fmla="*/ 14 h 14"/>
                <a:gd name="T8" fmla="*/ 24 w 24"/>
                <a:gd name="T9" fmla="*/ 5 h 14"/>
              </a:gdLst>
              <a:ahLst/>
              <a:cxnLst>
                <a:cxn ang="0">
                  <a:pos x="T0" y="T1"/>
                </a:cxn>
                <a:cxn ang="0">
                  <a:pos x="T2" y="T3"/>
                </a:cxn>
                <a:cxn ang="0">
                  <a:pos x="T4" y="T5"/>
                </a:cxn>
                <a:cxn ang="0">
                  <a:pos x="T6" y="T7"/>
                </a:cxn>
                <a:cxn ang="0">
                  <a:pos x="T8" y="T9"/>
                </a:cxn>
              </a:cxnLst>
              <a:rect l="0" t="0" r="r" b="b"/>
              <a:pathLst>
                <a:path w="24" h="14">
                  <a:moveTo>
                    <a:pt x="24" y="5"/>
                  </a:moveTo>
                  <a:lnTo>
                    <a:pt x="5" y="0"/>
                  </a:lnTo>
                  <a:lnTo>
                    <a:pt x="0" y="9"/>
                  </a:lnTo>
                  <a:lnTo>
                    <a:pt x="19" y="14"/>
                  </a:lnTo>
                  <a:lnTo>
                    <a:pt x="24"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3" name="Freeform 187"/>
            <p:cNvSpPr>
              <a:spLocks noChangeAspect="1"/>
            </p:cNvSpPr>
            <p:nvPr/>
          </p:nvSpPr>
          <p:spPr bwMode="auto">
            <a:xfrm>
              <a:off x="1487" y="1128"/>
              <a:ext cx="15" cy="12"/>
            </a:xfrm>
            <a:custGeom>
              <a:avLst/>
              <a:gdLst>
                <a:gd name="T0" fmla="*/ 19 w 19"/>
                <a:gd name="T1" fmla="*/ 5 h 15"/>
                <a:gd name="T2" fmla="*/ 5 w 19"/>
                <a:gd name="T3" fmla="*/ 0 h 15"/>
                <a:gd name="T4" fmla="*/ 0 w 19"/>
                <a:gd name="T5" fmla="*/ 10 h 15"/>
                <a:gd name="T6" fmla="*/ 19 w 19"/>
                <a:gd name="T7" fmla="*/ 15 h 15"/>
                <a:gd name="T8" fmla="*/ 19 w 19"/>
                <a:gd name="T9" fmla="*/ 5 h 15"/>
              </a:gdLst>
              <a:ahLst/>
              <a:cxnLst>
                <a:cxn ang="0">
                  <a:pos x="T0" y="T1"/>
                </a:cxn>
                <a:cxn ang="0">
                  <a:pos x="T2" y="T3"/>
                </a:cxn>
                <a:cxn ang="0">
                  <a:pos x="T4" y="T5"/>
                </a:cxn>
                <a:cxn ang="0">
                  <a:pos x="T6" y="T7"/>
                </a:cxn>
                <a:cxn ang="0">
                  <a:pos x="T8" y="T9"/>
                </a:cxn>
              </a:cxnLst>
              <a:rect l="0" t="0" r="r" b="b"/>
              <a:pathLst>
                <a:path w="19" h="15">
                  <a:moveTo>
                    <a:pt x="19" y="5"/>
                  </a:moveTo>
                  <a:lnTo>
                    <a:pt x="5" y="0"/>
                  </a:lnTo>
                  <a:lnTo>
                    <a:pt x="0" y="10"/>
                  </a:lnTo>
                  <a:lnTo>
                    <a:pt x="19" y="15"/>
                  </a:lnTo>
                  <a:lnTo>
                    <a:pt x="19"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4" name="Freeform 188"/>
            <p:cNvSpPr>
              <a:spLocks noChangeAspect="1"/>
            </p:cNvSpPr>
            <p:nvPr/>
          </p:nvSpPr>
          <p:spPr bwMode="auto">
            <a:xfrm>
              <a:off x="1456" y="1117"/>
              <a:ext cx="20" cy="11"/>
            </a:xfrm>
            <a:custGeom>
              <a:avLst/>
              <a:gdLst>
                <a:gd name="T0" fmla="*/ 25 w 25"/>
                <a:gd name="T1" fmla="*/ 5 h 14"/>
                <a:gd name="T2" fmla="*/ 5 w 25"/>
                <a:gd name="T3" fmla="*/ 0 h 14"/>
                <a:gd name="T4" fmla="*/ 0 w 25"/>
                <a:gd name="T5" fmla="*/ 10 h 14"/>
                <a:gd name="T6" fmla="*/ 20 w 25"/>
                <a:gd name="T7" fmla="*/ 14 h 14"/>
                <a:gd name="T8" fmla="*/ 25 w 25"/>
                <a:gd name="T9" fmla="*/ 5 h 14"/>
              </a:gdLst>
              <a:ahLst/>
              <a:cxnLst>
                <a:cxn ang="0">
                  <a:pos x="T0" y="T1"/>
                </a:cxn>
                <a:cxn ang="0">
                  <a:pos x="T2" y="T3"/>
                </a:cxn>
                <a:cxn ang="0">
                  <a:pos x="T4" y="T5"/>
                </a:cxn>
                <a:cxn ang="0">
                  <a:pos x="T6" y="T7"/>
                </a:cxn>
                <a:cxn ang="0">
                  <a:pos x="T8" y="T9"/>
                </a:cxn>
              </a:cxnLst>
              <a:rect l="0" t="0" r="r" b="b"/>
              <a:pathLst>
                <a:path w="25" h="14">
                  <a:moveTo>
                    <a:pt x="25" y="5"/>
                  </a:moveTo>
                  <a:lnTo>
                    <a:pt x="5" y="0"/>
                  </a:lnTo>
                  <a:lnTo>
                    <a:pt x="0" y="10"/>
                  </a:lnTo>
                  <a:lnTo>
                    <a:pt x="20" y="14"/>
                  </a:lnTo>
                  <a:lnTo>
                    <a:pt x="25"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5" name="Freeform 189"/>
            <p:cNvSpPr>
              <a:spLocks noChangeAspect="1"/>
            </p:cNvSpPr>
            <p:nvPr/>
          </p:nvSpPr>
          <p:spPr bwMode="auto">
            <a:xfrm>
              <a:off x="1430" y="1105"/>
              <a:ext cx="15" cy="12"/>
            </a:xfrm>
            <a:custGeom>
              <a:avLst/>
              <a:gdLst>
                <a:gd name="T0" fmla="*/ 19 w 19"/>
                <a:gd name="T1" fmla="*/ 5 h 15"/>
                <a:gd name="T2" fmla="*/ 4 w 19"/>
                <a:gd name="T3" fmla="*/ 0 h 15"/>
                <a:gd name="T4" fmla="*/ 0 w 19"/>
                <a:gd name="T5" fmla="*/ 10 h 15"/>
                <a:gd name="T6" fmla="*/ 19 w 19"/>
                <a:gd name="T7" fmla="*/ 15 h 15"/>
                <a:gd name="T8" fmla="*/ 19 w 19"/>
                <a:gd name="T9" fmla="*/ 5 h 15"/>
              </a:gdLst>
              <a:ahLst/>
              <a:cxnLst>
                <a:cxn ang="0">
                  <a:pos x="T0" y="T1"/>
                </a:cxn>
                <a:cxn ang="0">
                  <a:pos x="T2" y="T3"/>
                </a:cxn>
                <a:cxn ang="0">
                  <a:pos x="T4" y="T5"/>
                </a:cxn>
                <a:cxn ang="0">
                  <a:pos x="T6" y="T7"/>
                </a:cxn>
                <a:cxn ang="0">
                  <a:pos x="T8" y="T9"/>
                </a:cxn>
              </a:cxnLst>
              <a:rect l="0" t="0" r="r" b="b"/>
              <a:pathLst>
                <a:path w="19" h="15">
                  <a:moveTo>
                    <a:pt x="19" y="5"/>
                  </a:moveTo>
                  <a:lnTo>
                    <a:pt x="4" y="0"/>
                  </a:lnTo>
                  <a:lnTo>
                    <a:pt x="0" y="10"/>
                  </a:lnTo>
                  <a:lnTo>
                    <a:pt x="19" y="15"/>
                  </a:lnTo>
                  <a:lnTo>
                    <a:pt x="19"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6" name="Freeform 190"/>
            <p:cNvSpPr>
              <a:spLocks noChangeAspect="1"/>
            </p:cNvSpPr>
            <p:nvPr/>
          </p:nvSpPr>
          <p:spPr bwMode="auto">
            <a:xfrm>
              <a:off x="1403" y="1094"/>
              <a:ext cx="15" cy="11"/>
            </a:xfrm>
            <a:custGeom>
              <a:avLst/>
              <a:gdLst>
                <a:gd name="T0" fmla="*/ 19 w 19"/>
                <a:gd name="T1" fmla="*/ 5 h 14"/>
                <a:gd name="T2" fmla="*/ 0 w 19"/>
                <a:gd name="T3" fmla="*/ 0 h 14"/>
                <a:gd name="T4" fmla="*/ 0 w 19"/>
                <a:gd name="T5" fmla="*/ 10 h 14"/>
                <a:gd name="T6" fmla="*/ 14 w 19"/>
                <a:gd name="T7" fmla="*/ 14 h 14"/>
                <a:gd name="T8" fmla="*/ 19 w 19"/>
                <a:gd name="T9" fmla="*/ 5 h 14"/>
              </a:gdLst>
              <a:ahLst/>
              <a:cxnLst>
                <a:cxn ang="0">
                  <a:pos x="T0" y="T1"/>
                </a:cxn>
                <a:cxn ang="0">
                  <a:pos x="T2" y="T3"/>
                </a:cxn>
                <a:cxn ang="0">
                  <a:pos x="T4" y="T5"/>
                </a:cxn>
                <a:cxn ang="0">
                  <a:pos x="T6" y="T7"/>
                </a:cxn>
                <a:cxn ang="0">
                  <a:pos x="T8" y="T9"/>
                </a:cxn>
              </a:cxnLst>
              <a:rect l="0" t="0" r="r" b="b"/>
              <a:pathLst>
                <a:path w="19" h="14">
                  <a:moveTo>
                    <a:pt x="19" y="5"/>
                  </a:moveTo>
                  <a:lnTo>
                    <a:pt x="0" y="0"/>
                  </a:lnTo>
                  <a:lnTo>
                    <a:pt x="0" y="10"/>
                  </a:lnTo>
                  <a:lnTo>
                    <a:pt x="14" y="14"/>
                  </a:lnTo>
                  <a:lnTo>
                    <a:pt x="19"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7" name="Freeform 191"/>
            <p:cNvSpPr>
              <a:spLocks noChangeAspect="1"/>
            </p:cNvSpPr>
            <p:nvPr/>
          </p:nvSpPr>
          <p:spPr bwMode="auto">
            <a:xfrm>
              <a:off x="1372" y="1082"/>
              <a:ext cx="19" cy="12"/>
            </a:xfrm>
            <a:custGeom>
              <a:avLst/>
              <a:gdLst>
                <a:gd name="T0" fmla="*/ 24 w 24"/>
                <a:gd name="T1" fmla="*/ 5 h 15"/>
                <a:gd name="T2" fmla="*/ 5 w 24"/>
                <a:gd name="T3" fmla="*/ 0 h 15"/>
                <a:gd name="T4" fmla="*/ 0 w 24"/>
                <a:gd name="T5" fmla="*/ 10 h 15"/>
                <a:gd name="T6" fmla="*/ 19 w 24"/>
                <a:gd name="T7" fmla="*/ 15 h 15"/>
                <a:gd name="T8" fmla="*/ 24 w 24"/>
                <a:gd name="T9" fmla="*/ 5 h 15"/>
              </a:gdLst>
              <a:ahLst/>
              <a:cxnLst>
                <a:cxn ang="0">
                  <a:pos x="T0" y="T1"/>
                </a:cxn>
                <a:cxn ang="0">
                  <a:pos x="T2" y="T3"/>
                </a:cxn>
                <a:cxn ang="0">
                  <a:pos x="T4" y="T5"/>
                </a:cxn>
                <a:cxn ang="0">
                  <a:pos x="T6" y="T7"/>
                </a:cxn>
                <a:cxn ang="0">
                  <a:pos x="T8" y="T9"/>
                </a:cxn>
              </a:cxnLst>
              <a:rect l="0" t="0" r="r" b="b"/>
              <a:pathLst>
                <a:path w="24" h="15">
                  <a:moveTo>
                    <a:pt x="24" y="5"/>
                  </a:moveTo>
                  <a:lnTo>
                    <a:pt x="5" y="0"/>
                  </a:lnTo>
                  <a:lnTo>
                    <a:pt x="0" y="10"/>
                  </a:lnTo>
                  <a:lnTo>
                    <a:pt x="19" y="15"/>
                  </a:lnTo>
                  <a:lnTo>
                    <a:pt x="24" y="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8" name="Freeform 192"/>
            <p:cNvSpPr>
              <a:spLocks noChangeAspect="1"/>
            </p:cNvSpPr>
            <p:nvPr/>
          </p:nvSpPr>
          <p:spPr bwMode="auto">
            <a:xfrm>
              <a:off x="1352" y="1067"/>
              <a:ext cx="8" cy="15"/>
            </a:xfrm>
            <a:custGeom>
              <a:avLst/>
              <a:gdLst>
                <a:gd name="T0" fmla="*/ 10 w 10"/>
                <a:gd name="T1" fmla="*/ 10 h 19"/>
                <a:gd name="T2" fmla="*/ 10 w 10"/>
                <a:gd name="T3" fmla="*/ 15 h 19"/>
                <a:gd name="T4" fmla="*/ 10 w 10"/>
                <a:gd name="T5" fmla="*/ 0 h 19"/>
                <a:gd name="T6" fmla="*/ 0 w 10"/>
                <a:gd name="T7" fmla="*/ 0 h 19"/>
                <a:gd name="T8" fmla="*/ 0 w 10"/>
                <a:gd name="T9" fmla="*/ 19 h 19"/>
                <a:gd name="T10" fmla="*/ 5 w 10"/>
                <a:gd name="T11" fmla="*/ 19 h 19"/>
                <a:gd name="T12" fmla="*/ 10 w 10"/>
                <a:gd name="T13" fmla="*/ 10 h 19"/>
              </a:gdLst>
              <a:ahLst/>
              <a:cxnLst>
                <a:cxn ang="0">
                  <a:pos x="T0" y="T1"/>
                </a:cxn>
                <a:cxn ang="0">
                  <a:pos x="T2" y="T3"/>
                </a:cxn>
                <a:cxn ang="0">
                  <a:pos x="T4" y="T5"/>
                </a:cxn>
                <a:cxn ang="0">
                  <a:pos x="T6" y="T7"/>
                </a:cxn>
                <a:cxn ang="0">
                  <a:pos x="T8" y="T9"/>
                </a:cxn>
                <a:cxn ang="0">
                  <a:pos x="T10" y="T11"/>
                </a:cxn>
                <a:cxn ang="0">
                  <a:pos x="T12" y="T13"/>
                </a:cxn>
              </a:cxnLst>
              <a:rect l="0" t="0" r="r" b="b"/>
              <a:pathLst>
                <a:path w="10" h="19">
                  <a:moveTo>
                    <a:pt x="10" y="10"/>
                  </a:moveTo>
                  <a:lnTo>
                    <a:pt x="10" y="15"/>
                  </a:lnTo>
                  <a:lnTo>
                    <a:pt x="10" y="0"/>
                  </a:lnTo>
                  <a:lnTo>
                    <a:pt x="0" y="0"/>
                  </a:lnTo>
                  <a:lnTo>
                    <a:pt x="0" y="19"/>
                  </a:lnTo>
                  <a:lnTo>
                    <a:pt x="5" y="19"/>
                  </a:lnTo>
                  <a:lnTo>
                    <a:pt x="10" y="1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09" name="Rectangle 193"/>
            <p:cNvSpPr>
              <a:spLocks noChangeAspect="1" noChangeArrowheads="1"/>
            </p:cNvSpPr>
            <p:nvPr/>
          </p:nvSpPr>
          <p:spPr bwMode="auto">
            <a:xfrm>
              <a:off x="1352" y="103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0" name="Rectangle 194"/>
            <p:cNvSpPr>
              <a:spLocks noChangeAspect="1" noChangeArrowheads="1"/>
            </p:cNvSpPr>
            <p:nvPr/>
          </p:nvSpPr>
          <p:spPr bwMode="auto">
            <a:xfrm>
              <a:off x="1352" y="100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1" name="Rectangle 195"/>
            <p:cNvSpPr>
              <a:spLocks noChangeAspect="1" noChangeArrowheads="1"/>
            </p:cNvSpPr>
            <p:nvPr/>
          </p:nvSpPr>
          <p:spPr bwMode="auto">
            <a:xfrm>
              <a:off x="1352" y="97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2" name="Rectangle 196"/>
            <p:cNvSpPr>
              <a:spLocks noChangeAspect="1" noChangeArrowheads="1"/>
            </p:cNvSpPr>
            <p:nvPr/>
          </p:nvSpPr>
          <p:spPr bwMode="auto">
            <a:xfrm>
              <a:off x="1352" y="94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3" name="Rectangle 197"/>
            <p:cNvSpPr>
              <a:spLocks noChangeAspect="1" noChangeArrowheads="1"/>
            </p:cNvSpPr>
            <p:nvPr/>
          </p:nvSpPr>
          <p:spPr bwMode="auto">
            <a:xfrm>
              <a:off x="1352" y="91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4" name="Rectangle 198"/>
            <p:cNvSpPr>
              <a:spLocks noChangeAspect="1" noChangeArrowheads="1"/>
            </p:cNvSpPr>
            <p:nvPr/>
          </p:nvSpPr>
          <p:spPr bwMode="auto">
            <a:xfrm>
              <a:off x="1352" y="882"/>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5" name="Rectangle 199"/>
            <p:cNvSpPr>
              <a:spLocks noChangeAspect="1" noChangeArrowheads="1"/>
            </p:cNvSpPr>
            <p:nvPr/>
          </p:nvSpPr>
          <p:spPr bwMode="auto">
            <a:xfrm>
              <a:off x="1352" y="85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6" name="Rectangle 200"/>
            <p:cNvSpPr>
              <a:spLocks noChangeAspect="1" noChangeArrowheads="1"/>
            </p:cNvSpPr>
            <p:nvPr/>
          </p:nvSpPr>
          <p:spPr bwMode="auto">
            <a:xfrm>
              <a:off x="1352" y="820"/>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7" name="Rectangle 201"/>
            <p:cNvSpPr>
              <a:spLocks noChangeAspect="1" noChangeArrowheads="1"/>
            </p:cNvSpPr>
            <p:nvPr/>
          </p:nvSpPr>
          <p:spPr bwMode="auto">
            <a:xfrm>
              <a:off x="1352" y="79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8" name="Rectangle 202"/>
            <p:cNvSpPr>
              <a:spLocks noChangeAspect="1" noChangeArrowheads="1"/>
            </p:cNvSpPr>
            <p:nvPr/>
          </p:nvSpPr>
          <p:spPr bwMode="auto">
            <a:xfrm>
              <a:off x="1352" y="75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19" name="Rectangle 203"/>
            <p:cNvSpPr>
              <a:spLocks noChangeAspect="1" noChangeArrowheads="1"/>
            </p:cNvSpPr>
            <p:nvPr/>
          </p:nvSpPr>
          <p:spPr bwMode="auto">
            <a:xfrm>
              <a:off x="1356" y="72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0" name="Rectangle 204"/>
            <p:cNvSpPr>
              <a:spLocks noChangeAspect="1" noChangeArrowheads="1"/>
            </p:cNvSpPr>
            <p:nvPr/>
          </p:nvSpPr>
          <p:spPr bwMode="auto">
            <a:xfrm>
              <a:off x="1356" y="697"/>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1" name="Rectangle 205"/>
            <p:cNvSpPr>
              <a:spLocks noChangeAspect="1" noChangeArrowheads="1"/>
            </p:cNvSpPr>
            <p:nvPr/>
          </p:nvSpPr>
          <p:spPr bwMode="auto">
            <a:xfrm>
              <a:off x="1356" y="66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2" name="Rectangle 206"/>
            <p:cNvSpPr>
              <a:spLocks noChangeAspect="1" noChangeArrowheads="1"/>
            </p:cNvSpPr>
            <p:nvPr/>
          </p:nvSpPr>
          <p:spPr bwMode="auto">
            <a:xfrm>
              <a:off x="1356" y="63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3" name="Rectangle 207"/>
            <p:cNvSpPr>
              <a:spLocks noChangeAspect="1" noChangeArrowheads="1"/>
            </p:cNvSpPr>
            <p:nvPr/>
          </p:nvSpPr>
          <p:spPr bwMode="auto">
            <a:xfrm>
              <a:off x="1356" y="60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4" name="Rectangle 208"/>
            <p:cNvSpPr>
              <a:spLocks noChangeAspect="1" noChangeArrowheads="1"/>
            </p:cNvSpPr>
            <p:nvPr/>
          </p:nvSpPr>
          <p:spPr bwMode="auto">
            <a:xfrm>
              <a:off x="1356" y="57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5" name="Rectangle 209"/>
            <p:cNvSpPr>
              <a:spLocks noChangeAspect="1" noChangeArrowheads="1"/>
            </p:cNvSpPr>
            <p:nvPr/>
          </p:nvSpPr>
          <p:spPr bwMode="auto">
            <a:xfrm>
              <a:off x="1356" y="54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6" name="Rectangle 210"/>
            <p:cNvSpPr>
              <a:spLocks noChangeAspect="1" noChangeArrowheads="1"/>
            </p:cNvSpPr>
            <p:nvPr/>
          </p:nvSpPr>
          <p:spPr bwMode="auto">
            <a:xfrm>
              <a:off x="1356" y="512"/>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7" name="Rectangle 211"/>
            <p:cNvSpPr>
              <a:spLocks noChangeAspect="1" noChangeArrowheads="1"/>
            </p:cNvSpPr>
            <p:nvPr/>
          </p:nvSpPr>
          <p:spPr bwMode="auto">
            <a:xfrm>
              <a:off x="1356" y="48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8" name="Rectangle 212"/>
            <p:cNvSpPr>
              <a:spLocks noChangeAspect="1" noChangeArrowheads="1"/>
            </p:cNvSpPr>
            <p:nvPr/>
          </p:nvSpPr>
          <p:spPr bwMode="auto">
            <a:xfrm>
              <a:off x="1356" y="45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29" name="Rectangle 213"/>
            <p:cNvSpPr>
              <a:spLocks noChangeAspect="1" noChangeArrowheads="1"/>
            </p:cNvSpPr>
            <p:nvPr/>
          </p:nvSpPr>
          <p:spPr bwMode="auto">
            <a:xfrm>
              <a:off x="1356" y="42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30" name="Freeform 214"/>
            <p:cNvSpPr>
              <a:spLocks noChangeAspect="1"/>
            </p:cNvSpPr>
            <p:nvPr/>
          </p:nvSpPr>
          <p:spPr bwMode="auto">
            <a:xfrm>
              <a:off x="1337" y="1082"/>
              <a:ext cx="19" cy="20"/>
            </a:xfrm>
            <a:custGeom>
              <a:avLst/>
              <a:gdLst>
                <a:gd name="T0" fmla="*/ 14 w 24"/>
                <a:gd name="T1" fmla="*/ 0 h 25"/>
                <a:gd name="T2" fmla="*/ 0 w 24"/>
                <a:gd name="T3" fmla="*/ 15 h 25"/>
                <a:gd name="T4" fmla="*/ 9 w 24"/>
                <a:gd name="T5" fmla="*/ 25 h 25"/>
                <a:gd name="T6" fmla="*/ 24 w 24"/>
                <a:gd name="T7" fmla="*/ 10 h 25"/>
                <a:gd name="T8" fmla="*/ 14 w 24"/>
                <a:gd name="T9" fmla="*/ 0 h 25"/>
              </a:gdLst>
              <a:ahLst/>
              <a:cxnLst>
                <a:cxn ang="0">
                  <a:pos x="T0" y="T1"/>
                </a:cxn>
                <a:cxn ang="0">
                  <a:pos x="T2" y="T3"/>
                </a:cxn>
                <a:cxn ang="0">
                  <a:pos x="T4" y="T5"/>
                </a:cxn>
                <a:cxn ang="0">
                  <a:pos x="T6" y="T7"/>
                </a:cxn>
                <a:cxn ang="0">
                  <a:pos x="T8" y="T9"/>
                </a:cxn>
              </a:cxnLst>
              <a:rect l="0" t="0" r="r" b="b"/>
              <a:pathLst>
                <a:path w="24" h="25">
                  <a:moveTo>
                    <a:pt x="14" y="0"/>
                  </a:moveTo>
                  <a:lnTo>
                    <a:pt x="0" y="15"/>
                  </a:lnTo>
                  <a:lnTo>
                    <a:pt x="9" y="25"/>
                  </a:lnTo>
                  <a:lnTo>
                    <a:pt x="24" y="10"/>
                  </a:lnTo>
                  <a:lnTo>
                    <a:pt x="1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1" name="Freeform 215"/>
            <p:cNvSpPr>
              <a:spLocks noChangeAspect="1"/>
            </p:cNvSpPr>
            <p:nvPr/>
          </p:nvSpPr>
          <p:spPr bwMode="auto">
            <a:xfrm>
              <a:off x="1318" y="1105"/>
              <a:ext cx="15" cy="16"/>
            </a:xfrm>
            <a:custGeom>
              <a:avLst/>
              <a:gdLst>
                <a:gd name="T0" fmla="*/ 14 w 19"/>
                <a:gd name="T1" fmla="*/ 0 h 20"/>
                <a:gd name="T2" fmla="*/ 0 w 19"/>
                <a:gd name="T3" fmla="*/ 15 h 20"/>
                <a:gd name="T4" fmla="*/ 4 w 19"/>
                <a:gd name="T5" fmla="*/ 20 h 20"/>
                <a:gd name="T6" fmla="*/ 19 w 19"/>
                <a:gd name="T7" fmla="*/ 5 h 20"/>
                <a:gd name="T8" fmla="*/ 14 w 19"/>
                <a:gd name="T9" fmla="*/ 0 h 20"/>
              </a:gdLst>
              <a:ahLst/>
              <a:cxnLst>
                <a:cxn ang="0">
                  <a:pos x="T0" y="T1"/>
                </a:cxn>
                <a:cxn ang="0">
                  <a:pos x="T2" y="T3"/>
                </a:cxn>
                <a:cxn ang="0">
                  <a:pos x="T4" y="T5"/>
                </a:cxn>
                <a:cxn ang="0">
                  <a:pos x="T6" y="T7"/>
                </a:cxn>
                <a:cxn ang="0">
                  <a:pos x="T8" y="T9"/>
                </a:cxn>
              </a:cxnLst>
              <a:rect l="0" t="0" r="r" b="b"/>
              <a:pathLst>
                <a:path w="19" h="20">
                  <a:moveTo>
                    <a:pt x="14" y="0"/>
                  </a:moveTo>
                  <a:lnTo>
                    <a:pt x="0" y="15"/>
                  </a:lnTo>
                  <a:lnTo>
                    <a:pt x="4" y="20"/>
                  </a:lnTo>
                  <a:lnTo>
                    <a:pt x="19" y="5"/>
                  </a:lnTo>
                  <a:lnTo>
                    <a:pt x="1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2" name="Freeform 216"/>
            <p:cNvSpPr>
              <a:spLocks noChangeAspect="1"/>
            </p:cNvSpPr>
            <p:nvPr/>
          </p:nvSpPr>
          <p:spPr bwMode="auto">
            <a:xfrm>
              <a:off x="1295" y="1128"/>
              <a:ext cx="15" cy="16"/>
            </a:xfrm>
            <a:custGeom>
              <a:avLst/>
              <a:gdLst>
                <a:gd name="T0" fmla="*/ 14 w 19"/>
                <a:gd name="T1" fmla="*/ 0 h 20"/>
                <a:gd name="T2" fmla="*/ 0 w 19"/>
                <a:gd name="T3" fmla="*/ 10 h 20"/>
                <a:gd name="T4" fmla="*/ 9 w 19"/>
                <a:gd name="T5" fmla="*/ 20 h 20"/>
                <a:gd name="T6" fmla="*/ 19 w 19"/>
                <a:gd name="T7" fmla="*/ 5 h 20"/>
                <a:gd name="T8" fmla="*/ 14 w 19"/>
                <a:gd name="T9" fmla="*/ 0 h 20"/>
              </a:gdLst>
              <a:ahLst/>
              <a:cxnLst>
                <a:cxn ang="0">
                  <a:pos x="T0" y="T1"/>
                </a:cxn>
                <a:cxn ang="0">
                  <a:pos x="T2" y="T3"/>
                </a:cxn>
                <a:cxn ang="0">
                  <a:pos x="T4" y="T5"/>
                </a:cxn>
                <a:cxn ang="0">
                  <a:pos x="T6" y="T7"/>
                </a:cxn>
                <a:cxn ang="0">
                  <a:pos x="T8" y="T9"/>
                </a:cxn>
              </a:cxnLst>
              <a:rect l="0" t="0" r="r" b="b"/>
              <a:pathLst>
                <a:path w="19" h="20">
                  <a:moveTo>
                    <a:pt x="14" y="0"/>
                  </a:moveTo>
                  <a:lnTo>
                    <a:pt x="0" y="10"/>
                  </a:lnTo>
                  <a:lnTo>
                    <a:pt x="9" y="20"/>
                  </a:lnTo>
                  <a:lnTo>
                    <a:pt x="19" y="5"/>
                  </a:lnTo>
                  <a:lnTo>
                    <a:pt x="1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3" name="Freeform 217"/>
            <p:cNvSpPr>
              <a:spLocks noChangeAspect="1"/>
            </p:cNvSpPr>
            <p:nvPr/>
          </p:nvSpPr>
          <p:spPr bwMode="auto">
            <a:xfrm>
              <a:off x="1272" y="1147"/>
              <a:ext cx="19" cy="20"/>
            </a:xfrm>
            <a:custGeom>
              <a:avLst/>
              <a:gdLst>
                <a:gd name="T0" fmla="*/ 14 w 24"/>
                <a:gd name="T1" fmla="*/ 0 h 25"/>
                <a:gd name="T2" fmla="*/ 0 w 24"/>
                <a:gd name="T3" fmla="*/ 15 h 25"/>
                <a:gd name="T4" fmla="*/ 9 w 24"/>
                <a:gd name="T5" fmla="*/ 25 h 25"/>
                <a:gd name="T6" fmla="*/ 24 w 24"/>
                <a:gd name="T7" fmla="*/ 10 h 25"/>
                <a:gd name="T8" fmla="*/ 14 w 24"/>
                <a:gd name="T9" fmla="*/ 0 h 25"/>
              </a:gdLst>
              <a:ahLst/>
              <a:cxnLst>
                <a:cxn ang="0">
                  <a:pos x="T0" y="T1"/>
                </a:cxn>
                <a:cxn ang="0">
                  <a:pos x="T2" y="T3"/>
                </a:cxn>
                <a:cxn ang="0">
                  <a:pos x="T4" y="T5"/>
                </a:cxn>
                <a:cxn ang="0">
                  <a:pos x="T6" y="T7"/>
                </a:cxn>
                <a:cxn ang="0">
                  <a:pos x="T8" y="T9"/>
                </a:cxn>
              </a:cxnLst>
              <a:rect l="0" t="0" r="r" b="b"/>
              <a:pathLst>
                <a:path w="24" h="25">
                  <a:moveTo>
                    <a:pt x="14" y="0"/>
                  </a:moveTo>
                  <a:lnTo>
                    <a:pt x="0" y="15"/>
                  </a:lnTo>
                  <a:lnTo>
                    <a:pt x="9" y="25"/>
                  </a:lnTo>
                  <a:lnTo>
                    <a:pt x="24" y="10"/>
                  </a:lnTo>
                  <a:lnTo>
                    <a:pt x="1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4" name="Freeform 218"/>
            <p:cNvSpPr>
              <a:spLocks noChangeAspect="1"/>
            </p:cNvSpPr>
            <p:nvPr/>
          </p:nvSpPr>
          <p:spPr bwMode="auto">
            <a:xfrm>
              <a:off x="1252" y="1170"/>
              <a:ext cx="16" cy="16"/>
            </a:xfrm>
            <a:custGeom>
              <a:avLst/>
              <a:gdLst>
                <a:gd name="T0" fmla="*/ 15 w 20"/>
                <a:gd name="T1" fmla="*/ 0 h 20"/>
                <a:gd name="T2" fmla="*/ 0 w 20"/>
                <a:gd name="T3" fmla="*/ 15 h 20"/>
                <a:gd name="T4" fmla="*/ 5 w 20"/>
                <a:gd name="T5" fmla="*/ 20 h 20"/>
                <a:gd name="T6" fmla="*/ 20 w 20"/>
                <a:gd name="T7" fmla="*/ 5 h 20"/>
                <a:gd name="T8" fmla="*/ 15 w 20"/>
                <a:gd name="T9" fmla="*/ 0 h 20"/>
              </a:gdLst>
              <a:ahLst/>
              <a:cxnLst>
                <a:cxn ang="0">
                  <a:pos x="T0" y="T1"/>
                </a:cxn>
                <a:cxn ang="0">
                  <a:pos x="T2" y="T3"/>
                </a:cxn>
                <a:cxn ang="0">
                  <a:pos x="T4" y="T5"/>
                </a:cxn>
                <a:cxn ang="0">
                  <a:pos x="T6" y="T7"/>
                </a:cxn>
                <a:cxn ang="0">
                  <a:pos x="T8" y="T9"/>
                </a:cxn>
              </a:cxnLst>
              <a:rect l="0" t="0" r="r" b="b"/>
              <a:pathLst>
                <a:path w="20" h="20">
                  <a:moveTo>
                    <a:pt x="15" y="0"/>
                  </a:moveTo>
                  <a:lnTo>
                    <a:pt x="0" y="15"/>
                  </a:lnTo>
                  <a:lnTo>
                    <a:pt x="5" y="20"/>
                  </a:lnTo>
                  <a:lnTo>
                    <a:pt x="20" y="5"/>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5" name="Freeform 219"/>
            <p:cNvSpPr>
              <a:spLocks noChangeAspect="1"/>
            </p:cNvSpPr>
            <p:nvPr/>
          </p:nvSpPr>
          <p:spPr bwMode="auto">
            <a:xfrm>
              <a:off x="1229" y="1193"/>
              <a:ext cx="16" cy="16"/>
            </a:xfrm>
            <a:custGeom>
              <a:avLst/>
              <a:gdLst>
                <a:gd name="T0" fmla="*/ 15 w 20"/>
                <a:gd name="T1" fmla="*/ 0 h 20"/>
                <a:gd name="T2" fmla="*/ 0 w 20"/>
                <a:gd name="T3" fmla="*/ 10 h 20"/>
                <a:gd name="T4" fmla="*/ 10 w 20"/>
                <a:gd name="T5" fmla="*/ 20 h 20"/>
                <a:gd name="T6" fmla="*/ 20 w 20"/>
                <a:gd name="T7" fmla="*/ 5 h 20"/>
                <a:gd name="T8" fmla="*/ 15 w 20"/>
                <a:gd name="T9" fmla="*/ 0 h 20"/>
              </a:gdLst>
              <a:ahLst/>
              <a:cxnLst>
                <a:cxn ang="0">
                  <a:pos x="T0" y="T1"/>
                </a:cxn>
                <a:cxn ang="0">
                  <a:pos x="T2" y="T3"/>
                </a:cxn>
                <a:cxn ang="0">
                  <a:pos x="T4" y="T5"/>
                </a:cxn>
                <a:cxn ang="0">
                  <a:pos x="T6" y="T7"/>
                </a:cxn>
                <a:cxn ang="0">
                  <a:pos x="T8" y="T9"/>
                </a:cxn>
              </a:cxnLst>
              <a:rect l="0" t="0" r="r" b="b"/>
              <a:pathLst>
                <a:path w="20" h="20">
                  <a:moveTo>
                    <a:pt x="15" y="0"/>
                  </a:moveTo>
                  <a:lnTo>
                    <a:pt x="0" y="10"/>
                  </a:lnTo>
                  <a:lnTo>
                    <a:pt x="10" y="20"/>
                  </a:lnTo>
                  <a:lnTo>
                    <a:pt x="20" y="5"/>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6" name="Freeform 220"/>
            <p:cNvSpPr>
              <a:spLocks noChangeAspect="1"/>
            </p:cNvSpPr>
            <p:nvPr/>
          </p:nvSpPr>
          <p:spPr bwMode="auto">
            <a:xfrm>
              <a:off x="1210" y="1213"/>
              <a:ext cx="16" cy="16"/>
            </a:xfrm>
            <a:custGeom>
              <a:avLst/>
              <a:gdLst>
                <a:gd name="T0" fmla="*/ 10 w 20"/>
                <a:gd name="T1" fmla="*/ 0 h 20"/>
                <a:gd name="T2" fmla="*/ 0 w 20"/>
                <a:gd name="T3" fmla="*/ 15 h 20"/>
                <a:gd name="T4" fmla="*/ 5 w 20"/>
                <a:gd name="T5" fmla="*/ 20 h 20"/>
                <a:gd name="T6" fmla="*/ 20 w 20"/>
                <a:gd name="T7" fmla="*/ 10 h 20"/>
                <a:gd name="T8" fmla="*/ 10 w 20"/>
                <a:gd name="T9" fmla="*/ 0 h 20"/>
              </a:gdLst>
              <a:ahLst/>
              <a:cxnLst>
                <a:cxn ang="0">
                  <a:pos x="T0" y="T1"/>
                </a:cxn>
                <a:cxn ang="0">
                  <a:pos x="T2" y="T3"/>
                </a:cxn>
                <a:cxn ang="0">
                  <a:pos x="T4" y="T5"/>
                </a:cxn>
                <a:cxn ang="0">
                  <a:pos x="T6" y="T7"/>
                </a:cxn>
                <a:cxn ang="0">
                  <a:pos x="T8" y="T9"/>
                </a:cxn>
              </a:cxnLst>
              <a:rect l="0" t="0" r="r" b="b"/>
              <a:pathLst>
                <a:path w="20" h="20">
                  <a:moveTo>
                    <a:pt x="10" y="0"/>
                  </a:moveTo>
                  <a:lnTo>
                    <a:pt x="0" y="15"/>
                  </a:lnTo>
                  <a:lnTo>
                    <a:pt x="5" y="20"/>
                  </a:lnTo>
                  <a:lnTo>
                    <a:pt x="20" y="10"/>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7" name="Freeform 221"/>
            <p:cNvSpPr>
              <a:spLocks noChangeAspect="1"/>
            </p:cNvSpPr>
            <p:nvPr/>
          </p:nvSpPr>
          <p:spPr bwMode="auto">
            <a:xfrm>
              <a:off x="1187" y="1236"/>
              <a:ext cx="16" cy="16"/>
            </a:xfrm>
            <a:custGeom>
              <a:avLst/>
              <a:gdLst>
                <a:gd name="T0" fmla="*/ 15 w 20"/>
                <a:gd name="T1" fmla="*/ 0 h 20"/>
                <a:gd name="T2" fmla="*/ 0 w 20"/>
                <a:gd name="T3" fmla="*/ 15 h 20"/>
                <a:gd name="T4" fmla="*/ 5 w 20"/>
                <a:gd name="T5" fmla="*/ 20 h 20"/>
                <a:gd name="T6" fmla="*/ 20 w 20"/>
                <a:gd name="T7" fmla="*/ 5 h 20"/>
                <a:gd name="T8" fmla="*/ 15 w 20"/>
                <a:gd name="T9" fmla="*/ 0 h 20"/>
              </a:gdLst>
              <a:ahLst/>
              <a:cxnLst>
                <a:cxn ang="0">
                  <a:pos x="T0" y="T1"/>
                </a:cxn>
                <a:cxn ang="0">
                  <a:pos x="T2" y="T3"/>
                </a:cxn>
                <a:cxn ang="0">
                  <a:pos x="T4" y="T5"/>
                </a:cxn>
                <a:cxn ang="0">
                  <a:pos x="T6" y="T7"/>
                </a:cxn>
                <a:cxn ang="0">
                  <a:pos x="T8" y="T9"/>
                </a:cxn>
              </a:cxnLst>
              <a:rect l="0" t="0" r="r" b="b"/>
              <a:pathLst>
                <a:path w="20" h="20">
                  <a:moveTo>
                    <a:pt x="15" y="0"/>
                  </a:moveTo>
                  <a:lnTo>
                    <a:pt x="0" y="15"/>
                  </a:lnTo>
                  <a:lnTo>
                    <a:pt x="5" y="20"/>
                  </a:lnTo>
                  <a:lnTo>
                    <a:pt x="20" y="5"/>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8" name="Freeform 222"/>
            <p:cNvSpPr>
              <a:spLocks noChangeAspect="1"/>
            </p:cNvSpPr>
            <p:nvPr/>
          </p:nvSpPr>
          <p:spPr bwMode="auto">
            <a:xfrm>
              <a:off x="1163" y="1259"/>
              <a:ext cx="16" cy="16"/>
            </a:xfrm>
            <a:custGeom>
              <a:avLst/>
              <a:gdLst>
                <a:gd name="T0" fmla="*/ 15 w 20"/>
                <a:gd name="T1" fmla="*/ 0 h 20"/>
                <a:gd name="T2" fmla="*/ 0 w 20"/>
                <a:gd name="T3" fmla="*/ 10 h 20"/>
                <a:gd name="T4" fmla="*/ 10 w 20"/>
                <a:gd name="T5" fmla="*/ 20 h 20"/>
                <a:gd name="T6" fmla="*/ 20 w 20"/>
                <a:gd name="T7" fmla="*/ 5 h 20"/>
                <a:gd name="T8" fmla="*/ 15 w 20"/>
                <a:gd name="T9" fmla="*/ 0 h 20"/>
              </a:gdLst>
              <a:ahLst/>
              <a:cxnLst>
                <a:cxn ang="0">
                  <a:pos x="T0" y="T1"/>
                </a:cxn>
                <a:cxn ang="0">
                  <a:pos x="T2" y="T3"/>
                </a:cxn>
                <a:cxn ang="0">
                  <a:pos x="T4" y="T5"/>
                </a:cxn>
                <a:cxn ang="0">
                  <a:pos x="T6" y="T7"/>
                </a:cxn>
                <a:cxn ang="0">
                  <a:pos x="T8" y="T9"/>
                </a:cxn>
              </a:cxnLst>
              <a:rect l="0" t="0" r="r" b="b"/>
              <a:pathLst>
                <a:path w="20" h="20">
                  <a:moveTo>
                    <a:pt x="15" y="0"/>
                  </a:moveTo>
                  <a:lnTo>
                    <a:pt x="0" y="10"/>
                  </a:lnTo>
                  <a:lnTo>
                    <a:pt x="10" y="20"/>
                  </a:lnTo>
                  <a:lnTo>
                    <a:pt x="20" y="5"/>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39" name="Freeform 223"/>
            <p:cNvSpPr>
              <a:spLocks noChangeAspect="1"/>
            </p:cNvSpPr>
            <p:nvPr/>
          </p:nvSpPr>
          <p:spPr bwMode="auto">
            <a:xfrm>
              <a:off x="1144" y="1279"/>
              <a:ext cx="16" cy="15"/>
            </a:xfrm>
            <a:custGeom>
              <a:avLst/>
              <a:gdLst>
                <a:gd name="T0" fmla="*/ 10 w 20"/>
                <a:gd name="T1" fmla="*/ 0 h 19"/>
                <a:gd name="T2" fmla="*/ 0 w 20"/>
                <a:gd name="T3" fmla="*/ 14 h 19"/>
                <a:gd name="T4" fmla="*/ 5 w 20"/>
                <a:gd name="T5" fmla="*/ 19 h 19"/>
                <a:gd name="T6" fmla="*/ 20 w 20"/>
                <a:gd name="T7" fmla="*/ 9 h 19"/>
                <a:gd name="T8" fmla="*/ 10 w 20"/>
                <a:gd name="T9" fmla="*/ 0 h 19"/>
              </a:gdLst>
              <a:ahLst/>
              <a:cxnLst>
                <a:cxn ang="0">
                  <a:pos x="T0" y="T1"/>
                </a:cxn>
                <a:cxn ang="0">
                  <a:pos x="T2" y="T3"/>
                </a:cxn>
                <a:cxn ang="0">
                  <a:pos x="T4" y="T5"/>
                </a:cxn>
                <a:cxn ang="0">
                  <a:pos x="T6" y="T7"/>
                </a:cxn>
                <a:cxn ang="0">
                  <a:pos x="T8" y="T9"/>
                </a:cxn>
              </a:cxnLst>
              <a:rect l="0" t="0" r="r" b="b"/>
              <a:pathLst>
                <a:path w="20" h="19">
                  <a:moveTo>
                    <a:pt x="10" y="0"/>
                  </a:moveTo>
                  <a:lnTo>
                    <a:pt x="0" y="14"/>
                  </a:lnTo>
                  <a:lnTo>
                    <a:pt x="5" y="19"/>
                  </a:lnTo>
                  <a:lnTo>
                    <a:pt x="20" y="9"/>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0" name="Freeform 224"/>
            <p:cNvSpPr>
              <a:spLocks noChangeAspect="1"/>
            </p:cNvSpPr>
            <p:nvPr/>
          </p:nvSpPr>
          <p:spPr bwMode="auto">
            <a:xfrm>
              <a:off x="1121" y="1301"/>
              <a:ext cx="16" cy="16"/>
            </a:xfrm>
            <a:custGeom>
              <a:avLst/>
              <a:gdLst>
                <a:gd name="T0" fmla="*/ 15 w 20"/>
                <a:gd name="T1" fmla="*/ 0 h 20"/>
                <a:gd name="T2" fmla="*/ 0 w 20"/>
                <a:gd name="T3" fmla="*/ 15 h 20"/>
                <a:gd name="T4" fmla="*/ 5 w 20"/>
                <a:gd name="T5" fmla="*/ 20 h 20"/>
                <a:gd name="T6" fmla="*/ 20 w 20"/>
                <a:gd name="T7" fmla="*/ 5 h 20"/>
                <a:gd name="T8" fmla="*/ 15 w 20"/>
                <a:gd name="T9" fmla="*/ 0 h 20"/>
              </a:gdLst>
              <a:ahLst/>
              <a:cxnLst>
                <a:cxn ang="0">
                  <a:pos x="T0" y="T1"/>
                </a:cxn>
                <a:cxn ang="0">
                  <a:pos x="T2" y="T3"/>
                </a:cxn>
                <a:cxn ang="0">
                  <a:pos x="T4" y="T5"/>
                </a:cxn>
                <a:cxn ang="0">
                  <a:pos x="T6" y="T7"/>
                </a:cxn>
                <a:cxn ang="0">
                  <a:pos x="T8" y="T9"/>
                </a:cxn>
              </a:cxnLst>
              <a:rect l="0" t="0" r="r" b="b"/>
              <a:pathLst>
                <a:path w="20" h="20">
                  <a:moveTo>
                    <a:pt x="15" y="0"/>
                  </a:moveTo>
                  <a:lnTo>
                    <a:pt x="0" y="15"/>
                  </a:lnTo>
                  <a:lnTo>
                    <a:pt x="5" y="20"/>
                  </a:lnTo>
                  <a:lnTo>
                    <a:pt x="20" y="5"/>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1" name="Freeform 225"/>
            <p:cNvSpPr>
              <a:spLocks noChangeAspect="1"/>
            </p:cNvSpPr>
            <p:nvPr/>
          </p:nvSpPr>
          <p:spPr bwMode="auto">
            <a:xfrm>
              <a:off x="1106" y="401"/>
              <a:ext cx="743" cy="866"/>
            </a:xfrm>
            <a:custGeom>
              <a:avLst/>
              <a:gdLst>
                <a:gd name="T0" fmla="*/ 932 w 932"/>
                <a:gd name="T1" fmla="*/ 1086 h 1086"/>
                <a:gd name="T2" fmla="*/ 932 w 932"/>
                <a:gd name="T3" fmla="*/ 271 h 1086"/>
                <a:gd name="T4" fmla="*/ 623 w 932"/>
                <a:gd name="T5" fmla="*/ 734 h 1086"/>
                <a:gd name="T6" fmla="*/ 14 w 932"/>
                <a:gd name="T7" fmla="*/ 415 h 1086"/>
                <a:gd name="T8" fmla="*/ 314 w 932"/>
                <a:gd name="T9" fmla="*/ 10 h 1086"/>
                <a:gd name="T10" fmla="*/ 927 w 932"/>
                <a:gd name="T11" fmla="*/ 295 h 1086"/>
                <a:gd name="T12" fmla="*/ 927 w 932"/>
                <a:gd name="T13" fmla="*/ 285 h 1086"/>
                <a:gd name="T14" fmla="*/ 314 w 932"/>
                <a:gd name="T15" fmla="*/ 0 h 1086"/>
                <a:gd name="T16" fmla="*/ 0 w 932"/>
                <a:gd name="T17" fmla="*/ 415 h 1086"/>
                <a:gd name="T18" fmla="*/ 623 w 932"/>
                <a:gd name="T19" fmla="*/ 743 h 1086"/>
                <a:gd name="T20" fmla="*/ 922 w 932"/>
                <a:gd name="T21" fmla="*/ 300 h 1086"/>
                <a:gd name="T22" fmla="*/ 922 w 932"/>
                <a:gd name="T23" fmla="*/ 1086 h 1086"/>
                <a:gd name="T24" fmla="*/ 932 w 932"/>
                <a:gd name="T25" fmla="*/ 1086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2" h="1086">
                  <a:moveTo>
                    <a:pt x="932" y="1086"/>
                  </a:moveTo>
                  <a:lnTo>
                    <a:pt x="932" y="271"/>
                  </a:lnTo>
                  <a:lnTo>
                    <a:pt x="623" y="734"/>
                  </a:lnTo>
                  <a:lnTo>
                    <a:pt x="14" y="415"/>
                  </a:lnTo>
                  <a:lnTo>
                    <a:pt x="314" y="10"/>
                  </a:lnTo>
                  <a:lnTo>
                    <a:pt x="927" y="295"/>
                  </a:lnTo>
                  <a:lnTo>
                    <a:pt x="927" y="285"/>
                  </a:lnTo>
                  <a:lnTo>
                    <a:pt x="314" y="0"/>
                  </a:lnTo>
                  <a:lnTo>
                    <a:pt x="0" y="415"/>
                  </a:lnTo>
                  <a:lnTo>
                    <a:pt x="623" y="743"/>
                  </a:lnTo>
                  <a:lnTo>
                    <a:pt x="922" y="300"/>
                  </a:lnTo>
                  <a:lnTo>
                    <a:pt x="922" y="1086"/>
                  </a:lnTo>
                  <a:lnTo>
                    <a:pt x="932" y="1086"/>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2" name="Freeform 226"/>
            <p:cNvSpPr>
              <a:spLocks noChangeAspect="1"/>
            </p:cNvSpPr>
            <p:nvPr/>
          </p:nvSpPr>
          <p:spPr bwMode="auto">
            <a:xfrm>
              <a:off x="1106" y="736"/>
              <a:ext cx="739" cy="831"/>
            </a:xfrm>
            <a:custGeom>
              <a:avLst/>
              <a:gdLst>
                <a:gd name="T0" fmla="*/ 0 w 927"/>
                <a:gd name="T1" fmla="*/ 0 h 1042"/>
                <a:gd name="T2" fmla="*/ 0 w 927"/>
                <a:gd name="T3" fmla="*/ 743 h 1042"/>
                <a:gd name="T4" fmla="*/ 628 w 927"/>
                <a:gd name="T5" fmla="*/ 1042 h 1042"/>
                <a:gd name="T6" fmla="*/ 927 w 927"/>
                <a:gd name="T7" fmla="*/ 681 h 1042"/>
                <a:gd name="T8" fmla="*/ 917 w 927"/>
                <a:gd name="T9" fmla="*/ 671 h 1042"/>
                <a:gd name="T10" fmla="*/ 628 w 927"/>
                <a:gd name="T11" fmla="*/ 1033 h 1042"/>
                <a:gd name="T12" fmla="*/ 10 w 927"/>
                <a:gd name="T13" fmla="*/ 734 h 1042"/>
                <a:gd name="T14" fmla="*/ 10 w 927"/>
                <a:gd name="T15" fmla="*/ 0 h 1042"/>
                <a:gd name="T16" fmla="*/ 0 w 927"/>
                <a:gd name="T17" fmla="*/ 0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7" h="1042">
                  <a:moveTo>
                    <a:pt x="0" y="0"/>
                  </a:moveTo>
                  <a:lnTo>
                    <a:pt x="0" y="743"/>
                  </a:lnTo>
                  <a:lnTo>
                    <a:pt x="628" y="1042"/>
                  </a:lnTo>
                  <a:lnTo>
                    <a:pt x="927" y="681"/>
                  </a:lnTo>
                  <a:lnTo>
                    <a:pt x="917" y="671"/>
                  </a:lnTo>
                  <a:lnTo>
                    <a:pt x="628" y="1033"/>
                  </a:lnTo>
                  <a:lnTo>
                    <a:pt x="10" y="734"/>
                  </a:lnTo>
                  <a:lnTo>
                    <a:pt x="1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3" name="Rectangle 227"/>
            <p:cNvSpPr>
              <a:spLocks noChangeAspect="1" noChangeArrowheads="1"/>
            </p:cNvSpPr>
            <p:nvPr/>
          </p:nvSpPr>
          <p:spPr bwMode="auto">
            <a:xfrm>
              <a:off x="1603" y="986"/>
              <a:ext cx="8" cy="57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44" name="Rectangle 228"/>
            <p:cNvSpPr>
              <a:spLocks noChangeAspect="1" noChangeArrowheads="1"/>
            </p:cNvSpPr>
            <p:nvPr/>
          </p:nvSpPr>
          <p:spPr bwMode="auto">
            <a:xfrm>
              <a:off x="1352" y="178"/>
              <a:ext cx="8" cy="22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45" name="Freeform 229"/>
            <p:cNvSpPr>
              <a:spLocks noChangeAspect="1"/>
            </p:cNvSpPr>
            <p:nvPr/>
          </p:nvSpPr>
          <p:spPr bwMode="auto">
            <a:xfrm>
              <a:off x="1341" y="178"/>
              <a:ext cx="31" cy="30"/>
            </a:xfrm>
            <a:custGeom>
              <a:avLst/>
              <a:gdLst>
                <a:gd name="T0" fmla="*/ 0 w 38"/>
                <a:gd name="T1" fmla="*/ 38 h 38"/>
                <a:gd name="T2" fmla="*/ 19 w 38"/>
                <a:gd name="T3" fmla="*/ 0 h 38"/>
                <a:gd name="T4" fmla="*/ 38 w 38"/>
                <a:gd name="T5" fmla="*/ 38 h 38"/>
                <a:gd name="T6" fmla="*/ 19 w 38"/>
                <a:gd name="T7" fmla="*/ 19 h 38"/>
                <a:gd name="T8" fmla="*/ 0 w 38"/>
                <a:gd name="T9" fmla="*/ 38 h 38"/>
              </a:gdLst>
              <a:ahLst/>
              <a:cxnLst>
                <a:cxn ang="0">
                  <a:pos x="T0" y="T1"/>
                </a:cxn>
                <a:cxn ang="0">
                  <a:pos x="T2" y="T3"/>
                </a:cxn>
                <a:cxn ang="0">
                  <a:pos x="T4" y="T5"/>
                </a:cxn>
                <a:cxn ang="0">
                  <a:pos x="T6" y="T7"/>
                </a:cxn>
                <a:cxn ang="0">
                  <a:pos x="T8" y="T9"/>
                </a:cxn>
              </a:cxnLst>
              <a:rect l="0" t="0" r="r" b="b"/>
              <a:pathLst>
                <a:path w="38" h="38">
                  <a:moveTo>
                    <a:pt x="0" y="38"/>
                  </a:moveTo>
                  <a:lnTo>
                    <a:pt x="19" y="0"/>
                  </a:lnTo>
                  <a:lnTo>
                    <a:pt x="38" y="38"/>
                  </a:lnTo>
                  <a:lnTo>
                    <a:pt x="19" y="19"/>
                  </a:lnTo>
                  <a:lnTo>
                    <a:pt x="0" y="3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6" name="Freeform 230"/>
            <p:cNvSpPr>
              <a:spLocks noChangeAspect="1"/>
            </p:cNvSpPr>
            <p:nvPr/>
          </p:nvSpPr>
          <p:spPr bwMode="auto">
            <a:xfrm>
              <a:off x="1325" y="170"/>
              <a:ext cx="62" cy="58"/>
            </a:xfrm>
            <a:custGeom>
              <a:avLst/>
              <a:gdLst>
                <a:gd name="T0" fmla="*/ 39 w 77"/>
                <a:gd name="T1" fmla="*/ 24 h 72"/>
                <a:gd name="T2" fmla="*/ 39 w 77"/>
                <a:gd name="T3" fmla="*/ 19 h 72"/>
                <a:gd name="T4" fmla="*/ 39 w 77"/>
                <a:gd name="T5" fmla="*/ 24 h 72"/>
                <a:gd name="T6" fmla="*/ 0 w 77"/>
                <a:gd name="T7" fmla="*/ 72 h 72"/>
                <a:gd name="T8" fmla="*/ 39 w 77"/>
                <a:gd name="T9" fmla="*/ 34 h 72"/>
                <a:gd name="T10" fmla="*/ 77 w 77"/>
                <a:gd name="T11" fmla="*/ 72 h 72"/>
                <a:gd name="T12" fmla="*/ 39 w 77"/>
                <a:gd name="T13" fmla="*/ 0 h 72"/>
                <a:gd name="T14" fmla="*/ 0 w 77"/>
                <a:gd name="T15" fmla="*/ 72 h 72"/>
                <a:gd name="T16" fmla="*/ 39 w 77"/>
                <a:gd name="T17" fmla="*/ 2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 h="72">
                  <a:moveTo>
                    <a:pt x="39" y="24"/>
                  </a:moveTo>
                  <a:lnTo>
                    <a:pt x="39" y="19"/>
                  </a:lnTo>
                  <a:lnTo>
                    <a:pt x="39" y="24"/>
                  </a:lnTo>
                  <a:lnTo>
                    <a:pt x="0" y="72"/>
                  </a:lnTo>
                  <a:lnTo>
                    <a:pt x="39" y="34"/>
                  </a:lnTo>
                  <a:lnTo>
                    <a:pt x="77" y="72"/>
                  </a:lnTo>
                  <a:lnTo>
                    <a:pt x="39" y="0"/>
                  </a:lnTo>
                  <a:lnTo>
                    <a:pt x="0" y="72"/>
                  </a:lnTo>
                  <a:lnTo>
                    <a:pt x="39" y="2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7" name="Freeform 231"/>
            <p:cNvSpPr>
              <a:spLocks noChangeAspect="1"/>
            </p:cNvSpPr>
            <p:nvPr/>
          </p:nvSpPr>
          <p:spPr bwMode="auto">
            <a:xfrm>
              <a:off x="994" y="1321"/>
              <a:ext cx="116" cy="127"/>
            </a:xfrm>
            <a:custGeom>
              <a:avLst/>
              <a:gdLst>
                <a:gd name="T0" fmla="*/ 135 w 145"/>
                <a:gd name="T1" fmla="*/ 0 h 159"/>
                <a:gd name="T2" fmla="*/ 0 w 145"/>
                <a:gd name="T3" fmla="*/ 149 h 159"/>
                <a:gd name="T4" fmla="*/ 10 w 145"/>
                <a:gd name="T5" fmla="*/ 159 h 159"/>
                <a:gd name="T6" fmla="*/ 145 w 145"/>
                <a:gd name="T7" fmla="*/ 9 h 159"/>
                <a:gd name="T8" fmla="*/ 135 w 145"/>
                <a:gd name="T9" fmla="*/ 0 h 159"/>
              </a:gdLst>
              <a:ahLst/>
              <a:cxnLst>
                <a:cxn ang="0">
                  <a:pos x="T0" y="T1"/>
                </a:cxn>
                <a:cxn ang="0">
                  <a:pos x="T2" y="T3"/>
                </a:cxn>
                <a:cxn ang="0">
                  <a:pos x="T4" y="T5"/>
                </a:cxn>
                <a:cxn ang="0">
                  <a:pos x="T6" y="T7"/>
                </a:cxn>
                <a:cxn ang="0">
                  <a:pos x="T8" y="T9"/>
                </a:cxn>
              </a:cxnLst>
              <a:rect l="0" t="0" r="r" b="b"/>
              <a:pathLst>
                <a:path w="145" h="159">
                  <a:moveTo>
                    <a:pt x="135" y="0"/>
                  </a:moveTo>
                  <a:lnTo>
                    <a:pt x="0" y="149"/>
                  </a:lnTo>
                  <a:lnTo>
                    <a:pt x="10" y="159"/>
                  </a:lnTo>
                  <a:lnTo>
                    <a:pt x="145" y="9"/>
                  </a:lnTo>
                  <a:lnTo>
                    <a:pt x="13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8" name="Freeform 232"/>
            <p:cNvSpPr>
              <a:spLocks noChangeAspect="1"/>
            </p:cNvSpPr>
            <p:nvPr/>
          </p:nvSpPr>
          <p:spPr bwMode="auto">
            <a:xfrm>
              <a:off x="998" y="1413"/>
              <a:ext cx="27" cy="31"/>
            </a:xfrm>
            <a:custGeom>
              <a:avLst/>
              <a:gdLst>
                <a:gd name="T0" fmla="*/ 34 w 34"/>
                <a:gd name="T1" fmla="*/ 24 h 39"/>
                <a:gd name="T2" fmla="*/ 0 w 34"/>
                <a:gd name="T3" fmla="*/ 39 h 39"/>
                <a:gd name="T4" fmla="*/ 9 w 34"/>
                <a:gd name="T5" fmla="*/ 0 h 39"/>
                <a:gd name="T6" fmla="*/ 9 w 34"/>
                <a:gd name="T7" fmla="*/ 24 h 39"/>
                <a:gd name="T8" fmla="*/ 34 w 34"/>
                <a:gd name="T9" fmla="*/ 24 h 39"/>
              </a:gdLst>
              <a:ahLst/>
              <a:cxnLst>
                <a:cxn ang="0">
                  <a:pos x="T0" y="T1"/>
                </a:cxn>
                <a:cxn ang="0">
                  <a:pos x="T2" y="T3"/>
                </a:cxn>
                <a:cxn ang="0">
                  <a:pos x="T4" y="T5"/>
                </a:cxn>
                <a:cxn ang="0">
                  <a:pos x="T6" y="T7"/>
                </a:cxn>
                <a:cxn ang="0">
                  <a:pos x="T8" y="T9"/>
                </a:cxn>
              </a:cxnLst>
              <a:rect l="0" t="0" r="r" b="b"/>
              <a:pathLst>
                <a:path w="34" h="39">
                  <a:moveTo>
                    <a:pt x="34" y="24"/>
                  </a:moveTo>
                  <a:lnTo>
                    <a:pt x="0" y="39"/>
                  </a:lnTo>
                  <a:lnTo>
                    <a:pt x="9" y="0"/>
                  </a:lnTo>
                  <a:lnTo>
                    <a:pt x="9" y="24"/>
                  </a:lnTo>
                  <a:lnTo>
                    <a:pt x="34" y="2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49" name="Freeform 233"/>
            <p:cNvSpPr>
              <a:spLocks noChangeAspect="1"/>
            </p:cNvSpPr>
            <p:nvPr/>
          </p:nvSpPr>
          <p:spPr bwMode="auto">
            <a:xfrm>
              <a:off x="994" y="1382"/>
              <a:ext cx="51" cy="70"/>
            </a:xfrm>
            <a:custGeom>
              <a:avLst/>
              <a:gdLst>
                <a:gd name="T0" fmla="*/ 14 w 63"/>
                <a:gd name="T1" fmla="*/ 67 h 87"/>
                <a:gd name="T2" fmla="*/ 10 w 63"/>
                <a:gd name="T3" fmla="*/ 67 h 87"/>
                <a:gd name="T4" fmla="*/ 10 w 63"/>
                <a:gd name="T5" fmla="*/ 77 h 87"/>
                <a:gd name="T6" fmla="*/ 10 w 63"/>
                <a:gd name="T7" fmla="*/ 67 h 87"/>
                <a:gd name="T8" fmla="*/ 14 w 63"/>
                <a:gd name="T9" fmla="*/ 67 h 87"/>
                <a:gd name="T10" fmla="*/ 63 w 63"/>
                <a:gd name="T11" fmla="*/ 58 h 87"/>
                <a:gd name="T12" fmla="*/ 19 w 63"/>
                <a:gd name="T13" fmla="*/ 58 h 87"/>
                <a:gd name="T14" fmla="*/ 19 w 63"/>
                <a:gd name="T15" fmla="*/ 0 h 87"/>
                <a:gd name="T16" fmla="*/ 0 w 63"/>
                <a:gd name="T17" fmla="*/ 87 h 87"/>
                <a:gd name="T18" fmla="*/ 63 w 63"/>
                <a:gd name="T19" fmla="*/ 58 h 87"/>
                <a:gd name="T20" fmla="*/ 14 w 63"/>
                <a:gd name="T21" fmla="*/ 6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3" h="87">
                  <a:moveTo>
                    <a:pt x="14" y="67"/>
                  </a:moveTo>
                  <a:lnTo>
                    <a:pt x="10" y="67"/>
                  </a:lnTo>
                  <a:lnTo>
                    <a:pt x="10" y="77"/>
                  </a:lnTo>
                  <a:lnTo>
                    <a:pt x="10" y="67"/>
                  </a:lnTo>
                  <a:lnTo>
                    <a:pt x="14" y="67"/>
                  </a:lnTo>
                  <a:lnTo>
                    <a:pt x="63" y="58"/>
                  </a:lnTo>
                  <a:lnTo>
                    <a:pt x="19" y="58"/>
                  </a:lnTo>
                  <a:lnTo>
                    <a:pt x="19" y="0"/>
                  </a:lnTo>
                  <a:lnTo>
                    <a:pt x="0" y="87"/>
                  </a:lnTo>
                  <a:lnTo>
                    <a:pt x="63" y="58"/>
                  </a:lnTo>
                  <a:lnTo>
                    <a:pt x="14" y="6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50" name="Freeform 234"/>
            <p:cNvSpPr>
              <a:spLocks noChangeAspect="1"/>
            </p:cNvSpPr>
            <p:nvPr/>
          </p:nvSpPr>
          <p:spPr bwMode="auto">
            <a:xfrm>
              <a:off x="1849" y="1275"/>
              <a:ext cx="150" cy="72"/>
            </a:xfrm>
            <a:custGeom>
              <a:avLst/>
              <a:gdLst>
                <a:gd name="T0" fmla="*/ 0 w 188"/>
                <a:gd name="T1" fmla="*/ 9 h 91"/>
                <a:gd name="T2" fmla="*/ 188 w 188"/>
                <a:gd name="T3" fmla="*/ 91 h 91"/>
                <a:gd name="T4" fmla="*/ 188 w 188"/>
                <a:gd name="T5" fmla="*/ 82 h 91"/>
                <a:gd name="T6" fmla="*/ 0 w 188"/>
                <a:gd name="T7" fmla="*/ 0 h 91"/>
                <a:gd name="T8" fmla="*/ 0 w 188"/>
                <a:gd name="T9" fmla="*/ 9 h 91"/>
              </a:gdLst>
              <a:ahLst/>
              <a:cxnLst>
                <a:cxn ang="0">
                  <a:pos x="T0" y="T1"/>
                </a:cxn>
                <a:cxn ang="0">
                  <a:pos x="T2" y="T3"/>
                </a:cxn>
                <a:cxn ang="0">
                  <a:pos x="T4" y="T5"/>
                </a:cxn>
                <a:cxn ang="0">
                  <a:pos x="T6" y="T7"/>
                </a:cxn>
                <a:cxn ang="0">
                  <a:pos x="T8" y="T9"/>
                </a:cxn>
              </a:cxnLst>
              <a:rect l="0" t="0" r="r" b="b"/>
              <a:pathLst>
                <a:path w="188" h="91">
                  <a:moveTo>
                    <a:pt x="0" y="9"/>
                  </a:moveTo>
                  <a:lnTo>
                    <a:pt x="188" y="91"/>
                  </a:lnTo>
                  <a:lnTo>
                    <a:pt x="188" y="82"/>
                  </a:lnTo>
                  <a:lnTo>
                    <a:pt x="0" y="0"/>
                  </a:lnTo>
                  <a:lnTo>
                    <a:pt x="0" y="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51" name="Freeform 235"/>
            <p:cNvSpPr>
              <a:spLocks noChangeAspect="1"/>
            </p:cNvSpPr>
            <p:nvPr/>
          </p:nvSpPr>
          <p:spPr bwMode="auto">
            <a:xfrm>
              <a:off x="1969" y="1321"/>
              <a:ext cx="30" cy="26"/>
            </a:xfrm>
            <a:custGeom>
              <a:avLst/>
              <a:gdLst>
                <a:gd name="T0" fmla="*/ 14 w 38"/>
                <a:gd name="T1" fmla="*/ 0 h 33"/>
                <a:gd name="T2" fmla="*/ 38 w 38"/>
                <a:gd name="T3" fmla="*/ 29 h 33"/>
                <a:gd name="T4" fmla="*/ 0 w 38"/>
                <a:gd name="T5" fmla="*/ 33 h 33"/>
                <a:gd name="T6" fmla="*/ 24 w 38"/>
                <a:gd name="T7" fmla="*/ 24 h 33"/>
                <a:gd name="T8" fmla="*/ 14 w 38"/>
                <a:gd name="T9" fmla="*/ 0 h 33"/>
              </a:gdLst>
              <a:ahLst/>
              <a:cxnLst>
                <a:cxn ang="0">
                  <a:pos x="T0" y="T1"/>
                </a:cxn>
                <a:cxn ang="0">
                  <a:pos x="T2" y="T3"/>
                </a:cxn>
                <a:cxn ang="0">
                  <a:pos x="T4" y="T5"/>
                </a:cxn>
                <a:cxn ang="0">
                  <a:pos x="T6" y="T7"/>
                </a:cxn>
                <a:cxn ang="0">
                  <a:pos x="T8" y="T9"/>
                </a:cxn>
              </a:cxnLst>
              <a:rect l="0" t="0" r="r" b="b"/>
              <a:pathLst>
                <a:path w="38" h="33">
                  <a:moveTo>
                    <a:pt x="14" y="0"/>
                  </a:moveTo>
                  <a:lnTo>
                    <a:pt x="38" y="29"/>
                  </a:lnTo>
                  <a:lnTo>
                    <a:pt x="0" y="33"/>
                  </a:lnTo>
                  <a:lnTo>
                    <a:pt x="24" y="24"/>
                  </a:lnTo>
                  <a:lnTo>
                    <a:pt x="1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52" name="Freeform 236"/>
            <p:cNvSpPr>
              <a:spLocks noChangeAspect="1"/>
            </p:cNvSpPr>
            <p:nvPr/>
          </p:nvSpPr>
          <p:spPr bwMode="auto">
            <a:xfrm>
              <a:off x="1938" y="1301"/>
              <a:ext cx="69" cy="54"/>
            </a:xfrm>
            <a:custGeom>
              <a:avLst/>
              <a:gdLst>
                <a:gd name="T0" fmla="*/ 68 w 87"/>
                <a:gd name="T1" fmla="*/ 49 h 68"/>
                <a:gd name="T2" fmla="*/ 77 w 87"/>
                <a:gd name="T3" fmla="*/ 49 h 68"/>
                <a:gd name="T4" fmla="*/ 68 w 87"/>
                <a:gd name="T5" fmla="*/ 54 h 68"/>
                <a:gd name="T6" fmla="*/ 68 w 87"/>
                <a:gd name="T7" fmla="*/ 49 h 68"/>
                <a:gd name="T8" fmla="*/ 39 w 87"/>
                <a:gd name="T9" fmla="*/ 0 h 68"/>
                <a:gd name="T10" fmla="*/ 58 w 87"/>
                <a:gd name="T11" fmla="*/ 44 h 68"/>
                <a:gd name="T12" fmla="*/ 0 w 87"/>
                <a:gd name="T13" fmla="*/ 68 h 68"/>
                <a:gd name="T14" fmla="*/ 87 w 87"/>
                <a:gd name="T15" fmla="*/ 58 h 68"/>
                <a:gd name="T16" fmla="*/ 39 w 87"/>
                <a:gd name="T17" fmla="*/ 0 h 68"/>
                <a:gd name="T18" fmla="*/ 68 w 87"/>
                <a:gd name="T19" fmla="*/ 4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68">
                  <a:moveTo>
                    <a:pt x="68" y="49"/>
                  </a:moveTo>
                  <a:lnTo>
                    <a:pt x="77" y="49"/>
                  </a:lnTo>
                  <a:lnTo>
                    <a:pt x="68" y="54"/>
                  </a:lnTo>
                  <a:lnTo>
                    <a:pt x="68" y="49"/>
                  </a:lnTo>
                  <a:lnTo>
                    <a:pt x="39" y="0"/>
                  </a:lnTo>
                  <a:lnTo>
                    <a:pt x="58" y="44"/>
                  </a:lnTo>
                  <a:lnTo>
                    <a:pt x="0" y="68"/>
                  </a:lnTo>
                  <a:lnTo>
                    <a:pt x="87" y="58"/>
                  </a:lnTo>
                  <a:lnTo>
                    <a:pt x="39" y="0"/>
                  </a:lnTo>
                  <a:lnTo>
                    <a:pt x="68" y="4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53" name="Rectangle 237"/>
            <p:cNvSpPr>
              <a:spLocks noChangeAspect="1" noChangeArrowheads="1"/>
            </p:cNvSpPr>
            <p:nvPr/>
          </p:nvSpPr>
          <p:spPr bwMode="auto">
            <a:xfrm>
              <a:off x="925" y="1393"/>
              <a:ext cx="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a</a:t>
              </a:r>
              <a:endParaRPr lang="en-US" altLang="zh-CN" sz="2000" b="0">
                <a:effectLst>
                  <a:outerShdw blurRad="38100" dist="38100" dir="2700000" algn="tl">
                    <a:srgbClr val="000000"/>
                  </a:outerShdw>
                </a:effectLst>
                <a:latin typeface="Times New Roman" panose="02020603050405020304" pitchFamily="18" charset="0"/>
              </a:endParaRPr>
            </a:p>
          </p:txBody>
        </p:sp>
        <p:sp>
          <p:nvSpPr>
            <p:cNvPr id="137454" name="Rectangle 238"/>
            <p:cNvSpPr>
              <a:spLocks noChangeAspect="1" noChangeArrowheads="1"/>
            </p:cNvSpPr>
            <p:nvPr/>
          </p:nvSpPr>
          <p:spPr bwMode="auto">
            <a:xfrm>
              <a:off x="2030" y="1290"/>
              <a:ext cx="8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b</a:t>
              </a:r>
              <a:endParaRPr lang="en-US" altLang="zh-CN" sz="2000" b="0">
                <a:effectLst>
                  <a:outerShdw blurRad="38100" dist="38100" dir="2700000" algn="tl">
                    <a:srgbClr val="000000"/>
                  </a:outerShdw>
                </a:effectLst>
                <a:latin typeface="Times New Roman" panose="02020603050405020304" pitchFamily="18" charset="0"/>
              </a:endParaRPr>
            </a:p>
          </p:txBody>
        </p:sp>
        <p:sp>
          <p:nvSpPr>
            <p:cNvPr id="137455" name="Rectangle 239"/>
            <p:cNvSpPr>
              <a:spLocks noChangeAspect="1" noChangeArrowheads="1"/>
            </p:cNvSpPr>
            <p:nvPr/>
          </p:nvSpPr>
          <p:spPr bwMode="auto">
            <a:xfrm>
              <a:off x="1260" y="1528"/>
              <a:ext cx="13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900" b="0"/>
                <a:t>P</a:t>
              </a:r>
              <a:endParaRPr lang="en-US" altLang="zh-CN" sz="2000" b="0">
                <a:effectLst>
                  <a:outerShdw blurRad="38100" dist="38100" dir="2700000" algn="tl">
                    <a:srgbClr val="000000"/>
                  </a:outerShdw>
                </a:effectLst>
              </a:endParaRPr>
            </a:p>
          </p:txBody>
        </p:sp>
        <p:sp>
          <p:nvSpPr>
            <p:cNvPr id="137456" name="Rectangle 240"/>
            <p:cNvSpPr>
              <a:spLocks noChangeAspect="1" noChangeArrowheads="1"/>
            </p:cNvSpPr>
            <p:nvPr/>
          </p:nvSpPr>
          <p:spPr bwMode="auto">
            <a:xfrm>
              <a:off x="1083" y="1753"/>
              <a:ext cx="581"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Triclinic</a:t>
              </a:r>
              <a:endParaRPr lang="en-US" altLang="zh-CN" sz="2000" b="0">
                <a:effectLst>
                  <a:outerShdw blurRad="38100" dist="38100" dir="2700000" algn="tl">
                    <a:srgbClr val="000000"/>
                  </a:outerShdw>
                </a:effectLst>
              </a:endParaRPr>
            </a:p>
          </p:txBody>
        </p:sp>
        <p:sp>
          <p:nvSpPr>
            <p:cNvPr id="137457" name="Rectangle 241"/>
            <p:cNvSpPr>
              <a:spLocks noChangeAspect="1" noChangeArrowheads="1"/>
            </p:cNvSpPr>
            <p:nvPr/>
          </p:nvSpPr>
          <p:spPr bwMode="auto">
            <a:xfrm>
              <a:off x="1056" y="1925"/>
              <a:ext cx="14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a </a:t>
              </a:r>
              <a:endParaRPr lang="en-US" altLang="zh-CN" sz="2000" b="0">
                <a:effectLst>
                  <a:outerShdw blurRad="38100" dist="38100" dir="2700000" algn="tl">
                    <a:srgbClr val="000000"/>
                  </a:outerShdw>
                </a:effectLst>
              </a:endParaRPr>
            </a:p>
          </p:txBody>
        </p:sp>
        <p:sp>
          <p:nvSpPr>
            <p:cNvPr id="137458" name="Rectangle 242"/>
            <p:cNvSpPr>
              <a:spLocks noChangeAspect="1" noChangeArrowheads="1"/>
            </p:cNvSpPr>
            <p:nvPr/>
          </p:nvSpPr>
          <p:spPr bwMode="auto">
            <a:xfrm>
              <a:off x="1198" y="1925"/>
              <a:ext cx="2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¹ b </a:t>
              </a:r>
              <a:endParaRPr lang="en-US" altLang="zh-CN" sz="2000" b="0">
                <a:effectLst>
                  <a:outerShdw blurRad="38100" dist="38100" dir="2700000" algn="tl">
                    <a:srgbClr val="000000"/>
                  </a:outerShdw>
                </a:effectLst>
              </a:endParaRPr>
            </a:p>
          </p:txBody>
        </p:sp>
        <p:sp>
          <p:nvSpPr>
            <p:cNvPr id="137459" name="Rectangle 243"/>
            <p:cNvSpPr>
              <a:spLocks noChangeAspect="1" noChangeArrowheads="1"/>
            </p:cNvSpPr>
            <p:nvPr/>
          </p:nvSpPr>
          <p:spPr bwMode="auto">
            <a:xfrm>
              <a:off x="1453" y="1925"/>
              <a:ext cx="20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¹ g</a:t>
              </a:r>
              <a:endParaRPr lang="en-US" altLang="zh-CN" sz="2000" b="0">
                <a:effectLst>
                  <a:outerShdw blurRad="38100" dist="38100" dir="2700000" algn="tl">
                    <a:srgbClr val="000000"/>
                  </a:outerShdw>
                </a:effectLst>
              </a:endParaRPr>
            </a:p>
          </p:txBody>
        </p:sp>
        <p:sp>
          <p:nvSpPr>
            <p:cNvPr id="137460" name="Rectangle 244"/>
            <p:cNvSpPr>
              <a:spLocks noChangeAspect="1" noChangeArrowheads="1"/>
            </p:cNvSpPr>
            <p:nvPr/>
          </p:nvSpPr>
          <p:spPr bwMode="auto">
            <a:xfrm>
              <a:off x="1056" y="2136"/>
              <a:ext cx="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a</a:t>
              </a:r>
              <a:endParaRPr lang="en-US" altLang="zh-CN" sz="2000" b="0">
                <a:effectLst>
                  <a:outerShdw blurRad="38100" dist="38100" dir="2700000" algn="tl">
                    <a:srgbClr val="000000"/>
                  </a:outerShdw>
                </a:effectLst>
              </a:endParaRPr>
            </a:p>
          </p:txBody>
        </p:sp>
        <p:sp>
          <p:nvSpPr>
            <p:cNvPr id="137461" name="Rectangle 245"/>
            <p:cNvSpPr>
              <a:spLocks noChangeAspect="1" noChangeArrowheads="1"/>
            </p:cNvSpPr>
            <p:nvPr/>
          </p:nvSpPr>
          <p:spPr bwMode="auto">
            <a:xfrm>
              <a:off x="1144" y="2121"/>
              <a:ext cx="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 </a:t>
              </a:r>
              <a:endParaRPr lang="en-US" altLang="zh-CN" sz="2000" b="0">
                <a:effectLst>
                  <a:outerShdw blurRad="38100" dist="38100" dir="2700000" algn="tl">
                    <a:srgbClr val="000000"/>
                  </a:outerShdw>
                </a:effectLst>
              </a:endParaRPr>
            </a:p>
          </p:txBody>
        </p:sp>
        <p:sp>
          <p:nvSpPr>
            <p:cNvPr id="137462" name="Rectangle 246"/>
            <p:cNvSpPr>
              <a:spLocks noChangeAspect="1" noChangeArrowheads="1"/>
            </p:cNvSpPr>
            <p:nvPr/>
          </p:nvSpPr>
          <p:spPr bwMode="auto">
            <a:xfrm>
              <a:off x="1187" y="2121"/>
              <a:ext cx="13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¹ </a:t>
              </a:r>
              <a:endParaRPr lang="en-US" altLang="zh-CN" sz="2000" b="0">
                <a:effectLst>
                  <a:outerShdw blurRad="38100" dist="38100" dir="2700000" algn="tl">
                    <a:srgbClr val="000000"/>
                  </a:outerShdw>
                </a:effectLst>
              </a:endParaRPr>
            </a:p>
          </p:txBody>
        </p:sp>
        <p:sp>
          <p:nvSpPr>
            <p:cNvPr id="137463" name="Rectangle 247"/>
            <p:cNvSpPr>
              <a:spLocks noChangeAspect="1" noChangeArrowheads="1"/>
            </p:cNvSpPr>
            <p:nvPr/>
          </p:nvSpPr>
          <p:spPr bwMode="auto">
            <a:xfrm>
              <a:off x="1314" y="2136"/>
              <a:ext cx="8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b</a:t>
              </a:r>
              <a:endParaRPr lang="en-US" altLang="zh-CN" sz="2000" b="0">
                <a:effectLst>
                  <a:outerShdw blurRad="38100" dist="38100" dir="2700000" algn="tl">
                    <a:srgbClr val="000000"/>
                  </a:outerShdw>
                </a:effectLst>
              </a:endParaRPr>
            </a:p>
          </p:txBody>
        </p:sp>
        <p:sp>
          <p:nvSpPr>
            <p:cNvPr id="137464" name="Rectangle 248"/>
            <p:cNvSpPr>
              <a:spLocks noChangeAspect="1" noChangeArrowheads="1"/>
            </p:cNvSpPr>
            <p:nvPr/>
          </p:nvSpPr>
          <p:spPr bwMode="auto">
            <a:xfrm>
              <a:off x="1403" y="2121"/>
              <a:ext cx="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 </a:t>
              </a:r>
              <a:endParaRPr lang="en-US" altLang="zh-CN" sz="2000" b="0">
                <a:effectLst>
                  <a:outerShdw blurRad="38100" dist="38100" dir="2700000" algn="tl">
                    <a:srgbClr val="000000"/>
                  </a:outerShdw>
                </a:effectLst>
              </a:endParaRPr>
            </a:p>
          </p:txBody>
        </p:sp>
        <p:sp>
          <p:nvSpPr>
            <p:cNvPr id="137465" name="Rectangle 249"/>
            <p:cNvSpPr>
              <a:spLocks noChangeAspect="1" noChangeArrowheads="1"/>
            </p:cNvSpPr>
            <p:nvPr/>
          </p:nvSpPr>
          <p:spPr bwMode="auto">
            <a:xfrm>
              <a:off x="1445" y="2121"/>
              <a:ext cx="13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¹ </a:t>
              </a:r>
              <a:endParaRPr lang="en-US" altLang="zh-CN" sz="2000" b="0">
                <a:effectLst>
                  <a:outerShdw blurRad="38100" dist="38100" dir="2700000" algn="tl">
                    <a:srgbClr val="000000"/>
                  </a:outerShdw>
                </a:effectLst>
              </a:endParaRPr>
            </a:p>
          </p:txBody>
        </p:sp>
        <p:sp>
          <p:nvSpPr>
            <p:cNvPr id="137466" name="Rectangle 250"/>
            <p:cNvSpPr>
              <a:spLocks noChangeAspect="1" noChangeArrowheads="1"/>
            </p:cNvSpPr>
            <p:nvPr/>
          </p:nvSpPr>
          <p:spPr bwMode="auto">
            <a:xfrm>
              <a:off x="1572" y="2136"/>
              <a:ext cx="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c</a:t>
              </a:r>
              <a:endParaRPr lang="en-US" altLang="zh-CN" sz="2000" b="0">
                <a:effectLst>
                  <a:outerShdw blurRad="38100" dist="38100" dir="2700000" algn="tl">
                    <a:srgbClr val="000000"/>
                  </a:outerShdw>
                </a:effectLst>
              </a:endParaRPr>
            </a:p>
          </p:txBody>
        </p:sp>
        <p:pic>
          <p:nvPicPr>
            <p:cNvPr id="137467" name="Picture 25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312" y="381"/>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468" name="Picture 25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80" y="59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469" name="Picture 25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80" y="121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470" name="Picture 25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553" y="150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471" name="Picture 25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046" y="1272"/>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472" name="Picture 25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070" y="689"/>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473" name="Picture 25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553" y="945"/>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474" name="Picture 25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312" y="103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475" name="Rectangle 259"/>
            <p:cNvSpPr>
              <a:spLocks noChangeAspect="1" noChangeArrowheads="1"/>
            </p:cNvSpPr>
            <p:nvPr/>
          </p:nvSpPr>
          <p:spPr bwMode="auto">
            <a:xfrm>
              <a:off x="1394" y="88"/>
              <a:ext cx="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c</a:t>
              </a:r>
              <a:endParaRPr lang="en-US" altLang="zh-CN" sz="2000" b="0">
                <a:effectLst>
                  <a:outerShdw blurRad="38100" dist="38100" dir="2700000" algn="tl">
                    <a:srgbClr val="000000"/>
                  </a:outerShdw>
                </a:effectLst>
                <a:latin typeface="Times New Roman" panose="02020603050405020304" pitchFamily="18" charset="0"/>
              </a:endParaRPr>
            </a:p>
          </p:txBody>
        </p:sp>
      </p:grpSp>
      <p:sp>
        <p:nvSpPr>
          <p:cNvPr id="137476" name="Line 260"/>
          <p:cNvSpPr>
            <a:spLocks noChangeShapeType="1"/>
          </p:cNvSpPr>
          <p:nvPr/>
        </p:nvSpPr>
        <p:spPr bwMode="auto">
          <a:xfrm>
            <a:off x="827088" y="3860800"/>
            <a:ext cx="777716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477" name="Line 261"/>
          <p:cNvSpPr>
            <a:spLocks noChangeShapeType="1"/>
          </p:cNvSpPr>
          <p:nvPr/>
        </p:nvSpPr>
        <p:spPr bwMode="auto">
          <a:xfrm flipV="1">
            <a:off x="3921125" y="188913"/>
            <a:ext cx="0" cy="36480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37955" name="Group 739"/>
          <p:cNvGrpSpPr/>
          <p:nvPr/>
        </p:nvGrpSpPr>
        <p:grpSpPr bwMode="auto">
          <a:xfrm>
            <a:off x="1212850" y="3827463"/>
            <a:ext cx="6548438" cy="2871787"/>
            <a:chOff x="764" y="2411"/>
            <a:chExt cx="4125" cy="1809"/>
          </a:xfrm>
        </p:grpSpPr>
        <p:grpSp>
          <p:nvGrpSpPr>
            <p:cNvPr id="137478" name="Group 262"/>
            <p:cNvGrpSpPr/>
            <p:nvPr/>
          </p:nvGrpSpPr>
          <p:grpSpPr bwMode="auto">
            <a:xfrm>
              <a:off x="764" y="2411"/>
              <a:ext cx="4125" cy="1809"/>
              <a:chOff x="764" y="2411"/>
              <a:chExt cx="4125" cy="1809"/>
            </a:xfrm>
          </p:grpSpPr>
          <p:sp>
            <p:nvSpPr>
              <p:cNvPr id="137479" name="Rectangle 263"/>
              <p:cNvSpPr>
                <a:spLocks noChangeArrowheads="1"/>
              </p:cNvSpPr>
              <p:nvPr/>
            </p:nvSpPr>
            <p:spPr bwMode="auto">
              <a:xfrm>
                <a:off x="1336" y="2411"/>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c</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7480" name="Freeform 264"/>
              <p:cNvSpPr/>
              <p:nvPr/>
            </p:nvSpPr>
            <p:spPr bwMode="auto">
              <a:xfrm>
                <a:off x="994" y="2691"/>
                <a:ext cx="780" cy="903"/>
              </a:xfrm>
              <a:custGeom>
                <a:avLst/>
                <a:gdLst>
                  <a:gd name="T0" fmla="*/ 311 w 780"/>
                  <a:gd name="T1" fmla="*/ 4 h 903"/>
                  <a:gd name="T2" fmla="*/ 0 w 780"/>
                  <a:gd name="T3" fmla="*/ 112 h 903"/>
                  <a:gd name="T4" fmla="*/ 4 w 780"/>
                  <a:gd name="T5" fmla="*/ 899 h 903"/>
                  <a:gd name="T6" fmla="*/ 545 w 780"/>
                  <a:gd name="T7" fmla="*/ 903 h 903"/>
                  <a:gd name="T8" fmla="*/ 780 w 780"/>
                  <a:gd name="T9" fmla="*/ 757 h 903"/>
                  <a:gd name="T10" fmla="*/ 780 w 780"/>
                  <a:gd name="T11" fmla="*/ 0 h 903"/>
                  <a:gd name="T12" fmla="*/ 311 w 780"/>
                  <a:gd name="T13" fmla="*/ 4 h 903"/>
                </a:gdLst>
                <a:ahLst/>
                <a:cxnLst>
                  <a:cxn ang="0">
                    <a:pos x="T0" y="T1"/>
                  </a:cxn>
                  <a:cxn ang="0">
                    <a:pos x="T2" y="T3"/>
                  </a:cxn>
                  <a:cxn ang="0">
                    <a:pos x="T4" y="T5"/>
                  </a:cxn>
                  <a:cxn ang="0">
                    <a:pos x="T6" y="T7"/>
                  </a:cxn>
                  <a:cxn ang="0">
                    <a:pos x="T8" y="T9"/>
                  </a:cxn>
                  <a:cxn ang="0">
                    <a:pos x="T10" y="T11"/>
                  </a:cxn>
                  <a:cxn ang="0">
                    <a:pos x="T12" y="T13"/>
                  </a:cxn>
                </a:cxnLst>
                <a:rect l="0" t="0" r="r" b="b"/>
                <a:pathLst>
                  <a:path w="780" h="903">
                    <a:moveTo>
                      <a:pt x="311" y="4"/>
                    </a:moveTo>
                    <a:lnTo>
                      <a:pt x="0" y="112"/>
                    </a:lnTo>
                    <a:lnTo>
                      <a:pt x="4" y="899"/>
                    </a:lnTo>
                    <a:lnTo>
                      <a:pt x="545" y="903"/>
                    </a:lnTo>
                    <a:lnTo>
                      <a:pt x="780" y="757"/>
                    </a:lnTo>
                    <a:lnTo>
                      <a:pt x="780" y="0"/>
                    </a:lnTo>
                    <a:lnTo>
                      <a:pt x="311" y="4"/>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81" name="Rectangle 265"/>
              <p:cNvSpPr>
                <a:spLocks noChangeArrowheads="1"/>
              </p:cNvSpPr>
              <p:nvPr/>
            </p:nvSpPr>
            <p:spPr bwMode="auto">
              <a:xfrm>
                <a:off x="1727"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2" name="Rectangle 266"/>
              <p:cNvSpPr>
                <a:spLocks noChangeArrowheads="1"/>
              </p:cNvSpPr>
              <p:nvPr/>
            </p:nvSpPr>
            <p:spPr bwMode="auto">
              <a:xfrm>
                <a:off x="1697"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3" name="Rectangle 267"/>
              <p:cNvSpPr>
                <a:spLocks noChangeArrowheads="1"/>
              </p:cNvSpPr>
              <p:nvPr/>
            </p:nvSpPr>
            <p:spPr bwMode="auto">
              <a:xfrm>
                <a:off x="1666"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4" name="Rectangle 268"/>
              <p:cNvSpPr>
                <a:spLocks noChangeArrowheads="1"/>
              </p:cNvSpPr>
              <p:nvPr/>
            </p:nvSpPr>
            <p:spPr bwMode="auto">
              <a:xfrm>
                <a:off x="1635"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5" name="Rectangle 269"/>
              <p:cNvSpPr>
                <a:spLocks noChangeArrowheads="1"/>
              </p:cNvSpPr>
              <p:nvPr/>
            </p:nvSpPr>
            <p:spPr bwMode="auto">
              <a:xfrm>
                <a:off x="1605"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6" name="Rectangle 270"/>
              <p:cNvSpPr>
                <a:spLocks noChangeArrowheads="1"/>
              </p:cNvSpPr>
              <p:nvPr/>
            </p:nvSpPr>
            <p:spPr bwMode="auto">
              <a:xfrm>
                <a:off x="1574"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7" name="Rectangle 271"/>
              <p:cNvSpPr>
                <a:spLocks noChangeArrowheads="1"/>
              </p:cNvSpPr>
              <p:nvPr/>
            </p:nvSpPr>
            <p:spPr bwMode="auto">
              <a:xfrm>
                <a:off x="1543"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8" name="Rectangle 272"/>
              <p:cNvSpPr>
                <a:spLocks noChangeArrowheads="1"/>
              </p:cNvSpPr>
              <p:nvPr/>
            </p:nvSpPr>
            <p:spPr bwMode="auto">
              <a:xfrm>
                <a:off x="1513"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89" name="Rectangle 273"/>
              <p:cNvSpPr>
                <a:spLocks noChangeArrowheads="1"/>
              </p:cNvSpPr>
              <p:nvPr/>
            </p:nvSpPr>
            <p:spPr bwMode="auto">
              <a:xfrm>
                <a:off x="1482"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0" name="Rectangle 274"/>
              <p:cNvSpPr>
                <a:spLocks noChangeArrowheads="1"/>
              </p:cNvSpPr>
              <p:nvPr/>
            </p:nvSpPr>
            <p:spPr bwMode="auto">
              <a:xfrm>
                <a:off x="1451"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1" name="Rectangle 275"/>
              <p:cNvSpPr>
                <a:spLocks noChangeArrowheads="1"/>
              </p:cNvSpPr>
              <p:nvPr/>
            </p:nvSpPr>
            <p:spPr bwMode="auto">
              <a:xfrm>
                <a:off x="1420"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2" name="Rectangle 276"/>
              <p:cNvSpPr>
                <a:spLocks noChangeArrowheads="1"/>
              </p:cNvSpPr>
              <p:nvPr/>
            </p:nvSpPr>
            <p:spPr bwMode="auto">
              <a:xfrm>
                <a:off x="1390"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3" name="Rectangle 277"/>
              <p:cNvSpPr>
                <a:spLocks noChangeArrowheads="1"/>
              </p:cNvSpPr>
              <p:nvPr/>
            </p:nvSpPr>
            <p:spPr bwMode="auto">
              <a:xfrm>
                <a:off x="1359"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4" name="Rectangle 278"/>
              <p:cNvSpPr>
                <a:spLocks noChangeArrowheads="1"/>
              </p:cNvSpPr>
              <p:nvPr/>
            </p:nvSpPr>
            <p:spPr bwMode="auto">
              <a:xfrm>
                <a:off x="1328"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5" name="Freeform 279"/>
              <p:cNvSpPr/>
              <p:nvPr/>
            </p:nvSpPr>
            <p:spPr bwMode="auto">
              <a:xfrm>
                <a:off x="1298" y="3448"/>
                <a:ext cx="15" cy="8"/>
              </a:xfrm>
              <a:custGeom>
                <a:avLst/>
                <a:gdLst>
                  <a:gd name="T0" fmla="*/ 15 w 15"/>
                  <a:gd name="T1" fmla="*/ 0 h 8"/>
                  <a:gd name="T2" fmla="*/ 7 w 15"/>
                  <a:gd name="T3" fmla="*/ 4 h 8"/>
                  <a:gd name="T4" fmla="*/ 7 w 15"/>
                  <a:gd name="T5" fmla="*/ 0 h 8"/>
                  <a:gd name="T6" fmla="*/ 0 w 15"/>
                  <a:gd name="T7" fmla="*/ 0 h 8"/>
                  <a:gd name="T8" fmla="*/ 0 w 15"/>
                  <a:gd name="T9" fmla="*/ 8 h 8"/>
                  <a:gd name="T10" fmla="*/ 15 w 15"/>
                  <a:gd name="T11" fmla="*/ 8 h 8"/>
                  <a:gd name="T12" fmla="*/ 15 w 1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5" y="0"/>
                    </a:moveTo>
                    <a:lnTo>
                      <a:pt x="7" y="4"/>
                    </a:lnTo>
                    <a:lnTo>
                      <a:pt x="7" y="0"/>
                    </a:lnTo>
                    <a:lnTo>
                      <a:pt x="0" y="0"/>
                    </a:lnTo>
                    <a:lnTo>
                      <a:pt x="0" y="8"/>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496" name="Rectangle 280"/>
              <p:cNvSpPr>
                <a:spLocks noChangeArrowheads="1"/>
              </p:cNvSpPr>
              <p:nvPr/>
            </p:nvSpPr>
            <p:spPr bwMode="auto">
              <a:xfrm>
                <a:off x="1298" y="3417"/>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7" name="Rectangle 281"/>
              <p:cNvSpPr>
                <a:spLocks noChangeArrowheads="1"/>
              </p:cNvSpPr>
              <p:nvPr/>
            </p:nvSpPr>
            <p:spPr bwMode="auto">
              <a:xfrm>
                <a:off x="1298" y="3386"/>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8" name="Rectangle 282"/>
              <p:cNvSpPr>
                <a:spLocks noChangeArrowheads="1"/>
              </p:cNvSpPr>
              <p:nvPr/>
            </p:nvSpPr>
            <p:spPr bwMode="auto">
              <a:xfrm>
                <a:off x="1298" y="3356"/>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499" name="Rectangle 283"/>
              <p:cNvSpPr>
                <a:spLocks noChangeArrowheads="1"/>
              </p:cNvSpPr>
              <p:nvPr/>
            </p:nvSpPr>
            <p:spPr bwMode="auto">
              <a:xfrm>
                <a:off x="1298" y="3325"/>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0" name="Rectangle 284"/>
              <p:cNvSpPr>
                <a:spLocks noChangeArrowheads="1"/>
              </p:cNvSpPr>
              <p:nvPr/>
            </p:nvSpPr>
            <p:spPr bwMode="auto">
              <a:xfrm>
                <a:off x="1298" y="3294"/>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1" name="Rectangle 285"/>
              <p:cNvSpPr>
                <a:spLocks noChangeArrowheads="1"/>
              </p:cNvSpPr>
              <p:nvPr/>
            </p:nvSpPr>
            <p:spPr bwMode="auto">
              <a:xfrm>
                <a:off x="1298" y="3264"/>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2" name="Rectangle 286"/>
              <p:cNvSpPr>
                <a:spLocks noChangeArrowheads="1"/>
              </p:cNvSpPr>
              <p:nvPr/>
            </p:nvSpPr>
            <p:spPr bwMode="auto">
              <a:xfrm>
                <a:off x="1298" y="3233"/>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3" name="Rectangle 287"/>
              <p:cNvSpPr>
                <a:spLocks noChangeArrowheads="1"/>
              </p:cNvSpPr>
              <p:nvPr/>
            </p:nvSpPr>
            <p:spPr bwMode="auto">
              <a:xfrm>
                <a:off x="1298" y="3202"/>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4" name="Rectangle 288"/>
              <p:cNvSpPr>
                <a:spLocks noChangeArrowheads="1"/>
              </p:cNvSpPr>
              <p:nvPr/>
            </p:nvSpPr>
            <p:spPr bwMode="auto">
              <a:xfrm>
                <a:off x="1298" y="3171"/>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5" name="Rectangle 289"/>
              <p:cNvSpPr>
                <a:spLocks noChangeArrowheads="1"/>
              </p:cNvSpPr>
              <p:nvPr/>
            </p:nvSpPr>
            <p:spPr bwMode="auto">
              <a:xfrm>
                <a:off x="1298" y="3141"/>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6" name="Rectangle 290"/>
              <p:cNvSpPr>
                <a:spLocks noChangeArrowheads="1"/>
              </p:cNvSpPr>
              <p:nvPr/>
            </p:nvSpPr>
            <p:spPr bwMode="auto">
              <a:xfrm>
                <a:off x="1298" y="3110"/>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7" name="Rectangle 291"/>
              <p:cNvSpPr>
                <a:spLocks noChangeArrowheads="1"/>
              </p:cNvSpPr>
              <p:nvPr/>
            </p:nvSpPr>
            <p:spPr bwMode="auto">
              <a:xfrm>
                <a:off x="1298" y="3079"/>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8" name="Rectangle 292"/>
              <p:cNvSpPr>
                <a:spLocks noChangeArrowheads="1"/>
              </p:cNvSpPr>
              <p:nvPr/>
            </p:nvSpPr>
            <p:spPr bwMode="auto">
              <a:xfrm>
                <a:off x="1298" y="3048"/>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09" name="Rectangle 293"/>
              <p:cNvSpPr>
                <a:spLocks noChangeArrowheads="1"/>
              </p:cNvSpPr>
              <p:nvPr/>
            </p:nvSpPr>
            <p:spPr bwMode="auto">
              <a:xfrm>
                <a:off x="1298" y="3018"/>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0" name="Rectangle 294"/>
              <p:cNvSpPr>
                <a:spLocks noChangeArrowheads="1"/>
              </p:cNvSpPr>
              <p:nvPr/>
            </p:nvSpPr>
            <p:spPr bwMode="auto">
              <a:xfrm>
                <a:off x="1298" y="2987"/>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1" name="Rectangle 295"/>
              <p:cNvSpPr>
                <a:spLocks noChangeArrowheads="1"/>
              </p:cNvSpPr>
              <p:nvPr/>
            </p:nvSpPr>
            <p:spPr bwMode="auto">
              <a:xfrm>
                <a:off x="1298" y="2956"/>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2" name="Rectangle 296"/>
              <p:cNvSpPr>
                <a:spLocks noChangeArrowheads="1"/>
              </p:cNvSpPr>
              <p:nvPr/>
            </p:nvSpPr>
            <p:spPr bwMode="auto">
              <a:xfrm>
                <a:off x="1298" y="2926"/>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3" name="Rectangle 297"/>
              <p:cNvSpPr>
                <a:spLocks noChangeArrowheads="1"/>
              </p:cNvSpPr>
              <p:nvPr/>
            </p:nvSpPr>
            <p:spPr bwMode="auto">
              <a:xfrm>
                <a:off x="1298" y="2895"/>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4" name="Rectangle 298"/>
              <p:cNvSpPr>
                <a:spLocks noChangeArrowheads="1"/>
              </p:cNvSpPr>
              <p:nvPr/>
            </p:nvSpPr>
            <p:spPr bwMode="auto">
              <a:xfrm>
                <a:off x="1298" y="2864"/>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5" name="Rectangle 299"/>
              <p:cNvSpPr>
                <a:spLocks noChangeArrowheads="1"/>
              </p:cNvSpPr>
              <p:nvPr/>
            </p:nvSpPr>
            <p:spPr bwMode="auto">
              <a:xfrm>
                <a:off x="1298" y="2833"/>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6" name="Rectangle 300"/>
              <p:cNvSpPr>
                <a:spLocks noChangeArrowheads="1"/>
              </p:cNvSpPr>
              <p:nvPr/>
            </p:nvSpPr>
            <p:spPr bwMode="auto">
              <a:xfrm>
                <a:off x="1298" y="2803"/>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7" name="Rectangle 301"/>
              <p:cNvSpPr>
                <a:spLocks noChangeArrowheads="1"/>
              </p:cNvSpPr>
              <p:nvPr/>
            </p:nvSpPr>
            <p:spPr bwMode="auto">
              <a:xfrm>
                <a:off x="1298" y="2772"/>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8" name="Rectangle 302"/>
              <p:cNvSpPr>
                <a:spLocks noChangeArrowheads="1"/>
              </p:cNvSpPr>
              <p:nvPr/>
            </p:nvSpPr>
            <p:spPr bwMode="auto">
              <a:xfrm>
                <a:off x="1298" y="2741"/>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19" name="Rectangle 303"/>
              <p:cNvSpPr>
                <a:spLocks noChangeArrowheads="1"/>
              </p:cNvSpPr>
              <p:nvPr/>
            </p:nvSpPr>
            <p:spPr bwMode="auto">
              <a:xfrm>
                <a:off x="1298" y="2711"/>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20" name="Rectangle 304"/>
              <p:cNvSpPr>
                <a:spLocks noChangeArrowheads="1"/>
              </p:cNvSpPr>
              <p:nvPr/>
            </p:nvSpPr>
            <p:spPr bwMode="auto">
              <a:xfrm>
                <a:off x="1298" y="2691"/>
                <a:ext cx="7" cy="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21" name="Freeform 305"/>
              <p:cNvSpPr/>
              <p:nvPr/>
            </p:nvSpPr>
            <p:spPr bwMode="auto">
              <a:xfrm>
                <a:off x="1275" y="3452"/>
                <a:ext cx="15" cy="15"/>
              </a:xfrm>
              <a:custGeom>
                <a:avLst/>
                <a:gdLst>
                  <a:gd name="T0" fmla="*/ 15 w 15"/>
                  <a:gd name="T1" fmla="*/ 0 h 15"/>
                  <a:gd name="T2" fmla="*/ 0 w 15"/>
                  <a:gd name="T3" fmla="*/ 7 h 15"/>
                  <a:gd name="T4" fmla="*/ 3 w 15"/>
                  <a:gd name="T5" fmla="*/ 15 h 15"/>
                  <a:gd name="T6" fmla="*/ 15 w 15"/>
                  <a:gd name="T7" fmla="*/ 7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7"/>
                    </a:lnTo>
                    <a:lnTo>
                      <a:pt x="3" y="15"/>
                    </a:lnTo>
                    <a:lnTo>
                      <a:pt x="15"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2" name="Freeform 306"/>
              <p:cNvSpPr/>
              <p:nvPr/>
            </p:nvSpPr>
            <p:spPr bwMode="auto">
              <a:xfrm>
                <a:off x="1248" y="3463"/>
                <a:ext cx="15" cy="16"/>
              </a:xfrm>
              <a:custGeom>
                <a:avLst/>
                <a:gdLst>
                  <a:gd name="T0" fmla="*/ 11 w 15"/>
                  <a:gd name="T1" fmla="*/ 0 h 16"/>
                  <a:gd name="T2" fmla="*/ 0 w 15"/>
                  <a:gd name="T3" fmla="*/ 8 h 16"/>
                  <a:gd name="T4" fmla="*/ 0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0"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3" name="Freeform 307"/>
              <p:cNvSpPr/>
              <p:nvPr/>
            </p:nvSpPr>
            <p:spPr bwMode="auto">
              <a:xfrm>
                <a:off x="1217" y="3479"/>
                <a:ext cx="19" cy="11"/>
              </a:xfrm>
              <a:custGeom>
                <a:avLst/>
                <a:gdLst>
                  <a:gd name="T0" fmla="*/ 15 w 19"/>
                  <a:gd name="T1" fmla="*/ 0 h 11"/>
                  <a:gd name="T2" fmla="*/ 0 w 19"/>
                  <a:gd name="T3" fmla="*/ 3 h 11"/>
                  <a:gd name="T4" fmla="*/ 4 w 19"/>
                  <a:gd name="T5" fmla="*/ 11 h 11"/>
                  <a:gd name="T6" fmla="*/ 19 w 19"/>
                  <a:gd name="T7" fmla="*/ 3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3"/>
                    </a:lnTo>
                    <a:lnTo>
                      <a:pt x="4" y="11"/>
                    </a:lnTo>
                    <a:lnTo>
                      <a:pt x="19" y="3"/>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4" name="Freeform 308"/>
              <p:cNvSpPr/>
              <p:nvPr/>
            </p:nvSpPr>
            <p:spPr bwMode="auto">
              <a:xfrm>
                <a:off x="1190" y="3490"/>
                <a:ext cx="19" cy="12"/>
              </a:xfrm>
              <a:custGeom>
                <a:avLst/>
                <a:gdLst>
                  <a:gd name="T0" fmla="*/ 15 w 19"/>
                  <a:gd name="T1" fmla="*/ 0 h 12"/>
                  <a:gd name="T2" fmla="*/ 0 w 19"/>
                  <a:gd name="T3" fmla="*/ 8 h 12"/>
                  <a:gd name="T4" fmla="*/ 4 w 19"/>
                  <a:gd name="T5" fmla="*/ 12 h 12"/>
                  <a:gd name="T6" fmla="*/ 19 w 19"/>
                  <a:gd name="T7" fmla="*/ 8 h 12"/>
                  <a:gd name="T8" fmla="*/ 15 w 19"/>
                  <a:gd name="T9" fmla="*/ 0 h 12"/>
                </a:gdLst>
                <a:ahLst/>
                <a:cxnLst>
                  <a:cxn ang="0">
                    <a:pos x="T0" y="T1"/>
                  </a:cxn>
                  <a:cxn ang="0">
                    <a:pos x="T2" y="T3"/>
                  </a:cxn>
                  <a:cxn ang="0">
                    <a:pos x="T4" y="T5"/>
                  </a:cxn>
                  <a:cxn ang="0">
                    <a:pos x="T6" y="T7"/>
                  </a:cxn>
                  <a:cxn ang="0">
                    <a:pos x="T8" y="T9"/>
                  </a:cxn>
                </a:cxnLst>
                <a:rect l="0" t="0" r="r" b="b"/>
                <a:pathLst>
                  <a:path w="19" h="12">
                    <a:moveTo>
                      <a:pt x="15" y="0"/>
                    </a:moveTo>
                    <a:lnTo>
                      <a:pt x="0" y="8"/>
                    </a:lnTo>
                    <a:lnTo>
                      <a:pt x="4" y="12"/>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5" name="Freeform 309"/>
              <p:cNvSpPr/>
              <p:nvPr/>
            </p:nvSpPr>
            <p:spPr bwMode="auto">
              <a:xfrm>
                <a:off x="1163" y="3502"/>
                <a:ext cx="16" cy="15"/>
              </a:xfrm>
              <a:custGeom>
                <a:avLst/>
                <a:gdLst>
                  <a:gd name="T0" fmla="*/ 12 w 16"/>
                  <a:gd name="T1" fmla="*/ 0 h 15"/>
                  <a:gd name="T2" fmla="*/ 0 w 16"/>
                  <a:gd name="T3" fmla="*/ 7 h 15"/>
                  <a:gd name="T4" fmla="*/ 4 w 16"/>
                  <a:gd name="T5" fmla="*/ 15 h 15"/>
                  <a:gd name="T6" fmla="*/ 16 w 16"/>
                  <a:gd name="T7" fmla="*/ 7 h 15"/>
                  <a:gd name="T8" fmla="*/ 12 w 16"/>
                  <a:gd name="T9" fmla="*/ 0 h 15"/>
                </a:gdLst>
                <a:ahLst/>
                <a:cxnLst>
                  <a:cxn ang="0">
                    <a:pos x="T0" y="T1"/>
                  </a:cxn>
                  <a:cxn ang="0">
                    <a:pos x="T2" y="T3"/>
                  </a:cxn>
                  <a:cxn ang="0">
                    <a:pos x="T4" y="T5"/>
                  </a:cxn>
                  <a:cxn ang="0">
                    <a:pos x="T6" y="T7"/>
                  </a:cxn>
                  <a:cxn ang="0">
                    <a:pos x="T8" y="T9"/>
                  </a:cxn>
                </a:cxnLst>
                <a:rect l="0" t="0" r="r" b="b"/>
                <a:pathLst>
                  <a:path w="16" h="15">
                    <a:moveTo>
                      <a:pt x="12" y="0"/>
                    </a:moveTo>
                    <a:lnTo>
                      <a:pt x="0" y="7"/>
                    </a:lnTo>
                    <a:lnTo>
                      <a:pt x="4" y="15"/>
                    </a:lnTo>
                    <a:lnTo>
                      <a:pt x="16" y="7"/>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6" name="Freeform 310"/>
              <p:cNvSpPr/>
              <p:nvPr/>
            </p:nvSpPr>
            <p:spPr bwMode="auto">
              <a:xfrm>
                <a:off x="1132" y="3517"/>
                <a:ext cx="20" cy="12"/>
              </a:xfrm>
              <a:custGeom>
                <a:avLst/>
                <a:gdLst>
                  <a:gd name="T0" fmla="*/ 16 w 20"/>
                  <a:gd name="T1" fmla="*/ 0 h 12"/>
                  <a:gd name="T2" fmla="*/ 0 w 20"/>
                  <a:gd name="T3" fmla="*/ 4 h 12"/>
                  <a:gd name="T4" fmla="*/ 4 w 20"/>
                  <a:gd name="T5" fmla="*/ 12 h 12"/>
                  <a:gd name="T6" fmla="*/ 20 w 20"/>
                  <a:gd name="T7" fmla="*/ 4 h 12"/>
                  <a:gd name="T8" fmla="*/ 16 w 20"/>
                  <a:gd name="T9" fmla="*/ 0 h 12"/>
                </a:gdLst>
                <a:ahLst/>
                <a:cxnLst>
                  <a:cxn ang="0">
                    <a:pos x="T0" y="T1"/>
                  </a:cxn>
                  <a:cxn ang="0">
                    <a:pos x="T2" y="T3"/>
                  </a:cxn>
                  <a:cxn ang="0">
                    <a:pos x="T4" y="T5"/>
                  </a:cxn>
                  <a:cxn ang="0">
                    <a:pos x="T6" y="T7"/>
                  </a:cxn>
                  <a:cxn ang="0">
                    <a:pos x="T8" y="T9"/>
                  </a:cxn>
                </a:cxnLst>
                <a:rect l="0" t="0" r="r" b="b"/>
                <a:pathLst>
                  <a:path w="20" h="12">
                    <a:moveTo>
                      <a:pt x="16" y="0"/>
                    </a:moveTo>
                    <a:lnTo>
                      <a:pt x="0" y="4"/>
                    </a:lnTo>
                    <a:lnTo>
                      <a:pt x="4" y="12"/>
                    </a:lnTo>
                    <a:lnTo>
                      <a:pt x="20" y="4"/>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7" name="Freeform 311"/>
              <p:cNvSpPr/>
              <p:nvPr/>
            </p:nvSpPr>
            <p:spPr bwMode="auto">
              <a:xfrm>
                <a:off x="1106" y="3529"/>
                <a:ext cx="19" cy="11"/>
              </a:xfrm>
              <a:custGeom>
                <a:avLst/>
                <a:gdLst>
                  <a:gd name="T0" fmla="*/ 15 w 19"/>
                  <a:gd name="T1" fmla="*/ 0 h 11"/>
                  <a:gd name="T2" fmla="*/ 0 w 19"/>
                  <a:gd name="T3" fmla="*/ 3 h 11"/>
                  <a:gd name="T4" fmla="*/ 3 w 19"/>
                  <a:gd name="T5" fmla="*/ 11 h 11"/>
                  <a:gd name="T6" fmla="*/ 19 w 19"/>
                  <a:gd name="T7" fmla="*/ 7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3"/>
                    </a:lnTo>
                    <a:lnTo>
                      <a:pt x="3" y="11"/>
                    </a:lnTo>
                    <a:lnTo>
                      <a:pt x="19"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8" name="Freeform 312"/>
              <p:cNvSpPr/>
              <p:nvPr/>
            </p:nvSpPr>
            <p:spPr bwMode="auto">
              <a:xfrm>
                <a:off x="1079" y="3540"/>
                <a:ext cx="15" cy="15"/>
              </a:xfrm>
              <a:custGeom>
                <a:avLst/>
                <a:gdLst>
                  <a:gd name="T0" fmla="*/ 15 w 15"/>
                  <a:gd name="T1" fmla="*/ 0 h 15"/>
                  <a:gd name="T2" fmla="*/ 0 w 15"/>
                  <a:gd name="T3" fmla="*/ 8 h 15"/>
                  <a:gd name="T4" fmla="*/ 4 w 15"/>
                  <a:gd name="T5" fmla="*/ 15 h 15"/>
                  <a:gd name="T6" fmla="*/ 15 w 15"/>
                  <a:gd name="T7" fmla="*/ 8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8"/>
                    </a:lnTo>
                    <a:lnTo>
                      <a:pt x="4" y="15"/>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29" name="Freeform 313"/>
              <p:cNvSpPr/>
              <p:nvPr/>
            </p:nvSpPr>
            <p:spPr bwMode="auto">
              <a:xfrm>
                <a:off x="1052" y="3552"/>
                <a:ext cx="15" cy="15"/>
              </a:xfrm>
              <a:custGeom>
                <a:avLst/>
                <a:gdLst>
                  <a:gd name="T0" fmla="*/ 11 w 15"/>
                  <a:gd name="T1" fmla="*/ 0 h 15"/>
                  <a:gd name="T2" fmla="*/ 0 w 15"/>
                  <a:gd name="T3" fmla="*/ 7 h 15"/>
                  <a:gd name="T4" fmla="*/ 0 w 15"/>
                  <a:gd name="T5" fmla="*/ 15 h 15"/>
                  <a:gd name="T6" fmla="*/ 15 w 15"/>
                  <a:gd name="T7" fmla="*/ 7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7"/>
                    </a:lnTo>
                    <a:lnTo>
                      <a:pt x="0" y="15"/>
                    </a:lnTo>
                    <a:lnTo>
                      <a:pt x="15"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0" name="Freeform 314"/>
              <p:cNvSpPr/>
              <p:nvPr/>
            </p:nvSpPr>
            <p:spPr bwMode="auto">
              <a:xfrm>
                <a:off x="1021" y="3567"/>
                <a:ext cx="19" cy="11"/>
              </a:xfrm>
              <a:custGeom>
                <a:avLst/>
                <a:gdLst>
                  <a:gd name="T0" fmla="*/ 16 w 19"/>
                  <a:gd name="T1" fmla="*/ 0 h 11"/>
                  <a:gd name="T2" fmla="*/ 0 w 19"/>
                  <a:gd name="T3" fmla="*/ 4 h 11"/>
                  <a:gd name="T4" fmla="*/ 4 w 19"/>
                  <a:gd name="T5" fmla="*/ 11 h 11"/>
                  <a:gd name="T6" fmla="*/ 19 w 19"/>
                  <a:gd name="T7" fmla="*/ 4 h 11"/>
                  <a:gd name="T8" fmla="*/ 16 w 19"/>
                  <a:gd name="T9" fmla="*/ 0 h 11"/>
                </a:gdLst>
                <a:ahLst/>
                <a:cxnLst>
                  <a:cxn ang="0">
                    <a:pos x="T0" y="T1"/>
                  </a:cxn>
                  <a:cxn ang="0">
                    <a:pos x="T2" y="T3"/>
                  </a:cxn>
                  <a:cxn ang="0">
                    <a:pos x="T4" y="T5"/>
                  </a:cxn>
                  <a:cxn ang="0">
                    <a:pos x="T6" y="T7"/>
                  </a:cxn>
                  <a:cxn ang="0">
                    <a:pos x="T8" y="T9"/>
                  </a:cxn>
                </a:cxnLst>
                <a:rect l="0" t="0" r="r" b="b"/>
                <a:pathLst>
                  <a:path w="19" h="11">
                    <a:moveTo>
                      <a:pt x="16" y="0"/>
                    </a:moveTo>
                    <a:lnTo>
                      <a:pt x="0" y="4"/>
                    </a:lnTo>
                    <a:lnTo>
                      <a:pt x="4" y="11"/>
                    </a:lnTo>
                    <a:lnTo>
                      <a:pt x="19" y="4"/>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1" name="Freeform 315"/>
              <p:cNvSpPr/>
              <p:nvPr/>
            </p:nvSpPr>
            <p:spPr bwMode="auto">
              <a:xfrm>
                <a:off x="994" y="3578"/>
                <a:ext cx="16" cy="12"/>
              </a:xfrm>
              <a:custGeom>
                <a:avLst/>
                <a:gdLst>
                  <a:gd name="T0" fmla="*/ 16 w 16"/>
                  <a:gd name="T1" fmla="*/ 0 h 12"/>
                  <a:gd name="T2" fmla="*/ 0 w 16"/>
                  <a:gd name="T3" fmla="*/ 8 h 12"/>
                  <a:gd name="T4" fmla="*/ 4 w 16"/>
                  <a:gd name="T5" fmla="*/ 12 h 12"/>
                  <a:gd name="T6" fmla="*/ 16 w 16"/>
                  <a:gd name="T7" fmla="*/ 8 h 12"/>
                  <a:gd name="T8" fmla="*/ 16 w 16"/>
                  <a:gd name="T9" fmla="*/ 0 h 12"/>
                </a:gdLst>
                <a:ahLst/>
                <a:cxnLst>
                  <a:cxn ang="0">
                    <a:pos x="T0" y="T1"/>
                  </a:cxn>
                  <a:cxn ang="0">
                    <a:pos x="T2" y="T3"/>
                  </a:cxn>
                  <a:cxn ang="0">
                    <a:pos x="T4" y="T5"/>
                  </a:cxn>
                  <a:cxn ang="0">
                    <a:pos x="T6" y="T7"/>
                  </a:cxn>
                  <a:cxn ang="0">
                    <a:pos x="T8" y="T9"/>
                  </a:cxn>
                </a:cxnLst>
                <a:rect l="0" t="0" r="r" b="b"/>
                <a:pathLst>
                  <a:path w="16" h="12">
                    <a:moveTo>
                      <a:pt x="16" y="0"/>
                    </a:moveTo>
                    <a:lnTo>
                      <a:pt x="0" y="8"/>
                    </a:lnTo>
                    <a:lnTo>
                      <a:pt x="4" y="12"/>
                    </a:lnTo>
                    <a:lnTo>
                      <a:pt x="16"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2" name="Freeform 316"/>
              <p:cNvSpPr/>
              <p:nvPr/>
            </p:nvSpPr>
            <p:spPr bwMode="auto">
              <a:xfrm>
                <a:off x="990" y="2684"/>
                <a:ext cx="791" cy="756"/>
              </a:xfrm>
              <a:custGeom>
                <a:avLst/>
                <a:gdLst>
                  <a:gd name="T0" fmla="*/ 791 w 791"/>
                  <a:gd name="T1" fmla="*/ 756 h 756"/>
                  <a:gd name="T2" fmla="*/ 787 w 791"/>
                  <a:gd name="T3" fmla="*/ 7 h 756"/>
                  <a:gd name="T4" fmla="*/ 787 w 791"/>
                  <a:gd name="T5" fmla="*/ 3 h 756"/>
                  <a:gd name="T6" fmla="*/ 784 w 791"/>
                  <a:gd name="T7" fmla="*/ 3 h 756"/>
                  <a:gd name="T8" fmla="*/ 549 w 791"/>
                  <a:gd name="T9" fmla="*/ 119 h 756"/>
                  <a:gd name="T10" fmla="*/ 27 w 791"/>
                  <a:gd name="T11" fmla="*/ 119 h 756"/>
                  <a:gd name="T12" fmla="*/ 323 w 791"/>
                  <a:gd name="T13" fmla="*/ 11 h 756"/>
                  <a:gd name="T14" fmla="*/ 784 w 791"/>
                  <a:gd name="T15" fmla="*/ 7 h 756"/>
                  <a:gd name="T16" fmla="*/ 784 w 791"/>
                  <a:gd name="T17" fmla="*/ 0 h 756"/>
                  <a:gd name="T18" fmla="*/ 323 w 791"/>
                  <a:gd name="T19" fmla="*/ 3 h 756"/>
                  <a:gd name="T20" fmla="*/ 4 w 791"/>
                  <a:gd name="T21" fmla="*/ 119 h 756"/>
                  <a:gd name="T22" fmla="*/ 0 w 791"/>
                  <a:gd name="T23" fmla="*/ 119 h 756"/>
                  <a:gd name="T24" fmla="*/ 0 w 791"/>
                  <a:gd name="T25" fmla="*/ 126 h 756"/>
                  <a:gd name="T26" fmla="*/ 549 w 791"/>
                  <a:gd name="T27" fmla="*/ 126 h 756"/>
                  <a:gd name="T28" fmla="*/ 780 w 791"/>
                  <a:gd name="T29" fmla="*/ 15 h 756"/>
                  <a:gd name="T30" fmla="*/ 784 w 791"/>
                  <a:gd name="T31" fmla="*/ 756 h 756"/>
                  <a:gd name="T32" fmla="*/ 791 w 791"/>
                  <a:gd name="T33" fmla="*/ 756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1" h="756">
                    <a:moveTo>
                      <a:pt x="791" y="756"/>
                    </a:moveTo>
                    <a:lnTo>
                      <a:pt x="787" y="7"/>
                    </a:lnTo>
                    <a:lnTo>
                      <a:pt x="787" y="3"/>
                    </a:lnTo>
                    <a:lnTo>
                      <a:pt x="784" y="3"/>
                    </a:lnTo>
                    <a:lnTo>
                      <a:pt x="549" y="119"/>
                    </a:lnTo>
                    <a:lnTo>
                      <a:pt x="27" y="119"/>
                    </a:lnTo>
                    <a:lnTo>
                      <a:pt x="323" y="11"/>
                    </a:lnTo>
                    <a:lnTo>
                      <a:pt x="784" y="7"/>
                    </a:lnTo>
                    <a:lnTo>
                      <a:pt x="784" y="0"/>
                    </a:lnTo>
                    <a:lnTo>
                      <a:pt x="323" y="3"/>
                    </a:lnTo>
                    <a:lnTo>
                      <a:pt x="4" y="119"/>
                    </a:lnTo>
                    <a:lnTo>
                      <a:pt x="0" y="119"/>
                    </a:lnTo>
                    <a:lnTo>
                      <a:pt x="0" y="126"/>
                    </a:lnTo>
                    <a:lnTo>
                      <a:pt x="549" y="126"/>
                    </a:lnTo>
                    <a:lnTo>
                      <a:pt x="780" y="15"/>
                    </a:lnTo>
                    <a:lnTo>
                      <a:pt x="784" y="756"/>
                    </a:lnTo>
                    <a:lnTo>
                      <a:pt x="791" y="756"/>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3" name="Freeform 317"/>
              <p:cNvSpPr/>
              <p:nvPr/>
            </p:nvSpPr>
            <p:spPr bwMode="auto">
              <a:xfrm>
                <a:off x="990" y="2803"/>
                <a:ext cx="787" cy="795"/>
              </a:xfrm>
              <a:custGeom>
                <a:avLst/>
                <a:gdLst>
                  <a:gd name="T0" fmla="*/ 0 w 787"/>
                  <a:gd name="T1" fmla="*/ 0 h 795"/>
                  <a:gd name="T2" fmla="*/ 0 w 787"/>
                  <a:gd name="T3" fmla="*/ 795 h 795"/>
                  <a:gd name="T4" fmla="*/ 542 w 787"/>
                  <a:gd name="T5" fmla="*/ 795 h 795"/>
                  <a:gd name="T6" fmla="*/ 787 w 787"/>
                  <a:gd name="T7" fmla="*/ 653 h 795"/>
                  <a:gd name="T8" fmla="*/ 780 w 787"/>
                  <a:gd name="T9" fmla="*/ 645 h 795"/>
                  <a:gd name="T10" fmla="*/ 542 w 787"/>
                  <a:gd name="T11" fmla="*/ 787 h 795"/>
                  <a:gd name="T12" fmla="*/ 8 w 787"/>
                  <a:gd name="T13" fmla="*/ 787 h 795"/>
                  <a:gd name="T14" fmla="*/ 8 w 787"/>
                  <a:gd name="T15" fmla="*/ 0 h 795"/>
                  <a:gd name="T16" fmla="*/ 0 w 787"/>
                  <a:gd name="T17"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7" h="795">
                    <a:moveTo>
                      <a:pt x="0" y="0"/>
                    </a:moveTo>
                    <a:lnTo>
                      <a:pt x="0" y="795"/>
                    </a:lnTo>
                    <a:lnTo>
                      <a:pt x="542" y="795"/>
                    </a:lnTo>
                    <a:lnTo>
                      <a:pt x="787" y="653"/>
                    </a:lnTo>
                    <a:lnTo>
                      <a:pt x="780" y="645"/>
                    </a:lnTo>
                    <a:lnTo>
                      <a:pt x="542" y="787"/>
                    </a:lnTo>
                    <a:lnTo>
                      <a:pt x="8" y="787"/>
                    </a:lnTo>
                    <a:lnTo>
                      <a:pt x="8"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4" name="Rectangle 318"/>
              <p:cNvSpPr>
                <a:spLocks noChangeArrowheads="1"/>
              </p:cNvSpPr>
              <p:nvPr/>
            </p:nvSpPr>
            <p:spPr bwMode="auto">
              <a:xfrm>
                <a:off x="1536" y="2803"/>
                <a:ext cx="7" cy="77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35" name="Rectangle 319"/>
              <p:cNvSpPr>
                <a:spLocks noChangeArrowheads="1"/>
              </p:cNvSpPr>
              <p:nvPr/>
            </p:nvSpPr>
            <p:spPr bwMode="auto">
              <a:xfrm>
                <a:off x="1305" y="2472"/>
                <a:ext cx="8" cy="22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36" name="Freeform 320"/>
              <p:cNvSpPr/>
              <p:nvPr/>
            </p:nvSpPr>
            <p:spPr bwMode="auto">
              <a:xfrm>
                <a:off x="1294" y="2472"/>
                <a:ext cx="30" cy="27"/>
              </a:xfrm>
              <a:custGeom>
                <a:avLst/>
                <a:gdLst>
                  <a:gd name="T0" fmla="*/ 0 w 30"/>
                  <a:gd name="T1" fmla="*/ 27 h 27"/>
                  <a:gd name="T2" fmla="*/ 15 w 30"/>
                  <a:gd name="T3" fmla="*/ 0 h 27"/>
                  <a:gd name="T4" fmla="*/ 30 w 30"/>
                  <a:gd name="T5" fmla="*/ 27 h 27"/>
                  <a:gd name="T6" fmla="*/ 15 w 30"/>
                  <a:gd name="T7" fmla="*/ 16 h 27"/>
                  <a:gd name="T8" fmla="*/ 0 w 30"/>
                  <a:gd name="T9" fmla="*/ 27 h 27"/>
                </a:gdLst>
                <a:ahLst/>
                <a:cxnLst>
                  <a:cxn ang="0">
                    <a:pos x="T0" y="T1"/>
                  </a:cxn>
                  <a:cxn ang="0">
                    <a:pos x="T2" y="T3"/>
                  </a:cxn>
                  <a:cxn ang="0">
                    <a:pos x="T4" y="T5"/>
                  </a:cxn>
                  <a:cxn ang="0">
                    <a:pos x="T6" y="T7"/>
                  </a:cxn>
                  <a:cxn ang="0">
                    <a:pos x="T8" y="T9"/>
                  </a:cxn>
                </a:cxnLst>
                <a:rect l="0" t="0" r="r" b="b"/>
                <a:pathLst>
                  <a:path w="30" h="27">
                    <a:moveTo>
                      <a:pt x="0" y="27"/>
                    </a:moveTo>
                    <a:lnTo>
                      <a:pt x="15" y="0"/>
                    </a:lnTo>
                    <a:lnTo>
                      <a:pt x="30" y="27"/>
                    </a:lnTo>
                    <a:lnTo>
                      <a:pt x="15" y="16"/>
                    </a:lnTo>
                    <a:lnTo>
                      <a:pt x="0" y="2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7" name="Freeform 321"/>
              <p:cNvSpPr/>
              <p:nvPr/>
            </p:nvSpPr>
            <p:spPr bwMode="auto">
              <a:xfrm>
                <a:off x="1282" y="2465"/>
                <a:ext cx="54" cy="50"/>
              </a:xfrm>
              <a:custGeom>
                <a:avLst/>
                <a:gdLst>
                  <a:gd name="T0" fmla="*/ 23 w 54"/>
                  <a:gd name="T1" fmla="*/ 19 h 50"/>
                  <a:gd name="T2" fmla="*/ 27 w 54"/>
                  <a:gd name="T3" fmla="*/ 15 h 50"/>
                  <a:gd name="T4" fmla="*/ 31 w 54"/>
                  <a:gd name="T5" fmla="*/ 19 h 50"/>
                  <a:gd name="T6" fmla="*/ 27 w 54"/>
                  <a:gd name="T7" fmla="*/ 19 h 50"/>
                  <a:gd name="T8" fmla="*/ 23 w 54"/>
                  <a:gd name="T9" fmla="*/ 19 h 50"/>
                  <a:gd name="T10" fmla="*/ 0 w 54"/>
                  <a:gd name="T11" fmla="*/ 50 h 50"/>
                  <a:gd name="T12" fmla="*/ 27 w 54"/>
                  <a:gd name="T13" fmla="*/ 27 h 50"/>
                  <a:gd name="T14" fmla="*/ 54 w 54"/>
                  <a:gd name="T15" fmla="*/ 50 h 50"/>
                  <a:gd name="T16" fmla="*/ 27 w 54"/>
                  <a:gd name="T17" fmla="*/ 0 h 50"/>
                  <a:gd name="T18" fmla="*/ 0 w 54"/>
                  <a:gd name="T19" fmla="*/ 50 h 50"/>
                  <a:gd name="T20" fmla="*/ 23 w 54"/>
                  <a:gd name="T21" fmla="*/ 1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50">
                    <a:moveTo>
                      <a:pt x="23" y="19"/>
                    </a:moveTo>
                    <a:lnTo>
                      <a:pt x="27" y="15"/>
                    </a:lnTo>
                    <a:lnTo>
                      <a:pt x="31" y="19"/>
                    </a:lnTo>
                    <a:lnTo>
                      <a:pt x="27" y="19"/>
                    </a:lnTo>
                    <a:lnTo>
                      <a:pt x="23" y="19"/>
                    </a:lnTo>
                    <a:lnTo>
                      <a:pt x="0" y="50"/>
                    </a:lnTo>
                    <a:lnTo>
                      <a:pt x="27" y="27"/>
                    </a:lnTo>
                    <a:lnTo>
                      <a:pt x="54" y="50"/>
                    </a:lnTo>
                    <a:lnTo>
                      <a:pt x="27" y="0"/>
                    </a:lnTo>
                    <a:lnTo>
                      <a:pt x="0" y="50"/>
                    </a:lnTo>
                    <a:lnTo>
                      <a:pt x="23" y="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8" name="Freeform 322"/>
              <p:cNvSpPr/>
              <p:nvPr/>
            </p:nvSpPr>
            <p:spPr bwMode="auto">
              <a:xfrm>
                <a:off x="864" y="3594"/>
                <a:ext cx="115" cy="57"/>
              </a:xfrm>
              <a:custGeom>
                <a:avLst/>
                <a:gdLst>
                  <a:gd name="T0" fmla="*/ 115 w 115"/>
                  <a:gd name="T1" fmla="*/ 0 h 57"/>
                  <a:gd name="T2" fmla="*/ 0 w 115"/>
                  <a:gd name="T3" fmla="*/ 50 h 57"/>
                  <a:gd name="T4" fmla="*/ 0 w 115"/>
                  <a:gd name="T5" fmla="*/ 57 h 57"/>
                  <a:gd name="T6" fmla="*/ 115 w 115"/>
                  <a:gd name="T7" fmla="*/ 7 h 57"/>
                  <a:gd name="T8" fmla="*/ 115 w 115"/>
                  <a:gd name="T9" fmla="*/ 0 h 57"/>
                </a:gdLst>
                <a:ahLst/>
                <a:cxnLst>
                  <a:cxn ang="0">
                    <a:pos x="T0" y="T1"/>
                  </a:cxn>
                  <a:cxn ang="0">
                    <a:pos x="T2" y="T3"/>
                  </a:cxn>
                  <a:cxn ang="0">
                    <a:pos x="T4" y="T5"/>
                  </a:cxn>
                  <a:cxn ang="0">
                    <a:pos x="T6" y="T7"/>
                  </a:cxn>
                  <a:cxn ang="0">
                    <a:pos x="T8" y="T9"/>
                  </a:cxn>
                </a:cxnLst>
                <a:rect l="0" t="0" r="r" b="b"/>
                <a:pathLst>
                  <a:path w="115" h="57">
                    <a:moveTo>
                      <a:pt x="115" y="0"/>
                    </a:moveTo>
                    <a:lnTo>
                      <a:pt x="0" y="50"/>
                    </a:lnTo>
                    <a:lnTo>
                      <a:pt x="0" y="57"/>
                    </a:lnTo>
                    <a:lnTo>
                      <a:pt x="115" y="7"/>
                    </a:lnTo>
                    <a:lnTo>
                      <a:pt x="1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39" name="Freeform 323"/>
              <p:cNvSpPr/>
              <p:nvPr/>
            </p:nvSpPr>
            <p:spPr bwMode="auto">
              <a:xfrm>
                <a:off x="864" y="3625"/>
                <a:ext cx="31" cy="26"/>
              </a:xfrm>
              <a:custGeom>
                <a:avLst/>
                <a:gdLst>
                  <a:gd name="T0" fmla="*/ 31 w 31"/>
                  <a:gd name="T1" fmla="*/ 26 h 26"/>
                  <a:gd name="T2" fmla="*/ 0 w 31"/>
                  <a:gd name="T3" fmla="*/ 23 h 26"/>
                  <a:gd name="T4" fmla="*/ 19 w 31"/>
                  <a:gd name="T5" fmla="*/ 0 h 26"/>
                  <a:gd name="T6" fmla="*/ 11 w 31"/>
                  <a:gd name="T7" fmla="*/ 19 h 26"/>
                  <a:gd name="T8" fmla="*/ 31 w 31"/>
                  <a:gd name="T9" fmla="*/ 26 h 26"/>
                </a:gdLst>
                <a:ahLst/>
                <a:cxnLst>
                  <a:cxn ang="0">
                    <a:pos x="T0" y="T1"/>
                  </a:cxn>
                  <a:cxn ang="0">
                    <a:pos x="T2" y="T3"/>
                  </a:cxn>
                  <a:cxn ang="0">
                    <a:pos x="T4" y="T5"/>
                  </a:cxn>
                  <a:cxn ang="0">
                    <a:pos x="T6" y="T7"/>
                  </a:cxn>
                  <a:cxn ang="0">
                    <a:pos x="T8" y="T9"/>
                  </a:cxn>
                </a:cxnLst>
                <a:rect l="0" t="0" r="r" b="b"/>
                <a:pathLst>
                  <a:path w="31" h="26">
                    <a:moveTo>
                      <a:pt x="31" y="26"/>
                    </a:moveTo>
                    <a:lnTo>
                      <a:pt x="0" y="23"/>
                    </a:lnTo>
                    <a:lnTo>
                      <a:pt x="19" y="0"/>
                    </a:lnTo>
                    <a:lnTo>
                      <a:pt x="11" y="19"/>
                    </a:lnTo>
                    <a:lnTo>
                      <a:pt x="31" y="26"/>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40" name="Freeform 324"/>
              <p:cNvSpPr/>
              <p:nvPr/>
            </p:nvSpPr>
            <p:spPr bwMode="auto">
              <a:xfrm>
                <a:off x="856" y="3605"/>
                <a:ext cx="69" cy="54"/>
              </a:xfrm>
              <a:custGeom>
                <a:avLst/>
                <a:gdLst>
                  <a:gd name="T0" fmla="*/ 8 w 69"/>
                  <a:gd name="T1" fmla="*/ 39 h 54"/>
                  <a:gd name="T2" fmla="*/ 15 w 69"/>
                  <a:gd name="T3" fmla="*/ 39 h 54"/>
                  <a:gd name="T4" fmla="*/ 15 w 69"/>
                  <a:gd name="T5" fmla="*/ 43 h 54"/>
                  <a:gd name="T6" fmla="*/ 8 w 69"/>
                  <a:gd name="T7" fmla="*/ 39 h 54"/>
                  <a:gd name="T8" fmla="*/ 69 w 69"/>
                  <a:gd name="T9" fmla="*/ 54 h 54"/>
                  <a:gd name="T10" fmla="*/ 23 w 69"/>
                  <a:gd name="T11" fmla="*/ 35 h 54"/>
                  <a:gd name="T12" fmla="*/ 39 w 69"/>
                  <a:gd name="T13" fmla="*/ 0 h 54"/>
                  <a:gd name="T14" fmla="*/ 0 w 69"/>
                  <a:gd name="T15" fmla="*/ 46 h 54"/>
                  <a:gd name="T16" fmla="*/ 69 w 69"/>
                  <a:gd name="T17" fmla="*/ 54 h 54"/>
                  <a:gd name="T18" fmla="*/ 8 w 69"/>
                  <a:gd name="T19"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54">
                    <a:moveTo>
                      <a:pt x="8" y="39"/>
                    </a:moveTo>
                    <a:lnTo>
                      <a:pt x="15" y="39"/>
                    </a:lnTo>
                    <a:lnTo>
                      <a:pt x="15" y="43"/>
                    </a:lnTo>
                    <a:lnTo>
                      <a:pt x="8" y="39"/>
                    </a:lnTo>
                    <a:lnTo>
                      <a:pt x="69" y="54"/>
                    </a:lnTo>
                    <a:lnTo>
                      <a:pt x="23" y="35"/>
                    </a:lnTo>
                    <a:lnTo>
                      <a:pt x="39" y="0"/>
                    </a:lnTo>
                    <a:lnTo>
                      <a:pt x="0" y="46"/>
                    </a:lnTo>
                    <a:lnTo>
                      <a:pt x="69" y="54"/>
                    </a:lnTo>
                    <a:lnTo>
                      <a:pt x="8" y="3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41" name="Rectangle 325"/>
              <p:cNvSpPr>
                <a:spLocks noChangeArrowheads="1"/>
              </p:cNvSpPr>
              <p:nvPr/>
            </p:nvSpPr>
            <p:spPr bwMode="auto">
              <a:xfrm>
                <a:off x="1774" y="3448"/>
                <a:ext cx="14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42" name="Freeform 326"/>
              <p:cNvSpPr/>
              <p:nvPr/>
            </p:nvSpPr>
            <p:spPr bwMode="auto">
              <a:xfrm>
                <a:off x="1889" y="3440"/>
                <a:ext cx="30" cy="27"/>
              </a:xfrm>
              <a:custGeom>
                <a:avLst/>
                <a:gdLst>
                  <a:gd name="T0" fmla="*/ 0 w 30"/>
                  <a:gd name="T1" fmla="*/ 0 h 27"/>
                  <a:gd name="T2" fmla="*/ 30 w 30"/>
                  <a:gd name="T3" fmla="*/ 12 h 27"/>
                  <a:gd name="T4" fmla="*/ 0 w 30"/>
                  <a:gd name="T5" fmla="*/ 27 h 27"/>
                  <a:gd name="T6" fmla="*/ 15 w 30"/>
                  <a:gd name="T7" fmla="*/ 12 h 27"/>
                  <a:gd name="T8" fmla="*/ 0 w 30"/>
                  <a:gd name="T9" fmla="*/ 0 h 27"/>
                </a:gdLst>
                <a:ahLst/>
                <a:cxnLst>
                  <a:cxn ang="0">
                    <a:pos x="T0" y="T1"/>
                  </a:cxn>
                  <a:cxn ang="0">
                    <a:pos x="T2" y="T3"/>
                  </a:cxn>
                  <a:cxn ang="0">
                    <a:pos x="T4" y="T5"/>
                  </a:cxn>
                  <a:cxn ang="0">
                    <a:pos x="T6" y="T7"/>
                  </a:cxn>
                  <a:cxn ang="0">
                    <a:pos x="T8" y="T9"/>
                  </a:cxn>
                </a:cxnLst>
                <a:rect l="0" t="0" r="r" b="b"/>
                <a:pathLst>
                  <a:path w="30" h="27">
                    <a:moveTo>
                      <a:pt x="0" y="0"/>
                    </a:moveTo>
                    <a:lnTo>
                      <a:pt x="30" y="12"/>
                    </a:lnTo>
                    <a:lnTo>
                      <a:pt x="0" y="27"/>
                    </a:lnTo>
                    <a:lnTo>
                      <a:pt x="15" y="12"/>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43" name="Freeform 327"/>
              <p:cNvSpPr/>
              <p:nvPr/>
            </p:nvSpPr>
            <p:spPr bwMode="auto">
              <a:xfrm>
                <a:off x="1866" y="3429"/>
                <a:ext cx="61" cy="53"/>
              </a:xfrm>
              <a:custGeom>
                <a:avLst/>
                <a:gdLst>
                  <a:gd name="T0" fmla="*/ 46 w 61"/>
                  <a:gd name="T1" fmla="*/ 23 h 53"/>
                  <a:gd name="T2" fmla="*/ 42 w 61"/>
                  <a:gd name="T3" fmla="*/ 23 h 53"/>
                  <a:gd name="T4" fmla="*/ 46 w 61"/>
                  <a:gd name="T5" fmla="*/ 23 h 53"/>
                  <a:gd name="T6" fmla="*/ 0 w 61"/>
                  <a:gd name="T7" fmla="*/ 0 h 53"/>
                  <a:gd name="T8" fmla="*/ 30 w 61"/>
                  <a:gd name="T9" fmla="*/ 23 h 53"/>
                  <a:gd name="T10" fmla="*/ 3 w 61"/>
                  <a:gd name="T11" fmla="*/ 53 h 53"/>
                  <a:gd name="T12" fmla="*/ 61 w 61"/>
                  <a:gd name="T13" fmla="*/ 23 h 53"/>
                  <a:gd name="T14" fmla="*/ 0 w 61"/>
                  <a:gd name="T15" fmla="*/ 0 h 53"/>
                  <a:gd name="T16" fmla="*/ 46 w 61"/>
                  <a:gd name="T17" fmla="*/ 2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3">
                    <a:moveTo>
                      <a:pt x="46" y="23"/>
                    </a:moveTo>
                    <a:lnTo>
                      <a:pt x="42" y="23"/>
                    </a:lnTo>
                    <a:lnTo>
                      <a:pt x="46" y="23"/>
                    </a:lnTo>
                    <a:lnTo>
                      <a:pt x="0" y="0"/>
                    </a:lnTo>
                    <a:lnTo>
                      <a:pt x="30" y="23"/>
                    </a:lnTo>
                    <a:lnTo>
                      <a:pt x="3" y="53"/>
                    </a:lnTo>
                    <a:lnTo>
                      <a:pt x="61" y="23"/>
                    </a:lnTo>
                    <a:lnTo>
                      <a:pt x="0" y="0"/>
                    </a:lnTo>
                    <a:lnTo>
                      <a:pt x="46"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44" name="Rectangle 328"/>
              <p:cNvSpPr>
                <a:spLocks noChangeArrowheads="1"/>
              </p:cNvSpPr>
              <p:nvPr/>
            </p:nvSpPr>
            <p:spPr bwMode="auto">
              <a:xfrm>
                <a:off x="764" y="3578"/>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a</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7545" name="Rectangle 329"/>
              <p:cNvSpPr>
                <a:spLocks noChangeArrowheads="1"/>
              </p:cNvSpPr>
              <p:nvPr/>
            </p:nvSpPr>
            <p:spPr bwMode="auto">
              <a:xfrm>
                <a:off x="1225" y="3651"/>
                <a:ext cx="1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P</a:t>
                </a:r>
                <a:endParaRPr lang="en-US" altLang="zh-CN" sz="2400" b="0">
                  <a:effectLst>
                    <a:outerShdw blurRad="38100" dist="38100" dir="2700000" algn="tl">
                      <a:srgbClr val="000000"/>
                    </a:outerShdw>
                  </a:effectLst>
                </a:endParaRPr>
              </a:p>
            </p:txBody>
          </p:sp>
          <p:sp>
            <p:nvSpPr>
              <p:cNvPr id="137546" name="Rectangle 330"/>
              <p:cNvSpPr>
                <a:spLocks noChangeArrowheads="1"/>
              </p:cNvSpPr>
              <p:nvPr/>
            </p:nvSpPr>
            <p:spPr bwMode="auto">
              <a:xfrm>
                <a:off x="2445" y="3861"/>
                <a:ext cx="91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t>Orthorhombic</a:t>
                </a:r>
                <a:endParaRPr lang="en-US" altLang="zh-CN" sz="2400">
                  <a:effectLst>
                    <a:outerShdw blurRad="38100" dist="38100" dir="2700000" algn="tl">
                      <a:srgbClr val="000000"/>
                    </a:outerShdw>
                  </a:effectLst>
                </a:endParaRPr>
              </a:p>
            </p:txBody>
          </p:sp>
          <p:sp>
            <p:nvSpPr>
              <p:cNvPr id="137547" name="Rectangle 331"/>
              <p:cNvSpPr>
                <a:spLocks noChangeArrowheads="1"/>
              </p:cNvSpPr>
              <p:nvPr/>
            </p:nvSpPr>
            <p:spPr bwMode="auto">
              <a:xfrm>
                <a:off x="2073" y="4010"/>
                <a:ext cx="26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a = </a:t>
                </a:r>
                <a:endParaRPr lang="en-US" altLang="zh-CN" sz="2400" b="0">
                  <a:effectLst>
                    <a:outerShdw blurRad="38100" dist="38100" dir="2700000" algn="tl">
                      <a:srgbClr val="000000"/>
                    </a:outerShdw>
                  </a:effectLst>
                </a:endParaRPr>
              </a:p>
            </p:txBody>
          </p:sp>
          <p:sp>
            <p:nvSpPr>
              <p:cNvPr id="137548" name="Rectangle 332"/>
              <p:cNvSpPr>
                <a:spLocks noChangeArrowheads="1"/>
              </p:cNvSpPr>
              <p:nvPr/>
            </p:nvSpPr>
            <p:spPr bwMode="auto">
              <a:xfrm>
                <a:off x="2342" y="4010"/>
                <a:ext cx="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b</a:t>
                </a:r>
                <a:endParaRPr lang="en-US" altLang="zh-CN" sz="2400" b="0">
                  <a:effectLst>
                    <a:outerShdw blurRad="38100" dist="38100" dir="2700000" algn="tl">
                      <a:srgbClr val="000000"/>
                    </a:outerShdw>
                  </a:effectLst>
                </a:endParaRPr>
              </a:p>
            </p:txBody>
          </p:sp>
          <p:sp>
            <p:nvSpPr>
              <p:cNvPr id="137549" name="Rectangle 333"/>
              <p:cNvSpPr>
                <a:spLocks noChangeArrowheads="1"/>
              </p:cNvSpPr>
              <p:nvPr/>
            </p:nvSpPr>
            <p:spPr bwMode="auto">
              <a:xfrm>
                <a:off x="2430" y="4010"/>
                <a:ext cx="1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 </a:t>
                </a:r>
                <a:endParaRPr lang="en-US" altLang="zh-CN" sz="2400" b="0">
                  <a:effectLst>
                    <a:outerShdw blurRad="38100" dist="38100" dir="2700000" algn="tl">
                      <a:srgbClr val="000000"/>
                    </a:outerShdw>
                  </a:effectLst>
                </a:endParaRPr>
              </a:p>
            </p:txBody>
          </p:sp>
          <p:sp>
            <p:nvSpPr>
              <p:cNvPr id="137550" name="Rectangle 334"/>
              <p:cNvSpPr>
                <a:spLocks noChangeArrowheads="1"/>
              </p:cNvSpPr>
              <p:nvPr/>
            </p:nvSpPr>
            <p:spPr bwMode="auto">
              <a:xfrm>
                <a:off x="2595" y="4010"/>
                <a:ext cx="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g</a:t>
                </a:r>
                <a:endParaRPr lang="en-US" altLang="zh-CN" sz="2400" b="0">
                  <a:effectLst>
                    <a:outerShdw blurRad="38100" dist="38100" dir="2700000" algn="tl">
                      <a:srgbClr val="000000"/>
                    </a:outerShdw>
                  </a:effectLst>
                </a:endParaRPr>
              </a:p>
            </p:txBody>
          </p:sp>
          <p:sp>
            <p:nvSpPr>
              <p:cNvPr id="137551" name="Rectangle 335"/>
              <p:cNvSpPr>
                <a:spLocks noChangeArrowheads="1"/>
              </p:cNvSpPr>
              <p:nvPr/>
            </p:nvSpPr>
            <p:spPr bwMode="auto">
              <a:xfrm>
                <a:off x="2660" y="4010"/>
                <a:ext cx="3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 90</a:t>
                </a:r>
                <a:endParaRPr lang="en-US" altLang="zh-CN" sz="2400" b="0">
                  <a:effectLst>
                    <a:outerShdw blurRad="38100" dist="38100" dir="2700000" algn="tl">
                      <a:srgbClr val="000000"/>
                    </a:outerShdw>
                  </a:effectLst>
                </a:endParaRPr>
              </a:p>
            </p:txBody>
          </p:sp>
          <p:sp>
            <p:nvSpPr>
              <p:cNvPr id="137552" name="Rectangle 336"/>
              <p:cNvSpPr>
                <a:spLocks noChangeArrowheads="1"/>
              </p:cNvSpPr>
              <p:nvPr/>
            </p:nvSpPr>
            <p:spPr bwMode="auto">
              <a:xfrm>
                <a:off x="2990" y="4030"/>
                <a:ext cx="10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Symbol" panose="05050102010706020507" pitchFamily="18" charset="2"/>
                  </a:rPr>
                  <a:t>o  </a:t>
                </a:r>
                <a:endParaRPr lang="en-US" altLang="zh-CN" sz="2400" b="0">
                  <a:effectLst>
                    <a:outerShdw blurRad="38100" dist="38100" dir="2700000" algn="tl">
                      <a:srgbClr val="000000"/>
                    </a:outerShdw>
                  </a:effectLst>
                </a:endParaRPr>
              </a:p>
            </p:txBody>
          </p:sp>
          <p:sp>
            <p:nvSpPr>
              <p:cNvPr id="137553" name="Rectangle 337"/>
              <p:cNvSpPr>
                <a:spLocks noChangeArrowheads="1"/>
              </p:cNvSpPr>
              <p:nvPr/>
            </p:nvSpPr>
            <p:spPr bwMode="auto">
              <a:xfrm>
                <a:off x="3121" y="4026"/>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a</a:t>
                </a:r>
                <a:endParaRPr lang="en-US" altLang="zh-CN" sz="2400" b="0">
                  <a:effectLst>
                    <a:outerShdw blurRad="38100" dist="38100" dir="2700000" algn="tl">
                      <a:srgbClr val="000000"/>
                    </a:outerShdw>
                  </a:effectLst>
                </a:endParaRPr>
              </a:p>
            </p:txBody>
          </p:sp>
          <p:sp>
            <p:nvSpPr>
              <p:cNvPr id="137554" name="Rectangle 338"/>
              <p:cNvSpPr>
                <a:spLocks noChangeArrowheads="1"/>
              </p:cNvSpPr>
              <p:nvPr/>
            </p:nvSpPr>
            <p:spPr bwMode="auto">
              <a:xfrm>
                <a:off x="3209" y="401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a:t>
                </a:r>
                <a:endParaRPr lang="en-US" altLang="zh-CN" sz="2400" b="0">
                  <a:effectLst>
                    <a:outerShdw blurRad="38100" dist="38100" dir="2700000" algn="tl">
                      <a:srgbClr val="000000"/>
                    </a:outerShdw>
                  </a:effectLst>
                </a:endParaRPr>
              </a:p>
            </p:txBody>
          </p:sp>
          <p:sp>
            <p:nvSpPr>
              <p:cNvPr id="137555" name="Rectangle 339"/>
              <p:cNvSpPr>
                <a:spLocks noChangeArrowheads="1"/>
              </p:cNvSpPr>
              <p:nvPr/>
            </p:nvSpPr>
            <p:spPr bwMode="auto">
              <a:xfrm>
                <a:off x="3248" y="4010"/>
                <a:ext cx="1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¹ </a:t>
                </a:r>
                <a:endParaRPr lang="en-US" altLang="zh-CN" sz="2400" b="0">
                  <a:effectLst>
                    <a:outerShdw blurRad="38100" dist="38100" dir="2700000" algn="tl">
                      <a:srgbClr val="000000"/>
                    </a:outerShdw>
                  </a:effectLst>
                </a:endParaRPr>
              </a:p>
            </p:txBody>
          </p:sp>
          <p:sp>
            <p:nvSpPr>
              <p:cNvPr id="137556" name="Rectangle 340"/>
              <p:cNvSpPr>
                <a:spLocks noChangeArrowheads="1"/>
              </p:cNvSpPr>
              <p:nvPr/>
            </p:nvSpPr>
            <p:spPr bwMode="auto">
              <a:xfrm>
                <a:off x="3374" y="4026"/>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b</a:t>
                </a:r>
                <a:endParaRPr lang="en-US" altLang="zh-CN" sz="2400" b="0">
                  <a:effectLst>
                    <a:outerShdw blurRad="38100" dist="38100" dir="2700000" algn="tl">
                      <a:srgbClr val="000000"/>
                    </a:outerShdw>
                  </a:effectLst>
                </a:endParaRPr>
              </a:p>
            </p:txBody>
          </p:sp>
          <p:sp>
            <p:nvSpPr>
              <p:cNvPr id="137557" name="Rectangle 341"/>
              <p:cNvSpPr>
                <a:spLocks noChangeArrowheads="1"/>
              </p:cNvSpPr>
              <p:nvPr/>
            </p:nvSpPr>
            <p:spPr bwMode="auto">
              <a:xfrm>
                <a:off x="3466" y="401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a:t>
                </a:r>
                <a:endParaRPr lang="en-US" altLang="zh-CN" sz="2400" b="0">
                  <a:effectLst>
                    <a:outerShdw blurRad="38100" dist="38100" dir="2700000" algn="tl">
                      <a:srgbClr val="000000"/>
                    </a:outerShdw>
                  </a:effectLst>
                </a:endParaRPr>
              </a:p>
            </p:txBody>
          </p:sp>
          <p:sp>
            <p:nvSpPr>
              <p:cNvPr id="137558" name="Rectangle 342"/>
              <p:cNvSpPr>
                <a:spLocks noChangeArrowheads="1"/>
              </p:cNvSpPr>
              <p:nvPr/>
            </p:nvSpPr>
            <p:spPr bwMode="auto">
              <a:xfrm>
                <a:off x="3505" y="4010"/>
                <a:ext cx="1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¹ </a:t>
                </a:r>
                <a:endParaRPr lang="en-US" altLang="zh-CN" sz="2400" b="0">
                  <a:effectLst>
                    <a:outerShdw blurRad="38100" dist="38100" dir="2700000" algn="tl">
                      <a:srgbClr val="000000"/>
                    </a:outerShdw>
                  </a:effectLst>
                </a:endParaRPr>
              </a:p>
            </p:txBody>
          </p:sp>
          <p:sp>
            <p:nvSpPr>
              <p:cNvPr id="137559" name="Rectangle 343"/>
              <p:cNvSpPr>
                <a:spLocks noChangeArrowheads="1"/>
              </p:cNvSpPr>
              <p:nvPr/>
            </p:nvSpPr>
            <p:spPr bwMode="auto">
              <a:xfrm>
                <a:off x="3631" y="4026"/>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c</a:t>
                </a:r>
                <a:endParaRPr lang="en-US" altLang="zh-CN" sz="2400" b="0">
                  <a:effectLst>
                    <a:outerShdw blurRad="38100" dist="38100" dir="2700000" algn="tl">
                      <a:srgbClr val="000000"/>
                    </a:outerShdw>
                  </a:effectLst>
                </a:endParaRPr>
              </a:p>
            </p:txBody>
          </p:sp>
          <p:sp>
            <p:nvSpPr>
              <p:cNvPr id="137560" name="Rectangle 344"/>
              <p:cNvSpPr>
                <a:spLocks noChangeArrowheads="1"/>
              </p:cNvSpPr>
              <p:nvPr/>
            </p:nvSpPr>
            <p:spPr bwMode="auto">
              <a:xfrm>
                <a:off x="2311" y="3651"/>
                <a:ext cx="1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C</a:t>
                </a:r>
                <a:endParaRPr lang="en-US" altLang="zh-CN" sz="2400" b="0">
                  <a:effectLst>
                    <a:outerShdw blurRad="38100" dist="38100" dir="2700000" algn="tl">
                      <a:srgbClr val="000000"/>
                    </a:outerShdw>
                  </a:effectLst>
                </a:endParaRPr>
              </a:p>
            </p:txBody>
          </p:sp>
          <p:sp>
            <p:nvSpPr>
              <p:cNvPr id="137561" name="Freeform 345"/>
              <p:cNvSpPr/>
              <p:nvPr/>
            </p:nvSpPr>
            <p:spPr bwMode="auto">
              <a:xfrm>
                <a:off x="2023" y="2691"/>
                <a:ext cx="775" cy="903"/>
              </a:xfrm>
              <a:custGeom>
                <a:avLst/>
                <a:gdLst>
                  <a:gd name="T0" fmla="*/ 311 w 775"/>
                  <a:gd name="T1" fmla="*/ 4 h 903"/>
                  <a:gd name="T2" fmla="*/ 0 w 775"/>
                  <a:gd name="T3" fmla="*/ 112 h 903"/>
                  <a:gd name="T4" fmla="*/ 0 w 775"/>
                  <a:gd name="T5" fmla="*/ 899 h 903"/>
                  <a:gd name="T6" fmla="*/ 545 w 775"/>
                  <a:gd name="T7" fmla="*/ 903 h 903"/>
                  <a:gd name="T8" fmla="*/ 775 w 775"/>
                  <a:gd name="T9" fmla="*/ 757 h 903"/>
                  <a:gd name="T10" fmla="*/ 775 w 775"/>
                  <a:gd name="T11" fmla="*/ 0 h 903"/>
                  <a:gd name="T12" fmla="*/ 311 w 775"/>
                  <a:gd name="T13" fmla="*/ 4 h 903"/>
                </a:gdLst>
                <a:ahLst/>
                <a:cxnLst>
                  <a:cxn ang="0">
                    <a:pos x="T0" y="T1"/>
                  </a:cxn>
                  <a:cxn ang="0">
                    <a:pos x="T2" y="T3"/>
                  </a:cxn>
                  <a:cxn ang="0">
                    <a:pos x="T4" y="T5"/>
                  </a:cxn>
                  <a:cxn ang="0">
                    <a:pos x="T6" y="T7"/>
                  </a:cxn>
                  <a:cxn ang="0">
                    <a:pos x="T8" y="T9"/>
                  </a:cxn>
                  <a:cxn ang="0">
                    <a:pos x="T10" y="T11"/>
                  </a:cxn>
                  <a:cxn ang="0">
                    <a:pos x="T12" y="T13"/>
                  </a:cxn>
                </a:cxnLst>
                <a:rect l="0" t="0" r="r" b="b"/>
                <a:pathLst>
                  <a:path w="775" h="903">
                    <a:moveTo>
                      <a:pt x="311" y="4"/>
                    </a:moveTo>
                    <a:lnTo>
                      <a:pt x="0" y="112"/>
                    </a:lnTo>
                    <a:lnTo>
                      <a:pt x="0" y="899"/>
                    </a:lnTo>
                    <a:lnTo>
                      <a:pt x="545" y="903"/>
                    </a:lnTo>
                    <a:lnTo>
                      <a:pt x="775" y="757"/>
                    </a:lnTo>
                    <a:lnTo>
                      <a:pt x="775" y="0"/>
                    </a:lnTo>
                    <a:lnTo>
                      <a:pt x="311" y="4"/>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62" name="Rectangle 346"/>
              <p:cNvSpPr>
                <a:spLocks noChangeArrowheads="1"/>
              </p:cNvSpPr>
              <p:nvPr/>
            </p:nvSpPr>
            <p:spPr bwMode="auto">
              <a:xfrm>
                <a:off x="2756"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63" name="Rectangle 347"/>
              <p:cNvSpPr>
                <a:spLocks noChangeArrowheads="1"/>
              </p:cNvSpPr>
              <p:nvPr/>
            </p:nvSpPr>
            <p:spPr bwMode="auto">
              <a:xfrm>
                <a:off x="2725"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64" name="Rectangle 348"/>
              <p:cNvSpPr>
                <a:spLocks noChangeArrowheads="1"/>
              </p:cNvSpPr>
              <p:nvPr/>
            </p:nvSpPr>
            <p:spPr bwMode="auto">
              <a:xfrm>
                <a:off x="2695"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65" name="Rectangle 349"/>
              <p:cNvSpPr>
                <a:spLocks noChangeArrowheads="1"/>
              </p:cNvSpPr>
              <p:nvPr/>
            </p:nvSpPr>
            <p:spPr bwMode="auto">
              <a:xfrm>
                <a:off x="2664"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66" name="Rectangle 350"/>
              <p:cNvSpPr>
                <a:spLocks noChangeArrowheads="1"/>
              </p:cNvSpPr>
              <p:nvPr/>
            </p:nvSpPr>
            <p:spPr bwMode="auto">
              <a:xfrm>
                <a:off x="2633"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67" name="Rectangle 351"/>
              <p:cNvSpPr>
                <a:spLocks noChangeArrowheads="1"/>
              </p:cNvSpPr>
              <p:nvPr/>
            </p:nvSpPr>
            <p:spPr bwMode="auto">
              <a:xfrm>
                <a:off x="2603"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68" name="Rectangle 352"/>
              <p:cNvSpPr>
                <a:spLocks noChangeArrowheads="1"/>
              </p:cNvSpPr>
              <p:nvPr/>
            </p:nvSpPr>
            <p:spPr bwMode="auto">
              <a:xfrm>
                <a:off x="2572"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69" name="Rectangle 353"/>
              <p:cNvSpPr>
                <a:spLocks noChangeArrowheads="1"/>
              </p:cNvSpPr>
              <p:nvPr/>
            </p:nvSpPr>
            <p:spPr bwMode="auto">
              <a:xfrm>
                <a:off x="2541"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0" name="Rectangle 354"/>
              <p:cNvSpPr>
                <a:spLocks noChangeArrowheads="1"/>
              </p:cNvSpPr>
              <p:nvPr/>
            </p:nvSpPr>
            <p:spPr bwMode="auto">
              <a:xfrm>
                <a:off x="2511"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1" name="Rectangle 355"/>
              <p:cNvSpPr>
                <a:spLocks noChangeArrowheads="1"/>
              </p:cNvSpPr>
              <p:nvPr/>
            </p:nvSpPr>
            <p:spPr bwMode="auto">
              <a:xfrm>
                <a:off x="2480"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2" name="Rectangle 356"/>
              <p:cNvSpPr>
                <a:spLocks noChangeArrowheads="1"/>
              </p:cNvSpPr>
              <p:nvPr/>
            </p:nvSpPr>
            <p:spPr bwMode="auto">
              <a:xfrm>
                <a:off x="2449"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3" name="Rectangle 357"/>
              <p:cNvSpPr>
                <a:spLocks noChangeArrowheads="1"/>
              </p:cNvSpPr>
              <p:nvPr/>
            </p:nvSpPr>
            <p:spPr bwMode="auto">
              <a:xfrm>
                <a:off x="2418" y="3448"/>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4" name="Rectangle 358"/>
              <p:cNvSpPr>
                <a:spLocks noChangeArrowheads="1"/>
              </p:cNvSpPr>
              <p:nvPr/>
            </p:nvSpPr>
            <p:spPr bwMode="auto">
              <a:xfrm>
                <a:off x="2388"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5" name="Rectangle 359"/>
              <p:cNvSpPr>
                <a:spLocks noChangeArrowheads="1"/>
              </p:cNvSpPr>
              <p:nvPr/>
            </p:nvSpPr>
            <p:spPr bwMode="auto">
              <a:xfrm>
                <a:off x="2357" y="3448"/>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6" name="Freeform 360"/>
              <p:cNvSpPr/>
              <p:nvPr/>
            </p:nvSpPr>
            <p:spPr bwMode="auto">
              <a:xfrm>
                <a:off x="2326" y="3448"/>
                <a:ext cx="16" cy="8"/>
              </a:xfrm>
              <a:custGeom>
                <a:avLst/>
                <a:gdLst>
                  <a:gd name="T0" fmla="*/ 16 w 16"/>
                  <a:gd name="T1" fmla="*/ 0 h 8"/>
                  <a:gd name="T2" fmla="*/ 8 w 16"/>
                  <a:gd name="T3" fmla="*/ 4 h 8"/>
                  <a:gd name="T4" fmla="*/ 8 w 16"/>
                  <a:gd name="T5" fmla="*/ 0 h 8"/>
                  <a:gd name="T6" fmla="*/ 0 w 16"/>
                  <a:gd name="T7" fmla="*/ 0 h 8"/>
                  <a:gd name="T8" fmla="*/ 0 w 16"/>
                  <a:gd name="T9" fmla="*/ 8 h 8"/>
                  <a:gd name="T10" fmla="*/ 16 w 16"/>
                  <a:gd name="T11" fmla="*/ 8 h 8"/>
                  <a:gd name="T12" fmla="*/ 16 w 16"/>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6" y="0"/>
                    </a:moveTo>
                    <a:lnTo>
                      <a:pt x="8" y="4"/>
                    </a:lnTo>
                    <a:lnTo>
                      <a:pt x="8" y="0"/>
                    </a:lnTo>
                    <a:lnTo>
                      <a:pt x="0" y="0"/>
                    </a:lnTo>
                    <a:lnTo>
                      <a:pt x="0" y="8"/>
                    </a:lnTo>
                    <a:lnTo>
                      <a:pt x="16"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577" name="Rectangle 361"/>
              <p:cNvSpPr>
                <a:spLocks noChangeArrowheads="1"/>
              </p:cNvSpPr>
              <p:nvPr/>
            </p:nvSpPr>
            <p:spPr bwMode="auto">
              <a:xfrm>
                <a:off x="2326" y="3417"/>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8" name="Rectangle 362"/>
              <p:cNvSpPr>
                <a:spLocks noChangeArrowheads="1"/>
              </p:cNvSpPr>
              <p:nvPr/>
            </p:nvSpPr>
            <p:spPr bwMode="auto">
              <a:xfrm>
                <a:off x="2326" y="338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79" name="Rectangle 363"/>
              <p:cNvSpPr>
                <a:spLocks noChangeArrowheads="1"/>
              </p:cNvSpPr>
              <p:nvPr/>
            </p:nvSpPr>
            <p:spPr bwMode="auto">
              <a:xfrm>
                <a:off x="2326" y="335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0" name="Rectangle 364"/>
              <p:cNvSpPr>
                <a:spLocks noChangeArrowheads="1"/>
              </p:cNvSpPr>
              <p:nvPr/>
            </p:nvSpPr>
            <p:spPr bwMode="auto">
              <a:xfrm>
                <a:off x="2326" y="332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1" name="Rectangle 365"/>
              <p:cNvSpPr>
                <a:spLocks noChangeArrowheads="1"/>
              </p:cNvSpPr>
              <p:nvPr/>
            </p:nvSpPr>
            <p:spPr bwMode="auto">
              <a:xfrm>
                <a:off x="2326" y="329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2" name="Rectangle 366"/>
              <p:cNvSpPr>
                <a:spLocks noChangeArrowheads="1"/>
              </p:cNvSpPr>
              <p:nvPr/>
            </p:nvSpPr>
            <p:spPr bwMode="auto">
              <a:xfrm>
                <a:off x="2326" y="326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3" name="Rectangle 367"/>
              <p:cNvSpPr>
                <a:spLocks noChangeArrowheads="1"/>
              </p:cNvSpPr>
              <p:nvPr/>
            </p:nvSpPr>
            <p:spPr bwMode="auto">
              <a:xfrm>
                <a:off x="2326" y="323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4" name="Rectangle 368"/>
              <p:cNvSpPr>
                <a:spLocks noChangeArrowheads="1"/>
              </p:cNvSpPr>
              <p:nvPr/>
            </p:nvSpPr>
            <p:spPr bwMode="auto">
              <a:xfrm>
                <a:off x="2326" y="320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5" name="Rectangle 369"/>
              <p:cNvSpPr>
                <a:spLocks noChangeArrowheads="1"/>
              </p:cNvSpPr>
              <p:nvPr/>
            </p:nvSpPr>
            <p:spPr bwMode="auto">
              <a:xfrm>
                <a:off x="2326" y="317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6" name="Rectangle 370"/>
              <p:cNvSpPr>
                <a:spLocks noChangeArrowheads="1"/>
              </p:cNvSpPr>
              <p:nvPr/>
            </p:nvSpPr>
            <p:spPr bwMode="auto">
              <a:xfrm>
                <a:off x="2326" y="314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7" name="Rectangle 371"/>
              <p:cNvSpPr>
                <a:spLocks noChangeArrowheads="1"/>
              </p:cNvSpPr>
              <p:nvPr/>
            </p:nvSpPr>
            <p:spPr bwMode="auto">
              <a:xfrm>
                <a:off x="2326" y="311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8" name="Rectangle 372"/>
              <p:cNvSpPr>
                <a:spLocks noChangeArrowheads="1"/>
              </p:cNvSpPr>
              <p:nvPr/>
            </p:nvSpPr>
            <p:spPr bwMode="auto">
              <a:xfrm>
                <a:off x="2326" y="307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89" name="Rectangle 373"/>
              <p:cNvSpPr>
                <a:spLocks noChangeArrowheads="1"/>
              </p:cNvSpPr>
              <p:nvPr/>
            </p:nvSpPr>
            <p:spPr bwMode="auto">
              <a:xfrm>
                <a:off x="2326" y="304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0" name="Rectangle 374"/>
              <p:cNvSpPr>
                <a:spLocks noChangeArrowheads="1"/>
              </p:cNvSpPr>
              <p:nvPr/>
            </p:nvSpPr>
            <p:spPr bwMode="auto">
              <a:xfrm>
                <a:off x="2326" y="3018"/>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1" name="Rectangle 375"/>
              <p:cNvSpPr>
                <a:spLocks noChangeArrowheads="1"/>
              </p:cNvSpPr>
              <p:nvPr/>
            </p:nvSpPr>
            <p:spPr bwMode="auto">
              <a:xfrm>
                <a:off x="2326" y="2987"/>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2" name="Rectangle 376"/>
              <p:cNvSpPr>
                <a:spLocks noChangeArrowheads="1"/>
              </p:cNvSpPr>
              <p:nvPr/>
            </p:nvSpPr>
            <p:spPr bwMode="auto">
              <a:xfrm>
                <a:off x="2326" y="295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3" name="Rectangle 377"/>
              <p:cNvSpPr>
                <a:spLocks noChangeArrowheads="1"/>
              </p:cNvSpPr>
              <p:nvPr/>
            </p:nvSpPr>
            <p:spPr bwMode="auto">
              <a:xfrm>
                <a:off x="2326" y="292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4" name="Rectangle 378"/>
              <p:cNvSpPr>
                <a:spLocks noChangeArrowheads="1"/>
              </p:cNvSpPr>
              <p:nvPr/>
            </p:nvSpPr>
            <p:spPr bwMode="auto">
              <a:xfrm>
                <a:off x="2326" y="289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5" name="Rectangle 379"/>
              <p:cNvSpPr>
                <a:spLocks noChangeArrowheads="1"/>
              </p:cNvSpPr>
              <p:nvPr/>
            </p:nvSpPr>
            <p:spPr bwMode="auto">
              <a:xfrm>
                <a:off x="2326" y="286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6" name="Rectangle 380"/>
              <p:cNvSpPr>
                <a:spLocks noChangeArrowheads="1"/>
              </p:cNvSpPr>
              <p:nvPr/>
            </p:nvSpPr>
            <p:spPr bwMode="auto">
              <a:xfrm>
                <a:off x="2326" y="283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7" name="Rectangle 381"/>
              <p:cNvSpPr>
                <a:spLocks noChangeArrowheads="1"/>
              </p:cNvSpPr>
              <p:nvPr/>
            </p:nvSpPr>
            <p:spPr bwMode="auto">
              <a:xfrm>
                <a:off x="2326" y="280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8" name="Rectangle 382"/>
              <p:cNvSpPr>
                <a:spLocks noChangeArrowheads="1"/>
              </p:cNvSpPr>
              <p:nvPr/>
            </p:nvSpPr>
            <p:spPr bwMode="auto">
              <a:xfrm>
                <a:off x="2326" y="277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599" name="Rectangle 383"/>
              <p:cNvSpPr>
                <a:spLocks noChangeArrowheads="1"/>
              </p:cNvSpPr>
              <p:nvPr/>
            </p:nvSpPr>
            <p:spPr bwMode="auto">
              <a:xfrm>
                <a:off x="2326" y="274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00" name="Rectangle 384"/>
              <p:cNvSpPr>
                <a:spLocks noChangeArrowheads="1"/>
              </p:cNvSpPr>
              <p:nvPr/>
            </p:nvSpPr>
            <p:spPr bwMode="auto">
              <a:xfrm>
                <a:off x="2326" y="271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01" name="Rectangle 385"/>
              <p:cNvSpPr>
                <a:spLocks noChangeArrowheads="1"/>
              </p:cNvSpPr>
              <p:nvPr/>
            </p:nvSpPr>
            <p:spPr bwMode="auto">
              <a:xfrm>
                <a:off x="2326" y="2691"/>
                <a:ext cx="8" cy="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02" name="Freeform 386"/>
              <p:cNvSpPr/>
              <p:nvPr/>
            </p:nvSpPr>
            <p:spPr bwMode="auto">
              <a:xfrm>
                <a:off x="2299" y="3452"/>
                <a:ext cx="16" cy="15"/>
              </a:xfrm>
              <a:custGeom>
                <a:avLst/>
                <a:gdLst>
                  <a:gd name="T0" fmla="*/ 16 w 16"/>
                  <a:gd name="T1" fmla="*/ 0 h 15"/>
                  <a:gd name="T2" fmla="*/ 0 w 16"/>
                  <a:gd name="T3" fmla="*/ 7 h 15"/>
                  <a:gd name="T4" fmla="*/ 4 w 16"/>
                  <a:gd name="T5" fmla="*/ 15 h 15"/>
                  <a:gd name="T6" fmla="*/ 16 w 16"/>
                  <a:gd name="T7" fmla="*/ 7 h 15"/>
                  <a:gd name="T8" fmla="*/ 16 w 16"/>
                  <a:gd name="T9" fmla="*/ 0 h 15"/>
                </a:gdLst>
                <a:ahLst/>
                <a:cxnLst>
                  <a:cxn ang="0">
                    <a:pos x="T0" y="T1"/>
                  </a:cxn>
                  <a:cxn ang="0">
                    <a:pos x="T2" y="T3"/>
                  </a:cxn>
                  <a:cxn ang="0">
                    <a:pos x="T4" y="T5"/>
                  </a:cxn>
                  <a:cxn ang="0">
                    <a:pos x="T6" y="T7"/>
                  </a:cxn>
                  <a:cxn ang="0">
                    <a:pos x="T8" y="T9"/>
                  </a:cxn>
                </a:cxnLst>
                <a:rect l="0" t="0" r="r" b="b"/>
                <a:pathLst>
                  <a:path w="16" h="15">
                    <a:moveTo>
                      <a:pt x="16" y="0"/>
                    </a:moveTo>
                    <a:lnTo>
                      <a:pt x="0" y="7"/>
                    </a:lnTo>
                    <a:lnTo>
                      <a:pt x="4" y="15"/>
                    </a:lnTo>
                    <a:lnTo>
                      <a:pt x="16" y="7"/>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03" name="Freeform 387"/>
              <p:cNvSpPr/>
              <p:nvPr/>
            </p:nvSpPr>
            <p:spPr bwMode="auto">
              <a:xfrm>
                <a:off x="2273" y="3463"/>
                <a:ext cx="15" cy="16"/>
              </a:xfrm>
              <a:custGeom>
                <a:avLst/>
                <a:gdLst>
                  <a:gd name="T0" fmla="*/ 11 w 15"/>
                  <a:gd name="T1" fmla="*/ 0 h 16"/>
                  <a:gd name="T2" fmla="*/ 0 w 15"/>
                  <a:gd name="T3" fmla="*/ 8 h 16"/>
                  <a:gd name="T4" fmla="*/ 0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0"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04" name="Freeform 388"/>
              <p:cNvSpPr/>
              <p:nvPr/>
            </p:nvSpPr>
            <p:spPr bwMode="auto">
              <a:xfrm>
                <a:off x="2242" y="3479"/>
                <a:ext cx="19" cy="11"/>
              </a:xfrm>
              <a:custGeom>
                <a:avLst/>
                <a:gdLst>
                  <a:gd name="T0" fmla="*/ 15 w 19"/>
                  <a:gd name="T1" fmla="*/ 0 h 11"/>
                  <a:gd name="T2" fmla="*/ 0 w 19"/>
                  <a:gd name="T3" fmla="*/ 3 h 11"/>
                  <a:gd name="T4" fmla="*/ 4 w 19"/>
                  <a:gd name="T5" fmla="*/ 11 h 11"/>
                  <a:gd name="T6" fmla="*/ 19 w 19"/>
                  <a:gd name="T7" fmla="*/ 7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3"/>
                    </a:lnTo>
                    <a:lnTo>
                      <a:pt x="4" y="11"/>
                    </a:lnTo>
                    <a:lnTo>
                      <a:pt x="19"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05" name="Freeform 389"/>
              <p:cNvSpPr/>
              <p:nvPr/>
            </p:nvSpPr>
            <p:spPr bwMode="auto">
              <a:xfrm>
                <a:off x="2215" y="3490"/>
                <a:ext cx="19" cy="15"/>
              </a:xfrm>
              <a:custGeom>
                <a:avLst/>
                <a:gdLst>
                  <a:gd name="T0" fmla="*/ 15 w 19"/>
                  <a:gd name="T1" fmla="*/ 0 h 15"/>
                  <a:gd name="T2" fmla="*/ 0 w 19"/>
                  <a:gd name="T3" fmla="*/ 8 h 15"/>
                  <a:gd name="T4" fmla="*/ 4 w 19"/>
                  <a:gd name="T5" fmla="*/ 15 h 15"/>
                  <a:gd name="T6" fmla="*/ 19 w 19"/>
                  <a:gd name="T7" fmla="*/ 8 h 15"/>
                  <a:gd name="T8" fmla="*/ 15 w 19"/>
                  <a:gd name="T9" fmla="*/ 0 h 15"/>
                </a:gdLst>
                <a:ahLst/>
                <a:cxnLst>
                  <a:cxn ang="0">
                    <a:pos x="T0" y="T1"/>
                  </a:cxn>
                  <a:cxn ang="0">
                    <a:pos x="T2" y="T3"/>
                  </a:cxn>
                  <a:cxn ang="0">
                    <a:pos x="T4" y="T5"/>
                  </a:cxn>
                  <a:cxn ang="0">
                    <a:pos x="T6" y="T7"/>
                  </a:cxn>
                  <a:cxn ang="0">
                    <a:pos x="T8" y="T9"/>
                  </a:cxn>
                </a:cxnLst>
                <a:rect l="0" t="0" r="r" b="b"/>
                <a:pathLst>
                  <a:path w="19" h="15">
                    <a:moveTo>
                      <a:pt x="15" y="0"/>
                    </a:moveTo>
                    <a:lnTo>
                      <a:pt x="0" y="8"/>
                    </a:lnTo>
                    <a:lnTo>
                      <a:pt x="4" y="15"/>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06" name="Freeform 390"/>
              <p:cNvSpPr/>
              <p:nvPr/>
            </p:nvSpPr>
            <p:spPr bwMode="auto">
              <a:xfrm>
                <a:off x="2188" y="3502"/>
                <a:ext cx="15" cy="15"/>
              </a:xfrm>
              <a:custGeom>
                <a:avLst/>
                <a:gdLst>
                  <a:gd name="T0" fmla="*/ 12 w 15"/>
                  <a:gd name="T1" fmla="*/ 0 h 15"/>
                  <a:gd name="T2" fmla="*/ 0 w 15"/>
                  <a:gd name="T3" fmla="*/ 7 h 15"/>
                  <a:gd name="T4" fmla="*/ 4 w 15"/>
                  <a:gd name="T5" fmla="*/ 15 h 15"/>
                  <a:gd name="T6" fmla="*/ 15 w 15"/>
                  <a:gd name="T7" fmla="*/ 7 h 15"/>
                  <a:gd name="T8" fmla="*/ 12 w 15"/>
                  <a:gd name="T9" fmla="*/ 0 h 15"/>
                </a:gdLst>
                <a:ahLst/>
                <a:cxnLst>
                  <a:cxn ang="0">
                    <a:pos x="T0" y="T1"/>
                  </a:cxn>
                  <a:cxn ang="0">
                    <a:pos x="T2" y="T3"/>
                  </a:cxn>
                  <a:cxn ang="0">
                    <a:pos x="T4" y="T5"/>
                  </a:cxn>
                  <a:cxn ang="0">
                    <a:pos x="T6" y="T7"/>
                  </a:cxn>
                  <a:cxn ang="0">
                    <a:pos x="T8" y="T9"/>
                  </a:cxn>
                </a:cxnLst>
                <a:rect l="0" t="0" r="r" b="b"/>
                <a:pathLst>
                  <a:path w="15" h="15">
                    <a:moveTo>
                      <a:pt x="12" y="0"/>
                    </a:moveTo>
                    <a:lnTo>
                      <a:pt x="0" y="7"/>
                    </a:lnTo>
                    <a:lnTo>
                      <a:pt x="4" y="15"/>
                    </a:lnTo>
                    <a:lnTo>
                      <a:pt x="15" y="7"/>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07" name="Freeform 391"/>
              <p:cNvSpPr/>
              <p:nvPr/>
            </p:nvSpPr>
            <p:spPr bwMode="auto">
              <a:xfrm>
                <a:off x="2161" y="3517"/>
                <a:ext cx="16" cy="12"/>
              </a:xfrm>
              <a:custGeom>
                <a:avLst/>
                <a:gdLst>
                  <a:gd name="T0" fmla="*/ 12 w 16"/>
                  <a:gd name="T1" fmla="*/ 0 h 12"/>
                  <a:gd name="T2" fmla="*/ 0 w 16"/>
                  <a:gd name="T3" fmla="*/ 4 h 12"/>
                  <a:gd name="T4" fmla="*/ 0 w 16"/>
                  <a:gd name="T5" fmla="*/ 12 h 12"/>
                  <a:gd name="T6" fmla="*/ 16 w 16"/>
                  <a:gd name="T7" fmla="*/ 8 h 12"/>
                  <a:gd name="T8" fmla="*/ 12 w 16"/>
                  <a:gd name="T9" fmla="*/ 0 h 12"/>
                </a:gdLst>
                <a:ahLst/>
                <a:cxnLst>
                  <a:cxn ang="0">
                    <a:pos x="T0" y="T1"/>
                  </a:cxn>
                  <a:cxn ang="0">
                    <a:pos x="T2" y="T3"/>
                  </a:cxn>
                  <a:cxn ang="0">
                    <a:pos x="T4" y="T5"/>
                  </a:cxn>
                  <a:cxn ang="0">
                    <a:pos x="T6" y="T7"/>
                  </a:cxn>
                  <a:cxn ang="0">
                    <a:pos x="T8" y="T9"/>
                  </a:cxn>
                </a:cxnLst>
                <a:rect l="0" t="0" r="r" b="b"/>
                <a:pathLst>
                  <a:path w="16" h="12">
                    <a:moveTo>
                      <a:pt x="12" y="0"/>
                    </a:moveTo>
                    <a:lnTo>
                      <a:pt x="0" y="4"/>
                    </a:lnTo>
                    <a:lnTo>
                      <a:pt x="0" y="12"/>
                    </a:lnTo>
                    <a:lnTo>
                      <a:pt x="16"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08" name="Freeform 392"/>
              <p:cNvSpPr/>
              <p:nvPr/>
            </p:nvSpPr>
            <p:spPr bwMode="auto">
              <a:xfrm>
                <a:off x="2131" y="3529"/>
                <a:ext cx="19" cy="11"/>
              </a:xfrm>
              <a:custGeom>
                <a:avLst/>
                <a:gdLst>
                  <a:gd name="T0" fmla="*/ 15 w 19"/>
                  <a:gd name="T1" fmla="*/ 0 h 11"/>
                  <a:gd name="T2" fmla="*/ 0 w 19"/>
                  <a:gd name="T3" fmla="*/ 7 h 11"/>
                  <a:gd name="T4" fmla="*/ 3 w 19"/>
                  <a:gd name="T5" fmla="*/ 11 h 11"/>
                  <a:gd name="T6" fmla="*/ 19 w 19"/>
                  <a:gd name="T7" fmla="*/ 7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7"/>
                    </a:lnTo>
                    <a:lnTo>
                      <a:pt x="3" y="11"/>
                    </a:lnTo>
                    <a:lnTo>
                      <a:pt x="19"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09" name="Freeform 393"/>
              <p:cNvSpPr/>
              <p:nvPr/>
            </p:nvSpPr>
            <p:spPr bwMode="auto">
              <a:xfrm>
                <a:off x="2104" y="3540"/>
                <a:ext cx="15" cy="15"/>
              </a:xfrm>
              <a:custGeom>
                <a:avLst/>
                <a:gdLst>
                  <a:gd name="T0" fmla="*/ 15 w 15"/>
                  <a:gd name="T1" fmla="*/ 0 h 15"/>
                  <a:gd name="T2" fmla="*/ 0 w 15"/>
                  <a:gd name="T3" fmla="*/ 8 h 15"/>
                  <a:gd name="T4" fmla="*/ 3 w 15"/>
                  <a:gd name="T5" fmla="*/ 15 h 15"/>
                  <a:gd name="T6" fmla="*/ 15 w 15"/>
                  <a:gd name="T7" fmla="*/ 8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8"/>
                    </a:lnTo>
                    <a:lnTo>
                      <a:pt x="3" y="15"/>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0" name="Freeform 394"/>
              <p:cNvSpPr/>
              <p:nvPr/>
            </p:nvSpPr>
            <p:spPr bwMode="auto">
              <a:xfrm>
                <a:off x="2077" y="3555"/>
                <a:ext cx="15" cy="12"/>
              </a:xfrm>
              <a:custGeom>
                <a:avLst/>
                <a:gdLst>
                  <a:gd name="T0" fmla="*/ 11 w 15"/>
                  <a:gd name="T1" fmla="*/ 0 h 12"/>
                  <a:gd name="T2" fmla="*/ 0 w 15"/>
                  <a:gd name="T3" fmla="*/ 4 h 12"/>
                  <a:gd name="T4" fmla="*/ 4 w 15"/>
                  <a:gd name="T5" fmla="*/ 12 h 12"/>
                  <a:gd name="T6" fmla="*/ 15 w 15"/>
                  <a:gd name="T7" fmla="*/ 4 h 12"/>
                  <a:gd name="T8" fmla="*/ 11 w 15"/>
                  <a:gd name="T9" fmla="*/ 0 h 12"/>
                </a:gdLst>
                <a:ahLst/>
                <a:cxnLst>
                  <a:cxn ang="0">
                    <a:pos x="T0" y="T1"/>
                  </a:cxn>
                  <a:cxn ang="0">
                    <a:pos x="T2" y="T3"/>
                  </a:cxn>
                  <a:cxn ang="0">
                    <a:pos x="T4" y="T5"/>
                  </a:cxn>
                  <a:cxn ang="0">
                    <a:pos x="T6" y="T7"/>
                  </a:cxn>
                  <a:cxn ang="0">
                    <a:pos x="T8" y="T9"/>
                  </a:cxn>
                </a:cxnLst>
                <a:rect l="0" t="0" r="r" b="b"/>
                <a:pathLst>
                  <a:path w="15" h="12">
                    <a:moveTo>
                      <a:pt x="11" y="0"/>
                    </a:moveTo>
                    <a:lnTo>
                      <a:pt x="0" y="4"/>
                    </a:lnTo>
                    <a:lnTo>
                      <a:pt x="4" y="12"/>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1" name="Freeform 395"/>
              <p:cNvSpPr/>
              <p:nvPr/>
            </p:nvSpPr>
            <p:spPr bwMode="auto">
              <a:xfrm>
                <a:off x="2046" y="3567"/>
                <a:ext cx="19" cy="11"/>
              </a:xfrm>
              <a:custGeom>
                <a:avLst/>
                <a:gdLst>
                  <a:gd name="T0" fmla="*/ 15 w 19"/>
                  <a:gd name="T1" fmla="*/ 0 h 11"/>
                  <a:gd name="T2" fmla="*/ 0 w 19"/>
                  <a:gd name="T3" fmla="*/ 8 h 11"/>
                  <a:gd name="T4" fmla="*/ 4 w 19"/>
                  <a:gd name="T5" fmla="*/ 11 h 11"/>
                  <a:gd name="T6" fmla="*/ 19 w 19"/>
                  <a:gd name="T7" fmla="*/ 8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8"/>
                    </a:lnTo>
                    <a:lnTo>
                      <a:pt x="4" y="11"/>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2" name="Freeform 396"/>
              <p:cNvSpPr/>
              <p:nvPr/>
            </p:nvSpPr>
            <p:spPr bwMode="auto">
              <a:xfrm>
                <a:off x="2019" y="3578"/>
                <a:ext cx="19" cy="16"/>
              </a:xfrm>
              <a:custGeom>
                <a:avLst/>
                <a:gdLst>
                  <a:gd name="T0" fmla="*/ 16 w 19"/>
                  <a:gd name="T1" fmla="*/ 0 h 16"/>
                  <a:gd name="T2" fmla="*/ 0 w 19"/>
                  <a:gd name="T3" fmla="*/ 8 h 16"/>
                  <a:gd name="T4" fmla="*/ 4 w 19"/>
                  <a:gd name="T5" fmla="*/ 16 h 16"/>
                  <a:gd name="T6" fmla="*/ 19 w 19"/>
                  <a:gd name="T7" fmla="*/ 8 h 16"/>
                  <a:gd name="T8" fmla="*/ 16 w 19"/>
                  <a:gd name="T9" fmla="*/ 0 h 16"/>
                </a:gdLst>
                <a:ahLst/>
                <a:cxnLst>
                  <a:cxn ang="0">
                    <a:pos x="T0" y="T1"/>
                  </a:cxn>
                  <a:cxn ang="0">
                    <a:pos x="T2" y="T3"/>
                  </a:cxn>
                  <a:cxn ang="0">
                    <a:pos x="T4" y="T5"/>
                  </a:cxn>
                  <a:cxn ang="0">
                    <a:pos x="T6" y="T7"/>
                  </a:cxn>
                  <a:cxn ang="0">
                    <a:pos x="T8" y="T9"/>
                  </a:cxn>
                </a:cxnLst>
                <a:rect l="0" t="0" r="r" b="b"/>
                <a:pathLst>
                  <a:path w="19" h="16">
                    <a:moveTo>
                      <a:pt x="16" y="0"/>
                    </a:moveTo>
                    <a:lnTo>
                      <a:pt x="0" y="8"/>
                    </a:lnTo>
                    <a:lnTo>
                      <a:pt x="4" y="16"/>
                    </a:lnTo>
                    <a:lnTo>
                      <a:pt x="19"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3" name="Freeform 397"/>
              <p:cNvSpPr/>
              <p:nvPr/>
            </p:nvSpPr>
            <p:spPr bwMode="auto">
              <a:xfrm>
                <a:off x="2019" y="2684"/>
                <a:ext cx="791" cy="756"/>
              </a:xfrm>
              <a:custGeom>
                <a:avLst/>
                <a:gdLst>
                  <a:gd name="T0" fmla="*/ 791 w 791"/>
                  <a:gd name="T1" fmla="*/ 756 h 756"/>
                  <a:gd name="T2" fmla="*/ 787 w 791"/>
                  <a:gd name="T3" fmla="*/ 7 h 756"/>
                  <a:gd name="T4" fmla="*/ 787 w 791"/>
                  <a:gd name="T5" fmla="*/ 3 h 756"/>
                  <a:gd name="T6" fmla="*/ 783 w 791"/>
                  <a:gd name="T7" fmla="*/ 3 h 756"/>
                  <a:gd name="T8" fmla="*/ 549 w 791"/>
                  <a:gd name="T9" fmla="*/ 119 h 756"/>
                  <a:gd name="T10" fmla="*/ 27 w 791"/>
                  <a:gd name="T11" fmla="*/ 119 h 756"/>
                  <a:gd name="T12" fmla="*/ 323 w 791"/>
                  <a:gd name="T13" fmla="*/ 11 h 756"/>
                  <a:gd name="T14" fmla="*/ 783 w 791"/>
                  <a:gd name="T15" fmla="*/ 7 h 756"/>
                  <a:gd name="T16" fmla="*/ 783 w 791"/>
                  <a:gd name="T17" fmla="*/ 0 h 756"/>
                  <a:gd name="T18" fmla="*/ 323 w 791"/>
                  <a:gd name="T19" fmla="*/ 3 h 756"/>
                  <a:gd name="T20" fmla="*/ 4 w 791"/>
                  <a:gd name="T21" fmla="*/ 119 h 756"/>
                  <a:gd name="T22" fmla="*/ 0 w 791"/>
                  <a:gd name="T23" fmla="*/ 119 h 756"/>
                  <a:gd name="T24" fmla="*/ 0 w 791"/>
                  <a:gd name="T25" fmla="*/ 126 h 756"/>
                  <a:gd name="T26" fmla="*/ 549 w 791"/>
                  <a:gd name="T27" fmla="*/ 126 h 756"/>
                  <a:gd name="T28" fmla="*/ 779 w 791"/>
                  <a:gd name="T29" fmla="*/ 15 h 756"/>
                  <a:gd name="T30" fmla="*/ 783 w 791"/>
                  <a:gd name="T31" fmla="*/ 756 h 756"/>
                  <a:gd name="T32" fmla="*/ 791 w 791"/>
                  <a:gd name="T33" fmla="*/ 756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1" h="756">
                    <a:moveTo>
                      <a:pt x="791" y="756"/>
                    </a:moveTo>
                    <a:lnTo>
                      <a:pt x="787" y="7"/>
                    </a:lnTo>
                    <a:lnTo>
                      <a:pt x="787" y="3"/>
                    </a:lnTo>
                    <a:lnTo>
                      <a:pt x="783" y="3"/>
                    </a:lnTo>
                    <a:lnTo>
                      <a:pt x="549" y="119"/>
                    </a:lnTo>
                    <a:lnTo>
                      <a:pt x="27" y="119"/>
                    </a:lnTo>
                    <a:lnTo>
                      <a:pt x="323" y="11"/>
                    </a:lnTo>
                    <a:lnTo>
                      <a:pt x="783" y="7"/>
                    </a:lnTo>
                    <a:lnTo>
                      <a:pt x="783" y="0"/>
                    </a:lnTo>
                    <a:lnTo>
                      <a:pt x="323" y="3"/>
                    </a:lnTo>
                    <a:lnTo>
                      <a:pt x="4" y="119"/>
                    </a:lnTo>
                    <a:lnTo>
                      <a:pt x="0" y="119"/>
                    </a:lnTo>
                    <a:lnTo>
                      <a:pt x="0" y="126"/>
                    </a:lnTo>
                    <a:lnTo>
                      <a:pt x="549" y="126"/>
                    </a:lnTo>
                    <a:lnTo>
                      <a:pt x="779" y="15"/>
                    </a:lnTo>
                    <a:lnTo>
                      <a:pt x="783" y="756"/>
                    </a:lnTo>
                    <a:lnTo>
                      <a:pt x="791" y="756"/>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4" name="Freeform 398"/>
              <p:cNvSpPr/>
              <p:nvPr/>
            </p:nvSpPr>
            <p:spPr bwMode="auto">
              <a:xfrm>
                <a:off x="2019" y="2803"/>
                <a:ext cx="783" cy="795"/>
              </a:xfrm>
              <a:custGeom>
                <a:avLst/>
                <a:gdLst>
                  <a:gd name="T0" fmla="*/ 0 w 783"/>
                  <a:gd name="T1" fmla="*/ 0 h 795"/>
                  <a:gd name="T2" fmla="*/ 0 w 783"/>
                  <a:gd name="T3" fmla="*/ 795 h 795"/>
                  <a:gd name="T4" fmla="*/ 541 w 783"/>
                  <a:gd name="T5" fmla="*/ 795 h 795"/>
                  <a:gd name="T6" fmla="*/ 783 w 783"/>
                  <a:gd name="T7" fmla="*/ 653 h 795"/>
                  <a:gd name="T8" fmla="*/ 776 w 783"/>
                  <a:gd name="T9" fmla="*/ 645 h 795"/>
                  <a:gd name="T10" fmla="*/ 541 w 783"/>
                  <a:gd name="T11" fmla="*/ 787 h 795"/>
                  <a:gd name="T12" fmla="*/ 8 w 783"/>
                  <a:gd name="T13" fmla="*/ 787 h 795"/>
                  <a:gd name="T14" fmla="*/ 8 w 783"/>
                  <a:gd name="T15" fmla="*/ 0 h 795"/>
                  <a:gd name="T16" fmla="*/ 0 w 783"/>
                  <a:gd name="T17"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3" h="795">
                    <a:moveTo>
                      <a:pt x="0" y="0"/>
                    </a:moveTo>
                    <a:lnTo>
                      <a:pt x="0" y="795"/>
                    </a:lnTo>
                    <a:lnTo>
                      <a:pt x="541" y="795"/>
                    </a:lnTo>
                    <a:lnTo>
                      <a:pt x="783" y="653"/>
                    </a:lnTo>
                    <a:lnTo>
                      <a:pt x="776" y="645"/>
                    </a:lnTo>
                    <a:lnTo>
                      <a:pt x="541" y="787"/>
                    </a:lnTo>
                    <a:lnTo>
                      <a:pt x="8" y="787"/>
                    </a:lnTo>
                    <a:lnTo>
                      <a:pt x="8"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5" name="Freeform 399"/>
              <p:cNvSpPr/>
              <p:nvPr/>
            </p:nvSpPr>
            <p:spPr bwMode="auto">
              <a:xfrm>
                <a:off x="2560" y="2803"/>
                <a:ext cx="12" cy="779"/>
              </a:xfrm>
              <a:custGeom>
                <a:avLst/>
                <a:gdLst>
                  <a:gd name="T0" fmla="*/ 8 w 12"/>
                  <a:gd name="T1" fmla="*/ 779 h 779"/>
                  <a:gd name="T2" fmla="*/ 12 w 12"/>
                  <a:gd name="T3" fmla="*/ 0 h 779"/>
                  <a:gd name="T4" fmla="*/ 4 w 12"/>
                  <a:gd name="T5" fmla="*/ 0 h 779"/>
                  <a:gd name="T6" fmla="*/ 0 w 12"/>
                  <a:gd name="T7" fmla="*/ 779 h 779"/>
                  <a:gd name="T8" fmla="*/ 8 w 12"/>
                  <a:gd name="T9" fmla="*/ 779 h 779"/>
                </a:gdLst>
                <a:ahLst/>
                <a:cxnLst>
                  <a:cxn ang="0">
                    <a:pos x="T0" y="T1"/>
                  </a:cxn>
                  <a:cxn ang="0">
                    <a:pos x="T2" y="T3"/>
                  </a:cxn>
                  <a:cxn ang="0">
                    <a:pos x="T4" y="T5"/>
                  </a:cxn>
                  <a:cxn ang="0">
                    <a:pos x="T6" y="T7"/>
                  </a:cxn>
                  <a:cxn ang="0">
                    <a:pos x="T8" y="T9"/>
                  </a:cxn>
                </a:cxnLst>
                <a:rect l="0" t="0" r="r" b="b"/>
                <a:pathLst>
                  <a:path w="12" h="779">
                    <a:moveTo>
                      <a:pt x="8" y="779"/>
                    </a:moveTo>
                    <a:lnTo>
                      <a:pt x="12" y="0"/>
                    </a:lnTo>
                    <a:lnTo>
                      <a:pt x="4" y="0"/>
                    </a:lnTo>
                    <a:lnTo>
                      <a:pt x="0" y="779"/>
                    </a:lnTo>
                    <a:lnTo>
                      <a:pt x="8" y="77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6" name="Freeform 400"/>
              <p:cNvSpPr/>
              <p:nvPr/>
            </p:nvSpPr>
            <p:spPr bwMode="auto">
              <a:xfrm>
                <a:off x="3036" y="2695"/>
                <a:ext cx="780" cy="899"/>
              </a:xfrm>
              <a:custGeom>
                <a:avLst/>
                <a:gdLst>
                  <a:gd name="T0" fmla="*/ 311 w 780"/>
                  <a:gd name="T1" fmla="*/ 4 h 899"/>
                  <a:gd name="T2" fmla="*/ 0 w 780"/>
                  <a:gd name="T3" fmla="*/ 112 h 899"/>
                  <a:gd name="T4" fmla="*/ 4 w 780"/>
                  <a:gd name="T5" fmla="*/ 895 h 899"/>
                  <a:gd name="T6" fmla="*/ 545 w 780"/>
                  <a:gd name="T7" fmla="*/ 899 h 899"/>
                  <a:gd name="T8" fmla="*/ 780 w 780"/>
                  <a:gd name="T9" fmla="*/ 757 h 899"/>
                  <a:gd name="T10" fmla="*/ 780 w 780"/>
                  <a:gd name="T11" fmla="*/ 0 h 899"/>
                  <a:gd name="T12" fmla="*/ 311 w 780"/>
                  <a:gd name="T13" fmla="*/ 4 h 899"/>
                </a:gdLst>
                <a:ahLst/>
                <a:cxnLst>
                  <a:cxn ang="0">
                    <a:pos x="T0" y="T1"/>
                  </a:cxn>
                  <a:cxn ang="0">
                    <a:pos x="T2" y="T3"/>
                  </a:cxn>
                  <a:cxn ang="0">
                    <a:pos x="T4" y="T5"/>
                  </a:cxn>
                  <a:cxn ang="0">
                    <a:pos x="T6" y="T7"/>
                  </a:cxn>
                  <a:cxn ang="0">
                    <a:pos x="T8" y="T9"/>
                  </a:cxn>
                  <a:cxn ang="0">
                    <a:pos x="T10" y="T11"/>
                  </a:cxn>
                  <a:cxn ang="0">
                    <a:pos x="T12" y="T13"/>
                  </a:cxn>
                </a:cxnLst>
                <a:rect l="0" t="0" r="r" b="b"/>
                <a:pathLst>
                  <a:path w="780" h="899">
                    <a:moveTo>
                      <a:pt x="311" y="4"/>
                    </a:moveTo>
                    <a:lnTo>
                      <a:pt x="0" y="112"/>
                    </a:lnTo>
                    <a:lnTo>
                      <a:pt x="4" y="895"/>
                    </a:lnTo>
                    <a:lnTo>
                      <a:pt x="545" y="899"/>
                    </a:lnTo>
                    <a:lnTo>
                      <a:pt x="780" y="757"/>
                    </a:lnTo>
                    <a:lnTo>
                      <a:pt x="780" y="0"/>
                    </a:lnTo>
                    <a:lnTo>
                      <a:pt x="311" y="4"/>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17" name="Rectangle 401"/>
              <p:cNvSpPr>
                <a:spLocks noChangeArrowheads="1"/>
              </p:cNvSpPr>
              <p:nvPr/>
            </p:nvSpPr>
            <p:spPr bwMode="auto">
              <a:xfrm>
                <a:off x="3770"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18" name="Rectangle 402"/>
              <p:cNvSpPr>
                <a:spLocks noChangeArrowheads="1"/>
              </p:cNvSpPr>
              <p:nvPr/>
            </p:nvSpPr>
            <p:spPr bwMode="auto">
              <a:xfrm>
                <a:off x="3739"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19" name="Rectangle 403"/>
              <p:cNvSpPr>
                <a:spLocks noChangeArrowheads="1"/>
              </p:cNvSpPr>
              <p:nvPr/>
            </p:nvSpPr>
            <p:spPr bwMode="auto">
              <a:xfrm>
                <a:off x="3708"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0" name="Rectangle 404"/>
              <p:cNvSpPr>
                <a:spLocks noChangeArrowheads="1"/>
              </p:cNvSpPr>
              <p:nvPr/>
            </p:nvSpPr>
            <p:spPr bwMode="auto">
              <a:xfrm>
                <a:off x="3677"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1" name="Rectangle 405"/>
              <p:cNvSpPr>
                <a:spLocks noChangeArrowheads="1"/>
              </p:cNvSpPr>
              <p:nvPr/>
            </p:nvSpPr>
            <p:spPr bwMode="auto">
              <a:xfrm>
                <a:off x="3647"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2" name="Rectangle 406"/>
              <p:cNvSpPr>
                <a:spLocks noChangeArrowheads="1"/>
              </p:cNvSpPr>
              <p:nvPr/>
            </p:nvSpPr>
            <p:spPr bwMode="auto">
              <a:xfrm>
                <a:off x="3616"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3" name="Rectangle 407"/>
              <p:cNvSpPr>
                <a:spLocks noChangeArrowheads="1"/>
              </p:cNvSpPr>
              <p:nvPr/>
            </p:nvSpPr>
            <p:spPr bwMode="auto">
              <a:xfrm>
                <a:off x="3585"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4" name="Rectangle 408"/>
              <p:cNvSpPr>
                <a:spLocks noChangeArrowheads="1"/>
              </p:cNvSpPr>
              <p:nvPr/>
            </p:nvSpPr>
            <p:spPr bwMode="auto">
              <a:xfrm>
                <a:off x="3555"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5" name="Rectangle 409"/>
              <p:cNvSpPr>
                <a:spLocks noChangeArrowheads="1"/>
              </p:cNvSpPr>
              <p:nvPr/>
            </p:nvSpPr>
            <p:spPr bwMode="auto">
              <a:xfrm>
                <a:off x="3524"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6" name="Rectangle 410"/>
              <p:cNvSpPr>
                <a:spLocks noChangeArrowheads="1"/>
              </p:cNvSpPr>
              <p:nvPr/>
            </p:nvSpPr>
            <p:spPr bwMode="auto">
              <a:xfrm>
                <a:off x="3493"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7" name="Rectangle 411"/>
              <p:cNvSpPr>
                <a:spLocks noChangeArrowheads="1"/>
              </p:cNvSpPr>
              <p:nvPr/>
            </p:nvSpPr>
            <p:spPr bwMode="auto">
              <a:xfrm>
                <a:off x="3462"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8" name="Rectangle 412"/>
              <p:cNvSpPr>
                <a:spLocks noChangeArrowheads="1"/>
              </p:cNvSpPr>
              <p:nvPr/>
            </p:nvSpPr>
            <p:spPr bwMode="auto">
              <a:xfrm>
                <a:off x="3432"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29" name="Rectangle 413"/>
              <p:cNvSpPr>
                <a:spLocks noChangeArrowheads="1"/>
              </p:cNvSpPr>
              <p:nvPr/>
            </p:nvSpPr>
            <p:spPr bwMode="auto">
              <a:xfrm>
                <a:off x="3401"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0" name="Rectangle 414"/>
              <p:cNvSpPr>
                <a:spLocks noChangeArrowheads="1"/>
              </p:cNvSpPr>
              <p:nvPr/>
            </p:nvSpPr>
            <p:spPr bwMode="auto">
              <a:xfrm>
                <a:off x="3370"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1" name="Freeform 415"/>
              <p:cNvSpPr/>
              <p:nvPr/>
            </p:nvSpPr>
            <p:spPr bwMode="auto">
              <a:xfrm>
                <a:off x="3343" y="3448"/>
                <a:ext cx="12" cy="11"/>
              </a:xfrm>
              <a:custGeom>
                <a:avLst/>
                <a:gdLst>
                  <a:gd name="T0" fmla="*/ 12 w 12"/>
                  <a:gd name="T1" fmla="*/ 4 h 11"/>
                  <a:gd name="T2" fmla="*/ 8 w 12"/>
                  <a:gd name="T3" fmla="*/ 8 h 11"/>
                  <a:gd name="T4" fmla="*/ 8 w 12"/>
                  <a:gd name="T5" fmla="*/ 0 h 11"/>
                  <a:gd name="T6" fmla="*/ 0 w 12"/>
                  <a:gd name="T7" fmla="*/ 0 h 11"/>
                  <a:gd name="T8" fmla="*/ 0 w 12"/>
                  <a:gd name="T9" fmla="*/ 11 h 11"/>
                  <a:gd name="T10" fmla="*/ 12 w 12"/>
                  <a:gd name="T11" fmla="*/ 11 h 11"/>
                  <a:gd name="T12" fmla="*/ 12 w 12"/>
                  <a:gd name="T13" fmla="*/ 4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12" y="4"/>
                    </a:moveTo>
                    <a:lnTo>
                      <a:pt x="8" y="8"/>
                    </a:lnTo>
                    <a:lnTo>
                      <a:pt x="8" y="0"/>
                    </a:lnTo>
                    <a:lnTo>
                      <a:pt x="0" y="0"/>
                    </a:lnTo>
                    <a:lnTo>
                      <a:pt x="0" y="11"/>
                    </a:lnTo>
                    <a:lnTo>
                      <a:pt x="12" y="11"/>
                    </a:lnTo>
                    <a:lnTo>
                      <a:pt x="12"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32" name="Rectangle 416"/>
              <p:cNvSpPr>
                <a:spLocks noChangeArrowheads="1"/>
              </p:cNvSpPr>
              <p:nvPr/>
            </p:nvSpPr>
            <p:spPr bwMode="auto">
              <a:xfrm>
                <a:off x="3343" y="3417"/>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3" name="Rectangle 417"/>
              <p:cNvSpPr>
                <a:spLocks noChangeArrowheads="1"/>
              </p:cNvSpPr>
              <p:nvPr/>
            </p:nvSpPr>
            <p:spPr bwMode="auto">
              <a:xfrm>
                <a:off x="3343" y="338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4" name="Rectangle 418"/>
              <p:cNvSpPr>
                <a:spLocks noChangeArrowheads="1"/>
              </p:cNvSpPr>
              <p:nvPr/>
            </p:nvSpPr>
            <p:spPr bwMode="auto">
              <a:xfrm>
                <a:off x="3343" y="335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5" name="Rectangle 419"/>
              <p:cNvSpPr>
                <a:spLocks noChangeArrowheads="1"/>
              </p:cNvSpPr>
              <p:nvPr/>
            </p:nvSpPr>
            <p:spPr bwMode="auto">
              <a:xfrm>
                <a:off x="3343" y="332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6" name="Rectangle 420"/>
              <p:cNvSpPr>
                <a:spLocks noChangeArrowheads="1"/>
              </p:cNvSpPr>
              <p:nvPr/>
            </p:nvSpPr>
            <p:spPr bwMode="auto">
              <a:xfrm>
                <a:off x="3343" y="329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7" name="Rectangle 421"/>
              <p:cNvSpPr>
                <a:spLocks noChangeArrowheads="1"/>
              </p:cNvSpPr>
              <p:nvPr/>
            </p:nvSpPr>
            <p:spPr bwMode="auto">
              <a:xfrm>
                <a:off x="3343" y="326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8" name="Rectangle 422"/>
              <p:cNvSpPr>
                <a:spLocks noChangeArrowheads="1"/>
              </p:cNvSpPr>
              <p:nvPr/>
            </p:nvSpPr>
            <p:spPr bwMode="auto">
              <a:xfrm>
                <a:off x="3343" y="323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39" name="Rectangle 423"/>
              <p:cNvSpPr>
                <a:spLocks noChangeArrowheads="1"/>
              </p:cNvSpPr>
              <p:nvPr/>
            </p:nvSpPr>
            <p:spPr bwMode="auto">
              <a:xfrm>
                <a:off x="3343" y="320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0" name="Rectangle 424"/>
              <p:cNvSpPr>
                <a:spLocks noChangeArrowheads="1"/>
              </p:cNvSpPr>
              <p:nvPr/>
            </p:nvSpPr>
            <p:spPr bwMode="auto">
              <a:xfrm>
                <a:off x="3343" y="317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1" name="Rectangle 425"/>
              <p:cNvSpPr>
                <a:spLocks noChangeArrowheads="1"/>
              </p:cNvSpPr>
              <p:nvPr/>
            </p:nvSpPr>
            <p:spPr bwMode="auto">
              <a:xfrm>
                <a:off x="3343" y="314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2" name="Rectangle 426"/>
              <p:cNvSpPr>
                <a:spLocks noChangeArrowheads="1"/>
              </p:cNvSpPr>
              <p:nvPr/>
            </p:nvSpPr>
            <p:spPr bwMode="auto">
              <a:xfrm>
                <a:off x="3343" y="311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3" name="Rectangle 427"/>
              <p:cNvSpPr>
                <a:spLocks noChangeArrowheads="1"/>
              </p:cNvSpPr>
              <p:nvPr/>
            </p:nvSpPr>
            <p:spPr bwMode="auto">
              <a:xfrm>
                <a:off x="3343" y="307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4" name="Rectangle 428"/>
              <p:cNvSpPr>
                <a:spLocks noChangeArrowheads="1"/>
              </p:cNvSpPr>
              <p:nvPr/>
            </p:nvSpPr>
            <p:spPr bwMode="auto">
              <a:xfrm>
                <a:off x="3343" y="304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5" name="Rectangle 429"/>
              <p:cNvSpPr>
                <a:spLocks noChangeArrowheads="1"/>
              </p:cNvSpPr>
              <p:nvPr/>
            </p:nvSpPr>
            <p:spPr bwMode="auto">
              <a:xfrm>
                <a:off x="3343" y="3018"/>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6" name="Rectangle 430"/>
              <p:cNvSpPr>
                <a:spLocks noChangeArrowheads="1"/>
              </p:cNvSpPr>
              <p:nvPr/>
            </p:nvSpPr>
            <p:spPr bwMode="auto">
              <a:xfrm>
                <a:off x="3343" y="2987"/>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7" name="Rectangle 431"/>
              <p:cNvSpPr>
                <a:spLocks noChangeArrowheads="1"/>
              </p:cNvSpPr>
              <p:nvPr/>
            </p:nvSpPr>
            <p:spPr bwMode="auto">
              <a:xfrm>
                <a:off x="3343" y="295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8" name="Rectangle 432"/>
              <p:cNvSpPr>
                <a:spLocks noChangeArrowheads="1"/>
              </p:cNvSpPr>
              <p:nvPr/>
            </p:nvSpPr>
            <p:spPr bwMode="auto">
              <a:xfrm>
                <a:off x="3343" y="292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49" name="Rectangle 433"/>
              <p:cNvSpPr>
                <a:spLocks noChangeArrowheads="1"/>
              </p:cNvSpPr>
              <p:nvPr/>
            </p:nvSpPr>
            <p:spPr bwMode="auto">
              <a:xfrm>
                <a:off x="3343" y="289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50" name="Rectangle 434"/>
              <p:cNvSpPr>
                <a:spLocks noChangeArrowheads="1"/>
              </p:cNvSpPr>
              <p:nvPr/>
            </p:nvSpPr>
            <p:spPr bwMode="auto">
              <a:xfrm>
                <a:off x="3343" y="286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51" name="Rectangle 435"/>
              <p:cNvSpPr>
                <a:spLocks noChangeArrowheads="1"/>
              </p:cNvSpPr>
              <p:nvPr/>
            </p:nvSpPr>
            <p:spPr bwMode="auto">
              <a:xfrm>
                <a:off x="3343" y="283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52" name="Rectangle 436"/>
              <p:cNvSpPr>
                <a:spLocks noChangeArrowheads="1"/>
              </p:cNvSpPr>
              <p:nvPr/>
            </p:nvSpPr>
            <p:spPr bwMode="auto">
              <a:xfrm>
                <a:off x="3343" y="280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53" name="Rectangle 437"/>
              <p:cNvSpPr>
                <a:spLocks noChangeArrowheads="1"/>
              </p:cNvSpPr>
              <p:nvPr/>
            </p:nvSpPr>
            <p:spPr bwMode="auto">
              <a:xfrm>
                <a:off x="3343" y="277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54" name="Rectangle 438"/>
              <p:cNvSpPr>
                <a:spLocks noChangeArrowheads="1"/>
              </p:cNvSpPr>
              <p:nvPr/>
            </p:nvSpPr>
            <p:spPr bwMode="auto">
              <a:xfrm>
                <a:off x="3343" y="274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55" name="Rectangle 439"/>
              <p:cNvSpPr>
                <a:spLocks noChangeArrowheads="1"/>
              </p:cNvSpPr>
              <p:nvPr/>
            </p:nvSpPr>
            <p:spPr bwMode="auto">
              <a:xfrm>
                <a:off x="3343" y="271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56" name="Freeform 440"/>
              <p:cNvSpPr/>
              <p:nvPr/>
            </p:nvSpPr>
            <p:spPr bwMode="auto">
              <a:xfrm>
                <a:off x="3317" y="3456"/>
                <a:ext cx="15" cy="15"/>
              </a:xfrm>
              <a:custGeom>
                <a:avLst/>
                <a:gdLst>
                  <a:gd name="T0" fmla="*/ 15 w 15"/>
                  <a:gd name="T1" fmla="*/ 0 h 15"/>
                  <a:gd name="T2" fmla="*/ 0 w 15"/>
                  <a:gd name="T3" fmla="*/ 7 h 15"/>
                  <a:gd name="T4" fmla="*/ 3 w 15"/>
                  <a:gd name="T5" fmla="*/ 15 h 15"/>
                  <a:gd name="T6" fmla="*/ 15 w 15"/>
                  <a:gd name="T7" fmla="*/ 7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7"/>
                    </a:lnTo>
                    <a:lnTo>
                      <a:pt x="3" y="15"/>
                    </a:lnTo>
                    <a:lnTo>
                      <a:pt x="15"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57" name="Freeform 441"/>
              <p:cNvSpPr/>
              <p:nvPr/>
            </p:nvSpPr>
            <p:spPr bwMode="auto">
              <a:xfrm>
                <a:off x="3290" y="3467"/>
                <a:ext cx="15" cy="15"/>
              </a:xfrm>
              <a:custGeom>
                <a:avLst/>
                <a:gdLst>
                  <a:gd name="T0" fmla="*/ 11 w 15"/>
                  <a:gd name="T1" fmla="*/ 0 h 15"/>
                  <a:gd name="T2" fmla="*/ 0 w 15"/>
                  <a:gd name="T3" fmla="*/ 8 h 15"/>
                  <a:gd name="T4" fmla="*/ 0 w 15"/>
                  <a:gd name="T5" fmla="*/ 15 h 15"/>
                  <a:gd name="T6" fmla="*/ 15 w 15"/>
                  <a:gd name="T7" fmla="*/ 8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0" y="15"/>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58" name="Freeform 442"/>
              <p:cNvSpPr/>
              <p:nvPr/>
            </p:nvSpPr>
            <p:spPr bwMode="auto">
              <a:xfrm>
                <a:off x="3259" y="3482"/>
                <a:ext cx="19" cy="12"/>
              </a:xfrm>
              <a:custGeom>
                <a:avLst/>
                <a:gdLst>
                  <a:gd name="T0" fmla="*/ 15 w 19"/>
                  <a:gd name="T1" fmla="*/ 0 h 12"/>
                  <a:gd name="T2" fmla="*/ 0 w 19"/>
                  <a:gd name="T3" fmla="*/ 4 h 12"/>
                  <a:gd name="T4" fmla="*/ 4 w 19"/>
                  <a:gd name="T5" fmla="*/ 12 h 12"/>
                  <a:gd name="T6" fmla="*/ 19 w 19"/>
                  <a:gd name="T7" fmla="*/ 8 h 12"/>
                  <a:gd name="T8" fmla="*/ 15 w 19"/>
                  <a:gd name="T9" fmla="*/ 0 h 12"/>
                </a:gdLst>
                <a:ahLst/>
                <a:cxnLst>
                  <a:cxn ang="0">
                    <a:pos x="T0" y="T1"/>
                  </a:cxn>
                  <a:cxn ang="0">
                    <a:pos x="T2" y="T3"/>
                  </a:cxn>
                  <a:cxn ang="0">
                    <a:pos x="T4" y="T5"/>
                  </a:cxn>
                  <a:cxn ang="0">
                    <a:pos x="T6" y="T7"/>
                  </a:cxn>
                  <a:cxn ang="0">
                    <a:pos x="T8" y="T9"/>
                  </a:cxn>
                </a:cxnLst>
                <a:rect l="0" t="0" r="r" b="b"/>
                <a:pathLst>
                  <a:path w="19" h="12">
                    <a:moveTo>
                      <a:pt x="15" y="0"/>
                    </a:moveTo>
                    <a:lnTo>
                      <a:pt x="0" y="4"/>
                    </a:lnTo>
                    <a:lnTo>
                      <a:pt x="4" y="12"/>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59" name="Freeform 443"/>
              <p:cNvSpPr/>
              <p:nvPr/>
            </p:nvSpPr>
            <p:spPr bwMode="auto">
              <a:xfrm>
                <a:off x="3232" y="3494"/>
                <a:ext cx="19" cy="15"/>
              </a:xfrm>
              <a:custGeom>
                <a:avLst/>
                <a:gdLst>
                  <a:gd name="T0" fmla="*/ 16 w 19"/>
                  <a:gd name="T1" fmla="*/ 0 h 15"/>
                  <a:gd name="T2" fmla="*/ 0 w 19"/>
                  <a:gd name="T3" fmla="*/ 8 h 15"/>
                  <a:gd name="T4" fmla="*/ 4 w 19"/>
                  <a:gd name="T5" fmla="*/ 15 h 15"/>
                  <a:gd name="T6" fmla="*/ 19 w 19"/>
                  <a:gd name="T7" fmla="*/ 8 h 15"/>
                  <a:gd name="T8" fmla="*/ 16 w 19"/>
                  <a:gd name="T9" fmla="*/ 0 h 15"/>
                </a:gdLst>
                <a:ahLst/>
                <a:cxnLst>
                  <a:cxn ang="0">
                    <a:pos x="T0" y="T1"/>
                  </a:cxn>
                  <a:cxn ang="0">
                    <a:pos x="T2" y="T3"/>
                  </a:cxn>
                  <a:cxn ang="0">
                    <a:pos x="T4" y="T5"/>
                  </a:cxn>
                  <a:cxn ang="0">
                    <a:pos x="T6" y="T7"/>
                  </a:cxn>
                  <a:cxn ang="0">
                    <a:pos x="T8" y="T9"/>
                  </a:cxn>
                </a:cxnLst>
                <a:rect l="0" t="0" r="r" b="b"/>
                <a:pathLst>
                  <a:path w="19" h="15">
                    <a:moveTo>
                      <a:pt x="16" y="0"/>
                    </a:moveTo>
                    <a:lnTo>
                      <a:pt x="0" y="8"/>
                    </a:lnTo>
                    <a:lnTo>
                      <a:pt x="4" y="15"/>
                    </a:lnTo>
                    <a:lnTo>
                      <a:pt x="19"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0" name="Freeform 444"/>
              <p:cNvSpPr/>
              <p:nvPr/>
            </p:nvSpPr>
            <p:spPr bwMode="auto">
              <a:xfrm>
                <a:off x="3205" y="3505"/>
                <a:ext cx="16" cy="16"/>
              </a:xfrm>
              <a:custGeom>
                <a:avLst/>
                <a:gdLst>
                  <a:gd name="T0" fmla="*/ 12 w 16"/>
                  <a:gd name="T1" fmla="*/ 0 h 16"/>
                  <a:gd name="T2" fmla="*/ 0 w 16"/>
                  <a:gd name="T3" fmla="*/ 8 h 16"/>
                  <a:gd name="T4" fmla="*/ 4 w 16"/>
                  <a:gd name="T5" fmla="*/ 16 h 16"/>
                  <a:gd name="T6" fmla="*/ 16 w 16"/>
                  <a:gd name="T7" fmla="*/ 8 h 16"/>
                  <a:gd name="T8" fmla="*/ 12 w 16"/>
                  <a:gd name="T9" fmla="*/ 0 h 16"/>
                </a:gdLst>
                <a:ahLst/>
                <a:cxnLst>
                  <a:cxn ang="0">
                    <a:pos x="T0" y="T1"/>
                  </a:cxn>
                  <a:cxn ang="0">
                    <a:pos x="T2" y="T3"/>
                  </a:cxn>
                  <a:cxn ang="0">
                    <a:pos x="T4" y="T5"/>
                  </a:cxn>
                  <a:cxn ang="0">
                    <a:pos x="T6" y="T7"/>
                  </a:cxn>
                  <a:cxn ang="0">
                    <a:pos x="T8" y="T9"/>
                  </a:cxn>
                </a:cxnLst>
                <a:rect l="0" t="0" r="r" b="b"/>
                <a:pathLst>
                  <a:path w="16" h="16">
                    <a:moveTo>
                      <a:pt x="12" y="0"/>
                    </a:moveTo>
                    <a:lnTo>
                      <a:pt x="0" y="8"/>
                    </a:lnTo>
                    <a:lnTo>
                      <a:pt x="4" y="16"/>
                    </a:lnTo>
                    <a:lnTo>
                      <a:pt x="16"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1" name="Freeform 445"/>
              <p:cNvSpPr/>
              <p:nvPr/>
            </p:nvSpPr>
            <p:spPr bwMode="auto">
              <a:xfrm>
                <a:off x="3178" y="3521"/>
                <a:ext cx="16" cy="11"/>
              </a:xfrm>
              <a:custGeom>
                <a:avLst/>
                <a:gdLst>
                  <a:gd name="T0" fmla="*/ 12 w 16"/>
                  <a:gd name="T1" fmla="*/ 0 h 11"/>
                  <a:gd name="T2" fmla="*/ 0 w 16"/>
                  <a:gd name="T3" fmla="*/ 4 h 11"/>
                  <a:gd name="T4" fmla="*/ 0 w 16"/>
                  <a:gd name="T5" fmla="*/ 11 h 11"/>
                  <a:gd name="T6" fmla="*/ 16 w 16"/>
                  <a:gd name="T7" fmla="*/ 8 h 11"/>
                  <a:gd name="T8" fmla="*/ 12 w 16"/>
                  <a:gd name="T9" fmla="*/ 0 h 11"/>
                </a:gdLst>
                <a:ahLst/>
                <a:cxnLst>
                  <a:cxn ang="0">
                    <a:pos x="T0" y="T1"/>
                  </a:cxn>
                  <a:cxn ang="0">
                    <a:pos x="T2" y="T3"/>
                  </a:cxn>
                  <a:cxn ang="0">
                    <a:pos x="T4" y="T5"/>
                  </a:cxn>
                  <a:cxn ang="0">
                    <a:pos x="T6" y="T7"/>
                  </a:cxn>
                  <a:cxn ang="0">
                    <a:pos x="T8" y="T9"/>
                  </a:cxn>
                </a:cxnLst>
                <a:rect l="0" t="0" r="r" b="b"/>
                <a:pathLst>
                  <a:path w="16" h="11">
                    <a:moveTo>
                      <a:pt x="12" y="0"/>
                    </a:moveTo>
                    <a:lnTo>
                      <a:pt x="0" y="4"/>
                    </a:lnTo>
                    <a:lnTo>
                      <a:pt x="0" y="11"/>
                    </a:lnTo>
                    <a:lnTo>
                      <a:pt x="16"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2" name="Freeform 446"/>
              <p:cNvSpPr/>
              <p:nvPr/>
            </p:nvSpPr>
            <p:spPr bwMode="auto">
              <a:xfrm>
                <a:off x="3148" y="3532"/>
                <a:ext cx="19" cy="12"/>
              </a:xfrm>
              <a:custGeom>
                <a:avLst/>
                <a:gdLst>
                  <a:gd name="T0" fmla="*/ 15 w 19"/>
                  <a:gd name="T1" fmla="*/ 0 h 12"/>
                  <a:gd name="T2" fmla="*/ 0 w 19"/>
                  <a:gd name="T3" fmla="*/ 8 h 12"/>
                  <a:gd name="T4" fmla="*/ 4 w 19"/>
                  <a:gd name="T5" fmla="*/ 12 h 12"/>
                  <a:gd name="T6" fmla="*/ 19 w 19"/>
                  <a:gd name="T7" fmla="*/ 8 h 12"/>
                  <a:gd name="T8" fmla="*/ 15 w 19"/>
                  <a:gd name="T9" fmla="*/ 0 h 12"/>
                </a:gdLst>
                <a:ahLst/>
                <a:cxnLst>
                  <a:cxn ang="0">
                    <a:pos x="T0" y="T1"/>
                  </a:cxn>
                  <a:cxn ang="0">
                    <a:pos x="T2" y="T3"/>
                  </a:cxn>
                  <a:cxn ang="0">
                    <a:pos x="T4" y="T5"/>
                  </a:cxn>
                  <a:cxn ang="0">
                    <a:pos x="T6" y="T7"/>
                  </a:cxn>
                  <a:cxn ang="0">
                    <a:pos x="T8" y="T9"/>
                  </a:cxn>
                </a:cxnLst>
                <a:rect l="0" t="0" r="r" b="b"/>
                <a:pathLst>
                  <a:path w="19" h="12">
                    <a:moveTo>
                      <a:pt x="15" y="0"/>
                    </a:moveTo>
                    <a:lnTo>
                      <a:pt x="0" y="8"/>
                    </a:lnTo>
                    <a:lnTo>
                      <a:pt x="4" y="12"/>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3" name="Freeform 447"/>
              <p:cNvSpPr/>
              <p:nvPr/>
            </p:nvSpPr>
            <p:spPr bwMode="auto">
              <a:xfrm>
                <a:off x="3121" y="3544"/>
                <a:ext cx="15" cy="15"/>
              </a:xfrm>
              <a:custGeom>
                <a:avLst/>
                <a:gdLst>
                  <a:gd name="T0" fmla="*/ 15 w 15"/>
                  <a:gd name="T1" fmla="*/ 0 h 15"/>
                  <a:gd name="T2" fmla="*/ 0 w 15"/>
                  <a:gd name="T3" fmla="*/ 8 h 15"/>
                  <a:gd name="T4" fmla="*/ 4 w 15"/>
                  <a:gd name="T5" fmla="*/ 15 h 15"/>
                  <a:gd name="T6" fmla="*/ 15 w 15"/>
                  <a:gd name="T7" fmla="*/ 8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8"/>
                    </a:lnTo>
                    <a:lnTo>
                      <a:pt x="4" y="15"/>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4" name="Freeform 448"/>
              <p:cNvSpPr/>
              <p:nvPr/>
            </p:nvSpPr>
            <p:spPr bwMode="auto">
              <a:xfrm>
                <a:off x="3094" y="3559"/>
                <a:ext cx="15" cy="12"/>
              </a:xfrm>
              <a:custGeom>
                <a:avLst/>
                <a:gdLst>
                  <a:gd name="T0" fmla="*/ 11 w 15"/>
                  <a:gd name="T1" fmla="*/ 0 h 12"/>
                  <a:gd name="T2" fmla="*/ 0 w 15"/>
                  <a:gd name="T3" fmla="*/ 4 h 12"/>
                  <a:gd name="T4" fmla="*/ 4 w 15"/>
                  <a:gd name="T5" fmla="*/ 12 h 12"/>
                  <a:gd name="T6" fmla="*/ 15 w 15"/>
                  <a:gd name="T7" fmla="*/ 4 h 12"/>
                  <a:gd name="T8" fmla="*/ 11 w 15"/>
                  <a:gd name="T9" fmla="*/ 0 h 12"/>
                </a:gdLst>
                <a:ahLst/>
                <a:cxnLst>
                  <a:cxn ang="0">
                    <a:pos x="T0" y="T1"/>
                  </a:cxn>
                  <a:cxn ang="0">
                    <a:pos x="T2" y="T3"/>
                  </a:cxn>
                  <a:cxn ang="0">
                    <a:pos x="T4" y="T5"/>
                  </a:cxn>
                  <a:cxn ang="0">
                    <a:pos x="T6" y="T7"/>
                  </a:cxn>
                  <a:cxn ang="0">
                    <a:pos x="T8" y="T9"/>
                  </a:cxn>
                </a:cxnLst>
                <a:rect l="0" t="0" r="r" b="b"/>
                <a:pathLst>
                  <a:path w="15" h="12">
                    <a:moveTo>
                      <a:pt x="11" y="0"/>
                    </a:moveTo>
                    <a:lnTo>
                      <a:pt x="0" y="4"/>
                    </a:lnTo>
                    <a:lnTo>
                      <a:pt x="4" y="12"/>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5" name="Freeform 449"/>
              <p:cNvSpPr/>
              <p:nvPr/>
            </p:nvSpPr>
            <p:spPr bwMode="auto">
              <a:xfrm>
                <a:off x="3063" y="3571"/>
                <a:ext cx="19" cy="11"/>
              </a:xfrm>
              <a:custGeom>
                <a:avLst/>
                <a:gdLst>
                  <a:gd name="T0" fmla="*/ 16 w 19"/>
                  <a:gd name="T1" fmla="*/ 0 h 11"/>
                  <a:gd name="T2" fmla="*/ 0 w 19"/>
                  <a:gd name="T3" fmla="*/ 7 h 11"/>
                  <a:gd name="T4" fmla="*/ 4 w 19"/>
                  <a:gd name="T5" fmla="*/ 11 h 11"/>
                  <a:gd name="T6" fmla="*/ 19 w 19"/>
                  <a:gd name="T7" fmla="*/ 7 h 11"/>
                  <a:gd name="T8" fmla="*/ 16 w 19"/>
                  <a:gd name="T9" fmla="*/ 0 h 11"/>
                </a:gdLst>
                <a:ahLst/>
                <a:cxnLst>
                  <a:cxn ang="0">
                    <a:pos x="T0" y="T1"/>
                  </a:cxn>
                  <a:cxn ang="0">
                    <a:pos x="T2" y="T3"/>
                  </a:cxn>
                  <a:cxn ang="0">
                    <a:pos x="T4" y="T5"/>
                  </a:cxn>
                  <a:cxn ang="0">
                    <a:pos x="T6" y="T7"/>
                  </a:cxn>
                  <a:cxn ang="0">
                    <a:pos x="T8" y="T9"/>
                  </a:cxn>
                </a:cxnLst>
                <a:rect l="0" t="0" r="r" b="b"/>
                <a:pathLst>
                  <a:path w="19" h="11">
                    <a:moveTo>
                      <a:pt x="16" y="0"/>
                    </a:moveTo>
                    <a:lnTo>
                      <a:pt x="0" y="7"/>
                    </a:lnTo>
                    <a:lnTo>
                      <a:pt x="4" y="11"/>
                    </a:lnTo>
                    <a:lnTo>
                      <a:pt x="19" y="7"/>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6" name="Freeform 450"/>
              <p:cNvSpPr/>
              <p:nvPr/>
            </p:nvSpPr>
            <p:spPr bwMode="auto">
              <a:xfrm>
                <a:off x="3036" y="3582"/>
                <a:ext cx="20" cy="16"/>
              </a:xfrm>
              <a:custGeom>
                <a:avLst/>
                <a:gdLst>
                  <a:gd name="T0" fmla="*/ 16 w 20"/>
                  <a:gd name="T1" fmla="*/ 0 h 16"/>
                  <a:gd name="T2" fmla="*/ 0 w 20"/>
                  <a:gd name="T3" fmla="*/ 8 h 16"/>
                  <a:gd name="T4" fmla="*/ 4 w 20"/>
                  <a:gd name="T5" fmla="*/ 16 h 16"/>
                  <a:gd name="T6" fmla="*/ 20 w 20"/>
                  <a:gd name="T7" fmla="*/ 8 h 16"/>
                  <a:gd name="T8" fmla="*/ 16 w 20"/>
                  <a:gd name="T9" fmla="*/ 0 h 16"/>
                </a:gdLst>
                <a:ahLst/>
                <a:cxnLst>
                  <a:cxn ang="0">
                    <a:pos x="T0" y="T1"/>
                  </a:cxn>
                  <a:cxn ang="0">
                    <a:pos x="T2" y="T3"/>
                  </a:cxn>
                  <a:cxn ang="0">
                    <a:pos x="T4" y="T5"/>
                  </a:cxn>
                  <a:cxn ang="0">
                    <a:pos x="T6" y="T7"/>
                  </a:cxn>
                  <a:cxn ang="0">
                    <a:pos x="T8" y="T9"/>
                  </a:cxn>
                </a:cxnLst>
                <a:rect l="0" t="0" r="r" b="b"/>
                <a:pathLst>
                  <a:path w="20" h="16">
                    <a:moveTo>
                      <a:pt x="16" y="0"/>
                    </a:moveTo>
                    <a:lnTo>
                      <a:pt x="0" y="8"/>
                    </a:lnTo>
                    <a:lnTo>
                      <a:pt x="4" y="16"/>
                    </a:lnTo>
                    <a:lnTo>
                      <a:pt x="20"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7" name="Freeform 451"/>
              <p:cNvSpPr/>
              <p:nvPr/>
            </p:nvSpPr>
            <p:spPr bwMode="auto">
              <a:xfrm>
                <a:off x="3033" y="2687"/>
                <a:ext cx="794" cy="757"/>
              </a:xfrm>
              <a:custGeom>
                <a:avLst/>
                <a:gdLst>
                  <a:gd name="T0" fmla="*/ 794 w 794"/>
                  <a:gd name="T1" fmla="*/ 757 h 757"/>
                  <a:gd name="T2" fmla="*/ 790 w 794"/>
                  <a:gd name="T3" fmla="*/ 8 h 757"/>
                  <a:gd name="T4" fmla="*/ 790 w 794"/>
                  <a:gd name="T5" fmla="*/ 4 h 757"/>
                  <a:gd name="T6" fmla="*/ 786 w 794"/>
                  <a:gd name="T7" fmla="*/ 4 h 757"/>
                  <a:gd name="T8" fmla="*/ 552 w 794"/>
                  <a:gd name="T9" fmla="*/ 120 h 757"/>
                  <a:gd name="T10" fmla="*/ 26 w 794"/>
                  <a:gd name="T11" fmla="*/ 120 h 757"/>
                  <a:gd name="T12" fmla="*/ 322 w 794"/>
                  <a:gd name="T13" fmla="*/ 12 h 757"/>
                  <a:gd name="T14" fmla="*/ 786 w 794"/>
                  <a:gd name="T15" fmla="*/ 8 h 757"/>
                  <a:gd name="T16" fmla="*/ 786 w 794"/>
                  <a:gd name="T17" fmla="*/ 0 h 757"/>
                  <a:gd name="T18" fmla="*/ 322 w 794"/>
                  <a:gd name="T19" fmla="*/ 4 h 757"/>
                  <a:gd name="T20" fmla="*/ 3 w 794"/>
                  <a:gd name="T21" fmla="*/ 120 h 757"/>
                  <a:gd name="T22" fmla="*/ 0 w 794"/>
                  <a:gd name="T23" fmla="*/ 120 h 757"/>
                  <a:gd name="T24" fmla="*/ 0 w 794"/>
                  <a:gd name="T25" fmla="*/ 127 h 757"/>
                  <a:gd name="T26" fmla="*/ 552 w 794"/>
                  <a:gd name="T27" fmla="*/ 127 h 757"/>
                  <a:gd name="T28" fmla="*/ 783 w 794"/>
                  <a:gd name="T29" fmla="*/ 16 h 757"/>
                  <a:gd name="T30" fmla="*/ 786 w 794"/>
                  <a:gd name="T31" fmla="*/ 757 h 757"/>
                  <a:gd name="T32" fmla="*/ 794 w 794"/>
                  <a:gd name="T33" fmla="*/ 757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4" h="757">
                    <a:moveTo>
                      <a:pt x="794" y="757"/>
                    </a:moveTo>
                    <a:lnTo>
                      <a:pt x="790" y="8"/>
                    </a:lnTo>
                    <a:lnTo>
                      <a:pt x="790" y="4"/>
                    </a:lnTo>
                    <a:lnTo>
                      <a:pt x="786" y="4"/>
                    </a:lnTo>
                    <a:lnTo>
                      <a:pt x="552" y="120"/>
                    </a:lnTo>
                    <a:lnTo>
                      <a:pt x="26" y="120"/>
                    </a:lnTo>
                    <a:lnTo>
                      <a:pt x="322" y="12"/>
                    </a:lnTo>
                    <a:lnTo>
                      <a:pt x="786" y="8"/>
                    </a:lnTo>
                    <a:lnTo>
                      <a:pt x="786" y="0"/>
                    </a:lnTo>
                    <a:lnTo>
                      <a:pt x="322" y="4"/>
                    </a:lnTo>
                    <a:lnTo>
                      <a:pt x="3" y="120"/>
                    </a:lnTo>
                    <a:lnTo>
                      <a:pt x="0" y="120"/>
                    </a:lnTo>
                    <a:lnTo>
                      <a:pt x="0" y="127"/>
                    </a:lnTo>
                    <a:lnTo>
                      <a:pt x="552" y="127"/>
                    </a:lnTo>
                    <a:lnTo>
                      <a:pt x="783" y="16"/>
                    </a:lnTo>
                    <a:lnTo>
                      <a:pt x="786" y="757"/>
                    </a:lnTo>
                    <a:lnTo>
                      <a:pt x="794" y="75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8" name="Freeform 452"/>
              <p:cNvSpPr/>
              <p:nvPr/>
            </p:nvSpPr>
            <p:spPr bwMode="auto">
              <a:xfrm>
                <a:off x="3033" y="2807"/>
                <a:ext cx="786" cy="791"/>
              </a:xfrm>
              <a:custGeom>
                <a:avLst/>
                <a:gdLst>
                  <a:gd name="T0" fmla="*/ 0 w 786"/>
                  <a:gd name="T1" fmla="*/ 0 h 791"/>
                  <a:gd name="T2" fmla="*/ 0 w 786"/>
                  <a:gd name="T3" fmla="*/ 791 h 791"/>
                  <a:gd name="T4" fmla="*/ 545 w 786"/>
                  <a:gd name="T5" fmla="*/ 791 h 791"/>
                  <a:gd name="T6" fmla="*/ 786 w 786"/>
                  <a:gd name="T7" fmla="*/ 652 h 791"/>
                  <a:gd name="T8" fmla="*/ 783 w 786"/>
                  <a:gd name="T9" fmla="*/ 645 h 791"/>
                  <a:gd name="T10" fmla="*/ 545 w 786"/>
                  <a:gd name="T11" fmla="*/ 783 h 791"/>
                  <a:gd name="T12" fmla="*/ 7 w 786"/>
                  <a:gd name="T13" fmla="*/ 783 h 791"/>
                  <a:gd name="T14" fmla="*/ 7 w 786"/>
                  <a:gd name="T15" fmla="*/ 0 h 791"/>
                  <a:gd name="T16" fmla="*/ 0 w 786"/>
                  <a:gd name="T17" fmla="*/ 0 h 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6" h="791">
                    <a:moveTo>
                      <a:pt x="0" y="0"/>
                    </a:moveTo>
                    <a:lnTo>
                      <a:pt x="0" y="791"/>
                    </a:lnTo>
                    <a:lnTo>
                      <a:pt x="545" y="791"/>
                    </a:lnTo>
                    <a:lnTo>
                      <a:pt x="786" y="652"/>
                    </a:lnTo>
                    <a:lnTo>
                      <a:pt x="783" y="645"/>
                    </a:lnTo>
                    <a:lnTo>
                      <a:pt x="545" y="783"/>
                    </a:lnTo>
                    <a:lnTo>
                      <a:pt x="7" y="783"/>
                    </a:lnTo>
                    <a:lnTo>
                      <a:pt x="7"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69" name="Rectangle 453"/>
              <p:cNvSpPr>
                <a:spLocks noChangeArrowheads="1"/>
              </p:cNvSpPr>
              <p:nvPr/>
            </p:nvSpPr>
            <p:spPr bwMode="auto">
              <a:xfrm>
                <a:off x="3578" y="2807"/>
                <a:ext cx="7" cy="77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0" name="Freeform 454"/>
              <p:cNvSpPr/>
              <p:nvPr/>
            </p:nvSpPr>
            <p:spPr bwMode="auto">
              <a:xfrm>
                <a:off x="4057" y="2695"/>
                <a:ext cx="776" cy="899"/>
              </a:xfrm>
              <a:custGeom>
                <a:avLst/>
                <a:gdLst>
                  <a:gd name="T0" fmla="*/ 311 w 776"/>
                  <a:gd name="T1" fmla="*/ 4 h 899"/>
                  <a:gd name="T2" fmla="*/ 0 w 776"/>
                  <a:gd name="T3" fmla="*/ 112 h 899"/>
                  <a:gd name="T4" fmla="*/ 0 w 776"/>
                  <a:gd name="T5" fmla="*/ 895 h 899"/>
                  <a:gd name="T6" fmla="*/ 542 w 776"/>
                  <a:gd name="T7" fmla="*/ 899 h 899"/>
                  <a:gd name="T8" fmla="*/ 776 w 776"/>
                  <a:gd name="T9" fmla="*/ 757 h 899"/>
                  <a:gd name="T10" fmla="*/ 776 w 776"/>
                  <a:gd name="T11" fmla="*/ 0 h 899"/>
                  <a:gd name="T12" fmla="*/ 311 w 776"/>
                  <a:gd name="T13" fmla="*/ 4 h 899"/>
                </a:gdLst>
                <a:ahLst/>
                <a:cxnLst>
                  <a:cxn ang="0">
                    <a:pos x="T0" y="T1"/>
                  </a:cxn>
                  <a:cxn ang="0">
                    <a:pos x="T2" y="T3"/>
                  </a:cxn>
                  <a:cxn ang="0">
                    <a:pos x="T4" y="T5"/>
                  </a:cxn>
                  <a:cxn ang="0">
                    <a:pos x="T6" y="T7"/>
                  </a:cxn>
                  <a:cxn ang="0">
                    <a:pos x="T8" y="T9"/>
                  </a:cxn>
                  <a:cxn ang="0">
                    <a:pos x="T10" y="T11"/>
                  </a:cxn>
                  <a:cxn ang="0">
                    <a:pos x="T12" y="T13"/>
                  </a:cxn>
                </a:cxnLst>
                <a:rect l="0" t="0" r="r" b="b"/>
                <a:pathLst>
                  <a:path w="776" h="899">
                    <a:moveTo>
                      <a:pt x="311" y="4"/>
                    </a:moveTo>
                    <a:lnTo>
                      <a:pt x="0" y="112"/>
                    </a:lnTo>
                    <a:lnTo>
                      <a:pt x="0" y="895"/>
                    </a:lnTo>
                    <a:lnTo>
                      <a:pt x="542" y="899"/>
                    </a:lnTo>
                    <a:lnTo>
                      <a:pt x="776" y="757"/>
                    </a:lnTo>
                    <a:lnTo>
                      <a:pt x="776" y="0"/>
                    </a:lnTo>
                    <a:lnTo>
                      <a:pt x="311" y="4"/>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71" name="Rectangle 455"/>
              <p:cNvSpPr>
                <a:spLocks noChangeArrowheads="1"/>
              </p:cNvSpPr>
              <p:nvPr/>
            </p:nvSpPr>
            <p:spPr bwMode="auto">
              <a:xfrm>
                <a:off x="4787"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2" name="Rectangle 456"/>
              <p:cNvSpPr>
                <a:spLocks noChangeArrowheads="1"/>
              </p:cNvSpPr>
              <p:nvPr/>
            </p:nvSpPr>
            <p:spPr bwMode="auto">
              <a:xfrm>
                <a:off x="4756"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3" name="Rectangle 457"/>
              <p:cNvSpPr>
                <a:spLocks noChangeArrowheads="1"/>
              </p:cNvSpPr>
              <p:nvPr/>
            </p:nvSpPr>
            <p:spPr bwMode="auto">
              <a:xfrm>
                <a:off x="4725"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4" name="Rectangle 458"/>
              <p:cNvSpPr>
                <a:spLocks noChangeArrowheads="1"/>
              </p:cNvSpPr>
              <p:nvPr/>
            </p:nvSpPr>
            <p:spPr bwMode="auto">
              <a:xfrm>
                <a:off x="4695"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5" name="Rectangle 459"/>
              <p:cNvSpPr>
                <a:spLocks noChangeArrowheads="1"/>
              </p:cNvSpPr>
              <p:nvPr/>
            </p:nvSpPr>
            <p:spPr bwMode="auto">
              <a:xfrm>
                <a:off x="4664"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6" name="Rectangle 460"/>
              <p:cNvSpPr>
                <a:spLocks noChangeArrowheads="1"/>
              </p:cNvSpPr>
              <p:nvPr/>
            </p:nvSpPr>
            <p:spPr bwMode="auto">
              <a:xfrm>
                <a:off x="4633"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7" name="Rectangle 461"/>
              <p:cNvSpPr>
                <a:spLocks noChangeArrowheads="1"/>
              </p:cNvSpPr>
              <p:nvPr/>
            </p:nvSpPr>
            <p:spPr bwMode="auto">
              <a:xfrm>
                <a:off x="4602"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8" name="Rectangle 462"/>
              <p:cNvSpPr>
                <a:spLocks noChangeArrowheads="1"/>
              </p:cNvSpPr>
              <p:nvPr/>
            </p:nvSpPr>
            <p:spPr bwMode="auto">
              <a:xfrm>
                <a:off x="4572"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79" name="Rectangle 463"/>
              <p:cNvSpPr>
                <a:spLocks noChangeArrowheads="1"/>
              </p:cNvSpPr>
              <p:nvPr/>
            </p:nvSpPr>
            <p:spPr bwMode="auto">
              <a:xfrm>
                <a:off x="4541"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0" name="Rectangle 464"/>
              <p:cNvSpPr>
                <a:spLocks noChangeArrowheads="1"/>
              </p:cNvSpPr>
              <p:nvPr/>
            </p:nvSpPr>
            <p:spPr bwMode="auto">
              <a:xfrm>
                <a:off x="4510"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1" name="Rectangle 465"/>
              <p:cNvSpPr>
                <a:spLocks noChangeArrowheads="1"/>
              </p:cNvSpPr>
              <p:nvPr/>
            </p:nvSpPr>
            <p:spPr bwMode="auto">
              <a:xfrm>
                <a:off x="4480"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2" name="Rectangle 466"/>
              <p:cNvSpPr>
                <a:spLocks noChangeArrowheads="1"/>
              </p:cNvSpPr>
              <p:nvPr/>
            </p:nvSpPr>
            <p:spPr bwMode="auto">
              <a:xfrm>
                <a:off x="4449"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3" name="Rectangle 467"/>
              <p:cNvSpPr>
                <a:spLocks noChangeArrowheads="1"/>
              </p:cNvSpPr>
              <p:nvPr/>
            </p:nvSpPr>
            <p:spPr bwMode="auto">
              <a:xfrm>
                <a:off x="4418" y="3452"/>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4" name="Rectangle 468"/>
              <p:cNvSpPr>
                <a:spLocks noChangeArrowheads="1"/>
              </p:cNvSpPr>
              <p:nvPr/>
            </p:nvSpPr>
            <p:spPr bwMode="auto">
              <a:xfrm>
                <a:off x="4388" y="3452"/>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5" name="Freeform 469"/>
              <p:cNvSpPr/>
              <p:nvPr/>
            </p:nvSpPr>
            <p:spPr bwMode="auto">
              <a:xfrm>
                <a:off x="4361" y="3448"/>
                <a:ext cx="11" cy="11"/>
              </a:xfrm>
              <a:custGeom>
                <a:avLst/>
                <a:gdLst>
                  <a:gd name="T0" fmla="*/ 11 w 11"/>
                  <a:gd name="T1" fmla="*/ 4 h 11"/>
                  <a:gd name="T2" fmla="*/ 7 w 11"/>
                  <a:gd name="T3" fmla="*/ 8 h 11"/>
                  <a:gd name="T4" fmla="*/ 7 w 11"/>
                  <a:gd name="T5" fmla="*/ 0 h 11"/>
                  <a:gd name="T6" fmla="*/ 0 w 11"/>
                  <a:gd name="T7" fmla="*/ 0 h 11"/>
                  <a:gd name="T8" fmla="*/ 0 w 11"/>
                  <a:gd name="T9" fmla="*/ 11 h 11"/>
                  <a:gd name="T10" fmla="*/ 11 w 11"/>
                  <a:gd name="T11" fmla="*/ 11 h 11"/>
                  <a:gd name="T12" fmla="*/ 11 w 11"/>
                  <a:gd name="T13" fmla="*/ 4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1" y="4"/>
                    </a:moveTo>
                    <a:lnTo>
                      <a:pt x="7" y="8"/>
                    </a:lnTo>
                    <a:lnTo>
                      <a:pt x="7" y="0"/>
                    </a:lnTo>
                    <a:lnTo>
                      <a:pt x="0" y="0"/>
                    </a:lnTo>
                    <a:lnTo>
                      <a:pt x="0" y="11"/>
                    </a:lnTo>
                    <a:lnTo>
                      <a:pt x="11" y="11"/>
                    </a:lnTo>
                    <a:lnTo>
                      <a:pt x="11"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686" name="Rectangle 470"/>
              <p:cNvSpPr>
                <a:spLocks noChangeArrowheads="1"/>
              </p:cNvSpPr>
              <p:nvPr/>
            </p:nvSpPr>
            <p:spPr bwMode="auto">
              <a:xfrm>
                <a:off x="4361" y="3417"/>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7" name="Rectangle 471"/>
              <p:cNvSpPr>
                <a:spLocks noChangeArrowheads="1"/>
              </p:cNvSpPr>
              <p:nvPr/>
            </p:nvSpPr>
            <p:spPr bwMode="auto">
              <a:xfrm>
                <a:off x="4361" y="3386"/>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8" name="Rectangle 472"/>
              <p:cNvSpPr>
                <a:spLocks noChangeArrowheads="1"/>
              </p:cNvSpPr>
              <p:nvPr/>
            </p:nvSpPr>
            <p:spPr bwMode="auto">
              <a:xfrm>
                <a:off x="4361" y="3356"/>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89" name="Rectangle 473"/>
              <p:cNvSpPr>
                <a:spLocks noChangeArrowheads="1"/>
              </p:cNvSpPr>
              <p:nvPr/>
            </p:nvSpPr>
            <p:spPr bwMode="auto">
              <a:xfrm>
                <a:off x="4361" y="3325"/>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0" name="Rectangle 474"/>
              <p:cNvSpPr>
                <a:spLocks noChangeArrowheads="1"/>
              </p:cNvSpPr>
              <p:nvPr/>
            </p:nvSpPr>
            <p:spPr bwMode="auto">
              <a:xfrm>
                <a:off x="4361" y="3294"/>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1" name="Rectangle 475"/>
              <p:cNvSpPr>
                <a:spLocks noChangeArrowheads="1"/>
              </p:cNvSpPr>
              <p:nvPr/>
            </p:nvSpPr>
            <p:spPr bwMode="auto">
              <a:xfrm>
                <a:off x="4361" y="3264"/>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2" name="Rectangle 476"/>
              <p:cNvSpPr>
                <a:spLocks noChangeArrowheads="1"/>
              </p:cNvSpPr>
              <p:nvPr/>
            </p:nvSpPr>
            <p:spPr bwMode="auto">
              <a:xfrm>
                <a:off x="4361" y="3233"/>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3" name="Rectangle 477"/>
              <p:cNvSpPr>
                <a:spLocks noChangeArrowheads="1"/>
              </p:cNvSpPr>
              <p:nvPr/>
            </p:nvSpPr>
            <p:spPr bwMode="auto">
              <a:xfrm>
                <a:off x="4361" y="3202"/>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4" name="Rectangle 478"/>
              <p:cNvSpPr>
                <a:spLocks noChangeArrowheads="1"/>
              </p:cNvSpPr>
              <p:nvPr/>
            </p:nvSpPr>
            <p:spPr bwMode="auto">
              <a:xfrm>
                <a:off x="4361" y="3171"/>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5" name="Rectangle 479"/>
              <p:cNvSpPr>
                <a:spLocks noChangeArrowheads="1"/>
              </p:cNvSpPr>
              <p:nvPr/>
            </p:nvSpPr>
            <p:spPr bwMode="auto">
              <a:xfrm>
                <a:off x="4361" y="3141"/>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6" name="Rectangle 480"/>
              <p:cNvSpPr>
                <a:spLocks noChangeArrowheads="1"/>
              </p:cNvSpPr>
              <p:nvPr/>
            </p:nvSpPr>
            <p:spPr bwMode="auto">
              <a:xfrm>
                <a:off x="4361" y="3110"/>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7" name="Rectangle 481"/>
              <p:cNvSpPr>
                <a:spLocks noChangeArrowheads="1"/>
              </p:cNvSpPr>
              <p:nvPr/>
            </p:nvSpPr>
            <p:spPr bwMode="auto">
              <a:xfrm>
                <a:off x="4361" y="3079"/>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8" name="Rectangle 482"/>
              <p:cNvSpPr>
                <a:spLocks noChangeArrowheads="1"/>
              </p:cNvSpPr>
              <p:nvPr/>
            </p:nvSpPr>
            <p:spPr bwMode="auto">
              <a:xfrm>
                <a:off x="4361" y="3048"/>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699" name="Rectangle 483"/>
              <p:cNvSpPr>
                <a:spLocks noChangeArrowheads="1"/>
              </p:cNvSpPr>
              <p:nvPr/>
            </p:nvSpPr>
            <p:spPr bwMode="auto">
              <a:xfrm>
                <a:off x="4361" y="3018"/>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0" name="Rectangle 484"/>
              <p:cNvSpPr>
                <a:spLocks noChangeArrowheads="1"/>
              </p:cNvSpPr>
              <p:nvPr/>
            </p:nvSpPr>
            <p:spPr bwMode="auto">
              <a:xfrm>
                <a:off x="4361" y="2987"/>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1" name="Rectangle 485"/>
              <p:cNvSpPr>
                <a:spLocks noChangeArrowheads="1"/>
              </p:cNvSpPr>
              <p:nvPr/>
            </p:nvSpPr>
            <p:spPr bwMode="auto">
              <a:xfrm>
                <a:off x="4361" y="2956"/>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2" name="Rectangle 486"/>
              <p:cNvSpPr>
                <a:spLocks noChangeArrowheads="1"/>
              </p:cNvSpPr>
              <p:nvPr/>
            </p:nvSpPr>
            <p:spPr bwMode="auto">
              <a:xfrm>
                <a:off x="4361" y="2926"/>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3" name="Rectangle 487"/>
              <p:cNvSpPr>
                <a:spLocks noChangeArrowheads="1"/>
              </p:cNvSpPr>
              <p:nvPr/>
            </p:nvSpPr>
            <p:spPr bwMode="auto">
              <a:xfrm>
                <a:off x="4361" y="2895"/>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4" name="Rectangle 488"/>
              <p:cNvSpPr>
                <a:spLocks noChangeArrowheads="1"/>
              </p:cNvSpPr>
              <p:nvPr/>
            </p:nvSpPr>
            <p:spPr bwMode="auto">
              <a:xfrm>
                <a:off x="4361" y="2864"/>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5" name="Rectangle 489"/>
              <p:cNvSpPr>
                <a:spLocks noChangeArrowheads="1"/>
              </p:cNvSpPr>
              <p:nvPr/>
            </p:nvSpPr>
            <p:spPr bwMode="auto">
              <a:xfrm>
                <a:off x="4361" y="2833"/>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6" name="Rectangle 490"/>
              <p:cNvSpPr>
                <a:spLocks noChangeArrowheads="1"/>
              </p:cNvSpPr>
              <p:nvPr/>
            </p:nvSpPr>
            <p:spPr bwMode="auto">
              <a:xfrm>
                <a:off x="4361" y="2803"/>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7" name="Rectangle 491"/>
              <p:cNvSpPr>
                <a:spLocks noChangeArrowheads="1"/>
              </p:cNvSpPr>
              <p:nvPr/>
            </p:nvSpPr>
            <p:spPr bwMode="auto">
              <a:xfrm>
                <a:off x="4361" y="2772"/>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8" name="Rectangle 492"/>
              <p:cNvSpPr>
                <a:spLocks noChangeArrowheads="1"/>
              </p:cNvSpPr>
              <p:nvPr/>
            </p:nvSpPr>
            <p:spPr bwMode="auto">
              <a:xfrm>
                <a:off x="4361" y="2741"/>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09" name="Rectangle 493"/>
              <p:cNvSpPr>
                <a:spLocks noChangeArrowheads="1"/>
              </p:cNvSpPr>
              <p:nvPr/>
            </p:nvSpPr>
            <p:spPr bwMode="auto">
              <a:xfrm>
                <a:off x="4361" y="2711"/>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10" name="Freeform 494"/>
              <p:cNvSpPr/>
              <p:nvPr/>
            </p:nvSpPr>
            <p:spPr bwMode="auto">
              <a:xfrm>
                <a:off x="4334" y="3456"/>
                <a:ext cx="15" cy="15"/>
              </a:xfrm>
              <a:custGeom>
                <a:avLst/>
                <a:gdLst>
                  <a:gd name="T0" fmla="*/ 15 w 15"/>
                  <a:gd name="T1" fmla="*/ 0 h 15"/>
                  <a:gd name="T2" fmla="*/ 0 w 15"/>
                  <a:gd name="T3" fmla="*/ 7 h 15"/>
                  <a:gd name="T4" fmla="*/ 4 w 15"/>
                  <a:gd name="T5" fmla="*/ 15 h 15"/>
                  <a:gd name="T6" fmla="*/ 15 w 15"/>
                  <a:gd name="T7" fmla="*/ 7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7"/>
                    </a:lnTo>
                    <a:lnTo>
                      <a:pt x="4" y="15"/>
                    </a:lnTo>
                    <a:lnTo>
                      <a:pt x="15"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1" name="Freeform 495"/>
              <p:cNvSpPr/>
              <p:nvPr/>
            </p:nvSpPr>
            <p:spPr bwMode="auto">
              <a:xfrm>
                <a:off x="4307" y="3467"/>
                <a:ext cx="15" cy="15"/>
              </a:xfrm>
              <a:custGeom>
                <a:avLst/>
                <a:gdLst>
                  <a:gd name="T0" fmla="*/ 11 w 15"/>
                  <a:gd name="T1" fmla="*/ 0 h 15"/>
                  <a:gd name="T2" fmla="*/ 0 w 15"/>
                  <a:gd name="T3" fmla="*/ 8 h 15"/>
                  <a:gd name="T4" fmla="*/ 0 w 15"/>
                  <a:gd name="T5" fmla="*/ 15 h 15"/>
                  <a:gd name="T6" fmla="*/ 15 w 15"/>
                  <a:gd name="T7" fmla="*/ 8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0" y="15"/>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2" name="Freeform 496"/>
              <p:cNvSpPr/>
              <p:nvPr/>
            </p:nvSpPr>
            <p:spPr bwMode="auto">
              <a:xfrm>
                <a:off x="4276" y="3482"/>
                <a:ext cx="19" cy="12"/>
              </a:xfrm>
              <a:custGeom>
                <a:avLst/>
                <a:gdLst>
                  <a:gd name="T0" fmla="*/ 16 w 19"/>
                  <a:gd name="T1" fmla="*/ 0 h 12"/>
                  <a:gd name="T2" fmla="*/ 0 w 19"/>
                  <a:gd name="T3" fmla="*/ 4 h 12"/>
                  <a:gd name="T4" fmla="*/ 4 w 19"/>
                  <a:gd name="T5" fmla="*/ 12 h 12"/>
                  <a:gd name="T6" fmla="*/ 19 w 19"/>
                  <a:gd name="T7" fmla="*/ 8 h 12"/>
                  <a:gd name="T8" fmla="*/ 16 w 19"/>
                  <a:gd name="T9" fmla="*/ 0 h 12"/>
                </a:gdLst>
                <a:ahLst/>
                <a:cxnLst>
                  <a:cxn ang="0">
                    <a:pos x="T0" y="T1"/>
                  </a:cxn>
                  <a:cxn ang="0">
                    <a:pos x="T2" y="T3"/>
                  </a:cxn>
                  <a:cxn ang="0">
                    <a:pos x="T4" y="T5"/>
                  </a:cxn>
                  <a:cxn ang="0">
                    <a:pos x="T6" y="T7"/>
                  </a:cxn>
                  <a:cxn ang="0">
                    <a:pos x="T8" y="T9"/>
                  </a:cxn>
                </a:cxnLst>
                <a:rect l="0" t="0" r="r" b="b"/>
                <a:pathLst>
                  <a:path w="19" h="12">
                    <a:moveTo>
                      <a:pt x="16" y="0"/>
                    </a:moveTo>
                    <a:lnTo>
                      <a:pt x="0" y="4"/>
                    </a:lnTo>
                    <a:lnTo>
                      <a:pt x="4" y="12"/>
                    </a:lnTo>
                    <a:lnTo>
                      <a:pt x="19"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3" name="Freeform 497"/>
              <p:cNvSpPr/>
              <p:nvPr/>
            </p:nvSpPr>
            <p:spPr bwMode="auto">
              <a:xfrm>
                <a:off x="4249" y="3494"/>
                <a:ext cx="20" cy="15"/>
              </a:xfrm>
              <a:custGeom>
                <a:avLst/>
                <a:gdLst>
                  <a:gd name="T0" fmla="*/ 16 w 20"/>
                  <a:gd name="T1" fmla="*/ 0 h 15"/>
                  <a:gd name="T2" fmla="*/ 0 w 20"/>
                  <a:gd name="T3" fmla="*/ 8 h 15"/>
                  <a:gd name="T4" fmla="*/ 4 w 20"/>
                  <a:gd name="T5" fmla="*/ 15 h 15"/>
                  <a:gd name="T6" fmla="*/ 20 w 20"/>
                  <a:gd name="T7" fmla="*/ 8 h 15"/>
                  <a:gd name="T8" fmla="*/ 16 w 20"/>
                  <a:gd name="T9" fmla="*/ 0 h 15"/>
                </a:gdLst>
                <a:ahLst/>
                <a:cxnLst>
                  <a:cxn ang="0">
                    <a:pos x="T0" y="T1"/>
                  </a:cxn>
                  <a:cxn ang="0">
                    <a:pos x="T2" y="T3"/>
                  </a:cxn>
                  <a:cxn ang="0">
                    <a:pos x="T4" y="T5"/>
                  </a:cxn>
                  <a:cxn ang="0">
                    <a:pos x="T6" y="T7"/>
                  </a:cxn>
                  <a:cxn ang="0">
                    <a:pos x="T8" y="T9"/>
                  </a:cxn>
                </a:cxnLst>
                <a:rect l="0" t="0" r="r" b="b"/>
                <a:pathLst>
                  <a:path w="20" h="15">
                    <a:moveTo>
                      <a:pt x="16" y="0"/>
                    </a:moveTo>
                    <a:lnTo>
                      <a:pt x="0" y="8"/>
                    </a:lnTo>
                    <a:lnTo>
                      <a:pt x="4" y="15"/>
                    </a:lnTo>
                    <a:lnTo>
                      <a:pt x="20"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4" name="Freeform 498"/>
              <p:cNvSpPr/>
              <p:nvPr/>
            </p:nvSpPr>
            <p:spPr bwMode="auto">
              <a:xfrm>
                <a:off x="4222" y="3505"/>
                <a:ext cx="16" cy="16"/>
              </a:xfrm>
              <a:custGeom>
                <a:avLst/>
                <a:gdLst>
                  <a:gd name="T0" fmla="*/ 12 w 16"/>
                  <a:gd name="T1" fmla="*/ 0 h 16"/>
                  <a:gd name="T2" fmla="*/ 0 w 16"/>
                  <a:gd name="T3" fmla="*/ 8 h 16"/>
                  <a:gd name="T4" fmla="*/ 4 w 16"/>
                  <a:gd name="T5" fmla="*/ 16 h 16"/>
                  <a:gd name="T6" fmla="*/ 16 w 16"/>
                  <a:gd name="T7" fmla="*/ 8 h 16"/>
                  <a:gd name="T8" fmla="*/ 12 w 16"/>
                  <a:gd name="T9" fmla="*/ 0 h 16"/>
                </a:gdLst>
                <a:ahLst/>
                <a:cxnLst>
                  <a:cxn ang="0">
                    <a:pos x="T0" y="T1"/>
                  </a:cxn>
                  <a:cxn ang="0">
                    <a:pos x="T2" y="T3"/>
                  </a:cxn>
                  <a:cxn ang="0">
                    <a:pos x="T4" y="T5"/>
                  </a:cxn>
                  <a:cxn ang="0">
                    <a:pos x="T6" y="T7"/>
                  </a:cxn>
                  <a:cxn ang="0">
                    <a:pos x="T8" y="T9"/>
                  </a:cxn>
                </a:cxnLst>
                <a:rect l="0" t="0" r="r" b="b"/>
                <a:pathLst>
                  <a:path w="16" h="16">
                    <a:moveTo>
                      <a:pt x="12" y="0"/>
                    </a:moveTo>
                    <a:lnTo>
                      <a:pt x="0" y="8"/>
                    </a:lnTo>
                    <a:lnTo>
                      <a:pt x="4" y="16"/>
                    </a:lnTo>
                    <a:lnTo>
                      <a:pt x="16"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5" name="Freeform 499"/>
              <p:cNvSpPr/>
              <p:nvPr/>
            </p:nvSpPr>
            <p:spPr bwMode="auto">
              <a:xfrm>
                <a:off x="4196" y="3521"/>
                <a:ext cx="15" cy="11"/>
              </a:xfrm>
              <a:custGeom>
                <a:avLst/>
                <a:gdLst>
                  <a:gd name="T0" fmla="*/ 11 w 15"/>
                  <a:gd name="T1" fmla="*/ 0 h 11"/>
                  <a:gd name="T2" fmla="*/ 0 w 15"/>
                  <a:gd name="T3" fmla="*/ 4 h 11"/>
                  <a:gd name="T4" fmla="*/ 0 w 15"/>
                  <a:gd name="T5" fmla="*/ 11 h 11"/>
                  <a:gd name="T6" fmla="*/ 15 w 15"/>
                  <a:gd name="T7" fmla="*/ 8 h 11"/>
                  <a:gd name="T8" fmla="*/ 11 w 15"/>
                  <a:gd name="T9" fmla="*/ 0 h 11"/>
                </a:gdLst>
                <a:ahLst/>
                <a:cxnLst>
                  <a:cxn ang="0">
                    <a:pos x="T0" y="T1"/>
                  </a:cxn>
                  <a:cxn ang="0">
                    <a:pos x="T2" y="T3"/>
                  </a:cxn>
                  <a:cxn ang="0">
                    <a:pos x="T4" y="T5"/>
                  </a:cxn>
                  <a:cxn ang="0">
                    <a:pos x="T6" y="T7"/>
                  </a:cxn>
                  <a:cxn ang="0">
                    <a:pos x="T8" y="T9"/>
                  </a:cxn>
                </a:cxnLst>
                <a:rect l="0" t="0" r="r" b="b"/>
                <a:pathLst>
                  <a:path w="15" h="11">
                    <a:moveTo>
                      <a:pt x="11" y="0"/>
                    </a:moveTo>
                    <a:lnTo>
                      <a:pt x="0" y="4"/>
                    </a:lnTo>
                    <a:lnTo>
                      <a:pt x="0" y="11"/>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6" name="Freeform 500"/>
              <p:cNvSpPr/>
              <p:nvPr/>
            </p:nvSpPr>
            <p:spPr bwMode="auto">
              <a:xfrm>
                <a:off x="4165" y="3532"/>
                <a:ext cx="19" cy="12"/>
              </a:xfrm>
              <a:custGeom>
                <a:avLst/>
                <a:gdLst>
                  <a:gd name="T0" fmla="*/ 15 w 19"/>
                  <a:gd name="T1" fmla="*/ 0 h 12"/>
                  <a:gd name="T2" fmla="*/ 0 w 19"/>
                  <a:gd name="T3" fmla="*/ 8 h 12"/>
                  <a:gd name="T4" fmla="*/ 4 w 19"/>
                  <a:gd name="T5" fmla="*/ 12 h 12"/>
                  <a:gd name="T6" fmla="*/ 19 w 19"/>
                  <a:gd name="T7" fmla="*/ 8 h 12"/>
                  <a:gd name="T8" fmla="*/ 15 w 19"/>
                  <a:gd name="T9" fmla="*/ 0 h 12"/>
                </a:gdLst>
                <a:ahLst/>
                <a:cxnLst>
                  <a:cxn ang="0">
                    <a:pos x="T0" y="T1"/>
                  </a:cxn>
                  <a:cxn ang="0">
                    <a:pos x="T2" y="T3"/>
                  </a:cxn>
                  <a:cxn ang="0">
                    <a:pos x="T4" y="T5"/>
                  </a:cxn>
                  <a:cxn ang="0">
                    <a:pos x="T6" y="T7"/>
                  </a:cxn>
                  <a:cxn ang="0">
                    <a:pos x="T8" y="T9"/>
                  </a:cxn>
                </a:cxnLst>
                <a:rect l="0" t="0" r="r" b="b"/>
                <a:pathLst>
                  <a:path w="19" h="12">
                    <a:moveTo>
                      <a:pt x="15" y="0"/>
                    </a:moveTo>
                    <a:lnTo>
                      <a:pt x="0" y="8"/>
                    </a:lnTo>
                    <a:lnTo>
                      <a:pt x="4" y="12"/>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7" name="Freeform 501"/>
              <p:cNvSpPr/>
              <p:nvPr/>
            </p:nvSpPr>
            <p:spPr bwMode="auto">
              <a:xfrm>
                <a:off x="4138" y="3544"/>
                <a:ext cx="15" cy="15"/>
              </a:xfrm>
              <a:custGeom>
                <a:avLst/>
                <a:gdLst>
                  <a:gd name="T0" fmla="*/ 15 w 15"/>
                  <a:gd name="T1" fmla="*/ 0 h 15"/>
                  <a:gd name="T2" fmla="*/ 0 w 15"/>
                  <a:gd name="T3" fmla="*/ 8 h 15"/>
                  <a:gd name="T4" fmla="*/ 4 w 15"/>
                  <a:gd name="T5" fmla="*/ 15 h 15"/>
                  <a:gd name="T6" fmla="*/ 15 w 15"/>
                  <a:gd name="T7" fmla="*/ 8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8"/>
                    </a:lnTo>
                    <a:lnTo>
                      <a:pt x="4" y="15"/>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8" name="Freeform 502"/>
              <p:cNvSpPr/>
              <p:nvPr/>
            </p:nvSpPr>
            <p:spPr bwMode="auto">
              <a:xfrm>
                <a:off x="4111" y="3559"/>
                <a:ext cx="16" cy="12"/>
              </a:xfrm>
              <a:custGeom>
                <a:avLst/>
                <a:gdLst>
                  <a:gd name="T0" fmla="*/ 12 w 16"/>
                  <a:gd name="T1" fmla="*/ 0 h 12"/>
                  <a:gd name="T2" fmla="*/ 0 w 16"/>
                  <a:gd name="T3" fmla="*/ 4 h 12"/>
                  <a:gd name="T4" fmla="*/ 4 w 16"/>
                  <a:gd name="T5" fmla="*/ 12 h 12"/>
                  <a:gd name="T6" fmla="*/ 16 w 16"/>
                  <a:gd name="T7" fmla="*/ 4 h 12"/>
                  <a:gd name="T8" fmla="*/ 12 w 16"/>
                  <a:gd name="T9" fmla="*/ 0 h 12"/>
                </a:gdLst>
                <a:ahLst/>
                <a:cxnLst>
                  <a:cxn ang="0">
                    <a:pos x="T0" y="T1"/>
                  </a:cxn>
                  <a:cxn ang="0">
                    <a:pos x="T2" y="T3"/>
                  </a:cxn>
                  <a:cxn ang="0">
                    <a:pos x="T4" y="T5"/>
                  </a:cxn>
                  <a:cxn ang="0">
                    <a:pos x="T6" y="T7"/>
                  </a:cxn>
                  <a:cxn ang="0">
                    <a:pos x="T8" y="T9"/>
                  </a:cxn>
                </a:cxnLst>
                <a:rect l="0" t="0" r="r" b="b"/>
                <a:pathLst>
                  <a:path w="16" h="12">
                    <a:moveTo>
                      <a:pt x="12" y="0"/>
                    </a:moveTo>
                    <a:lnTo>
                      <a:pt x="0" y="4"/>
                    </a:lnTo>
                    <a:lnTo>
                      <a:pt x="4" y="12"/>
                    </a:lnTo>
                    <a:lnTo>
                      <a:pt x="16" y="4"/>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19" name="Freeform 503"/>
              <p:cNvSpPr/>
              <p:nvPr/>
            </p:nvSpPr>
            <p:spPr bwMode="auto">
              <a:xfrm>
                <a:off x="4080" y="3571"/>
                <a:ext cx="20" cy="11"/>
              </a:xfrm>
              <a:custGeom>
                <a:avLst/>
                <a:gdLst>
                  <a:gd name="T0" fmla="*/ 16 w 20"/>
                  <a:gd name="T1" fmla="*/ 0 h 11"/>
                  <a:gd name="T2" fmla="*/ 0 w 20"/>
                  <a:gd name="T3" fmla="*/ 7 h 11"/>
                  <a:gd name="T4" fmla="*/ 4 w 20"/>
                  <a:gd name="T5" fmla="*/ 11 h 11"/>
                  <a:gd name="T6" fmla="*/ 20 w 20"/>
                  <a:gd name="T7" fmla="*/ 7 h 11"/>
                  <a:gd name="T8" fmla="*/ 16 w 20"/>
                  <a:gd name="T9" fmla="*/ 0 h 11"/>
                </a:gdLst>
                <a:ahLst/>
                <a:cxnLst>
                  <a:cxn ang="0">
                    <a:pos x="T0" y="T1"/>
                  </a:cxn>
                  <a:cxn ang="0">
                    <a:pos x="T2" y="T3"/>
                  </a:cxn>
                  <a:cxn ang="0">
                    <a:pos x="T4" y="T5"/>
                  </a:cxn>
                  <a:cxn ang="0">
                    <a:pos x="T6" y="T7"/>
                  </a:cxn>
                  <a:cxn ang="0">
                    <a:pos x="T8" y="T9"/>
                  </a:cxn>
                </a:cxnLst>
                <a:rect l="0" t="0" r="r" b="b"/>
                <a:pathLst>
                  <a:path w="20" h="11">
                    <a:moveTo>
                      <a:pt x="16" y="0"/>
                    </a:moveTo>
                    <a:lnTo>
                      <a:pt x="0" y="7"/>
                    </a:lnTo>
                    <a:lnTo>
                      <a:pt x="4" y="11"/>
                    </a:lnTo>
                    <a:lnTo>
                      <a:pt x="20" y="7"/>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20" name="Freeform 504"/>
              <p:cNvSpPr/>
              <p:nvPr/>
            </p:nvSpPr>
            <p:spPr bwMode="auto">
              <a:xfrm>
                <a:off x="4054" y="3582"/>
                <a:ext cx="19" cy="16"/>
              </a:xfrm>
              <a:custGeom>
                <a:avLst/>
                <a:gdLst>
                  <a:gd name="T0" fmla="*/ 15 w 19"/>
                  <a:gd name="T1" fmla="*/ 0 h 16"/>
                  <a:gd name="T2" fmla="*/ 0 w 19"/>
                  <a:gd name="T3" fmla="*/ 8 h 16"/>
                  <a:gd name="T4" fmla="*/ 3 w 19"/>
                  <a:gd name="T5" fmla="*/ 16 h 16"/>
                  <a:gd name="T6" fmla="*/ 19 w 19"/>
                  <a:gd name="T7" fmla="*/ 8 h 16"/>
                  <a:gd name="T8" fmla="*/ 15 w 19"/>
                  <a:gd name="T9" fmla="*/ 0 h 16"/>
                </a:gdLst>
                <a:ahLst/>
                <a:cxnLst>
                  <a:cxn ang="0">
                    <a:pos x="T0" y="T1"/>
                  </a:cxn>
                  <a:cxn ang="0">
                    <a:pos x="T2" y="T3"/>
                  </a:cxn>
                  <a:cxn ang="0">
                    <a:pos x="T4" y="T5"/>
                  </a:cxn>
                  <a:cxn ang="0">
                    <a:pos x="T6" y="T7"/>
                  </a:cxn>
                  <a:cxn ang="0">
                    <a:pos x="T8" y="T9"/>
                  </a:cxn>
                </a:cxnLst>
                <a:rect l="0" t="0" r="r" b="b"/>
                <a:pathLst>
                  <a:path w="19" h="16">
                    <a:moveTo>
                      <a:pt x="15" y="0"/>
                    </a:moveTo>
                    <a:lnTo>
                      <a:pt x="0" y="8"/>
                    </a:lnTo>
                    <a:lnTo>
                      <a:pt x="3" y="16"/>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21" name="Freeform 505"/>
              <p:cNvSpPr/>
              <p:nvPr/>
            </p:nvSpPr>
            <p:spPr bwMode="auto">
              <a:xfrm>
                <a:off x="4050" y="2687"/>
                <a:ext cx="794" cy="757"/>
              </a:xfrm>
              <a:custGeom>
                <a:avLst/>
                <a:gdLst>
                  <a:gd name="T0" fmla="*/ 794 w 794"/>
                  <a:gd name="T1" fmla="*/ 757 h 757"/>
                  <a:gd name="T2" fmla="*/ 790 w 794"/>
                  <a:gd name="T3" fmla="*/ 8 h 757"/>
                  <a:gd name="T4" fmla="*/ 790 w 794"/>
                  <a:gd name="T5" fmla="*/ 4 h 757"/>
                  <a:gd name="T6" fmla="*/ 787 w 794"/>
                  <a:gd name="T7" fmla="*/ 4 h 757"/>
                  <a:gd name="T8" fmla="*/ 552 w 794"/>
                  <a:gd name="T9" fmla="*/ 120 h 757"/>
                  <a:gd name="T10" fmla="*/ 27 w 794"/>
                  <a:gd name="T11" fmla="*/ 120 h 757"/>
                  <a:gd name="T12" fmla="*/ 322 w 794"/>
                  <a:gd name="T13" fmla="*/ 12 h 757"/>
                  <a:gd name="T14" fmla="*/ 787 w 794"/>
                  <a:gd name="T15" fmla="*/ 8 h 757"/>
                  <a:gd name="T16" fmla="*/ 787 w 794"/>
                  <a:gd name="T17" fmla="*/ 0 h 757"/>
                  <a:gd name="T18" fmla="*/ 322 w 794"/>
                  <a:gd name="T19" fmla="*/ 4 h 757"/>
                  <a:gd name="T20" fmla="*/ 4 w 794"/>
                  <a:gd name="T21" fmla="*/ 120 h 757"/>
                  <a:gd name="T22" fmla="*/ 0 w 794"/>
                  <a:gd name="T23" fmla="*/ 120 h 757"/>
                  <a:gd name="T24" fmla="*/ 0 w 794"/>
                  <a:gd name="T25" fmla="*/ 127 h 757"/>
                  <a:gd name="T26" fmla="*/ 552 w 794"/>
                  <a:gd name="T27" fmla="*/ 127 h 757"/>
                  <a:gd name="T28" fmla="*/ 783 w 794"/>
                  <a:gd name="T29" fmla="*/ 16 h 757"/>
                  <a:gd name="T30" fmla="*/ 787 w 794"/>
                  <a:gd name="T31" fmla="*/ 757 h 757"/>
                  <a:gd name="T32" fmla="*/ 794 w 794"/>
                  <a:gd name="T33" fmla="*/ 757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4" h="757">
                    <a:moveTo>
                      <a:pt x="794" y="757"/>
                    </a:moveTo>
                    <a:lnTo>
                      <a:pt x="790" y="8"/>
                    </a:lnTo>
                    <a:lnTo>
                      <a:pt x="790" y="4"/>
                    </a:lnTo>
                    <a:lnTo>
                      <a:pt x="787" y="4"/>
                    </a:lnTo>
                    <a:lnTo>
                      <a:pt x="552" y="120"/>
                    </a:lnTo>
                    <a:lnTo>
                      <a:pt x="27" y="120"/>
                    </a:lnTo>
                    <a:lnTo>
                      <a:pt x="322" y="12"/>
                    </a:lnTo>
                    <a:lnTo>
                      <a:pt x="787" y="8"/>
                    </a:lnTo>
                    <a:lnTo>
                      <a:pt x="787" y="0"/>
                    </a:lnTo>
                    <a:lnTo>
                      <a:pt x="322" y="4"/>
                    </a:lnTo>
                    <a:lnTo>
                      <a:pt x="4" y="120"/>
                    </a:lnTo>
                    <a:lnTo>
                      <a:pt x="0" y="120"/>
                    </a:lnTo>
                    <a:lnTo>
                      <a:pt x="0" y="127"/>
                    </a:lnTo>
                    <a:lnTo>
                      <a:pt x="552" y="127"/>
                    </a:lnTo>
                    <a:lnTo>
                      <a:pt x="783" y="16"/>
                    </a:lnTo>
                    <a:lnTo>
                      <a:pt x="787" y="757"/>
                    </a:lnTo>
                    <a:lnTo>
                      <a:pt x="794" y="75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22" name="Freeform 506"/>
              <p:cNvSpPr/>
              <p:nvPr/>
            </p:nvSpPr>
            <p:spPr bwMode="auto">
              <a:xfrm>
                <a:off x="4054" y="2807"/>
                <a:ext cx="783" cy="791"/>
              </a:xfrm>
              <a:custGeom>
                <a:avLst/>
                <a:gdLst>
                  <a:gd name="T0" fmla="*/ 0 w 783"/>
                  <a:gd name="T1" fmla="*/ 0 h 791"/>
                  <a:gd name="T2" fmla="*/ 0 w 783"/>
                  <a:gd name="T3" fmla="*/ 791 h 791"/>
                  <a:gd name="T4" fmla="*/ 541 w 783"/>
                  <a:gd name="T5" fmla="*/ 791 h 791"/>
                  <a:gd name="T6" fmla="*/ 783 w 783"/>
                  <a:gd name="T7" fmla="*/ 652 h 791"/>
                  <a:gd name="T8" fmla="*/ 779 w 783"/>
                  <a:gd name="T9" fmla="*/ 645 h 791"/>
                  <a:gd name="T10" fmla="*/ 541 w 783"/>
                  <a:gd name="T11" fmla="*/ 783 h 791"/>
                  <a:gd name="T12" fmla="*/ 7 w 783"/>
                  <a:gd name="T13" fmla="*/ 783 h 791"/>
                  <a:gd name="T14" fmla="*/ 7 w 783"/>
                  <a:gd name="T15" fmla="*/ 0 h 791"/>
                  <a:gd name="T16" fmla="*/ 0 w 783"/>
                  <a:gd name="T17" fmla="*/ 0 h 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3" h="791">
                    <a:moveTo>
                      <a:pt x="0" y="0"/>
                    </a:moveTo>
                    <a:lnTo>
                      <a:pt x="0" y="791"/>
                    </a:lnTo>
                    <a:lnTo>
                      <a:pt x="541" y="791"/>
                    </a:lnTo>
                    <a:lnTo>
                      <a:pt x="783" y="652"/>
                    </a:lnTo>
                    <a:lnTo>
                      <a:pt x="779" y="645"/>
                    </a:lnTo>
                    <a:lnTo>
                      <a:pt x="541" y="783"/>
                    </a:lnTo>
                    <a:lnTo>
                      <a:pt x="7" y="783"/>
                    </a:lnTo>
                    <a:lnTo>
                      <a:pt x="7"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723" name="Rectangle 507"/>
              <p:cNvSpPr>
                <a:spLocks noChangeArrowheads="1"/>
              </p:cNvSpPr>
              <p:nvPr/>
            </p:nvSpPr>
            <p:spPr bwMode="auto">
              <a:xfrm>
                <a:off x="4595" y="2807"/>
                <a:ext cx="7" cy="77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724" name="Rectangle 508"/>
              <p:cNvSpPr>
                <a:spLocks noChangeArrowheads="1"/>
              </p:cNvSpPr>
              <p:nvPr/>
            </p:nvSpPr>
            <p:spPr bwMode="auto">
              <a:xfrm>
                <a:off x="3313" y="3651"/>
                <a:ext cx="1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F</a:t>
                </a:r>
                <a:endParaRPr lang="en-US" altLang="zh-CN" sz="2400" b="0">
                  <a:effectLst>
                    <a:outerShdw blurRad="38100" dist="38100" dir="2700000" algn="tl">
                      <a:srgbClr val="000000"/>
                    </a:outerShdw>
                  </a:effectLst>
                </a:endParaRPr>
              </a:p>
            </p:txBody>
          </p:sp>
          <p:sp>
            <p:nvSpPr>
              <p:cNvPr id="137725" name="Rectangle 509"/>
              <p:cNvSpPr>
                <a:spLocks noChangeArrowheads="1"/>
              </p:cNvSpPr>
              <p:nvPr/>
            </p:nvSpPr>
            <p:spPr bwMode="auto">
              <a:xfrm>
                <a:off x="4322" y="3651"/>
                <a:ext cx="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I</a:t>
                </a:r>
                <a:endParaRPr lang="en-US" altLang="zh-CN" sz="2400" b="0">
                  <a:effectLst>
                    <a:outerShdw blurRad="38100" dist="38100" dir="2700000" algn="tl">
                      <a:srgbClr val="000000"/>
                    </a:outerShdw>
                  </a:effectLst>
                </a:endParaRPr>
              </a:p>
            </p:txBody>
          </p:sp>
          <p:pic>
            <p:nvPicPr>
              <p:cNvPr id="137726" name="Picture 51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959" y="275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27" name="Picture 51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959" y="353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28" name="Picture 51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493" y="354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29" name="Picture 51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19" y="340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0" name="Picture 51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89" y="2655"/>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1" name="Picture 51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493" y="276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2" name="Picture 51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261" y="261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3" name="Picture 51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255" y="340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4" name="Picture 51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277" y="3391"/>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5" name="Picture 51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295" y="2625"/>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6" name="Picture 52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752" y="263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7" name="Picture 52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740" y="340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8" name="Picture 52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520" y="352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39" name="Picture 52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986" y="353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0" name="Picture 52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992" y="275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1" name="Picture 52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395" y="270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2" name="Picture 52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384" y="346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3" name="Picture 52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520" y="276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4" name="Picture 52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007" y="276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5" name="Picture 52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4" y="264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6" name="Picture 53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767" y="264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7" name="Picture 53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536" y="277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8" name="Picture 53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417" y="270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49" name="Picture 53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89" y="354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0" name="Picture 53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10" y="340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1" name="Picture 53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162" y="310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2" name="Picture 53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536" y="354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3" name="Picture 53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767" y="340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4" name="Picture 53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423" y="346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5" name="Picture 53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286" y="318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6" name="Picture 54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55" y="310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57" name="Picture 54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506" y="304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758" name="Line 542"/>
              <p:cNvSpPr>
                <a:spLocks noChangeShapeType="1"/>
              </p:cNvSpPr>
              <p:nvPr/>
            </p:nvSpPr>
            <p:spPr bwMode="auto">
              <a:xfrm flipV="1">
                <a:off x="3468" y="2791"/>
                <a:ext cx="0" cy="671"/>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759" name="Line 543"/>
              <p:cNvSpPr>
                <a:spLocks noChangeShapeType="1"/>
              </p:cNvSpPr>
              <p:nvPr/>
            </p:nvSpPr>
            <p:spPr bwMode="auto">
              <a:xfrm flipV="1">
                <a:off x="3367" y="3100"/>
                <a:ext cx="160" cy="101"/>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760" name="Line 544"/>
              <p:cNvSpPr>
                <a:spLocks noChangeShapeType="1"/>
              </p:cNvSpPr>
              <p:nvPr/>
            </p:nvSpPr>
            <p:spPr bwMode="auto">
              <a:xfrm flipV="1">
                <a:off x="3254" y="3147"/>
                <a:ext cx="434"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37761" name="Picture 54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19" y="264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2" name="Picture 54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71" y="264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3" name="Picture 54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89" y="3415"/>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4" name="Picture 54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551" y="354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5" name="Picture 54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999" y="354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6" name="Picture 55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19" y="339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7" name="Picture 55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17" y="275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8" name="Picture 55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557" y="278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769" name="Picture 55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26" y="308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770" name="Rectangle 554"/>
              <p:cNvSpPr>
                <a:spLocks noChangeAspect="1" noChangeArrowheads="1"/>
              </p:cNvSpPr>
              <p:nvPr/>
            </p:nvSpPr>
            <p:spPr bwMode="auto">
              <a:xfrm>
                <a:off x="1846" y="3444"/>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b</a:t>
                </a:r>
                <a:endParaRPr lang="en-US" altLang="zh-CN" sz="2000" b="0">
                  <a:effectLst>
                    <a:outerShdw blurRad="38100" dist="38100" dir="2700000" algn="tl">
                      <a:srgbClr val="000000"/>
                    </a:outerShdw>
                  </a:effectLst>
                  <a:latin typeface="Times New Roman" panose="02020603050405020304" pitchFamily="18" charset="0"/>
                </a:endParaRPr>
              </a:p>
            </p:txBody>
          </p:sp>
        </p:grpSp>
        <p:sp>
          <p:nvSpPr>
            <p:cNvPr id="137772" name="Line 556"/>
            <p:cNvSpPr>
              <a:spLocks noChangeShapeType="1"/>
            </p:cNvSpPr>
            <p:nvPr/>
          </p:nvSpPr>
          <p:spPr bwMode="auto">
            <a:xfrm>
              <a:off x="4604" y="2840"/>
              <a:ext cx="0" cy="720"/>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775" name="Line 559"/>
            <p:cNvSpPr>
              <a:spLocks noChangeShapeType="1"/>
            </p:cNvSpPr>
            <p:nvPr/>
          </p:nvSpPr>
          <p:spPr bwMode="auto">
            <a:xfrm>
              <a:off x="4416" y="3456"/>
              <a:ext cx="384" cy="0"/>
            </a:xfrm>
            <a:prstGeom prst="line">
              <a:avLst/>
            </a:prstGeom>
            <a:noFill/>
            <a:ln w="127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776" name="Line 560"/>
            <p:cNvSpPr>
              <a:spLocks noChangeShapeType="1"/>
            </p:cNvSpPr>
            <p:nvPr/>
          </p:nvSpPr>
          <p:spPr bwMode="auto">
            <a:xfrm>
              <a:off x="3408" y="3456"/>
              <a:ext cx="336" cy="0"/>
            </a:xfrm>
            <a:prstGeom prst="line">
              <a:avLst/>
            </a:prstGeom>
            <a:noFill/>
            <a:ln w="127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7954" name="Group 738"/>
          <p:cNvGrpSpPr/>
          <p:nvPr/>
        </p:nvGrpSpPr>
        <p:grpSpPr bwMode="auto">
          <a:xfrm>
            <a:off x="4848225" y="115888"/>
            <a:ext cx="3608388" cy="3675063"/>
            <a:chOff x="3054" y="73"/>
            <a:chExt cx="2273" cy="2315"/>
          </a:xfrm>
        </p:grpSpPr>
        <p:sp>
          <p:nvSpPr>
            <p:cNvPr id="137286" name="Rectangle 70"/>
            <p:cNvSpPr>
              <a:spLocks noChangeAspect="1" noChangeArrowheads="1"/>
            </p:cNvSpPr>
            <p:nvPr/>
          </p:nvSpPr>
          <p:spPr bwMode="auto">
            <a:xfrm>
              <a:off x="3455" y="73"/>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c</a:t>
              </a:r>
              <a:endParaRPr lang="en-US" altLang="zh-CN" sz="2000" b="0">
                <a:effectLst>
                  <a:outerShdw blurRad="38100" dist="38100" dir="2700000" algn="tl">
                    <a:srgbClr val="000000"/>
                  </a:outerShdw>
                </a:effectLst>
                <a:latin typeface="Times New Roman" panose="02020603050405020304" pitchFamily="18" charset="0"/>
              </a:endParaRPr>
            </a:p>
          </p:txBody>
        </p:sp>
        <p:sp>
          <p:nvSpPr>
            <p:cNvPr id="137369" name="Rectangle 153"/>
            <p:cNvSpPr>
              <a:spLocks noChangeAspect="1" noChangeArrowheads="1"/>
            </p:cNvSpPr>
            <p:nvPr/>
          </p:nvSpPr>
          <p:spPr bwMode="auto">
            <a:xfrm>
              <a:off x="4673" y="73"/>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c</a:t>
              </a:r>
              <a:endParaRPr lang="en-US" altLang="zh-CN" sz="2000" b="0">
                <a:effectLst>
                  <a:outerShdw blurRad="38100" dist="38100" dir="2700000" algn="tl">
                    <a:srgbClr val="000000"/>
                  </a:outerShdw>
                </a:effectLst>
                <a:latin typeface="Times New Roman" panose="02020603050405020304" pitchFamily="18" charset="0"/>
              </a:endParaRPr>
            </a:p>
          </p:txBody>
        </p:sp>
        <p:grpSp>
          <p:nvGrpSpPr>
            <p:cNvPr id="137953" name="Group 737"/>
            <p:cNvGrpSpPr/>
            <p:nvPr/>
          </p:nvGrpSpPr>
          <p:grpSpPr bwMode="auto">
            <a:xfrm>
              <a:off x="3054" y="193"/>
              <a:ext cx="2273" cy="2195"/>
              <a:chOff x="3054" y="204"/>
              <a:chExt cx="2273" cy="2195"/>
            </a:xfrm>
          </p:grpSpPr>
          <p:sp>
            <p:nvSpPr>
              <p:cNvPr id="137295" name="Rectangle 79"/>
              <p:cNvSpPr>
                <a:spLocks noChangeAspect="1" noChangeArrowheads="1"/>
              </p:cNvSpPr>
              <p:nvPr/>
            </p:nvSpPr>
            <p:spPr bwMode="auto">
              <a:xfrm>
                <a:off x="3690" y="2195"/>
                <a:ext cx="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a</a:t>
                </a:r>
                <a:endParaRPr lang="en-US" altLang="zh-CN" sz="2000" b="0">
                  <a:effectLst>
                    <a:outerShdw blurRad="38100" dist="38100" dir="2700000" algn="tl">
                      <a:srgbClr val="000000"/>
                    </a:outerShdw>
                  </a:effectLst>
                </a:endParaRPr>
              </a:p>
            </p:txBody>
          </p:sp>
          <p:sp>
            <p:nvSpPr>
              <p:cNvPr id="137298" name="Rectangle 82"/>
              <p:cNvSpPr>
                <a:spLocks noChangeAspect="1" noChangeArrowheads="1"/>
              </p:cNvSpPr>
              <p:nvPr/>
            </p:nvSpPr>
            <p:spPr bwMode="auto">
              <a:xfrm>
                <a:off x="3944" y="2195"/>
                <a:ext cx="8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b</a:t>
                </a:r>
                <a:endParaRPr lang="en-US" altLang="zh-CN" sz="2000" b="0">
                  <a:effectLst>
                    <a:outerShdw blurRad="38100" dist="38100" dir="2700000" algn="tl">
                      <a:srgbClr val="000000"/>
                    </a:outerShdw>
                  </a:effectLst>
                </a:endParaRPr>
              </a:p>
            </p:txBody>
          </p:sp>
          <p:sp>
            <p:nvSpPr>
              <p:cNvPr id="137301" name="Rectangle 85"/>
              <p:cNvSpPr>
                <a:spLocks noChangeAspect="1" noChangeArrowheads="1"/>
              </p:cNvSpPr>
              <p:nvPr/>
            </p:nvSpPr>
            <p:spPr bwMode="auto">
              <a:xfrm>
                <a:off x="4203" y="2195"/>
                <a:ext cx="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c</a:t>
                </a:r>
                <a:endParaRPr lang="en-US" altLang="zh-CN" sz="2000" b="0">
                  <a:effectLst>
                    <a:outerShdw blurRad="38100" dist="38100" dir="2700000" algn="tl">
                      <a:srgbClr val="000000"/>
                    </a:outerShdw>
                  </a:effectLst>
                </a:endParaRPr>
              </a:p>
            </p:txBody>
          </p:sp>
          <p:grpSp>
            <p:nvGrpSpPr>
              <p:cNvPr id="137952" name="Group 736"/>
              <p:cNvGrpSpPr/>
              <p:nvPr/>
            </p:nvGrpSpPr>
            <p:grpSpPr bwMode="auto">
              <a:xfrm>
                <a:off x="3054" y="204"/>
                <a:ext cx="2273" cy="2183"/>
                <a:chOff x="3054" y="200"/>
                <a:chExt cx="2273" cy="2183"/>
              </a:xfrm>
            </p:grpSpPr>
            <p:sp>
              <p:nvSpPr>
                <p:cNvPr id="137296" name="Rectangle 80"/>
                <p:cNvSpPr>
                  <a:spLocks noChangeAspect="1" noChangeArrowheads="1"/>
                </p:cNvSpPr>
                <p:nvPr/>
              </p:nvSpPr>
              <p:spPr bwMode="auto">
                <a:xfrm>
                  <a:off x="3779" y="2181"/>
                  <a:ext cx="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 </a:t>
                  </a:r>
                  <a:endParaRPr lang="en-US" altLang="zh-CN" sz="2000" b="0">
                    <a:effectLst>
                      <a:outerShdw blurRad="38100" dist="38100" dir="2700000" algn="tl">
                        <a:srgbClr val="000000"/>
                      </a:outerShdw>
                    </a:effectLst>
                  </a:endParaRPr>
                </a:p>
              </p:txBody>
            </p:sp>
            <p:sp>
              <p:nvSpPr>
                <p:cNvPr id="137297" name="Rectangle 81"/>
                <p:cNvSpPr>
                  <a:spLocks noChangeAspect="1" noChangeArrowheads="1"/>
                </p:cNvSpPr>
                <p:nvPr/>
              </p:nvSpPr>
              <p:spPr bwMode="auto">
                <a:xfrm>
                  <a:off x="3817" y="2181"/>
                  <a:ext cx="13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¹ </a:t>
                  </a:r>
                  <a:endParaRPr lang="en-US" altLang="zh-CN" sz="2000" b="0">
                    <a:effectLst>
                      <a:outerShdw blurRad="38100" dist="38100" dir="2700000" algn="tl">
                        <a:srgbClr val="000000"/>
                      </a:outerShdw>
                    </a:effectLst>
                  </a:endParaRPr>
                </a:p>
              </p:txBody>
            </p:sp>
            <p:sp>
              <p:nvSpPr>
                <p:cNvPr id="137299" name="Rectangle 83"/>
                <p:cNvSpPr>
                  <a:spLocks noChangeAspect="1" noChangeArrowheads="1"/>
                </p:cNvSpPr>
                <p:nvPr/>
              </p:nvSpPr>
              <p:spPr bwMode="auto">
                <a:xfrm>
                  <a:off x="4033" y="2181"/>
                  <a:ext cx="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 </a:t>
                  </a:r>
                  <a:endParaRPr lang="en-US" altLang="zh-CN" sz="2000" b="0">
                    <a:effectLst>
                      <a:outerShdw blurRad="38100" dist="38100" dir="2700000" algn="tl">
                        <a:srgbClr val="000000"/>
                      </a:outerShdw>
                    </a:effectLst>
                  </a:endParaRPr>
                </a:p>
              </p:txBody>
            </p:sp>
            <p:sp>
              <p:nvSpPr>
                <p:cNvPr id="137300" name="Rectangle 84"/>
                <p:cNvSpPr>
                  <a:spLocks noChangeAspect="1" noChangeArrowheads="1"/>
                </p:cNvSpPr>
                <p:nvPr/>
              </p:nvSpPr>
              <p:spPr bwMode="auto">
                <a:xfrm>
                  <a:off x="4076" y="2181"/>
                  <a:ext cx="13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¹ </a:t>
                  </a:r>
                  <a:endParaRPr lang="en-US" altLang="zh-CN" sz="2000" b="0">
                    <a:effectLst>
                      <a:outerShdw blurRad="38100" dist="38100" dir="2700000" algn="tl">
                        <a:srgbClr val="000000"/>
                      </a:outerShdw>
                    </a:effectLst>
                  </a:endParaRPr>
                </a:p>
              </p:txBody>
            </p:sp>
            <p:grpSp>
              <p:nvGrpSpPr>
                <p:cNvPr id="137951" name="Group 735"/>
                <p:cNvGrpSpPr/>
                <p:nvPr/>
              </p:nvGrpSpPr>
              <p:grpSpPr bwMode="auto">
                <a:xfrm>
                  <a:off x="3054" y="200"/>
                  <a:ext cx="2273" cy="2005"/>
                  <a:chOff x="3054" y="181"/>
                  <a:chExt cx="2273" cy="2005"/>
                </a:xfrm>
              </p:grpSpPr>
              <p:sp>
                <p:nvSpPr>
                  <p:cNvPr id="137220" name="Freeform 4"/>
                  <p:cNvSpPr>
                    <a:spLocks noChangeAspect="1"/>
                  </p:cNvSpPr>
                  <p:nvPr/>
                </p:nvSpPr>
                <p:spPr bwMode="auto">
                  <a:xfrm>
                    <a:off x="3220" y="412"/>
                    <a:ext cx="639" cy="1071"/>
                  </a:xfrm>
                  <a:custGeom>
                    <a:avLst/>
                    <a:gdLst>
                      <a:gd name="T0" fmla="*/ 241 w 799"/>
                      <a:gd name="T1" fmla="*/ 5 h 1338"/>
                      <a:gd name="T2" fmla="*/ 0 w 799"/>
                      <a:gd name="T3" fmla="*/ 385 h 1338"/>
                      <a:gd name="T4" fmla="*/ 0 w 799"/>
                      <a:gd name="T5" fmla="*/ 1324 h 1338"/>
                      <a:gd name="T6" fmla="*/ 650 w 799"/>
                      <a:gd name="T7" fmla="*/ 1338 h 1338"/>
                      <a:gd name="T8" fmla="*/ 799 w 799"/>
                      <a:gd name="T9" fmla="*/ 833 h 1338"/>
                      <a:gd name="T10" fmla="*/ 785 w 799"/>
                      <a:gd name="T11" fmla="*/ 0 h 1338"/>
                      <a:gd name="T12" fmla="*/ 241 w 799"/>
                      <a:gd name="T13" fmla="*/ 5 h 1338"/>
                    </a:gdLst>
                    <a:ahLst/>
                    <a:cxnLst>
                      <a:cxn ang="0">
                        <a:pos x="T0" y="T1"/>
                      </a:cxn>
                      <a:cxn ang="0">
                        <a:pos x="T2" y="T3"/>
                      </a:cxn>
                      <a:cxn ang="0">
                        <a:pos x="T4" y="T5"/>
                      </a:cxn>
                      <a:cxn ang="0">
                        <a:pos x="T6" y="T7"/>
                      </a:cxn>
                      <a:cxn ang="0">
                        <a:pos x="T8" y="T9"/>
                      </a:cxn>
                      <a:cxn ang="0">
                        <a:pos x="T10" y="T11"/>
                      </a:cxn>
                      <a:cxn ang="0">
                        <a:pos x="T12" y="T13"/>
                      </a:cxn>
                    </a:cxnLst>
                    <a:rect l="0" t="0" r="r" b="b"/>
                    <a:pathLst>
                      <a:path w="799" h="1338">
                        <a:moveTo>
                          <a:pt x="241" y="5"/>
                        </a:moveTo>
                        <a:lnTo>
                          <a:pt x="0" y="385"/>
                        </a:lnTo>
                        <a:lnTo>
                          <a:pt x="0" y="1324"/>
                        </a:lnTo>
                        <a:lnTo>
                          <a:pt x="650" y="1338"/>
                        </a:lnTo>
                        <a:lnTo>
                          <a:pt x="799" y="833"/>
                        </a:lnTo>
                        <a:lnTo>
                          <a:pt x="785" y="0"/>
                        </a:lnTo>
                        <a:lnTo>
                          <a:pt x="241" y="5"/>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21" name="Rectangle 5"/>
                  <p:cNvSpPr>
                    <a:spLocks noChangeAspect="1" noChangeArrowheads="1"/>
                  </p:cNvSpPr>
                  <p:nvPr/>
                </p:nvSpPr>
                <p:spPr bwMode="auto">
                  <a:xfrm>
                    <a:off x="3836"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2" name="Rectangle 6"/>
                  <p:cNvSpPr>
                    <a:spLocks noChangeAspect="1" noChangeArrowheads="1"/>
                  </p:cNvSpPr>
                  <p:nvPr/>
                </p:nvSpPr>
                <p:spPr bwMode="auto">
                  <a:xfrm>
                    <a:off x="3806"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3" name="Rectangle 7"/>
                  <p:cNvSpPr>
                    <a:spLocks noChangeAspect="1" noChangeArrowheads="1"/>
                  </p:cNvSpPr>
                  <p:nvPr/>
                </p:nvSpPr>
                <p:spPr bwMode="auto">
                  <a:xfrm>
                    <a:off x="3775"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4" name="Rectangle 8"/>
                  <p:cNvSpPr>
                    <a:spLocks noChangeAspect="1" noChangeArrowheads="1"/>
                  </p:cNvSpPr>
                  <p:nvPr/>
                </p:nvSpPr>
                <p:spPr bwMode="auto">
                  <a:xfrm>
                    <a:off x="3744"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5" name="Rectangle 9"/>
                  <p:cNvSpPr>
                    <a:spLocks noChangeAspect="1" noChangeArrowheads="1"/>
                  </p:cNvSpPr>
                  <p:nvPr/>
                </p:nvSpPr>
                <p:spPr bwMode="auto">
                  <a:xfrm>
                    <a:off x="3713"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6" name="Rectangle 10"/>
                  <p:cNvSpPr>
                    <a:spLocks noChangeAspect="1" noChangeArrowheads="1"/>
                  </p:cNvSpPr>
                  <p:nvPr/>
                </p:nvSpPr>
                <p:spPr bwMode="auto">
                  <a:xfrm>
                    <a:off x="3682" y="108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7" name="Rectangle 11"/>
                  <p:cNvSpPr>
                    <a:spLocks noChangeAspect="1" noChangeArrowheads="1"/>
                  </p:cNvSpPr>
                  <p:nvPr/>
                </p:nvSpPr>
                <p:spPr bwMode="auto">
                  <a:xfrm>
                    <a:off x="3651"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8" name="Rectangle 12"/>
                  <p:cNvSpPr>
                    <a:spLocks noChangeAspect="1" noChangeArrowheads="1"/>
                  </p:cNvSpPr>
                  <p:nvPr/>
                </p:nvSpPr>
                <p:spPr bwMode="auto">
                  <a:xfrm>
                    <a:off x="3621"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29" name="Rectangle 13"/>
                  <p:cNvSpPr>
                    <a:spLocks noChangeAspect="1" noChangeArrowheads="1"/>
                  </p:cNvSpPr>
                  <p:nvPr/>
                </p:nvSpPr>
                <p:spPr bwMode="auto">
                  <a:xfrm>
                    <a:off x="3590"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0" name="Rectangle 14"/>
                  <p:cNvSpPr>
                    <a:spLocks noChangeAspect="1" noChangeArrowheads="1"/>
                  </p:cNvSpPr>
                  <p:nvPr/>
                </p:nvSpPr>
                <p:spPr bwMode="auto">
                  <a:xfrm>
                    <a:off x="3559"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1" name="Rectangle 15"/>
                  <p:cNvSpPr>
                    <a:spLocks noChangeAspect="1" noChangeArrowheads="1"/>
                  </p:cNvSpPr>
                  <p:nvPr/>
                </p:nvSpPr>
                <p:spPr bwMode="auto">
                  <a:xfrm>
                    <a:off x="3528"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2" name="Rectangle 16"/>
                  <p:cNvSpPr>
                    <a:spLocks noChangeAspect="1" noChangeArrowheads="1"/>
                  </p:cNvSpPr>
                  <p:nvPr/>
                </p:nvSpPr>
                <p:spPr bwMode="auto">
                  <a:xfrm>
                    <a:off x="3498"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3" name="Rectangle 17"/>
                  <p:cNvSpPr>
                    <a:spLocks noChangeAspect="1" noChangeArrowheads="1"/>
                  </p:cNvSpPr>
                  <p:nvPr/>
                </p:nvSpPr>
                <p:spPr bwMode="auto">
                  <a:xfrm>
                    <a:off x="3466" y="108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4" name="Rectangle 18"/>
                  <p:cNvSpPr>
                    <a:spLocks noChangeAspect="1" noChangeArrowheads="1"/>
                  </p:cNvSpPr>
                  <p:nvPr/>
                </p:nvSpPr>
                <p:spPr bwMode="auto">
                  <a:xfrm>
                    <a:off x="3436"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5" name="Freeform 19"/>
                  <p:cNvSpPr>
                    <a:spLocks noChangeAspect="1"/>
                  </p:cNvSpPr>
                  <p:nvPr/>
                </p:nvSpPr>
                <p:spPr bwMode="auto">
                  <a:xfrm>
                    <a:off x="3405" y="1086"/>
                    <a:ext cx="15" cy="8"/>
                  </a:xfrm>
                  <a:custGeom>
                    <a:avLst/>
                    <a:gdLst>
                      <a:gd name="T0" fmla="*/ 19 w 19"/>
                      <a:gd name="T1" fmla="*/ 0 h 10"/>
                      <a:gd name="T2" fmla="*/ 10 w 19"/>
                      <a:gd name="T3" fmla="*/ 5 h 10"/>
                      <a:gd name="T4" fmla="*/ 10 w 19"/>
                      <a:gd name="T5" fmla="*/ 0 h 10"/>
                      <a:gd name="T6" fmla="*/ 0 w 19"/>
                      <a:gd name="T7" fmla="*/ 0 h 10"/>
                      <a:gd name="T8" fmla="*/ 0 w 19"/>
                      <a:gd name="T9" fmla="*/ 10 h 10"/>
                      <a:gd name="T10" fmla="*/ 19 w 19"/>
                      <a:gd name="T11" fmla="*/ 10 h 10"/>
                      <a:gd name="T12" fmla="*/ 19 w 19"/>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9" h="10">
                        <a:moveTo>
                          <a:pt x="19" y="0"/>
                        </a:moveTo>
                        <a:lnTo>
                          <a:pt x="10" y="5"/>
                        </a:lnTo>
                        <a:lnTo>
                          <a:pt x="10" y="0"/>
                        </a:lnTo>
                        <a:lnTo>
                          <a:pt x="0" y="0"/>
                        </a:lnTo>
                        <a:lnTo>
                          <a:pt x="0" y="10"/>
                        </a:lnTo>
                        <a:lnTo>
                          <a:pt x="19" y="10"/>
                        </a:lnTo>
                        <a:lnTo>
                          <a:pt x="1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36" name="Rectangle 20"/>
                  <p:cNvSpPr>
                    <a:spLocks noChangeAspect="1" noChangeArrowheads="1"/>
                  </p:cNvSpPr>
                  <p:nvPr/>
                </p:nvSpPr>
                <p:spPr bwMode="auto">
                  <a:xfrm>
                    <a:off x="3405" y="105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7" name="Rectangle 21"/>
                  <p:cNvSpPr>
                    <a:spLocks noChangeAspect="1" noChangeArrowheads="1"/>
                  </p:cNvSpPr>
                  <p:nvPr/>
                </p:nvSpPr>
                <p:spPr bwMode="auto">
                  <a:xfrm>
                    <a:off x="3405" y="102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8" name="Rectangle 22"/>
                  <p:cNvSpPr>
                    <a:spLocks noChangeAspect="1" noChangeArrowheads="1"/>
                  </p:cNvSpPr>
                  <p:nvPr/>
                </p:nvSpPr>
                <p:spPr bwMode="auto">
                  <a:xfrm>
                    <a:off x="3405" y="99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39" name="Rectangle 23"/>
                  <p:cNvSpPr>
                    <a:spLocks noChangeAspect="1" noChangeArrowheads="1"/>
                  </p:cNvSpPr>
                  <p:nvPr/>
                </p:nvSpPr>
                <p:spPr bwMode="auto">
                  <a:xfrm>
                    <a:off x="3405" y="962"/>
                    <a:ext cx="8" cy="1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0" name="Rectangle 24"/>
                  <p:cNvSpPr>
                    <a:spLocks noChangeAspect="1" noChangeArrowheads="1"/>
                  </p:cNvSpPr>
                  <p:nvPr/>
                </p:nvSpPr>
                <p:spPr bwMode="auto">
                  <a:xfrm>
                    <a:off x="3405" y="93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1" name="Rectangle 25"/>
                  <p:cNvSpPr>
                    <a:spLocks noChangeAspect="1" noChangeArrowheads="1"/>
                  </p:cNvSpPr>
                  <p:nvPr/>
                </p:nvSpPr>
                <p:spPr bwMode="auto">
                  <a:xfrm>
                    <a:off x="3405" y="90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2" name="Rectangle 26"/>
                  <p:cNvSpPr>
                    <a:spLocks noChangeAspect="1" noChangeArrowheads="1"/>
                  </p:cNvSpPr>
                  <p:nvPr/>
                </p:nvSpPr>
                <p:spPr bwMode="auto">
                  <a:xfrm>
                    <a:off x="3405" y="870"/>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3" name="Rectangle 27"/>
                  <p:cNvSpPr>
                    <a:spLocks noChangeAspect="1" noChangeArrowheads="1"/>
                  </p:cNvSpPr>
                  <p:nvPr/>
                </p:nvSpPr>
                <p:spPr bwMode="auto">
                  <a:xfrm>
                    <a:off x="3405" y="83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4" name="Rectangle 28"/>
                  <p:cNvSpPr>
                    <a:spLocks noChangeAspect="1" noChangeArrowheads="1"/>
                  </p:cNvSpPr>
                  <p:nvPr/>
                </p:nvSpPr>
                <p:spPr bwMode="auto">
                  <a:xfrm>
                    <a:off x="3405" y="80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5" name="Rectangle 29"/>
                  <p:cNvSpPr>
                    <a:spLocks noChangeAspect="1" noChangeArrowheads="1"/>
                  </p:cNvSpPr>
                  <p:nvPr/>
                </p:nvSpPr>
                <p:spPr bwMode="auto">
                  <a:xfrm>
                    <a:off x="3405" y="77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6" name="Freeform 30"/>
                  <p:cNvSpPr>
                    <a:spLocks noChangeAspect="1"/>
                  </p:cNvSpPr>
                  <p:nvPr/>
                </p:nvSpPr>
                <p:spPr bwMode="auto">
                  <a:xfrm>
                    <a:off x="3405" y="747"/>
                    <a:ext cx="12" cy="15"/>
                  </a:xfrm>
                  <a:custGeom>
                    <a:avLst/>
                    <a:gdLst>
                      <a:gd name="T0" fmla="*/ 10 w 15"/>
                      <a:gd name="T1" fmla="*/ 19 h 19"/>
                      <a:gd name="T2" fmla="*/ 15 w 15"/>
                      <a:gd name="T3" fmla="*/ 0 h 19"/>
                      <a:gd name="T4" fmla="*/ 5 w 15"/>
                      <a:gd name="T5" fmla="*/ 0 h 19"/>
                      <a:gd name="T6" fmla="*/ 0 w 15"/>
                      <a:gd name="T7" fmla="*/ 19 h 19"/>
                      <a:gd name="T8" fmla="*/ 10 w 15"/>
                      <a:gd name="T9" fmla="*/ 19 h 19"/>
                    </a:gdLst>
                    <a:ahLst/>
                    <a:cxnLst>
                      <a:cxn ang="0">
                        <a:pos x="T0" y="T1"/>
                      </a:cxn>
                      <a:cxn ang="0">
                        <a:pos x="T2" y="T3"/>
                      </a:cxn>
                      <a:cxn ang="0">
                        <a:pos x="T4" y="T5"/>
                      </a:cxn>
                      <a:cxn ang="0">
                        <a:pos x="T6" y="T7"/>
                      </a:cxn>
                      <a:cxn ang="0">
                        <a:pos x="T8" y="T9"/>
                      </a:cxn>
                    </a:cxnLst>
                    <a:rect l="0" t="0" r="r" b="b"/>
                    <a:pathLst>
                      <a:path w="15" h="19">
                        <a:moveTo>
                          <a:pt x="10" y="19"/>
                        </a:moveTo>
                        <a:lnTo>
                          <a:pt x="15" y="0"/>
                        </a:lnTo>
                        <a:lnTo>
                          <a:pt x="5" y="0"/>
                        </a:lnTo>
                        <a:lnTo>
                          <a:pt x="0" y="19"/>
                        </a:lnTo>
                        <a:lnTo>
                          <a:pt x="10" y="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47" name="Rectangle 31"/>
                  <p:cNvSpPr>
                    <a:spLocks noChangeAspect="1" noChangeArrowheads="1"/>
                  </p:cNvSpPr>
                  <p:nvPr/>
                </p:nvSpPr>
                <p:spPr bwMode="auto">
                  <a:xfrm>
                    <a:off x="3409" y="71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8" name="Rectangle 32"/>
                  <p:cNvSpPr>
                    <a:spLocks noChangeAspect="1" noChangeArrowheads="1"/>
                  </p:cNvSpPr>
                  <p:nvPr/>
                </p:nvSpPr>
                <p:spPr bwMode="auto">
                  <a:xfrm>
                    <a:off x="3409" y="68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49" name="Rectangle 33"/>
                  <p:cNvSpPr>
                    <a:spLocks noChangeAspect="1" noChangeArrowheads="1"/>
                  </p:cNvSpPr>
                  <p:nvPr/>
                </p:nvSpPr>
                <p:spPr bwMode="auto">
                  <a:xfrm>
                    <a:off x="3409" y="65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0" name="Rectangle 34"/>
                  <p:cNvSpPr>
                    <a:spLocks noChangeAspect="1" noChangeArrowheads="1"/>
                  </p:cNvSpPr>
                  <p:nvPr/>
                </p:nvSpPr>
                <p:spPr bwMode="auto">
                  <a:xfrm>
                    <a:off x="3409" y="62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1" name="Rectangle 35"/>
                  <p:cNvSpPr>
                    <a:spLocks noChangeAspect="1" noChangeArrowheads="1"/>
                  </p:cNvSpPr>
                  <p:nvPr/>
                </p:nvSpPr>
                <p:spPr bwMode="auto">
                  <a:xfrm>
                    <a:off x="3409" y="59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2" name="Rectangle 36"/>
                  <p:cNvSpPr>
                    <a:spLocks noChangeAspect="1" noChangeArrowheads="1"/>
                  </p:cNvSpPr>
                  <p:nvPr/>
                </p:nvSpPr>
                <p:spPr bwMode="auto">
                  <a:xfrm>
                    <a:off x="3409" y="56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3" name="Rectangle 37"/>
                  <p:cNvSpPr>
                    <a:spLocks noChangeAspect="1" noChangeArrowheads="1"/>
                  </p:cNvSpPr>
                  <p:nvPr/>
                </p:nvSpPr>
                <p:spPr bwMode="auto">
                  <a:xfrm>
                    <a:off x="3409" y="53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4" name="Rectangle 38"/>
                  <p:cNvSpPr>
                    <a:spLocks noChangeAspect="1" noChangeArrowheads="1"/>
                  </p:cNvSpPr>
                  <p:nvPr/>
                </p:nvSpPr>
                <p:spPr bwMode="auto">
                  <a:xfrm>
                    <a:off x="3409" y="50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5" name="Rectangle 39"/>
                  <p:cNvSpPr>
                    <a:spLocks noChangeAspect="1" noChangeArrowheads="1"/>
                  </p:cNvSpPr>
                  <p:nvPr/>
                </p:nvSpPr>
                <p:spPr bwMode="auto">
                  <a:xfrm>
                    <a:off x="3409" y="47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6" name="Rectangle 40"/>
                  <p:cNvSpPr>
                    <a:spLocks noChangeAspect="1" noChangeArrowheads="1"/>
                  </p:cNvSpPr>
                  <p:nvPr/>
                </p:nvSpPr>
                <p:spPr bwMode="auto">
                  <a:xfrm>
                    <a:off x="3409" y="43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7" name="Rectangle 41"/>
                  <p:cNvSpPr>
                    <a:spLocks noChangeAspect="1" noChangeArrowheads="1"/>
                  </p:cNvSpPr>
                  <p:nvPr/>
                </p:nvSpPr>
                <p:spPr bwMode="auto">
                  <a:xfrm>
                    <a:off x="3409" y="416"/>
                    <a:ext cx="8"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58" name="Freeform 42"/>
                  <p:cNvSpPr>
                    <a:spLocks noChangeAspect="1"/>
                  </p:cNvSpPr>
                  <p:nvPr/>
                </p:nvSpPr>
                <p:spPr bwMode="auto">
                  <a:xfrm>
                    <a:off x="3393" y="1098"/>
                    <a:ext cx="16" cy="15"/>
                  </a:xfrm>
                  <a:custGeom>
                    <a:avLst/>
                    <a:gdLst>
                      <a:gd name="T0" fmla="*/ 9 w 19"/>
                      <a:gd name="T1" fmla="*/ 0 h 19"/>
                      <a:gd name="T2" fmla="*/ 0 w 19"/>
                      <a:gd name="T3" fmla="*/ 14 h 19"/>
                      <a:gd name="T4" fmla="*/ 9 w 19"/>
                      <a:gd name="T5" fmla="*/ 19 h 19"/>
                      <a:gd name="T6" fmla="*/ 19 w 19"/>
                      <a:gd name="T7" fmla="*/ 0 h 19"/>
                      <a:gd name="T8" fmla="*/ 9 w 19"/>
                      <a:gd name="T9" fmla="*/ 0 h 19"/>
                    </a:gdLst>
                    <a:ahLst/>
                    <a:cxnLst>
                      <a:cxn ang="0">
                        <a:pos x="T0" y="T1"/>
                      </a:cxn>
                      <a:cxn ang="0">
                        <a:pos x="T2" y="T3"/>
                      </a:cxn>
                      <a:cxn ang="0">
                        <a:pos x="T4" y="T5"/>
                      </a:cxn>
                      <a:cxn ang="0">
                        <a:pos x="T6" y="T7"/>
                      </a:cxn>
                      <a:cxn ang="0">
                        <a:pos x="T8" y="T9"/>
                      </a:cxn>
                    </a:cxnLst>
                    <a:rect l="0" t="0" r="r" b="b"/>
                    <a:pathLst>
                      <a:path w="19" h="19">
                        <a:moveTo>
                          <a:pt x="9" y="0"/>
                        </a:moveTo>
                        <a:lnTo>
                          <a:pt x="0" y="14"/>
                        </a:lnTo>
                        <a:lnTo>
                          <a:pt x="9" y="19"/>
                        </a:lnTo>
                        <a:lnTo>
                          <a:pt x="19" y="0"/>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59" name="Freeform 43"/>
                  <p:cNvSpPr>
                    <a:spLocks noChangeAspect="1"/>
                  </p:cNvSpPr>
                  <p:nvPr/>
                </p:nvSpPr>
                <p:spPr bwMode="auto">
                  <a:xfrm>
                    <a:off x="3381" y="1124"/>
                    <a:ext cx="12" cy="16"/>
                  </a:xfrm>
                  <a:custGeom>
                    <a:avLst/>
                    <a:gdLst>
                      <a:gd name="T0" fmla="*/ 10 w 15"/>
                      <a:gd name="T1" fmla="*/ 0 h 20"/>
                      <a:gd name="T2" fmla="*/ 0 w 15"/>
                      <a:gd name="T3" fmla="*/ 15 h 20"/>
                      <a:gd name="T4" fmla="*/ 10 w 15"/>
                      <a:gd name="T5" fmla="*/ 20 h 20"/>
                      <a:gd name="T6" fmla="*/ 15 w 15"/>
                      <a:gd name="T7" fmla="*/ 5 h 20"/>
                      <a:gd name="T8" fmla="*/ 10 w 15"/>
                      <a:gd name="T9" fmla="*/ 0 h 20"/>
                    </a:gdLst>
                    <a:ahLst/>
                    <a:cxnLst>
                      <a:cxn ang="0">
                        <a:pos x="T0" y="T1"/>
                      </a:cxn>
                      <a:cxn ang="0">
                        <a:pos x="T2" y="T3"/>
                      </a:cxn>
                      <a:cxn ang="0">
                        <a:pos x="T4" y="T5"/>
                      </a:cxn>
                      <a:cxn ang="0">
                        <a:pos x="T6" y="T7"/>
                      </a:cxn>
                      <a:cxn ang="0">
                        <a:pos x="T8" y="T9"/>
                      </a:cxn>
                    </a:cxnLst>
                    <a:rect l="0" t="0" r="r" b="b"/>
                    <a:pathLst>
                      <a:path w="15" h="20">
                        <a:moveTo>
                          <a:pt x="10" y="0"/>
                        </a:moveTo>
                        <a:lnTo>
                          <a:pt x="0" y="15"/>
                        </a:lnTo>
                        <a:lnTo>
                          <a:pt x="10" y="20"/>
                        </a:lnTo>
                        <a:lnTo>
                          <a:pt x="15"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0" name="Freeform 44"/>
                  <p:cNvSpPr>
                    <a:spLocks noChangeAspect="1"/>
                  </p:cNvSpPr>
                  <p:nvPr/>
                </p:nvSpPr>
                <p:spPr bwMode="auto">
                  <a:xfrm>
                    <a:off x="3366" y="1151"/>
                    <a:ext cx="15" cy="16"/>
                  </a:xfrm>
                  <a:custGeom>
                    <a:avLst/>
                    <a:gdLst>
                      <a:gd name="T0" fmla="*/ 10 w 19"/>
                      <a:gd name="T1" fmla="*/ 0 h 19"/>
                      <a:gd name="T2" fmla="*/ 0 w 19"/>
                      <a:gd name="T3" fmla="*/ 19 h 19"/>
                      <a:gd name="T4" fmla="*/ 10 w 19"/>
                      <a:gd name="T5" fmla="*/ 19 h 19"/>
                      <a:gd name="T6" fmla="*/ 19 w 19"/>
                      <a:gd name="T7" fmla="*/ 5 h 19"/>
                      <a:gd name="T8" fmla="*/ 10 w 19"/>
                      <a:gd name="T9" fmla="*/ 0 h 19"/>
                    </a:gdLst>
                    <a:ahLst/>
                    <a:cxnLst>
                      <a:cxn ang="0">
                        <a:pos x="T0" y="T1"/>
                      </a:cxn>
                      <a:cxn ang="0">
                        <a:pos x="T2" y="T3"/>
                      </a:cxn>
                      <a:cxn ang="0">
                        <a:pos x="T4" y="T5"/>
                      </a:cxn>
                      <a:cxn ang="0">
                        <a:pos x="T6" y="T7"/>
                      </a:cxn>
                      <a:cxn ang="0">
                        <a:pos x="T8" y="T9"/>
                      </a:cxn>
                    </a:cxnLst>
                    <a:rect l="0" t="0" r="r" b="b"/>
                    <a:pathLst>
                      <a:path w="19" h="19">
                        <a:moveTo>
                          <a:pt x="10" y="0"/>
                        </a:moveTo>
                        <a:lnTo>
                          <a:pt x="0" y="19"/>
                        </a:lnTo>
                        <a:lnTo>
                          <a:pt x="10" y="19"/>
                        </a:lnTo>
                        <a:lnTo>
                          <a:pt x="19"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1" name="Freeform 45"/>
                  <p:cNvSpPr>
                    <a:spLocks noChangeAspect="1"/>
                  </p:cNvSpPr>
                  <p:nvPr/>
                </p:nvSpPr>
                <p:spPr bwMode="auto">
                  <a:xfrm>
                    <a:off x="3354" y="1179"/>
                    <a:ext cx="12" cy="19"/>
                  </a:xfrm>
                  <a:custGeom>
                    <a:avLst/>
                    <a:gdLst>
                      <a:gd name="T0" fmla="*/ 10 w 15"/>
                      <a:gd name="T1" fmla="*/ 0 h 24"/>
                      <a:gd name="T2" fmla="*/ 0 w 15"/>
                      <a:gd name="T3" fmla="*/ 19 h 24"/>
                      <a:gd name="T4" fmla="*/ 10 w 15"/>
                      <a:gd name="T5" fmla="*/ 24 h 24"/>
                      <a:gd name="T6" fmla="*/ 15 w 15"/>
                      <a:gd name="T7" fmla="*/ 5 h 24"/>
                      <a:gd name="T8" fmla="*/ 10 w 15"/>
                      <a:gd name="T9" fmla="*/ 0 h 24"/>
                    </a:gdLst>
                    <a:ahLst/>
                    <a:cxnLst>
                      <a:cxn ang="0">
                        <a:pos x="T0" y="T1"/>
                      </a:cxn>
                      <a:cxn ang="0">
                        <a:pos x="T2" y="T3"/>
                      </a:cxn>
                      <a:cxn ang="0">
                        <a:pos x="T4" y="T5"/>
                      </a:cxn>
                      <a:cxn ang="0">
                        <a:pos x="T6" y="T7"/>
                      </a:cxn>
                      <a:cxn ang="0">
                        <a:pos x="T8" y="T9"/>
                      </a:cxn>
                    </a:cxnLst>
                    <a:rect l="0" t="0" r="r" b="b"/>
                    <a:pathLst>
                      <a:path w="15" h="24">
                        <a:moveTo>
                          <a:pt x="10" y="0"/>
                        </a:moveTo>
                        <a:lnTo>
                          <a:pt x="0" y="19"/>
                        </a:lnTo>
                        <a:lnTo>
                          <a:pt x="10" y="24"/>
                        </a:lnTo>
                        <a:lnTo>
                          <a:pt x="15"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2" name="Freeform 46"/>
                  <p:cNvSpPr>
                    <a:spLocks noChangeAspect="1"/>
                  </p:cNvSpPr>
                  <p:nvPr/>
                </p:nvSpPr>
                <p:spPr bwMode="auto">
                  <a:xfrm>
                    <a:off x="3339" y="1206"/>
                    <a:ext cx="15" cy="19"/>
                  </a:xfrm>
                  <a:custGeom>
                    <a:avLst/>
                    <a:gdLst>
                      <a:gd name="T0" fmla="*/ 10 w 19"/>
                      <a:gd name="T1" fmla="*/ 0 h 24"/>
                      <a:gd name="T2" fmla="*/ 0 w 19"/>
                      <a:gd name="T3" fmla="*/ 19 h 24"/>
                      <a:gd name="T4" fmla="*/ 10 w 19"/>
                      <a:gd name="T5" fmla="*/ 24 h 24"/>
                      <a:gd name="T6" fmla="*/ 19 w 19"/>
                      <a:gd name="T7" fmla="*/ 4 h 24"/>
                      <a:gd name="T8" fmla="*/ 10 w 19"/>
                      <a:gd name="T9" fmla="*/ 0 h 24"/>
                    </a:gdLst>
                    <a:ahLst/>
                    <a:cxnLst>
                      <a:cxn ang="0">
                        <a:pos x="T0" y="T1"/>
                      </a:cxn>
                      <a:cxn ang="0">
                        <a:pos x="T2" y="T3"/>
                      </a:cxn>
                      <a:cxn ang="0">
                        <a:pos x="T4" y="T5"/>
                      </a:cxn>
                      <a:cxn ang="0">
                        <a:pos x="T6" y="T7"/>
                      </a:cxn>
                      <a:cxn ang="0">
                        <a:pos x="T8" y="T9"/>
                      </a:cxn>
                    </a:cxnLst>
                    <a:rect l="0" t="0" r="r" b="b"/>
                    <a:pathLst>
                      <a:path w="19" h="24">
                        <a:moveTo>
                          <a:pt x="10" y="0"/>
                        </a:moveTo>
                        <a:lnTo>
                          <a:pt x="0" y="19"/>
                        </a:lnTo>
                        <a:lnTo>
                          <a:pt x="10" y="24"/>
                        </a:lnTo>
                        <a:lnTo>
                          <a:pt x="19" y="4"/>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3" name="Freeform 47"/>
                  <p:cNvSpPr>
                    <a:spLocks noChangeAspect="1"/>
                  </p:cNvSpPr>
                  <p:nvPr/>
                </p:nvSpPr>
                <p:spPr bwMode="auto">
                  <a:xfrm>
                    <a:off x="3328" y="1232"/>
                    <a:ext cx="11" cy="20"/>
                  </a:xfrm>
                  <a:custGeom>
                    <a:avLst/>
                    <a:gdLst>
                      <a:gd name="T0" fmla="*/ 9 w 14"/>
                      <a:gd name="T1" fmla="*/ 0 h 24"/>
                      <a:gd name="T2" fmla="*/ 0 w 14"/>
                      <a:gd name="T3" fmla="*/ 19 h 24"/>
                      <a:gd name="T4" fmla="*/ 9 w 14"/>
                      <a:gd name="T5" fmla="*/ 24 h 24"/>
                      <a:gd name="T6" fmla="*/ 14 w 14"/>
                      <a:gd name="T7" fmla="*/ 5 h 24"/>
                      <a:gd name="T8" fmla="*/ 9 w 14"/>
                      <a:gd name="T9" fmla="*/ 0 h 24"/>
                    </a:gdLst>
                    <a:ahLst/>
                    <a:cxnLst>
                      <a:cxn ang="0">
                        <a:pos x="T0" y="T1"/>
                      </a:cxn>
                      <a:cxn ang="0">
                        <a:pos x="T2" y="T3"/>
                      </a:cxn>
                      <a:cxn ang="0">
                        <a:pos x="T4" y="T5"/>
                      </a:cxn>
                      <a:cxn ang="0">
                        <a:pos x="T6" y="T7"/>
                      </a:cxn>
                      <a:cxn ang="0">
                        <a:pos x="T8" y="T9"/>
                      </a:cxn>
                    </a:cxnLst>
                    <a:rect l="0" t="0" r="r" b="b"/>
                    <a:pathLst>
                      <a:path w="14" h="24">
                        <a:moveTo>
                          <a:pt x="9" y="0"/>
                        </a:moveTo>
                        <a:lnTo>
                          <a:pt x="0" y="19"/>
                        </a:lnTo>
                        <a:lnTo>
                          <a:pt x="9" y="24"/>
                        </a:lnTo>
                        <a:lnTo>
                          <a:pt x="14" y="5"/>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4" name="Freeform 48"/>
                  <p:cNvSpPr>
                    <a:spLocks noChangeAspect="1"/>
                  </p:cNvSpPr>
                  <p:nvPr/>
                </p:nvSpPr>
                <p:spPr bwMode="auto">
                  <a:xfrm>
                    <a:off x="3313" y="1264"/>
                    <a:ext cx="15" cy="15"/>
                  </a:xfrm>
                  <a:custGeom>
                    <a:avLst/>
                    <a:gdLst>
                      <a:gd name="T0" fmla="*/ 9 w 19"/>
                      <a:gd name="T1" fmla="*/ 0 h 19"/>
                      <a:gd name="T2" fmla="*/ 0 w 19"/>
                      <a:gd name="T3" fmla="*/ 14 h 19"/>
                      <a:gd name="T4" fmla="*/ 9 w 19"/>
                      <a:gd name="T5" fmla="*/ 19 h 19"/>
                      <a:gd name="T6" fmla="*/ 19 w 19"/>
                      <a:gd name="T7" fmla="*/ 5 h 19"/>
                      <a:gd name="T8" fmla="*/ 9 w 19"/>
                      <a:gd name="T9" fmla="*/ 0 h 19"/>
                    </a:gdLst>
                    <a:ahLst/>
                    <a:cxnLst>
                      <a:cxn ang="0">
                        <a:pos x="T0" y="T1"/>
                      </a:cxn>
                      <a:cxn ang="0">
                        <a:pos x="T2" y="T3"/>
                      </a:cxn>
                      <a:cxn ang="0">
                        <a:pos x="T4" y="T5"/>
                      </a:cxn>
                      <a:cxn ang="0">
                        <a:pos x="T6" y="T7"/>
                      </a:cxn>
                      <a:cxn ang="0">
                        <a:pos x="T8" y="T9"/>
                      </a:cxn>
                    </a:cxnLst>
                    <a:rect l="0" t="0" r="r" b="b"/>
                    <a:pathLst>
                      <a:path w="19" h="19">
                        <a:moveTo>
                          <a:pt x="9" y="0"/>
                        </a:moveTo>
                        <a:lnTo>
                          <a:pt x="0" y="14"/>
                        </a:lnTo>
                        <a:lnTo>
                          <a:pt x="9" y="19"/>
                        </a:lnTo>
                        <a:lnTo>
                          <a:pt x="19" y="5"/>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5" name="Freeform 49"/>
                  <p:cNvSpPr>
                    <a:spLocks noChangeAspect="1"/>
                  </p:cNvSpPr>
                  <p:nvPr/>
                </p:nvSpPr>
                <p:spPr bwMode="auto">
                  <a:xfrm>
                    <a:off x="3301" y="1290"/>
                    <a:ext cx="12" cy="16"/>
                  </a:xfrm>
                  <a:custGeom>
                    <a:avLst/>
                    <a:gdLst>
                      <a:gd name="T0" fmla="*/ 5 w 15"/>
                      <a:gd name="T1" fmla="*/ 0 h 20"/>
                      <a:gd name="T2" fmla="*/ 0 w 15"/>
                      <a:gd name="T3" fmla="*/ 15 h 20"/>
                      <a:gd name="T4" fmla="*/ 10 w 15"/>
                      <a:gd name="T5" fmla="*/ 20 h 20"/>
                      <a:gd name="T6" fmla="*/ 15 w 15"/>
                      <a:gd name="T7" fmla="*/ 5 h 20"/>
                      <a:gd name="T8" fmla="*/ 5 w 15"/>
                      <a:gd name="T9" fmla="*/ 0 h 20"/>
                    </a:gdLst>
                    <a:ahLst/>
                    <a:cxnLst>
                      <a:cxn ang="0">
                        <a:pos x="T0" y="T1"/>
                      </a:cxn>
                      <a:cxn ang="0">
                        <a:pos x="T2" y="T3"/>
                      </a:cxn>
                      <a:cxn ang="0">
                        <a:pos x="T4" y="T5"/>
                      </a:cxn>
                      <a:cxn ang="0">
                        <a:pos x="T6" y="T7"/>
                      </a:cxn>
                      <a:cxn ang="0">
                        <a:pos x="T8" y="T9"/>
                      </a:cxn>
                    </a:cxnLst>
                    <a:rect l="0" t="0" r="r" b="b"/>
                    <a:pathLst>
                      <a:path w="15" h="20">
                        <a:moveTo>
                          <a:pt x="5" y="0"/>
                        </a:moveTo>
                        <a:lnTo>
                          <a:pt x="0" y="15"/>
                        </a:lnTo>
                        <a:lnTo>
                          <a:pt x="10" y="20"/>
                        </a:lnTo>
                        <a:lnTo>
                          <a:pt x="15" y="5"/>
                        </a:lnTo>
                        <a:lnTo>
                          <a:pt x="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6" name="Freeform 50"/>
                  <p:cNvSpPr>
                    <a:spLocks noChangeAspect="1"/>
                  </p:cNvSpPr>
                  <p:nvPr/>
                </p:nvSpPr>
                <p:spPr bwMode="auto">
                  <a:xfrm>
                    <a:off x="3285" y="1317"/>
                    <a:ext cx="16" cy="19"/>
                  </a:xfrm>
                  <a:custGeom>
                    <a:avLst/>
                    <a:gdLst>
                      <a:gd name="T0" fmla="*/ 9 w 19"/>
                      <a:gd name="T1" fmla="*/ 0 h 24"/>
                      <a:gd name="T2" fmla="*/ 0 w 19"/>
                      <a:gd name="T3" fmla="*/ 19 h 24"/>
                      <a:gd name="T4" fmla="*/ 9 w 19"/>
                      <a:gd name="T5" fmla="*/ 24 h 24"/>
                      <a:gd name="T6" fmla="*/ 19 w 19"/>
                      <a:gd name="T7" fmla="*/ 5 h 24"/>
                      <a:gd name="T8" fmla="*/ 9 w 19"/>
                      <a:gd name="T9" fmla="*/ 0 h 24"/>
                    </a:gdLst>
                    <a:ahLst/>
                    <a:cxnLst>
                      <a:cxn ang="0">
                        <a:pos x="T0" y="T1"/>
                      </a:cxn>
                      <a:cxn ang="0">
                        <a:pos x="T2" y="T3"/>
                      </a:cxn>
                      <a:cxn ang="0">
                        <a:pos x="T4" y="T5"/>
                      </a:cxn>
                      <a:cxn ang="0">
                        <a:pos x="T6" y="T7"/>
                      </a:cxn>
                      <a:cxn ang="0">
                        <a:pos x="T8" y="T9"/>
                      </a:cxn>
                    </a:cxnLst>
                    <a:rect l="0" t="0" r="r" b="b"/>
                    <a:pathLst>
                      <a:path w="19" h="24">
                        <a:moveTo>
                          <a:pt x="9" y="0"/>
                        </a:moveTo>
                        <a:lnTo>
                          <a:pt x="0" y="19"/>
                        </a:lnTo>
                        <a:lnTo>
                          <a:pt x="9" y="24"/>
                        </a:lnTo>
                        <a:lnTo>
                          <a:pt x="19" y="5"/>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7" name="Freeform 51"/>
                  <p:cNvSpPr>
                    <a:spLocks noChangeAspect="1"/>
                  </p:cNvSpPr>
                  <p:nvPr/>
                </p:nvSpPr>
                <p:spPr bwMode="auto">
                  <a:xfrm>
                    <a:off x="3273" y="1344"/>
                    <a:ext cx="12" cy="20"/>
                  </a:xfrm>
                  <a:custGeom>
                    <a:avLst/>
                    <a:gdLst>
                      <a:gd name="T0" fmla="*/ 5 w 15"/>
                      <a:gd name="T1" fmla="*/ 0 h 24"/>
                      <a:gd name="T2" fmla="*/ 0 w 15"/>
                      <a:gd name="T3" fmla="*/ 19 h 24"/>
                      <a:gd name="T4" fmla="*/ 5 w 15"/>
                      <a:gd name="T5" fmla="*/ 24 h 24"/>
                      <a:gd name="T6" fmla="*/ 15 w 15"/>
                      <a:gd name="T7" fmla="*/ 5 h 24"/>
                      <a:gd name="T8" fmla="*/ 5 w 15"/>
                      <a:gd name="T9" fmla="*/ 0 h 24"/>
                    </a:gdLst>
                    <a:ahLst/>
                    <a:cxnLst>
                      <a:cxn ang="0">
                        <a:pos x="T0" y="T1"/>
                      </a:cxn>
                      <a:cxn ang="0">
                        <a:pos x="T2" y="T3"/>
                      </a:cxn>
                      <a:cxn ang="0">
                        <a:pos x="T4" y="T5"/>
                      </a:cxn>
                      <a:cxn ang="0">
                        <a:pos x="T6" y="T7"/>
                      </a:cxn>
                      <a:cxn ang="0">
                        <a:pos x="T8" y="T9"/>
                      </a:cxn>
                    </a:cxnLst>
                    <a:rect l="0" t="0" r="r" b="b"/>
                    <a:pathLst>
                      <a:path w="15" h="24">
                        <a:moveTo>
                          <a:pt x="5" y="0"/>
                        </a:moveTo>
                        <a:lnTo>
                          <a:pt x="0" y="19"/>
                        </a:lnTo>
                        <a:lnTo>
                          <a:pt x="5" y="24"/>
                        </a:lnTo>
                        <a:lnTo>
                          <a:pt x="15" y="5"/>
                        </a:lnTo>
                        <a:lnTo>
                          <a:pt x="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8" name="Freeform 52"/>
                  <p:cNvSpPr>
                    <a:spLocks noChangeAspect="1"/>
                  </p:cNvSpPr>
                  <p:nvPr/>
                </p:nvSpPr>
                <p:spPr bwMode="auto">
                  <a:xfrm>
                    <a:off x="3258" y="1371"/>
                    <a:ext cx="15" cy="19"/>
                  </a:xfrm>
                  <a:custGeom>
                    <a:avLst/>
                    <a:gdLst>
                      <a:gd name="T0" fmla="*/ 10 w 19"/>
                      <a:gd name="T1" fmla="*/ 0 h 24"/>
                      <a:gd name="T2" fmla="*/ 0 w 19"/>
                      <a:gd name="T3" fmla="*/ 20 h 24"/>
                      <a:gd name="T4" fmla="*/ 10 w 19"/>
                      <a:gd name="T5" fmla="*/ 24 h 24"/>
                      <a:gd name="T6" fmla="*/ 19 w 19"/>
                      <a:gd name="T7" fmla="*/ 5 h 24"/>
                      <a:gd name="T8" fmla="*/ 10 w 19"/>
                      <a:gd name="T9" fmla="*/ 0 h 24"/>
                    </a:gdLst>
                    <a:ahLst/>
                    <a:cxnLst>
                      <a:cxn ang="0">
                        <a:pos x="T0" y="T1"/>
                      </a:cxn>
                      <a:cxn ang="0">
                        <a:pos x="T2" y="T3"/>
                      </a:cxn>
                      <a:cxn ang="0">
                        <a:pos x="T4" y="T5"/>
                      </a:cxn>
                      <a:cxn ang="0">
                        <a:pos x="T6" y="T7"/>
                      </a:cxn>
                      <a:cxn ang="0">
                        <a:pos x="T8" y="T9"/>
                      </a:cxn>
                    </a:cxnLst>
                    <a:rect l="0" t="0" r="r" b="b"/>
                    <a:pathLst>
                      <a:path w="19" h="24">
                        <a:moveTo>
                          <a:pt x="10" y="0"/>
                        </a:moveTo>
                        <a:lnTo>
                          <a:pt x="0" y="20"/>
                        </a:lnTo>
                        <a:lnTo>
                          <a:pt x="10" y="24"/>
                        </a:lnTo>
                        <a:lnTo>
                          <a:pt x="19"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69" name="Freeform 53"/>
                  <p:cNvSpPr>
                    <a:spLocks noChangeAspect="1"/>
                  </p:cNvSpPr>
                  <p:nvPr/>
                </p:nvSpPr>
                <p:spPr bwMode="auto">
                  <a:xfrm>
                    <a:off x="3247" y="1402"/>
                    <a:ext cx="11" cy="15"/>
                  </a:xfrm>
                  <a:custGeom>
                    <a:avLst/>
                    <a:gdLst>
                      <a:gd name="T0" fmla="*/ 5 w 14"/>
                      <a:gd name="T1" fmla="*/ 0 h 19"/>
                      <a:gd name="T2" fmla="*/ 0 w 14"/>
                      <a:gd name="T3" fmla="*/ 14 h 19"/>
                      <a:gd name="T4" fmla="*/ 5 w 14"/>
                      <a:gd name="T5" fmla="*/ 19 h 19"/>
                      <a:gd name="T6" fmla="*/ 14 w 14"/>
                      <a:gd name="T7" fmla="*/ 0 h 19"/>
                      <a:gd name="T8" fmla="*/ 5 w 14"/>
                      <a:gd name="T9" fmla="*/ 0 h 19"/>
                    </a:gdLst>
                    <a:ahLst/>
                    <a:cxnLst>
                      <a:cxn ang="0">
                        <a:pos x="T0" y="T1"/>
                      </a:cxn>
                      <a:cxn ang="0">
                        <a:pos x="T2" y="T3"/>
                      </a:cxn>
                      <a:cxn ang="0">
                        <a:pos x="T4" y="T5"/>
                      </a:cxn>
                      <a:cxn ang="0">
                        <a:pos x="T6" y="T7"/>
                      </a:cxn>
                      <a:cxn ang="0">
                        <a:pos x="T8" y="T9"/>
                      </a:cxn>
                    </a:cxnLst>
                    <a:rect l="0" t="0" r="r" b="b"/>
                    <a:pathLst>
                      <a:path w="14" h="19">
                        <a:moveTo>
                          <a:pt x="5" y="0"/>
                        </a:moveTo>
                        <a:lnTo>
                          <a:pt x="0" y="14"/>
                        </a:lnTo>
                        <a:lnTo>
                          <a:pt x="5" y="19"/>
                        </a:lnTo>
                        <a:lnTo>
                          <a:pt x="14" y="0"/>
                        </a:lnTo>
                        <a:lnTo>
                          <a:pt x="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0" name="Freeform 54"/>
                  <p:cNvSpPr>
                    <a:spLocks noChangeAspect="1"/>
                  </p:cNvSpPr>
                  <p:nvPr/>
                </p:nvSpPr>
                <p:spPr bwMode="auto">
                  <a:xfrm>
                    <a:off x="3231" y="1429"/>
                    <a:ext cx="16" cy="15"/>
                  </a:xfrm>
                  <a:custGeom>
                    <a:avLst/>
                    <a:gdLst>
                      <a:gd name="T0" fmla="*/ 10 w 20"/>
                      <a:gd name="T1" fmla="*/ 0 h 19"/>
                      <a:gd name="T2" fmla="*/ 0 w 20"/>
                      <a:gd name="T3" fmla="*/ 14 h 19"/>
                      <a:gd name="T4" fmla="*/ 10 w 20"/>
                      <a:gd name="T5" fmla="*/ 19 h 19"/>
                      <a:gd name="T6" fmla="*/ 20 w 20"/>
                      <a:gd name="T7" fmla="*/ 4 h 19"/>
                      <a:gd name="T8" fmla="*/ 10 w 20"/>
                      <a:gd name="T9" fmla="*/ 0 h 19"/>
                    </a:gdLst>
                    <a:ahLst/>
                    <a:cxnLst>
                      <a:cxn ang="0">
                        <a:pos x="T0" y="T1"/>
                      </a:cxn>
                      <a:cxn ang="0">
                        <a:pos x="T2" y="T3"/>
                      </a:cxn>
                      <a:cxn ang="0">
                        <a:pos x="T4" y="T5"/>
                      </a:cxn>
                      <a:cxn ang="0">
                        <a:pos x="T6" y="T7"/>
                      </a:cxn>
                      <a:cxn ang="0">
                        <a:pos x="T8" y="T9"/>
                      </a:cxn>
                    </a:cxnLst>
                    <a:rect l="0" t="0" r="r" b="b"/>
                    <a:pathLst>
                      <a:path w="20" h="19">
                        <a:moveTo>
                          <a:pt x="10" y="0"/>
                        </a:moveTo>
                        <a:lnTo>
                          <a:pt x="0" y="14"/>
                        </a:lnTo>
                        <a:lnTo>
                          <a:pt x="10" y="19"/>
                        </a:lnTo>
                        <a:lnTo>
                          <a:pt x="20" y="4"/>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1" name="Freeform 55"/>
                  <p:cNvSpPr>
                    <a:spLocks noChangeAspect="1"/>
                  </p:cNvSpPr>
                  <p:nvPr/>
                </p:nvSpPr>
                <p:spPr bwMode="auto">
                  <a:xfrm>
                    <a:off x="3220" y="1456"/>
                    <a:ext cx="11" cy="16"/>
                  </a:xfrm>
                  <a:custGeom>
                    <a:avLst/>
                    <a:gdLst>
                      <a:gd name="T0" fmla="*/ 5 w 14"/>
                      <a:gd name="T1" fmla="*/ 0 h 20"/>
                      <a:gd name="T2" fmla="*/ 0 w 14"/>
                      <a:gd name="T3" fmla="*/ 20 h 20"/>
                      <a:gd name="T4" fmla="*/ 5 w 14"/>
                      <a:gd name="T5" fmla="*/ 20 h 20"/>
                      <a:gd name="T6" fmla="*/ 14 w 14"/>
                      <a:gd name="T7" fmla="*/ 5 h 20"/>
                      <a:gd name="T8" fmla="*/ 5 w 14"/>
                      <a:gd name="T9" fmla="*/ 0 h 20"/>
                    </a:gdLst>
                    <a:ahLst/>
                    <a:cxnLst>
                      <a:cxn ang="0">
                        <a:pos x="T0" y="T1"/>
                      </a:cxn>
                      <a:cxn ang="0">
                        <a:pos x="T2" y="T3"/>
                      </a:cxn>
                      <a:cxn ang="0">
                        <a:pos x="T4" y="T5"/>
                      </a:cxn>
                      <a:cxn ang="0">
                        <a:pos x="T6" y="T7"/>
                      </a:cxn>
                      <a:cxn ang="0">
                        <a:pos x="T8" y="T9"/>
                      </a:cxn>
                    </a:cxnLst>
                    <a:rect l="0" t="0" r="r" b="b"/>
                    <a:pathLst>
                      <a:path w="14" h="20">
                        <a:moveTo>
                          <a:pt x="5" y="0"/>
                        </a:moveTo>
                        <a:lnTo>
                          <a:pt x="0" y="20"/>
                        </a:lnTo>
                        <a:lnTo>
                          <a:pt x="5" y="20"/>
                        </a:lnTo>
                        <a:lnTo>
                          <a:pt x="14" y="5"/>
                        </a:lnTo>
                        <a:lnTo>
                          <a:pt x="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2" name="Freeform 56"/>
                  <p:cNvSpPr>
                    <a:spLocks noChangeAspect="1"/>
                  </p:cNvSpPr>
                  <p:nvPr/>
                </p:nvSpPr>
                <p:spPr bwMode="auto">
                  <a:xfrm>
                    <a:off x="3212" y="404"/>
                    <a:ext cx="647" cy="690"/>
                  </a:xfrm>
                  <a:custGeom>
                    <a:avLst/>
                    <a:gdLst>
                      <a:gd name="T0" fmla="*/ 809 w 809"/>
                      <a:gd name="T1" fmla="*/ 861 h 861"/>
                      <a:gd name="T2" fmla="*/ 804 w 809"/>
                      <a:gd name="T3" fmla="*/ 5 h 861"/>
                      <a:gd name="T4" fmla="*/ 804 w 809"/>
                      <a:gd name="T5" fmla="*/ 0 h 861"/>
                      <a:gd name="T6" fmla="*/ 795 w 809"/>
                      <a:gd name="T7" fmla="*/ 0 h 861"/>
                      <a:gd name="T8" fmla="*/ 795 w 809"/>
                      <a:gd name="T9" fmla="*/ 5 h 861"/>
                      <a:gd name="T10" fmla="*/ 645 w 809"/>
                      <a:gd name="T11" fmla="*/ 394 h 861"/>
                      <a:gd name="T12" fmla="*/ 15 w 809"/>
                      <a:gd name="T13" fmla="*/ 394 h 861"/>
                      <a:gd name="T14" fmla="*/ 251 w 809"/>
                      <a:gd name="T15" fmla="*/ 14 h 861"/>
                      <a:gd name="T16" fmla="*/ 799 w 809"/>
                      <a:gd name="T17" fmla="*/ 19 h 861"/>
                      <a:gd name="T18" fmla="*/ 799 w 809"/>
                      <a:gd name="T19" fmla="*/ 9 h 861"/>
                      <a:gd name="T20" fmla="*/ 246 w 809"/>
                      <a:gd name="T21" fmla="*/ 5 h 861"/>
                      <a:gd name="T22" fmla="*/ 241 w 809"/>
                      <a:gd name="T23" fmla="*/ 5 h 861"/>
                      <a:gd name="T24" fmla="*/ 0 w 809"/>
                      <a:gd name="T25" fmla="*/ 394 h 861"/>
                      <a:gd name="T26" fmla="*/ 0 w 809"/>
                      <a:gd name="T27" fmla="*/ 404 h 861"/>
                      <a:gd name="T28" fmla="*/ 655 w 809"/>
                      <a:gd name="T29" fmla="*/ 404 h 861"/>
                      <a:gd name="T30" fmla="*/ 655 w 809"/>
                      <a:gd name="T31" fmla="*/ 399 h 861"/>
                      <a:gd name="T32" fmla="*/ 795 w 809"/>
                      <a:gd name="T33" fmla="*/ 29 h 861"/>
                      <a:gd name="T34" fmla="*/ 799 w 809"/>
                      <a:gd name="T35" fmla="*/ 861 h 861"/>
                      <a:gd name="T36" fmla="*/ 809 w 809"/>
                      <a:gd name="T37" fmla="*/ 861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9" h="861">
                        <a:moveTo>
                          <a:pt x="809" y="861"/>
                        </a:moveTo>
                        <a:lnTo>
                          <a:pt x="804" y="5"/>
                        </a:lnTo>
                        <a:lnTo>
                          <a:pt x="804" y="0"/>
                        </a:lnTo>
                        <a:lnTo>
                          <a:pt x="795" y="0"/>
                        </a:lnTo>
                        <a:lnTo>
                          <a:pt x="795" y="5"/>
                        </a:lnTo>
                        <a:lnTo>
                          <a:pt x="645" y="394"/>
                        </a:lnTo>
                        <a:lnTo>
                          <a:pt x="15" y="394"/>
                        </a:lnTo>
                        <a:lnTo>
                          <a:pt x="251" y="14"/>
                        </a:lnTo>
                        <a:lnTo>
                          <a:pt x="799" y="19"/>
                        </a:lnTo>
                        <a:lnTo>
                          <a:pt x="799" y="9"/>
                        </a:lnTo>
                        <a:lnTo>
                          <a:pt x="246" y="5"/>
                        </a:lnTo>
                        <a:lnTo>
                          <a:pt x="241" y="5"/>
                        </a:lnTo>
                        <a:lnTo>
                          <a:pt x="0" y="394"/>
                        </a:lnTo>
                        <a:lnTo>
                          <a:pt x="0" y="404"/>
                        </a:lnTo>
                        <a:lnTo>
                          <a:pt x="655" y="404"/>
                        </a:lnTo>
                        <a:lnTo>
                          <a:pt x="655" y="399"/>
                        </a:lnTo>
                        <a:lnTo>
                          <a:pt x="795" y="29"/>
                        </a:lnTo>
                        <a:lnTo>
                          <a:pt x="799" y="861"/>
                        </a:lnTo>
                        <a:lnTo>
                          <a:pt x="809" y="86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3" name="Freeform 57"/>
                  <p:cNvSpPr>
                    <a:spLocks noChangeAspect="1"/>
                  </p:cNvSpPr>
                  <p:nvPr/>
                </p:nvSpPr>
                <p:spPr bwMode="auto">
                  <a:xfrm>
                    <a:off x="3212" y="720"/>
                    <a:ext cx="651" cy="767"/>
                  </a:xfrm>
                  <a:custGeom>
                    <a:avLst/>
                    <a:gdLst>
                      <a:gd name="T0" fmla="*/ 0 w 814"/>
                      <a:gd name="T1" fmla="*/ 0 h 958"/>
                      <a:gd name="T2" fmla="*/ 5 w 814"/>
                      <a:gd name="T3" fmla="*/ 958 h 958"/>
                      <a:gd name="T4" fmla="*/ 660 w 814"/>
                      <a:gd name="T5" fmla="*/ 953 h 958"/>
                      <a:gd name="T6" fmla="*/ 814 w 814"/>
                      <a:gd name="T7" fmla="*/ 457 h 958"/>
                      <a:gd name="T8" fmla="*/ 804 w 814"/>
                      <a:gd name="T9" fmla="*/ 457 h 958"/>
                      <a:gd name="T10" fmla="*/ 650 w 814"/>
                      <a:gd name="T11" fmla="*/ 943 h 958"/>
                      <a:gd name="T12" fmla="*/ 15 w 814"/>
                      <a:gd name="T13" fmla="*/ 948 h 958"/>
                      <a:gd name="T14" fmla="*/ 10 w 814"/>
                      <a:gd name="T15" fmla="*/ 0 h 958"/>
                      <a:gd name="T16" fmla="*/ 0 w 814"/>
                      <a:gd name="T17" fmla="*/ 0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4" h="958">
                        <a:moveTo>
                          <a:pt x="0" y="0"/>
                        </a:moveTo>
                        <a:lnTo>
                          <a:pt x="5" y="958"/>
                        </a:lnTo>
                        <a:lnTo>
                          <a:pt x="660" y="953"/>
                        </a:lnTo>
                        <a:lnTo>
                          <a:pt x="814" y="457"/>
                        </a:lnTo>
                        <a:lnTo>
                          <a:pt x="804" y="457"/>
                        </a:lnTo>
                        <a:lnTo>
                          <a:pt x="650" y="943"/>
                        </a:lnTo>
                        <a:lnTo>
                          <a:pt x="15" y="948"/>
                        </a:lnTo>
                        <a:lnTo>
                          <a:pt x="1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4" name="Rectangle 58"/>
                  <p:cNvSpPr>
                    <a:spLocks noChangeAspect="1" noChangeArrowheads="1"/>
                  </p:cNvSpPr>
                  <p:nvPr/>
                </p:nvSpPr>
                <p:spPr bwMode="auto">
                  <a:xfrm>
                    <a:off x="3732" y="724"/>
                    <a:ext cx="8" cy="76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75" name="Rectangle 59"/>
                  <p:cNvSpPr>
                    <a:spLocks noChangeAspect="1" noChangeArrowheads="1"/>
                  </p:cNvSpPr>
                  <p:nvPr/>
                </p:nvSpPr>
                <p:spPr bwMode="auto">
                  <a:xfrm>
                    <a:off x="3405" y="188"/>
                    <a:ext cx="8" cy="22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76" name="Freeform 60"/>
                  <p:cNvSpPr>
                    <a:spLocks noChangeAspect="1"/>
                  </p:cNvSpPr>
                  <p:nvPr/>
                </p:nvSpPr>
                <p:spPr bwMode="auto">
                  <a:xfrm>
                    <a:off x="3393" y="188"/>
                    <a:ext cx="31" cy="28"/>
                  </a:xfrm>
                  <a:custGeom>
                    <a:avLst/>
                    <a:gdLst>
                      <a:gd name="T0" fmla="*/ 0 w 38"/>
                      <a:gd name="T1" fmla="*/ 34 h 34"/>
                      <a:gd name="T2" fmla="*/ 19 w 38"/>
                      <a:gd name="T3" fmla="*/ 0 h 34"/>
                      <a:gd name="T4" fmla="*/ 38 w 38"/>
                      <a:gd name="T5" fmla="*/ 34 h 34"/>
                      <a:gd name="T6" fmla="*/ 19 w 38"/>
                      <a:gd name="T7" fmla="*/ 20 h 34"/>
                      <a:gd name="T8" fmla="*/ 0 w 38"/>
                      <a:gd name="T9" fmla="*/ 34 h 34"/>
                    </a:gdLst>
                    <a:ahLst/>
                    <a:cxnLst>
                      <a:cxn ang="0">
                        <a:pos x="T0" y="T1"/>
                      </a:cxn>
                      <a:cxn ang="0">
                        <a:pos x="T2" y="T3"/>
                      </a:cxn>
                      <a:cxn ang="0">
                        <a:pos x="T4" y="T5"/>
                      </a:cxn>
                      <a:cxn ang="0">
                        <a:pos x="T6" y="T7"/>
                      </a:cxn>
                      <a:cxn ang="0">
                        <a:pos x="T8" y="T9"/>
                      </a:cxn>
                    </a:cxnLst>
                    <a:rect l="0" t="0" r="r" b="b"/>
                    <a:pathLst>
                      <a:path w="38" h="34">
                        <a:moveTo>
                          <a:pt x="0" y="34"/>
                        </a:moveTo>
                        <a:lnTo>
                          <a:pt x="19" y="0"/>
                        </a:lnTo>
                        <a:lnTo>
                          <a:pt x="38" y="34"/>
                        </a:lnTo>
                        <a:lnTo>
                          <a:pt x="19" y="20"/>
                        </a:lnTo>
                        <a:lnTo>
                          <a:pt x="0" y="3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7" name="Freeform 61"/>
                  <p:cNvSpPr>
                    <a:spLocks noChangeAspect="1"/>
                  </p:cNvSpPr>
                  <p:nvPr/>
                </p:nvSpPr>
                <p:spPr bwMode="auto">
                  <a:xfrm>
                    <a:off x="3381" y="181"/>
                    <a:ext cx="55" cy="50"/>
                  </a:xfrm>
                  <a:custGeom>
                    <a:avLst/>
                    <a:gdLst>
                      <a:gd name="T0" fmla="*/ 29 w 68"/>
                      <a:gd name="T1" fmla="*/ 24 h 62"/>
                      <a:gd name="T2" fmla="*/ 34 w 68"/>
                      <a:gd name="T3" fmla="*/ 19 h 62"/>
                      <a:gd name="T4" fmla="*/ 39 w 68"/>
                      <a:gd name="T5" fmla="*/ 24 h 62"/>
                      <a:gd name="T6" fmla="*/ 34 w 68"/>
                      <a:gd name="T7" fmla="*/ 24 h 62"/>
                      <a:gd name="T8" fmla="*/ 29 w 68"/>
                      <a:gd name="T9" fmla="*/ 24 h 62"/>
                      <a:gd name="T10" fmla="*/ 0 w 68"/>
                      <a:gd name="T11" fmla="*/ 62 h 62"/>
                      <a:gd name="T12" fmla="*/ 34 w 68"/>
                      <a:gd name="T13" fmla="*/ 33 h 62"/>
                      <a:gd name="T14" fmla="*/ 68 w 68"/>
                      <a:gd name="T15" fmla="*/ 62 h 62"/>
                      <a:gd name="T16" fmla="*/ 34 w 68"/>
                      <a:gd name="T17" fmla="*/ 0 h 62"/>
                      <a:gd name="T18" fmla="*/ 0 w 68"/>
                      <a:gd name="T19" fmla="*/ 62 h 62"/>
                      <a:gd name="T20" fmla="*/ 29 w 68"/>
                      <a:gd name="T21" fmla="*/ 2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62">
                        <a:moveTo>
                          <a:pt x="29" y="24"/>
                        </a:moveTo>
                        <a:lnTo>
                          <a:pt x="34" y="19"/>
                        </a:lnTo>
                        <a:lnTo>
                          <a:pt x="39" y="24"/>
                        </a:lnTo>
                        <a:lnTo>
                          <a:pt x="34" y="24"/>
                        </a:lnTo>
                        <a:lnTo>
                          <a:pt x="29" y="24"/>
                        </a:lnTo>
                        <a:lnTo>
                          <a:pt x="0" y="62"/>
                        </a:lnTo>
                        <a:lnTo>
                          <a:pt x="34" y="33"/>
                        </a:lnTo>
                        <a:lnTo>
                          <a:pt x="68" y="62"/>
                        </a:lnTo>
                        <a:lnTo>
                          <a:pt x="34" y="0"/>
                        </a:lnTo>
                        <a:lnTo>
                          <a:pt x="0" y="62"/>
                        </a:lnTo>
                        <a:lnTo>
                          <a:pt x="29" y="2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8" name="Freeform 62"/>
                  <p:cNvSpPr>
                    <a:spLocks noChangeAspect="1"/>
                  </p:cNvSpPr>
                  <p:nvPr/>
                </p:nvSpPr>
                <p:spPr bwMode="auto">
                  <a:xfrm>
                    <a:off x="3131" y="1483"/>
                    <a:ext cx="89" cy="162"/>
                  </a:xfrm>
                  <a:custGeom>
                    <a:avLst/>
                    <a:gdLst>
                      <a:gd name="T0" fmla="*/ 101 w 111"/>
                      <a:gd name="T1" fmla="*/ 0 h 202"/>
                      <a:gd name="T2" fmla="*/ 0 w 111"/>
                      <a:gd name="T3" fmla="*/ 202 h 202"/>
                      <a:gd name="T4" fmla="*/ 10 w 111"/>
                      <a:gd name="T5" fmla="*/ 202 h 202"/>
                      <a:gd name="T6" fmla="*/ 111 w 111"/>
                      <a:gd name="T7" fmla="*/ 0 h 202"/>
                      <a:gd name="T8" fmla="*/ 101 w 111"/>
                      <a:gd name="T9" fmla="*/ 0 h 202"/>
                    </a:gdLst>
                    <a:ahLst/>
                    <a:cxnLst>
                      <a:cxn ang="0">
                        <a:pos x="T0" y="T1"/>
                      </a:cxn>
                      <a:cxn ang="0">
                        <a:pos x="T2" y="T3"/>
                      </a:cxn>
                      <a:cxn ang="0">
                        <a:pos x="T4" y="T5"/>
                      </a:cxn>
                      <a:cxn ang="0">
                        <a:pos x="T6" y="T7"/>
                      </a:cxn>
                      <a:cxn ang="0">
                        <a:pos x="T8" y="T9"/>
                      </a:cxn>
                    </a:cxnLst>
                    <a:rect l="0" t="0" r="r" b="b"/>
                    <a:pathLst>
                      <a:path w="111" h="202">
                        <a:moveTo>
                          <a:pt x="101" y="0"/>
                        </a:moveTo>
                        <a:lnTo>
                          <a:pt x="0" y="202"/>
                        </a:lnTo>
                        <a:lnTo>
                          <a:pt x="10" y="202"/>
                        </a:lnTo>
                        <a:lnTo>
                          <a:pt x="111" y="0"/>
                        </a:lnTo>
                        <a:lnTo>
                          <a:pt x="10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79" name="Freeform 63"/>
                  <p:cNvSpPr>
                    <a:spLocks noChangeAspect="1"/>
                  </p:cNvSpPr>
                  <p:nvPr/>
                </p:nvSpPr>
                <p:spPr bwMode="auto">
                  <a:xfrm>
                    <a:off x="3135" y="1614"/>
                    <a:ext cx="27" cy="31"/>
                  </a:xfrm>
                  <a:custGeom>
                    <a:avLst/>
                    <a:gdLst>
                      <a:gd name="T0" fmla="*/ 34 w 34"/>
                      <a:gd name="T1" fmla="*/ 14 h 38"/>
                      <a:gd name="T2" fmla="*/ 0 w 34"/>
                      <a:gd name="T3" fmla="*/ 38 h 38"/>
                      <a:gd name="T4" fmla="*/ 0 w 34"/>
                      <a:gd name="T5" fmla="*/ 0 h 38"/>
                      <a:gd name="T6" fmla="*/ 10 w 34"/>
                      <a:gd name="T7" fmla="*/ 24 h 38"/>
                      <a:gd name="T8" fmla="*/ 34 w 34"/>
                      <a:gd name="T9" fmla="*/ 14 h 38"/>
                    </a:gdLst>
                    <a:ahLst/>
                    <a:cxnLst>
                      <a:cxn ang="0">
                        <a:pos x="T0" y="T1"/>
                      </a:cxn>
                      <a:cxn ang="0">
                        <a:pos x="T2" y="T3"/>
                      </a:cxn>
                      <a:cxn ang="0">
                        <a:pos x="T4" y="T5"/>
                      </a:cxn>
                      <a:cxn ang="0">
                        <a:pos x="T6" y="T7"/>
                      </a:cxn>
                      <a:cxn ang="0">
                        <a:pos x="T8" y="T9"/>
                      </a:cxn>
                    </a:cxnLst>
                    <a:rect l="0" t="0" r="r" b="b"/>
                    <a:pathLst>
                      <a:path w="34" h="38">
                        <a:moveTo>
                          <a:pt x="34" y="14"/>
                        </a:moveTo>
                        <a:lnTo>
                          <a:pt x="0" y="38"/>
                        </a:lnTo>
                        <a:lnTo>
                          <a:pt x="0" y="0"/>
                        </a:lnTo>
                        <a:lnTo>
                          <a:pt x="10" y="24"/>
                        </a:lnTo>
                        <a:lnTo>
                          <a:pt x="34" y="1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80" name="Freeform 64"/>
                  <p:cNvSpPr>
                    <a:spLocks noChangeAspect="1"/>
                  </p:cNvSpPr>
                  <p:nvPr/>
                </p:nvSpPr>
                <p:spPr bwMode="auto">
                  <a:xfrm>
                    <a:off x="3131" y="1594"/>
                    <a:ext cx="58" cy="59"/>
                  </a:xfrm>
                  <a:custGeom>
                    <a:avLst/>
                    <a:gdLst>
                      <a:gd name="T0" fmla="*/ 5 w 72"/>
                      <a:gd name="T1" fmla="*/ 58 h 73"/>
                      <a:gd name="T2" fmla="*/ 10 w 72"/>
                      <a:gd name="T3" fmla="*/ 53 h 73"/>
                      <a:gd name="T4" fmla="*/ 10 w 72"/>
                      <a:gd name="T5" fmla="*/ 49 h 73"/>
                      <a:gd name="T6" fmla="*/ 10 w 72"/>
                      <a:gd name="T7" fmla="*/ 53 h 73"/>
                      <a:gd name="T8" fmla="*/ 5 w 72"/>
                      <a:gd name="T9" fmla="*/ 58 h 73"/>
                      <a:gd name="T10" fmla="*/ 72 w 72"/>
                      <a:gd name="T11" fmla="*/ 20 h 73"/>
                      <a:gd name="T12" fmla="*/ 20 w 72"/>
                      <a:gd name="T13" fmla="*/ 44 h 73"/>
                      <a:gd name="T14" fmla="*/ 0 w 72"/>
                      <a:gd name="T15" fmla="*/ 0 h 73"/>
                      <a:gd name="T16" fmla="*/ 0 w 72"/>
                      <a:gd name="T17" fmla="*/ 73 h 73"/>
                      <a:gd name="T18" fmla="*/ 72 w 72"/>
                      <a:gd name="T19" fmla="*/ 20 h 73"/>
                      <a:gd name="T20" fmla="*/ 5 w 72"/>
                      <a:gd name="T21" fmla="*/ 5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73">
                        <a:moveTo>
                          <a:pt x="5" y="58"/>
                        </a:moveTo>
                        <a:lnTo>
                          <a:pt x="10" y="53"/>
                        </a:lnTo>
                        <a:lnTo>
                          <a:pt x="10" y="49"/>
                        </a:lnTo>
                        <a:lnTo>
                          <a:pt x="10" y="53"/>
                        </a:lnTo>
                        <a:lnTo>
                          <a:pt x="5" y="58"/>
                        </a:lnTo>
                        <a:lnTo>
                          <a:pt x="72" y="20"/>
                        </a:lnTo>
                        <a:lnTo>
                          <a:pt x="20" y="44"/>
                        </a:lnTo>
                        <a:lnTo>
                          <a:pt x="0" y="0"/>
                        </a:lnTo>
                        <a:lnTo>
                          <a:pt x="0" y="73"/>
                        </a:lnTo>
                        <a:lnTo>
                          <a:pt x="72" y="20"/>
                        </a:lnTo>
                        <a:lnTo>
                          <a:pt x="5" y="5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81" name="Rectangle 65"/>
                  <p:cNvSpPr>
                    <a:spLocks noChangeAspect="1" noChangeArrowheads="1"/>
                  </p:cNvSpPr>
                  <p:nvPr/>
                </p:nvSpPr>
                <p:spPr bwMode="auto">
                  <a:xfrm>
                    <a:off x="3859" y="1086"/>
                    <a:ext cx="147"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282" name="Freeform 66"/>
                  <p:cNvSpPr>
                    <a:spLocks noChangeAspect="1"/>
                  </p:cNvSpPr>
                  <p:nvPr/>
                </p:nvSpPr>
                <p:spPr bwMode="auto">
                  <a:xfrm>
                    <a:off x="3979" y="1079"/>
                    <a:ext cx="27" cy="26"/>
                  </a:xfrm>
                  <a:custGeom>
                    <a:avLst/>
                    <a:gdLst>
                      <a:gd name="T0" fmla="*/ 0 w 34"/>
                      <a:gd name="T1" fmla="*/ 0 h 33"/>
                      <a:gd name="T2" fmla="*/ 34 w 34"/>
                      <a:gd name="T3" fmla="*/ 14 h 33"/>
                      <a:gd name="T4" fmla="*/ 0 w 34"/>
                      <a:gd name="T5" fmla="*/ 33 h 33"/>
                      <a:gd name="T6" fmla="*/ 15 w 34"/>
                      <a:gd name="T7" fmla="*/ 14 h 33"/>
                      <a:gd name="T8" fmla="*/ 0 w 34"/>
                      <a:gd name="T9" fmla="*/ 0 h 33"/>
                    </a:gdLst>
                    <a:ahLst/>
                    <a:cxnLst>
                      <a:cxn ang="0">
                        <a:pos x="T0" y="T1"/>
                      </a:cxn>
                      <a:cxn ang="0">
                        <a:pos x="T2" y="T3"/>
                      </a:cxn>
                      <a:cxn ang="0">
                        <a:pos x="T4" y="T5"/>
                      </a:cxn>
                      <a:cxn ang="0">
                        <a:pos x="T6" y="T7"/>
                      </a:cxn>
                      <a:cxn ang="0">
                        <a:pos x="T8" y="T9"/>
                      </a:cxn>
                    </a:cxnLst>
                    <a:rect l="0" t="0" r="r" b="b"/>
                    <a:pathLst>
                      <a:path w="34" h="33">
                        <a:moveTo>
                          <a:pt x="0" y="0"/>
                        </a:moveTo>
                        <a:lnTo>
                          <a:pt x="34" y="14"/>
                        </a:lnTo>
                        <a:lnTo>
                          <a:pt x="0" y="33"/>
                        </a:lnTo>
                        <a:lnTo>
                          <a:pt x="15" y="14"/>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83" name="Freeform 67"/>
                  <p:cNvSpPr>
                    <a:spLocks noChangeAspect="1"/>
                  </p:cNvSpPr>
                  <p:nvPr/>
                </p:nvSpPr>
                <p:spPr bwMode="auto">
                  <a:xfrm>
                    <a:off x="3964" y="1067"/>
                    <a:ext cx="50" cy="50"/>
                  </a:xfrm>
                  <a:custGeom>
                    <a:avLst/>
                    <a:gdLst>
                      <a:gd name="T0" fmla="*/ 39 w 63"/>
                      <a:gd name="T1" fmla="*/ 29 h 63"/>
                      <a:gd name="T2" fmla="*/ 43 w 63"/>
                      <a:gd name="T3" fmla="*/ 29 h 63"/>
                      <a:gd name="T4" fmla="*/ 39 w 63"/>
                      <a:gd name="T5" fmla="*/ 34 h 63"/>
                      <a:gd name="T6" fmla="*/ 39 w 63"/>
                      <a:gd name="T7" fmla="*/ 29 h 63"/>
                      <a:gd name="T8" fmla="*/ 0 w 63"/>
                      <a:gd name="T9" fmla="*/ 0 h 63"/>
                      <a:gd name="T10" fmla="*/ 29 w 63"/>
                      <a:gd name="T11" fmla="*/ 29 h 63"/>
                      <a:gd name="T12" fmla="*/ 0 w 63"/>
                      <a:gd name="T13" fmla="*/ 63 h 63"/>
                      <a:gd name="T14" fmla="*/ 63 w 63"/>
                      <a:gd name="T15" fmla="*/ 29 h 63"/>
                      <a:gd name="T16" fmla="*/ 0 w 63"/>
                      <a:gd name="T17" fmla="*/ 0 h 63"/>
                      <a:gd name="T18" fmla="*/ 39 w 63"/>
                      <a:gd name="T19" fmla="*/ 2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3">
                        <a:moveTo>
                          <a:pt x="39" y="29"/>
                        </a:moveTo>
                        <a:lnTo>
                          <a:pt x="43" y="29"/>
                        </a:lnTo>
                        <a:lnTo>
                          <a:pt x="39" y="34"/>
                        </a:lnTo>
                        <a:lnTo>
                          <a:pt x="39" y="29"/>
                        </a:lnTo>
                        <a:lnTo>
                          <a:pt x="0" y="0"/>
                        </a:lnTo>
                        <a:lnTo>
                          <a:pt x="29" y="29"/>
                        </a:lnTo>
                        <a:lnTo>
                          <a:pt x="0" y="63"/>
                        </a:lnTo>
                        <a:lnTo>
                          <a:pt x="63" y="29"/>
                        </a:lnTo>
                        <a:lnTo>
                          <a:pt x="0" y="0"/>
                        </a:lnTo>
                        <a:lnTo>
                          <a:pt x="39" y="2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284" name="Rectangle 68"/>
                  <p:cNvSpPr>
                    <a:spLocks noChangeAspect="1" noChangeArrowheads="1"/>
                  </p:cNvSpPr>
                  <p:nvPr/>
                </p:nvSpPr>
                <p:spPr bwMode="auto">
                  <a:xfrm>
                    <a:off x="3054" y="1625"/>
                    <a:ext cx="7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a</a:t>
                    </a:r>
                    <a:endParaRPr lang="en-US" altLang="zh-CN" sz="2000" b="0">
                      <a:effectLst>
                        <a:outerShdw blurRad="38100" dist="38100" dir="2700000" algn="tl">
                          <a:srgbClr val="000000"/>
                        </a:outerShdw>
                      </a:effectLst>
                      <a:latin typeface="Times New Roman" panose="02020603050405020304" pitchFamily="18" charset="0"/>
                    </a:endParaRPr>
                  </a:p>
                </p:txBody>
              </p:sp>
              <p:sp>
                <p:nvSpPr>
                  <p:cNvPr id="137285" name="Rectangle 69"/>
                  <p:cNvSpPr>
                    <a:spLocks noChangeAspect="1" noChangeArrowheads="1"/>
                  </p:cNvSpPr>
                  <p:nvPr/>
                </p:nvSpPr>
                <p:spPr bwMode="auto">
                  <a:xfrm>
                    <a:off x="4025" y="994"/>
                    <a:ext cx="8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b</a:t>
                    </a:r>
                    <a:endParaRPr lang="en-US" altLang="zh-CN" sz="2000" b="0">
                      <a:effectLst>
                        <a:outerShdw blurRad="38100" dist="38100" dir="2700000" algn="tl">
                          <a:srgbClr val="000000"/>
                        </a:outerShdw>
                      </a:effectLst>
                      <a:latin typeface="Times New Roman" panose="02020603050405020304" pitchFamily="18" charset="0"/>
                    </a:endParaRPr>
                  </a:p>
                </p:txBody>
              </p:sp>
              <p:sp>
                <p:nvSpPr>
                  <p:cNvPr id="137287" name="Rectangle 71"/>
                  <p:cNvSpPr>
                    <a:spLocks noChangeAspect="1" noChangeArrowheads="1"/>
                  </p:cNvSpPr>
                  <p:nvPr/>
                </p:nvSpPr>
                <p:spPr bwMode="auto">
                  <a:xfrm>
                    <a:off x="3486" y="1537"/>
                    <a:ext cx="13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900" b="0"/>
                      <a:t>P</a:t>
                    </a:r>
                    <a:endParaRPr lang="en-US" altLang="zh-CN" sz="2000" b="0">
                      <a:effectLst>
                        <a:outerShdw blurRad="38100" dist="38100" dir="2700000" algn="tl">
                          <a:srgbClr val="000000"/>
                        </a:outerShdw>
                      </a:effectLst>
                    </a:endParaRPr>
                  </a:p>
                </p:txBody>
              </p:sp>
              <p:sp>
                <p:nvSpPr>
                  <p:cNvPr id="137288" name="Rectangle 72"/>
                  <p:cNvSpPr>
                    <a:spLocks noChangeAspect="1" noChangeArrowheads="1"/>
                  </p:cNvSpPr>
                  <p:nvPr/>
                </p:nvSpPr>
                <p:spPr bwMode="auto">
                  <a:xfrm>
                    <a:off x="3636" y="1794"/>
                    <a:ext cx="791"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t>Monoclinic</a:t>
                    </a:r>
                    <a:endParaRPr lang="en-US" altLang="zh-CN" sz="2000" b="0">
                      <a:effectLst>
                        <a:outerShdw blurRad="38100" dist="38100" dir="2700000" algn="tl">
                          <a:srgbClr val="000000"/>
                        </a:outerShdw>
                      </a:effectLst>
                    </a:endParaRPr>
                  </a:p>
                </p:txBody>
              </p:sp>
              <p:sp>
                <p:nvSpPr>
                  <p:cNvPr id="137289" name="Rectangle 73"/>
                  <p:cNvSpPr>
                    <a:spLocks noChangeAspect="1" noChangeArrowheads="1"/>
                  </p:cNvSpPr>
                  <p:nvPr/>
                </p:nvSpPr>
                <p:spPr bwMode="auto">
                  <a:xfrm>
                    <a:off x="3501" y="1984"/>
                    <a:ext cx="28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a = </a:t>
                    </a:r>
                    <a:endParaRPr lang="en-US" altLang="zh-CN" sz="2000" b="0">
                      <a:effectLst>
                        <a:outerShdw blurRad="38100" dist="38100" dir="2700000" algn="tl">
                          <a:srgbClr val="000000"/>
                        </a:outerShdw>
                      </a:effectLst>
                    </a:endParaRPr>
                  </a:p>
                </p:txBody>
              </p:sp>
              <p:sp>
                <p:nvSpPr>
                  <p:cNvPr id="137290" name="Rectangle 74"/>
                  <p:cNvSpPr>
                    <a:spLocks noChangeAspect="1" noChangeArrowheads="1"/>
                  </p:cNvSpPr>
                  <p:nvPr/>
                </p:nvSpPr>
                <p:spPr bwMode="auto">
                  <a:xfrm>
                    <a:off x="3771" y="1984"/>
                    <a:ext cx="6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g</a:t>
                    </a:r>
                    <a:endParaRPr lang="en-US" altLang="zh-CN" sz="2000" b="0">
                      <a:effectLst>
                        <a:outerShdw blurRad="38100" dist="38100" dir="2700000" algn="tl">
                          <a:srgbClr val="000000"/>
                        </a:outerShdw>
                      </a:effectLst>
                    </a:endParaRPr>
                  </a:p>
                </p:txBody>
              </p:sp>
              <p:sp>
                <p:nvSpPr>
                  <p:cNvPr id="137291" name="Rectangle 75"/>
                  <p:cNvSpPr>
                    <a:spLocks noChangeAspect="1" noChangeArrowheads="1"/>
                  </p:cNvSpPr>
                  <p:nvPr/>
                </p:nvSpPr>
                <p:spPr bwMode="auto">
                  <a:xfrm>
                    <a:off x="3836" y="1984"/>
                    <a:ext cx="34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 = 90</a:t>
                    </a:r>
                    <a:endParaRPr lang="en-US" altLang="zh-CN" sz="2000" b="0">
                      <a:effectLst>
                        <a:outerShdw blurRad="38100" dist="38100" dir="2700000" algn="tl">
                          <a:srgbClr val="000000"/>
                        </a:outerShdw>
                      </a:effectLst>
                    </a:endParaRPr>
                  </a:p>
                </p:txBody>
              </p:sp>
              <p:sp>
                <p:nvSpPr>
                  <p:cNvPr id="137292" name="Rectangle 76"/>
                  <p:cNvSpPr>
                    <a:spLocks noChangeAspect="1" noChangeArrowheads="1"/>
                  </p:cNvSpPr>
                  <p:nvPr/>
                </p:nvSpPr>
                <p:spPr bwMode="auto">
                  <a:xfrm>
                    <a:off x="4164" y="2002"/>
                    <a:ext cx="5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Symbol" panose="05050102010706020507" pitchFamily="18" charset="2"/>
                      </a:rPr>
                      <a:t>o</a:t>
                    </a:r>
                    <a:endParaRPr lang="en-US" altLang="zh-CN" sz="2000" b="0">
                      <a:effectLst>
                        <a:outerShdw blurRad="38100" dist="38100" dir="2700000" algn="tl">
                          <a:srgbClr val="000000"/>
                        </a:outerShdw>
                      </a:effectLst>
                    </a:endParaRPr>
                  </a:p>
                </p:txBody>
              </p:sp>
              <p:sp>
                <p:nvSpPr>
                  <p:cNvPr id="137293" name="Rectangle 77"/>
                  <p:cNvSpPr>
                    <a:spLocks noChangeAspect="1" noChangeArrowheads="1"/>
                  </p:cNvSpPr>
                  <p:nvPr/>
                </p:nvSpPr>
                <p:spPr bwMode="auto">
                  <a:xfrm>
                    <a:off x="4214" y="1984"/>
                    <a:ext cx="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 </a:t>
                    </a:r>
                    <a:endParaRPr lang="en-US" altLang="zh-CN" sz="2000" b="0">
                      <a:effectLst>
                        <a:outerShdw blurRad="38100" dist="38100" dir="2700000" algn="tl">
                          <a:srgbClr val="000000"/>
                        </a:outerShdw>
                      </a:effectLst>
                    </a:endParaRPr>
                  </a:p>
                </p:txBody>
              </p:sp>
              <p:sp>
                <p:nvSpPr>
                  <p:cNvPr id="137294" name="Rectangle 78"/>
                  <p:cNvSpPr>
                    <a:spLocks noChangeAspect="1" noChangeArrowheads="1"/>
                  </p:cNvSpPr>
                  <p:nvPr/>
                </p:nvSpPr>
                <p:spPr bwMode="auto">
                  <a:xfrm>
                    <a:off x="4257" y="1984"/>
                    <a:ext cx="22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Symbol" panose="05050102010706020507" pitchFamily="18" charset="2"/>
                      </a:rPr>
                      <a:t>¹ b</a:t>
                    </a:r>
                    <a:endParaRPr lang="en-US" altLang="zh-CN" sz="2000" b="0">
                      <a:effectLst>
                        <a:outerShdw blurRad="38100" dist="38100" dir="2700000" algn="tl">
                          <a:srgbClr val="000000"/>
                        </a:outerShdw>
                      </a:effectLst>
                    </a:endParaRPr>
                  </a:p>
                </p:txBody>
              </p:sp>
              <p:sp>
                <p:nvSpPr>
                  <p:cNvPr id="137302" name="Freeform 86"/>
                  <p:cNvSpPr>
                    <a:spLocks noChangeAspect="1"/>
                  </p:cNvSpPr>
                  <p:nvPr/>
                </p:nvSpPr>
                <p:spPr bwMode="auto">
                  <a:xfrm>
                    <a:off x="3381" y="1021"/>
                    <a:ext cx="101" cy="126"/>
                  </a:xfrm>
                  <a:custGeom>
                    <a:avLst/>
                    <a:gdLst>
                      <a:gd name="T0" fmla="*/ 34 w 125"/>
                      <a:gd name="T1" fmla="*/ 0 h 158"/>
                      <a:gd name="T2" fmla="*/ 29 w 125"/>
                      <a:gd name="T3" fmla="*/ 0 h 158"/>
                      <a:gd name="T4" fmla="*/ 29 w 125"/>
                      <a:gd name="T5" fmla="*/ 9 h 158"/>
                      <a:gd name="T6" fmla="*/ 116 w 125"/>
                      <a:gd name="T7" fmla="*/ 9 h 158"/>
                      <a:gd name="T8" fmla="*/ 116 w 125"/>
                      <a:gd name="T9" fmla="*/ 86 h 158"/>
                      <a:gd name="T10" fmla="*/ 87 w 125"/>
                      <a:gd name="T11" fmla="*/ 149 h 158"/>
                      <a:gd name="T12" fmla="*/ 0 w 125"/>
                      <a:gd name="T13" fmla="*/ 149 h 158"/>
                      <a:gd name="T14" fmla="*/ 0 w 125"/>
                      <a:gd name="T15" fmla="*/ 158 h 158"/>
                      <a:gd name="T16" fmla="*/ 5 w 125"/>
                      <a:gd name="T17" fmla="*/ 158 h 158"/>
                      <a:gd name="T18" fmla="*/ 92 w 125"/>
                      <a:gd name="T19" fmla="*/ 158 h 158"/>
                      <a:gd name="T20" fmla="*/ 96 w 125"/>
                      <a:gd name="T21" fmla="*/ 158 h 158"/>
                      <a:gd name="T22" fmla="*/ 96 w 125"/>
                      <a:gd name="T23" fmla="*/ 154 h 158"/>
                      <a:gd name="T24" fmla="*/ 125 w 125"/>
                      <a:gd name="T25" fmla="*/ 86 h 158"/>
                      <a:gd name="T26" fmla="*/ 125 w 125"/>
                      <a:gd name="T27" fmla="*/ 0 h 158"/>
                      <a:gd name="T28" fmla="*/ 121 w 125"/>
                      <a:gd name="T29" fmla="*/ 0 h 158"/>
                      <a:gd name="T30" fmla="*/ 34 w 125"/>
                      <a:gd name="T31"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 h="158">
                        <a:moveTo>
                          <a:pt x="34" y="0"/>
                        </a:moveTo>
                        <a:lnTo>
                          <a:pt x="29" y="0"/>
                        </a:lnTo>
                        <a:lnTo>
                          <a:pt x="29" y="9"/>
                        </a:lnTo>
                        <a:lnTo>
                          <a:pt x="116" y="9"/>
                        </a:lnTo>
                        <a:lnTo>
                          <a:pt x="116" y="86"/>
                        </a:lnTo>
                        <a:lnTo>
                          <a:pt x="87" y="149"/>
                        </a:lnTo>
                        <a:lnTo>
                          <a:pt x="0" y="149"/>
                        </a:lnTo>
                        <a:lnTo>
                          <a:pt x="0" y="158"/>
                        </a:lnTo>
                        <a:lnTo>
                          <a:pt x="5" y="158"/>
                        </a:lnTo>
                        <a:lnTo>
                          <a:pt x="92" y="158"/>
                        </a:lnTo>
                        <a:lnTo>
                          <a:pt x="96" y="158"/>
                        </a:lnTo>
                        <a:lnTo>
                          <a:pt x="96" y="154"/>
                        </a:lnTo>
                        <a:lnTo>
                          <a:pt x="125" y="86"/>
                        </a:lnTo>
                        <a:lnTo>
                          <a:pt x="125" y="0"/>
                        </a:lnTo>
                        <a:lnTo>
                          <a:pt x="121" y="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03" name="Freeform 87"/>
                  <p:cNvSpPr>
                    <a:spLocks noChangeAspect="1"/>
                  </p:cNvSpPr>
                  <p:nvPr/>
                </p:nvSpPr>
                <p:spPr bwMode="auto">
                  <a:xfrm>
                    <a:off x="4433" y="412"/>
                    <a:ext cx="640" cy="1071"/>
                  </a:xfrm>
                  <a:custGeom>
                    <a:avLst/>
                    <a:gdLst>
                      <a:gd name="T0" fmla="*/ 241 w 799"/>
                      <a:gd name="T1" fmla="*/ 5 h 1338"/>
                      <a:gd name="T2" fmla="*/ 0 w 799"/>
                      <a:gd name="T3" fmla="*/ 385 h 1338"/>
                      <a:gd name="T4" fmla="*/ 5 w 799"/>
                      <a:gd name="T5" fmla="*/ 1324 h 1338"/>
                      <a:gd name="T6" fmla="*/ 650 w 799"/>
                      <a:gd name="T7" fmla="*/ 1338 h 1338"/>
                      <a:gd name="T8" fmla="*/ 799 w 799"/>
                      <a:gd name="T9" fmla="*/ 833 h 1338"/>
                      <a:gd name="T10" fmla="*/ 785 w 799"/>
                      <a:gd name="T11" fmla="*/ 0 h 1338"/>
                      <a:gd name="T12" fmla="*/ 241 w 799"/>
                      <a:gd name="T13" fmla="*/ 5 h 1338"/>
                    </a:gdLst>
                    <a:ahLst/>
                    <a:cxnLst>
                      <a:cxn ang="0">
                        <a:pos x="T0" y="T1"/>
                      </a:cxn>
                      <a:cxn ang="0">
                        <a:pos x="T2" y="T3"/>
                      </a:cxn>
                      <a:cxn ang="0">
                        <a:pos x="T4" y="T5"/>
                      </a:cxn>
                      <a:cxn ang="0">
                        <a:pos x="T6" y="T7"/>
                      </a:cxn>
                      <a:cxn ang="0">
                        <a:pos x="T8" y="T9"/>
                      </a:cxn>
                      <a:cxn ang="0">
                        <a:pos x="T10" y="T11"/>
                      </a:cxn>
                      <a:cxn ang="0">
                        <a:pos x="T12" y="T13"/>
                      </a:cxn>
                    </a:cxnLst>
                    <a:rect l="0" t="0" r="r" b="b"/>
                    <a:pathLst>
                      <a:path w="799" h="1338">
                        <a:moveTo>
                          <a:pt x="241" y="5"/>
                        </a:moveTo>
                        <a:lnTo>
                          <a:pt x="0" y="385"/>
                        </a:lnTo>
                        <a:lnTo>
                          <a:pt x="5" y="1324"/>
                        </a:lnTo>
                        <a:lnTo>
                          <a:pt x="650" y="1338"/>
                        </a:lnTo>
                        <a:lnTo>
                          <a:pt x="799" y="833"/>
                        </a:lnTo>
                        <a:lnTo>
                          <a:pt x="785" y="0"/>
                        </a:lnTo>
                        <a:lnTo>
                          <a:pt x="241" y="5"/>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04" name="Rectangle 88"/>
                  <p:cNvSpPr>
                    <a:spLocks noChangeAspect="1" noChangeArrowheads="1"/>
                  </p:cNvSpPr>
                  <p:nvPr/>
                </p:nvSpPr>
                <p:spPr bwMode="auto">
                  <a:xfrm>
                    <a:off x="5051"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05" name="Rectangle 89"/>
                  <p:cNvSpPr>
                    <a:spLocks noChangeAspect="1" noChangeArrowheads="1"/>
                  </p:cNvSpPr>
                  <p:nvPr/>
                </p:nvSpPr>
                <p:spPr bwMode="auto">
                  <a:xfrm>
                    <a:off x="5020"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06" name="Rectangle 90"/>
                  <p:cNvSpPr>
                    <a:spLocks noChangeAspect="1" noChangeArrowheads="1"/>
                  </p:cNvSpPr>
                  <p:nvPr/>
                </p:nvSpPr>
                <p:spPr bwMode="auto">
                  <a:xfrm>
                    <a:off x="4989"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07" name="Rectangle 91"/>
                  <p:cNvSpPr>
                    <a:spLocks noChangeAspect="1" noChangeArrowheads="1"/>
                  </p:cNvSpPr>
                  <p:nvPr/>
                </p:nvSpPr>
                <p:spPr bwMode="auto">
                  <a:xfrm>
                    <a:off x="4958"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08" name="Rectangle 92"/>
                  <p:cNvSpPr>
                    <a:spLocks noChangeAspect="1" noChangeArrowheads="1"/>
                  </p:cNvSpPr>
                  <p:nvPr/>
                </p:nvSpPr>
                <p:spPr bwMode="auto">
                  <a:xfrm>
                    <a:off x="4927" y="108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09" name="Rectangle 93"/>
                  <p:cNvSpPr>
                    <a:spLocks noChangeAspect="1" noChangeArrowheads="1"/>
                  </p:cNvSpPr>
                  <p:nvPr/>
                </p:nvSpPr>
                <p:spPr bwMode="auto">
                  <a:xfrm>
                    <a:off x="4896"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0" name="Rectangle 94"/>
                  <p:cNvSpPr>
                    <a:spLocks noChangeAspect="1" noChangeArrowheads="1"/>
                  </p:cNvSpPr>
                  <p:nvPr/>
                </p:nvSpPr>
                <p:spPr bwMode="auto">
                  <a:xfrm>
                    <a:off x="4866"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1" name="Rectangle 95"/>
                  <p:cNvSpPr>
                    <a:spLocks noChangeAspect="1" noChangeArrowheads="1"/>
                  </p:cNvSpPr>
                  <p:nvPr/>
                </p:nvSpPr>
                <p:spPr bwMode="auto">
                  <a:xfrm>
                    <a:off x="4835"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2" name="Rectangle 96"/>
                  <p:cNvSpPr>
                    <a:spLocks noChangeAspect="1" noChangeArrowheads="1"/>
                  </p:cNvSpPr>
                  <p:nvPr/>
                </p:nvSpPr>
                <p:spPr bwMode="auto">
                  <a:xfrm>
                    <a:off x="4803" y="108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3" name="Rectangle 97"/>
                  <p:cNvSpPr>
                    <a:spLocks noChangeAspect="1" noChangeArrowheads="1"/>
                  </p:cNvSpPr>
                  <p:nvPr/>
                </p:nvSpPr>
                <p:spPr bwMode="auto">
                  <a:xfrm>
                    <a:off x="4773"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4" name="Rectangle 98"/>
                  <p:cNvSpPr>
                    <a:spLocks noChangeAspect="1" noChangeArrowheads="1"/>
                  </p:cNvSpPr>
                  <p:nvPr/>
                </p:nvSpPr>
                <p:spPr bwMode="auto">
                  <a:xfrm>
                    <a:off x="4742" y="108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5" name="Rectangle 99"/>
                  <p:cNvSpPr>
                    <a:spLocks noChangeAspect="1" noChangeArrowheads="1"/>
                  </p:cNvSpPr>
                  <p:nvPr/>
                </p:nvSpPr>
                <p:spPr bwMode="auto">
                  <a:xfrm>
                    <a:off x="4711" y="108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6" name="Rectangle 100"/>
                  <p:cNvSpPr>
                    <a:spLocks noChangeAspect="1" noChangeArrowheads="1"/>
                  </p:cNvSpPr>
                  <p:nvPr/>
                </p:nvSpPr>
                <p:spPr bwMode="auto">
                  <a:xfrm>
                    <a:off x="4680" y="108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7" name="Rectangle 101"/>
                  <p:cNvSpPr>
                    <a:spLocks noChangeAspect="1" noChangeArrowheads="1"/>
                  </p:cNvSpPr>
                  <p:nvPr/>
                </p:nvSpPr>
                <p:spPr bwMode="auto">
                  <a:xfrm>
                    <a:off x="4650" y="108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18" name="Freeform 102"/>
                  <p:cNvSpPr>
                    <a:spLocks noChangeAspect="1"/>
                  </p:cNvSpPr>
                  <p:nvPr/>
                </p:nvSpPr>
                <p:spPr bwMode="auto">
                  <a:xfrm>
                    <a:off x="4618" y="1086"/>
                    <a:ext cx="16" cy="8"/>
                  </a:xfrm>
                  <a:custGeom>
                    <a:avLst/>
                    <a:gdLst>
                      <a:gd name="T0" fmla="*/ 20 w 20"/>
                      <a:gd name="T1" fmla="*/ 0 h 10"/>
                      <a:gd name="T2" fmla="*/ 10 w 20"/>
                      <a:gd name="T3" fmla="*/ 5 h 10"/>
                      <a:gd name="T4" fmla="*/ 10 w 20"/>
                      <a:gd name="T5" fmla="*/ 0 h 10"/>
                      <a:gd name="T6" fmla="*/ 0 w 20"/>
                      <a:gd name="T7" fmla="*/ 0 h 10"/>
                      <a:gd name="T8" fmla="*/ 0 w 20"/>
                      <a:gd name="T9" fmla="*/ 10 h 10"/>
                      <a:gd name="T10" fmla="*/ 20 w 20"/>
                      <a:gd name="T11" fmla="*/ 10 h 10"/>
                      <a:gd name="T12" fmla="*/ 20 w 2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20" y="0"/>
                        </a:moveTo>
                        <a:lnTo>
                          <a:pt x="10" y="5"/>
                        </a:lnTo>
                        <a:lnTo>
                          <a:pt x="10" y="0"/>
                        </a:lnTo>
                        <a:lnTo>
                          <a:pt x="0" y="0"/>
                        </a:lnTo>
                        <a:lnTo>
                          <a:pt x="0" y="10"/>
                        </a:lnTo>
                        <a:lnTo>
                          <a:pt x="20" y="10"/>
                        </a:lnTo>
                        <a:lnTo>
                          <a:pt x="2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19" name="Rectangle 103"/>
                  <p:cNvSpPr>
                    <a:spLocks noChangeAspect="1" noChangeArrowheads="1"/>
                  </p:cNvSpPr>
                  <p:nvPr/>
                </p:nvSpPr>
                <p:spPr bwMode="auto">
                  <a:xfrm>
                    <a:off x="4618" y="105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0" name="Rectangle 104"/>
                  <p:cNvSpPr>
                    <a:spLocks noChangeAspect="1" noChangeArrowheads="1"/>
                  </p:cNvSpPr>
                  <p:nvPr/>
                </p:nvSpPr>
                <p:spPr bwMode="auto">
                  <a:xfrm>
                    <a:off x="4618" y="102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1" name="Rectangle 105"/>
                  <p:cNvSpPr>
                    <a:spLocks noChangeAspect="1" noChangeArrowheads="1"/>
                  </p:cNvSpPr>
                  <p:nvPr/>
                </p:nvSpPr>
                <p:spPr bwMode="auto">
                  <a:xfrm>
                    <a:off x="4618" y="99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2" name="Rectangle 106"/>
                  <p:cNvSpPr>
                    <a:spLocks noChangeAspect="1" noChangeArrowheads="1"/>
                  </p:cNvSpPr>
                  <p:nvPr/>
                </p:nvSpPr>
                <p:spPr bwMode="auto">
                  <a:xfrm>
                    <a:off x="4618" y="962"/>
                    <a:ext cx="8" cy="1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3" name="Rectangle 107"/>
                  <p:cNvSpPr>
                    <a:spLocks noChangeAspect="1" noChangeArrowheads="1"/>
                  </p:cNvSpPr>
                  <p:nvPr/>
                </p:nvSpPr>
                <p:spPr bwMode="auto">
                  <a:xfrm>
                    <a:off x="4618" y="93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4" name="Rectangle 108"/>
                  <p:cNvSpPr>
                    <a:spLocks noChangeAspect="1" noChangeArrowheads="1"/>
                  </p:cNvSpPr>
                  <p:nvPr/>
                </p:nvSpPr>
                <p:spPr bwMode="auto">
                  <a:xfrm>
                    <a:off x="4618" y="90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5" name="Rectangle 109"/>
                  <p:cNvSpPr>
                    <a:spLocks noChangeAspect="1" noChangeArrowheads="1"/>
                  </p:cNvSpPr>
                  <p:nvPr/>
                </p:nvSpPr>
                <p:spPr bwMode="auto">
                  <a:xfrm>
                    <a:off x="4618" y="870"/>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6" name="Rectangle 110"/>
                  <p:cNvSpPr>
                    <a:spLocks noChangeAspect="1" noChangeArrowheads="1"/>
                  </p:cNvSpPr>
                  <p:nvPr/>
                </p:nvSpPr>
                <p:spPr bwMode="auto">
                  <a:xfrm>
                    <a:off x="4618" y="83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7" name="Rectangle 111"/>
                  <p:cNvSpPr>
                    <a:spLocks noChangeAspect="1" noChangeArrowheads="1"/>
                  </p:cNvSpPr>
                  <p:nvPr/>
                </p:nvSpPr>
                <p:spPr bwMode="auto">
                  <a:xfrm>
                    <a:off x="4618" y="80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8" name="Rectangle 112"/>
                  <p:cNvSpPr>
                    <a:spLocks noChangeAspect="1" noChangeArrowheads="1"/>
                  </p:cNvSpPr>
                  <p:nvPr/>
                </p:nvSpPr>
                <p:spPr bwMode="auto">
                  <a:xfrm>
                    <a:off x="4618" y="77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29" name="Freeform 113"/>
                  <p:cNvSpPr>
                    <a:spLocks noChangeAspect="1"/>
                  </p:cNvSpPr>
                  <p:nvPr/>
                </p:nvSpPr>
                <p:spPr bwMode="auto">
                  <a:xfrm>
                    <a:off x="4618" y="747"/>
                    <a:ext cx="12" cy="15"/>
                  </a:xfrm>
                  <a:custGeom>
                    <a:avLst/>
                    <a:gdLst>
                      <a:gd name="T0" fmla="*/ 10 w 15"/>
                      <a:gd name="T1" fmla="*/ 19 h 19"/>
                      <a:gd name="T2" fmla="*/ 15 w 15"/>
                      <a:gd name="T3" fmla="*/ 0 h 19"/>
                      <a:gd name="T4" fmla="*/ 5 w 15"/>
                      <a:gd name="T5" fmla="*/ 0 h 19"/>
                      <a:gd name="T6" fmla="*/ 0 w 15"/>
                      <a:gd name="T7" fmla="*/ 19 h 19"/>
                      <a:gd name="T8" fmla="*/ 10 w 15"/>
                      <a:gd name="T9" fmla="*/ 19 h 19"/>
                    </a:gdLst>
                    <a:ahLst/>
                    <a:cxnLst>
                      <a:cxn ang="0">
                        <a:pos x="T0" y="T1"/>
                      </a:cxn>
                      <a:cxn ang="0">
                        <a:pos x="T2" y="T3"/>
                      </a:cxn>
                      <a:cxn ang="0">
                        <a:pos x="T4" y="T5"/>
                      </a:cxn>
                      <a:cxn ang="0">
                        <a:pos x="T6" y="T7"/>
                      </a:cxn>
                      <a:cxn ang="0">
                        <a:pos x="T8" y="T9"/>
                      </a:cxn>
                    </a:cxnLst>
                    <a:rect l="0" t="0" r="r" b="b"/>
                    <a:pathLst>
                      <a:path w="15" h="19">
                        <a:moveTo>
                          <a:pt x="10" y="19"/>
                        </a:moveTo>
                        <a:lnTo>
                          <a:pt x="15" y="0"/>
                        </a:lnTo>
                        <a:lnTo>
                          <a:pt x="5" y="0"/>
                        </a:lnTo>
                        <a:lnTo>
                          <a:pt x="0" y="19"/>
                        </a:lnTo>
                        <a:lnTo>
                          <a:pt x="10" y="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30" name="Rectangle 114"/>
                  <p:cNvSpPr>
                    <a:spLocks noChangeAspect="1" noChangeArrowheads="1"/>
                  </p:cNvSpPr>
                  <p:nvPr/>
                </p:nvSpPr>
                <p:spPr bwMode="auto">
                  <a:xfrm>
                    <a:off x="4622" y="71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1" name="Rectangle 115"/>
                  <p:cNvSpPr>
                    <a:spLocks noChangeAspect="1" noChangeArrowheads="1"/>
                  </p:cNvSpPr>
                  <p:nvPr/>
                </p:nvSpPr>
                <p:spPr bwMode="auto">
                  <a:xfrm>
                    <a:off x="4622" y="68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2" name="Rectangle 116"/>
                  <p:cNvSpPr>
                    <a:spLocks noChangeAspect="1" noChangeArrowheads="1"/>
                  </p:cNvSpPr>
                  <p:nvPr/>
                </p:nvSpPr>
                <p:spPr bwMode="auto">
                  <a:xfrm>
                    <a:off x="4622" y="65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3" name="Rectangle 117"/>
                  <p:cNvSpPr>
                    <a:spLocks noChangeAspect="1" noChangeArrowheads="1"/>
                  </p:cNvSpPr>
                  <p:nvPr/>
                </p:nvSpPr>
                <p:spPr bwMode="auto">
                  <a:xfrm>
                    <a:off x="4622" y="62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4" name="Rectangle 118"/>
                  <p:cNvSpPr>
                    <a:spLocks noChangeAspect="1" noChangeArrowheads="1"/>
                  </p:cNvSpPr>
                  <p:nvPr/>
                </p:nvSpPr>
                <p:spPr bwMode="auto">
                  <a:xfrm>
                    <a:off x="4622" y="59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5" name="Rectangle 119"/>
                  <p:cNvSpPr>
                    <a:spLocks noChangeAspect="1" noChangeArrowheads="1"/>
                  </p:cNvSpPr>
                  <p:nvPr/>
                </p:nvSpPr>
                <p:spPr bwMode="auto">
                  <a:xfrm>
                    <a:off x="4622" y="56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6" name="Rectangle 120"/>
                  <p:cNvSpPr>
                    <a:spLocks noChangeAspect="1" noChangeArrowheads="1"/>
                  </p:cNvSpPr>
                  <p:nvPr/>
                </p:nvSpPr>
                <p:spPr bwMode="auto">
                  <a:xfrm>
                    <a:off x="4622" y="53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7" name="Rectangle 121"/>
                  <p:cNvSpPr>
                    <a:spLocks noChangeAspect="1" noChangeArrowheads="1"/>
                  </p:cNvSpPr>
                  <p:nvPr/>
                </p:nvSpPr>
                <p:spPr bwMode="auto">
                  <a:xfrm>
                    <a:off x="4622" y="50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8" name="Rectangle 122"/>
                  <p:cNvSpPr>
                    <a:spLocks noChangeAspect="1" noChangeArrowheads="1"/>
                  </p:cNvSpPr>
                  <p:nvPr/>
                </p:nvSpPr>
                <p:spPr bwMode="auto">
                  <a:xfrm>
                    <a:off x="4622" y="47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39" name="Rectangle 123"/>
                  <p:cNvSpPr>
                    <a:spLocks noChangeAspect="1" noChangeArrowheads="1"/>
                  </p:cNvSpPr>
                  <p:nvPr/>
                </p:nvSpPr>
                <p:spPr bwMode="auto">
                  <a:xfrm>
                    <a:off x="4622" y="43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40" name="Rectangle 124"/>
                  <p:cNvSpPr>
                    <a:spLocks noChangeAspect="1" noChangeArrowheads="1"/>
                  </p:cNvSpPr>
                  <p:nvPr/>
                </p:nvSpPr>
                <p:spPr bwMode="auto">
                  <a:xfrm>
                    <a:off x="4622" y="416"/>
                    <a:ext cx="8"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41" name="Freeform 125"/>
                  <p:cNvSpPr>
                    <a:spLocks noChangeAspect="1"/>
                  </p:cNvSpPr>
                  <p:nvPr/>
                </p:nvSpPr>
                <p:spPr bwMode="auto">
                  <a:xfrm>
                    <a:off x="4607" y="1098"/>
                    <a:ext cx="15" cy="15"/>
                  </a:xfrm>
                  <a:custGeom>
                    <a:avLst/>
                    <a:gdLst>
                      <a:gd name="T0" fmla="*/ 10 w 19"/>
                      <a:gd name="T1" fmla="*/ 0 h 19"/>
                      <a:gd name="T2" fmla="*/ 0 w 19"/>
                      <a:gd name="T3" fmla="*/ 14 h 19"/>
                      <a:gd name="T4" fmla="*/ 10 w 19"/>
                      <a:gd name="T5" fmla="*/ 19 h 19"/>
                      <a:gd name="T6" fmla="*/ 19 w 19"/>
                      <a:gd name="T7" fmla="*/ 0 h 19"/>
                      <a:gd name="T8" fmla="*/ 10 w 19"/>
                      <a:gd name="T9" fmla="*/ 0 h 19"/>
                    </a:gdLst>
                    <a:ahLst/>
                    <a:cxnLst>
                      <a:cxn ang="0">
                        <a:pos x="T0" y="T1"/>
                      </a:cxn>
                      <a:cxn ang="0">
                        <a:pos x="T2" y="T3"/>
                      </a:cxn>
                      <a:cxn ang="0">
                        <a:pos x="T4" y="T5"/>
                      </a:cxn>
                      <a:cxn ang="0">
                        <a:pos x="T6" y="T7"/>
                      </a:cxn>
                      <a:cxn ang="0">
                        <a:pos x="T8" y="T9"/>
                      </a:cxn>
                    </a:cxnLst>
                    <a:rect l="0" t="0" r="r" b="b"/>
                    <a:pathLst>
                      <a:path w="19" h="19">
                        <a:moveTo>
                          <a:pt x="10" y="0"/>
                        </a:moveTo>
                        <a:lnTo>
                          <a:pt x="0" y="14"/>
                        </a:lnTo>
                        <a:lnTo>
                          <a:pt x="10" y="19"/>
                        </a:lnTo>
                        <a:lnTo>
                          <a:pt x="19" y="0"/>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2" name="Freeform 126"/>
                  <p:cNvSpPr>
                    <a:spLocks noChangeAspect="1"/>
                  </p:cNvSpPr>
                  <p:nvPr/>
                </p:nvSpPr>
                <p:spPr bwMode="auto">
                  <a:xfrm>
                    <a:off x="4596" y="1124"/>
                    <a:ext cx="11" cy="16"/>
                  </a:xfrm>
                  <a:custGeom>
                    <a:avLst/>
                    <a:gdLst>
                      <a:gd name="T0" fmla="*/ 9 w 14"/>
                      <a:gd name="T1" fmla="*/ 0 h 20"/>
                      <a:gd name="T2" fmla="*/ 0 w 14"/>
                      <a:gd name="T3" fmla="*/ 15 h 20"/>
                      <a:gd name="T4" fmla="*/ 9 w 14"/>
                      <a:gd name="T5" fmla="*/ 20 h 20"/>
                      <a:gd name="T6" fmla="*/ 14 w 14"/>
                      <a:gd name="T7" fmla="*/ 5 h 20"/>
                      <a:gd name="T8" fmla="*/ 9 w 14"/>
                      <a:gd name="T9" fmla="*/ 0 h 20"/>
                    </a:gdLst>
                    <a:ahLst/>
                    <a:cxnLst>
                      <a:cxn ang="0">
                        <a:pos x="T0" y="T1"/>
                      </a:cxn>
                      <a:cxn ang="0">
                        <a:pos x="T2" y="T3"/>
                      </a:cxn>
                      <a:cxn ang="0">
                        <a:pos x="T4" y="T5"/>
                      </a:cxn>
                      <a:cxn ang="0">
                        <a:pos x="T6" y="T7"/>
                      </a:cxn>
                      <a:cxn ang="0">
                        <a:pos x="T8" y="T9"/>
                      </a:cxn>
                    </a:cxnLst>
                    <a:rect l="0" t="0" r="r" b="b"/>
                    <a:pathLst>
                      <a:path w="14" h="20">
                        <a:moveTo>
                          <a:pt x="9" y="0"/>
                        </a:moveTo>
                        <a:lnTo>
                          <a:pt x="0" y="15"/>
                        </a:lnTo>
                        <a:lnTo>
                          <a:pt x="9" y="20"/>
                        </a:lnTo>
                        <a:lnTo>
                          <a:pt x="14" y="5"/>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3" name="Freeform 127"/>
                  <p:cNvSpPr>
                    <a:spLocks noChangeAspect="1"/>
                  </p:cNvSpPr>
                  <p:nvPr/>
                </p:nvSpPr>
                <p:spPr bwMode="auto">
                  <a:xfrm>
                    <a:off x="4580" y="1151"/>
                    <a:ext cx="16" cy="16"/>
                  </a:xfrm>
                  <a:custGeom>
                    <a:avLst/>
                    <a:gdLst>
                      <a:gd name="T0" fmla="*/ 10 w 20"/>
                      <a:gd name="T1" fmla="*/ 0 h 19"/>
                      <a:gd name="T2" fmla="*/ 0 w 20"/>
                      <a:gd name="T3" fmla="*/ 19 h 19"/>
                      <a:gd name="T4" fmla="*/ 10 w 20"/>
                      <a:gd name="T5" fmla="*/ 19 h 19"/>
                      <a:gd name="T6" fmla="*/ 20 w 20"/>
                      <a:gd name="T7" fmla="*/ 5 h 19"/>
                      <a:gd name="T8" fmla="*/ 10 w 20"/>
                      <a:gd name="T9" fmla="*/ 0 h 19"/>
                    </a:gdLst>
                    <a:ahLst/>
                    <a:cxnLst>
                      <a:cxn ang="0">
                        <a:pos x="T0" y="T1"/>
                      </a:cxn>
                      <a:cxn ang="0">
                        <a:pos x="T2" y="T3"/>
                      </a:cxn>
                      <a:cxn ang="0">
                        <a:pos x="T4" y="T5"/>
                      </a:cxn>
                      <a:cxn ang="0">
                        <a:pos x="T6" y="T7"/>
                      </a:cxn>
                      <a:cxn ang="0">
                        <a:pos x="T8" y="T9"/>
                      </a:cxn>
                    </a:cxnLst>
                    <a:rect l="0" t="0" r="r" b="b"/>
                    <a:pathLst>
                      <a:path w="20" h="19">
                        <a:moveTo>
                          <a:pt x="10" y="0"/>
                        </a:moveTo>
                        <a:lnTo>
                          <a:pt x="0" y="19"/>
                        </a:lnTo>
                        <a:lnTo>
                          <a:pt x="10" y="19"/>
                        </a:lnTo>
                        <a:lnTo>
                          <a:pt x="20"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4" name="Freeform 128"/>
                  <p:cNvSpPr>
                    <a:spLocks noChangeAspect="1"/>
                  </p:cNvSpPr>
                  <p:nvPr/>
                </p:nvSpPr>
                <p:spPr bwMode="auto">
                  <a:xfrm>
                    <a:off x="4569" y="1179"/>
                    <a:ext cx="15" cy="19"/>
                  </a:xfrm>
                  <a:custGeom>
                    <a:avLst/>
                    <a:gdLst>
                      <a:gd name="T0" fmla="*/ 9 w 19"/>
                      <a:gd name="T1" fmla="*/ 0 h 24"/>
                      <a:gd name="T2" fmla="*/ 0 w 19"/>
                      <a:gd name="T3" fmla="*/ 19 h 24"/>
                      <a:gd name="T4" fmla="*/ 9 w 19"/>
                      <a:gd name="T5" fmla="*/ 24 h 24"/>
                      <a:gd name="T6" fmla="*/ 19 w 19"/>
                      <a:gd name="T7" fmla="*/ 5 h 24"/>
                      <a:gd name="T8" fmla="*/ 9 w 19"/>
                      <a:gd name="T9" fmla="*/ 0 h 24"/>
                    </a:gdLst>
                    <a:ahLst/>
                    <a:cxnLst>
                      <a:cxn ang="0">
                        <a:pos x="T0" y="T1"/>
                      </a:cxn>
                      <a:cxn ang="0">
                        <a:pos x="T2" y="T3"/>
                      </a:cxn>
                      <a:cxn ang="0">
                        <a:pos x="T4" y="T5"/>
                      </a:cxn>
                      <a:cxn ang="0">
                        <a:pos x="T6" y="T7"/>
                      </a:cxn>
                      <a:cxn ang="0">
                        <a:pos x="T8" y="T9"/>
                      </a:cxn>
                    </a:cxnLst>
                    <a:rect l="0" t="0" r="r" b="b"/>
                    <a:pathLst>
                      <a:path w="19" h="24">
                        <a:moveTo>
                          <a:pt x="9" y="0"/>
                        </a:moveTo>
                        <a:lnTo>
                          <a:pt x="0" y="19"/>
                        </a:lnTo>
                        <a:lnTo>
                          <a:pt x="9" y="24"/>
                        </a:lnTo>
                        <a:lnTo>
                          <a:pt x="19" y="5"/>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5" name="Freeform 129"/>
                  <p:cNvSpPr>
                    <a:spLocks noChangeAspect="1"/>
                  </p:cNvSpPr>
                  <p:nvPr/>
                </p:nvSpPr>
                <p:spPr bwMode="auto">
                  <a:xfrm>
                    <a:off x="4557" y="1206"/>
                    <a:ext cx="12" cy="19"/>
                  </a:xfrm>
                  <a:custGeom>
                    <a:avLst/>
                    <a:gdLst>
                      <a:gd name="T0" fmla="*/ 5 w 15"/>
                      <a:gd name="T1" fmla="*/ 0 h 24"/>
                      <a:gd name="T2" fmla="*/ 0 w 15"/>
                      <a:gd name="T3" fmla="*/ 19 h 24"/>
                      <a:gd name="T4" fmla="*/ 5 w 15"/>
                      <a:gd name="T5" fmla="*/ 24 h 24"/>
                      <a:gd name="T6" fmla="*/ 15 w 15"/>
                      <a:gd name="T7" fmla="*/ 4 h 24"/>
                      <a:gd name="T8" fmla="*/ 5 w 15"/>
                      <a:gd name="T9" fmla="*/ 0 h 24"/>
                    </a:gdLst>
                    <a:ahLst/>
                    <a:cxnLst>
                      <a:cxn ang="0">
                        <a:pos x="T0" y="T1"/>
                      </a:cxn>
                      <a:cxn ang="0">
                        <a:pos x="T2" y="T3"/>
                      </a:cxn>
                      <a:cxn ang="0">
                        <a:pos x="T4" y="T5"/>
                      </a:cxn>
                      <a:cxn ang="0">
                        <a:pos x="T6" y="T7"/>
                      </a:cxn>
                      <a:cxn ang="0">
                        <a:pos x="T8" y="T9"/>
                      </a:cxn>
                    </a:cxnLst>
                    <a:rect l="0" t="0" r="r" b="b"/>
                    <a:pathLst>
                      <a:path w="15" h="24">
                        <a:moveTo>
                          <a:pt x="5" y="0"/>
                        </a:moveTo>
                        <a:lnTo>
                          <a:pt x="0" y="19"/>
                        </a:lnTo>
                        <a:lnTo>
                          <a:pt x="5" y="24"/>
                        </a:lnTo>
                        <a:lnTo>
                          <a:pt x="15" y="4"/>
                        </a:lnTo>
                        <a:lnTo>
                          <a:pt x="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6" name="Freeform 130"/>
                  <p:cNvSpPr>
                    <a:spLocks noChangeAspect="1"/>
                  </p:cNvSpPr>
                  <p:nvPr/>
                </p:nvSpPr>
                <p:spPr bwMode="auto">
                  <a:xfrm>
                    <a:off x="4542" y="1236"/>
                    <a:ext cx="15" cy="16"/>
                  </a:xfrm>
                  <a:custGeom>
                    <a:avLst/>
                    <a:gdLst>
                      <a:gd name="T0" fmla="*/ 10 w 19"/>
                      <a:gd name="T1" fmla="*/ 0 h 19"/>
                      <a:gd name="T2" fmla="*/ 0 w 19"/>
                      <a:gd name="T3" fmla="*/ 14 h 19"/>
                      <a:gd name="T4" fmla="*/ 10 w 19"/>
                      <a:gd name="T5" fmla="*/ 19 h 19"/>
                      <a:gd name="T6" fmla="*/ 19 w 19"/>
                      <a:gd name="T7" fmla="*/ 5 h 19"/>
                      <a:gd name="T8" fmla="*/ 10 w 19"/>
                      <a:gd name="T9" fmla="*/ 0 h 19"/>
                    </a:gdLst>
                    <a:ahLst/>
                    <a:cxnLst>
                      <a:cxn ang="0">
                        <a:pos x="T0" y="T1"/>
                      </a:cxn>
                      <a:cxn ang="0">
                        <a:pos x="T2" y="T3"/>
                      </a:cxn>
                      <a:cxn ang="0">
                        <a:pos x="T4" y="T5"/>
                      </a:cxn>
                      <a:cxn ang="0">
                        <a:pos x="T6" y="T7"/>
                      </a:cxn>
                      <a:cxn ang="0">
                        <a:pos x="T8" y="T9"/>
                      </a:cxn>
                    </a:cxnLst>
                    <a:rect l="0" t="0" r="r" b="b"/>
                    <a:pathLst>
                      <a:path w="19" h="19">
                        <a:moveTo>
                          <a:pt x="10" y="0"/>
                        </a:moveTo>
                        <a:lnTo>
                          <a:pt x="0" y="14"/>
                        </a:lnTo>
                        <a:lnTo>
                          <a:pt x="10" y="19"/>
                        </a:lnTo>
                        <a:lnTo>
                          <a:pt x="19"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7" name="Freeform 131"/>
                  <p:cNvSpPr>
                    <a:spLocks noChangeAspect="1"/>
                  </p:cNvSpPr>
                  <p:nvPr/>
                </p:nvSpPr>
                <p:spPr bwMode="auto">
                  <a:xfrm>
                    <a:off x="4530" y="1264"/>
                    <a:ext cx="12" cy="15"/>
                  </a:xfrm>
                  <a:custGeom>
                    <a:avLst/>
                    <a:gdLst>
                      <a:gd name="T0" fmla="*/ 5 w 14"/>
                      <a:gd name="T1" fmla="*/ 0 h 19"/>
                      <a:gd name="T2" fmla="*/ 0 w 14"/>
                      <a:gd name="T3" fmla="*/ 14 h 19"/>
                      <a:gd name="T4" fmla="*/ 5 w 14"/>
                      <a:gd name="T5" fmla="*/ 19 h 19"/>
                      <a:gd name="T6" fmla="*/ 14 w 14"/>
                      <a:gd name="T7" fmla="*/ 5 h 19"/>
                      <a:gd name="T8" fmla="*/ 5 w 14"/>
                      <a:gd name="T9" fmla="*/ 0 h 19"/>
                    </a:gdLst>
                    <a:ahLst/>
                    <a:cxnLst>
                      <a:cxn ang="0">
                        <a:pos x="T0" y="T1"/>
                      </a:cxn>
                      <a:cxn ang="0">
                        <a:pos x="T2" y="T3"/>
                      </a:cxn>
                      <a:cxn ang="0">
                        <a:pos x="T4" y="T5"/>
                      </a:cxn>
                      <a:cxn ang="0">
                        <a:pos x="T6" y="T7"/>
                      </a:cxn>
                      <a:cxn ang="0">
                        <a:pos x="T8" y="T9"/>
                      </a:cxn>
                    </a:cxnLst>
                    <a:rect l="0" t="0" r="r" b="b"/>
                    <a:pathLst>
                      <a:path w="14" h="19">
                        <a:moveTo>
                          <a:pt x="5" y="0"/>
                        </a:moveTo>
                        <a:lnTo>
                          <a:pt x="0" y="14"/>
                        </a:lnTo>
                        <a:lnTo>
                          <a:pt x="5" y="19"/>
                        </a:lnTo>
                        <a:lnTo>
                          <a:pt x="14" y="5"/>
                        </a:lnTo>
                        <a:lnTo>
                          <a:pt x="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8" name="Freeform 132"/>
                  <p:cNvSpPr>
                    <a:spLocks noChangeAspect="1"/>
                  </p:cNvSpPr>
                  <p:nvPr/>
                </p:nvSpPr>
                <p:spPr bwMode="auto">
                  <a:xfrm>
                    <a:off x="4514" y="1290"/>
                    <a:ext cx="16" cy="19"/>
                  </a:xfrm>
                  <a:custGeom>
                    <a:avLst/>
                    <a:gdLst>
                      <a:gd name="T0" fmla="*/ 10 w 20"/>
                      <a:gd name="T1" fmla="*/ 0 h 24"/>
                      <a:gd name="T2" fmla="*/ 0 w 20"/>
                      <a:gd name="T3" fmla="*/ 20 h 24"/>
                      <a:gd name="T4" fmla="*/ 10 w 20"/>
                      <a:gd name="T5" fmla="*/ 24 h 24"/>
                      <a:gd name="T6" fmla="*/ 20 w 20"/>
                      <a:gd name="T7" fmla="*/ 5 h 24"/>
                      <a:gd name="T8" fmla="*/ 10 w 20"/>
                      <a:gd name="T9" fmla="*/ 0 h 24"/>
                    </a:gdLst>
                    <a:ahLst/>
                    <a:cxnLst>
                      <a:cxn ang="0">
                        <a:pos x="T0" y="T1"/>
                      </a:cxn>
                      <a:cxn ang="0">
                        <a:pos x="T2" y="T3"/>
                      </a:cxn>
                      <a:cxn ang="0">
                        <a:pos x="T4" y="T5"/>
                      </a:cxn>
                      <a:cxn ang="0">
                        <a:pos x="T6" y="T7"/>
                      </a:cxn>
                      <a:cxn ang="0">
                        <a:pos x="T8" y="T9"/>
                      </a:cxn>
                    </a:cxnLst>
                    <a:rect l="0" t="0" r="r" b="b"/>
                    <a:pathLst>
                      <a:path w="20" h="24">
                        <a:moveTo>
                          <a:pt x="10" y="0"/>
                        </a:moveTo>
                        <a:lnTo>
                          <a:pt x="0" y="20"/>
                        </a:lnTo>
                        <a:lnTo>
                          <a:pt x="10" y="24"/>
                        </a:lnTo>
                        <a:lnTo>
                          <a:pt x="20"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49" name="Freeform 133"/>
                  <p:cNvSpPr>
                    <a:spLocks noChangeAspect="1"/>
                  </p:cNvSpPr>
                  <p:nvPr/>
                </p:nvSpPr>
                <p:spPr bwMode="auto">
                  <a:xfrm>
                    <a:off x="4503" y="1317"/>
                    <a:ext cx="11" cy="19"/>
                  </a:xfrm>
                  <a:custGeom>
                    <a:avLst/>
                    <a:gdLst>
                      <a:gd name="T0" fmla="*/ 5 w 14"/>
                      <a:gd name="T1" fmla="*/ 0 h 24"/>
                      <a:gd name="T2" fmla="*/ 0 w 14"/>
                      <a:gd name="T3" fmla="*/ 19 h 24"/>
                      <a:gd name="T4" fmla="*/ 10 w 14"/>
                      <a:gd name="T5" fmla="*/ 24 h 24"/>
                      <a:gd name="T6" fmla="*/ 14 w 14"/>
                      <a:gd name="T7" fmla="*/ 5 h 24"/>
                      <a:gd name="T8" fmla="*/ 5 w 14"/>
                      <a:gd name="T9" fmla="*/ 0 h 24"/>
                    </a:gdLst>
                    <a:ahLst/>
                    <a:cxnLst>
                      <a:cxn ang="0">
                        <a:pos x="T0" y="T1"/>
                      </a:cxn>
                      <a:cxn ang="0">
                        <a:pos x="T2" y="T3"/>
                      </a:cxn>
                      <a:cxn ang="0">
                        <a:pos x="T4" y="T5"/>
                      </a:cxn>
                      <a:cxn ang="0">
                        <a:pos x="T6" y="T7"/>
                      </a:cxn>
                      <a:cxn ang="0">
                        <a:pos x="T8" y="T9"/>
                      </a:cxn>
                    </a:cxnLst>
                    <a:rect l="0" t="0" r="r" b="b"/>
                    <a:pathLst>
                      <a:path w="14" h="24">
                        <a:moveTo>
                          <a:pt x="5" y="0"/>
                        </a:moveTo>
                        <a:lnTo>
                          <a:pt x="0" y="19"/>
                        </a:lnTo>
                        <a:lnTo>
                          <a:pt x="10" y="24"/>
                        </a:lnTo>
                        <a:lnTo>
                          <a:pt x="14" y="5"/>
                        </a:lnTo>
                        <a:lnTo>
                          <a:pt x="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0" name="Freeform 134"/>
                  <p:cNvSpPr>
                    <a:spLocks noChangeAspect="1"/>
                  </p:cNvSpPr>
                  <p:nvPr/>
                </p:nvSpPr>
                <p:spPr bwMode="auto">
                  <a:xfrm>
                    <a:off x="4488" y="1344"/>
                    <a:ext cx="15" cy="20"/>
                  </a:xfrm>
                  <a:custGeom>
                    <a:avLst/>
                    <a:gdLst>
                      <a:gd name="T0" fmla="*/ 9 w 19"/>
                      <a:gd name="T1" fmla="*/ 0 h 24"/>
                      <a:gd name="T2" fmla="*/ 0 w 19"/>
                      <a:gd name="T3" fmla="*/ 19 h 24"/>
                      <a:gd name="T4" fmla="*/ 9 w 19"/>
                      <a:gd name="T5" fmla="*/ 24 h 24"/>
                      <a:gd name="T6" fmla="*/ 19 w 19"/>
                      <a:gd name="T7" fmla="*/ 5 h 24"/>
                      <a:gd name="T8" fmla="*/ 9 w 19"/>
                      <a:gd name="T9" fmla="*/ 0 h 24"/>
                    </a:gdLst>
                    <a:ahLst/>
                    <a:cxnLst>
                      <a:cxn ang="0">
                        <a:pos x="T0" y="T1"/>
                      </a:cxn>
                      <a:cxn ang="0">
                        <a:pos x="T2" y="T3"/>
                      </a:cxn>
                      <a:cxn ang="0">
                        <a:pos x="T4" y="T5"/>
                      </a:cxn>
                      <a:cxn ang="0">
                        <a:pos x="T6" y="T7"/>
                      </a:cxn>
                      <a:cxn ang="0">
                        <a:pos x="T8" y="T9"/>
                      </a:cxn>
                    </a:cxnLst>
                    <a:rect l="0" t="0" r="r" b="b"/>
                    <a:pathLst>
                      <a:path w="19" h="24">
                        <a:moveTo>
                          <a:pt x="9" y="0"/>
                        </a:moveTo>
                        <a:lnTo>
                          <a:pt x="0" y="19"/>
                        </a:lnTo>
                        <a:lnTo>
                          <a:pt x="9" y="24"/>
                        </a:lnTo>
                        <a:lnTo>
                          <a:pt x="19" y="5"/>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1" name="Freeform 135"/>
                  <p:cNvSpPr>
                    <a:spLocks noChangeAspect="1"/>
                  </p:cNvSpPr>
                  <p:nvPr/>
                </p:nvSpPr>
                <p:spPr bwMode="auto">
                  <a:xfrm>
                    <a:off x="4476" y="1375"/>
                    <a:ext cx="12" cy="15"/>
                  </a:xfrm>
                  <a:custGeom>
                    <a:avLst/>
                    <a:gdLst>
                      <a:gd name="T0" fmla="*/ 10 w 15"/>
                      <a:gd name="T1" fmla="*/ 0 h 19"/>
                      <a:gd name="T2" fmla="*/ 0 w 15"/>
                      <a:gd name="T3" fmla="*/ 15 h 19"/>
                      <a:gd name="T4" fmla="*/ 10 w 15"/>
                      <a:gd name="T5" fmla="*/ 19 h 19"/>
                      <a:gd name="T6" fmla="*/ 15 w 15"/>
                      <a:gd name="T7" fmla="*/ 5 h 19"/>
                      <a:gd name="T8" fmla="*/ 10 w 15"/>
                      <a:gd name="T9" fmla="*/ 0 h 19"/>
                    </a:gdLst>
                    <a:ahLst/>
                    <a:cxnLst>
                      <a:cxn ang="0">
                        <a:pos x="T0" y="T1"/>
                      </a:cxn>
                      <a:cxn ang="0">
                        <a:pos x="T2" y="T3"/>
                      </a:cxn>
                      <a:cxn ang="0">
                        <a:pos x="T4" y="T5"/>
                      </a:cxn>
                      <a:cxn ang="0">
                        <a:pos x="T6" y="T7"/>
                      </a:cxn>
                      <a:cxn ang="0">
                        <a:pos x="T8" y="T9"/>
                      </a:cxn>
                    </a:cxnLst>
                    <a:rect l="0" t="0" r="r" b="b"/>
                    <a:pathLst>
                      <a:path w="15" h="19">
                        <a:moveTo>
                          <a:pt x="10" y="0"/>
                        </a:moveTo>
                        <a:lnTo>
                          <a:pt x="0" y="15"/>
                        </a:lnTo>
                        <a:lnTo>
                          <a:pt x="10" y="19"/>
                        </a:lnTo>
                        <a:lnTo>
                          <a:pt x="15"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2" name="Freeform 136"/>
                  <p:cNvSpPr>
                    <a:spLocks noChangeAspect="1"/>
                  </p:cNvSpPr>
                  <p:nvPr/>
                </p:nvSpPr>
                <p:spPr bwMode="auto">
                  <a:xfrm>
                    <a:off x="4461" y="1402"/>
                    <a:ext cx="15" cy="15"/>
                  </a:xfrm>
                  <a:custGeom>
                    <a:avLst/>
                    <a:gdLst>
                      <a:gd name="T0" fmla="*/ 10 w 19"/>
                      <a:gd name="T1" fmla="*/ 0 h 19"/>
                      <a:gd name="T2" fmla="*/ 0 w 19"/>
                      <a:gd name="T3" fmla="*/ 19 h 19"/>
                      <a:gd name="T4" fmla="*/ 10 w 19"/>
                      <a:gd name="T5" fmla="*/ 19 h 19"/>
                      <a:gd name="T6" fmla="*/ 19 w 19"/>
                      <a:gd name="T7" fmla="*/ 5 h 19"/>
                      <a:gd name="T8" fmla="*/ 10 w 19"/>
                      <a:gd name="T9" fmla="*/ 0 h 19"/>
                    </a:gdLst>
                    <a:ahLst/>
                    <a:cxnLst>
                      <a:cxn ang="0">
                        <a:pos x="T0" y="T1"/>
                      </a:cxn>
                      <a:cxn ang="0">
                        <a:pos x="T2" y="T3"/>
                      </a:cxn>
                      <a:cxn ang="0">
                        <a:pos x="T4" y="T5"/>
                      </a:cxn>
                      <a:cxn ang="0">
                        <a:pos x="T6" y="T7"/>
                      </a:cxn>
                      <a:cxn ang="0">
                        <a:pos x="T8" y="T9"/>
                      </a:cxn>
                    </a:cxnLst>
                    <a:rect l="0" t="0" r="r" b="b"/>
                    <a:pathLst>
                      <a:path w="19" h="19">
                        <a:moveTo>
                          <a:pt x="10" y="0"/>
                        </a:moveTo>
                        <a:lnTo>
                          <a:pt x="0" y="19"/>
                        </a:lnTo>
                        <a:lnTo>
                          <a:pt x="10" y="19"/>
                        </a:lnTo>
                        <a:lnTo>
                          <a:pt x="19"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3" name="Freeform 137"/>
                  <p:cNvSpPr>
                    <a:spLocks noChangeAspect="1"/>
                  </p:cNvSpPr>
                  <p:nvPr/>
                </p:nvSpPr>
                <p:spPr bwMode="auto">
                  <a:xfrm>
                    <a:off x="4450" y="1429"/>
                    <a:ext cx="11" cy="19"/>
                  </a:xfrm>
                  <a:custGeom>
                    <a:avLst/>
                    <a:gdLst>
                      <a:gd name="T0" fmla="*/ 9 w 14"/>
                      <a:gd name="T1" fmla="*/ 0 h 24"/>
                      <a:gd name="T2" fmla="*/ 0 w 14"/>
                      <a:gd name="T3" fmla="*/ 19 h 24"/>
                      <a:gd name="T4" fmla="*/ 9 w 14"/>
                      <a:gd name="T5" fmla="*/ 24 h 24"/>
                      <a:gd name="T6" fmla="*/ 14 w 14"/>
                      <a:gd name="T7" fmla="*/ 4 h 24"/>
                      <a:gd name="T8" fmla="*/ 9 w 14"/>
                      <a:gd name="T9" fmla="*/ 0 h 24"/>
                    </a:gdLst>
                    <a:ahLst/>
                    <a:cxnLst>
                      <a:cxn ang="0">
                        <a:pos x="T0" y="T1"/>
                      </a:cxn>
                      <a:cxn ang="0">
                        <a:pos x="T2" y="T3"/>
                      </a:cxn>
                      <a:cxn ang="0">
                        <a:pos x="T4" y="T5"/>
                      </a:cxn>
                      <a:cxn ang="0">
                        <a:pos x="T6" y="T7"/>
                      </a:cxn>
                      <a:cxn ang="0">
                        <a:pos x="T8" y="T9"/>
                      </a:cxn>
                    </a:cxnLst>
                    <a:rect l="0" t="0" r="r" b="b"/>
                    <a:pathLst>
                      <a:path w="14" h="24">
                        <a:moveTo>
                          <a:pt x="9" y="0"/>
                        </a:moveTo>
                        <a:lnTo>
                          <a:pt x="0" y="19"/>
                        </a:lnTo>
                        <a:lnTo>
                          <a:pt x="9" y="24"/>
                        </a:lnTo>
                        <a:lnTo>
                          <a:pt x="14" y="4"/>
                        </a:lnTo>
                        <a:lnTo>
                          <a:pt x="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4" name="Freeform 138"/>
                  <p:cNvSpPr>
                    <a:spLocks noChangeAspect="1"/>
                  </p:cNvSpPr>
                  <p:nvPr/>
                </p:nvSpPr>
                <p:spPr bwMode="auto">
                  <a:xfrm>
                    <a:off x="4433" y="1456"/>
                    <a:ext cx="17" cy="19"/>
                  </a:xfrm>
                  <a:custGeom>
                    <a:avLst/>
                    <a:gdLst>
                      <a:gd name="T0" fmla="*/ 10 w 20"/>
                      <a:gd name="T1" fmla="*/ 0 h 24"/>
                      <a:gd name="T2" fmla="*/ 0 w 20"/>
                      <a:gd name="T3" fmla="*/ 20 h 24"/>
                      <a:gd name="T4" fmla="*/ 10 w 20"/>
                      <a:gd name="T5" fmla="*/ 24 h 24"/>
                      <a:gd name="T6" fmla="*/ 20 w 20"/>
                      <a:gd name="T7" fmla="*/ 5 h 24"/>
                      <a:gd name="T8" fmla="*/ 10 w 20"/>
                      <a:gd name="T9" fmla="*/ 0 h 24"/>
                    </a:gdLst>
                    <a:ahLst/>
                    <a:cxnLst>
                      <a:cxn ang="0">
                        <a:pos x="T0" y="T1"/>
                      </a:cxn>
                      <a:cxn ang="0">
                        <a:pos x="T2" y="T3"/>
                      </a:cxn>
                      <a:cxn ang="0">
                        <a:pos x="T4" y="T5"/>
                      </a:cxn>
                      <a:cxn ang="0">
                        <a:pos x="T6" y="T7"/>
                      </a:cxn>
                      <a:cxn ang="0">
                        <a:pos x="T8" y="T9"/>
                      </a:cxn>
                    </a:cxnLst>
                    <a:rect l="0" t="0" r="r" b="b"/>
                    <a:pathLst>
                      <a:path w="20" h="24">
                        <a:moveTo>
                          <a:pt x="10" y="0"/>
                        </a:moveTo>
                        <a:lnTo>
                          <a:pt x="0" y="20"/>
                        </a:lnTo>
                        <a:lnTo>
                          <a:pt x="10" y="24"/>
                        </a:lnTo>
                        <a:lnTo>
                          <a:pt x="20" y="5"/>
                        </a:lnTo>
                        <a:lnTo>
                          <a:pt x="1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5" name="Freeform 139"/>
                  <p:cNvSpPr>
                    <a:spLocks noChangeAspect="1"/>
                  </p:cNvSpPr>
                  <p:nvPr/>
                </p:nvSpPr>
                <p:spPr bwMode="auto">
                  <a:xfrm>
                    <a:off x="4426" y="404"/>
                    <a:ext cx="647" cy="690"/>
                  </a:xfrm>
                  <a:custGeom>
                    <a:avLst/>
                    <a:gdLst>
                      <a:gd name="T0" fmla="*/ 808 w 808"/>
                      <a:gd name="T1" fmla="*/ 861 h 861"/>
                      <a:gd name="T2" fmla="*/ 804 w 808"/>
                      <a:gd name="T3" fmla="*/ 5 h 861"/>
                      <a:gd name="T4" fmla="*/ 804 w 808"/>
                      <a:gd name="T5" fmla="*/ 0 h 861"/>
                      <a:gd name="T6" fmla="*/ 794 w 808"/>
                      <a:gd name="T7" fmla="*/ 0 h 861"/>
                      <a:gd name="T8" fmla="*/ 794 w 808"/>
                      <a:gd name="T9" fmla="*/ 5 h 861"/>
                      <a:gd name="T10" fmla="*/ 650 w 808"/>
                      <a:gd name="T11" fmla="*/ 394 h 861"/>
                      <a:gd name="T12" fmla="*/ 14 w 808"/>
                      <a:gd name="T13" fmla="*/ 394 h 861"/>
                      <a:gd name="T14" fmla="*/ 250 w 808"/>
                      <a:gd name="T15" fmla="*/ 14 h 861"/>
                      <a:gd name="T16" fmla="*/ 804 w 808"/>
                      <a:gd name="T17" fmla="*/ 19 h 861"/>
                      <a:gd name="T18" fmla="*/ 804 w 808"/>
                      <a:gd name="T19" fmla="*/ 9 h 861"/>
                      <a:gd name="T20" fmla="*/ 245 w 808"/>
                      <a:gd name="T21" fmla="*/ 5 h 861"/>
                      <a:gd name="T22" fmla="*/ 240 w 808"/>
                      <a:gd name="T23" fmla="*/ 5 h 861"/>
                      <a:gd name="T24" fmla="*/ 0 w 808"/>
                      <a:gd name="T25" fmla="*/ 394 h 861"/>
                      <a:gd name="T26" fmla="*/ 0 w 808"/>
                      <a:gd name="T27" fmla="*/ 404 h 861"/>
                      <a:gd name="T28" fmla="*/ 659 w 808"/>
                      <a:gd name="T29" fmla="*/ 404 h 861"/>
                      <a:gd name="T30" fmla="*/ 659 w 808"/>
                      <a:gd name="T31" fmla="*/ 399 h 861"/>
                      <a:gd name="T32" fmla="*/ 794 w 808"/>
                      <a:gd name="T33" fmla="*/ 33 h 861"/>
                      <a:gd name="T34" fmla="*/ 799 w 808"/>
                      <a:gd name="T35" fmla="*/ 861 h 861"/>
                      <a:gd name="T36" fmla="*/ 808 w 808"/>
                      <a:gd name="T37" fmla="*/ 861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8" h="861">
                        <a:moveTo>
                          <a:pt x="808" y="861"/>
                        </a:moveTo>
                        <a:lnTo>
                          <a:pt x="804" y="5"/>
                        </a:lnTo>
                        <a:lnTo>
                          <a:pt x="804" y="0"/>
                        </a:lnTo>
                        <a:lnTo>
                          <a:pt x="794" y="0"/>
                        </a:lnTo>
                        <a:lnTo>
                          <a:pt x="794" y="5"/>
                        </a:lnTo>
                        <a:lnTo>
                          <a:pt x="650" y="394"/>
                        </a:lnTo>
                        <a:lnTo>
                          <a:pt x="14" y="394"/>
                        </a:lnTo>
                        <a:lnTo>
                          <a:pt x="250" y="14"/>
                        </a:lnTo>
                        <a:lnTo>
                          <a:pt x="804" y="19"/>
                        </a:lnTo>
                        <a:lnTo>
                          <a:pt x="804" y="9"/>
                        </a:lnTo>
                        <a:lnTo>
                          <a:pt x="245" y="5"/>
                        </a:lnTo>
                        <a:lnTo>
                          <a:pt x="240" y="5"/>
                        </a:lnTo>
                        <a:lnTo>
                          <a:pt x="0" y="394"/>
                        </a:lnTo>
                        <a:lnTo>
                          <a:pt x="0" y="404"/>
                        </a:lnTo>
                        <a:lnTo>
                          <a:pt x="659" y="404"/>
                        </a:lnTo>
                        <a:lnTo>
                          <a:pt x="659" y="399"/>
                        </a:lnTo>
                        <a:lnTo>
                          <a:pt x="794" y="33"/>
                        </a:lnTo>
                        <a:lnTo>
                          <a:pt x="799" y="861"/>
                        </a:lnTo>
                        <a:lnTo>
                          <a:pt x="808" y="86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6" name="Freeform 140"/>
                  <p:cNvSpPr>
                    <a:spLocks noChangeAspect="1"/>
                  </p:cNvSpPr>
                  <p:nvPr/>
                </p:nvSpPr>
                <p:spPr bwMode="auto">
                  <a:xfrm>
                    <a:off x="4426" y="720"/>
                    <a:ext cx="651" cy="767"/>
                  </a:xfrm>
                  <a:custGeom>
                    <a:avLst/>
                    <a:gdLst>
                      <a:gd name="T0" fmla="*/ 0 w 813"/>
                      <a:gd name="T1" fmla="*/ 0 h 958"/>
                      <a:gd name="T2" fmla="*/ 5 w 813"/>
                      <a:gd name="T3" fmla="*/ 958 h 958"/>
                      <a:gd name="T4" fmla="*/ 659 w 813"/>
                      <a:gd name="T5" fmla="*/ 953 h 958"/>
                      <a:gd name="T6" fmla="*/ 813 w 813"/>
                      <a:gd name="T7" fmla="*/ 457 h 958"/>
                      <a:gd name="T8" fmla="*/ 804 w 813"/>
                      <a:gd name="T9" fmla="*/ 457 h 958"/>
                      <a:gd name="T10" fmla="*/ 650 w 813"/>
                      <a:gd name="T11" fmla="*/ 943 h 958"/>
                      <a:gd name="T12" fmla="*/ 14 w 813"/>
                      <a:gd name="T13" fmla="*/ 948 h 958"/>
                      <a:gd name="T14" fmla="*/ 9 w 813"/>
                      <a:gd name="T15" fmla="*/ 0 h 958"/>
                      <a:gd name="T16" fmla="*/ 0 w 813"/>
                      <a:gd name="T17" fmla="*/ 0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3" h="958">
                        <a:moveTo>
                          <a:pt x="0" y="0"/>
                        </a:moveTo>
                        <a:lnTo>
                          <a:pt x="5" y="958"/>
                        </a:lnTo>
                        <a:lnTo>
                          <a:pt x="659" y="953"/>
                        </a:lnTo>
                        <a:lnTo>
                          <a:pt x="813" y="457"/>
                        </a:lnTo>
                        <a:lnTo>
                          <a:pt x="804" y="457"/>
                        </a:lnTo>
                        <a:lnTo>
                          <a:pt x="650" y="943"/>
                        </a:lnTo>
                        <a:lnTo>
                          <a:pt x="14" y="948"/>
                        </a:lnTo>
                        <a:lnTo>
                          <a:pt x="9"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7" name="Freeform 141"/>
                  <p:cNvSpPr>
                    <a:spLocks noChangeAspect="1"/>
                  </p:cNvSpPr>
                  <p:nvPr/>
                </p:nvSpPr>
                <p:spPr bwMode="auto">
                  <a:xfrm>
                    <a:off x="4947" y="724"/>
                    <a:ext cx="11" cy="763"/>
                  </a:xfrm>
                  <a:custGeom>
                    <a:avLst/>
                    <a:gdLst>
                      <a:gd name="T0" fmla="*/ 9 w 14"/>
                      <a:gd name="T1" fmla="*/ 953 h 953"/>
                      <a:gd name="T2" fmla="*/ 14 w 14"/>
                      <a:gd name="T3" fmla="*/ 0 h 953"/>
                      <a:gd name="T4" fmla="*/ 4 w 14"/>
                      <a:gd name="T5" fmla="*/ 0 h 953"/>
                      <a:gd name="T6" fmla="*/ 0 w 14"/>
                      <a:gd name="T7" fmla="*/ 953 h 953"/>
                      <a:gd name="T8" fmla="*/ 9 w 14"/>
                      <a:gd name="T9" fmla="*/ 953 h 953"/>
                    </a:gdLst>
                    <a:ahLst/>
                    <a:cxnLst>
                      <a:cxn ang="0">
                        <a:pos x="T0" y="T1"/>
                      </a:cxn>
                      <a:cxn ang="0">
                        <a:pos x="T2" y="T3"/>
                      </a:cxn>
                      <a:cxn ang="0">
                        <a:pos x="T4" y="T5"/>
                      </a:cxn>
                      <a:cxn ang="0">
                        <a:pos x="T6" y="T7"/>
                      </a:cxn>
                      <a:cxn ang="0">
                        <a:pos x="T8" y="T9"/>
                      </a:cxn>
                    </a:cxnLst>
                    <a:rect l="0" t="0" r="r" b="b"/>
                    <a:pathLst>
                      <a:path w="14" h="953">
                        <a:moveTo>
                          <a:pt x="9" y="953"/>
                        </a:moveTo>
                        <a:lnTo>
                          <a:pt x="14" y="0"/>
                        </a:lnTo>
                        <a:lnTo>
                          <a:pt x="4" y="0"/>
                        </a:lnTo>
                        <a:lnTo>
                          <a:pt x="0" y="953"/>
                        </a:lnTo>
                        <a:lnTo>
                          <a:pt x="9" y="95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58" name="Rectangle 142"/>
                  <p:cNvSpPr>
                    <a:spLocks noChangeAspect="1" noChangeArrowheads="1"/>
                  </p:cNvSpPr>
                  <p:nvPr/>
                </p:nvSpPr>
                <p:spPr bwMode="auto">
                  <a:xfrm>
                    <a:off x="4618" y="188"/>
                    <a:ext cx="8" cy="22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59" name="Freeform 143"/>
                  <p:cNvSpPr>
                    <a:spLocks noChangeAspect="1"/>
                  </p:cNvSpPr>
                  <p:nvPr/>
                </p:nvSpPr>
                <p:spPr bwMode="auto">
                  <a:xfrm>
                    <a:off x="4611" y="188"/>
                    <a:ext cx="27" cy="28"/>
                  </a:xfrm>
                  <a:custGeom>
                    <a:avLst/>
                    <a:gdLst>
                      <a:gd name="T0" fmla="*/ 0 w 34"/>
                      <a:gd name="T1" fmla="*/ 34 h 34"/>
                      <a:gd name="T2" fmla="*/ 14 w 34"/>
                      <a:gd name="T3" fmla="*/ 0 h 34"/>
                      <a:gd name="T4" fmla="*/ 34 w 34"/>
                      <a:gd name="T5" fmla="*/ 34 h 34"/>
                      <a:gd name="T6" fmla="*/ 14 w 34"/>
                      <a:gd name="T7" fmla="*/ 20 h 34"/>
                      <a:gd name="T8" fmla="*/ 0 w 34"/>
                      <a:gd name="T9" fmla="*/ 34 h 34"/>
                    </a:gdLst>
                    <a:ahLst/>
                    <a:cxnLst>
                      <a:cxn ang="0">
                        <a:pos x="T0" y="T1"/>
                      </a:cxn>
                      <a:cxn ang="0">
                        <a:pos x="T2" y="T3"/>
                      </a:cxn>
                      <a:cxn ang="0">
                        <a:pos x="T4" y="T5"/>
                      </a:cxn>
                      <a:cxn ang="0">
                        <a:pos x="T6" y="T7"/>
                      </a:cxn>
                      <a:cxn ang="0">
                        <a:pos x="T8" y="T9"/>
                      </a:cxn>
                    </a:cxnLst>
                    <a:rect l="0" t="0" r="r" b="b"/>
                    <a:pathLst>
                      <a:path w="34" h="34">
                        <a:moveTo>
                          <a:pt x="0" y="34"/>
                        </a:moveTo>
                        <a:lnTo>
                          <a:pt x="14" y="0"/>
                        </a:lnTo>
                        <a:lnTo>
                          <a:pt x="34" y="34"/>
                        </a:lnTo>
                        <a:lnTo>
                          <a:pt x="14" y="20"/>
                        </a:lnTo>
                        <a:lnTo>
                          <a:pt x="0" y="3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60" name="Freeform 144"/>
                  <p:cNvSpPr>
                    <a:spLocks noChangeAspect="1"/>
                  </p:cNvSpPr>
                  <p:nvPr/>
                </p:nvSpPr>
                <p:spPr bwMode="auto">
                  <a:xfrm>
                    <a:off x="4599" y="181"/>
                    <a:ext cx="51" cy="50"/>
                  </a:xfrm>
                  <a:custGeom>
                    <a:avLst/>
                    <a:gdLst>
                      <a:gd name="T0" fmla="*/ 29 w 63"/>
                      <a:gd name="T1" fmla="*/ 24 h 62"/>
                      <a:gd name="T2" fmla="*/ 29 w 63"/>
                      <a:gd name="T3" fmla="*/ 19 h 62"/>
                      <a:gd name="T4" fmla="*/ 34 w 63"/>
                      <a:gd name="T5" fmla="*/ 24 h 62"/>
                      <a:gd name="T6" fmla="*/ 29 w 63"/>
                      <a:gd name="T7" fmla="*/ 24 h 62"/>
                      <a:gd name="T8" fmla="*/ 0 w 63"/>
                      <a:gd name="T9" fmla="*/ 62 h 62"/>
                      <a:gd name="T10" fmla="*/ 29 w 63"/>
                      <a:gd name="T11" fmla="*/ 33 h 62"/>
                      <a:gd name="T12" fmla="*/ 63 w 63"/>
                      <a:gd name="T13" fmla="*/ 62 h 62"/>
                      <a:gd name="T14" fmla="*/ 29 w 63"/>
                      <a:gd name="T15" fmla="*/ 0 h 62"/>
                      <a:gd name="T16" fmla="*/ 0 w 63"/>
                      <a:gd name="T17" fmla="*/ 62 h 62"/>
                      <a:gd name="T18" fmla="*/ 29 w 63"/>
                      <a:gd name="T19" fmla="*/ 2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2">
                        <a:moveTo>
                          <a:pt x="29" y="24"/>
                        </a:moveTo>
                        <a:lnTo>
                          <a:pt x="29" y="19"/>
                        </a:lnTo>
                        <a:lnTo>
                          <a:pt x="34" y="24"/>
                        </a:lnTo>
                        <a:lnTo>
                          <a:pt x="29" y="24"/>
                        </a:lnTo>
                        <a:lnTo>
                          <a:pt x="0" y="62"/>
                        </a:lnTo>
                        <a:lnTo>
                          <a:pt x="29" y="33"/>
                        </a:lnTo>
                        <a:lnTo>
                          <a:pt x="63" y="62"/>
                        </a:lnTo>
                        <a:lnTo>
                          <a:pt x="29" y="0"/>
                        </a:lnTo>
                        <a:lnTo>
                          <a:pt x="0" y="62"/>
                        </a:lnTo>
                        <a:lnTo>
                          <a:pt x="29" y="2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61" name="Freeform 145"/>
                  <p:cNvSpPr>
                    <a:spLocks noChangeAspect="1"/>
                  </p:cNvSpPr>
                  <p:nvPr/>
                </p:nvSpPr>
                <p:spPr bwMode="auto">
                  <a:xfrm>
                    <a:off x="4345" y="1483"/>
                    <a:ext cx="88" cy="162"/>
                  </a:xfrm>
                  <a:custGeom>
                    <a:avLst/>
                    <a:gdLst>
                      <a:gd name="T0" fmla="*/ 101 w 110"/>
                      <a:gd name="T1" fmla="*/ 0 h 202"/>
                      <a:gd name="T2" fmla="*/ 0 w 110"/>
                      <a:gd name="T3" fmla="*/ 202 h 202"/>
                      <a:gd name="T4" fmla="*/ 9 w 110"/>
                      <a:gd name="T5" fmla="*/ 202 h 202"/>
                      <a:gd name="T6" fmla="*/ 110 w 110"/>
                      <a:gd name="T7" fmla="*/ 0 h 202"/>
                      <a:gd name="T8" fmla="*/ 101 w 110"/>
                      <a:gd name="T9" fmla="*/ 0 h 202"/>
                    </a:gdLst>
                    <a:ahLst/>
                    <a:cxnLst>
                      <a:cxn ang="0">
                        <a:pos x="T0" y="T1"/>
                      </a:cxn>
                      <a:cxn ang="0">
                        <a:pos x="T2" y="T3"/>
                      </a:cxn>
                      <a:cxn ang="0">
                        <a:pos x="T4" y="T5"/>
                      </a:cxn>
                      <a:cxn ang="0">
                        <a:pos x="T6" y="T7"/>
                      </a:cxn>
                      <a:cxn ang="0">
                        <a:pos x="T8" y="T9"/>
                      </a:cxn>
                    </a:cxnLst>
                    <a:rect l="0" t="0" r="r" b="b"/>
                    <a:pathLst>
                      <a:path w="110" h="202">
                        <a:moveTo>
                          <a:pt x="101" y="0"/>
                        </a:moveTo>
                        <a:lnTo>
                          <a:pt x="0" y="202"/>
                        </a:lnTo>
                        <a:lnTo>
                          <a:pt x="9" y="202"/>
                        </a:lnTo>
                        <a:lnTo>
                          <a:pt x="110" y="0"/>
                        </a:lnTo>
                        <a:lnTo>
                          <a:pt x="10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62" name="Freeform 146"/>
                  <p:cNvSpPr>
                    <a:spLocks noChangeAspect="1"/>
                  </p:cNvSpPr>
                  <p:nvPr/>
                </p:nvSpPr>
                <p:spPr bwMode="auto">
                  <a:xfrm>
                    <a:off x="4349" y="1614"/>
                    <a:ext cx="27" cy="31"/>
                  </a:xfrm>
                  <a:custGeom>
                    <a:avLst/>
                    <a:gdLst>
                      <a:gd name="T0" fmla="*/ 34 w 34"/>
                      <a:gd name="T1" fmla="*/ 14 h 38"/>
                      <a:gd name="T2" fmla="*/ 0 w 34"/>
                      <a:gd name="T3" fmla="*/ 38 h 38"/>
                      <a:gd name="T4" fmla="*/ 0 w 34"/>
                      <a:gd name="T5" fmla="*/ 0 h 38"/>
                      <a:gd name="T6" fmla="*/ 10 w 34"/>
                      <a:gd name="T7" fmla="*/ 24 h 38"/>
                      <a:gd name="T8" fmla="*/ 34 w 34"/>
                      <a:gd name="T9" fmla="*/ 14 h 38"/>
                    </a:gdLst>
                    <a:ahLst/>
                    <a:cxnLst>
                      <a:cxn ang="0">
                        <a:pos x="T0" y="T1"/>
                      </a:cxn>
                      <a:cxn ang="0">
                        <a:pos x="T2" y="T3"/>
                      </a:cxn>
                      <a:cxn ang="0">
                        <a:pos x="T4" y="T5"/>
                      </a:cxn>
                      <a:cxn ang="0">
                        <a:pos x="T6" y="T7"/>
                      </a:cxn>
                      <a:cxn ang="0">
                        <a:pos x="T8" y="T9"/>
                      </a:cxn>
                    </a:cxnLst>
                    <a:rect l="0" t="0" r="r" b="b"/>
                    <a:pathLst>
                      <a:path w="34" h="38">
                        <a:moveTo>
                          <a:pt x="34" y="14"/>
                        </a:moveTo>
                        <a:lnTo>
                          <a:pt x="0" y="38"/>
                        </a:lnTo>
                        <a:lnTo>
                          <a:pt x="0" y="0"/>
                        </a:lnTo>
                        <a:lnTo>
                          <a:pt x="10" y="24"/>
                        </a:lnTo>
                        <a:lnTo>
                          <a:pt x="34" y="1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63" name="Freeform 147"/>
                  <p:cNvSpPr>
                    <a:spLocks noChangeAspect="1"/>
                  </p:cNvSpPr>
                  <p:nvPr/>
                </p:nvSpPr>
                <p:spPr bwMode="auto">
                  <a:xfrm>
                    <a:off x="4345" y="1594"/>
                    <a:ext cx="58" cy="59"/>
                  </a:xfrm>
                  <a:custGeom>
                    <a:avLst/>
                    <a:gdLst>
                      <a:gd name="T0" fmla="*/ 4 w 72"/>
                      <a:gd name="T1" fmla="*/ 58 h 73"/>
                      <a:gd name="T2" fmla="*/ 9 w 72"/>
                      <a:gd name="T3" fmla="*/ 53 h 73"/>
                      <a:gd name="T4" fmla="*/ 9 w 72"/>
                      <a:gd name="T5" fmla="*/ 49 h 73"/>
                      <a:gd name="T6" fmla="*/ 9 w 72"/>
                      <a:gd name="T7" fmla="*/ 53 h 73"/>
                      <a:gd name="T8" fmla="*/ 4 w 72"/>
                      <a:gd name="T9" fmla="*/ 58 h 73"/>
                      <a:gd name="T10" fmla="*/ 72 w 72"/>
                      <a:gd name="T11" fmla="*/ 20 h 73"/>
                      <a:gd name="T12" fmla="*/ 19 w 72"/>
                      <a:gd name="T13" fmla="*/ 44 h 73"/>
                      <a:gd name="T14" fmla="*/ 0 w 72"/>
                      <a:gd name="T15" fmla="*/ 0 h 73"/>
                      <a:gd name="T16" fmla="*/ 0 w 72"/>
                      <a:gd name="T17" fmla="*/ 73 h 73"/>
                      <a:gd name="T18" fmla="*/ 72 w 72"/>
                      <a:gd name="T19" fmla="*/ 20 h 73"/>
                      <a:gd name="T20" fmla="*/ 4 w 72"/>
                      <a:gd name="T21" fmla="*/ 5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73">
                        <a:moveTo>
                          <a:pt x="4" y="58"/>
                        </a:moveTo>
                        <a:lnTo>
                          <a:pt x="9" y="53"/>
                        </a:lnTo>
                        <a:lnTo>
                          <a:pt x="9" y="49"/>
                        </a:lnTo>
                        <a:lnTo>
                          <a:pt x="9" y="53"/>
                        </a:lnTo>
                        <a:lnTo>
                          <a:pt x="4" y="58"/>
                        </a:lnTo>
                        <a:lnTo>
                          <a:pt x="72" y="20"/>
                        </a:lnTo>
                        <a:lnTo>
                          <a:pt x="19" y="44"/>
                        </a:lnTo>
                        <a:lnTo>
                          <a:pt x="0" y="0"/>
                        </a:lnTo>
                        <a:lnTo>
                          <a:pt x="0" y="73"/>
                        </a:lnTo>
                        <a:lnTo>
                          <a:pt x="72" y="20"/>
                        </a:lnTo>
                        <a:lnTo>
                          <a:pt x="4" y="5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64" name="Rectangle 148"/>
                  <p:cNvSpPr>
                    <a:spLocks noChangeAspect="1" noChangeArrowheads="1"/>
                  </p:cNvSpPr>
                  <p:nvPr/>
                </p:nvSpPr>
                <p:spPr bwMode="auto">
                  <a:xfrm>
                    <a:off x="5077" y="1086"/>
                    <a:ext cx="143"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7365" name="Freeform 149"/>
                  <p:cNvSpPr>
                    <a:spLocks noChangeAspect="1"/>
                  </p:cNvSpPr>
                  <p:nvPr/>
                </p:nvSpPr>
                <p:spPr bwMode="auto">
                  <a:xfrm>
                    <a:off x="5193" y="1079"/>
                    <a:ext cx="27" cy="26"/>
                  </a:xfrm>
                  <a:custGeom>
                    <a:avLst/>
                    <a:gdLst>
                      <a:gd name="T0" fmla="*/ 0 w 33"/>
                      <a:gd name="T1" fmla="*/ 0 h 33"/>
                      <a:gd name="T2" fmla="*/ 33 w 33"/>
                      <a:gd name="T3" fmla="*/ 14 h 33"/>
                      <a:gd name="T4" fmla="*/ 0 w 33"/>
                      <a:gd name="T5" fmla="*/ 33 h 33"/>
                      <a:gd name="T6" fmla="*/ 19 w 33"/>
                      <a:gd name="T7" fmla="*/ 14 h 33"/>
                      <a:gd name="T8" fmla="*/ 0 w 33"/>
                      <a:gd name="T9" fmla="*/ 0 h 33"/>
                    </a:gdLst>
                    <a:ahLst/>
                    <a:cxnLst>
                      <a:cxn ang="0">
                        <a:pos x="T0" y="T1"/>
                      </a:cxn>
                      <a:cxn ang="0">
                        <a:pos x="T2" y="T3"/>
                      </a:cxn>
                      <a:cxn ang="0">
                        <a:pos x="T4" y="T5"/>
                      </a:cxn>
                      <a:cxn ang="0">
                        <a:pos x="T6" y="T7"/>
                      </a:cxn>
                      <a:cxn ang="0">
                        <a:pos x="T8" y="T9"/>
                      </a:cxn>
                    </a:cxnLst>
                    <a:rect l="0" t="0" r="r" b="b"/>
                    <a:pathLst>
                      <a:path w="33" h="33">
                        <a:moveTo>
                          <a:pt x="0" y="0"/>
                        </a:moveTo>
                        <a:lnTo>
                          <a:pt x="33" y="14"/>
                        </a:lnTo>
                        <a:lnTo>
                          <a:pt x="0" y="33"/>
                        </a:lnTo>
                        <a:lnTo>
                          <a:pt x="19" y="14"/>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66" name="Freeform 150"/>
                  <p:cNvSpPr>
                    <a:spLocks noChangeAspect="1"/>
                  </p:cNvSpPr>
                  <p:nvPr/>
                </p:nvSpPr>
                <p:spPr bwMode="auto">
                  <a:xfrm>
                    <a:off x="5166" y="1063"/>
                    <a:ext cx="62" cy="61"/>
                  </a:xfrm>
                  <a:custGeom>
                    <a:avLst/>
                    <a:gdLst>
                      <a:gd name="T0" fmla="*/ 67 w 77"/>
                      <a:gd name="T1" fmla="*/ 38 h 76"/>
                      <a:gd name="T2" fmla="*/ 58 w 77"/>
                      <a:gd name="T3" fmla="*/ 33 h 76"/>
                      <a:gd name="T4" fmla="*/ 63 w 77"/>
                      <a:gd name="T5" fmla="*/ 28 h 76"/>
                      <a:gd name="T6" fmla="*/ 63 w 77"/>
                      <a:gd name="T7" fmla="*/ 33 h 76"/>
                      <a:gd name="T8" fmla="*/ 67 w 77"/>
                      <a:gd name="T9" fmla="*/ 38 h 76"/>
                      <a:gd name="T10" fmla="*/ 0 w 77"/>
                      <a:gd name="T11" fmla="*/ 0 h 76"/>
                      <a:gd name="T12" fmla="*/ 43 w 77"/>
                      <a:gd name="T13" fmla="*/ 33 h 76"/>
                      <a:gd name="T14" fmla="*/ 5 w 77"/>
                      <a:gd name="T15" fmla="*/ 76 h 76"/>
                      <a:gd name="T16" fmla="*/ 77 w 77"/>
                      <a:gd name="T17" fmla="*/ 33 h 76"/>
                      <a:gd name="T18" fmla="*/ 0 w 77"/>
                      <a:gd name="T19" fmla="*/ 0 h 76"/>
                      <a:gd name="T20" fmla="*/ 67 w 77"/>
                      <a:gd name="T21" fmla="*/ 38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76">
                        <a:moveTo>
                          <a:pt x="67" y="38"/>
                        </a:moveTo>
                        <a:lnTo>
                          <a:pt x="58" y="33"/>
                        </a:lnTo>
                        <a:lnTo>
                          <a:pt x="63" y="28"/>
                        </a:lnTo>
                        <a:lnTo>
                          <a:pt x="63" y="33"/>
                        </a:lnTo>
                        <a:lnTo>
                          <a:pt x="67" y="38"/>
                        </a:lnTo>
                        <a:lnTo>
                          <a:pt x="0" y="0"/>
                        </a:lnTo>
                        <a:lnTo>
                          <a:pt x="43" y="33"/>
                        </a:lnTo>
                        <a:lnTo>
                          <a:pt x="5" y="76"/>
                        </a:lnTo>
                        <a:lnTo>
                          <a:pt x="77" y="33"/>
                        </a:lnTo>
                        <a:lnTo>
                          <a:pt x="0" y="0"/>
                        </a:lnTo>
                        <a:lnTo>
                          <a:pt x="67" y="3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7367" name="Rectangle 151"/>
                  <p:cNvSpPr>
                    <a:spLocks noChangeAspect="1" noChangeArrowheads="1"/>
                  </p:cNvSpPr>
                  <p:nvPr/>
                </p:nvSpPr>
                <p:spPr bwMode="auto">
                  <a:xfrm>
                    <a:off x="4268" y="1626"/>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a</a:t>
                    </a:r>
                    <a:endParaRPr lang="en-US" altLang="zh-CN" sz="2000" b="0">
                      <a:effectLst>
                        <a:outerShdw blurRad="38100" dist="38100" dir="2700000" algn="tl">
                          <a:srgbClr val="000000"/>
                        </a:outerShdw>
                      </a:effectLst>
                      <a:latin typeface="Times New Roman" panose="02020603050405020304" pitchFamily="18" charset="0"/>
                    </a:endParaRPr>
                  </a:p>
                </p:txBody>
              </p:sp>
              <p:sp>
                <p:nvSpPr>
                  <p:cNvPr id="137368" name="Rectangle 152"/>
                  <p:cNvSpPr>
                    <a:spLocks noChangeAspect="1" noChangeArrowheads="1"/>
                  </p:cNvSpPr>
                  <p:nvPr/>
                </p:nvSpPr>
                <p:spPr bwMode="auto">
                  <a:xfrm>
                    <a:off x="5243" y="994"/>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100" b="0">
                        <a:latin typeface="Times New Roman" panose="02020603050405020304" pitchFamily="18" charset="0"/>
                      </a:rPr>
                      <a:t>b</a:t>
                    </a:r>
                    <a:endParaRPr lang="en-US" altLang="zh-CN" sz="2000" b="0">
                      <a:effectLst>
                        <a:outerShdw blurRad="38100" dist="38100" dir="2700000" algn="tl">
                          <a:srgbClr val="000000"/>
                        </a:outerShdw>
                      </a:effectLst>
                      <a:latin typeface="Times New Roman" panose="02020603050405020304" pitchFamily="18" charset="0"/>
                    </a:endParaRPr>
                  </a:p>
                </p:txBody>
              </p:sp>
              <p:sp>
                <p:nvSpPr>
                  <p:cNvPr id="137370" name="Rectangle 154"/>
                  <p:cNvSpPr>
                    <a:spLocks noChangeAspect="1" noChangeArrowheads="1"/>
                  </p:cNvSpPr>
                  <p:nvPr/>
                </p:nvSpPr>
                <p:spPr bwMode="auto">
                  <a:xfrm>
                    <a:off x="4522" y="1537"/>
                    <a:ext cx="21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900" b="0"/>
                      <a:t>C </a:t>
                    </a:r>
                  </a:p>
                </p:txBody>
              </p:sp>
              <p:sp>
                <p:nvSpPr>
                  <p:cNvPr id="137371" name="Freeform 155"/>
                  <p:cNvSpPr>
                    <a:spLocks noChangeAspect="1"/>
                  </p:cNvSpPr>
                  <p:nvPr/>
                </p:nvSpPr>
                <p:spPr bwMode="auto">
                  <a:xfrm>
                    <a:off x="4599" y="1021"/>
                    <a:ext cx="101" cy="126"/>
                  </a:xfrm>
                  <a:custGeom>
                    <a:avLst/>
                    <a:gdLst>
                      <a:gd name="T0" fmla="*/ 34 w 126"/>
                      <a:gd name="T1" fmla="*/ 0 h 158"/>
                      <a:gd name="T2" fmla="*/ 29 w 126"/>
                      <a:gd name="T3" fmla="*/ 0 h 158"/>
                      <a:gd name="T4" fmla="*/ 29 w 126"/>
                      <a:gd name="T5" fmla="*/ 9 h 158"/>
                      <a:gd name="T6" fmla="*/ 116 w 126"/>
                      <a:gd name="T7" fmla="*/ 9 h 158"/>
                      <a:gd name="T8" fmla="*/ 116 w 126"/>
                      <a:gd name="T9" fmla="*/ 86 h 158"/>
                      <a:gd name="T10" fmla="*/ 82 w 126"/>
                      <a:gd name="T11" fmla="*/ 149 h 158"/>
                      <a:gd name="T12" fmla="*/ 0 w 126"/>
                      <a:gd name="T13" fmla="*/ 149 h 158"/>
                      <a:gd name="T14" fmla="*/ 0 w 126"/>
                      <a:gd name="T15" fmla="*/ 158 h 158"/>
                      <a:gd name="T16" fmla="*/ 5 w 126"/>
                      <a:gd name="T17" fmla="*/ 158 h 158"/>
                      <a:gd name="T18" fmla="*/ 87 w 126"/>
                      <a:gd name="T19" fmla="*/ 158 h 158"/>
                      <a:gd name="T20" fmla="*/ 92 w 126"/>
                      <a:gd name="T21" fmla="*/ 158 h 158"/>
                      <a:gd name="T22" fmla="*/ 92 w 126"/>
                      <a:gd name="T23" fmla="*/ 154 h 158"/>
                      <a:gd name="T24" fmla="*/ 126 w 126"/>
                      <a:gd name="T25" fmla="*/ 86 h 158"/>
                      <a:gd name="T26" fmla="*/ 126 w 126"/>
                      <a:gd name="T27" fmla="*/ 0 h 158"/>
                      <a:gd name="T28" fmla="*/ 121 w 126"/>
                      <a:gd name="T29" fmla="*/ 0 h 158"/>
                      <a:gd name="T30" fmla="*/ 34 w 126"/>
                      <a:gd name="T31"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58">
                        <a:moveTo>
                          <a:pt x="34" y="0"/>
                        </a:moveTo>
                        <a:lnTo>
                          <a:pt x="29" y="0"/>
                        </a:lnTo>
                        <a:lnTo>
                          <a:pt x="29" y="9"/>
                        </a:lnTo>
                        <a:lnTo>
                          <a:pt x="116" y="9"/>
                        </a:lnTo>
                        <a:lnTo>
                          <a:pt x="116" y="86"/>
                        </a:lnTo>
                        <a:lnTo>
                          <a:pt x="82" y="149"/>
                        </a:lnTo>
                        <a:lnTo>
                          <a:pt x="0" y="149"/>
                        </a:lnTo>
                        <a:lnTo>
                          <a:pt x="0" y="158"/>
                        </a:lnTo>
                        <a:lnTo>
                          <a:pt x="5" y="158"/>
                        </a:lnTo>
                        <a:lnTo>
                          <a:pt x="87" y="158"/>
                        </a:lnTo>
                        <a:lnTo>
                          <a:pt x="92" y="158"/>
                        </a:lnTo>
                        <a:lnTo>
                          <a:pt x="92" y="154"/>
                        </a:lnTo>
                        <a:lnTo>
                          <a:pt x="126" y="86"/>
                        </a:lnTo>
                        <a:lnTo>
                          <a:pt x="126" y="0"/>
                        </a:lnTo>
                        <a:lnTo>
                          <a:pt x="121" y="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pic>
                <p:nvPicPr>
                  <p:cNvPr id="137372" name="Picture 15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05" y="372"/>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73" name="Picture 15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68" y="367"/>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74" name="Picture 15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168" y="671"/>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75" name="Picture 15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82" y="681"/>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76" name="Picture 16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05" y="1056"/>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77" name="Picture 16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91" y="1441"/>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78" name="Picture 16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177" y="1422"/>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79" name="Picture 16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49" y="1028"/>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0" name="Picture 16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561" y="1028"/>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1" name="Picture 16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575" y="368"/>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2" name="Picture 16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008" y="372"/>
                    <a:ext cx="100"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3" name="Picture 16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017" y="1038"/>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4" name="Picture 16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94" y="1423"/>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5" name="Picture 16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81" y="1423"/>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6" name="Picture 17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94" y="667"/>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7" name="Picture 17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89" y="667"/>
                    <a:ext cx="101" cy="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388" name="Picture 17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29" y="527"/>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778" name="Line 562"/>
                  <p:cNvSpPr>
                    <a:spLocks noChangeShapeType="1"/>
                  </p:cNvSpPr>
                  <p:nvPr/>
                </p:nvSpPr>
                <p:spPr bwMode="auto">
                  <a:xfrm>
                    <a:off x="3408" y="768"/>
                    <a:ext cx="0" cy="240"/>
                  </a:xfrm>
                  <a:prstGeom prst="line">
                    <a:avLst/>
                  </a:prstGeom>
                  <a:noFill/>
                  <a:ln w="127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37950" name="Picture 73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694" y="1253"/>
                    <a:ext cx="101"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7389"/>
                                        </p:tgtEl>
                                        <p:attrNameLst>
                                          <p:attrName>style.visibility</p:attrName>
                                        </p:attrNameLst>
                                      </p:cBhvr>
                                      <p:to>
                                        <p:strVal val="visible"/>
                                      </p:to>
                                    </p:set>
                                    <p:anim calcmode="lin" valueType="num">
                                      <p:cBhvr additive="base">
                                        <p:cTn id="7" dur="1000" fill="hold"/>
                                        <p:tgtEl>
                                          <p:spTgt spid="137389"/>
                                        </p:tgtEl>
                                        <p:attrNameLst>
                                          <p:attrName>ppt_x</p:attrName>
                                        </p:attrNameLst>
                                      </p:cBhvr>
                                      <p:tavLst>
                                        <p:tav tm="0">
                                          <p:val>
                                            <p:strVal val="0-#ppt_w/2"/>
                                          </p:val>
                                        </p:tav>
                                        <p:tav tm="100000">
                                          <p:val>
                                            <p:strVal val="#ppt_x"/>
                                          </p:val>
                                        </p:tav>
                                      </p:tavLst>
                                    </p:anim>
                                    <p:anim calcmode="lin" valueType="num">
                                      <p:cBhvr additive="base">
                                        <p:cTn id="8" dur="1000" fill="hold"/>
                                        <p:tgtEl>
                                          <p:spTgt spid="13738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7954"/>
                                        </p:tgtEl>
                                        <p:attrNameLst>
                                          <p:attrName>style.visibility</p:attrName>
                                        </p:attrNameLst>
                                      </p:cBhvr>
                                      <p:to>
                                        <p:strVal val="visible"/>
                                      </p:to>
                                    </p:set>
                                    <p:anim calcmode="lin" valueType="num">
                                      <p:cBhvr additive="base">
                                        <p:cTn id="13" dur="1000" fill="hold"/>
                                        <p:tgtEl>
                                          <p:spTgt spid="137954"/>
                                        </p:tgtEl>
                                        <p:attrNameLst>
                                          <p:attrName>ppt_x</p:attrName>
                                        </p:attrNameLst>
                                      </p:cBhvr>
                                      <p:tavLst>
                                        <p:tav tm="0">
                                          <p:val>
                                            <p:strVal val="1+#ppt_w/2"/>
                                          </p:val>
                                        </p:tav>
                                        <p:tav tm="100000">
                                          <p:val>
                                            <p:strVal val="#ppt_x"/>
                                          </p:val>
                                        </p:tav>
                                      </p:tavLst>
                                    </p:anim>
                                    <p:anim calcmode="lin" valueType="num">
                                      <p:cBhvr additive="base">
                                        <p:cTn id="14" dur="1000" fill="hold"/>
                                        <p:tgtEl>
                                          <p:spTgt spid="13795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7955"/>
                                        </p:tgtEl>
                                        <p:attrNameLst>
                                          <p:attrName>style.visibility</p:attrName>
                                        </p:attrNameLst>
                                      </p:cBhvr>
                                      <p:to>
                                        <p:strVal val="visible"/>
                                      </p:to>
                                    </p:set>
                                    <p:anim calcmode="lin" valueType="num">
                                      <p:cBhvr additive="base">
                                        <p:cTn id="19" dur="1000" fill="hold"/>
                                        <p:tgtEl>
                                          <p:spTgt spid="137955"/>
                                        </p:tgtEl>
                                        <p:attrNameLst>
                                          <p:attrName>ppt_x</p:attrName>
                                        </p:attrNameLst>
                                      </p:cBhvr>
                                      <p:tavLst>
                                        <p:tav tm="0">
                                          <p:val>
                                            <p:strVal val="#ppt_x"/>
                                          </p:val>
                                        </p:tav>
                                        <p:tav tm="100000">
                                          <p:val>
                                            <p:strVal val="#ppt_x"/>
                                          </p:val>
                                        </p:tav>
                                      </p:tavLst>
                                    </p:anim>
                                    <p:anim calcmode="lin" valueType="num">
                                      <p:cBhvr additive="base">
                                        <p:cTn id="20" dur="1000" fill="hold"/>
                                        <p:tgtEl>
                                          <p:spTgt spid="1379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8242" name="Line 2"/>
          <p:cNvSpPr>
            <a:spLocks noChangeShapeType="1"/>
          </p:cNvSpPr>
          <p:nvPr/>
        </p:nvSpPr>
        <p:spPr bwMode="auto">
          <a:xfrm>
            <a:off x="792163" y="3838575"/>
            <a:ext cx="777716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8243" name="Line 3"/>
          <p:cNvSpPr>
            <a:spLocks noChangeShapeType="1"/>
          </p:cNvSpPr>
          <p:nvPr/>
        </p:nvSpPr>
        <p:spPr bwMode="auto">
          <a:xfrm flipV="1">
            <a:off x="4222750" y="188913"/>
            <a:ext cx="0" cy="36480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39254" name="Group 1014"/>
          <p:cNvGrpSpPr/>
          <p:nvPr/>
        </p:nvGrpSpPr>
        <p:grpSpPr bwMode="auto">
          <a:xfrm>
            <a:off x="1500188" y="3840162"/>
            <a:ext cx="6013450" cy="2901949"/>
            <a:chOff x="945" y="2419"/>
            <a:chExt cx="3788" cy="1828"/>
          </a:xfrm>
        </p:grpSpPr>
        <p:grpSp>
          <p:nvGrpSpPr>
            <p:cNvPr id="138402" name="Group 162"/>
            <p:cNvGrpSpPr/>
            <p:nvPr/>
          </p:nvGrpSpPr>
          <p:grpSpPr bwMode="auto">
            <a:xfrm>
              <a:off x="945" y="2419"/>
              <a:ext cx="3788" cy="1828"/>
              <a:chOff x="945" y="2419"/>
              <a:chExt cx="3788" cy="1828"/>
            </a:xfrm>
          </p:grpSpPr>
          <p:sp>
            <p:nvSpPr>
              <p:cNvPr id="138403" name="Freeform 163"/>
              <p:cNvSpPr/>
              <p:nvPr/>
            </p:nvSpPr>
            <p:spPr bwMode="auto">
              <a:xfrm>
                <a:off x="1172" y="2715"/>
                <a:ext cx="999" cy="876"/>
              </a:xfrm>
              <a:custGeom>
                <a:avLst/>
                <a:gdLst>
                  <a:gd name="T0" fmla="*/ 361 w 999"/>
                  <a:gd name="T1" fmla="*/ 0 h 876"/>
                  <a:gd name="T2" fmla="*/ 7 w 999"/>
                  <a:gd name="T3" fmla="*/ 200 h 876"/>
                  <a:gd name="T4" fmla="*/ 0 w 999"/>
                  <a:gd name="T5" fmla="*/ 872 h 876"/>
                  <a:gd name="T6" fmla="*/ 668 w 999"/>
                  <a:gd name="T7" fmla="*/ 876 h 876"/>
                  <a:gd name="T8" fmla="*/ 999 w 999"/>
                  <a:gd name="T9" fmla="*/ 615 h 876"/>
                  <a:gd name="T10" fmla="*/ 999 w 999"/>
                  <a:gd name="T11" fmla="*/ 0 h 876"/>
                  <a:gd name="T12" fmla="*/ 361 w 999"/>
                  <a:gd name="T13" fmla="*/ 0 h 876"/>
                </a:gdLst>
                <a:ahLst/>
                <a:cxnLst>
                  <a:cxn ang="0">
                    <a:pos x="T0" y="T1"/>
                  </a:cxn>
                  <a:cxn ang="0">
                    <a:pos x="T2" y="T3"/>
                  </a:cxn>
                  <a:cxn ang="0">
                    <a:pos x="T4" y="T5"/>
                  </a:cxn>
                  <a:cxn ang="0">
                    <a:pos x="T6" y="T7"/>
                  </a:cxn>
                  <a:cxn ang="0">
                    <a:pos x="T8" y="T9"/>
                  </a:cxn>
                  <a:cxn ang="0">
                    <a:pos x="T10" y="T11"/>
                  </a:cxn>
                  <a:cxn ang="0">
                    <a:pos x="T12" y="T13"/>
                  </a:cxn>
                </a:cxnLst>
                <a:rect l="0" t="0" r="r" b="b"/>
                <a:pathLst>
                  <a:path w="999" h="876">
                    <a:moveTo>
                      <a:pt x="361" y="0"/>
                    </a:moveTo>
                    <a:lnTo>
                      <a:pt x="7" y="200"/>
                    </a:lnTo>
                    <a:lnTo>
                      <a:pt x="0" y="872"/>
                    </a:lnTo>
                    <a:lnTo>
                      <a:pt x="668" y="876"/>
                    </a:lnTo>
                    <a:lnTo>
                      <a:pt x="999" y="615"/>
                    </a:lnTo>
                    <a:lnTo>
                      <a:pt x="999" y="0"/>
                    </a:lnTo>
                    <a:lnTo>
                      <a:pt x="361" y="0"/>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04" name="Rectangle 164"/>
              <p:cNvSpPr>
                <a:spLocks noChangeArrowheads="1"/>
              </p:cNvSpPr>
              <p:nvPr/>
            </p:nvSpPr>
            <p:spPr bwMode="auto">
              <a:xfrm>
                <a:off x="2155"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05" name="Rectangle 165"/>
              <p:cNvSpPr>
                <a:spLocks noChangeArrowheads="1"/>
              </p:cNvSpPr>
              <p:nvPr/>
            </p:nvSpPr>
            <p:spPr bwMode="auto">
              <a:xfrm>
                <a:off x="2125"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06" name="Rectangle 166"/>
              <p:cNvSpPr>
                <a:spLocks noChangeArrowheads="1"/>
              </p:cNvSpPr>
              <p:nvPr/>
            </p:nvSpPr>
            <p:spPr bwMode="auto">
              <a:xfrm>
                <a:off x="2094"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07" name="Rectangle 167"/>
              <p:cNvSpPr>
                <a:spLocks noChangeArrowheads="1"/>
              </p:cNvSpPr>
              <p:nvPr/>
            </p:nvSpPr>
            <p:spPr bwMode="auto">
              <a:xfrm>
                <a:off x="2063"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08" name="Rectangle 168"/>
              <p:cNvSpPr>
                <a:spLocks noChangeArrowheads="1"/>
              </p:cNvSpPr>
              <p:nvPr/>
            </p:nvSpPr>
            <p:spPr bwMode="auto">
              <a:xfrm>
                <a:off x="2032"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09" name="Rectangle 169"/>
              <p:cNvSpPr>
                <a:spLocks noChangeArrowheads="1"/>
              </p:cNvSpPr>
              <p:nvPr/>
            </p:nvSpPr>
            <p:spPr bwMode="auto">
              <a:xfrm>
                <a:off x="2002"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0" name="Rectangle 170"/>
              <p:cNvSpPr>
                <a:spLocks noChangeArrowheads="1"/>
              </p:cNvSpPr>
              <p:nvPr/>
            </p:nvSpPr>
            <p:spPr bwMode="auto">
              <a:xfrm>
                <a:off x="1971"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1" name="Rectangle 171"/>
              <p:cNvSpPr>
                <a:spLocks noChangeArrowheads="1"/>
              </p:cNvSpPr>
              <p:nvPr/>
            </p:nvSpPr>
            <p:spPr bwMode="auto">
              <a:xfrm>
                <a:off x="1940"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2" name="Rectangle 172"/>
              <p:cNvSpPr>
                <a:spLocks noChangeArrowheads="1"/>
              </p:cNvSpPr>
              <p:nvPr/>
            </p:nvSpPr>
            <p:spPr bwMode="auto">
              <a:xfrm>
                <a:off x="1909"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3" name="Rectangle 173"/>
              <p:cNvSpPr>
                <a:spLocks noChangeArrowheads="1"/>
              </p:cNvSpPr>
              <p:nvPr/>
            </p:nvSpPr>
            <p:spPr bwMode="auto">
              <a:xfrm>
                <a:off x="1879"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4" name="Rectangle 174"/>
              <p:cNvSpPr>
                <a:spLocks noChangeArrowheads="1"/>
              </p:cNvSpPr>
              <p:nvPr/>
            </p:nvSpPr>
            <p:spPr bwMode="auto">
              <a:xfrm>
                <a:off x="1848"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5" name="Rectangle 175"/>
              <p:cNvSpPr>
                <a:spLocks noChangeArrowheads="1"/>
              </p:cNvSpPr>
              <p:nvPr/>
            </p:nvSpPr>
            <p:spPr bwMode="auto">
              <a:xfrm>
                <a:off x="1817"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6" name="Rectangle 176"/>
              <p:cNvSpPr>
                <a:spLocks noChangeArrowheads="1"/>
              </p:cNvSpPr>
              <p:nvPr/>
            </p:nvSpPr>
            <p:spPr bwMode="auto">
              <a:xfrm>
                <a:off x="1786"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7" name="Rectangle 177"/>
              <p:cNvSpPr>
                <a:spLocks noChangeArrowheads="1"/>
              </p:cNvSpPr>
              <p:nvPr/>
            </p:nvSpPr>
            <p:spPr bwMode="auto">
              <a:xfrm>
                <a:off x="1756"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8" name="Rectangle 178"/>
              <p:cNvSpPr>
                <a:spLocks noChangeArrowheads="1"/>
              </p:cNvSpPr>
              <p:nvPr/>
            </p:nvSpPr>
            <p:spPr bwMode="auto">
              <a:xfrm>
                <a:off x="1725"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19" name="Rectangle 179"/>
              <p:cNvSpPr>
                <a:spLocks noChangeArrowheads="1"/>
              </p:cNvSpPr>
              <p:nvPr/>
            </p:nvSpPr>
            <p:spPr bwMode="auto">
              <a:xfrm>
                <a:off x="1694"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0" name="Rectangle 180"/>
              <p:cNvSpPr>
                <a:spLocks noChangeArrowheads="1"/>
              </p:cNvSpPr>
              <p:nvPr/>
            </p:nvSpPr>
            <p:spPr bwMode="auto">
              <a:xfrm>
                <a:off x="1664"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1" name="Rectangle 181"/>
              <p:cNvSpPr>
                <a:spLocks noChangeArrowheads="1"/>
              </p:cNvSpPr>
              <p:nvPr/>
            </p:nvSpPr>
            <p:spPr bwMode="auto">
              <a:xfrm>
                <a:off x="1633"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2" name="Rectangle 182"/>
              <p:cNvSpPr>
                <a:spLocks noChangeArrowheads="1"/>
              </p:cNvSpPr>
              <p:nvPr/>
            </p:nvSpPr>
            <p:spPr bwMode="auto">
              <a:xfrm>
                <a:off x="1602"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3" name="Rectangle 183"/>
              <p:cNvSpPr>
                <a:spLocks noChangeArrowheads="1"/>
              </p:cNvSpPr>
              <p:nvPr/>
            </p:nvSpPr>
            <p:spPr bwMode="auto">
              <a:xfrm>
                <a:off x="1571" y="3330"/>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4" name="Rectangle 184"/>
              <p:cNvSpPr>
                <a:spLocks noChangeArrowheads="1"/>
              </p:cNvSpPr>
              <p:nvPr/>
            </p:nvSpPr>
            <p:spPr bwMode="auto">
              <a:xfrm>
                <a:off x="1541" y="3330"/>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5" name="Rectangle 185"/>
              <p:cNvSpPr>
                <a:spLocks noChangeArrowheads="1"/>
              </p:cNvSpPr>
              <p:nvPr/>
            </p:nvSpPr>
            <p:spPr bwMode="auto">
              <a:xfrm>
                <a:off x="1525" y="331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6" name="Rectangle 186"/>
              <p:cNvSpPr>
                <a:spLocks noChangeArrowheads="1"/>
              </p:cNvSpPr>
              <p:nvPr/>
            </p:nvSpPr>
            <p:spPr bwMode="auto">
              <a:xfrm>
                <a:off x="1525" y="328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7" name="Rectangle 187"/>
              <p:cNvSpPr>
                <a:spLocks noChangeArrowheads="1"/>
              </p:cNvSpPr>
              <p:nvPr/>
            </p:nvSpPr>
            <p:spPr bwMode="auto">
              <a:xfrm>
                <a:off x="1525" y="325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8" name="Rectangle 188"/>
              <p:cNvSpPr>
                <a:spLocks noChangeArrowheads="1"/>
              </p:cNvSpPr>
              <p:nvPr/>
            </p:nvSpPr>
            <p:spPr bwMode="auto">
              <a:xfrm>
                <a:off x="1525" y="3222"/>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29" name="Rectangle 189"/>
              <p:cNvSpPr>
                <a:spLocks noChangeArrowheads="1"/>
              </p:cNvSpPr>
              <p:nvPr/>
            </p:nvSpPr>
            <p:spPr bwMode="auto">
              <a:xfrm>
                <a:off x="1525" y="319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0" name="Rectangle 190"/>
              <p:cNvSpPr>
                <a:spLocks noChangeArrowheads="1"/>
              </p:cNvSpPr>
              <p:nvPr/>
            </p:nvSpPr>
            <p:spPr bwMode="auto">
              <a:xfrm>
                <a:off x="1525" y="316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1" name="Rectangle 191"/>
              <p:cNvSpPr>
                <a:spLocks noChangeArrowheads="1"/>
              </p:cNvSpPr>
              <p:nvPr/>
            </p:nvSpPr>
            <p:spPr bwMode="auto">
              <a:xfrm>
                <a:off x="1525" y="313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2" name="Rectangle 192"/>
              <p:cNvSpPr>
                <a:spLocks noChangeArrowheads="1"/>
              </p:cNvSpPr>
              <p:nvPr/>
            </p:nvSpPr>
            <p:spPr bwMode="auto">
              <a:xfrm>
                <a:off x="1525" y="309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3" name="Rectangle 193"/>
              <p:cNvSpPr>
                <a:spLocks noChangeArrowheads="1"/>
              </p:cNvSpPr>
              <p:nvPr/>
            </p:nvSpPr>
            <p:spPr bwMode="auto">
              <a:xfrm>
                <a:off x="1525" y="306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4" name="Rectangle 194"/>
              <p:cNvSpPr>
                <a:spLocks noChangeArrowheads="1"/>
              </p:cNvSpPr>
              <p:nvPr/>
            </p:nvSpPr>
            <p:spPr bwMode="auto">
              <a:xfrm>
                <a:off x="1525" y="3038"/>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5" name="Rectangle 195"/>
              <p:cNvSpPr>
                <a:spLocks noChangeArrowheads="1"/>
              </p:cNvSpPr>
              <p:nvPr/>
            </p:nvSpPr>
            <p:spPr bwMode="auto">
              <a:xfrm>
                <a:off x="1525" y="3007"/>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6" name="Rectangle 196"/>
              <p:cNvSpPr>
                <a:spLocks noChangeArrowheads="1"/>
              </p:cNvSpPr>
              <p:nvPr/>
            </p:nvSpPr>
            <p:spPr bwMode="auto">
              <a:xfrm>
                <a:off x="1525" y="297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7" name="Rectangle 197"/>
              <p:cNvSpPr>
                <a:spLocks noChangeArrowheads="1"/>
              </p:cNvSpPr>
              <p:nvPr/>
            </p:nvSpPr>
            <p:spPr bwMode="auto">
              <a:xfrm>
                <a:off x="1525" y="294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8" name="Rectangle 198"/>
              <p:cNvSpPr>
                <a:spLocks noChangeArrowheads="1"/>
              </p:cNvSpPr>
              <p:nvPr/>
            </p:nvSpPr>
            <p:spPr bwMode="auto">
              <a:xfrm>
                <a:off x="1525" y="291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39" name="Rectangle 199"/>
              <p:cNvSpPr>
                <a:spLocks noChangeArrowheads="1"/>
              </p:cNvSpPr>
              <p:nvPr/>
            </p:nvSpPr>
            <p:spPr bwMode="auto">
              <a:xfrm>
                <a:off x="1525" y="288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40" name="Rectangle 200"/>
              <p:cNvSpPr>
                <a:spLocks noChangeArrowheads="1"/>
              </p:cNvSpPr>
              <p:nvPr/>
            </p:nvSpPr>
            <p:spPr bwMode="auto">
              <a:xfrm>
                <a:off x="1525" y="285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41" name="Rectangle 201"/>
              <p:cNvSpPr>
                <a:spLocks noChangeArrowheads="1"/>
              </p:cNvSpPr>
              <p:nvPr/>
            </p:nvSpPr>
            <p:spPr bwMode="auto">
              <a:xfrm>
                <a:off x="1525" y="282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42" name="Rectangle 202"/>
              <p:cNvSpPr>
                <a:spLocks noChangeArrowheads="1"/>
              </p:cNvSpPr>
              <p:nvPr/>
            </p:nvSpPr>
            <p:spPr bwMode="auto">
              <a:xfrm>
                <a:off x="1525" y="279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43" name="Rectangle 203"/>
              <p:cNvSpPr>
                <a:spLocks noChangeArrowheads="1"/>
              </p:cNvSpPr>
              <p:nvPr/>
            </p:nvSpPr>
            <p:spPr bwMode="auto">
              <a:xfrm>
                <a:off x="1525" y="276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44" name="Rectangle 204"/>
              <p:cNvSpPr>
                <a:spLocks noChangeArrowheads="1"/>
              </p:cNvSpPr>
              <p:nvPr/>
            </p:nvSpPr>
            <p:spPr bwMode="auto">
              <a:xfrm>
                <a:off x="1525" y="2730"/>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45" name="Freeform 205"/>
              <p:cNvSpPr/>
              <p:nvPr/>
            </p:nvSpPr>
            <p:spPr bwMode="auto">
              <a:xfrm>
                <a:off x="1514" y="3334"/>
                <a:ext cx="19" cy="15"/>
              </a:xfrm>
              <a:custGeom>
                <a:avLst/>
                <a:gdLst>
                  <a:gd name="T0" fmla="*/ 11 w 19"/>
                  <a:gd name="T1" fmla="*/ 0 h 15"/>
                  <a:gd name="T2" fmla="*/ 0 w 19"/>
                  <a:gd name="T3" fmla="*/ 7 h 15"/>
                  <a:gd name="T4" fmla="*/ 4 w 19"/>
                  <a:gd name="T5" fmla="*/ 15 h 15"/>
                  <a:gd name="T6" fmla="*/ 19 w 19"/>
                  <a:gd name="T7" fmla="*/ 7 h 15"/>
                  <a:gd name="T8" fmla="*/ 11 w 19"/>
                  <a:gd name="T9" fmla="*/ 0 h 15"/>
                </a:gdLst>
                <a:ahLst/>
                <a:cxnLst>
                  <a:cxn ang="0">
                    <a:pos x="T0" y="T1"/>
                  </a:cxn>
                  <a:cxn ang="0">
                    <a:pos x="T2" y="T3"/>
                  </a:cxn>
                  <a:cxn ang="0">
                    <a:pos x="T4" y="T5"/>
                  </a:cxn>
                  <a:cxn ang="0">
                    <a:pos x="T6" y="T7"/>
                  </a:cxn>
                  <a:cxn ang="0">
                    <a:pos x="T8" y="T9"/>
                  </a:cxn>
                </a:cxnLst>
                <a:rect l="0" t="0" r="r" b="b"/>
                <a:pathLst>
                  <a:path w="19" h="15">
                    <a:moveTo>
                      <a:pt x="11" y="0"/>
                    </a:moveTo>
                    <a:lnTo>
                      <a:pt x="0" y="7"/>
                    </a:lnTo>
                    <a:lnTo>
                      <a:pt x="4" y="15"/>
                    </a:lnTo>
                    <a:lnTo>
                      <a:pt x="19"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46" name="Freeform 206"/>
              <p:cNvSpPr/>
              <p:nvPr/>
            </p:nvSpPr>
            <p:spPr bwMode="auto">
              <a:xfrm>
                <a:off x="1491" y="3353"/>
                <a:ext cx="15" cy="15"/>
              </a:xfrm>
              <a:custGeom>
                <a:avLst/>
                <a:gdLst>
                  <a:gd name="T0" fmla="*/ 11 w 15"/>
                  <a:gd name="T1" fmla="*/ 0 h 15"/>
                  <a:gd name="T2" fmla="*/ 0 w 15"/>
                  <a:gd name="T3" fmla="*/ 8 h 15"/>
                  <a:gd name="T4" fmla="*/ 3 w 15"/>
                  <a:gd name="T5" fmla="*/ 15 h 15"/>
                  <a:gd name="T6" fmla="*/ 15 w 15"/>
                  <a:gd name="T7" fmla="*/ 4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3" y="15"/>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47" name="Freeform 207"/>
              <p:cNvSpPr/>
              <p:nvPr/>
            </p:nvSpPr>
            <p:spPr bwMode="auto">
              <a:xfrm>
                <a:off x="1464" y="3368"/>
                <a:ext cx="19" cy="16"/>
              </a:xfrm>
              <a:custGeom>
                <a:avLst/>
                <a:gdLst>
                  <a:gd name="T0" fmla="*/ 11 w 19"/>
                  <a:gd name="T1" fmla="*/ 0 h 16"/>
                  <a:gd name="T2" fmla="*/ 0 w 19"/>
                  <a:gd name="T3" fmla="*/ 12 h 16"/>
                  <a:gd name="T4" fmla="*/ 4 w 19"/>
                  <a:gd name="T5" fmla="*/ 16 h 16"/>
                  <a:gd name="T6" fmla="*/ 19 w 19"/>
                  <a:gd name="T7" fmla="*/ 8 h 16"/>
                  <a:gd name="T8" fmla="*/ 11 w 19"/>
                  <a:gd name="T9" fmla="*/ 0 h 16"/>
                </a:gdLst>
                <a:ahLst/>
                <a:cxnLst>
                  <a:cxn ang="0">
                    <a:pos x="T0" y="T1"/>
                  </a:cxn>
                  <a:cxn ang="0">
                    <a:pos x="T2" y="T3"/>
                  </a:cxn>
                  <a:cxn ang="0">
                    <a:pos x="T4" y="T5"/>
                  </a:cxn>
                  <a:cxn ang="0">
                    <a:pos x="T6" y="T7"/>
                  </a:cxn>
                  <a:cxn ang="0">
                    <a:pos x="T8" y="T9"/>
                  </a:cxn>
                </a:cxnLst>
                <a:rect l="0" t="0" r="r" b="b"/>
                <a:pathLst>
                  <a:path w="19" h="16">
                    <a:moveTo>
                      <a:pt x="11" y="0"/>
                    </a:moveTo>
                    <a:lnTo>
                      <a:pt x="0" y="12"/>
                    </a:lnTo>
                    <a:lnTo>
                      <a:pt x="4" y="16"/>
                    </a:lnTo>
                    <a:lnTo>
                      <a:pt x="19"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48" name="Freeform 208"/>
              <p:cNvSpPr/>
              <p:nvPr/>
            </p:nvSpPr>
            <p:spPr bwMode="auto">
              <a:xfrm>
                <a:off x="1441" y="3387"/>
                <a:ext cx="15" cy="16"/>
              </a:xfrm>
              <a:custGeom>
                <a:avLst/>
                <a:gdLst>
                  <a:gd name="T0" fmla="*/ 11 w 15"/>
                  <a:gd name="T1" fmla="*/ 0 h 16"/>
                  <a:gd name="T2" fmla="*/ 0 w 15"/>
                  <a:gd name="T3" fmla="*/ 8 h 16"/>
                  <a:gd name="T4" fmla="*/ 4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4"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49" name="Freeform 209"/>
              <p:cNvSpPr/>
              <p:nvPr/>
            </p:nvSpPr>
            <p:spPr bwMode="auto">
              <a:xfrm>
                <a:off x="1414" y="3407"/>
                <a:ext cx="15" cy="15"/>
              </a:xfrm>
              <a:custGeom>
                <a:avLst/>
                <a:gdLst>
                  <a:gd name="T0" fmla="*/ 11 w 15"/>
                  <a:gd name="T1" fmla="*/ 0 h 15"/>
                  <a:gd name="T2" fmla="*/ 0 w 15"/>
                  <a:gd name="T3" fmla="*/ 7 h 15"/>
                  <a:gd name="T4" fmla="*/ 4 w 15"/>
                  <a:gd name="T5" fmla="*/ 15 h 15"/>
                  <a:gd name="T6" fmla="*/ 15 w 15"/>
                  <a:gd name="T7" fmla="*/ 3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7"/>
                    </a:lnTo>
                    <a:lnTo>
                      <a:pt x="4" y="15"/>
                    </a:lnTo>
                    <a:lnTo>
                      <a:pt x="15" y="3"/>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0" name="Freeform 210"/>
              <p:cNvSpPr/>
              <p:nvPr/>
            </p:nvSpPr>
            <p:spPr bwMode="auto">
              <a:xfrm>
                <a:off x="1391" y="3422"/>
                <a:ext cx="15" cy="15"/>
              </a:xfrm>
              <a:custGeom>
                <a:avLst/>
                <a:gdLst>
                  <a:gd name="T0" fmla="*/ 11 w 15"/>
                  <a:gd name="T1" fmla="*/ 0 h 15"/>
                  <a:gd name="T2" fmla="*/ 0 w 15"/>
                  <a:gd name="T3" fmla="*/ 12 h 15"/>
                  <a:gd name="T4" fmla="*/ 4 w 15"/>
                  <a:gd name="T5" fmla="*/ 15 h 15"/>
                  <a:gd name="T6" fmla="*/ 15 w 15"/>
                  <a:gd name="T7" fmla="*/ 8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12"/>
                    </a:lnTo>
                    <a:lnTo>
                      <a:pt x="4" y="15"/>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1" name="Freeform 211"/>
              <p:cNvSpPr/>
              <p:nvPr/>
            </p:nvSpPr>
            <p:spPr bwMode="auto">
              <a:xfrm>
                <a:off x="1364" y="3441"/>
                <a:ext cx="15" cy="16"/>
              </a:xfrm>
              <a:custGeom>
                <a:avLst/>
                <a:gdLst>
                  <a:gd name="T0" fmla="*/ 11 w 15"/>
                  <a:gd name="T1" fmla="*/ 0 h 16"/>
                  <a:gd name="T2" fmla="*/ 0 w 15"/>
                  <a:gd name="T3" fmla="*/ 8 h 16"/>
                  <a:gd name="T4" fmla="*/ 4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4"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2" name="Freeform 212"/>
              <p:cNvSpPr/>
              <p:nvPr/>
            </p:nvSpPr>
            <p:spPr bwMode="auto">
              <a:xfrm>
                <a:off x="1337" y="3460"/>
                <a:ext cx="19" cy="12"/>
              </a:xfrm>
              <a:custGeom>
                <a:avLst/>
                <a:gdLst>
                  <a:gd name="T0" fmla="*/ 15 w 19"/>
                  <a:gd name="T1" fmla="*/ 0 h 12"/>
                  <a:gd name="T2" fmla="*/ 0 w 19"/>
                  <a:gd name="T3" fmla="*/ 8 h 12"/>
                  <a:gd name="T4" fmla="*/ 8 w 19"/>
                  <a:gd name="T5" fmla="*/ 12 h 12"/>
                  <a:gd name="T6" fmla="*/ 19 w 19"/>
                  <a:gd name="T7" fmla="*/ 4 h 12"/>
                  <a:gd name="T8" fmla="*/ 15 w 19"/>
                  <a:gd name="T9" fmla="*/ 0 h 12"/>
                </a:gdLst>
                <a:ahLst/>
                <a:cxnLst>
                  <a:cxn ang="0">
                    <a:pos x="T0" y="T1"/>
                  </a:cxn>
                  <a:cxn ang="0">
                    <a:pos x="T2" y="T3"/>
                  </a:cxn>
                  <a:cxn ang="0">
                    <a:pos x="T4" y="T5"/>
                  </a:cxn>
                  <a:cxn ang="0">
                    <a:pos x="T6" y="T7"/>
                  </a:cxn>
                  <a:cxn ang="0">
                    <a:pos x="T8" y="T9"/>
                  </a:cxn>
                </a:cxnLst>
                <a:rect l="0" t="0" r="r" b="b"/>
                <a:pathLst>
                  <a:path w="19" h="12">
                    <a:moveTo>
                      <a:pt x="15" y="0"/>
                    </a:moveTo>
                    <a:lnTo>
                      <a:pt x="0" y="8"/>
                    </a:lnTo>
                    <a:lnTo>
                      <a:pt x="8" y="12"/>
                    </a:lnTo>
                    <a:lnTo>
                      <a:pt x="19" y="4"/>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3" name="Freeform 213"/>
              <p:cNvSpPr/>
              <p:nvPr/>
            </p:nvSpPr>
            <p:spPr bwMode="auto">
              <a:xfrm>
                <a:off x="1314" y="3476"/>
                <a:ext cx="15" cy="15"/>
              </a:xfrm>
              <a:custGeom>
                <a:avLst/>
                <a:gdLst>
                  <a:gd name="T0" fmla="*/ 11 w 15"/>
                  <a:gd name="T1" fmla="*/ 0 h 15"/>
                  <a:gd name="T2" fmla="*/ 0 w 15"/>
                  <a:gd name="T3" fmla="*/ 7 h 15"/>
                  <a:gd name="T4" fmla="*/ 4 w 15"/>
                  <a:gd name="T5" fmla="*/ 15 h 15"/>
                  <a:gd name="T6" fmla="*/ 15 w 15"/>
                  <a:gd name="T7" fmla="*/ 7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7"/>
                    </a:lnTo>
                    <a:lnTo>
                      <a:pt x="4" y="15"/>
                    </a:lnTo>
                    <a:lnTo>
                      <a:pt x="15"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4" name="Freeform 214"/>
              <p:cNvSpPr/>
              <p:nvPr/>
            </p:nvSpPr>
            <p:spPr bwMode="auto">
              <a:xfrm>
                <a:off x="1287" y="3495"/>
                <a:ext cx="19" cy="15"/>
              </a:xfrm>
              <a:custGeom>
                <a:avLst/>
                <a:gdLst>
                  <a:gd name="T0" fmla="*/ 15 w 19"/>
                  <a:gd name="T1" fmla="*/ 0 h 15"/>
                  <a:gd name="T2" fmla="*/ 0 w 19"/>
                  <a:gd name="T3" fmla="*/ 8 h 15"/>
                  <a:gd name="T4" fmla="*/ 8 w 19"/>
                  <a:gd name="T5" fmla="*/ 15 h 15"/>
                  <a:gd name="T6" fmla="*/ 19 w 19"/>
                  <a:gd name="T7" fmla="*/ 4 h 15"/>
                  <a:gd name="T8" fmla="*/ 15 w 19"/>
                  <a:gd name="T9" fmla="*/ 0 h 15"/>
                </a:gdLst>
                <a:ahLst/>
                <a:cxnLst>
                  <a:cxn ang="0">
                    <a:pos x="T0" y="T1"/>
                  </a:cxn>
                  <a:cxn ang="0">
                    <a:pos x="T2" y="T3"/>
                  </a:cxn>
                  <a:cxn ang="0">
                    <a:pos x="T4" y="T5"/>
                  </a:cxn>
                  <a:cxn ang="0">
                    <a:pos x="T6" y="T7"/>
                  </a:cxn>
                  <a:cxn ang="0">
                    <a:pos x="T8" y="T9"/>
                  </a:cxn>
                </a:cxnLst>
                <a:rect l="0" t="0" r="r" b="b"/>
                <a:pathLst>
                  <a:path w="19" h="15">
                    <a:moveTo>
                      <a:pt x="15" y="0"/>
                    </a:moveTo>
                    <a:lnTo>
                      <a:pt x="0" y="8"/>
                    </a:lnTo>
                    <a:lnTo>
                      <a:pt x="8" y="15"/>
                    </a:lnTo>
                    <a:lnTo>
                      <a:pt x="19" y="4"/>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5" name="Freeform 215"/>
              <p:cNvSpPr/>
              <p:nvPr/>
            </p:nvSpPr>
            <p:spPr bwMode="auto">
              <a:xfrm>
                <a:off x="1264" y="3510"/>
                <a:ext cx="15" cy="16"/>
              </a:xfrm>
              <a:custGeom>
                <a:avLst/>
                <a:gdLst>
                  <a:gd name="T0" fmla="*/ 11 w 15"/>
                  <a:gd name="T1" fmla="*/ 0 h 16"/>
                  <a:gd name="T2" fmla="*/ 0 w 15"/>
                  <a:gd name="T3" fmla="*/ 12 h 16"/>
                  <a:gd name="T4" fmla="*/ 4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12"/>
                    </a:lnTo>
                    <a:lnTo>
                      <a:pt x="4"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6" name="Freeform 216"/>
              <p:cNvSpPr/>
              <p:nvPr/>
            </p:nvSpPr>
            <p:spPr bwMode="auto">
              <a:xfrm>
                <a:off x="1237" y="3530"/>
                <a:ext cx="19" cy="15"/>
              </a:xfrm>
              <a:custGeom>
                <a:avLst/>
                <a:gdLst>
                  <a:gd name="T0" fmla="*/ 15 w 19"/>
                  <a:gd name="T1" fmla="*/ 0 h 15"/>
                  <a:gd name="T2" fmla="*/ 0 w 19"/>
                  <a:gd name="T3" fmla="*/ 7 h 15"/>
                  <a:gd name="T4" fmla="*/ 4 w 19"/>
                  <a:gd name="T5" fmla="*/ 15 h 15"/>
                  <a:gd name="T6" fmla="*/ 19 w 19"/>
                  <a:gd name="T7" fmla="*/ 7 h 15"/>
                  <a:gd name="T8" fmla="*/ 15 w 19"/>
                  <a:gd name="T9" fmla="*/ 0 h 15"/>
                </a:gdLst>
                <a:ahLst/>
                <a:cxnLst>
                  <a:cxn ang="0">
                    <a:pos x="T0" y="T1"/>
                  </a:cxn>
                  <a:cxn ang="0">
                    <a:pos x="T2" y="T3"/>
                  </a:cxn>
                  <a:cxn ang="0">
                    <a:pos x="T4" y="T5"/>
                  </a:cxn>
                  <a:cxn ang="0">
                    <a:pos x="T6" y="T7"/>
                  </a:cxn>
                  <a:cxn ang="0">
                    <a:pos x="T8" y="T9"/>
                  </a:cxn>
                </a:cxnLst>
                <a:rect l="0" t="0" r="r" b="b"/>
                <a:pathLst>
                  <a:path w="19" h="15">
                    <a:moveTo>
                      <a:pt x="15" y="0"/>
                    </a:moveTo>
                    <a:lnTo>
                      <a:pt x="0" y="7"/>
                    </a:lnTo>
                    <a:lnTo>
                      <a:pt x="4" y="15"/>
                    </a:lnTo>
                    <a:lnTo>
                      <a:pt x="19"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7" name="Freeform 217"/>
              <p:cNvSpPr/>
              <p:nvPr/>
            </p:nvSpPr>
            <p:spPr bwMode="auto">
              <a:xfrm>
                <a:off x="1214" y="3549"/>
                <a:ext cx="15" cy="15"/>
              </a:xfrm>
              <a:custGeom>
                <a:avLst/>
                <a:gdLst>
                  <a:gd name="T0" fmla="*/ 11 w 15"/>
                  <a:gd name="T1" fmla="*/ 0 h 15"/>
                  <a:gd name="T2" fmla="*/ 0 w 15"/>
                  <a:gd name="T3" fmla="*/ 8 h 15"/>
                  <a:gd name="T4" fmla="*/ 4 w 15"/>
                  <a:gd name="T5" fmla="*/ 15 h 15"/>
                  <a:gd name="T6" fmla="*/ 15 w 15"/>
                  <a:gd name="T7" fmla="*/ 4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4" y="15"/>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8" name="Freeform 218"/>
              <p:cNvSpPr/>
              <p:nvPr/>
            </p:nvSpPr>
            <p:spPr bwMode="auto">
              <a:xfrm>
                <a:off x="1187" y="3564"/>
                <a:ext cx="19" cy="16"/>
              </a:xfrm>
              <a:custGeom>
                <a:avLst/>
                <a:gdLst>
                  <a:gd name="T0" fmla="*/ 15 w 19"/>
                  <a:gd name="T1" fmla="*/ 0 h 16"/>
                  <a:gd name="T2" fmla="*/ 0 w 19"/>
                  <a:gd name="T3" fmla="*/ 12 h 16"/>
                  <a:gd name="T4" fmla="*/ 4 w 19"/>
                  <a:gd name="T5" fmla="*/ 16 h 16"/>
                  <a:gd name="T6" fmla="*/ 19 w 19"/>
                  <a:gd name="T7" fmla="*/ 8 h 16"/>
                  <a:gd name="T8" fmla="*/ 15 w 19"/>
                  <a:gd name="T9" fmla="*/ 0 h 16"/>
                </a:gdLst>
                <a:ahLst/>
                <a:cxnLst>
                  <a:cxn ang="0">
                    <a:pos x="T0" y="T1"/>
                  </a:cxn>
                  <a:cxn ang="0">
                    <a:pos x="T2" y="T3"/>
                  </a:cxn>
                  <a:cxn ang="0">
                    <a:pos x="T4" y="T5"/>
                  </a:cxn>
                  <a:cxn ang="0">
                    <a:pos x="T6" y="T7"/>
                  </a:cxn>
                  <a:cxn ang="0">
                    <a:pos x="T8" y="T9"/>
                  </a:cxn>
                </a:cxnLst>
                <a:rect l="0" t="0" r="r" b="b"/>
                <a:pathLst>
                  <a:path w="19" h="16">
                    <a:moveTo>
                      <a:pt x="15" y="0"/>
                    </a:moveTo>
                    <a:lnTo>
                      <a:pt x="0" y="12"/>
                    </a:lnTo>
                    <a:lnTo>
                      <a:pt x="4" y="16"/>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59" name="Freeform 219"/>
              <p:cNvSpPr/>
              <p:nvPr/>
            </p:nvSpPr>
            <p:spPr bwMode="auto">
              <a:xfrm>
                <a:off x="1172" y="2711"/>
                <a:ext cx="1010" cy="619"/>
              </a:xfrm>
              <a:custGeom>
                <a:avLst/>
                <a:gdLst>
                  <a:gd name="T0" fmla="*/ 1003 w 1010"/>
                  <a:gd name="T1" fmla="*/ 619 h 619"/>
                  <a:gd name="T2" fmla="*/ 1010 w 1010"/>
                  <a:gd name="T3" fmla="*/ 8 h 619"/>
                  <a:gd name="T4" fmla="*/ 1010 w 1010"/>
                  <a:gd name="T5" fmla="*/ 4 h 619"/>
                  <a:gd name="T6" fmla="*/ 1003 w 1010"/>
                  <a:gd name="T7" fmla="*/ 4 h 619"/>
                  <a:gd name="T8" fmla="*/ 676 w 1010"/>
                  <a:gd name="T9" fmla="*/ 215 h 619"/>
                  <a:gd name="T10" fmla="*/ 19 w 1010"/>
                  <a:gd name="T11" fmla="*/ 208 h 619"/>
                  <a:gd name="T12" fmla="*/ 357 w 1010"/>
                  <a:gd name="T13" fmla="*/ 8 h 619"/>
                  <a:gd name="T14" fmla="*/ 999 w 1010"/>
                  <a:gd name="T15" fmla="*/ 8 h 619"/>
                  <a:gd name="T16" fmla="*/ 999 w 1010"/>
                  <a:gd name="T17" fmla="*/ 0 h 619"/>
                  <a:gd name="T18" fmla="*/ 353 w 1010"/>
                  <a:gd name="T19" fmla="*/ 0 h 619"/>
                  <a:gd name="T20" fmla="*/ 0 w 1010"/>
                  <a:gd name="T21" fmla="*/ 208 h 619"/>
                  <a:gd name="T22" fmla="*/ 0 w 1010"/>
                  <a:gd name="T23" fmla="*/ 215 h 619"/>
                  <a:gd name="T24" fmla="*/ 4 w 1010"/>
                  <a:gd name="T25" fmla="*/ 215 h 619"/>
                  <a:gd name="T26" fmla="*/ 676 w 1010"/>
                  <a:gd name="T27" fmla="*/ 223 h 619"/>
                  <a:gd name="T28" fmla="*/ 680 w 1010"/>
                  <a:gd name="T29" fmla="*/ 223 h 619"/>
                  <a:gd name="T30" fmla="*/ 1003 w 1010"/>
                  <a:gd name="T31" fmla="*/ 15 h 619"/>
                  <a:gd name="T32" fmla="*/ 995 w 1010"/>
                  <a:gd name="T33" fmla="*/ 619 h 619"/>
                  <a:gd name="T34" fmla="*/ 1003 w 1010"/>
                  <a:gd name="T35"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0" h="619">
                    <a:moveTo>
                      <a:pt x="1003" y="619"/>
                    </a:moveTo>
                    <a:lnTo>
                      <a:pt x="1010" y="8"/>
                    </a:lnTo>
                    <a:lnTo>
                      <a:pt x="1010" y="4"/>
                    </a:lnTo>
                    <a:lnTo>
                      <a:pt x="1003" y="4"/>
                    </a:lnTo>
                    <a:lnTo>
                      <a:pt x="676" y="215"/>
                    </a:lnTo>
                    <a:lnTo>
                      <a:pt x="19" y="208"/>
                    </a:lnTo>
                    <a:lnTo>
                      <a:pt x="357" y="8"/>
                    </a:lnTo>
                    <a:lnTo>
                      <a:pt x="999" y="8"/>
                    </a:lnTo>
                    <a:lnTo>
                      <a:pt x="999" y="0"/>
                    </a:lnTo>
                    <a:lnTo>
                      <a:pt x="353" y="0"/>
                    </a:lnTo>
                    <a:lnTo>
                      <a:pt x="0" y="208"/>
                    </a:lnTo>
                    <a:lnTo>
                      <a:pt x="0" y="215"/>
                    </a:lnTo>
                    <a:lnTo>
                      <a:pt x="4" y="215"/>
                    </a:lnTo>
                    <a:lnTo>
                      <a:pt x="676" y="223"/>
                    </a:lnTo>
                    <a:lnTo>
                      <a:pt x="680" y="223"/>
                    </a:lnTo>
                    <a:lnTo>
                      <a:pt x="1003" y="15"/>
                    </a:lnTo>
                    <a:lnTo>
                      <a:pt x="995" y="619"/>
                    </a:lnTo>
                    <a:lnTo>
                      <a:pt x="1003" y="6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0" name="Freeform 220"/>
              <p:cNvSpPr/>
              <p:nvPr/>
            </p:nvSpPr>
            <p:spPr bwMode="auto">
              <a:xfrm>
                <a:off x="1172" y="2926"/>
                <a:ext cx="999" cy="669"/>
              </a:xfrm>
              <a:custGeom>
                <a:avLst/>
                <a:gdLst>
                  <a:gd name="T0" fmla="*/ 0 w 999"/>
                  <a:gd name="T1" fmla="*/ 0 h 669"/>
                  <a:gd name="T2" fmla="*/ 0 w 999"/>
                  <a:gd name="T3" fmla="*/ 665 h 669"/>
                  <a:gd name="T4" fmla="*/ 668 w 999"/>
                  <a:gd name="T5" fmla="*/ 669 h 669"/>
                  <a:gd name="T6" fmla="*/ 999 w 999"/>
                  <a:gd name="T7" fmla="*/ 415 h 669"/>
                  <a:gd name="T8" fmla="*/ 991 w 999"/>
                  <a:gd name="T9" fmla="*/ 408 h 669"/>
                  <a:gd name="T10" fmla="*/ 668 w 999"/>
                  <a:gd name="T11" fmla="*/ 661 h 669"/>
                  <a:gd name="T12" fmla="*/ 7 w 999"/>
                  <a:gd name="T13" fmla="*/ 657 h 669"/>
                  <a:gd name="T14" fmla="*/ 7 w 999"/>
                  <a:gd name="T15" fmla="*/ 0 h 669"/>
                  <a:gd name="T16" fmla="*/ 0 w 999"/>
                  <a:gd name="T17" fmla="*/ 0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9" h="669">
                    <a:moveTo>
                      <a:pt x="0" y="0"/>
                    </a:moveTo>
                    <a:lnTo>
                      <a:pt x="0" y="665"/>
                    </a:lnTo>
                    <a:lnTo>
                      <a:pt x="668" y="669"/>
                    </a:lnTo>
                    <a:lnTo>
                      <a:pt x="999" y="415"/>
                    </a:lnTo>
                    <a:lnTo>
                      <a:pt x="991" y="408"/>
                    </a:lnTo>
                    <a:lnTo>
                      <a:pt x="668" y="661"/>
                    </a:lnTo>
                    <a:lnTo>
                      <a:pt x="7" y="657"/>
                    </a:lnTo>
                    <a:lnTo>
                      <a:pt x="7"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1" name="Freeform 221"/>
              <p:cNvSpPr/>
              <p:nvPr/>
            </p:nvSpPr>
            <p:spPr bwMode="auto">
              <a:xfrm>
                <a:off x="1836" y="2926"/>
                <a:ext cx="12" cy="665"/>
              </a:xfrm>
              <a:custGeom>
                <a:avLst/>
                <a:gdLst>
                  <a:gd name="T0" fmla="*/ 8 w 12"/>
                  <a:gd name="T1" fmla="*/ 665 h 665"/>
                  <a:gd name="T2" fmla="*/ 12 w 12"/>
                  <a:gd name="T3" fmla="*/ 0 h 665"/>
                  <a:gd name="T4" fmla="*/ 4 w 12"/>
                  <a:gd name="T5" fmla="*/ 0 h 665"/>
                  <a:gd name="T6" fmla="*/ 0 w 12"/>
                  <a:gd name="T7" fmla="*/ 665 h 665"/>
                  <a:gd name="T8" fmla="*/ 8 w 12"/>
                  <a:gd name="T9" fmla="*/ 665 h 665"/>
                </a:gdLst>
                <a:ahLst/>
                <a:cxnLst>
                  <a:cxn ang="0">
                    <a:pos x="T0" y="T1"/>
                  </a:cxn>
                  <a:cxn ang="0">
                    <a:pos x="T2" y="T3"/>
                  </a:cxn>
                  <a:cxn ang="0">
                    <a:pos x="T4" y="T5"/>
                  </a:cxn>
                  <a:cxn ang="0">
                    <a:pos x="T6" y="T7"/>
                  </a:cxn>
                  <a:cxn ang="0">
                    <a:pos x="T8" y="T9"/>
                  </a:cxn>
                </a:cxnLst>
                <a:rect l="0" t="0" r="r" b="b"/>
                <a:pathLst>
                  <a:path w="12" h="665">
                    <a:moveTo>
                      <a:pt x="8" y="665"/>
                    </a:moveTo>
                    <a:lnTo>
                      <a:pt x="12" y="0"/>
                    </a:lnTo>
                    <a:lnTo>
                      <a:pt x="4" y="0"/>
                    </a:lnTo>
                    <a:lnTo>
                      <a:pt x="0" y="665"/>
                    </a:lnTo>
                    <a:lnTo>
                      <a:pt x="8" y="66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2" name="Rectangle 222"/>
              <p:cNvSpPr>
                <a:spLocks noChangeArrowheads="1"/>
              </p:cNvSpPr>
              <p:nvPr/>
            </p:nvSpPr>
            <p:spPr bwMode="auto">
              <a:xfrm>
                <a:off x="1525" y="2500"/>
                <a:ext cx="8" cy="22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63" name="Freeform 223"/>
              <p:cNvSpPr/>
              <p:nvPr/>
            </p:nvSpPr>
            <p:spPr bwMode="auto">
              <a:xfrm>
                <a:off x="1518" y="2500"/>
                <a:ext cx="26" cy="30"/>
              </a:xfrm>
              <a:custGeom>
                <a:avLst/>
                <a:gdLst>
                  <a:gd name="T0" fmla="*/ 0 w 26"/>
                  <a:gd name="T1" fmla="*/ 30 h 30"/>
                  <a:gd name="T2" fmla="*/ 11 w 26"/>
                  <a:gd name="T3" fmla="*/ 0 h 30"/>
                  <a:gd name="T4" fmla="*/ 26 w 26"/>
                  <a:gd name="T5" fmla="*/ 30 h 30"/>
                  <a:gd name="T6" fmla="*/ 11 w 26"/>
                  <a:gd name="T7" fmla="*/ 15 h 30"/>
                  <a:gd name="T8" fmla="*/ 0 w 26"/>
                  <a:gd name="T9" fmla="*/ 30 h 30"/>
                </a:gdLst>
                <a:ahLst/>
                <a:cxnLst>
                  <a:cxn ang="0">
                    <a:pos x="T0" y="T1"/>
                  </a:cxn>
                  <a:cxn ang="0">
                    <a:pos x="T2" y="T3"/>
                  </a:cxn>
                  <a:cxn ang="0">
                    <a:pos x="T4" y="T5"/>
                  </a:cxn>
                  <a:cxn ang="0">
                    <a:pos x="T6" y="T7"/>
                  </a:cxn>
                  <a:cxn ang="0">
                    <a:pos x="T8" y="T9"/>
                  </a:cxn>
                </a:cxnLst>
                <a:rect l="0" t="0" r="r" b="b"/>
                <a:pathLst>
                  <a:path w="26" h="30">
                    <a:moveTo>
                      <a:pt x="0" y="30"/>
                    </a:moveTo>
                    <a:lnTo>
                      <a:pt x="11" y="0"/>
                    </a:lnTo>
                    <a:lnTo>
                      <a:pt x="26" y="30"/>
                    </a:lnTo>
                    <a:lnTo>
                      <a:pt x="11" y="15"/>
                    </a:lnTo>
                    <a:lnTo>
                      <a:pt x="0" y="3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4" name="Freeform 224"/>
              <p:cNvSpPr/>
              <p:nvPr/>
            </p:nvSpPr>
            <p:spPr bwMode="auto">
              <a:xfrm>
                <a:off x="1506" y="2492"/>
                <a:ext cx="54" cy="62"/>
              </a:xfrm>
              <a:custGeom>
                <a:avLst/>
                <a:gdLst>
                  <a:gd name="T0" fmla="*/ 23 w 54"/>
                  <a:gd name="T1" fmla="*/ 15 h 62"/>
                  <a:gd name="T2" fmla="*/ 23 w 54"/>
                  <a:gd name="T3" fmla="*/ 19 h 62"/>
                  <a:gd name="T4" fmla="*/ 23 w 54"/>
                  <a:gd name="T5" fmla="*/ 15 h 62"/>
                  <a:gd name="T6" fmla="*/ 0 w 54"/>
                  <a:gd name="T7" fmla="*/ 62 h 62"/>
                  <a:gd name="T8" fmla="*/ 23 w 54"/>
                  <a:gd name="T9" fmla="*/ 31 h 62"/>
                  <a:gd name="T10" fmla="*/ 54 w 54"/>
                  <a:gd name="T11" fmla="*/ 58 h 62"/>
                  <a:gd name="T12" fmla="*/ 23 w 54"/>
                  <a:gd name="T13" fmla="*/ 0 h 62"/>
                  <a:gd name="T14" fmla="*/ 0 w 54"/>
                  <a:gd name="T15" fmla="*/ 62 h 62"/>
                  <a:gd name="T16" fmla="*/ 23 w 54"/>
                  <a:gd name="T17" fmla="*/ 1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62">
                    <a:moveTo>
                      <a:pt x="23" y="15"/>
                    </a:moveTo>
                    <a:lnTo>
                      <a:pt x="23" y="19"/>
                    </a:lnTo>
                    <a:lnTo>
                      <a:pt x="23" y="15"/>
                    </a:lnTo>
                    <a:lnTo>
                      <a:pt x="0" y="62"/>
                    </a:lnTo>
                    <a:lnTo>
                      <a:pt x="23" y="31"/>
                    </a:lnTo>
                    <a:lnTo>
                      <a:pt x="54" y="58"/>
                    </a:lnTo>
                    <a:lnTo>
                      <a:pt x="23" y="0"/>
                    </a:lnTo>
                    <a:lnTo>
                      <a:pt x="0" y="62"/>
                    </a:lnTo>
                    <a:lnTo>
                      <a:pt x="23" y="1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5" name="Freeform 225"/>
              <p:cNvSpPr/>
              <p:nvPr/>
            </p:nvSpPr>
            <p:spPr bwMode="auto">
              <a:xfrm>
                <a:off x="1060" y="3587"/>
                <a:ext cx="116" cy="77"/>
              </a:xfrm>
              <a:custGeom>
                <a:avLst/>
                <a:gdLst>
                  <a:gd name="T0" fmla="*/ 108 w 116"/>
                  <a:gd name="T1" fmla="*/ 0 h 77"/>
                  <a:gd name="T2" fmla="*/ 0 w 116"/>
                  <a:gd name="T3" fmla="*/ 69 h 77"/>
                  <a:gd name="T4" fmla="*/ 8 w 116"/>
                  <a:gd name="T5" fmla="*/ 77 h 77"/>
                  <a:gd name="T6" fmla="*/ 116 w 116"/>
                  <a:gd name="T7" fmla="*/ 8 h 77"/>
                  <a:gd name="T8" fmla="*/ 108 w 116"/>
                  <a:gd name="T9" fmla="*/ 0 h 77"/>
                </a:gdLst>
                <a:ahLst/>
                <a:cxnLst>
                  <a:cxn ang="0">
                    <a:pos x="T0" y="T1"/>
                  </a:cxn>
                  <a:cxn ang="0">
                    <a:pos x="T2" y="T3"/>
                  </a:cxn>
                  <a:cxn ang="0">
                    <a:pos x="T4" y="T5"/>
                  </a:cxn>
                  <a:cxn ang="0">
                    <a:pos x="T6" y="T7"/>
                  </a:cxn>
                  <a:cxn ang="0">
                    <a:pos x="T8" y="T9"/>
                  </a:cxn>
                </a:cxnLst>
                <a:rect l="0" t="0" r="r" b="b"/>
                <a:pathLst>
                  <a:path w="116" h="77">
                    <a:moveTo>
                      <a:pt x="108" y="0"/>
                    </a:moveTo>
                    <a:lnTo>
                      <a:pt x="0" y="69"/>
                    </a:lnTo>
                    <a:lnTo>
                      <a:pt x="8" y="77"/>
                    </a:lnTo>
                    <a:lnTo>
                      <a:pt x="116" y="8"/>
                    </a:lnTo>
                    <a:lnTo>
                      <a:pt x="108"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6" name="Freeform 226"/>
              <p:cNvSpPr/>
              <p:nvPr/>
            </p:nvSpPr>
            <p:spPr bwMode="auto">
              <a:xfrm>
                <a:off x="1064" y="3633"/>
                <a:ext cx="31" cy="27"/>
              </a:xfrm>
              <a:custGeom>
                <a:avLst/>
                <a:gdLst>
                  <a:gd name="T0" fmla="*/ 31 w 31"/>
                  <a:gd name="T1" fmla="*/ 27 h 27"/>
                  <a:gd name="T2" fmla="*/ 0 w 31"/>
                  <a:gd name="T3" fmla="*/ 27 h 27"/>
                  <a:gd name="T4" fmla="*/ 15 w 31"/>
                  <a:gd name="T5" fmla="*/ 0 h 27"/>
                  <a:gd name="T6" fmla="*/ 12 w 31"/>
                  <a:gd name="T7" fmla="*/ 20 h 27"/>
                  <a:gd name="T8" fmla="*/ 31 w 31"/>
                  <a:gd name="T9" fmla="*/ 27 h 27"/>
                </a:gdLst>
                <a:ahLst/>
                <a:cxnLst>
                  <a:cxn ang="0">
                    <a:pos x="T0" y="T1"/>
                  </a:cxn>
                  <a:cxn ang="0">
                    <a:pos x="T2" y="T3"/>
                  </a:cxn>
                  <a:cxn ang="0">
                    <a:pos x="T4" y="T5"/>
                  </a:cxn>
                  <a:cxn ang="0">
                    <a:pos x="T6" y="T7"/>
                  </a:cxn>
                  <a:cxn ang="0">
                    <a:pos x="T8" y="T9"/>
                  </a:cxn>
                </a:cxnLst>
                <a:rect l="0" t="0" r="r" b="b"/>
                <a:pathLst>
                  <a:path w="31" h="27">
                    <a:moveTo>
                      <a:pt x="31" y="27"/>
                    </a:moveTo>
                    <a:lnTo>
                      <a:pt x="0" y="27"/>
                    </a:lnTo>
                    <a:lnTo>
                      <a:pt x="15" y="0"/>
                    </a:lnTo>
                    <a:lnTo>
                      <a:pt x="12" y="20"/>
                    </a:lnTo>
                    <a:lnTo>
                      <a:pt x="31" y="2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7" name="Freeform 227"/>
              <p:cNvSpPr/>
              <p:nvPr/>
            </p:nvSpPr>
            <p:spPr bwMode="auto">
              <a:xfrm>
                <a:off x="1056" y="3610"/>
                <a:ext cx="58" cy="54"/>
              </a:xfrm>
              <a:custGeom>
                <a:avLst/>
                <a:gdLst>
                  <a:gd name="T0" fmla="*/ 20 w 58"/>
                  <a:gd name="T1" fmla="*/ 46 h 54"/>
                  <a:gd name="T2" fmla="*/ 16 w 58"/>
                  <a:gd name="T3" fmla="*/ 46 h 54"/>
                  <a:gd name="T4" fmla="*/ 20 w 58"/>
                  <a:gd name="T5" fmla="*/ 46 h 54"/>
                  <a:gd name="T6" fmla="*/ 58 w 58"/>
                  <a:gd name="T7" fmla="*/ 54 h 54"/>
                  <a:gd name="T8" fmla="*/ 23 w 58"/>
                  <a:gd name="T9" fmla="*/ 39 h 54"/>
                  <a:gd name="T10" fmla="*/ 31 w 58"/>
                  <a:gd name="T11" fmla="*/ 0 h 54"/>
                  <a:gd name="T12" fmla="*/ 0 w 58"/>
                  <a:gd name="T13" fmla="*/ 54 h 54"/>
                  <a:gd name="T14" fmla="*/ 58 w 58"/>
                  <a:gd name="T15" fmla="*/ 54 h 54"/>
                  <a:gd name="T16" fmla="*/ 20 w 58"/>
                  <a:gd name="T17" fmla="*/ 4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4">
                    <a:moveTo>
                      <a:pt x="20" y="46"/>
                    </a:moveTo>
                    <a:lnTo>
                      <a:pt x="16" y="46"/>
                    </a:lnTo>
                    <a:lnTo>
                      <a:pt x="20" y="46"/>
                    </a:lnTo>
                    <a:lnTo>
                      <a:pt x="58" y="54"/>
                    </a:lnTo>
                    <a:lnTo>
                      <a:pt x="23" y="39"/>
                    </a:lnTo>
                    <a:lnTo>
                      <a:pt x="31" y="0"/>
                    </a:lnTo>
                    <a:lnTo>
                      <a:pt x="0" y="54"/>
                    </a:lnTo>
                    <a:lnTo>
                      <a:pt x="58" y="54"/>
                    </a:lnTo>
                    <a:lnTo>
                      <a:pt x="20" y="46"/>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68" name="Rectangle 228"/>
              <p:cNvSpPr>
                <a:spLocks noChangeArrowheads="1"/>
              </p:cNvSpPr>
              <p:nvPr/>
            </p:nvSpPr>
            <p:spPr bwMode="auto">
              <a:xfrm>
                <a:off x="2171" y="3330"/>
                <a:ext cx="14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69" name="Freeform 229"/>
              <p:cNvSpPr/>
              <p:nvPr/>
            </p:nvSpPr>
            <p:spPr bwMode="auto">
              <a:xfrm>
                <a:off x="2286" y="3322"/>
                <a:ext cx="31" cy="27"/>
              </a:xfrm>
              <a:custGeom>
                <a:avLst/>
                <a:gdLst>
                  <a:gd name="T0" fmla="*/ 0 w 31"/>
                  <a:gd name="T1" fmla="*/ 0 h 27"/>
                  <a:gd name="T2" fmla="*/ 31 w 31"/>
                  <a:gd name="T3" fmla="*/ 12 h 27"/>
                  <a:gd name="T4" fmla="*/ 0 w 31"/>
                  <a:gd name="T5" fmla="*/ 27 h 27"/>
                  <a:gd name="T6" fmla="*/ 15 w 31"/>
                  <a:gd name="T7" fmla="*/ 12 h 27"/>
                  <a:gd name="T8" fmla="*/ 0 w 31"/>
                  <a:gd name="T9" fmla="*/ 0 h 27"/>
                </a:gdLst>
                <a:ahLst/>
                <a:cxnLst>
                  <a:cxn ang="0">
                    <a:pos x="T0" y="T1"/>
                  </a:cxn>
                  <a:cxn ang="0">
                    <a:pos x="T2" y="T3"/>
                  </a:cxn>
                  <a:cxn ang="0">
                    <a:pos x="T4" y="T5"/>
                  </a:cxn>
                  <a:cxn ang="0">
                    <a:pos x="T6" y="T7"/>
                  </a:cxn>
                  <a:cxn ang="0">
                    <a:pos x="T8" y="T9"/>
                  </a:cxn>
                </a:cxnLst>
                <a:rect l="0" t="0" r="r" b="b"/>
                <a:pathLst>
                  <a:path w="31" h="27">
                    <a:moveTo>
                      <a:pt x="0" y="0"/>
                    </a:moveTo>
                    <a:lnTo>
                      <a:pt x="31" y="12"/>
                    </a:lnTo>
                    <a:lnTo>
                      <a:pt x="0" y="27"/>
                    </a:lnTo>
                    <a:lnTo>
                      <a:pt x="15" y="12"/>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70" name="Freeform 230"/>
              <p:cNvSpPr/>
              <p:nvPr/>
            </p:nvSpPr>
            <p:spPr bwMode="auto">
              <a:xfrm>
                <a:off x="2263" y="3311"/>
                <a:ext cx="61" cy="53"/>
              </a:xfrm>
              <a:custGeom>
                <a:avLst/>
                <a:gdLst>
                  <a:gd name="T0" fmla="*/ 46 w 61"/>
                  <a:gd name="T1" fmla="*/ 23 h 53"/>
                  <a:gd name="T2" fmla="*/ 42 w 61"/>
                  <a:gd name="T3" fmla="*/ 23 h 53"/>
                  <a:gd name="T4" fmla="*/ 46 w 61"/>
                  <a:gd name="T5" fmla="*/ 23 h 53"/>
                  <a:gd name="T6" fmla="*/ 0 w 61"/>
                  <a:gd name="T7" fmla="*/ 0 h 53"/>
                  <a:gd name="T8" fmla="*/ 31 w 61"/>
                  <a:gd name="T9" fmla="*/ 23 h 53"/>
                  <a:gd name="T10" fmla="*/ 4 w 61"/>
                  <a:gd name="T11" fmla="*/ 53 h 53"/>
                  <a:gd name="T12" fmla="*/ 61 w 61"/>
                  <a:gd name="T13" fmla="*/ 23 h 53"/>
                  <a:gd name="T14" fmla="*/ 0 w 61"/>
                  <a:gd name="T15" fmla="*/ 0 h 53"/>
                  <a:gd name="T16" fmla="*/ 46 w 61"/>
                  <a:gd name="T17" fmla="*/ 2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3">
                    <a:moveTo>
                      <a:pt x="46" y="23"/>
                    </a:moveTo>
                    <a:lnTo>
                      <a:pt x="42" y="23"/>
                    </a:lnTo>
                    <a:lnTo>
                      <a:pt x="46" y="23"/>
                    </a:lnTo>
                    <a:lnTo>
                      <a:pt x="0" y="0"/>
                    </a:lnTo>
                    <a:lnTo>
                      <a:pt x="31" y="23"/>
                    </a:lnTo>
                    <a:lnTo>
                      <a:pt x="4" y="53"/>
                    </a:lnTo>
                    <a:lnTo>
                      <a:pt x="61" y="23"/>
                    </a:lnTo>
                    <a:lnTo>
                      <a:pt x="0" y="0"/>
                    </a:lnTo>
                    <a:lnTo>
                      <a:pt x="46"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71" name="Rectangle 231"/>
              <p:cNvSpPr>
                <a:spLocks noChangeArrowheads="1"/>
              </p:cNvSpPr>
              <p:nvPr/>
            </p:nvSpPr>
            <p:spPr bwMode="auto">
              <a:xfrm>
                <a:off x="945" y="3541"/>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a</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472" name="Rectangle 232"/>
              <p:cNvSpPr>
                <a:spLocks noChangeArrowheads="1"/>
              </p:cNvSpPr>
              <p:nvPr/>
            </p:nvSpPr>
            <p:spPr bwMode="auto">
              <a:xfrm>
                <a:off x="1014" y="3637"/>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Times New Roman" panose="02020603050405020304" pitchFamily="18" charset="0"/>
                  </a:rPr>
                  <a:t>1</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473" name="Rectangle 233"/>
              <p:cNvSpPr>
                <a:spLocks noChangeArrowheads="1"/>
              </p:cNvSpPr>
              <p:nvPr/>
            </p:nvSpPr>
            <p:spPr bwMode="auto">
              <a:xfrm>
                <a:off x="1571" y="2419"/>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a</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474" name="Rectangle 234"/>
              <p:cNvSpPr>
                <a:spLocks noChangeArrowheads="1"/>
              </p:cNvSpPr>
              <p:nvPr/>
            </p:nvSpPr>
            <p:spPr bwMode="auto">
              <a:xfrm>
                <a:off x="1644" y="2515"/>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Times New Roman" panose="02020603050405020304" pitchFamily="18" charset="0"/>
                  </a:rPr>
                  <a:t>3</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475" name="Rectangle 235"/>
              <p:cNvSpPr>
                <a:spLocks noChangeArrowheads="1"/>
              </p:cNvSpPr>
              <p:nvPr/>
            </p:nvSpPr>
            <p:spPr bwMode="auto">
              <a:xfrm>
                <a:off x="1541" y="3622"/>
                <a:ext cx="1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P</a:t>
                </a:r>
                <a:endParaRPr lang="en-US" altLang="zh-CN" sz="2400" b="0">
                  <a:effectLst>
                    <a:outerShdw blurRad="38100" dist="38100" dir="2700000" algn="tl">
                      <a:srgbClr val="000000"/>
                    </a:outerShdw>
                  </a:effectLst>
                </a:endParaRPr>
              </a:p>
            </p:txBody>
          </p:sp>
          <p:sp>
            <p:nvSpPr>
              <p:cNvPr id="138476" name="Rectangle 236"/>
              <p:cNvSpPr>
                <a:spLocks noChangeArrowheads="1"/>
              </p:cNvSpPr>
              <p:nvPr/>
            </p:nvSpPr>
            <p:spPr bwMode="auto">
              <a:xfrm>
                <a:off x="2720" y="3848"/>
                <a:ext cx="120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dirty="0"/>
                  <a:t>Isometric or Cubic</a:t>
                </a:r>
                <a:endParaRPr lang="en-US" altLang="zh-CN" sz="2400" dirty="0">
                  <a:effectLst>
                    <a:outerShdw blurRad="38100" dist="38100" dir="2700000" algn="tl">
                      <a:srgbClr val="000000"/>
                    </a:outerShdw>
                  </a:effectLst>
                </a:endParaRPr>
              </a:p>
            </p:txBody>
          </p:sp>
          <p:sp>
            <p:nvSpPr>
              <p:cNvPr id="138477" name="Rectangle 237"/>
              <p:cNvSpPr>
                <a:spLocks noChangeArrowheads="1"/>
              </p:cNvSpPr>
              <p:nvPr/>
            </p:nvSpPr>
            <p:spPr bwMode="auto">
              <a:xfrm>
                <a:off x="2251" y="4015"/>
                <a:ext cx="26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a = </a:t>
                </a:r>
                <a:endParaRPr lang="en-US" altLang="zh-CN" sz="2400" b="0">
                  <a:effectLst>
                    <a:outerShdw blurRad="38100" dist="38100" dir="2700000" algn="tl">
                      <a:srgbClr val="000000"/>
                    </a:outerShdw>
                  </a:effectLst>
                </a:endParaRPr>
              </a:p>
            </p:txBody>
          </p:sp>
          <p:sp>
            <p:nvSpPr>
              <p:cNvPr id="138478" name="Rectangle 238"/>
              <p:cNvSpPr>
                <a:spLocks noChangeArrowheads="1"/>
              </p:cNvSpPr>
              <p:nvPr/>
            </p:nvSpPr>
            <p:spPr bwMode="auto">
              <a:xfrm>
                <a:off x="2520" y="4015"/>
                <a:ext cx="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b</a:t>
                </a:r>
                <a:endParaRPr lang="en-US" altLang="zh-CN" sz="2400" b="0">
                  <a:effectLst>
                    <a:outerShdw blurRad="38100" dist="38100" dir="2700000" algn="tl">
                      <a:srgbClr val="000000"/>
                    </a:outerShdw>
                  </a:effectLst>
                </a:endParaRPr>
              </a:p>
            </p:txBody>
          </p:sp>
          <p:sp>
            <p:nvSpPr>
              <p:cNvPr id="138479" name="Rectangle 239"/>
              <p:cNvSpPr>
                <a:spLocks noChangeArrowheads="1"/>
              </p:cNvSpPr>
              <p:nvPr/>
            </p:nvSpPr>
            <p:spPr bwMode="auto">
              <a:xfrm>
                <a:off x="2609" y="4015"/>
                <a:ext cx="1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 </a:t>
                </a:r>
                <a:endParaRPr lang="en-US" altLang="zh-CN" sz="2400" b="0">
                  <a:effectLst>
                    <a:outerShdw blurRad="38100" dist="38100" dir="2700000" algn="tl">
                      <a:srgbClr val="000000"/>
                    </a:outerShdw>
                  </a:effectLst>
                </a:endParaRPr>
              </a:p>
            </p:txBody>
          </p:sp>
          <p:sp>
            <p:nvSpPr>
              <p:cNvPr id="138480" name="Rectangle 240"/>
              <p:cNvSpPr>
                <a:spLocks noChangeArrowheads="1"/>
              </p:cNvSpPr>
              <p:nvPr/>
            </p:nvSpPr>
            <p:spPr bwMode="auto">
              <a:xfrm>
                <a:off x="2774" y="4015"/>
                <a:ext cx="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g</a:t>
                </a:r>
                <a:endParaRPr lang="en-US" altLang="zh-CN" sz="2400" b="0">
                  <a:effectLst>
                    <a:outerShdw blurRad="38100" dist="38100" dir="2700000" algn="tl">
                      <a:srgbClr val="000000"/>
                    </a:outerShdw>
                  </a:effectLst>
                </a:endParaRPr>
              </a:p>
            </p:txBody>
          </p:sp>
          <p:sp>
            <p:nvSpPr>
              <p:cNvPr id="138481" name="Rectangle 241"/>
              <p:cNvSpPr>
                <a:spLocks noChangeArrowheads="1"/>
              </p:cNvSpPr>
              <p:nvPr/>
            </p:nvSpPr>
            <p:spPr bwMode="auto">
              <a:xfrm>
                <a:off x="2839" y="4015"/>
                <a:ext cx="3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 90</a:t>
                </a:r>
                <a:endParaRPr lang="en-US" altLang="zh-CN" sz="2400" b="0">
                  <a:effectLst>
                    <a:outerShdw blurRad="38100" dist="38100" dir="2700000" algn="tl">
                      <a:srgbClr val="000000"/>
                    </a:outerShdw>
                  </a:effectLst>
                </a:endParaRPr>
              </a:p>
            </p:txBody>
          </p:sp>
          <p:sp>
            <p:nvSpPr>
              <p:cNvPr id="138482" name="Rectangle 242"/>
              <p:cNvSpPr>
                <a:spLocks noChangeArrowheads="1"/>
              </p:cNvSpPr>
              <p:nvPr/>
            </p:nvSpPr>
            <p:spPr bwMode="auto">
              <a:xfrm>
                <a:off x="3170" y="4038"/>
                <a:ext cx="10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Symbol" panose="05050102010706020507" pitchFamily="18" charset="2"/>
                  </a:rPr>
                  <a:t>o  </a:t>
                </a:r>
                <a:endParaRPr lang="en-US" altLang="zh-CN" sz="2400" b="0">
                  <a:effectLst>
                    <a:outerShdw blurRad="38100" dist="38100" dir="2700000" algn="tl">
                      <a:srgbClr val="000000"/>
                    </a:outerShdw>
                  </a:effectLst>
                </a:endParaRPr>
              </a:p>
            </p:txBody>
          </p:sp>
          <p:sp>
            <p:nvSpPr>
              <p:cNvPr id="138483" name="Rectangle 243"/>
              <p:cNvSpPr>
                <a:spLocks noChangeArrowheads="1"/>
              </p:cNvSpPr>
              <p:nvPr/>
            </p:nvSpPr>
            <p:spPr bwMode="auto">
              <a:xfrm>
                <a:off x="3300" y="4035"/>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a</a:t>
                </a:r>
                <a:endParaRPr lang="en-US" altLang="zh-CN" sz="2400" b="0">
                  <a:effectLst>
                    <a:outerShdw blurRad="38100" dist="38100" dir="2700000" algn="tl">
                      <a:srgbClr val="000000"/>
                    </a:outerShdw>
                  </a:effectLst>
                </a:endParaRPr>
              </a:p>
            </p:txBody>
          </p:sp>
          <p:sp>
            <p:nvSpPr>
              <p:cNvPr id="138484" name="Rectangle 244"/>
              <p:cNvSpPr>
                <a:spLocks noChangeArrowheads="1"/>
              </p:cNvSpPr>
              <p:nvPr/>
            </p:nvSpPr>
            <p:spPr bwMode="auto">
              <a:xfrm>
                <a:off x="3389" y="413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t>1</a:t>
                </a:r>
                <a:endParaRPr lang="en-US" altLang="zh-CN" sz="2400" b="0">
                  <a:effectLst>
                    <a:outerShdw blurRad="38100" dist="38100" dir="2700000" algn="tl">
                      <a:srgbClr val="000000"/>
                    </a:outerShdw>
                  </a:effectLst>
                </a:endParaRPr>
              </a:p>
            </p:txBody>
          </p:sp>
          <p:sp>
            <p:nvSpPr>
              <p:cNvPr id="138485" name="Rectangle 245"/>
              <p:cNvSpPr>
                <a:spLocks noChangeArrowheads="1"/>
              </p:cNvSpPr>
              <p:nvPr/>
            </p:nvSpPr>
            <p:spPr bwMode="auto">
              <a:xfrm>
                <a:off x="3439" y="4035"/>
                <a:ext cx="24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 = a</a:t>
                </a:r>
                <a:endParaRPr lang="en-US" altLang="zh-CN" sz="2400" b="0">
                  <a:effectLst>
                    <a:outerShdw blurRad="38100" dist="38100" dir="2700000" algn="tl">
                      <a:srgbClr val="000000"/>
                    </a:outerShdw>
                  </a:effectLst>
                </a:endParaRPr>
              </a:p>
            </p:txBody>
          </p:sp>
          <p:sp>
            <p:nvSpPr>
              <p:cNvPr id="138486" name="Rectangle 246"/>
              <p:cNvSpPr>
                <a:spLocks noChangeArrowheads="1"/>
              </p:cNvSpPr>
              <p:nvPr/>
            </p:nvSpPr>
            <p:spPr bwMode="auto">
              <a:xfrm>
                <a:off x="3712" y="413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t>2</a:t>
                </a:r>
                <a:endParaRPr lang="en-US" altLang="zh-CN" sz="2400" b="0">
                  <a:effectLst>
                    <a:outerShdw blurRad="38100" dist="38100" dir="2700000" algn="tl">
                      <a:srgbClr val="000000"/>
                    </a:outerShdw>
                  </a:effectLst>
                </a:endParaRPr>
              </a:p>
            </p:txBody>
          </p:sp>
          <p:sp>
            <p:nvSpPr>
              <p:cNvPr id="138487" name="Rectangle 247"/>
              <p:cNvSpPr>
                <a:spLocks noChangeArrowheads="1"/>
              </p:cNvSpPr>
              <p:nvPr/>
            </p:nvSpPr>
            <p:spPr bwMode="auto">
              <a:xfrm>
                <a:off x="3761" y="4015"/>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a:t>
                </a:r>
                <a:endParaRPr lang="en-US" altLang="zh-CN" sz="2400" b="0">
                  <a:effectLst>
                    <a:outerShdw blurRad="38100" dist="38100" dir="2700000" algn="tl">
                      <a:srgbClr val="000000"/>
                    </a:outerShdw>
                  </a:effectLst>
                </a:endParaRPr>
              </a:p>
            </p:txBody>
          </p:sp>
          <p:sp>
            <p:nvSpPr>
              <p:cNvPr id="138488" name="Rectangle 248"/>
              <p:cNvSpPr>
                <a:spLocks noChangeArrowheads="1"/>
              </p:cNvSpPr>
              <p:nvPr/>
            </p:nvSpPr>
            <p:spPr bwMode="auto">
              <a:xfrm>
                <a:off x="3804" y="4035"/>
                <a:ext cx="2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 a</a:t>
                </a:r>
                <a:endParaRPr lang="en-US" altLang="zh-CN" sz="2400" b="0">
                  <a:effectLst>
                    <a:outerShdw blurRad="38100" dist="38100" dir="2700000" algn="tl">
                      <a:srgbClr val="000000"/>
                    </a:outerShdw>
                  </a:effectLst>
                </a:endParaRPr>
              </a:p>
            </p:txBody>
          </p:sp>
          <p:sp>
            <p:nvSpPr>
              <p:cNvPr id="138489" name="Rectangle 249"/>
              <p:cNvSpPr>
                <a:spLocks noChangeArrowheads="1"/>
              </p:cNvSpPr>
              <p:nvPr/>
            </p:nvSpPr>
            <p:spPr bwMode="auto">
              <a:xfrm>
                <a:off x="4030" y="413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t>3</a:t>
                </a:r>
                <a:endParaRPr lang="en-US" altLang="zh-CN" sz="2400" b="0">
                  <a:effectLst>
                    <a:outerShdw blurRad="38100" dist="38100" dir="2700000" algn="tl">
                      <a:srgbClr val="000000"/>
                    </a:outerShdw>
                  </a:effectLst>
                </a:endParaRPr>
              </a:p>
            </p:txBody>
          </p:sp>
          <p:sp>
            <p:nvSpPr>
              <p:cNvPr id="138490" name="Rectangle 250"/>
              <p:cNvSpPr>
                <a:spLocks noChangeArrowheads="1"/>
              </p:cNvSpPr>
              <p:nvPr/>
            </p:nvSpPr>
            <p:spPr bwMode="auto">
              <a:xfrm>
                <a:off x="2221" y="3311"/>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a</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491" name="Rectangle 251"/>
              <p:cNvSpPr>
                <a:spLocks noChangeArrowheads="1"/>
              </p:cNvSpPr>
              <p:nvPr/>
            </p:nvSpPr>
            <p:spPr bwMode="auto">
              <a:xfrm>
                <a:off x="2290" y="3410"/>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Times New Roman" panose="02020603050405020304" pitchFamily="18" charset="0"/>
                  </a:rPr>
                  <a:t>2</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492" name="Freeform 252"/>
              <p:cNvSpPr/>
              <p:nvPr/>
            </p:nvSpPr>
            <p:spPr bwMode="auto">
              <a:xfrm>
                <a:off x="2413" y="2742"/>
                <a:ext cx="999" cy="876"/>
              </a:xfrm>
              <a:custGeom>
                <a:avLst/>
                <a:gdLst>
                  <a:gd name="T0" fmla="*/ 361 w 999"/>
                  <a:gd name="T1" fmla="*/ 0 h 876"/>
                  <a:gd name="T2" fmla="*/ 7 w 999"/>
                  <a:gd name="T3" fmla="*/ 200 h 876"/>
                  <a:gd name="T4" fmla="*/ 0 w 999"/>
                  <a:gd name="T5" fmla="*/ 872 h 876"/>
                  <a:gd name="T6" fmla="*/ 668 w 999"/>
                  <a:gd name="T7" fmla="*/ 876 h 876"/>
                  <a:gd name="T8" fmla="*/ 999 w 999"/>
                  <a:gd name="T9" fmla="*/ 615 h 876"/>
                  <a:gd name="T10" fmla="*/ 999 w 999"/>
                  <a:gd name="T11" fmla="*/ 0 h 876"/>
                  <a:gd name="T12" fmla="*/ 361 w 999"/>
                  <a:gd name="T13" fmla="*/ 0 h 876"/>
                </a:gdLst>
                <a:ahLst/>
                <a:cxnLst>
                  <a:cxn ang="0">
                    <a:pos x="T0" y="T1"/>
                  </a:cxn>
                  <a:cxn ang="0">
                    <a:pos x="T2" y="T3"/>
                  </a:cxn>
                  <a:cxn ang="0">
                    <a:pos x="T4" y="T5"/>
                  </a:cxn>
                  <a:cxn ang="0">
                    <a:pos x="T6" y="T7"/>
                  </a:cxn>
                  <a:cxn ang="0">
                    <a:pos x="T8" y="T9"/>
                  </a:cxn>
                  <a:cxn ang="0">
                    <a:pos x="T10" y="T11"/>
                  </a:cxn>
                  <a:cxn ang="0">
                    <a:pos x="T12" y="T13"/>
                  </a:cxn>
                </a:cxnLst>
                <a:rect l="0" t="0" r="r" b="b"/>
                <a:pathLst>
                  <a:path w="999" h="876">
                    <a:moveTo>
                      <a:pt x="361" y="0"/>
                    </a:moveTo>
                    <a:lnTo>
                      <a:pt x="7" y="200"/>
                    </a:lnTo>
                    <a:lnTo>
                      <a:pt x="0" y="872"/>
                    </a:lnTo>
                    <a:lnTo>
                      <a:pt x="668" y="876"/>
                    </a:lnTo>
                    <a:lnTo>
                      <a:pt x="999" y="615"/>
                    </a:lnTo>
                    <a:lnTo>
                      <a:pt x="999" y="0"/>
                    </a:lnTo>
                    <a:lnTo>
                      <a:pt x="361" y="0"/>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493" name="Rectangle 253"/>
              <p:cNvSpPr>
                <a:spLocks noChangeArrowheads="1"/>
              </p:cNvSpPr>
              <p:nvPr/>
            </p:nvSpPr>
            <p:spPr bwMode="auto">
              <a:xfrm>
                <a:off x="3396"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94" name="Rectangle 254"/>
              <p:cNvSpPr>
                <a:spLocks noChangeArrowheads="1"/>
              </p:cNvSpPr>
              <p:nvPr/>
            </p:nvSpPr>
            <p:spPr bwMode="auto">
              <a:xfrm>
                <a:off x="3366"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95" name="Rectangle 255"/>
              <p:cNvSpPr>
                <a:spLocks noChangeArrowheads="1"/>
              </p:cNvSpPr>
              <p:nvPr/>
            </p:nvSpPr>
            <p:spPr bwMode="auto">
              <a:xfrm>
                <a:off x="3335"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96" name="Rectangle 256"/>
              <p:cNvSpPr>
                <a:spLocks noChangeArrowheads="1"/>
              </p:cNvSpPr>
              <p:nvPr/>
            </p:nvSpPr>
            <p:spPr bwMode="auto">
              <a:xfrm>
                <a:off x="3304"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97" name="Rectangle 257"/>
              <p:cNvSpPr>
                <a:spLocks noChangeArrowheads="1"/>
              </p:cNvSpPr>
              <p:nvPr/>
            </p:nvSpPr>
            <p:spPr bwMode="auto">
              <a:xfrm>
                <a:off x="3273"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98" name="Rectangle 258"/>
              <p:cNvSpPr>
                <a:spLocks noChangeArrowheads="1"/>
              </p:cNvSpPr>
              <p:nvPr/>
            </p:nvSpPr>
            <p:spPr bwMode="auto">
              <a:xfrm>
                <a:off x="3243"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499" name="Rectangle 259"/>
              <p:cNvSpPr>
                <a:spLocks noChangeArrowheads="1"/>
              </p:cNvSpPr>
              <p:nvPr/>
            </p:nvSpPr>
            <p:spPr bwMode="auto">
              <a:xfrm>
                <a:off x="3212"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0" name="Rectangle 260"/>
              <p:cNvSpPr>
                <a:spLocks noChangeArrowheads="1"/>
              </p:cNvSpPr>
              <p:nvPr/>
            </p:nvSpPr>
            <p:spPr bwMode="auto">
              <a:xfrm>
                <a:off x="3181"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1" name="Rectangle 261"/>
              <p:cNvSpPr>
                <a:spLocks noChangeArrowheads="1"/>
              </p:cNvSpPr>
              <p:nvPr/>
            </p:nvSpPr>
            <p:spPr bwMode="auto">
              <a:xfrm>
                <a:off x="3151"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2" name="Rectangle 262"/>
              <p:cNvSpPr>
                <a:spLocks noChangeArrowheads="1"/>
              </p:cNvSpPr>
              <p:nvPr/>
            </p:nvSpPr>
            <p:spPr bwMode="auto">
              <a:xfrm>
                <a:off x="3120"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3" name="Rectangle 263"/>
              <p:cNvSpPr>
                <a:spLocks noChangeArrowheads="1"/>
              </p:cNvSpPr>
              <p:nvPr/>
            </p:nvSpPr>
            <p:spPr bwMode="auto">
              <a:xfrm>
                <a:off x="3089"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4" name="Rectangle 264"/>
              <p:cNvSpPr>
                <a:spLocks noChangeArrowheads="1"/>
              </p:cNvSpPr>
              <p:nvPr/>
            </p:nvSpPr>
            <p:spPr bwMode="auto">
              <a:xfrm>
                <a:off x="3058" y="3353"/>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5" name="Rectangle 265"/>
              <p:cNvSpPr>
                <a:spLocks noChangeArrowheads="1"/>
              </p:cNvSpPr>
              <p:nvPr/>
            </p:nvSpPr>
            <p:spPr bwMode="auto">
              <a:xfrm>
                <a:off x="3028"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6" name="Rectangle 266"/>
              <p:cNvSpPr>
                <a:spLocks noChangeArrowheads="1"/>
              </p:cNvSpPr>
              <p:nvPr/>
            </p:nvSpPr>
            <p:spPr bwMode="auto">
              <a:xfrm>
                <a:off x="2997"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7" name="Rectangle 267"/>
              <p:cNvSpPr>
                <a:spLocks noChangeArrowheads="1"/>
              </p:cNvSpPr>
              <p:nvPr/>
            </p:nvSpPr>
            <p:spPr bwMode="auto">
              <a:xfrm>
                <a:off x="2966"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8" name="Rectangle 268"/>
              <p:cNvSpPr>
                <a:spLocks noChangeArrowheads="1"/>
              </p:cNvSpPr>
              <p:nvPr/>
            </p:nvSpPr>
            <p:spPr bwMode="auto">
              <a:xfrm>
                <a:off x="2935" y="3353"/>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09" name="Rectangle 269"/>
              <p:cNvSpPr>
                <a:spLocks noChangeArrowheads="1"/>
              </p:cNvSpPr>
              <p:nvPr/>
            </p:nvSpPr>
            <p:spPr bwMode="auto">
              <a:xfrm>
                <a:off x="2905"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0" name="Rectangle 270"/>
              <p:cNvSpPr>
                <a:spLocks noChangeArrowheads="1"/>
              </p:cNvSpPr>
              <p:nvPr/>
            </p:nvSpPr>
            <p:spPr bwMode="auto">
              <a:xfrm>
                <a:off x="2874"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1" name="Rectangle 271"/>
              <p:cNvSpPr>
                <a:spLocks noChangeArrowheads="1"/>
              </p:cNvSpPr>
              <p:nvPr/>
            </p:nvSpPr>
            <p:spPr bwMode="auto">
              <a:xfrm>
                <a:off x="2843" y="3353"/>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2" name="Rectangle 272"/>
              <p:cNvSpPr>
                <a:spLocks noChangeArrowheads="1"/>
              </p:cNvSpPr>
              <p:nvPr/>
            </p:nvSpPr>
            <p:spPr bwMode="auto">
              <a:xfrm>
                <a:off x="2812" y="3353"/>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3" name="Rectangle 273"/>
              <p:cNvSpPr>
                <a:spLocks noChangeArrowheads="1"/>
              </p:cNvSpPr>
              <p:nvPr/>
            </p:nvSpPr>
            <p:spPr bwMode="auto">
              <a:xfrm>
                <a:off x="2782"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4" name="Rectangle 274"/>
              <p:cNvSpPr>
                <a:spLocks noChangeArrowheads="1"/>
              </p:cNvSpPr>
              <p:nvPr/>
            </p:nvSpPr>
            <p:spPr bwMode="auto">
              <a:xfrm>
                <a:off x="2766" y="3337"/>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5" name="Rectangle 275"/>
              <p:cNvSpPr>
                <a:spLocks noChangeArrowheads="1"/>
              </p:cNvSpPr>
              <p:nvPr/>
            </p:nvSpPr>
            <p:spPr bwMode="auto">
              <a:xfrm>
                <a:off x="2766" y="3307"/>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6" name="Rectangle 276"/>
              <p:cNvSpPr>
                <a:spLocks noChangeArrowheads="1"/>
              </p:cNvSpPr>
              <p:nvPr/>
            </p:nvSpPr>
            <p:spPr bwMode="auto">
              <a:xfrm>
                <a:off x="2766" y="327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7" name="Rectangle 277"/>
              <p:cNvSpPr>
                <a:spLocks noChangeArrowheads="1"/>
              </p:cNvSpPr>
              <p:nvPr/>
            </p:nvSpPr>
            <p:spPr bwMode="auto">
              <a:xfrm>
                <a:off x="2766" y="324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8" name="Rectangle 278"/>
              <p:cNvSpPr>
                <a:spLocks noChangeArrowheads="1"/>
              </p:cNvSpPr>
              <p:nvPr/>
            </p:nvSpPr>
            <p:spPr bwMode="auto">
              <a:xfrm>
                <a:off x="2766" y="3214"/>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19" name="Rectangle 279"/>
              <p:cNvSpPr>
                <a:spLocks noChangeArrowheads="1"/>
              </p:cNvSpPr>
              <p:nvPr/>
            </p:nvSpPr>
            <p:spPr bwMode="auto">
              <a:xfrm>
                <a:off x="2766" y="318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0" name="Rectangle 280"/>
              <p:cNvSpPr>
                <a:spLocks noChangeArrowheads="1"/>
              </p:cNvSpPr>
              <p:nvPr/>
            </p:nvSpPr>
            <p:spPr bwMode="auto">
              <a:xfrm>
                <a:off x="2766" y="315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1" name="Rectangle 281"/>
              <p:cNvSpPr>
                <a:spLocks noChangeArrowheads="1"/>
              </p:cNvSpPr>
              <p:nvPr/>
            </p:nvSpPr>
            <p:spPr bwMode="auto">
              <a:xfrm>
                <a:off x="2766" y="3122"/>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2" name="Rectangle 282"/>
              <p:cNvSpPr>
                <a:spLocks noChangeArrowheads="1"/>
              </p:cNvSpPr>
              <p:nvPr/>
            </p:nvSpPr>
            <p:spPr bwMode="auto">
              <a:xfrm>
                <a:off x="2766" y="309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3" name="Rectangle 283"/>
              <p:cNvSpPr>
                <a:spLocks noChangeArrowheads="1"/>
              </p:cNvSpPr>
              <p:nvPr/>
            </p:nvSpPr>
            <p:spPr bwMode="auto">
              <a:xfrm>
                <a:off x="2766" y="306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4" name="Rectangle 284"/>
              <p:cNvSpPr>
                <a:spLocks noChangeArrowheads="1"/>
              </p:cNvSpPr>
              <p:nvPr/>
            </p:nvSpPr>
            <p:spPr bwMode="auto">
              <a:xfrm>
                <a:off x="2766" y="303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5" name="Rectangle 285"/>
              <p:cNvSpPr>
                <a:spLocks noChangeArrowheads="1"/>
              </p:cNvSpPr>
              <p:nvPr/>
            </p:nvSpPr>
            <p:spPr bwMode="auto">
              <a:xfrm>
                <a:off x="2766" y="299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6" name="Rectangle 286"/>
              <p:cNvSpPr>
                <a:spLocks noChangeArrowheads="1"/>
              </p:cNvSpPr>
              <p:nvPr/>
            </p:nvSpPr>
            <p:spPr bwMode="auto">
              <a:xfrm>
                <a:off x="2766" y="296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7" name="Rectangle 287"/>
              <p:cNvSpPr>
                <a:spLocks noChangeArrowheads="1"/>
              </p:cNvSpPr>
              <p:nvPr/>
            </p:nvSpPr>
            <p:spPr bwMode="auto">
              <a:xfrm>
                <a:off x="2766" y="2938"/>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8" name="Rectangle 288"/>
              <p:cNvSpPr>
                <a:spLocks noChangeArrowheads="1"/>
              </p:cNvSpPr>
              <p:nvPr/>
            </p:nvSpPr>
            <p:spPr bwMode="auto">
              <a:xfrm>
                <a:off x="2766" y="2907"/>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29" name="Rectangle 289"/>
              <p:cNvSpPr>
                <a:spLocks noChangeArrowheads="1"/>
              </p:cNvSpPr>
              <p:nvPr/>
            </p:nvSpPr>
            <p:spPr bwMode="auto">
              <a:xfrm>
                <a:off x="2766" y="287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30" name="Rectangle 290"/>
              <p:cNvSpPr>
                <a:spLocks noChangeArrowheads="1"/>
              </p:cNvSpPr>
              <p:nvPr/>
            </p:nvSpPr>
            <p:spPr bwMode="auto">
              <a:xfrm>
                <a:off x="2766" y="284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31" name="Rectangle 291"/>
              <p:cNvSpPr>
                <a:spLocks noChangeArrowheads="1"/>
              </p:cNvSpPr>
              <p:nvPr/>
            </p:nvSpPr>
            <p:spPr bwMode="auto">
              <a:xfrm>
                <a:off x="2766" y="281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32" name="Rectangle 292"/>
              <p:cNvSpPr>
                <a:spLocks noChangeArrowheads="1"/>
              </p:cNvSpPr>
              <p:nvPr/>
            </p:nvSpPr>
            <p:spPr bwMode="auto">
              <a:xfrm>
                <a:off x="2766" y="278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33" name="Rectangle 293"/>
              <p:cNvSpPr>
                <a:spLocks noChangeArrowheads="1"/>
              </p:cNvSpPr>
              <p:nvPr/>
            </p:nvSpPr>
            <p:spPr bwMode="auto">
              <a:xfrm>
                <a:off x="2766" y="275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34" name="Freeform 294"/>
              <p:cNvSpPr/>
              <p:nvPr/>
            </p:nvSpPr>
            <p:spPr bwMode="auto">
              <a:xfrm>
                <a:off x="2755" y="3357"/>
                <a:ext cx="19" cy="15"/>
              </a:xfrm>
              <a:custGeom>
                <a:avLst/>
                <a:gdLst>
                  <a:gd name="T0" fmla="*/ 11 w 19"/>
                  <a:gd name="T1" fmla="*/ 0 h 15"/>
                  <a:gd name="T2" fmla="*/ 0 w 19"/>
                  <a:gd name="T3" fmla="*/ 11 h 15"/>
                  <a:gd name="T4" fmla="*/ 4 w 19"/>
                  <a:gd name="T5" fmla="*/ 15 h 15"/>
                  <a:gd name="T6" fmla="*/ 19 w 19"/>
                  <a:gd name="T7" fmla="*/ 7 h 15"/>
                  <a:gd name="T8" fmla="*/ 11 w 19"/>
                  <a:gd name="T9" fmla="*/ 0 h 15"/>
                </a:gdLst>
                <a:ahLst/>
                <a:cxnLst>
                  <a:cxn ang="0">
                    <a:pos x="T0" y="T1"/>
                  </a:cxn>
                  <a:cxn ang="0">
                    <a:pos x="T2" y="T3"/>
                  </a:cxn>
                  <a:cxn ang="0">
                    <a:pos x="T4" y="T5"/>
                  </a:cxn>
                  <a:cxn ang="0">
                    <a:pos x="T6" y="T7"/>
                  </a:cxn>
                  <a:cxn ang="0">
                    <a:pos x="T8" y="T9"/>
                  </a:cxn>
                </a:cxnLst>
                <a:rect l="0" t="0" r="r" b="b"/>
                <a:pathLst>
                  <a:path w="19" h="15">
                    <a:moveTo>
                      <a:pt x="11" y="0"/>
                    </a:moveTo>
                    <a:lnTo>
                      <a:pt x="0" y="11"/>
                    </a:lnTo>
                    <a:lnTo>
                      <a:pt x="4" y="15"/>
                    </a:lnTo>
                    <a:lnTo>
                      <a:pt x="19"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35" name="Freeform 295"/>
              <p:cNvSpPr/>
              <p:nvPr/>
            </p:nvSpPr>
            <p:spPr bwMode="auto">
              <a:xfrm>
                <a:off x="2732" y="3376"/>
                <a:ext cx="15" cy="15"/>
              </a:xfrm>
              <a:custGeom>
                <a:avLst/>
                <a:gdLst>
                  <a:gd name="T0" fmla="*/ 11 w 15"/>
                  <a:gd name="T1" fmla="*/ 0 h 15"/>
                  <a:gd name="T2" fmla="*/ 0 w 15"/>
                  <a:gd name="T3" fmla="*/ 8 h 15"/>
                  <a:gd name="T4" fmla="*/ 4 w 15"/>
                  <a:gd name="T5" fmla="*/ 15 h 15"/>
                  <a:gd name="T6" fmla="*/ 15 w 15"/>
                  <a:gd name="T7" fmla="*/ 4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4" y="15"/>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36" name="Freeform 296"/>
              <p:cNvSpPr/>
              <p:nvPr/>
            </p:nvSpPr>
            <p:spPr bwMode="auto">
              <a:xfrm>
                <a:off x="2705" y="3395"/>
                <a:ext cx="19" cy="12"/>
              </a:xfrm>
              <a:custGeom>
                <a:avLst/>
                <a:gdLst>
                  <a:gd name="T0" fmla="*/ 11 w 19"/>
                  <a:gd name="T1" fmla="*/ 0 h 12"/>
                  <a:gd name="T2" fmla="*/ 0 w 19"/>
                  <a:gd name="T3" fmla="*/ 8 h 12"/>
                  <a:gd name="T4" fmla="*/ 4 w 19"/>
                  <a:gd name="T5" fmla="*/ 12 h 12"/>
                  <a:gd name="T6" fmla="*/ 19 w 19"/>
                  <a:gd name="T7" fmla="*/ 4 h 12"/>
                  <a:gd name="T8" fmla="*/ 11 w 19"/>
                  <a:gd name="T9" fmla="*/ 0 h 12"/>
                </a:gdLst>
                <a:ahLst/>
                <a:cxnLst>
                  <a:cxn ang="0">
                    <a:pos x="T0" y="T1"/>
                  </a:cxn>
                  <a:cxn ang="0">
                    <a:pos x="T2" y="T3"/>
                  </a:cxn>
                  <a:cxn ang="0">
                    <a:pos x="T4" y="T5"/>
                  </a:cxn>
                  <a:cxn ang="0">
                    <a:pos x="T6" y="T7"/>
                  </a:cxn>
                  <a:cxn ang="0">
                    <a:pos x="T8" y="T9"/>
                  </a:cxn>
                </a:cxnLst>
                <a:rect l="0" t="0" r="r" b="b"/>
                <a:pathLst>
                  <a:path w="19" h="12">
                    <a:moveTo>
                      <a:pt x="11" y="0"/>
                    </a:moveTo>
                    <a:lnTo>
                      <a:pt x="0" y="8"/>
                    </a:lnTo>
                    <a:lnTo>
                      <a:pt x="4" y="12"/>
                    </a:lnTo>
                    <a:lnTo>
                      <a:pt x="19"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37" name="Freeform 297"/>
              <p:cNvSpPr/>
              <p:nvPr/>
            </p:nvSpPr>
            <p:spPr bwMode="auto">
              <a:xfrm>
                <a:off x="2682" y="3410"/>
                <a:ext cx="15" cy="16"/>
              </a:xfrm>
              <a:custGeom>
                <a:avLst/>
                <a:gdLst>
                  <a:gd name="T0" fmla="*/ 11 w 15"/>
                  <a:gd name="T1" fmla="*/ 0 h 16"/>
                  <a:gd name="T2" fmla="*/ 0 w 15"/>
                  <a:gd name="T3" fmla="*/ 12 h 16"/>
                  <a:gd name="T4" fmla="*/ 4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12"/>
                    </a:lnTo>
                    <a:lnTo>
                      <a:pt x="4"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38" name="Freeform 298"/>
              <p:cNvSpPr/>
              <p:nvPr/>
            </p:nvSpPr>
            <p:spPr bwMode="auto">
              <a:xfrm>
                <a:off x="2655" y="3430"/>
                <a:ext cx="19" cy="15"/>
              </a:xfrm>
              <a:custGeom>
                <a:avLst/>
                <a:gdLst>
                  <a:gd name="T0" fmla="*/ 11 w 19"/>
                  <a:gd name="T1" fmla="*/ 0 h 15"/>
                  <a:gd name="T2" fmla="*/ 0 w 19"/>
                  <a:gd name="T3" fmla="*/ 7 h 15"/>
                  <a:gd name="T4" fmla="*/ 4 w 19"/>
                  <a:gd name="T5" fmla="*/ 15 h 15"/>
                  <a:gd name="T6" fmla="*/ 19 w 19"/>
                  <a:gd name="T7" fmla="*/ 4 h 15"/>
                  <a:gd name="T8" fmla="*/ 11 w 19"/>
                  <a:gd name="T9" fmla="*/ 0 h 15"/>
                </a:gdLst>
                <a:ahLst/>
                <a:cxnLst>
                  <a:cxn ang="0">
                    <a:pos x="T0" y="T1"/>
                  </a:cxn>
                  <a:cxn ang="0">
                    <a:pos x="T2" y="T3"/>
                  </a:cxn>
                  <a:cxn ang="0">
                    <a:pos x="T4" y="T5"/>
                  </a:cxn>
                  <a:cxn ang="0">
                    <a:pos x="T6" y="T7"/>
                  </a:cxn>
                  <a:cxn ang="0">
                    <a:pos x="T8" y="T9"/>
                  </a:cxn>
                </a:cxnLst>
                <a:rect l="0" t="0" r="r" b="b"/>
                <a:pathLst>
                  <a:path w="19" h="15">
                    <a:moveTo>
                      <a:pt x="11" y="0"/>
                    </a:moveTo>
                    <a:lnTo>
                      <a:pt x="0" y="7"/>
                    </a:lnTo>
                    <a:lnTo>
                      <a:pt x="4" y="15"/>
                    </a:lnTo>
                    <a:lnTo>
                      <a:pt x="19"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39" name="Freeform 299"/>
              <p:cNvSpPr/>
              <p:nvPr/>
            </p:nvSpPr>
            <p:spPr bwMode="auto">
              <a:xfrm>
                <a:off x="2632" y="3449"/>
                <a:ext cx="15" cy="15"/>
              </a:xfrm>
              <a:custGeom>
                <a:avLst/>
                <a:gdLst>
                  <a:gd name="T0" fmla="*/ 11 w 15"/>
                  <a:gd name="T1" fmla="*/ 0 h 15"/>
                  <a:gd name="T2" fmla="*/ 0 w 15"/>
                  <a:gd name="T3" fmla="*/ 8 h 15"/>
                  <a:gd name="T4" fmla="*/ 4 w 15"/>
                  <a:gd name="T5" fmla="*/ 15 h 15"/>
                  <a:gd name="T6" fmla="*/ 15 w 15"/>
                  <a:gd name="T7" fmla="*/ 4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4" y="15"/>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0" name="Freeform 300"/>
              <p:cNvSpPr/>
              <p:nvPr/>
            </p:nvSpPr>
            <p:spPr bwMode="auto">
              <a:xfrm>
                <a:off x="2605" y="3464"/>
                <a:ext cx="19" cy="16"/>
              </a:xfrm>
              <a:custGeom>
                <a:avLst/>
                <a:gdLst>
                  <a:gd name="T0" fmla="*/ 11 w 19"/>
                  <a:gd name="T1" fmla="*/ 0 h 16"/>
                  <a:gd name="T2" fmla="*/ 0 w 19"/>
                  <a:gd name="T3" fmla="*/ 12 h 16"/>
                  <a:gd name="T4" fmla="*/ 4 w 19"/>
                  <a:gd name="T5" fmla="*/ 16 h 16"/>
                  <a:gd name="T6" fmla="*/ 19 w 19"/>
                  <a:gd name="T7" fmla="*/ 8 h 16"/>
                  <a:gd name="T8" fmla="*/ 11 w 19"/>
                  <a:gd name="T9" fmla="*/ 0 h 16"/>
                </a:gdLst>
                <a:ahLst/>
                <a:cxnLst>
                  <a:cxn ang="0">
                    <a:pos x="T0" y="T1"/>
                  </a:cxn>
                  <a:cxn ang="0">
                    <a:pos x="T2" y="T3"/>
                  </a:cxn>
                  <a:cxn ang="0">
                    <a:pos x="T4" y="T5"/>
                  </a:cxn>
                  <a:cxn ang="0">
                    <a:pos x="T6" y="T7"/>
                  </a:cxn>
                  <a:cxn ang="0">
                    <a:pos x="T8" y="T9"/>
                  </a:cxn>
                </a:cxnLst>
                <a:rect l="0" t="0" r="r" b="b"/>
                <a:pathLst>
                  <a:path w="19" h="16">
                    <a:moveTo>
                      <a:pt x="11" y="0"/>
                    </a:moveTo>
                    <a:lnTo>
                      <a:pt x="0" y="12"/>
                    </a:lnTo>
                    <a:lnTo>
                      <a:pt x="4" y="16"/>
                    </a:lnTo>
                    <a:lnTo>
                      <a:pt x="19"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1" name="Freeform 301"/>
              <p:cNvSpPr/>
              <p:nvPr/>
            </p:nvSpPr>
            <p:spPr bwMode="auto">
              <a:xfrm>
                <a:off x="2582" y="3483"/>
                <a:ext cx="15" cy="16"/>
              </a:xfrm>
              <a:custGeom>
                <a:avLst/>
                <a:gdLst>
                  <a:gd name="T0" fmla="*/ 11 w 15"/>
                  <a:gd name="T1" fmla="*/ 0 h 16"/>
                  <a:gd name="T2" fmla="*/ 0 w 15"/>
                  <a:gd name="T3" fmla="*/ 8 h 16"/>
                  <a:gd name="T4" fmla="*/ 4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4"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2" name="Freeform 302"/>
              <p:cNvSpPr/>
              <p:nvPr/>
            </p:nvSpPr>
            <p:spPr bwMode="auto">
              <a:xfrm>
                <a:off x="2555" y="3503"/>
                <a:ext cx="19" cy="15"/>
              </a:xfrm>
              <a:custGeom>
                <a:avLst/>
                <a:gdLst>
                  <a:gd name="T0" fmla="*/ 11 w 19"/>
                  <a:gd name="T1" fmla="*/ 0 h 15"/>
                  <a:gd name="T2" fmla="*/ 0 w 19"/>
                  <a:gd name="T3" fmla="*/ 7 h 15"/>
                  <a:gd name="T4" fmla="*/ 4 w 19"/>
                  <a:gd name="T5" fmla="*/ 15 h 15"/>
                  <a:gd name="T6" fmla="*/ 19 w 19"/>
                  <a:gd name="T7" fmla="*/ 4 h 15"/>
                  <a:gd name="T8" fmla="*/ 11 w 19"/>
                  <a:gd name="T9" fmla="*/ 0 h 15"/>
                </a:gdLst>
                <a:ahLst/>
                <a:cxnLst>
                  <a:cxn ang="0">
                    <a:pos x="T0" y="T1"/>
                  </a:cxn>
                  <a:cxn ang="0">
                    <a:pos x="T2" y="T3"/>
                  </a:cxn>
                  <a:cxn ang="0">
                    <a:pos x="T4" y="T5"/>
                  </a:cxn>
                  <a:cxn ang="0">
                    <a:pos x="T6" y="T7"/>
                  </a:cxn>
                  <a:cxn ang="0">
                    <a:pos x="T8" y="T9"/>
                  </a:cxn>
                </a:cxnLst>
                <a:rect l="0" t="0" r="r" b="b"/>
                <a:pathLst>
                  <a:path w="19" h="15">
                    <a:moveTo>
                      <a:pt x="11" y="0"/>
                    </a:moveTo>
                    <a:lnTo>
                      <a:pt x="0" y="7"/>
                    </a:lnTo>
                    <a:lnTo>
                      <a:pt x="4" y="15"/>
                    </a:lnTo>
                    <a:lnTo>
                      <a:pt x="19"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3" name="Freeform 303"/>
              <p:cNvSpPr/>
              <p:nvPr/>
            </p:nvSpPr>
            <p:spPr bwMode="auto">
              <a:xfrm>
                <a:off x="2532" y="3518"/>
                <a:ext cx="15" cy="15"/>
              </a:xfrm>
              <a:custGeom>
                <a:avLst/>
                <a:gdLst>
                  <a:gd name="T0" fmla="*/ 11 w 15"/>
                  <a:gd name="T1" fmla="*/ 0 h 15"/>
                  <a:gd name="T2" fmla="*/ 0 w 15"/>
                  <a:gd name="T3" fmla="*/ 12 h 15"/>
                  <a:gd name="T4" fmla="*/ 4 w 15"/>
                  <a:gd name="T5" fmla="*/ 15 h 15"/>
                  <a:gd name="T6" fmla="*/ 15 w 15"/>
                  <a:gd name="T7" fmla="*/ 8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12"/>
                    </a:lnTo>
                    <a:lnTo>
                      <a:pt x="4" y="15"/>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4" name="Freeform 304"/>
              <p:cNvSpPr/>
              <p:nvPr/>
            </p:nvSpPr>
            <p:spPr bwMode="auto">
              <a:xfrm>
                <a:off x="2505" y="3537"/>
                <a:ext cx="19" cy="16"/>
              </a:xfrm>
              <a:custGeom>
                <a:avLst/>
                <a:gdLst>
                  <a:gd name="T0" fmla="*/ 12 w 19"/>
                  <a:gd name="T1" fmla="*/ 0 h 16"/>
                  <a:gd name="T2" fmla="*/ 0 w 19"/>
                  <a:gd name="T3" fmla="*/ 8 h 16"/>
                  <a:gd name="T4" fmla="*/ 4 w 19"/>
                  <a:gd name="T5" fmla="*/ 16 h 16"/>
                  <a:gd name="T6" fmla="*/ 19 w 19"/>
                  <a:gd name="T7" fmla="*/ 8 h 16"/>
                  <a:gd name="T8" fmla="*/ 12 w 19"/>
                  <a:gd name="T9" fmla="*/ 0 h 16"/>
                </a:gdLst>
                <a:ahLst/>
                <a:cxnLst>
                  <a:cxn ang="0">
                    <a:pos x="T0" y="T1"/>
                  </a:cxn>
                  <a:cxn ang="0">
                    <a:pos x="T2" y="T3"/>
                  </a:cxn>
                  <a:cxn ang="0">
                    <a:pos x="T4" y="T5"/>
                  </a:cxn>
                  <a:cxn ang="0">
                    <a:pos x="T6" y="T7"/>
                  </a:cxn>
                  <a:cxn ang="0">
                    <a:pos x="T8" y="T9"/>
                  </a:cxn>
                </a:cxnLst>
                <a:rect l="0" t="0" r="r" b="b"/>
                <a:pathLst>
                  <a:path w="19" h="16">
                    <a:moveTo>
                      <a:pt x="12" y="0"/>
                    </a:moveTo>
                    <a:lnTo>
                      <a:pt x="0" y="8"/>
                    </a:lnTo>
                    <a:lnTo>
                      <a:pt x="4" y="16"/>
                    </a:lnTo>
                    <a:lnTo>
                      <a:pt x="19"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5" name="Freeform 305"/>
              <p:cNvSpPr/>
              <p:nvPr/>
            </p:nvSpPr>
            <p:spPr bwMode="auto">
              <a:xfrm>
                <a:off x="2482" y="3557"/>
                <a:ext cx="15" cy="15"/>
              </a:xfrm>
              <a:custGeom>
                <a:avLst/>
                <a:gdLst>
                  <a:gd name="T0" fmla="*/ 11 w 15"/>
                  <a:gd name="T1" fmla="*/ 0 h 15"/>
                  <a:gd name="T2" fmla="*/ 0 w 15"/>
                  <a:gd name="T3" fmla="*/ 7 h 15"/>
                  <a:gd name="T4" fmla="*/ 4 w 15"/>
                  <a:gd name="T5" fmla="*/ 15 h 15"/>
                  <a:gd name="T6" fmla="*/ 15 w 15"/>
                  <a:gd name="T7" fmla="*/ 3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7"/>
                    </a:lnTo>
                    <a:lnTo>
                      <a:pt x="4" y="15"/>
                    </a:lnTo>
                    <a:lnTo>
                      <a:pt x="15" y="3"/>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6" name="Freeform 306"/>
              <p:cNvSpPr/>
              <p:nvPr/>
            </p:nvSpPr>
            <p:spPr bwMode="auto">
              <a:xfrm>
                <a:off x="2455" y="3572"/>
                <a:ext cx="19" cy="15"/>
              </a:xfrm>
              <a:custGeom>
                <a:avLst/>
                <a:gdLst>
                  <a:gd name="T0" fmla="*/ 12 w 19"/>
                  <a:gd name="T1" fmla="*/ 0 h 15"/>
                  <a:gd name="T2" fmla="*/ 0 w 19"/>
                  <a:gd name="T3" fmla="*/ 11 h 15"/>
                  <a:gd name="T4" fmla="*/ 4 w 19"/>
                  <a:gd name="T5" fmla="*/ 15 h 15"/>
                  <a:gd name="T6" fmla="*/ 19 w 19"/>
                  <a:gd name="T7" fmla="*/ 8 h 15"/>
                  <a:gd name="T8" fmla="*/ 12 w 19"/>
                  <a:gd name="T9" fmla="*/ 0 h 15"/>
                </a:gdLst>
                <a:ahLst/>
                <a:cxnLst>
                  <a:cxn ang="0">
                    <a:pos x="T0" y="T1"/>
                  </a:cxn>
                  <a:cxn ang="0">
                    <a:pos x="T2" y="T3"/>
                  </a:cxn>
                  <a:cxn ang="0">
                    <a:pos x="T4" y="T5"/>
                  </a:cxn>
                  <a:cxn ang="0">
                    <a:pos x="T6" y="T7"/>
                  </a:cxn>
                  <a:cxn ang="0">
                    <a:pos x="T8" y="T9"/>
                  </a:cxn>
                </a:cxnLst>
                <a:rect l="0" t="0" r="r" b="b"/>
                <a:pathLst>
                  <a:path w="19" h="15">
                    <a:moveTo>
                      <a:pt x="12" y="0"/>
                    </a:moveTo>
                    <a:lnTo>
                      <a:pt x="0" y="11"/>
                    </a:lnTo>
                    <a:lnTo>
                      <a:pt x="4" y="15"/>
                    </a:lnTo>
                    <a:lnTo>
                      <a:pt x="19"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7" name="Freeform 307"/>
              <p:cNvSpPr/>
              <p:nvPr/>
            </p:nvSpPr>
            <p:spPr bwMode="auto">
              <a:xfrm>
                <a:off x="2432" y="3591"/>
                <a:ext cx="15" cy="15"/>
              </a:xfrm>
              <a:custGeom>
                <a:avLst/>
                <a:gdLst>
                  <a:gd name="T0" fmla="*/ 12 w 15"/>
                  <a:gd name="T1" fmla="*/ 0 h 15"/>
                  <a:gd name="T2" fmla="*/ 0 w 15"/>
                  <a:gd name="T3" fmla="*/ 8 h 15"/>
                  <a:gd name="T4" fmla="*/ 4 w 15"/>
                  <a:gd name="T5" fmla="*/ 15 h 15"/>
                  <a:gd name="T6" fmla="*/ 15 w 15"/>
                  <a:gd name="T7" fmla="*/ 8 h 15"/>
                  <a:gd name="T8" fmla="*/ 12 w 15"/>
                  <a:gd name="T9" fmla="*/ 0 h 15"/>
                </a:gdLst>
                <a:ahLst/>
                <a:cxnLst>
                  <a:cxn ang="0">
                    <a:pos x="T0" y="T1"/>
                  </a:cxn>
                  <a:cxn ang="0">
                    <a:pos x="T2" y="T3"/>
                  </a:cxn>
                  <a:cxn ang="0">
                    <a:pos x="T4" y="T5"/>
                  </a:cxn>
                  <a:cxn ang="0">
                    <a:pos x="T6" y="T7"/>
                  </a:cxn>
                  <a:cxn ang="0">
                    <a:pos x="T8" y="T9"/>
                  </a:cxn>
                </a:cxnLst>
                <a:rect l="0" t="0" r="r" b="b"/>
                <a:pathLst>
                  <a:path w="15" h="15">
                    <a:moveTo>
                      <a:pt x="12" y="0"/>
                    </a:moveTo>
                    <a:lnTo>
                      <a:pt x="0" y="8"/>
                    </a:lnTo>
                    <a:lnTo>
                      <a:pt x="4" y="15"/>
                    </a:lnTo>
                    <a:lnTo>
                      <a:pt x="15"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8" name="Freeform 308"/>
              <p:cNvSpPr/>
              <p:nvPr/>
            </p:nvSpPr>
            <p:spPr bwMode="auto">
              <a:xfrm>
                <a:off x="2409" y="2738"/>
                <a:ext cx="1014" cy="619"/>
              </a:xfrm>
              <a:custGeom>
                <a:avLst/>
                <a:gdLst>
                  <a:gd name="T0" fmla="*/ 1007 w 1014"/>
                  <a:gd name="T1" fmla="*/ 619 h 619"/>
                  <a:gd name="T2" fmla="*/ 1014 w 1014"/>
                  <a:gd name="T3" fmla="*/ 8 h 619"/>
                  <a:gd name="T4" fmla="*/ 1014 w 1014"/>
                  <a:gd name="T5" fmla="*/ 4 h 619"/>
                  <a:gd name="T6" fmla="*/ 1007 w 1014"/>
                  <a:gd name="T7" fmla="*/ 4 h 619"/>
                  <a:gd name="T8" fmla="*/ 680 w 1014"/>
                  <a:gd name="T9" fmla="*/ 211 h 619"/>
                  <a:gd name="T10" fmla="*/ 19 w 1014"/>
                  <a:gd name="T11" fmla="*/ 207 h 619"/>
                  <a:gd name="T12" fmla="*/ 357 w 1014"/>
                  <a:gd name="T13" fmla="*/ 8 h 619"/>
                  <a:gd name="T14" fmla="*/ 1003 w 1014"/>
                  <a:gd name="T15" fmla="*/ 8 h 619"/>
                  <a:gd name="T16" fmla="*/ 1003 w 1014"/>
                  <a:gd name="T17" fmla="*/ 0 h 619"/>
                  <a:gd name="T18" fmla="*/ 353 w 1014"/>
                  <a:gd name="T19" fmla="*/ 0 h 619"/>
                  <a:gd name="T20" fmla="*/ 0 w 1014"/>
                  <a:gd name="T21" fmla="*/ 207 h 619"/>
                  <a:gd name="T22" fmla="*/ 0 w 1014"/>
                  <a:gd name="T23" fmla="*/ 215 h 619"/>
                  <a:gd name="T24" fmla="*/ 4 w 1014"/>
                  <a:gd name="T25" fmla="*/ 215 h 619"/>
                  <a:gd name="T26" fmla="*/ 680 w 1014"/>
                  <a:gd name="T27" fmla="*/ 219 h 619"/>
                  <a:gd name="T28" fmla="*/ 684 w 1014"/>
                  <a:gd name="T29" fmla="*/ 219 h 619"/>
                  <a:gd name="T30" fmla="*/ 1007 w 1014"/>
                  <a:gd name="T31" fmla="*/ 15 h 619"/>
                  <a:gd name="T32" fmla="*/ 999 w 1014"/>
                  <a:gd name="T33" fmla="*/ 619 h 619"/>
                  <a:gd name="T34" fmla="*/ 1007 w 1014"/>
                  <a:gd name="T35"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4" h="619">
                    <a:moveTo>
                      <a:pt x="1007" y="619"/>
                    </a:moveTo>
                    <a:lnTo>
                      <a:pt x="1014" y="8"/>
                    </a:lnTo>
                    <a:lnTo>
                      <a:pt x="1014" y="4"/>
                    </a:lnTo>
                    <a:lnTo>
                      <a:pt x="1007" y="4"/>
                    </a:lnTo>
                    <a:lnTo>
                      <a:pt x="680" y="211"/>
                    </a:lnTo>
                    <a:lnTo>
                      <a:pt x="19" y="207"/>
                    </a:lnTo>
                    <a:lnTo>
                      <a:pt x="357" y="8"/>
                    </a:lnTo>
                    <a:lnTo>
                      <a:pt x="1003" y="8"/>
                    </a:lnTo>
                    <a:lnTo>
                      <a:pt x="1003" y="0"/>
                    </a:lnTo>
                    <a:lnTo>
                      <a:pt x="353" y="0"/>
                    </a:lnTo>
                    <a:lnTo>
                      <a:pt x="0" y="207"/>
                    </a:lnTo>
                    <a:lnTo>
                      <a:pt x="0" y="215"/>
                    </a:lnTo>
                    <a:lnTo>
                      <a:pt x="4" y="215"/>
                    </a:lnTo>
                    <a:lnTo>
                      <a:pt x="680" y="219"/>
                    </a:lnTo>
                    <a:lnTo>
                      <a:pt x="684" y="219"/>
                    </a:lnTo>
                    <a:lnTo>
                      <a:pt x="1007" y="15"/>
                    </a:lnTo>
                    <a:lnTo>
                      <a:pt x="999" y="619"/>
                    </a:lnTo>
                    <a:lnTo>
                      <a:pt x="1007" y="6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49" name="Freeform 309"/>
              <p:cNvSpPr/>
              <p:nvPr/>
            </p:nvSpPr>
            <p:spPr bwMode="auto">
              <a:xfrm>
                <a:off x="2413" y="2949"/>
                <a:ext cx="999" cy="673"/>
              </a:xfrm>
              <a:custGeom>
                <a:avLst/>
                <a:gdLst>
                  <a:gd name="T0" fmla="*/ 0 w 999"/>
                  <a:gd name="T1" fmla="*/ 0 h 673"/>
                  <a:gd name="T2" fmla="*/ 0 w 999"/>
                  <a:gd name="T3" fmla="*/ 669 h 673"/>
                  <a:gd name="T4" fmla="*/ 668 w 999"/>
                  <a:gd name="T5" fmla="*/ 673 h 673"/>
                  <a:gd name="T6" fmla="*/ 999 w 999"/>
                  <a:gd name="T7" fmla="*/ 419 h 673"/>
                  <a:gd name="T8" fmla="*/ 991 w 999"/>
                  <a:gd name="T9" fmla="*/ 412 h 673"/>
                  <a:gd name="T10" fmla="*/ 668 w 999"/>
                  <a:gd name="T11" fmla="*/ 665 h 673"/>
                  <a:gd name="T12" fmla="*/ 7 w 999"/>
                  <a:gd name="T13" fmla="*/ 661 h 673"/>
                  <a:gd name="T14" fmla="*/ 7 w 999"/>
                  <a:gd name="T15" fmla="*/ 0 h 673"/>
                  <a:gd name="T16" fmla="*/ 0 w 999"/>
                  <a:gd name="T17" fmla="*/ 0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9" h="673">
                    <a:moveTo>
                      <a:pt x="0" y="0"/>
                    </a:moveTo>
                    <a:lnTo>
                      <a:pt x="0" y="669"/>
                    </a:lnTo>
                    <a:lnTo>
                      <a:pt x="668" y="673"/>
                    </a:lnTo>
                    <a:lnTo>
                      <a:pt x="999" y="419"/>
                    </a:lnTo>
                    <a:lnTo>
                      <a:pt x="991" y="412"/>
                    </a:lnTo>
                    <a:lnTo>
                      <a:pt x="668" y="665"/>
                    </a:lnTo>
                    <a:lnTo>
                      <a:pt x="7" y="661"/>
                    </a:lnTo>
                    <a:lnTo>
                      <a:pt x="7"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50" name="Freeform 310"/>
              <p:cNvSpPr/>
              <p:nvPr/>
            </p:nvSpPr>
            <p:spPr bwMode="auto">
              <a:xfrm>
                <a:off x="3078" y="2953"/>
                <a:ext cx="11" cy="665"/>
              </a:xfrm>
              <a:custGeom>
                <a:avLst/>
                <a:gdLst>
                  <a:gd name="T0" fmla="*/ 7 w 11"/>
                  <a:gd name="T1" fmla="*/ 665 h 665"/>
                  <a:gd name="T2" fmla="*/ 11 w 11"/>
                  <a:gd name="T3" fmla="*/ 0 h 665"/>
                  <a:gd name="T4" fmla="*/ 3 w 11"/>
                  <a:gd name="T5" fmla="*/ 0 h 665"/>
                  <a:gd name="T6" fmla="*/ 0 w 11"/>
                  <a:gd name="T7" fmla="*/ 665 h 665"/>
                  <a:gd name="T8" fmla="*/ 7 w 11"/>
                  <a:gd name="T9" fmla="*/ 665 h 665"/>
                </a:gdLst>
                <a:ahLst/>
                <a:cxnLst>
                  <a:cxn ang="0">
                    <a:pos x="T0" y="T1"/>
                  </a:cxn>
                  <a:cxn ang="0">
                    <a:pos x="T2" y="T3"/>
                  </a:cxn>
                  <a:cxn ang="0">
                    <a:pos x="T4" y="T5"/>
                  </a:cxn>
                  <a:cxn ang="0">
                    <a:pos x="T6" y="T7"/>
                  </a:cxn>
                  <a:cxn ang="0">
                    <a:pos x="T8" y="T9"/>
                  </a:cxn>
                </a:cxnLst>
                <a:rect l="0" t="0" r="r" b="b"/>
                <a:pathLst>
                  <a:path w="11" h="665">
                    <a:moveTo>
                      <a:pt x="7" y="665"/>
                    </a:moveTo>
                    <a:lnTo>
                      <a:pt x="11" y="0"/>
                    </a:lnTo>
                    <a:lnTo>
                      <a:pt x="3" y="0"/>
                    </a:lnTo>
                    <a:lnTo>
                      <a:pt x="0" y="665"/>
                    </a:lnTo>
                    <a:lnTo>
                      <a:pt x="7" y="66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51" name="Rectangle 311"/>
              <p:cNvSpPr>
                <a:spLocks noChangeArrowheads="1"/>
              </p:cNvSpPr>
              <p:nvPr/>
            </p:nvSpPr>
            <p:spPr bwMode="auto">
              <a:xfrm>
                <a:off x="2782" y="3649"/>
                <a:ext cx="1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F</a:t>
                </a:r>
                <a:endParaRPr lang="en-US" altLang="zh-CN" sz="2400" b="0">
                  <a:effectLst>
                    <a:outerShdw blurRad="38100" dist="38100" dir="2700000" algn="tl">
                      <a:srgbClr val="000000"/>
                    </a:outerShdw>
                  </a:effectLst>
                </a:endParaRPr>
              </a:p>
            </p:txBody>
          </p:sp>
          <p:sp>
            <p:nvSpPr>
              <p:cNvPr id="138552" name="Freeform 312"/>
              <p:cNvSpPr/>
              <p:nvPr/>
            </p:nvSpPr>
            <p:spPr bwMode="auto">
              <a:xfrm>
                <a:off x="3681" y="2742"/>
                <a:ext cx="999" cy="876"/>
              </a:xfrm>
              <a:custGeom>
                <a:avLst/>
                <a:gdLst>
                  <a:gd name="T0" fmla="*/ 361 w 999"/>
                  <a:gd name="T1" fmla="*/ 0 h 876"/>
                  <a:gd name="T2" fmla="*/ 7 w 999"/>
                  <a:gd name="T3" fmla="*/ 200 h 876"/>
                  <a:gd name="T4" fmla="*/ 0 w 999"/>
                  <a:gd name="T5" fmla="*/ 872 h 876"/>
                  <a:gd name="T6" fmla="*/ 665 w 999"/>
                  <a:gd name="T7" fmla="*/ 876 h 876"/>
                  <a:gd name="T8" fmla="*/ 999 w 999"/>
                  <a:gd name="T9" fmla="*/ 615 h 876"/>
                  <a:gd name="T10" fmla="*/ 999 w 999"/>
                  <a:gd name="T11" fmla="*/ 0 h 876"/>
                  <a:gd name="T12" fmla="*/ 361 w 999"/>
                  <a:gd name="T13" fmla="*/ 0 h 876"/>
                </a:gdLst>
                <a:ahLst/>
                <a:cxnLst>
                  <a:cxn ang="0">
                    <a:pos x="T0" y="T1"/>
                  </a:cxn>
                  <a:cxn ang="0">
                    <a:pos x="T2" y="T3"/>
                  </a:cxn>
                  <a:cxn ang="0">
                    <a:pos x="T4" y="T5"/>
                  </a:cxn>
                  <a:cxn ang="0">
                    <a:pos x="T6" y="T7"/>
                  </a:cxn>
                  <a:cxn ang="0">
                    <a:pos x="T8" y="T9"/>
                  </a:cxn>
                  <a:cxn ang="0">
                    <a:pos x="T10" y="T11"/>
                  </a:cxn>
                  <a:cxn ang="0">
                    <a:pos x="T12" y="T13"/>
                  </a:cxn>
                </a:cxnLst>
                <a:rect l="0" t="0" r="r" b="b"/>
                <a:pathLst>
                  <a:path w="999" h="876">
                    <a:moveTo>
                      <a:pt x="361" y="0"/>
                    </a:moveTo>
                    <a:lnTo>
                      <a:pt x="7" y="200"/>
                    </a:lnTo>
                    <a:lnTo>
                      <a:pt x="0" y="872"/>
                    </a:lnTo>
                    <a:lnTo>
                      <a:pt x="665" y="876"/>
                    </a:lnTo>
                    <a:lnTo>
                      <a:pt x="999" y="615"/>
                    </a:lnTo>
                    <a:lnTo>
                      <a:pt x="999" y="0"/>
                    </a:lnTo>
                    <a:lnTo>
                      <a:pt x="361" y="0"/>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53" name="Rectangle 313"/>
              <p:cNvSpPr>
                <a:spLocks noChangeArrowheads="1"/>
              </p:cNvSpPr>
              <p:nvPr/>
            </p:nvSpPr>
            <p:spPr bwMode="auto">
              <a:xfrm>
                <a:off x="4664"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54" name="Rectangle 314"/>
              <p:cNvSpPr>
                <a:spLocks noChangeArrowheads="1"/>
              </p:cNvSpPr>
              <p:nvPr/>
            </p:nvSpPr>
            <p:spPr bwMode="auto">
              <a:xfrm>
                <a:off x="4634"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55" name="Rectangle 315"/>
              <p:cNvSpPr>
                <a:spLocks noChangeArrowheads="1"/>
              </p:cNvSpPr>
              <p:nvPr/>
            </p:nvSpPr>
            <p:spPr bwMode="auto">
              <a:xfrm>
                <a:off x="4603"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56" name="Rectangle 316"/>
              <p:cNvSpPr>
                <a:spLocks noChangeArrowheads="1"/>
              </p:cNvSpPr>
              <p:nvPr/>
            </p:nvSpPr>
            <p:spPr bwMode="auto">
              <a:xfrm>
                <a:off x="4572"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57" name="Rectangle 317"/>
              <p:cNvSpPr>
                <a:spLocks noChangeArrowheads="1"/>
              </p:cNvSpPr>
              <p:nvPr/>
            </p:nvSpPr>
            <p:spPr bwMode="auto">
              <a:xfrm>
                <a:off x="4541"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58" name="Rectangle 318"/>
              <p:cNvSpPr>
                <a:spLocks noChangeArrowheads="1"/>
              </p:cNvSpPr>
              <p:nvPr/>
            </p:nvSpPr>
            <p:spPr bwMode="auto">
              <a:xfrm>
                <a:off x="4511"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59" name="Rectangle 319"/>
              <p:cNvSpPr>
                <a:spLocks noChangeArrowheads="1"/>
              </p:cNvSpPr>
              <p:nvPr/>
            </p:nvSpPr>
            <p:spPr bwMode="auto">
              <a:xfrm>
                <a:off x="4480"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0" name="Rectangle 320"/>
              <p:cNvSpPr>
                <a:spLocks noChangeArrowheads="1"/>
              </p:cNvSpPr>
              <p:nvPr/>
            </p:nvSpPr>
            <p:spPr bwMode="auto">
              <a:xfrm>
                <a:off x="4449" y="3357"/>
                <a:ext cx="16"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1" name="Rectangle 321"/>
              <p:cNvSpPr>
                <a:spLocks noChangeArrowheads="1"/>
              </p:cNvSpPr>
              <p:nvPr/>
            </p:nvSpPr>
            <p:spPr bwMode="auto">
              <a:xfrm>
                <a:off x="4419"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2" name="Rectangle 322"/>
              <p:cNvSpPr>
                <a:spLocks noChangeArrowheads="1"/>
              </p:cNvSpPr>
              <p:nvPr/>
            </p:nvSpPr>
            <p:spPr bwMode="auto">
              <a:xfrm>
                <a:off x="4388"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3" name="Rectangle 323"/>
              <p:cNvSpPr>
                <a:spLocks noChangeArrowheads="1"/>
              </p:cNvSpPr>
              <p:nvPr/>
            </p:nvSpPr>
            <p:spPr bwMode="auto">
              <a:xfrm>
                <a:off x="4357" y="3357"/>
                <a:ext cx="15" cy="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4" name="Rectangle 324"/>
              <p:cNvSpPr>
                <a:spLocks noChangeArrowheads="1"/>
              </p:cNvSpPr>
              <p:nvPr/>
            </p:nvSpPr>
            <p:spPr bwMode="auto">
              <a:xfrm>
                <a:off x="4326" y="3353"/>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5" name="Rectangle 325"/>
              <p:cNvSpPr>
                <a:spLocks noChangeArrowheads="1"/>
              </p:cNvSpPr>
              <p:nvPr/>
            </p:nvSpPr>
            <p:spPr bwMode="auto">
              <a:xfrm>
                <a:off x="4296"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6" name="Rectangle 326"/>
              <p:cNvSpPr>
                <a:spLocks noChangeArrowheads="1"/>
              </p:cNvSpPr>
              <p:nvPr/>
            </p:nvSpPr>
            <p:spPr bwMode="auto">
              <a:xfrm>
                <a:off x="4265"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7" name="Rectangle 327"/>
              <p:cNvSpPr>
                <a:spLocks noChangeArrowheads="1"/>
              </p:cNvSpPr>
              <p:nvPr/>
            </p:nvSpPr>
            <p:spPr bwMode="auto">
              <a:xfrm>
                <a:off x="4234"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8" name="Rectangle 328"/>
              <p:cNvSpPr>
                <a:spLocks noChangeArrowheads="1"/>
              </p:cNvSpPr>
              <p:nvPr/>
            </p:nvSpPr>
            <p:spPr bwMode="auto">
              <a:xfrm>
                <a:off x="4203" y="3353"/>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69" name="Rectangle 329"/>
              <p:cNvSpPr>
                <a:spLocks noChangeArrowheads="1"/>
              </p:cNvSpPr>
              <p:nvPr/>
            </p:nvSpPr>
            <p:spPr bwMode="auto">
              <a:xfrm>
                <a:off x="4173"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0" name="Rectangle 330"/>
              <p:cNvSpPr>
                <a:spLocks noChangeArrowheads="1"/>
              </p:cNvSpPr>
              <p:nvPr/>
            </p:nvSpPr>
            <p:spPr bwMode="auto">
              <a:xfrm>
                <a:off x="4142"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1" name="Rectangle 331"/>
              <p:cNvSpPr>
                <a:spLocks noChangeArrowheads="1"/>
              </p:cNvSpPr>
              <p:nvPr/>
            </p:nvSpPr>
            <p:spPr bwMode="auto">
              <a:xfrm>
                <a:off x="4111"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2" name="Rectangle 332"/>
              <p:cNvSpPr>
                <a:spLocks noChangeArrowheads="1"/>
              </p:cNvSpPr>
              <p:nvPr/>
            </p:nvSpPr>
            <p:spPr bwMode="auto">
              <a:xfrm>
                <a:off x="4080" y="3353"/>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3" name="Rectangle 333"/>
              <p:cNvSpPr>
                <a:spLocks noChangeArrowheads="1"/>
              </p:cNvSpPr>
              <p:nvPr/>
            </p:nvSpPr>
            <p:spPr bwMode="auto">
              <a:xfrm>
                <a:off x="4050" y="3353"/>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4" name="Rectangle 334"/>
              <p:cNvSpPr>
                <a:spLocks noChangeArrowheads="1"/>
              </p:cNvSpPr>
              <p:nvPr/>
            </p:nvSpPr>
            <p:spPr bwMode="auto">
              <a:xfrm>
                <a:off x="4030" y="334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5" name="Rectangle 335"/>
              <p:cNvSpPr>
                <a:spLocks noChangeArrowheads="1"/>
              </p:cNvSpPr>
              <p:nvPr/>
            </p:nvSpPr>
            <p:spPr bwMode="auto">
              <a:xfrm>
                <a:off x="4030" y="331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6" name="Rectangle 336"/>
              <p:cNvSpPr>
                <a:spLocks noChangeArrowheads="1"/>
              </p:cNvSpPr>
              <p:nvPr/>
            </p:nvSpPr>
            <p:spPr bwMode="auto">
              <a:xfrm>
                <a:off x="4030" y="328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7" name="Rectangle 337"/>
              <p:cNvSpPr>
                <a:spLocks noChangeArrowheads="1"/>
              </p:cNvSpPr>
              <p:nvPr/>
            </p:nvSpPr>
            <p:spPr bwMode="auto">
              <a:xfrm>
                <a:off x="4030" y="324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8" name="Rectangle 338"/>
              <p:cNvSpPr>
                <a:spLocks noChangeArrowheads="1"/>
              </p:cNvSpPr>
              <p:nvPr/>
            </p:nvSpPr>
            <p:spPr bwMode="auto">
              <a:xfrm>
                <a:off x="4030" y="321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79" name="Rectangle 339"/>
              <p:cNvSpPr>
                <a:spLocks noChangeArrowheads="1"/>
              </p:cNvSpPr>
              <p:nvPr/>
            </p:nvSpPr>
            <p:spPr bwMode="auto">
              <a:xfrm>
                <a:off x="4030" y="3188"/>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0" name="Rectangle 340"/>
              <p:cNvSpPr>
                <a:spLocks noChangeArrowheads="1"/>
              </p:cNvSpPr>
              <p:nvPr/>
            </p:nvSpPr>
            <p:spPr bwMode="auto">
              <a:xfrm>
                <a:off x="4030" y="3157"/>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1" name="Rectangle 341"/>
              <p:cNvSpPr>
                <a:spLocks noChangeArrowheads="1"/>
              </p:cNvSpPr>
              <p:nvPr/>
            </p:nvSpPr>
            <p:spPr bwMode="auto">
              <a:xfrm>
                <a:off x="4030" y="312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2" name="Rectangle 342"/>
              <p:cNvSpPr>
                <a:spLocks noChangeArrowheads="1"/>
              </p:cNvSpPr>
              <p:nvPr/>
            </p:nvSpPr>
            <p:spPr bwMode="auto">
              <a:xfrm>
                <a:off x="4030" y="309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3" name="Rectangle 343"/>
              <p:cNvSpPr>
                <a:spLocks noChangeArrowheads="1"/>
              </p:cNvSpPr>
              <p:nvPr/>
            </p:nvSpPr>
            <p:spPr bwMode="auto">
              <a:xfrm>
                <a:off x="4030" y="306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4" name="Rectangle 344"/>
              <p:cNvSpPr>
                <a:spLocks noChangeArrowheads="1"/>
              </p:cNvSpPr>
              <p:nvPr/>
            </p:nvSpPr>
            <p:spPr bwMode="auto">
              <a:xfrm>
                <a:off x="4034" y="303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5" name="Rectangle 345"/>
              <p:cNvSpPr>
                <a:spLocks noChangeArrowheads="1"/>
              </p:cNvSpPr>
              <p:nvPr/>
            </p:nvSpPr>
            <p:spPr bwMode="auto">
              <a:xfrm>
                <a:off x="4034" y="300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6" name="Rectangle 346"/>
              <p:cNvSpPr>
                <a:spLocks noChangeArrowheads="1"/>
              </p:cNvSpPr>
              <p:nvPr/>
            </p:nvSpPr>
            <p:spPr bwMode="auto">
              <a:xfrm>
                <a:off x="4034" y="2972"/>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7" name="Rectangle 347"/>
              <p:cNvSpPr>
                <a:spLocks noChangeArrowheads="1"/>
              </p:cNvSpPr>
              <p:nvPr/>
            </p:nvSpPr>
            <p:spPr bwMode="auto">
              <a:xfrm>
                <a:off x="4034" y="294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8" name="Rectangle 348"/>
              <p:cNvSpPr>
                <a:spLocks noChangeArrowheads="1"/>
              </p:cNvSpPr>
              <p:nvPr/>
            </p:nvSpPr>
            <p:spPr bwMode="auto">
              <a:xfrm>
                <a:off x="4034" y="291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89" name="Rectangle 349"/>
              <p:cNvSpPr>
                <a:spLocks noChangeArrowheads="1"/>
              </p:cNvSpPr>
              <p:nvPr/>
            </p:nvSpPr>
            <p:spPr bwMode="auto">
              <a:xfrm>
                <a:off x="4034" y="2880"/>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90" name="Rectangle 350"/>
              <p:cNvSpPr>
                <a:spLocks noChangeArrowheads="1"/>
              </p:cNvSpPr>
              <p:nvPr/>
            </p:nvSpPr>
            <p:spPr bwMode="auto">
              <a:xfrm>
                <a:off x="4034" y="284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91" name="Rectangle 351"/>
              <p:cNvSpPr>
                <a:spLocks noChangeArrowheads="1"/>
              </p:cNvSpPr>
              <p:nvPr/>
            </p:nvSpPr>
            <p:spPr bwMode="auto">
              <a:xfrm>
                <a:off x="4034" y="281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92" name="Rectangle 352"/>
              <p:cNvSpPr>
                <a:spLocks noChangeArrowheads="1"/>
              </p:cNvSpPr>
              <p:nvPr/>
            </p:nvSpPr>
            <p:spPr bwMode="auto">
              <a:xfrm>
                <a:off x="4034" y="2788"/>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93" name="Rectangle 353"/>
              <p:cNvSpPr>
                <a:spLocks noChangeArrowheads="1"/>
              </p:cNvSpPr>
              <p:nvPr/>
            </p:nvSpPr>
            <p:spPr bwMode="auto">
              <a:xfrm>
                <a:off x="4034" y="2757"/>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594" name="Freeform 354"/>
              <p:cNvSpPr/>
              <p:nvPr/>
            </p:nvSpPr>
            <p:spPr bwMode="auto">
              <a:xfrm>
                <a:off x="4023" y="3357"/>
                <a:ext cx="19" cy="15"/>
              </a:xfrm>
              <a:custGeom>
                <a:avLst/>
                <a:gdLst>
                  <a:gd name="T0" fmla="*/ 11 w 19"/>
                  <a:gd name="T1" fmla="*/ 0 h 15"/>
                  <a:gd name="T2" fmla="*/ 0 w 19"/>
                  <a:gd name="T3" fmla="*/ 11 h 15"/>
                  <a:gd name="T4" fmla="*/ 4 w 19"/>
                  <a:gd name="T5" fmla="*/ 15 h 15"/>
                  <a:gd name="T6" fmla="*/ 19 w 19"/>
                  <a:gd name="T7" fmla="*/ 7 h 15"/>
                  <a:gd name="T8" fmla="*/ 11 w 19"/>
                  <a:gd name="T9" fmla="*/ 0 h 15"/>
                </a:gdLst>
                <a:ahLst/>
                <a:cxnLst>
                  <a:cxn ang="0">
                    <a:pos x="T0" y="T1"/>
                  </a:cxn>
                  <a:cxn ang="0">
                    <a:pos x="T2" y="T3"/>
                  </a:cxn>
                  <a:cxn ang="0">
                    <a:pos x="T4" y="T5"/>
                  </a:cxn>
                  <a:cxn ang="0">
                    <a:pos x="T6" y="T7"/>
                  </a:cxn>
                  <a:cxn ang="0">
                    <a:pos x="T8" y="T9"/>
                  </a:cxn>
                </a:cxnLst>
                <a:rect l="0" t="0" r="r" b="b"/>
                <a:pathLst>
                  <a:path w="19" h="15">
                    <a:moveTo>
                      <a:pt x="11" y="0"/>
                    </a:moveTo>
                    <a:lnTo>
                      <a:pt x="0" y="11"/>
                    </a:lnTo>
                    <a:lnTo>
                      <a:pt x="4" y="15"/>
                    </a:lnTo>
                    <a:lnTo>
                      <a:pt x="19"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95" name="Freeform 355"/>
              <p:cNvSpPr/>
              <p:nvPr/>
            </p:nvSpPr>
            <p:spPr bwMode="auto">
              <a:xfrm>
                <a:off x="4000" y="3376"/>
                <a:ext cx="15" cy="15"/>
              </a:xfrm>
              <a:custGeom>
                <a:avLst/>
                <a:gdLst>
                  <a:gd name="T0" fmla="*/ 11 w 15"/>
                  <a:gd name="T1" fmla="*/ 0 h 15"/>
                  <a:gd name="T2" fmla="*/ 0 w 15"/>
                  <a:gd name="T3" fmla="*/ 8 h 15"/>
                  <a:gd name="T4" fmla="*/ 4 w 15"/>
                  <a:gd name="T5" fmla="*/ 15 h 15"/>
                  <a:gd name="T6" fmla="*/ 15 w 15"/>
                  <a:gd name="T7" fmla="*/ 4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4" y="15"/>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96" name="Freeform 356"/>
              <p:cNvSpPr/>
              <p:nvPr/>
            </p:nvSpPr>
            <p:spPr bwMode="auto">
              <a:xfrm>
                <a:off x="3973" y="3395"/>
                <a:ext cx="19" cy="12"/>
              </a:xfrm>
              <a:custGeom>
                <a:avLst/>
                <a:gdLst>
                  <a:gd name="T0" fmla="*/ 11 w 19"/>
                  <a:gd name="T1" fmla="*/ 0 h 12"/>
                  <a:gd name="T2" fmla="*/ 0 w 19"/>
                  <a:gd name="T3" fmla="*/ 8 h 12"/>
                  <a:gd name="T4" fmla="*/ 4 w 19"/>
                  <a:gd name="T5" fmla="*/ 12 h 12"/>
                  <a:gd name="T6" fmla="*/ 19 w 19"/>
                  <a:gd name="T7" fmla="*/ 4 h 12"/>
                  <a:gd name="T8" fmla="*/ 11 w 19"/>
                  <a:gd name="T9" fmla="*/ 0 h 12"/>
                </a:gdLst>
                <a:ahLst/>
                <a:cxnLst>
                  <a:cxn ang="0">
                    <a:pos x="T0" y="T1"/>
                  </a:cxn>
                  <a:cxn ang="0">
                    <a:pos x="T2" y="T3"/>
                  </a:cxn>
                  <a:cxn ang="0">
                    <a:pos x="T4" y="T5"/>
                  </a:cxn>
                  <a:cxn ang="0">
                    <a:pos x="T6" y="T7"/>
                  </a:cxn>
                  <a:cxn ang="0">
                    <a:pos x="T8" y="T9"/>
                  </a:cxn>
                </a:cxnLst>
                <a:rect l="0" t="0" r="r" b="b"/>
                <a:pathLst>
                  <a:path w="19" h="12">
                    <a:moveTo>
                      <a:pt x="11" y="0"/>
                    </a:moveTo>
                    <a:lnTo>
                      <a:pt x="0" y="8"/>
                    </a:lnTo>
                    <a:lnTo>
                      <a:pt x="4" y="12"/>
                    </a:lnTo>
                    <a:lnTo>
                      <a:pt x="19"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97" name="Freeform 357"/>
              <p:cNvSpPr/>
              <p:nvPr/>
            </p:nvSpPr>
            <p:spPr bwMode="auto">
              <a:xfrm>
                <a:off x="3950" y="3410"/>
                <a:ext cx="15" cy="16"/>
              </a:xfrm>
              <a:custGeom>
                <a:avLst/>
                <a:gdLst>
                  <a:gd name="T0" fmla="*/ 11 w 15"/>
                  <a:gd name="T1" fmla="*/ 0 h 16"/>
                  <a:gd name="T2" fmla="*/ 0 w 15"/>
                  <a:gd name="T3" fmla="*/ 12 h 16"/>
                  <a:gd name="T4" fmla="*/ 4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12"/>
                    </a:lnTo>
                    <a:lnTo>
                      <a:pt x="4"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98" name="Freeform 358"/>
              <p:cNvSpPr/>
              <p:nvPr/>
            </p:nvSpPr>
            <p:spPr bwMode="auto">
              <a:xfrm>
                <a:off x="3923" y="3430"/>
                <a:ext cx="19" cy="15"/>
              </a:xfrm>
              <a:custGeom>
                <a:avLst/>
                <a:gdLst>
                  <a:gd name="T0" fmla="*/ 11 w 19"/>
                  <a:gd name="T1" fmla="*/ 0 h 15"/>
                  <a:gd name="T2" fmla="*/ 0 w 19"/>
                  <a:gd name="T3" fmla="*/ 7 h 15"/>
                  <a:gd name="T4" fmla="*/ 4 w 19"/>
                  <a:gd name="T5" fmla="*/ 15 h 15"/>
                  <a:gd name="T6" fmla="*/ 19 w 19"/>
                  <a:gd name="T7" fmla="*/ 4 h 15"/>
                  <a:gd name="T8" fmla="*/ 11 w 19"/>
                  <a:gd name="T9" fmla="*/ 0 h 15"/>
                </a:gdLst>
                <a:ahLst/>
                <a:cxnLst>
                  <a:cxn ang="0">
                    <a:pos x="T0" y="T1"/>
                  </a:cxn>
                  <a:cxn ang="0">
                    <a:pos x="T2" y="T3"/>
                  </a:cxn>
                  <a:cxn ang="0">
                    <a:pos x="T4" y="T5"/>
                  </a:cxn>
                  <a:cxn ang="0">
                    <a:pos x="T6" y="T7"/>
                  </a:cxn>
                  <a:cxn ang="0">
                    <a:pos x="T8" y="T9"/>
                  </a:cxn>
                </a:cxnLst>
                <a:rect l="0" t="0" r="r" b="b"/>
                <a:pathLst>
                  <a:path w="19" h="15">
                    <a:moveTo>
                      <a:pt x="11" y="0"/>
                    </a:moveTo>
                    <a:lnTo>
                      <a:pt x="0" y="7"/>
                    </a:lnTo>
                    <a:lnTo>
                      <a:pt x="4" y="15"/>
                    </a:lnTo>
                    <a:lnTo>
                      <a:pt x="19"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599" name="Freeform 359"/>
              <p:cNvSpPr/>
              <p:nvPr/>
            </p:nvSpPr>
            <p:spPr bwMode="auto">
              <a:xfrm>
                <a:off x="3900" y="3449"/>
                <a:ext cx="15" cy="15"/>
              </a:xfrm>
              <a:custGeom>
                <a:avLst/>
                <a:gdLst>
                  <a:gd name="T0" fmla="*/ 11 w 15"/>
                  <a:gd name="T1" fmla="*/ 0 h 15"/>
                  <a:gd name="T2" fmla="*/ 0 w 15"/>
                  <a:gd name="T3" fmla="*/ 8 h 15"/>
                  <a:gd name="T4" fmla="*/ 4 w 15"/>
                  <a:gd name="T5" fmla="*/ 15 h 15"/>
                  <a:gd name="T6" fmla="*/ 15 w 15"/>
                  <a:gd name="T7" fmla="*/ 4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8"/>
                    </a:lnTo>
                    <a:lnTo>
                      <a:pt x="4" y="15"/>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0" name="Freeform 360"/>
              <p:cNvSpPr/>
              <p:nvPr/>
            </p:nvSpPr>
            <p:spPr bwMode="auto">
              <a:xfrm>
                <a:off x="3873" y="3464"/>
                <a:ext cx="19" cy="16"/>
              </a:xfrm>
              <a:custGeom>
                <a:avLst/>
                <a:gdLst>
                  <a:gd name="T0" fmla="*/ 11 w 19"/>
                  <a:gd name="T1" fmla="*/ 0 h 16"/>
                  <a:gd name="T2" fmla="*/ 0 w 19"/>
                  <a:gd name="T3" fmla="*/ 12 h 16"/>
                  <a:gd name="T4" fmla="*/ 4 w 19"/>
                  <a:gd name="T5" fmla="*/ 16 h 16"/>
                  <a:gd name="T6" fmla="*/ 19 w 19"/>
                  <a:gd name="T7" fmla="*/ 8 h 16"/>
                  <a:gd name="T8" fmla="*/ 11 w 19"/>
                  <a:gd name="T9" fmla="*/ 0 h 16"/>
                </a:gdLst>
                <a:ahLst/>
                <a:cxnLst>
                  <a:cxn ang="0">
                    <a:pos x="T0" y="T1"/>
                  </a:cxn>
                  <a:cxn ang="0">
                    <a:pos x="T2" y="T3"/>
                  </a:cxn>
                  <a:cxn ang="0">
                    <a:pos x="T4" y="T5"/>
                  </a:cxn>
                  <a:cxn ang="0">
                    <a:pos x="T6" y="T7"/>
                  </a:cxn>
                  <a:cxn ang="0">
                    <a:pos x="T8" y="T9"/>
                  </a:cxn>
                </a:cxnLst>
                <a:rect l="0" t="0" r="r" b="b"/>
                <a:pathLst>
                  <a:path w="19" h="16">
                    <a:moveTo>
                      <a:pt x="11" y="0"/>
                    </a:moveTo>
                    <a:lnTo>
                      <a:pt x="0" y="12"/>
                    </a:lnTo>
                    <a:lnTo>
                      <a:pt x="4" y="16"/>
                    </a:lnTo>
                    <a:lnTo>
                      <a:pt x="19"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1" name="Freeform 361"/>
              <p:cNvSpPr/>
              <p:nvPr/>
            </p:nvSpPr>
            <p:spPr bwMode="auto">
              <a:xfrm>
                <a:off x="3850" y="3483"/>
                <a:ext cx="15" cy="16"/>
              </a:xfrm>
              <a:custGeom>
                <a:avLst/>
                <a:gdLst>
                  <a:gd name="T0" fmla="*/ 11 w 15"/>
                  <a:gd name="T1" fmla="*/ 0 h 16"/>
                  <a:gd name="T2" fmla="*/ 0 w 15"/>
                  <a:gd name="T3" fmla="*/ 8 h 16"/>
                  <a:gd name="T4" fmla="*/ 4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4"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2" name="Freeform 362"/>
              <p:cNvSpPr/>
              <p:nvPr/>
            </p:nvSpPr>
            <p:spPr bwMode="auto">
              <a:xfrm>
                <a:off x="3823" y="3503"/>
                <a:ext cx="19" cy="15"/>
              </a:xfrm>
              <a:custGeom>
                <a:avLst/>
                <a:gdLst>
                  <a:gd name="T0" fmla="*/ 11 w 19"/>
                  <a:gd name="T1" fmla="*/ 0 h 15"/>
                  <a:gd name="T2" fmla="*/ 0 w 19"/>
                  <a:gd name="T3" fmla="*/ 7 h 15"/>
                  <a:gd name="T4" fmla="*/ 4 w 19"/>
                  <a:gd name="T5" fmla="*/ 15 h 15"/>
                  <a:gd name="T6" fmla="*/ 19 w 19"/>
                  <a:gd name="T7" fmla="*/ 4 h 15"/>
                  <a:gd name="T8" fmla="*/ 11 w 19"/>
                  <a:gd name="T9" fmla="*/ 0 h 15"/>
                </a:gdLst>
                <a:ahLst/>
                <a:cxnLst>
                  <a:cxn ang="0">
                    <a:pos x="T0" y="T1"/>
                  </a:cxn>
                  <a:cxn ang="0">
                    <a:pos x="T2" y="T3"/>
                  </a:cxn>
                  <a:cxn ang="0">
                    <a:pos x="T4" y="T5"/>
                  </a:cxn>
                  <a:cxn ang="0">
                    <a:pos x="T6" y="T7"/>
                  </a:cxn>
                  <a:cxn ang="0">
                    <a:pos x="T8" y="T9"/>
                  </a:cxn>
                </a:cxnLst>
                <a:rect l="0" t="0" r="r" b="b"/>
                <a:pathLst>
                  <a:path w="19" h="15">
                    <a:moveTo>
                      <a:pt x="11" y="0"/>
                    </a:moveTo>
                    <a:lnTo>
                      <a:pt x="0" y="7"/>
                    </a:lnTo>
                    <a:lnTo>
                      <a:pt x="4" y="15"/>
                    </a:lnTo>
                    <a:lnTo>
                      <a:pt x="19"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3" name="Freeform 363"/>
              <p:cNvSpPr/>
              <p:nvPr/>
            </p:nvSpPr>
            <p:spPr bwMode="auto">
              <a:xfrm>
                <a:off x="3800" y="3518"/>
                <a:ext cx="15" cy="15"/>
              </a:xfrm>
              <a:custGeom>
                <a:avLst/>
                <a:gdLst>
                  <a:gd name="T0" fmla="*/ 11 w 15"/>
                  <a:gd name="T1" fmla="*/ 0 h 15"/>
                  <a:gd name="T2" fmla="*/ 0 w 15"/>
                  <a:gd name="T3" fmla="*/ 12 h 15"/>
                  <a:gd name="T4" fmla="*/ 4 w 15"/>
                  <a:gd name="T5" fmla="*/ 15 h 15"/>
                  <a:gd name="T6" fmla="*/ 15 w 15"/>
                  <a:gd name="T7" fmla="*/ 8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12"/>
                    </a:lnTo>
                    <a:lnTo>
                      <a:pt x="4" y="15"/>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4" name="Freeform 364"/>
              <p:cNvSpPr/>
              <p:nvPr/>
            </p:nvSpPr>
            <p:spPr bwMode="auto">
              <a:xfrm>
                <a:off x="3773" y="3537"/>
                <a:ext cx="19" cy="16"/>
              </a:xfrm>
              <a:custGeom>
                <a:avLst/>
                <a:gdLst>
                  <a:gd name="T0" fmla="*/ 12 w 19"/>
                  <a:gd name="T1" fmla="*/ 0 h 16"/>
                  <a:gd name="T2" fmla="*/ 0 w 19"/>
                  <a:gd name="T3" fmla="*/ 8 h 16"/>
                  <a:gd name="T4" fmla="*/ 4 w 19"/>
                  <a:gd name="T5" fmla="*/ 16 h 16"/>
                  <a:gd name="T6" fmla="*/ 19 w 19"/>
                  <a:gd name="T7" fmla="*/ 8 h 16"/>
                  <a:gd name="T8" fmla="*/ 12 w 19"/>
                  <a:gd name="T9" fmla="*/ 0 h 16"/>
                </a:gdLst>
                <a:ahLst/>
                <a:cxnLst>
                  <a:cxn ang="0">
                    <a:pos x="T0" y="T1"/>
                  </a:cxn>
                  <a:cxn ang="0">
                    <a:pos x="T2" y="T3"/>
                  </a:cxn>
                  <a:cxn ang="0">
                    <a:pos x="T4" y="T5"/>
                  </a:cxn>
                  <a:cxn ang="0">
                    <a:pos x="T6" y="T7"/>
                  </a:cxn>
                  <a:cxn ang="0">
                    <a:pos x="T8" y="T9"/>
                  </a:cxn>
                </a:cxnLst>
                <a:rect l="0" t="0" r="r" b="b"/>
                <a:pathLst>
                  <a:path w="19" h="16">
                    <a:moveTo>
                      <a:pt x="12" y="0"/>
                    </a:moveTo>
                    <a:lnTo>
                      <a:pt x="0" y="8"/>
                    </a:lnTo>
                    <a:lnTo>
                      <a:pt x="4" y="16"/>
                    </a:lnTo>
                    <a:lnTo>
                      <a:pt x="19"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5" name="Freeform 365"/>
              <p:cNvSpPr/>
              <p:nvPr/>
            </p:nvSpPr>
            <p:spPr bwMode="auto">
              <a:xfrm>
                <a:off x="3750" y="3557"/>
                <a:ext cx="15" cy="15"/>
              </a:xfrm>
              <a:custGeom>
                <a:avLst/>
                <a:gdLst>
                  <a:gd name="T0" fmla="*/ 11 w 15"/>
                  <a:gd name="T1" fmla="*/ 0 h 15"/>
                  <a:gd name="T2" fmla="*/ 0 w 15"/>
                  <a:gd name="T3" fmla="*/ 7 h 15"/>
                  <a:gd name="T4" fmla="*/ 4 w 15"/>
                  <a:gd name="T5" fmla="*/ 15 h 15"/>
                  <a:gd name="T6" fmla="*/ 15 w 15"/>
                  <a:gd name="T7" fmla="*/ 3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7"/>
                    </a:lnTo>
                    <a:lnTo>
                      <a:pt x="4" y="15"/>
                    </a:lnTo>
                    <a:lnTo>
                      <a:pt x="15" y="3"/>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6" name="Freeform 366"/>
              <p:cNvSpPr/>
              <p:nvPr/>
            </p:nvSpPr>
            <p:spPr bwMode="auto">
              <a:xfrm>
                <a:off x="3723" y="3572"/>
                <a:ext cx="19" cy="15"/>
              </a:xfrm>
              <a:custGeom>
                <a:avLst/>
                <a:gdLst>
                  <a:gd name="T0" fmla="*/ 12 w 19"/>
                  <a:gd name="T1" fmla="*/ 0 h 15"/>
                  <a:gd name="T2" fmla="*/ 0 w 19"/>
                  <a:gd name="T3" fmla="*/ 11 h 15"/>
                  <a:gd name="T4" fmla="*/ 4 w 19"/>
                  <a:gd name="T5" fmla="*/ 15 h 15"/>
                  <a:gd name="T6" fmla="*/ 19 w 19"/>
                  <a:gd name="T7" fmla="*/ 8 h 15"/>
                  <a:gd name="T8" fmla="*/ 12 w 19"/>
                  <a:gd name="T9" fmla="*/ 0 h 15"/>
                </a:gdLst>
                <a:ahLst/>
                <a:cxnLst>
                  <a:cxn ang="0">
                    <a:pos x="T0" y="T1"/>
                  </a:cxn>
                  <a:cxn ang="0">
                    <a:pos x="T2" y="T3"/>
                  </a:cxn>
                  <a:cxn ang="0">
                    <a:pos x="T4" y="T5"/>
                  </a:cxn>
                  <a:cxn ang="0">
                    <a:pos x="T6" y="T7"/>
                  </a:cxn>
                  <a:cxn ang="0">
                    <a:pos x="T8" y="T9"/>
                  </a:cxn>
                </a:cxnLst>
                <a:rect l="0" t="0" r="r" b="b"/>
                <a:pathLst>
                  <a:path w="19" h="15">
                    <a:moveTo>
                      <a:pt x="12" y="0"/>
                    </a:moveTo>
                    <a:lnTo>
                      <a:pt x="0" y="11"/>
                    </a:lnTo>
                    <a:lnTo>
                      <a:pt x="4" y="15"/>
                    </a:lnTo>
                    <a:lnTo>
                      <a:pt x="19"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7" name="Freeform 367"/>
              <p:cNvSpPr/>
              <p:nvPr/>
            </p:nvSpPr>
            <p:spPr bwMode="auto">
              <a:xfrm>
                <a:off x="3700" y="3591"/>
                <a:ext cx="15" cy="15"/>
              </a:xfrm>
              <a:custGeom>
                <a:avLst/>
                <a:gdLst>
                  <a:gd name="T0" fmla="*/ 12 w 15"/>
                  <a:gd name="T1" fmla="*/ 0 h 15"/>
                  <a:gd name="T2" fmla="*/ 0 w 15"/>
                  <a:gd name="T3" fmla="*/ 8 h 15"/>
                  <a:gd name="T4" fmla="*/ 4 w 15"/>
                  <a:gd name="T5" fmla="*/ 15 h 15"/>
                  <a:gd name="T6" fmla="*/ 15 w 15"/>
                  <a:gd name="T7" fmla="*/ 8 h 15"/>
                  <a:gd name="T8" fmla="*/ 12 w 15"/>
                  <a:gd name="T9" fmla="*/ 0 h 15"/>
                </a:gdLst>
                <a:ahLst/>
                <a:cxnLst>
                  <a:cxn ang="0">
                    <a:pos x="T0" y="T1"/>
                  </a:cxn>
                  <a:cxn ang="0">
                    <a:pos x="T2" y="T3"/>
                  </a:cxn>
                  <a:cxn ang="0">
                    <a:pos x="T4" y="T5"/>
                  </a:cxn>
                  <a:cxn ang="0">
                    <a:pos x="T6" y="T7"/>
                  </a:cxn>
                  <a:cxn ang="0">
                    <a:pos x="T8" y="T9"/>
                  </a:cxn>
                </a:cxnLst>
                <a:rect l="0" t="0" r="r" b="b"/>
                <a:pathLst>
                  <a:path w="15" h="15">
                    <a:moveTo>
                      <a:pt x="12" y="0"/>
                    </a:moveTo>
                    <a:lnTo>
                      <a:pt x="0" y="8"/>
                    </a:lnTo>
                    <a:lnTo>
                      <a:pt x="4" y="15"/>
                    </a:lnTo>
                    <a:lnTo>
                      <a:pt x="15"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8" name="Freeform 368"/>
              <p:cNvSpPr/>
              <p:nvPr/>
            </p:nvSpPr>
            <p:spPr bwMode="auto">
              <a:xfrm>
                <a:off x="3677" y="2738"/>
                <a:ext cx="1014" cy="619"/>
              </a:xfrm>
              <a:custGeom>
                <a:avLst/>
                <a:gdLst>
                  <a:gd name="T0" fmla="*/ 1007 w 1014"/>
                  <a:gd name="T1" fmla="*/ 619 h 619"/>
                  <a:gd name="T2" fmla="*/ 1014 w 1014"/>
                  <a:gd name="T3" fmla="*/ 8 h 619"/>
                  <a:gd name="T4" fmla="*/ 1014 w 1014"/>
                  <a:gd name="T5" fmla="*/ 4 h 619"/>
                  <a:gd name="T6" fmla="*/ 1007 w 1014"/>
                  <a:gd name="T7" fmla="*/ 4 h 619"/>
                  <a:gd name="T8" fmla="*/ 680 w 1014"/>
                  <a:gd name="T9" fmla="*/ 211 h 619"/>
                  <a:gd name="T10" fmla="*/ 19 w 1014"/>
                  <a:gd name="T11" fmla="*/ 207 h 619"/>
                  <a:gd name="T12" fmla="*/ 357 w 1014"/>
                  <a:gd name="T13" fmla="*/ 8 h 619"/>
                  <a:gd name="T14" fmla="*/ 1003 w 1014"/>
                  <a:gd name="T15" fmla="*/ 8 h 619"/>
                  <a:gd name="T16" fmla="*/ 1003 w 1014"/>
                  <a:gd name="T17" fmla="*/ 0 h 619"/>
                  <a:gd name="T18" fmla="*/ 353 w 1014"/>
                  <a:gd name="T19" fmla="*/ 0 h 619"/>
                  <a:gd name="T20" fmla="*/ 0 w 1014"/>
                  <a:gd name="T21" fmla="*/ 207 h 619"/>
                  <a:gd name="T22" fmla="*/ 0 w 1014"/>
                  <a:gd name="T23" fmla="*/ 215 h 619"/>
                  <a:gd name="T24" fmla="*/ 4 w 1014"/>
                  <a:gd name="T25" fmla="*/ 215 h 619"/>
                  <a:gd name="T26" fmla="*/ 680 w 1014"/>
                  <a:gd name="T27" fmla="*/ 219 h 619"/>
                  <a:gd name="T28" fmla="*/ 684 w 1014"/>
                  <a:gd name="T29" fmla="*/ 219 h 619"/>
                  <a:gd name="T30" fmla="*/ 1007 w 1014"/>
                  <a:gd name="T31" fmla="*/ 15 h 619"/>
                  <a:gd name="T32" fmla="*/ 999 w 1014"/>
                  <a:gd name="T33" fmla="*/ 619 h 619"/>
                  <a:gd name="T34" fmla="*/ 1007 w 1014"/>
                  <a:gd name="T35"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4" h="619">
                    <a:moveTo>
                      <a:pt x="1007" y="619"/>
                    </a:moveTo>
                    <a:lnTo>
                      <a:pt x="1014" y="8"/>
                    </a:lnTo>
                    <a:lnTo>
                      <a:pt x="1014" y="4"/>
                    </a:lnTo>
                    <a:lnTo>
                      <a:pt x="1007" y="4"/>
                    </a:lnTo>
                    <a:lnTo>
                      <a:pt x="680" y="211"/>
                    </a:lnTo>
                    <a:lnTo>
                      <a:pt x="19" y="207"/>
                    </a:lnTo>
                    <a:lnTo>
                      <a:pt x="357" y="8"/>
                    </a:lnTo>
                    <a:lnTo>
                      <a:pt x="1003" y="8"/>
                    </a:lnTo>
                    <a:lnTo>
                      <a:pt x="1003" y="0"/>
                    </a:lnTo>
                    <a:lnTo>
                      <a:pt x="353" y="0"/>
                    </a:lnTo>
                    <a:lnTo>
                      <a:pt x="0" y="207"/>
                    </a:lnTo>
                    <a:lnTo>
                      <a:pt x="0" y="215"/>
                    </a:lnTo>
                    <a:lnTo>
                      <a:pt x="4" y="215"/>
                    </a:lnTo>
                    <a:lnTo>
                      <a:pt x="680" y="219"/>
                    </a:lnTo>
                    <a:lnTo>
                      <a:pt x="684" y="219"/>
                    </a:lnTo>
                    <a:lnTo>
                      <a:pt x="1007" y="15"/>
                    </a:lnTo>
                    <a:lnTo>
                      <a:pt x="999" y="619"/>
                    </a:lnTo>
                    <a:lnTo>
                      <a:pt x="1007" y="6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09" name="Freeform 369"/>
              <p:cNvSpPr/>
              <p:nvPr/>
            </p:nvSpPr>
            <p:spPr bwMode="auto">
              <a:xfrm>
                <a:off x="3681" y="2949"/>
                <a:ext cx="999" cy="673"/>
              </a:xfrm>
              <a:custGeom>
                <a:avLst/>
                <a:gdLst>
                  <a:gd name="T0" fmla="*/ 0 w 999"/>
                  <a:gd name="T1" fmla="*/ 0 h 673"/>
                  <a:gd name="T2" fmla="*/ 0 w 999"/>
                  <a:gd name="T3" fmla="*/ 669 h 673"/>
                  <a:gd name="T4" fmla="*/ 668 w 999"/>
                  <a:gd name="T5" fmla="*/ 673 h 673"/>
                  <a:gd name="T6" fmla="*/ 999 w 999"/>
                  <a:gd name="T7" fmla="*/ 419 h 673"/>
                  <a:gd name="T8" fmla="*/ 991 w 999"/>
                  <a:gd name="T9" fmla="*/ 412 h 673"/>
                  <a:gd name="T10" fmla="*/ 668 w 999"/>
                  <a:gd name="T11" fmla="*/ 665 h 673"/>
                  <a:gd name="T12" fmla="*/ 7 w 999"/>
                  <a:gd name="T13" fmla="*/ 661 h 673"/>
                  <a:gd name="T14" fmla="*/ 7 w 999"/>
                  <a:gd name="T15" fmla="*/ 0 h 673"/>
                  <a:gd name="T16" fmla="*/ 0 w 999"/>
                  <a:gd name="T17" fmla="*/ 0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9" h="673">
                    <a:moveTo>
                      <a:pt x="0" y="0"/>
                    </a:moveTo>
                    <a:lnTo>
                      <a:pt x="0" y="669"/>
                    </a:lnTo>
                    <a:lnTo>
                      <a:pt x="668" y="673"/>
                    </a:lnTo>
                    <a:lnTo>
                      <a:pt x="999" y="419"/>
                    </a:lnTo>
                    <a:lnTo>
                      <a:pt x="991" y="412"/>
                    </a:lnTo>
                    <a:lnTo>
                      <a:pt x="668" y="665"/>
                    </a:lnTo>
                    <a:lnTo>
                      <a:pt x="7" y="661"/>
                    </a:lnTo>
                    <a:lnTo>
                      <a:pt x="7"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10" name="Freeform 370"/>
              <p:cNvSpPr/>
              <p:nvPr/>
            </p:nvSpPr>
            <p:spPr bwMode="auto">
              <a:xfrm>
                <a:off x="4346" y="2953"/>
                <a:ext cx="11" cy="665"/>
              </a:xfrm>
              <a:custGeom>
                <a:avLst/>
                <a:gdLst>
                  <a:gd name="T0" fmla="*/ 7 w 11"/>
                  <a:gd name="T1" fmla="*/ 665 h 665"/>
                  <a:gd name="T2" fmla="*/ 11 w 11"/>
                  <a:gd name="T3" fmla="*/ 0 h 665"/>
                  <a:gd name="T4" fmla="*/ 3 w 11"/>
                  <a:gd name="T5" fmla="*/ 0 h 665"/>
                  <a:gd name="T6" fmla="*/ 0 w 11"/>
                  <a:gd name="T7" fmla="*/ 665 h 665"/>
                  <a:gd name="T8" fmla="*/ 7 w 11"/>
                  <a:gd name="T9" fmla="*/ 665 h 665"/>
                </a:gdLst>
                <a:ahLst/>
                <a:cxnLst>
                  <a:cxn ang="0">
                    <a:pos x="T0" y="T1"/>
                  </a:cxn>
                  <a:cxn ang="0">
                    <a:pos x="T2" y="T3"/>
                  </a:cxn>
                  <a:cxn ang="0">
                    <a:pos x="T4" y="T5"/>
                  </a:cxn>
                  <a:cxn ang="0">
                    <a:pos x="T6" y="T7"/>
                  </a:cxn>
                  <a:cxn ang="0">
                    <a:pos x="T8" y="T9"/>
                  </a:cxn>
                </a:cxnLst>
                <a:rect l="0" t="0" r="r" b="b"/>
                <a:pathLst>
                  <a:path w="11" h="665">
                    <a:moveTo>
                      <a:pt x="7" y="665"/>
                    </a:moveTo>
                    <a:lnTo>
                      <a:pt x="11" y="0"/>
                    </a:lnTo>
                    <a:lnTo>
                      <a:pt x="3" y="0"/>
                    </a:lnTo>
                    <a:lnTo>
                      <a:pt x="0" y="665"/>
                    </a:lnTo>
                    <a:lnTo>
                      <a:pt x="7" y="665"/>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611" name="Rectangle 371"/>
              <p:cNvSpPr>
                <a:spLocks noChangeArrowheads="1"/>
              </p:cNvSpPr>
              <p:nvPr/>
            </p:nvSpPr>
            <p:spPr bwMode="auto">
              <a:xfrm>
                <a:off x="4050" y="3649"/>
                <a:ext cx="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I</a:t>
                </a:r>
                <a:endParaRPr lang="en-US" altLang="zh-CN" sz="2400" b="0">
                  <a:effectLst>
                    <a:outerShdw blurRad="38100" dist="38100" dir="2700000" algn="tl">
                      <a:srgbClr val="000000"/>
                    </a:outerShdw>
                  </a:effectLst>
                </a:endParaRPr>
              </a:p>
            </p:txBody>
          </p:sp>
          <p:pic>
            <p:nvPicPr>
              <p:cNvPr id="138612" name="Picture 372"/>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486" y="267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13" name="Picture 373"/>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130" y="288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14" name="Picture 374"/>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136" y="354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15" name="Picture 37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795" y="354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16" name="Picture 37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109" y="329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17" name="Picture 37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115" y="267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18" name="Picture 37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807" y="289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19" name="Picture 37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715" y="269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0" name="Picture 38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56" y="269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1" name="Picture 381"/>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56" y="331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2" name="Picture 382"/>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036" y="356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3" name="Picture 383"/>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359" y="356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4" name="Picture 384"/>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715" y="332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5" name="Picture 38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377" y="289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6" name="Picture 38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036" y="292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7" name="Picture 38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858" y="2815"/>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8" name="Picture 38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537" y="313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29" name="Picture 38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858" y="343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0" name="Picture 39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697" y="3225"/>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1" name="Picture 391"/>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196" y="314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2" name="Picture 392"/>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65" y="307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3" name="Picture 393"/>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980" y="269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4" name="Picture 394"/>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633" y="269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5" name="Picture 39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621" y="329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6" name="Picture 39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01" y="356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7" name="Picture 39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42" y="356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8" name="Picture 39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36" y="290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39" name="Picture 39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998" y="330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40" name="Picture 40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140" y="311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8641" name="Line 401"/>
              <p:cNvSpPr>
                <a:spLocks noChangeShapeType="1"/>
              </p:cNvSpPr>
              <p:nvPr/>
            </p:nvSpPr>
            <p:spPr bwMode="auto">
              <a:xfrm flipV="1">
                <a:off x="2904" y="2904"/>
                <a:ext cx="0" cy="5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8642" name="Line 402"/>
              <p:cNvSpPr>
                <a:spLocks noChangeShapeType="1"/>
              </p:cNvSpPr>
              <p:nvPr/>
            </p:nvSpPr>
            <p:spPr bwMode="auto">
              <a:xfrm>
                <a:off x="2631" y="3189"/>
                <a:ext cx="56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8643" name="Line 403"/>
              <p:cNvSpPr>
                <a:spLocks noChangeShapeType="1"/>
              </p:cNvSpPr>
              <p:nvPr/>
            </p:nvSpPr>
            <p:spPr bwMode="auto">
              <a:xfrm flipV="1">
                <a:off x="2791" y="3141"/>
                <a:ext cx="190" cy="10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138671" name="Picture 431"/>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20" y="292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9245" name="Group 1005"/>
          <p:cNvGrpSpPr/>
          <p:nvPr/>
        </p:nvGrpSpPr>
        <p:grpSpPr bwMode="auto">
          <a:xfrm>
            <a:off x="468313" y="333375"/>
            <a:ext cx="3303587" cy="2982913"/>
            <a:chOff x="295" y="210"/>
            <a:chExt cx="2081" cy="1879"/>
          </a:xfrm>
        </p:grpSpPr>
        <p:sp>
          <p:nvSpPr>
            <p:cNvPr id="138245" name="Freeform 5"/>
            <p:cNvSpPr/>
            <p:nvPr/>
          </p:nvSpPr>
          <p:spPr bwMode="auto">
            <a:xfrm>
              <a:off x="525" y="490"/>
              <a:ext cx="780" cy="902"/>
            </a:xfrm>
            <a:custGeom>
              <a:avLst/>
              <a:gdLst>
                <a:gd name="T0" fmla="*/ 311 w 780"/>
                <a:gd name="T1" fmla="*/ 4 h 902"/>
                <a:gd name="T2" fmla="*/ 0 w 780"/>
                <a:gd name="T3" fmla="*/ 111 h 902"/>
                <a:gd name="T4" fmla="*/ 4 w 780"/>
                <a:gd name="T5" fmla="*/ 898 h 902"/>
                <a:gd name="T6" fmla="*/ 545 w 780"/>
                <a:gd name="T7" fmla="*/ 902 h 902"/>
                <a:gd name="T8" fmla="*/ 780 w 780"/>
                <a:gd name="T9" fmla="*/ 756 h 902"/>
                <a:gd name="T10" fmla="*/ 780 w 780"/>
                <a:gd name="T11" fmla="*/ 0 h 902"/>
                <a:gd name="T12" fmla="*/ 311 w 780"/>
                <a:gd name="T13" fmla="*/ 4 h 902"/>
              </a:gdLst>
              <a:ahLst/>
              <a:cxnLst>
                <a:cxn ang="0">
                  <a:pos x="T0" y="T1"/>
                </a:cxn>
                <a:cxn ang="0">
                  <a:pos x="T2" y="T3"/>
                </a:cxn>
                <a:cxn ang="0">
                  <a:pos x="T4" y="T5"/>
                </a:cxn>
                <a:cxn ang="0">
                  <a:pos x="T6" y="T7"/>
                </a:cxn>
                <a:cxn ang="0">
                  <a:pos x="T8" y="T9"/>
                </a:cxn>
                <a:cxn ang="0">
                  <a:pos x="T10" y="T11"/>
                </a:cxn>
                <a:cxn ang="0">
                  <a:pos x="T12" y="T13"/>
                </a:cxn>
              </a:cxnLst>
              <a:rect l="0" t="0" r="r" b="b"/>
              <a:pathLst>
                <a:path w="780" h="902">
                  <a:moveTo>
                    <a:pt x="311" y="4"/>
                  </a:moveTo>
                  <a:lnTo>
                    <a:pt x="0" y="111"/>
                  </a:lnTo>
                  <a:lnTo>
                    <a:pt x="4" y="898"/>
                  </a:lnTo>
                  <a:lnTo>
                    <a:pt x="545" y="902"/>
                  </a:lnTo>
                  <a:lnTo>
                    <a:pt x="780" y="756"/>
                  </a:lnTo>
                  <a:lnTo>
                    <a:pt x="780" y="0"/>
                  </a:lnTo>
                  <a:lnTo>
                    <a:pt x="311" y="4"/>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46" name="Rectangle 6"/>
            <p:cNvSpPr>
              <a:spLocks noChangeArrowheads="1"/>
            </p:cNvSpPr>
            <p:nvPr/>
          </p:nvSpPr>
          <p:spPr bwMode="auto">
            <a:xfrm>
              <a:off x="1259"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47" name="Rectangle 7"/>
            <p:cNvSpPr>
              <a:spLocks noChangeArrowheads="1"/>
            </p:cNvSpPr>
            <p:nvPr/>
          </p:nvSpPr>
          <p:spPr bwMode="auto">
            <a:xfrm>
              <a:off x="1228"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48" name="Rectangle 8"/>
            <p:cNvSpPr>
              <a:spLocks noChangeArrowheads="1"/>
            </p:cNvSpPr>
            <p:nvPr/>
          </p:nvSpPr>
          <p:spPr bwMode="auto">
            <a:xfrm>
              <a:off x="1197"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49" name="Rectangle 9"/>
            <p:cNvSpPr>
              <a:spLocks noChangeArrowheads="1"/>
            </p:cNvSpPr>
            <p:nvPr/>
          </p:nvSpPr>
          <p:spPr bwMode="auto">
            <a:xfrm>
              <a:off x="1166"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0" name="Rectangle 10"/>
            <p:cNvSpPr>
              <a:spLocks noChangeArrowheads="1"/>
            </p:cNvSpPr>
            <p:nvPr/>
          </p:nvSpPr>
          <p:spPr bwMode="auto">
            <a:xfrm>
              <a:off x="1136"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1" name="Rectangle 11"/>
            <p:cNvSpPr>
              <a:spLocks noChangeArrowheads="1"/>
            </p:cNvSpPr>
            <p:nvPr/>
          </p:nvSpPr>
          <p:spPr bwMode="auto">
            <a:xfrm>
              <a:off x="1105"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2" name="Rectangle 12"/>
            <p:cNvSpPr>
              <a:spLocks noChangeArrowheads="1"/>
            </p:cNvSpPr>
            <p:nvPr/>
          </p:nvSpPr>
          <p:spPr bwMode="auto">
            <a:xfrm>
              <a:off x="1074"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3" name="Rectangle 13"/>
            <p:cNvSpPr>
              <a:spLocks noChangeArrowheads="1"/>
            </p:cNvSpPr>
            <p:nvPr/>
          </p:nvSpPr>
          <p:spPr bwMode="auto">
            <a:xfrm>
              <a:off x="1044"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4" name="Rectangle 14"/>
            <p:cNvSpPr>
              <a:spLocks noChangeArrowheads="1"/>
            </p:cNvSpPr>
            <p:nvPr/>
          </p:nvSpPr>
          <p:spPr bwMode="auto">
            <a:xfrm>
              <a:off x="1013"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5" name="Rectangle 15"/>
            <p:cNvSpPr>
              <a:spLocks noChangeArrowheads="1"/>
            </p:cNvSpPr>
            <p:nvPr/>
          </p:nvSpPr>
          <p:spPr bwMode="auto">
            <a:xfrm>
              <a:off x="982"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6" name="Rectangle 16"/>
            <p:cNvSpPr>
              <a:spLocks noChangeArrowheads="1"/>
            </p:cNvSpPr>
            <p:nvPr/>
          </p:nvSpPr>
          <p:spPr bwMode="auto">
            <a:xfrm>
              <a:off x="951"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7" name="Rectangle 17"/>
            <p:cNvSpPr>
              <a:spLocks noChangeArrowheads="1"/>
            </p:cNvSpPr>
            <p:nvPr/>
          </p:nvSpPr>
          <p:spPr bwMode="auto">
            <a:xfrm>
              <a:off x="921"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8" name="Rectangle 18"/>
            <p:cNvSpPr>
              <a:spLocks noChangeArrowheads="1"/>
            </p:cNvSpPr>
            <p:nvPr/>
          </p:nvSpPr>
          <p:spPr bwMode="auto">
            <a:xfrm>
              <a:off x="890"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59" name="Rectangle 19"/>
            <p:cNvSpPr>
              <a:spLocks noChangeArrowheads="1"/>
            </p:cNvSpPr>
            <p:nvPr/>
          </p:nvSpPr>
          <p:spPr bwMode="auto">
            <a:xfrm>
              <a:off x="859"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0" name="Freeform 20"/>
            <p:cNvSpPr/>
            <p:nvPr/>
          </p:nvSpPr>
          <p:spPr bwMode="auto">
            <a:xfrm>
              <a:off x="829" y="1246"/>
              <a:ext cx="15" cy="8"/>
            </a:xfrm>
            <a:custGeom>
              <a:avLst/>
              <a:gdLst>
                <a:gd name="T0" fmla="*/ 15 w 15"/>
                <a:gd name="T1" fmla="*/ 0 h 8"/>
                <a:gd name="T2" fmla="*/ 7 w 15"/>
                <a:gd name="T3" fmla="*/ 4 h 8"/>
                <a:gd name="T4" fmla="*/ 7 w 15"/>
                <a:gd name="T5" fmla="*/ 0 h 8"/>
                <a:gd name="T6" fmla="*/ 0 w 15"/>
                <a:gd name="T7" fmla="*/ 0 h 8"/>
                <a:gd name="T8" fmla="*/ 0 w 15"/>
                <a:gd name="T9" fmla="*/ 8 h 8"/>
                <a:gd name="T10" fmla="*/ 15 w 15"/>
                <a:gd name="T11" fmla="*/ 8 h 8"/>
                <a:gd name="T12" fmla="*/ 15 w 15"/>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5" y="0"/>
                  </a:moveTo>
                  <a:lnTo>
                    <a:pt x="7" y="4"/>
                  </a:lnTo>
                  <a:lnTo>
                    <a:pt x="7" y="0"/>
                  </a:lnTo>
                  <a:lnTo>
                    <a:pt x="0" y="0"/>
                  </a:lnTo>
                  <a:lnTo>
                    <a:pt x="0" y="8"/>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61" name="Rectangle 21"/>
            <p:cNvSpPr>
              <a:spLocks noChangeArrowheads="1"/>
            </p:cNvSpPr>
            <p:nvPr/>
          </p:nvSpPr>
          <p:spPr bwMode="auto">
            <a:xfrm>
              <a:off x="829" y="1215"/>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2" name="Rectangle 22"/>
            <p:cNvSpPr>
              <a:spLocks noChangeArrowheads="1"/>
            </p:cNvSpPr>
            <p:nvPr/>
          </p:nvSpPr>
          <p:spPr bwMode="auto">
            <a:xfrm>
              <a:off x="829" y="1185"/>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3" name="Rectangle 23"/>
            <p:cNvSpPr>
              <a:spLocks noChangeArrowheads="1"/>
            </p:cNvSpPr>
            <p:nvPr/>
          </p:nvSpPr>
          <p:spPr bwMode="auto">
            <a:xfrm>
              <a:off x="829" y="1154"/>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4" name="Rectangle 24"/>
            <p:cNvSpPr>
              <a:spLocks noChangeArrowheads="1"/>
            </p:cNvSpPr>
            <p:nvPr/>
          </p:nvSpPr>
          <p:spPr bwMode="auto">
            <a:xfrm>
              <a:off x="829" y="1123"/>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5" name="Rectangle 25"/>
            <p:cNvSpPr>
              <a:spLocks noChangeArrowheads="1"/>
            </p:cNvSpPr>
            <p:nvPr/>
          </p:nvSpPr>
          <p:spPr bwMode="auto">
            <a:xfrm>
              <a:off x="829" y="1092"/>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6" name="Rectangle 26"/>
            <p:cNvSpPr>
              <a:spLocks noChangeArrowheads="1"/>
            </p:cNvSpPr>
            <p:nvPr/>
          </p:nvSpPr>
          <p:spPr bwMode="auto">
            <a:xfrm>
              <a:off x="829" y="1062"/>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7" name="Rectangle 27"/>
            <p:cNvSpPr>
              <a:spLocks noChangeArrowheads="1"/>
            </p:cNvSpPr>
            <p:nvPr/>
          </p:nvSpPr>
          <p:spPr bwMode="auto">
            <a:xfrm>
              <a:off x="829" y="1031"/>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8" name="Rectangle 28"/>
            <p:cNvSpPr>
              <a:spLocks noChangeArrowheads="1"/>
            </p:cNvSpPr>
            <p:nvPr/>
          </p:nvSpPr>
          <p:spPr bwMode="auto">
            <a:xfrm>
              <a:off x="829" y="1000"/>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69" name="Rectangle 29"/>
            <p:cNvSpPr>
              <a:spLocks noChangeArrowheads="1"/>
            </p:cNvSpPr>
            <p:nvPr/>
          </p:nvSpPr>
          <p:spPr bwMode="auto">
            <a:xfrm>
              <a:off x="829" y="970"/>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0" name="Rectangle 30"/>
            <p:cNvSpPr>
              <a:spLocks noChangeArrowheads="1"/>
            </p:cNvSpPr>
            <p:nvPr/>
          </p:nvSpPr>
          <p:spPr bwMode="auto">
            <a:xfrm>
              <a:off x="829" y="939"/>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1" name="Rectangle 31"/>
            <p:cNvSpPr>
              <a:spLocks noChangeArrowheads="1"/>
            </p:cNvSpPr>
            <p:nvPr/>
          </p:nvSpPr>
          <p:spPr bwMode="auto">
            <a:xfrm>
              <a:off x="829" y="908"/>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2" name="Rectangle 32"/>
            <p:cNvSpPr>
              <a:spLocks noChangeArrowheads="1"/>
            </p:cNvSpPr>
            <p:nvPr/>
          </p:nvSpPr>
          <p:spPr bwMode="auto">
            <a:xfrm>
              <a:off x="829" y="878"/>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3" name="Rectangle 33"/>
            <p:cNvSpPr>
              <a:spLocks noChangeArrowheads="1"/>
            </p:cNvSpPr>
            <p:nvPr/>
          </p:nvSpPr>
          <p:spPr bwMode="auto">
            <a:xfrm>
              <a:off x="829" y="847"/>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4" name="Rectangle 34"/>
            <p:cNvSpPr>
              <a:spLocks noChangeArrowheads="1"/>
            </p:cNvSpPr>
            <p:nvPr/>
          </p:nvSpPr>
          <p:spPr bwMode="auto">
            <a:xfrm>
              <a:off x="829" y="816"/>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5" name="Rectangle 35"/>
            <p:cNvSpPr>
              <a:spLocks noChangeArrowheads="1"/>
            </p:cNvSpPr>
            <p:nvPr/>
          </p:nvSpPr>
          <p:spPr bwMode="auto">
            <a:xfrm>
              <a:off x="829" y="786"/>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6" name="Rectangle 36"/>
            <p:cNvSpPr>
              <a:spLocks noChangeArrowheads="1"/>
            </p:cNvSpPr>
            <p:nvPr/>
          </p:nvSpPr>
          <p:spPr bwMode="auto">
            <a:xfrm>
              <a:off x="829" y="755"/>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7" name="Rectangle 37"/>
            <p:cNvSpPr>
              <a:spLocks noChangeArrowheads="1"/>
            </p:cNvSpPr>
            <p:nvPr/>
          </p:nvSpPr>
          <p:spPr bwMode="auto">
            <a:xfrm>
              <a:off x="829" y="724"/>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8" name="Rectangle 38"/>
            <p:cNvSpPr>
              <a:spLocks noChangeArrowheads="1"/>
            </p:cNvSpPr>
            <p:nvPr/>
          </p:nvSpPr>
          <p:spPr bwMode="auto">
            <a:xfrm>
              <a:off x="829" y="693"/>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79" name="Rectangle 39"/>
            <p:cNvSpPr>
              <a:spLocks noChangeArrowheads="1"/>
            </p:cNvSpPr>
            <p:nvPr/>
          </p:nvSpPr>
          <p:spPr bwMode="auto">
            <a:xfrm>
              <a:off x="829" y="663"/>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80" name="Rectangle 40"/>
            <p:cNvSpPr>
              <a:spLocks noChangeArrowheads="1"/>
            </p:cNvSpPr>
            <p:nvPr/>
          </p:nvSpPr>
          <p:spPr bwMode="auto">
            <a:xfrm>
              <a:off x="829" y="632"/>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81" name="Rectangle 41"/>
            <p:cNvSpPr>
              <a:spLocks noChangeArrowheads="1"/>
            </p:cNvSpPr>
            <p:nvPr/>
          </p:nvSpPr>
          <p:spPr bwMode="auto">
            <a:xfrm>
              <a:off x="829" y="601"/>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82" name="Rectangle 42"/>
            <p:cNvSpPr>
              <a:spLocks noChangeArrowheads="1"/>
            </p:cNvSpPr>
            <p:nvPr/>
          </p:nvSpPr>
          <p:spPr bwMode="auto">
            <a:xfrm>
              <a:off x="829" y="571"/>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83" name="Rectangle 43"/>
            <p:cNvSpPr>
              <a:spLocks noChangeArrowheads="1"/>
            </p:cNvSpPr>
            <p:nvPr/>
          </p:nvSpPr>
          <p:spPr bwMode="auto">
            <a:xfrm>
              <a:off x="829" y="540"/>
              <a:ext cx="7"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84" name="Rectangle 44"/>
            <p:cNvSpPr>
              <a:spLocks noChangeArrowheads="1"/>
            </p:cNvSpPr>
            <p:nvPr/>
          </p:nvSpPr>
          <p:spPr bwMode="auto">
            <a:xfrm>
              <a:off x="829" y="509"/>
              <a:ext cx="7"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85" name="Rectangle 45"/>
            <p:cNvSpPr>
              <a:spLocks noChangeArrowheads="1"/>
            </p:cNvSpPr>
            <p:nvPr/>
          </p:nvSpPr>
          <p:spPr bwMode="auto">
            <a:xfrm>
              <a:off x="829" y="490"/>
              <a:ext cx="7" cy="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286" name="Freeform 46"/>
            <p:cNvSpPr/>
            <p:nvPr/>
          </p:nvSpPr>
          <p:spPr bwMode="auto">
            <a:xfrm>
              <a:off x="806" y="1250"/>
              <a:ext cx="15" cy="15"/>
            </a:xfrm>
            <a:custGeom>
              <a:avLst/>
              <a:gdLst>
                <a:gd name="T0" fmla="*/ 15 w 15"/>
                <a:gd name="T1" fmla="*/ 0 h 15"/>
                <a:gd name="T2" fmla="*/ 0 w 15"/>
                <a:gd name="T3" fmla="*/ 7 h 15"/>
                <a:gd name="T4" fmla="*/ 3 w 15"/>
                <a:gd name="T5" fmla="*/ 15 h 15"/>
                <a:gd name="T6" fmla="*/ 15 w 15"/>
                <a:gd name="T7" fmla="*/ 7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7"/>
                  </a:lnTo>
                  <a:lnTo>
                    <a:pt x="3" y="15"/>
                  </a:lnTo>
                  <a:lnTo>
                    <a:pt x="15"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87" name="Freeform 47"/>
            <p:cNvSpPr/>
            <p:nvPr/>
          </p:nvSpPr>
          <p:spPr bwMode="auto">
            <a:xfrm>
              <a:off x="779" y="1261"/>
              <a:ext cx="15" cy="16"/>
            </a:xfrm>
            <a:custGeom>
              <a:avLst/>
              <a:gdLst>
                <a:gd name="T0" fmla="*/ 11 w 15"/>
                <a:gd name="T1" fmla="*/ 0 h 16"/>
                <a:gd name="T2" fmla="*/ 0 w 15"/>
                <a:gd name="T3" fmla="*/ 8 h 16"/>
                <a:gd name="T4" fmla="*/ 0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0"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88" name="Freeform 48"/>
            <p:cNvSpPr/>
            <p:nvPr/>
          </p:nvSpPr>
          <p:spPr bwMode="auto">
            <a:xfrm>
              <a:off x="748" y="1277"/>
              <a:ext cx="19" cy="11"/>
            </a:xfrm>
            <a:custGeom>
              <a:avLst/>
              <a:gdLst>
                <a:gd name="T0" fmla="*/ 15 w 19"/>
                <a:gd name="T1" fmla="*/ 0 h 11"/>
                <a:gd name="T2" fmla="*/ 0 w 19"/>
                <a:gd name="T3" fmla="*/ 3 h 11"/>
                <a:gd name="T4" fmla="*/ 4 w 19"/>
                <a:gd name="T5" fmla="*/ 11 h 11"/>
                <a:gd name="T6" fmla="*/ 19 w 19"/>
                <a:gd name="T7" fmla="*/ 3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3"/>
                  </a:lnTo>
                  <a:lnTo>
                    <a:pt x="4" y="11"/>
                  </a:lnTo>
                  <a:lnTo>
                    <a:pt x="19" y="3"/>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89" name="Freeform 49"/>
            <p:cNvSpPr/>
            <p:nvPr/>
          </p:nvSpPr>
          <p:spPr bwMode="auto">
            <a:xfrm>
              <a:off x="721" y="1288"/>
              <a:ext cx="19" cy="12"/>
            </a:xfrm>
            <a:custGeom>
              <a:avLst/>
              <a:gdLst>
                <a:gd name="T0" fmla="*/ 15 w 19"/>
                <a:gd name="T1" fmla="*/ 0 h 12"/>
                <a:gd name="T2" fmla="*/ 0 w 19"/>
                <a:gd name="T3" fmla="*/ 8 h 12"/>
                <a:gd name="T4" fmla="*/ 4 w 19"/>
                <a:gd name="T5" fmla="*/ 12 h 12"/>
                <a:gd name="T6" fmla="*/ 19 w 19"/>
                <a:gd name="T7" fmla="*/ 8 h 12"/>
                <a:gd name="T8" fmla="*/ 15 w 19"/>
                <a:gd name="T9" fmla="*/ 0 h 12"/>
              </a:gdLst>
              <a:ahLst/>
              <a:cxnLst>
                <a:cxn ang="0">
                  <a:pos x="T0" y="T1"/>
                </a:cxn>
                <a:cxn ang="0">
                  <a:pos x="T2" y="T3"/>
                </a:cxn>
                <a:cxn ang="0">
                  <a:pos x="T4" y="T5"/>
                </a:cxn>
                <a:cxn ang="0">
                  <a:pos x="T6" y="T7"/>
                </a:cxn>
                <a:cxn ang="0">
                  <a:pos x="T8" y="T9"/>
                </a:cxn>
              </a:cxnLst>
              <a:rect l="0" t="0" r="r" b="b"/>
              <a:pathLst>
                <a:path w="19" h="12">
                  <a:moveTo>
                    <a:pt x="15" y="0"/>
                  </a:moveTo>
                  <a:lnTo>
                    <a:pt x="0" y="8"/>
                  </a:lnTo>
                  <a:lnTo>
                    <a:pt x="4" y="12"/>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0" name="Freeform 50"/>
            <p:cNvSpPr/>
            <p:nvPr/>
          </p:nvSpPr>
          <p:spPr bwMode="auto">
            <a:xfrm>
              <a:off x="694" y="1300"/>
              <a:ext cx="16" cy="15"/>
            </a:xfrm>
            <a:custGeom>
              <a:avLst/>
              <a:gdLst>
                <a:gd name="T0" fmla="*/ 12 w 16"/>
                <a:gd name="T1" fmla="*/ 0 h 15"/>
                <a:gd name="T2" fmla="*/ 0 w 16"/>
                <a:gd name="T3" fmla="*/ 7 h 15"/>
                <a:gd name="T4" fmla="*/ 4 w 16"/>
                <a:gd name="T5" fmla="*/ 15 h 15"/>
                <a:gd name="T6" fmla="*/ 16 w 16"/>
                <a:gd name="T7" fmla="*/ 7 h 15"/>
                <a:gd name="T8" fmla="*/ 12 w 16"/>
                <a:gd name="T9" fmla="*/ 0 h 15"/>
              </a:gdLst>
              <a:ahLst/>
              <a:cxnLst>
                <a:cxn ang="0">
                  <a:pos x="T0" y="T1"/>
                </a:cxn>
                <a:cxn ang="0">
                  <a:pos x="T2" y="T3"/>
                </a:cxn>
                <a:cxn ang="0">
                  <a:pos x="T4" y="T5"/>
                </a:cxn>
                <a:cxn ang="0">
                  <a:pos x="T6" y="T7"/>
                </a:cxn>
                <a:cxn ang="0">
                  <a:pos x="T8" y="T9"/>
                </a:cxn>
              </a:cxnLst>
              <a:rect l="0" t="0" r="r" b="b"/>
              <a:pathLst>
                <a:path w="16" h="15">
                  <a:moveTo>
                    <a:pt x="12" y="0"/>
                  </a:moveTo>
                  <a:lnTo>
                    <a:pt x="0" y="7"/>
                  </a:lnTo>
                  <a:lnTo>
                    <a:pt x="4" y="15"/>
                  </a:lnTo>
                  <a:lnTo>
                    <a:pt x="16" y="7"/>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1" name="Freeform 51"/>
            <p:cNvSpPr/>
            <p:nvPr/>
          </p:nvSpPr>
          <p:spPr bwMode="auto">
            <a:xfrm>
              <a:off x="664" y="1315"/>
              <a:ext cx="19" cy="12"/>
            </a:xfrm>
            <a:custGeom>
              <a:avLst/>
              <a:gdLst>
                <a:gd name="T0" fmla="*/ 15 w 19"/>
                <a:gd name="T1" fmla="*/ 0 h 12"/>
                <a:gd name="T2" fmla="*/ 0 w 19"/>
                <a:gd name="T3" fmla="*/ 4 h 12"/>
                <a:gd name="T4" fmla="*/ 3 w 19"/>
                <a:gd name="T5" fmla="*/ 12 h 12"/>
                <a:gd name="T6" fmla="*/ 19 w 19"/>
                <a:gd name="T7" fmla="*/ 4 h 12"/>
                <a:gd name="T8" fmla="*/ 15 w 19"/>
                <a:gd name="T9" fmla="*/ 0 h 12"/>
              </a:gdLst>
              <a:ahLst/>
              <a:cxnLst>
                <a:cxn ang="0">
                  <a:pos x="T0" y="T1"/>
                </a:cxn>
                <a:cxn ang="0">
                  <a:pos x="T2" y="T3"/>
                </a:cxn>
                <a:cxn ang="0">
                  <a:pos x="T4" y="T5"/>
                </a:cxn>
                <a:cxn ang="0">
                  <a:pos x="T6" y="T7"/>
                </a:cxn>
                <a:cxn ang="0">
                  <a:pos x="T8" y="T9"/>
                </a:cxn>
              </a:cxnLst>
              <a:rect l="0" t="0" r="r" b="b"/>
              <a:pathLst>
                <a:path w="19" h="12">
                  <a:moveTo>
                    <a:pt x="15" y="0"/>
                  </a:moveTo>
                  <a:lnTo>
                    <a:pt x="0" y="4"/>
                  </a:lnTo>
                  <a:lnTo>
                    <a:pt x="3" y="12"/>
                  </a:lnTo>
                  <a:lnTo>
                    <a:pt x="19" y="4"/>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2" name="Freeform 52"/>
            <p:cNvSpPr/>
            <p:nvPr/>
          </p:nvSpPr>
          <p:spPr bwMode="auto">
            <a:xfrm>
              <a:off x="637" y="1327"/>
              <a:ext cx="19" cy="11"/>
            </a:xfrm>
            <a:custGeom>
              <a:avLst/>
              <a:gdLst>
                <a:gd name="T0" fmla="*/ 15 w 19"/>
                <a:gd name="T1" fmla="*/ 0 h 11"/>
                <a:gd name="T2" fmla="*/ 0 w 19"/>
                <a:gd name="T3" fmla="*/ 3 h 11"/>
                <a:gd name="T4" fmla="*/ 4 w 19"/>
                <a:gd name="T5" fmla="*/ 11 h 11"/>
                <a:gd name="T6" fmla="*/ 19 w 19"/>
                <a:gd name="T7" fmla="*/ 7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3"/>
                  </a:lnTo>
                  <a:lnTo>
                    <a:pt x="4" y="11"/>
                  </a:lnTo>
                  <a:lnTo>
                    <a:pt x="19"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3" name="Freeform 53"/>
            <p:cNvSpPr/>
            <p:nvPr/>
          </p:nvSpPr>
          <p:spPr bwMode="auto">
            <a:xfrm>
              <a:off x="610" y="1338"/>
              <a:ext cx="15" cy="15"/>
            </a:xfrm>
            <a:custGeom>
              <a:avLst/>
              <a:gdLst>
                <a:gd name="T0" fmla="*/ 15 w 15"/>
                <a:gd name="T1" fmla="*/ 0 h 15"/>
                <a:gd name="T2" fmla="*/ 0 w 15"/>
                <a:gd name="T3" fmla="*/ 8 h 15"/>
                <a:gd name="T4" fmla="*/ 4 w 15"/>
                <a:gd name="T5" fmla="*/ 15 h 15"/>
                <a:gd name="T6" fmla="*/ 15 w 15"/>
                <a:gd name="T7" fmla="*/ 8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8"/>
                  </a:lnTo>
                  <a:lnTo>
                    <a:pt x="4" y="15"/>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4" name="Freeform 54"/>
            <p:cNvSpPr/>
            <p:nvPr/>
          </p:nvSpPr>
          <p:spPr bwMode="auto">
            <a:xfrm>
              <a:off x="583" y="1350"/>
              <a:ext cx="15" cy="15"/>
            </a:xfrm>
            <a:custGeom>
              <a:avLst/>
              <a:gdLst>
                <a:gd name="T0" fmla="*/ 11 w 15"/>
                <a:gd name="T1" fmla="*/ 0 h 15"/>
                <a:gd name="T2" fmla="*/ 0 w 15"/>
                <a:gd name="T3" fmla="*/ 7 h 15"/>
                <a:gd name="T4" fmla="*/ 0 w 15"/>
                <a:gd name="T5" fmla="*/ 15 h 15"/>
                <a:gd name="T6" fmla="*/ 15 w 15"/>
                <a:gd name="T7" fmla="*/ 7 h 15"/>
                <a:gd name="T8" fmla="*/ 11 w 15"/>
                <a:gd name="T9" fmla="*/ 0 h 15"/>
              </a:gdLst>
              <a:ahLst/>
              <a:cxnLst>
                <a:cxn ang="0">
                  <a:pos x="T0" y="T1"/>
                </a:cxn>
                <a:cxn ang="0">
                  <a:pos x="T2" y="T3"/>
                </a:cxn>
                <a:cxn ang="0">
                  <a:pos x="T4" y="T5"/>
                </a:cxn>
                <a:cxn ang="0">
                  <a:pos x="T6" y="T7"/>
                </a:cxn>
                <a:cxn ang="0">
                  <a:pos x="T8" y="T9"/>
                </a:cxn>
              </a:cxnLst>
              <a:rect l="0" t="0" r="r" b="b"/>
              <a:pathLst>
                <a:path w="15" h="15">
                  <a:moveTo>
                    <a:pt x="11" y="0"/>
                  </a:moveTo>
                  <a:lnTo>
                    <a:pt x="0" y="7"/>
                  </a:lnTo>
                  <a:lnTo>
                    <a:pt x="0" y="15"/>
                  </a:lnTo>
                  <a:lnTo>
                    <a:pt x="15"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5" name="Freeform 55"/>
            <p:cNvSpPr/>
            <p:nvPr/>
          </p:nvSpPr>
          <p:spPr bwMode="auto">
            <a:xfrm>
              <a:off x="552" y="1365"/>
              <a:ext cx="19" cy="11"/>
            </a:xfrm>
            <a:custGeom>
              <a:avLst/>
              <a:gdLst>
                <a:gd name="T0" fmla="*/ 16 w 19"/>
                <a:gd name="T1" fmla="*/ 0 h 11"/>
                <a:gd name="T2" fmla="*/ 0 w 19"/>
                <a:gd name="T3" fmla="*/ 4 h 11"/>
                <a:gd name="T4" fmla="*/ 4 w 19"/>
                <a:gd name="T5" fmla="*/ 11 h 11"/>
                <a:gd name="T6" fmla="*/ 19 w 19"/>
                <a:gd name="T7" fmla="*/ 4 h 11"/>
                <a:gd name="T8" fmla="*/ 16 w 19"/>
                <a:gd name="T9" fmla="*/ 0 h 11"/>
              </a:gdLst>
              <a:ahLst/>
              <a:cxnLst>
                <a:cxn ang="0">
                  <a:pos x="T0" y="T1"/>
                </a:cxn>
                <a:cxn ang="0">
                  <a:pos x="T2" y="T3"/>
                </a:cxn>
                <a:cxn ang="0">
                  <a:pos x="T4" y="T5"/>
                </a:cxn>
                <a:cxn ang="0">
                  <a:pos x="T6" y="T7"/>
                </a:cxn>
                <a:cxn ang="0">
                  <a:pos x="T8" y="T9"/>
                </a:cxn>
              </a:cxnLst>
              <a:rect l="0" t="0" r="r" b="b"/>
              <a:pathLst>
                <a:path w="19" h="11">
                  <a:moveTo>
                    <a:pt x="16" y="0"/>
                  </a:moveTo>
                  <a:lnTo>
                    <a:pt x="0" y="4"/>
                  </a:lnTo>
                  <a:lnTo>
                    <a:pt x="4" y="11"/>
                  </a:lnTo>
                  <a:lnTo>
                    <a:pt x="19" y="4"/>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6" name="Freeform 56"/>
            <p:cNvSpPr/>
            <p:nvPr/>
          </p:nvSpPr>
          <p:spPr bwMode="auto">
            <a:xfrm>
              <a:off x="525" y="1376"/>
              <a:ext cx="16" cy="12"/>
            </a:xfrm>
            <a:custGeom>
              <a:avLst/>
              <a:gdLst>
                <a:gd name="T0" fmla="*/ 16 w 16"/>
                <a:gd name="T1" fmla="*/ 0 h 12"/>
                <a:gd name="T2" fmla="*/ 0 w 16"/>
                <a:gd name="T3" fmla="*/ 8 h 12"/>
                <a:gd name="T4" fmla="*/ 4 w 16"/>
                <a:gd name="T5" fmla="*/ 12 h 12"/>
                <a:gd name="T6" fmla="*/ 16 w 16"/>
                <a:gd name="T7" fmla="*/ 8 h 12"/>
                <a:gd name="T8" fmla="*/ 16 w 16"/>
                <a:gd name="T9" fmla="*/ 0 h 12"/>
              </a:gdLst>
              <a:ahLst/>
              <a:cxnLst>
                <a:cxn ang="0">
                  <a:pos x="T0" y="T1"/>
                </a:cxn>
                <a:cxn ang="0">
                  <a:pos x="T2" y="T3"/>
                </a:cxn>
                <a:cxn ang="0">
                  <a:pos x="T4" y="T5"/>
                </a:cxn>
                <a:cxn ang="0">
                  <a:pos x="T6" y="T7"/>
                </a:cxn>
                <a:cxn ang="0">
                  <a:pos x="T8" y="T9"/>
                </a:cxn>
              </a:cxnLst>
              <a:rect l="0" t="0" r="r" b="b"/>
              <a:pathLst>
                <a:path w="16" h="12">
                  <a:moveTo>
                    <a:pt x="16" y="0"/>
                  </a:moveTo>
                  <a:lnTo>
                    <a:pt x="0" y="8"/>
                  </a:lnTo>
                  <a:lnTo>
                    <a:pt x="4" y="12"/>
                  </a:lnTo>
                  <a:lnTo>
                    <a:pt x="16"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7" name="Freeform 57"/>
            <p:cNvSpPr/>
            <p:nvPr/>
          </p:nvSpPr>
          <p:spPr bwMode="auto">
            <a:xfrm>
              <a:off x="521" y="482"/>
              <a:ext cx="787" cy="772"/>
            </a:xfrm>
            <a:custGeom>
              <a:avLst/>
              <a:gdLst>
                <a:gd name="T0" fmla="*/ 784 w 787"/>
                <a:gd name="T1" fmla="*/ 772 h 772"/>
                <a:gd name="T2" fmla="*/ 787 w 787"/>
                <a:gd name="T3" fmla="*/ 8 h 772"/>
                <a:gd name="T4" fmla="*/ 787 w 787"/>
                <a:gd name="T5" fmla="*/ 4 h 772"/>
                <a:gd name="T6" fmla="*/ 784 w 787"/>
                <a:gd name="T7" fmla="*/ 4 h 772"/>
                <a:gd name="T8" fmla="*/ 549 w 787"/>
                <a:gd name="T9" fmla="*/ 119 h 772"/>
                <a:gd name="T10" fmla="*/ 27 w 787"/>
                <a:gd name="T11" fmla="*/ 119 h 772"/>
                <a:gd name="T12" fmla="*/ 323 w 787"/>
                <a:gd name="T13" fmla="*/ 12 h 772"/>
                <a:gd name="T14" fmla="*/ 784 w 787"/>
                <a:gd name="T15" fmla="*/ 8 h 772"/>
                <a:gd name="T16" fmla="*/ 784 w 787"/>
                <a:gd name="T17" fmla="*/ 0 h 772"/>
                <a:gd name="T18" fmla="*/ 323 w 787"/>
                <a:gd name="T19" fmla="*/ 4 h 772"/>
                <a:gd name="T20" fmla="*/ 4 w 787"/>
                <a:gd name="T21" fmla="*/ 119 h 772"/>
                <a:gd name="T22" fmla="*/ 0 w 787"/>
                <a:gd name="T23" fmla="*/ 119 h 772"/>
                <a:gd name="T24" fmla="*/ 0 w 787"/>
                <a:gd name="T25" fmla="*/ 127 h 772"/>
                <a:gd name="T26" fmla="*/ 549 w 787"/>
                <a:gd name="T27" fmla="*/ 127 h 772"/>
                <a:gd name="T28" fmla="*/ 780 w 787"/>
                <a:gd name="T29" fmla="*/ 16 h 772"/>
                <a:gd name="T30" fmla="*/ 776 w 787"/>
                <a:gd name="T31" fmla="*/ 772 h 772"/>
                <a:gd name="T32" fmla="*/ 784 w 787"/>
                <a:gd name="T33" fmla="*/ 77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87" h="772">
                  <a:moveTo>
                    <a:pt x="784" y="772"/>
                  </a:moveTo>
                  <a:lnTo>
                    <a:pt x="787" y="8"/>
                  </a:lnTo>
                  <a:lnTo>
                    <a:pt x="787" y="4"/>
                  </a:lnTo>
                  <a:lnTo>
                    <a:pt x="784" y="4"/>
                  </a:lnTo>
                  <a:lnTo>
                    <a:pt x="549" y="119"/>
                  </a:lnTo>
                  <a:lnTo>
                    <a:pt x="27" y="119"/>
                  </a:lnTo>
                  <a:lnTo>
                    <a:pt x="323" y="12"/>
                  </a:lnTo>
                  <a:lnTo>
                    <a:pt x="784" y="8"/>
                  </a:lnTo>
                  <a:lnTo>
                    <a:pt x="784" y="0"/>
                  </a:lnTo>
                  <a:lnTo>
                    <a:pt x="323" y="4"/>
                  </a:lnTo>
                  <a:lnTo>
                    <a:pt x="4" y="119"/>
                  </a:lnTo>
                  <a:lnTo>
                    <a:pt x="0" y="119"/>
                  </a:lnTo>
                  <a:lnTo>
                    <a:pt x="0" y="127"/>
                  </a:lnTo>
                  <a:lnTo>
                    <a:pt x="549" y="127"/>
                  </a:lnTo>
                  <a:lnTo>
                    <a:pt x="780" y="16"/>
                  </a:lnTo>
                  <a:lnTo>
                    <a:pt x="776" y="772"/>
                  </a:lnTo>
                  <a:lnTo>
                    <a:pt x="784" y="77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8" name="Freeform 58"/>
            <p:cNvSpPr/>
            <p:nvPr/>
          </p:nvSpPr>
          <p:spPr bwMode="auto">
            <a:xfrm>
              <a:off x="521" y="601"/>
              <a:ext cx="787" cy="795"/>
            </a:xfrm>
            <a:custGeom>
              <a:avLst/>
              <a:gdLst>
                <a:gd name="T0" fmla="*/ 0 w 787"/>
                <a:gd name="T1" fmla="*/ 0 h 795"/>
                <a:gd name="T2" fmla="*/ 0 w 787"/>
                <a:gd name="T3" fmla="*/ 795 h 795"/>
                <a:gd name="T4" fmla="*/ 542 w 787"/>
                <a:gd name="T5" fmla="*/ 795 h 795"/>
                <a:gd name="T6" fmla="*/ 787 w 787"/>
                <a:gd name="T7" fmla="*/ 653 h 795"/>
                <a:gd name="T8" fmla="*/ 780 w 787"/>
                <a:gd name="T9" fmla="*/ 645 h 795"/>
                <a:gd name="T10" fmla="*/ 542 w 787"/>
                <a:gd name="T11" fmla="*/ 787 h 795"/>
                <a:gd name="T12" fmla="*/ 8 w 787"/>
                <a:gd name="T13" fmla="*/ 787 h 795"/>
                <a:gd name="T14" fmla="*/ 8 w 787"/>
                <a:gd name="T15" fmla="*/ 0 h 795"/>
                <a:gd name="T16" fmla="*/ 0 w 787"/>
                <a:gd name="T17"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7" h="795">
                  <a:moveTo>
                    <a:pt x="0" y="0"/>
                  </a:moveTo>
                  <a:lnTo>
                    <a:pt x="0" y="795"/>
                  </a:lnTo>
                  <a:lnTo>
                    <a:pt x="542" y="795"/>
                  </a:lnTo>
                  <a:lnTo>
                    <a:pt x="787" y="653"/>
                  </a:lnTo>
                  <a:lnTo>
                    <a:pt x="780" y="645"/>
                  </a:lnTo>
                  <a:lnTo>
                    <a:pt x="542" y="787"/>
                  </a:lnTo>
                  <a:lnTo>
                    <a:pt x="8" y="787"/>
                  </a:lnTo>
                  <a:lnTo>
                    <a:pt x="8"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299" name="Rectangle 59"/>
            <p:cNvSpPr>
              <a:spLocks noChangeArrowheads="1"/>
            </p:cNvSpPr>
            <p:nvPr/>
          </p:nvSpPr>
          <p:spPr bwMode="auto">
            <a:xfrm>
              <a:off x="1067" y="601"/>
              <a:ext cx="7" cy="77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00" name="Rectangle 60"/>
            <p:cNvSpPr>
              <a:spLocks noChangeArrowheads="1"/>
            </p:cNvSpPr>
            <p:nvPr/>
          </p:nvSpPr>
          <p:spPr bwMode="auto">
            <a:xfrm>
              <a:off x="836" y="271"/>
              <a:ext cx="8" cy="22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01" name="Freeform 61"/>
            <p:cNvSpPr/>
            <p:nvPr/>
          </p:nvSpPr>
          <p:spPr bwMode="auto">
            <a:xfrm>
              <a:off x="825" y="271"/>
              <a:ext cx="30" cy="27"/>
            </a:xfrm>
            <a:custGeom>
              <a:avLst/>
              <a:gdLst>
                <a:gd name="T0" fmla="*/ 0 w 30"/>
                <a:gd name="T1" fmla="*/ 27 h 27"/>
                <a:gd name="T2" fmla="*/ 15 w 30"/>
                <a:gd name="T3" fmla="*/ 0 h 27"/>
                <a:gd name="T4" fmla="*/ 30 w 30"/>
                <a:gd name="T5" fmla="*/ 27 h 27"/>
                <a:gd name="T6" fmla="*/ 15 w 30"/>
                <a:gd name="T7" fmla="*/ 16 h 27"/>
                <a:gd name="T8" fmla="*/ 0 w 30"/>
                <a:gd name="T9" fmla="*/ 27 h 27"/>
              </a:gdLst>
              <a:ahLst/>
              <a:cxnLst>
                <a:cxn ang="0">
                  <a:pos x="T0" y="T1"/>
                </a:cxn>
                <a:cxn ang="0">
                  <a:pos x="T2" y="T3"/>
                </a:cxn>
                <a:cxn ang="0">
                  <a:pos x="T4" y="T5"/>
                </a:cxn>
                <a:cxn ang="0">
                  <a:pos x="T6" y="T7"/>
                </a:cxn>
                <a:cxn ang="0">
                  <a:pos x="T8" y="T9"/>
                </a:cxn>
              </a:cxnLst>
              <a:rect l="0" t="0" r="r" b="b"/>
              <a:pathLst>
                <a:path w="30" h="27">
                  <a:moveTo>
                    <a:pt x="0" y="27"/>
                  </a:moveTo>
                  <a:lnTo>
                    <a:pt x="15" y="0"/>
                  </a:lnTo>
                  <a:lnTo>
                    <a:pt x="30" y="27"/>
                  </a:lnTo>
                  <a:lnTo>
                    <a:pt x="15" y="16"/>
                  </a:lnTo>
                  <a:lnTo>
                    <a:pt x="0" y="2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02" name="Freeform 62"/>
            <p:cNvSpPr/>
            <p:nvPr/>
          </p:nvSpPr>
          <p:spPr bwMode="auto">
            <a:xfrm>
              <a:off x="813" y="264"/>
              <a:ext cx="54" cy="50"/>
            </a:xfrm>
            <a:custGeom>
              <a:avLst/>
              <a:gdLst>
                <a:gd name="T0" fmla="*/ 23 w 54"/>
                <a:gd name="T1" fmla="*/ 19 h 50"/>
                <a:gd name="T2" fmla="*/ 27 w 54"/>
                <a:gd name="T3" fmla="*/ 15 h 50"/>
                <a:gd name="T4" fmla="*/ 31 w 54"/>
                <a:gd name="T5" fmla="*/ 19 h 50"/>
                <a:gd name="T6" fmla="*/ 27 w 54"/>
                <a:gd name="T7" fmla="*/ 19 h 50"/>
                <a:gd name="T8" fmla="*/ 23 w 54"/>
                <a:gd name="T9" fmla="*/ 19 h 50"/>
                <a:gd name="T10" fmla="*/ 0 w 54"/>
                <a:gd name="T11" fmla="*/ 50 h 50"/>
                <a:gd name="T12" fmla="*/ 27 w 54"/>
                <a:gd name="T13" fmla="*/ 27 h 50"/>
                <a:gd name="T14" fmla="*/ 54 w 54"/>
                <a:gd name="T15" fmla="*/ 50 h 50"/>
                <a:gd name="T16" fmla="*/ 27 w 54"/>
                <a:gd name="T17" fmla="*/ 0 h 50"/>
                <a:gd name="T18" fmla="*/ 0 w 54"/>
                <a:gd name="T19" fmla="*/ 50 h 50"/>
                <a:gd name="T20" fmla="*/ 23 w 54"/>
                <a:gd name="T21" fmla="*/ 1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50">
                  <a:moveTo>
                    <a:pt x="23" y="19"/>
                  </a:moveTo>
                  <a:lnTo>
                    <a:pt x="27" y="15"/>
                  </a:lnTo>
                  <a:lnTo>
                    <a:pt x="31" y="19"/>
                  </a:lnTo>
                  <a:lnTo>
                    <a:pt x="27" y="19"/>
                  </a:lnTo>
                  <a:lnTo>
                    <a:pt x="23" y="19"/>
                  </a:lnTo>
                  <a:lnTo>
                    <a:pt x="0" y="50"/>
                  </a:lnTo>
                  <a:lnTo>
                    <a:pt x="27" y="27"/>
                  </a:lnTo>
                  <a:lnTo>
                    <a:pt x="54" y="50"/>
                  </a:lnTo>
                  <a:lnTo>
                    <a:pt x="27" y="0"/>
                  </a:lnTo>
                  <a:lnTo>
                    <a:pt x="0" y="50"/>
                  </a:lnTo>
                  <a:lnTo>
                    <a:pt x="23" y="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03" name="Freeform 63"/>
            <p:cNvSpPr/>
            <p:nvPr/>
          </p:nvSpPr>
          <p:spPr bwMode="auto">
            <a:xfrm>
              <a:off x="395" y="1392"/>
              <a:ext cx="115" cy="57"/>
            </a:xfrm>
            <a:custGeom>
              <a:avLst/>
              <a:gdLst>
                <a:gd name="T0" fmla="*/ 115 w 115"/>
                <a:gd name="T1" fmla="*/ 0 h 57"/>
                <a:gd name="T2" fmla="*/ 0 w 115"/>
                <a:gd name="T3" fmla="*/ 50 h 57"/>
                <a:gd name="T4" fmla="*/ 0 w 115"/>
                <a:gd name="T5" fmla="*/ 57 h 57"/>
                <a:gd name="T6" fmla="*/ 115 w 115"/>
                <a:gd name="T7" fmla="*/ 7 h 57"/>
                <a:gd name="T8" fmla="*/ 115 w 115"/>
                <a:gd name="T9" fmla="*/ 0 h 57"/>
              </a:gdLst>
              <a:ahLst/>
              <a:cxnLst>
                <a:cxn ang="0">
                  <a:pos x="T0" y="T1"/>
                </a:cxn>
                <a:cxn ang="0">
                  <a:pos x="T2" y="T3"/>
                </a:cxn>
                <a:cxn ang="0">
                  <a:pos x="T4" y="T5"/>
                </a:cxn>
                <a:cxn ang="0">
                  <a:pos x="T6" y="T7"/>
                </a:cxn>
                <a:cxn ang="0">
                  <a:pos x="T8" y="T9"/>
                </a:cxn>
              </a:cxnLst>
              <a:rect l="0" t="0" r="r" b="b"/>
              <a:pathLst>
                <a:path w="115" h="57">
                  <a:moveTo>
                    <a:pt x="115" y="0"/>
                  </a:moveTo>
                  <a:lnTo>
                    <a:pt x="0" y="50"/>
                  </a:lnTo>
                  <a:lnTo>
                    <a:pt x="0" y="57"/>
                  </a:lnTo>
                  <a:lnTo>
                    <a:pt x="115" y="7"/>
                  </a:lnTo>
                  <a:lnTo>
                    <a:pt x="1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04" name="Freeform 64"/>
            <p:cNvSpPr/>
            <p:nvPr/>
          </p:nvSpPr>
          <p:spPr bwMode="auto">
            <a:xfrm>
              <a:off x="395" y="1422"/>
              <a:ext cx="31" cy="27"/>
            </a:xfrm>
            <a:custGeom>
              <a:avLst/>
              <a:gdLst>
                <a:gd name="T0" fmla="*/ 31 w 31"/>
                <a:gd name="T1" fmla="*/ 27 h 27"/>
                <a:gd name="T2" fmla="*/ 0 w 31"/>
                <a:gd name="T3" fmla="*/ 23 h 27"/>
                <a:gd name="T4" fmla="*/ 19 w 31"/>
                <a:gd name="T5" fmla="*/ 0 h 27"/>
                <a:gd name="T6" fmla="*/ 11 w 31"/>
                <a:gd name="T7" fmla="*/ 20 h 27"/>
                <a:gd name="T8" fmla="*/ 31 w 31"/>
                <a:gd name="T9" fmla="*/ 27 h 27"/>
              </a:gdLst>
              <a:ahLst/>
              <a:cxnLst>
                <a:cxn ang="0">
                  <a:pos x="T0" y="T1"/>
                </a:cxn>
                <a:cxn ang="0">
                  <a:pos x="T2" y="T3"/>
                </a:cxn>
                <a:cxn ang="0">
                  <a:pos x="T4" y="T5"/>
                </a:cxn>
                <a:cxn ang="0">
                  <a:pos x="T6" y="T7"/>
                </a:cxn>
                <a:cxn ang="0">
                  <a:pos x="T8" y="T9"/>
                </a:cxn>
              </a:cxnLst>
              <a:rect l="0" t="0" r="r" b="b"/>
              <a:pathLst>
                <a:path w="31" h="27">
                  <a:moveTo>
                    <a:pt x="31" y="27"/>
                  </a:moveTo>
                  <a:lnTo>
                    <a:pt x="0" y="23"/>
                  </a:lnTo>
                  <a:lnTo>
                    <a:pt x="19" y="0"/>
                  </a:lnTo>
                  <a:lnTo>
                    <a:pt x="11" y="20"/>
                  </a:lnTo>
                  <a:lnTo>
                    <a:pt x="31" y="2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05" name="Freeform 65"/>
            <p:cNvSpPr/>
            <p:nvPr/>
          </p:nvSpPr>
          <p:spPr bwMode="auto">
            <a:xfrm>
              <a:off x="387" y="1403"/>
              <a:ext cx="69" cy="54"/>
            </a:xfrm>
            <a:custGeom>
              <a:avLst/>
              <a:gdLst>
                <a:gd name="T0" fmla="*/ 8 w 69"/>
                <a:gd name="T1" fmla="*/ 39 h 54"/>
                <a:gd name="T2" fmla="*/ 15 w 69"/>
                <a:gd name="T3" fmla="*/ 39 h 54"/>
                <a:gd name="T4" fmla="*/ 15 w 69"/>
                <a:gd name="T5" fmla="*/ 42 h 54"/>
                <a:gd name="T6" fmla="*/ 8 w 69"/>
                <a:gd name="T7" fmla="*/ 39 h 54"/>
                <a:gd name="T8" fmla="*/ 69 w 69"/>
                <a:gd name="T9" fmla="*/ 54 h 54"/>
                <a:gd name="T10" fmla="*/ 23 w 69"/>
                <a:gd name="T11" fmla="*/ 35 h 54"/>
                <a:gd name="T12" fmla="*/ 39 w 69"/>
                <a:gd name="T13" fmla="*/ 0 h 54"/>
                <a:gd name="T14" fmla="*/ 0 w 69"/>
                <a:gd name="T15" fmla="*/ 46 h 54"/>
                <a:gd name="T16" fmla="*/ 69 w 69"/>
                <a:gd name="T17" fmla="*/ 54 h 54"/>
                <a:gd name="T18" fmla="*/ 8 w 69"/>
                <a:gd name="T19"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54">
                  <a:moveTo>
                    <a:pt x="8" y="39"/>
                  </a:moveTo>
                  <a:lnTo>
                    <a:pt x="15" y="39"/>
                  </a:lnTo>
                  <a:lnTo>
                    <a:pt x="15" y="42"/>
                  </a:lnTo>
                  <a:lnTo>
                    <a:pt x="8" y="39"/>
                  </a:lnTo>
                  <a:lnTo>
                    <a:pt x="69" y="54"/>
                  </a:lnTo>
                  <a:lnTo>
                    <a:pt x="23" y="35"/>
                  </a:lnTo>
                  <a:lnTo>
                    <a:pt x="39" y="0"/>
                  </a:lnTo>
                  <a:lnTo>
                    <a:pt x="0" y="46"/>
                  </a:lnTo>
                  <a:lnTo>
                    <a:pt x="69" y="54"/>
                  </a:lnTo>
                  <a:lnTo>
                    <a:pt x="8" y="3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06" name="Rectangle 66"/>
            <p:cNvSpPr>
              <a:spLocks noChangeArrowheads="1"/>
            </p:cNvSpPr>
            <p:nvPr/>
          </p:nvSpPr>
          <p:spPr bwMode="auto">
            <a:xfrm>
              <a:off x="1305" y="1246"/>
              <a:ext cx="14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07" name="Freeform 67"/>
            <p:cNvSpPr/>
            <p:nvPr/>
          </p:nvSpPr>
          <p:spPr bwMode="auto">
            <a:xfrm>
              <a:off x="1420" y="1238"/>
              <a:ext cx="31" cy="27"/>
            </a:xfrm>
            <a:custGeom>
              <a:avLst/>
              <a:gdLst>
                <a:gd name="T0" fmla="*/ 0 w 31"/>
                <a:gd name="T1" fmla="*/ 0 h 27"/>
                <a:gd name="T2" fmla="*/ 31 w 31"/>
                <a:gd name="T3" fmla="*/ 12 h 27"/>
                <a:gd name="T4" fmla="*/ 0 w 31"/>
                <a:gd name="T5" fmla="*/ 27 h 27"/>
                <a:gd name="T6" fmla="*/ 15 w 31"/>
                <a:gd name="T7" fmla="*/ 12 h 27"/>
                <a:gd name="T8" fmla="*/ 0 w 31"/>
                <a:gd name="T9" fmla="*/ 0 h 27"/>
              </a:gdLst>
              <a:ahLst/>
              <a:cxnLst>
                <a:cxn ang="0">
                  <a:pos x="T0" y="T1"/>
                </a:cxn>
                <a:cxn ang="0">
                  <a:pos x="T2" y="T3"/>
                </a:cxn>
                <a:cxn ang="0">
                  <a:pos x="T4" y="T5"/>
                </a:cxn>
                <a:cxn ang="0">
                  <a:pos x="T6" y="T7"/>
                </a:cxn>
                <a:cxn ang="0">
                  <a:pos x="T8" y="T9"/>
                </a:cxn>
              </a:cxnLst>
              <a:rect l="0" t="0" r="r" b="b"/>
              <a:pathLst>
                <a:path w="31" h="27">
                  <a:moveTo>
                    <a:pt x="0" y="0"/>
                  </a:moveTo>
                  <a:lnTo>
                    <a:pt x="31" y="12"/>
                  </a:lnTo>
                  <a:lnTo>
                    <a:pt x="0" y="27"/>
                  </a:lnTo>
                  <a:lnTo>
                    <a:pt x="15" y="12"/>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08" name="Freeform 68"/>
            <p:cNvSpPr/>
            <p:nvPr/>
          </p:nvSpPr>
          <p:spPr bwMode="auto">
            <a:xfrm>
              <a:off x="1397" y="1227"/>
              <a:ext cx="61" cy="53"/>
            </a:xfrm>
            <a:custGeom>
              <a:avLst/>
              <a:gdLst>
                <a:gd name="T0" fmla="*/ 46 w 61"/>
                <a:gd name="T1" fmla="*/ 23 h 53"/>
                <a:gd name="T2" fmla="*/ 42 w 61"/>
                <a:gd name="T3" fmla="*/ 23 h 53"/>
                <a:gd name="T4" fmla="*/ 46 w 61"/>
                <a:gd name="T5" fmla="*/ 23 h 53"/>
                <a:gd name="T6" fmla="*/ 0 w 61"/>
                <a:gd name="T7" fmla="*/ 0 h 53"/>
                <a:gd name="T8" fmla="*/ 30 w 61"/>
                <a:gd name="T9" fmla="*/ 23 h 53"/>
                <a:gd name="T10" fmla="*/ 4 w 61"/>
                <a:gd name="T11" fmla="*/ 53 h 53"/>
                <a:gd name="T12" fmla="*/ 61 w 61"/>
                <a:gd name="T13" fmla="*/ 23 h 53"/>
                <a:gd name="T14" fmla="*/ 0 w 61"/>
                <a:gd name="T15" fmla="*/ 0 h 53"/>
                <a:gd name="T16" fmla="*/ 46 w 61"/>
                <a:gd name="T17" fmla="*/ 2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3">
                  <a:moveTo>
                    <a:pt x="46" y="23"/>
                  </a:moveTo>
                  <a:lnTo>
                    <a:pt x="42" y="23"/>
                  </a:lnTo>
                  <a:lnTo>
                    <a:pt x="46" y="23"/>
                  </a:lnTo>
                  <a:lnTo>
                    <a:pt x="0" y="0"/>
                  </a:lnTo>
                  <a:lnTo>
                    <a:pt x="30" y="23"/>
                  </a:lnTo>
                  <a:lnTo>
                    <a:pt x="4" y="53"/>
                  </a:lnTo>
                  <a:lnTo>
                    <a:pt x="61" y="23"/>
                  </a:lnTo>
                  <a:lnTo>
                    <a:pt x="0" y="0"/>
                  </a:lnTo>
                  <a:lnTo>
                    <a:pt x="46"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09" name="Rectangle 69"/>
            <p:cNvSpPr>
              <a:spLocks noChangeArrowheads="1"/>
            </p:cNvSpPr>
            <p:nvPr/>
          </p:nvSpPr>
          <p:spPr bwMode="auto">
            <a:xfrm>
              <a:off x="295" y="1376"/>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a</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310" name="Rectangle 70"/>
            <p:cNvSpPr>
              <a:spLocks noChangeArrowheads="1"/>
            </p:cNvSpPr>
            <p:nvPr/>
          </p:nvSpPr>
          <p:spPr bwMode="auto">
            <a:xfrm>
              <a:off x="364" y="14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Times New Roman" panose="02020603050405020304" pitchFamily="18" charset="0"/>
                </a:rPr>
                <a:t>1</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311" name="Rectangle 71"/>
            <p:cNvSpPr>
              <a:spLocks noChangeArrowheads="1"/>
            </p:cNvSpPr>
            <p:nvPr/>
          </p:nvSpPr>
          <p:spPr bwMode="auto">
            <a:xfrm>
              <a:off x="867" y="210"/>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c</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312" name="Rectangle 72"/>
            <p:cNvSpPr>
              <a:spLocks noChangeArrowheads="1"/>
            </p:cNvSpPr>
            <p:nvPr/>
          </p:nvSpPr>
          <p:spPr bwMode="auto">
            <a:xfrm>
              <a:off x="756" y="1449"/>
              <a:ext cx="1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P</a:t>
              </a:r>
              <a:endParaRPr lang="en-US" altLang="zh-CN" sz="2400" b="0">
                <a:effectLst>
                  <a:outerShdw blurRad="38100" dist="38100" dir="2700000" algn="tl">
                    <a:srgbClr val="000000"/>
                  </a:outerShdw>
                </a:effectLst>
              </a:endParaRPr>
            </a:p>
          </p:txBody>
        </p:sp>
        <p:sp>
          <p:nvSpPr>
            <p:cNvPr id="138313" name="Rectangle 73"/>
            <p:cNvSpPr>
              <a:spLocks noChangeArrowheads="1"/>
            </p:cNvSpPr>
            <p:nvPr/>
          </p:nvSpPr>
          <p:spPr bwMode="auto">
            <a:xfrm>
              <a:off x="951" y="1648"/>
              <a:ext cx="6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t>Tetragonal</a:t>
              </a:r>
              <a:endParaRPr lang="en-US" altLang="zh-CN" sz="2400">
                <a:effectLst>
                  <a:outerShdw blurRad="38100" dist="38100" dir="2700000" algn="tl">
                    <a:srgbClr val="000000"/>
                  </a:outerShdw>
                </a:effectLst>
              </a:endParaRPr>
            </a:p>
          </p:txBody>
        </p:sp>
        <p:sp>
          <p:nvSpPr>
            <p:cNvPr id="138314" name="Rectangle 74"/>
            <p:cNvSpPr>
              <a:spLocks noChangeArrowheads="1"/>
            </p:cNvSpPr>
            <p:nvPr/>
          </p:nvSpPr>
          <p:spPr bwMode="auto">
            <a:xfrm>
              <a:off x="521" y="1858"/>
              <a:ext cx="2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a = </a:t>
              </a:r>
              <a:endParaRPr lang="en-US" altLang="zh-CN" sz="2400" b="0">
                <a:effectLst>
                  <a:outerShdw blurRad="38100" dist="38100" dir="2700000" algn="tl">
                    <a:srgbClr val="000000"/>
                  </a:outerShdw>
                </a:effectLst>
              </a:endParaRPr>
            </a:p>
          </p:txBody>
        </p:sp>
        <p:sp>
          <p:nvSpPr>
            <p:cNvPr id="138315" name="Rectangle 75"/>
            <p:cNvSpPr>
              <a:spLocks noChangeArrowheads="1"/>
            </p:cNvSpPr>
            <p:nvPr/>
          </p:nvSpPr>
          <p:spPr bwMode="auto">
            <a:xfrm>
              <a:off x="786" y="1858"/>
              <a:ext cx="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b</a:t>
              </a:r>
              <a:endParaRPr lang="en-US" altLang="zh-CN" sz="2400" b="0">
                <a:effectLst>
                  <a:outerShdw blurRad="38100" dist="38100" dir="2700000" algn="tl">
                    <a:srgbClr val="000000"/>
                  </a:outerShdw>
                </a:effectLst>
              </a:endParaRPr>
            </a:p>
          </p:txBody>
        </p:sp>
        <p:sp>
          <p:nvSpPr>
            <p:cNvPr id="138316" name="Rectangle 76"/>
            <p:cNvSpPr>
              <a:spLocks noChangeArrowheads="1"/>
            </p:cNvSpPr>
            <p:nvPr/>
          </p:nvSpPr>
          <p:spPr bwMode="auto">
            <a:xfrm>
              <a:off x="875" y="1858"/>
              <a:ext cx="1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 </a:t>
              </a:r>
              <a:endParaRPr lang="en-US" altLang="zh-CN" sz="2400" b="0">
                <a:effectLst>
                  <a:outerShdw blurRad="38100" dist="38100" dir="2700000" algn="tl">
                    <a:srgbClr val="000000"/>
                  </a:outerShdw>
                </a:effectLst>
              </a:endParaRPr>
            </a:p>
          </p:txBody>
        </p:sp>
        <p:sp>
          <p:nvSpPr>
            <p:cNvPr id="138317" name="Rectangle 77"/>
            <p:cNvSpPr>
              <a:spLocks noChangeArrowheads="1"/>
            </p:cNvSpPr>
            <p:nvPr/>
          </p:nvSpPr>
          <p:spPr bwMode="auto">
            <a:xfrm>
              <a:off x="1044" y="1858"/>
              <a:ext cx="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g</a:t>
              </a:r>
              <a:endParaRPr lang="en-US" altLang="zh-CN" sz="2400" b="0">
                <a:effectLst>
                  <a:outerShdw blurRad="38100" dist="38100" dir="2700000" algn="tl">
                    <a:srgbClr val="000000"/>
                  </a:outerShdw>
                </a:effectLst>
              </a:endParaRPr>
            </a:p>
          </p:txBody>
        </p:sp>
        <p:sp>
          <p:nvSpPr>
            <p:cNvPr id="138318" name="Rectangle 78"/>
            <p:cNvSpPr>
              <a:spLocks noChangeArrowheads="1"/>
            </p:cNvSpPr>
            <p:nvPr/>
          </p:nvSpPr>
          <p:spPr bwMode="auto">
            <a:xfrm>
              <a:off x="1109" y="1858"/>
              <a:ext cx="3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 90</a:t>
              </a:r>
              <a:endParaRPr lang="en-US" altLang="zh-CN" sz="2400" b="0">
                <a:effectLst>
                  <a:outerShdw blurRad="38100" dist="38100" dir="2700000" algn="tl">
                    <a:srgbClr val="000000"/>
                  </a:outerShdw>
                </a:effectLst>
              </a:endParaRPr>
            </a:p>
          </p:txBody>
        </p:sp>
        <p:sp>
          <p:nvSpPr>
            <p:cNvPr id="138319" name="Rectangle 79"/>
            <p:cNvSpPr>
              <a:spLocks noChangeArrowheads="1"/>
            </p:cNvSpPr>
            <p:nvPr/>
          </p:nvSpPr>
          <p:spPr bwMode="auto">
            <a:xfrm>
              <a:off x="1435" y="1881"/>
              <a:ext cx="10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Symbol" panose="05050102010706020507" pitchFamily="18" charset="2"/>
                </a:rPr>
                <a:t>o  </a:t>
              </a:r>
              <a:endParaRPr lang="en-US" altLang="zh-CN" sz="2400" b="0">
                <a:effectLst>
                  <a:outerShdw blurRad="38100" dist="38100" dir="2700000" algn="tl">
                    <a:srgbClr val="000000"/>
                  </a:outerShdw>
                </a:effectLst>
              </a:endParaRPr>
            </a:p>
          </p:txBody>
        </p:sp>
        <p:sp>
          <p:nvSpPr>
            <p:cNvPr id="138320" name="Rectangle 80"/>
            <p:cNvSpPr>
              <a:spLocks noChangeArrowheads="1"/>
            </p:cNvSpPr>
            <p:nvPr/>
          </p:nvSpPr>
          <p:spPr bwMode="auto">
            <a:xfrm>
              <a:off x="1566" y="1873"/>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a</a:t>
              </a:r>
              <a:endParaRPr lang="en-US" altLang="zh-CN" sz="2400" b="0">
                <a:effectLst>
                  <a:outerShdw blurRad="38100" dist="38100" dir="2700000" algn="tl">
                    <a:srgbClr val="000000"/>
                  </a:outerShdw>
                </a:effectLst>
              </a:endParaRPr>
            </a:p>
          </p:txBody>
        </p:sp>
        <p:sp>
          <p:nvSpPr>
            <p:cNvPr id="138321" name="Rectangle 81"/>
            <p:cNvSpPr>
              <a:spLocks noChangeArrowheads="1"/>
            </p:cNvSpPr>
            <p:nvPr/>
          </p:nvSpPr>
          <p:spPr bwMode="auto">
            <a:xfrm>
              <a:off x="1654" y="1973"/>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t>1</a:t>
              </a:r>
              <a:endParaRPr lang="en-US" altLang="zh-CN" sz="2400" b="0">
                <a:effectLst>
                  <a:outerShdw blurRad="38100" dist="38100" dir="2700000" algn="tl">
                    <a:srgbClr val="000000"/>
                  </a:outerShdw>
                </a:effectLst>
              </a:endParaRPr>
            </a:p>
          </p:txBody>
        </p:sp>
        <p:sp>
          <p:nvSpPr>
            <p:cNvPr id="138322" name="Rectangle 82"/>
            <p:cNvSpPr>
              <a:spLocks noChangeArrowheads="1"/>
            </p:cNvSpPr>
            <p:nvPr/>
          </p:nvSpPr>
          <p:spPr bwMode="auto">
            <a:xfrm>
              <a:off x="1708" y="1873"/>
              <a:ext cx="24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 = a</a:t>
              </a:r>
              <a:endParaRPr lang="en-US" altLang="zh-CN" sz="2400" b="0">
                <a:effectLst>
                  <a:outerShdw blurRad="38100" dist="38100" dir="2700000" algn="tl">
                    <a:srgbClr val="000000"/>
                  </a:outerShdw>
                </a:effectLst>
              </a:endParaRPr>
            </a:p>
          </p:txBody>
        </p:sp>
        <p:sp>
          <p:nvSpPr>
            <p:cNvPr id="138323" name="Rectangle 83"/>
            <p:cNvSpPr>
              <a:spLocks noChangeArrowheads="1"/>
            </p:cNvSpPr>
            <p:nvPr/>
          </p:nvSpPr>
          <p:spPr bwMode="auto">
            <a:xfrm>
              <a:off x="1976" y="1973"/>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t>2</a:t>
              </a:r>
              <a:endParaRPr lang="en-US" altLang="zh-CN" sz="2400" b="0">
                <a:effectLst>
                  <a:outerShdw blurRad="38100" dist="38100" dir="2700000" algn="tl">
                    <a:srgbClr val="000000"/>
                  </a:outerShdw>
                </a:effectLst>
              </a:endParaRPr>
            </a:p>
          </p:txBody>
        </p:sp>
        <p:sp>
          <p:nvSpPr>
            <p:cNvPr id="138324" name="Rectangle 84"/>
            <p:cNvSpPr>
              <a:spLocks noChangeArrowheads="1"/>
            </p:cNvSpPr>
            <p:nvPr/>
          </p:nvSpPr>
          <p:spPr bwMode="auto">
            <a:xfrm>
              <a:off x="2030" y="1858"/>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 </a:t>
              </a:r>
              <a:endParaRPr lang="en-US" altLang="zh-CN" sz="2400" b="0">
                <a:effectLst>
                  <a:outerShdw blurRad="38100" dist="38100" dir="2700000" algn="tl">
                    <a:srgbClr val="000000"/>
                  </a:outerShdw>
                </a:effectLst>
              </a:endParaRPr>
            </a:p>
          </p:txBody>
        </p:sp>
        <p:sp>
          <p:nvSpPr>
            <p:cNvPr id="138325" name="Rectangle 85"/>
            <p:cNvSpPr>
              <a:spLocks noChangeArrowheads="1"/>
            </p:cNvSpPr>
            <p:nvPr/>
          </p:nvSpPr>
          <p:spPr bwMode="auto">
            <a:xfrm>
              <a:off x="2069" y="1858"/>
              <a:ext cx="1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Symbol" panose="05050102010706020507" pitchFamily="18" charset="2"/>
                </a:rPr>
                <a:t>¹ </a:t>
              </a:r>
              <a:endParaRPr lang="en-US" altLang="zh-CN" sz="2400" b="0">
                <a:effectLst>
                  <a:outerShdw blurRad="38100" dist="38100" dir="2700000" algn="tl">
                    <a:srgbClr val="000000"/>
                  </a:outerShdw>
                </a:effectLst>
              </a:endParaRPr>
            </a:p>
          </p:txBody>
        </p:sp>
        <p:sp>
          <p:nvSpPr>
            <p:cNvPr id="138326" name="Rectangle 86"/>
            <p:cNvSpPr>
              <a:spLocks noChangeArrowheads="1"/>
            </p:cNvSpPr>
            <p:nvPr/>
          </p:nvSpPr>
          <p:spPr bwMode="auto">
            <a:xfrm>
              <a:off x="2199" y="1873"/>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t>c</a:t>
              </a:r>
              <a:endParaRPr lang="en-US" altLang="zh-CN" sz="2400" b="0">
                <a:effectLst>
                  <a:outerShdw blurRad="38100" dist="38100" dir="2700000" algn="tl">
                    <a:srgbClr val="000000"/>
                  </a:outerShdw>
                </a:effectLst>
              </a:endParaRPr>
            </a:p>
          </p:txBody>
        </p:sp>
        <p:sp>
          <p:nvSpPr>
            <p:cNvPr id="138327" name="Rectangle 87"/>
            <p:cNvSpPr>
              <a:spLocks noChangeArrowheads="1"/>
            </p:cNvSpPr>
            <p:nvPr/>
          </p:nvSpPr>
          <p:spPr bwMode="auto">
            <a:xfrm>
              <a:off x="1842" y="1449"/>
              <a:ext cx="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600" b="0"/>
                <a:t>I</a:t>
              </a:r>
              <a:endParaRPr lang="en-US" altLang="zh-CN" sz="2400" b="0">
                <a:effectLst>
                  <a:outerShdw blurRad="38100" dist="38100" dir="2700000" algn="tl">
                    <a:srgbClr val="000000"/>
                  </a:outerShdw>
                </a:effectLst>
              </a:endParaRPr>
            </a:p>
          </p:txBody>
        </p:sp>
        <p:sp>
          <p:nvSpPr>
            <p:cNvPr id="138328" name="Freeform 88"/>
            <p:cNvSpPr/>
            <p:nvPr/>
          </p:nvSpPr>
          <p:spPr bwMode="auto">
            <a:xfrm>
              <a:off x="1554" y="490"/>
              <a:ext cx="776" cy="902"/>
            </a:xfrm>
            <a:custGeom>
              <a:avLst/>
              <a:gdLst>
                <a:gd name="T0" fmla="*/ 311 w 776"/>
                <a:gd name="T1" fmla="*/ 4 h 902"/>
                <a:gd name="T2" fmla="*/ 0 w 776"/>
                <a:gd name="T3" fmla="*/ 111 h 902"/>
                <a:gd name="T4" fmla="*/ 0 w 776"/>
                <a:gd name="T5" fmla="*/ 898 h 902"/>
                <a:gd name="T6" fmla="*/ 545 w 776"/>
                <a:gd name="T7" fmla="*/ 902 h 902"/>
                <a:gd name="T8" fmla="*/ 776 w 776"/>
                <a:gd name="T9" fmla="*/ 756 h 902"/>
                <a:gd name="T10" fmla="*/ 776 w 776"/>
                <a:gd name="T11" fmla="*/ 0 h 902"/>
                <a:gd name="T12" fmla="*/ 311 w 776"/>
                <a:gd name="T13" fmla="*/ 4 h 902"/>
              </a:gdLst>
              <a:ahLst/>
              <a:cxnLst>
                <a:cxn ang="0">
                  <a:pos x="T0" y="T1"/>
                </a:cxn>
                <a:cxn ang="0">
                  <a:pos x="T2" y="T3"/>
                </a:cxn>
                <a:cxn ang="0">
                  <a:pos x="T4" y="T5"/>
                </a:cxn>
                <a:cxn ang="0">
                  <a:pos x="T6" y="T7"/>
                </a:cxn>
                <a:cxn ang="0">
                  <a:pos x="T8" y="T9"/>
                </a:cxn>
                <a:cxn ang="0">
                  <a:pos x="T10" y="T11"/>
                </a:cxn>
                <a:cxn ang="0">
                  <a:pos x="T12" y="T13"/>
                </a:cxn>
              </a:cxnLst>
              <a:rect l="0" t="0" r="r" b="b"/>
              <a:pathLst>
                <a:path w="776" h="902">
                  <a:moveTo>
                    <a:pt x="311" y="4"/>
                  </a:moveTo>
                  <a:lnTo>
                    <a:pt x="0" y="111"/>
                  </a:lnTo>
                  <a:lnTo>
                    <a:pt x="0" y="898"/>
                  </a:lnTo>
                  <a:lnTo>
                    <a:pt x="545" y="902"/>
                  </a:lnTo>
                  <a:lnTo>
                    <a:pt x="776" y="756"/>
                  </a:lnTo>
                  <a:lnTo>
                    <a:pt x="776" y="0"/>
                  </a:lnTo>
                  <a:lnTo>
                    <a:pt x="311" y="4"/>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29" name="Rectangle 89"/>
            <p:cNvSpPr>
              <a:spLocks noChangeArrowheads="1"/>
            </p:cNvSpPr>
            <p:nvPr/>
          </p:nvSpPr>
          <p:spPr bwMode="auto">
            <a:xfrm>
              <a:off x="2287"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0" name="Rectangle 90"/>
            <p:cNvSpPr>
              <a:spLocks noChangeArrowheads="1"/>
            </p:cNvSpPr>
            <p:nvPr/>
          </p:nvSpPr>
          <p:spPr bwMode="auto">
            <a:xfrm>
              <a:off x="2257"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1" name="Rectangle 91"/>
            <p:cNvSpPr>
              <a:spLocks noChangeArrowheads="1"/>
            </p:cNvSpPr>
            <p:nvPr/>
          </p:nvSpPr>
          <p:spPr bwMode="auto">
            <a:xfrm>
              <a:off x="2226"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2" name="Rectangle 92"/>
            <p:cNvSpPr>
              <a:spLocks noChangeArrowheads="1"/>
            </p:cNvSpPr>
            <p:nvPr/>
          </p:nvSpPr>
          <p:spPr bwMode="auto">
            <a:xfrm>
              <a:off x="2195"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3" name="Rectangle 93"/>
            <p:cNvSpPr>
              <a:spLocks noChangeArrowheads="1"/>
            </p:cNvSpPr>
            <p:nvPr/>
          </p:nvSpPr>
          <p:spPr bwMode="auto">
            <a:xfrm>
              <a:off x="2165"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4" name="Rectangle 94"/>
            <p:cNvSpPr>
              <a:spLocks noChangeArrowheads="1"/>
            </p:cNvSpPr>
            <p:nvPr/>
          </p:nvSpPr>
          <p:spPr bwMode="auto">
            <a:xfrm>
              <a:off x="2134"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5" name="Rectangle 95"/>
            <p:cNvSpPr>
              <a:spLocks noChangeArrowheads="1"/>
            </p:cNvSpPr>
            <p:nvPr/>
          </p:nvSpPr>
          <p:spPr bwMode="auto">
            <a:xfrm>
              <a:off x="2103"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6" name="Rectangle 96"/>
            <p:cNvSpPr>
              <a:spLocks noChangeArrowheads="1"/>
            </p:cNvSpPr>
            <p:nvPr/>
          </p:nvSpPr>
          <p:spPr bwMode="auto">
            <a:xfrm>
              <a:off x="2072"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7" name="Rectangle 97"/>
            <p:cNvSpPr>
              <a:spLocks noChangeArrowheads="1"/>
            </p:cNvSpPr>
            <p:nvPr/>
          </p:nvSpPr>
          <p:spPr bwMode="auto">
            <a:xfrm>
              <a:off x="2042"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8" name="Rectangle 98"/>
            <p:cNvSpPr>
              <a:spLocks noChangeArrowheads="1"/>
            </p:cNvSpPr>
            <p:nvPr/>
          </p:nvSpPr>
          <p:spPr bwMode="auto">
            <a:xfrm>
              <a:off x="2011"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39" name="Rectangle 99"/>
            <p:cNvSpPr>
              <a:spLocks noChangeArrowheads="1"/>
            </p:cNvSpPr>
            <p:nvPr/>
          </p:nvSpPr>
          <p:spPr bwMode="auto">
            <a:xfrm>
              <a:off x="1980"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0" name="Rectangle 100"/>
            <p:cNvSpPr>
              <a:spLocks noChangeArrowheads="1"/>
            </p:cNvSpPr>
            <p:nvPr/>
          </p:nvSpPr>
          <p:spPr bwMode="auto">
            <a:xfrm>
              <a:off x="1950"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1" name="Rectangle 101"/>
            <p:cNvSpPr>
              <a:spLocks noChangeArrowheads="1"/>
            </p:cNvSpPr>
            <p:nvPr/>
          </p:nvSpPr>
          <p:spPr bwMode="auto">
            <a:xfrm>
              <a:off x="1919" y="1246"/>
              <a:ext cx="15"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2" name="Rectangle 102"/>
            <p:cNvSpPr>
              <a:spLocks noChangeArrowheads="1"/>
            </p:cNvSpPr>
            <p:nvPr/>
          </p:nvSpPr>
          <p:spPr bwMode="auto">
            <a:xfrm>
              <a:off x="1888" y="1246"/>
              <a:ext cx="1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3" name="Freeform 103"/>
            <p:cNvSpPr/>
            <p:nvPr/>
          </p:nvSpPr>
          <p:spPr bwMode="auto">
            <a:xfrm>
              <a:off x="1857" y="1246"/>
              <a:ext cx="16" cy="8"/>
            </a:xfrm>
            <a:custGeom>
              <a:avLst/>
              <a:gdLst>
                <a:gd name="T0" fmla="*/ 16 w 16"/>
                <a:gd name="T1" fmla="*/ 0 h 8"/>
                <a:gd name="T2" fmla="*/ 8 w 16"/>
                <a:gd name="T3" fmla="*/ 4 h 8"/>
                <a:gd name="T4" fmla="*/ 8 w 16"/>
                <a:gd name="T5" fmla="*/ 0 h 8"/>
                <a:gd name="T6" fmla="*/ 0 w 16"/>
                <a:gd name="T7" fmla="*/ 0 h 8"/>
                <a:gd name="T8" fmla="*/ 0 w 16"/>
                <a:gd name="T9" fmla="*/ 8 h 8"/>
                <a:gd name="T10" fmla="*/ 16 w 16"/>
                <a:gd name="T11" fmla="*/ 8 h 8"/>
                <a:gd name="T12" fmla="*/ 16 w 16"/>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6" y="0"/>
                  </a:moveTo>
                  <a:lnTo>
                    <a:pt x="8" y="4"/>
                  </a:lnTo>
                  <a:lnTo>
                    <a:pt x="8" y="0"/>
                  </a:lnTo>
                  <a:lnTo>
                    <a:pt x="0" y="0"/>
                  </a:lnTo>
                  <a:lnTo>
                    <a:pt x="0" y="8"/>
                  </a:lnTo>
                  <a:lnTo>
                    <a:pt x="16"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44" name="Rectangle 104"/>
            <p:cNvSpPr>
              <a:spLocks noChangeArrowheads="1"/>
            </p:cNvSpPr>
            <p:nvPr/>
          </p:nvSpPr>
          <p:spPr bwMode="auto">
            <a:xfrm>
              <a:off x="1857" y="1215"/>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5" name="Rectangle 105"/>
            <p:cNvSpPr>
              <a:spLocks noChangeArrowheads="1"/>
            </p:cNvSpPr>
            <p:nvPr/>
          </p:nvSpPr>
          <p:spPr bwMode="auto">
            <a:xfrm>
              <a:off x="1857" y="118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6" name="Rectangle 106"/>
            <p:cNvSpPr>
              <a:spLocks noChangeArrowheads="1"/>
            </p:cNvSpPr>
            <p:nvPr/>
          </p:nvSpPr>
          <p:spPr bwMode="auto">
            <a:xfrm>
              <a:off x="1857" y="115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7" name="Rectangle 107"/>
            <p:cNvSpPr>
              <a:spLocks noChangeArrowheads="1"/>
            </p:cNvSpPr>
            <p:nvPr/>
          </p:nvSpPr>
          <p:spPr bwMode="auto">
            <a:xfrm>
              <a:off x="1857" y="112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8" name="Rectangle 108"/>
            <p:cNvSpPr>
              <a:spLocks noChangeArrowheads="1"/>
            </p:cNvSpPr>
            <p:nvPr/>
          </p:nvSpPr>
          <p:spPr bwMode="auto">
            <a:xfrm>
              <a:off x="1857" y="1092"/>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49" name="Rectangle 109"/>
            <p:cNvSpPr>
              <a:spLocks noChangeArrowheads="1"/>
            </p:cNvSpPr>
            <p:nvPr/>
          </p:nvSpPr>
          <p:spPr bwMode="auto">
            <a:xfrm>
              <a:off x="1857" y="106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0" name="Rectangle 110"/>
            <p:cNvSpPr>
              <a:spLocks noChangeArrowheads="1"/>
            </p:cNvSpPr>
            <p:nvPr/>
          </p:nvSpPr>
          <p:spPr bwMode="auto">
            <a:xfrm>
              <a:off x="1857" y="103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1" name="Rectangle 111"/>
            <p:cNvSpPr>
              <a:spLocks noChangeArrowheads="1"/>
            </p:cNvSpPr>
            <p:nvPr/>
          </p:nvSpPr>
          <p:spPr bwMode="auto">
            <a:xfrm>
              <a:off x="1857" y="1000"/>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2" name="Rectangle 112"/>
            <p:cNvSpPr>
              <a:spLocks noChangeArrowheads="1"/>
            </p:cNvSpPr>
            <p:nvPr/>
          </p:nvSpPr>
          <p:spPr bwMode="auto">
            <a:xfrm>
              <a:off x="1857" y="97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3" name="Rectangle 113"/>
            <p:cNvSpPr>
              <a:spLocks noChangeArrowheads="1"/>
            </p:cNvSpPr>
            <p:nvPr/>
          </p:nvSpPr>
          <p:spPr bwMode="auto">
            <a:xfrm>
              <a:off x="1857" y="939"/>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4" name="Rectangle 114"/>
            <p:cNvSpPr>
              <a:spLocks noChangeArrowheads="1"/>
            </p:cNvSpPr>
            <p:nvPr/>
          </p:nvSpPr>
          <p:spPr bwMode="auto">
            <a:xfrm>
              <a:off x="1857" y="908"/>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5" name="Rectangle 115"/>
            <p:cNvSpPr>
              <a:spLocks noChangeArrowheads="1"/>
            </p:cNvSpPr>
            <p:nvPr/>
          </p:nvSpPr>
          <p:spPr bwMode="auto">
            <a:xfrm>
              <a:off x="1857" y="878"/>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6" name="Rectangle 116"/>
            <p:cNvSpPr>
              <a:spLocks noChangeArrowheads="1"/>
            </p:cNvSpPr>
            <p:nvPr/>
          </p:nvSpPr>
          <p:spPr bwMode="auto">
            <a:xfrm>
              <a:off x="1857" y="847"/>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7" name="Rectangle 117"/>
            <p:cNvSpPr>
              <a:spLocks noChangeArrowheads="1"/>
            </p:cNvSpPr>
            <p:nvPr/>
          </p:nvSpPr>
          <p:spPr bwMode="auto">
            <a:xfrm>
              <a:off x="1857" y="816"/>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8" name="Rectangle 118"/>
            <p:cNvSpPr>
              <a:spLocks noChangeArrowheads="1"/>
            </p:cNvSpPr>
            <p:nvPr/>
          </p:nvSpPr>
          <p:spPr bwMode="auto">
            <a:xfrm>
              <a:off x="1857" y="786"/>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59" name="Rectangle 119"/>
            <p:cNvSpPr>
              <a:spLocks noChangeArrowheads="1"/>
            </p:cNvSpPr>
            <p:nvPr/>
          </p:nvSpPr>
          <p:spPr bwMode="auto">
            <a:xfrm>
              <a:off x="1857" y="755"/>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0" name="Rectangle 120"/>
            <p:cNvSpPr>
              <a:spLocks noChangeArrowheads="1"/>
            </p:cNvSpPr>
            <p:nvPr/>
          </p:nvSpPr>
          <p:spPr bwMode="auto">
            <a:xfrm>
              <a:off x="1857" y="724"/>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1" name="Rectangle 121"/>
            <p:cNvSpPr>
              <a:spLocks noChangeArrowheads="1"/>
            </p:cNvSpPr>
            <p:nvPr/>
          </p:nvSpPr>
          <p:spPr bwMode="auto">
            <a:xfrm>
              <a:off x="1857" y="693"/>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2" name="Rectangle 122"/>
            <p:cNvSpPr>
              <a:spLocks noChangeArrowheads="1"/>
            </p:cNvSpPr>
            <p:nvPr/>
          </p:nvSpPr>
          <p:spPr bwMode="auto">
            <a:xfrm>
              <a:off x="1857" y="663"/>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3" name="Rectangle 123"/>
            <p:cNvSpPr>
              <a:spLocks noChangeArrowheads="1"/>
            </p:cNvSpPr>
            <p:nvPr/>
          </p:nvSpPr>
          <p:spPr bwMode="auto">
            <a:xfrm>
              <a:off x="1857" y="632"/>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4" name="Rectangle 124"/>
            <p:cNvSpPr>
              <a:spLocks noChangeArrowheads="1"/>
            </p:cNvSpPr>
            <p:nvPr/>
          </p:nvSpPr>
          <p:spPr bwMode="auto">
            <a:xfrm>
              <a:off x="1857" y="601"/>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5" name="Rectangle 125"/>
            <p:cNvSpPr>
              <a:spLocks noChangeArrowheads="1"/>
            </p:cNvSpPr>
            <p:nvPr/>
          </p:nvSpPr>
          <p:spPr bwMode="auto">
            <a:xfrm>
              <a:off x="1857" y="571"/>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6" name="Rectangle 126"/>
            <p:cNvSpPr>
              <a:spLocks noChangeArrowheads="1"/>
            </p:cNvSpPr>
            <p:nvPr/>
          </p:nvSpPr>
          <p:spPr bwMode="auto">
            <a:xfrm>
              <a:off x="1857" y="540"/>
              <a:ext cx="8" cy="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7" name="Rectangle 127"/>
            <p:cNvSpPr>
              <a:spLocks noChangeArrowheads="1"/>
            </p:cNvSpPr>
            <p:nvPr/>
          </p:nvSpPr>
          <p:spPr bwMode="auto">
            <a:xfrm>
              <a:off x="1857" y="509"/>
              <a:ext cx="8" cy="1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8" name="Rectangle 128"/>
            <p:cNvSpPr>
              <a:spLocks noChangeArrowheads="1"/>
            </p:cNvSpPr>
            <p:nvPr/>
          </p:nvSpPr>
          <p:spPr bwMode="auto">
            <a:xfrm>
              <a:off x="1857" y="490"/>
              <a:ext cx="8" cy="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369" name="Freeform 129"/>
            <p:cNvSpPr/>
            <p:nvPr/>
          </p:nvSpPr>
          <p:spPr bwMode="auto">
            <a:xfrm>
              <a:off x="1831" y="1250"/>
              <a:ext cx="15" cy="15"/>
            </a:xfrm>
            <a:custGeom>
              <a:avLst/>
              <a:gdLst>
                <a:gd name="T0" fmla="*/ 15 w 15"/>
                <a:gd name="T1" fmla="*/ 0 h 15"/>
                <a:gd name="T2" fmla="*/ 0 w 15"/>
                <a:gd name="T3" fmla="*/ 7 h 15"/>
                <a:gd name="T4" fmla="*/ 3 w 15"/>
                <a:gd name="T5" fmla="*/ 15 h 15"/>
                <a:gd name="T6" fmla="*/ 15 w 15"/>
                <a:gd name="T7" fmla="*/ 7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7"/>
                  </a:lnTo>
                  <a:lnTo>
                    <a:pt x="3" y="15"/>
                  </a:lnTo>
                  <a:lnTo>
                    <a:pt x="15"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0" name="Freeform 130"/>
            <p:cNvSpPr/>
            <p:nvPr/>
          </p:nvSpPr>
          <p:spPr bwMode="auto">
            <a:xfrm>
              <a:off x="1804" y="1261"/>
              <a:ext cx="15" cy="16"/>
            </a:xfrm>
            <a:custGeom>
              <a:avLst/>
              <a:gdLst>
                <a:gd name="T0" fmla="*/ 11 w 15"/>
                <a:gd name="T1" fmla="*/ 0 h 16"/>
                <a:gd name="T2" fmla="*/ 0 w 15"/>
                <a:gd name="T3" fmla="*/ 8 h 16"/>
                <a:gd name="T4" fmla="*/ 0 w 15"/>
                <a:gd name="T5" fmla="*/ 16 h 16"/>
                <a:gd name="T6" fmla="*/ 15 w 15"/>
                <a:gd name="T7" fmla="*/ 8 h 16"/>
                <a:gd name="T8" fmla="*/ 11 w 15"/>
                <a:gd name="T9" fmla="*/ 0 h 16"/>
              </a:gdLst>
              <a:ahLst/>
              <a:cxnLst>
                <a:cxn ang="0">
                  <a:pos x="T0" y="T1"/>
                </a:cxn>
                <a:cxn ang="0">
                  <a:pos x="T2" y="T3"/>
                </a:cxn>
                <a:cxn ang="0">
                  <a:pos x="T4" y="T5"/>
                </a:cxn>
                <a:cxn ang="0">
                  <a:pos x="T6" y="T7"/>
                </a:cxn>
                <a:cxn ang="0">
                  <a:pos x="T8" y="T9"/>
                </a:cxn>
              </a:cxnLst>
              <a:rect l="0" t="0" r="r" b="b"/>
              <a:pathLst>
                <a:path w="15" h="16">
                  <a:moveTo>
                    <a:pt x="11" y="0"/>
                  </a:moveTo>
                  <a:lnTo>
                    <a:pt x="0" y="8"/>
                  </a:lnTo>
                  <a:lnTo>
                    <a:pt x="0" y="16"/>
                  </a:lnTo>
                  <a:lnTo>
                    <a:pt x="15" y="8"/>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1" name="Freeform 131"/>
            <p:cNvSpPr/>
            <p:nvPr/>
          </p:nvSpPr>
          <p:spPr bwMode="auto">
            <a:xfrm>
              <a:off x="1773" y="1277"/>
              <a:ext cx="19" cy="11"/>
            </a:xfrm>
            <a:custGeom>
              <a:avLst/>
              <a:gdLst>
                <a:gd name="T0" fmla="*/ 15 w 19"/>
                <a:gd name="T1" fmla="*/ 0 h 11"/>
                <a:gd name="T2" fmla="*/ 0 w 19"/>
                <a:gd name="T3" fmla="*/ 3 h 11"/>
                <a:gd name="T4" fmla="*/ 4 w 19"/>
                <a:gd name="T5" fmla="*/ 11 h 11"/>
                <a:gd name="T6" fmla="*/ 19 w 19"/>
                <a:gd name="T7" fmla="*/ 7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3"/>
                  </a:lnTo>
                  <a:lnTo>
                    <a:pt x="4" y="11"/>
                  </a:lnTo>
                  <a:lnTo>
                    <a:pt x="19"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2" name="Freeform 132"/>
            <p:cNvSpPr/>
            <p:nvPr/>
          </p:nvSpPr>
          <p:spPr bwMode="auto">
            <a:xfrm>
              <a:off x="1746" y="1288"/>
              <a:ext cx="19" cy="16"/>
            </a:xfrm>
            <a:custGeom>
              <a:avLst/>
              <a:gdLst>
                <a:gd name="T0" fmla="*/ 15 w 19"/>
                <a:gd name="T1" fmla="*/ 0 h 16"/>
                <a:gd name="T2" fmla="*/ 0 w 19"/>
                <a:gd name="T3" fmla="*/ 8 h 16"/>
                <a:gd name="T4" fmla="*/ 4 w 19"/>
                <a:gd name="T5" fmla="*/ 16 h 16"/>
                <a:gd name="T6" fmla="*/ 19 w 19"/>
                <a:gd name="T7" fmla="*/ 8 h 16"/>
                <a:gd name="T8" fmla="*/ 15 w 19"/>
                <a:gd name="T9" fmla="*/ 0 h 16"/>
              </a:gdLst>
              <a:ahLst/>
              <a:cxnLst>
                <a:cxn ang="0">
                  <a:pos x="T0" y="T1"/>
                </a:cxn>
                <a:cxn ang="0">
                  <a:pos x="T2" y="T3"/>
                </a:cxn>
                <a:cxn ang="0">
                  <a:pos x="T4" y="T5"/>
                </a:cxn>
                <a:cxn ang="0">
                  <a:pos x="T6" y="T7"/>
                </a:cxn>
                <a:cxn ang="0">
                  <a:pos x="T8" y="T9"/>
                </a:cxn>
              </a:cxnLst>
              <a:rect l="0" t="0" r="r" b="b"/>
              <a:pathLst>
                <a:path w="19" h="16">
                  <a:moveTo>
                    <a:pt x="15" y="0"/>
                  </a:moveTo>
                  <a:lnTo>
                    <a:pt x="0" y="8"/>
                  </a:lnTo>
                  <a:lnTo>
                    <a:pt x="4" y="16"/>
                  </a:lnTo>
                  <a:lnTo>
                    <a:pt x="19"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3" name="Freeform 133"/>
            <p:cNvSpPr/>
            <p:nvPr/>
          </p:nvSpPr>
          <p:spPr bwMode="auto">
            <a:xfrm>
              <a:off x="1719" y="1300"/>
              <a:ext cx="16" cy="15"/>
            </a:xfrm>
            <a:custGeom>
              <a:avLst/>
              <a:gdLst>
                <a:gd name="T0" fmla="*/ 12 w 16"/>
                <a:gd name="T1" fmla="*/ 0 h 15"/>
                <a:gd name="T2" fmla="*/ 0 w 16"/>
                <a:gd name="T3" fmla="*/ 7 h 15"/>
                <a:gd name="T4" fmla="*/ 4 w 16"/>
                <a:gd name="T5" fmla="*/ 15 h 15"/>
                <a:gd name="T6" fmla="*/ 16 w 16"/>
                <a:gd name="T7" fmla="*/ 7 h 15"/>
                <a:gd name="T8" fmla="*/ 12 w 16"/>
                <a:gd name="T9" fmla="*/ 0 h 15"/>
              </a:gdLst>
              <a:ahLst/>
              <a:cxnLst>
                <a:cxn ang="0">
                  <a:pos x="T0" y="T1"/>
                </a:cxn>
                <a:cxn ang="0">
                  <a:pos x="T2" y="T3"/>
                </a:cxn>
                <a:cxn ang="0">
                  <a:pos x="T4" y="T5"/>
                </a:cxn>
                <a:cxn ang="0">
                  <a:pos x="T6" y="T7"/>
                </a:cxn>
                <a:cxn ang="0">
                  <a:pos x="T8" y="T9"/>
                </a:cxn>
              </a:cxnLst>
              <a:rect l="0" t="0" r="r" b="b"/>
              <a:pathLst>
                <a:path w="16" h="15">
                  <a:moveTo>
                    <a:pt x="12" y="0"/>
                  </a:moveTo>
                  <a:lnTo>
                    <a:pt x="0" y="7"/>
                  </a:lnTo>
                  <a:lnTo>
                    <a:pt x="4" y="15"/>
                  </a:lnTo>
                  <a:lnTo>
                    <a:pt x="16" y="7"/>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4" name="Freeform 134"/>
            <p:cNvSpPr/>
            <p:nvPr/>
          </p:nvSpPr>
          <p:spPr bwMode="auto">
            <a:xfrm>
              <a:off x="1692" y="1315"/>
              <a:ext cx="16" cy="12"/>
            </a:xfrm>
            <a:custGeom>
              <a:avLst/>
              <a:gdLst>
                <a:gd name="T0" fmla="*/ 12 w 16"/>
                <a:gd name="T1" fmla="*/ 0 h 12"/>
                <a:gd name="T2" fmla="*/ 0 w 16"/>
                <a:gd name="T3" fmla="*/ 4 h 12"/>
                <a:gd name="T4" fmla="*/ 0 w 16"/>
                <a:gd name="T5" fmla="*/ 12 h 12"/>
                <a:gd name="T6" fmla="*/ 16 w 16"/>
                <a:gd name="T7" fmla="*/ 8 h 12"/>
                <a:gd name="T8" fmla="*/ 12 w 16"/>
                <a:gd name="T9" fmla="*/ 0 h 12"/>
              </a:gdLst>
              <a:ahLst/>
              <a:cxnLst>
                <a:cxn ang="0">
                  <a:pos x="T0" y="T1"/>
                </a:cxn>
                <a:cxn ang="0">
                  <a:pos x="T2" y="T3"/>
                </a:cxn>
                <a:cxn ang="0">
                  <a:pos x="T4" y="T5"/>
                </a:cxn>
                <a:cxn ang="0">
                  <a:pos x="T6" y="T7"/>
                </a:cxn>
                <a:cxn ang="0">
                  <a:pos x="T8" y="T9"/>
                </a:cxn>
              </a:cxnLst>
              <a:rect l="0" t="0" r="r" b="b"/>
              <a:pathLst>
                <a:path w="16" h="12">
                  <a:moveTo>
                    <a:pt x="12" y="0"/>
                  </a:moveTo>
                  <a:lnTo>
                    <a:pt x="0" y="4"/>
                  </a:lnTo>
                  <a:lnTo>
                    <a:pt x="0" y="12"/>
                  </a:lnTo>
                  <a:lnTo>
                    <a:pt x="16" y="8"/>
                  </a:lnTo>
                  <a:lnTo>
                    <a:pt x="12"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5" name="Freeform 135"/>
            <p:cNvSpPr/>
            <p:nvPr/>
          </p:nvSpPr>
          <p:spPr bwMode="auto">
            <a:xfrm>
              <a:off x="1662" y="1327"/>
              <a:ext cx="19" cy="11"/>
            </a:xfrm>
            <a:custGeom>
              <a:avLst/>
              <a:gdLst>
                <a:gd name="T0" fmla="*/ 15 w 19"/>
                <a:gd name="T1" fmla="*/ 0 h 11"/>
                <a:gd name="T2" fmla="*/ 0 w 19"/>
                <a:gd name="T3" fmla="*/ 7 h 11"/>
                <a:gd name="T4" fmla="*/ 4 w 19"/>
                <a:gd name="T5" fmla="*/ 11 h 11"/>
                <a:gd name="T6" fmla="*/ 19 w 19"/>
                <a:gd name="T7" fmla="*/ 7 h 11"/>
                <a:gd name="T8" fmla="*/ 15 w 19"/>
                <a:gd name="T9" fmla="*/ 0 h 11"/>
              </a:gdLst>
              <a:ahLst/>
              <a:cxnLst>
                <a:cxn ang="0">
                  <a:pos x="T0" y="T1"/>
                </a:cxn>
                <a:cxn ang="0">
                  <a:pos x="T2" y="T3"/>
                </a:cxn>
                <a:cxn ang="0">
                  <a:pos x="T4" y="T5"/>
                </a:cxn>
                <a:cxn ang="0">
                  <a:pos x="T6" y="T7"/>
                </a:cxn>
                <a:cxn ang="0">
                  <a:pos x="T8" y="T9"/>
                </a:cxn>
              </a:cxnLst>
              <a:rect l="0" t="0" r="r" b="b"/>
              <a:pathLst>
                <a:path w="19" h="11">
                  <a:moveTo>
                    <a:pt x="15" y="0"/>
                  </a:moveTo>
                  <a:lnTo>
                    <a:pt x="0" y="7"/>
                  </a:lnTo>
                  <a:lnTo>
                    <a:pt x="4" y="11"/>
                  </a:lnTo>
                  <a:lnTo>
                    <a:pt x="19" y="7"/>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6" name="Freeform 136"/>
            <p:cNvSpPr/>
            <p:nvPr/>
          </p:nvSpPr>
          <p:spPr bwMode="auto">
            <a:xfrm>
              <a:off x="1635" y="1338"/>
              <a:ext cx="15" cy="15"/>
            </a:xfrm>
            <a:custGeom>
              <a:avLst/>
              <a:gdLst>
                <a:gd name="T0" fmla="*/ 15 w 15"/>
                <a:gd name="T1" fmla="*/ 0 h 15"/>
                <a:gd name="T2" fmla="*/ 0 w 15"/>
                <a:gd name="T3" fmla="*/ 8 h 15"/>
                <a:gd name="T4" fmla="*/ 4 w 15"/>
                <a:gd name="T5" fmla="*/ 15 h 15"/>
                <a:gd name="T6" fmla="*/ 15 w 15"/>
                <a:gd name="T7" fmla="*/ 8 h 15"/>
                <a:gd name="T8" fmla="*/ 15 w 15"/>
                <a:gd name="T9" fmla="*/ 0 h 15"/>
              </a:gdLst>
              <a:ahLst/>
              <a:cxnLst>
                <a:cxn ang="0">
                  <a:pos x="T0" y="T1"/>
                </a:cxn>
                <a:cxn ang="0">
                  <a:pos x="T2" y="T3"/>
                </a:cxn>
                <a:cxn ang="0">
                  <a:pos x="T4" y="T5"/>
                </a:cxn>
                <a:cxn ang="0">
                  <a:pos x="T6" y="T7"/>
                </a:cxn>
                <a:cxn ang="0">
                  <a:pos x="T8" y="T9"/>
                </a:cxn>
              </a:cxnLst>
              <a:rect l="0" t="0" r="r" b="b"/>
              <a:pathLst>
                <a:path w="15" h="15">
                  <a:moveTo>
                    <a:pt x="15" y="0"/>
                  </a:moveTo>
                  <a:lnTo>
                    <a:pt x="0" y="8"/>
                  </a:lnTo>
                  <a:lnTo>
                    <a:pt x="4" y="15"/>
                  </a:lnTo>
                  <a:lnTo>
                    <a:pt x="15" y="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7" name="Freeform 137"/>
            <p:cNvSpPr/>
            <p:nvPr/>
          </p:nvSpPr>
          <p:spPr bwMode="auto">
            <a:xfrm>
              <a:off x="1608" y="1353"/>
              <a:ext cx="15" cy="12"/>
            </a:xfrm>
            <a:custGeom>
              <a:avLst/>
              <a:gdLst>
                <a:gd name="T0" fmla="*/ 11 w 15"/>
                <a:gd name="T1" fmla="*/ 0 h 12"/>
                <a:gd name="T2" fmla="*/ 0 w 15"/>
                <a:gd name="T3" fmla="*/ 4 h 12"/>
                <a:gd name="T4" fmla="*/ 4 w 15"/>
                <a:gd name="T5" fmla="*/ 12 h 12"/>
                <a:gd name="T6" fmla="*/ 15 w 15"/>
                <a:gd name="T7" fmla="*/ 4 h 12"/>
                <a:gd name="T8" fmla="*/ 11 w 15"/>
                <a:gd name="T9" fmla="*/ 0 h 12"/>
              </a:gdLst>
              <a:ahLst/>
              <a:cxnLst>
                <a:cxn ang="0">
                  <a:pos x="T0" y="T1"/>
                </a:cxn>
                <a:cxn ang="0">
                  <a:pos x="T2" y="T3"/>
                </a:cxn>
                <a:cxn ang="0">
                  <a:pos x="T4" y="T5"/>
                </a:cxn>
                <a:cxn ang="0">
                  <a:pos x="T6" y="T7"/>
                </a:cxn>
                <a:cxn ang="0">
                  <a:pos x="T8" y="T9"/>
                </a:cxn>
              </a:cxnLst>
              <a:rect l="0" t="0" r="r" b="b"/>
              <a:pathLst>
                <a:path w="15" h="12">
                  <a:moveTo>
                    <a:pt x="11" y="0"/>
                  </a:moveTo>
                  <a:lnTo>
                    <a:pt x="0" y="4"/>
                  </a:lnTo>
                  <a:lnTo>
                    <a:pt x="4" y="12"/>
                  </a:lnTo>
                  <a:lnTo>
                    <a:pt x="15" y="4"/>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8" name="Freeform 138"/>
            <p:cNvSpPr/>
            <p:nvPr/>
          </p:nvSpPr>
          <p:spPr bwMode="auto">
            <a:xfrm>
              <a:off x="1577" y="1365"/>
              <a:ext cx="19" cy="11"/>
            </a:xfrm>
            <a:custGeom>
              <a:avLst/>
              <a:gdLst>
                <a:gd name="T0" fmla="*/ 16 w 19"/>
                <a:gd name="T1" fmla="*/ 0 h 11"/>
                <a:gd name="T2" fmla="*/ 0 w 19"/>
                <a:gd name="T3" fmla="*/ 8 h 11"/>
                <a:gd name="T4" fmla="*/ 4 w 19"/>
                <a:gd name="T5" fmla="*/ 11 h 11"/>
                <a:gd name="T6" fmla="*/ 19 w 19"/>
                <a:gd name="T7" fmla="*/ 8 h 11"/>
                <a:gd name="T8" fmla="*/ 16 w 19"/>
                <a:gd name="T9" fmla="*/ 0 h 11"/>
              </a:gdLst>
              <a:ahLst/>
              <a:cxnLst>
                <a:cxn ang="0">
                  <a:pos x="T0" y="T1"/>
                </a:cxn>
                <a:cxn ang="0">
                  <a:pos x="T2" y="T3"/>
                </a:cxn>
                <a:cxn ang="0">
                  <a:pos x="T4" y="T5"/>
                </a:cxn>
                <a:cxn ang="0">
                  <a:pos x="T6" y="T7"/>
                </a:cxn>
                <a:cxn ang="0">
                  <a:pos x="T8" y="T9"/>
                </a:cxn>
              </a:cxnLst>
              <a:rect l="0" t="0" r="r" b="b"/>
              <a:pathLst>
                <a:path w="19" h="11">
                  <a:moveTo>
                    <a:pt x="16" y="0"/>
                  </a:moveTo>
                  <a:lnTo>
                    <a:pt x="0" y="8"/>
                  </a:lnTo>
                  <a:lnTo>
                    <a:pt x="4" y="11"/>
                  </a:lnTo>
                  <a:lnTo>
                    <a:pt x="19"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79" name="Freeform 139"/>
            <p:cNvSpPr/>
            <p:nvPr/>
          </p:nvSpPr>
          <p:spPr bwMode="auto">
            <a:xfrm>
              <a:off x="1550" y="1376"/>
              <a:ext cx="20" cy="16"/>
            </a:xfrm>
            <a:custGeom>
              <a:avLst/>
              <a:gdLst>
                <a:gd name="T0" fmla="*/ 16 w 20"/>
                <a:gd name="T1" fmla="*/ 0 h 16"/>
                <a:gd name="T2" fmla="*/ 0 w 20"/>
                <a:gd name="T3" fmla="*/ 8 h 16"/>
                <a:gd name="T4" fmla="*/ 4 w 20"/>
                <a:gd name="T5" fmla="*/ 16 h 16"/>
                <a:gd name="T6" fmla="*/ 20 w 20"/>
                <a:gd name="T7" fmla="*/ 8 h 16"/>
                <a:gd name="T8" fmla="*/ 16 w 20"/>
                <a:gd name="T9" fmla="*/ 0 h 16"/>
              </a:gdLst>
              <a:ahLst/>
              <a:cxnLst>
                <a:cxn ang="0">
                  <a:pos x="T0" y="T1"/>
                </a:cxn>
                <a:cxn ang="0">
                  <a:pos x="T2" y="T3"/>
                </a:cxn>
                <a:cxn ang="0">
                  <a:pos x="T4" y="T5"/>
                </a:cxn>
                <a:cxn ang="0">
                  <a:pos x="T6" y="T7"/>
                </a:cxn>
                <a:cxn ang="0">
                  <a:pos x="T8" y="T9"/>
                </a:cxn>
              </a:cxnLst>
              <a:rect l="0" t="0" r="r" b="b"/>
              <a:pathLst>
                <a:path w="20" h="16">
                  <a:moveTo>
                    <a:pt x="16" y="0"/>
                  </a:moveTo>
                  <a:lnTo>
                    <a:pt x="0" y="8"/>
                  </a:lnTo>
                  <a:lnTo>
                    <a:pt x="4" y="16"/>
                  </a:lnTo>
                  <a:lnTo>
                    <a:pt x="20" y="8"/>
                  </a:lnTo>
                  <a:lnTo>
                    <a:pt x="16"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80" name="Freeform 140"/>
            <p:cNvSpPr/>
            <p:nvPr/>
          </p:nvSpPr>
          <p:spPr bwMode="auto">
            <a:xfrm>
              <a:off x="1550" y="482"/>
              <a:ext cx="787" cy="764"/>
            </a:xfrm>
            <a:custGeom>
              <a:avLst/>
              <a:gdLst>
                <a:gd name="T0" fmla="*/ 783 w 787"/>
                <a:gd name="T1" fmla="*/ 764 h 764"/>
                <a:gd name="T2" fmla="*/ 787 w 787"/>
                <a:gd name="T3" fmla="*/ 8 h 764"/>
                <a:gd name="T4" fmla="*/ 787 w 787"/>
                <a:gd name="T5" fmla="*/ 4 h 764"/>
                <a:gd name="T6" fmla="*/ 783 w 787"/>
                <a:gd name="T7" fmla="*/ 4 h 764"/>
                <a:gd name="T8" fmla="*/ 549 w 787"/>
                <a:gd name="T9" fmla="*/ 119 h 764"/>
                <a:gd name="T10" fmla="*/ 27 w 787"/>
                <a:gd name="T11" fmla="*/ 119 h 764"/>
                <a:gd name="T12" fmla="*/ 323 w 787"/>
                <a:gd name="T13" fmla="*/ 12 h 764"/>
                <a:gd name="T14" fmla="*/ 783 w 787"/>
                <a:gd name="T15" fmla="*/ 8 h 764"/>
                <a:gd name="T16" fmla="*/ 783 w 787"/>
                <a:gd name="T17" fmla="*/ 0 h 764"/>
                <a:gd name="T18" fmla="*/ 323 w 787"/>
                <a:gd name="T19" fmla="*/ 4 h 764"/>
                <a:gd name="T20" fmla="*/ 4 w 787"/>
                <a:gd name="T21" fmla="*/ 119 h 764"/>
                <a:gd name="T22" fmla="*/ 0 w 787"/>
                <a:gd name="T23" fmla="*/ 119 h 764"/>
                <a:gd name="T24" fmla="*/ 0 w 787"/>
                <a:gd name="T25" fmla="*/ 127 h 764"/>
                <a:gd name="T26" fmla="*/ 549 w 787"/>
                <a:gd name="T27" fmla="*/ 127 h 764"/>
                <a:gd name="T28" fmla="*/ 780 w 787"/>
                <a:gd name="T29" fmla="*/ 16 h 764"/>
                <a:gd name="T30" fmla="*/ 776 w 787"/>
                <a:gd name="T31" fmla="*/ 764 h 764"/>
                <a:gd name="T32" fmla="*/ 783 w 787"/>
                <a:gd name="T33" fmla="*/ 764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87" h="764">
                  <a:moveTo>
                    <a:pt x="783" y="764"/>
                  </a:moveTo>
                  <a:lnTo>
                    <a:pt x="787" y="8"/>
                  </a:lnTo>
                  <a:lnTo>
                    <a:pt x="787" y="4"/>
                  </a:lnTo>
                  <a:lnTo>
                    <a:pt x="783" y="4"/>
                  </a:lnTo>
                  <a:lnTo>
                    <a:pt x="549" y="119"/>
                  </a:lnTo>
                  <a:lnTo>
                    <a:pt x="27" y="119"/>
                  </a:lnTo>
                  <a:lnTo>
                    <a:pt x="323" y="12"/>
                  </a:lnTo>
                  <a:lnTo>
                    <a:pt x="783" y="8"/>
                  </a:lnTo>
                  <a:lnTo>
                    <a:pt x="783" y="0"/>
                  </a:lnTo>
                  <a:lnTo>
                    <a:pt x="323" y="4"/>
                  </a:lnTo>
                  <a:lnTo>
                    <a:pt x="4" y="119"/>
                  </a:lnTo>
                  <a:lnTo>
                    <a:pt x="0" y="119"/>
                  </a:lnTo>
                  <a:lnTo>
                    <a:pt x="0" y="127"/>
                  </a:lnTo>
                  <a:lnTo>
                    <a:pt x="549" y="127"/>
                  </a:lnTo>
                  <a:lnTo>
                    <a:pt x="780" y="16"/>
                  </a:lnTo>
                  <a:lnTo>
                    <a:pt x="776" y="764"/>
                  </a:lnTo>
                  <a:lnTo>
                    <a:pt x="783" y="76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81" name="Freeform 141"/>
            <p:cNvSpPr/>
            <p:nvPr/>
          </p:nvSpPr>
          <p:spPr bwMode="auto">
            <a:xfrm>
              <a:off x="1550" y="601"/>
              <a:ext cx="783" cy="795"/>
            </a:xfrm>
            <a:custGeom>
              <a:avLst/>
              <a:gdLst>
                <a:gd name="T0" fmla="*/ 0 w 783"/>
                <a:gd name="T1" fmla="*/ 0 h 795"/>
                <a:gd name="T2" fmla="*/ 0 w 783"/>
                <a:gd name="T3" fmla="*/ 795 h 795"/>
                <a:gd name="T4" fmla="*/ 542 w 783"/>
                <a:gd name="T5" fmla="*/ 795 h 795"/>
                <a:gd name="T6" fmla="*/ 783 w 783"/>
                <a:gd name="T7" fmla="*/ 653 h 795"/>
                <a:gd name="T8" fmla="*/ 776 w 783"/>
                <a:gd name="T9" fmla="*/ 645 h 795"/>
                <a:gd name="T10" fmla="*/ 542 w 783"/>
                <a:gd name="T11" fmla="*/ 787 h 795"/>
                <a:gd name="T12" fmla="*/ 8 w 783"/>
                <a:gd name="T13" fmla="*/ 787 h 795"/>
                <a:gd name="T14" fmla="*/ 8 w 783"/>
                <a:gd name="T15" fmla="*/ 0 h 795"/>
                <a:gd name="T16" fmla="*/ 0 w 783"/>
                <a:gd name="T17"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3" h="795">
                  <a:moveTo>
                    <a:pt x="0" y="0"/>
                  </a:moveTo>
                  <a:lnTo>
                    <a:pt x="0" y="795"/>
                  </a:lnTo>
                  <a:lnTo>
                    <a:pt x="542" y="795"/>
                  </a:lnTo>
                  <a:lnTo>
                    <a:pt x="783" y="653"/>
                  </a:lnTo>
                  <a:lnTo>
                    <a:pt x="776" y="645"/>
                  </a:lnTo>
                  <a:lnTo>
                    <a:pt x="542" y="787"/>
                  </a:lnTo>
                  <a:lnTo>
                    <a:pt x="8" y="787"/>
                  </a:lnTo>
                  <a:lnTo>
                    <a:pt x="8"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82" name="Freeform 142"/>
            <p:cNvSpPr/>
            <p:nvPr/>
          </p:nvSpPr>
          <p:spPr bwMode="auto">
            <a:xfrm>
              <a:off x="2092" y="601"/>
              <a:ext cx="11" cy="779"/>
            </a:xfrm>
            <a:custGeom>
              <a:avLst/>
              <a:gdLst>
                <a:gd name="T0" fmla="*/ 7 w 11"/>
                <a:gd name="T1" fmla="*/ 779 h 779"/>
                <a:gd name="T2" fmla="*/ 11 w 11"/>
                <a:gd name="T3" fmla="*/ 0 h 779"/>
                <a:gd name="T4" fmla="*/ 3 w 11"/>
                <a:gd name="T5" fmla="*/ 0 h 779"/>
                <a:gd name="T6" fmla="*/ 0 w 11"/>
                <a:gd name="T7" fmla="*/ 779 h 779"/>
                <a:gd name="T8" fmla="*/ 7 w 11"/>
                <a:gd name="T9" fmla="*/ 779 h 779"/>
              </a:gdLst>
              <a:ahLst/>
              <a:cxnLst>
                <a:cxn ang="0">
                  <a:pos x="T0" y="T1"/>
                </a:cxn>
                <a:cxn ang="0">
                  <a:pos x="T2" y="T3"/>
                </a:cxn>
                <a:cxn ang="0">
                  <a:pos x="T4" y="T5"/>
                </a:cxn>
                <a:cxn ang="0">
                  <a:pos x="T6" y="T7"/>
                </a:cxn>
                <a:cxn ang="0">
                  <a:pos x="T8" y="T9"/>
                </a:cxn>
              </a:cxnLst>
              <a:rect l="0" t="0" r="r" b="b"/>
              <a:pathLst>
                <a:path w="11" h="779">
                  <a:moveTo>
                    <a:pt x="7" y="779"/>
                  </a:moveTo>
                  <a:lnTo>
                    <a:pt x="11" y="0"/>
                  </a:lnTo>
                  <a:lnTo>
                    <a:pt x="3" y="0"/>
                  </a:lnTo>
                  <a:lnTo>
                    <a:pt x="0" y="779"/>
                  </a:lnTo>
                  <a:lnTo>
                    <a:pt x="7" y="77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383" name="Rectangle 143"/>
            <p:cNvSpPr>
              <a:spLocks noChangeArrowheads="1"/>
            </p:cNvSpPr>
            <p:nvPr/>
          </p:nvSpPr>
          <p:spPr bwMode="auto">
            <a:xfrm>
              <a:off x="1366" y="1250"/>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0">
                  <a:latin typeface="Times New Roman" panose="02020603050405020304" pitchFamily="18" charset="0"/>
                </a:rPr>
                <a:t>a</a:t>
              </a:r>
              <a:endParaRPr lang="en-US" altLang="zh-CN" sz="2400" b="0">
                <a:effectLst>
                  <a:outerShdw blurRad="38100" dist="38100" dir="2700000" algn="tl">
                    <a:srgbClr val="000000"/>
                  </a:outerShdw>
                </a:effectLst>
                <a:latin typeface="Times New Roman" panose="02020603050405020304" pitchFamily="18" charset="0"/>
              </a:endParaRPr>
            </a:p>
          </p:txBody>
        </p:sp>
        <p:sp>
          <p:nvSpPr>
            <p:cNvPr id="138384" name="Rectangle 144"/>
            <p:cNvSpPr>
              <a:spLocks noChangeArrowheads="1"/>
            </p:cNvSpPr>
            <p:nvPr/>
          </p:nvSpPr>
          <p:spPr bwMode="auto">
            <a:xfrm>
              <a:off x="1439" y="1346"/>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200" b="0">
                  <a:latin typeface="Times New Roman" panose="02020603050405020304" pitchFamily="18" charset="0"/>
                </a:rPr>
                <a:t>2</a:t>
              </a:r>
              <a:endParaRPr lang="en-US" altLang="zh-CN" sz="2400" b="0">
                <a:effectLst>
                  <a:outerShdw blurRad="38100" dist="38100" dir="2700000" algn="tl">
                    <a:srgbClr val="000000"/>
                  </a:outerShdw>
                </a:effectLst>
                <a:latin typeface="Times New Roman" panose="02020603050405020304" pitchFamily="18" charset="0"/>
              </a:endParaRPr>
            </a:p>
          </p:txBody>
        </p:sp>
        <p:pic>
          <p:nvPicPr>
            <p:cNvPr id="138385" name="Picture 14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98" y="43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86" name="Picture 14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243" y="44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87" name="Picture 14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249" y="120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88" name="Picture 14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012" y="134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89" name="Picture 14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3" y="132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0" name="Picture 15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80" y="120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1" name="Picture 151"/>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3" y="55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2" name="Picture 152"/>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029" y="55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3" name="Picture 153"/>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813" y="44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4" name="Picture 154"/>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276" y="43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5" name="Picture 15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276" y="121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6" name="Picture 15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045" y="132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7" name="Picture 15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516" y="133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8" name="Picture 15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801" y="119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99" name="Picture 15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516" y="554"/>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400" name="Picture 16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063" y="57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401" name="Picture 161"/>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920" y="881"/>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8672" name="Line 432"/>
            <p:cNvSpPr>
              <a:spLocks noChangeShapeType="1"/>
            </p:cNvSpPr>
            <p:nvPr/>
          </p:nvSpPr>
          <p:spPr bwMode="auto">
            <a:xfrm>
              <a:off x="1905" y="1256"/>
              <a:ext cx="384" cy="0"/>
            </a:xfrm>
            <a:prstGeom prst="line">
              <a:avLst/>
            </a:prstGeom>
            <a:noFill/>
            <a:ln w="127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8673" name="Line 433"/>
            <p:cNvSpPr>
              <a:spLocks noChangeShapeType="1"/>
            </p:cNvSpPr>
            <p:nvPr/>
          </p:nvSpPr>
          <p:spPr bwMode="auto">
            <a:xfrm>
              <a:off x="873" y="1246"/>
              <a:ext cx="384" cy="0"/>
            </a:xfrm>
            <a:prstGeom prst="line">
              <a:avLst/>
            </a:prstGeom>
            <a:noFill/>
            <a:ln w="127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9253" name="Group 1013"/>
          <p:cNvGrpSpPr/>
          <p:nvPr/>
        </p:nvGrpSpPr>
        <p:grpSpPr bwMode="auto">
          <a:xfrm>
            <a:off x="4572000" y="404813"/>
            <a:ext cx="4040188" cy="3225799"/>
            <a:chOff x="2880" y="255"/>
            <a:chExt cx="2545" cy="2032"/>
          </a:xfrm>
        </p:grpSpPr>
        <p:sp>
          <p:nvSpPr>
            <p:cNvPr id="139248" name="Line 1008"/>
            <p:cNvSpPr>
              <a:spLocks noChangeShapeType="1"/>
            </p:cNvSpPr>
            <p:nvPr/>
          </p:nvSpPr>
          <p:spPr bwMode="auto">
            <a:xfrm flipH="1">
              <a:off x="3198" y="663"/>
              <a:ext cx="272" cy="91"/>
            </a:xfrm>
            <a:prstGeom prst="line">
              <a:avLst/>
            </a:prstGeom>
            <a:noFill/>
            <a:ln w="1905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9249" name="Line 1009"/>
            <p:cNvSpPr>
              <a:spLocks noChangeShapeType="1"/>
            </p:cNvSpPr>
            <p:nvPr/>
          </p:nvSpPr>
          <p:spPr bwMode="auto">
            <a:xfrm>
              <a:off x="3470" y="663"/>
              <a:ext cx="408" cy="0"/>
            </a:xfrm>
            <a:prstGeom prst="line">
              <a:avLst/>
            </a:prstGeom>
            <a:noFill/>
            <a:ln w="1905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38645" name="Picture 40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141" y="71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46" name="Picture 40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438" y="615"/>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47" name="Picture 40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18" y="62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48" name="Picture 40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18" y="118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49" name="Picture 40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22" y="132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0" name="Picture 41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123" y="1328"/>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1" name="Picture 411"/>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432" y="118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2" name="Picture 412"/>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010" y="60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3" name="Picture 413"/>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266" y="44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4" name="Picture 414"/>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93" y="461"/>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5" name="Picture 41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81" y="119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6" name="Picture 41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248" y="106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7" name="Picture 41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705" y="106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8" name="Picture 41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44" y="46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59" name="Picture 41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011" y="71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60" name="Picture 42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77" y="746"/>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61" name="Picture 421"/>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62" y="101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62" name="Picture 422"/>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26" y="877"/>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63" name="Picture 423"/>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988" y="109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64" name="Picture 424"/>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44" y="136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665" name="Picture 42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71" y="1120"/>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8675" name="Line 435"/>
            <p:cNvSpPr>
              <a:spLocks noChangeShapeType="1"/>
            </p:cNvSpPr>
            <p:nvPr/>
          </p:nvSpPr>
          <p:spPr bwMode="auto">
            <a:xfrm>
              <a:off x="3672" y="770"/>
              <a:ext cx="0" cy="584"/>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8958" name="Line 718"/>
            <p:cNvSpPr>
              <a:spLocks noChangeShapeType="1"/>
            </p:cNvSpPr>
            <p:nvPr/>
          </p:nvSpPr>
          <p:spPr bwMode="auto">
            <a:xfrm>
              <a:off x="3182" y="781"/>
              <a:ext cx="0" cy="584"/>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38674" name="Picture 434"/>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17" y="723"/>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8960" name="AutoShape 720"/>
            <p:cNvSpPr>
              <a:spLocks noChangeAspect="1" noChangeArrowheads="1" noTextEdit="1"/>
            </p:cNvSpPr>
            <p:nvPr/>
          </p:nvSpPr>
          <p:spPr bwMode="auto">
            <a:xfrm>
              <a:off x="2880" y="255"/>
              <a:ext cx="2545" cy="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962" name="Freeform 722"/>
            <p:cNvSpPr/>
            <p:nvPr/>
          </p:nvSpPr>
          <p:spPr bwMode="auto">
            <a:xfrm>
              <a:off x="3152" y="671"/>
              <a:ext cx="710" cy="718"/>
            </a:xfrm>
            <a:custGeom>
              <a:avLst/>
              <a:gdLst>
                <a:gd name="T0" fmla="*/ 299 w 710"/>
                <a:gd name="T1" fmla="*/ 7 h 718"/>
                <a:gd name="T2" fmla="*/ 4 w 710"/>
                <a:gd name="T3" fmla="*/ 92 h 718"/>
                <a:gd name="T4" fmla="*/ 0 w 710"/>
                <a:gd name="T5" fmla="*/ 718 h 718"/>
                <a:gd name="T6" fmla="*/ 499 w 710"/>
                <a:gd name="T7" fmla="*/ 710 h 718"/>
                <a:gd name="T8" fmla="*/ 702 w 710"/>
                <a:gd name="T9" fmla="*/ 572 h 718"/>
                <a:gd name="T10" fmla="*/ 710 w 710"/>
                <a:gd name="T11" fmla="*/ 0 h 718"/>
                <a:gd name="T12" fmla="*/ 299 w 710"/>
                <a:gd name="T13" fmla="*/ 7 h 718"/>
              </a:gdLst>
              <a:ahLst/>
              <a:cxnLst>
                <a:cxn ang="0">
                  <a:pos x="T0" y="T1"/>
                </a:cxn>
                <a:cxn ang="0">
                  <a:pos x="T2" y="T3"/>
                </a:cxn>
                <a:cxn ang="0">
                  <a:pos x="T4" y="T5"/>
                </a:cxn>
                <a:cxn ang="0">
                  <a:pos x="T6" y="T7"/>
                </a:cxn>
                <a:cxn ang="0">
                  <a:pos x="T8" y="T9"/>
                </a:cxn>
                <a:cxn ang="0">
                  <a:pos x="T10" y="T11"/>
                </a:cxn>
                <a:cxn ang="0">
                  <a:pos x="T12" y="T13"/>
                </a:cxn>
              </a:cxnLst>
              <a:rect l="0" t="0" r="r" b="b"/>
              <a:pathLst>
                <a:path w="710" h="718">
                  <a:moveTo>
                    <a:pt x="299" y="7"/>
                  </a:moveTo>
                  <a:lnTo>
                    <a:pt x="4" y="92"/>
                  </a:lnTo>
                  <a:lnTo>
                    <a:pt x="0" y="718"/>
                  </a:lnTo>
                  <a:lnTo>
                    <a:pt x="499" y="710"/>
                  </a:lnTo>
                  <a:lnTo>
                    <a:pt x="702" y="572"/>
                  </a:lnTo>
                  <a:lnTo>
                    <a:pt x="710" y="0"/>
                  </a:lnTo>
                  <a:lnTo>
                    <a:pt x="299" y="7"/>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63" name="Freeform 723"/>
            <p:cNvSpPr/>
            <p:nvPr/>
          </p:nvSpPr>
          <p:spPr bwMode="auto">
            <a:xfrm>
              <a:off x="4508" y="508"/>
              <a:ext cx="556" cy="918"/>
            </a:xfrm>
            <a:custGeom>
              <a:avLst/>
              <a:gdLst>
                <a:gd name="T0" fmla="*/ 284 w 556"/>
                <a:gd name="T1" fmla="*/ 0 h 918"/>
                <a:gd name="T2" fmla="*/ 19 w 556"/>
                <a:gd name="T3" fmla="*/ 285 h 918"/>
                <a:gd name="T4" fmla="*/ 0 w 556"/>
                <a:gd name="T5" fmla="*/ 672 h 918"/>
                <a:gd name="T6" fmla="*/ 276 w 556"/>
                <a:gd name="T7" fmla="*/ 918 h 918"/>
                <a:gd name="T8" fmla="*/ 537 w 556"/>
                <a:gd name="T9" fmla="*/ 634 h 918"/>
                <a:gd name="T10" fmla="*/ 556 w 556"/>
                <a:gd name="T11" fmla="*/ 254 h 918"/>
                <a:gd name="T12" fmla="*/ 284 w 556"/>
                <a:gd name="T13" fmla="*/ 0 h 918"/>
              </a:gdLst>
              <a:ahLst/>
              <a:cxnLst>
                <a:cxn ang="0">
                  <a:pos x="T0" y="T1"/>
                </a:cxn>
                <a:cxn ang="0">
                  <a:pos x="T2" y="T3"/>
                </a:cxn>
                <a:cxn ang="0">
                  <a:pos x="T4" y="T5"/>
                </a:cxn>
                <a:cxn ang="0">
                  <a:pos x="T6" y="T7"/>
                </a:cxn>
                <a:cxn ang="0">
                  <a:pos x="T8" y="T9"/>
                </a:cxn>
                <a:cxn ang="0">
                  <a:pos x="T10" y="T11"/>
                </a:cxn>
                <a:cxn ang="0">
                  <a:pos x="T12" y="T13"/>
                </a:cxn>
              </a:cxnLst>
              <a:rect l="0" t="0" r="r" b="b"/>
              <a:pathLst>
                <a:path w="556" h="918">
                  <a:moveTo>
                    <a:pt x="284" y="0"/>
                  </a:moveTo>
                  <a:lnTo>
                    <a:pt x="19" y="285"/>
                  </a:lnTo>
                  <a:lnTo>
                    <a:pt x="0" y="672"/>
                  </a:lnTo>
                  <a:lnTo>
                    <a:pt x="276" y="918"/>
                  </a:lnTo>
                  <a:lnTo>
                    <a:pt x="537" y="634"/>
                  </a:lnTo>
                  <a:lnTo>
                    <a:pt x="556" y="254"/>
                  </a:lnTo>
                  <a:lnTo>
                    <a:pt x="284" y="0"/>
                  </a:lnTo>
                  <a:close/>
                </a:path>
              </a:pathLst>
            </a:custGeom>
            <a:solidFill>
              <a:srgbClr val="66CCCC"/>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64" name="Freeform 724"/>
            <p:cNvSpPr/>
            <p:nvPr/>
          </p:nvSpPr>
          <p:spPr bwMode="auto">
            <a:xfrm>
              <a:off x="3874" y="1234"/>
              <a:ext cx="12" cy="8"/>
            </a:xfrm>
            <a:custGeom>
              <a:avLst/>
              <a:gdLst>
                <a:gd name="T0" fmla="*/ 8 w 12"/>
                <a:gd name="T1" fmla="*/ 8 h 8"/>
                <a:gd name="T2" fmla="*/ 12 w 12"/>
                <a:gd name="T3" fmla="*/ 8 h 8"/>
                <a:gd name="T4" fmla="*/ 12 w 12"/>
                <a:gd name="T5" fmla="*/ 0 h 8"/>
                <a:gd name="T6" fmla="*/ 0 w 12"/>
                <a:gd name="T7" fmla="*/ 0 h 8"/>
                <a:gd name="T8" fmla="*/ 0 w 12"/>
                <a:gd name="T9" fmla="*/ 8 h 8"/>
                <a:gd name="T10" fmla="*/ 4 w 12"/>
                <a:gd name="T11" fmla="*/ 8 h 8"/>
                <a:gd name="T12" fmla="*/ 8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8"/>
                  </a:moveTo>
                  <a:lnTo>
                    <a:pt x="12" y="8"/>
                  </a:lnTo>
                  <a:lnTo>
                    <a:pt x="12"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65" name="Freeform 725"/>
            <p:cNvSpPr/>
            <p:nvPr/>
          </p:nvSpPr>
          <p:spPr bwMode="auto">
            <a:xfrm>
              <a:off x="3840" y="1234"/>
              <a:ext cx="11" cy="8"/>
            </a:xfrm>
            <a:custGeom>
              <a:avLst/>
              <a:gdLst>
                <a:gd name="T0" fmla="*/ 7 w 11"/>
                <a:gd name="T1" fmla="*/ 8 h 8"/>
                <a:gd name="T2" fmla="*/ 11 w 11"/>
                <a:gd name="T3" fmla="*/ 8 h 8"/>
                <a:gd name="T4" fmla="*/ 11 w 11"/>
                <a:gd name="T5" fmla="*/ 0 h 8"/>
                <a:gd name="T6" fmla="*/ 0 w 11"/>
                <a:gd name="T7" fmla="*/ 0 h 8"/>
                <a:gd name="T8" fmla="*/ 0 w 11"/>
                <a:gd name="T9" fmla="*/ 8 h 8"/>
                <a:gd name="T10" fmla="*/ 3 w 11"/>
                <a:gd name="T11" fmla="*/ 8 h 8"/>
                <a:gd name="T12" fmla="*/ 7 w 1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7" y="8"/>
                  </a:moveTo>
                  <a:lnTo>
                    <a:pt x="11" y="8"/>
                  </a:lnTo>
                  <a:lnTo>
                    <a:pt x="11" y="0"/>
                  </a:lnTo>
                  <a:lnTo>
                    <a:pt x="0" y="0"/>
                  </a:lnTo>
                  <a:lnTo>
                    <a:pt x="0" y="8"/>
                  </a:lnTo>
                  <a:lnTo>
                    <a:pt x="3" y="8"/>
                  </a:lnTo>
                  <a:lnTo>
                    <a:pt x="7"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66" name="Freeform 726"/>
            <p:cNvSpPr/>
            <p:nvPr/>
          </p:nvSpPr>
          <p:spPr bwMode="auto">
            <a:xfrm>
              <a:off x="3805" y="1234"/>
              <a:ext cx="12" cy="8"/>
            </a:xfrm>
            <a:custGeom>
              <a:avLst/>
              <a:gdLst>
                <a:gd name="T0" fmla="*/ 8 w 12"/>
                <a:gd name="T1" fmla="*/ 8 h 8"/>
                <a:gd name="T2" fmla="*/ 12 w 12"/>
                <a:gd name="T3" fmla="*/ 8 h 8"/>
                <a:gd name="T4" fmla="*/ 12 w 12"/>
                <a:gd name="T5" fmla="*/ 0 h 8"/>
                <a:gd name="T6" fmla="*/ 0 w 12"/>
                <a:gd name="T7" fmla="*/ 0 h 8"/>
                <a:gd name="T8" fmla="*/ 0 w 12"/>
                <a:gd name="T9" fmla="*/ 8 h 8"/>
                <a:gd name="T10" fmla="*/ 4 w 12"/>
                <a:gd name="T11" fmla="*/ 8 h 8"/>
                <a:gd name="T12" fmla="*/ 8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8"/>
                  </a:moveTo>
                  <a:lnTo>
                    <a:pt x="12" y="8"/>
                  </a:lnTo>
                  <a:lnTo>
                    <a:pt x="12"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67" name="Freeform 727"/>
            <p:cNvSpPr/>
            <p:nvPr/>
          </p:nvSpPr>
          <p:spPr bwMode="auto">
            <a:xfrm>
              <a:off x="3771" y="1234"/>
              <a:ext cx="11" cy="8"/>
            </a:xfrm>
            <a:custGeom>
              <a:avLst/>
              <a:gdLst>
                <a:gd name="T0" fmla="*/ 7 w 11"/>
                <a:gd name="T1" fmla="*/ 8 h 8"/>
                <a:gd name="T2" fmla="*/ 11 w 11"/>
                <a:gd name="T3" fmla="*/ 8 h 8"/>
                <a:gd name="T4" fmla="*/ 11 w 11"/>
                <a:gd name="T5" fmla="*/ 0 h 8"/>
                <a:gd name="T6" fmla="*/ 0 w 11"/>
                <a:gd name="T7" fmla="*/ 0 h 8"/>
                <a:gd name="T8" fmla="*/ 0 w 11"/>
                <a:gd name="T9" fmla="*/ 8 h 8"/>
                <a:gd name="T10" fmla="*/ 3 w 11"/>
                <a:gd name="T11" fmla="*/ 8 h 8"/>
                <a:gd name="T12" fmla="*/ 7 w 1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7" y="8"/>
                  </a:moveTo>
                  <a:lnTo>
                    <a:pt x="11" y="8"/>
                  </a:lnTo>
                  <a:lnTo>
                    <a:pt x="11" y="0"/>
                  </a:lnTo>
                  <a:lnTo>
                    <a:pt x="0" y="0"/>
                  </a:lnTo>
                  <a:lnTo>
                    <a:pt x="0" y="8"/>
                  </a:lnTo>
                  <a:lnTo>
                    <a:pt x="3" y="8"/>
                  </a:lnTo>
                  <a:lnTo>
                    <a:pt x="7"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68" name="Freeform 728"/>
            <p:cNvSpPr/>
            <p:nvPr/>
          </p:nvSpPr>
          <p:spPr bwMode="auto">
            <a:xfrm>
              <a:off x="3736" y="1234"/>
              <a:ext cx="12" cy="8"/>
            </a:xfrm>
            <a:custGeom>
              <a:avLst/>
              <a:gdLst>
                <a:gd name="T0" fmla="*/ 8 w 12"/>
                <a:gd name="T1" fmla="*/ 8 h 8"/>
                <a:gd name="T2" fmla="*/ 12 w 12"/>
                <a:gd name="T3" fmla="*/ 8 h 8"/>
                <a:gd name="T4" fmla="*/ 12 w 12"/>
                <a:gd name="T5" fmla="*/ 0 h 8"/>
                <a:gd name="T6" fmla="*/ 0 w 12"/>
                <a:gd name="T7" fmla="*/ 0 h 8"/>
                <a:gd name="T8" fmla="*/ 0 w 12"/>
                <a:gd name="T9" fmla="*/ 8 h 8"/>
                <a:gd name="T10" fmla="*/ 4 w 12"/>
                <a:gd name="T11" fmla="*/ 8 h 8"/>
                <a:gd name="T12" fmla="*/ 8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8"/>
                  </a:moveTo>
                  <a:lnTo>
                    <a:pt x="12" y="8"/>
                  </a:lnTo>
                  <a:lnTo>
                    <a:pt x="12"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69" name="Freeform 729"/>
            <p:cNvSpPr/>
            <p:nvPr/>
          </p:nvSpPr>
          <p:spPr bwMode="auto">
            <a:xfrm>
              <a:off x="3701" y="1234"/>
              <a:ext cx="12" cy="8"/>
            </a:xfrm>
            <a:custGeom>
              <a:avLst/>
              <a:gdLst>
                <a:gd name="T0" fmla="*/ 8 w 12"/>
                <a:gd name="T1" fmla="*/ 8 h 8"/>
                <a:gd name="T2" fmla="*/ 12 w 12"/>
                <a:gd name="T3" fmla="*/ 8 h 8"/>
                <a:gd name="T4" fmla="*/ 12 w 12"/>
                <a:gd name="T5" fmla="*/ 0 h 8"/>
                <a:gd name="T6" fmla="*/ 0 w 12"/>
                <a:gd name="T7" fmla="*/ 0 h 8"/>
                <a:gd name="T8" fmla="*/ 0 w 12"/>
                <a:gd name="T9" fmla="*/ 8 h 8"/>
                <a:gd name="T10" fmla="*/ 4 w 12"/>
                <a:gd name="T11" fmla="*/ 8 h 8"/>
                <a:gd name="T12" fmla="*/ 8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8"/>
                  </a:moveTo>
                  <a:lnTo>
                    <a:pt x="12" y="8"/>
                  </a:lnTo>
                  <a:lnTo>
                    <a:pt x="12"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0" name="Freeform 730"/>
            <p:cNvSpPr/>
            <p:nvPr/>
          </p:nvSpPr>
          <p:spPr bwMode="auto">
            <a:xfrm>
              <a:off x="3667" y="1234"/>
              <a:ext cx="11" cy="8"/>
            </a:xfrm>
            <a:custGeom>
              <a:avLst/>
              <a:gdLst>
                <a:gd name="T0" fmla="*/ 8 w 11"/>
                <a:gd name="T1" fmla="*/ 8 h 8"/>
                <a:gd name="T2" fmla="*/ 11 w 11"/>
                <a:gd name="T3" fmla="*/ 8 h 8"/>
                <a:gd name="T4" fmla="*/ 11 w 11"/>
                <a:gd name="T5" fmla="*/ 0 h 8"/>
                <a:gd name="T6" fmla="*/ 0 w 11"/>
                <a:gd name="T7" fmla="*/ 0 h 8"/>
                <a:gd name="T8" fmla="*/ 0 w 11"/>
                <a:gd name="T9" fmla="*/ 8 h 8"/>
                <a:gd name="T10" fmla="*/ 4 w 11"/>
                <a:gd name="T11" fmla="*/ 8 h 8"/>
                <a:gd name="T12" fmla="*/ 8 w 1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8" y="8"/>
                  </a:moveTo>
                  <a:lnTo>
                    <a:pt x="11" y="8"/>
                  </a:lnTo>
                  <a:lnTo>
                    <a:pt x="11"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1" name="Freeform 731"/>
            <p:cNvSpPr/>
            <p:nvPr/>
          </p:nvSpPr>
          <p:spPr bwMode="auto">
            <a:xfrm>
              <a:off x="3632" y="1234"/>
              <a:ext cx="12" cy="8"/>
            </a:xfrm>
            <a:custGeom>
              <a:avLst/>
              <a:gdLst>
                <a:gd name="T0" fmla="*/ 8 w 12"/>
                <a:gd name="T1" fmla="*/ 8 h 8"/>
                <a:gd name="T2" fmla="*/ 12 w 12"/>
                <a:gd name="T3" fmla="*/ 8 h 8"/>
                <a:gd name="T4" fmla="*/ 12 w 12"/>
                <a:gd name="T5" fmla="*/ 0 h 8"/>
                <a:gd name="T6" fmla="*/ 0 w 12"/>
                <a:gd name="T7" fmla="*/ 0 h 8"/>
                <a:gd name="T8" fmla="*/ 0 w 12"/>
                <a:gd name="T9" fmla="*/ 8 h 8"/>
                <a:gd name="T10" fmla="*/ 4 w 12"/>
                <a:gd name="T11" fmla="*/ 8 h 8"/>
                <a:gd name="T12" fmla="*/ 8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8"/>
                  </a:moveTo>
                  <a:lnTo>
                    <a:pt x="12" y="8"/>
                  </a:lnTo>
                  <a:lnTo>
                    <a:pt x="12"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2" name="Freeform 732"/>
            <p:cNvSpPr/>
            <p:nvPr/>
          </p:nvSpPr>
          <p:spPr bwMode="auto">
            <a:xfrm>
              <a:off x="3598" y="1234"/>
              <a:ext cx="11" cy="8"/>
            </a:xfrm>
            <a:custGeom>
              <a:avLst/>
              <a:gdLst>
                <a:gd name="T0" fmla="*/ 7 w 11"/>
                <a:gd name="T1" fmla="*/ 8 h 8"/>
                <a:gd name="T2" fmla="*/ 11 w 11"/>
                <a:gd name="T3" fmla="*/ 8 h 8"/>
                <a:gd name="T4" fmla="*/ 11 w 11"/>
                <a:gd name="T5" fmla="*/ 0 h 8"/>
                <a:gd name="T6" fmla="*/ 0 w 11"/>
                <a:gd name="T7" fmla="*/ 0 h 8"/>
                <a:gd name="T8" fmla="*/ 0 w 11"/>
                <a:gd name="T9" fmla="*/ 8 h 8"/>
                <a:gd name="T10" fmla="*/ 4 w 11"/>
                <a:gd name="T11" fmla="*/ 8 h 8"/>
                <a:gd name="T12" fmla="*/ 7 w 1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7" y="8"/>
                  </a:moveTo>
                  <a:lnTo>
                    <a:pt x="11" y="8"/>
                  </a:lnTo>
                  <a:lnTo>
                    <a:pt x="11" y="0"/>
                  </a:lnTo>
                  <a:lnTo>
                    <a:pt x="0" y="0"/>
                  </a:lnTo>
                  <a:lnTo>
                    <a:pt x="0" y="8"/>
                  </a:lnTo>
                  <a:lnTo>
                    <a:pt x="4" y="8"/>
                  </a:lnTo>
                  <a:lnTo>
                    <a:pt x="7"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3" name="Freeform 733"/>
            <p:cNvSpPr/>
            <p:nvPr/>
          </p:nvSpPr>
          <p:spPr bwMode="auto">
            <a:xfrm>
              <a:off x="3563" y="1234"/>
              <a:ext cx="12" cy="8"/>
            </a:xfrm>
            <a:custGeom>
              <a:avLst/>
              <a:gdLst>
                <a:gd name="T0" fmla="*/ 8 w 12"/>
                <a:gd name="T1" fmla="*/ 8 h 8"/>
                <a:gd name="T2" fmla="*/ 12 w 12"/>
                <a:gd name="T3" fmla="*/ 8 h 8"/>
                <a:gd name="T4" fmla="*/ 12 w 12"/>
                <a:gd name="T5" fmla="*/ 0 h 8"/>
                <a:gd name="T6" fmla="*/ 0 w 12"/>
                <a:gd name="T7" fmla="*/ 0 h 8"/>
                <a:gd name="T8" fmla="*/ 0 w 12"/>
                <a:gd name="T9" fmla="*/ 8 h 8"/>
                <a:gd name="T10" fmla="*/ 4 w 12"/>
                <a:gd name="T11" fmla="*/ 8 h 8"/>
                <a:gd name="T12" fmla="*/ 8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8"/>
                  </a:moveTo>
                  <a:lnTo>
                    <a:pt x="12" y="8"/>
                  </a:lnTo>
                  <a:lnTo>
                    <a:pt x="12"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4" name="Freeform 734"/>
            <p:cNvSpPr/>
            <p:nvPr/>
          </p:nvSpPr>
          <p:spPr bwMode="auto">
            <a:xfrm>
              <a:off x="3529" y="1234"/>
              <a:ext cx="11" cy="8"/>
            </a:xfrm>
            <a:custGeom>
              <a:avLst/>
              <a:gdLst>
                <a:gd name="T0" fmla="*/ 7 w 11"/>
                <a:gd name="T1" fmla="*/ 8 h 8"/>
                <a:gd name="T2" fmla="*/ 11 w 11"/>
                <a:gd name="T3" fmla="*/ 8 h 8"/>
                <a:gd name="T4" fmla="*/ 11 w 11"/>
                <a:gd name="T5" fmla="*/ 0 h 8"/>
                <a:gd name="T6" fmla="*/ 0 w 11"/>
                <a:gd name="T7" fmla="*/ 0 h 8"/>
                <a:gd name="T8" fmla="*/ 0 w 11"/>
                <a:gd name="T9" fmla="*/ 8 h 8"/>
                <a:gd name="T10" fmla="*/ 4 w 11"/>
                <a:gd name="T11" fmla="*/ 8 h 8"/>
                <a:gd name="T12" fmla="*/ 7 w 1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7" y="8"/>
                  </a:moveTo>
                  <a:lnTo>
                    <a:pt x="11" y="8"/>
                  </a:lnTo>
                  <a:lnTo>
                    <a:pt x="11" y="0"/>
                  </a:lnTo>
                  <a:lnTo>
                    <a:pt x="0" y="0"/>
                  </a:lnTo>
                  <a:lnTo>
                    <a:pt x="0" y="8"/>
                  </a:lnTo>
                  <a:lnTo>
                    <a:pt x="4" y="8"/>
                  </a:lnTo>
                  <a:lnTo>
                    <a:pt x="7"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5" name="Freeform 735"/>
            <p:cNvSpPr/>
            <p:nvPr/>
          </p:nvSpPr>
          <p:spPr bwMode="auto">
            <a:xfrm>
              <a:off x="3494" y="1234"/>
              <a:ext cx="12" cy="8"/>
            </a:xfrm>
            <a:custGeom>
              <a:avLst/>
              <a:gdLst>
                <a:gd name="T0" fmla="*/ 8 w 12"/>
                <a:gd name="T1" fmla="*/ 8 h 8"/>
                <a:gd name="T2" fmla="*/ 12 w 12"/>
                <a:gd name="T3" fmla="*/ 8 h 8"/>
                <a:gd name="T4" fmla="*/ 12 w 12"/>
                <a:gd name="T5" fmla="*/ 0 h 8"/>
                <a:gd name="T6" fmla="*/ 0 w 12"/>
                <a:gd name="T7" fmla="*/ 0 h 8"/>
                <a:gd name="T8" fmla="*/ 0 w 12"/>
                <a:gd name="T9" fmla="*/ 8 h 8"/>
                <a:gd name="T10" fmla="*/ 4 w 12"/>
                <a:gd name="T11" fmla="*/ 8 h 8"/>
                <a:gd name="T12" fmla="*/ 8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8" y="8"/>
                  </a:moveTo>
                  <a:lnTo>
                    <a:pt x="12" y="8"/>
                  </a:lnTo>
                  <a:lnTo>
                    <a:pt x="12" y="0"/>
                  </a:lnTo>
                  <a:lnTo>
                    <a:pt x="0" y="0"/>
                  </a:lnTo>
                  <a:lnTo>
                    <a:pt x="0" y="8"/>
                  </a:lnTo>
                  <a:lnTo>
                    <a:pt x="4"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6" name="Freeform 736"/>
            <p:cNvSpPr/>
            <p:nvPr/>
          </p:nvSpPr>
          <p:spPr bwMode="auto">
            <a:xfrm>
              <a:off x="3483" y="1211"/>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7" name="Freeform 737"/>
            <p:cNvSpPr/>
            <p:nvPr/>
          </p:nvSpPr>
          <p:spPr bwMode="auto">
            <a:xfrm>
              <a:off x="3483" y="1176"/>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8" name="Freeform 738"/>
            <p:cNvSpPr/>
            <p:nvPr/>
          </p:nvSpPr>
          <p:spPr bwMode="auto">
            <a:xfrm>
              <a:off x="3483" y="1142"/>
              <a:ext cx="7" cy="11"/>
            </a:xfrm>
            <a:custGeom>
              <a:avLst/>
              <a:gdLst>
                <a:gd name="T0" fmla="*/ 0 w 7"/>
                <a:gd name="T1" fmla="*/ 8 h 11"/>
                <a:gd name="T2" fmla="*/ 0 w 7"/>
                <a:gd name="T3" fmla="*/ 11 h 11"/>
                <a:gd name="T4" fmla="*/ 7 w 7"/>
                <a:gd name="T5" fmla="*/ 11 h 11"/>
                <a:gd name="T6" fmla="*/ 7 w 7"/>
                <a:gd name="T7" fmla="*/ 0 h 11"/>
                <a:gd name="T8" fmla="*/ 0 w 7"/>
                <a:gd name="T9" fmla="*/ 0 h 11"/>
                <a:gd name="T10" fmla="*/ 0 w 7"/>
                <a:gd name="T11" fmla="*/ 4 h 11"/>
                <a:gd name="T12" fmla="*/ 0 w 7"/>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8"/>
                  </a:moveTo>
                  <a:lnTo>
                    <a:pt x="0" y="11"/>
                  </a:lnTo>
                  <a:lnTo>
                    <a:pt x="7" y="11"/>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79" name="Freeform 739"/>
            <p:cNvSpPr/>
            <p:nvPr/>
          </p:nvSpPr>
          <p:spPr bwMode="auto">
            <a:xfrm>
              <a:off x="3483" y="1107"/>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0" name="Freeform 740"/>
            <p:cNvSpPr/>
            <p:nvPr/>
          </p:nvSpPr>
          <p:spPr bwMode="auto">
            <a:xfrm>
              <a:off x="3483" y="1073"/>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1" name="Freeform 741"/>
            <p:cNvSpPr/>
            <p:nvPr/>
          </p:nvSpPr>
          <p:spPr bwMode="auto">
            <a:xfrm>
              <a:off x="3483" y="1038"/>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2" name="Freeform 742"/>
            <p:cNvSpPr/>
            <p:nvPr/>
          </p:nvSpPr>
          <p:spPr bwMode="auto">
            <a:xfrm>
              <a:off x="3483" y="1004"/>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3" name="Freeform 743"/>
            <p:cNvSpPr/>
            <p:nvPr/>
          </p:nvSpPr>
          <p:spPr bwMode="auto">
            <a:xfrm>
              <a:off x="3483" y="969"/>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4" name="Freeform 744"/>
            <p:cNvSpPr/>
            <p:nvPr/>
          </p:nvSpPr>
          <p:spPr bwMode="auto">
            <a:xfrm>
              <a:off x="3483" y="935"/>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3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5" name="Freeform 745"/>
            <p:cNvSpPr/>
            <p:nvPr/>
          </p:nvSpPr>
          <p:spPr bwMode="auto">
            <a:xfrm>
              <a:off x="3483" y="900"/>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6" name="Freeform 746"/>
            <p:cNvSpPr/>
            <p:nvPr/>
          </p:nvSpPr>
          <p:spPr bwMode="auto">
            <a:xfrm>
              <a:off x="3483" y="865"/>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7" name="Freeform 747"/>
            <p:cNvSpPr/>
            <p:nvPr/>
          </p:nvSpPr>
          <p:spPr bwMode="auto">
            <a:xfrm>
              <a:off x="3483" y="831"/>
              <a:ext cx="7" cy="11"/>
            </a:xfrm>
            <a:custGeom>
              <a:avLst/>
              <a:gdLst>
                <a:gd name="T0" fmla="*/ 0 w 7"/>
                <a:gd name="T1" fmla="*/ 8 h 11"/>
                <a:gd name="T2" fmla="*/ 0 w 7"/>
                <a:gd name="T3" fmla="*/ 11 h 11"/>
                <a:gd name="T4" fmla="*/ 7 w 7"/>
                <a:gd name="T5" fmla="*/ 11 h 11"/>
                <a:gd name="T6" fmla="*/ 7 w 7"/>
                <a:gd name="T7" fmla="*/ 0 h 11"/>
                <a:gd name="T8" fmla="*/ 0 w 7"/>
                <a:gd name="T9" fmla="*/ 0 h 11"/>
                <a:gd name="T10" fmla="*/ 0 w 7"/>
                <a:gd name="T11" fmla="*/ 4 h 11"/>
                <a:gd name="T12" fmla="*/ 0 w 7"/>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8"/>
                  </a:moveTo>
                  <a:lnTo>
                    <a:pt x="0" y="11"/>
                  </a:lnTo>
                  <a:lnTo>
                    <a:pt x="7" y="11"/>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8" name="Freeform 748"/>
            <p:cNvSpPr/>
            <p:nvPr/>
          </p:nvSpPr>
          <p:spPr bwMode="auto">
            <a:xfrm>
              <a:off x="3483" y="796"/>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89" name="Freeform 749"/>
            <p:cNvSpPr/>
            <p:nvPr/>
          </p:nvSpPr>
          <p:spPr bwMode="auto">
            <a:xfrm>
              <a:off x="3483" y="762"/>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0" name="Freeform 750"/>
            <p:cNvSpPr/>
            <p:nvPr/>
          </p:nvSpPr>
          <p:spPr bwMode="auto">
            <a:xfrm>
              <a:off x="3483" y="727"/>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1" name="Freeform 751"/>
            <p:cNvSpPr/>
            <p:nvPr/>
          </p:nvSpPr>
          <p:spPr bwMode="auto">
            <a:xfrm>
              <a:off x="3483" y="693"/>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2" name="Freeform 752"/>
            <p:cNvSpPr/>
            <p:nvPr/>
          </p:nvSpPr>
          <p:spPr bwMode="auto">
            <a:xfrm>
              <a:off x="3460" y="1230"/>
              <a:ext cx="11" cy="8"/>
            </a:xfrm>
            <a:custGeom>
              <a:avLst/>
              <a:gdLst>
                <a:gd name="T0" fmla="*/ 7 w 11"/>
                <a:gd name="T1" fmla="*/ 8 h 8"/>
                <a:gd name="T2" fmla="*/ 11 w 11"/>
                <a:gd name="T3" fmla="*/ 8 h 8"/>
                <a:gd name="T4" fmla="*/ 11 w 11"/>
                <a:gd name="T5" fmla="*/ 0 h 8"/>
                <a:gd name="T6" fmla="*/ 7 w 11"/>
                <a:gd name="T7" fmla="*/ 0 h 8"/>
                <a:gd name="T8" fmla="*/ 3 w 11"/>
                <a:gd name="T9" fmla="*/ 4 h 8"/>
                <a:gd name="T10" fmla="*/ 0 w 11"/>
                <a:gd name="T11" fmla="*/ 4 h 8"/>
                <a:gd name="T12" fmla="*/ 0 w 11"/>
                <a:gd name="T13" fmla="*/ 8 h 8"/>
                <a:gd name="T14" fmla="*/ 7 w 11"/>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8">
                  <a:moveTo>
                    <a:pt x="7" y="8"/>
                  </a:moveTo>
                  <a:lnTo>
                    <a:pt x="11" y="8"/>
                  </a:lnTo>
                  <a:lnTo>
                    <a:pt x="11" y="0"/>
                  </a:lnTo>
                  <a:lnTo>
                    <a:pt x="7" y="0"/>
                  </a:lnTo>
                  <a:lnTo>
                    <a:pt x="3" y="4"/>
                  </a:lnTo>
                  <a:lnTo>
                    <a:pt x="0" y="4"/>
                  </a:lnTo>
                  <a:lnTo>
                    <a:pt x="0" y="8"/>
                  </a:lnTo>
                  <a:lnTo>
                    <a:pt x="7"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3" name="Freeform 753"/>
            <p:cNvSpPr/>
            <p:nvPr/>
          </p:nvSpPr>
          <p:spPr bwMode="auto">
            <a:xfrm>
              <a:off x="3429" y="1246"/>
              <a:ext cx="11" cy="11"/>
            </a:xfrm>
            <a:custGeom>
              <a:avLst/>
              <a:gdLst>
                <a:gd name="T0" fmla="*/ 8 w 11"/>
                <a:gd name="T1" fmla="*/ 7 h 11"/>
                <a:gd name="T2" fmla="*/ 11 w 11"/>
                <a:gd name="T3" fmla="*/ 7 h 11"/>
                <a:gd name="T4" fmla="*/ 11 w 11"/>
                <a:gd name="T5" fmla="*/ 0 h 11"/>
                <a:gd name="T6" fmla="*/ 8 w 11"/>
                <a:gd name="T7" fmla="*/ 0 h 11"/>
                <a:gd name="T8" fmla="*/ 4 w 11"/>
                <a:gd name="T9" fmla="*/ 3 h 11"/>
                <a:gd name="T10" fmla="*/ 0 w 11"/>
                <a:gd name="T11" fmla="*/ 3 h 11"/>
                <a:gd name="T12" fmla="*/ 0 w 11"/>
                <a:gd name="T13" fmla="*/ 7 h 11"/>
                <a:gd name="T14" fmla="*/ 4 w 11"/>
                <a:gd name="T15" fmla="*/ 7 h 11"/>
                <a:gd name="T16" fmla="*/ 4 w 11"/>
                <a:gd name="T17" fmla="*/ 11 h 11"/>
                <a:gd name="T18" fmla="*/ 8 w 11"/>
                <a:gd name="T19"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1">
                  <a:moveTo>
                    <a:pt x="8" y="7"/>
                  </a:moveTo>
                  <a:lnTo>
                    <a:pt x="11" y="7"/>
                  </a:lnTo>
                  <a:lnTo>
                    <a:pt x="11" y="0"/>
                  </a:lnTo>
                  <a:lnTo>
                    <a:pt x="8" y="0"/>
                  </a:lnTo>
                  <a:lnTo>
                    <a:pt x="4" y="3"/>
                  </a:lnTo>
                  <a:lnTo>
                    <a:pt x="0" y="3"/>
                  </a:lnTo>
                  <a:lnTo>
                    <a:pt x="0" y="7"/>
                  </a:lnTo>
                  <a:lnTo>
                    <a:pt x="4" y="7"/>
                  </a:lnTo>
                  <a:lnTo>
                    <a:pt x="4" y="11"/>
                  </a:lnTo>
                  <a:lnTo>
                    <a:pt x="8"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4" name="Freeform 754"/>
            <p:cNvSpPr/>
            <p:nvPr/>
          </p:nvSpPr>
          <p:spPr bwMode="auto">
            <a:xfrm>
              <a:off x="3398" y="1261"/>
              <a:ext cx="12" cy="11"/>
            </a:xfrm>
            <a:custGeom>
              <a:avLst/>
              <a:gdLst>
                <a:gd name="T0" fmla="*/ 8 w 12"/>
                <a:gd name="T1" fmla="*/ 8 h 11"/>
                <a:gd name="T2" fmla="*/ 12 w 12"/>
                <a:gd name="T3" fmla="*/ 8 h 11"/>
                <a:gd name="T4" fmla="*/ 12 w 12"/>
                <a:gd name="T5" fmla="*/ 0 h 11"/>
                <a:gd name="T6" fmla="*/ 8 w 12"/>
                <a:gd name="T7" fmla="*/ 0 h 11"/>
                <a:gd name="T8" fmla="*/ 4 w 12"/>
                <a:gd name="T9" fmla="*/ 4 h 11"/>
                <a:gd name="T10" fmla="*/ 0 w 12"/>
                <a:gd name="T11" fmla="*/ 4 h 11"/>
                <a:gd name="T12" fmla="*/ 0 w 12"/>
                <a:gd name="T13" fmla="*/ 8 h 11"/>
                <a:gd name="T14" fmla="*/ 4 w 12"/>
                <a:gd name="T15" fmla="*/ 11 h 11"/>
                <a:gd name="T16" fmla="*/ 8 w 12"/>
                <a:gd name="T17" fmla="*/ 11 h 11"/>
                <a:gd name="T18" fmla="*/ 8 w 12"/>
                <a:gd name="T19"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1">
                  <a:moveTo>
                    <a:pt x="8" y="8"/>
                  </a:moveTo>
                  <a:lnTo>
                    <a:pt x="12" y="8"/>
                  </a:lnTo>
                  <a:lnTo>
                    <a:pt x="12" y="0"/>
                  </a:lnTo>
                  <a:lnTo>
                    <a:pt x="8" y="0"/>
                  </a:lnTo>
                  <a:lnTo>
                    <a:pt x="4" y="4"/>
                  </a:lnTo>
                  <a:lnTo>
                    <a:pt x="0" y="4"/>
                  </a:lnTo>
                  <a:lnTo>
                    <a:pt x="0" y="8"/>
                  </a:lnTo>
                  <a:lnTo>
                    <a:pt x="4" y="11"/>
                  </a:lnTo>
                  <a:lnTo>
                    <a:pt x="8" y="11"/>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5" name="Freeform 755"/>
            <p:cNvSpPr/>
            <p:nvPr/>
          </p:nvSpPr>
          <p:spPr bwMode="auto">
            <a:xfrm>
              <a:off x="3368" y="1276"/>
              <a:ext cx="11" cy="12"/>
            </a:xfrm>
            <a:custGeom>
              <a:avLst/>
              <a:gdLst>
                <a:gd name="T0" fmla="*/ 7 w 11"/>
                <a:gd name="T1" fmla="*/ 8 h 12"/>
                <a:gd name="T2" fmla="*/ 11 w 11"/>
                <a:gd name="T3" fmla="*/ 8 h 12"/>
                <a:gd name="T4" fmla="*/ 11 w 11"/>
                <a:gd name="T5" fmla="*/ 0 h 12"/>
                <a:gd name="T6" fmla="*/ 7 w 11"/>
                <a:gd name="T7" fmla="*/ 0 h 12"/>
                <a:gd name="T8" fmla="*/ 3 w 11"/>
                <a:gd name="T9" fmla="*/ 4 h 12"/>
                <a:gd name="T10" fmla="*/ 0 w 11"/>
                <a:gd name="T11" fmla="*/ 4 h 12"/>
                <a:gd name="T12" fmla="*/ 0 w 11"/>
                <a:gd name="T13" fmla="*/ 8 h 12"/>
                <a:gd name="T14" fmla="*/ 3 w 11"/>
                <a:gd name="T15" fmla="*/ 12 h 12"/>
                <a:gd name="T16" fmla="*/ 7 w 11"/>
                <a:gd name="T17" fmla="*/ 12 h 12"/>
                <a:gd name="T18" fmla="*/ 7 w 11"/>
                <a:gd name="T1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2">
                  <a:moveTo>
                    <a:pt x="7" y="8"/>
                  </a:moveTo>
                  <a:lnTo>
                    <a:pt x="11" y="8"/>
                  </a:lnTo>
                  <a:lnTo>
                    <a:pt x="11" y="0"/>
                  </a:lnTo>
                  <a:lnTo>
                    <a:pt x="7" y="0"/>
                  </a:lnTo>
                  <a:lnTo>
                    <a:pt x="3" y="4"/>
                  </a:lnTo>
                  <a:lnTo>
                    <a:pt x="0" y="4"/>
                  </a:lnTo>
                  <a:lnTo>
                    <a:pt x="0" y="8"/>
                  </a:lnTo>
                  <a:lnTo>
                    <a:pt x="3" y="12"/>
                  </a:lnTo>
                  <a:lnTo>
                    <a:pt x="7" y="12"/>
                  </a:lnTo>
                  <a:lnTo>
                    <a:pt x="7"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6" name="Freeform 756"/>
            <p:cNvSpPr/>
            <p:nvPr/>
          </p:nvSpPr>
          <p:spPr bwMode="auto">
            <a:xfrm>
              <a:off x="3337" y="1292"/>
              <a:ext cx="11" cy="11"/>
            </a:xfrm>
            <a:custGeom>
              <a:avLst/>
              <a:gdLst>
                <a:gd name="T0" fmla="*/ 7 w 11"/>
                <a:gd name="T1" fmla="*/ 7 h 11"/>
                <a:gd name="T2" fmla="*/ 11 w 11"/>
                <a:gd name="T3" fmla="*/ 7 h 11"/>
                <a:gd name="T4" fmla="*/ 11 w 11"/>
                <a:gd name="T5" fmla="*/ 3 h 11"/>
                <a:gd name="T6" fmla="*/ 7 w 11"/>
                <a:gd name="T7" fmla="*/ 0 h 11"/>
                <a:gd name="T8" fmla="*/ 7 w 11"/>
                <a:gd name="T9" fmla="*/ 3 h 11"/>
                <a:gd name="T10" fmla="*/ 0 w 11"/>
                <a:gd name="T11" fmla="*/ 3 h 11"/>
                <a:gd name="T12" fmla="*/ 0 w 11"/>
                <a:gd name="T13" fmla="*/ 11 h 11"/>
                <a:gd name="T14" fmla="*/ 7 w 11"/>
                <a:gd name="T15" fmla="*/ 11 h 11"/>
                <a:gd name="T16" fmla="*/ 7 w 11"/>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1">
                  <a:moveTo>
                    <a:pt x="7" y="7"/>
                  </a:moveTo>
                  <a:lnTo>
                    <a:pt x="11" y="7"/>
                  </a:lnTo>
                  <a:lnTo>
                    <a:pt x="11" y="3"/>
                  </a:lnTo>
                  <a:lnTo>
                    <a:pt x="7" y="0"/>
                  </a:lnTo>
                  <a:lnTo>
                    <a:pt x="7" y="3"/>
                  </a:lnTo>
                  <a:lnTo>
                    <a:pt x="0" y="3"/>
                  </a:lnTo>
                  <a:lnTo>
                    <a:pt x="0" y="11"/>
                  </a:lnTo>
                  <a:lnTo>
                    <a:pt x="7" y="11"/>
                  </a:lnTo>
                  <a:lnTo>
                    <a:pt x="7"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7" name="Freeform 757"/>
            <p:cNvSpPr/>
            <p:nvPr/>
          </p:nvSpPr>
          <p:spPr bwMode="auto">
            <a:xfrm>
              <a:off x="3306" y="1311"/>
              <a:ext cx="12" cy="7"/>
            </a:xfrm>
            <a:custGeom>
              <a:avLst/>
              <a:gdLst>
                <a:gd name="T0" fmla="*/ 8 w 12"/>
                <a:gd name="T1" fmla="*/ 4 h 7"/>
                <a:gd name="T2" fmla="*/ 12 w 12"/>
                <a:gd name="T3" fmla="*/ 4 h 7"/>
                <a:gd name="T4" fmla="*/ 12 w 12"/>
                <a:gd name="T5" fmla="*/ 0 h 7"/>
                <a:gd name="T6" fmla="*/ 0 w 12"/>
                <a:gd name="T7" fmla="*/ 0 h 7"/>
                <a:gd name="T8" fmla="*/ 0 w 12"/>
                <a:gd name="T9" fmla="*/ 7 h 7"/>
                <a:gd name="T10" fmla="*/ 8 w 12"/>
                <a:gd name="T11" fmla="*/ 7 h 7"/>
                <a:gd name="T12" fmla="*/ 8 w 12"/>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8" y="4"/>
                  </a:moveTo>
                  <a:lnTo>
                    <a:pt x="12" y="4"/>
                  </a:lnTo>
                  <a:lnTo>
                    <a:pt x="12" y="0"/>
                  </a:lnTo>
                  <a:lnTo>
                    <a:pt x="0" y="0"/>
                  </a:lnTo>
                  <a:lnTo>
                    <a:pt x="0" y="7"/>
                  </a:lnTo>
                  <a:lnTo>
                    <a:pt x="8" y="7"/>
                  </a:lnTo>
                  <a:lnTo>
                    <a:pt x="8"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8" name="Freeform 758"/>
            <p:cNvSpPr/>
            <p:nvPr/>
          </p:nvSpPr>
          <p:spPr bwMode="auto">
            <a:xfrm>
              <a:off x="3275" y="1326"/>
              <a:ext cx="12" cy="8"/>
            </a:xfrm>
            <a:custGeom>
              <a:avLst/>
              <a:gdLst>
                <a:gd name="T0" fmla="*/ 8 w 12"/>
                <a:gd name="T1" fmla="*/ 8 h 8"/>
                <a:gd name="T2" fmla="*/ 12 w 12"/>
                <a:gd name="T3" fmla="*/ 4 h 8"/>
                <a:gd name="T4" fmla="*/ 12 w 12"/>
                <a:gd name="T5" fmla="*/ 0 h 8"/>
                <a:gd name="T6" fmla="*/ 0 w 12"/>
                <a:gd name="T7" fmla="*/ 0 h 8"/>
                <a:gd name="T8" fmla="*/ 0 w 12"/>
                <a:gd name="T9" fmla="*/ 8 h 8"/>
                <a:gd name="T10" fmla="*/ 8 w 12"/>
                <a:gd name="T11" fmla="*/ 8 h 8"/>
              </a:gdLst>
              <a:ahLst/>
              <a:cxnLst>
                <a:cxn ang="0">
                  <a:pos x="T0" y="T1"/>
                </a:cxn>
                <a:cxn ang="0">
                  <a:pos x="T2" y="T3"/>
                </a:cxn>
                <a:cxn ang="0">
                  <a:pos x="T4" y="T5"/>
                </a:cxn>
                <a:cxn ang="0">
                  <a:pos x="T6" y="T7"/>
                </a:cxn>
                <a:cxn ang="0">
                  <a:pos x="T8" y="T9"/>
                </a:cxn>
                <a:cxn ang="0">
                  <a:pos x="T10" y="T11"/>
                </a:cxn>
              </a:cxnLst>
              <a:rect l="0" t="0" r="r" b="b"/>
              <a:pathLst>
                <a:path w="12" h="8">
                  <a:moveTo>
                    <a:pt x="8" y="8"/>
                  </a:moveTo>
                  <a:lnTo>
                    <a:pt x="12" y="4"/>
                  </a:lnTo>
                  <a:lnTo>
                    <a:pt x="12" y="0"/>
                  </a:lnTo>
                  <a:lnTo>
                    <a:pt x="0" y="0"/>
                  </a:lnTo>
                  <a:lnTo>
                    <a:pt x="0"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8999" name="Freeform 759"/>
            <p:cNvSpPr/>
            <p:nvPr/>
          </p:nvSpPr>
          <p:spPr bwMode="auto">
            <a:xfrm>
              <a:off x="3245" y="1342"/>
              <a:ext cx="11" cy="7"/>
            </a:xfrm>
            <a:custGeom>
              <a:avLst/>
              <a:gdLst>
                <a:gd name="T0" fmla="*/ 7 w 11"/>
                <a:gd name="T1" fmla="*/ 7 h 7"/>
                <a:gd name="T2" fmla="*/ 11 w 11"/>
                <a:gd name="T3" fmla="*/ 7 h 7"/>
                <a:gd name="T4" fmla="*/ 11 w 11"/>
                <a:gd name="T5" fmla="*/ 0 h 7"/>
                <a:gd name="T6" fmla="*/ 0 w 11"/>
                <a:gd name="T7" fmla="*/ 0 h 7"/>
                <a:gd name="T8" fmla="*/ 0 w 11"/>
                <a:gd name="T9" fmla="*/ 7 h 7"/>
                <a:gd name="T10" fmla="*/ 7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7" y="7"/>
                  </a:moveTo>
                  <a:lnTo>
                    <a:pt x="11" y="7"/>
                  </a:lnTo>
                  <a:lnTo>
                    <a:pt x="11" y="0"/>
                  </a:lnTo>
                  <a:lnTo>
                    <a:pt x="0" y="0"/>
                  </a:lnTo>
                  <a:lnTo>
                    <a:pt x="0" y="7"/>
                  </a:lnTo>
                  <a:lnTo>
                    <a:pt x="7"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0" name="Freeform 760"/>
            <p:cNvSpPr/>
            <p:nvPr/>
          </p:nvSpPr>
          <p:spPr bwMode="auto">
            <a:xfrm>
              <a:off x="3214" y="1357"/>
              <a:ext cx="11" cy="8"/>
            </a:xfrm>
            <a:custGeom>
              <a:avLst/>
              <a:gdLst>
                <a:gd name="T0" fmla="*/ 8 w 11"/>
                <a:gd name="T1" fmla="*/ 8 h 8"/>
                <a:gd name="T2" fmla="*/ 11 w 11"/>
                <a:gd name="T3" fmla="*/ 8 h 8"/>
                <a:gd name="T4" fmla="*/ 11 w 11"/>
                <a:gd name="T5" fmla="*/ 0 h 8"/>
                <a:gd name="T6" fmla="*/ 4 w 11"/>
                <a:gd name="T7" fmla="*/ 0 h 8"/>
                <a:gd name="T8" fmla="*/ 0 w 11"/>
                <a:gd name="T9" fmla="*/ 4 h 8"/>
                <a:gd name="T10" fmla="*/ 0 w 11"/>
                <a:gd name="T11" fmla="*/ 8 h 8"/>
                <a:gd name="T12" fmla="*/ 8 w 11"/>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8" y="8"/>
                  </a:moveTo>
                  <a:lnTo>
                    <a:pt x="11" y="8"/>
                  </a:lnTo>
                  <a:lnTo>
                    <a:pt x="11" y="0"/>
                  </a:lnTo>
                  <a:lnTo>
                    <a:pt x="4" y="0"/>
                  </a:lnTo>
                  <a:lnTo>
                    <a:pt x="0" y="4"/>
                  </a:lnTo>
                  <a:lnTo>
                    <a:pt x="0"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1" name="Freeform 761"/>
            <p:cNvSpPr/>
            <p:nvPr/>
          </p:nvSpPr>
          <p:spPr bwMode="auto">
            <a:xfrm>
              <a:off x="3183" y="1372"/>
              <a:ext cx="12" cy="8"/>
            </a:xfrm>
            <a:custGeom>
              <a:avLst/>
              <a:gdLst>
                <a:gd name="T0" fmla="*/ 8 w 12"/>
                <a:gd name="T1" fmla="*/ 8 h 8"/>
                <a:gd name="T2" fmla="*/ 12 w 12"/>
                <a:gd name="T3" fmla="*/ 8 h 8"/>
                <a:gd name="T4" fmla="*/ 12 w 12"/>
                <a:gd name="T5" fmla="*/ 0 h 8"/>
                <a:gd name="T6" fmla="*/ 4 w 12"/>
                <a:gd name="T7" fmla="*/ 0 h 8"/>
                <a:gd name="T8" fmla="*/ 4 w 12"/>
                <a:gd name="T9" fmla="*/ 4 h 8"/>
                <a:gd name="T10" fmla="*/ 0 w 12"/>
                <a:gd name="T11" fmla="*/ 4 h 8"/>
                <a:gd name="T12" fmla="*/ 0 w 12"/>
                <a:gd name="T13" fmla="*/ 8 h 8"/>
                <a:gd name="T14" fmla="*/ 8 w 12"/>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8">
                  <a:moveTo>
                    <a:pt x="8" y="8"/>
                  </a:moveTo>
                  <a:lnTo>
                    <a:pt x="12" y="8"/>
                  </a:lnTo>
                  <a:lnTo>
                    <a:pt x="12" y="0"/>
                  </a:lnTo>
                  <a:lnTo>
                    <a:pt x="4" y="0"/>
                  </a:lnTo>
                  <a:lnTo>
                    <a:pt x="4" y="4"/>
                  </a:lnTo>
                  <a:lnTo>
                    <a:pt x="0" y="4"/>
                  </a:lnTo>
                  <a:lnTo>
                    <a:pt x="0" y="8"/>
                  </a:lnTo>
                  <a:lnTo>
                    <a:pt x="8"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2" name="Freeform 762"/>
            <p:cNvSpPr/>
            <p:nvPr/>
          </p:nvSpPr>
          <p:spPr bwMode="auto">
            <a:xfrm>
              <a:off x="4523" y="501"/>
              <a:ext cx="549" cy="629"/>
            </a:xfrm>
            <a:custGeom>
              <a:avLst/>
              <a:gdLst>
                <a:gd name="T0" fmla="*/ 522 w 549"/>
                <a:gd name="T1" fmla="*/ 629 h 629"/>
                <a:gd name="T2" fmla="*/ 549 w 549"/>
                <a:gd name="T3" fmla="*/ 257 h 629"/>
                <a:gd name="T4" fmla="*/ 549 w 549"/>
                <a:gd name="T5" fmla="*/ 253 h 629"/>
                <a:gd name="T6" fmla="*/ 541 w 549"/>
                <a:gd name="T7" fmla="*/ 253 h 629"/>
                <a:gd name="T8" fmla="*/ 288 w 549"/>
                <a:gd name="T9" fmla="*/ 541 h 629"/>
                <a:gd name="T10" fmla="*/ 8 w 549"/>
                <a:gd name="T11" fmla="*/ 292 h 629"/>
                <a:gd name="T12" fmla="*/ 269 w 549"/>
                <a:gd name="T13" fmla="*/ 7 h 629"/>
                <a:gd name="T14" fmla="*/ 541 w 549"/>
                <a:gd name="T15" fmla="*/ 261 h 629"/>
                <a:gd name="T16" fmla="*/ 549 w 549"/>
                <a:gd name="T17" fmla="*/ 253 h 629"/>
                <a:gd name="T18" fmla="*/ 272 w 549"/>
                <a:gd name="T19" fmla="*/ 0 h 629"/>
                <a:gd name="T20" fmla="*/ 265 w 549"/>
                <a:gd name="T21" fmla="*/ 0 h 629"/>
                <a:gd name="T22" fmla="*/ 0 w 549"/>
                <a:gd name="T23" fmla="*/ 288 h 629"/>
                <a:gd name="T24" fmla="*/ 0 w 549"/>
                <a:gd name="T25" fmla="*/ 295 h 629"/>
                <a:gd name="T26" fmla="*/ 284 w 549"/>
                <a:gd name="T27" fmla="*/ 549 h 629"/>
                <a:gd name="T28" fmla="*/ 292 w 549"/>
                <a:gd name="T29" fmla="*/ 549 h 629"/>
                <a:gd name="T30" fmla="*/ 541 w 549"/>
                <a:gd name="T31" fmla="*/ 268 h 629"/>
                <a:gd name="T32" fmla="*/ 514 w 549"/>
                <a:gd name="T33" fmla="*/ 629 h 629"/>
                <a:gd name="T34" fmla="*/ 522 w 549"/>
                <a:gd name="T35" fmla="*/ 629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49" h="629">
                  <a:moveTo>
                    <a:pt x="522" y="629"/>
                  </a:moveTo>
                  <a:lnTo>
                    <a:pt x="549" y="257"/>
                  </a:lnTo>
                  <a:lnTo>
                    <a:pt x="549" y="253"/>
                  </a:lnTo>
                  <a:lnTo>
                    <a:pt x="541" y="253"/>
                  </a:lnTo>
                  <a:lnTo>
                    <a:pt x="288" y="541"/>
                  </a:lnTo>
                  <a:lnTo>
                    <a:pt x="8" y="292"/>
                  </a:lnTo>
                  <a:lnTo>
                    <a:pt x="269" y="7"/>
                  </a:lnTo>
                  <a:lnTo>
                    <a:pt x="541" y="261"/>
                  </a:lnTo>
                  <a:lnTo>
                    <a:pt x="549" y="253"/>
                  </a:lnTo>
                  <a:lnTo>
                    <a:pt x="272" y="0"/>
                  </a:lnTo>
                  <a:lnTo>
                    <a:pt x="265" y="0"/>
                  </a:lnTo>
                  <a:lnTo>
                    <a:pt x="0" y="288"/>
                  </a:lnTo>
                  <a:lnTo>
                    <a:pt x="0" y="295"/>
                  </a:lnTo>
                  <a:lnTo>
                    <a:pt x="284" y="549"/>
                  </a:lnTo>
                  <a:lnTo>
                    <a:pt x="292" y="549"/>
                  </a:lnTo>
                  <a:lnTo>
                    <a:pt x="541" y="268"/>
                  </a:lnTo>
                  <a:lnTo>
                    <a:pt x="514" y="629"/>
                  </a:lnTo>
                  <a:lnTo>
                    <a:pt x="522" y="62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3" name="Freeform 763"/>
            <p:cNvSpPr/>
            <p:nvPr/>
          </p:nvSpPr>
          <p:spPr bwMode="auto">
            <a:xfrm>
              <a:off x="4504" y="793"/>
              <a:ext cx="549" cy="633"/>
            </a:xfrm>
            <a:custGeom>
              <a:avLst/>
              <a:gdLst>
                <a:gd name="T0" fmla="*/ 19 w 549"/>
                <a:gd name="T1" fmla="*/ 0 h 633"/>
                <a:gd name="T2" fmla="*/ 0 w 549"/>
                <a:gd name="T3" fmla="*/ 376 h 633"/>
                <a:gd name="T4" fmla="*/ 280 w 549"/>
                <a:gd name="T5" fmla="*/ 633 h 633"/>
                <a:gd name="T6" fmla="*/ 549 w 549"/>
                <a:gd name="T7" fmla="*/ 345 h 633"/>
                <a:gd name="T8" fmla="*/ 541 w 549"/>
                <a:gd name="T9" fmla="*/ 337 h 633"/>
                <a:gd name="T10" fmla="*/ 280 w 549"/>
                <a:gd name="T11" fmla="*/ 625 h 633"/>
                <a:gd name="T12" fmla="*/ 7 w 549"/>
                <a:gd name="T13" fmla="*/ 376 h 633"/>
                <a:gd name="T14" fmla="*/ 27 w 549"/>
                <a:gd name="T15" fmla="*/ 0 h 633"/>
                <a:gd name="T16" fmla="*/ 19 w 549"/>
                <a:gd name="T17"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9" h="633">
                  <a:moveTo>
                    <a:pt x="19" y="0"/>
                  </a:moveTo>
                  <a:lnTo>
                    <a:pt x="0" y="376"/>
                  </a:lnTo>
                  <a:lnTo>
                    <a:pt x="280" y="633"/>
                  </a:lnTo>
                  <a:lnTo>
                    <a:pt x="549" y="345"/>
                  </a:lnTo>
                  <a:lnTo>
                    <a:pt x="541" y="337"/>
                  </a:lnTo>
                  <a:lnTo>
                    <a:pt x="280" y="625"/>
                  </a:lnTo>
                  <a:lnTo>
                    <a:pt x="7" y="376"/>
                  </a:lnTo>
                  <a:lnTo>
                    <a:pt x="27" y="0"/>
                  </a:lnTo>
                  <a:lnTo>
                    <a:pt x="1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4" name="Freeform 764"/>
            <p:cNvSpPr/>
            <p:nvPr/>
          </p:nvSpPr>
          <p:spPr bwMode="auto">
            <a:xfrm>
              <a:off x="4780" y="1038"/>
              <a:ext cx="35" cy="380"/>
            </a:xfrm>
            <a:custGeom>
              <a:avLst/>
              <a:gdLst>
                <a:gd name="T0" fmla="*/ 8 w 35"/>
                <a:gd name="T1" fmla="*/ 380 h 380"/>
                <a:gd name="T2" fmla="*/ 35 w 35"/>
                <a:gd name="T3" fmla="*/ 0 h 380"/>
                <a:gd name="T4" fmla="*/ 27 w 35"/>
                <a:gd name="T5" fmla="*/ 0 h 380"/>
                <a:gd name="T6" fmla="*/ 0 w 35"/>
                <a:gd name="T7" fmla="*/ 380 h 380"/>
                <a:gd name="T8" fmla="*/ 8 w 35"/>
                <a:gd name="T9" fmla="*/ 380 h 380"/>
              </a:gdLst>
              <a:ahLst/>
              <a:cxnLst>
                <a:cxn ang="0">
                  <a:pos x="T0" y="T1"/>
                </a:cxn>
                <a:cxn ang="0">
                  <a:pos x="T2" y="T3"/>
                </a:cxn>
                <a:cxn ang="0">
                  <a:pos x="T4" y="T5"/>
                </a:cxn>
                <a:cxn ang="0">
                  <a:pos x="T6" y="T7"/>
                </a:cxn>
                <a:cxn ang="0">
                  <a:pos x="T8" y="T9"/>
                </a:cxn>
              </a:cxnLst>
              <a:rect l="0" t="0" r="r" b="b"/>
              <a:pathLst>
                <a:path w="35" h="380">
                  <a:moveTo>
                    <a:pt x="8" y="380"/>
                  </a:moveTo>
                  <a:lnTo>
                    <a:pt x="35" y="0"/>
                  </a:lnTo>
                  <a:lnTo>
                    <a:pt x="27" y="0"/>
                  </a:lnTo>
                  <a:lnTo>
                    <a:pt x="0" y="380"/>
                  </a:lnTo>
                  <a:lnTo>
                    <a:pt x="8" y="38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5" name="Freeform 765"/>
            <p:cNvSpPr/>
            <p:nvPr/>
          </p:nvSpPr>
          <p:spPr bwMode="auto">
            <a:xfrm>
              <a:off x="3483" y="382"/>
              <a:ext cx="11" cy="291"/>
            </a:xfrm>
            <a:custGeom>
              <a:avLst/>
              <a:gdLst>
                <a:gd name="T0" fmla="*/ 7 w 11"/>
                <a:gd name="T1" fmla="*/ 291 h 291"/>
                <a:gd name="T2" fmla="*/ 11 w 11"/>
                <a:gd name="T3" fmla="*/ 0 h 291"/>
                <a:gd name="T4" fmla="*/ 4 w 11"/>
                <a:gd name="T5" fmla="*/ 0 h 291"/>
                <a:gd name="T6" fmla="*/ 0 w 11"/>
                <a:gd name="T7" fmla="*/ 291 h 291"/>
                <a:gd name="T8" fmla="*/ 7 w 11"/>
                <a:gd name="T9" fmla="*/ 291 h 291"/>
              </a:gdLst>
              <a:ahLst/>
              <a:cxnLst>
                <a:cxn ang="0">
                  <a:pos x="T0" y="T1"/>
                </a:cxn>
                <a:cxn ang="0">
                  <a:pos x="T2" y="T3"/>
                </a:cxn>
                <a:cxn ang="0">
                  <a:pos x="T4" y="T5"/>
                </a:cxn>
                <a:cxn ang="0">
                  <a:pos x="T6" y="T7"/>
                </a:cxn>
                <a:cxn ang="0">
                  <a:pos x="T8" y="T9"/>
                </a:cxn>
              </a:cxnLst>
              <a:rect l="0" t="0" r="r" b="b"/>
              <a:pathLst>
                <a:path w="11" h="291">
                  <a:moveTo>
                    <a:pt x="7" y="291"/>
                  </a:moveTo>
                  <a:lnTo>
                    <a:pt x="11" y="0"/>
                  </a:lnTo>
                  <a:lnTo>
                    <a:pt x="4" y="0"/>
                  </a:lnTo>
                  <a:lnTo>
                    <a:pt x="0" y="291"/>
                  </a:lnTo>
                  <a:lnTo>
                    <a:pt x="7" y="29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6" name="Freeform 766"/>
            <p:cNvSpPr/>
            <p:nvPr/>
          </p:nvSpPr>
          <p:spPr bwMode="auto">
            <a:xfrm>
              <a:off x="3475" y="382"/>
              <a:ext cx="27" cy="30"/>
            </a:xfrm>
            <a:custGeom>
              <a:avLst/>
              <a:gdLst>
                <a:gd name="T0" fmla="*/ 0 w 27"/>
                <a:gd name="T1" fmla="*/ 30 h 30"/>
                <a:gd name="T2" fmla="*/ 15 w 27"/>
                <a:gd name="T3" fmla="*/ 0 h 30"/>
                <a:gd name="T4" fmla="*/ 27 w 27"/>
                <a:gd name="T5" fmla="*/ 30 h 30"/>
                <a:gd name="T6" fmla="*/ 15 w 27"/>
                <a:gd name="T7" fmla="*/ 15 h 30"/>
                <a:gd name="T8" fmla="*/ 0 w 27"/>
                <a:gd name="T9" fmla="*/ 30 h 30"/>
              </a:gdLst>
              <a:ahLst/>
              <a:cxnLst>
                <a:cxn ang="0">
                  <a:pos x="T0" y="T1"/>
                </a:cxn>
                <a:cxn ang="0">
                  <a:pos x="T2" y="T3"/>
                </a:cxn>
                <a:cxn ang="0">
                  <a:pos x="T4" y="T5"/>
                </a:cxn>
                <a:cxn ang="0">
                  <a:pos x="T6" y="T7"/>
                </a:cxn>
                <a:cxn ang="0">
                  <a:pos x="T8" y="T9"/>
                </a:cxn>
              </a:cxnLst>
              <a:rect l="0" t="0" r="r" b="b"/>
              <a:pathLst>
                <a:path w="27" h="30">
                  <a:moveTo>
                    <a:pt x="0" y="30"/>
                  </a:moveTo>
                  <a:lnTo>
                    <a:pt x="15" y="0"/>
                  </a:lnTo>
                  <a:lnTo>
                    <a:pt x="27" y="30"/>
                  </a:lnTo>
                  <a:lnTo>
                    <a:pt x="15" y="15"/>
                  </a:lnTo>
                  <a:lnTo>
                    <a:pt x="0" y="3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7" name="Freeform 767"/>
            <p:cNvSpPr/>
            <p:nvPr/>
          </p:nvSpPr>
          <p:spPr bwMode="auto">
            <a:xfrm>
              <a:off x="3460" y="374"/>
              <a:ext cx="53" cy="61"/>
            </a:xfrm>
            <a:custGeom>
              <a:avLst/>
              <a:gdLst>
                <a:gd name="T0" fmla="*/ 30 w 53"/>
                <a:gd name="T1" fmla="*/ 19 h 61"/>
                <a:gd name="T2" fmla="*/ 30 w 53"/>
                <a:gd name="T3" fmla="*/ 15 h 61"/>
                <a:gd name="T4" fmla="*/ 30 w 53"/>
                <a:gd name="T5" fmla="*/ 19 h 61"/>
                <a:gd name="T6" fmla="*/ 0 w 53"/>
                <a:gd name="T7" fmla="*/ 58 h 61"/>
                <a:gd name="T8" fmla="*/ 30 w 53"/>
                <a:gd name="T9" fmla="*/ 31 h 61"/>
                <a:gd name="T10" fmla="*/ 53 w 53"/>
                <a:gd name="T11" fmla="*/ 61 h 61"/>
                <a:gd name="T12" fmla="*/ 30 w 53"/>
                <a:gd name="T13" fmla="*/ 0 h 61"/>
                <a:gd name="T14" fmla="*/ 0 w 53"/>
                <a:gd name="T15" fmla="*/ 58 h 61"/>
                <a:gd name="T16" fmla="*/ 30 w 53"/>
                <a:gd name="T17" fmla="*/ 1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61">
                  <a:moveTo>
                    <a:pt x="30" y="19"/>
                  </a:moveTo>
                  <a:lnTo>
                    <a:pt x="30" y="15"/>
                  </a:lnTo>
                  <a:lnTo>
                    <a:pt x="30" y="19"/>
                  </a:lnTo>
                  <a:lnTo>
                    <a:pt x="0" y="58"/>
                  </a:lnTo>
                  <a:lnTo>
                    <a:pt x="30" y="31"/>
                  </a:lnTo>
                  <a:lnTo>
                    <a:pt x="53" y="61"/>
                  </a:lnTo>
                  <a:lnTo>
                    <a:pt x="30" y="0"/>
                  </a:lnTo>
                  <a:lnTo>
                    <a:pt x="0" y="58"/>
                  </a:lnTo>
                  <a:lnTo>
                    <a:pt x="30" y="19"/>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8" name="Freeform 768"/>
            <p:cNvSpPr/>
            <p:nvPr/>
          </p:nvSpPr>
          <p:spPr bwMode="auto">
            <a:xfrm>
              <a:off x="3022" y="1388"/>
              <a:ext cx="150" cy="84"/>
            </a:xfrm>
            <a:custGeom>
              <a:avLst/>
              <a:gdLst>
                <a:gd name="T0" fmla="*/ 146 w 150"/>
                <a:gd name="T1" fmla="*/ 7 h 84"/>
                <a:gd name="T2" fmla="*/ 150 w 150"/>
                <a:gd name="T3" fmla="*/ 7 h 84"/>
                <a:gd name="T4" fmla="*/ 150 w 150"/>
                <a:gd name="T5" fmla="*/ 0 h 84"/>
                <a:gd name="T6" fmla="*/ 146 w 150"/>
                <a:gd name="T7" fmla="*/ 0 h 84"/>
                <a:gd name="T8" fmla="*/ 4 w 150"/>
                <a:gd name="T9" fmla="*/ 76 h 84"/>
                <a:gd name="T10" fmla="*/ 0 w 150"/>
                <a:gd name="T11" fmla="*/ 76 h 84"/>
                <a:gd name="T12" fmla="*/ 0 w 150"/>
                <a:gd name="T13" fmla="*/ 84 h 84"/>
                <a:gd name="T14" fmla="*/ 4 w 150"/>
                <a:gd name="T15" fmla="*/ 84 h 84"/>
                <a:gd name="T16" fmla="*/ 146 w 150"/>
                <a:gd name="T17" fmla="*/ 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84">
                  <a:moveTo>
                    <a:pt x="146" y="7"/>
                  </a:moveTo>
                  <a:lnTo>
                    <a:pt x="150" y="7"/>
                  </a:lnTo>
                  <a:lnTo>
                    <a:pt x="150" y="0"/>
                  </a:lnTo>
                  <a:lnTo>
                    <a:pt x="146" y="0"/>
                  </a:lnTo>
                  <a:lnTo>
                    <a:pt x="4" y="76"/>
                  </a:lnTo>
                  <a:lnTo>
                    <a:pt x="0" y="76"/>
                  </a:lnTo>
                  <a:lnTo>
                    <a:pt x="0" y="84"/>
                  </a:lnTo>
                  <a:lnTo>
                    <a:pt x="4" y="84"/>
                  </a:lnTo>
                  <a:lnTo>
                    <a:pt x="146"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09" name="Freeform 769"/>
            <p:cNvSpPr/>
            <p:nvPr/>
          </p:nvSpPr>
          <p:spPr bwMode="auto">
            <a:xfrm>
              <a:off x="3026" y="1441"/>
              <a:ext cx="31" cy="27"/>
            </a:xfrm>
            <a:custGeom>
              <a:avLst/>
              <a:gdLst>
                <a:gd name="T0" fmla="*/ 31 w 31"/>
                <a:gd name="T1" fmla="*/ 23 h 27"/>
                <a:gd name="T2" fmla="*/ 0 w 31"/>
                <a:gd name="T3" fmla="*/ 27 h 27"/>
                <a:gd name="T4" fmla="*/ 19 w 31"/>
                <a:gd name="T5" fmla="*/ 0 h 27"/>
                <a:gd name="T6" fmla="*/ 11 w 31"/>
                <a:gd name="T7" fmla="*/ 20 h 27"/>
                <a:gd name="T8" fmla="*/ 31 w 31"/>
                <a:gd name="T9" fmla="*/ 23 h 27"/>
              </a:gdLst>
              <a:ahLst/>
              <a:cxnLst>
                <a:cxn ang="0">
                  <a:pos x="T0" y="T1"/>
                </a:cxn>
                <a:cxn ang="0">
                  <a:pos x="T2" y="T3"/>
                </a:cxn>
                <a:cxn ang="0">
                  <a:pos x="T4" y="T5"/>
                </a:cxn>
                <a:cxn ang="0">
                  <a:pos x="T6" y="T7"/>
                </a:cxn>
                <a:cxn ang="0">
                  <a:pos x="T8" y="T9"/>
                </a:cxn>
              </a:cxnLst>
              <a:rect l="0" t="0" r="r" b="b"/>
              <a:pathLst>
                <a:path w="31" h="27">
                  <a:moveTo>
                    <a:pt x="31" y="23"/>
                  </a:moveTo>
                  <a:lnTo>
                    <a:pt x="0" y="27"/>
                  </a:lnTo>
                  <a:lnTo>
                    <a:pt x="19" y="0"/>
                  </a:lnTo>
                  <a:lnTo>
                    <a:pt x="11" y="20"/>
                  </a:lnTo>
                  <a:lnTo>
                    <a:pt x="31"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10" name="Freeform 770"/>
            <p:cNvSpPr/>
            <p:nvPr/>
          </p:nvSpPr>
          <p:spPr bwMode="auto">
            <a:xfrm>
              <a:off x="3022" y="1438"/>
              <a:ext cx="38" cy="34"/>
            </a:xfrm>
            <a:custGeom>
              <a:avLst/>
              <a:gdLst>
                <a:gd name="T0" fmla="*/ 12 w 38"/>
                <a:gd name="T1" fmla="*/ 26 h 34"/>
                <a:gd name="T2" fmla="*/ 8 w 38"/>
                <a:gd name="T3" fmla="*/ 30 h 34"/>
                <a:gd name="T4" fmla="*/ 12 w 38"/>
                <a:gd name="T5" fmla="*/ 23 h 34"/>
                <a:gd name="T6" fmla="*/ 12 w 38"/>
                <a:gd name="T7" fmla="*/ 26 h 34"/>
                <a:gd name="T8" fmla="*/ 15 w 38"/>
                <a:gd name="T9" fmla="*/ 26 h 34"/>
                <a:gd name="T10" fmla="*/ 12 w 38"/>
                <a:gd name="T11" fmla="*/ 26 h 34"/>
                <a:gd name="T12" fmla="*/ 35 w 38"/>
                <a:gd name="T13" fmla="*/ 23 h 34"/>
                <a:gd name="T14" fmla="*/ 19 w 38"/>
                <a:gd name="T15" fmla="*/ 19 h 34"/>
                <a:gd name="T16" fmla="*/ 27 w 38"/>
                <a:gd name="T17" fmla="*/ 3 h 34"/>
                <a:gd name="T18" fmla="*/ 27 w 38"/>
                <a:gd name="T19" fmla="*/ 0 h 34"/>
                <a:gd name="T20" fmla="*/ 19 w 38"/>
                <a:gd name="T21" fmla="*/ 0 h 34"/>
                <a:gd name="T22" fmla="*/ 0 w 38"/>
                <a:gd name="T23" fmla="*/ 26 h 34"/>
                <a:gd name="T24" fmla="*/ 0 w 38"/>
                <a:gd name="T25" fmla="*/ 34 h 34"/>
                <a:gd name="T26" fmla="*/ 4 w 38"/>
                <a:gd name="T27" fmla="*/ 34 h 34"/>
                <a:gd name="T28" fmla="*/ 35 w 38"/>
                <a:gd name="T29" fmla="*/ 30 h 34"/>
                <a:gd name="T30" fmla="*/ 38 w 38"/>
                <a:gd name="T31" fmla="*/ 30 h 34"/>
                <a:gd name="T32" fmla="*/ 38 w 38"/>
                <a:gd name="T33" fmla="*/ 23 h 34"/>
                <a:gd name="T34" fmla="*/ 35 w 38"/>
                <a:gd name="T35" fmla="*/ 23 h 34"/>
                <a:gd name="T36" fmla="*/ 12 w 38"/>
                <a:gd name="T37"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34">
                  <a:moveTo>
                    <a:pt x="12" y="26"/>
                  </a:moveTo>
                  <a:lnTo>
                    <a:pt x="8" y="30"/>
                  </a:lnTo>
                  <a:lnTo>
                    <a:pt x="12" y="23"/>
                  </a:lnTo>
                  <a:lnTo>
                    <a:pt x="12" y="26"/>
                  </a:lnTo>
                  <a:lnTo>
                    <a:pt x="15" y="26"/>
                  </a:lnTo>
                  <a:lnTo>
                    <a:pt x="12" y="26"/>
                  </a:lnTo>
                  <a:lnTo>
                    <a:pt x="35" y="23"/>
                  </a:lnTo>
                  <a:lnTo>
                    <a:pt x="19" y="19"/>
                  </a:lnTo>
                  <a:lnTo>
                    <a:pt x="27" y="3"/>
                  </a:lnTo>
                  <a:lnTo>
                    <a:pt x="27" y="0"/>
                  </a:lnTo>
                  <a:lnTo>
                    <a:pt x="19" y="0"/>
                  </a:lnTo>
                  <a:lnTo>
                    <a:pt x="0" y="26"/>
                  </a:lnTo>
                  <a:lnTo>
                    <a:pt x="0" y="34"/>
                  </a:lnTo>
                  <a:lnTo>
                    <a:pt x="4" y="34"/>
                  </a:lnTo>
                  <a:lnTo>
                    <a:pt x="35" y="30"/>
                  </a:lnTo>
                  <a:lnTo>
                    <a:pt x="38" y="30"/>
                  </a:lnTo>
                  <a:lnTo>
                    <a:pt x="38" y="23"/>
                  </a:lnTo>
                  <a:lnTo>
                    <a:pt x="35" y="23"/>
                  </a:lnTo>
                  <a:lnTo>
                    <a:pt x="12" y="26"/>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11" name="Rectangle 771"/>
            <p:cNvSpPr>
              <a:spLocks noChangeArrowheads="1"/>
            </p:cNvSpPr>
            <p:nvPr/>
          </p:nvSpPr>
          <p:spPr bwMode="auto">
            <a:xfrm>
              <a:off x="3893" y="1234"/>
              <a:ext cx="146" cy="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9012" name="Freeform 772"/>
            <p:cNvSpPr/>
            <p:nvPr/>
          </p:nvSpPr>
          <p:spPr bwMode="auto">
            <a:xfrm>
              <a:off x="4012" y="1223"/>
              <a:ext cx="27" cy="30"/>
            </a:xfrm>
            <a:custGeom>
              <a:avLst/>
              <a:gdLst>
                <a:gd name="T0" fmla="*/ 0 w 27"/>
                <a:gd name="T1" fmla="*/ 0 h 30"/>
                <a:gd name="T2" fmla="*/ 27 w 27"/>
                <a:gd name="T3" fmla="*/ 15 h 30"/>
                <a:gd name="T4" fmla="*/ 0 w 27"/>
                <a:gd name="T5" fmla="*/ 30 h 30"/>
                <a:gd name="T6" fmla="*/ 12 w 27"/>
                <a:gd name="T7" fmla="*/ 15 h 30"/>
                <a:gd name="T8" fmla="*/ 0 w 27"/>
                <a:gd name="T9" fmla="*/ 0 h 30"/>
              </a:gdLst>
              <a:ahLst/>
              <a:cxnLst>
                <a:cxn ang="0">
                  <a:pos x="T0" y="T1"/>
                </a:cxn>
                <a:cxn ang="0">
                  <a:pos x="T2" y="T3"/>
                </a:cxn>
                <a:cxn ang="0">
                  <a:pos x="T4" y="T5"/>
                </a:cxn>
                <a:cxn ang="0">
                  <a:pos x="T6" y="T7"/>
                </a:cxn>
                <a:cxn ang="0">
                  <a:pos x="T8" y="T9"/>
                </a:cxn>
              </a:cxnLst>
              <a:rect l="0" t="0" r="r" b="b"/>
              <a:pathLst>
                <a:path w="27" h="30">
                  <a:moveTo>
                    <a:pt x="0" y="0"/>
                  </a:moveTo>
                  <a:lnTo>
                    <a:pt x="27" y="15"/>
                  </a:lnTo>
                  <a:lnTo>
                    <a:pt x="0" y="30"/>
                  </a:lnTo>
                  <a:lnTo>
                    <a:pt x="12" y="15"/>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13" name="Freeform 773"/>
            <p:cNvSpPr/>
            <p:nvPr/>
          </p:nvSpPr>
          <p:spPr bwMode="auto">
            <a:xfrm>
              <a:off x="3997" y="1211"/>
              <a:ext cx="50" cy="54"/>
            </a:xfrm>
            <a:custGeom>
              <a:avLst/>
              <a:gdLst>
                <a:gd name="T0" fmla="*/ 31 w 50"/>
                <a:gd name="T1" fmla="*/ 23 h 54"/>
                <a:gd name="T2" fmla="*/ 35 w 50"/>
                <a:gd name="T3" fmla="*/ 27 h 54"/>
                <a:gd name="T4" fmla="*/ 31 w 50"/>
                <a:gd name="T5" fmla="*/ 31 h 54"/>
                <a:gd name="T6" fmla="*/ 31 w 50"/>
                <a:gd name="T7" fmla="*/ 27 h 54"/>
                <a:gd name="T8" fmla="*/ 31 w 50"/>
                <a:gd name="T9" fmla="*/ 23 h 54"/>
                <a:gd name="T10" fmla="*/ 0 w 50"/>
                <a:gd name="T11" fmla="*/ 0 h 54"/>
                <a:gd name="T12" fmla="*/ 23 w 50"/>
                <a:gd name="T13" fmla="*/ 27 h 54"/>
                <a:gd name="T14" fmla="*/ 0 w 50"/>
                <a:gd name="T15" fmla="*/ 54 h 54"/>
                <a:gd name="T16" fmla="*/ 50 w 50"/>
                <a:gd name="T17" fmla="*/ 27 h 54"/>
                <a:gd name="T18" fmla="*/ 0 w 50"/>
                <a:gd name="T19" fmla="*/ 0 h 54"/>
                <a:gd name="T20" fmla="*/ 31 w 50"/>
                <a:gd name="T21" fmla="*/ 2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54">
                  <a:moveTo>
                    <a:pt x="31" y="23"/>
                  </a:moveTo>
                  <a:lnTo>
                    <a:pt x="35" y="27"/>
                  </a:lnTo>
                  <a:lnTo>
                    <a:pt x="31" y="31"/>
                  </a:lnTo>
                  <a:lnTo>
                    <a:pt x="31" y="27"/>
                  </a:lnTo>
                  <a:lnTo>
                    <a:pt x="31" y="23"/>
                  </a:lnTo>
                  <a:lnTo>
                    <a:pt x="0" y="0"/>
                  </a:lnTo>
                  <a:lnTo>
                    <a:pt x="23" y="27"/>
                  </a:lnTo>
                  <a:lnTo>
                    <a:pt x="0" y="54"/>
                  </a:lnTo>
                  <a:lnTo>
                    <a:pt x="50" y="27"/>
                  </a:lnTo>
                  <a:lnTo>
                    <a:pt x="0" y="0"/>
                  </a:lnTo>
                  <a:lnTo>
                    <a:pt x="31"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14" name="Rectangle 774"/>
            <p:cNvSpPr>
              <a:spLocks noChangeArrowheads="1"/>
            </p:cNvSpPr>
            <p:nvPr/>
          </p:nvSpPr>
          <p:spPr bwMode="auto">
            <a:xfrm>
              <a:off x="2880" y="1395"/>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a</a:t>
              </a:r>
              <a:endParaRPr lang="en-US" altLang="zh-CN"/>
            </a:p>
          </p:txBody>
        </p:sp>
        <p:sp>
          <p:nvSpPr>
            <p:cNvPr id="139015" name="Rectangle 775"/>
            <p:cNvSpPr>
              <a:spLocks noChangeArrowheads="1"/>
            </p:cNvSpPr>
            <p:nvPr/>
          </p:nvSpPr>
          <p:spPr bwMode="auto">
            <a:xfrm>
              <a:off x="2949" y="149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t>1</a:t>
              </a:r>
              <a:endParaRPr lang="en-US" altLang="zh-CN"/>
            </a:p>
          </p:txBody>
        </p:sp>
        <p:sp>
          <p:nvSpPr>
            <p:cNvPr id="139016" name="Rectangle 776"/>
            <p:cNvSpPr>
              <a:spLocks noChangeArrowheads="1"/>
            </p:cNvSpPr>
            <p:nvPr/>
          </p:nvSpPr>
          <p:spPr bwMode="auto">
            <a:xfrm>
              <a:off x="3517" y="255"/>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c</a:t>
              </a:r>
              <a:endParaRPr lang="en-US" altLang="zh-CN"/>
            </a:p>
          </p:txBody>
        </p:sp>
        <p:sp>
          <p:nvSpPr>
            <p:cNvPr id="139017" name="Rectangle 777"/>
            <p:cNvSpPr>
              <a:spLocks noChangeArrowheads="1"/>
            </p:cNvSpPr>
            <p:nvPr/>
          </p:nvSpPr>
          <p:spPr bwMode="auto">
            <a:xfrm>
              <a:off x="3379" y="1434"/>
              <a:ext cx="1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b="0"/>
                <a:t>P </a:t>
              </a:r>
              <a:endParaRPr lang="en-US" altLang="zh-CN"/>
            </a:p>
          </p:txBody>
        </p:sp>
        <p:sp>
          <p:nvSpPr>
            <p:cNvPr id="139018" name="Rectangle 778"/>
            <p:cNvSpPr>
              <a:spLocks noChangeArrowheads="1"/>
            </p:cNvSpPr>
            <p:nvPr/>
          </p:nvSpPr>
          <p:spPr bwMode="auto">
            <a:xfrm>
              <a:off x="3348" y="1449"/>
              <a:ext cx="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a:p>
          </p:txBody>
        </p:sp>
        <p:sp>
          <p:nvSpPr>
            <p:cNvPr id="139019" name="Rectangle 779"/>
            <p:cNvSpPr>
              <a:spLocks noChangeArrowheads="1"/>
            </p:cNvSpPr>
            <p:nvPr/>
          </p:nvSpPr>
          <p:spPr bwMode="auto">
            <a:xfrm>
              <a:off x="3506" y="1418"/>
              <a:ext cx="1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b="0"/>
                <a:t>  </a:t>
              </a:r>
              <a:endParaRPr lang="en-US" altLang="zh-CN"/>
            </a:p>
          </p:txBody>
        </p:sp>
        <p:sp>
          <p:nvSpPr>
            <p:cNvPr id="139020" name="Rectangle 780"/>
            <p:cNvSpPr>
              <a:spLocks noChangeArrowheads="1"/>
            </p:cNvSpPr>
            <p:nvPr/>
          </p:nvSpPr>
          <p:spPr bwMode="auto">
            <a:xfrm>
              <a:off x="4039" y="1042"/>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a</a:t>
              </a:r>
              <a:endParaRPr lang="en-US" altLang="zh-CN"/>
            </a:p>
          </p:txBody>
        </p:sp>
        <p:sp>
          <p:nvSpPr>
            <p:cNvPr id="139021" name="Rectangle 781"/>
            <p:cNvSpPr>
              <a:spLocks noChangeArrowheads="1"/>
            </p:cNvSpPr>
            <p:nvPr/>
          </p:nvSpPr>
          <p:spPr bwMode="auto">
            <a:xfrm>
              <a:off x="4108" y="1138"/>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t>2</a:t>
              </a:r>
              <a:endParaRPr lang="en-US" altLang="zh-CN"/>
            </a:p>
          </p:txBody>
        </p:sp>
        <p:sp>
          <p:nvSpPr>
            <p:cNvPr id="139022" name="Freeform 782"/>
            <p:cNvSpPr/>
            <p:nvPr/>
          </p:nvSpPr>
          <p:spPr bwMode="auto">
            <a:xfrm>
              <a:off x="3045" y="508"/>
              <a:ext cx="841" cy="261"/>
            </a:xfrm>
            <a:custGeom>
              <a:avLst/>
              <a:gdLst>
                <a:gd name="T0" fmla="*/ 131 w 841"/>
                <a:gd name="T1" fmla="*/ 261 h 261"/>
                <a:gd name="T2" fmla="*/ 622 w 841"/>
                <a:gd name="T3" fmla="*/ 261 h 261"/>
                <a:gd name="T4" fmla="*/ 837 w 841"/>
                <a:gd name="T5" fmla="*/ 173 h 261"/>
                <a:gd name="T6" fmla="*/ 841 w 841"/>
                <a:gd name="T7" fmla="*/ 173 h 261"/>
                <a:gd name="T8" fmla="*/ 841 w 841"/>
                <a:gd name="T9" fmla="*/ 165 h 261"/>
                <a:gd name="T10" fmla="*/ 706 w 841"/>
                <a:gd name="T11" fmla="*/ 0 h 261"/>
                <a:gd name="T12" fmla="*/ 257 w 841"/>
                <a:gd name="T13" fmla="*/ 0 h 261"/>
                <a:gd name="T14" fmla="*/ 4 w 841"/>
                <a:gd name="T15" fmla="*/ 146 h 261"/>
                <a:gd name="T16" fmla="*/ 0 w 841"/>
                <a:gd name="T17" fmla="*/ 146 h 261"/>
                <a:gd name="T18" fmla="*/ 0 w 841"/>
                <a:gd name="T19" fmla="*/ 154 h 261"/>
                <a:gd name="T20" fmla="*/ 131 w 841"/>
                <a:gd name="T21" fmla="*/ 261 h 261"/>
                <a:gd name="T22" fmla="*/ 134 w 841"/>
                <a:gd name="T23" fmla="*/ 254 h 261"/>
                <a:gd name="T24" fmla="*/ 12 w 841"/>
                <a:gd name="T25" fmla="*/ 150 h 261"/>
                <a:gd name="T26" fmla="*/ 257 w 841"/>
                <a:gd name="T27" fmla="*/ 8 h 261"/>
                <a:gd name="T28" fmla="*/ 703 w 841"/>
                <a:gd name="T29" fmla="*/ 8 h 261"/>
                <a:gd name="T30" fmla="*/ 829 w 841"/>
                <a:gd name="T31" fmla="*/ 169 h 261"/>
                <a:gd name="T32" fmla="*/ 622 w 841"/>
                <a:gd name="T33" fmla="*/ 254 h 261"/>
                <a:gd name="T34" fmla="*/ 134 w 841"/>
                <a:gd name="T35" fmla="*/ 254 h 261"/>
                <a:gd name="T36" fmla="*/ 131 w 841"/>
                <a:gd name="T37" fmla="*/ 26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1" h="261">
                  <a:moveTo>
                    <a:pt x="131" y="261"/>
                  </a:moveTo>
                  <a:lnTo>
                    <a:pt x="622" y="261"/>
                  </a:lnTo>
                  <a:lnTo>
                    <a:pt x="837" y="173"/>
                  </a:lnTo>
                  <a:lnTo>
                    <a:pt x="841" y="173"/>
                  </a:lnTo>
                  <a:lnTo>
                    <a:pt x="841" y="165"/>
                  </a:lnTo>
                  <a:lnTo>
                    <a:pt x="706" y="0"/>
                  </a:lnTo>
                  <a:lnTo>
                    <a:pt x="257" y="0"/>
                  </a:lnTo>
                  <a:lnTo>
                    <a:pt x="4" y="146"/>
                  </a:lnTo>
                  <a:lnTo>
                    <a:pt x="0" y="146"/>
                  </a:lnTo>
                  <a:lnTo>
                    <a:pt x="0" y="154"/>
                  </a:lnTo>
                  <a:lnTo>
                    <a:pt x="131" y="261"/>
                  </a:lnTo>
                  <a:lnTo>
                    <a:pt x="134" y="254"/>
                  </a:lnTo>
                  <a:lnTo>
                    <a:pt x="12" y="150"/>
                  </a:lnTo>
                  <a:lnTo>
                    <a:pt x="257" y="8"/>
                  </a:lnTo>
                  <a:lnTo>
                    <a:pt x="703" y="8"/>
                  </a:lnTo>
                  <a:lnTo>
                    <a:pt x="829" y="169"/>
                  </a:lnTo>
                  <a:lnTo>
                    <a:pt x="622" y="254"/>
                  </a:lnTo>
                  <a:lnTo>
                    <a:pt x="134" y="254"/>
                  </a:lnTo>
                  <a:lnTo>
                    <a:pt x="131" y="26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23" name="Freeform 783"/>
            <p:cNvSpPr/>
            <p:nvPr/>
          </p:nvSpPr>
          <p:spPr bwMode="auto">
            <a:xfrm>
              <a:off x="3045" y="673"/>
              <a:ext cx="841" cy="711"/>
            </a:xfrm>
            <a:custGeom>
              <a:avLst/>
              <a:gdLst>
                <a:gd name="T0" fmla="*/ 8 w 841"/>
                <a:gd name="T1" fmla="*/ 603 h 711"/>
                <a:gd name="T2" fmla="*/ 0 w 841"/>
                <a:gd name="T3" fmla="*/ 603 h 711"/>
                <a:gd name="T4" fmla="*/ 0 w 841"/>
                <a:gd name="T5" fmla="*/ 611 h 711"/>
                <a:gd name="T6" fmla="*/ 127 w 841"/>
                <a:gd name="T7" fmla="*/ 711 h 711"/>
                <a:gd name="T8" fmla="*/ 614 w 841"/>
                <a:gd name="T9" fmla="*/ 711 h 711"/>
                <a:gd name="T10" fmla="*/ 833 w 841"/>
                <a:gd name="T11" fmla="*/ 565 h 711"/>
                <a:gd name="T12" fmla="*/ 833 w 841"/>
                <a:gd name="T13" fmla="*/ 561 h 711"/>
                <a:gd name="T14" fmla="*/ 841 w 841"/>
                <a:gd name="T15" fmla="*/ 4 h 711"/>
                <a:gd name="T16" fmla="*/ 841 w 841"/>
                <a:gd name="T17" fmla="*/ 0 h 711"/>
                <a:gd name="T18" fmla="*/ 833 w 841"/>
                <a:gd name="T19" fmla="*/ 0 h 711"/>
                <a:gd name="T20" fmla="*/ 833 w 841"/>
                <a:gd name="T21" fmla="*/ 4 h 711"/>
                <a:gd name="T22" fmla="*/ 825 w 841"/>
                <a:gd name="T23" fmla="*/ 557 h 711"/>
                <a:gd name="T24" fmla="*/ 610 w 841"/>
                <a:gd name="T25" fmla="*/ 703 h 711"/>
                <a:gd name="T26" fmla="*/ 131 w 841"/>
                <a:gd name="T27" fmla="*/ 703 h 711"/>
                <a:gd name="T28" fmla="*/ 8 w 841"/>
                <a:gd name="T29" fmla="*/ 603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1" h="711">
                  <a:moveTo>
                    <a:pt x="8" y="603"/>
                  </a:moveTo>
                  <a:lnTo>
                    <a:pt x="0" y="603"/>
                  </a:lnTo>
                  <a:lnTo>
                    <a:pt x="0" y="611"/>
                  </a:lnTo>
                  <a:lnTo>
                    <a:pt x="127" y="711"/>
                  </a:lnTo>
                  <a:lnTo>
                    <a:pt x="614" y="711"/>
                  </a:lnTo>
                  <a:lnTo>
                    <a:pt x="833" y="565"/>
                  </a:lnTo>
                  <a:lnTo>
                    <a:pt x="833" y="561"/>
                  </a:lnTo>
                  <a:lnTo>
                    <a:pt x="841" y="4"/>
                  </a:lnTo>
                  <a:lnTo>
                    <a:pt x="841" y="0"/>
                  </a:lnTo>
                  <a:lnTo>
                    <a:pt x="833" y="0"/>
                  </a:lnTo>
                  <a:lnTo>
                    <a:pt x="833" y="4"/>
                  </a:lnTo>
                  <a:lnTo>
                    <a:pt x="825" y="557"/>
                  </a:lnTo>
                  <a:lnTo>
                    <a:pt x="610" y="703"/>
                  </a:lnTo>
                  <a:lnTo>
                    <a:pt x="131" y="703"/>
                  </a:lnTo>
                  <a:lnTo>
                    <a:pt x="8" y="60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24" name="Freeform 784"/>
            <p:cNvSpPr/>
            <p:nvPr/>
          </p:nvSpPr>
          <p:spPr bwMode="auto">
            <a:xfrm>
              <a:off x="3164" y="758"/>
              <a:ext cx="12" cy="626"/>
            </a:xfrm>
            <a:custGeom>
              <a:avLst/>
              <a:gdLst>
                <a:gd name="T0" fmla="*/ 0 w 12"/>
                <a:gd name="T1" fmla="*/ 622 h 626"/>
                <a:gd name="T2" fmla="*/ 0 w 12"/>
                <a:gd name="T3" fmla="*/ 626 h 626"/>
                <a:gd name="T4" fmla="*/ 8 w 12"/>
                <a:gd name="T5" fmla="*/ 626 h 626"/>
                <a:gd name="T6" fmla="*/ 8 w 12"/>
                <a:gd name="T7" fmla="*/ 622 h 626"/>
                <a:gd name="T8" fmla="*/ 12 w 12"/>
                <a:gd name="T9" fmla="*/ 4 h 626"/>
                <a:gd name="T10" fmla="*/ 12 w 12"/>
                <a:gd name="T11" fmla="*/ 0 h 626"/>
                <a:gd name="T12" fmla="*/ 4 w 12"/>
                <a:gd name="T13" fmla="*/ 0 h 626"/>
                <a:gd name="T14" fmla="*/ 4 w 12"/>
                <a:gd name="T15" fmla="*/ 4 h 626"/>
                <a:gd name="T16" fmla="*/ 0 w 12"/>
                <a:gd name="T17" fmla="*/ 622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626">
                  <a:moveTo>
                    <a:pt x="0" y="622"/>
                  </a:moveTo>
                  <a:lnTo>
                    <a:pt x="0" y="626"/>
                  </a:lnTo>
                  <a:lnTo>
                    <a:pt x="8" y="626"/>
                  </a:lnTo>
                  <a:lnTo>
                    <a:pt x="8" y="622"/>
                  </a:lnTo>
                  <a:lnTo>
                    <a:pt x="12" y="4"/>
                  </a:lnTo>
                  <a:lnTo>
                    <a:pt x="12" y="0"/>
                  </a:lnTo>
                  <a:lnTo>
                    <a:pt x="4" y="0"/>
                  </a:lnTo>
                  <a:lnTo>
                    <a:pt x="4" y="4"/>
                  </a:lnTo>
                  <a:lnTo>
                    <a:pt x="0" y="62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25" name="Freeform 785"/>
            <p:cNvSpPr/>
            <p:nvPr/>
          </p:nvSpPr>
          <p:spPr bwMode="auto">
            <a:xfrm>
              <a:off x="3663" y="766"/>
              <a:ext cx="8" cy="622"/>
            </a:xfrm>
            <a:custGeom>
              <a:avLst/>
              <a:gdLst>
                <a:gd name="T0" fmla="*/ 0 w 8"/>
                <a:gd name="T1" fmla="*/ 618 h 622"/>
                <a:gd name="T2" fmla="*/ 0 w 8"/>
                <a:gd name="T3" fmla="*/ 622 h 622"/>
                <a:gd name="T4" fmla="*/ 8 w 8"/>
                <a:gd name="T5" fmla="*/ 622 h 622"/>
                <a:gd name="T6" fmla="*/ 8 w 8"/>
                <a:gd name="T7" fmla="*/ 0 h 622"/>
                <a:gd name="T8" fmla="*/ 0 w 8"/>
                <a:gd name="T9" fmla="*/ 0 h 622"/>
                <a:gd name="T10" fmla="*/ 0 w 8"/>
                <a:gd name="T11" fmla="*/ 3 h 622"/>
                <a:gd name="T12" fmla="*/ 0 w 8"/>
                <a:gd name="T13" fmla="*/ 618 h 622"/>
              </a:gdLst>
              <a:ahLst/>
              <a:cxnLst>
                <a:cxn ang="0">
                  <a:pos x="T0" y="T1"/>
                </a:cxn>
                <a:cxn ang="0">
                  <a:pos x="T2" y="T3"/>
                </a:cxn>
                <a:cxn ang="0">
                  <a:pos x="T4" y="T5"/>
                </a:cxn>
                <a:cxn ang="0">
                  <a:pos x="T6" y="T7"/>
                </a:cxn>
                <a:cxn ang="0">
                  <a:pos x="T8" y="T9"/>
                </a:cxn>
                <a:cxn ang="0">
                  <a:pos x="T10" y="T11"/>
                </a:cxn>
                <a:cxn ang="0">
                  <a:pos x="T12" y="T13"/>
                </a:cxn>
              </a:cxnLst>
              <a:rect l="0" t="0" r="r" b="b"/>
              <a:pathLst>
                <a:path w="8" h="622">
                  <a:moveTo>
                    <a:pt x="0" y="618"/>
                  </a:moveTo>
                  <a:lnTo>
                    <a:pt x="0" y="622"/>
                  </a:lnTo>
                  <a:lnTo>
                    <a:pt x="8" y="622"/>
                  </a:lnTo>
                  <a:lnTo>
                    <a:pt x="8" y="0"/>
                  </a:lnTo>
                  <a:lnTo>
                    <a:pt x="0" y="0"/>
                  </a:lnTo>
                  <a:lnTo>
                    <a:pt x="0" y="3"/>
                  </a:lnTo>
                  <a:lnTo>
                    <a:pt x="0" y="61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26" name="Freeform 786"/>
            <p:cNvSpPr/>
            <p:nvPr/>
          </p:nvSpPr>
          <p:spPr bwMode="auto">
            <a:xfrm>
              <a:off x="3037" y="650"/>
              <a:ext cx="16" cy="626"/>
            </a:xfrm>
            <a:custGeom>
              <a:avLst/>
              <a:gdLst>
                <a:gd name="T0" fmla="*/ 0 w 16"/>
                <a:gd name="T1" fmla="*/ 622 h 626"/>
                <a:gd name="T2" fmla="*/ 0 w 16"/>
                <a:gd name="T3" fmla="*/ 626 h 626"/>
                <a:gd name="T4" fmla="*/ 8 w 16"/>
                <a:gd name="T5" fmla="*/ 626 h 626"/>
                <a:gd name="T6" fmla="*/ 8 w 16"/>
                <a:gd name="T7" fmla="*/ 622 h 626"/>
                <a:gd name="T8" fmla="*/ 16 w 16"/>
                <a:gd name="T9" fmla="*/ 4 h 626"/>
                <a:gd name="T10" fmla="*/ 16 w 16"/>
                <a:gd name="T11" fmla="*/ 0 h 626"/>
                <a:gd name="T12" fmla="*/ 8 w 16"/>
                <a:gd name="T13" fmla="*/ 0 h 626"/>
                <a:gd name="T14" fmla="*/ 8 w 16"/>
                <a:gd name="T15" fmla="*/ 4 h 626"/>
                <a:gd name="T16" fmla="*/ 0 w 16"/>
                <a:gd name="T17" fmla="*/ 622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626">
                  <a:moveTo>
                    <a:pt x="0" y="622"/>
                  </a:moveTo>
                  <a:lnTo>
                    <a:pt x="0" y="626"/>
                  </a:lnTo>
                  <a:lnTo>
                    <a:pt x="8" y="626"/>
                  </a:lnTo>
                  <a:lnTo>
                    <a:pt x="8" y="622"/>
                  </a:lnTo>
                  <a:lnTo>
                    <a:pt x="16" y="4"/>
                  </a:lnTo>
                  <a:lnTo>
                    <a:pt x="16" y="0"/>
                  </a:lnTo>
                  <a:lnTo>
                    <a:pt x="8" y="0"/>
                  </a:lnTo>
                  <a:lnTo>
                    <a:pt x="8" y="4"/>
                  </a:lnTo>
                  <a:lnTo>
                    <a:pt x="0" y="62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27" name="Freeform 787"/>
            <p:cNvSpPr/>
            <p:nvPr/>
          </p:nvSpPr>
          <p:spPr bwMode="auto">
            <a:xfrm>
              <a:off x="3287" y="1123"/>
              <a:ext cx="8" cy="11"/>
            </a:xfrm>
            <a:custGeom>
              <a:avLst/>
              <a:gdLst>
                <a:gd name="T0" fmla="*/ 0 w 8"/>
                <a:gd name="T1" fmla="*/ 7 h 11"/>
                <a:gd name="T2" fmla="*/ 0 w 8"/>
                <a:gd name="T3" fmla="*/ 11 h 11"/>
                <a:gd name="T4" fmla="*/ 8 w 8"/>
                <a:gd name="T5" fmla="*/ 11 h 11"/>
                <a:gd name="T6" fmla="*/ 8 w 8"/>
                <a:gd name="T7" fmla="*/ 0 h 11"/>
                <a:gd name="T8" fmla="*/ 0 w 8"/>
                <a:gd name="T9" fmla="*/ 0 h 11"/>
                <a:gd name="T10" fmla="*/ 0 w 8"/>
                <a:gd name="T11" fmla="*/ 4 h 11"/>
                <a:gd name="T12" fmla="*/ 0 w 8"/>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7"/>
                  </a:moveTo>
                  <a:lnTo>
                    <a:pt x="0" y="11"/>
                  </a:lnTo>
                  <a:lnTo>
                    <a:pt x="8" y="11"/>
                  </a:lnTo>
                  <a:lnTo>
                    <a:pt x="8"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28" name="Freeform 788"/>
            <p:cNvSpPr/>
            <p:nvPr/>
          </p:nvSpPr>
          <p:spPr bwMode="auto">
            <a:xfrm>
              <a:off x="3287" y="1103"/>
              <a:ext cx="8" cy="12"/>
            </a:xfrm>
            <a:custGeom>
              <a:avLst/>
              <a:gdLst>
                <a:gd name="T0" fmla="*/ 0 w 8"/>
                <a:gd name="T1" fmla="*/ 8 h 12"/>
                <a:gd name="T2" fmla="*/ 0 w 8"/>
                <a:gd name="T3" fmla="*/ 12 h 12"/>
                <a:gd name="T4" fmla="*/ 8 w 8"/>
                <a:gd name="T5" fmla="*/ 12 h 12"/>
                <a:gd name="T6" fmla="*/ 8 w 8"/>
                <a:gd name="T7" fmla="*/ 0 h 12"/>
                <a:gd name="T8" fmla="*/ 0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29" name="Freeform 789"/>
            <p:cNvSpPr/>
            <p:nvPr/>
          </p:nvSpPr>
          <p:spPr bwMode="auto">
            <a:xfrm>
              <a:off x="3287" y="1084"/>
              <a:ext cx="8" cy="12"/>
            </a:xfrm>
            <a:custGeom>
              <a:avLst/>
              <a:gdLst>
                <a:gd name="T0" fmla="*/ 0 w 8"/>
                <a:gd name="T1" fmla="*/ 8 h 12"/>
                <a:gd name="T2" fmla="*/ 0 w 8"/>
                <a:gd name="T3" fmla="*/ 12 h 12"/>
                <a:gd name="T4" fmla="*/ 8 w 8"/>
                <a:gd name="T5" fmla="*/ 12 h 12"/>
                <a:gd name="T6" fmla="*/ 8 w 8"/>
                <a:gd name="T7" fmla="*/ 0 h 12"/>
                <a:gd name="T8" fmla="*/ 0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0" name="Freeform 790"/>
            <p:cNvSpPr/>
            <p:nvPr/>
          </p:nvSpPr>
          <p:spPr bwMode="auto">
            <a:xfrm>
              <a:off x="3287" y="1065"/>
              <a:ext cx="8" cy="12"/>
            </a:xfrm>
            <a:custGeom>
              <a:avLst/>
              <a:gdLst>
                <a:gd name="T0" fmla="*/ 0 w 8"/>
                <a:gd name="T1" fmla="*/ 8 h 12"/>
                <a:gd name="T2" fmla="*/ 0 w 8"/>
                <a:gd name="T3" fmla="*/ 12 h 12"/>
                <a:gd name="T4" fmla="*/ 8 w 8"/>
                <a:gd name="T5" fmla="*/ 12 h 12"/>
                <a:gd name="T6" fmla="*/ 8 w 8"/>
                <a:gd name="T7" fmla="*/ 0 h 12"/>
                <a:gd name="T8" fmla="*/ 0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1" name="Freeform 791"/>
            <p:cNvSpPr/>
            <p:nvPr/>
          </p:nvSpPr>
          <p:spPr bwMode="auto">
            <a:xfrm>
              <a:off x="3287" y="1046"/>
              <a:ext cx="8" cy="11"/>
            </a:xfrm>
            <a:custGeom>
              <a:avLst/>
              <a:gdLst>
                <a:gd name="T0" fmla="*/ 0 w 8"/>
                <a:gd name="T1" fmla="*/ 8 h 11"/>
                <a:gd name="T2" fmla="*/ 0 w 8"/>
                <a:gd name="T3" fmla="*/ 11 h 11"/>
                <a:gd name="T4" fmla="*/ 8 w 8"/>
                <a:gd name="T5" fmla="*/ 11 h 11"/>
                <a:gd name="T6" fmla="*/ 8 w 8"/>
                <a:gd name="T7" fmla="*/ 0 h 11"/>
                <a:gd name="T8" fmla="*/ 0 w 8"/>
                <a:gd name="T9" fmla="*/ 0 h 11"/>
                <a:gd name="T10" fmla="*/ 0 w 8"/>
                <a:gd name="T11" fmla="*/ 4 h 11"/>
                <a:gd name="T12" fmla="*/ 0 w 8"/>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8"/>
                  </a:moveTo>
                  <a:lnTo>
                    <a:pt x="0" y="11"/>
                  </a:lnTo>
                  <a:lnTo>
                    <a:pt x="8" y="11"/>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2" name="Freeform 792"/>
            <p:cNvSpPr/>
            <p:nvPr/>
          </p:nvSpPr>
          <p:spPr bwMode="auto">
            <a:xfrm>
              <a:off x="3287" y="1027"/>
              <a:ext cx="8" cy="11"/>
            </a:xfrm>
            <a:custGeom>
              <a:avLst/>
              <a:gdLst>
                <a:gd name="T0" fmla="*/ 0 w 8"/>
                <a:gd name="T1" fmla="*/ 7 h 11"/>
                <a:gd name="T2" fmla="*/ 0 w 8"/>
                <a:gd name="T3" fmla="*/ 11 h 11"/>
                <a:gd name="T4" fmla="*/ 8 w 8"/>
                <a:gd name="T5" fmla="*/ 11 h 11"/>
                <a:gd name="T6" fmla="*/ 8 w 8"/>
                <a:gd name="T7" fmla="*/ 0 h 11"/>
                <a:gd name="T8" fmla="*/ 0 w 8"/>
                <a:gd name="T9" fmla="*/ 0 h 11"/>
                <a:gd name="T10" fmla="*/ 0 w 8"/>
                <a:gd name="T11" fmla="*/ 4 h 11"/>
                <a:gd name="T12" fmla="*/ 0 w 8"/>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7"/>
                  </a:moveTo>
                  <a:lnTo>
                    <a:pt x="0" y="11"/>
                  </a:lnTo>
                  <a:lnTo>
                    <a:pt x="8" y="11"/>
                  </a:lnTo>
                  <a:lnTo>
                    <a:pt x="8"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3" name="Freeform 793"/>
            <p:cNvSpPr/>
            <p:nvPr/>
          </p:nvSpPr>
          <p:spPr bwMode="auto">
            <a:xfrm>
              <a:off x="3287" y="1008"/>
              <a:ext cx="8" cy="11"/>
            </a:xfrm>
            <a:custGeom>
              <a:avLst/>
              <a:gdLst>
                <a:gd name="T0" fmla="*/ 0 w 8"/>
                <a:gd name="T1" fmla="*/ 7 h 11"/>
                <a:gd name="T2" fmla="*/ 0 w 8"/>
                <a:gd name="T3" fmla="*/ 11 h 11"/>
                <a:gd name="T4" fmla="*/ 8 w 8"/>
                <a:gd name="T5" fmla="*/ 11 h 11"/>
                <a:gd name="T6" fmla="*/ 8 w 8"/>
                <a:gd name="T7" fmla="*/ 0 h 11"/>
                <a:gd name="T8" fmla="*/ 0 w 8"/>
                <a:gd name="T9" fmla="*/ 0 h 11"/>
                <a:gd name="T10" fmla="*/ 0 w 8"/>
                <a:gd name="T11" fmla="*/ 3 h 11"/>
                <a:gd name="T12" fmla="*/ 0 w 8"/>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7"/>
                  </a:moveTo>
                  <a:lnTo>
                    <a:pt x="0" y="11"/>
                  </a:lnTo>
                  <a:lnTo>
                    <a:pt x="8" y="11"/>
                  </a:lnTo>
                  <a:lnTo>
                    <a:pt x="8"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4" name="Freeform 794"/>
            <p:cNvSpPr/>
            <p:nvPr/>
          </p:nvSpPr>
          <p:spPr bwMode="auto">
            <a:xfrm>
              <a:off x="3287" y="988"/>
              <a:ext cx="8" cy="12"/>
            </a:xfrm>
            <a:custGeom>
              <a:avLst/>
              <a:gdLst>
                <a:gd name="T0" fmla="*/ 0 w 8"/>
                <a:gd name="T1" fmla="*/ 8 h 12"/>
                <a:gd name="T2" fmla="*/ 0 w 8"/>
                <a:gd name="T3" fmla="*/ 12 h 12"/>
                <a:gd name="T4" fmla="*/ 8 w 8"/>
                <a:gd name="T5" fmla="*/ 12 h 12"/>
                <a:gd name="T6" fmla="*/ 8 w 8"/>
                <a:gd name="T7" fmla="*/ 0 h 12"/>
                <a:gd name="T8" fmla="*/ 4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4"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5" name="Freeform 795"/>
            <p:cNvSpPr/>
            <p:nvPr/>
          </p:nvSpPr>
          <p:spPr bwMode="auto">
            <a:xfrm>
              <a:off x="3287" y="969"/>
              <a:ext cx="8" cy="12"/>
            </a:xfrm>
            <a:custGeom>
              <a:avLst/>
              <a:gdLst>
                <a:gd name="T0" fmla="*/ 0 w 8"/>
                <a:gd name="T1" fmla="*/ 8 h 12"/>
                <a:gd name="T2" fmla="*/ 0 w 8"/>
                <a:gd name="T3" fmla="*/ 12 h 12"/>
                <a:gd name="T4" fmla="*/ 8 w 8"/>
                <a:gd name="T5" fmla="*/ 12 h 12"/>
                <a:gd name="T6" fmla="*/ 8 w 8"/>
                <a:gd name="T7" fmla="*/ 0 h 12"/>
                <a:gd name="T8" fmla="*/ 4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4"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6" name="Freeform 796"/>
            <p:cNvSpPr/>
            <p:nvPr/>
          </p:nvSpPr>
          <p:spPr bwMode="auto">
            <a:xfrm>
              <a:off x="3287" y="950"/>
              <a:ext cx="8" cy="11"/>
            </a:xfrm>
            <a:custGeom>
              <a:avLst/>
              <a:gdLst>
                <a:gd name="T0" fmla="*/ 0 w 8"/>
                <a:gd name="T1" fmla="*/ 8 h 11"/>
                <a:gd name="T2" fmla="*/ 4 w 8"/>
                <a:gd name="T3" fmla="*/ 11 h 11"/>
                <a:gd name="T4" fmla="*/ 8 w 8"/>
                <a:gd name="T5" fmla="*/ 11 h 11"/>
                <a:gd name="T6" fmla="*/ 8 w 8"/>
                <a:gd name="T7" fmla="*/ 0 h 11"/>
                <a:gd name="T8" fmla="*/ 0 w 8"/>
                <a:gd name="T9" fmla="*/ 0 h 11"/>
                <a:gd name="T10" fmla="*/ 0 w 8"/>
                <a:gd name="T11" fmla="*/ 4 h 11"/>
                <a:gd name="T12" fmla="*/ 0 w 8"/>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8"/>
                  </a:moveTo>
                  <a:lnTo>
                    <a:pt x="4" y="11"/>
                  </a:lnTo>
                  <a:lnTo>
                    <a:pt x="8" y="11"/>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7" name="Freeform 797"/>
            <p:cNvSpPr/>
            <p:nvPr/>
          </p:nvSpPr>
          <p:spPr bwMode="auto">
            <a:xfrm>
              <a:off x="3287" y="931"/>
              <a:ext cx="8" cy="11"/>
            </a:xfrm>
            <a:custGeom>
              <a:avLst/>
              <a:gdLst>
                <a:gd name="T0" fmla="*/ 0 w 8"/>
                <a:gd name="T1" fmla="*/ 7 h 11"/>
                <a:gd name="T2" fmla="*/ 4 w 8"/>
                <a:gd name="T3" fmla="*/ 11 h 11"/>
                <a:gd name="T4" fmla="*/ 8 w 8"/>
                <a:gd name="T5" fmla="*/ 11 h 11"/>
                <a:gd name="T6" fmla="*/ 8 w 8"/>
                <a:gd name="T7" fmla="*/ 0 h 11"/>
                <a:gd name="T8" fmla="*/ 0 w 8"/>
                <a:gd name="T9" fmla="*/ 0 h 11"/>
                <a:gd name="T10" fmla="*/ 0 w 8"/>
                <a:gd name="T11" fmla="*/ 4 h 11"/>
                <a:gd name="T12" fmla="*/ 0 w 8"/>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7"/>
                  </a:moveTo>
                  <a:lnTo>
                    <a:pt x="4" y="11"/>
                  </a:lnTo>
                  <a:lnTo>
                    <a:pt x="8" y="11"/>
                  </a:lnTo>
                  <a:lnTo>
                    <a:pt x="8"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8" name="Freeform 798"/>
            <p:cNvSpPr/>
            <p:nvPr/>
          </p:nvSpPr>
          <p:spPr bwMode="auto">
            <a:xfrm>
              <a:off x="3287" y="912"/>
              <a:ext cx="8" cy="11"/>
            </a:xfrm>
            <a:custGeom>
              <a:avLst/>
              <a:gdLst>
                <a:gd name="T0" fmla="*/ 0 w 8"/>
                <a:gd name="T1" fmla="*/ 7 h 11"/>
                <a:gd name="T2" fmla="*/ 4 w 8"/>
                <a:gd name="T3" fmla="*/ 11 h 11"/>
                <a:gd name="T4" fmla="*/ 8 w 8"/>
                <a:gd name="T5" fmla="*/ 11 h 11"/>
                <a:gd name="T6" fmla="*/ 8 w 8"/>
                <a:gd name="T7" fmla="*/ 0 h 11"/>
                <a:gd name="T8" fmla="*/ 0 w 8"/>
                <a:gd name="T9" fmla="*/ 0 h 11"/>
                <a:gd name="T10" fmla="*/ 0 w 8"/>
                <a:gd name="T11" fmla="*/ 3 h 11"/>
                <a:gd name="T12" fmla="*/ 0 w 8"/>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7"/>
                  </a:moveTo>
                  <a:lnTo>
                    <a:pt x="4" y="11"/>
                  </a:lnTo>
                  <a:lnTo>
                    <a:pt x="8" y="11"/>
                  </a:lnTo>
                  <a:lnTo>
                    <a:pt x="8"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39" name="Freeform 799"/>
            <p:cNvSpPr/>
            <p:nvPr/>
          </p:nvSpPr>
          <p:spPr bwMode="auto">
            <a:xfrm>
              <a:off x="3287" y="892"/>
              <a:ext cx="8" cy="12"/>
            </a:xfrm>
            <a:custGeom>
              <a:avLst/>
              <a:gdLst>
                <a:gd name="T0" fmla="*/ 0 w 8"/>
                <a:gd name="T1" fmla="*/ 8 h 12"/>
                <a:gd name="T2" fmla="*/ 4 w 8"/>
                <a:gd name="T3" fmla="*/ 8 h 12"/>
                <a:gd name="T4" fmla="*/ 4 w 8"/>
                <a:gd name="T5" fmla="*/ 12 h 12"/>
                <a:gd name="T6" fmla="*/ 8 w 8"/>
                <a:gd name="T7" fmla="*/ 12 h 12"/>
                <a:gd name="T8" fmla="*/ 8 w 8"/>
                <a:gd name="T9" fmla="*/ 0 h 12"/>
                <a:gd name="T10" fmla="*/ 4 w 8"/>
                <a:gd name="T11" fmla="*/ 0 h 12"/>
                <a:gd name="T12" fmla="*/ 0 w 8"/>
                <a:gd name="T13" fmla="*/ 4 h 12"/>
                <a:gd name="T14" fmla="*/ 0 w 8"/>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8"/>
                  </a:moveTo>
                  <a:lnTo>
                    <a:pt x="4" y="8"/>
                  </a:lnTo>
                  <a:lnTo>
                    <a:pt x="4" y="12"/>
                  </a:lnTo>
                  <a:lnTo>
                    <a:pt x="8" y="12"/>
                  </a:lnTo>
                  <a:lnTo>
                    <a:pt x="8" y="0"/>
                  </a:lnTo>
                  <a:lnTo>
                    <a:pt x="4"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0" name="Freeform 800"/>
            <p:cNvSpPr/>
            <p:nvPr/>
          </p:nvSpPr>
          <p:spPr bwMode="auto">
            <a:xfrm>
              <a:off x="3287" y="873"/>
              <a:ext cx="8" cy="12"/>
            </a:xfrm>
            <a:custGeom>
              <a:avLst/>
              <a:gdLst>
                <a:gd name="T0" fmla="*/ 0 w 8"/>
                <a:gd name="T1" fmla="*/ 8 h 12"/>
                <a:gd name="T2" fmla="*/ 4 w 8"/>
                <a:gd name="T3" fmla="*/ 8 h 12"/>
                <a:gd name="T4" fmla="*/ 4 w 8"/>
                <a:gd name="T5" fmla="*/ 12 h 12"/>
                <a:gd name="T6" fmla="*/ 8 w 8"/>
                <a:gd name="T7" fmla="*/ 12 h 12"/>
                <a:gd name="T8" fmla="*/ 8 w 8"/>
                <a:gd name="T9" fmla="*/ 0 h 12"/>
                <a:gd name="T10" fmla="*/ 4 w 8"/>
                <a:gd name="T11" fmla="*/ 0 h 12"/>
                <a:gd name="T12" fmla="*/ 0 w 8"/>
                <a:gd name="T13" fmla="*/ 4 h 12"/>
                <a:gd name="T14" fmla="*/ 0 w 8"/>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8"/>
                  </a:moveTo>
                  <a:lnTo>
                    <a:pt x="4" y="8"/>
                  </a:lnTo>
                  <a:lnTo>
                    <a:pt x="4" y="12"/>
                  </a:lnTo>
                  <a:lnTo>
                    <a:pt x="8" y="12"/>
                  </a:lnTo>
                  <a:lnTo>
                    <a:pt x="8" y="0"/>
                  </a:lnTo>
                  <a:lnTo>
                    <a:pt x="4"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1" name="Freeform 801"/>
            <p:cNvSpPr/>
            <p:nvPr/>
          </p:nvSpPr>
          <p:spPr bwMode="auto">
            <a:xfrm>
              <a:off x="3287" y="854"/>
              <a:ext cx="8" cy="11"/>
            </a:xfrm>
            <a:custGeom>
              <a:avLst/>
              <a:gdLst>
                <a:gd name="T0" fmla="*/ 0 w 8"/>
                <a:gd name="T1" fmla="*/ 8 h 11"/>
                <a:gd name="T2" fmla="*/ 4 w 8"/>
                <a:gd name="T3" fmla="*/ 8 h 11"/>
                <a:gd name="T4" fmla="*/ 4 w 8"/>
                <a:gd name="T5" fmla="*/ 11 h 11"/>
                <a:gd name="T6" fmla="*/ 8 w 8"/>
                <a:gd name="T7" fmla="*/ 11 h 11"/>
                <a:gd name="T8" fmla="*/ 8 w 8"/>
                <a:gd name="T9" fmla="*/ 0 h 11"/>
                <a:gd name="T10" fmla="*/ 4 w 8"/>
                <a:gd name="T11" fmla="*/ 0 h 11"/>
                <a:gd name="T12" fmla="*/ 0 w 8"/>
                <a:gd name="T13" fmla="*/ 4 h 11"/>
                <a:gd name="T14" fmla="*/ 0 w 8"/>
                <a:gd name="T15" fmla="*/ 8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1">
                  <a:moveTo>
                    <a:pt x="0" y="8"/>
                  </a:moveTo>
                  <a:lnTo>
                    <a:pt x="4" y="8"/>
                  </a:lnTo>
                  <a:lnTo>
                    <a:pt x="4" y="11"/>
                  </a:lnTo>
                  <a:lnTo>
                    <a:pt x="8" y="11"/>
                  </a:lnTo>
                  <a:lnTo>
                    <a:pt x="8" y="0"/>
                  </a:lnTo>
                  <a:lnTo>
                    <a:pt x="4"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2" name="Freeform 802"/>
            <p:cNvSpPr/>
            <p:nvPr/>
          </p:nvSpPr>
          <p:spPr bwMode="auto">
            <a:xfrm>
              <a:off x="3287" y="835"/>
              <a:ext cx="8" cy="11"/>
            </a:xfrm>
            <a:custGeom>
              <a:avLst/>
              <a:gdLst>
                <a:gd name="T0" fmla="*/ 0 w 8"/>
                <a:gd name="T1" fmla="*/ 7 h 11"/>
                <a:gd name="T2" fmla="*/ 4 w 8"/>
                <a:gd name="T3" fmla="*/ 7 h 11"/>
                <a:gd name="T4" fmla="*/ 4 w 8"/>
                <a:gd name="T5" fmla="*/ 11 h 11"/>
                <a:gd name="T6" fmla="*/ 8 w 8"/>
                <a:gd name="T7" fmla="*/ 11 h 11"/>
                <a:gd name="T8" fmla="*/ 8 w 8"/>
                <a:gd name="T9" fmla="*/ 0 h 11"/>
                <a:gd name="T10" fmla="*/ 4 w 8"/>
                <a:gd name="T11" fmla="*/ 0 h 11"/>
                <a:gd name="T12" fmla="*/ 4 w 8"/>
                <a:gd name="T13" fmla="*/ 4 h 11"/>
                <a:gd name="T14" fmla="*/ 0 w 8"/>
                <a:gd name="T15" fmla="*/ 4 h 11"/>
                <a:gd name="T16" fmla="*/ 0 w 8"/>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1">
                  <a:moveTo>
                    <a:pt x="0" y="7"/>
                  </a:moveTo>
                  <a:lnTo>
                    <a:pt x="4" y="7"/>
                  </a:lnTo>
                  <a:lnTo>
                    <a:pt x="4" y="11"/>
                  </a:lnTo>
                  <a:lnTo>
                    <a:pt x="8" y="11"/>
                  </a:lnTo>
                  <a:lnTo>
                    <a:pt x="8" y="0"/>
                  </a:lnTo>
                  <a:lnTo>
                    <a:pt x="4" y="0"/>
                  </a:lnTo>
                  <a:lnTo>
                    <a:pt x="4" y="4"/>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3" name="Freeform 803"/>
            <p:cNvSpPr/>
            <p:nvPr/>
          </p:nvSpPr>
          <p:spPr bwMode="auto">
            <a:xfrm>
              <a:off x="3291" y="816"/>
              <a:ext cx="7" cy="11"/>
            </a:xfrm>
            <a:custGeom>
              <a:avLst/>
              <a:gdLst>
                <a:gd name="T0" fmla="*/ 0 w 7"/>
                <a:gd name="T1" fmla="*/ 7 h 11"/>
                <a:gd name="T2" fmla="*/ 0 w 7"/>
                <a:gd name="T3" fmla="*/ 11 h 11"/>
                <a:gd name="T4" fmla="*/ 4 w 7"/>
                <a:gd name="T5" fmla="*/ 11 h 11"/>
                <a:gd name="T6" fmla="*/ 4 w 7"/>
                <a:gd name="T7" fmla="*/ 7 h 11"/>
                <a:gd name="T8" fmla="*/ 7 w 7"/>
                <a:gd name="T9" fmla="*/ 7 h 11"/>
                <a:gd name="T10" fmla="*/ 7 w 7"/>
                <a:gd name="T11" fmla="*/ 3 h 11"/>
                <a:gd name="T12" fmla="*/ 4 w 7"/>
                <a:gd name="T13" fmla="*/ 3 h 11"/>
                <a:gd name="T14" fmla="*/ 4 w 7"/>
                <a:gd name="T15" fmla="*/ 0 h 11"/>
                <a:gd name="T16" fmla="*/ 0 w 7"/>
                <a:gd name="T17" fmla="*/ 0 h 11"/>
                <a:gd name="T18" fmla="*/ 0 w 7"/>
                <a:gd name="T19" fmla="*/ 3 h 11"/>
                <a:gd name="T20" fmla="*/ 0 w 7"/>
                <a:gd name="T21"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1">
                  <a:moveTo>
                    <a:pt x="0" y="7"/>
                  </a:moveTo>
                  <a:lnTo>
                    <a:pt x="0" y="11"/>
                  </a:lnTo>
                  <a:lnTo>
                    <a:pt x="4" y="11"/>
                  </a:lnTo>
                  <a:lnTo>
                    <a:pt x="4" y="7"/>
                  </a:lnTo>
                  <a:lnTo>
                    <a:pt x="7" y="7"/>
                  </a:lnTo>
                  <a:lnTo>
                    <a:pt x="7" y="3"/>
                  </a:lnTo>
                  <a:lnTo>
                    <a:pt x="4" y="3"/>
                  </a:lnTo>
                  <a:lnTo>
                    <a:pt x="4"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4" name="Freeform 804"/>
            <p:cNvSpPr/>
            <p:nvPr/>
          </p:nvSpPr>
          <p:spPr bwMode="auto">
            <a:xfrm>
              <a:off x="3291" y="796"/>
              <a:ext cx="7" cy="12"/>
            </a:xfrm>
            <a:custGeom>
              <a:avLst/>
              <a:gdLst>
                <a:gd name="T0" fmla="*/ 0 w 7"/>
                <a:gd name="T1" fmla="*/ 8 h 12"/>
                <a:gd name="T2" fmla="*/ 0 w 7"/>
                <a:gd name="T3" fmla="*/ 12 h 12"/>
                <a:gd name="T4" fmla="*/ 4 w 7"/>
                <a:gd name="T5" fmla="*/ 12 h 12"/>
                <a:gd name="T6" fmla="*/ 7 w 7"/>
                <a:gd name="T7" fmla="*/ 8 h 12"/>
                <a:gd name="T8" fmla="*/ 7 w 7"/>
                <a:gd name="T9" fmla="*/ 4 h 12"/>
                <a:gd name="T10" fmla="*/ 4 w 7"/>
                <a:gd name="T11" fmla="*/ 4 h 12"/>
                <a:gd name="T12" fmla="*/ 4 w 7"/>
                <a:gd name="T13" fmla="*/ 0 h 12"/>
                <a:gd name="T14" fmla="*/ 0 w 7"/>
                <a:gd name="T15" fmla="*/ 0 h 12"/>
                <a:gd name="T16" fmla="*/ 0 w 7"/>
                <a:gd name="T17" fmla="*/ 4 h 12"/>
                <a:gd name="T18" fmla="*/ 0 w 7"/>
                <a:gd name="T1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12">
                  <a:moveTo>
                    <a:pt x="0" y="8"/>
                  </a:moveTo>
                  <a:lnTo>
                    <a:pt x="0" y="12"/>
                  </a:lnTo>
                  <a:lnTo>
                    <a:pt x="4" y="12"/>
                  </a:lnTo>
                  <a:lnTo>
                    <a:pt x="7" y="8"/>
                  </a:lnTo>
                  <a:lnTo>
                    <a:pt x="7" y="4"/>
                  </a:lnTo>
                  <a:lnTo>
                    <a:pt x="4"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5" name="Freeform 805"/>
            <p:cNvSpPr/>
            <p:nvPr/>
          </p:nvSpPr>
          <p:spPr bwMode="auto">
            <a:xfrm>
              <a:off x="3291" y="777"/>
              <a:ext cx="7" cy="12"/>
            </a:xfrm>
            <a:custGeom>
              <a:avLst/>
              <a:gdLst>
                <a:gd name="T0" fmla="*/ 0 w 7"/>
                <a:gd name="T1" fmla="*/ 8 h 12"/>
                <a:gd name="T2" fmla="*/ 0 w 7"/>
                <a:gd name="T3" fmla="*/ 12 h 12"/>
                <a:gd name="T4" fmla="*/ 4 w 7"/>
                <a:gd name="T5" fmla="*/ 12 h 12"/>
                <a:gd name="T6" fmla="*/ 7 w 7"/>
                <a:gd name="T7" fmla="*/ 8 h 12"/>
                <a:gd name="T8" fmla="*/ 7 w 7"/>
                <a:gd name="T9" fmla="*/ 4 h 12"/>
                <a:gd name="T10" fmla="*/ 4 w 7"/>
                <a:gd name="T11" fmla="*/ 4 h 12"/>
                <a:gd name="T12" fmla="*/ 4 w 7"/>
                <a:gd name="T13" fmla="*/ 0 h 12"/>
                <a:gd name="T14" fmla="*/ 0 w 7"/>
                <a:gd name="T15" fmla="*/ 0 h 12"/>
                <a:gd name="T16" fmla="*/ 0 w 7"/>
                <a:gd name="T17" fmla="*/ 4 h 12"/>
                <a:gd name="T18" fmla="*/ 0 w 7"/>
                <a:gd name="T1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12">
                  <a:moveTo>
                    <a:pt x="0" y="8"/>
                  </a:moveTo>
                  <a:lnTo>
                    <a:pt x="0" y="12"/>
                  </a:lnTo>
                  <a:lnTo>
                    <a:pt x="4" y="12"/>
                  </a:lnTo>
                  <a:lnTo>
                    <a:pt x="7" y="8"/>
                  </a:lnTo>
                  <a:lnTo>
                    <a:pt x="7" y="4"/>
                  </a:lnTo>
                  <a:lnTo>
                    <a:pt x="4"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6" name="Freeform 806"/>
            <p:cNvSpPr/>
            <p:nvPr/>
          </p:nvSpPr>
          <p:spPr bwMode="auto">
            <a:xfrm>
              <a:off x="3291" y="758"/>
              <a:ext cx="7" cy="11"/>
            </a:xfrm>
            <a:custGeom>
              <a:avLst/>
              <a:gdLst>
                <a:gd name="T0" fmla="*/ 0 w 7"/>
                <a:gd name="T1" fmla="*/ 8 h 11"/>
                <a:gd name="T2" fmla="*/ 0 w 7"/>
                <a:gd name="T3" fmla="*/ 11 h 11"/>
                <a:gd name="T4" fmla="*/ 4 w 7"/>
                <a:gd name="T5" fmla="*/ 11 h 11"/>
                <a:gd name="T6" fmla="*/ 7 w 7"/>
                <a:gd name="T7" fmla="*/ 8 h 11"/>
                <a:gd name="T8" fmla="*/ 7 w 7"/>
                <a:gd name="T9" fmla="*/ 4 h 11"/>
                <a:gd name="T10" fmla="*/ 4 w 7"/>
                <a:gd name="T11" fmla="*/ 4 h 11"/>
                <a:gd name="T12" fmla="*/ 4 w 7"/>
                <a:gd name="T13" fmla="*/ 0 h 11"/>
                <a:gd name="T14" fmla="*/ 0 w 7"/>
                <a:gd name="T15" fmla="*/ 0 h 11"/>
                <a:gd name="T16" fmla="*/ 0 w 7"/>
                <a:gd name="T17" fmla="*/ 4 h 11"/>
                <a:gd name="T18" fmla="*/ 0 w 7"/>
                <a:gd name="T19"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11">
                  <a:moveTo>
                    <a:pt x="0" y="8"/>
                  </a:moveTo>
                  <a:lnTo>
                    <a:pt x="0" y="11"/>
                  </a:lnTo>
                  <a:lnTo>
                    <a:pt x="4" y="11"/>
                  </a:lnTo>
                  <a:lnTo>
                    <a:pt x="7" y="8"/>
                  </a:lnTo>
                  <a:lnTo>
                    <a:pt x="7" y="4"/>
                  </a:lnTo>
                  <a:lnTo>
                    <a:pt x="4"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7" name="Freeform 807"/>
            <p:cNvSpPr/>
            <p:nvPr/>
          </p:nvSpPr>
          <p:spPr bwMode="auto">
            <a:xfrm>
              <a:off x="3291" y="739"/>
              <a:ext cx="7" cy="11"/>
            </a:xfrm>
            <a:custGeom>
              <a:avLst/>
              <a:gdLst>
                <a:gd name="T0" fmla="*/ 0 w 7"/>
                <a:gd name="T1" fmla="*/ 7 h 11"/>
                <a:gd name="T2" fmla="*/ 0 w 7"/>
                <a:gd name="T3" fmla="*/ 11 h 11"/>
                <a:gd name="T4" fmla="*/ 4 w 7"/>
                <a:gd name="T5" fmla="*/ 11 h 11"/>
                <a:gd name="T6" fmla="*/ 7 w 7"/>
                <a:gd name="T7" fmla="*/ 7 h 11"/>
                <a:gd name="T8" fmla="*/ 7 w 7"/>
                <a:gd name="T9" fmla="*/ 4 h 11"/>
                <a:gd name="T10" fmla="*/ 4 w 7"/>
                <a:gd name="T11" fmla="*/ 0 h 11"/>
                <a:gd name="T12" fmla="*/ 0 w 7"/>
                <a:gd name="T13" fmla="*/ 0 h 11"/>
                <a:gd name="T14" fmla="*/ 0 w 7"/>
                <a:gd name="T15" fmla="*/ 4 h 11"/>
                <a:gd name="T16" fmla="*/ 0 w 7"/>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1">
                  <a:moveTo>
                    <a:pt x="0" y="7"/>
                  </a:moveTo>
                  <a:lnTo>
                    <a:pt x="0" y="11"/>
                  </a:lnTo>
                  <a:lnTo>
                    <a:pt x="4" y="11"/>
                  </a:lnTo>
                  <a:lnTo>
                    <a:pt x="7" y="7"/>
                  </a:lnTo>
                  <a:lnTo>
                    <a:pt x="7" y="4"/>
                  </a:lnTo>
                  <a:lnTo>
                    <a:pt x="4"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8" name="Freeform 808"/>
            <p:cNvSpPr/>
            <p:nvPr/>
          </p:nvSpPr>
          <p:spPr bwMode="auto">
            <a:xfrm>
              <a:off x="3291" y="720"/>
              <a:ext cx="7" cy="11"/>
            </a:xfrm>
            <a:custGeom>
              <a:avLst/>
              <a:gdLst>
                <a:gd name="T0" fmla="*/ 0 w 7"/>
                <a:gd name="T1" fmla="*/ 7 h 11"/>
                <a:gd name="T2" fmla="*/ 0 w 7"/>
                <a:gd name="T3" fmla="*/ 11 h 11"/>
                <a:gd name="T4" fmla="*/ 7 w 7"/>
                <a:gd name="T5" fmla="*/ 11 h 11"/>
                <a:gd name="T6" fmla="*/ 7 w 7"/>
                <a:gd name="T7" fmla="*/ 3 h 11"/>
                <a:gd name="T8" fmla="*/ 4 w 7"/>
                <a:gd name="T9" fmla="*/ 0 h 11"/>
                <a:gd name="T10" fmla="*/ 0 w 7"/>
                <a:gd name="T11" fmla="*/ 0 h 11"/>
                <a:gd name="T12" fmla="*/ 0 w 7"/>
                <a:gd name="T13" fmla="*/ 3 h 11"/>
                <a:gd name="T14" fmla="*/ 0 w 7"/>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1">
                  <a:moveTo>
                    <a:pt x="0" y="7"/>
                  </a:moveTo>
                  <a:lnTo>
                    <a:pt x="0" y="11"/>
                  </a:lnTo>
                  <a:lnTo>
                    <a:pt x="7" y="11"/>
                  </a:lnTo>
                  <a:lnTo>
                    <a:pt x="7" y="3"/>
                  </a:lnTo>
                  <a:lnTo>
                    <a:pt x="4"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49" name="Freeform 809"/>
            <p:cNvSpPr/>
            <p:nvPr/>
          </p:nvSpPr>
          <p:spPr bwMode="auto">
            <a:xfrm>
              <a:off x="3291" y="700"/>
              <a:ext cx="7" cy="12"/>
            </a:xfrm>
            <a:custGeom>
              <a:avLst/>
              <a:gdLst>
                <a:gd name="T0" fmla="*/ 0 w 7"/>
                <a:gd name="T1" fmla="*/ 8 h 12"/>
                <a:gd name="T2" fmla="*/ 0 w 7"/>
                <a:gd name="T3" fmla="*/ 12 h 12"/>
                <a:gd name="T4" fmla="*/ 7 w 7"/>
                <a:gd name="T5" fmla="*/ 12 h 12"/>
                <a:gd name="T6" fmla="*/ 7 w 7"/>
                <a:gd name="T7" fmla="*/ 4 h 12"/>
                <a:gd name="T8" fmla="*/ 4 w 7"/>
                <a:gd name="T9" fmla="*/ 0 h 12"/>
                <a:gd name="T10" fmla="*/ 0 w 7"/>
                <a:gd name="T11" fmla="*/ 0 h 12"/>
                <a:gd name="T12" fmla="*/ 0 w 7"/>
                <a:gd name="T13" fmla="*/ 4 h 12"/>
                <a:gd name="T14" fmla="*/ 0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8"/>
                  </a:moveTo>
                  <a:lnTo>
                    <a:pt x="0" y="12"/>
                  </a:lnTo>
                  <a:lnTo>
                    <a:pt x="7" y="12"/>
                  </a:lnTo>
                  <a:lnTo>
                    <a:pt x="7"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0" name="Freeform 810"/>
            <p:cNvSpPr/>
            <p:nvPr/>
          </p:nvSpPr>
          <p:spPr bwMode="auto">
            <a:xfrm>
              <a:off x="3291" y="681"/>
              <a:ext cx="7" cy="12"/>
            </a:xfrm>
            <a:custGeom>
              <a:avLst/>
              <a:gdLst>
                <a:gd name="T0" fmla="*/ 0 w 7"/>
                <a:gd name="T1" fmla="*/ 8 h 12"/>
                <a:gd name="T2" fmla="*/ 0 w 7"/>
                <a:gd name="T3" fmla="*/ 12 h 12"/>
                <a:gd name="T4" fmla="*/ 7 w 7"/>
                <a:gd name="T5" fmla="*/ 12 h 12"/>
                <a:gd name="T6" fmla="*/ 7 w 7"/>
                <a:gd name="T7" fmla="*/ 4 h 12"/>
                <a:gd name="T8" fmla="*/ 4 w 7"/>
                <a:gd name="T9" fmla="*/ 0 h 12"/>
                <a:gd name="T10" fmla="*/ 0 w 7"/>
                <a:gd name="T11" fmla="*/ 0 h 12"/>
                <a:gd name="T12" fmla="*/ 0 w 7"/>
                <a:gd name="T13" fmla="*/ 4 h 12"/>
                <a:gd name="T14" fmla="*/ 0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8"/>
                  </a:moveTo>
                  <a:lnTo>
                    <a:pt x="0" y="12"/>
                  </a:lnTo>
                  <a:lnTo>
                    <a:pt x="7" y="12"/>
                  </a:lnTo>
                  <a:lnTo>
                    <a:pt x="7"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1" name="Freeform 811"/>
            <p:cNvSpPr/>
            <p:nvPr/>
          </p:nvSpPr>
          <p:spPr bwMode="auto">
            <a:xfrm>
              <a:off x="3291" y="662"/>
              <a:ext cx="7" cy="11"/>
            </a:xfrm>
            <a:custGeom>
              <a:avLst/>
              <a:gdLst>
                <a:gd name="T0" fmla="*/ 0 w 7"/>
                <a:gd name="T1" fmla="*/ 8 h 11"/>
                <a:gd name="T2" fmla="*/ 0 w 7"/>
                <a:gd name="T3" fmla="*/ 11 h 11"/>
                <a:gd name="T4" fmla="*/ 7 w 7"/>
                <a:gd name="T5" fmla="*/ 11 h 11"/>
                <a:gd name="T6" fmla="*/ 7 w 7"/>
                <a:gd name="T7" fmla="*/ 4 h 11"/>
                <a:gd name="T8" fmla="*/ 4 w 7"/>
                <a:gd name="T9" fmla="*/ 0 h 11"/>
                <a:gd name="T10" fmla="*/ 0 w 7"/>
                <a:gd name="T11" fmla="*/ 0 h 11"/>
                <a:gd name="T12" fmla="*/ 0 w 7"/>
                <a:gd name="T13" fmla="*/ 4 h 11"/>
                <a:gd name="T14" fmla="*/ 0 w 7"/>
                <a:gd name="T15" fmla="*/ 8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1">
                  <a:moveTo>
                    <a:pt x="0" y="8"/>
                  </a:moveTo>
                  <a:lnTo>
                    <a:pt x="0" y="11"/>
                  </a:lnTo>
                  <a:lnTo>
                    <a:pt x="7" y="11"/>
                  </a:lnTo>
                  <a:lnTo>
                    <a:pt x="7"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2" name="Freeform 812"/>
            <p:cNvSpPr/>
            <p:nvPr/>
          </p:nvSpPr>
          <p:spPr bwMode="auto">
            <a:xfrm>
              <a:off x="3291" y="643"/>
              <a:ext cx="7" cy="11"/>
            </a:xfrm>
            <a:custGeom>
              <a:avLst/>
              <a:gdLst>
                <a:gd name="T0" fmla="*/ 0 w 7"/>
                <a:gd name="T1" fmla="*/ 7 h 11"/>
                <a:gd name="T2" fmla="*/ 0 w 7"/>
                <a:gd name="T3" fmla="*/ 11 h 11"/>
                <a:gd name="T4" fmla="*/ 7 w 7"/>
                <a:gd name="T5" fmla="*/ 11 h 11"/>
                <a:gd name="T6" fmla="*/ 7 w 7"/>
                <a:gd name="T7" fmla="*/ 4 h 11"/>
                <a:gd name="T8" fmla="*/ 4 w 7"/>
                <a:gd name="T9" fmla="*/ 0 h 11"/>
                <a:gd name="T10" fmla="*/ 0 w 7"/>
                <a:gd name="T11" fmla="*/ 0 h 11"/>
                <a:gd name="T12" fmla="*/ 0 w 7"/>
                <a:gd name="T13" fmla="*/ 4 h 11"/>
                <a:gd name="T14" fmla="*/ 0 w 7"/>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1">
                  <a:moveTo>
                    <a:pt x="0" y="7"/>
                  </a:moveTo>
                  <a:lnTo>
                    <a:pt x="0" y="11"/>
                  </a:lnTo>
                  <a:lnTo>
                    <a:pt x="7" y="11"/>
                  </a:lnTo>
                  <a:lnTo>
                    <a:pt x="7" y="4"/>
                  </a:lnTo>
                  <a:lnTo>
                    <a:pt x="4"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3" name="Freeform 813"/>
            <p:cNvSpPr/>
            <p:nvPr/>
          </p:nvSpPr>
          <p:spPr bwMode="auto">
            <a:xfrm>
              <a:off x="3291" y="624"/>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3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4" name="Freeform 814"/>
            <p:cNvSpPr/>
            <p:nvPr/>
          </p:nvSpPr>
          <p:spPr bwMode="auto">
            <a:xfrm>
              <a:off x="3291" y="604"/>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5" name="Freeform 815"/>
            <p:cNvSpPr/>
            <p:nvPr/>
          </p:nvSpPr>
          <p:spPr bwMode="auto">
            <a:xfrm>
              <a:off x="3291" y="585"/>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6" name="Freeform 816"/>
            <p:cNvSpPr/>
            <p:nvPr/>
          </p:nvSpPr>
          <p:spPr bwMode="auto">
            <a:xfrm>
              <a:off x="3291" y="566"/>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7" name="Freeform 817"/>
            <p:cNvSpPr/>
            <p:nvPr/>
          </p:nvSpPr>
          <p:spPr bwMode="auto">
            <a:xfrm>
              <a:off x="3291" y="547"/>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8" name="Freeform 818"/>
            <p:cNvSpPr/>
            <p:nvPr/>
          </p:nvSpPr>
          <p:spPr bwMode="auto">
            <a:xfrm>
              <a:off x="3291" y="528"/>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3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59" name="Freeform 819"/>
            <p:cNvSpPr/>
            <p:nvPr/>
          </p:nvSpPr>
          <p:spPr bwMode="auto">
            <a:xfrm>
              <a:off x="3291" y="508"/>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0" name="Freeform 820"/>
            <p:cNvSpPr/>
            <p:nvPr/>
          </p:nvSpPr>
          <p:spPr bwMode="auto">
            <a:xfrm>
              <a:off x="3744" y="1123"/>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1" name="Freeform 821"/>
            <p:cNvSpPr/>
            <p:nvPr/>
          </p:nvSpPr>
          <p:spPr bwMode="auto">
            <a:xfrm>
              <a:off x="3744" y="1103"/>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2" name="Freeform 822"/>
            <p:cNvSpPr/>
            <p:nvPr/>
          </p:nvSpPr>
          <p:spPr bwMode="auto">
            <a:xfrm>
              <a:off x="3744" y="1084"/>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3" name="Freeform 823"/>
            <p:cNvSpPr/>
            <p:nvPr/>
          </p:nvSpPr>
          <p:spPr bwMode="auto">
            <a:xfrm>
              <a:off x="3744" y="1065"/>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4" name="Freeform 824"/>
            <p:cNvSpPr/>
            <p:nvPr/>
          </p:nvSpPr>
          <p:spPr bwMode="auto">
            <a:xfrm>
              <a:off x="3744" y="1046"/>
              <a:ext cx="7" cy="11"/>
            </a:xfrm>
            <a:custGeom>
              <a:avLst/>
              <a:gdLst>
                <a:gd name="T0" fmla="*/ 0 w 7"/>
                <a:gd name="T1" fmla="*/ 8 h 11"/>
                <a:gd name="T2" fmla="*/ 4 w 7"/>
                <a:gd name="T3" fmla="*/ 11 h 11"/>
                <a:gd name="T4" fmla="*/ 7 w 7"/>
                <a:gd name="T5" fmla="*/ 11 h 11"/>
                <a:gd name="T6" fmla="*/ 7 w 7"/>
                <a:gd name="T7" fmla="*/ 0 h 11"/>
                <a:gd name="T8" fmla="*/ 0 w 7"/>
                <a:gd name="T9" fmla="*/ 0 h 11"/>
                <a:gd name="T10" fmla="*/ 0 w 7"/>
                <a:gd name="T11" fmla="*/ 4 h 11"/>
                <a:gd name="T12" fmla="*/ 0 w 7"/>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8"/>
                  </a:moveTo>
                  <a:lnTo>
                    <a:pt x="4" y="11"/>
                  </a:lnTo>
                  <a:lnTo>
                    <a:pt x="7" y="11"/>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5" name="Freeform 825"/>
            <p:cNvSpPr/>
            <p:nvPr/>
          </p:nvSpPr>
          <p:spPr bwMode="auto">
            <a:xfrm>
              <a:off x="3744" y="1027"/>
              <a:ext cx="7" cy="11"/>
            </a:xfrm>
            <a:custGeom>
              <a:avLst/>
              <a:gdLst>
                <a:gd name="T0" fmla="*/ 0 w 7"/>
                <a:gd name="T1" fmla="*/ 7 h 11"/>
                <a:gd name="T2" fmla="*/ 4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4"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6" name="Freeform 826"/>
            <p:cNvSpPr/>
            <p:nvPr/>
          </p:nvSpPr>
          <p:spPr bwMode="auto">
            <a:xfrm>
              <a:off x="3744" y="1008"/>
              <a:ext cx="7" cy="11"/>
            </a:xfrm>
            <a:custGeom>
              <a:avLst/>
              <a:gdLst>
                <a:gd name="T0" fmla="*/ 0 w 7"/>
                <a:gd name="T1" fmla="*/ 7 h 11"/>
                <a:gd name="T2" fmla="*/ 4 w 7"/>
                <a:gd name="T3" fmla="*/ 11 h 11"/>
                <a:gd name="T4" fmla="*/ 7 w 7"/>
                <a:gd name="T5" fmla="*/ 11 h 11"/>
                <a:gd name="T6" fmla="*/ 7 w 7"/>
                <a:gd name="T7" fmla="*/ 0 h 11"/>
                <a:gd name="T8" fmla="*/ 4 w 7"/>
                <a:gd name="T9" fmla="*/ 0 h 11"/>
                <a:gd name="T10" fmla="*/ 0 w 7"/>
                <a:gd name="T11" fmla="*/ 3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4" y="11"/>
                  </a:lnTo>
                  <a:lnTo>
                    <a:pt x="7" y="11"/>
                  </a:lnTo>
                  <a:lnTo>
                    <a:pt x="7" y="0"/>
                  </a:lnTo>
                  <a:lnTo>
                    <a:pt x="4"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7" name="Freeform 827"/>
            <p:cNvSpPr/>
            <p:nvPr/>
          </p:nvSpPr>
          <p:spPr bwMode="auto">
            <a:xfrm>
              <a:off x="3744" y="988"/>
              <a:ext cx="7" cy="12"/>
            </a:xfrm>
            <a:custGeom>
              <a:avLst/>
              <a:gdLst>
                <a:gd name="T0" fmla="*/ 0 w 7"/>
                <a:gd name="T1" fmla="*/ 8 h 12"/>
                <a:gd name="T2" fmla="*/ 4 w 7"/>
                <a:gd name="T3" fmla="*/ 8 h 12"/>
                <a:gd name="T4" fmla="*/ 4 w 7"/>
                <a:gd name="T5" fmla="*/ 12 h 12"/>
                <a:gd name="T6" fmla="*/ 7 w 7"/>
                <a:gd name="T7" fmla="*/ 12 h 12"/>
                <a:gd name="T8" fmla="*/ 7 w 7"/>
                <a:gd name="T9" fmla="*/ 0 h 12"/>
                <a:gd name="T10" fmla="*/ 4 w 7"/>
                <a:gd name="T11" fmla="*/ 0 h 12"/>
                <a:gd name="T12" fmla="*/ 0 w 7"/>
                <a:gd name="T13" fmla="*/ 4 h 12"/>
                <a:gd name="T14" fmla="*/ 0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8"/>
                  </a:moveTo>
                  <a:lnTo>
                    <a:pt x="4" y="8"/>
                  </a:lnTo>
                  <a:lnTo>
                    <a:pt x="4" y="12"/>
                  </a:lnTo>
                  <a:lnTo>
                    <a:pt x="7" y="12"/>
                  </a:lnTo>
                  <a:lnTo>
                    <a:pt x="7" y="0"/>
                  </a:lnTo>
                  <a:lnTo>
                    <a:pt x="4"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8" name="Freeform 828"/>
            <p:cNvSpPr/>
            <p:nvPr/>
          </p:nvSpPr>
          <p:spPr bwMode="auto">
            <a:xfrm>
              <a:off x="3748" y="969"/>
              <a:ext cx="7" cy="12"/>
            </a:xfrm>
            <a:custGeom>
              <a:avLst/>
              <a:gdLst>
                <a:gd name="T0" fmla="*/ 0 w 7"/>
                <a:gd name="T1" fmla="*/ 8 h 12"/>
                <a:gd name="T2" fmla="*/ 0 w 7"/>
                <a:gd name="T3" fmla="*/ 12 h 12"/>
                <a:gd name="T4" fmla="*/ 3 w 7"/>
                <a:gd name="T5" fmla="*/ 12 h 12"/>
                <a:gd name="T6" fmla="*/ 3 w 7"/>
                <a:gd name="T7" fmla="*/ 8 h 12"/>
                <a:gd name="T8" fmla="*/ 7 w 7"/>
                <a:gd name="T9" fmla="*/ 8 h 12"/>
                <a:gd name="T10" fmla="*/ 7 w 7"/>
                <a:gd name="T11" fmla="*/ 4 h 12"/>
                <a:gd name="T12" fmla="*/ 3 w 7"/>
                <a:gd name="T13" fmla="*/ 4 h 12"/>
                <a:gd name="T14" fmla="*/ 3 w 7"/>
                <a:gd name="T15" fmla="*/ 0 h 12"/>
                <a:gd name="T16" fmla="*/ 0 w 7"/>
                <a:gd name="T17" fmla="*/ 0 h 12"/>
                <a:gd name="T18" fmla="*/ 0 w 7"/>
                <a:gd name="T19" fmla="*/ 4 h 12"/>
                <a:gd name="T20" fmla="*/ 0 w 7"/>
                <a:gd name="T21"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2">
                  <a:moveTo>
                    <a:pt x="0" y="8"/>
                  </a:moveTo>
                  <a:lnTo>
                    <a:pt x="0" y="12"/>
                  </a:lnTo>
                  <a:lnTo>
                    <a:pt x="3" y="12"/>
                  </a:lnTo>
                  <a:lnTo>
                    <a:pt x="3" y="8"/>
                  </a:lnTo>
                  <a:lnTo>
                    <a:pt x="7" y="8"/>
                  </a:lnTo>
                  <a:lnTo>
                    <a:pt x="7" y="4"/>
                  </a:lnTo>
                  <a:lnTo>
                    <a:pt x="3" y="4"/>
                  </a:lnTo>
                  <a:lnTo>
                    <a:pt x="3"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69" name="Freeform 829"/>
            <p:cNvSpPr/>
            <p:nvPr/>
          </p:nvSpPr>
          <p:spPr bwMode="auto">
            <a:xfrm>
              <a:off x="3748" y="950"/>
              <a:ext cx="7" cy="11"/>
            </a:xfrm>
            <a:custGeom>
              <a:avLst/>
              <a:gdLst>
                <a:gd name="T0" fmla="*/ 0 w 7"/>
                <a:gd name="T1" fmla="*/ 8 h 11"/>
                <a:gd name="T2" fmla="*/ 0 w 7"/>
                <a:gd name="T3" fmla="*/ 11 h 11"/>
                <a:gd name="T4" fmla="*/ 3 w 7"/>
                <a:gd name="T5" fmla="*/ 11 h 11"/>
                <a:gd name="T6" fmla="*/ 7 w 7"/>
                <a:gd name="T7" fmla="*/ 8 h 11"/>
                <a:gd name="T8" fmla="*/ 7 w 7"/>
                <a:gd name="T9" fmla="*/ 4 h 11"/>
                <a:gd name="T10" fmla="*/ 3 w 7"/>
                <a:gd name="T11" fmla="*/ 4 h 11"/>
                <a:gd name="T12" fmla="*/ 3 w 7"/>
                <a:gd name="T13" fmla="*/ 0 h 11"/>
                <a:gd name="T14" fmla="*/ 0 w 7"/>
                <a:gd name="T15" fmla="*/ 0 h 11"/>
                <a:gd name="T16" fmla="*/ 0 w 7"/>
                <a:gd name="T17" fmla="*/ 4 h 11"/>
                <a:gd name="T18" fmla="*/ 0 w 7"/>
                <a:gd name="T19"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11">
                  <a:moveTo>
                    <a:pt x="0" y="8"/>
                  </a:moveTo>
                  <a:lnTo>
                    <a:pt x="0" y="11"/>
                  </a:lnTo>
                  <a:lnTo>
                    <a:pt x="3" y="11"/>
                  </a:lnTo>
                  <a:lnTo>
                    <a:pt x="7" y="8"/>
                  </a:lnTo>
                  <a:lnTo>
                    <a:pt x="7" y="4"/>
                  </a:lnTo>
                  <a:lnTo>
                    <a:pt x="3" y="4"/>
                  </a:lnTo>
                  <a:lnTo>
                    <a:pt x="3"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0" name="Freeform 830"/>
            <p:cNvSpPr/>
            <p:nvPr/>
          </p:nvSpPr>
          <p:spPr bwMode="auto">
            <a:xfrm>
              <a:off x="3748" y="931"/>
              <a:ext cx="7" cy="11"/>
            </a:xfrm>
            <a:custGeom>
              <a:avLst/>
              <a:gdLst>
                <a:gd name="T0" fmla="*/ 0 w 7"/>
                <a:gd name="T1" fmla="*/ 7 h 11"/>
                <a:gd name="T2" fmla="*/ 0 w 7"/>
                <a:gd name="T3" fmla="*/ 11 h 11"/>
                <a:gd name="T4" fmla="*/ 3 w 7"/>
                <a:gd name="T5" fmla="*/ 11 h 11"/>
                <a:gd name="T6" fmla="*/ 7 w 7"/>
                <a:gd name="T7" fmla="*/ 7 h 11"/>
                <a:gd name="T8" fmla="*/ 7 w 7"/>
                <a:gd name="T9" fmla="*/ 4 h 11"/>
                <a:gd name="T10" fmla="*/ 3 w 7"/>
                <a:gd name="T11" fmla="*/ 0 h 11"/>
                <a:gd name="T12" fmla="*/ 0 w 7"/>
                <a:gd name="T13" fmla="*/ 0 h 11"/>
                <a:gd name="T14" fmla="*/ 0 w 7"/>
                <a:gd name="T15" fmla="*/ 4 h 11"/>
                <a:gd name="T16" fmla="*/ 0 w 7"/>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1">
                  <a:moveTo>
                    <a:pt x="0" y="7"/>
                  </a:moveTo>
                  <a:lnTo>
                    <a:pt x="0" y="11"/>
                  </a:lnTo>
                  <a:lnTo>
                    <a:pt x="3" y="11"/>
                  </a:lnTo>
                  <a:lnTo>
                    <a:pt x="7" y="7"/>
                  </a:lnTo>
                  <a:lnTo>
                    <a:pt x="7" y="4"/>
                  </a:lnTo>
                  <a:lnTo>
                    <a:pt x="3"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1" name="Freeform 831"/>
            <p:cNvSpPr/>
            <p:nvPr/>
          </p:nvSpPr>
          <p:spPr bwMode="auto">
            <a:xfrm>
              <a:off x="3748" y="912"/>
              <a:ext cx="7" cy="11"/>
            </a:xfrm>
            <a:custGeom>
              <a:avLst/>
              <a:gdLst>
                <a:gd name="T0" fmla="*/ 0 w 7"/>
                <a:gd name="T1" fmla="*/ 7 h 11"/>
                <a:gd name="T2" fmla="*/ 0 w 7"/>
                <a:gd name="T3" fmla="*/ 11 h 11"/>
                <a:gd name="T4" fmla="*/ 7 w 7"/>
                <a:gd name="T5" fmla="*/ 11 h 11"/>
                <a:gd name="T6" fmla="*/ 7 w 7"/>
                <a:gd name="T7" fmla="*/ 3 h 11"/>
                <a:gd name="T8" fmla="*/ 3 w 7"/>
                <a:gd name="T9" fmla="*/ 0 h 11"/>
                <a:gd name="T10" fmla="*/ 0 w 7"/>
                <a:gd name="T11" fmla="*/ 0 h 11"/>
                <a:gd name="T12" fmla="*/ 0 w 7"/>
                <a:gd name="T13" fmla="*/ 3 h 11"/>
                <a:gd name="T14" fmla="*/ 0 w 7"/>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1">
                  <a:moveTo>
                    <a:pt x="0" y="7"/>
                  </a:moveTo>
                  <a:lnTo>
                    <a:pt x="0" y="11"/>
                  </a:lnTo>
                  <a:lnTo>
                    <a:pt x="7" y="11"/>
                  </a:lnTo>
                  <a:lnTo>
                    <a:pt x="7" y="3"/>
                  </a:lnTo>
                  <a:lnTo>
                    <a:pt x="3"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2" name="Freeform 832"/>
            <p:cNvSpPr/>
            <p:nvPr/>
          </p:nvSpPr>
          <p:spPr bwMode="auto">
            <a:xfrm>
              <a:off x="3748" y="892"/>
              <a:ext cx="7" cy="12"/>
            </a:xfrm>
            <a:custGeom>
              <a:avLst/>
              <a:gdLst>
                <a:gd name="T0" fmla="*/ 0 w 7"/>
                <a:gd name="T1" fmla="*/ 8 h 12"/>
                <a:gd name="T2" fmla="*/ 0 w 7"/>
                <a:gd name="T3" fmla="*/ 12 h 12"/>
                <a:gd name="T4" fmla="*/ 7 w 7"/>
                <a:gd name="T5" fmla="*/ 12 h 12"/>
                <a:gd name="T6" fmla="*/ 7 w 7"/>
                <a:gd name="T7" fmla="*/ 4 h 12"/>
                <a:gd name="T8" fmla="*/ 3 w 7"/>
                <a:gd name="T9" fmla="*/ 0 h 12"/>
                <a:gd name="T10" fmla="*/ 0 w 7"/>
                <a:gd name="T11" fmla="*/ 0 h 12"/>
                <a:gd name="T12" fmla="*/ 0 w 7"/>
                <a:gd name="T13" fmla="*/ 4 h 12"/>
                <a:gd name="T14" fmla="*/ 0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8"/>
                  </a:moveTo>
                  <a:lnTo>
                    <a:pt x="0" y="12"/>
                  </a:lnTo>
                  <a:lnTo>
                    <a:pt x="7" y="12"/>
                  </a:lnTo>
                  <a:lnTo>
                    <a:pt x="7" y="4"/>
                  </a:lnTo>
                  <a:lnTo>
                    <a:pt x="3"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3" name="Freeform 833"/>
            <p:cNvSpPr/>
            <p:nvPr/>
          </p:nvSpPr>
          <p:spPr bwMode="auto">
            <a:xfrm>
              <a:off x="3748" y="873"/>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4" name="Freeform 834"/>
            <p:cNvSpPr/>
            <p:nvPr/>
          </p:nvSpPr>
          <p:spPr bwMode="auto">
            <a:xfrm>
              <a:off x="3748" y="854"/>
              <a:ext cx="7" cy="11"/>
            </a:xfrm>
            <a:custGeom>
              <a:avLst/>
              <a:gdLst>
                <a:gd name="T0" fmla="*/ 0 w 7"/>
                <a:gd name="T1" fmla="*/ 8 h 11"/>
                <a:gd name="T2" fmla="*/ 0 w 7"/>
                <a:gd name="T3" fmla="*/ 11 h 11"/>
                <a:gd name="T4" fmla="*/ 7 w 7"/>
                <a:gd name="T5" fmla="*/ 11 h 11"/>
                <a:gd name="T6" fmla="*/ 7 w 7"/>
                <a:gd name="T7" fmla="*/ 0 h 11"/>
                <a:gd name="T8" fmla="*/ 0 w 7"/>
                <a:gd name="T9" fmla="*/ 0 h 11"/>
                <a:gd name="T10" fmla="*/ 0 w 7"/>
                <a:gd name="T11" fmla="*/ 4 h 11"/>
                <a:gd name="T12" fmla="*/ 0 w 7"/>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8"/>
                  </a:moveTo>
                  <a:lnTo>
                    <a:pt x="0" y="11"/>
                  </a:lnTo>
                  <a:lnTo>
                    <a:pt x="7" y="11"/>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5" name="Freeform 835"/>
            <p:cNvSpPr/>
            <p:nvPr/>
          </p:nvSpPr>
          <p:spPr bwMode="auto">
            <a:xfrm>
              <a:off x="3748" y="835"/>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6" name="Freeform 836"/>
            <p:cNvSpPr/>
            <p:nvPr/>
          </p:nvSpPr>
          <p:spPr bwMode="auto">
            <a:xfrm>
              <a:off x="3748" y="816"/>
              <a:ext cx="7" cy="11"/>
            </a:xfrm>
            <a:custGeom>
              <a:avLst/>
              <a:gdLst>
                <a:gd name="T0" fmla="*/ 0 w 7"/>
                <a:gd name="T1" fmla="*/ 7 h 11"/>
                <a:gd name="T2" fmla="*/ 0 w 7"/>
                <a:gd name="T3" fmla="*/ 11 h 11"/>
                <a:gd name="T4" fmla="*/ 7 w 7"/>
                <a:gd name="T5" fmla="*/ 11 h 11"/>
                <a:gd name="T6" fmla="*/ 7 w 7"/>
                <a:gd name="T7" fmla="*/ 0 h 11"/>
                <a:gd name="T8" fmla="*/ 0 w 7"/>
                <a:gd name="T9" fmla="*/ 0 h 11"/>
                <a:gd name="T10" fmla="*/ 0 w 7"/>
                <a:gd name="T11" fmla="*/ 3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7" name="Freeform 837"/>
            <p:cNvSpPr/>
            <p:nvPr/>
          </p:nvSpPr>
          <p:spPr bwMode="auto">
            <a:xfrm>
              <a:off x="3748" y="796"/>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8" name="Freeform 838"/>
            <p:cNvSpPr/>
            <p:nvPr/>
          </p:nvSpPr>
          <p:spPr bwMode="auto">
            <a:xfrm>
              <a:off x="3748" y="777"/>
              <a:ext cx="7" cy="12"/>
            </a:xfrm>
            <a:custGeom>
              <a:avLst/>
              <a:gdLst>
                <a:gd name="T0" fmla="*/ 0 w 7"/>
                <a:gd name="T1" fmla="*/ 8 h 12"/>
                <a:gd name="T2" fmla="*/ 0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0"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79" name="Freeform 839"/>
            <p:cNvSpPr/>
            <p:nvPr/>
          </p:nvSpPr>
          <p:spPr bwMode="auto">
            <a:xfrm>
              <a:off x="3748" y="758"/>
              <a:ext cx="7" cy="11"/>
            </a:xfrm>
            <a:custGeom>
              <a:avLst/>
              <a:gdLst>
                <a:gd name="T0" fmla="*/ 0 w 7"/>
                <a:gd name="T1" fmla="*/ 8 h 11"/>
                <a:gd name="T2" fmla="*/ 0 w 7"/>
                <a:gd name="T3" fmla="*/ 11 h 11"/>
                <a:gd name="T4" fmla="*/ 7 w 7"/>
                <a:gd name="T5" fmla="*/ 11 h 11"/>
                <a:gd name="T6" fmla="*/ 7 w 7"/>
                <a:gd name="T7" fmla="*/ 0 h 11"/>
                <a:gd name="T8" fmla="*/ 0 w 7"/>
                <a:gd name="T9" fmla="*/ 0 h 11"/>
                <a:gd name="T10" fmla="*/ 0 w 7"/>
                <a:gd name="T11" fmla="*/ 4 h 11"/>
                <a:gd name="T12" fmla="*/ 0 w 7"/>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8"/>
                  </a:moveTo>
                  <a:lnTo>
                    <a:pt x="0" y="11"/>
                  </a:lnTo>
                  <a:lnTo>
                    <a:pt x="7" y="11"/>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0" name="Freeform 840"/>
            <p:cNvSpPr/>
            <p:nvPr/>
          </p:nvSpPr>
          <p:spPr bwMode="auto">
            <a:xfrm>
              <a:off x="3748" y="739"/>
              <a:ext cx="7" cy="11"/>
            </a:xfrm>
            <a:custGeom>
              <a:avLst/>
              <a:gdLst>
                <a:gd name="T0" fmla="*/ 0 w 7"/>
                <a:gd name="T1" fmla="*/ 7 h 11"/>
                <a:gd name="T2" fmla="*/ 0 w 7"/>
                <a:gd name="T3" fmla="*/ 11 h 11"/>
                <a:gd name="T4" fmla="*/ 7 w 7"/>
                <a:gd name="T5" fmla="*/ 11 h 11"/>
                <a:gd name="T6" fmla="*/ 7 w 7"/>
                <a:gd name="T7" fmla="*/ 0 h 11"/>
                <a:gd name="T8" fmla="*/ 3 w 7"/>
                <a:gd name="T9" fmla="*/ 0 h 11"/>
                <a:gd name="T10" fmla="*/ 0 w 7"/>
                <a:gd name="T11" fmla="*/ 4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0" y="11"/>
                  </a:lnTo>
                  <a:lnTo>
                    <a:pt x="7" y="11"/>
                  </a:lnTo>
                  <a:lnTo>
                    <a:pt x="7" y="0"/>
                  </a:lnTo>
                  <a:lnTo>
                    <a:pt x="3"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1" name="Freeform 841"/>
            <p:cNvSpPr/>
            <p:nvPr/>
          </p:nvSpPr>
          <p:spPr bwMode="auto">
            <a:xfrm>
              <a:off x="3748" y="720"/>
              <a:ext cx="7" cy="11"/>
            </a:xfrm>
            <a:custGeom>
              <a:avLst/>
              <a:gdLst>
                <a:gd name="T0" fmla="*/ 0 w 7"/>
                <a:gd name="T1" fmla="*/ 7 h 11"/>
                <a:gd name="T2" fmla="*/ 3 w 7"/>
                <a:gd name="T3" fmla="*/ 11 h 11"/>
                <a:gd name="T4" fmla="*/ 7 w 7"/>
                <a:gd name="T5" fmla="*/ 11 h 11"/>
                <a:gd name="T6" fmla="*/ 7 w 7"/>
                <a:gd name="T7" fmla="*/ 0 h 11"/>
                <a:gd name="T8" fmla="*/ 0 w 7"/>
                <a:gd name="T9" fmla="*/ 0 h 11"/>
                <a:gd name="T10" fmla="*/ 0 w 7"/>
                <a:gd name="T11" fmla="*/ 3 h 11"/>
                <a:gd name="T12" fmla="*/ 0 w 7"/>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0" y="7"/>
                  </a:moveTo>
                  <a:lnTo>
                    <a:pt x="3" y="11"/>
                  </a:lnTo>
                  <a:lnTo>
                    <a:pt x="7" y="11"/>
                  </a:lnTo>
                  <a:lnTo>
                    <a:pt x="7"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2" name="Freeform 842"/>
            <p:cNvSpPr/>
            <p:nvPr/>
          </p:nvSpPr>
          <p:spPr bwMode="auto">
            <a:xfrm>
              <a:off x="3748" y="700"/>
              <a:ext cx="7" cy="12"/>
            </a:xfrm>
            <a:custGeom>
              <a:avLst/>
              <a:gdLst>
                <a:gd name="T0" fmla="*/ 0 w 7"/>
                <a:gd name="T1" fmla="*/ 8 h 12"/>
                <a:gd name="T2" fmla="*/ 3 w 7"/>
                <a:gd name="T3" fmla="*/ 12 h 12"/>
                <a:gd name="T4" fmla="*/ 7 w 7"/>
                <a:gd name="T5" fmla="*/ 12 h 12"/>
                <a:gd name="T6" fmla="*/ 7 w 7"/>
                <a:gd name="T7" fmla="*/ 0 h 12"/>
                <a:gd name="T8" fmla="*/ 3 w 7"/>
                <a:gd name="T9" fmla="*/ 0 h 12"/>
                <a:gd name="T10" fmla="*/ 3 w 7"/>
                <a:gd name="T11" fmla="*/ 4 h 12"/>
                <a:gd name="T12" fmla="*/ 0 w 7"/>
                <a:gd name="T13" fmla="*/ 4 h 12"/>
                <a:gd name="T14" fmla="*/ 0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8"/>
                  </a:moveTo>
                  <a:lnTo>
                    <a:pt x="3" y="12"/>
                  </a:lnTo>
                  <a:lnTo>
                    <a:pt x="7" y="12"/>
                  </a:lnTo>
                  <a:lnTo>
                    <a:pt x="7" y="0"/>
                  </a:lnTo>
                  <a:lnTo>
                    <a:pt x="3" y="0"/>
                  </a:lnTo>
                  <a:lnTo>
                    <a:pt x="3" y="4"/>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3" name="Freeform 843"/>
            <p:cNvSpPr/>
            <p:nvPr/>
          </p:nvSpPr>
          <p:spPr bwMode="auto">
            <a:xfrm>
              <a:off x="3748" y="681"/>
              <a:ext cx="7" cy="12"/>
            </a:xfrm>
            <a:custGeom>
              <a:avLst/>
              <a:gdLst>
                <a:gd name="T0" fmla="*/ 0 w 7"/>
                <a:gd name="T1" fmla="*/ 8 h 12"/>
                <a:gd name="T2" fmla="*/ 3 w 7"/>
                <a:gd name="T3" fmla="*/ 12 h 12"/>
                <a:gd name="T4" fmla="*/ 7 w 7"/>
                <a:gd name="T5" fmla="*/ 12 h 12"/>
                <a:gd name="T6" fmla="*/ 7 w 7"/>
                <a:gd name="T7" fmla="*/ 0 h 12"/>
                <a:gd name="T8" fmla="*/ 3 w 7"/>
                <a:gd name="T9" fmla="*/ 0 h 12"/>
                <a:gd name="T10" fmla="*/ 3 w 7"/>
                <a:gd name="T11" fmla="*/ 4 h 12"/>
                <a:gd name="T12" fmla="*/ 0 w 7"/>
                <a:gd name="T13" fmla="*/ 4 h 12"/>
                <a:gd name="T14" fmla="*/ 0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8"/>
                  </a:moveTo>
                  <a:lnTo>
                    <a:pt x="3" y="12"/>
                  </a:lnTo>
                  <a:lnTo>
                    <a:pt x="7" y="12"/>
                  </a:lnTo>
                  <a:lnTo>
                    <a:pt x="7" y="0"/>
                  </a:lnTo>
                  <a:lnTo>
                    <a:pt x="3" y="0"/>
                  </a:lnTo>
                  <a:lnTo>
                    <a:pt x="3" y="4"/>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4" name="Freeform 844"/>
            <p:cNvSpPr/>
            <p:nvPr/>
          </p:nvSpPr>
          <p:spPr bwMode="auto">
            <a:xfrm>
              <a:off x="3748" y="662"/>
              <a:ext cx="11" cy="11"/>
            </a:xfrm>
            <a:custGeom>
              <a:avLst/>
              <a:gdLst>
                <a:gd name="T0" fmla="*/ 0 w 11"/>
                <a:gd name="T1" fmla="*/ 8 h 11"/>
                <a:gd name="T2" fmla="*/ 3 w 11"/>
                <a:gd name="T3" fmla="*/ 8 h 11"/>
                <a:gd name="T4" fmla="*/ 3 w 11"/>
                <a:gd name="T5" fmla="*/ 11 h 11"/>
                <a:gd name="T6" fmla="*/ 7 w 11"/>
                <a:gd name="T7" fmla="*/ 11 h 11"/>
                <a:gd name="T8" fmla="*/ 7 w 11"/>
                <a:gd name="T9" fmla="*/ 8 h 11"/>
                <a:gd name="T10" fmla="*/ 11 w 11"/>
                <a:gd name="T11" fmla="*/ 4 h 11"/>
                <a:gd name="T12" fmla="*/ 7 w 11"/>
                <a:gd name="T13" fmla="*/ 4 h 11"/>
                <a:gd name="T14" fmla="*/ 7 w 11"/>
                <a:gd name="T15" fmla="*/ 0 h 11"/>
                <a:gd name="T16" fmla="*/ 3 w 11"/>
                <a:gd name="T17" fmla="*/ 0 h 11"/>
                <a:gd name="T18" fmla="*/ 3 w 11"/>
                <a:gd name="T19" fmla="*/ 4 h 11"/>
                <a:gd name="T20" fmla="*/ 0 w 11"/>
                <a:gd name="T21"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11">
                  <a:moveTo>
                    <a:pt x="0" y="8"/>
                  </a:moveTo>
                  <a:lnTo>
                    <a:pt x="3" y="8"/>
                  </a:lnTo>
                  <a:lnTo>
                    <a:pt x="3" y="11"/>
                  </a:lnTo>
                  <a:lnTo>
                    <a:pt x="7" y="11"/>
                  </a:lnTo>
                  <a:lnTo>
                    <a:pt x="7" y="8"/>
                  </a:lnTo>
                  <a:lnTo>
                    <a:pt x="11" y="4"/>
                  </a:lnTo>
                  <a:lnTo>
                    <a:pt x="7" y="4"/>
                  </a:lnTo>
                  <a:lnTo>
                    <a:pt x="7" y="0"/>
                  </a:lnTo>
                  <a:lnTo>
                    <a:pt x="3" y="0"/>
                  </a:lnTo>
                  <a:lnTo>
                    <a:pt x="3"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5" name="Freeform 845"/>
            <p:cNvSpPr/>
            <p:nvPr/>
          </p:nvSpPr>
          <p:spPr bwMode="auto">
            <a:xfrm>
              <a:off x="3751" y="643"/>
              <a:ext cx="8" cy="11"/>
            </a:xfrm>
            <a:custGeom>
              <a:avLst/>
              <a:gdLst>
                <a:gd name="T0" fmla="*/ 0 w 8"/>
                <a:gd name="T1" fmla="*/ 7 h 11"/>
                <a:gd name="T2" fmla="*/ 0 w 8"/>
                <a:gd name="T3" fmla="*/ 11 h 11"/>
                <a:gd name="T4" fmla="*/ 4 w 8"/>
                <a:gd name="T5" fmla="*/ 11 h 11"/>
                <a:gd name="T6" fmla="*/ 8 w 8"/>
                <a:gd name="T7" fmla="*/ 7 h 11"/>
                <a:gd name="T8" fmla="*/ 8 w 8"/>
                <a:gd name="T9" fmla="*/ 4 h 11"/>
                <a:gd name="T10" fmla="*/ 4 w 8"/>
                <a:gd name="T11" fmla="*/ 4 h 11"/>
                <a:gd name="T12" fmla="*/ 4 w 8"/>
                <a:gd name="T13" fmla="*/ 0 h 11"/>
                <a:gd name="T14" fmla="*/ 0 w 8"/>
                <a:gd name="T15" fmla="*/ 0 h 11"/>
                <a:gd name="T16" fmla="*/ 0 w 8"/>
                <a:gd name="T17" fmla="*/ 4 h 11"/>
                <a:gd name="T18" fmla="*/ 0 w 8"/>
                <a:gd name="T19"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11">
                  <a:moveTo>
                    <a:pt x="0" y="7"/>
                  </a:moveTo>
                  <a:lnTo>
                    <a:pt x="0" y="11"/>
                  </a:lnTo>
                  <a:lnTo>
                    <a:pt x="4" y="11"/>
                  </a:lnTo>
                  <a:lnTo>
                    <a:pt x="8" y="7"/>
                  </a:lnTo>
                  <a:lnTo>
                    <a:pt x="8" y="4"/>
                  </a:lnTo>
                  <a:lnTo>
                    <a:pt x="4" y="4"/>
                  </a:lnTo>
                  <a:lnTo>
                    <a:pt x="4"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6" name="Freeform 846"/>
            <p:cNvSpPr/>
            <p:nvPr/>
          </p:nvSpPr>
          <p:spPr bwMode="auto">
            <a:xfrm>
              <a:off x="3751" y="624"/>
              <a:ext cx="8" cy="11"/>
            </a:xfrm>
            <a:custGeom>
              <a:avLst/>
              <a:gdLst>
                <a:gd name="T0" fmla="*/ 0 w 8"/>
                <a:gd name="T1" fmla="*/ 7 h 11"/>
                <a:gd name="T2" fmla="*/ 0 w 8"/>
                <a:gd name="T3" fmla="*/ 11 h 11"/>
                <a:gd name="T4" fmla="*/ 4 w 8"/>
                <a:gd name="T5" fmla="*/ 11 h 11"/>
                <a:gd name="T6" fmla="*/ 8 w 8"/>
                <a:gd name="T7" fmla="*/ 7 h 11"/>
                <a:gd name="T8" fmla="*/ 8 w 8"/>
                <a:gd name="T9" fmla="*/ 3 h 11"/>
                <a:gd name="T10" fmla="*/ 4 w 8"/>
                <a:gd name="T11" fmla="*/ 0 h 11"/>
                <a:gd name="T12" fmla="*/ 0 w 8"/>
                <a:gd name="T13" fmla="*/ 0 h 11"/>
                <a:gd name="T14" fmla="*/ 0 w 8"/>
                <a:gd name="T15" fmla="*/ 3 h 11"/>
                <a:gd name="T16" fmla="*/ 0 w 8"/>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1">
                  <a:moveTo>
                    <a:pt x="0" y="7"/>
                  </a:moveTo>
                  <a:lnTo>
                    <a:pt x="0" y="11"/>
                  </a:lnTo>
                  <a:lnTo>
                    <a:pt x="4" y="11"/>
                  </a:lnTo>
                  <a:lnTo>
                    <a:pt x="8" y="7"/>
                  </a:lnTo>
                  <a:lnTo>
                    <a:pt x="8" y="3"/>
                  </a:lnTo>
                  <a:lnTo>
                    <a:pt x="4"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7" name="Freeform 847"/>
            <p:cNvSpPr/>
            <p:nvPr/>
          </p:nvSpPr>
          <p:spPr bwMode="auto">
            <a:xfrm>
              <a:off x="3751" y="604"/>
              <a:ext cx="8" cy="12"/>
            </a:xfrm>
            <a:custGeom>
              <a:avLst/>
              <a:gdLst>
                <a:gd name="T0" fmla="*/ 0 w 8"/>
                <a:gd name="T1" fmla="*/ 8 h 12"/>
                <a:gd name="T2" fmla="*/ 0 w 8"/>
                <a:gd name="T3" fmla="*/ 12 h 12"/>
                <a:gd name="T4" fmla="*/ 8 w 8"/>
                <a:gd name="T5" fmla="*/ 12 h 12"/>
                <a:gd name="T6" fmla="*/ 8 w 8"/>
                <a:gd name="T7" fmla="*/ 4 h 12"/>
                <a:gd name="T8" fmla="*/ 4 w 8"/>
                <a:gd name="T9" fmla="*/ 0 h 12"/>
                <a:gd name="T10" fmla="*/ 0 w 8"/>
                <a:gd name="T11" fmla="*/ 0 h 12"/>
                <a:gd name="T12" fmla="*/ 0 w 8"/>
                <a:gd name="T13" fmla="*/ 4 h 12"/>
                <a:gd name="T14" fmla="*/ 0 w 8"/>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8"/>
                  </a:moveTo>
                  <a:lnTo>
                    <a:pt x="0" y="12"/>
                  </a:lnTo>
                  <a:lnTo>
                    <a:pt x="8" y="12"/>
                  </a:lnTo>
                  <a:lnTo>
                    <a:pt x="8"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8" name="Freeform 848"/>
            <p:cNvSpPr/>
            <p:nvPr/>
          </p:nvSpPr>
          <p:spPr bwMode="auto">
            <a:xfrm>
              <a:off x="3751" y="585"/>
              <a:ext cx="8" cy="12"/>
            </a:xfrm>
            <a:custGeom>
              <a:avLst/>
              <a:gdLst>
                <a:gd name="T0" fmla="*/ 0 w 8"/>
                <a:gd name="T1" fmla="*/ 8 h 12"/>
                <a:gd name="T2" fmla="*/ 0 w 8"/>
                <a:gd name="T3" fmla="*/ 12 h 12"/>
                <a:gd name="T4" fmla="*/ 8 w 8"/>
                <a:gd name="T5" fmla="*/ 12 h 12"/>
                <a:gd name="T6" fmla="*/ 8 w 8"/>
                <a:gd name="T7" fmla="*/ 4 h 12"/>
                <a:gd name="T8" fmla="*/ 4 w 8"/>
                <a:gd name="T9" fmla="*/ 0 h 12"/>
                <a:gd name="T10" fmla="*/ 0 w 8"/>
                <a:gd name="T11" fmla="*/ 0 h 12"/>
                <a:gd name="T12" fmla="*/ 0 w 8"/>
                <a:gd name="T13" fmla="*/ 4 h 12"/>
                <a:gd name="T14" fmla="*/ 0 w 8"/>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8"/>
                  </a:moveTo>
                  <a:lnTo>
                    <a:pt x="0" y="12"/>
                  </a:lnTo>
                  <a:lnTo>
                    <a:pt x="8" y="12"/>
                  </a:lnTo>
                  <a:lnTo>
                    <a:pt x="8" y="4"/>
                  </a:lnTo>
                  <a:lnTo>
                    <a:pt x="4"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89" name="Freeform 849"/>
            <p:cNvSpPr/>
            <p:nvPr/>
          </p:nvSpPr>
          <p:spPr bwMode="auto">
            <a:xfrm>
              <a:off x="3751" y="566"/>
              <a:ext cx="8" cy="12"/>
            </a:xfrm>
            <a:custGeom>
              <a:avLst/>
              <a:gdLst>
                <a:gd name="T0" fmla="*/ 0 w 8"/>
                <a:gd name="T1" fmla="*/ 8 h 12"/>
                <a:gd name="T2" fmla="*/ 0 w 8"/>
                <a:gd name="T3" fmla="*/ 12 h 12"/>
                <a:gd name="T4" fmla="*/ 8 w 8"/>
                <a:gd name="T5" fmla="*/ 12 h 12"/>
                <a:gd name="T6" fmla="*/ 8 w 8"/>
                <a:gd name="T7" fmla="*/ 0 h 12"/>
                <a:gd name="T8" fmla="*/ 0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0" name="Freeform 850"/>
            <p:cNvSpPr/>
            <p:nvPr/>
          </p:nvSpPr>
          <p:spPr bwMode="auto">
            <a:xfrm>
              <a:off x="3751" y="547"/>
              <a:ext cx="8" cy="11"/>
            </a:xfrm>
            <a:custGeom>
              <a:avLst/>
              <a:gdLst>
                <a:gd name="T0" fmla="*/ 0 w 8"/>
                <a:gd name="T1" fmla="*/ 7 h 11"/>
                <a:gd name="T2" fmla="*/ 0 w 8"/>
                <a:gd name="T3" fmla="*/ 11 h 11"/>
                <a:gd name="T4" fmla="*/ 8 w 8"/>
                <a:gd name="T5" fmla="*/ 11 h 11"/>
                <a:gd name="T6" fmla="*/ 8 w 8"/>
                <a:gd name="T7" fmla="*/ 0 h 11"/>
                <a:gd name="T8" fmla="*/ 0 w 8"/>
                <a:gd name="T9" fmla="*/ 0 h 11"/>
                <a:gd name="T10" fmla="*/ 0 w 8"/>
                <a:gd name="T11" fmla="*/ 4 h 11"/>
                <a:gd name="T12" fmla="*/ 0 w 8"/>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7"/>
                  </a:moveTo>
                  <a:lnTo>
                    <a:pt x="0" y="11"/>
                  </a:lnTo>
                  <a:lnTo>
                    <a:pt x="8" y="11"/>
                  </a:lnTo>
                  <a:lnTo>
                    <a:pt x="8"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1" name="Freeform 851"/>
            <p:cNvSpPr/>
            <p:nvPr/>
          </p:nvSpPr>
          <p:spPr bwMode="auto">
            <a:xfrm>
              <a:off x="3751" y="528"/>
              <a:ext cx="8" cy="11"/>
            </a:xfrm>
            <a:custGeom>
              <a:avLst/>
              <a:gdLst>
                <a:gd name="T0" fmla="*/ 0 w 8"/>
                <a:gd name="T1" fmla="*/ 7 h 11"/>
                <a:gd name="T2" fmla="*/ 0 w 8"/>
                <a:gd name="T3" fmla="*/ 11 h 11"/>
                <a:gd name="T4" fmla="*/ 8 w 8"/>
                <a:gd name="T5" fmla="*/ 11 h 11"/>
                <a:gd name="T6" fmla="*/ 8 w 8"/>
                <a:gd name="T7" fmla="*/ 0 h 11"/>
                <a:gd name="T8" fmla="*/ 0 w 8"/>
                <a:gd name="T9" fmla="*/ 0 h 11"/>
                <a:gd name="T10" fmla="*/ 0 w 8"/>
                <a:gd name="T11" fmla="*/ 3 h 11"/>
                <a:gd name="T12" fmla="*/ 0 w 8"/>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7"/>
                  </a:moveTo>
                  <a:lnTo>
                    <a:pt x="0" y="11"/>
                  </a:lnTo>
                  <a:lnTo>
                    <a:pt x="8" y="11"/>
                  </a:lnTo>
                  <a:lnTo>
                    <a:pt x="8"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2" name="Freeform 852"/>
            <p:cNvSpPr/>
            <p:nvPr/>
          </p:nvSpPr>
          <p:spPr bwMode="auto">
            <a:xfrm>
              <a:off x="3751" y="508"/>
              <a:ext cx="8" cy="12"/>
            </a:xfrm>
            <a:custGeom>
              <a:avLst/>
              <a:gdLst>
                <a:gd name="T0" fmla="*/ 0 w 8"/>
                <a:gd name="T1" fmla="*/ 8 h 12"/>
                <a:gd name="T2" fmla="*/ 0 w 8"/>
                <a:gd name="T3" fmla="*/ 12 h 12"/>
                <a:gd name="T4" fmla="*/ 8 w 8"/>
                <a:gd name="T5" fmla="*/ 12 h 12"/>
                <a:gd name="T6" fmla="*/ 8 w 8"/>
                <a:gd name="T7" fmla="*/ 0 h 12"/>
                <a:gd name="T8" fmla="*/ 0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3" name="Freeform 853"/>
            <p:cNvSpPr/>
            <p:nvPr/>
          </p:nvSpPr>
          <p:spPr bwMode="auto">
            <a:xfrm>
              <a:off x="3045" y="1272"/>
              <a:ext cx="12" cy="12"/>
            </a:xfrm>
            <a:custGeom>
              <a:avLst/>
              <a:gdLst>
                <a:gd name="T0" fmla="*/ 0 w 12"/>
                <a:gd name="T1" fmla="*/ 4 h 12"/>
                <a:gd name="T2" fmla="*/ 0 w 12"/>
                <a:gd name="T3" fmla="*/ 12 h 12"/>
                <a:gd name="T4" fmla="*/ 8 w 12"/>
                <a:gd name="T5" fmla="*/ 12 h 12"/>
                <a:gd name="T6" fmla="*/ 8 w 12"/>
                <a:gd name="T7" fmla="*/ 8 h 12"/>
                <a:gd name="T8" fmla="*/ 12 w 12"/>
                <a:gd name="T9" fmla="*/ 8 h 12"/>
                <a:gd name="T10" fmla="*/ 12 w 12"/>
                <a:gd name="T11" fmla="*/ 4 h 12"/>
                <a:gd name="T12" fmla="*/ 8 w 12"/>
                <a:gd name="T13" fmla="*/ 4 h 12"/>
                <a:gd name="T14" fmla="*/ 8 w 12"/>
                <a:gd name="T15" fmla="*/ 0 h 12"/>
                <a:gd name="T16" fmla="*/ 8 w 12"/>
                <a:gd name="T17" fmla="*/ 4 h 12"/>
                <a:gd name="T18" fmla="*/ 4 w 12"/>
                <a:gd name="T19" fmla="*/ 4 h 12"/>
                <a:gd name="T20" fmla="*/ 0 w 12"/>
                <a:gd name="T2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12">
                  <a:moveTo>
                    <a:pt x="0" y="4"/>
                  </a:moveTo>
                  <a:lnTo>
                    <a:pt x="0" y="12"/>
                  </a:lnTo>
                  <a:lnTo>
                    <a:pt x="8" y="12"/>
                  </a:lnTo>
                  <a:lnTo>
                    <a:pt x="8" y="8"/>
                  </a:lnTo>
                  <a:lnTo>
                    <a:pt x="12" y="8"/>
                  </a:lnTo>
                  <a:lnTo>
                    <a:pt x="12" y="4"/>
                  </a:lnTo>
                  <a:lnTo>
                    <a:pt x="8" y="4"/>
                  </a:lnTo>
                  <a:lnTo>
                    <a:pt x="8" y="0"/>
                  </a:lnTo>
                  <a:lnTo>
                    <a:pt x="8" y="4"/>
                  </a:lnTo>
                  <a:lnTo>
                    <a:pt x="4"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4" name="Freeform 854"/>
            <p:cNvSpPr/>
            <p:nvPr/>
          </p:nvSpPr>
          <p:spPr bwMode="auto">
            <a:xfrm>
              <a:off x="3060" y="1265"/>
              <a:ext cx="12" cy="7"/>
            </a:xfrm>
            <a:custGeom>
              <a:avLst/>
              <a:gdLst>
                <a:gd name="T0" fmla="*/ 4 w 12"/>
                <a:gd name="T1" fmla="*/ 4 h 7"/>
                <a:gd name="T2" fmla="*/ 0 w 12"/>
                <a:gd name="T3" fmla="*/ 4 h 7"/>
                <a:gd name="T4" fmla="*/ 0 w 12"/>
                <a:gd name="T5" fmla="*/ 7 h 7"/>
                <a:gd name="T6" fmla="*/ 12 w 12"/>
                <a:gd name="T7" fmla="*/ 7 h 7"/>
                <a:gd name="T8" fmla="*/ 12 w 12"/>
                <a:gd name="T9" fmla="*/ 0 h 7"/>
                <a:gd name="T10" fmla="*/ 8 w 12"/>
                <a:gd name="T11" fmla="*/ 0 h 7"/>
                <a:gd name="T12" fmla="*/ 4 w 12"/>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4"/>
                  </a:moveTo>
                  <a:lnTo>
                    <a:pt x="0" y="4"/>
                  </a:lnTo>
                  <a:lnTo>
                    <a:pt x="0" y="7"/>
                  </a:lnTo>
                  <a:lnTo>
                    <a:pt x="12" y="7"/>
                  </a:lnTo>
                  <a:lnTo>
                    <a:pt x="12" y="0"/>
                  </a:lnTo>
                  <a:lnTo>
                    <a:pt x="8" y="0"/>
                  </a:lnTo>
                  <a:lnTo>
                    <a:pt x="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5" name="Freeform 855"/>
            <p:cNvSpPr/>
            <p:nvPr/>
          </p:nvSpPr>
          <p:spPr bwMode="auto">
            <a:xfrm>
              <a:off x="3080" y="1253"/>
              <a:ext cx="7" cy="12"/>
            </a:xfrm>
            <a:custGeom>
              <a:avLst/>
              <a:gdLst>
                <a:gd name="T0" fmla="*/ 0 w 7"/>
                <a:gd name="T1" fmla="*/ 4 h 12"/>
                <a:gd name="T2" fmla="*/ 0 w 7"/>
                <a:gd name="T3" fmla="*/ 12 h 12"/>
                <a:gd name="T4" fmla="*/ 3 w 7"/>
                <a:gd name="T5" fmla="*/ 12 h 12"/>
                <a:gd name="T6" fmla="*/ 7 w 7"/>
                <a:gd name="T7" fmla="*/ 8 h 12"/>
                <a:gd name="T8" fmla="*/ 7 w 7"/>
                <a:gd name="T9" fmla="*/ 0 h 12"/>
                <a:gd name="T10" fmla="*/ 3 w 7"/>
                <a:gd name="T11" fmla="*/ 0 h 12"/>
                <a:gd name="T12" fmla="*/ 0 w 7"/>
                <a:gd name="T13" fmla="*/ 4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4"/>
                  </a:moveTo>
                  <a:lnTo>
                    <a:pt x="0" y="12"/>
                  </a:lnTo>
                  <a:lnTo>
                    <a:pt x="3" y="12"/>
                  </a:lnTo>
                  <a:lnTo>
                    <a:pt x="7" y="8"/>
                  </a:lnTo>
                  <a:lnTo>
                    <a:pt x="7" y="0"/>
                  </a:lnTo>
                  <a:lnTo>
                    <a:pt x="3"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6" name="Freeform 856"/>
            <p:cNvSpPr/>
            <p:nvPr/>
          </p:nvSpPr>
          <p:spPr bwMode="auto">
            <a:xfrm>
              <a:off x="3095" y="1246"/>
              <a:ext cx="11" cy="7"/>
            </a:xfrm>
            <a:custGeom>
              <a:avLst/>
              <a:gdLst>
                <a:gd name="T0" fmla="*/ 0 w 11"/>
                <a:gd name="T1" fmla="*/ 0 h 7"/>
                <a:gd name="T2" fmla="*/ 0 w 11"/>
                <a:gd name="T3" fmla="*/ 7 h 7"/>
                <a:gd name="T4" fmla="*/ 8 w 11"/>
                <a:gd name="T5" fmla="*/ 7 h 7"/>
                <a:gd name="T6" fmla="*/ 8 w 11"/>
                <a:gd name="T7" fmla="*/ 3 h 7"/>
                <a:gd name="T8" fmla="*/ 11 w 11"/>
                <a:gd name="T9" fmla="*/ 3 h 7"/>
                <a:gd name="T10" fmla="*/ 11 w 11"/>
                <a:gd name="T11" fmla="*/ 0 h 7"/>
                <a:gd name="T12" fmla="*/ 4 w 11"/>
                <a:gd name="T13" fmla="*/ 0 h 7"/>
                <a:gd name="T14" fmla="*/ 0 w 11"/>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7">
                  <a:moveTo>
                    <a:pt x="0" y="0"/>
                  </a:moveTo>
                  <a:lnTo>
                    <a:pt x="0" y="7"/>
                  </a:lnTo>
                  <a:lnTo>
                    <a:pt x="8" y="7"/>
                  </a:lnTo>
                  <a:lnTo>
                    <a:pt x="8" y="3"/>
                  </a:lnTo>
                  <a:lnTo>
                    <a:pt x="11" y="3"/>
                  </a:lnTo>
                  <a:lnTo>
                    <a:pt x="11" y="0"/>
                  </a:lnTo>
                  <a:lnTo>
                    <a:pt x="4"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7" name="Freeform 857"/>
            <p:cNvSpPr/>
            <p:nvPr/>
          </p:nvSpPr>
          <p:spPr bwMode="auto">
            <a:xfrm>
              <a:off x="3110" y="1234"/>
              <a:ext cx="12" cy="12"/>
            </a:xfrm>
            <a:custGeom>
              <a:avLst/>
              <a:gdLst>
                <a:gd name="T0" fmla="*/ 4 w 12"/>
                <a:gd name="T1" fmla="*/ 4 h 12"/>
                <a:gd name="T2" fmla="*/ 0 w 12"/>
                <a:gd name="T3" fmla="*/ 4 h 12"/>
                <a:gd name="T4" fmla="*/ 0 w 12"/>
                <a:gd name="T5" fmla="*/ 8 h 12"/>
                <a:gd name="T6" fmla="*/ 4 w 12"/>
                <a:gd name="T7" fmla="*/ 8 h 12"/>
                <a:gd name="T8" fmla="*/ 4 w 12"/>
                <a:gd name="T9" fmla="*/ 12 h 12"/>
                <a:gd name="T10" fmla="*/ 8 w 12"/>
                <a:gd name="T11" fmla="*/ 8 h 12"/>
                <a:gd name="T12" fmla="*/ 12 w 12"/>
                <a:gd name="T13" fmla="*/ 8 h 12"/>
                <a:gd name="T14" fmla="*/ 12 w 12"/>
                <a:gd name="T15" fmla="*/ 0 h 12"/>
                <a:gd name="T16" fmla="*/ 4 w 12"/>
                <a:gd name="T17" fmla="*/ 0 h 12"/>
                <a:gd name="T18" fmla="*/ 4 w 12"/>
                <a:gd name="T19"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2">
                  <a:moveTo>
                    <a:pt x="4" y="4"/>
                  </a:moveTo>
                  <a:lnTo>
                    <a:pt x="0" y="4"/>
                  </a:lnTo>
                  <a:lnTo>
                    <a:pt x="0" y="8"/>
                  </a:lnTo>
                  <a:lnTo>
                    <a:pt x="4" y="8"/>
                  </a:lnTo>
                  <a:lnTo>
                    <a:pt x="4" y="12"/>
                  </a:lnTo>
                  <a:lnTo>
                    <a:pt x="8" y="8"/>
                  </a:lnTo>
                  <a:lnTo>
                    <a:pt x="12" y="8"/>
                  </a:lnTo>
                  <a:lnTo>
                    <a:pt x="12" y="0"/>
                  </a:lnTo>
                  <a:lnTo>
                    <a:pt x="4" y="0"/>
                  </a:lnTo>
                  <a:lnTo>
                    <a:pt x="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8" name="Freeform 858"/>
            <p:cNvSpPr/>
            <p:nvPr/>
          </p:nvSpPr>
          <p:spPr bwMode="auto">
            <a:xfrm>
              <a:off x="3126" y="1223"/>
              <a:ext cx="11" cy="11"/>
            </a:xfrm>
            <a:custGeom>
              <a:avLst/>
              <a:gdLst>
                <a:gd name="T0" fmla="*/ 4 w 11"/>
                <a:gd name="T1" fmla="*/ 3 h 11"/>
                <a:gd name="T2" fmla="*/ 0 w 11"/>
                <a:gd name="T3" fmla="*/ 7 h 11"/>
                <a:gd name="T4" fmla="*/ 4 w 11"/>
                <a:gd name="T5" fmla="*/ 11 h 11"/>
                <a:gd name="T6" fmla="*/ 7 w 11"/>
                <a:gd name="T7" fmla="*/ 11 h 11"/>
                <a:gd name="T8" fmla="*/ 11 w 11"/>
                <a:gd name="T9" fmla="*/ 7 h 11"/>
                <a:gd name="T10" fmla="*/ 11 w 11"/>
                <a:gd name="T11" fmla="*/ 3 h 11"/>
                <a:gd name="T12" fmla="*/ 7 w 11"/>
                <a:gd name="T13" fmla="*/ 3 h 11"/>
                <a:gd name="T14" fmla="*/ 7 w 11"/>
                <a:gd name="T15" fmla="*/ 0 h 11"/>
                <a:gd name="T16" fmla="*/ 7 w 11"/>
                <a:gd name="T17" fmla="*/ 3 h 11"/>
                <a:gd name="T18" fmla="*/ 4 w 11"/>
                <a:gd name="T19"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1">
                  <a:moveTo>
                    <a:pt x="4" y="3"/>
                  </a:moveTo>
                  <a:lnTo>
                    <a:pt x="0" y="7"/>
                  </a:lnTo>
                  <a:lnTo>
                    <a:pt x="4" y="11"/>
                  </a:lnTo>
                  <a:lnTo>
                    <a:pt x="7" y="11"/>
                  </a:lnTo>
                  <a:lnTo>
                    <a:pt x="11" y="7"/>
                  </a:lnTo>
                  <a:lnTo>
                    <a:pt x="11" y="3"/>
                  </a:lnTo>
                  <a:lnTo>
                    <a:pt x="7" y="3"/>
                  </a:lnTo>
                  <a:lnTo>
                    <a:pt x="7" y="0"/>
                  </a:lnTo>
                  <a:lnTo>
                    <a:pt x="7" y="3"/>
                  </a:lnTo>
                  <a:lnTo>
                    <a:pt x="4" y="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099" name="Freeform 859"/>
            <p:cNvSpPr/>
            <p:nvPr/>
          </p:nvSpPr>
          <p:spPr bwMode="auto">
            <a:xfrm>
              <a:off x="3145" y="1215"/>
              <a:ext cx="8" cy="8"/>
            </a:xfrm>
            <a:custGeom>
              <a:avLst/>
              <a:gdLst>
                <a:gd name="T0" fmla="*/ 0 w 8"/>
                <a:gd name="T1" fmla="*/ 4 h 8"/>
                <a:gd name="T2" fmla="*/ 0 w 8"/>
                <a:gd name="T3" fmla="*/ 8 h 8"/>
                <a:gd name="T4" fmla="*/ 8 w 8"/>
                <a:gd name="T5" fmla="*/ 8 h 8"/>
                <a:gd name="T6" fmla="*/ 8 w 8"/>
                <a:gd name="T7" fmla="*/ 0 h 8"/>
                <a:gd name="T8" fmla="*/ 4 w 8"/>
                <a:gd name="T9" fmla="*/ 0 h 8"/>
                <a:gd name="T10" fmla="*/ 0 w 8"/>
                <a:gd name="T11" fmla="*/ 4 h 8"/>
              </a:gdLst>
              <a:ahLst/>
              <a:cxnLst>
                <a:cxn ang="0">
                  <a:pos x="T0" y="T1"/>
                </a:cxn>
                <a:cxn ang="0">
                  <a:pos x="T2" y="T3"/>
                </a:cxn>
                <a:cxn ang="0">
                  <a:pos x="T4" y="T5"/>
                </a:cxn>
                <a:cxn ang="0">
                  <a:pos x="T6" y="T7"/>
                </a:cxn>
                <a:cxn ang="0">
                  <a:pos x="T8" y="T9"/>
                </a:cxn>
                <a:cxn ang="0">
                  <a:pos x="T10" y="T11"/>
                </a:cxn>
              </a:cxnLst>
              <a:rect l="0" t="0" r="r" b="b"/>
              <a:pathLst>
                <a:path w="8" h="8">
                  <a:moveTo>
                    <a:pt x="0" y="4"/>
                  </a:moveTo>
                  <a:lnTo>
                    <a:pt x="0" y="8"/>
                  </a:lnTo>
                  <a:lnTo>
                    <a:pt x="8" y="8"/>
                  </a:lnTo>
                  <a:lnTo>
                    <a:pt x="8"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0" name="Freeform 860"/>
            <p:cNvSpPr/>
            <p:nvPr/>
          </p:nvSpPr>
          <p:spPr bwMode="auto">
            <a:xfrm>
              <a:off x="3160" y="1203"/>
              <a:ext cx="12" cy="12"/>
            </a:xfrm>
            <a:custGeom>
              <a:avLst/>
              <a:gdLst>
                <a:gd name="T0" fmla="*/ 0 w 12"/>
                <a:gd name="T1" fmla="*/ 4 h 12"/>
                <a:gd name="T2" fmla="*/ 0 w 12"/>
                <a:gd name="T3" fmla="*/ 12 h 12"/>
                <a:gd name="T4" fmla="*/ 4 w 12"/>
                <a:gd name="T5" fmla="*/ 12 h 12"/>
                <a:gd name="T6" fmla="*/ 8 w 12"/>
                <a:gd name="T7" fmla="*/ 8 h 12"/>
                <a:gd name="T8" fmla="*/ 12 w 12"/>
                <a:gd name="T9" fmla="*/ 8 h 12"/>
                <a:gd name="T10" fmla="*/ 12 w 12"/>
                <a:gd name="T11" fmla="*/ 4 h 12"/>
                <a:gd name="T12" fmla="*/ 8 w 12"/>
                <a:gd name="T13" fmla="*/ 4 h 12"/>
                <a:gd name="T14" fmla="*/ 8 w 12"/>
                <a:gd name="T15" fmla="*/ 0 h 12"/>
                <a:gd name="T16" fmla="*/ 4 w 12"/>
                <a:gd name="T17" fmla="*/ 0 h 12"/>
                <a:gd name="T18" fmla="*/ 0 w 12"/>
                <a:gd name="T19"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2">
                  <a:moveTo>
                    <a:pt x="0" y="4"/>
                  </a:moveTo>
                  <a:lnTo>
                    <a:pt x="0" y="12"/>
                  </a:lnTo>
                  <a:lnTo>
                    <a:pt x="4" y="12"/>
                  </a:lnTo>
                  <a:lnTo>
                    <a:pt x="8" y="8"/>
                  </a:lnTo>
                  <a:lnTo>
                    <a:pt x="12" y="8"/>
                  </a:lnTo>
                  <a:lnTo>
                    <a:pt x="12" y="4"/>
                  </a:lnTo>
                  <a:lnTo>
                    <a:pt x="8" y="4"/>
                  </a:lnTo>
                  <a:lnTo>
                    <a:pt x="8"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1" name="Freeform 861"/>
            <p:cNvSpPr/>
            <p:nvPr/>
          </p:nvSpPr>
          <p:spPr bwMode="auto">
            <a:xfrm>
              <a:off x="3176" y="1196"/>
              <a:ext cx="11" cy="7"/>
            </a:xfrm>
            <a:custGeom>
              <a:avLst/>
              <a:gdLst>
                <a:gd name="T0" fmla="*/ 3 w 11"/>
                <a:gd name="T1" fmla="*/ 0 h 7"/>
                <a:gd name="T2" fmla="*/ 0 w 11"/>
                <a:gd name="T3" fmla="*/ 3 h 7"/>
                <a:gd name="T4" fmla="*/ 0 w 11"/>
                <a:gd name="T5" fmla="*/ 7 h 7"/>
                <a:gd name="T6" fmla="*/ 11 w 11"/>
                <a:gd name="T7" fmla="*/ 7 h 7"/>
                <a:gd name="T8" fmla="*/ 11 w 11"/>
                <a:gd name="T9" fmla="*/ 0 h 7"/>
                <a:gd name="T10" fmla="*/ 3 w 11"/>
                <a:gd name="T11" fmla="*/ 0 h 7"/>
              </a:gdLst>
              <a:ahLst/>
              <a:cxnLst>
                <a:cxn ang="0">
                  <a:pos x="T0" y="T1"/>
                </a:cxn>
                <a:cxn ang="0">
                  <a:pos x="T2" y="T3"/>
                </a:cxn>
                <a:cxn ang="0">
                  <a:pos x="T4" y="T5"/>
                </a:cxn>
                <a:cxn ang="0">
                  <a:pos x="T6" y="T7"/>
                </a:cxn>
                <a:cxn ang="0">
                  <a:pos x="T8" y="T9"/>
                </a:cxn>
                <a:cxn ang="0">
                  <a:pos x="T10" y="T11"/>
                </a:cxn>
              </a:cxnLst>
              <a:rect l="0" t="0" r="r" b="b"/>
              <a:pathLst>
                <a:path w="11" h="7">
                  <a:moveTo>
                    <a:pt x="3" y="0"/>
                  </a:moveTo>
                  <a:lnTo>
                    <a:pt x="0" y="3"/>
                  </a:lnTo>
                  <a:lnTo>
                    <a:pt x="0" y="7"/>
                  </a:lnTo>
                  <a:lnTo>
                    <a:pt x="11" y="7"/>
                  </a:lnTo>
                  <a:lnTo>
                    <a:pt x="11" y="0"/>
                  </a:lnTo>
                  <a:lnTo>
                    <a:pt x="3"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2" name="Freeform 862"/>
            <p:cNvSpPr/>
            <p:nvPr/>
          </p:nvSpPr>
          <p:spPr bwMode="auto">
            <a:xfrm>
              <a:off x="3191" y="1184"/>
              <a:ext cx="11" cy="12"/>
            </a:xfrm>
            <a:custGeom>
              <a:avLst/>
              <a:gdLst>
                <a:gd name="T0" fmla="*/ 4 w 11"/>
                <a:gd name="T1" fmla="*/ 4 h 12"/>
                <a:gd name="T2" fmla="*/ 0 w 11"/>
                <a:gd name="T3" fmla="*/ 4 h 12"/>
                <a:gd name="T4" fmla="*/ 0 w 11"/>
                <a:gd name="T5" fmla="*/ 8 h 12"/>
                <a:gd name="T6" fmla="*/ 4 w 11"/>
                <a:gd name="T7" fmla="*/ 8 h 12"/>
                <a:gd name="T8" fmla="*/ 4 w 11"/>
                <a:gd name="T9" fmla="*/ 12 h 12"/>
                <a:gd name="T10" fmla="*/ 8 w 11"/>
                <a:gd name="T11" fmla="*/ 12 h 12"/>
                <a:gd name="T12" fmla="*/ 8 w 11"/>
                <a:gd name="T13" fmla="*/ 8 h 12"/>
                <a:gd name="T14" fmla="*/ 11 w 11"/>
                <a:gd name="T15" fmla="*/ 8 h 12"/>
                <a:gd name="T16" fmla="*/ 11 w 11"/>
                <a:gd name="T17" fmla="*/ 0 h 12"/>
                <a:gd name="T18" fmla="*/ 8 w 11"/>
                <a:gd name="T19" fmla="*/ 0 h 12"/>
                <a:gd name="T20" fmla="*/ 4 w 11"/>
                <a:gd name="T2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12">
                  <a:moveTo>
                    <a:pt x="4" y="4"/>
                  </a:moveTo>
                  <a:lnTo>
                    <a:pt x="0" y="4"/>
                  </a:lnTo>
                  <a:lnTo>
                    <a:pt x="0" y="8"/>
                  </a:lnTo>
                  <a:lnTo>
                    <a:pt x="4" y="8"/>
                  </a:lnTo>
                  <a:lnTo>
                    <a:pt x="4" y="12"/>
                  </a:lnTo>
                  <a:lnTo>
                    <a:pt x="8" y="12"/>
                  </a:lnTo>
                  <a:lnTo>
                    <a:pt x="8" y="8"/>
                  </a:lnTo>
                  <a:lnTo>
                    <a:pt x="11" y="8"/>
                  </a:lnTo>
                  <a:lnTo>
                    <a:pt x="11" y="0"/>
                  </a:lnTo>
                  <a:lnTo>
                    <a:pt x="8" y="0"/>
                  </a:lnTo>
                  <a:lnTo>
                    <a:pt x="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3" name="Freeform 863"/>
            <p:cNvSpPr/>
            <p:nvPr/>
          </p:nvSpPr>
          <p:spPr bwMode="auto">
            <a:xfrm>
              <a:off x="3210" y="1173"/>
              <a:ext cx="12" cy="11"/>
            </a:xfrm>
            <a:custGeom>
              <a:avLst/>
              <a:gdLst>
                <a:gd name="T0" fmla="*/ 0 w 12"/>
                <a:gd name="T1" fmla="*/ 3 h 11"/>
                <a:gd name="T2" fmla="*/ 0 w 12"/>
                <a:gd name="T3" fmla="*/ 11 h 11"/>
                <a:gd name="T4" fmla="*/ 4 w 12"/>
                <a:gd name="T5" fmla="*/ 11 h 11"/>
                <a:gd name="T6" fmla="*/ 8 w 12"/>
                <a:gd name="T7" fmla="*/ 7 h 11"/>
                <a:gd name="T8" fmla="*/ 12 w 12"/>
                <a:gd name="T9" fmla="*/ 7 h 11"/>
                <a:gd name="T10" fmla="*/ 12 w 12"/>
                <a:gd name="T11" fmla="*/ 3 h 11"/>
                <a:gd name="T12" fmla="*/ 8 w 12"/>
                <a:gd name="T13" fmla="*/ 3 h 11"/>
                <a:gd name="T14" fmla="*/ 8 w 12"/>
                <a:gd name="T15" fmla="*/ 0 h 11"/>
                <a:gd name="T16" fmla="*/ 4 w 12"/>
                <a:gd name="T17" fmla="*/ 3 h 11"/>
                <a:gd name="T18" fmla="*/ 0 w 12"/>
                <a:gd name="T19"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1">
                  <a:moveTo>
                    <a:pt x="0" y="3"/>
                  </a:moveTo>
                  <a:lnTo>
                    <a:pt x="0" y="11"/>
                  </a:lnTo>
                  <a:lnTo>
                    <a:pt x="4" y="11"/>
                  </a:lnTo>
                  <a:lnTo>
                    <a:pt x="8" y="7"/>
                  </a:lnTo>
                  <a:lnTo>
                    <a:pt x="12" y="7"/>
                  </a:lnTo>
                  <a:lnTo>
                    <a:pt x="12" y="3"/>
                  </a:lnTo>
                  <a:lnTo>
                    <a:pt x="8" y="3"/>
                  </a:lnTo>
                  <a:lnTo>
                    <a:pt x="8" y="0"/>
                  </a:lnTo>
                  <a:lnTo>
                    <a:pt x="4" y="3"/>
                  </a:lnTo>
                  <a:lnTo>
                    <a:pt x="0" y="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4" name="Freeform 864"/>
            <p:cNvSpPr/>
            <p:nvPr/>
          </p:nvSpPr>
          <p:spPr bwMode="auto">
            <a:xfrm>
              <a:off x="3225" y="1165"/>
              <a:ext cx="12" cy="8"/>
            </a:xfrm>
            <a:custGeom>
              <a:avLst/>
              <a:gdLst>
                <a:gd name="T0" fmla="*/ 0 w 12"/>
                <a:gd name="T1" fmla="*/ 4 h 8"/>
                <a:gd name="T2" fmla="*/ 0 w 12"/>
                <a:gd name="T3" fmla="*/ 8 h 8"/>
                <a:gd name="T4" fmla="*/ 12 w 12"/>
                <a:gd name="T5" fmla="*/ 8 h 8"/>
                <a:gd name="T6" fmla="*/ 12 w 12"/>
                <a:gd name="T7" fmla="*/ 0 h 8"/>
                <a:gd name="T8" fmla="*/ 4 w 12"/>
                <a:gd name="T9" fmla="*/ 0 h 8"/>
                <a:gd name="T10" fmla="*/ 0 w 12"/>
                <a:gd name="T11" fmla="*/ 4 h 8"/>
              </a:gdLst>
              <a:ahLst/>
              <a:cxnLst>
                <a:cxn ang="0">
                  <a:pos x="T0" y="T1"/>
                </a:cxn>
                <a:cxn ang="0">
                  <a:pos x="T2" y="T3"/>
                </a:cxn>
                <a:cxn ang="0">
                  <a:pos x="T4" y="T5"/>
                </a:cxn>
                <a:cxn ang="0">
                  <a:pos x="T6" y="T7"/>
                </a:cxn>
                <a:cxn ang="0">
                  <a:pos x="T8" y="T9"/>
                </a:cxn>
                <a:cxn ang="0">
                  <a:pos x="T10" y="T11"/>
                </a:cxn>
              </a:cxnLst>
              <a:rect l="0" t="0" r="r" b="b"/>
              <a:pathLst>
                <a:path w="12" h="8">
                  <a:moveTo>
                    <a:pt x="0" y="4"/>
                  </a:moveTo>
                  <a:lnTo>
                    <a:pt x="0" y="8"/>
                  </a:lnTo>
                  <a:lnTo>
                    <a:pt x="12" y="8"/>
                  </a:lnTo>
                  <a:lnTo>
                    <a:pt x="12"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5" name="Freeform 865"/>
            <p:cNvSpPr/>
            <p:nvPr/>
          </p:nvSpPr>
          <p:spPr bwMode="auto">
            <a:xfrm>
              <a:off x="3241" y="1153"/>
              <a:ext cx="11" cy="12"/>
            </a:xfrm>
            <a:custGeom>
              <a:avLst/>
              <a:gdLst>
                <a:gd name="T0" fmla="*/ 4 w 11"/>
                <a:gd name="T1" fmla="*/ 4 h 12"/>
                <a:gd name="T2" fmla="*/ 0 w 11"/>
                <a:gd name="T3" fmla="*/ 4 h 12"/>
                <a:gd name="T4" fmla="*/ 0 w 11"/>
                <a:gd name="T5" fmla="*/ 8 h 12"/>
                <a:gd name="T6" fmla="*/ 4 w 11"/>
                <a:gd name="T7" fmla="*/ 12 h 12"/>
                <a:gd name="T8" fmla="*/ 8 w 11"/>
                <a:gd name="T9" fmla="*/ 12 h 12"/>
                <a:gd name="T10" fmla="*/ 11 w 11"/>
                <a:gd name="T11" fmla="*/ 8 h 12"/>
                <a:gd name="T12" fmla="*/ 11 w 11"/>
                <a:gd name="T13" fmla="*/ 0 h 12"/>
                <a:gd name="T14" fmla="*/ 8 w 11"/>
                <a:gd name="T15" fmla="*/ 0 h 12"/>
                <a:gd name="T16" fmla="*/ 4 w 11"/>
                <a:gd name="T1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2">
                  <a:moveTo>
                    <a:pt x="4" y="4"/>
                  </a:moveTo>
                  <a:lnTo>
                    <a:pt x="0" y="4"/>
                  </a:lnTo>
                  <a:lnTo>
                    <a:pt x="0" y="8"/>
                  </a:lnTo>
                  <a:lnTo>
                    <a:pt x="4" y="12"/>
                  </a:lnTo>
                  <a:lnTo>
                    <a:pt x="8" y="12"/>
                  </a:lnTo>
                  <a:lnTo>
                    <a:pt x="11" y="8"/>
                  </a:lnTo>
                  <a:lnTo>
                    <a:pt x="11" y="0"/>
                  </a:lnTo>
                  <a:lnTo>
                    <a:pt x="8" y="0"/>
                  </a:lnTo>
                  <a:lnTo>
                    <a:pt x="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6" name="Freeform 866"/>
            <p:cNvSpPr/>
            <p:nvPr/>
          </p:nvSpPr>
          <p:spPr bwMode="auto">
            <a:xfrm>
              <a:off x="3260" y="1146"/>
              <a:ext cx="8" cy="7"/>
            </a:xfrm>
            <a:custGeom>
              <a:avLst/>
              <a:gdLst>
                <a:gd name="T0" fmla="*/ 0 w 8"/>
                <a:gd name="T1" fmla="*/ 0 h 7"/>
                <a:gd name="T2" fmla="*/ 0 w 8"/>
                <a:gd name="T3" fmla="*/ 7 h 7"/>
                <a:gd name="T4" fmla="*/ 8 w 8"/>
                <a:gd name="T5" fmla="*/ 7 h 7"/>
                <a:gd name="T6" fmla="*/ 8 w 8"/>
                <a:gd name="T7" fmla="*/ 0 h 7"/>
                <a:gd name="T8" fmla="*/ 4 w 8"/>
                <a:gd name="T9" fmla="*/ 0 h 7"/>
                <a:gd name="T10" fmla="*/ 0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0" y="0"/>
                  </a:moveTo>
                  <a:lnTo>
                    <a:pt x="0" y="7"/>
                  </a:lnTo>
                  <a:lnTo>
                    <a:pt x="8" y="7"/>
                  </a:lnTo>
                  <a:lnTo>
                    <a:pt x="8" y="0"/>
                  </a:lnTo>
                  <a:lnTo>
                    <a:pt x="4"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7" name="Freeform 867"/>
            <p:cNvSpPr/>
            <p:nvPr/>
          </p:nvSpPr>
          <p:spPr bwMode="auto">
            <a:xfrm>
              <a:off x="3275" y="1134"/>
              <a:ext cx="12" cy="12"/>
            </a:xfrm>
            <a:custGeom>
              <a:avLst/>
              <a:gdLst>
                <a:gd name="T0" fmla="*/ 0 w 12"/>
                <a:gd name="T1" fmla="*/ 4 h 12"/>
                <a:gd name="T2" fmla="*/ 0 w 12"/>
                <a:gd name="T3" fmla="*/ 8 h 12"/>
                <a:gd name="T4" fmla="*/ 4 w 12"/>
                <a:gd name="T5" fmla="*/ 12 h 12"/>
                <a:gd name="T6" fmla="*/ 4 w 12"/>
                <a:gd name="T7" fmla="*/ 8 h 12"/>
                <a:gd name="T8" fmla="*/ 12 w 12"/>
                <a:gd name="T9" fmla="*/ 8 h 12"/>
                <a:gd name="T10" fmla="*/ 12 w 12"/>
                <a:gd name="T11" fmla="*/ 4 h 12"/>
                <a:gd name="T12" fmla="*/ 8 w 12"/>
                <a:gd name="T13" fmla="*/ 4 h 12"/>
                <a:gd name="T14" fmla="*/ 8 w 12"/>
                <a:gd name="T15" fmla="*/ 0 h 12"/>
                <a:gd name="T16" fmla="*/ 4 w 12"/>
                <a:gd name="T17" fmla="*/ 0 h 12"/>
                <a:gd name="T18" fmla="*/ 0 w 12"/>
                <a:gd name="T19"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2">
                  <a:moveTo>
                    <a:pt x="0" y="4"/>
                  </a:moveTo>
                  <a:lnTo>
                    <a:pt x="0" y="8"/>
                  </a:lnTo>
                  <a:lnTo>
                    <a:pt x="4" y="12"/>
                  </a:lnTo>
                  <a:lnTo>
                    <a:pt x="4" y="8"/>
                  </a:lnTo>
                  <a:lnTo>
                    <a:pt x="12" y="8"/>
                  </a:lnTo>
                  <a:lnTo>
                    <a:pt x="12" y="4"/>
                  </a:lnTo>
                  <a:lnTo>
                    <a:pt x="8" y="4"/>
                  </a:lnTo>
                  <a:lnTo>
                    <a:pt x="8"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8" name="Freeform 868"/>
            <p:cNvSpPr/>
            <p:nvPr/>
          </p:nvSpPr>
          <p:spPr bwMode="auto">
            <a:xfrm>
              <a:off x="3291"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7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7"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09" name="Freeform 869"/>
            <p:cNvSpPr/>
            <p:nvPr/>
          </p:nvSpPr>
          <p:spPr bwMode="auto">
            <a:xfrm>
              <a:off x="3310"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8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0" name="Freeform 870"/>
            <p:cNvSpPr/>
            <p:nvPr/>
          </p:nvSpPr>
          <p:spPr bwMode="auto">
            <a:xfrm>
              <a:off x="3329"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1" name="Freeform 871"/>
            <p:cNvSpPr/>
            <p:nvPr/>
          </p:nvSpPr>
          <p:spPr bwMode="auto">
            <a:xfrm>
              <a:off x="3348"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2" name="Freeform 872"/>
            <p:cNvSpPr/>
            <p:nvPr/>
          </p:nvSpPr>
          <p:spPr bwMode="auto">
            <a:xfrm>
              <a:off x="3368" y="1127"/>
              <a:ext cx="11" cy="7"/>
            </a:xfrm>
            <a:custGeom>
              <a:avLst/>
              <a:gdLst>
                <a:gd name="T0" fmla="*/ 3 w 11"/>
                <a:gd name="T1" fmla="*/ 0 h 7"/>
                <a:gd name="T2" fmla="*/ 0 w 11"/>
                <a:gd name="T3" fmla="*/ 0 h 7"/>
                <a:gd name="T4" fmla="*/ 0 w 11"/>
                <a:gd name="T5" fmla="*/ 7 h 7"/>
                <a:gd name="T6" fmla="*/ 11 w 11"/>
                <a:gd name="T7" fmla="*/ 7 h 7"/>
                <a:gd name="T8" fmla="*/ 11 w 11"/>
                <a:gd name="T9" fmla="*/ 0 h 7"/>
                <a:gd name="T10" fmla="*/ 7 w 11"/>
                <a:gd name="T11" fmla="*/ 0 h 7"/>
                <a:gd name="T12" fmla="*/ 3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3" y="0"/>
                  </a:moveTo>
                  <a:lnTo>
                    <a:pt x="0" y="0"/>
                  </a:lnTo>
                  <a:lnTo>
                    <a:pt x="0" y="7"/>
                  </a:lnTo>
                  <a:lnTo>
                    <a:pt x="11" y="7"/>
                  </a:lnTo>
                  <a:lnTo>
                    <a:pt x="11" y="0"/>
                  </a:lnTo>
                  <a:lnTo>
                    <a:pt x="7" y="0"/>
                  </a:lnTo>
                  <a:lnTo>
                    <a:pt x="3"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3" name="Freeform 873"/>
            <p:cNvSpPr/>
            <p:nvPr/>
          </p:nvSpPr>
          <p:spPr bwMode="auto">
            <a:xfrm>
              <a:off x="3387"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7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7"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4" name="Freeform 874"/>
            <p:cNvSpPr/>
            <p:nvPr/>
          </p:nvSpPr>
          <p:spPr bwMode="auto">
            <a:xfrm>
              <a:off x="3406"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8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5" name="Freeform 875"/>
            <p:cNvSpPr/>
            <p:nvPr/>
          </p:nvSpPr>
          <p:spPr bwMode="auto">
            <a:xfrm>
              <a:off x="3425"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6" name="Freeform 876"/>
            <p:cNvSpPr/>
            <p:nvPr/>
          </p:nvSpPr>
          <p:spPr bwMode="auto">
            <a:xfrm>
              <a:off x="3444"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7" name="Freeform 877"/>
            <p:cNvSpPr/>
            <p:nvPr/>
          </p:nvSpPr>
          <p:spPr bwMode="auto">
            <a:xfrm>
              <a:off x="3463"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8" name="Freeform 878"/>
            <p:cNvSpPr/>
            <p:nvPr/>
          </p:nvSpPr>
          <p:spPr bwMode="auto">
            <a:xfrm>
              <a:off x="3483"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7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7"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19" name="Freeform 879"/>
            <p:cNvSpPr/>
            <p:nvPr/>
          </p:nvSpPr>
          <p:spPr bwMode="auto">
            <a:xfrm>
              <a:off x="3502"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8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0" name="Freeform 880"/>
            <p:cNvSpPr/>
            <p:nvPr/>
          </p:nvSpPr>
          <p:spPr bwMode="auto">
            <a:xfrm>
              <a:off x="3521"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1" name="Freeform 881"/>
            <p:cNvSpPr/>
            <p:nvPr/>
          </p:nvSpPr>
          <p:spPr bwMode="auto">
            <a:xfrm>
              <a:off x="3540"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2" name="Freeform 882"/>
            <p:cNvSpPr/>
            <p:nvPr/>
          </p:nvSpPr>
          <p:spPr bwMode="auto">
            <a:xfrm>
              <a:off x="3559"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3" name="Freeform 883"/>
            <p:cNvSpPr/>
            <p:nvPr/>
          </p:nvSpPr>
          <p:spPr bwMode="auto">
            <a:xfrm>
              <a:off x="3579" y="1127"/>
              <a:ext cx="11" cy="7"/>
            </a:xfrm>
            <a:custGeom>
              <a:avLst/>
              <a:gdLst>
                <a:gd name="T0" fmla="*/ 3 w 11"/>
                <a:gd name="T1" fmla="*/ 0 h 7"/>
                <a:gd name="T2" fmla="*/ 0 w 11"/>
                <a:gd name="T3" fmla="*/ 0 h 7"/>
                <a:gd name="T4" fmla="*/ 0 w 11"/>
                <a:gd name="T5" fmla="*/ 7 h 7"/>
                <a:gd name="T6" fmla="*/ 11 w 11"/>
                <a:gd name="T7" fmla="*/ 7 h 7"/>
                <a:gd name="T8" fmla="*/ 11 w 11"/>
                <a:gd name="T9" fmla="*/ 0 h 7"/>
                <a:gd name="T10" fmla="*/ 7 w 11"/>
                <a:gd name="T11" fmla="*/ 0 h 7"/>
                <a:gd name="T12" fmla="*/ 3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3" y="0"/>
                  </a:moveTo>
                  <a:lnTo>
                    <a:pt x="0" y="0"/>
                  </a:lnTo>
                  <a:lnTo>
                    <a:pt x="0" y="7"/>
                  </a:lnTo>
                  <a:lnTo>
                    <a:pt x="11" y="7"/>
                  </a:lnTo>
                  <a:lnTo>
                    <a:pt x="11" y="0"/>
                  </a:lnTo>
                  <a:lnTo>
                    <a:pt x="7" y="0"/>
                  </a:lnTo>
                  <a:lnTo>
                    <a:pt x="3"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4" name="Freeform 884"/>
            <p:cNvSpPr/>
            <p:nvPr/>
          </p:nvSpPr>
          <p:spPr bwMode="auto">
            <a:xfrm>
              <a:off x="3598"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7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7"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5" name="Freeform 885"/>
            <p:cNvSpPr/>
            <p:nvPr/>
          </p:nvSpPr>
          <p:spPr bwMode="auto">
            <a:xfrm>
              <a:off x="3617"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6" name="Freeform 886"/>
            <p:cNvSpPr/>
            <p:nvPr/>
          </p:nvSpPr>
          <p:spPr bwMode="auto">
            <a:xfrm>
              <a:off x="3636"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7" name="Freeform 887"/>
            <p:cNvSpPr/>
            <p:nvPr/>
          </p:nvSpPr>
          <p:spPr bwMode="auto">
            <a:xfrm>
              <a:off x="3655"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8" name="Freeform 888"/>
            <p:cNvSpPr/>
            <p:nvPr/>
          </p:nvSpPr>
          <p:spPr bwMode="auto">
            <a:xfrm>
              <a:off x="3675" y="1127"/>
              <a:ext cx="11" cy="7"/>
            </a:xfrm>
            <a:custGeom>
              <a:avLst/>
              <a:gdLst>
                <a:gd name="T0" fmla="*/ 3 w 11"/>
                <a:gd name="T1" fmla="*/ 0 h 7"/>
                <a:gd name="T2" fmla="*/ 0 w 11"/>
                <a:gd name="T3" fmla="*/ 0 h 7"/>
                <a:gd name="T4" fmla="*/ 0 w 11"/>
                <a:gd name="T5" fmla="*/ 7 h 7"/>
                <a:gd name="T6" fmla="*/ 11 w 11"/>
                <a:gd name="T7" fmla="*/ 7 h 7"/>
                <a:gd name="T8" fmla="*/ 11 w 11"/>
                <a:gd name="T9" fmla="*/ 0 h 7"/>
                <a:gd name="T10" fmla="*/ 7 w 11"/>
                <a:gd name="T11" fmla="*/ 0 h 7"/>
                <a:gd name="T12" fmla="*/ 3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3" y="0"/>
                  </a:moveTo>
                  <a:lnTo>
                    <a:pt x="0" y="0"/>
                  </a:lnTo>
                  <a:lnTo>
                    <a:pt x="0" y="7"/>
                  </a:lnTo>
                  <a:lnTo>
                    <a:pt x="11" y="7"/>
                  </a:lnTo>
                  <a:lnTo>
                    <a:pt x="11" y="0"/>
                  </a:lnTo>
                  <a:lnTo>
                    <a:pt x="7" y="0"/>
                  </a:lnTo>
                  <a:lnTo>
                    <a:pt x="3"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29" name="Freeform 889"/>
            <p:cNvSpPr/>
            <p:nvPr/>
          </p:nvSpPr>
          <p:spPr bwMode="auto">
            <a:xfrm>
              <a:off x="3694"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7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7"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0" name="Freeform 890"/>
            <p:cNvSpPr/>
            <p:nvPr/>
          </p:nvSpPr>
          <p:spPr bwMode="auto">
            <a:xfrm>
              <a:off x="3713" y="1127"/>
              <a:ext cx="11" cy="7"/>
            </a:xfrm>
            <a:custGeom>
              <a:avLst/>
              <a:gdLst>
                <a:gd name="T0" fmla="*/ 4 w 11"/>
                <a:gd name="T1" fmla="*/ 0 h 7"/>
                <a:gd name="T2" fmla="*/ 0 w 11"/>
                <a:gd name="T3" fmla="*/ 0 h 7"/>
                <a:gd name="T4" fmla="*/ 0 w 11"/>
                <a:gd name="T5" fmla="*/ 7 h 7"/>
                <a:gd name="T6" fmla="*/ 11 w 11"/>
                <a:gd name="T7" fmla="*/ 7 h 7"/>
                <a:gd name="T8" fmla="*/ 11 w 11"/>
                <a:gd name="T9" fmla="*/ 0 h 7"/>
                <a:gd name="T10" fmla="*/ 8 w 11"/>
                <a:gd name="T11" fmla="*/ 0 h 7"/>
                <a:gd name="T12" fmla="*/ 4 w 11"/>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4" y="0"/>
                  </a:moveTo>
                  <a:lnTo>
                    <a:pt x="0" y="0"/>
                  </a:lnTo>
                  <a:lnTo>
                    <a:pt x="0" y="7"/>
                  </a:lnTo>
                  <a:lnTo>
                    <a:pt x="11" y="7"/>
                  </a:lnTo>
                  <a:lnTo>
                    <a:pt x="11"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1" name="Freeform 891"/>
            <p:cNvSpPr/>
            <p:nvPr/>
          </p:nvSpPr>
          <p:spPr bwMode="auto">
            <a:xfrm>
              <a:off x="3732" y="1127"/>
              <a:ext cx="12" cy="7"/>
            </a:xfrm>
            <a:custGeom>
              <a:avLst/>
              <a:gdLst>
                <a:gd name="T0" fmla="*/ 4 w 12"/>
                <a:gd name="T1" fmla="*/ 0 h 7"/>
                <a:gd name="T2" fmla="*/ 0 w 12"/>
                <a:gd name="T3" fmla="*/ 0 h 7"/>
                <a:gd name="T4" fmla="*/ 0 w 12"/>
                <a:gd name="T5" fmla="*/ 7 h 7"/>
                <a:gd name="T6" fmla="*/ 12 w 12"/>
                <a:gd name="T7" fmla="*/ 7 h 7"/>
                <a:gd name="T8" fmla="*/ 12 w 12"/>
                <a:gd name="T9" fmla="*/ 0 h 7"/>
                <a:gd name="T10" fmla="*/ 8 w 12"/>
                <a:gd name="T11" fmla="*/ 0 h 7"/>
                <a:gd name="T12" fmla="*/ 4 w 12"/>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2" h="7">
                  <a:moveTo>
                    <a:pt x="4" y="0"/>
                  </a:moveTo>
                  <a:lnTo>
                    <a:pt x="0" y="0"/>
                  </a:lnTo>
                  <a:lnTo>
                    <a:pt x="0" y="7"/>
                  </a:lnTo>
                  <a:lnTo>
                    <a:pt x="12" y="7"/>
                  </a:lnTo>
                  <a:lnTo>
                    <a:pt x="12" y="0"/>
                  </a:lnTo>
                  <a:lnTo>
                    <a:pt x="8" y="0"/>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2" name="Freeform 892"/>
            <p:cNvSpPr/>
            <p:nvPr/>
          </p:nvSpPr>
          <p:spPr bwMode="auto">
            <a:xfrm>
              <a:off x="3751" y="1130"/>
              <a:ext cx="8" cy="12"/>
            </a:xfrm>
            <a:custGeom>
              <a:avLst/>
              <a:gdLst>
                <a:gd name="T0" fmla="*/ 4 w 8"/>
                <a:gd name="T1" fmla="*/ 0 h 12"/>
                <a:gd name="T2" fmla="*/ 0 w 8"/>
                <a:gd name="T3" fmla="*/ 0 h 12"/>
                <a:gd name="T4" fmla="*/ 0 w 8"/>
                <a:gd name="T5" fmla="*/ 8 h 12"/>
                <a:gd name="T6" fmla="*/ 4 w 8"/>
                <a:gd name="T7" fmla="*/ 12 h 12"/>
                <a:gd name="T8" fmla="*/ 8 w 8"/>
                <a:gd name="T9" fmla="*/ 12 h 12"/>
                <a:gd name="T10" fmla="*/ 8 w 8"/>
                <a:gd name="T11" fmla="*/ 4 h 12"/>
                <a:gd name="T12" fmla="*/ 4 w 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4" y="0"/>
                  </a:moveTo>
                  <a:lnTo>
                    <a:pt x="0" y="0"/>
                  </a:lnTo>
                  <a:lnTo>
                    <a:pt x="0" y="8"/>
                  </a:lnTo>
                  <a:lnTo>
                    <a:pt x="4" y="12"/>
                  </a:lnTo>
                  <a:lnTo>
                    <a:pt x="8" y="12"/>
                  </a:lnTo>
                  <a:lnTo>
                    <a:pt x="8"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3" name="Freeform 893"/>
            <p:cNvSpPr/>
            <p:nvPr/>
          </p:nvSpPr>
          <p:spPr bwMode="auto">
            <a:xfrm>
              <a:off x="3767" y="1142"/>
              <a:ext cx="7" cy="11"/>
            </a:xfrm>
            <a:custGeom>
              <a:avLst/>
              <a:gdLst>
                <a:gd name="T0" fmla="*/ 4 w 7"/>
                <a:gd name="T1" fmla="*/ 0 h 11"/>
                <a:gd name="T2" fmla="*/ 0 w 7"/>
                <a:gd name="T3" fmla="*/ 0 h 11"/>
                <a:gd name="T4" fmla="*/ 0 w 7"/>
                <a:gd name="T5" fmla="*/ 8 h 11"/>
                <a:gd name="T6" fmla="*/ 4 w 7"/>
                <a:gd name="T7" fmla="*/ 11 h 11"/>
                <a:gd name="T8" fmla="*/ 7 w 7"/>
                <a:gd name="T9" fmla="*/ 11 h 11"/>
                <a:gd name="T10" fmla="*/ 7 w 7"/>
                <a:gd name="T11" fmla="*/ 4 h 11"/>
                <a:gd name="T12" fmla="*/ 4 w 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7" h="11">
                  <a:moveTo>
                    <a:pt x="4" y="0"/>
                  </a:moveTo>
                  <a:lnTo>
                    <a:pt x="0" y="0"/>
                  </a:lnTo>
                  <a:lnTo>
                    <a:pt x="0" y="8"/>
                  </a:lnTo>
                  <a:lnTo>
                    <a:pt x="4" y="11"/>
                  </a:lnTo>
                  <a:lnTo>
                    <a:pt x="7" y="11"/>
                  </a:lnTo>
                  <a:lnTo>
                    <a:pt x="7"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4" name="Freeform 894"/>
            <p:cNvSpPr/>
            <p:nvPr/>
          </p:nvSpPr>
          <p:spPr bwMode="auto">
            <a:xfrm>
              <a:off x="3782" y="1153"/>
              <a:ext cx="8" cy="12"/>
            </a:xfrm>
            <a:custGeom>
              <a:avLst/>
              <a:gdLst>
                <a:gd name="T0" fmla="*/ 4 w 8"/>
                <a:gd name="T1" fmla="*/ 0 h 12"/>
                <a:gd name="T2" fmla="*/ 0 w 8"/>
                <a:gd name="T3" fmla="*/ 0 h 12"/>
                <a:gd name="T4" fmla="*/ 0 w 8"/>
                <a:gd name="T5" fmla="*/ 8 h 12"/>
                <a:gd name="T6" fmla="*/ 4 w 8"/>
                <a:gd name="T7" fmla="*/ 12 h 12"/>
                <a:gd name="T8" fmla="*/ 8 w 8"/>
                <a:gd name="T9" fmla="*/ 12 h 12"/>
                <a:gd name="T10" fmla="*/ 8 w 8"/>
                <a:gd name="T11" fmla="*/ 4 h 12"/>
                <a:gd name="T12" fmla="*/ 4 w 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4" y="0"/>
                  </a:moveTo>
                  <a:lnTo>
                    <a:pt x="0" y="0"/>
                  </a:lnTo>
                  <a:lnTo>
                    <a:pt x="0" y="8"/>
                  </a:lnTo>
                  <a:lnTo>
                    <a:pt x="4" y="12"/>
                  </a:lnTo>
                  <a:lnTo>
                    <a:pt x="8" y="12"/>
                  </a:lnTo>
                  <a:lnTo>
                    <a:pt x="8"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5" name="Freeform 895"/>
            <p:cNvSpPr/>
            <p:nvPr/>
          </p:nvSpPr>
          <p:spPr bwMode="auto">
            <a:xfrm>
              <a:off x="3797" y="1165"/>
              <a:ext cx="8" cy="11"/>
            </a:xfrm>
            <a:custGeom>
              <a:avLst/>
              <a:gdLst>
                <a:gd name="T0" fmla="*/ 4 w 8"/>
                <a:gd name="T1" fmla="*/ 0 h 11"/>
                <a:gd name="T2" fmla="*/ 0 w 8"/>
                <a:gd name="T3" fmla="*/ 0 h 11"/>
                <a:gd name="T4" fmla="*/ 0 w 8"/>
                <a:gd name="T5" fmla="*/ 8 h 11"/>
                <a:gd name="T6" fmla="*/ 4 w 8"/>
                <a:gd name="T7" fmla="*/ 11 h 11"/>
                <a:gd name="T8" fmla="*/ 8 w 8"/>
                <a:gd name="T9" fmla="*/ 11 h 11"/>
                <a:gd name="T10" fmla="*/ 8 w 8"/>
                <a:gd name="T11" fmla="*/ 4 h 11"/>
                <a:gd name="T12" fmla="*/ 4 w 8"/>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4" y="0"/>
                  </a:moveTo>
                  <a:lnTo>
                    <a:pt x="0" y="0"/>
                  </a:lnTo>
                  <a:lnTo>
                    <a:pt x="0" y="8"/>
                  </a:lnTo>
                  <a:lnTo>
                    <a:pt x="4" y="11"/>
                  </a:lnTo>
                  <a:lnTo>
                    <a:pt x="8" y="11"/>
                  </a:lnTo>
                  <a:lnTo>
                    <a:pt x="8"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6" name="Freeform 896"/>
            <p:cNvSpPr/>
            <p:nvPr/>
          </p:nvSpPr>
          <p:spPr bwMode="auto">
            <a:xfrm>
              <a:off x="3813" y="1176"/>
              <a:ext cx="7" cy="12"/>
            </a:xfrm>
            <a:custGeom>
              <a:avLst/>
              <a:gdLst>
                <a:gd name="T0" fmla="*/ 4 w 7"/>
                <a:gd name="T1" fmla="*/ 0 h 12"/>
                <a:gd name="T2" fmla="*/ 0 w 7"/>
                <a:gd name="T3" fmla="*/ 0 h 12"/>
                <a:gd name="T4" fmla="*/ 0 w 7"/>
                <a:gd name="T5" fmla="*/ 8 h 12"/>
                <a:gd name="T6" fmla="*/ 4 w 7"/>
                <a:gd name="T7" fmla="*/ 12 h 12"/>
                <a:gd name="T8" fmla="*/ 7 w 7"/>
                <a:gd name="T9" fmla="*/ 12 h 12"/>
                <a:gd name="T10" fmla="*/ 7 w 7"/>
                <a:gd name="T11" fmla="*/ 4 h 12"/>
                <a:gd name="T12" fmla="*/ 4 w 7"/>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4" y="0"/>
                  </a:moveTo>
                  <a:lnTo>
                    <a:pt x="0" y="0"/>
                  </a:lnTo>
                  <a:lnTo>
                    <a:pt x="0" y="8"/>
                  </a:lnTo>
                  <a:lnTo>
                    <a:pt x="4" y="12"/>
                  </a:lnTo>
                  <a:lnTo>
                    <a:pt x="7" y="12"/>
                  </a:lnTo>
                  <a:lnTo>
                    <a:pt x="7"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7" name="Freeform 897"/>
            <p:cNvSpPr/>
            <p:nvPr/>
          </p:nvSpPr>
          <p:spPr bwMode="auto">
            <a:xfrm>
              <a:off x="3828" y="1188"/>
              <a:ext cx="12" cy="11"/>
            </a:xfrm>
            <a:custGeom>
              <a:avLst/>
              <a:gdLst>
                <a:gd name="T0" fmla="*/ 4 w 12"/>
                <a:gd name="T1" fmla="*/ 0 h 11"/>
                <a:gd name="T2" fmla="*/ 0 w 12"/>
                <a:gd name="T3" fmla="*/ 0 h 11"/>
                <a:gd name="T4" fmla="*/ 0 w 12"/>
                <a:gd name="T5" fmla="*/ 8 h 11"/>
                <a:gd name="T6" fmla="*/ 4 w 12"/>
                <a:gd name="T7" fmla="*/ 11 h 11"/>
                <a:gd name="T8" fmla="*/ 8 w 12"/>
                <a:gd name="T9" fmla="*/ 11 h 11"/>
                <a:gd name="T10" fmla="*/ 8 w 12"/>
                <a:gd name="T11" fmla="*/ 8 h 11"/>
                <a:gd name="T12" fmla="*/ 12 w 12"/>
                <a:gd name="T13" fmla="*/ 8 h 11"/>
                <a:gd name="T14" fmla="*/ 8 w 12"/>
                <a:gd name="T15" fmla="*/ 4 h 11"/>
                <a:gd name="T16" fmla="*/ 4 w 12"/>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1">
                  <a:moveTo>
                    <a:pt x="4" y="0"/>
                  </a:moveTo>
                  <a:lnTo>
                    <a:pt x="0" y="0"/>
                  </a:lnTo>
                  <a:lnTo>
                    <a:pt x="0" y="8"/>
                  </a:lnTo>
                  <a:lnTo>
                    <a:pt x="4" y="11"/>
                  </a:lnTo>
                  <a:lnTo>
                    <a:pt x="8" y="11"/>
                  </a:lnTo>
                  <a:lnTo>
                    <a:pt x="8" y="8"/>
                  </a:lnTo>
                  <a:lnTo>
                    <a:pt x="12" y="8"/>
                  </a:lnTo>
                  <a:lnTo>
                    <a:pt x="8"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8" name="Freeform 898"/>
            <p:cNvSpPr/>
            <p:nvPr/>
          </p:nvSpPr>
          <p:spPr bwMode="auto">
            <a:xfrm>
              <a:off x="3843" y="1199"/>
              <a:ext cx="12" cy="12"/>
            </a:xfrm>
            <a:custGeom>
              <a:avLst/>
              <a:gdLst>
                <a:gd name="T0" fmla="*/ 4 w 12"/>
                <a:gd name="T1" fmla="*/ 0 h 12"/>
                <a:gd name="T2" fmla="*/ 0 w 12"/>
                <a:gd name="T3" fmla="*/ 0 h 12"/>
                <a:gd name="T4" fmla="*/ 0 w 12"/>
                <a:gd name="T5" fmla="*/ 8 h 12"/>
                <a:gd name="T6" fmla="*/ 4 w 12"/>
                <a:gd name="T7" fmla="*/ 12 h 12"/>
                <a:gd name="T8" fmla="*/ 8 w 12"/>
                <a:gd name="T9" fmla="*/ 12 h 12"/>
                <a:gd name="T10" fmla="*/ 8 w 12"/>
                <a:gd name="T11" fmla="*/ 8 h 12"/>
                <a:gd name="T12" fmla="*/ 12 w 12"/>
                <a:gd name="T13" fmla="*/ 8 h 12"/>
                <a:gd name="T14" fmla="*/ 8 w 12"/>
                <a:gd name="T15" fmla="*/ 4 h 12"/>
                <a:gd name="T16" fmla="*/ 4 w 12"/>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2">
                  <a:moveTo>
                    <a:pt x="4" y="0"/>
                  </a:moveTo>
                  <a:lnTo>
                    <a:pt x="0" y="0"/>
                  </a:lnTo>
                  <a:lnTo>
                    <a:pt x="0" y="8"/>
                  </a:lnTo>
                  <a:lnTo>
                    <a:pt x="4" y="12"/>
                  </a:lnTo>
                  <a:lnTo>
                    <a:pt x="8" y="12"/>
                  </a:lnTo>
                  <a:lnTo>
                    <a:pt x="8" y="8"/>
                  </a:lnTo>
                  <a:lnTo>
                    <a:pt x="12" y="8"/>
                  </a:lnTo>
                  <a:lnTo>
                    <a:pt x="8"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39" name="Freeform 899"/>
            <p:cNvSpPr/>
            <p:nvPr/>
          </p:nvSpPr>
          <p:spPr bwMode="auto">
            <a:xfrm>
              <a:off x="3859" y="1211"/>
              <a:ext cx="11" cy="12"/>
            </a:xfrm>
            <a:custGeom>
              <a:avLst/>
              <a:gdLst>
                <a:gd name="T0" fmla="*/ 4 w 11"/>
                <a:gd name="T1" fmla="*/ 0 h 12"/>
                <a:gd name="T2" fmla="*/ 0 w 11"/>
                <a:gd name="T3" fmla="*/ 0 h 12"/>
                <a:gd name="T4" fmla="*/ 0 w 11"/>
                <a:gd name="T5" fmla="*/ 8 h 12"/>
                <a:gd name="T6" fmla="*/ 4 w 11"/>
                <a:gd name="T7" fmla="*/ 8 h 12"/>
                <a:gd name="T8" fmla="*/ 4 w 11"/>
                <a:gd name="T9" fmla="*/ 12 h 12"/>
                <a:gd name="T10" fmla="*/ 8 w 11"/>
                <a:gd name="T11" fmla="*/ 12 h 12"/>
                <a:gd name="T12" fmla="*/ 8 w 11"/>
                <a:gd name="T13" fmla="*/ 8 h 12"/>
                <a:gd name="T14" fmla="*/ 11 w 11"/>
                <a:gd name="T15" fmla="*/ 8 h 12"/>
                <a:gd name="T16" fmla="*/ 8 w 11"/>
                <a:gd name="T17" fmla="*/ 4 h 12"/>
                <a:gd name="T18" fmla="*/ 4 w 11"/>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2">
                  <a:moveTo>
                    <a:pt x="4" y="0"/>
                  </a:moveTo>
                  <a:lnTo>
                    <a:pt x="0" y="0"/>
                  </a:lnTo>
                  <a:lnTo>
                    <a:pt x="0" y="8"/>
                  </a:lnTo>
                  <a:lnTo>
                    <a:pt x="4" y="8"/>
                  </a:lnTo>
                  <a:lnTo>
                    <a:pt x="4" y="12"/>
                  </a:lnTo>
                  <a:lnTo>
                    <a:pt x="8" y="12"/>
                  </a:lnTo>
                  <a:lnTo>
                    <a:pt x="8" y="8"/>
                  </a:lnTo>
                  <a:lnTo>
                    <a:pt x="11" y="8"/>
                  </a:lnTo>
                  <a:lnTo>
                    <a:pt x="8" y="4"/>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0" name="Freeform 900"/>
            <p:cNvSpPr/>
            <p:nvPr/>
          </p:nvSpPr>
          <p:spPr bwMode="auto">
            <a:xfrm>
              <a:off x="3874" y="1223"/>
              <a:ext cx="12" cy="11"/>
            </a:xfrm>
            <a:custGeom>
              <a:avLst/>
              <a:gdLst>
                <a:gd name="T0" fmla="*/ 4 w 12"/>
                <a:gd name="T1" fmla="*/ 0 h 11"/>
                <a:gd name="T2" fmla="*/ 0 w 12"/>
                <a:gd name="T3" fmla="*/ 0 h 11"/>
                <a:gd name="T4" fmla="*/ 0 w 12"/>
                <a:gd name="T5" fmla="*/ 7 h 11"/>
                <a:gd name="T6" fmla="*/ 4 w 12"/>
                <a:gd name="T7" fmla="*/ 7 h 11"/>
                <a:gd name="T8" fmla="*/ 4 w 12"/>
                <a:gd name="T9" fmla="*/ 11 h 11"/>
                <a:gd name="T10" fmla="*/ 8 w 12"/>
                <a:gd name="T11" fmla="*/ 11 h 11"/>
                <a:gd name="T12" fmla="*/ 8 w 12"/>
                <a:gd name="T13" fmla="*/ 7 h 11"/>
                <a:gd name="T14" fmla="*/ 12 w 12"/>
                <a:gd name="T15" fmla="*/ 7 h 11"/>
                <a:gd name="T16" fmla="*/ 8 w 12"/>
                <a:gd name="T17" fmla="*/ 3 h 11"/>
                <a:gd name="T18" fmla="*/ 4 w 12"/>
                <a:gd name="T1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1">
                  <a:moveTo>
                    <a:pt x="4" y="0"/>
                  </a:moveTo>
                  <a:lnTo>
                    <a:pt x="0" y="0"/>
                  </a:lnTo>
                  <a:lnTo>
                    <a:pt x="0" y="7"/>
                  </a:lnTo>
                  <a:lnTo>
                    <a:pt x="4" y="7"/>
                  </a:lnTo>
                  <a:lnTo>
                    <a:pt x="4" y="11"/>
                  </a:lnTo>
                  <a:lnTo>
                    <a:pt x="8" y="11"/>
                  </a:lnTo>
                  <a:lnTo>
                    <a:pt x="8" y="7"/>
                  </a:lnTo>
                  <a:lnTo>
                    <a:pt x="12" y="7"/>
                  </a:lnTo>
                  <a:lnTo>
                    <a:pt x="8" y="3"/>
                  </a:lnTo>
                  <a:lnTo>
                    <a:pt x="4"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1" name="Rectangle 901"/>
            <p:cNvSpPr>
              <a:spLocks noChangeArrowheads="1"/>
            </p:cNvSpPr>
            <p:nvPr/>
          </p:nvSpPr>
          <p:spPr bwMode="auto">
            <a:xfrm>
              <a:off x="4707" y="1449"/>
              <a:ext cx="1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b="0"/>
                <a:t>R</a:t>
              </a:r>
              <a:endParaRPr lang="en-US" altLang="zh-CN"/>
            </a:p>
          </p:txBody>
        </p:sp>
        <p:sp>
          <p:nvSpPr>
            <p:cNvPr id="139142" name="Freeform 902"/>
            <p:cNvSpPr/>
            <p:nvPr/>
          </p:nvSpPr>
          <p:spPr bwMode="auto">
            <a:xfrm>
              <a:off x="4504" y="1165"/>
              <a:ext cx="11" cy="11"/>
            </a:xfrm>
            <a:custGeom>
              <a:avLst/>
              <a:gdLst>
                <a:gd name="T0" fmla="*/ 0 w 11"/>
                <a:gd name="T1" fmla="*/ 4 h 11"/>
                <a:gd name="T2" fmla="*/ 0 w 11"/>
                <a:gd name="T3" fmla="*/ 11 h 11"/>
                <a:gd name="T4" fmla="*/ 7 w 11"/>
                <a:gd name="T5" fmla="*/ 11 h 11"/>
                <a:gd name="T6" fmla="*/ 7 w 11"/>
                <a:gd name="T7" fmla="*/ 8 h 11"/>
                <a:gd name="T8" fmla="*/ 11 w 11"/>
                <a:gd name="T9" fmla="*/ 8 h 11"/>
                <a:gd name="T10" fmla="*/ 11 w 11"/>
                <a:gd name="T11" fmla="*/ 4 h 11"/>
                <a:gd name="T12" fmla="*/ 7 w 11"/>
                <a:gd name="T13" fmla="*/ 4 h 11"/>
                <a:gd name="T14" fmla="*/ 7 w 11"/>
                <a:gd name="T15" fmla="*/ 0 h 11"/>
                <a:gd name="T16" fmla="*/ 4 w 11"/>
                <a:gd name="T17" fmla="*/ 0 h 11"/>
                <a:gd name="T18" fmla="*/ 4 w 11"/>
                <a:gd name="T19" fmla="*/ 4 h 11"/>
                <a:gd name="T20" fmla="*/ 0 w 11"/>
                <a:gd name="T21" fmla="*/ 4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11">
                  <a:moveTo>
                    <a:pt x="0" y="4"/>
                  </a:moveTo>
                  <a:lnTo>
                    <a:pt x="0" y="11"/>
                  </a:lnTo>
                  <a:lnTo>
                    <a:pt x="7" y="11"/>
                  </a:lnTo>
                  <a:lnTo>
                    <a:pt x="7" y="8"/>
                  </a:lnTo>
                  <a:lnTo>
                    <a:pt x="11" y="8"/>
                  </a:lnTo>
                  <a:lnTo>
                    <a:pt x="11" y="4"/>
                  </a:lnTo>
                  <a:lnTo>
                    <a:pt x="7" y="4"/>
                  </a:lnTo>
                  <a:lnTo>
                    <a:pt x="7" y="0"/>
                  </a:lnTo>
                  <a:lnTo>
                    <a:pt x="4" y="0"/>
                  </a:lnTo>
                  <a:lnTo>
                    <a:pt x="4"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3" name="Freeform 903"/>
            <p:cNvSpPr/>
            <p:nvPr/>
          </p:nvSpPr>
          <p:spPr bwMode="auto">
            <a:xfrm>
              <a:off x="4515" y="1153"/>
              <a:ext cx="12" cy="8"/>
            </a:xfrm>
            <a:custGeom>
              <a:avLst/>
              <a:gdLst>
                <a:gd name="T0" fmla="*/ 4 w 12"/>
                <a:gd name="T1" fmla="*/ 4 h 8"/>
                <a:gd name="T2" fmla="*/ 0 w 12"/>
                <a:gd name="T3" fmla="*/ 4 h 8"/>
                <a:gd name="T4" fmla="*/ 0 w 12"/>
                <a:gd name="T5" fmla="*/ 8 h 8"/>
                <a:gd name="T6" fmla="*/ 8 w 12"/>
                <a:gd name="T7" fmla="*/ 8 h 8"/>
                <a:gd name="T8" fmla="*/ 12 w 12"/>
                <a:gd name="T9" fmla="*/ 4 h 8"/>
                <a:gd name="T10" fmla="*/ 12 w 12"/>
                <a:gd name="T11" fmla="*/ 0 h 8"/>
                <a:gd name="T12" fmla="*/ 4 w 12"/>
                <a:gd name="T13" fmla="*/ 0 h 8"/>
                <a:gd name="T14" fmla="*/ 4 w 12"/>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8">
                  <a:moveTo>
                    <a:pt x="4" y="4"/>
                  </a:moveTo>
                  <a:lnTo>
                    <a:pt x="0" y="4"/>
                  </a:lnTo>
                  <a:lnTo>
                    <a:pt x="0" y="8"/>
                  </a:lnTo>
                  <a:lnTo>
                    <a:pt x="8" y="8"/>
                  </a:lnTo>
                  <a:lnTo>
                    <a:pt x="12" y="4"/>
                  </a:lnTo>
                  <a:lnTo>
                    <a:pt x="12" y="0"/>
                  </a:lnTo>
                  <a:lnTo>
                    <a:pt x="4" y="0"/>
                  </a:lnTo>
                  <a:lnTo>
                    <a:pt x="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4" name="Freeform 904"/>
            <p:cNvSpPr/>
            <p:nvPr/>
          </p:nvSpPr>
          <p:spPr bwMode="auto">
            <a:xfrm>
              <a:off x="4531" y="1138"/>
              <a:ext cx="11" cy="12"/>
            </a:xfrm>
            <a:custGeom>
              <a:avLst/>
              <a:gdLst>
                <a:gd name="T0" fmla="*/ 0 w 11"/>
                <a:gd name="T1" fmla="*/ 4 h 12"/>
                <a:gd name="T2" fmla="*/ 0 w 11"/>
                <a:gd name="T3" fmla="*/ 12 h 12"/>
                <a:gd name="T4" fmla="*/ 3 w 11"/>
                <a:gd name="T5" fmla="*/ 12 h 12"/>
                <a:gd name="T6" fmla="*/ 7 w 11"/>
                <a:gd name="T7" fmla="*/ 8 h 12"/>
                <a:gd name="T8" fmla="*/ 7 w 11"/>
                <a:gd name="T9" fmla="*/ 4 h 12"/>
                <a:gd name="T10" fmla="*/ 11 w 11"/>
                <a:gd name="T11" fmla="*/ 4 h 12"/>
                <a:gd name="T12" fmla="*/ 7 w 11"/>
                <a:gd name="T13" fmla="*/ 0 h 12"/>
                <a:gd name="T14" fmla="*/ 3 w 11"/>
                <a:gd name="T15" fmla="*/ 0 h 12"/>
                <a:gd name="T16" fmla="*/ 0 w 11"/>
                <a:gd name="T1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2">
                  <a:moveTo>
                    <a:pt x="0" y="4"/>
                  </a:moveTo>
                  <a:lnTo>
                    <a:pt x="0" y="12"/>
                  </a:lnTo>
                  <a:lnTo>
                    <a:pt x="3" y="12"/>
                  </a:lnTo>
                  <a:lnTo>
                    <a:pt x="7" y="8"/>
                  </a:lnTo>
                  <a:lnTo>
                    <a:pt x="7" y="4"/>
                  </a:lnTo>
                  <a:lnTo>
                    <a:pt x="11" y="4"/>
                  </a:lnTo>
                  <a:lnTo>
                    <a:pt x="7" y="0"/>
                  </a:lnTo>
                  <a:lnTo>
                    <a:pt x="3"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5" name="Freeform 905"/>
            <p:cNvSpPr/>
            <p:nvPr/>
          </p:nvSpPr>
          <p:spPr bwMode="auto">
            <a:xfrm>
              <a:off x="4542" y="1123"/>
              <a:ext cx="12" cy="11"/>
            </a:xfrm>
            <a:custGeom>
              <a:avLst/>
              <a:gdLst>
                <a:gd name="T0" fmla="*/ 4 w 12"/>
                <a:gd name="T1" fmla="*/ 4 h 11"/>
                <a:gd name="T2" fmla="*/ 0 w 12"/>
                <a:gd name="T3" fmla="*/ 7 h 11"/>
                <a:gd name="T4" fmla="*/ 0 w 12"/>
                <a:gd name="T5" fmla="*/ 11 h 11"/>
                <a:gd name="T6" fmla="*/ 8 w 12"/>
                <a:gd name="T7" fmla="*/ 11 h 11"/>
                <a:gd name="T8" fmla="*/ 12 w 12"/>
                <a:gd name="T9" fmla="*/ 7 h 11"/>
                <a:gd name="T10" fmla="*/ 12 w 12"/>
                <a:gd name="T11" fmla="*/ 4 h 11"/>
                <a:gd name="T12" fmla="*/ 8 w 12"/>
                <a:gd name="T13" fmla="*/ 0 h 11"/>
                <a:gd name="T14" fmla="*/ 4 w 12"/>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1">
                  <a:moveTo>
                    <a:pt x="4" y="4"/>
                  </a:moveTo>
                  <a:lnTo>
                    <a:pt x="0" y="7"/>
                  </a:lnTo>
                  <a:lnTo>
                    <a:pt x="0" y="11"/>
                  </a:lnTo>
                  <a:lnTo>
                    <a:pt x="8" y="11"/>
                  </a:lnTo>
                  <a:lnTo>
                    <a:pt x="12" y="7"/>
                  </a:lnTo>
                  <a:lnTo>
                    <a:pt x="12" y="4"/>
                  </a:lnTo>
                  <a:lnTo>
                    <a:pt x="8" y="0"/>
                  </a:lnTo>
                  <a:lnTo>
                    <a:pt x="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6" name="Freeform 906"/>
            <p:cNvSpPr/>
            <p:nvPr/>
          </p:nvSpPr>
          <p:spPr bwMode="auto">
            <a:xfrm>
              <a:off x="4557" y="1111"/>
              <a:ext cx="8" cy="8"/>
            </a:xfrm>
            <a:custGeom>
              <a:avLst/>
              <a:gdLst>
                <a:gd name="T0" fmla="*/ 0 w 8"/>
                <a:gd name="T1" fmla="*/ 4 h 8"/>
                <a:gd name="T2" fmla="*/ 0 w 8"/>
                <a:gd name="T3" fmla="*/ 8 h 8"/>
                <a:gd name="T4" fmla="*/ 4 w 8"/>
                <a:gd name="T5" fmla="*/ 8 h 8"/>
                <a:gd name="T6" fmla="*/ 8 w 8"/>
                <a:gd name="T7" fmla="*/ 4 h 8"/>
                <a:gd name="T8" fmla="*/ 8 w 8"/>
                <a:gd name="T9" fmla="*/ 0 h 8"/>
                <a:gd name="T10" fmla="*/ 4 w 8"/>
                <a:gd name="T11" fmla="*/ 0 h 8"/>
                <a:gd name="T12" fmla="*/ 0 w 8"/>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0" y="4"/>
                  </a:moveTo>
                  <a:lnTo>
                    <a:pt x="0" y="8"/>
                  </a:lnTo>
                  <a:lnTo>
                    <a:pt x="4" y="8"/>
                  </a:lnTo>
                  <a:lnTo>
                    <a:pt x="8" y="4"/>
                  </a:lnTo>
                  <a:lnTo>
                    <a:pt x="8"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7" name="Freeform 907"/>
            <p:cNvSpPr/>
            <p:nvPr/>
          </p:nvSpPr>
          <p:spPr bwMode="auto">
            <a:xfrm>
              <a:off x="4569" y="1096"/>
              <a:ext cx="12" cy="11"/>
            </a:xfrm>
            <a:custGeom>
              <a:avLst/>
              <a:gdLst>
                <a:gd name="T0" fmla="*/ 0 w 12"/>
                <a:gd name="T1" fmla="*/ 4 h 11"/>
                <a:gd name="T2" fmla="*/ 0 w 12"/>
                <a:gd name="T3" fmla="*/ 11 h 11"/>
                <a:gd name="T4" fmla="*/ 8 w 12"/>
                <a:gd name="T5" fmla="*/ 11 h 11"/>
                <a:gd name="T6" fmla="*/ 12 w 12"/>
                <a:gd name="T7" fmla="*/ 7 h 11"/>
                <a:gd name="T8" fmla="*/ 12 w 12"/>
                <a:gd name="T9" fmla="*/ 0 h 11"/>
                <a:gd name="T10" fmla="*/ 4 w 12"/>
                <a:gd name="T11" fmla="*/ 0 h 11"/>
                <a:gd name="T12" fmla="*/ 0 w 12"/>
                <a:gd name="T13" fmla="*/ 4 h 11"/>
              </a:gdLst>
              <a:ahLst/>
              <a:cxnLst>
                <a:cxn ang="0">
                  <a:pos x="T0" y="T1"/>
                </a:cxn>
                <a:cxn ang="0">
                  <a:pos x="T2" y="T3"/>
                </a:cxn>
                <a:cxn ang="0">
                  <a:pos x="T4" y="T5"/>
                </a:cxn>
                <a:cxn ang="0">
                  <a:pos x="T6" y="T7"/>
                </a:cxn>
                <a:cxn ang="0">
                  <a:pos x="T8" y="T9"/>
                </a:cxn>
                <a:cxn ang="0">
                  <a:pos x="T10" y="T11"/>
                </a:cxn>
                <a:cxn ang="0">
                  <a:pos x="T12" y="T13"/>
                </a:cxn>
              </a:cxnLst>
              <a:rect l="0" t="0" r="r" b="b"/>
              <a:pathLst>
                <a:path w="12" h="11">
                  <a:moveTo>
                    <a:pt x="0" y="4"/>
                  </a:moveTo>
                  <a:lnTo>
                    <a:pt x="0" y="11"/>
                  </a:lnTo>
                  <a:lnTo>
                    <a:pt x="8" y="11"/>
                  </a:lnTo>
                  <a:lnTo>
                    <a:pt x="12" y="7"/>
                  </a:lnTo>
                  <a:lnTo>
                    <a:pt x="12"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8" name="Freeform 908"/>
            <p:cNvSpPr/>
            <p:nvPr/>
          </p:nvSpPr>
          <p:spPr bwMode="auto">
            <a:xfrm>
              <a:off x="4584" y="1080"/>
              <a:ext cx="8" cy="12"/>
            </a:xfrm>
            <a:custGeom>
              <a:avLst/>
              <a:gdLst>
                <a:gd name="T0" fmla="*/ 0 w 8"/>
                <a:gd name="T1" fmla="*/ 4 h 12"/>
                <a:gd name="T2" fmla="*/ 0 w 8"/>
                <a:gd name="T3" fmla="*/ 12 h 12"/>
                <a:gd name="T4" fmla="*/ 4 w 8"/>
                <a:gd name="T5" fmla="*/ 12 h 12"/>
                <a:gd name="T6" fmla="*/ 8 w 8"/>
                <a:gd name="T7" fmla="*/ 8 h 12"/>
                <a:gd name="T8" fmla="*/ 8 w 8"/>
                <a:gd name="T9" fmla="*/ 0 h 12"/>
                <a:gd name="T10" fmla="*/ 4 w 8"/>
                <a:gd name="T11" fmla="*/ 0 h 12"/>
                <a:gd name="T12" fmla="*/ 4 w 8"/>
                <a:gd name="T13" fmla="*/ 4 h 12"/>
                <a:gd name="T14" fmla="*/ 0 w 8"/>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4"/>
                  </a:moveTo>
                  <a:lnTo>
                    <a:pt x="0" y="12"/>
                  </a:lnTo>
                  <a:lnTo>
                    <a:pt x="4" y="12"/>
                  </a:lnTo>
                  <a:lnTo>
                    <a:pt x="8" y="8"/>
                  </a:lnTo>
                  <a:lnTo>
                    <a:pt x="8" y="0"/>
                  </a:lnTo>
                  <a:lnTo>
                    <a:pt x="4" y="0"/>
                  </a:lnTo>
                  <a:lnTo>
                    <a:pt x="4"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49" name="Freeform 909"/>
            <p:cNvSpPr/>
            <p:nvPr/>
          </p:nvSpPr>
          <p:spPr bwMode="auto">
            <a:xfrm>
              <a:off x="4596" y="1069"/>
              <a:ext cx="11" cy="11"/>
            </a:xfrm>
            <a:custGeom>
              <a:avLst/>
              <a:gdLst>
                <a:gd name="T0" fmla="*/ 0 w 11"/>
                <a:gd name="T1" fmla="*/ 4 h 11"/>
                <a:gd name="T2" fmla="*/ 0 w 11"/>
                <a:gd name="T3" fmla="*/ 8 h 11"/>
                <a:gd name="T4" fmla="*/ 4 w 11"/>
                <a:gd name="T5" fmla="*/ 8 h 11"/>
                <a:gd name="T6" fmla="*/ 4 w 11"/>
                <a:gd name="T7" fmla="*/ 11 h 11"/>
                <a:gd name="T8" fmla="*/ 11 w 11"/>
                <a:gd name="T9" fmla="*/ 4 h 11"/>
                <a:gd name="T10" fmla="*/ 11 w 11"/>
                <a:gd name="T11" fmla="*/ 0 h 11"/>
                <a:gd name="T12" fmla="*/ 4 w 11"/>
                <a:gd name="T13" fmla="*/ 0 h 11"/>
                <a:gd name="T14" fmla="*/ 0 w 11"/>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1">
                  <a:moveTo>
                    <a:pt x="0" y="4"/>
                  </a:moveTo>
                  <a:lnTo>
                    <a:pt x="0" y="8"/>
                  </a:lnTo>
                  <a:lnTo>
                    <a:pt x="4" y="8"/>
                  </a:lnTo>
                  <a:lnTo>
                    <a:pt x="4" y="11"/>
                  </a:lnTo>
                  <a:lnTo>
                    <a:pt x="11" y="4"/>
                  </a:lnTo>
                  <a:lnTo>
                    <a:pt x="11"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0" name="Freeform 910"/>
            <p:cNvSpPr/>
            <p:nvPr/>
          </p:nvSpPr>
          <p:spPr bwMode="auto">
            <a:xfrm>
              <a:off x="4607" y="1054"/>
              <a:ext cx="12" cy="11"/>
            </a:xfrm>
            <a:custGeom>
              <a:avLst/>
              <a:gdLst>
                <a:gd name="T0" fmla="*/ 4 w 12"/>
                <a:gd name="T1" fmla="*/ 3 h 11"/>
                <a:gd name="T2" fmla="*/ 0 w 12"/>
                <a:gd name="T3" fmla="*/ 7 h 11"/>
                <a:gd name="T4" fmla="*/ 4 w 12"/>
                <a:gd name="T5" fmla="*/ 7 h 11"/>
                <a:gd name="T6" fmla="*/ 4 w 12"/>
                <a:gd name="T7" fmla="*/ 11 h 11"/>
                <a:gd name="T8" fmla="*/ 8 w 12"/>
                <a:gd name="T9" fmla="*/ 11 h 11"/>
                <a:gd name="T10" fmla="*/ 12 w 12"/>
                <a:gd name="T11" fmla="*/ 7 h 11"/>
                <a:gd name="T12" fmla="*/ 12 w 12"/>
                <a:gd name="T13" fmla="*/ 0 h 11"/>
                <a:gd name="T14" fmla="*/ 4 w 12"/>
                <a:gd name="T15" fmla="*/ 0 h 11"/>
                <a:gd name="T16" fmla="*/ 4 w 12"/>
                <a:gd name="T17"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1">
                  <a:moveTo>
                    <a:pt x="4" y="3"/>
                  </a:moveTo>
                  <a:lnTo>
                    <a:pt x="0" y="7"/>
                  </a:lnTo>
                  <a:lnTo>
                    <a:pt x="4" y="7"/>
                  </a:lnTo>
                  <a:lnTo>
                    <a:pt x="4" y="11"/>
                  </a:lnTo>
                  <a:lnTo>
                    <a:pt x="8" y="11"/>
                  </a:lnTo>
                  <a:lnTo>
                    <a:pt x="12" y="7"/>
                  </a:lnTo>
                  <a:lnTo>
                    <a:pt x="12" y="0"/>
                  </a:lnTo>
                  <a:lnTo>
                    <a:pt x="4" y="0"/>
                  </a:lnTo>
                  <a:lnTo>
                    <a:pt x="4" y="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1" name="Freeform 911"/>
            <p:cNvSpPr/>
            <p:nvPr/>
          </p:nvSpPr>
          <p:spPr bwMode="auto">
            <a:xfrm>
              <a:off x="4623" y="1042"/>
              <a:ext cx="11" cy="8"/>
            </a:xfrm>
            <a:custGeom>
              <a:avLst/>
              <a:gdLst>
                <a:gd name="T0" fmla="*/ 0 w 11"/>
                <a:gd name="T1" fmla="*/ 4 h 8"/>
                <a:gd name="T2" fmla="*/ 0 w 11"/>
                <a:gd name="T3" fmla="*/ 8 h 8"/>
                <a:gd name="T4" fmla="*/ 7 w 11"/>
                <a:gd name="T5" fmla="*/ 8 h 8"/>
                <a:gd name="T6" fmla="*/ 7 w 11"/>
                <a:gd name="T7" fmla="*/ 4 h 8"/>
                <a:gd name="T8" fmla="*/ 11 w 11"/>
                <a:gd name="T9" fmla="*/ 4 h 8"/>
                <a:gd name="T10" fmla="*/ 11 w 11"/>
                <a:gd name="T11" fmla="*/ 0 h 8"/>
                <a:gd name="T12" fmla="*/ 4 w 11"/>
                <a:gd name="T13" fmla="*/ 0 h 8"/>
                <a:gd name="T14" fmla="*/ 0 w 11"/>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8">
                  <a:moveTo>
                    <a:pt x="0" y="4"/>
                  </a:moveTo>
                  <a:lnTo>
                    <a:pt x="0" y="8"/>
                  </a:lnTo>
                  <a:lnTo>
                    <a:pt x="7" y="8"/>
                  </a:lnTo>
                  <a:lnTo>
                    <a:pt x="7" y="4"/>
                  </a:lnTo>
                  <a:lnTo>
                    <a:pt x="11" y="4"/>
                  </a:lnTo>
                  <a:lnTo>
                    <a:pt x="11"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2" name="Freeform 912"/>
            <p:cNvSpPr/>
            <p:nvPr/>
          </p:nvSpPr>
          <p:spPr bwMode="auto">
            <a:xfrm>
              <a:off x="4634" y="1027"/>
              <a:ext cx="12" cy="11"/>
            </a:xfrm>
            <a:custGeom>
              <a:avLst/>
              <a:gdLst>
                <a:gd name="T0" fmla="*/ 4 w 12"/>
                <a:gd name="T1" fmla="*/ 4 h 11"/>
                <a:gd name="T2" fmla="*/ 0 w 12"/>
                <a:gd name="T3" fmla="*/ 4 h 11"/>
                <a:gd name="T4" fmla="*/ 0 w 12"/>
                <a:gd name="T5" fmla="*/ 7 h 11"/>
                <a:gd name="T6" fmla="*/ 4 w 12"/>
                <a:gd name="T7" fmla="*/ 7 h 11"/>
                <a:gd name="T8" fmla="*/ 4 w 12"/>
                <a:gd name="T9" fmla="*/ 11 h 11"/>
                <a:gd name="T10" fmla="*/ 8 w 12"/>
                <a:gd name="T11" fmla="*/ 11 h 11"/>
                <a:gd name="T12" fmla="*/ 8 w 12"/>
                <a:gd name="T13" fmla="*/ 7 h 11"/>
                <a:gd name="T14" fmla="*/ 12 w 12"/>
                <a:gd name="T15" fmla="*/ 7 h 11"/>
                <a:gd name="T16" fmla="*/ 12 w 12"/>
                <a:gd name="T17" fmla="*/ 0 h 11"/>
                <a:gd name="T18" fmla="*/ 4 w 12"/>
                <a:gd name="T19" fmla="*/ 0 h 11"/>
                <a:gd name="T20" fmla="*/ 4 w 12"/>
                <a:gd name="T21" fmla="*/ 4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11">
                  <a:moveTo>
                    <a:pt x="4" y="4"/>
                  </a:moveTo>
                  <a:lnTo>
                    <a:pt x="0" y="4"/>
                  </a:lnTo>
                  <a:lnTo>
                    <a:pt x="0" y="7"/>
                  </a:lnTo>
                  <a:lnTo>
                    <a:pt x="4" y="7"/>
                  </a:lnTo>
                  <a:lnTo>
                    <a:pt x="4" y="11"/>
                  </a:lnTo>
                  <a:lnTo>
                    <a:pt x="8" y="11"/>
                  </a:lnTo>
                  <a:lnTo>
                    <a:pt x="8" y="7"/>
                  </a:lnTo>
                  <a:lnTo>
                    <a:pt x="12" y="7"/>
                  </a:lnTo>
                  <a:lnTo>
                    <a:pt x="12" y="0"/>
                  </a:lnTo>
                  <a:lnTo>
                    <a:pt x="4" y="0"/>
                  </a:lnTo>
                  <a:lnTo>
                    <a:pt x="4"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3" name="Freeform 913"/>
            <p:cNvSpPr/>
            <p:nvPr/>
          </p:nvSpPr>
          <p:spPr bwMode="auto">
            <a:xfrm>
              <a:off x="4650" y="1011"/>
              <a:ext cx="7" cy="12"/>
            </a:xfrm>
            <a:custGeom>
              <a:avLst/>
              <a:gdLst>
                <a:gd name="T0" fmla="*/ 0 w 7"/>
                <a:gd name="T1" fmla="*/ 4 h 12"/>
                <a:gd name="T2" fmla="*/ 0 w 7"/>
                <a:gd name="T3" fmla="*/ 12 h 12"/>
                <a:gd name="T4" fmla="*/ 3 w 7"/>
                <a:gd name="T5" fmla="*/ 12 h 12"/>
                <a:gd name="T6" fmla="*/ 7 w 7"/>
                <a:gd name="T7" fmla="*/ 8 h 12"/>
                <a:gd name="T8" fmla="*/ 7 w 7"/>
                <a:gd name="T9" fmla="*/ 0 h 12"/>
                <a:gd name="T10" fmla="*/ 3 w 7"/>
                <a:gd name="T11" fmla="*/ 0 h 12"/>
                <a:gd name="T12" fmla="*/ 3 w 7"/>
                <a:gd name="T13" fmla="*/ 4 h 12"/>
                <a:gd name="T14" fmla="*/ 0 w 7"/>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4"/>
                  </a:moveTo>
                  <a:lnTo>
                    <a:pt x="0" y="12"/>
                  </a:lnTo>
                  <a:lnTo>
                    <a:pt x="3" y="12"/>
                  </a:lnTo>
                  <a:lnTo>
                    <a:pt x="7" y="8"/>
                  </a:lnTo>
                  <a:lnTo>
                    <a:pt x="7" y="0"/>
                  </a:lnTo>
                  <a:lnTo>
                    <a:pt x="3" y="0"/>
                  </a:lnTo>
                  <a:lnTo>
                    <a:pt x="3"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4" name="Freeform 914"/>
            <p:cNvSpPr/>
            <p:nvPr/>
          </p:nvSpPr>
          <p:spPr bwMode="auto">
            <a:xfrm>
              <a:off x="4661" y="1000"/>
              <a:ext cx="12" cy="8"/>
            </a:xfrm>
            <a:custGeom>
              <a:avLst/>
              <a:gdLst>
                <a:gd name="T0" fmla="*/ 0 w 12"/>
                <a:gd name="T1" fmla="*/ 4 h 8"/>
                <a:gd name="T2" fmla="*/ 0 w 12"/>
                <a:gd name="T3" fmla="*/ 8 h 8"/>
                <a:gd name="T4" fmla="*/ 8 w 12"/>
                <a:gd name="T5" fmla="*/ 8 h 8"/>
                <a:gd name="T6" fmla="*/ 12 w 12"/>
                <a:gd name="T7" fmla="*/ 4 h 8"/>
                <a:gd name="T8" fmla="*/ 12 w 12"/>
                <a:gd name="T9" fmla="*/ 0 h 8"/>
                <a:gd name="T10" fmla="*/ 4 w 12"/>
                <a:gd name="T11" fmla="*/ 0 h 8"/>
                <a:gd name="T12" fmla="*/ 0 w 12"/>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0" y="4"/>
                  </a:moveTo>
                  <a:lnTo>
                    <a:pt x="0" y="8"/>
                  </a:lnTo>
                  <a:lnTo>
                    <a:pt x="8" y="8"/>
                  </a:lnTo>
                  <a:lnTo>
                    <a:pt x="12" y="4"/>
                  </a:lnTo>
                  <a:lnTo>
                    <a:pt x="12"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5" name="Freeform 915"/>
            <p:cNvSpPr/>
            <p:nvPr/>
          </p:nvSpPr>
          <p:spPr bwMode="auto">
            <a:xfrm>
              <a:off x="4676" y="984"/>
              <a:ext cx="8" cy="12"/>
            </a:xfrm>
            <a:custGeom>
              <a:avLst/>
              <a:gdLst>
                <a:gd name="T0" fmla="*/ 0 w 8"/>
                <a:gd name="T1" fmla="*/ 4 h 12"/>
                <a:gd name="T2" fmla="*/ 0 w 8"/>
                <a:gd name="T3" fmla="*/ 12 h 12"/>
                <a:gd name="T4" fmla="*/ 4 w 8"/>
                <a:gd name="T5" fmla="*/ 12 h 12"/>
                <a:gd name="T6" fmla="*/ 4 w 8"/>
                <a:gd name="T7" fmla="*/ 8 h 12"/>
                <a:gd name="T8" fmla="*/ 8 w 8"/>
                <a:gd name="T9" fmla="*/ 8 h 12"/>
                <a:gd name="T10" fmla="*/ 8 w 8"/>
                <a:gd name="T11" fmla="*/ 0 h 12"/>
                <a:gd name="T12" fmla="*/ 4 w 8"/>
                <a:gd name="T13" fmla="*/ 0 h 12"/>
                <a:gd name="T14" fmla="*/ 0 w 8"/>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4"/>
                  </a:moveTo>
                  <a:lnTo>
                    <a:pt x="0" y="12"/>
                  </a:lnTo>
                  <a:lnTo>
                    <a:pt x="4" y="12"/>
                  </a:lnTo>
                  <a:lnTo>
                    <a:pt x="4" y="8"/>
                  </a:lnTo>
                  <a:lnTo>
                    <a:pt x="8" y="8"/>
                  </a:lnTo>
                  <a:lnTo>
                    <a:pt x="8"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6" name="Freeform 916"/>
            <p:cNvSpPr/>
            <p:nvPr/>
          </p:nvSpPr>
          <p:spPr bwMode="auto">
            <a:xfrm>
              <a:off x="4688" y="969"/>
              <a:ext cx="12" cy="12"/>
            </a:xfrm>
            <a:custGeom>
              <a:avLst/>
              <a:gdLst>
                <a:gd name="T0" fmla="*/ 0 w 12"/>
                <a:gd name="T1" fmla="*/ 4 h 12"/>
                <a:gd name="T2" fmla="*/ 0 w 12"/>
                <a:gd name="T3" fmla="*/ 12 h 12"/>
                <a:gd name="T4" fmla="*/ 8 w 12"/>
                <a:gd name="T5" fmla="*/ 12 h 12"/>
                <a:gd name="T6" fmla="*/ 8 w 12"/>
                <a:gd name="T7" fmla="*/ 8 h 12"/>
                <a:gd name="T8" fmla="*/ 12 w 12"/>
                <a:gd name="T9" fmla="*/ 8 h 12"/>
                <a:gd name="T10" fmla="*/ 12 w 12"/>
                <a:gd name="T11" fmla="*/ 4 h 12"/>
                <a:gd name="T12" fmla="*/ 8 w 12"/>
                <a:gd name="T13" fmla="*/ 4 h 12"/>
                <a:gd name="T14" fmla="*/ 8 w 12"/>
                <a:gd name="T15" fmla="*/ 0 h 12"/>
                <a:gd name="T16" fmla="*/ 4 w 12"/>
                <a:gd name="T17" fmla="*/ 0 h 12"/>
                <a:gd name="T18" fmla="*/ 4 w 12"/>
                <a:gd name="T19" fmla="*/ 4 h 12"/>
                <a:gd name="T20" fmla="*/ 0 w 12"/>
                <a:gd name="T2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12">
                  <a:moveTo>
                    <a:pt x="0" y="4"/>
                  </a:moveTo>
                  <a:lnTo>
                    <a:pt x="0" y="12"/>
                  </a:lnTo>
                  <a:lnTo>
                    <a:pt x="8" y="12"/>
                  </a:lnTo>
                  <a:lnTo>
                    <a:pt x="8" y="8"/>
                  </a:lnTo>
                  <a:lnTo>
                    <a:pt x="12" y="8"/>
                  </a:lnTo>
                  <a:lnTo>
                    <a:pt x="12" y="4"/>
                  </a:lnTo>
                  <a:lnTo>
                    <a:pt x="8" y="4"/>
                  </a:lnTo>
                  <a:lnTo>
                    <a:pt x="8" y="0"/>
                  </a:lnTo>
                  <a:lnTo>
                    <a:pt x="4" y="0"/>
                  </a:lnTo>
                  <a:lnTo>
                    <a:pt x="4"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7" name="Freeform 917"/>
            <p:cNvSpPr/>
            <p:nvPr/>
          </p:nvSpPr>
          <p:spPr bwMode="auto">
            <a:xfrm>
              <a:off x="4700" y="958"/>
              <a:ext cx="11" cy="7"/>
            </a:xfrm>
            <a:custGeom>
              <a:avLst/>
              <a:gdLst>
                <a:gd name="T0" fmla="*/ 3 w 11"/>
                <a:gd name="T1" fmla="*/ 3 h 7"/>
                <a:gd name="T2" fmla="*/ 0 w 11"/>
                <a:gd name="T3" fmla="*/ 3 h 7"/>
                <a:gd name="T4" fmla="*/ 3 w 11"/>
                <a:gd name="T5" fmla="*/ 7 h 7"/>
                <a:gd name="T6" fmla="*/ 7 w 11"/>
                <a:gd name="T7" fmla="*/ 7 h 7"/>
                <a:gd name="T8" fmla="*/ 11 w 11"/>
                <a:gd name="T9" fmla="*/ 3 h 7"/>
                <a:gd name="T10" fmla="*/ 11 w 11"/>
                <a:gd name="T11" fmla="*/ 0 h 7"/>
                <a:gd name="T12" fmla="*/ 3 w 11"/>
                <a:gd name="T13" fmla="*/ 0 h 7"/>
                <a:gd name="T14" fmla="*/ 3 w 11"/>
                <a:gd name="T15" fmla="*/ 3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7">
                  <a:moveTo>
                    <a:pt x="3" y="3"/>
                  </a:moveTo>
                  <a:lnTo>
                    <a:pt x="0" y="3"/>
                  </a:lnTo>
                  <a:lnTo>
                    <a:pt x="3" y="7"/>
                  </a:lnTo>
                  <a:lnTo>
                    <a:pt x="7" y="7"/>
                  </a:lnTo>
                  <a:lnTo>
                    <a:pt x="11" y="3"/>
                  </a:lnTo>
                  <a:lnTo>
                    <a:pt x="11" y="0"/>
                  </a:lnTo>
                  <a:lnTo>
                    <a:pt x="3" y="0"/>
                  </a:lnTo>
                  <a:lnTo>
                    <a:pt x="3" y="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8" name="Freeform 918"/>
            <p:cNvSpPr/>
            <p:nvPr/>
          </p:nvSpPr>
          <p:spPr bwMode="auto">
            <a:xfrm>
              <a:off x="4715" y="942"/>
              <a:ext cx="11" cy="12"/>
            </a:xfrm>
            <a:custGeom>
              <a:avLst/>
              <a:gdLst>
                <a:gd name="T0" fmla="*/ 0 w 11"/>
                <a:gd name="T1" fmla="*/ 4 h 12"/>
                <a:gd name="T2" fmla="*/ 0 w 11"/>
                <a:gd name="T3" fmla="*/ 12 h 12"/>
                <a:gd name="T4" fmla="*/ 8 w 11"/>
                <a:gd name="T5" fmla="*/ 12 h 12"/>
                <a:gd name="T6" fmla="*/ 8 w 11"/>
                <a:gd name="T7" fmla="*/ 8 h 12"/>
                <a:gd name="T8" fmla="*/ 11 w 11"/>
                <a:gd name="T9" fmla="*/ 4 h 12"/>
                <a:gd name="T10" fmla="*/ 8 w 11"/>
                <a:gd name="T11" fmla="*/ 4 h 12"/>
                <a:gd name="T12" fmla="*/ 8 w 11"/>
                <a:gd name="T13" fmla="*/ 0 h 12"/>
                <a:gd name="T14" fmla="*/ 4 w 11"/>
                <a:gd name="T15" fmla="*/ 0 h 12"/>
                <a:gd name="T16" fmla="*/ 0 w 11"/>
                <a:gd name="T1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2">
                  <a:moveTo>
                    <a:pt x="0" y="4"/>
                  </a:moveTo>
                  <a:lnTo>
                    <a:pt x="0" y="12"/>
                  </a:lnTo>
                  <a:lnTo>
                    <a:pt x="8" y="12"/>
                  </a:lnTo>
                  <a:lnTo>
                    <a:pt x="8" y="8"/>
                  </a:lnTo>
                  <a:lnTo>
                    <a:pt x="11" y="4"/>
                  </a:lnTo>
                  <a:lnTo>
                    <a:pt x="8" y="4"/>
                  </a:lnTo>
                  <a:lnTo>
                    <a:pt x="8"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59" name="Freeform 919"/>
            <p:cNvSpPr/>
            <p:nvPr/>
          </p:nvSpPr>
          <p:spPr bwMode="auto">
            <a:xfrm>
              <a:off x="4726" y="927"/>
              <a:ext cx="12" cy="11"/>
            </a:xfrm>
            <a:custGeom>
              <a:avLst/>
              <a:gdLst>
                <a:gd name="T0" fmla="*/ 4 w 12"/>
                <a:gd name="T1" fmla="*/ 8 h 11"/>
                <a:gd name="T2" fmla="*/ 0 w 12"/>
                <a:gd name="T3" fmla="*/ 8 h 11"/>
                <a:gd name="T4" fmla="*/ 0 w 12"/>
                <a:gd name="T5" fmla="*/ 11 h 11"/>
                <a:gd name="T6" fmla="*/ 8 w 12"/>
                <a:gd name="T7" fmla="*/ 11 h 11"/>
                <a:gd name="T8" fmla="*/ 12 w 12"/>
                <a:gd name="T9" fmla="*/ 8 h 11"/>
                <a:gd name="T10" fmla="*/ 12 w 12"/>
                <a:gd name="T11" fmla="*/ 4 h 11"/>
                <a:gd name="T12" fmla="*/ 8 w 12"/>
                <a:gd name="T13" fmla="*/ 4 h 11"/>
                <a:gd name="T14" fmla="*/ 8 w 12"/>
                <a:gd name="T15" fmla="*/ 0 h 11"/>
                <a:gd name="T16" fmla="*/ 4 w 12"/>
                <a:gd name="T17" fmla="*/ 4 h 11"/>
                <a:gd name="T18" fmla="*/ 4 w 12"/>
                <a:gd name="T19"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1">
                  <a:moveTo>
                    <a:pt x="4" y="8"/>
                  </a:moveTo>
                  <a:lnTo>
                    <a:pt x="0" y="8"/>
                  </a:lnTo>
                  <a:lnTo>
                    <a:pt x="0" y="11"/>
                  </a:lnTo>
                  <a:lnTo>
                    <a:pt x="8" y="11"/>
                  </a:lnTo>
                  <a:lnTo>
                    <a:pt x="12" y="8"/>
                  </a:lnTo>
                  <a:lnTo>
                    <a:pt x="12" y="4"/>
                  </a:lnTo>
                  <a:lnTo>
                    <a:pt x="8" y="4"/>
                  </a:lnTo>
                  <a:lnTo>
                    <a:pt x="8" y="0"/>
                  </a:lnTo>
                  <a:lnTo>
                    <a:pt x="4" y="4"/>
                  </a:lnTo>
                  <a:lnTo>
                    <a:pt x="4"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0" name="Freeform 920"/>
            <p:cNvSpPr/>
            <p:nvPr/>
          </p:nvSpPr>
          <p:spPr bwMode="auto">
            <a:xfrm>
              <a:off x="4742" y="915"/>
              <a:ext cx="7" cy="12"/>
            </a:xfrm>
            <a:custGeom>
              <a:avLst/>
              <a:gdLst>
                <a:gd name="T0" fmla="*/ 0 w 7"/>
                <a:gd name="T1" fmla="*/ 4 h 12"/>
                <a:gd name="T2" fmla="*/ 0 w 7"/>
                <a:gd name="T3" fmla="*/ 8 h 12"/>
                <a:gd name="T4" fmla="*/ 4 w 7"/>
                <a:gd name="T5" fmla="*/ 12 h 12"/>
                <a:gd name="T6" fmla="*/ 4 w 7"/>
                <a:gd name="T7" fmla="*/ 8 h 12"/>
                <a:gd name="T8" fmla="*/ 7 w 7"/>
                <a:gd name="T9" fmla="*/ 8 h 12"/>
                <a:gd name="T10" fmla="*/ 7 w 7"/>
                <a:gd name="T11" fmla="*/ 0 h 12"/>
                <a:gd name="T12" fmla="*/ 4 w 7"/>
                <a:gd name="T13" fmla="*/ 0 h 12"/>
                <a:gd name="T14" fmla="*/ 0 w 7"/>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4"/>
                  </a:moveTo>
                  <a:lnTo>
                    <a:pt x="0" y="8"/>
                  </a:lnTo>
                  <a:lnTo>
                    <a:pt x="4" y="12"/>
                  </a:lnTo>
                  <a:lnTo>
                    <a:pt x="4" y="8"/>
                  </a:lnTo>
                  <a:lnTo>
                    <a:pt x="7" y="8"/>
                  </a:lnTo>
                  <a:lnTo>
                    <a:pt x="7"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1" name="Freeform 921"/>
            <p:cNvSpPr/>
            <p:nvPr/>
          </p:nvSpPr>
          <p:spPr bwMode="auto">
            <a:xfrm>
              <a:off x="4753" y="900"/>
              <a:ext cx="12" cy="12"/>
            </a:xfrm>
            <a:custGeom>
              <a:avLst/>
              <a:gdLst>
                <a:gd name="T0" fmla="*/ 0 w 12"/>
                <a:gd name="T1" fmla="*/ 4 h 12"/>
                <a:gd name="T2" fmla="*/ 0 w 12"/>
                <a:gd name="T3" fmla="*/ 8 h 12"/>
                <a:gd name="T4" fmla="*/ 4 w 12"/>
                <a:gd name="T5" fmla="*/ 12 h 12"/>
                <a:gd name="T6" fmla="*/ 8 w 12"/>
                <a:gd name="T7" fmla="*/ 12 h 12"/>
                <a:gd name="T8" fmla="*/ 12 w 12"/>
                <a:gd name="T9" fmla="*/ 8 h 12"/>
                <a:gd name="T10" fmla="*/ 12 w 12"/>
                <a:gd name="T11" fmla="*/ 0 h 12"/>
                <a:gd name="T12" fmla="*/ 4 w 12"/>
                <a:gd name="T13" fmla="*/ 0 h 12"/>
                <a:gd name="T14" fmla="*/ 0 w 12"/>
                <a:gd name="T15" fmla="*/ 4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2">
                  <a:moveTo>
                    <a:pt x="0" y="4"/>
                  </a:moveTo>
                  <a:lnTo>
                    <a:pt x="0" y="8"/>
                  </a:lnTo>
                  <a:lnTo>
                    <a:pt x="4" y="12"/>
                  </a:lnTo>
                  <a:lnTo>
                    <a:pt x="8" y="12"/>
                  </a:lnTo>
                  <a:lnTo>
                    <a:pt x="12" y="8"/>
                  </a:lnTo>
                  <a:lnTo>
                    <a:pt x="12" y="0"/>
                  </a:lnTo>
                  <a:lnTo>
                    <a:pt x="4"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3" name="Freeform 923"/>
            <p:cNvSpPr/>
            <p:nvPr/>
          </p:nvSpPr>
          <p:spPr bwMode="auto">
            <a:xfrm>
              <a:off x="4761" y="885"/>
              <a:ext cx="8" cy="11"/>
            </a:xfrm>
            <a:custGeom>
              <a:avLst/>
              <a:gdLst>
                <a:gd name="T0" fmla="*/ 0 w 8"/>
                <a:gd name="T1" fmla="*/ 7 h 11"/>
                <a:gd name="T2" fmla="*/ 4 w 8"/>
                <a:gd name="T3" fmla="*/ 7 h 11"/>
                <a:gd name="T4" fmla="*/ 4 w 8"/>
                <a:gd name="T5" fmla="*/ 11 h 11"/>
                <a:gd name="T6" fmla="*/ 8 w 8"/>
                <a:gd name="T7" fmla="*/ 11 h 11"/>
                <a:gd name="T8" fmla="*/ 8 w 8"/>
                <a:gd name="T9" fmla="*/ 0 h 11"/>
                <a:gd name="T10" fmla="*/ 0 w 8"/>
                <a:gd name="T11" fmla="*/ 0 h 11"/>
                <a:gd name="T12" fmla="*/ 0 w 8"/>
                <a:gd name="T13" fmla="*/ 3 h 11"/>
                <a:gd name="T14" fmla="*/ 0 w 8"/>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1">
                  <a:moveTo>
                    <a:pt x="0" y="7"/>
                  </a:moveTo>
                  <a:lnTo>
                    <a:pt x="4" y="7"/>
                  </a:lnTo>
                  <a:lnTo>
                    <a:pt x="4" y="11"/>
                  </a:lnTo>
                  <a:lnTo>
                    <a:pt x="8" y="11"/>
                  </a:lnTo>
                  <a:lnTo>
                    <a:pt x="8"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4" name="Freeform 924"/>
            <p:cNvSpPr/>
            <p:nvPr/>
          </p:nvSpPr>
          <p:spPr bwMode="auto">
            <a:xfrm>
              <a:off x="4765" y="865"/>
              <a:ext cx="7" cy="12"/>
            </a:xfrm>
            <a:custGeom>
              <a:avLst/>
              <a:gdLst>
                <a:gd name="T0" fmla="*/ 0 w 7"/>
                <a:gd name="T1" fmla="*/ 8 h 12"/>
                <a:gd name="T2" fmla="*/ 0 w 7"/>
                <a:gd name="T3" fmla="*/ 12 h 12"/>
                <a:gd name="T4" fmla="*/ 4 w 7"/>
                <a:gd name="T5" fmla="*/ 12 h 12"/>
                <a:gd name="T6" fmla="*/ 4 w 7"/>
                <a:gd name="T7" fmla="*/ 8 h 12"/>
                <a:gd name="T8" fmla="*/ 7 w 7"/>
                <a:gd name="T9" fmla="*/ 8 h 12"/>
                <a:gd name="T10" fmla="*/ 7 w 7"/>
                <a:gd name="T11" fmla="*/ 0 h 12"/>
                <a:gd name="T12" fmla="*/ 0 w 7"/>
                <a:gd name="T13" fmla="*/ 0 h 12"/>
                <a:gd name="T14" fmla="*/ 0 w 7"/>
                <a:gd name="T15" fmla="*/ 4 h 12"/>
                <a:gd name="T16" fmla="*/ 0 w 7"/>
                <a:gd name="T17"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8"/>
                  </a:moveTo>
                  <a:lnTo>
                    <a:pt x="0" y="12"/>
                  </a:lnTo>
                  <a:lnTo>
                    <a:pt x="4" y="12"/>
                  </a:lnTo>
                  <a:lnTo>
                    <a:pt x="4" y="8"/>
                  </a:lnTo>
                  <a:lnTo>
                    <a:pt x="7" y="8"/>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5" name="Freeform 925"/>
            <p:cNvSpPr/>
            <p:nvPr/>
          </p:nvSpPr>
          <p:spPr bwMode="auto">
            <a:xfrm>
              <a:off x="4765" y="846"/>
              <a:ext cx="7" cy="12"/>
            </a:xfrm>
            <a:custGeom>
              <a:avLst/>
              <a:gdLst>
                <a:gd name="T0" fmla="*/ 0 w 7"/>
                <a:gd name="T1" fmla="*/ 8 h 12"/>
                <a:gd name="T2" fmla="*/ 4 w 7"/>
                <a:gd name="T3" fmla="*/ 12 h 12"/>
                <a:gd name="T4" fmla="*/ 7 w 7"/>
                <a:gd name="T5" fmla="*/ 8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4" y="12"/>
                  </a:lnTo>
                  <a:lnTo>
                    <a:pt x="7" y="8"/>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6" name="Freeform 926"/>
            <p:cNvSpPr/>
            <p:nvPr/>
          </p:nvSpPr>
          <p:spPr bwMode="auto">
            <a:xfrm>
              <a:off x="4765" y="827"/>
              <a:ext cx="7" cy="12"/>
            </a:xfrm>
            <a:custGeom>
              <a:avLst/>
              <a:gdLst>
                <a:gd name="T0" fmla="*/ 0 w 7"/>
                <a:gd name="T1" fmla="*/ 8 h 12"/>
                <a:gd name="T2" fmla="*/ 4 w 7"/>
                <a:gd name="T3" fmla="*/ 8 h 12"/>
                <a:gd name="T4" fmla="*/ 4 w 7"/>
                <a:gd name="T5" fmla="*/ 12 h 12"/>
                <a:gd name="T6" fmla="*/ 7 w 7"/>
                <a:gd name="T7" fmla="*/ 12 h 12"/>
                <a:gd name="T8" fmla="*/ 7 w 7"/>
                <a:gd name="T9" fmla="*/ 0 h 12"/>
                <a:gd name="T10" fmla="*/ 0 w 7"/>
                <a:gd name="T11" fmla="*/ 0 h 12"/>
                <a:gd name="T12" fmla="*/ 0 w 7"/>
                <a:gd name="T13" fmla="*/ 4 h 12"/>
                <a:gd name="T14" fmla="*/ 0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0" y="8"/>
                  </a:moveTo>
                  <a:lnTo>
                    <a:pt x="4" y="8"/>
                  </a:lnTo>
                  <a:lnTo>
                    <a:pt x="4"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7" name="Freeform 927"/>
            <p:cNvSpPr/>
            <p:nvPr/>
          </p:nvSpPr>
          <p:spPr bwMode="auto">
            <a:xfrm>
              <a:off x="4769" y="808"/>
              <a:ext cx="7" cy="11"/>
            </a:xfrm>
            <a:custGeom>
              <a:avLst/>
              <a:gdLst>
                <a:gd name="T0" fmla="*/ 0 w 7"/>
                <a:gd name="T1" fmla="*/ 8 h 11"/>
                <a:gd name="T2" fmla="*/ 0 w 7"/>
                <a:gd name="T3" fmla="*/ 11 h 11"/>
                <a:gd name="T4" fmla="*/ 3 w 7"/>
                <a:gd name="T5" fmla="*/ 11 h 11"/>
                <a:gd name="T6" fmla="*/ 3 w 7"/>
                <a:gd name="T7" fmla="*/ 8 h 11"/>
                <a:gd name="T8" fmla="*/ 7 w 7"/>
                <a:gd name="T9" fmla="*/ 8 h 11"/>
                <a:gd name="T10" fmla="*/ 7 w 7"/>
                <a:gd name="T11" fmla="*/ 0 h 11"/>
                <a:gd name="T12" fmla="*/ 0 w 7"/>
                <a:gd name="T13" fmla="*/ 0 h 11"/>
                <a:gd name="T14" fmla="*/ 0 w 7"/>
                <a:gd name="T15" fmla="*/ 4 h 11"/>
                <a:gd name="T16" fmla="*/ 0 w 7"/>
                <a:gd name="T17"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1">
                  <a:moveTo>
                    <a:pt x="0" y="8"/>
                  </a:moveTo>
                  <a:lnTo>
                    <a:pt x="0" y="11"/>
                  </a:lnTo>
                  <a:lnTo>
                    <a:pt x="3" y="11"/>
                  </a:lnTo>
                  <a:lnTo>
                    <a:pt x="3" y="8"/>
                  </a:lnTo>
                  <a:lnTo>
                    <a:pt x="7" y="8"/>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8" name="Freeform 928"/>
            <p:cNvSpPr/>
            <p:nvPr/>
          </p:nvSpPr>
          <p:spPr bwMode="auto">
            <a:xfrm>
              <a:off x="4769" y="789"/>
              <a:ext cx="7" cy="11"/>
            </a:xfrm>
            <a:custGeom>
              <a:avLst/>
              <a:gdLst>
                <a:gd name="T0" fmla="*/ 0 w 7"/>
                <a:gd name="T1" fmla="*/ 7 h 11"/>
                <a:gd name="T2" fmla="*/ 0 w 7"/>
                <a:gd name="T3" fmla="*/ 11 h 11"/>
                <a:gd name="T4" fmla="*/ 3 w 7"/>
                <a:gd name="T5" fmla="*/ 11 h 11"/>
                <a:gd name="T6" fmla="*/ 7 w 7"/>
                <a:gd name="T7" fmla="*/ 7 h 11"/>
                <a:gd name="T8" fmla="*/ 7 w 7"/>
                <a:gd name="T9" fmla="*/ 0 h 11"/>
                <a:gd name="T10" fmla="*/ 0 w 7"/>
                <a:gd name="T11" fmla="*/ 0 h 11"/>
                <a:gd name="T12" fmla="*/ 0 w 7"/>
                <a:gd name="T13" fmla="*/ 4 h 11"/>
                <a:gd name="T14" fmla="*/ 0 w 7"/>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1">
                  <a:moveTo>
                    <a:pt x="0" y="7"/>
                  </a:moveTo>
                  <a:lnTo>
                    <a:pt x="0" y="11"/>
                  </a:lnTo>
                  <a:lnTo>
                    <a:pt x="3" y="11"/>
                  </a:lnTo>
                  <a:lnTo>
                    <a:pt x="7" y="7"/>
                  </a:lnTo>
                  <a:lnTo>
                    <a:pt x="7"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69" name="Freeform 929"/>
            <p:cNvSpPr/>
            <p:nvPr/>
          </p:nvSpPr>
          <p:spPr bwMode="auto">
            <a:xfrm>
              <a:off x="4769" y="769"/>
              <a:ext cx="7" cy="12"/>
            </a:xfrm>
            <a:custGeom>
              <a:avLst/>
              <a:gdLst>
                <a:gd name="T0" fmla="*/ 0 w 7"/>
                <a:gd name="T1" fmla="*/ 8 h 12"/>
                <a:gd name="T2" fmla="*/ 3 w 7"/>
                <a:gd name="T3" fmla="*/ 12 h 12"/>
                <a:gd name="T4" fmla="*/ 7 w 7"/>
                <a:gd name="T5" fmla="*/ 12 h 12"/>
                <a:gd name="T6" fmla="*/ 7 w 7"/>
                <a:gd name="T7" fmla="*/ 0 h 12"/>
                <a:gd name="T8" fmla="*/ 0 w 7"/>
                <a:gd name="T9" fmla="*/ 0 h 12"/>
                <a:gd name="T10" fmla="*/ 0 w 7"/>
                <a:gd name="T11" fmla="*/ 4 h 12"/>
                <a:gd name="T12" fmla="*/ 0 w 7"/>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7" h="12">
                  <a:moveTo>
                    <a:pt x="0" y="8"/>
                  </a:moveTo>
                  <a:lnTo>
                    <a:pt x="3" y="12"/>
                  </a:lnTo>
                  <a:lnTo>
                    <a:pt x="7" y="12"/>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0" name="Freeform 930"/>
            <p:cNvSpPr/>
            <p:nvPr/>
          </p:nvSpPr>
          <p:spPr bwMode="auto">
            <a:xfrm>
              <a:off x="4772" y="750"/>
              <a:ext cx="8" cy="12"/>
            </a:xfrm>
            <a:custGeom>
              <a:avLst/>
              <a:gdLst>
                <a:gd name="T0" fmla="*/ 0 w 8"/>
                <a:gd name="T1" fmla="*/ 8 h 12"/>
                <a:gd name="T2" fmla="*/ 0 w 8"/>
                <a:gd name="T3" fmla="*/ 12 h 12"/>
                <a:gd name="T4" fmla="*/ 4 w 8"/>
                <a:gd name="T5" fmla="*/ 12 h 12"/>
                <a:gd name="T6" fmla="*/ 4 w 8"/>
                <a:gd name="T7" fmla="*/ 8 h 12"/>
                <a:gd name="T8" fmla="*/ 8 w 8"/>
                <a:gd name="T9" fmla="*/ 8 h 12"/>
                <a:gd name="T10" fmla="*/ 8 w 8"/>
                <a:gd name="T11" fmla="*/ 0 h 12"/>
                <a:gd name="T12" fmla="*/ 0 w 8"/>
                <a:gd name="T13" fmla="*/ 0 h 12"/>
                <a:gd name="T14" fmla="*/ 0 w 8"/>
                <a:gd name="T15" fmla="*/ 4 h 12"/>
                <a:gd name="T16" fmla="*/ 0 w 8"/>
                <a:gd name="T17"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2">
                  <a:moveTo>
                    <a:pt x="0" y="8"/>
                  </a:moveTo>
                  <a:lnTo>
                    <a:pt x="0" y="12"/>
                  </a:lnTo>
                  <a:lnTo>
                    <a:pt x="4" y="12"/>
                  </a:lnTo>
                  <a:lnTo>
                    <a:pt x="4" y="8"/>
                  </a:lnTo>
                  <a:lnTo>
                    <a:pt x="8" y="8"/>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1" name="Freeform 931"/>
            <p:cNvSpPr/>
            <p:nvPr/>
          </p:nvSpPr>
          <p:spPr bwMode="auto">
            <a:xfrm>
              <a:off x="4772" y="731"/>
              <a:ext cx="8" cy="12"/>
            </a:xfrm>
            <a:custGeom>
              <a:avLst/>
              <a:gdLst>
                <a:gd name="T0" fmla="*/ 0 w 8"/>
                <a:gd name="T1" fmla="*/ 8 h 12"/>
                <a:gd name="T2" fmla="*/ 0 w 8"/>
                <a:gd name="T3" fmla="*/ 12 h 12"/>
                <a:gd name="T4" fmla="*/ 4 w 8"/>
                <a:gd name="T5" fmla="*/ 12 h 12"/>
                <a:gd name="T6" fmla="*/ 8 w 8"/>
                <a:gd name="T7" fmla="*/ 8 h 12"/>
                <a:gd name="T8" fmla="*/ 8 w 8"/>
                <a:gd name="T9" fmla="*/ 0 h 12"/>
                <a:gd name="T10" fmla="*/ 0 w 8"/>
                <a:gd name="T11" fmla="*/ 0 h 12"/>
                <a:gd name="T12" fmla="*/ 0 w 8"/>
                <a:gd name="T13" fmla="*/ 4 h 12"/>
                <a:gd name="T14" fmla="*/ 0 w 8"/>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8"/>
                  </a:moveTo>
                  <a:lnTo>
                    <a:pt x="0" y="12"/>
                  </a:lnTo>
                  <a:lnTo>
                    <a:pt x="4" y="12"/>
                  </a:lnTo>
                  <a:lnTo>
                    <a:pt x="8" y="8"/>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2" name="Freeform 932"/>
            <p:cNvSpPr/>
            <p:nvPr/>
          </p:nvSpPr>
          <p:spPr bwMode="auto">
            <a:xfrm>
              <a:off x="4772" y="712"/>
              <a:ext cx="8" cy="11"/>
            </a:xfrm>
            <a:custGeom>
              <a:avLst/>
              <a:gdLst>
                <a:gd name="T0" fmla="*/ 0 w 8"/>
                <a:gd name="T1" fmla="*/ 8 h 11"/>
                <a:gd name="T2" fmla="*/ 4 w 8"/>
                <a:gd name="T3" fmla="*/ 8 h 11"/>
                <a:gd name="T4" fmla="*/ 4 w 8"/>
                <a:gd name="T5" fmla="*/ 11 h 11"/>
                <a:gd name="T6" fmla="*/ 8 w 8"/>
                <a:gd name="T7" fmla="*/ 11 h 11"/>
                <a:gd name="T8" fmla="*/ 8 w 8"/>
                <a:gd name="T9" fmla="*/ 0 h 11"/>
                <a:gd name="T10" fmla="*/ 0 w 8"/>
                <a:gd name="T11" fmla="*/ 0 h 11"/>
                <a:gd name="T12" fmla="*/ 0 w 8"/>
                <a:gd name="T13" fmla="*/ 4 h 11"/>
                <a:gd name="T14" fmla="*/ 0 w 8"/>
                <a:gd name="T15" fmla="*/ 8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1">
                  <a:moveTo>
                    <a:pt x="0" y="8"/>
                  </a:moveTo>
                  <a:lnTo>
                    <a:pt x="4" y="8"/>
                  </a:lnTo>
                  <a:lnTo>
                    <a:pt x="4" y="11"/>
                  </a:lnTo>
                  <a:lnTo>
                    <a:pt x="8" y="11"/>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3" name="Freeform 933"/>
            <p:cNvSpPr/>
            <p:nvPr/>
          </p:nvSpPr>
          <p:spPr bwMode="auto">
            <a:xfrm>
              <a:off x="4776" y="693"/>
              <a:ext cx="8" cy="11"/>
            </a:xfrm>
            <a:custGeom>
              <a:avLst/>
              <a:gdLst>
                <a:gd name="T0" fmla="*/ 0 w 8"/>
                <a:gd name="T1" fmla="*/ 7 h 11"/>
                <a:gd name="T2" fmla="*/ 0 w 8"/>
                <a:gd name="T3" fmla="*/ 11 h 11"/>
                <a:gd name="T4" fmla="*/ 4 w 8"/>
                <a:gd name="T5" fmla="*/ 11 h 11"/>
                <a:gd name="T6" fmla="*/ 4 w 8"/>
                <a:gd name="T7" fmla="*/ 7 h 11"/>
                <a:gd name="T8" fmla="*/ 8 w 8"/>
                <a:gd name="T9" fmla="*/ 7 h 11"/>
                <a:gd name="T10" fmla="*/ 8 w 8"/>
                <a:gd name="T11" fmla="*/ 0 h 11"/>
                <a:gd name="T12" fmla="*/ 0 w 8"/>
                <a:gd name="T13" fmla="*/ 0 h 11"/>
                <a:gd name="T14" fmla="*/ 0 w 8"/>
                <a:gd name="T15" fmla="*/ 4 h 11"/>
                <a:gd name="T16" fmla="*/ 0 w 8"/>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1">
                  <a:moveTo>
                    <a:pt x="0" y="7"/>
                  </a:moveTo>
                  <a:lnTo>
                    <a:pt x="0" y="11"/>
                  </a:lnTo>
                  <a:lnTo>
                    <a:pt x="4" y="11"/>
                  </a:lnTo>
                  <a:lnTo>
                    <a:pt x="4" y="7"/>
                  </a:lnTo>
                  <a:lnTo>
                    <a:pt x="8" y="7"/>
                  </a:lnTo>
                  <a:lnTo>
                    <a:pt x="8"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4" name="Freeform 934"/>
            <p:cNvSpPr/>
            <p:nvPr/>
          </p:nvSpPr>
          <p:spPr bwMode="auto">
            <a:xfrm>
              <a:off x="4776" y="673"/>
              <a:ext cx="8" cy="12"/>
            </a:xfrm>
            <a:custGeom>
              <a:avLst/>
              <a:gdLst>
                <a:gd name="T0" fmla="*/ 0 w 8"/>
                <a:gd name="T1" fmla="*/ 8 h 12"/>
                <a:gd name="T2" fmla="*/ 0 w 8"/>
                <a:gd name="T3" fmla="*/ 12 h 12"/>
                <a:gd name="T4" fmla="*/ 8 w 8"/>
                <a:gd name="T5" fmla="*/ 12 h 12"/>
                <a:gd name="T6" fmla="*/ 8 w 8"/>
                <a:gd name="T7" fmla="*/ 0 h 12"/>
                <a:gd name="T8" fmla="*/ 0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5" name="Freeform 935"/>
            <p:cNvSpPr/>
            <p:nvPr/>
          </p:nvSpPr>
          <p:spPr bwMode="auto">
            <a:xfrm>
              <a:off x="4776" y="654"/>
              <a:ext cx="8" cy="12"/>
            </a:xfrm>
            <a:custGeom>
              <a:avLst/>
              <a:gdLst>
                <a:gd name="T0" fmla="*/ 0 w 8"/>
                <a:gd name="T1" fmla="*/ 8 h 12"/>
                <a:gd name="T2" fmla="*/ 4 w 8"/>
                <a:gd name="T3" fmla="*/ 8 h 12"/>
                <a:gd name="T4" fmla="*/ 4 w 8"/>
                <a:gd name="T5" fmla="*/ 12 h 12"/>
                <a:gd name="T6" fmla="*/ 8 w 8"/>
                <a:gd name="T7" fmla="*/ 12 h 12"/>
                <a:gd name="T8" fmla="*/ 8 w 8"/>
                <a:gd name="T9" fmla="*/ 0 h 12"/>
                <a:gd name="T10" fmla="*/ 0 w 8"/>
                <a:gd name="T11" fmla="*/ 0 h 12"/>
                <a:gd name="T12" fmla="*/ 0 w 8"/>
                <a:gd name="T13" fmla="*/ 4 h 12"/>
                <a:gd name="T14" fmla="*/ 0 w 8"/>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8"/>
                  </a:moveTo>
                  <a:lnTo>
                    <a:pt x="4" y="8"/>
                  </a:lnTo>
                  <a:lnTo>
                    <a:pt x="4"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6" name="Freeform 936"/>
            <p:cNvSpPr/>
            <p:nvPr/>
          </p:nvSpPr>
          <p:spPr bwMode="auto">
            <a:xfrm>
              <a:off x="4780" y="635"/>
              <a:ext cx="8" cy="12"/>
            </a:xfrm>
            <a:custGeom>
              <a:avLst/>
              <a:gdLst>
                <a:gd name="T0" fmla="*/ 0 w 8"/>
                <a:gd name="T1" fmla="*/ 8 h 12"/>
                <a:gd name="T2" fmla="*/ 0 w 8"/>
                <a:gd name="T3" fmla="*/ 12 h 12"/>
                <a:gd name="T4" fmla="*/ 4 w 8"/>
                <a:gd name="T5" fmla="*/ 12 h 12"/>
                <a:gd name="T6" fmla="*/ 4 w 8"/>
                <a:gd name="T7" fmla="*/ 8 h 12"/>
                <a:gd name="T8" fmla="*/ 8 w 8"/>
                <a:gd name="T9" fmla="*/ 8 h 12"/>
                <a:gd name="T10" fmla="*/ 8 w 8"/>
                <a:gd name="T11" fmla="*/ 0 h 12"/>
                <a:gd name="T12" fmla="*/ 0 w 8"/>
                <a:gd name="T13" fmla="*/ 0 h 12"/>
                <a:gd name="T14" fmla="*/ 0 w 8"/>
                <a:gd name="T15" fmla="*/ 4 h 12"/>
                <a:gd name="T16" fmla="*/ 0 w 8"/>
                <a:gd name="T17"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2">
                  <a:moveTo>
                    <a:pt x="0" y="8"/>
                  </a:moveTo>
                  <a:lnTo>
                    <a:pt x="0" y="12"/>
                  </a:lnTo>
                  <a:lnTo>
                    <a:pt x="4" y="12"/>
                  </a:lnTo>
                  <a:lnTo>
                    <a:pt x="4" y="8"/>
                  </a:lnTo>
                  <a:lnTo>
                    <a:pt x="8" y="8"/>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7" name="Freeform 937"/>
            <p:cNvSpPr/>
            <p:nvPr/>
          </p:nvSpPr>
          <p:spPr bwMode="auto">
            <a:xfrm>
              <a:off x="4780" y="616"/>
              <a:ext cx="8" cy="11"/>
            </a:xfrm>
            <a:custGeom>
              <a:avLst/>
              <a:gdLst>
                <a:gd name="T0" fmla="*/ 0 w 8"/>
                <a:gd name="T1" fmla="*/ 8 h 11"/>
                <a:gd name="T2" fmla="*/ 0 w 8"/>
                <a:gd name="T3" fmla="*/ 11 h 11"/>
                <a:gd name="T4" fmla="*/ 8 w 8"/>
                <a:gd name="T5" fmla="*/ 11 h 11"/>
                <a:gd name="T6" fmla="*/ 8 w 8"/>
                <a:gd name="T7" fmla="*/ 0 h 11"/>
                <a:gd name="T8" fmla="*/ 0 w 8"/>
                <a:gd name="T9" fmla="*/ 0 h 11"/>
                <a:gd name="T10" fmla="*/ 0 w 8"/>
                <a:gd name="T11" fmla="*/ 4 h 11"/>
                <a:gd name="T12" fmla="*/ 0 w 8"/>
                <a:gd name="T13" fmla="*/ 8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0" y="8"/>
                  </a:moveTo>
                  <a:lnTo>
                    <a:pt x="0" y="11"/>
                  </a:lnTo>
                  <a:lnTo>
                    <a:pt x="8" y="11"/>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8" name="Freeform 938"/>
            <p:cNvSpPr/>
            <p:nvPr/>
          </p:nvSpPr>
          <p:spPr bwMode="auto">
            <a:xfrm>
              <a:off x="4780" y="597"/>
              <a:ext cx="8" cy="11"/>
            </a:xfrm>
            <a:custGeom>
              <a:avLst/>
              <a:gdLst>
                <a:gd name="T0" fmla="*/ 0 w 8"/>
                <a:gd name="T1" fmla="*/ 7 h 11"/>
                <a:gd name="T2" fmla="*/ 4 w 8"/>
                <a:gd name="T3" fmla="*/ 7 h 11"/>
                <a:gd name="T4" fmla="*/ 4 w 8"/>
                <a:gd name="T5" fmla="*/ 11 h 11"/>
                <a:gd name="T6" fmla="*/ 8 w 8"/>
                <a:gd name="T7" fmla="*/ 11 h 11"/>
                <a:gd name="T8" fmla="*/ 8 w 8"/>
                <a:gd name="T9" fmla="*/ 0 h 11"/>
                <a:gd name="T10" fmla="*/ 0 w 8"/>
                <a:gd name="T11" fmla="*/ 0 h 11"/>
                <a:gd name="T12" fmla="*/ 0 w 8"/>
                <a:gd name="T13" fmla="*/ 4 h 11"/>
                <a:gd name="T14" fmla="*/ 0 w 8"/>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1">
                  <a:moveTo>
                    <a:pt x="0" y="7"/>
                  </a:moveTo>
                  <a:lnTo>
                    <a:pt x="4" y="7"/>
                  </a:lnTo>
                  <a:lnTo>
                    <a:pt x="4" y="11"/>
                  </a:lnTo>
                  <a:lnTo>
                    <a:pt x="8" y="11"/>
                  </a:lnTo>
                  <a:lnTo>
                    <a:pt x="8" y="0"/>
                  </a:lnTo>
                  <a:lnTo>
                    <a:pt x="0" y="0"/>
                  </a:lnTo>
                  <a:lnTo>
                    <a:pt x="0" y="4"/>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79" name="Freeform 939"/>
            <p:cNvSpPr/>
            <p:nvPr/>
          </p:nvSpPr>
          <p:spPr bwMode="auto">
            <a:xfrm>
              <a:off x="4784" y="578"/>
              <a:ext cx="8" cy="11"/>
            </a:xfrm>
            <a:custGeom>
              <a:avLst/>
              <a:gdLst>
                <a:gd name="T0" fmla="*/ 0 w 8"/>
                <a:gd name="T1" fmla="*/ 7 h 11"/>
                <a:gd name="T2" fmla="*/ 0 w 8"/>
                <a:gd name="T3" fmla="*/ 11 h 11"/>
                <a:gd name="T4" fmla="*/ 4 w 8"/>
                <a:gd name="T5" fmla="*/ 11 h 11"/>
                <a:gd name="T6" fmla="*/ 8 w 8"/>
                <a:gd name="T7" fmla="*/ 7 h 11"/>
                <a:gd name="T8" fmla="*/ 8 w 8"/>
                <a:gd name="T9" fmla="*/ 0 h 11"/>
                <a:gd name="T10" fmla="*/ 0 w 8"/>
                <a:gd name="T11" fmla="*/ 0 h 11"/>
                <a:gd name="T12" fmla="*/ 0 w 8"/>
                <a:gd name="T13" fmla="*/ 3 h 11"/>
                <a:gd name="T14" fmla="*/ 0 w 8"/>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1">
                  <a:moveTo>
                    <a:pt x="0" y="7"/>
                  </a:moveTo>
                  <a:lnTo>
                    <a:pt x="0" y="11"/>
                  </a:lnTo>
                  <a:lnTo>
                    <a:pt x="4" y="11"/>
                  </a:lnTo>
                  <a:lnTo>
                    <a:pt x="8" y="7"/>
                  </a:lnTo>
                  <a:lnTo>
                    <a:pt x="8" y="0"/>
                  </a:lnTo>
                  <a:lnTo>
                    <a:pt x="0" y="0"/>
                  </a:lnTo>
                  <a:lnTo>
                    <a:pt x="0" y="3"/>
                  </a:lnTo>
                  <a:lnTo>
                    <a:pt x="0"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0" name="Freeform 940"/>
            <p:cNvSpPr/>
            <p:nvPr/>
          </p:nvSpPr>
          <p:spPr bwMode="auto">
            <a:xfrm>
              <a:off x="4784" y="558"/>
              <a:ext cx="8" cy="12"/>
            </a:xfrm>
            <a:custGeom>
              <a:avLst/>
              <a:gdLst>
                <a:gd name="T0" fmla="*/ 0 w 8"/>
                <a:gd name="T1" fmla="*/ 8 h 12"/>
                <a:gd name="T2" fmla="*/ 0 w 8"/>
                <a:gd name="T3" fmla="*/ 12 h 12"/>
                <a:gd name="T4" fmla="*/ 8 w 8"/>
                <a:gd name="T5" fmla="*/ 12 h 12"/>
                <a:gd name="T6" fmla="*/ 8 w 8"/>
                <a:gd name="T7" fmla="*/ 0 h 12"/>
                <a:gd name="T8" fmla="*/ 0 w 8"/>
                <a:gd name="T9" fmla="*/ 0 h 12"/>
                <a:gd name="T10" fmla="*/ 0 w 8"/>
                <a:gd name="T11" fmla="*/ 4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lnTo>
                    <a:pt x="0" y="12"/>
                  </a:lnTo>
                  <a:lnTo>
                    <a:pt x="8" y="12"/>
                  </a:lnTo>
                  <a:lnTo>
                    <a:pt x="8"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1" name="Freeform 941"/>
            <p:cNvSpPr/>
            <p:nvPr/>
          </p:nvSpPr>
          <p:spPr bwMode="auto">
            <a:xfrm>
              <a:off x="4784" y="539"/>
              <a:ext cx="8" cy="12"/>
            </a:xfrm>
            <a:custGeom>
              <a:avLst/>
              <a:gdLst>
                <a:gd name="T0" fmla="*/ 0 w 8"/>
                <a:gd name="T1" fmla="*/ 8 h 12"/>
                <a:gd name="T2" fmla="*/ 4 w 8"/>
                <a:gd name="T3" fmla="*/ 12 h 12"/>
                <a:gd name="T4" fmla="*/ 8 w 8"/>
                <a:gd name="T5" fmla="*/ 12 h 12"/>
                <a:gd name="T6" fmla="*/ 8 w 8"/>
                <a:gd name="T7" fmla="*/ 0 h 12"/>
                <a:gd name="T8" fmla="*/ 4 w 8"/>
                <a:gd name="T9" fmla="*/ 0 h 12"/>
                <a:gd name="T10" fmla="*/ 4 w 8"/>
                <a:gd name="T11" fmla="*/ 4 h 12"/>
                <a:gd name="T12" fmla="*/ 0 w 8"/>
                <a:gd name="T13" fmla="*/ 4 h 12"/>
                <a:gd name="T14" fmla="*/ 0 w 8"/>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0" y="8"/>
                  </a:moveTo>
                  <a:lnTo>
                    <a:pt x="4" y="12"/>
                  </a:lnTo>
                  <a:lnTo>
                    <a:pt x="8" y="12"/>
                  </a:lnTo>
                  <a:lnTo>
                    <a:pt x="8" y="0"/>
                  </a:lnTo>
                  <a:lnTo>
                    <a:pt x="4" y="0"/>
                  </a:lnTo>
                  <a:lnTo>
                    <a:pt x="4" y="4"/>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2" name="Freeform 942"/>
            <p:cNvSpPr/>
            <p:nvPr/>
          </p:nvSpPr>
          <p:spPr bwMode="auto">
            <a:xfrm>
              <a:off x="4788" y="520"/>
              <a:ext cx="7" cy="11"/>
            </a:xfrm>
            <a:custGeom>
              <a:avLst/>
              <a:gdLst>
                <a:gd name="T0" fmla="*/ 0 w 7"/>
                <a:gd name="T1" fmla="*/ 8 h 11"/>
                <a:gd name="T2" fmla="*/ 0 w 7"/>
                <a:gd name="T3" fmla="*/ 11 h 11"/>
                <a:gd name="T4" fmla="*/ 4 w 7"/>
                <a:gd name="T5" fmla="*/ 11 h 11"/>
                <a:gd name="T6" fmla="*/ 7 w 7"/>
                <a:gd name="T7" fmla="*/ 8 h 11"/>
                <a:gd name="T8" fmla="*/ 7 w 7"/>
                <a:gd name="T9" fmla="*/ 0 h 11"/>
                <a:gd name="T10" fmla="*/ 0 w 7"/>
                <a:gd name="T11" fmla="*/ 0 h 11"/>
                <a:gd name="T12" fmla="*/ 0 w 7"/>
                <a:gd name="T13" fmla="*/ 4 h 11"/>
                <a:gd name="T14" fmla="*/ 0 w 7"/>
                <a:gd name="T15" fmla="*/ 8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1">
                  <a:moveTo>
                    <a:pt x="0" y="8"/>
                  </a:moveTo>
                  <a:lnTo>
                    <a:pt x="0" y="11"/>
                  </a:lnTo>
                  <a:lnTo>
                    <a:pt x="4" y="11"/>
                  </a:lnTo>
                  <a:lnTo>
                    <a:pt x="7" y="8"/>
                  </a:lnTo>
                  <a:lnTo>
                    <a:pt x="7" y="0"/>
                  </a:lnTo>
                  <a:lnTo>
                    <a:pt x="0" y="0"/>
                  </a:lnTo>
                  <a:lnTo>
                    <a:pt x="0" y="4"/>
                  </a:lnTo>
                  <a:lnTo>
                    <a:pt x="0"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3" name="Freeform 943"/>
            <p:cNvSpPr/>
            <p:nvPr/>
          </p:nvSpPr>
          <p:spPr bwMode="auto">
            <a:xfrm>
              <a:off x="5033" y="1127"/>
              <a:ext cx="12" cy="11"/>
            </a:xfrm>
            <a:custGeom>
              <a:avLst/>
              <a:gdLst>
                <a:gd name="T0" fmla="*/ 4 w 12"/>
                <a:gd name="T1" fmla="*/ 11 h 11"/>
                <a:gd name="T2" fmla="*/ 12 w 12"/>
                <a:gd name="T3" fmla="*/ 11 h 11"/>
                <a:gd name="T4" fmla="*/ 12 w 12"/>
                <a:gd name="T5" fmla="*/ 3 h 11"/>
                <a:gd name="T6" fmla="*/ 8 w 12"/>
                <a:gd name="T7" fmla="*/ 3 h 11"/>
                <a:gd name="T8" fmla="*/ 8 w 12"/>
                <a:gd name="T9" fmla="*/ 0 h 11"/>
                <a:gd name="T10" fmla="*/ 4 w 12"/>
                <a:gd name="T11" fmla="*/ 0 h 11"/>
                <a:gd name="T12" fmla="*/ 4 w 12"/>
                <a:gd name="T13" fmla="*/ 3 h 11"/>
                <a:gd name="T14" fmla="*/ 0 w 12"/>
                <a:gd name="T15" fmla="*/ 3 h 11"/>
                <a:gd name="T16" fmla="*/ 0 w 12"/>
                <a:gd name="T17" fmla="*/ 7 h 11"/>
                <a:gd name="T18" fmla="*/ 4 w 12"/>
                <a:gd name="T19" fmla="*/ 7 h 11"/>
                <a:gd name="T20" fmla="*/ 4 w 12"/>
                <a:gd name="T21"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11">
                  <a:moveTo>
                    <a:pt x="4" y="11"/>
                  </a:moveTo>
                  <a:lnTo>
                    <a:pt x="12" y="11"/>
                  </a:lnTo>
                  <a:lnTo>
                    <a:pt x="12" y="3"/>
                  </a:lnTo>
                  <a:lnTo>
                    <a:pt x="8" y="3"/>
                  </a:lnTo>
                  <a:lnTo>
                    <a:pt x="8" y="0"/>
                  </a:lnTo>
                  <a:lnTo>
                    <a:pt x="4" y="0"/>
                  </a:lnTo>
                  <a:lnTo>
                    <a:pt x="4" y="3"/>
                  </a:lnTo>
                  <a:lnTo>
                    <a:pt x="0" y="3"/>
                  </a:lnTo>
                  <a:lnTo>
                    <a:pt x="0" y="7"/>
                  </a:lnTo>
                  <a:lnTo>
                    <a:pt x="4" y="7"/>
                  </a:lnTo>
                  <a:lnTo>
                    <a:pt x="4" y="1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4" name="Freeform 944"/>
            <p:cNvSpPr/>
            <p:nvPr/>
          </p:nvSpPr>
          <p:spPr bwMode="auto">
            <a:xfrm>
              <a:off x="5018" y="1115"/>
              <a:ext cx="12" cy="12"/>
            </a:xfrm>
            <a:custGeom>
              <a:avLst/>
              <a:gdLst>
                <a:gd name="T0" fmla="*/ 8 w 12"/>
                <a:gd name="T1" fmla="*/ 12 h 12"/>
                <a:gd name="T2" fmla="*/ 12 w 12"/>
                <a:gd name="T3" fmla="*/ 12 h 12"/>
                <a:gd name="T4" fmla="*/ 12 w 12"/>
                <a:gd name="T5" fmla="*/ 4 h 12"/>
                <a:gd name="T6" fmla="*/ 8 w 12"/>
                <a:gd name="T7" fmla="*/ 0 h 12"/>
                <a:gd name="T8" fmla="*/ 4 w 12"/>
                <a:gd name="T9" fmla="*/ 0 h 12"/>
                <a:gd name="T10" fmla="*/ 4 w 12"/>
                <a:gd name="T11" fmla="*/ 4 h 12"/>
                <a:gd name="T12" fmla="*/ 0 w 12"/>
                <a:gd name="T13" fmla="*/ 4 h 12"/>
                <a:gd name="T14" fmla="*/ 4 w 12"/>
                <a:gd name="T15" fmla="*/ 8 h 12"/>
                <a:gd name="T16" fmla="*/ 8 w 12"/>
                <a:gd name="T1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2">
                  <a:moveTo>
                    <a:pt x="8" y="12"/>
                  </a:moveTo>
                  <a:lnTo>
                    <a:pt x="12" y="12"/>
                  </a:lnTo>
                  <a:lnTo>
                    <a:pt x="12" y="4"/>
                  </a:lnTo>
                  <a:lnTo>
                    <a:pt x="8" y="0"/>
                  </a:lnTo>
                  <a:lnTo>
                    <a:pt x="4" y="0"/>
                  </a:lnTo>
                  <a:lnTo>
                    <a:pt x="4" y="4"/>
                  </a:lnTo>
                  <a:lnTo>
                    <a:pt x="0" y="4"/>
                  </a:lnTo>
                  <a:lnTo>
                    <a:pt x="4" y="8"/>
                  </a:lnTo>
                  <a:lnTo>
                    <a:pt x="8" y="1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5" name="Freeform 945"/>
            <p:cNvSpPr/>
            <p:nvPr/>
          </p:nvSpPr>
          <p:spPr bwMode="auto">
            <a:xfrm>
              <a:off x="5007" y="1103"/>
              <a:ext cx="7" cy="12"/>
            </a:xfrm>
            <a:custGeom>
              <a:avLst/>
              <a:gdLst>
                <a:gd name="T0" fmla="*/ 3 w 7"/>
                <a:gd name="T1" fmla="*/ 8 h 12"/>
                <a:gd name="T2" fmla="*/ 3 w 7"/>
                <a:gd name="T3" fmla="*/ 12 h 12"/>
                <a:gd name="T4" fmla="*/ 7 w 7"/>
                <a:gd name="T5" fmla="*/ 8 h 12"/>
                <a:gd name="T6" fmla="*/ 7 w 7"/>
                <a:gd name="T7" fmla="*/ 4 h 12"/>
                <a:gd name="T8" fmla="*/ 3 w 7"/>
                <a:gd name="T9" fmla="*/ 0 h 12"/>
                <a:gd name="T10" fmla="*/ 0 w 7"/>
                <a:gd name="T11" fmla="*/ 0 h 12"/>
                <a:gd name="T12" fmla="*/ 0 w 7"/>
                <a:gd name="T13" fmla="*/ 8 h 12"/>
                <a:gd name="T14" fmla="*/ 3 w 7"/>
                <a:gd name="T15" fmla="*/ 8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2">
                  <a:moveTo>
                    <a:pt x="3" y="8"/>
                  </a:moveTo>
                  <a:lnTo>
                    <a:pt x="3" y="12"/>
                  </a:lnTo>
                  <a:lnTo>
                    <a:pt x="7" y="8"/>
                  </a:lnTo>
                  <a:lnTo>
                    <a:pt x="7" y="4"/>
                  </a:lnTo>
                  <a:lnTo>
                    <a:pt x="3" y="0"/>
                  </a:lnTo>
                  <a:lnTo>
                    <a:pt x="0" y="0"/>
                  </a:lnTo>
                  <a:lnTo>
                    <a:pt x="0" y="8"/>
                  </a:lnTo>
                  <a:lnTo>
                    <a:pt x="3"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6" name="Freeform 946"/>
            <p:cNvSpPr/>
            <p:nvPr/>
          </p:nvSpPr>
          <p:spPr bwMode="auto">
            <a:xfrm>
              <a:off x="4991" y="1092"/>
              <a:ext cx="12" cy="8"/>
            </a:xfrm>
            <a:custGeom>
              <a:avLst/>
              <a:gdLst>
                <a:gd name="T0" fmla="*/ 4 w 12"/>
                <a:gd name="T1" fmla="*/ 8 h 8"/>
                <a:gd name="T2" fmla="*/ 8 w 12"/>
                <a:gd name="T3" fmla="*/ 8 h 8"/>
                <a:gd name="T4" fmla="*/ 12 w 12"/>
                <a:gd name="T5" fmla="*/ 4 h 8"/>
                <a:gd name="T6" fmla="*/ 8 w 12"/>
                <a:gd name="T7" fmla="*/ 4 h 8"/>
                <a:gd name="T8" fmla="*/ 4 w 12"/>
                <a:gd name="T9" fmla="*/ 0 h 8"/>
                <a:gd name="T10" fmla="*/ 0 w 12"/>
                <a:gd name="T11" fmla="*/ 0 h 8"/>
                <a:gd name="T12" fmla="*/ 0 w 12"/>
                <a:gd name="T13" fmla="*/ 4 h 8"/>
                <a:gd name="T14" fmla="*/ 4 w 12"/>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8">
                  <a:moveTo>
                    <a:pt x="4" y="8"/>
                  </a:moveTo>
                  <a:lnTo>
                    <a:pt x="8" y="8"/>
                  </a:lnTo>
                  <a:lnTo>
                    <a:pt x="12" y="4"/>
                  </a:lnTo>
                  <a:lnTo>
                    <a:pt x="8" y="4"/>
                  </a:lnTo>
                  <a:lnTo>
                    <a:pt x="4" y="0"/>
                  </a:lnTo>
                  <a:lnTo>
                    <a:pt x="0" y="0"/>
                  </a:lnTo>
                  <a:lnTo>
                    <a:pt x="0" y="4"/>
                  </a:lnTo>
                  <a:lnTo>
                    <a:pt x="4"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7" name="Freeform 947"/>
            <p:cNvSpPr/>
            <p:nvPr/>
          </p:nvSpPr>
          <p:spPr bwMode="auto">
            <a:xfrm>
              <a:off x="4976" y="1077"/>
              <a:ext cx="11" cy="11"/>
            </a:xfrm>
            <a:custGeom>
              <a:avLst/>
              <a:gdLst>
                <a:gd name="T0" fmla="*/ 4 w 11"/>
                <a:gd name="T1" fmla="*/ 11 h 11"/>
                <a:gd name="T2" fmla="*/ 11 w 11"/>
                <a:gd name="T3" fmla="*/ 11 h 11"/>
                <a:gd name="T4" fmla="*/ 11 w 11"/>
                <a:gd name="T5" fmla="*/ 7 h 11"/>
                <a:gd name="T6" fmla="*/ 8 w 11"/>
                <a:gd name="T7" fmla="*/ 3 h 11"/>
                <a:gd name="T8" fmla="*/ 4 w 11"/>
                <a:gd name="T9" fmla="*/ 3 h 11"/>
                <a:gd name="T10" fmla="*/ 4 w 11"/>
                <a:gd name="T11" fmla="*/ 0 h 11"/>
                <a:gd name="T12" fmla="*/ 0 w 11"/>
                <a:gd name="T13" fmla="*/ 3 h 11"/>
                <a:gd name="T14" fmla="*/ 0 w 11"/>
                <a:gd name="T15" fmla="*/ 7 h 11"/>
                <a:gd name="T16" fmla="*/ 4 w 11"/>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1">
                  <a:moveTo>
                    <a:pt x="4" y="11"/>
                  </a:moveTo>
                  <a:lnTo>
                    <a:pt x="11" y="11"/>
                  </a:lnTo>
                  <a:lnTo>
                    <a:pt x="11" y="7"/>
                  </a:lnTo>
                  <a:lnTo>
                    <a:pt x="8" y="3"/>
                  </a:lnTo>
                  <a:lnTo>
                    <a:pt x="4" y="3"/>
                  </a:lnTo>
                  <a:lnTo>
                    <a:pt x="4" y="0"/>
                  </a:lnTo>
                  <a:lnTo>
                    <a:pt x="0" y="3"/>
                  </a:lnTo>
                  <a:lnTo>
                    <a:pt x="0" y="7"/>
                  </a:lnTo>
                  <a:lnTo>
                    <a:pt x="4" y="1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8" name="Freeform 948"/>
            <p:cNvSpPr/>
            <p:nvPr/>
          </p:nvSpPr>
          <p:spPr bwMode="auto">
            <a:xfrm>
              <a:off x="4961" y="1065"/>
              <a:ext cx="11" cy="12"/>
            </a:xfrm>
            <a:custGeom>
              <a:avLst/>
              <a:gdLst>
                <a:gd name="T0" fmla="*/ 3 w 11"/>
                <a:gd name="T1" fmla="*/ 12 h 12"/>
                <a:gd name="T2" fmla="*/ 11 w 11"/>
                <a:gd name="T3" fmla="*/ 12 h 12"/>
                <a:gd name="T4" fmla="*/ 11 w 11"/>
                <a:gd name="T5" fmla="*/ 4 h 12"/>
                <a:gd name="T6" fmla="*/ 7 w 11"/>
                <a:gd name="T7" fmla="*/ 0 h 12"/>
                <a:gd name="T8" fmla="*/ 3 w 11"/>
                <a:gd name="T9" fmla="*/ 0 h 12"/>
                <a:gd name="T10" fmla="*/ 0 w 11"/>
                <a:gd name="T11" fmla="*/ 4 h 12"/>
                <a:gd name="T12" fmla="*/ 0 w 11"/>
                <a:gd name="T13" fmla="*/ 8 h 12"/>
                <a:gd name="T14" fmla="*/ 3 w 11"/>
                <a:gd name="T15" fmla="*/ 8 h 12"/>
                <a:gd name="T16" fmla="*/ 3 w 11"/>
                <a:gd name="T1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2">
                  <a:moveTo>
                    <a:pt x="3" y="12"/>
                  </a:moveTo>
                  <a:lnTo>
                    <a:pt x="11" y="12"/>
                  </a:lnTo>
                  <a:lnTo>
                    <a:pt x="11" y="4"/>
                  </a:lnTo>
                  <a:lnTo>
                    <a:pt x="7" y="0"/>
                  </a:lnTo>
                  <a:lnTo>
                    <a:pt x="3" y="0"/>
                  </a:lnTo>
                  <a:lnTo>
                    <a:pt x="0" y="4"/>
                  </a:lnTo>
                  <a:lnTo>
                    <a:pt x="0" y="8"/>
                  </a:lnTo>
                  <a:lnTo>
                    <a:pt x="3" y="8"/>
                  </a:lnTo>
                  <a:lnTo>
                    <a:pt x="3" y="1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89" name="Freeform 949"/>
            <p:cNvSpPr/>
            <p:nvPr/>
          </p:nvSpPr>
          <p:spPr bwMode="auto">
            <a:xfrm>
              <a:off x="4945" y="1054"/>
              <a:ext cx="12" cy="11"/>
            </a:xfrm>
            <a:custGeom>
              <a:avLst/>
              <a:gdLst>
                <a:gd name="T0" fmla="*/ 4 w 12"/>
                <a:gd name="T1" fmla="*/ 7 h 11"/>
                <a:gd name="T2" fmla="*/ 8 w 12"/>
                <a:gd name="T3" fmla="*/ 11 h 11"/>
                <a:gd name="T4" fmla="*/ 12 w 12"/>
                <a:gd name="T5" fmla="*/ 7 h 11"/>
                <a:gd name="T6" fmla="*/ 12 w 12"/>
                <a:gd name="T7" fmla="*/ 3 h 11"/>
                <a:gd name="T8" fmla="*/ 8 w 12"/>
                <a:gd name="T9" fmla="*/ 0 h 11"/>
                <a:gd name="T10" fmla="*/ 4 w 12"/>
                <a:gd name="T11" fmla="*/ 0 h 11"/>
                <a:gd name="T12" fmla="*/ 0 w 12"/>
                <a:gd name="T13" fmla="*/ 3 h 11"/>
                <a:gd name="T14" fmla="*/ 4 w 12"/>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1">
                  <a:moveTo>
                    <a:pt x="4" y="7"/>
                  </a:moveTo>
                  <a:lnTo>
                    <a:pt x="8" y="11"/>
                  </a:lnTo>
                  <a:lnTo>
                    <a:pt x="12" y="7"/>
                  </a:lnTo>
                  <a:lnTo>
                    <a:pt x="12" y="3"/>
                  </a:lnTo>
                  <a:lnTo>
                    <a:pt x="8" y="0"/>
                  </a:lnTo>
                  <a:lnTo>
                    <a:pt x="4" y="0"/>
                  </a:lnTo>
                  <a:lnTo>
                    <a:pt x="0" y="3"/>
                  </a:lnTo>
                  <a:lnTo>
                    <a:pt x="4"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0" name="Freeform 950"/>
            <p:cNvSpPr/>
            <p:nvPr/>
          </p:nvSpPr>
          <p:spPr bwMode="auto">
            <a:xfrm>
              <a:off x="4934" y="1042"/>
              <a:ext cx="7" cy="8"/>
            </a:xfrm>
            <a:custGeom>
              <a:avLst/>
              <a:gdLst>
                <a:gd name="T0" fmla="*/ 3 w 7"/>
                <a:gd name="T1" fmla="*/ 8 h 8"/>
                <a:gd name="T2" fmla="*/ 7 w 7"/>
                <a:gd name="T3" fmla="*/ 8 h 8"/>
                <a:gd name="T4" fmla="*/ 7 w 7"/>
                <a:gd name="T5" fmla="*/ 4 h 8"/>
                <a:gd name="T6" fmla="*/ 3 w 7"/>
                <a:gd name="T7" fmla="*/ 0 h 8"/>
                <a:gd name="T8" fmla="*/ 0 w 7"/>
                <a:gd name="T9" fmla="*/ 0 h 8"/>
                <a:gd name="T10" fmla="*/ 0 w 7"/>
                <a:gd name="T11" fmla="*/ 4 h 8"/>
                <a:gd name="T12" fmla="*/ 3 w 7"/>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 h="8">
                  <a:moveTo>
                    <a:pt x="3" y="8"/>
                  </a:moveTo>
                  <a:lnTo>
                    <a:pt x="7" y="8"/>
                  </a:lnTo>
                  <a:lnTo>
                    <a:pt x="7" y="4"/>
                  </a:lnTo>
                  <a:lnTo>
                    <a:pt x="3" y="0"/>
                  </a:lnTo>
                  <a:lnTo>
                    <a:pt x="0" y="0"/>
                  </a:lnTo>
                  <a:lnTo>
                    <a:pt x="0" y="4"/>
                  </a:lnTo>
                  <a:lnTo>
                    <a:pt x="3"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1" name="Freeform 951"/>
            <p:cNvSpPr/>
            <p:nvPr/>
          </p:nvSpPr>
          <p:spPr bwMode="auto">
            <a:xfrm>
              <a:off x="4918" y="1031"/>
              <a:ext cx="8" cy="7"/>
            </a:xfrm>
            <a:custGeom>
              <a:avLst/>
              <a:gdLst>
                <a:gd name="T0" fmla="*/ 4 w 8"/>
                <a:gd name="T1" fmla="*/ 7 h 7"/>
                <a:gd name="T2" fmla="*/ 8 w 8"/>
                <a:gd name="T3" fmla="*/ 7 h 7"/>
                <a:gd name="T4" fmla="*/ 8 w 8"/>
                <a:gd name="T5" fmla="*/ 0 h 7"/>
                <a:gd name="T6" fmla="*/ 0 w 8"/>
                <a:gd name="T7" fmla="*/ 0 h 7"/>
                <a:gd name="T8" fmla="*/ 0 w 8"/>
                <a:gd name="T9" fmla="*/ 3 h 7"/>
                <a:gd name="T10" fmla="*/ 4 w 8"/>
                <a:gd name="T11" fmla="*/ 7 h 7"/>
              </a:gdLst>
              <a:ahLst/>
              <a:cxnLst>
                <a:cxn ang="0">
                  <a:pos x="T0" y="T1"/>
                </a:cxn>
                <a:cxn ang="0">
                  <a:pos x="T2" y="T3"/>
                </a:cxn>
                <a:cxn ang="0">
                  <a:pos x="T4" y="T5"/>
                </a:cxn>
                <a:cxn ang="0">
                  <a:pos x="T6" y="T7"/>
                </a:cxn>
                <a:cxn ang="0">
                  <a:pos x="T8" y="T9"/>
                </a:cxn>
                <a:cxn ang="0">
                  <a:pos x="T10" y="T11"/>
                </a:cxn>
              </a:cxnLst>
              <a:rect l="0" t="0" r="r" b="b"/>
              <a:pathLst>
                <a:path w="8" h="7">
                  <a:moveTo>
                    <a:pt x="4" y="7"/>
                  </a:moveTo>
                  <a:lnTo>
                    <a:pt x="8" y="7"/>
                  </a:lnTo>
                  <a:lnTo>
                    <a:pt x="8" y="0"/>
                  </a:lnTo>
                  <a:lnTo>
                    <a:pt x="0" y="0"/>
                  </a:lnTo>
                  <a:lnTo>
                    <a:pt x="0" y="3"/>
                  </a:lnTo>
                  <a:lnTo>
                    <a:pt x="4"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2" name="Freeform 952"/>
            <p:cNvSpPr/>
            <p:nvPr/>
          </p:nvSpPr>
          <p:spPr bwMode="auto">
            <a:xfrm>
              <a:off x="4903" y="1015"/>
              <a:ext cx="11" cy="12"/>
            </a:xfrm>
            <a:custGeom>
              <a:avLst/>
              <a:gdLst>
                <a:gd name="T0" fmla="*/ 4 w 11"/>
                <a:gd name="T1" fmla="*/ 12 h 12"/>
                <a:gd name="T2" fmla="*/ 8 w 11"/>
                <a:gd name="T3" fmla="*/ 12 h 12"/>
                <a:gd name="T4" fmla="*/ 11 w 11"/>
                <a:gd name="T5" fmla="*/ 8 h 12"/>
                <a:gd name="T6" fmla="*/ 4 w 11"/>
                <a:gd name="T7" fmla="*/ 0 h 12"/>
                <a:gd name="T8" fmla="*/ 0 w 11"/>
                <a:gd name="T9" fmla="*/ 0 h 12"/>
                <a:gd name="T10" fmla="*/ 0 w 11"/>
                <a:gd name="T11" fmla="*/ 8 h 12"/>
                <a:gd name="T12" fmla="*/ 4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4" y="12"/>
                  </a:moveTo>
                  <a:lnTo>
                    <a:pt x="8" y="12"/>
                  </a:lnTo>
                  <a:lnTo>
                    <a:pt x="11" y="8"/>
                  </a:lnTo>
                  <a:lnTo>
                    <a:pt x="4" y="0"/>
                  </a:lnTo>
                  <a:lnTo>
                    <a:pt x="0" y="0"/>
                  </a:lnTo>
                  <a:lnTo>
                    <a:pt x="0" y="8"/>
                  </a:lnTo>
                  <a:lnTo>
                    <a:pt x="4" y="1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3" name="Freeform 953"/>
            <p:cNvSpPr/>
            <p:nvPr/>
          </p:nvSpPr>
          <p:spPr bwMode="auto">
            <a:xfrm>
              <a:off x="4888" y="1004"/>
              <a:ext cx="11" cy="11"/>
            </a:xfrm>
            <a:custGeom>
              <a:avLst/>
              <a:gdLst>
                <a:gd name="T0" fmla="*/ 3 w 11"/>
                <a:gd name="T1" fmla="*/ 7 h 11"/>
                <a:gd name="T2" fmla="*/ 3 w 11"/>
                <a:gd name="T3" fmla="*/ 11 h 11"/>
                <a:gd name="T4" fmla="*/ 7 w 11"/>
                <a:gd name="T5" fmla="*/ 11 h 11"/>
                <a:gd name="T6" fmla="*/ 11 w 11"/>
                <a:gd name="T7" fmla="*/ 7 h 11"/>
                <a:gd name="T8" fmla="*/ 11 w 11"/>
                <a:gd name="T9" fmla="*/ 4 h 11"/>
                <a:gd name="T10" fmla="*/ 7 w 11"/>
                <a:gd name="T11" fmla="*/ 0 h 11"/>
                <a:gd name="T12" fmla="*/ 0 w 11"/>
                <a:gd name="T13" fmla="*/ 0 h 11"/>
                <a:gd name="T14" fmla="*/ 0 w 11"/>
                <a:gd name="T15" fmla="*/ 7 h 11"/>
                <a:gd name="T16" fmla="*/ 3 w 11"/>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1">
                  <a:moveTo>
                    <a:pt x="3" y="7"/>
                  </a:moveTo>
                  <a:lnTo>
                    <a:pt x="3" y="11"/>
                  </a:lnTo>
                  <a:lnTo>
                    <a:pt x="7" y="11"/>
                  </a:lnTo>
                  <a:lnTo>
                    <a:pt x="11" y="7"/>
                  </a:lnTo>
                  <a:lnTo>
                    <a:pt x="11" y="4"/>
                  </a:lnTo>
                  <a:lnTo>
                    <a:pt x="7" y="0"/>
                  </a:lnTo>
                  <a:lnTo>
                    <a:pt x="0" y="0"/>
                  </a:lnTo>
                  <a:lnTo>
                    <a:pt x="0" y="7"/>
                  </a:lnTo>
                  <a:lnTo>
                    <a:pt x="3"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4" name="Freeform 954"/>
            <p:cNvSpPr/>
            <p:nvPr/>
          </p:nvSpPr>
          <p:spPr bwMode="auto">
            <a:xfrm>
              <a:off x="4872" y="992"/>
              <a:ext cx="12" cy="8"/>
            </a:xfrm>
            <a:custGeom>
              <a:avLst/>
              <a:gdLst>
                <a:gd name="T0" fmla="*/ 4 w 12"/>
                <a:gd name="T1" fmla="*/ 8 h 8"/>
                <a:gd name="T2" fmla="*/ 12 w 12"/>
                <a:gd name="T3" fmla="*/ 8 h 8"/>
                <a:gd name="T4" fmla="*/ 12 w 12"/>
                <a:gd name="T5" fmla="*/ 4 h 8"/>
                <a:gd name="T6" fmla="*/ 8 w 12"/>
                <a:gd name="T7" fmla="*/ 0 h 8"/>
                <a:gd name="T8" fmla="*/ 0 w 12"/>
                <a:gd name="T9" fmla="*/ 0 h 8"/>
                <a:gd name="T10" fmla="*/ 0 w 12"/>
                <a:gd name="T11" fmla="*/ 4 h 8"/>
                <a:gd name="T12" fmla="*/ 4 w 12"/>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4" y="8"/>
                  </a:moveTo>
                  <a:lnTo>
                    <a:pt x="12" y="8"/>
                  </a:lnTo>
                  <a:lnTo>
                    <a:pt x="12" y="4"/>
                  </a:lnTo>
                  <a:lnTo>
                    <a:pt x="8" y="0"/>
                  </a:lnTo>
                  <a:lnTo>
                    <a:pt x="0" y="0"/>
                  </a:lnTo>
                  <a:lnTo>
                    <a:pt x="0" y="4"/>
                  </a:lnTo>
                  <a:lnTo>
                    <a:pt x="4"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5" name="Freeform 955"/>
            <p:cNvSpPr/>
            <p:nvPr/>
          </p:nvSpPr>
          <p:spPr bwMode="auto">
            <a:xfrm>
              <a:off x="4857" y="981"/>
              <a:ext cx="11" cy="7"/>
            </a:xfrm>
            <a:custGeom>
              <a:avLst/>
              <a:gdLst>
                <a:gd name="T0" fmla="*/ 8 w 11"/>
                <a:gd name="T1" fmla="*/ 7 h 7"/>
                <a:gd name="T2" fmla="*/ 11 w 11"/>
                <a:gd name="T3" fmla="*/ 7 h 7"/>
                <a:gd name="T4" fmla="*/ 11 w 11"/>
                <a:gd name="T5" fmla="*/ 0 h 7"/>
                <a:gd name="T6" fmla="*/ 0 w 11"/>
                <a:gd name="T7" fmla="*/ 0 h 7"/>
                <a:gd name="T8" fmla="*/ 0 w 11"/>
                <a:gd name="T9" fmla="*/ 3 h 7"/>
                <a:gd name="T10" fmla="*/ 4 w 11"/>
                <a:gd name="T11" fmla="*/ 3 h 7"/>
                <a:gd name="T12" fmla="*/ 8 w 11"/>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8" y="7"/>
                  </a:moveTo>
                  <a:lnTo>
                    <a:pt x="11" y="7"/>
                  </a:lnTo>
                  <a:lnTo>
                    <a:pt x="11" y="0"/>
                  </a:lnTo>
                  <a:lnTo>
                    <a:pt x="0" y="0"/>
                  </a:lnTo>
                  <a:lnTo>
                    <a:pt x="0" y="3"/>
                  </a:lnTo>
                  <a:lnTo>
                    <a:pt x="4" y="3"/>
                  </a:lnTo>
                  <a:lnTo>
                    <a:pt x="8"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6" name="Freeform 956"/>
            <p:cNvSpPr/>
            <p:nvPr/>
          </p:nvSpPr>
          <p:spPr bwMode="auto">
            <a:xfrm>
              <a:off x="4845" y="965"/>
              <a:ext cx="8" cy="12"/>
            </a:xfrm>
            <a:custGeom>
              <a:avLst/>
              <a:gdLst>
                <a:gd name="T0" fmla="*/ 4 w 8"/>
                <a:gd name="T1" fmla="*/ 12 h 12"/>
                <a:gd name="T2" fmla="*/ 8 w 8"/>
                <a:gd name="T3" fmla="*/ 12 h 12"/>
                <a:gd name="T4" fmla="*/ 8 w 8"/>
                <a:gd name="T5" fmla="*/ 4 h 12"/>
                <a:gd name="T6" fmla="*/ 4 w 8"/>
                <a:gd name="T7" fmla="*/ 4 h 12"/>
                <a:gd name="T8" fmla="*/ 4 w 8"/>
                <a:gd name="T9" fmla="*/ 0 h 12"/>
                <a:gd name="T10" fmla="*/ 0 w 8"/>
                <a:gd name="T11" fmla="*/ 0 h 12"/>
                <a:gd name="T12" fmla="*/ 0 w 8"/>
                <a:gd name="T13" fmla="*/ 8 h 12"/>
                <a:gd name="T14" fmla="*/ 4 w 8"/>
                <a:gd name="T15" fmla="*/ 12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2">
                  <a:moveTo>
                    <a:pt x="4" y="12"/>
                  </a:moveTo>
                  <a:lnTo>
                    <a:pt x="8" y="12"/>
                  </a:lnTo>
                  <a:lnTo>
                    <a:pt x="8" y="4"/>
                  </a:lnTo>
                  <a:lnTo>
                    <a:pt x="4" y="4"/>
                  </a:lnTo>
                  <a:lnTo>
                    <a:pt x="4" y="0"/>
                  </a:lnTo>
                  <a:lnTo>
                    <a:pt x="0" y="0"/>
                  </a:lnTo>
                  <a:lnTo>
                    <a:pt x="0" y="8"/>
                  </a:lnTo>
                  <a:lnTo>
                    <a:pt x="4" y="1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7" name="Freeform 957"/>
            <p:cNvSpPr/>
            <p:nvPr/>
          </p:nvSpPr>
          <p:spPr bwMode="auto">
            <a:xfrm>
              <a:off x="4830" y="954"/>
              <a:ext cx="12" cy="11"/>
            </a:xfrm>
            <a:custGeom>
              <a:avLst/>
              <a:gdLst>
                <a:gd name="T0" fmla="*/ 4 w 12"/>
                <a:gd name="T1" fmla="*/ 11 h 11"/>
                <a:gd name="T2" fmla="*/ 8 w 12"/>
                <a:gd name="T3" fmla="*/ 11 h 11"/>
                <a:gd name="T4" fmla="*/ 8 w 12"/>
                <a:gd name="T5" fmla="*/ 7 h 11"/>
                <a:gd name="T6" fmla="*/ 12 w 12"/>
                <a:gd name="T7" fmla="*/ 7 h 11"/>
                <a:gd name="T8" fmla="*/ 12 w 12"/>
                <a:gd name="T9" fmla="*/ 4 h 11"/>
                <a:gd name="T10" fmla="*/ 8 w 12"/>
                <a:gd name="T11" fmla="*/ 4 h 11"/>
                <a:gd name="T12" fmla="*/ 4 w 12"/>
                <a:gd name="T13" fmla="*/ 0 h 11"/>
                <a:gd name="T14" fmla="*/ 0 w 12"/>
                <a:gd name="T15" fmla="*/ 0 h 11"/>
                <a:gd name="T16" fmla="*/ 0 w 12"/>
                <a:gd name="T17" fmla="*/ 7 h 11"/>
                <a:gd name="T18" fmla="*/ 4 w 12"/>
                <a:gd name="T19"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1">
                  <a:moveTo>
                    <a:pt x="4" y="11"/>
                  </a:moveTo>
                  <a:lnTo>
                    <a:pt x="8" y="11"/>
                  </a:lnTo>
                  <a:lnTo>
                    <a:pt x="8" y="7"/>
                  </a:lnTo>
                  <a:lnTo>
                    <a:pt x="12" y="7"/>
                  </a:lnTo>
                  <a:lnTo>
                    <a:pt x="12" y="4"/>
                  </a:lnTo>
                  <a:lnTo>
                    <a:pt x="8" y="4"/>
                  </a:lnTo>
                  <a:lnTo>
                    <a:pt x="4" y="0"/>
                  </a:lnTo>
                  <a:lnTo>
                    <a:pt x="0" y="0"/>
                  </a:lnTo>
                  <a:lnTo>
                    <a:pt x="0" y="7"/>
                  </a:lnTo>
                  <a:lnTo>
                    <a:pt x="4" y="1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8" name="Freeform 958"/>
            <p:cNvSpPr/>
            <p:nvPr/>
          </p:nvSpPr>
          <p:spPr bwMode="auto">
            <a:xfrm>
              <a:off x="4815" y="942"/>
              <a:ext cx="11" cy="12"/>
            </a:xfrm>
            <a:custGeom>
              <a:avLst/>
              <a:gdLst>
                <a:gd name="T0" fmla="*/ 3 w 11"/>
                <a:gd name="T1" fmla="*/ 8 h 12"/>
                <a:gd name="T2" fmla="*/ 7 w 11"/>
                <a:gd name="T3" fmla="*/ 12 h 12"/>
                <a:gd name="T4" fmla="*/ 7 w 11"/>
                <a:gd name="T5" fmla="*/ 8 h 12"/>
                <a:gd name="T6" fmla="*/ 11 w 11"/>
                <a:gd name="T7" fmla="*/ 8 h 12"/>
                <a:gd name="T8" fmla="*/ 11 w 11"/>
                <a:gd name="T9" fmla="*/ 4 h 12"/>
                <a:gd name="T10" fmla="*/ 7 w 11"/>
                <a:gd name="T11" fmla="*/ 4 h 12"/>
                <a:gd name="T12" fmla="*/ 7 w 11"/>
                <a:gd name="T13" fmla="*/ 0 h 12"/>
                <a:gd name="T14" fmla="*/ 0 w 11"/>
                <a:gd name="T15" fmla="*/ 0 h 12"/>
                <a:gd name="T16" fmla="*/ 0 w 11"/>
                <a:gd name="T17" fmla="*/ 8 h 12"/>
                <a:gd name="T18" fmla="*/ 3 w 11"/>
                <a:gd name="T1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2">
                  <a:moveTo>
                    <a:pt x="3" y="8"/>
                  </a:moveTo>
                  <a:lnTo>
                    <a:pt x="7" y="12"/>
                  </a:lnTo>
                  <a:lnTo>
                    <a:pt x="7" y="8"/>
                  </a:lnTo>
                  <a:lnTo>
                    <a:pt x="11" y="8"/>
                  </a:lnTo>
                  <a:lnTo>
                    <a:pt x="11" y="4"/>
                  </a:lnTo>
                  <a:lnTo>
                    <a:pt x="7" y="4"/>
                  </a:lnTo>
                  <a:lnTo>
                    <a:pt x="7" y="0"/>
                  </a:lnTo>
                  <a:lnTo>
                    <a:pt x="0" y="0"/>
                  </a:lnTo>
                  <a:lnTo>
                    <a:pt x="0" y="8"/>
                  </a:lnTo>
                  <a:lnTo>
                    <a:pt x="3" y="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199" name="Freeform 959"/>
            <p:cNvSpPr/>
            <p:nvPr/>
          </p:nvSpPr>
          <p:spPr bwMode="auto">
            <a:xfrm>
              <a:off x="4799" y="931"/>
              <a:ext cx="12" cy="7"/>
            </a:xfrm>
            <a:custGeom>
              <a:avLst/>
              <a:gdLst>
                <a:gd name="T0" fmla="*/ 4 w 12"/>
                <a:gd name="T1" fmla="*/ 7 h 7"/>
                <a:gd name="T2" fmla="*/ 12 w 12"/>
                <a:gd name="T3" fmla="*/ 7 h 7"/>
                <a:gd name="T4" fmla="*/ 12 w 12"/>
                <a:gd name="T5" fmla="*/ 4 h 7"/>
                <a:gd name="T6" fmla="*/ 8 w 12"/>
                <a:gd name="T7" fmla="*/ 0 h 7"/>
                <a:gd name="T8" fmla="*/ 0 w 12"/>
                <a:gd name="T9" fmla="*/ 0 h 7"/>
                <a:gd name="T10" fmla="*/ 0 w 12"/>
                <a:gd name="T11" fmla="*/ 4 h 7"/>
                <a:gd name="T12" fmla="*/ 4 w 12"/>
                <a:gd name="T13" fmla="*/ 4 h 7"/>
                <a:gd name="T14" fmla="*/ 4 w 12"/>
                <a:gd name="T15" fmla="*/ 7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7">
                  <a:moveTo>
                    <a:pt x="4" y="7"/>
                  </a:moveTo>
                  <a:lnTo>
                    <a:pt x="12" y="7"/>
                  </a:lnTo>
                  <a:lnTo>
                    <a:pt x="12" y="4"/>
                  </a:lnTo>
                  <a:lnTo>
                    <a:pt x="8" y="0"/>
                  </a:lnTo>
                  <a:lnTo>
                    <a:pt x="0" y="0"/>
                  </a:lnTo>
                  <a:lnTo>
                    <a:pt x="0" y="4"/>
                  </a:lnTo>
                  <a:lnTo>
                    <a:pt x="4" y="4"/>
                  </a:lnTo>
                  <a:lnTo>
                    <a:pt x="4" y="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200" name="Freeform 960"/>
            <p:cNvSpPr/>
            <p:nvPr/>
          </p:nvSpPr>
          <p:spPr bwMode="auto">
            <a:xfrm>
              <a:off x="4784" y="915"/>
              <a:ext cx="11" cy="12"/>
            </a:xfrm>
            <a:custGeom>
              <a:avLst/>
              <a:gdLst>
                <a:gd name="T0" fmla="*/ 8 w 11"/>
                <a:gd name="T1" fmla="*/ 12 h 12"/>
                <a:gd name="T2" fmla="*/ 11 w 11"/>
                <a:gd name="T3" fmla="*/ 12 h 12"/>
                <a:gd name="T4" fmla="*/ 11 w 11"/>
                <a:gd name="T5" fmla="*/ 4 h 12"/>
                <a:gd name="T6" fmla="*/ 8 w 11"/>
                <a:gd name="T7" fmla="*/ 4 h 12"/>
                <a:gd name="T8" fmla="*/ 8 w 11"/>
                <a:gd name="T9" fmla="*/ 0 h 12"/>
                <a:gd name="T10" fmla="*/ 4 w 11"/>
                <a:gd name="T11" fmla="*/ 0 h 12"/>
                <a:gd name="T12" fmla="*/ 4 w 11"/>
                <a:gd name="T13" fmla="*/ 4 h 12"/>
                <a:gd name="T14" fmla="*/ 0 w 11"/>
                <a:gd name="T15" fmla="*/ 4 h 12"/>
                <a:gd name="T16" fmla="*/ 0 w 11"/>
                <a:gd name="T17" fmla="*/ 8 h 12"/>
                <a:gd name="T18" fmla="*/ 4 w 11"/>
                <a:gd name="T19" fmla="*/ 8 h 12"/>
                <a:gd name="T20" fmla="*/ 8 w 11"/>
                <a:gd name="T21"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12">
                  <a:moveTo>
                    <a:pt x="8" y="12"/>
                  </a:moveTo>
                  <a:lnTo>
                    <a:pt x="11" y="12"/>
                  </a:lnTo>
                  <a:lnTo>
                    <a:pt x="11" y="4"/>
                  </a:lnTo>
                  <a:lnTo>
                    <a:pt x="8" y="4"/>
                  </a:lnTo>
                  <a:lnTo>
                    <a:pt x="8" y="0"/>
                  </a:lnTo>
                  <a:lnTo>
                    <a:pt x="4" y="0"/>
                  </a:lnTo>
                  <a:lnTo>
                    <a:pt x="4" y="4"/>
                  </a:lnTo>
                  <a:lnTo>
                    <a:pt x="0" y="4"/>
                  </a:lnTo>
                  <a:lnTo>
                    <a:pt x="0" y="8"/>
                  </a:lnTo>
                  <a:lnTo>
                    <a:pt x="4" y="8"/>
                  </a:lnTo>
                  <a:lnTo>
                    <a:pt x="8" y="1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201" name="Freeform 961"/>
            <p:cNvSpPr/>
            <p:nvPr/>
          </p:nvSpPr>
          <p:spPr bwMode="auto">
            <a:xfrm>
              <a:off x="4772" y="904"/>
              <a:ext cx="8" cy="11"/>
            </a:xfrm>
            <a:custGeom>
              <a:avLst/>
              <a:gdLst>
                <a:gd name="T0" fmla="*/ 4 w 8"/>
                <a:gd name="T1" fmla="*/ 11 h 11"/>
                <a:gd name="T2" fmla="*/ 8 w 8"/>
                <a:gd name="T3" fmla="*/ 11 h 11"/>
                <a:gd name="T4" fmla="*/ 8 w 8"/>
                <a:gd name="T5" fmla="*/ 4 h 11"/>
                <a:gd name="T6" fmla="*/ 4 w 8"/>
                <a:gd name="T7" fmla="*/ 0 h 11"/>
                <a:gd name="T8" fmla="*/ 0 w 8"/>
                <a:gd name="T9" fmla="*/ 0 h 11"/>
                <a:gd name="T10" fmla="*/ 0 w 8"/>
                <a:gd name="T11" fmla="*/ 8 h 11"/>
                <a:gd name="T12" fmla="*/ 4 w 8"/>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4" y="11"/>
                  </a:moveTo>
                  <a:lnTo>
                    <a:pt x="8" y="11"/>
                  </a:lnTo>
                  <a:lnTo>
                    <a:pt x="8" y="4"/>
                  </a:lnTo>
                  <a:lnTo>
                    <a:pt x="4" y="0"/>
                  </a:lnTo>
                  <a:lnTo>
                    <a:pt x="0" y="0"/>
                  </a:lnTo>
                  <a:lnTo>
                    <a:pt x="0" y="8"/>
                  </a:lnTo>
                  <a:lnTo>
                    <a:pt x="4" y="1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39202" name="Rectangle 962"/>
            <p:cNvSpPr>
              <a:spLocks noChangeArrowheads="1"/>
            </p:cNvSpPr>
            <p:nvPr/>
          </p:nvSpPr>
          <p:spPr bwMode="auto">
            <a:xfrm>
              <a:off x="3014" y="1626"/>
              <a:ext cx="70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t>Hexagonal</a:t>
              </a:r>
              <a:endParaRPr lang="en-US" altLang="zh-CN"/>
            </a:p>
          </p:txBody>
        </p:sp>
        <p:sp>
          <p:nvSpPr>
            <p:cNvPr id="139203" name="Rectangle 963"/>
            <p:cNvSpPr>
              <a:spLocks noChangeArrowheads="1"/>
            </p:cNvSpPr>
            <p:nvPr/>
          </p:nvSpPr>
          <p:spPr bwMode="auto">
            <a:xfrm>
              <a:off x="4289" y="1656"/>
              <a:ext cx="95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t>Rhombohedral</a:t>
              </a:r>
              <a:endParaRPr lang="en-US" altLang="zh-CN"/>
            </a:p>
          </p:txBody>
        </p:sp>
        <p:sp>
          <p:nvSpPr>
            <p:cNvPr id="139204" name="Rectangle 964"/>
            <p:cNvSpPr>
              <a:spLocks noChangeArrowheads="1"/>
            </p:cNvSpPr>
            <p:nvPr/>
          </p:nvSpPr>
          <p:spPr bwMode="auto">
            <a:xfrm>
              <a:off x="2918" y="1860"/>
              <a:ext cx="26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a = </a:t>
              </a:r>
              <a:endParaRPr lang="en-US" altLang="zh-CN"/>
            </a:p>
          </p:txBody>
        </p:sp>
        <p:sp>
          <p:nvSpPr>
            <p:cNvPr id="139205" name="Rectangle 965"/>
            <p:cNvSpPr>
              <a:spLocks noChangeArrowheads="1"/>
            </p:cNvSpPr>
            <p:nvPr/>
          </p:nvSpPr>
          <p:spPr bwMode="auto">
            <a:xfrm>
              <a:off x="3187" y="1860"/>
              <a:ext cx="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b</a:t>
              </a:r>
              <a:endParaRPr lang="en-US" altLang="zh-CN"/>
            </a:p>
          </p:txBody>
        </p:sp>
        <p:sp>
          <p:nvSpPr>
            <p:cNvPr id="139206" name="Rectangle 966"/>
            <p:cNvSpPr>
              <a:spLocks noChangeArrowheads="1"/>
            </p:cNvSpPr>
            <p:nvPr/>
          </p:nvSpPr>
          <p:spPr bwMode="auto">
            <a:xfrm>
              <a:off x="3275" y="186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a:t>
              </a:r>
              <a:endParaRPr lang="en-US" altLang="zh-CN"/>
            </a:p>
          </p:txBody>
        </p:sp>
        <p:sp>
          <p:nvSpPr>
            <p:cNvPr id="139207" name="Rectangle 967"/>
            <p:cNvSpPr>
              <a:spLocks noChangeArrowheads="1"/>
            </p:cNvSpPr>
            <p:nvPr/>
          </p:nvSpPr>
          <p:spPr bwMode="auto">
            <a:xfrm>
              <a:off x="3318" y="18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90</a:t>
              </a:r>
              <a:endParaRPr lang="en-US" altLang="zh-CN"/>
            </a:p>
          </p:txBody>
        </p:sp>
        <p:sp>
          <p:nvSpPr>
            <p:cNvPr id="139208" name="Rectangle 968"/>
            <p:cNvSpPr>
              <a:spLocks noChangeArrowheads="1"/>
            </p:cNvSpPr>
            <p:nvPr/>
          </p:nvSpPr>
          <p:spPr bwMode="auto">
            <a:xfrm>
              <a:off x="3602" y="187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latin typeface="Symbol" panose="05050102010706020507" pitchFamily="18" charset="2"/>
                </a:rPr>
                <a:t>o</a:t>
              </a:r>
              <a:endParaRPr lang="en-US" altLang="zh-CN"/>
            </a:p>
          </p:txBody>
        </p:sp>
        <p:sp>
          <p:nvSpPr>
            <p:cNvPr id="139209" name="Rectangle 969"/>
            <p:cNvSpPr>
              <a:spLocks noChangeArrowheads="1"/>
            </p:cNvSpPr>
            <p:nvPr/>
          </p:nvSpPr>
          <p:spPr bwMode="auto">
            <a:xfrm>
              <a:off x="3655" y="186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a:t>
              </a:r>
              <a:endParaRPr lang="en-US" altLang="zh-CN"/>
            </a:p>
          </p:txBody>
        </p:sp>
        <p:sp>
          <p:nvSpPr>
            <p:cNvPr id="139210" name="Rectangle 970"/>
            <p:cNvSpPr>
              <a:spLocks noChangeArrowheads="1"/>
            </p:cNvSpPr>
            <p:nvPr/>
          </p:nvSpPr>
          <p:spPr bwMode="auto">
            <a:xfrm>
              <a:off x="3694" y="1860"/>
              <a:ext cx="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g</a:t>
              </a:r>
              <a:endParaRPr lang="en-US" altLang="zh-CN"/>
            </a:p>
          </p:txBody>
        </p:sp>
        <p:sp>
          <p:nvSpPr>
            <p:cNvPr id="139211" name="Rectangle 971"/>
            <p:cNvSpPr>
              <a:spLocks noChangeArrowheads="1"/>
            </p:cNvSpPr>
            <p:nvPr/>
          </p:nvSpPr>
          <p:spPr bwMode="auto">
            <a:xfrm>
              <a:off x="3759" y="186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a:t>
              </a:r>
              <a:endParaRPr lang="en-US" altLang="zh-CN"/>
            </a:p>
          </p:txBody>
        </p:sp>
        <p:sp>
          <p:nvSpPr>
            <p:cNvPr id="139212" name="Rectangle 972"/>
            <p:cNvSpPr>
              <a:spLocks noChangeArrowheads="1"/>
            </p:cNvSpPr>
            <p:nvPr/>
          </p:nvSpPr>
          <p:spPr bwMode="auto">
            <a:xfrm>
              <a:off x="3801" y="1860"/>
              <a:ext cx="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a:t>
              </a:r>
              <a:endParaRPr lang="en-US" altLang="zh-CN"/>
            </a:p>
          </p:txBody>
        </p:sp>
        <p:sp>
          <p:nvSpPr>
            <p:cNvPr id="139213" name="Rectangle 973"/>
            <p:cNvSpPr>
              <a:spLocks noChangeArrowheads="1"/>
            </p:cNvSpPr>
            <p:nvPr/>
          </p:nvSpPr>
          <p:spPr bwMode="auto">
            <a:xfrm>
              <a:off x="3886" y="1879"/>
              <a:ext cx="2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latin typeface="Symbol" panose="05050102010706020507" pitchFamily="18" charset="2"/>
                </a:rPr>
                <a:t> </a:t>
              </a:r>
              <a:endParaRPr lang="en-US" altLang="zh-CN"/>
            </a:p>
          </p:txBody>
        </p:sp>
        <p:sp>
          <p:nvSpPr>
            <p:cNvPr id="139214" name="Rectangle 974"/>
            <p:cNvSpPr>
              <a:spLocks noChangeArrowheads="1"/>
            </p:cNvSpPr>
            <p:nvPr/>
          </p:nvSpPr>
          <p:spPr bwMode="auto">
            <a:xfrm>
              <a:off x="3928" y="1860"/>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120</a:t>
              </a:r>
              <a:endParaRPr lang="en-US" altLang="zh-CN"/>
            </a:p>
          </p:txBody>
        </p:sp>
        <p:sp>
          <p:nvSpPr>
            <p:cNvPr id="139215" name="Rectangle 975"/>
            <p:cNvSpPr>
              <a:spLocks noChangeArrowheads="1"/>
            </p:cNvSpPr>
            <p:nvPr/>
          </p:nvSpPr>
          <p:spPr bwMode="auto">
            <a:xfrm>
              <a:off x="4166" y="187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latin typeface="Symbol" panose="05050102010706020507" pitchFamily="18" charset="2"/>
                </a:rPr>
                <a:t>o</a:t>
              </a:r>
              <a:endParaRPr lang="en-US" altLang="zh-CN"/>
            </a:p>
          </p:txBody>
        </p:sp>
        <p:sp>
          <p:nvSpPr>
            <p:cNvPr id="139216" name="Rectangle 976"/>
            <p:cNvSpPr>
              <a:spLocks noChangeArrowheads="1"/>
            </p:cNvSpPr>
            <p:nvPr/>
          </p:nvSpPr>
          <p:spPr bwMode="auto">
            <a:xfrm>
              <a:off x="3222" y="2071"/>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a</a:t>
              </a:r>
              <a:endParaRPr lang="en-US" altLang="zh-CN"/>
            </a:p>
          </p:txBody>
        </p:sp>
        <p:sp>
          <p:nvSpPr>
            <p:cNvPr id="139217" name="Rectangle 977"/>
            <p:cNvSpPr>
              <a:spLocks noChangeArrowheads="1"/>
            </p:cNvSpPr>
            <p:nvPr/>
          </p:nvSpPr>
          <p:spPr bwMode="auto">
            <a:xfrm>
              <a:off x="3310" y="217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t>1</a:t>
              </a:r>
              <a:endParaRPr lang="en-US" altLang="zh-CN"/>
            </a:p>
          </p:txBody>
        </p:sp>
        <p:sp>
          <p:nvSpPr>
            <p:cNvPr id="139218" name="Rectangle 978"/>
            <p:cNvSpPr>
              <a:spLocks noChangeArrowheads="1"/>
            </p:cNvSpPr>
            <p:nvPr/>
          </p:nvSpPr>
          <p:spPr bwMode="auto">
            <a:xfrm>
              <a:off x="3360" y="2056"/>
              <a:ext cx="1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a:t>
              </a:r>
              <a:endParaRPr lang="en-US" altLang="zh-CN"/>
            </a:p>
          </p:txBody>
        </p:sp>
        <p:sp>
          <p:nvSpPr>
            <p:cNvPr id="139219" name="Rectangle 979"/>
            <p:cNvSpPr>
              <a:spLocks noChangeArrowheads="1"/>
            </p:cNvSpPr>
            <p:nvPr/>
          </p:nvSpPr>
          <p:spPr bwMode="auto">
            <a:xfrm>
              <a:off x="3490" y="2056"/>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a:t>
              </a:r>
              <a:endParaRPr lang="en-US" altLang="zh-CN"/>
            </a:p>
          </p:txBody>
        </p:sp>
        <p:sp>
          <p:nvSpPr>
            <p:cNvPr id="139220" name="Rectangle 980"/>
            <p:cNvSpPr>
              <a:spLocks noChangeArrowheads="1"/>
            </p:cNvSpPr>
            <p:nvPr/>
          </p:nvSpPr>
          <p:spPr bwMode="auto">
            <a:xfrm>
              <a:off x="3529" y="2071"/>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a</a:t>
              </a:r>
              <a:endParaRPr lang="en-US" altLang="zh-CN"/>
            </a:p>
          </p:txBody>
        </p:sp>
        <p:sp>
          <p:nvSpPr>
            <p:cNvPr id="139221" name="Rectangle 981"/>
            <p:cNvSpPr>
              <a:spLocks noChangeArrowheads="1"/>
            </p:cNvSpPr>
            <p:nvPr/>
          </p:nvSpPr>
          <p:spPr bwMode="auto">
            <a:xfrm>
              <a:off x="3617" y="2171"/>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t>2</a:t>
              </a:r>
              <a:endParaRPr lang="en-US" altLang="zh-CN"/>
            </a:p>
          </p:txBody>
        </p:sp>
        <p:sp>
          <p:nvSpPr>
            <p:cNvPr id="139222" name="Rectangle 982"/>
            <p:cNvSpPr>
              <a:spLocks noChangeArrowheads="1"/>
            </p:cNvSpPr>
            <p:nvPr/>
          </p:nvSpPr>
          <p:spPr bwMode="auto">
            <a:xfrm>
              <a:off x="3671" y="2056"/>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a:t>
              </a:r>
              <a:endParaRPr lang="en-US" altLang="zh-CN"/>
            </a:p>
          </p:txBody>
        </p:sp>
        <p:sp>
          <p:nvSpPr>
            <p:cNvPr id="139223" name="Rectangle 983"/>
            <p:cNvSpPr>
              <a:spLocks noChangeArrowheads="1"/>
            </p:cNvSpPr>
            <p:nvPr/>
          </p:nvSpPr>
          <p:spPr bwMode="auto">
            <a:xfrm>
              <a:off x="3709" y="2056"/>
              <a:ext cx="1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¹ </a:t>
              </a:r>
              <a:endParaRPr lang="en-US" altLang="zh-CN"/>
            </a:p>
          </p:txBody>
        </p:sp>
        <p:sp>
          <p:nvSpPr>
            <p:cNvPr id="139224" name="Rectangle 984"/>
            <p:cNvSpPr>
              <a:spLocks noChangeArrowheads="1"/>
            </p:cNvSpPr>
            <p:nvPr/>
          </p:nvSpPr>
          <p:spPr bwMode="auto">
            <a:xfrm>
              <a:off x="3836" y="2071"/>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c</a:t>
              </a:r>
              <a:endParaRPr lang="en-US" altLang="zh-CN"/>
            </a:p>
          </p:txBody>
        </p:sp>
        <p:sp>
          <p:nvSpPr>
            <p:cNvPr id="139225" name="Rectangle 985"/>
            <p:cNvSpPr>
              <a:spLocks noChangeArrowheads="1"/>
            </p:cNvSpPr>
            <p:nvPr/>
          </p:nvSpPr>
          <p:spPr bwMode="auto">
            <a:xfrm>
              <a:off x="4446" y="1875"/>
              <a:ext cx="26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a = </a:t>
              </a:r>
              <a:endParaRPr lang="en-US" altLang="zh-CN"/>
            </a:p>
          </p:txBody>
        </p:sp>
        <p:sp>
          <p:nvSpPr>
            <p:cNvPr id="139226" name="Rectangle 986"/>
            <p:cNvSpPr>
              <a:spLocks noChangeArrowheads="1"/>
            </p:cNvSpPr>
            <p:nvPr/>
          </p:nvSpPr>
          <p:spPr bwMode="auto">
            <a:xfrm>
              <a:off x="4715" y="1875"/>
              <a:ext cx="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b</a:t>
              </a:r>
              <a:endParaRPr lang="en-US" altLang="zh-CN"/>
            </a:p>
          </p:txBody>
        </p:sp>
        <p:sp>
          <p:nvSpPr>
            <p:cNvPr id="139227" name="Rectangle 987"/>
            <p:cNvSpPr>
              <a:spLocks noChangeArrowheads="1"/>
            </p:cNvSpPr>
            <p:nvPr/>
          </p:nvSpPr>
          <p:spPr bwMode="auto">
            <a:xfrm>
              <a:off x="4803" y="1875"/>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a:t>
              </a:r>
              <a:endParaRPr lang="en-US" altLang="zh-CN"/>
            </a:p>
          </p:txBody>
        </p:sp>
        <p:sp>
          <p:nvSpPr>
            <p:cNvPr id="139228" name="Rectangle 988"/>
            <p:cNvSpPr>
              <a:spLocks noChangeArrowheads="1"/>
            </p:cNvSpPr>
            <p:nvPr/>
          </p:nvSpPr>
          <p:spPr bwMode="auto">
            <a:xfrm>
              <a:off x="4845" y="1875"/>
              <a:ext cx="2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 g </a:t>
              </a:r>
              <a:endParaRPr lang="en-US" altLang="zh-CN"/>
            </a:p>
          </p:txBody>
        </p:sp>
        <p:sp>
          <p:nvSpPr>
            <p:cNvPr id="139229" name="Rectangle 989"/>
            <p:cNvSpPr>
              <a:spLocks noChangeArrowheads="1"/>
            </p:cNvSpPr>
            <p:nvPr/>
          </p:nvSpPr>
          <p:spPr bwMode="auto">
            <a:xfrm>
              <a:off x="5076" y="1875"/>
              <a:ext cx="1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¹ </a:t>
              </a:r>
              <a:endParaRPr lang="en-US" altLang="zh-CN"/>
            </a:p>
          </p:txBody>
        </p:sp>
        <p:sp>
          <p:nvSpPr>
            <p:cNvPr id="139230" name="Rectangle 990"/>
            <p:cNvSpPr>
              <a:spLocks noChangeArrowheads="1"/>
            </p:cNvSpPr>
            <p:nvPr/>
          </p:nvSpPr>
          <p:spPr bwMode="auto">
            <a:xfrm>
              <a:off x="5206" y="1875"/>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latin typeface="Symbol" panose="05050102010706020507" pitchFamily="18" charset="2"/>
                </a:rPr>
                <a:t>90</a:t>
              </a:r>
              <a:endParaRPr lang="en-US" altLang="zh-CN"/>
            </a:p>
          </p:txBody>
        </p:sp>
        <p:sp>
          <p:nvSpPr>
            <p:cNvPr id="139231" name="Rectangle 991"/>
            <p:cNvSpPr>
              <a:spLocks noChangeArrowheads="1"/>
            </p:cNvSpPr>
            <p:nvPr/>
          </p:nvSpPr>
          <p:spPr bwMode="auto">
            <a:xfrm>
              <a:off x="5364" y="18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latin typeface="Symbol" panose="05050102010706020507" pitchFamily="18" charset="2"/>
                </a:rPr>
                <a:t>o</a:t>
              </a:r>
              <a:endParaRPr lang="en-US" altLang="zh-CN"/>
            </a:p>
          </p:txBody>
        </p:sp>
        <p:sp>
          <p:nvSpPr>
            <p:cNvPr id="139232" name="Rectangle 992"/>
            <p:cNvSpPr>
              <a:spLocks noChangeArrowheads="1"/>
            </p:cNvSpPr>
            <p:nvPr/>
          </p:nvSpPr>
          <p:spPr bwMode="auto">
            <a:xfrm>
              <a:off x="4538" y="2067"/>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a</a:t>
              </a:r>
              <a:endParaRPr lang="en-US" altLang="zh-CN"/>
            </a:p>
          </p:txBody>
        </p:sp>
        <p:sp>
          <p:nvSpPr>
            <p:cNvPr id="139233" name="Rectangle 993"/>
            <p:cNvSpPr>
              <a:spLocks noChangeArrowheads="1"/>
            </p:cNvSpPr>
            <p:nvPr/>
          </p:nvSpPr>
          <p:spPr bwMode="auto">
            <a:xfrm>
              <a:off x="4627" y="2167"/>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t>1</a:t>
              </a:r>
              <a:endParaRPr lang="en-US" altLang="zh-CN"/>
            </a:p>
          </p:txBody>
        </p:sp>
        <p:sp>
          <p:nvSpPr>
            <p:cNvPr id="139234" name="Rectangle 994"/>
            <p:cNvSpPr>
              <a:spLocks noChangeArrowheads="1"/>
            </p:cNvSpPr>
            <p:nvPr/>
          </p:nvSpPr>
          <p:spPr bwMode="auto">
            <a:xfrm>
              <a:off x="4680" y="2067"/>
              <a:ext cx="13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 =</a:t>
              </a:r>
              <a:endParaRPr lang="en-US" altLang="zh-CN"/>
            </a:p>
          </p:txBody>
        </p:sp>
        <p:sp>
          <p:nvSpPr>
            <p:cNvPr id="139235" name="Rectangle 995"/>
            <p:cNvSpPr>
              <a:spLocks noChangeArrowheads="1"/>
            </p:cNvSpPr>
            <p:nvPr/>
          </p:nvSpPr>
          <p:spPr bwMode="auto">
            <a:xfrm>
              <a:off x="4818" y="2067"/>
              <a:ext cx="4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 </a:t>
              </a:r>
              <a:endParaRPr lang="en-US" altLang="zh-CN"/>
            </a:p>
          </p:txBody>
        </p:sp>
        <p:sp>
          <p:nvSpPr>
            <p:cNvPr id="139236" name="Rectangle 996"/>
            <p:cNvSpPr>
              <a:spLocks noChangeArrowheads="1"/>
            </p:cNvSpPr>
            <p:nvPr/>
          </p:nvSpPr>
          <p:spPr bwMode="auto">
            <a:xfrm>
              <a:off x="4861" y="2067"/>
              <a:ext cx="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a</a:t>
              </a:r>
              <a:endParaRPr lang="en-US" altLang="zh-CN"/>
            </a:p>
          </p:txBody>
        </p:sp>
        <p:sp>
          <p:nvSpPr>
            <p:cNvPr id="139237" name="Rectangle 997"/>
            <p:cNvSpPr>
              <a:spLocks noChangeArrowheads="1"/>
            </p:cNvSpPr>
            <p:nvPr/>
          </p:nvSpPr>
          <p:spPr bwMode="auto">
            <a:xfrm>
              <a:off x="4949" y="2167"/>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t>2</a:t>
              </a:r>
              <a:endParaRPr lang="en-US" altLang="zh-CN"/>
            </a:p>
          </p:txBody>
        </p:sp>
        <p:sp>
          <p:nvSpPr>
            <p:cNvPr id="139238" name="Rectangle 998"/>
            <p:cNvSpPr>
              <a:spLocks noChangeArrowheads="1"/>
            </p:cNvSpPr>
            <p:nvPr/>
          </p:nvSpPr>
          <p:spPr bwMode="auto">
            <a:xfrm>
              <a:off x="5003" y="2067"/>
              <a:ext cx="24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0"/>
                <a:t> = a</a:t>
              </a:r>
              <a:endParaRPr lang="en-US" altLang="zh-CN"/>
            </a:p>
          </p:txBody>
        </p:sp>
        <p:sp>
          <p:nvSpPr>
            <p:cNvPr id="139239" name="Rectangle 999"/>
            <p:cNvSpPr>
              <a:spLocks noChangeArrowheads="1"/>
            </p:cNvSpPr>
            <p:nvPr/>
          </p:nvSpPr>
          <p:spPr bwMode="auto">
            <a:xfrm>
              <a:off x="5271" y="2167"/>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0"/>
                <a:t>3</a:t>
              </a:r>
              <a:endParaRPr lang="en-US" altLang="zh-CN"/>
            </a:p>
          </p:txBody>
        </p:sp>
        <p:pic>
          <p:nvPicPr>
            <p:cNvPr id="139242" name="Picture 1002"/>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51" y="709"/>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43" name="Line 1003"/>
            <p:cNvSpPr>
              <a:spLocks noChangeShapeType="1"/>
            </p:cNvSpPr>
            <p:nvPr/>
          </p:nvSpPr>
          <p:spPr bwMode="auto">
            <a:xfrm>
              <a:off x="3696" y="799"/>
              <a:ext cx="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39250" name="Picture 101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444" y="1162"/>
              <a:ext cx="100" cy="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9245"/>
                                        </p:tgtEl>
                                        <p:attrNameLst>
                                          <p:attrName>style.visibility</p:attrName>
                                        </p:attrNameLst>
                                      </p:cBhvr>
                                      <p:to>
                                        <p:strVal val="visible"/>
                                      </p:to>
                                    </p:set>
                                    <p:anim calcmode="lin" valueType="num">
                                      <p:cBhvr additive="base">
                                        <p:cTn id="7" dur="1000" fill="hold"/>
                                        <p:tgtEl>
                                          <p:spTgt spid="139245"/>
                                        </p:tgtEl>
                                        <p:attrNameLst>
                                          <p:attrName>ppt_x</p:attrName>
                                        </p:attrNameLst>
                                      </p:cBhvr>
                                      <p:tavLst>
                                        <p:tav tm="0">
                                          <p:val>
                                            <p:strVal val="0-#ppt_w/2"/>
                                          </p:val>
                                        </p:tav>
                                        <p:tav tm="100000">
                                          <p:val>
                                            <p:strVal val="#ppt_x"/>
                                          </p:val>
                                        </p:tav>
                                      </p:tavLst>
                                    </p:anim>
                                    <p:anim calcmode="lin" valueType="num">
                                      <p:cBhvr additive="base">
                                        <p:cTn id="8" dur="1000" fill="hold"/>
                                        <p:tgtEl>
                                          <p:spTgt spid="1392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9253"/>
                                        </p:tgtEl>
                                        <p:attrNameLst>
                                          <p:attrName>style.visibility</p:attrName>
                                        </p:attrNameLst>
                                      </p:cBhvr>
                                      <p:to>
                                        <p:strVal val="visible"/>
                                      </p:to>
                                    </p:set>
                                    <p:anim calcmode="lin" valueType="num">
                                      <p:cBhvr additive="base">
                                        <p:cTn id="13" dur="1000" fill="hold"/>
                                        <p:tgtEl>
                                          <p:spTgt spid="139253"/>
                                        </p:tgtEl>
                                        <p:attrNameLst>
                                          <p:attrName>ppt_x</p:attrName>
                                        </p:attrNameLst>
                                      </p:cBhvr>
                                      <p:tavLst>
                                        <p:tav tm="0">
                                          <p:val>
                                            <p:strVal val="1+#ppt_w/2"/>
                                          </p:val>
                                        </p:tav>
                                        <p:tav tm="100000">
                                          <p:val>
                                            <p:strVal val="#ppt_x"/>
                                          </p:val>
                                        </p:tav>
                                      </p:tavLst>
                                    </p:anim>
                                    <p:anim calcmode="lin" valueType="num">
                                      <p:cBhvr additive="base">
                                        <p:cTn id="14" dur="1000" fill="hold"/>
                                        <p:tgtEl>
                                          <p:spTgt spid="13925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9254"/>
                                        </p:tgtEl>
                                        <p:attrNameLst>
                                          <p:attrName>style.visibility</p:attrName>
                                        </p:attrNameLst>
                                      </p:cBhvr>
                                      <p:to>
                                        <p:strVal val="visible"/>
                                      </p:to>
                                    </p:set>
                                    <p:anim calcmode="lin" valueType="num">
                                      <p:cBhvr additive="base">
                                        <p:cTn id="19" dur="1000" fill="hold"/>
                                        <p:tgtEl>
                                          <p:spTgt spid="139254"/>
                                        </p:tgtEl>
                                        <p:attrNameLst>
                                          <p:attrName>ppt_x</p:attrName>
                                        </p:attrNameLst>
                                      </p:cBhvr>
                                      <p:tavLst>
                                        <p:tav tm="0">
                                          <p:val>
                                            <p:strVal val="#ppt_x"/>
                                          </p:val>
                                        </p:tav>
                                        <p:tav tm="100000">
                                          <p:val>
                                            <p:strVal val="#ppt_x"/>
                                          </p:val>
                                        </p:tav>
                                      </p:tavLst>
                                    </p:anim>
                                    <p:anim calcmode="lin" valueType="num">
                                      <p:cBhvr additive="base">
                                        <p:cTn id="20" dur="1000" fill="hold"/>
                                        <p:tgtEl>
                                          <p:spTgt spid="1392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zh-CN" altLang="en-US" dirty="0"/>
              <a:t>H</a:t>
            </a:r>
            <a:r>
              <a:rPr altLang="zh-CN" dirty="0"/>
              <a:t>omework</a:t>
            </a:r>
          </a:p>
        </p:txBody>
      </p:sp>
      <p:sp>
        <p:nvSpPr>
          <p:cNvPr id="3" name="Content Placeholder 2"/>
          <p:cNvSpPr>
            <a:spLocks noGrp="1"/>
          </p:cNvSpPr>
          <p:nvPr>
            <p:ph idx="1"/>
          </p:nvPr>
        </p:nvSpPr>
        <p:spPr/>
        <p:txBody>
          <a:bodyPr/>
          <a:lstStyle/>
          <a:p>
            <a:r>
              <a:rPr lang="en-US" sz="2800" dirty="0"/>
              <a:t>Please classify the 2-D Bravais lattices and point out the properties of their lattice parameters.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3789039"/>
            <a:ext cx="2656519" cy="2770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22" name="Rectangle 6"/>
          <p:cNvSpPr>
            <a:spLocks noChangeArrowheads="1"/>
          </p:cNvSpPr>
          <p:nvPr/>
        </p:nvSpPr>
        <p:spPr bwMode="auto">
          <a:xfrm>
            <a:off x="441643" y="703263"/>
            <a:ext cx="77724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3800">
                <a:solidFill>
                  <a:schemeClr val="tx2"/>
                </a:solidFill>
                <a:latin typeface="Arial" panose="020B0604020202020204" pitchFamily="34" charset="0"/>
                <a:ea typeface="宋体" panose="02010600030101010101" pitchFamily="2" charset="-122"/>
              </a:defRPr>
            </a:lvl1pPr>
            <a:lvl2pPr>
              <a:defRPr sz="3800">
                <a:solidFill>
                  <a:schemeClr val="tx2"/>
                </a:solidFill>
                <a:latin typeface="Arial" panose="020B0604020202020204" pitchFamily="34" charset="0"/>
                <a:ea typeface="宋体" panose="02010600030101010101" pitchFamily="2" charset="-122"/>
              </a:defRPr>
            </a:lvl2pPr>
            <a:lvl3pPr>
              <a:defRPr sz="3800">
                <a:solidFill>
                  <a:schemeClr val="tx2"/>
                </a:solidFill>
                <a:latin typeface="Arial" panose="020B0604020202020204" pitchFamily="34" charset="0"/>
                <a:ea typeface="宋体" panose="02010600030101010101" pitchFamily="2" charset="-122"/>
              </a:defRPr>
            </a:lvl3pPr>
            <a:lvl4pPr>
              <a:defRPr sz="3800">
                <a:solidFill>
                  <a:schemeClr val="tx2"/>
                </a:solidFill>
                <a:latin typeface="Arial" panose="020B0604020202020204" pitchFamily="34" charset="0"/>
                <a:ea typeface="宋体" panose="02010600030101010101" pitchFamily="2" charset="-122"/>
              </a:defRPr>
            </a:lvl4pPr>
            <a:lvl5pPr>
              <a:defRPr sz="3800">
                <a:solidFill>
                  <a:schemeClr val="tx2"/>
                </a:solidFill>
                <a:latin typeface="Arial" panose="020B0604020202020204" pitchFamily="34" charset="0"/>
                <a:ea typeface="宋体" panose="02010600030101010101" pitchFamily="2" charset="-122"/>
              </a:defRPr>
            </a:lvl5pPr>
            <a:lvl6pPr marL="4572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6pPr>
            <a:lvl7pPr marL="9144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7pPr>
            <a:lvl8pPr marL="13716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8pPr>
            <a:lvl9pPr marL="18288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9pPr>
          </a:lstStyle>
          <a:p>
            <a:r>
              <a:rPr lang="en-US" altLang="zh-CN" sz="3200" b="1" spc="-60" dirty="0">
                <a:solidFill>
                  <a:srgbClr val="FF0066"/>
                </a:solidFill>
                <a:effectLst>
                  <a:outerShdw blurRad="38100" dist="38100" dir="2700000" algn="tl">
                    <a:srgbClr val="000000"/>
                  </a:outerShdw>
                </a:effectLst>
                <a:latin typeface="+mj-lt"/>
                <a:ea typeface="+mj-ea"/>
                <a:cs typeface="+mj-cs"/>
              </a:rPr>
              <a:t>Elements of unit cell</a:t>
            </a:r>
            <a:r>
              <a:rPr lang="zh-CN" altLang="en-US" sz="3200" b="1" spc="-60" dirty="0">
                <a:solidFill>
                  <a:srgbClr val="FF0066"/>
                </a:solidFill>
                <a:effectLst>
                  <a:outerShdw blurRad="38100" dist="38100" dir="2700000" algn="tl">
                    <a:srgbClr val="000000"/>
                  </a:outerShdw>
                </a:effectLst>
                <a:latin typeface="+mj-lt"/>
                <a:ea typeface="+mj-ea"/>
                <a:cs typeface="+mj-cs"/>
              </a:rPr>
              <a:t>（晶胞要素）</a:t>
            </a:r>
            <a:endParaRPr lang="en-US" altLang="zh-CN" sz="3200" b="1" spc="-60" dirty="0">
              <a:solidFill>
                <a:srgbClr val="FF0066"/>
              </a:solidFill>
              <a:effectLst>
                <a:outerShdw blurRad="38100" dist="38100" dir="2700000" algn="tl">
                  <a:srgbClr val="000000"/>
                </a:outerShdw>
              </a:effectLst>
              <a:latin typeface="+mj-lt"/>
              <a:ea typeface="+mj-ea"/>
              <a:cs typeface="+mj-cs"/>
            </a:endParaRPr>
          </a:p>
        </p:txBody>
      </p:sp>
      <p:sp>
        <p:nvSpPr>
          <p:cNvPr id="2" name="TextBox 1"/>
          <p:cNvSpPr txBox="1"/>
          <p:nvPr/>
        </p:nvSpPr>
        <p:spPr>
          <a:xfrm>
            <a:off x="539551" y="1557338"/>
            <a:ext cx="8136905" cy="3046988"/>
          </a:xfrm>
          <a:prstGeom prst="rect">
            <a:avLst/>
          </a:prstGeom>
          <a:noFill/>
        </p:spPr>
        <p:txBody>
          <a:bodyPr wrap="square" rtlCol="0">
            <a:spAutoFit/>
          </a:bodyPr>
          <a:lstStyle/>
          <a:p>
            <a:pPr>
              <a:lnSpc>
                <a:spcPct val="200000"/>
              </a:lnSpc>
            </a:pPr>
            <a:r>
              <a:rPr lang="en-US" altLang="zh-CN" b="1" dirty="0"/>
              <a:t>1. Lattice parameters</a:t>
            </a:r>
            <a:r>
              <a:rPr lang="zh-CN" altLang="en-US" b="1" dirty="0"/>
              <a:t>（</a:t>
            </a:r>
            <a:r>
              <a:rPr lang="en-US" altLang="zh-CN" b="1" i="1" dirty="0"/>
              <a:t> a, b, c ; </a:t>
            </a:r>
            <a:r>
              <a:rPr lang="el-GR" altLang="zh-CN" b="1" i="1" dirty="0"/>
              <a:t>α</a:t>
            </a:r>
            <a:r>
              <a:rPr lang="en-US" altLang="zh-CN" b="1" i="1" dirty="0"/>
              <a:t>, </a:t>
            </a:r>
            <a:r>
              <a:rPr lang="el-GR" altLang="zh-CN" b="1" i="1" dirty="0"/>
              <a:t>β</a:t>
            </a:r>
            <a:r>
              <a:rPr lang="en-US" altLang="zh-CN" b="1" i="1" dirty="0"/>
              <a:t>, </a:t>
            </a:r>
            <a:r>
              <a:rPr lang="el-GR" altLang="zh-CN" b="1" i="1" dirty="0"/>
              <a:t>γ</a:t>
            </a:r>
            <a:r>
              <a:rPr lang="zh-CN" altLang="en-US" sz="2000" b="1" dirty="0"/>
              <a:t>）（晶胞参数）</a:t>
            </a:r>
          </a:p>
          <a:p>
            <a:pPr>
              <a:lnSpc>
                <a:spcPct val="200000"/>
              </a:lnSpc>
            </a:pPr>
            <a:r>
              <a:rPr lang="en-US" altLang="zh-CN" b="1" dirty="0"/>
              <a:t>2. Space group</a:t>
            </a:r>
            <a:endParaRPr lang="en-US" altLang="zh-CN" sz="2000" b="1" dirty="0"/>
          </a:p>
          <a:p>
            <a:pPr>
              <a:lnSpc>
                <a:spcPct val="200000"/>
              </a:lnSpc>
            </a:pPr>
            <a:r>
              <a:rPr lang="en-US" altLang="zh-CN" b="1" dirty="0"/>
              <a:t>3. Coordinates of each atom in unit cell</a:t>
            </a:r>
          </a:p>
          <a:p>
            <a:pPr>
              <a:lnSpc>
                <a:spcPct val="200000"/>
              </a:lnSpc>
            </a:pPr>
            <a:endParaRPr lang="zh-CN" altLang="en-US" b="1" i="1" dirty="0"/>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619" y="4092726"/>
            <a:ext cx="2167049" cy="2162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211144" cy="1371600"/>
          </a:xfrm>
        </p:spPr>
        <p:txBody>
          <a:bodyPr>
            <a:noAutofit/>
          </a:bodyPr>
          <a:lstStyle/>
          <a:p>
            <a:pPr algn="l"/>
            <a:r>
              <a:rPr lang="en-US" altLang="zh-CN" sz="3600" cap="none" dirty="0"/>
              <a:t>Elements of </a:t>
            </a:r>
            <a:r>
              <a:rPr lang="en-US" altLang="zh-CN" sz="3600" cap="none" dirty="0" err="1"/>
              <a:t>NaCl crystals</a:t>
            </a:r>
          </a:p>
        </p:txBody>
      </p:sp>
      <p:sp>
        <p:nvSpPr>
          <p:cNvPr id="4" name="Rectangle 3"/>
          <p:cNvSpPr/>
          <p:nvPr/>
        </p:nvSpPr>
        <p:spPr>
          <a:xfrm>
            <a:off x="1244447" y="6427440"/>
            <a:ext cx="5847833" cy="461665"/>
          </a:xfrm>
          <a:prstGeom prst="rect">
            <a:avLst/>
          </a:prstGeom>
        </p:spPr>
        <p:txBody>
          <a:bodyPr wrap="square">
            <a:spAutoFit/>
          </a:bodyPr>
          <a:lstStyle/>
          <a:p>
            <a:r>
              <a:rPr lang="en-US" dirty="0"/>
              <a:t>http://rruff.geo.arizona.edu/AMS/amcsd.php</a:t>
            </a:r>
          </a:p>
        </p:txBody>
      </p:sp>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48" y="1624298"/>
            <a:ext cx="8089347" cy="3604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4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0851" y="3453768"/>
            <a:ext cx="2167049" cy="2162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itle 1"/>
          <p:cNvSpPr txBox="1"/>
          <p:nvPr/>
        </p:nvSpPr>
        <p:spPr>
          <a:xfrm>
            <a:off x="1244447" y="5083530"/>
            <a:ext cx="5791200" cy="1371600"/>
          </a:xfrm>
          <a:prstGeom prst="rect">
            <a:avLst/>
          </a:prstGeom>
        </p:spPr>
        <p:txBody>
          <a:bodyPr vert="horz" lIns="91440" tIns="45720" rIns="91440" bIns="45720" rtlCol="0" anchor="b">
            <a:noAutofit/>
          </a:bodyPr>
          <a:lstStyle>
            <a:lvl1pPr algn="ctr" rtl="0" eaLnBrk="1" fontAlgn="auto" hangingPunct="1">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r>
              <a:rPr altLang="zh-CN" sz="2400" cap="none" dirty="0"/>
              <a:t>Database for cystal structures</a:t>
            </a:r>
          </a:p>
        </p:txBody>
      </p:sp>
      <p:sp>
        <p:nvSpPr>
          <p:cNvPr id="5" name="TextBox 4"/>
          <p:cNvSpPr txBox="1"/>
          <p:nvPr/>
        </p:nvSpPr>
        <p:spPr>
          <a:xfrm>
            <a:off x="5899077" y="1758007"/>
            <a:ext cx="2671445" cy="460375"/>
          </a:xfrm>
          <a:prstGeom prst="rect">
            <a:avLst/>
          </a:prstGeom>
          <a:noFill/>
        </p:spPr>
        <p:txBody>
          <a:bodyPr wrap="none" rtlCol="0">
            <a:spAutoFit/>
          </a:bodyPr>
          <a:lstStyle/>
          <a:p>
            <a:r>
              <a:rPr lang="en-US" dirty="0"/>
              <a:t>Space group symbol</a:t>
            </a:r>
          </a:p>
        </p:txBody>
      </p:sp>
      <p:pic>
        <p:nvPicPr>
          <p:cNvPr id="1434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6261" y="3016760"/>
            <a:ext cx="2656519" cy="2770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Arrow Connector 6"/>
          <p:cNvCxnSpPr/>
          <p:nvPr/>
        </p:nvCxnSpPr>
        <p:spPr>
          <a:xfrm flipV="1">
            <a:off x="3923928" y="2219672"/>
            <a:ext cx="1800200" cy="10653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2" name="Rectangle 6"/>
          <p:cNvSpPr>
            <a:spLocks noChangeArrowheads="1"/>
          </p:cNvSpPr>
          <p:nvPr/>
        </p:nvSpPr>
        <p:spPr bwMode="auto">
          <a:xfrm>
            <a:off x="539750" y="305435"/>
            <a:ext cx="826135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3800">
                <a:solidFill>
                  <a:schemeClr val="tx2"/>
                </a:solidFill>
                <a:latin typeface="Arial" panose="020B0604020202020204" pitchFamily="34" charset="0"/>
                <a:ea typeface="宋体" panose="02010600030101010101" pitchFamily="2" charset="-122"/>
              </a:defRPr>
            </a:lvl1pPr>
            <a:lvl2pPr>
              <a:defRPr sz="3800">
                <a:solidFill>
                  <a:schemeClr val="tx2"/>
                </a:solidFill>
                <a:latin typeface="Arial" panose="020B0604020202020204" pitchFamily="34" charset="0"/>
                <a:ea typeface="宋体" panose="02010600030101010101" pitchFamily="2" charset="-122"/>
              </a:defRPr>
            </a:lvl2pPr>
            <a:lvl3pPr>
              <a:defRPr sz="3800">
                <a:solidFill>
                  <a:schemeClr val="tx2"/>
                </a:solidFill>
                <a:latin typeface="Arial" panose="020B0604020202020204" pitchFamily="34" charset="0"/>
                <a:ea typeface="宋体" panose="02010600030101010101" pitchFamily="2" charset="-122"/>
              </a:defRPr>
            </a:lvl3pPr>
            <a:lvl4pPr>
              <a:defRPr sz="3800">
                <a:solidFill>
                  <a:schemeClr val="tx2"/>
                </a:solidFill>
                <a:latin typeface="Arial" panose="020B0604020202020204" pitchFamily="34" charset="0"/>
                <a:ea typeface="宋体" panose="02010600030101010101" pitchFamily="2" charset="-122"/>
              </a:defRPr>
            </a:lvl4pPr>
            <a:lvl5pPr>
              <a:defRPr sz="3800">
                <a:solidFill>
                  <a:schemeClr val="tx2"/>
                </a:solidFill>
                <a:latin typeface="Arial" panose="020B0604020202020204" pitchFamily="34" charset="0"/>
                <a:ea typeface="宋体" panose="02010600030101010101" pitchFamily="2" charset="-122"/>
              </a:defRPr>
            </a:lvl5pPr>
            <a:lvl6pPr marL="4572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6pPr>
            <a:lvl7pPr marL="9144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7pPr>
            <a:lvl8pPr marL="13716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8pPr>
            <a:lvl9pPr marL="18288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9pPr>
          </a:lstStyle>
          <a:p>
            <a:r>
              <a:rPr lang="en-US" altLang="zh-CN" sz="2800" b="1" spc="-60" dirty="0">
                <a:solidFill>
                  <a:srgbClr val="FF0066"/>
                </a:solidFill>
                <a:effectLst>
                  <a:outerShdw blurRad="38100" dist="38100" dir="2700000" algn="tl">
                    <a:srgbClr val="000000"/>
                  </a:outerShdw>
                </a:effectLst>
                <a:latin typeface="+mj-lt"/>
                <a:ea typeface="+mj-ea"/>
                <a:cs typeface="+mj-cs"/>
              </a:rPr>
              <a:t>II. </a:t>
            </a:r>
            <a:r>
              <a:rPr lang="en-US" altLang="zh-CN" sz="2800" b="1" spc="-60" dirty="0">
                <a:solidFill>
                  <a:srgbClr val="FF0066"/>
                </a:solidFill>
                <a:effectLst>
                  <a:outerShdw blurRad="38100" dist="38100" dir="2700000" algn="tl">
                    <a:srgbClr val="000000"/>
                  </a:outerShdw>
                </a:effectLst>
                <a:latin typeface="+mj-lt"/>
                <a:ea typeface="+mj-ea"/>
                <a:cs typeface="+mj-cs"/>
                <a:sym typeface="+mn-ea"/>
              </a:rPr>
              <a:t>Denotation of node </a:t>
            </a:r>
            <a:r>
              <a:rPr lang="zh-CN" altLang="en-US" sz="2800" b="1" spc="-60" dirty="0">
                <a:solidFill>
                  <a:srgbClr val="FF0066"/>
                </a:solidFill>
                <a:effectLst>
                  <a:outerShdw blurRad="38100" dist="38100" dir="2700000" algn="tl">
                    <a:srgbClr val="000000"/>
                  </a:outerShdw>
                </a:effectLst>
                <a:latin typeface="+mj-lt"/>
                <a:ea typeface="+mj-ea"/>
                <a:cs typeface="+mj-cs"/>
                <a:sym typeface="+mn-ea"/>
              </a:rPr>
              <a:t>（结点）</a:t>
            </a:r>
            <a:r>
              <a:rPr lang="en-US" altLang="zh-CN" sz="2800" b="1" spc="-60" dirty="0">
                <a:solidFill>
                  <a:srgbClr val="FF0066"/>
                </a:solidFill>
                <a:effectLst>
                  <a:outerShdw blurRad="38100" dist="38100" dir="2700000" algn="tl">
                    <a:srgbClr val="000000"/>
                  </a:outerShdw>
                </a:effectLst>
                <a:latin typeface="+mj-lt"/>
                <a:ea typeface="+mj-ea"/>
                <a:cs typeface="+mj-cs"/>
                <a:sym typeface="+mn-ea"/>
              </a:rPr>
              <a:t>, crystallographic direction and lattice plane</a:t>
            </a:r>
            <a:r>
              <a:rPr lang="en-US" altLang="zh-CN" sz="2800" b="1" spc="-60" dirty="0">
                <a:solidFill>
                  <a:srgbClr val="FF0066"/>
                </a:solidFill>
                <a:effectLst>
                  <a:outerShdw blurRad="38100" dist="38100" dir="2700000" algn="tl">
                    <a:srgbClr val="000000"/>
                  </a:outerShdw>
                </a:effectLst>
                <a:latin typeface="+mj-lt"/>
                <a:ea typeface="+mj-ea"/>
                <a:cs typeface="+mj-cs"/>
              </a:rPr>
              <a:t> </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423" y="2286337"/>
            <a:ext cx="3025224" cy="240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98165" y="2204864"/>
            <a:ext cx="5479648" cy="2369880"/>
          </a:xfrm>
          <a:prstGeom prst="rect">
            <a:avLst/>
          </a:prstGeom>
          <a:noFill/>
        </p:spPr>
        <p:txBody>
          <a:bodyPr wrap="square" rtlCol="0">
            <a:spAutoFit/>
          </a:bodyPr>
          <a:lstStyle/>
          <a:p>
            <a:r>
              <a:rPr lang="en-US" altLang="zh-CN" dirty="0">
                <a:sym typeface="+mn-ea"/>
              </a:rPr>
              <a:t>There are </a:t>
            </a:r>
            <a:r>
              <a:rPr lang="en-US" altLang="zh-CN" b="1" dirty="0">
                <a:solidFill>
                  <a:srgbClr val="FF0000"/>
                </a:solidFill>
                <a:sym typeface="+mn-ea"/>
              </a:rPr>
              <a:t>two coordinate systems </a:t>
            </a:r>
            <a:r>
              <a:rPr lang="en-US" altLang="zh-CN" dirty="0">
                <a:sym typeface="+mn-ea"/>
              </a:rPr>
              <a:t>basing on</a:t>
            </a:r>
            <a:r>
              <a:rPr lang="en-US" altLang="zh-CN" dirty="0"/>
              <a:t> the basis vectors </a:t>
            </a:r>
            <a:r>
              <a:rPr lang="en-US" altLang="zh-CN" b="1" dirty="0">
                <a:solidFill>
                  <a:srgbClr val="FF0000"/>
                </a:solidFill>
              </a:rPr>
              <a:t>(</a:t>
            </a:r>
            <a:r>
              <a:rPr lang="en-US" altLang="zh-CN" b="1" i="1" dirty="0">
                <a:solidFill>
                  <a:srgbClr val="FF0000"/>
                </a:solidFill>
              </a:rPr>
              <a:t>a</a:t>
            </a:r>
            <a:r>
              <a:rPr lang="en-US" altLang="zh-CN" b="1" i="1" baseline="-25000" dirty="0">
                <a:solidFill>
                  <a:srgbClr val="FF0000"/>
                </a:solidFill>
              </a:rPr>
              <a:t>1</a:t>
            </a:r>
            <a:r>
              <a:rPr lang="en-US" altLang="zh-CN" b="1" i="1" dirty="0">
                <a:solidFill>
                  <a:srgbClr val="FF0000"/>
                </a:solidFill>
              </a:rPr>
              <a:t>, a</a:t>
            </a:r>
            <a:r>
              <a:rPr lang="en-US" altLang="zh-CN" b="1" i="1" baseline="-25000" dirty="0">
                <a:solidFill>
                  <a:srgbClr val="FF0000"/>
                </a:solidFill>
              </a:rPr>
              <a:t>2</a:t>
            </a:r>
            <a:r>
              <a:rPr lang="en-US" altLang="zh-CN" b="1" i="1" dirty="0">
                <a:solidFill>
                  <a:srgbClr val="FF0000"/>
                </a:solidFill>
              </a:rPr>
              <a:t>, a</a:t>
            </a:r>
            <a:r>
              <a:rPr lang="en-US" altLang="zh-CN" b="1" i="1" baseline="-25000" dirty="0">
                <a:solidFill>
                  <a:srgbClr val="FF0000"/>
                </a:solidFill>
              </a:rPr>
              <a:t>3</a:t>
            </a:r>
            <a:r>
              <a:rPr lang="en-US" altLang="zh-CN" b="1" dirty="0">
                <a:solidFill>
                  <a:srgbClr val="FF0000"/>
                </a:solidFill>
              </a:rPr>
              <a:t>) </a:t>
            </a:r>
            <a:r>
              <a:rPr lang="en-US" altLang="zh-CN" dirty="0"/>
              <a:t>of primitive cell and the basis vectors </a:t>
            </a:r>
            <a:r>
              <a:rPr lang="en-US" altLang="zh-CN" b="1" dirty="0">
                <a:solidFill>
                  <a:srgbClr val="FF0000"/>
                </a:solidFill>
              </a:rPr>
              <a:t>(</a:t>
            </a:r>
            <a:r>
              <a:rPr lang="en-US" altLang="zh-CN" b="1" i="1" dirty="0">
                <a:solidFill>
                  <a:srgbClr val="FF0000"/>
                </a:solidFill>
              </a:rPr>
              <a:t>a, b, c</a:t>
            </a:r>
            <a:r>
              <a:rPr lang="en-US" altLang="zh-CN" b="1" dirty="0">
                <a:solidFill>
                  <a:srgbClr val="FF0000"/>
                </a:solidFill>
              </a:rPr>
              <a:t>) </a:t>
            </a:r>
            <a:r>
              <a:rPr lang="en-US" altLang="zh-CN" dirty="0"/>
              <a:t>of unit cell, respectively, which can be both used as the symbol of crystals.  </a:t>
            </a:r>
            <a:endParaRPr lang="en-US" altLang="zh-CN" sz="2800" dirty="0"/>
          </a:p>
          <a:p>
            <a:endParaRPr lang="en-US" sz="2800" b="1" i="1" dirty="0"/>
          </a:p>
        </p:txBody>
      </p:sp>
      <p:sp>
        <p:nvSpPr>
          <p:cNvPr id="3" name="Rectangle 2"/>
          <p:cNvSpPr/>
          <p:nvPr/>
        </p:nvSpPr>
        <p:spPr>
          <a:xfrm>
            <a:off x="598165" y="1466781"/>
            <a:ext cx="8280920" cy="461665"/>
          </a:xfrm>
          <a:prstGeom prst="rect">
            <a:avLst/>
          </a:prstGeom>
        </p:spPr>
        <p:txBody>
          <a:bodyPr wrap="square">
            <a:spAutoFit/>
          </a:bodyPr>
          <a:lstStyle/>
          <a:p>
            <a:pPr lvl="0"/>
            <a:r>
              <a:rPr lang="en-US" altLang="zh-CN" b="1" dirty="0">
                <a:effectLst>
                  <a:outerShdw blurRad="38100" dist="38100" dir="2700000" algn="tl">
                    <a:srgbClr val="000000">
                      <a:alpha val="43137"/>
                    </a:srgbClr>
                  </a:outerShdw>
                </a:effectLst>
              </a:rPr>
              <a:t>Crystallographic coordinate system (basing on unit cell)</a:t>
            </a:r>
            <a:r>
              <a:rPr lang="zh-CN" altLang="en-US" b="1" dirty="0">
                <a:effectLst>
                  <a:outerShdw blurRad="38100" dist="38100" dir="2700000" algn="tl">
                    <a:srgbClr val="000000">
                      <a:alpha val="43137"/>
                    </a:srgbClr>
                  </a:outerShdw>
                </a:effectLst>
              </a:rPr>
              <a:t>：</a:t>
            </a:r>
            <a:endParaRPr lang="en-US" altLang="zh-CN" b="1" dirty="0">
              <a:effectLst>
                <a:outerShdw blurRad="38100" dist="38100" dir="2700000" algn="tl">
                  <a:srgbClr val="000000">
                    <a:alpha val="43137"/>
                  </a:srgbClr>
                </a:outerShdw>
              </a:effectLst>
            </a:endParaRPr>
          </a:p>
        </p:txBody>
      </p:sp>
      <p:sp>
        <p:nvSpPr>
          <p:cNvPr id="4" name="Rectangle 3"/>
          <p:cNvSpPr/>
          <p:nvPr/>
        </p:nvSpPr>
        <p:spPr>
          <a:xfrm>
            <a:off x="598165" y="4725144"/>
            <a:ext cx="8294315" cy="1200329"/>
          </a:xfrm>
          <a:prstGeom prst="rect">
            <a:avLst/>
          </a:prstGeom>
        </p:spPr>
        <p:txBody>
          <a:bodyPr wrap="square">
            <a:spAutoFit/>
          </a:bodyPr>
          <a:lstStyle/>
          <a:p>
            <a:pPr lvl="0"/>
            <a:r>
              <a:rPr lang="en-US" altLang="zh-CN" b="1" dirty="0">
                <a:solidFill>
                  <a:srgbClr val="FF0000"/>
                </a:solidFill>
              </a:rPr>
              <a:t>The latter one (basing on unit cell) is commonly used, because unit cell is the </a:t>
            </a:r>
            <a:r>
              <a:rPr lang="zh-CN" altLang="en-US" b="1" dirty="0">
                <a:solidFill>
                  <a:srgbClr val="FF0000"/>
                </a:solidFill>
              </a:rPr>
              <a:t>the simplest </a:t>
            </a:r>
            <a:r>
              <a:rPr lang="en-US" altLang="zh-CN" b="1" dirty="0">
                <a:solidFill>
                  <a:srgbClr val="FF0000"/>
                </a:solidFill>
              </a:rPr>
              <a:t>unit </a:t>
            </a:r>
            <a:r>
              <a:rPr lang="zh-CN" altLang="en-US" b="1" dirty="0">
                <a:solidFill>
                  <a:srgbClr val="FF0000"/>
                </a:solidFill>
              </a:rPr>
              <a:t>that </a:t>
            </a:r>
            <a:r>
              <a:rPr lang="en-US" altLang="zh-CN" b="1" dirty="0">
                <a:solidFill>
                  <a:srgbClr val="FF0000"/>
                </a:solidFill>
              </a:rPr>
              <a:t>represents </a:t>
            </a:r>
            <a:r>
              <a:rPr lang="zh-CN" altLang="en-US" b="1" dirty="0">
                <a:solidFill>
                  <a:srgbClr val="FF0000"/>
                </a:solidFill>
              </a:rPr>
              <a:t>all the structural characteristics of a crystal</a:t>
            </a:r>
            <a:r>
              <a:rPr lang="en-US" altLang="zh-CN" b="1" dirty="0">
                <a:solidFill>
                  <a:srgbClr val="FF0000"/>
                </a:solidFill>
              </a:rPr>
              <a:t>.</a:t>
            </a:r>
          </a:p>
        </p:txBody>
      </p:sp>
      <p:sp>
        <p:nvSpPr>
          <p:cNvPr id="5" name="TextBox 4"/>
          <p:cNvSpPr txBox="1"/>
          <p:nvPr/>
        </p:nvSpPr>
        <p:spPr>
          <a:xfrm>
            <a:off x="598165" y="6280967"/>
            <a:ext cx="7488832" cy="461665"/>
          </a:xfrm>
          <a:prstGeom prst="rect">
            <a:avLst/>
          </a:prstGeom>
          <a:noFill/>
        </p:spPr>
        <p:txBody>
          <a:bodyPr wrap="square" rtlCol="0">
            <a:spAutoFit/>
          </a:bodyPr>
          <a:lstStyle/>
          <a:p>
            <a:r>
              <a:rPr lang="en-US" b="1" dirty="0"/>
              <a:t>VS. rectangular</a:t>
            </a:r>
            <a:r>
              <a:rPr lang="en-US" dirty="0"/>
              <a:t> </a:t>
            </a:r>
            <a:r>
              <a:rPr lang="en-US" b="1" dirty="0"/>
              <a:t>coordinate</a:t>
            </a:r>
            <a:r>
              <a:rPr lang="en-US" dirty="0"/>
              <a:t> </a:t>
            </a:r>
            <a:r>
              <a:rPr lang="en-US" b="1" dirty="0"/>
              <a:t>system</a:t>
            </a:r>
            <a:r>
              <a:rPr lang="en-US" dirty="0"/>
              <a:t> </a:t>
            </a:r>
            <a:r>
              <a:rPr lang="zh-CN" altLang="en-US" dirty="0"/>
              <a:t>（直角坐标系）</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5"/>
          <p:cNvSpPr>
            <a:spLocks noChangeArrowheads="1"/>
          </p:cNvSpPr>
          <p:nvPr/>
        </p:nvSpPr>
        <p:spPr bwMode="auto">
          <a:xfrm>
            <a:off x="563552" y="173900"/>
            <a:ext cx="7543800" cy="5775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ct val="130000"/>
              </a:lnSpc>
              <a:buFont typeface="Wingdings" panose="05000000000000000000" pitchFamily="2" charset="2"/>
              <a:buNone/>
            </a:pPr>
            <a:r>
              <a:rPr lang="en-US" altLang="zh-CN" sz="3600" b="1" spc="-60" dirty="0">
                <a:solidFill>
                  <a:srgbClr val="FF0066"/>
                </a:solidFill>
                <a:effectLst>
                  <a:outerShdw blurRad="38100" dist="38100" dir="2700000" algn="tl">
                    <a:srgbClr val="000000"/>
                  </a:outerShdw>
                </a:effectLst>
                <a:latin typeface="+mj-lt"/>
                <a:ea typeface="+mj-ea"/>
                <a:cs typeface="+mj-cs"/>
              </a:rPr>
              <a:t>1. Denotation of node:</a:t>
            </a:r>
          </a:p>
          <a:p>
            <a:pPr lvl="1">
              <a:lnSpc>
                <a:spcPct val="130000"/>
              </a:lnSpc>
            </a:pPr>
            <a:r>
              <a:rPr lang="en-US" altLang="zh-CN" sz="2400" dirty="0"/>
              <a:t>The coordinate of a node can be obtained via plot the vector </a:t>
            </a:r>
            <a:r>
              <a:rPr lang="en-US" altLang="zh-CN" sz="2400" b="1" i="1" dirty="0"/>
              <a:t>r </a:t>
            </a:r>
            <a:r>
              <a:rPr lang="en-US" altLang="zh-CN" sz="2400" dirty="0"/>
              <a:t>from the origin to the node. The vector </a:t>
            </a:r>
            <a:r>
              <a:rPr lang="en-US" altLang="zh-CN" sz="2400" b="1" i="1" dirty="0">
                <a:effectLst>
                  <a:outerShdw blurRad="38100" dist="38100" dir="2700000" algn="tl">
                    <a:srgbClr val="000000">
                      <a:alpha val="43137"/>
                    </a:srgbClr>
                  </a:outerShdw>
                </a:effectLst>
              </a:rPr>
              <a:t>r </a:t>
            </a:r>
            <a:r>
              <a:rPr lang="en-US" altLang="zh-CN" sz="2400" dirty="0"/>
              <a:t>can be expressed in the form of  the combination of </a:t>
            </a:r>
            <a:r>
              <a:rPr lang="en-US" altLang="zh-CN" sz="2400" b="1" i="1" dirty="0"/>
              <a:t>a, b </a:t>
            </a:r>
            <a:r>
              <a:rPr lang="en-US" altLang="zh-CN" sz="2400" dirty="0"/>
              <a:t>and</a:t>
            </a:r>
            <a:r>
              <a:rPr lang="en-US" altLang="zh-CN" sz="2400" b="1" i="1" dirty="0"/>
              <a:t> c</a:t>
            </a:r>
            <a:r>
              <a:rPr lang="en-US" altLang="zh-CN" sz="2400" dirty="0"/>
              <a:t>, like</a:t>
            </a:r>
            <a:r>
              <a:rPr lang="en-US" altLang="zh-CN" sz="2400" b="1" i="1" dirty="0"/>
              <a:t> </a:t>
            </a:r>
            <a:r>
              <a:rPr lang="en-US" altLang="zh-CN" sz="2400" b="1" i="1" dirty="0">
                <a:solidFill>
                  <a:srgbClr val="FF0000"/>
                </a:solidFill>
                <a:effectLst>
                  <a:outerShdw blurRad="38100" dist="38100" dir="2700000" algn="tl">
                    <a:srgbClr val="C0C0C0"/>
                  </a:outerShdw>
                </a:effectLst>
              </a:rPr>
              <a:t>r </a:t>
            </a:r>
            <a:r>
              <a:rPr lang="en-US" altLang="zh-CN" sz="2400" b="1" dirty="0">
                <a:solidFill>
                  <a:srgbClr val="FF0000"/>
                </a:solidFill>
                <a:effectLst>
                  <a:outerShdw blurRad="38100" dist="38100" dir="2700000" algn="tl">
                    <a:srgbClr val="C0C0C0"/>
                  </a:outerShdw>
                </a:effectLst>
              </a:rPr>
              <a:t>=</a:t>
            </a:r>
            <a:r>
              <a:rPr lang="en-US" altLang="zh-CN" sz="2400" b="1" i="1" dirty="0" err="1">
                <a:solidFill>
                  <a:srgbClr val="FF0000"/>
                </a:solidFill>
                <a:effectLst>
                  <a:outerShdw blurRad="38100" dist="38100" dir="2700000" algn="tl">
                    <a:srgbClr val="C0C0C0"/>
                  </a:outerShdw>
                </a:effectLst>
              </a:rPr>
              <a:t>ua</a:t>
            </a:r>
            <a:r>
              <a:rPr lang="en-US" altLang="zh-CN" sz="2400" b="1" dirty="0" err="1">
                <a:solidFill>
                  <a:srgbClr val="FF0000"/>
                </a:solidFill>
                <a:effectLst>
                  <a:outerShdw blurRad="38100" dist="38100" dir="2700000" algn="tl">
                    <a:srgbClr val="C0C0C0"/>
                  </a:outerShdw>
                </a:effectLst>
              </a:rPr>
              <a:t>+</a:t>
            </a:r>
            <a:r>
              <a:rPr lang="en-US" altLang="zh-CN" sz="2400" b="1" i="1" dirty="0" err="1">
                <a:solidFill>
                  <a:srgbClr val="FF0000"/>
                </a:solidFill>
                <a:effectLst>
                  <a:outerShdw blurRad="38100" dist="38100" dir="2700000" algn="tl">
                    <a:srgbClr val="C0C0C0"/>
                  </a:outerShdw>
                </a:effectLst>
              </a:rPr>
              <a:t>v</a:t>
            </a:r>
            <a:r>
              <a:rPr lang="en-US" altLang="zh-CN" sz="2400" b="1" dirty="0" err="1">
                <a:solidFill>
                  <a:srgbClr val="FF0000"/>
                </a:solidFill>
                <a:effectLst>
                  <a:outerShdw blurRad="38100" dist="38100" dir="2700000" algn="tl">
                    <a:srgbClr val="C0C0C0"/>
                  </a:outerShdw>
                </a:effectLst>
              </a:rPr>
              <a:t>b+</a:t>
            </a:r>
            <a:r>
              <a:rPr lang="en-US" altLang="zh-CN" sz="2400" b="1" i="1" dirty="0" err="1">
                <a:solidFill>
                  <a:srgbClr val="FF0000"/>
                </a:solidFill>
                <a:effectLst>
                  <a:outerShdw blurRad="38100" dist="38100" dir="2700000" algn="tl">
                    <a:srgbClr val="C0C0C0"/>
                  </a:outerShdw>
                </a:effectLst>
              </a:rPr>
              <a:t>w</a:t>
            </a:r>
            <a:r>
              <a:rPr lang="en-US" altLang="zh-CN" sz="2400" b="1" dirty="0" err="1">
                <a:solidFill>
                  <a:srgbClr val="FF0000"/>
                </a:solidFill>
                <a:effectLst>
                  <a:outerShdw blurRad="38100" dist="38100" dir="2700000" algn="tl">
                    <a:srgbClr val="C0C0C0"/>
                  </a:outerShdw>
                </a:effectLst>
              </a:rPr>
              <a:t>c</a:t>
            </a:r>
            <a:r>
              <a:rPr lang="en-US" altLang="zh-CN" sz="2400" dirty="0">
                <a:effectLst>
                  <a:outerShdw blurRad="38100" dist="38100" dir="2700000" algn="tl">
                    <a:srgbClr val="C0C0C0"/>
                  </a:outerShdw>
                </a:effectLst>
              </a:rPr>
              <a:t>, </a:t>
            </a:r>
            <a:r>
              <a:rPr lang="en-US" altLang="zh-CN" sz="2400" dirty="0">
                <a:effectLst/>
              </a:rPr>
              <a:t>and the </a:t>
            </a:r>
            <a:r>
              <a:rPr lang="en-US" altLang="zh-CN" sz="2400" dirty="0"/>
              <a:t>corresponding index </a:t>
            </a:r>
            <a:r>
              <a:rPr lang="zh-CN" altLang="en-US" sz="2400" dirty="0"/>
              <a:t>（系数）</a:t>
            </a:r>
            <a:r>
              <a:rPr lang="en-US" altLang="zh-CN" sz="2400" dirty="0">
                <a:effectLst/>
              </a:rPr>
              <a:t>of the node is expressed as </a:t>
            </a:r>
            <a:r>
              <a:rPr lang="en-US" altLang="zh-CN" sz="2400" b="1" dirty="0">
                <a:solidFill>
                  <a:srgbClr val="FF0000"/>
                </a:solidFill>
                <a:effectLst/>
              </a:rPr>
              <a:t>[[</a:t>
            </a:r>
            <a:r>
              <a:rPr lang="en-US" altLang="zh-CN" sz="2400" b="1" i="1" dirty="0">
                <a:solidFill>
                  <a:srgbClr val="FF0000"/>
                </a:solidFill>
                <a:effectLst/>
              </a:rPr>
              <a:t>u v w</a:t>
            </a:r>
            <a:r>
              <a:rPr lang="en-US" altLang="zh-CN" sz="2400" b="1" dirty="0">
                <a:solidFill>
                  <a:srgbClr val="FF0000"/>
                </a:solidFill>
                <a:effectLst/>
              </a:rPr>
              <a:t>]]</a:t>
            </a:r>
            <a:r>
              <a:rPr lang="en-US" altLang="zh-CN" sz="2400" b="1" dirty="0">
                <a:effectLst/>
              </a:rPr>
              <a:t>.</a:t>
            </a:r>
          </a:p>
          <a:p>
            <a:pPr lvl="1">
              <a:lnSpc>
                <a:spcPct val="130000"/>
              </a:lnSpc>
            </a:pPr>
            <a:r>
              <a:rPr lang="en-US" altLang="zh-CN" sz="2400" dirty="0"/>
              <a:t>The index of node indicates the coordinate of a lattice point </a:t>
            </a:r>
            <a:r>
              <a:rPr lang="zh-CN" altLang="en-US" sz="2400" dirty="0"/>
              <a:t>（格点）</a:t>
            </a:r>
            <a:r>
              <a:rPr lang="en-US" altLang="zh-CN" sz="2400" dirty="0"/>
              <a:t>in space lattice and the index values of the nodes occupying the vertices</a:t>
            </a:r>
            <a:r>
              <a:rPr lang="zh-CN" altLang="en-US" sz="2400" dirty="0"/>
              <a:t>（顶点）</a:t>
            </a:r>
            <a:r>
              <a:rPr lang="en-US" altLang="zh-CN" sz="2400" dirty="0"/>
              <a:t> are integers.</a:t>
            </a:r>
            <a:endParaRPr lang="en-US" altLang="zh-CN"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5"/>
          <p:cNvSpPr>
            <a:spLocks noChangeArrowheads="1"/>
          </p:cNvSpPr>
          <p:nvPr/>
        </p:nvSpPr>
        <p:spPr bwMode="auto">
          <a:xfrm>
            <a:off x="563552" y="173901"/>
            <a:ext cx="7543800" cy="1094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ct val="130000"/>
              </a:lnSpc>
              <a:buFont typeface="Wingdings" panose="05000000000000000000" pitchFamily="2" charset="2"/>
              <a:buNone/>
            </a:pPr>
            <a:r>
              <a:rPr lang="en-US" altLang="zh-CN" sz="3600" b="1" spc="-60" dirty="0">
                <a:solidFill>
                  <a:srgbClr val="FF0066"/>
                </a:solidFill>
                <a:effectLst>
                  <a:outerShdw blurRad="38100" dist="38100" dir="2700000" algn="tl">
                    <a:srgbClr val="000000"/>
                  </a:outerShdw>
                </a:effectLst>
                <a:latin typeface="+mj-lt"/>
                <a:ea typeface="+mj-ea"/>
                <a:cs typeface="+mj-cs"/>
              </a:rPr>
              <a:t>1. Denotation of node:</a:t>
            </a:r>
          </a:p>
        </p:txBody>
      </p:sp>
      <p:sp>
        <p:nvSpPr>
          <p:cNvPr id="2" name="TextBox 1"/>
          <p:cNvSpPr txBox="1"/>
          <p:nvPr/>
        </p:nvSpPr>
        <p:spPr>
          <a:xfrm>
            <a:off x="563552" y="4005064"/>
            <a:ext cx="8424936" cy="1692771"/>
          </a:xfrm>
          <a:prstGeom prst="rect">
            <a:avLst/>
          </a:prstGeom>
          <a:noFill/>
        </p:spPr>
        <p:txBody>
          <a:bodyPr wrap="square" rtlCol="0">
            <a:spAutoFit/>
          </a:bodyPr>
          <a:lstStyle/>
          <a:p>
            <a:r>
              <a:rPr lang="en-US" sz="2000" dirty="0"/>
              <a:t>The coordinate of node A is </a:t>
            </a:r>
            <a:r>
              <a:rPr lang="en-US" altLang="zh-CN" sz="2000" dirty="0"/>
              <a:t>(1a, 2b, 0c), and the index is [[120]];</a:t>
            </a:r>
          </a:p>
          <a:p>
            <a:endParaRPr lang="en-US" sz="2000" dirty="0"/>
          </a:p>
          <a:p>
            <a:r>
              <a:rPr lang="en-US" sz="2000" dirty="0"/>
              <a:t>1.What are the coordinate and index of node</a:t>
            </a:r>
            <a:r>
              <a:rPr lang="en-US" altLang="zh-CN" sz="2000" dirty="0"/>
              <a:t>s</a:t>
            </a:r>
            <a:r>
              <a:rPr lang="en-US" sz="2000" dirty="0"/>
              <a:t> B </a:t>
            </a:r>
            <a:r>
              <a:rPr lang="en-US" altLang="zh-CN" sz="2000" dirty="0"/>
              <a:t>and C</a:t>
            </a:r>
            <a:r>
              <a:rPr lang="en-US" sz="2000" dirty="0"/>
              <a:t>, respectively</a:t>
            </a:r>
            <a:r>
              <a:rPr lang="zh-CN" altLang="en-US" sz="2000" dirty="0"/>
              <a:t>？</a:t>
            </a:r>
            <a:endParaRPr lang="en-US" altLang="zh-CN" sz="2000" dirty="0"/>
          </a:p>
          <a:p>
            <a:endParaRPr lang="en-US" sz="2000" dirty="0"/>
          </a:p>
          <a:p>
            <a:r>
              <a:rPr lang="en-US" sz="2000" dirty="0"/>
              <a:t>2. A, B and C are also lattice points?</a:t>
            </a:r>
          </a:p>
        </p:txBody>
      </p:sp>
      <p:grpSp>
        <p:nvGrpSpPr>
          <p:cNvPr id="4" name="Group 3"/>
          <p:cNvGrpSpPr/>
          <p:nvPr/>
        </p:nvGrpSpPr>
        <p:grpSpPr>
          <a:xfrm>
            <a:off x="683568" y="1412776"/>
            <a:ext cx="5968490" cy="2448272"/>
            <a:chOff x="827584" y="1412776"/>
            <a:chExt cx="5968490" cy="2448272"/>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412776"/>
              <a:ext cx="5968490"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415053" y="1537625"/>
              <a:ext cx="320922" cy="338554"/>
            </a:xfrm>
            <a:prstGeom prst="rect">
              <a:avLst/>
            </a:prstGeom>
            <a:noFill/>
          </p:spPr>
          <p:txBody>
            <a:bodyPr wrap="none" rtlCol="0">
              <a:spAutoFit/>
            </a:bodyPr>
            <a:lstStyle/>
            <a:p>
              <a:r>
                <a:rPr lang="en-US" altLang="zh-CN" sz="1600" b="1" i="1" dirty="0"/>
                <a:t>C</a:t>
              </a:r>
              <a:endParaRPr lang="en-US" sz="1600" b="1" i="1" dirty="0"/>
            </a:p>
          </p:txBody>
        </p:sp>
      </p:grpSp>
    </p:spTree>
    <p:extLst>
      <p:ext uri="{BB962C8B-B14F-4D97-AF65-F5344CB8AC3E}">
        <p14:creationId xmlns:p14="http://schemas.microsoft.com/office/powerpoint/2010/main" val="4238910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5"/>
          <p:cNvSpPr>
            <a:spLocks noChangeArrowheads="1"/>
          </p:cNvSpPr>
          <p:nvPr/>
        </p:nvSpPr>
        <p:spPr bwMode="auto">
          <a:xfrm>
            <a:off x="539552" y="548680"/>
            <a:ext cx="7848872" cy="5688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indent="0" algn="just">
              <a:buNone/>
            </a:pPr>
            <a:r>
              <a:rPr lang="en-US" altLang="zh-CN" sz="2400" dirty="0"/>
              <a:t>	The atom arrangement varies with the crystallographic directions and planes. </a:t>
            </a:r>
          </a:p>
          <a:p>
            <a:pPr marL="0" indent="0" algn="just">
              <a:buNone/>
            </a:pPr>
            <a:r>
              <a:rPr lang="en-US" sz="2400" b="1" dirty="0">
                <a:solidFill>
                  <a:srgbClr val="0000FF"/>
                </a:solidFill>
              </a:rPr>
              <a:t>	</a:t>
            </a:r>
            <a:r>
              <a:rPr sz="2400" b="1" dirty="0"/>
              <a:t>Thus, many properties and behaviors of materials (such as various physical properties, mechanical behavior, phase transformation, X ray and electron diffraction characteristics) are </a:t>
            </a:r>
            <a:r>
              <a:rPr lang="en-US" sz="2400" b="1" dirty="0"/>
              <a:t>strongly dependent on the </a:t>
            </a:r>
            <a:r>
              <a:rPr sz="2400" b="1" dirty="0"/>
              <a:t>crystallographic </a:t>
            </a:r>
            <a:r>
              <a:rPr lang="en-US" sz="2400" b="1" dirty="0"/>
              <a:t>directions </a:t>
            </a:r>
            <a:r>
              <a:rPr sz="2400" b="1" dirty="0"/>
              <a:t>and </a:t>
            </a:r>
            <a:r>
              <a:rPr lang="en-US" sz="2400" b="1" dirty="0"/>
              <a:t>planes</a:t>
            </a:r>
            <a:r>
              <a:rPr sz="2400" b="1" dirty="0"/>
              <a:t>.</a:t>
            </a:r>
            <a:r>
              <a:rPr lang="en-US" sz="2400" b="1" dirty="0"/>
              <a:t> </a:t>
            </a:r>
            <a:endParaRPr sz="2400" b="1" dirty="0"/>
          </a:p>
          <a:p>
            <a:pPr marL="0" indent="0" algn="just">
              <a:buNone/>
            </a:pPr>
            <a:r>
              <a:rPr lang="en-US" altLang="zh-CN" sz="2400" dirty="0">
                <a:solidFill>
                  <a:schemeClr val="tx1"/>
                </a:solidFill>
              </a:rPr>
              <a:t>	In order to investigate and describe the </a:t>
            </a:r>
            <a:r>
              <a:rPr sz="2400" dirty="0">
                <a:solidFill>
                  <a:schemeClr val="tx1"/>
                </a:solidFill>
                <a:sym typeface="+mn-ea"/>
              </a:rPr>
              <a:t>properties and behaviors of materials</a:t>
            </a:r>
            <a:r>
              <a:rPr lang="en-US" sz="2400" dirty="0">
                <a:solidFill>
                  <a:schemeClr val="tx1"/>
                </a:solidFill>
                <a:sym typeface="+mn-ea"/>
              </a:rPr>
              <a:t>, the denotation of crystallographic planes and </a:t>
            </a:r>
            <a:r>
              <a:rPr lang="en-US" sz="2400" dirty="0">
                <a:sym typeface="+mn-ea"/>
              </a:rPr>
              <a:t>directions is firstly required.</a:t>
            </a:r>
          </a:p>
          <a:p>
            <a:pPr marL="0" indent="0" algn="just">
              <a:buNone/>
            </a:pPr>
            <a:r>
              <a:rPr lang="en-US" sz="2400" dirty="0">
                <a:sym typeface="+mn-ea"/>
              </a:rPr>
              <a:t>	</a:t>
            </a:r>
            <a:r>
              <a:rPr lang="en-US" sz="2400" b="1" dirty="0">
                <a:sym typeface="+mn-ea"/>
              </a:rPr>
              <a:t> Miller index is commonly used to denote the lattice planes and directions.  </a:t>
            </a:r>
          </a:p>
          <a:p>
            <a:pPr marL="0" indent="0" algn="just">
              <a:buNone/>
            </a:pPr>
            <a:endParaRPr lang="zh-CN" altLang="en-US" sz="2400" dirty="0">
              <a:effectLst>
                <a:outerShdw blurRad="38100" dist="38100" dir="2700000" algn="tl">
                  <a:srgbClr val="C0C0C0"/>
                </a:outerShdw>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236960" y="620688"/>
            <a:ext cx="8230046" cy="922338"/>
          </a:xfrm>
        </p:spPr>
        <p:txBody>
          <a:bodyPr>
            <a:noAutofit/>
          </a:bodyPr>
          <a:lstStyle/>
          <a:p>
            <a:pPr algn="l"/>
            <a:br>
              <a:rPr lang="en-US" altLang="zh-CN" sz="4400" b="1" cap="none" dirty="0">
                <a:solidFill>
                  <a:srgbClr val="0000FF"/>
                </a:solidFill>
              </a:rPr>
            </a:br>
            <a:r>
              <a:rPr lang="en-US" altLang="zh-CN" sz="2800" cap="none" dirty="0"/>
              <a:t>2. Denotation of crystallographic direction</a:t>
            </a:r>
          </a:p>
        </p:txBody>
      </p:sp>
      <p:sp>
        <p:nvSpPr>
          <p:cNvPr id="77828" name="Rectangle 4"/>
          <p:cNvSpPr>
            <a:spLocks noChangeArrowheads="1"/>
          </p:cNvSpPr>
          <p:nvPr/>
        </p:nvSpPr>
        <p:spPr bwMode="auto">
          <a:xfrm>
            <a:off x="324172" y="1700808"/>
            <a:ext cx="8208268" cy="396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r">
              <a:spcBef>
                <a:spcPct val="20000"/>
              </a:spcBef>
              <a:buClr>
                <a:schemeClr val="accent1"/>
              </a:buClr>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lgn="ctr">
              <a:spcBef>
                <a:spcPct val="20000"/>
              </a:spcBef>
              <a:buClr>
                <a:schemeClr val="accent1"/>
              </a:buClr>
              <a:buFont typeface="Wingdings" panose="05000000000000000000" pitchFamily="2" charset="2"/>
              <a:defRPr sz="2700">
                <a:solidFill>
                  <a:schemeClr val="tx1"/>
                </a:solidFill>
                <a:latin typeface="Arial" panose="020B0604020202020204" pitchFamily="34" charset="0"/>
                <a:ea typeface="宋体" panose="02010600030101010101" pitchFamily="2" charset="-122"/>
              </a:defRPr>
            </a:lvl2pPr>
            <a:lvl3pPr marL="1143000" indent="-228600" algn="ctr">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3pPr>
            <a:lvl4pPr marL="1600200" indent="-228600" algn="ctr">
              <a:spcBef>
                <a:spcPct val="20000"/>
              </a:spcBef>
              <a:buClr>
                <a:schemeClr val="accent1"/>
              </a:buClr>
              <a:defRPr sz="2000">
                <a:solidFill>
                  <a:schemeClr val="tx1"/>
                </a:solidFill>
                <a:latin typeface="Arial" panose="020B0604020202020204" pitchFamily="34" charset="0"/>
                <a:ea typeface="宋体" panose="02010600030101010101" pitchFamily="2" charset="-122"/>
              </a:defRPr>
            </a:lvl4pPr>
            <a:lvl5pPr marL="2057400" indent="-228600" algn="ctr">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lgn="l">
              <a:lnSpc>
                <a:spcPct val="150000"/>
              </a:lnSpc>
            </a:pPr>
            <a:r>
              <a:rPr lang="en-US" altLang="zh-CN" sz="2400" b="1" dirty="0"/>
              <a:t>   </a:t>
            </a:r>
            <a:r>
              <a:rPr lang="zh-CN" altLang="en-US" sz="2400" b="1" dirty="0"/>
              <a:t> </a:t>
            </a:r>
            <a:r>
              <a:rPr lang="en-US" altLang="zh-CN" sz="2400" b="1" spc="-60" dirty="0">
                <a:latin typeface="Arial Black"/>
                <a:ea typeface="微软雅黑"/>
                <a:cs typeface="+mj-cs"/>
              </a:rPr>
              <a:t>Crystallographic direction: </a:t>
            </a:r>
            <a:r>
              <a:rPr lang="en-US" altLang="zh-CN" sz="2400" b="1" dirty="0"/>
              <a:t>t</a:t>
            </a:r>
            <a:r>
              <a:rPr lang="zh-CN" altLang="en-US" sz="2400" b="1" dirty="0"/>
              <a:t>he direction</a:t>
            </a:r>
            <a:r>
              <a:rPr lang="en-US" altLang="zh-CN" sz="2400" b="1" dirty="0"/>
              <a:t>s</a:t>
            </a:r>
            <a:r>
              <a:rPr lang="zh-CN" altLang="en-US" sz="2400" b="1" dirty="0"/>
              <a:t> of array</a:t>
            </a:r>
            <a:r>
              <a:rPr lang="en-US" altLang="zh-CN" sz="2400" b="1" dirty="0"/>
              <a:t>s</a:t>
            </a:r>
            <a:r>
              <a:rPr lang="zh-CN" altLang="en-US" sz="2400" b="1" dirty="0"/>
              <a:t> in the spatial lattice </a:t>
            </a:r>
            <a:r>
              <a:rPr lang="en-US" altLang="zh-CN" sz="2400" b="1" dirty="0"/>
              <a:t>or </a:t>
            </a:r>
            <a:r>
              <a:rPr lang="zh-CN" altLang="en-US" sz="2400" b="1" dirty="0"/>
              <a:t>the </a:t>
            </a:r>
            <a:r>
              <a:rPr lang="zh-CN" altLang="en-US" sz="2400" b="1" dirty="0">
                <a:sym typeface="+mn-ea"/>
              </a:rPr>
              <a:t>direction</a:t>
            </a:r>
            <a:r>
              <a:rPr lang="en-US" altLang="zh-CN" sz="2400" b="1" dirty="0">
                <a:sym typeface="+mn-ea"/>
              </a:rPr>
              <a:t>s</a:t>
            </a:r>
            <a:r>
              <a:rPr lang="zh-CN" altLang="en-US" sz="2400" b="1" dirty="0">
                <a:sym typeface="+mn-ea"/>
              </a:rPr>
              <a:t> of </a:t>
            </a:r>
            <a:r>
              <a:rPr lang="en-US" altLang="zh-CN" sz="2400" b="1" dirty="0">
                <a:sym typeface="+mn-ea"/>
              </a:rPr>
              <a:t>the </a:t>
            </a:r>
            <a:r>
              <a:rPr lang="zh-CN" altLang="en-US" sz="2400" b="1" dirty="0"/>
              <a:t>straight line</a:t>
            </a:r>
            <a:r>
              <a:rPr lang="en-US" altLang="zh-CN" sz="2400" b="1" dirty="0"/>
              <a:t>s</a:t>
            </a:r>
            <a:r>
              <a:rPr lang="zh-CN" altLang="en-US" sz="2400" b="1" dirty="0"/>
              <a:t> </a:t>
            </a:r>
            <a:r>
              <a:rPr lang="en-US" altLang="zh-CN" sz="2400" b="1" dirty="0"/>
              <a:t>connecting </a:t>
            </a:r>
            <a:r>
              <a:rPr lang="zh-CN" altLang="en-US" sz="2400" b="1" dirty="0"/>
              <a:t>node</a:t>
            </a:r>
            <a:r>
              <a:rPr lang="en-US" altLang="zh-CN" sz="2400" b="1" dirty="0"/>
              <a:t>s </a:t>
            </a:r>
            <a:r>
              <a:rPr lang="zh-CN" altLang="en-US" sz="2400" b="1" dirty="0"/>
              <a:t>in the lattice. </a:t>
            </a:r>
            <a:endParaRPr lang="en-US" altLang="zh-CN" sz="2400" b="1" dirty="0"/>
          </a:p>
          <a:p>
            <a:pPr algn="l">
              <a:lnSpc>
                <a:spcPct val="150000"/>
              </a:lnSpc>
            </a:pPr>
            <a:r>
              <a:rPr lang="en-US" altLang="zh-CN" sz="2400" b="1" dirty="0"/>
              <a:t>		These</a:t>
            </a:r>
            <a:r>
              <a:rPr lang="zh-CN" altLang="en-US" sz="2400" b="1" dirty="0"/>
              <a:t> directions in crystal</a:t>
            </a:r>
            <a:r>
              <a:rPr lang="en-US" altLang="zh-CN" sz="2400" b="1" dirty="0"/>
              <a:t>s</a:t>
            </a:r>
            <a:r>
              <a:rPr lang="zh-CN" altLang="en-US" sz="2400" b="1" dirty="0"/>
              <a:t>, involving position</a:t>
            </a:r>
            <a:r>
              <a:rPr lang="en-US" altLang="zh-CN" sz="2400" b="1" dirty="0"/>
              <a:t>s</a:t>
            </a:r>
            <a:r>
              <a:rPr lang="zh-CN" altLang="en-US" sz="2400" b="1" dirty="0"/>
              <a:t> of atoms in the crystal </a:t>
            </a:r>
            <a:r>
              <a:rPr lang="en-US" altLang="zh-CN" sz="2400" b="1" dirty="0"/>
              <a:t>and </a:t>
            </a:r>
            <a:r>
              <a:rPr lang="zh-CN" altLang="en-US" sz="2400" b="1" dirty="0"/>
              <a:t>the </a:t>
            </a:r>
            <a:r>
              <a:rPr lang="en-US" altLang="zh-CN" sz="2400" b="1" dirty="0"/>
              <a:t>orientation</a:t>
            </a:r>
            <a:r>
              <a:rPr lang="zh-CN" altLang="en-US" sz="2400" b="1" dirty="0"/>
              <a:t> of the atom </a:t>
            </a:r>
            <a:r>
              <a:rPr lang="en-US" altLang="zh-CN" sz="2400" b="1" dirty="0"/>
              <a:t>array</a:t>
            </a:r>
            <a:r>
              <a:rPr lang="zh-CN" altLang="en-US" sz="2400" b="1" dirty="0"/>
              <a:t>, </a:t>
            </a:r>
            <a:r>
              <a:rPr lang="en-US" altLang="zh-CN" sz="2400" b="1" dirty="0"/>
              <a:t>indicate</a:t>
            </a:r>
            <a:r>
              <a:rPr lang="zh-CN" altLang="en-US" sz="2400" b="1" dirty="0"/>
              <a:t> </a:t>
            </a:r>
            <a:r>
              <a:rPr lang="zh-CN" altLang="en-US" sz="2400" b="1" dirty="0">
                <a:sym typeface="+mn-ea"/>
              </a:rPr>
              <a:t>the direction</a:t>
            </a:r>
            <a:r>
              <a:rPr lang="en-US" altLang="zh-CN" sz="2400" b="1" dirty="0">
                <a:sym typeface="+mn-ea"/>
              </a:rPr>
              <a:t>s</a:t>
            </a:r>
            <a:r>
              <a:rPr lang="zh-CN" altLang="en-US" sz="2400" b="1" dirty="0">
                <a:sym typeface="+mn-ea"/>
              </a:rPr>
              <a:t> of </a:t>
            </a:r>
            <a:r>
              <a:rPr lang="zh-CN" altLang="en-US" sz="2400" b="1" dirty="0"/>
              <a:t>a group of parallel</a:t>
            </a:r>
            <a:r>
              <a:rPr lang="en-US" altLang="zh-CN" sz="2400" b="1" dirty="0"/>
              <a:t>,</a:t>
            </a:r>
            <a:r>
              <a:rPr lang="zh-CN" altLang="en-US" sz="2400" b="1" dirty="0"/>
              <a:t> straight lin</a:t>
            </a:r>
            <a:r>
              <a:rPr lang="en-US" altLang="zh-CN" sz="2400" b="1" dirty="0"/>
              <a:t>es</a:t>
            </a:r>
            <a:r>
              <a:rPr lang="zh-CN" altLang="en-US" sz="2400" b="1"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0806" y="298376"/>
            <a:ext cx="3282124" cy="3072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7828" name="Rectangle 4"/>
          <p:cNvSpPr>
            <a:spLocks noChangeArrowheads="1"/>
          </p:cNvSpPr>
          <p:nvPr/>
        </p:nvSpPr>
        <p:spPr bwMode="auto">
          <a:xfrm>
            <a:off x="0" y="0"/>
            <a:ext cx="6012160" cy="6741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r">
              <a:spcBef>
                <a:spcPct val="20000"/>
              </a:spcBef>
              <a:buClr>
                <a:schemeClr val="accent1"/>
              </a:buClr>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algn="ctr">
              <a:spcBef>
                <a:spcPct val="20000"/>
              </a:spcBef>
              <a:buClr>
                <a:schemeClr val="accent1"/>
              </a:buClr>
              <a:buFont typeface="Wingdings" panose="05000000000000000000" pitchFamily="2" charset="2"/>
              <a:defRPr sz="2700">
                <a:solidFill>
                  <a:schemeClr val="tx1"/>
                </a:solidFill>
                <a:latin typeface="Arial" panose="020B0604020202020204" pitchFamily="34" charset="0"/>
                <a:ea typeface="宋体" panose="02010600030101010101" pitchFamily="2" charset="-122"/>
              </a:defRPr>
            </a:lvl2pPr>
            <a:lvl3pPr marL="1143000" indent="-228600" algn="ctr">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3pPr>
            <a:lvl4pPr marL="1600200" indent="-228600" algn="ctr">
              <a:spcBef>
                <a:spcPct val="20000"/>
              </a:spcBef>
              <a:buClr>
                <a:schemeClr val="accent1"/>
              </a:buClr>
              <a:defRPr sz="2000">
                <a:solidFill>
                  <a:schemeClr val="tx1"/>
                </a:solidFill>
                <a:latin typeface="Arial" panose="020B0604020202020204" pitchFamily="34" charset="0"/>
                <a:ea typeface="宋体" panose="02010600030101010101" pitchFamily="2" charset="-122"/>
              </a:defRPr>
            </a:lvl4pPr>
            <a:lvl5pPr marL="2057400" indent="-228600" algn="ctr">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algn="ctr" fontAlgn="base">
              <a:spcBef>
                <a:spcPct val="20000"/>
              </a:spcBef>
              <a:spcAft>
                <a:spcPct val="0"/>
              </a:spcAft>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algn="l"/>
            <a:r>
              <a:rPr lang="zh-CN" altLang="en-US" sz="2800" b="1" spc="-60" dirty="0">
                <a:solidFill>
                  <a:srgbClr val="FF0066"/>
                </a:solidFill>
                <a:effectLst>
                  <a:outerShdw blurRad="38100" dist="38100" dir="2700000" algn="tl">
                    <a:srgbClr val="000000"/>
                  </a:outerShdw>
                </a:effectLst>
                <a:latin typeface="+mj-lt"/>
                <a:ea typeface="+mj-ea"/>
                <a:cs typeface="+mj-cs"/>
              </a:rPr>
              <a:t> </a:t>
            </a:r>
            <a:r>
              <a:rPr lang="en-US" altLang="zh-CN" sz="2000" b="1" spc="-60" dirty="0">
                <a:solidFill>
                  <a:srgbClr val="FF0066"/>
                </a:solidFill>
                <a:effectLst>
                  <a:outerShdw blurRad="38100" dist="38100" dir="2700000" algn="tl">
                    <a:srgbClr val="000000"/>
                  </a:outerShdw>
                </a:effectLst>
                <a:latin typeface="+mj-lt"/>
                <a:ea typeface="+mj-ea"/>
                <a:cs typeface="+mj-cs"/>
              </a:rPr>
              <a:t>The method to denote the index of crystallographic directions</a:t>
            </a:r>
          </a:p>
          <a:p>
            <a:pPr algn="l"/>
            <a:r>
              <a:rPr lang="en-US" altLang="zh-CN" sz="2000" b="1" dirty="0"/>
              <a:t>1.</a:t>
            </a:r>
            <a:r>
              <a:rPr lang="en-US" altLang="zh-CN" sz="2400" b="1" dirty="0"/>
              <a:t> </a:t>
            </a:r>
            <a:r>
              <a:rPr lang="en-US" altLang="zh-CN" sz="2000" b="1" dirty="0">
                <a:solidFill>
                  <a:srgbClr val="FF0000"/>
                </a:solidFill>
              </a:rPr>
              <a:t>Build a coordinate system </a:t>
            </a:r>
            <a:r>
              <a:rPr lang="en-US" altLang="zh-CN" sz="2000" dirty="0"/>
              <a:t>based on unit cell with one lattice point as the origin and the sides of the unit cell (</a:t>
            </a:r>
            <a:r>
              <a:rPr lang="en-US" altLang="zh-CN" sz="2000" b="1" i="1" dirty="0">
                <a:solidFill>
                  <a:srgbClr val="FF0000"/>
                </a:solidFill>
              </a:rPr>
              <a:t>a, b and c</a:t>
            </a:r>
            <a:r>
              <a:rPr lang="en-US" altLang="zh-CN" sz="2000" dirty="0"/>
              <a:t>) as the axes. Note the unit length of the axes is the length of the sides, a, b and c, respectively. </a:t>
            </a:r>
          </a:p>
          <a:p>
            <a:pPr algn="l"/>
            <a:r>
              <a:rPr lang="en-US" altLang="zh-CN" sz="2000" b="1" dirty="0"/>
              <a:t>2.  </a:t>
            </a:r>
            <a:r>
              <a:rPr lang="en-US" altLang="zh-CN" sz="2000" dirty="0"/>
              <a:t>Plot a straight line OP through the origin and lattice point P, which is parallel to </a:t>
            </a:r>
            <a:r>
              <a:rPr lang="en-US" altLang="zh-CN" sz="2000" b="1" dirty="0">
                <a:solidFill>
                  <a:srgbClr val="FF0000"/>
                </a:solidFill>
              </a:rPr>
              <a:t>the crystallographic direction to be denoted, AB </a:t>
            </a:r>
            <a:r>
              <a:rPr lang="en-US" altLang="zh-CN" sz="2000" dirty="0"/>
              <a:t>(see right figure), and this line must pass through some lattice points;</a:t>
            </a:r>
            <a:endParaRPr lang="zh-CN" altLang="en-US" sz="2000" b="1" dirty="0"/>
          </a:p>
          <a:p>
            <a:pPr algn="l"/>
            <a:r>
              <a:rPr lang="en-US" altLang="zh-CN" sz="2000" b="1" dirty="0"/>
              <a:t>3.  </a:t>
            </a:r>
            <a:r>
              <a:rPr lang="en-US" altLang="zh-CN" sz="2000" dirty="0"/>
              <a:t>Choose the closest lattice point</a:t>
            </a:r>
            <a:r>
              <a:rPr lang="en-US" altLang="zh-CN" sz="2000" dirty="0">
                <a:sym typeface="+mn-ea"/>
              </a:rPr>
              <a:t>, P, </a:t>
            </a:r>
            <a:r>
              <a:rPr lang="en-US" altLang="zh-CN" sz="2000" dirty="0"/>
              <a:t>to O on the line OP, and get the coordinate (xa, yb, </a:t>
            </a:r>
            <a:r>
              <a:rPr lang="en-US" altLang="zh-CN" sz="2000" dirty="0" err="1"/>
              <a:t>zc</a:t>
            </a:r>
            <a:r>
              <a:rPr lang="en-US" altLang="zh-CN" sz="2000" dirty="0"/>
              <a:t>) of P</a:t>
            </a:r>
            <a:r>
              <a:rPr lang="zh-CN" altLang="en-US" sz="2000" b="1" dirty="0"/>
              <a:t>；</a:t>
            </a:r>
          </a:p>
          <a:p>
            <a:pPr algn="l"/>
            <a:r>
              <a:rPr lang="en-US" altLang="zh-CN" sz="2000" b="1" dirty="0"/>
              <a:t>4.  </a:t>
            </a:r>
            <a:r>
              <a:rPr lang="en-US" altLang="zh-CN" sz="2000" dirty="0"/>
              <a:t>Reduce x, y, z to the</a:t>
            </a:r>
            <a:r>
              <a:rPr lang="en-US" altLang="zh-CN" sz="2000" b="1" dirty="0">
                <a:solidFill>
                  <a:srgbClr val="FF0000"/>
                </a:solidFill>
              </a:rPr>
              <a:t> simplest integer ratio </a:t>
            </a:r>
            <a:r>
              <a:rPr lang="en-US" sz="2000" b="1" dirty="0">
                <a:solidFill>
                  <a:srgbClr val="FF0000"/>
                </a:solidFill>
              </a:rPr>
              <a:t>u, v, w</a:t>
            </a:r>
            <a:r>
              <a:rPr lang="en-US" sz="2000" dirty="0"/>
              <a:t>, </a:t>
            </a:r>
            <a:r>
              <a:rPr lang="en-US" altLang="zh-CN" sz="2000" dirty="0"/>
              <a:t>and keep u: </a:t>
            </a:r>
            <a:r>
              <a:rPr lang="en-US" altLang="zh-CN" sz="2000" dirty="0" err="1"/>
              <a:t>v: w</a:t>
            </a:r>
            <a:r>
              <a:rPr lang="en-US" altLang="zh-CN" sz="2000" dirty="0"/>
              <a:t> = </a:t>
            </a:r>
            <a:r>
              <a:rPr lang="en-US" altLang="zh-CN" sz="2000" dirty="0" err="1"/>
              <a:t>x: y: z, set the number group inside a </a:t>
            </a:r>
            <a:r>
              <a:rPr lang="en-US" altLang="zh-CN" sz="2000" dirty="0" err="1">
                <a:solidFill>
                  <a:srgbClr val="FF0000"/>
                </a:solidFill>
              </a:rPr>
              <a:t>bracket </a:t>
            </a:r>
            <a:r>
              <a:rPr lang="en-US" altLang="zh-CN" sz="2000" dirty="0" err="1"/>
              <a:t>[ ].</a:t>
            </a:r>
          </a:p>
          <a:p>
            <a:pPr algn="l"/>
            <a:r>
              <a:rPr lang="en-US" altLang="zh-CN" sz="2000" b="1" dirty="0"/>
              <a:t>5.  </a:t>
            </a:r>
            <a:r>
              <a:rPr lang="en-US" altLang="zh-CN" sz="2000" dirty="0"/>
              <a:t>[u v w] is the index of crystallographic direction </a:t>
            </a:r>
            <a:r>
              <a:rPr lang="en-US" altLang="zh-CN" sz="2000" b="1" dirty="0"/>
              <a:t>AB</a:t>
            </a:r>
            <a:r>
              <a:rPr lang="en-US" altLang="zh-CN" sz="2000" dirty="0"/>
              <a:t>. If one of u, v and w is negative, plot the minus symbol on the top of that number. </a:t>
            </a:r>
            <a:r>
              <a:rPr lang="zh-CN" altLang="en-US" sz="2000" dirty="0"/>
              <a:t> </a:t>
            </a:r>
            <a:endParaRPr lang="en-US" altLang="zh-CN" sz="2000" dirty="0"/>
          </a:p>
        </p:txBody>
      </p:sp>
      <p:sp>
        <p:nvSpPr>
          <p:cNvPr id="3" name="TextBox 2"/>
          <p:cNvSpPr txBox="1"/>
          <p:nvPr/>
        </p:nvSpPr>
        <p:spPr>
          <a:xfrm>
            <a:off x="8124386" y="87015"/>
            <a:ext cx="840102" cy="461665"/>
          </a:xfrm>
          <a:prstGeom prst="rect">
            <a:avLst/>
          </a:prstGeom>
          <a:noFill/>
        </p:spPr>
        <p:txBody>
          <a:bodyPr wrap="none" rtlCol="0">
            <a:spAutoFit/>
          </a:bodyPr>
          <a:lstStyle/>
          <a:p>
            <a:r>
              <a:rPr lang="en-US" dirty="0"/>
              <a:t>[112]</a:t>
            </a:r>
          </a:p>
        </p:txBody>
      </p:sp>
      <p:cxnSp>
        <p:nvCxnSpPr>
          <p:cNvPr id="4" name="Straight Connector 3"/>
          <p:cNvCxnSpPr/>
          <p:nvPr/>
        </p:nvCxnSpPr>
        <p:spPr>
          <a:xfrm flipV="1">
            <a:off x="6555971" y="461086"/>
            <a:ext cx="1597824" cy="1975704"/>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6555971" y="2436790"/>
            <a:ext cx="1988466" cy="63217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06105" cy="1371600"/>
          </a:xfrm>
        </p:spPr>
        <p:txBody>
          <a:bodyPr>
            <a:noAutofit/>
          </a:bodyPr>
          <a:lstStyle/>
          <a:p>
            <a:pPr algn="l"/>
            <a:r>
              <a:rPr lang="en-US" altLang="zh-CN" sz="2800" cap="none" dirty="0"/>
              <a:t>Denotation of crystallographic directions</a:t>
            </a:r>
          </a:p>
        </p:txBody>
      </p:sp>
      <p:sp>
        <p:nvSpPr>
          <p:cNvPr id="4" name="文本框 3"/>
          <p:cNvSpPr txBox="1"/>
          <p:nvPr/>
        </p:nvSpPr>
        <p:spPr>
          <a:xfrm>
            <a:off x="525780" y="1784985"/>
            <a:ext cx="7647940" cy="4524315"/>
          </a:xfrm>
          <a:prstGeom prst="rect">
            <a:avLst/>
          </a:prstGeom>
          <a:noFill/>
        </p:spPr>
        <p:txBody>
          <a:bodyPr wrap="square" rtlCol="0">
            <a:spAutoFit/>
          </a:bodyPr>
          <a:lstStyle/>
          <a:p>
            <a:pPr>
              <a:lnSpc>
                <a:spcPct val="150000"/>
              </a:lnSpc>
            </a:pPr>
            <a:r>
              <a:rPr lang="en-US" altLang="zh-CN" dirty="0"/>
              <a:t>a. The significance of index: representing all the parallel crystallographic directions.</a:t>
            </a:r>
          </a:p>
          <a:p>
            <a:pPr>
              <a:lnSpc>
                <a:spcPct val="150000"/>
              </a:lnSpc>
            </a:pPr>
            <a:r>
              <a:rPr lang="en-US" altLang="zh-CN" dirty="0"/>
              <a:t>b. Minus value: the minus symbol should be on the top of numbers, indicating the opposite direction of another </a:t>
            </a:r>
            <a:r>
              <a:rPr lang="en-US" altLang="zh-CN" dirty="0">
                <a:sym typeface="+mn-ea"/>
              </a:rPr>
              <a:t>crystallographic direction, such as          and [111].</a:t>
            </a:r>
          </a:p>
          <a:p>
            <a:pPr>
              <a:lnSpc>
                <a:spcPct val="150000"/>
              </a:lnSpc>
            </a:pPr>
            <a:r>
              <a:rPr lang="en-US" altLang="zh-CN" dirty="0"/>
              <a:t>c. The family of crystallographic direction: a series of directions passing through the same atom arrays in the crystals but not parallel to each other, expressed as &lt;</a:t>
            </a:r>
            <a:r>
              <a:rPr lang="en-US" altLang="zh-CN" dirty="0" err="1"/>
              <a:t>uvw</a:t>
            </a:r>
            <a:r>
              <a:rPr lang="en-US" altLang="zh-CN" dirty="0"/>
              <a:t>&gt; </a:t>
            </a:r>
          </a:p>
        </p:txBody>
      </p:sp>
      <p:grpSp>
        <p:nvGrpSpPr>
          <p:cNvPr id="10" name="组合 9"/>
          <p:cNvGrpSpPr/>
          <p:nvPr/>
        </p:nvGrpSpPr>
        <p:grpSpPr>
          <a:xfrm>
            <a:off x="4739869" y="4092974"/>
            <a:ext cx="820420" cy="459740"/>
            <a:chOff x="12830" y="7509"/>
            <a:chExt cx="1292" cy="724"/>
          </a:xfrm>
        </p:grpSpPr>
        <p:cxnSp>
          <p:nvCxnSpPr>
            <p:cNvPr id="6" name="直接连接符 5"/>
            <p:cNvCxnSpPr/>
            <p:nvPr/>
          </p:nvCxnSpPr>
          <p:spPr>
            <a:xfrm>
              <a:off x="13191" y="7625"/>
              <a:ext cx="1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3405" y="7625"/>
              <a:ext cx="1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3630" y="7625"/>
              <a:ext cx="1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2830" y="7509"/>
              <a:ext cx="1292" cy="725"/>
            </a:xfrm>
            <a:prstGeom prst="rect">
              <a:avLst/>
            </a:prstGeom>
            <a:noFill/>
          </p:spPr>
          <p:txBody>
            <a:bodyPr wrap="none" rtlCol="0" anchor="t">
              <a:spAutoFit/>
            </a:bodyPr>
            <a:lstStyle/>
            <a:p>
              <a:r>
                <a:rPr lang="en-US" altLang="zh-CN" dirty="0">
                  <a:sym typeface="+mn-ea"/>
                </a:rPr>
                <a:t>[111]</a:t>
              </a:r>
              <a:endParaRPr lang="zh-CN" altLang="en-US" dirty="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4"/>
          <p:cNvSpPr>
            <a:spLocks noGrp="1" noChangeArrowheads="1"/>
          </p:cNvSpPr>
          <p:nvPr>
            <p:ph type="title"/>
          </p:nvPr>
        </p:nvSpPr>
        <p:spPr>
          <a:xfrm>
            <a:off x="1219200" y="762000"/>
            <a:ext cx="6705600" cy="800100"/>
          </a:xfrm>
          <a:noFill/>
        </p:spPr>
        <p:txBody>
          <a:bodyPr anchor="b">
            <a:noAutofit/>
          </a:bodyPr>
          <a:lstStyle/>
          <a:p>
            <a:r>
              <a:rPr altLang="zh-CN" sz="2400" b="1" dirty="0"/>
              <a:t>DEnotation of crystallographic directions</a:t>
            </a:r>
          </a:p>
        </p:txBody>
      </p:sp>
      <p:pic>
        <p:nvPicPr>
          <p:cNvPr id="16386" name="Picture 2" descr="http://www.weldr.net/uploadfile/weld_notes/uploadfile/200909/2009092910240293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3238" y="1628800"/>
            <a:ext cx="4968552" cy="48455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227218" y="2029235"/>
            <a:ext cx="69758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262350" y="1271414"/>
            <a:ext cx="69758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824447" y="1844824"/>
            <a:ext cx="69758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959932" y="6409699"/>
            <a:ext cx="69758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201837" y="5157192"/>
            <a:ext cx="69758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22" presetClass="exit" presetSubtype="4" fill="hold" grpId="0" nodeType="withEffect">
                                  <p:stCondLst>
                                    <p:cond delay="0"/>
                                  </p:stCondLst>
                                  <p:childTnLst>
                                    <p:animEffect transition="out" filter="wipe(down)">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par>
                                <p:cTn id="11" presetID="22" presetClass="exit" presetSubtype="4" fill="hold" grpId="0" nodeType="withEffect">
                                  <p:stCondLst>
                                    <p:cond delay="0"/>
                                  </p:stCondLst>
                                  <p:childTnLst>
                                    <p:animEffect transition="out" filter="wipe(down)">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par>
                                <p:cTn id="14" presetID="22" presetClass="exit" presetSubtype="4" fill="hold" grpId="0" nodeType="withEffect">
                                  <p:stCondLst>
                                    <p:cond delay="0"/>
                                  </p:stCondLst>
                                  <p:childTnLst>
                                    <p:animEffect transition="out" filter="wipe(down)">
                                      <p:cBhvr>
                                        <p:cTn id="15" dur="500"/>
                                        <p:tgtEl>
                                          <p:spTgt spid="5"/>
                                        </p:tgtEl>
                                      </p:cBhvr>
                                    </p:animEffect>
                                    <p:set>
                                      <p:cBhvr>
                                        <p:cTn id="16" dur="1" fill="hold">
                                          <p:stCondLst>
                                            <p:cond delay="499"/>
                                          </p:stCondLst>
                                        </p:cTn>
                                        <p:tgtEl>
                                          <p:spTgt spid="5"/>
                                        </p:tgtEl>
                                        <p:attrNameLst>
                                          <p:attrName>style.visibility</p:attrName>
                                        </p:attrNameLst>
                                      </p:cBhvr>
                                      <p:to>
                                        <p:strVal val="hidden"/>
                                      </p:to>
                                    </p:set>
                                  </p:childTnLst>
                                </p:cTn>
                              </p:par>
                              <p:par>
                                <p:cTn id="17" presetID="22" presetClass="exit" presetSubtype="4" fill="hold" grpId="0" nodeType="withEffect">
                                  <p:stCondLst>
                                    <p:cond delay="0"/>
                                  </p:stCondLst>
                                  <p:childTnLst>
                                    <p:animEffect transition="out" filter="wipe(down)">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180705" cy="1371600"/>
          </a:xfrm>
        </p:spPr>
        <p:txBody>
          <a:bodyPr>
            <a:noAutofit/>
          </a:bodyPr>
          <a:lstStyle/>
          <a:p>
            <a:pPr algn="l"/>
            <a:r>
              <a:rPr altLang="zh-CN" sz="2400" dirty="0"/>
              <a:t>Practice</a:t>
            </a:r>
            <a:r>
              <a:rPr lang="en-US" altLang="zh-CN" sz="2400" dirty="0"/>
              <a:t>4</a:t>
            </a:r>
            <a:r>
              <a:rPr lang="zh-CN" altLang="en-US" sz="2400" dirty="0"/>
              <a:t>：</a:t>
            </a:r>
            <a:r>
              <a:rPr altLang="zh-CN" sz="2400">
                <a:sym typeface="+mn-ea"/>
              </a:rPr>
              <a:t>DEnotation of crystallographic directions</a:t>
            </a:r>
            <a:endParaRPr lang="en-US" altLang="zh-CN" sz="2400" dirty="0">
              <a:sym typeface="+mn-ea"/>
            </a:endParaRPr>
          </a:p>
        </p:txBody>
      </p:sp>
      <p:grpSp>
        <p:nvGrpSpPr>
          <p:cNvPr id="87" name="Group 86"/>
          <p:cNvGrpSpPr/>
          <p:nvPr/>
        </p:nvGrpSpPr>
        <p:grpSpPr>
          <a:xfrm>
            <a:off x="510172" y="2746644"/>
            <a:ext cx="2752725" cy="2447925"/>
            <a:chOff x="1111587" y="3165552"/>
            <a:chExt cx="2752725" cy="2447925"/>
          </a:xfrm>
        </p:grpSpPr>
        <p:sp>
          <p:nvSpPr>
            <p:cNvPr id="58" name="Oval 57"/>
            <p:cNvSpPr/>
            <p:nvPr/>
          </p:nvSpPr>
          <p:spPr>
            <a:xfrm>
              <a:off x="2416512" y="4356177"/>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1111587" y="3632277"/>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902162" y="3184602"/>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3711912" y="3165552"/>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2940387" y="3603702"/>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111587" y="5461077"/>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1886535" y="5013402"/>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3711912" y="4994352"/>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2940387" y="5432502"/>
              <a:ext cx="152400" cy="152400"/>
            </a:xfrm>
            <a:prstGeom prst="ellipse">
              <a:avLst/>
            </a:prstGeom>
            <a:solidFill>
              <a:schemeClr val="tx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p:cNvCxnSpPr/>
            <p:nvPr/>
          </p:nvCxnSpPr>
          <p:spPr>
            <a:xfrm>
              <a:off x="1202144" y="3735064"/>
              <a:ext cx="0" cy="172103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62" idx="4"/>
              <a:endCxn id="66" idx="0"/>
            </p:cNvCxnSpPr>
            <p:nvPr/>
          </p:nvCxnSpPr>
          <p:spPr>
            <a:xfrm>
              <a:off x="3016587" y="3756102"/>
              <a:ext cx="0" cy="16764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63" idx="6"/>
            </p:cNvCxnSpPr>
            <p:nvPr/>
          </p:nvCxnSpPr>
          <p:spPr>
            <a:xfrm flipV="1">
              <a:off x="1263987" y="5527343"/>
              <a:ext cx="1656634" cy="993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63" idx="7"/>
              <a:endCxn id="64" idx="3"/>
            </p:cNvCxnSpPr>
            <p:nvPr/>
          </p:nvCxnSpPr>
          <p:spPr>
            <a:xfrm flipV="1">
              <a:off x="1241669" y="5156277"/>
              <a:ext cx="650968" cy="327118"/>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64" idx="0"/>
            </p:cNvCxnSpPr>
            <p:nvPr/>
          </p:nvCxnSpPr>
          <p:spPr>
            <a:xfrm flipH="1" flipV="1">
              <a:off x="1959312" y="3375102"/>
              <a:ext cx="3423" cy="163830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endCxn id="65" idx="3"/>
            </p:cNvCxnSpPr>
            <p:nvPr/>
          </p:nvCxnSpPr>
          <p:spPr>
            <a:xfrm flipV="1">
              <a:off x="2054562" y="5127702"/>
              <a:ext cx="1676400" cy="1905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59" idx="7"/>
              <a:endCxn id="60" idx="3"/>
            </p:cNvCxnSpPr>
            <p:nvPr/>
          </p:nvCxnSpPr>
          <p:spPr>
            <a:xfrm flipV="1">
              <a:off x="1241669" y="3308427"/>
              <a:ext cx="689068" cy="34616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3099044" y="5156277"/>
              <a:ext cx="650968" cy="32711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V="1">
              <a:off x="1244937" y="3670377"/>
              <a:ext cx="1666875" cy="38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a:off x="3092787" y="3289377"/>
              <a:ext cx="600075" cy="3619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7" name="Straight Connector 76"/>
            <p:cNvCxnSpPr>
              <a:endCxn id="61" idx="4"/>
            </p:cNvCxnSpPr>
            <p:nvPr/>
          </p:nvCxnSpPr>
          <p:spPr>
            <a:xfrm flipV="1">
              <a:off x="3788112" y="3317952"/>
              <a:ext cx="0" cy="1657350"/>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endCxn id="61" idx="2"/>
            </p:cNvCxnSpPr>
            <p:nvPr/>
          </p:nvCxnSpPr>
          <p:spPr>
            <a:xfrm flipV="1">
              <a:off x="2045037" y="3241752"/>
              <a:ext cx="1666875" cy="38100"/>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6" name="TextBox 85"/>
          <p:cNvSpPr txBox="1"/>
          <p:nvPr/>
        </p:nvSpPr>
        <p:spPr>
          <a:xfrm>
            <a:off x="3676015" y="1913255"/>
            <a:ext cx="5364480" cy="4523105"/>
          </a:xfrm>
          <a:prstGeom prst="rect">
            <a:avLst/>
          </a:prstGeom>
          <a:noFill/>
        </p:spPr>
        <p:txBody>
          <a:bodyPr wrap="square" rtlCol="0">
            <a:spAutoFit/>
          </a:bodyPr>
          <a:lstStyle/>
          <a:p>
            <a:pPr marL="514350" indent="-514350">
              <a:buAutoNum type="arabicPeriod"/>
            </a:pPr>
            <a:r>
              <a:rPr lang="en-US" altLang="zh-CN" sz="3200" dirty="0"/>
              <a:t>Please plot the directions in the left picture, [001],[101], [110], [1-10], [1-11], </a:t>
            </a:r>
            <a:r>
              <a:rPr lang="en-US" altLang="zh-CN" sz="3200" dirty="0">
                <a:effectLst/>
              </a:rPr>
              <a:t>[112] and</a:t>
            </a:r>
            <a:r>
              <a:rPr lang="en-US" altLang="zh-CN" sz="3200" b="1" dirty="0">
                <a:effectLst>
                  <a:outerShdw blurRad="38100" dist="38100" dir="2700000" algn="tl">
                    <a:srgbClr val="000000">
                      <a:alpha val="43137"/>
                    </a:srgbClr>
                  </a:outerShdw>
                </a:effectLst>
              </a:rPr>
              <a:t> </a:t>
            </a:r>
            <a:r>
              <a:rPr lang="en-US" altLang="zh-CN" sz="3200" dirty="0"/>
              <a:t>[12-3], respectively</a:t>
            </a:r>
          </a:p>
          <a:p>
            <a:pPr marL="514350" indent="-514350">
              <a:buAutoNum type="arabicPeriod"/>
            </a:pPr>
            <a:endParaRPr lang="en-US" altLang="zh-CN" sz="3200" dirty="0"/>
          </a:p>
          <a:p>
            <a:pPr marL="514350" indent="-514350">
              <a:buAutoNum type="arabicPeriod"/>
            </a:pPr>
            <a:r>
              <a:rPr lang="en-US" altLang="zh-CN" sz="3200" dirty="0"/>
              <a:t>Draw up all of the directions belong to the family of direction &lt;111&gt;.</a:t>
            </a:r>
          </a:p>
          <a:p>
            <a:pPr marL="514350" indent="-514350">
              <a:buAutoNum type="arabicPeriod"/>
            </a:pPr>
            <a:endParaRPr lang="en-US" altLang="zh-CN"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5"/>
          <p:cNvSpPr>
            <a:spLocks noChangeArrowheads="1"/>
          </p:cNvSpPr>
          <p:nvPr/>
        </p:nvSpPr>
        <p:spPr bwMode="auto">
          <a:xfrm>
            <a:off x="510977" y="483915"/>
            <a:ext cx="7806999"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fontAlgn="auto" latinLnBrk="0" hangingPunct="1">
              <a:lnSpc>
                <a:spcPct val="100000"/>
              </a:lnSpc>
              <a:spcBef>
                <a:spcPct val="0"/>
              </a:spcBef>
              <a:spcAft>
                <a:spcPts val="0"/>
              </a:spcAft>
              <a:buFont typeface="Wingdings" panose="05000000000000000000" pitchFamily="2" charset="2"/>
              <a:buNone/>
            </a:pPr>
            <a:r>
              <a:rPr lang="en-US" altLang="zh-CN" sz="3200" b="1" cap="all" spc="-60" dirty="0">
                <a:solidFill>
                  <a:srgbClr val="FF0066"/>
                </a:solidFill>
                <a:effectLst>
                  <a:outerShdw blurRad="38100" dist="38100" dir="2700000" algn="tl">
                    <a:srgbClr val="000000"/>
                  </a:outerShdw>
                </a:effectLst>
                <a:latin typeface="+mj-lt"/>
                <a:ea typeface="+mj-ea"/>
                <a:cs typeface="+mj-cs"/>
              </a:rPr>
              <a:t>3. </a:t>
            </a:r>
            <a:r>
              <a:rPr lang="en-US" altLang="zh-CN" sz="3200" b="1" spc="-60" dirty="0">
                <a:solidFill>
                  <a:srgbClr val="FF0066"/>
                </a:solidFill>
                <a:effectLst>
                  <a:outerShdw blurRad="38100" dist="38100" dir="2700000" algn="tl">
                    <a:srgbClr val="000000"/>
                  </a:outerShdw>
                </a:effectLst>
                <a:latin typeface="+mj-lt"/>
                <a:ea typeface="+mj-ea"/>
                <a:cs typeface="+mj-cs"/>
                <a:sym typeface="+mn-ea"/>
              </a:rPr>
              <a:t>Denotation of crystallographic planes:</a:t>
            </a:r>
            <a:endParaRPr lang="en-US" altLang="zh-CN" sz="3200" b="1" cap="all" spc="-60" dirty="0">
              <a:solidFill>
                <a:srgbClr val="FF0066"/>
              </a:solidFill>
              <a:effectLst>
                <a:outerShdw blurRad="38100" dist="38100" dir="2700000" algn="tl">
                  <a:srgbClr val="000000"/>
                </a:outerShdw>
              </a:effectLst>
              <a:latin typeface="+mj-lt"/>
              <a:ea typeface="+mj-ea"/>
              <a:cs typeface="+mj-cs"/>
              <a:sym typeface="+mn-ea"/>
            </a:endParaRPr>
          </a:p>
          <a:p>
            <a:pPr marL="0" indent="0" eaLnBrk="1" latinLnBrk="0" hangingPunct="1">
              <a:lnSpc>
                <a:spcPct val="150000"/>
              </a:lnSpc>
              <a:spcBef>
                <a:spcPts val="0"/>
              </a:spcBef>
              <a:buNone/>
            </a:pPr>
            <a:endParaRPr lang="en-US" altLang="zh-CN" b="1" dirty="0"/>
          </a:p>
          <a:p>
            <a:pPr marL="0" indent="0" eaLnBrk="1" latinLnBrk="0" hangingPunct="1">
              <a:lnSpc>
                <a:spcPct val="150000"/>
              </a:lnSpc>
              <a:spcBef>
                <a:spcPts val="0"/>
              </a:spcBef>
              <a:buNone/>
            </a:pPr>
            <a:r>
              <a:rPr lang="en-US" altLang="zh-CN" b="1" dirty="0"/>
              <a:t>Crystallographic plane</a:t>
            </a:r>
            <a:r>
              <a:rPr lang="en-US" altLang="zh-CN" dirty="0"/>
              <a:t>: planes passing through a group of lattice points (the plane composed of the nodes in the space lattice). These planes are composed of atoms in crystals.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p:cNvSpPr>
            <a:spLocks noChangeArrowheads="1"/>
          </p:cNvSpPr>
          <p:nvPr/>
        </p:nvSpPr>
        <p:spPr bwMode="auto">
          <a:xfrm>
            <a:off x="45323" y="44624"/>
            <a:ext cx="5775601" cy="6696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fontAlgn="auto" latinLnBrk="0" hangingPunct="1">
              <a:lnSpc>
                <a:spcPct val="100000"/>
              </a:lnSpc>
              <a:spcBef>
                <a:spcPct val="0"/>
              </a:spcBef>
              <a:spcAft>
                <a:spcPts val="0"/>
              </a:spcAft>
              <a:buNone/>
            </a:pPr>
            <a:r>
              <a:rPr lang="en-US" altLang="zh-CN" b="1" spc="-60" dirty="0">
                <a:solidFill>
                  <a:srgbClr val="FF0066"/>
                </a:solidFill>
                <a:effectLst>
                  <a:outerShdw blurRad="38100" dist="38100" dir="2700000" algn="tl">
                    <a:srgbClr val="000000"/>
                  </a:outerShdw>
                </a:effectLst>
                <a:latin typeface="+mj-lt"/>
                <a:ea typeface="+mj-ea"/>
                <a:cs typeface="+mj-cs"/>
              </a:rPr>
              <a:t>Determination of index of planes:</a:t>
            </a:r>
          </a:p>
          <a:p>
            <a:pPr marL="0" indent="0">
              <a:buNone/>
            </a:pPr>
            <a:r>
              <a:rPr lang="en-US" altLang="zh-CN" sz="1800" b="1" dirty="0"/>
              <a:t>1</a:t>
            </a:r>
            <a:r>
              <a:rPr lang="zh-CN" altLang="en-US" sz="1800" b="1" dirty="0"/>
              <a:t>．</a:t>
            </a:r>
            <a:r>
              <a:rPr lang="en-US" altLang="zh-CN" sz="1800" b="1" dirty="0">
                <a:solidFill>
                  <a:srgbClr val="FF0000"/>
                </a:solidFill>
                <a:sym typeface="+mn-ea"/>
              </a:rPr>
              <a:t>Build a coordinate system </a:t>
            </a:r>
            <a:r>
              <a:rPr lang="en-US" altLang="zh-CN" sz="1800" dirty="0">
                <a:sym typeface="+mn-ea"/>
              </a:rPr>
              <a:t>with the sides  of unit cell as </a:t>
            </a:r>
            <a:r>
              <a:rPr lang="en-US" altLang="zh-CN" sz="1800" b="1" dirty="0">
                <a:sym typeface="+mn-ea"/>
              </a:rPr>
              <a:t>X</a:t>
            </a:r>
            <a:r>
              <a:rPr lang="en-US" altLang="zh-CN" sz="1800" dirty="0">
                <a:sym typeface="+mn-ea"/>
              </a:rPr>
              <a:t>, </a:t>
            </a:r>
            <a:r>
              <a:rPr lang="en-US" altLang="zh-CN" sz="1800" b="1" dirty="0">
                <a:sym typeface="+mn-ea"/>
              </a:rPr>
              <a:t>Y</a:t>
            </a:r>
            <a:r>
              <a:rPr lang="en-US" altLang="zh-CN" sz="1800" dirty="0">
                <a:sym typeface="+mn-ea"/>
              </a:rPr>
              <a:t> and </a:t>
            </a:r>
            <a:r>
              <a:rPr lang="en-US" altLang="zh-CN" sz="1800" b="1" dirty="0">
                <a:sym typeface="+mn-ea"/>
              </a:rPr>
              <a:t>Z </a:t>
            </a:r>
            <a:r>
              <a:rPr lang="en-US" altLang="zh-CN" sz="1800" dirty="0">
                <a:sym typeface="+mn-ea"/>
              </a:rPr>
              <a:t>axes. Set the side lengths of unit cell as the unit lengths of the axes, respectively</a:t>
            </a:r>
            <a:r>
              <a:rPr lang="zh-CN" altLang="en-US" sz="1800" b="1" dirty="0"/>
              <a:t>；</a:t>
            </a:r>
          </a:p>
          <a:p>
            <a:endParaRPr lang="zh-CN" altLang="en-US" sz="2400" b="1" dirty="0"/>
          </a:p>
          <a:p>
            <a:pPr marL="0" indent="0">
              <a:buNone/>
            </a:pPr>
            <a:r>
              <a:rPr lang="en-US" altLang="zh-CN" sz="1800" b="1" dirty="0"/>
              <a:t>2</a:t>
            </a:r>
            <a:r>
              <a:rPr lang="zh-CN" altLang="en-US" sz="1800" b="1" dirty="0"/>
              <a:t>．</a:t>
            </a:r>
            <a:r>
              <a:rPr lang="en-US" altLang="zh-CN" sz="1800" dirty="0"/>
              <a:t>Get the </a:t>
            </a:r>
            <a:r>
              <a:rPr lang="en-US" altLang="zh-CN" sz="1800" dirty="0">
                <a:solidFill>
                  <a:srgbClr val="FF0000"/>
                </a:solidFill>
              </a:rPr>
              <a:t>intercepts</a:t>
            </a:r>
            <a:r>
              <a:rPr lang="en-US" altLang="zh-CN" sz="1800" dirty="0"/>
              <a:t> of the studied plane on the axes, respectively (if the plane is parallel to one of the axes, the corresponding intercept should be </a:t>
            </a:r>
            <a:r>
              <a:rPr lang="en-US" altLang="zh-CN" sz="1800" dirty="0">
                <a:sym typeface="+mn-ea"/>
              </a:rPr>
              <a:t>∞</a:t>
            </a:r>
            <a:r>
              <a:rPr lang="en-US" altLang="zh-CN" sz="1800" dirty="0"/>
              <a:t>), such as a, b, ∞；a, b, c；a, 2b, 1/2c；etc.;</a:t>
            </a:r>
          </a:p>
          <a:p>
            <a:endParaRPr lang="zh-CN" altLang="en-US" sz="1600" b="1" dirty="0"/>
          </a:p>
          <a:p>
            <a:pPr marL="0" indent="0">
              <a:buNone/>
            </a:pPr>
            <a:r>
              <a:rPr lang="en-US" altLang="zh-CN" sz="1800" b="1" dirty="0"/>
              <a:t>3</a:t>
            </a:r>
            <a:r>
              <a:rPr lang="zh-CN" altLang="en-US" sz="1800" b="1" dirty="0"/>
              <a:t>．</a:t>
            </a:r>
            <a:r>
              <a:rPr lang="en-US" altLang="zh-CN" sz="1800" dirty="0"/>
              <a:t>Calculate the </a:t>
            </a:r>
            <a:r>
              <a:rPr lang="en-US" altLang="zh-CN" sz="1800" dirty="0">
                <a:solidFill>
                  <a:srgbClr val="FF0000"/>
                </a:solidFill>
              </a:rPr>
              <a:t>reciprocal of these intercept coefficients</a:t>
            </a:r>
            <a:r>
              <a:rPr lang="en-US" altLang="zh-CN" sz="1800" dirty="0"/>
              <a:t>，such as 110，111，214, etc.；</a:t>
            </a:r>
          </a:p>
          <a:p>
            <a:endParaRPr lang="en-US" altLang="zh-CN" sz="1800" dirty="0"/>
          </a:p>
          <a:p>
            <a:pPr marL="0" indent="0">
              <a:buNone/>
            </a:pPr>
            <a:r>
              <a:rPr lang="en-US" altLang="zh-CN" sz="1800" b="1" dirty="0"/>
              <a:t>4</a:t>
            </a:r>
            <a:r>
              <a:rPr lang="zh-CN" altLang="en-US" sz="1800" b="1" dirty="0"/>
              <a:t>．</a:t>
            </a:r>
            <a:r>
              <a:rPr lang="en-US" altLang="zh-CN" sz="1800" dirty="0"/>
              <a:t>Simplify these numbers into the simplest interger ratio</a:t>
            </a:r>
            <a:r>
              <a:rPr lang="zh-CN" altLang="en-US" sz="1800" dirty="0"/>
              <a:t>，</a:t>
            </a:r>
            <a:r>
              <a:rPr lang="en-US" altLang="zh-CN" sz="1800" dirty="0"/>
              <a:t>which are enclosed into </a:t>
            </a:r>
            <a:r>
              <a:rPr lang="en-US" altLang="zh-CN" sz="1800" dirty="0">
                <a:solidFill>
                  <a:srgbClr val="FF0000"/>
                </a:solidFill>
              </a:rPr>
              <a:t>parentheses “()” </a:t>
            </a:r>
            <a:r>
              <a:rPr lang="en-US" altLang="zh-CN" sz="1800" dirty="0"/>
              <a:t>(</a:t>
            </a:r>
            <a:r>
              <a:rPr lang="zh-CN" altLang="en-US" sz="1800" dirty="0"/>
              <a:t>圆括号</a:t>
            </a:r>
            <a:r>
              <a:rPr lang="en-US" altLang="zh-CN" sz="1800" dirty="0"/>
              <a:t>)</a:t>
            </a:r>
            <a:endParaRPr lang="zh-CN" altLang="en-US" sz="1800" b="1" dirty="0"/>
          </a:p>
          <a:p>
            <a:pPr marL="0" indent="0">
              <a:buNone/>
            </a:pPr>
            <a:r>
              <a:rPr lang="en-US" altLang="zh-CN" sz="1800" dirty="0"/>
              <a:t>. As a result, the index of planes can be expressed in the form of (</a:t>
            </a:r>
            <a:r>
              <a:rPr lang="en-US" altLang="zh-CN" sz="1800" dirty="0" err="1"/>
              <a:t>hkl)</a:t>
            </a:r>
            <a:r>
              <a:rPr lang="zh-CN" altLang="en-US" sz="1800" dirty="0"/>
              <a:t>，</a:t>
            </a:r>
            <a:r>
              <a:rPr lang="en-US" altLang="zh-CN" sz="1800" dirty="0"/>
              <a:t>such as (110)</a:t>
            </a:r>
            <a:r>
              <a:rPr lang="zh-CN" altLang="en-US" sz="1800" dirty="0"/>
              <a:t>，</a:t>
            </a:r>
            <a:r>
              <a:rPr lang="en-US" altLang="zh-CN" sz="1800" dirty="0"/>
              <a:t>(111)</a:t>
            </a:r>
            <a:r>
              <a:rPr lang="zh-CN" altLang="en-US" sz="1800" dirty="0"/>
              <a:t>，</a:t>
            </a:r>
            <a:r>
              <a:rPr lang="en-US" altLang="zh-CN" sz="1800" dirty="0"/>
              <a:t>(112), etc.</a:t>
            </a:r>
            <a:endParaRPr lang="zh-CN" altLang="en-US" sz="1800" b="1" dirty="0"/>
          </a:p>
        </p:txBody>
      </p:sp>
      <p:pic>
        <p:nvPicPr>
          <p:cNvPr id="6144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59" y="31349"/>
            <a:ext cx="2880369" cy="3604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4"/>
          <p:cNvSpPr>
            <a:spLocks noGrp="1" noChangeArrowheads="1"/>
          </p:cNvSpPr>
          <p:nvPr>
            <p:ph type="title"/>
          </p:nvPr>
        </p:nvSpPr>
        <p:spPr>
          <a:xfrm>
            <a:off x="0" y="324485"/>
            <a:ext cx="8824595" cy="800100"/>
          </a:xfrm>
          <a:noFill/>
        </p:spPr>
        <p:txBody>
          <a:bodyPr anchor="b">
            <a:normAutofit fontScale="90000"/>
          </a:bodyPr>
          <a:lstStyle/>
          <a:p>
            <a:r>
              <a:rPr lang="en-US" altLang="zh-CN" sz="3400" cap="none" dirty="0">
                <a:sym typeface="+mn-ea"/>
              </a:rPr>
              <a:t>Denotation of crystallographic planes</a:t>
            </a:r>
            <a:endParaRPr lang="en-US" altLang="zh-CN" sz="3400" b="1" cap="none" dirty="0"/>
          </a:p>
        </p:txBody>
      </p:sp>
      <p:sp>
        <p:nvSpPr>
          <p:cNvPr id="2" name="文本框 1"/>
          <p:cNvSpPr txBox="1"/>
          <p:nvPr/>
        </p:nvSpPr>
        <p:spPr>
          <a:xfrm>
            <a:off x="530860" y="1268760"/>
            <a:ext cx="8197215" cy="5011949"/>
          </a:xfrm>
          <a:prstGeom prst="rect">
            <a:avLst/>
          </a:prstGeom>
          <a:noFill/>
        </p:spPr>
        <p:txBody>
          <a:bodyPr wrap="square" rtlCol="0" anchor="t">
            <a:spAutoFit/>
          </a:bodyPr>
          <a:lstStyle/>
          <a:p>
            <a:pPr marL="342900" indent="-342900">
              <a:lnSpc>
                <a:spcPct val="150000"/>
              </a:lnSpc>
              <a:buFont typeface="Wingdings" panose="05000000000000000000" pitchFamily="2" charset="2"/>
              <a:buChar char="ü"/>
            </a:pPr>
            <a:r>
              <a:rPr lang="en-US" altLang="zh-CN" dirty="0">
                <a:sym typeface="+mn-ea"/>
              </a:rPr>
              <a:t>The meaning of index: representing a series of parallel crystallographic planes.</a:t>
            </a:r>
          </a:p>
          <a:p>
            <a:pPr marL="342900" indent="-342900">
              <a:lnSpc>
                <a:spcPct val="150000"/>
              </a:lnSpc>
              <a:buFont typeface="Wingdings" panose="05000000000000000000" pitchFamily="2" charset="2"/>
              <a:buChar char="ü"/>
            </a:pPr>
            <a:r>
              <a:rPr lang="en-US" altLang="zh-CN" dirty="0">
                <a:sym typeface="+mn-ea"/>
              </a:rPr>
              <a:t>The meaning of index value 0: the plane is parallel to the corresponding axis. </a:t>
            </a:r>
          </a:p>
          <a:p>
            <a:pPr marL="342900" indent="-342900">
              <a:lnSpc>
                <a:spcPct val="150000"/>
              </a:lnSpc>
              <a:buFont typeface="Wingdings" panose="05000000000000000000" pitchFamily="2" charset="2"/>
              <a:buChar char="ü"/>
            </a:pPr>
            <a:r>
              <a:rPr lang="en-US" altLang="zh-CN" dirty="0">
                <a:sym typeface="+mn-ea"/>
              </a:rPr>
              <a:t>Parallel planes: the parallel planes have the same or opposite index.</a:t>
            </a:r>
          </a:p>
          <a:p>
            <a:pPr marL="342900" indent="-342900">
              <a:lnSpc>
                <a:spcPct val="150000"/>
              </a:lnSpc>
              <a:buFont typeface="Wingdings" panose="05000000000000000000" pitchFamily="2" charset="2"/>
              <a:buChar char="ü"/>
            </a:pPr>
            <a:r>
              <a:rPr lang="en-US" altLang="zh-CN" dirty="0">
                <a:solidFill>
                  <a:srgbClr val="FF0000"/>
                </a:solidFill>
                <a:sym typeface="+mn-ea"/>
              </a:rPr>
              <a:t>If a plane (</a:t>
            </a:r>
            <a:r>
              <a:rPr lang="en-US" altLang="zh-CN" dirty="0" err="1">
                <a:solidFill>
                  <a:srgbClr val="FF0000"/>
                </a:solidFill>
                <a:sym typeface="+mn-ea"/>
              </a:rPr>
              <a:t>uvw</a:t>
            </a:r>
            <a:r>
              <a:rPr lang="en-US" altLang="zh-CN" dirty="0">
                <a:solidFill>
                  <a:srgbClr val="FF0000"/>
                </a:solidFill>
                <a:sym typeface="+mn-ea"/>
              </a:rPr>
              <a:t>) is parallel to a direction [</a:t>
            </a:r>
            <a:r>
              <a:rPr lang="en-US" altLang="zh-CN" dirty="0" err="1">
                <a:solidFill>
                  <a:srgbClr val="FF0000"/>
                </a:solidFill>
                <a:sym typeface="+mn-ea"/>
              </a:rPr>
              <a:t>hkl</a:t>
            </a:r>
            <a:r>
              <a:rPr lang="en-US" altLang="zh-CN" dirty="0">
                <a:solidFill>
                  <a:srgbClr val="FF0000"/>
                </a:solidFill>
                <a:sym typeface="+mn-ea"/>
              </a:rPr>
              <a:t>], </a:t>
            </a:r>
            <a:r>
              <a:rPr lang="en-US" altLang="zh-CN" dirty="0" err="1">
                <a:solidFill>
                  <a:srgbClr val="FF0000"/>
                </a:solidFill>
                <a:sym typeface="+mn-ea"/>
              </a:rPr>
              <a:t>hu+kv+lw</a:t>
            </a:r>
            <a:r>
              <a:rPr lang="en-US" altLang="zh-CN" dirty="0">
                <a:solidFill>
                  <a:srgbClr val="FF0000"/>
                </a:solidFill>
                <a:sym typeface="+mn-ea"/>
              </a:rPr>
              <a:t>=0.</a:t>
            </a:r>
          </a:p>
          <a:p>
            <a:pPr marL="342900" indent="-342900">
              <a:lnSpc>
                <a:spcPct val="150000"/>
              </a:lnSpc>
              <a:buFont typeface="Wingdings" panose="05000000000000000000" pitchFamily="2" charset="2"/>
              <a:buChar char="ü"/>
            </a:pPr>
            <a:r>
              <a:rPr lang="en-US" altLang="zh-CN" dirty="0">
                <a:solidFill>
                  <a:srgbClr val="FF0000"/>
                </a:solidFill>
                <a:sym typeface="+mn-ea"/>
              </a:rPr>
              <a:t>If a plane (</a:t>
            </a:r>
            <a:r>
              <a:rPr lang="en-US" altLang="zh-CN" dirty="0" err="1">
                <a:solidFill>
                  <a:srgbClr val="FF0000"/>
                </a:solidFill>
                <a:sym typeface="+mn-ea"/>
              </a:rPr>
              <a:t>uvw</a:t>
            </a:r>
            <a:r>
              <a:rPr lang="en-US" altLang="zh-CN" dirty="0">
                <a:solidFill>
                  <a:srgbClr val="FF0000"/>
                </a:solidFill>
                <a:sym typeface="+mn-ea"/>
              </a:rPr>
              <a:t>) is perpendicular to a direction [</a:t>
            </a:r>
            <a:r>
              <a:rPr lang="en-US" altLang="zh-CN" dirty="0" err="1">
                <a:solidFill>
                  <a:srgbClr val="FF0000"/>
                </a:solidFill>
                <a:sym typeface="+mn-ea"/>
              </a:rPr>
              <a:t>hkl</a:t>
            </a:r>
            <a:r>
              <a:rPr lang="en-US" altLang="zh-CN" dirty="0">
                <a:solidFill>
                  <a:srgbClr val="FF0000"/>
                </a:solidFill>
                <a:sym typeface="+mn-ea"/>
              </a:rPr>
              <a:t>], u=h, k=v, w=l, applicable only in the cubic crystal system.</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351790"/>
            <a:ext cx="5791200" cy="705485"/>
          </a:xfrm>
        </p:spPr>
        <p:txBody>
          <a:bodyPr/>
          <a:lstStyle/>
          <a:p>
            <a:pPr algn="l"/>
            <a:r>
              <a:rPr lang="en-US" altLang="zh-CN" dirty="0"/>
              <a:t>group</a:t>
            </a:r>
            <a:r>
              <a:rPr altLang="zh-CN" dirty="0"/>
              <a:t> of plane</a:t>
            </a:r>
            <a:r>
              <a:rPr lang="en-US" altLang="zh-CN" dirty="0"/>
              <a:t>s</a:t>
            </a:r>
            <a:endParaRPr altLang="zh-CN" dirty="0"/>
          </a:p>
        </p:txBody>
      </p:sp>
      <p:sp>
        <p:nvSpPr>
          <p:cNvPr id="3" name="Content Placeholder 2"/>
          <p:cNvSpPr>
            <a:spLocks noGrp="1"/>
          </p:cNvSpPr>
          <p:nvPr>
            <p:ph idx="1"/>
          </p:nvPr>
        </p:nvSpPr>
        <p:spPr>
          <a:xfrm>
            <a:off x="539552" y="1196752"/>
            <a:ext cx="8003232" cy="5148411"/>
          </a:xfrm>
        </p:spPr>
        <p:txBody>
          <a:bodyPr/>
          <a:lstStyle/>
          <a:p>
            <a:pPr algn="just"/>
            <a:r>
              <a:rPr lang="en-US" altLang="zh-CN" sz="2400" dirty="0">
                <a:solidFill>
                  <a:schemeClr val="tx1"/>
                </a:solidFill>
              </a:rPr>
              <a:t>For crystal systems with high symmetry</a:t>
            </a:r>
            <a:r>
              <a:rPr lang="en-US" altLang="zh-CN" sz="2400" b="0" dirty="0">
                <a:solidFill>
                  <a:schemeClr val="tx1"/>
                </a:solidFill>
              </a:rPr>
              <a:t>, there are usually some planes with the same </a:t>
            </a:r>
            <a:r>
              <a:rPr lang="en-US" altLang="zh-CN" sz="2400" b="0" dirty="0"/>
              <a:t>atom distribution, </a:t>
            </a:r>
            <a:r>
              <a:rPr lang="en-US" altLang="zh-CN" sz="2400" b="0" dirty="0">
                <a:solidFill>
                  <a:schemeClr val="tx1"/>
                </a:solidFill>
              </a:rPr>
              <a:t>but they are not parallel to each other. These planes belong to the same </a:t>
            </a:r>
            <a:r>
              <a:rPr lang="en-US" altLang="zh-CN" sz="2400" dirty="0">
                <a:solidFill>
                  <a:schemeClr val="tx1"/>
                </a:solidFill>
              </a:rPr>
              <a:t>group of planes(</a:t>
            </a:r>
            <a:r>
              <a:rPr lang="zh-CN" altLang="en-US" sz="2400" dirty="0">
                <a:solidFill>
                  <a:schemeClr val="tx1"/>
                </a:solidFill>
              </a:rPr>
              <a:t>界面族）</a:t>
            </a:r>
            <a:r>
              <a:rPr lang="en-US" altLang="zh-CN" sz="2400" b="0" dirty="0">
                <a:solidFill>
                  <a:schemeClr val="tx1"/>
                </a:solidFill>
              </a:rPr>
              <a:t>, enclosed by braces {}, such as {</a:t>
            </a:r>
            <a:r>
              <a:rPr lang="en-US" altLang="zh-CN" sz="2400" b="0" dirty="0" err="1">
                <a:solidFill>
                  <a:schemeClr val="tx1"/>
                </a:solidFill>
              </a:rPr>
              <a:t>abc</a:t>
            </a:r>
            <a:r>
              <a:rPr lang="en-US" altLang="zh-CN" sz="2400" b="0" dirty="0">
                <a:solidFill>
                  <a:schemeClr val="tx1"/>
                </a:solidFill>
              </a:rPr>
              <a:t>}.</a:t>
            </a:r>
            <a:endParaRPr lang="en-US" altLang="zh-CN" b="0" dirty="0">
              <a:solidFill>
                <a:schemeClr val="tx1"/>
              </a:solidFill>
            </a:endParaRPr>
          </a:p>
          <a:p>
            <a:pPr algn="just"/>
            <a:r>
              <a:rPr lang="en-US" altLang="zh-CN" sz="2400" b="0" dirty="0"/>
              <a:t>For example, the planes (</a:t>
            </a:r>
            <a:r>
              <a:rPr lang="en-US" altLang="zh-CN" sz="2400" b="0" dirty="0">
                <a:latin typeface="Arial" panose="020B0604020202020204" pitchFamily="34" charset="0"/>
                <a:sym typeface="+mn-ea"/>
              </a:rPr>
              <a:t>111), (-111), (1-11) and (11-1) belong to the group of plane {111}.(Note: the minus symbol of -1 shoud be actually set at the top of the number in the form of 1)</a:t>
            </a:r>
          </a:p>
          <a:p>
            <a:pPr algn="just"/>
            <a:r>
              <a:rPr lang="en-US" altLang="zh-CN" sz="2400" b="0" dirty="0"/>
              <a:t> (</a:t>
            </a:r>
            <a:r>
              <a:rPr lang="en-US" altLang="zh-CN" sz="2400" b="0" dirty="0" err="1"/>
              <a:t>hkl</a:t>
            </a:r>
            <a:r>
              <a:rPr lang="en-US" altLang="zh-CN" sz="2400" b="0" dirty="0"/>
              <a:t>) </a:t>
            </a:r>
            <a:r>
              <a:rPr lang="en-US" altLang="zh-CN" sz="2400" b="0" dirty="0">
                <a:sym typeface="+mn-ea"/>
              </a:rPr>
              <a:t>represents a series of parallel crystallographic planes.</a:t>
            </a:r>
          </a:p>
          <a:p>
            <a:pPr algn="just"/>
            <a:r>
              <a:rPr lang="en-US" altLang="zh-CN" sz="2400" b="0" dirty="0">
                <a:sym typeface="+mn-ea"/>
              </a:rPr>
              <a:t> {</a:t>
            </a:r>
            <a:r>
              <a:rPr lang="en-US" altLang="zh-CN" sz="2400" b="0" dirty="0" err="1">
                <a:sym typeface="+mn-ea"/>
              </a:rPr>
              <a:t>hkl</a:t>
            </a:r>
            <a:r>
              <a:rPr lang="en-US" altLang="zh-CN" sz="2400" b="0" dirty="0">
                <a:sym typeface="+mn-ea"/>
              </a:rPr>
              <a:t>} represents the planes that have the same distribution of atoms but have different spatial directions.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 y="389255"/>
            <a:ext cx="4643755" cy="840740"/>
          </a:xfrm>
        </p:spPr>
        <p:txBody>
          <a:bodyPr>
            <a:noAutofit/>
          </a:bodyPr>
          <a:lstStyle/>
          <a:p>
            <a:r>
              <a:rPr lang="en-US" altLang="zh-CN" sz="2400" dirty="0"/>
              <a:t>group</a:t>
            </a:r>
            <a:r>
              <a:rPr altLang="zh-CN" sz="2400" dirty="0"/>
              <a:t> of plane</a:t>
            </a:r>
            <a:r>
              <a:rPr lang="en-US" altLang="zh-CN" sz="2400" dirty="0"/>
              <a:t>s</a:t>
            </a:r>
            <a:endParaRPr altLang="zh-CN" sz="2400"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8733" y="1916832"/>
            <a:ext cx="5976665" cy="1642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099" y="389381"/>
            <a:ext cx="4104457" cy="1385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3940" y="3789040"/>
            <a:ext cx="4149616" cy="2759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6368" y="4070985"/>
            <a:ext cx="3795964" cy="830997"/>
          </a:xfrm>
          <a:prstGeom prst="rect">
            <a:avLst/>
          </a:prstGeom>
        </p:spPr>
        <p:txBody>
          <a:bodyPr wrap="square">
            <a:spAutoFit/>
          </a:bodyPr>
          <a:lstStyle/>
          <a:p>
            <a:r>
              <a:rPr lang="en-US" altLang="zh-CN" dirty="0"/>
              <a:t>{100}, {111} and {110} </a:t>
            </a:r>
            <a:endParaRPr lang="en-US" dirty="0"/>
          </a:p>
          <a:p>
            <a:r>
              <a:rPr lang="en-US" altLang="zh-CN" dirty="0"/>
              <a:t>in cubic crystal system</a:t>
            </a:r>
            <a:endParaRPr lang="en-US" dirty="0"/>
          </a:p>
        </p:txBody>
      </p:sp>
      <p:sp>
        <p:nvSpPr>
          <p:cNvPr id="8" name="Rectangle 7"/>
          <p:cNvSpPr/>
          <p:nvPr/>
        </p:nvSpPr>
        <p:spPr>
          <a:xfrm>
            <a:off x="26368" y="4998194"/>
            <a:ext cx="4572000" cy="830997"/>
          </a:xfrm>
          <a:prstGeom prst="rect">
            <a:avLst/>
          </a:prstGeom>
        </p:spPr>
        <p:txBody>
          <a:bodyPr>
            <a:spAutoFit/>
          </a:bodyPr>
          <a:lstStyle/>
          <a:p>
            <a:r>
              <a:rPr lang="en-US" altLang="zh-CN" dirty="0"/>
              <a:t>How many planes with different indices does {123} have?</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p:cNvSpPr/>
          <p:nvPr/>
        </p:nvSpPr>
        <p:spPr>
          <a:xfrm>
            <a:off x="44962" y="1196751"/>
            <a:ext cx="8278638" cy="461665"/>
          </a:xfrm>
          <a:prstGeom prst="rect">
            <a:avLst/>
          </a:prstGeom>
        </p:spPr>
        <p:txBody>
          <a:bodyPr wrap="square">
            <a:spAutoFit/>
          </a:bodyPr>
          <a:lstStyle/>
          <a:p>
            <a:r>
              <a:rPr lang="en-US" altLang="zh-CN" dirty="0">
                <a:sym typeface="+mn-ea"/>
              </a:rPr>
              <a:t>How many planes with different indices does {123} have?</a:t>
            </a:r>
            <a:endParaRPr lang="en-US" b="1" dirty="0">
              <a:effectLst>
                <a:outerShdw blurRad="38100" dist="38100" dir="2700000" algn="tl">
                  <a:srgbClr val="000000">
                    <a:alpha val="43137"/>
                  </a:srgbClr>
                </a:outerShdw>
              </a:effectLst>
            </a:endParaRPr>
          </a:p>
        </p:txBody>
      </p:sp>
      <p:pic>
        <p:nvPicPr>
          <p:cNvPr id="174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3072"/>
          <a:stretch/>
        </p:blipFill>
        <p:spPr bwMode="auto">
          <a:xfrm>
            <a:off x="395536" y="1988840"/>
            <a:ext cx="7907525"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1"/>
          <p:cNvSpPr>
            <a:spLocks noGrp="1"/>
          </p:cNvSpPr>
          <p:nvPr/>
        </p:nvSpPr>
        <p:spPr>
          <a:xfrm>
            <a:off x="-203835" y="164465"/>
            <a:ext cx="4643755" cy="840740"/>
          </a:xfrm>
          <a:prstGeom prst="rect">
            <a:avLst/>
          </a:prstGeom>
        </p:spPr>
        <p:txBody>
          <a:bodyPr vert="horz" lIns="91440" tIns="45720" rIns="91440" bIns="45720" rtlCol="0" anchor="b">
            <a:noAutofit/>
          </a:bodyPr>
          <a:lstStyle>
            <a:lvl1pPr algn="ctr" rtl="0" eaLnBrk="1" fontAlgn="auto" hangingPunct="1">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r>
              <a:rPr lang="zh-CN" altLang="en-US" sz="2400" dirty="0"/>
              <a:t>T</a:t>
            </a:r>
            <a:r>
              <a:rPr altLang="zh-CN" sz="2400" dirty="0"/>
              <a:t>he family of plane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11560" y="1237301"/>
            <a:ext cx="8278638" cy="461665"/>
          </a:xfrm>
          <a:prstGeom prst="rect">
            <a:avLst/>
          </a:prstGeom>
        </p:spPr>
        <p:txBody>
          <a:bodyPr wrap="square">
            <a:spAutoFit/>
          </a:bodyPr>
          <a:lstStyle/>
          <a:p>
            <a:r>
              <a:rPr lang="en-US" altLang="zh-CN" dirty="0">
                <a:sym typeface="+mn-ea"/>
              </a:rPr>
              <a:t>How many planes with different indices does {223} have?</a:t>
            </a:r>
            <a:endParaRPr lang="en-US" b="1" dirty="0">
              <a:effectLst>
                <a:outerShdw blurRad="38100" dist="38100" dir="2700000" algn="tl">
                  <a:srgbClr val="000000">
                    <a:alpha val="43137"/>
                  </a:srgbClr>
                </a:outerShdw>
              </a:effectLst>
            </a:endParaRPr>
          </a:p>
        </p:txBody>
      </p:sp>
      <p:sp>
        <p:nvSpPr>
          <p:cNvPr id="3" name="Title 1"/>
          <p:cNvSpPr>
            <a:spLocks noGrp="1"/>
          </p:cNvSpPr>
          <p:nvPr/>
        </p:nvSpPr>
        <p:spPr>
          <a:xfrm>
            <a:off x="-203835" y="164465"/>
            <a:ext cx="4643755" cy="840740"/>
          </a:xfrm>
          <a:prstGeom prst="rect">
            <a:avLst/>
          </a:prstGeom>
        </p:spPr>
        <p:txBody>
          <a:bodyPr vert="horz" lIns="91440" tIns="45720" rIns="91440" bIns="45720" rtlCol="0" anchor="b">
            <a:noAutofit/>
          </a:bodyPr>
          <a:lstStyle>
            <a:lvl1pPr algn="ctr" rtl="0" eaLnBrk="1" fontAlgn="auto" hangingPunct="1">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r>
              <a:rPr lang="zh-CN" altLang="en-US" sz="2400" dirty="0"/>
              <a:t>T</a:t>
            </a:r>
            <a:r>
              <a:rPr altLang="zh-CN" sz="2400" dirty="0"/>
              <a:t>he family of plane</a:t>
            </a:r>
          </a:p>
        </p:txBody>
      </p:sp>
      <p:sp>
        <p:nvSpPr>
          <p:cNvPr id="5" name="Rectangle 8">
            <a:extLst>
              <a:ext uri="{FF2B5EF4-FFF2-40B4-BE49-F238E27FC236}">
                <a16:creationId xmlns:a16="http://schemas.microsoft.com/office/drawing/2014/main" id="{CE2891D9-39A5-4963-8803-A955AD9C57D0}"/>
              </a:ext>
            </a:extLst>
          </p:cNvPr>
          <p:cNvSpPr/>
          <p:nvPr/>
        </p:nvSpPr>
        <p:spPr>
          <a:xfrm>
            <a:off x="611560" y="2204864"/>
            <a:ext cx="8278638" cy="461665"/>
          </a:xfrm>
          <a:prstGeom prst="rect">
            <a:avLst/>
          </a:prstGeom>
        </p:spPr>
        <p:txBody>
          <a:bodyPr wrap="square">
            <a:spAutoFit/>
          </a:bodyPr>
          <a:lstStyle/>
          <a:p>
            <a:r>
              <a:rPr lang="en-US" altLang="zh-CN" dirty="0">
                <a:sym typeface="+mn-ea"/>
              </a:rPr>
              <a:t>How many planes with different indices does {023} have?</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29167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Grp="1" noChangeArrowheads="1"/>
          </p:cNvSpPr>
          <p:nvPr>
            <p:ph type="title"/>
          </p:nvPr>
        </p:nvSpPr>
        <p:spPr>
          <a:xfrm>
            <a:off x="0" y="0"/>
            <a:ext cx="6705600" cy="800100"/>
          </a:xfrm>
          <a:noFill/>
        </p:spPr>
        <p:txBody>
          <a:bodyPr anchor="b"/>
          <a:lstStyle/>
          <a:p>
            <a:pPr algn="l"/>
            <a:r>
              <a:rPr altLang="zh-CN" sz="3400" b="1" dirty="0"/>
              <a:t>Denotation of plane </a:t>
            </a:r>
          </a:p>
        </p:txBody>
      </p:sp>
      <p:sp>
        <p:nvSpPr>
          <p:cNvPr id="63493" name="Rectangle 5"/>
          <p:cNvSpPr>
            <a:spLocks noChangeArrowheads="1"/>
          </p:cNvSpPr>
          <p:nvPr/>
        </p:nvSpPr>
        <p:spPr bwMode="auto">
          <a:xfrm>
            <a:off x="685800" y="1905000"/>
            <a:ext cx="3404870"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1"/>
            <a:r>
              <a:rPr lang="en-US" altLang="zh-CN" sz="2800" dirty="0"/>
              <a:t>Example</a:t>
            </a:r>
            <a:r>
              <a:rPr lang="zh-CN" altLang="en-US" sz="2800" dirty="0"/>
              <a:t>（</a:t>
            </a:r>
            <a:r>
              <a:rPr lang="en-US" altLang="zh-CN" sz="2800" dirty="0"/>
              <a:t>2D</a:t>
            </a:r>
            <a:r>
              <a:rPr lang="zh-CN" altLang="en-US" sz="2800" dirty="0"/>
              <a:t>）</a:t>
            </a:r>
          </a:p>
        </p:txBody>
      </p:sp>
      <p:grpSp>
        <p:nvGrpSpPr>
          <p:cNvPr id="63520" name="Group 32"/>
          <p:cNvGrpSpPr/>
          <p:nvPr/>
        </p:nvGrpSpPr>
        <p:grpSpPr bwMode="auto">
          <a:xfrm>
            <a:off x="4427165" y="1340768"/>
            <a:ext cx="4105275" cy="4738688"/>
            <a:chOff x="2517" y="618"/>
            <a:chExt cx="2586" cy="2985"/>
          </a:xfrm>
        </p:grpSpPr>
        <p:grpSp>
          <p:nvGrpSpPr>
            <p:cNvPr id="63518" name="Group 30"/>
            <p:cNvGrpSpPr/>
            <p:nvPr/>
          </p:nvGrpSpPr>
          <p:grpSpPr bwMode="auto">
            <a:xfrm>
              <a:off x="2562" y="1071"/>
              <a:ext cx="2541" cy="2532"/>
              <a:chOff x="2805" y="1084"/>
              <a:chExt cx="2541" cy="2532"/>
            </a:xfrm>
          </p:grpSpPr>
          <p:grpSp>
            <p:nvGrpSpPr>
              <p:cNvPr id="63495" name="Group 7"/>
              <p:cNvGrpSpPr>
                <a:grpSpLocks noChangeAspect="1"/>
              </p:cNvGrpSpPr>
              <p:nvPr/>
            </p:nvGrpSpPr>
            <p:grpSpPr bwMode="auto">
              <a:xfrm>
                <a:off x="2816" y="1084"/>
                <a:ext cx="2530" cy="2479"/>
                <a:chOff x="3351" y="1825"/>
                <a:chExt cx="2152" cy="2109"/>
              </a:xfrm>
            </p:grpSpPr>
            <p:sp>
              <p:nvSpPr>
                <p:cNvPr id="63496" name="Rectangle 8"/>
                <p:cNvSpPr>
                  <a:spLocks noChangeAspect="1" noChangeArrowheads="1"/>
                </p:cNvSpPr>
                <p:nvPr/>
              </p:nvSpPr>
              <p:spPr bwMode="auto">
                <a:xfrm>
                  <a:off x="3351" y="1825"/>
                  <a:ext cx="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endParaRPr lang="en-US" altLang="en-US"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3497" name="Rectangle 9"/>
                <p:cNvSpPr>
                  <a:spLocks noChangeAspect="1" noChangeArrowheads="1"/>
                </p:cNvSpPr>
                <p:nvPr/>
              </p:nvSpPr>
              <p:spPr bwMode="auto">
                <a:xfrm>
                  <a:off x="5428" y="3741"/>
                  <a:ext cx="7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CC00"/>
                      </a:solidFill>
                      <a:latin typeface="Dutch801 BT"/>
                    </a:rPr>
                    <a:t>a</a:t>
                  </a:r>
                  <a:endParaRPr lang="en-US" altLang="zh-CN"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3498" name="Line 10"/>
                <p:cNvSpPr>
                  <a:spLocks noChangeAspect="1" noChangeShapeType="1"/>
                </p:cNvSpPr>
                <p:nvPr/>
              </p:nvSpPr>
              <p:spPr bwMode="auto">
                <a:xfrm>
                  <a:off x="3417" y="2687"/>
                  <a:ext cx="1884" cy="1247"/>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9" name="Line 11"/>
                <p:cNvSpPr>
                  <a:spLocks noChangeAspect="1" noChangeShapeType="1"/>
                </p:cNvSpPr>
                <p:nvPr/>
              </p:nvSpPr>
              <p:spPr bwMode="auto">
                <a:xfrm>
                  <a:off x="3413" y="2705"/>
                  <a:ext cx="915" cy="1207"/>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0" name="Rectangle 12"/>
                <p:cNvSpPr>
                  <a:spLocks noChangeAspect="1" noChangeArrowheads="1"/>
                </p:cNvSpPr>
                <p:nvPr/>
              </p:nvSpPr>
              <p:spPr bwMode="auto">
                <a:xfrm>
                  <a:off x="4071" y="286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FF0066"/>
                      </a:solidFill>
                      <a:latin typeface="Dutch801 BT"/>
                    </a:rPr>
                    <a:t>x</a:t>
                  </a:r>
                  <a:endParaRPr lang="en-US" altLang="zh-CN" sz="4400">
                    <a:effectLst>
                      <a:outerShdw blurRad="38100" dist="38100" dir="2700000" algn="tl">
                        <a:srgbClr val="C0C0C0"/>
                      </a:outerShdw>
                    </a:effectLst>
                    <a:latin typeface="Times New Roman" panose="02020603050405020304" pitchFamily="18" charset="0"/>
                  </a:endParaRPr>
                </a:p>
              </p:txBody>
            </p:sp>
            <p:sp>
              <p:nvSpPr>
                <p:cNvPr id="63501" name="Rectangle 13"/>
                <p:cNvSpPr>
                  <a:spLocks noChangeAspect="1" noChangeArrowheads="1"/>
                </p:cNvSpPr>
                <p:nvPr/>
              </p:nvSpPr>
              <p:spPr bwMode="auto">
                <a:xfrm>
                  <a:off x="4056" y="3359"/>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66FF"/>
                      </a:solidFill>
                      <a:latin typeface="Dutch801 BT"/>
                    </a:rPr>
                    <a:t>y</a:t>
                  </a:r>
                  <a:endParaRPr lang="en-US" altLang="zh-CN" sz="4400">
                    <a:effectLst>
                      <a:outerShdw blurRad="38100" dist="38100" dir="2700000" algn="tl">
                        <a:srgbClr val="C0C0C0"/>
                      </a:outerShdw>
                    </a:effectLst>
                    <a:latin typeface="Times New Roman" panose="02020603050405020304" pitchFamily="18" charset="0"/>
                  </a:endParaRPr>
                </a:p>
              </p:txBody>
            </p:sp>
            <p:sp>
              <p:nvSpPr>
                <p:cNvPr id="63502" name="Freeform 14"/>
                <p:cNvSpPr>
                  <a:spLocks noChangeAspect="1"/>
                </p:cNvSpPr>
                <p:nvPr/>
              </p:nvSpPr>
              <p:spPr bwMode="auto">
                <a:xfrm>
                  <a:off x="3407" y="2176"/>
                  <a:ext cx="1982" cy="1749"/>
                </a:xfrm>
                <a:custGeom>
                  <a:avLst/>
                  <a:gdLst>
                    <a:gd name="T0" fmla="*/ 0 w 865"/>
                    <a:gd name="T1" fmla="*/ 0 h 728"/>
                    <a:gd name="T2" fmla="*/ 0 w 865"/>
                    <a:gd name="T3" fmla="*/ 728 h 728"/>
                    <a:gd name="T4" fmla="*/ 865 w 865"/>
                    <a:gd name="T5" fmla="*/ 728 h 728"/>
                  </a:gdLst>
                  <a:ahLst/>
                  <a:cxnLst>
                    <a:cxn ang="0">
                      <a:pos x="T0" y="T1"/>
                    </a:cxn>
                    <a:cxn ang="0">
                      <a:pos x="T2" y="T3"/>
                    </a:cxn>
                    <a:cxn ang="0">
                      <a:pos x="T4" y="T5"/>
                    </a:cxn>
                  </a:cxnLst>
                  <a:rect l="0" t="0" r="r" b="b"/>
                  <a:pathLst>
                    <a:path w="865" h="728">
                      <a:moveTo>
                        <a:pt x="0" y="0"/>
                      </a:moveTo>
                      <a:lnTo>
                        <a:pt x="0" y="728"/>
                      </a:lnTo>
                      <a:lnTo>
                        <a:pt x="865" y="728"/>
                      </a:lnTo>
                    </a:path>
                  </a:pathLst>
                </a:custGeom>
                <a:noFill/>
                <a:ln w="12700" cmpd="sng">
                  <a:solidFill>
                    <a:srgbClr val="00CC00"/>
                  </a:solidFill>
                  <a:prstDash val="solid"/>
                  <a:round/>
                </a:ln>
                <a:extLst>
                  <a:ext uri="{909E8E84-426E-40DD-AFC4-6F175D3DCCD1}">
                    <a14:hiddenFill xmlns:a14="http://schemas.microsoft.com/office/drawing/2010/main">
                      <a:solidFill>
                        <a:srgbClr val="FFFFFF"/>
                      </a:solidFill>
                    </a14:hiddenFill>
                  </a:ext>
                </a:extLst>
              </p:spPr>
              <p:txBody>
                <a:bodyPr/>
                <a:lstStyle/>
                <a:p>
                  <a:endParaRPr lang="en-US"/>
                </a:p>
              </p:txBody>
            </p:sp>
          </p:grpSp>
          <p:pic>
            <p:nvPicPr>
              <p:cNvPr id="63503" name="Picture 1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805" y="2042"/>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504" name="Picture 1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810" y="3460"/>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505" name="Picture 1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79" y="3460"/>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507" name="Picture 1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002" y="3460"/>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3519" name="Group 31"/>
            <p:cNvGrpSpPr/>
            <p:nvPr/>
          </p:nvGrpSpPr>
          <p:grpSpPr bwMode="auto">
            <a:xfrm>
              <a:off x="2517" y="618"/>
              <a:ext cx="1324" cy="1680"/>
              <a:chOff x="3826" y="636"/>
              <a:chExt cx="1324" cy="1680"/>
            </a:xfrm>
          </p:grpSpPr>
          <p:sp>
            <p:nvSpPr>
              <p:cNvPr id="63494" name="Rectangle 6"/>
              <p:cNvSpPr>
                <a:spLocks noChangeArrowheads="1"/>
              </p:cNvSpPr>
              <p:nvPr/>
            </p:nvSpPr>
            <p:spPr bwMode="auto">
              <a:xfrm>
                <a:off x="3948" y="704"/>
                <a:ext cx="1124" cy="1424"/>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3506" name="Picture 1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63" y="2054"/>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508" name="Picture 2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986" y="2054"/>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509" name="Rectangle 21"/>
              <p:cNvSpPr>
                <a:spLocks noChangeAspect="1" noChangeArrowheads="1"/>
              </p:cNvSpPr>
              <p:nvPr/>
            </p:nvSpPr>
            <p:spPr bwMode="auto">
              <a:xfrm>
                <a:off x="4505" y="2124"/>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CC00"/>
                    </a:solidFill>
                    <a:latin typeface="Dutch801 BT"/>
                  </a:rPr>
                  <a:t>a</a:t>
                </a:r>
                <a:endParaRPr lang="en-US" altLang="zh-CN"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3510" name="Rectangle 22"/>
              <p:cNvSpPr>
                <a:spLocks noChangeAspect="1" noChangeArrowheads="1"/>
              </p:cNvSpPr>
              <p:nvPr/>
            </p:nvSpPr>
            <p:spPr bwMode="auto">
              <a:xfrm>
                <a:off x="3826" y="134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CC00"/>
                    </a:solidFill>
                    <a:latin typeface="Dutch801 BT"/>
                  </a:rPr>
                  <a:t>b</a:t>
                </a:r>
                <a:endParaRPr lang="en-US" altLang="zh-CN"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3511" name="Text Box 23"/>
              <p:cNvSpPr txBox="1">
                <a:spLocks noChangeArrowheads="1"/>
              </p:cNvSpPr>
              <p:nvPr/>
            </p:nvSpPr>
            <p:spPr bwMode="auto">
              <a:xfrm>
                <a:off x="4127" y="1080"/>
                <a:ext cx="8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a:solidFill>
                      <a:srgbClr val="33CC33"/>
                    </a:solidFill>
                    <a:latin typeface="Times New Roman" panose="02020603050405020304" pitchFamily="18" charset="0"/>
                  </a:rPr>
                  <a:t>unit cell shape</a:t>
                </a:r>
              </a:p>
            </p:txBody>
          </p:sp>
          <p:pic>
            <p:nvPicPr>
              <p:cNvPr id="63512" name="Picture 2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74" y="636"/>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513" name="Picture 2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993" y="636"/>
                <a:ext cx="15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63514" name="Text Box 26"/>
          <p:cNvSpPr txBox="1">
            <a:spLocks noChangeArrowheads="1"/>
          </p:cNvSpPr>
          <p:nvPr/>
        </p:nvSpPr>
        <p:spPr bwMode="auto">
          <a:xfrm>
            <a:off x="4797053" y="6322343"/>
            <a:ext cx="296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rPr>
              <a:t>axial ratio = a:b = 0.80</a:t>
            </a:r>
          </a:p>
        </p:txBody>
      </p:sp>
      <p:sp>
        <p:nvSpPr>
          <p:cNvPr id="63516" name="Text Box 28"/>
          <p:cNvSpPr txBox="1">
            <a:spLocks noChangeArrowheads="1"/>
          </p:cNvSpPr>
          <p:nvPr/>
        </p:nvSpPr>
        <p:spPr bwMode="auto">
          <a:xfrm>
            <a:off x="457200" y="3352800"/>
            <a:ext cx="3465513"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3200">
                <a:effectLst>
                  <a:outerShdw blurRad="38100" dist="38100" dir="2700000" algn="tl">
                    <a:srgbClr val="C0C0C0"/>
                  </a:outerShdw>
                </a:effectLst>
                <a:latin typeface="Times New Roman" panose="02020603050405020304" pitchFamily="18" charset="0"/>
              </a:rPr>
              <a:t>	</a:t>
            </a:r>
            <a:r>
              <a:rPr lang="en-US" altLang="zh-CN" sz="3200">
                <a:solidFill>
                  <a:srgbClr val="FF0066"/>
                </a:solidFill>
                <a:effectLst>
                  <a:outerShdw blurRad="38100" dist="38100" dir="2700000" algn="tl">
                    <a:srgbClr val="C0C0C0"/>
                  </a:outerShdw>
                </a:effectLst>
                <a:latin typeface="Times New Roman" panose="02020603050405020304" pitchFamily="18" charset="0"/>
              </a:rPr>
              <a:t>x = (1 2 0)</a:t>
            </a:r>
            <a:endParaRPr lang="en-US" altLang="zh-CN" sz="3200">
              <a:effectLst>
                <a:outerShdw blurRad="38100" dist="38100" dir="2700000" algn="tl">
                  <a:srgbClr val="C0C0C0"/>
                </a:outerShdw>
              </a:effectLst>
              <a:latin typeface="Times New Roman" panose="02020603050405020304" pitchFamily="18" charset="0"/>
            </a:endParaRPr>
          </a:p>
          <a:p>
            <a:pPr eaLnBrk="0" hangingPunct="0">
              <a:spcBef>
                <a:spcPct val="50000"/>
              </a:spcBef>
            </a:pPr>
            <a:r>
              <a:rPr lang="en-US" altLang="zh-CN" sz="3200">
                <a:effectLst>
                  <a:outerShdw blurRad="38100" dist="38100" dir="2700000" algn="tl">
                    <a:srgbClr val="C0C0C0"/>
                  </a:outerShdw>
                </a:effectLst>
                <a:latin typeface="Times New Roman" panose="02020603050405020304" pitchFamily="18" charset="0"/>
              </a:rPr>
              <a:t>	</a:t>
            </a:r>
            <a:r>
              <a:rPr lang="en-US" altLang="zh-CN" sz="3200">
                <a:solidFill>
                  <a:srgbClr val="0066FF"/>
                </a:solidFill>
                <a:effectLst>
                  <a:outerShdw blurRad="38100" dist="38100" dir="2700000" algn="tl">
                    <a:srgbClr val="C0C0C0"/>
                  </a:outerShdw>
                </a:effectLst>
                <a:latin typeface="Times New Roman" panose="02020603050405020304" pitchFamily="18" charset="0"/>
              </a:rPr>
              <a:t>y = (1 1 0)</a:t>
            </a:r>
          </a:p>
          <a:p>
            <a:pPr eaLnBrk="0" hangingPunct="0">
              <a:spcBef>
                <a:spcPct val="50000"/>
              </a:spcBef>
            </a:pPr>
            <a:r>
              <a:rPr lang="en-US" altLang="zh-CN" sz="3200">
                <a:effectLst>
                  <a:outerShdw blurRad="38100" dist="38100" dir="2700000" algn="tl">
                    <a:srgbClr val="C0C0C0"/>
                  </a:outerShdw>
                </a:effectLst>
                <a:latin typeface="Times New Roman" panose="02020603050405020304" pitchFamily="18" charset="0"/>
              </a:rPr>
              <a:t>	</a:t>
            </a:r>
            <a:endParaRPr lang="en-US" altLang="zh-CN" sz="3200">
              <a:solidFill>
                <a:srgbClr val="0066FF"/>
              </a:solidFill>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a:xfrm>
            <a:off x="0" y="0"/>
            <a:ext cx="8644890" cy="800100"/>
          </a:xfrm>
          <a:noFill/>
        </p:spPr>
        <p:txBody>
          <a:bodyPr anchor="b">
            <a:normAutofit fontScale="90000"/>
          </a:bodyPr>
          <a:lstStyle/>
          <a:p>
            <a:pPr algn="l"/>
            <a:r>
              <a:rPr lang="zh-CN" altLang="en-US" sz="3600" dirty="0"/>
              <a:t>P</a:t>
            </a:r>
            <a:r>
              <a:rPr altLang="zh-CN" sz="3600" dirty="0"/>
              <a:t>ractice5</a:t>
            </a:r>
            <a:r>
              <a:rPr lang="zh-CN" altLang="en-US" sz="3600" dirty="0"/>
              <a:t>：</a:t>
            </a:r>
            <a:r>
              <a:rPr altLang="zh-CN" sz="3600" dirty="0"/>
              <a:t>denotation of plane </a:t>
            </a:r>
            <a:endParaRPr altLang="zh-CN" sz="3600" b="1" dirty="0"/>
          </a:p>
        </p:txBody>
      </p:sp>
      <p:sp>
        <p:nvSpPr>
          <p:cNvPr id="64518" name="Text Box 6"/>
          <p:cNvSpPr txBox="1">
            <a:spLocks noChangeArrowheads="1"/>
          </p:cNvSpPr>
          <p:nvPr/>
        </p:nvSpPr>
        <p:spPr bwMode="auto">
          <a:xfrm>
            <a:off x="-324544" y="1320701"/>
            <a:ext cx="397564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n-US" altLang="zh-CN" sz="3600" b="1" dirty="0">
                <a:effectLst>
                  <a:outerShdw blurRad="38100" dist="38100" dir="2700000" algn="tl">
                    <a:srgbClr val="C0C0C0"/>
                  </a:outerShdw>
                </a:effectLst>
                <a:latin typeface="+mj-lt"/>
              </a:rPr>
              <a:t>	x = (</a:t>
            </a:r>
            <a:r>
              <a:rPr lang="zh-CN" altLang="en-US" sz="3600" b="1" dirty="0">
                <a:effectLst>
                  <a:outerShdw blurRad="38100" dist="38100" dir="2700000" algn="tl">
                    <a:srgbClr val="C0C0C0"/>
                  </a:outerShdw>
                </a:effectLst>
                <a:latin typeface="+mj-lt"/>
              </a:rPr>
              <a:t>？？？</a:t>
            </a:r>
            <a:r>
              <a:rPr lang="en-US" altLang="zh-CN" sz="3600" b="1" dirty="0">
                <a:effectLst>
                  <a:outerShdw blurRad="38100" dist="38100" dir="2700000" algn="tl">
                    <a:srgbClr val="C0C0C0"/>
                  </a:outerShdw>
                </a:effectLst>
                <a:latin typeface="+mj-lt"/>
              </a:rPr>
              <a:t>)</a:t>
            </a:r>
          </a:p>
          <a:p>
            <a:pPr eaLnBrk="0" hangingPunct="0">
              <a:spcBef>
                <a:spcPct val="50000"/>
              </a:spcBef>
            </a:pPr>
            <a:r>
              <a:rPr lang="en-US" altLang="zh-CN" sz="3600" b="1" dirty="0">
                <a:effectLst>
                  <a:outerShdw blurRad="38100" dist="38100" dir="2700000" algn="tl">
                    <a:srgbClr val="C0C0C0"/>
                  </a:outerShdw>
                </a:effectLst>
                <a:latin typeface="+mj-lt"/>
              </a:rPr>
              <a:t>	y = (</a:t>
            </a:r>
            <a:r>
              <a:rPr lang="zh-CN" altLang="en-US" sz="3600" b="1" dirty="0">
                <a:effectLst>
                  <a:outerShdw blurRad="38100" dist="38100" dir="2700000" algn="tl">
                    <a:srgbClr val="C0C0C0"/>
                  </a:outerShdw>
                </a:effectLst>
                <a:latin typeface="+mj-lt"/>
              </a:rPr>
              <a:t>？？？</a:t>
            </a:r>
            <a:r>
              <a:rPr lang="en-US" altLang="zh-CN" sz="3600" b="1" dirty="0">
                <a:effectLst>
                  <a:outerShdw blurRad="38100" dist="38100" dir="2700000" algn="tl">
                    <a:srgbClr val="C0C0C0"/>
                  </a:outerShdw>
                </a:effectLst>
                <a:latin typeface="+mj-lt"/>
              </a:rPr>
              <a:t>)</a:t>
            </a:r>
          </a:p>
          <a:p>
            <a:pPr eaLnBrk="0" hangingPunct="0">
              <a:spcBef>
                <a:spcPct val="50000"/>
              </a:spcBef>
            </a:pPr>
            <a:r>
              <a:rPr lang="en-US" altLang="zh-CN" sz="3600" b="1" dirty="0">
                <a:effectLst>
                  <a:outerShdw blurRad="38100" dist="38100" dir="2700000" algn="tl">
                    <a:srgbClr val="C0C0C0"/>
                  </a:outerShdw>
                </a:effectLst>
                <a:latin typeface="+mj-lt"/>
              </a:rPr>
              <a:t>	</a:t>
            </a:r>
          </a:p>
        </p:txBody>
      </p:sp>
      <p:grpSp>
        <p:nvGrpSpPr>
          <p:cNvPr id="64538" name="Group 26"/>
          <p:cNvGrpSpPr/>
          <p:nvPr/>
        </p:nvGrpSpPr>
        <p:grpSpPr bwMode="auto">
          <a:xfrm>
            <a:off x="3924300" y="990600"/>
            <a:ext cx="4129088" cy="4737100"/>
            <a:chOff x="2544" y="624"/>
            <a:chExt cx="2601" cy="2984"/>
          </a:xfrm>
        </p:grpSpPr>
        <p:sp>
          <p:nvSpPr>
            <p:cNvPr id="64519" name="Rectangle 7"/>
            <p:cNvSpPr>
              <a:spLocks noChangeArrowheads="1"/>
            </p:cNvSpPr>
            <p:nvPr/>
          </p:nvSpPr>
          <p:spPr bwMode="auto">
            <a:xfrm>
              <a:off x="2683" y="695"/>
              <a:ext cx="2193" cy="1419"/>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20" name="Rectangle 8"/>
            <p:cNvSpPr>
              <a:spLocks noChangeAspect="1" noChangeArrowheads="1"/>
            </p:cNvSpPr>
            <p:nvPr/>
          </p:nvSpPr>
          <p:spPr bwMode="auto">
            <a:xfrm>
              <a:off x="2561" y="2735"/>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CC00"/>
                  </a:solidFill>
                  <a:latin typeface="Dutch801 BT"/>
                </a:rPr>
                <a:t>b</a:t>
              </a:r>
              <a:endParaRPr lang="en-US" altLang="zh-CN"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4521" name="Rectangle 9"/>
            <p:cNvSpPr>
              <a:spLocks noChangeAspect="1" noChangeArrowheads="1"/>
            </p:cNvSpPr>
            <p:nvPr/>
          </p:nvSpPr>
          <p:spPr bwMode="auto">
            <a:xfrm>
              <a:off x="5056" y="3334"/>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CC00"/>
                  </a:solidFill>
                  <a:latin typeface="Dutch801 BT"/>
                </a:rPr>
                <a:t>a</a:t>
              </a:r>
              <a:endParaRPr lang="en-US" altLang="zh-CN"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4522" name="Line 10"/>
            <p:cNvSpPr>
              <a:spLocks noChangeAspect="1" noChangeShapeType="1"/>
            </p:cNvSpPr>
            <p:nvPr/>
          </p:nvSpPr>
          <p:spPr bwMode="auto">
            <a:xfrm>
              <a:off x="2693" y="2095"/>
              <a:ext cx="2214" cy="1466"/>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23" name="Line 11"/>
            <p:cNvSpPr>
              <a:spLocks noChangeAspect="1" noChangeShapeType="1"/>
            </p:cNvSpPr>
            <p:nvPr/>
          </p:nvSpPr>
          <p:spPr bwMode="auto">
            <a:xfrm>
              <a:off x="2688" y="2116"/>
              <a:ext cx="1075" cy="1419"/>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24" name="Rectangle 12"/>
            <p:cNvSpPr>
              <a:spLocks noChangeAspect="1" noChangeArrowheads="1"/>
            </p:cNvSpPr>
            <p:nvPr/>
          </p:nvSpPr>
          <p:spPr bwMode="auto">
            <a:xfrm>
              <a:off x="3461" y="230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FF0066"/>
                  </a:solidFill>
                  <a:latin typeface="Dutch801 BT"/>
                </a:rPr>
                <a:t>x</a:t>
              </a:r>
              <a:endParaRPr lang="en-US" altLang="zh-CN" sz="4400">
                <a:effectLst>
                  <a:outerShdw blurRad="38100" dist="38100" dir="2700000" algn="tl">
                    <a:srgbClr val="C0C0C0"/>
                  </a:outerShdw>
                </a:effectLst>
                <a:latin typeface="Times New Roman" panose="02020603050405020304" pitchFamily="18" charset="0"/>
              </a:endParaRPr>
            </a:p>
          </p:txBody>
        </p:sp>
        <p:sp>
          <p:nvSpPr>
            <p:cNvPr id="64525" name="Rectangle 13"/>
            <p:cNvSpPr>
              <a:spLocks noChangeAspect="1" noChangeArrowheads="1"/>
            </p:cNvSpPr>
            <p:nvPr/>
          </p:nvSpPr>
          <p:spPr bwMode="auto">
            <a:xfrm>
              <a:off x="3444" y="288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66FF"/>
                  </a:solidFill>
                  <a:latin typeface="Dutch801 BT"/>
                </a:rPr>
                <a:t>y</a:t>
              </a:r>
              <a:endParaRPr lang="en-US" altLang="zh-CN" sz="4400">
                <a:effectLst>
                  <a:outerShdw blurRad="38100" dist="38100" dir="2700000" algn="tl">
                    <a:srgbClr val="C0C0C0"/>
                  </a:outerShdw>
                </a:effectLst>
                <a:latin typeface="Times New Roman" panose="02020603050405020304" pitchFamily="18" charset="0"/>
              </a:endParaRPr>
            </a:p>
          </p:txBody>
        </p:sp>
        <p:sp>
          <p:nvSpPr>
            <p:cNvPr id="64526" name="Freeform 14"/>
            <p:cNvSpPr>
              <a:spLocks noChangeAspect="1"/>
            </p:cNvSpPr>
            <p:nvPr/>
          </p:nvSpPr>
          <p:spPr bwMode="auto">
            <a:xfrm>
              <a:off x="2681" y="1495"/>
              <a:ext cx="2330" cy="2055"/>
            </a:xfrm>
            <a:custGeom>
              <a:avLst/>
              <a:gdLst>
                <a:gd name="T0" fmla="*/ 0 w 865"/>
                <a:gd name="T1" fmla="*/ 0 h 728"/>
                <a:gd name="T2" fmla="*/ 0 w 865"/>
                <a:gd name="T3" fmla="*/ 728 h 728"/>
                <a:gd name="T4" fmla="*/ 865 w 865"/>
                <a:gd name="T5" fmla="*/ 728 h 728"/>
              </a:gdLst>
              <a:ahLst/>
              <a:cxnLst>
                <a:cxn ang="0">
                  <a:pos x="T0" y="T1"/>
                </a:cxn>
                <a:cxn ang="0">
                  <a:pos x="T2" y="T3"/>
                </a:cxn>
                <a:cxn ang="0">
                  <a:pos x="T4" y="T5"/>
                </a:cxn>
              </a:cxnLst>
              <a:rect l="0" t="0" r="r" b="b"/>
              <a:pathLst>
                <a:path w="865" h="728">
                  <a:moveTo>
                    <a:pt x="0" y="0"/>
                  </a:moveTo>
                  <a:lnTo>
                    <a:pt x="0" y="728"/>
                  </a:lnTo>
                  <a:lnTo>
                    <a:pt x="865" y="728"/>
                  </a:lnTo>
                </a:path>
              </a:pathLst>
            </a:custGeom>
            <a:noFill/>
            <a:ln w="12700" cmpd="sng">
              <a:solidFill>
                <a:srgbClr val="00CC00"/>
              </a:solidFill>
              <a:prstDash val="solid"/>
              <a:round/>
            </a:ln>
            <a:extLst>
              <a:ext uri="{909E8E84-426E-40DD-AFC4-6F175D3DCCD1}">
                <a14:hiddenFill xmlns:a14="http://schemas.microsoft.com/office/drawing/2010/main">
                  <a:solidFill>
                    <a:srgbClr val="FFFFFF"/>
                  </a:solidFill>
                </a14:hiddenFill>
              </a:ext>
            </a:extLst>
          </p:spPr>
          <p:txBody>
            <a:bodyPr/>
            <a:lstStyle/>
            <a:p>
              <a:endParaRPr lang="en-US"/>
            </a:p>
          </p:txBody>
        </p:sp>
        <p:pic>
          <p:nvPicPr>
            <p:cNvPr id="64527" name="Picture 15"/>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604" y="3461"/>
              <a:ext cx="144"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28" name="Picture 16"/>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604" y="2037"/>
              <a:ext cx="144"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29" name="Picture 17"/>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91" y="3461"/>
              <a:ext cx="144"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30" name="Picture 18"/>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91" y="2037"/>
              <a:ext cx="144"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31" name="Picture 19"/>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604" y="624"/>
              <a:ext cx="144"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32" name="Picture 20"/>
            <p:cNvPicPr>
              <a:picLocks noChangeAspect="1" noChangeArrowheads="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91" y="624"/>
              <a:ext cx="144"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533" name="Rectangle 21"/>
            <p:cNvSpPr>
              <a:spLocks noChangeAspect="1" noChangeArrowheads="1"/>
            </p:cNvSpPr>
            <p:nvPr/>
          </p:nvSpPr>
          <p:spPr bwMode="auto">
            <a:xfrm>
              <a:off x="2544" y="131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CC00"/>
                  </a:solidFill>
                  <a:latin typeface="Dutch801 BT"/>
                </a:rPr>
                <a:t>b</a:t>
              </a:r>
              <a:endParaRPr lang="en-US" altLang="zh-CN"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4534" name="Rectangle 22"/>
            <p:cNvSpPr>
              <a:spLocks noChangeAspect="1" noChangeArrowheads="1"/>
            </p:cNvSpPr>
            <p:nvPr/>
          </p:nvSpPr>
          <p:spPr bwMode="auto">
            <a:xfrm>
              <a:off x="3839" y="210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a:solidFill>
                    <a:srgbClr val="00CC00"/>
                  </a:solidFill>
                  <a:latin typeface="Dutch801 BT"/>
                </a:rPr>
                <a:t>a</a:t>
              </a:r>
              <a:endParaRPr lang="en-US" altLang="zh-CN" sz="4400">
                <a:solidFill>
                  <a:srgbClr val="00CC00"/>
                </a:solidFill>
                <a:effectLst>
                  <a:outerShdw blurRad="38100" dist="38100" dir="2700000" algn="tl">
                    <a:srgbClr val="C0C0C0"/>
                  </a:outerShdw>
                </a:effectLst>
                <a:latin typeface="Times New Roman" panose="02020603050405020304" pitchFamily="18" charset="0"/>
              </a:endParaRPr>
            </a:p>
          </p:txBody>
        </p:sp>
        <p:sp>
          <p:nvSpPr>
            <p:cNvPr id="64535" name="Text Box 23"/>
            <p:cNvSpPr txBox="1">
              <a:spLocks noChangeArrowheads="1"/>
            </p:cNvSpPr>
            <p:nvPr/>
          </p:nvSpPr>
          <p:spPr bwMode="auto">
            <a:xfrm>
              <a:off x="3460" y="1077"/>
              <a:ext cx="8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a:solidFill>
                    <a:srgbClr val="33CC33"/>
                  </a:solidFill>
                  <a:latin typeface="Times New Roman" panose="02020603050405020304" pitchFamily="18" charset="0"/>
                </a:rPr>
                <a:t>unit cell shape</a:t>
              </a:r>
            </a:p>
          </p:txBody>
        </p:sp>
      </p:grpSp>
      <p:sp>
        <p:nvSpPr>
          <p:cNvPr id="64536" name="Text Box 24"/>
          <p:cNvSpPr txBox="1">
            <a:spLocks noChangeArrowheads="1"/>
          </p:cNvSpPr>
          <p:nvPr/>
        </p:nvSpPr>
        <p:spPr bwMode="auto">
          <a:xfrm>
            <a:off x="4694238" y="5959475"/>
            <a:ext cx="296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rPr>
              <a:t>axial ratio = a:b = 1.60</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2" name="Text Box 6"/>
          <p:cNvSpPr txBox="1">
            <a:spLocks noChangeArrowheads="1"/>
          </p:cNvSpPr>
          <p:nvPr/>
        </p:nvSpPr>
        <p:spPr bwMode="auto">
          <a:xfrm>
            <a:off x="-10634" y="1180639"/>
            <a:ext cx="4322445"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n-US" altLang="zh-CN" sz="2800" b="1" dirty="0">
                <a:effectLst>
                  <a:outerShdw blurRad="38100" dist="38100" dir="2700000" algn="tl">
                    <a:srgbClr val="C0C0C0"/>
                  </a:outerShdw>
                </a:effectLst>
                <a:latin typeface="+mj-ea"/>
                <a:ea typeface="+mj-ea"/>
              </a:rPr>
              <a:t>	XYZ = (1 1 1)</a:t>
            </a:r>
          </a:p>
          <a:p>
            <a:pPr eaLnBrk="0" hangingPunct="0">
              <a:spcBef>
                <a:spcPct val="50000"/>
              </a:spcBef>
            </a:pPr>
            <a:r>
              <a:rPr lang="en-US" altLang="zh-CN" sz="2800" b="1" dirty="0">
                <a:effectLst>
                  <a:outerShdw blurRad="38100" dist="38100" dir="2700000" algn="tl">
                    <a:srgbClr val="C0C0C0"/>
                  </a:outerShdw>
                </a:effectLst>
                <a:latin typeface="+mj-ea"/>
                <a:ea typeface="+mj-ea"/>
              </a:rPr>
              <a:t>	ABC = (h k l) = ?</a:t>
            </a:r>
          </a:p>
        </p:txBody>
      </p:sp>
      <p:grpSp>
        <p:nvGrpSpPr>
          <p:cNvPr id="65597" name="Group 61"/>
          <p:cNvGrpSpPr/>
          <p:nvPr/>
        </p:nvGrpSpPr>
        <p:grpSpPr bwMode="auto">
          <a:xfrm>
            <a:off x="3203575" y="1052513"/>
            <a:ext cx="5305425" cy="5037137"/>
            <a:chOff x="2018" y="663"/>
            <a:chExt cx="3342" cy="3173"/>
          </a:xfrm>
        </p:grpSpPr>
        <p:grpSp>
          <p:nvGrpSpPr>
            <p:cNvPr id="65596" name="Group 60"/>
            <p:cNvGrpSpPr/>
            <p:nvPr/>
          </p:nvGrpSpPr>
          <p:grpSpPr bwMode="auto">
            <a:xfrm>
              <a:off x="2359" y="1178"/>
              <a:ext cx="2501" cy="2312"/>
              <a:chOff x="2359" y="1178"/>
              <a:chExt cx="2501" cy="2312"/>
            </a:xfrm>
          </p:grpSpPr>
          <p:sp>
            <p:nvSpPr>
              <p:cNvPr id="65545" name="Line 9"/>
              <p:cNvSpPr>
                <a:spLocks noChangeShapeType="1"/>
              </p:cNvSpPr>
              <p:nvPr/>
            </p:nvSpPr>
            <p:spPr bwMode="auto">
              <a:xfrm>
                <a:off x="3375" y="2358"/>
                <a:ext cx="109" cy="1"/>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46" name="Line 10"/>
              <p:cNvSpPr>
                <a:spLocks noChangeShapeType="1"/>
              </p:cNvSpPr>
              <p:nvPr/>
            </p:nvSpPr>
            <p:spPr bwMode="auto">
              <a:xfrm>
                <a:off x="3375" y="1946"/>
                <a:ext cx="109" cy="1"/>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47" name="Line 11"/>
              <p:cNvSpPr>
                <a:spLocks noChangeShapeType="1"/>
              </p:cNvSpPr>
              <p:nvPr/>
            </p:nvSpPr>
            <p:spPr bwMode="auto">
              <a:xfrm>
                <a:off x="3375" y="1590"/>
                <a:ext cx="109" cy="1"/>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48" name="Line 12"/>
              <p:cNvSpPr>
                <a:spLocks noChangeShapeType="1"/>
              </p:cNvSpPr>
              <p:nvPr/>
            </p:nvSpPr>
            <p:spPr bwMode="auto">
              <a:xfrm flipH="1">
                <a:off x="3735" y="2871"/>
                <a:ext cx="53" cy="56"/>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49" name="Line 13"/>
              <p:cNvSpPr>
                <a:spLocks noChangeShapeType="1"/>
              </p:cNvSpPr>
              <p:nvPr/>
            </p:nvSpPr>
            <p:spPr bwMode="auto">
              <a:xfrm flipH="1">
                <a:off x="4086" y="3047"/>
                <a:ext cx="62" cy="60"/>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0" name="Line 14"/>
              <p:cNvSpPr>
                <a:spLocks noChangeShapeType="1"/>
              </p:cNvSpPr>
              <p:nvPr/>
            </p:nvSpPr>
            <p:spPr bwMode="auto">
              <a:xfrm flipH="1">
                <a:off x="4455" y="3232"/>
                <a:ext cx="53" cy="70"/>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1" name="Line 15"/>
              <p:cNvSpPr>
                <a:spLocks noChangeShapeType="1"/>
              </p:cNvSpPr>
              <p:nvPr/>
            </p:nvSpPr>
            <p:spPr bwMode="auto">
              <a:xfrm flipH="1">
                <a:off x="4795" y="3421"/>
                <a:ext cx="65" cy="69"/>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2" name="Line 16"/>
              <p:cNvSpPr>
                <a:spLocks noChangeShapeType="1"/>
              </p:cNvSpPr>
              <p:nvPr/>
            </p:nvSpPr>
            <p:spPr bwMode="auto">
              <a:xfrm>
                <a:off x="3142" y="2861"/>
                <a:ext cx="65" cy="57"/>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3" name="Line 17"/>
              <p:cNvSpPr>
                <a:spLocks noChangeShapeType="1"/>
              </p:cNvSpPr>
              <p:nvPr/>
            </p:nvSpPr>
            <p:spPr bwMode="auto">
              <a:xfrm>
                <a:off x="2867" y="3066"/>
                <a:ext cx="53" cy="69"/>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4" name="Line 18"/>
              <p:cNvSpPr>
                <a:spLocks noChangeShapeType="1"/>
              </p:cNvSpPr>
              <p:nvPr/>
            </p:nvSpPr>
            <p:spPr bwMode="auto">
              <a:xfrm>
                <a:off x="2590" y="3232"/>
                <a:ext cx="73" cy="92"/>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5" name="Line 19"/>
              <p:cNvSpPr>
                <a:spLocks noChangeShapeType="1"/>
              </p:cNvSpPr>
              <p:nvPr/>
            </p:nvSpPr>
            <p:spPr bwMode="auto">
              <a:xfrm>
                <a:off x="2359" y="3421"/>
                <a:ext cx="45" cy="69"/>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6" name="Line 20"/>
              <p:cNvSpPr>
                <a:spLocks noChangeShapeType="1"/>
              </p:cNvSpPr>
              <p:nvPr/>
            </p:nvSpPr>
            <p:spPr bwMode="auto">
              <a:xfrm>
                <a:off x="3375" y="1178"/>
                <a:ext cx="109" cy="1"/>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grpSp>
        <p:grpSp>
          <p:nvGrpSpPr>
            <p:cNvPr id="65577" name="Group 41"/>
            <p:cNvGrpSpPr/>
            <p:nvPr/>
          </p:nvGrpSpPr>
          <p:grpSpPr bwMode="auto">
            <a:xfrm>
              <a:off x="2018" y="663"/>
              <a:ext cx="3342" cy="3173"/>
              <a:chOff x="2019" y="647"/>
              <a:chExt cx="3342" cy="3173"/>
            </a:xfrm>
          </p:grpSpPr>
          <p:sp>
            <p:nvSpPr>
              <p:cNvPr id="65543" name="Freeform 7"/>
              <p:cNvSpPr/>
              <p:nvPr/>
            </p:nvSpPr>
            <p:spPr bwMode="auto">
              <a:xfrm>
                <a:off x="3428" y="822"/>
                <a:ext cx="1774" cy="2835"/>
              </a:xfrm>
              <a:custGeom>
                <a:avLst/>
                <a:gdLst>
                  <a:gd name="T0" fmla="*/ 0 w 1774"/>
                  <a:gd name="T1" fmla="*/ 0 h 2835"/>
                  <a:gd name="T2" fmla="*/ 0 w 1774"/>
                  <a:gd name="T3" fmla="*/ 1891 h 2835"/>
                  <a:gd name="T4" fmla="*/ 1774 w 1774"/>
                  <a:gd name="T5" fmla="*/ 2835 h 2835"/>
                </a:gdLst>
                <a:ahLst/>
                <a:cxnLst>
                  <a:cxn ang="0">
                    <a:pos x="T0" y="T1"/>
                  </a:cxn>
                  <a:cxn ang="0">
                    <a:pos x="T2" y="T3"/>
                  </a:cxn>
                  <a:cxn ang="0">
                    <a:pos x="T4" y="T5"/>
                  </a:cxn>
                </a:cxnLst>
                <a:rect l="0" t="0" r="r" b="b"/>
                <a:pathLst>
                  <a:path w="1774" h="2835">
                    <a:moveTo>
                      <a:pt x="0" y="0"/>
                    </a:moveTo>
                    <a:lnTo>
                      <a:pt x="0" y="1891"/>
                    </a:lnTo>
                    <a:lnTo>
                      <a:pt x="1774" y="2835"/>
                    </a:lnTo>
                  </a:path>
                </a:pathLst>
              </a:custGeom>
              <a:noFill/>
              <a:ln w="0">
                <a:solidFill>
                  <a:schemeClr val="tx2"/>
                </a:solidFill>
                <a:prstDash val="solid"/>
                <a:rou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44" name="Line 8"/>
              <p:cNvSpPr>
                <a:spLocks noChangeShapeType="1"/>
              </p:cNvSpPr>
              <p:nvPr/>
            </p:nvSpPr>
            <p:spPr bwMode="auto">
              <a:xfrm flipH="1">
                <a:off x="2100" y="2713"/>
                <a:ext cx="1328" cy="944"/>
              </a:xfrm>
              <a:prstGeom prst="line">
                <a:avLst/>
              </a:prstGeom>
              <a:noFill/>
              <a:ln w="0">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65557" name="Freeform 21"/>
              <p:cNvSpPr/>
              <p:nvPr/>
            </p:nvSpPr>
            <p:spPr bwMode="auto">
              <a:xfrm>
                <a:off x="2894" y="1955"/>
                <a:ext cx="1219" cy="1142"/>
              </a:xfrm>
              <a:custGeom>
                <a:avLst/>
                <a:gdLst>
                  <a:gd name="T0" fmla="*/ 534 w 1219"/>
                  <a:gd name="T1" fmla="*/ 0 h 1142"/>
                  <a:gd name="T2" fmla="*/ 1219 w 1219"/>
                  <a:gd name="T3" fmla="*/ 1130 h 1142"/>
                  <a:gd name="T4" fmla="*/ 0 w 1219"/>
                  <a:gd name="T5" fmla="*/ 1142 h 1142"/>
                  <a:gd name="T6" fmla="*/ 534 w 1219"/>
                  <a:gd name="T7" fmla="*/ 0 h 1142"/>
                </a:gdLst>
                <a:ahLst/>
                <a:cxnLst>
                  <a:cxn ang="0">
                    <a:pos x="T0" y="T1"/>
                  </a:cxn>
                  <a:cxn ang="0">
                    <a:pos x="T2" y="T3"/>
                  </a:cxn>
                  <a:cxn ang="0">
                    <a:pos x="T4" y="T5"/>
                  </a:cxn>
                  <a:cxn ang="0">
                    <a:pos x="T6" y="T7"/>
                  </a:cxn>
                </a:cxnLst>
                <a:rect l="0" t="0" r="r" b="b"/>
                <a:pathLst>
                  <a:path w="1219" h="1142">
                    <a:moveTo>
                      <a:pt x="534" y="0"/>
                    </a:moveTo>
                    <a:lnTo>
                      <a:pt x="1219" y="1130"/>
                    </a:lnTo>
                    <a:lnTo>
                      <a:pt x="0" y="1142"/>
                    </a:lnTo>
                    <a:lnTo>
                      <a:pt x="534" y="0"/>
                    </a:lnTo>
                  </a:path>
                </a:pathLst>
              </a:custGeom>
              <a:noFill/>
              <a:ln w="0">
                <a:solidFill>
                  <a:srgbClr val="00CC00"/>
                </a:solidFill>
                <a:prstDash val="solid"/>
                <a:rou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58" name="Freeform 22"/>
              <p:cNvSpPr/>
              <p:nvPr/>
            </p:nvSpPr>
            <p:spPr bwMode="auto">
              <a:xfrm>
                <a:off x="3180" y="1600"/>
                <a:ext cx="1653" cy="1859"/>
              </a:xfrm>
              <a:custGeom>
                <a:avLst/>
                <a:gdLst>
                  <a:gd name="T0" fmla="*/ 248 w 1653"/>
                  <a:gd name="T1" fmla="*/ 0 h 1859"/>
                  <a:gd name="T2" fmla="*/ 1653 w 1653"/>
                  <a:gd name="T3" fmla="*/ 1859 h 1859"/>
                  <a:gd name="T4" fmla="*/ 0 w 1653"/>
                  <a:gd name="T5" fmla="*/ 1308 h 1859"/>
                  <a:gd name="T6" fmla="*/ 248 w 1653"/>
                  <a:gd name="T7" fmla="*/ 0 h 1859"/>
                </a:gdLst>
                <a:ahLst/>
                <a:cxnLst>
                  <a:cxn ang="0">
                    <a:pos x="T0" y="T1"/>
                  </a:cxn>
                  <a:cxn ang="0">
                    <a:pos x="T2" y="T3"/>
                  </a:cxn>
                  <a:cxn ang="0">
                    <a:pos x="T4" y="T5"/>
                  </a:cxn>
                  <a:cxn ang="0">
                    <a:pos x="T6" y="T7"/>
                  </a:cxn>
                </a:cxnLst>
                <a:rect l="0" t="0" r="r" b="b"/>
                <a:pathLst>
                  <a:path w="1653" h="1859">
                    <a:moveTo>
                      <a:pt x="248" y="0"/>
                    </a:moveTo>
                    <a:lnTo>
                      <a:pt x="1653" y="1859"/>
                    </a:lnTo>
                    <a:lnTo>
                      <a:pt x="0" y="1308"/>
                    </a:lnTo>
                    <a:lnTo>
                      <a:pt x="248" y="0"/>
                    </a:lnTo>
                  </a:path>
                </a:pathLst>
              </a:custGeom>
              <a:noFill/>
              <a:ln w="0">
                <a:solidFill>
                  <a:srgbClr val="FF0066"/>
                </a:solidFill>
                <a:prstDash val="solid"/>
                <a:rou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59" name="Rectangle 23"/>
              <p:cNvSpPr>
                <a:spLocks noChangeArrowheads="1"/>
              </p:cNvSpPr>
              <p:nvPr/>
            </p:nvSpPr>
            <p:spPr bwMode="auto">
              <a:xfrm>
                <a:off x="3400" y="64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chemeClr val="tx2"/>
                    </a:solidFill>
                    <a:latin typeface="Dutch801 BT"/>
                  </a:rPr>
                  <a:t>c</a:t>
                </a:r>
                <a:endParaRPr lang="en-US" altLang="zh-CN" sz="2400">
                  <a:solidFill>
                    <a:schemeClr val="tx2"/>
                  </a:solidFill>
                  <a:effectLst>
                    <a:outerShdw blurRad="38100" dist="38100" dir="2700000" algn="tl">
                      <a:srgbClr val="C0C0C0"/>
                    </a:outerShdw>
                  </a:effectLst>
                  <a:latin typeface="Times New Roman" panose="02020603050405020304" pitchFamily="18" charset="0"/>
                </a:endParaRPr>
              </a:p>
            </p:txBody>
          </p:sp>
          <p:sp>
            <p:nvSpPr>
              <p:cNvPr id="65560" name="Rectangle 24"/>
              <p:cNvSpPr>
                <a:spLocks noChangeArrowheads="1"/>
              </p:cNvSpPr>
              <p:nvPr/>
            </p:nvSpPr>
            <p:spPr bwMode="auto">
              <a:xfrm>
                <a:off x="5285" y="3657"/>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chemeClr val="tx2"/>
                    </a:solidFill>
                    <a:latin typeface="Dutch801 BT"/>
                  </a:rPr>
                  <a:t>b</a:t>
                </a:r>
                <a:endParaRPr lang="en-US" altLang="zh-CN" sz="2400">
                  <a:solidFill>
                    <a:schemeClr val="tx2"/>
                  </a:solidFill>
                  <a:effectLst>
                    <a:outerShdw blurRad="38100" dist="38100" dir="2700000" algn="tl">
                      <a:srgbClr val="C0C0C0"/>
                    </a:outerShdw>
                  </a:effectLst>
                  <a:latin typeface="Times New Roman" panose="02020603050405020304" pitchFamily="18" charset="0"/>
                </a:endParaRPr>
              </a:p>
            </p:txBody>
          </p:sp>
          <p:sp>
            <p:nvSpPr>
              <p:cNvPr id="65561" name="Rectangle 25"/>
              <p:cNvSpPr>
                <a:spLocks noChangeArrowheads="1"/>
              </p:cNvSpPr>
              <p:nvPr/>
            </p:nvSpPr>
            <p:spPr bwMode="auto">
              <a:xfrm>
                <a:off x="2019" y="3614"/>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chemeClr val="tx2"/>
                    </a:solidFill>
                    <a:latin typeface="Dutch801 BT"/>
                  </a:rPr>
                  <a:t>a</a:t>
                </a:r>
                <a:endParaRPr lang="en-US" altLang="zh-CN" sz="2400">
                  <a:solidFill>
                    <a:schemeClr val="tx2"/>
                  </a:solidFill>
                  <a:effectLst>
                    <a:outerShdw blurRad="38100" dist="38100" dir="2700000" algn="tl">
                      <a:srgbClr val="C0C0C0"/>
                    </a:outerShdw>
                  </a:effectLst>
                  <a:latin typeface="Times New Roman" panose="02020603050405020304" pitchFamily="18" charset="0"/>
                </a:endParaRPr>
              </a:p>
            </p:txBody>
          </p:sp>
          <p:sp>
            <p:nvSpPr>
              <p:cNvPr id="65562" name="Rectangle 26"/>
              <p:cNvSpPr>
                <a:spLocks noChangeArrowheads="1"/>
              </p:cNvSpPr>
              <p:nvPr/>
            </p:nvSpPr>
            <p:spPr bwMode="auto">
              <a:xfrm>
                <a:off x="3502" y="2613"/>
                <a:ext cx="10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chemeClr val="tx2"/>
                    </a:solidFill>
                    <a:latin typeface="Dutch801 BT"/>
                  </a:rPr>
                  <a:t>O</a:t>
                </a:r>
                <a:endParaRPr lang="en-US" altLang="zh-CN" sz="2400">
                  <a:solidFill>
                    <a:schemeClr val="tx2"/>
                  </a:solidFill>
                  <a:effectLst>
                    <a:outerShdw blurRad="38100" dist="38100" dir="2700000" algn="tl">
                      <a:srgbClr val="C0C0C0"/>
                    </a:outerShdw>
                  </a:effectLst>
                  <a:latin typeface="Times New Roman" panose="02020603050405020304" pitchFamily="18" charset="0"/>
                </a:endParaRPr>
              </a:p>
            </p:txBody>
          </p:sp>
          <p:sp>
            <p:nvSpPr>
              <p:cNvPr id="65563" name="Rectangle 27"/>
              <p:cNvSpPr>
                <a:spLocks noChangeArrowheads="1"/>
              </p:cNvSpPr>
              <p:nvPr/>
            </p:nvSpPr>
            <p:spPr bwMode="auto">
              <a:xfrm>
                <a:off x="4139" y="2899"/>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rgbClr val="00CC00"/>
                    </a:solidFill>
                    <a:latin typeface="Dutch801 BT"/>
                  </a:rPr>
                  <a:t>Y</a:t>
                </a:r>
                <a:endParaRPr lang="en-US" altLang="zh-CN" sz="2400">
                  <a:solidFill>
                    <a:srgbClr val="00CC00"/>
                  </a:solidFill>
                  <a:effectLst>
                    <a:outerShdw blurRad="38100" dist="38100" dir="2700000" algn="tl">
                      <a:srgbClr val="C0C0C0"/>
                    </a:outerShdw>
                  </a:effectLst>
                  <a:latin typeface="Times New Roman" panose="02020603050405020304" pitchFamily="18" charset="0"/>
                </a:endParaRPr>
              </a:p>
            </p:txBody>
          </p:sp>
          <p:sp>
            <p:nvSpPr>
              <p:cNvPr id="65564" name="Rectangle 28"/>
              <p:cNvSpPr>
                <a:spLocks noChangeArrowheads="1"/>
              </p:cNvSpPr>
              <p:nvPr/>
            </p:nvSpPr>
            <p:spPr bwMode="auto">
              <a:xfrm>
                <a:off x="2802" y="291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rgbClr val="00CC00"/>
                    </a:solidFill>
                    <a:latin typeface="Dutch801 BT"/>
                  </a:rPr>
                  <a:t>X</a:t>
                </a:r>
                <a:endParaRPr lang="en-US" altLang="zh-CN" sz="2400">
                  <a:solidFill>
                    <a:srgbClr val="00CC00"/>
                  </a:solidFill>
                  <a:effectLst>
                    <a:outerShdw blurRad="38100" dist="38100" dir="2700000" algn="tl">
                      <a:srgbClr val="C0C0C0"/>
                    </a:outerShdw>
                  </a:effectLst>
                  <a:latin typeface="Times New Roman" panose="02020603050405020304" pitchFamily="18" charset="0"/>
                </a:endParaRPr>
              </a:p>
            </p:txBody>
          </p:sp>
          <p:sp>
            <p:nvSpPr>
              <p:cNvPr id="65565" name="Rectangle 29"/>
              <p:cNvSpPr>
                <a:spLocks noChangeArrowheads="1"/>
              </p:cNvSpPr>
              <p:nvPr/>
            </p:nvSpPr>
            <p:spPr bwMode="auto">
              <a:xfrm>
                <a:off x="3502" y="1895"/>
                <a:ext cx="8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rgbClr val="00CC00"/>
                    </a:solidFill>
                    <a:latin typeface="Dutch801 BT"/>
                  </a:rPr>
                  <a:t>Z</a:t>
                </a:r>
                <a:endParaRPr lang="en-US" altLang="zh-CN" sz="2400">
                  <a:solidFill>
                    <a:srgbClr val="00CC00"/>
                  </a:solidFill>
                  <a:effectLst>
                    <a:outerShdw blurRad="38100" dist="38100" dir="2700000" algn="tl">
                      <a:srgbClr val="C0C0C0"/>
                    </a:outerShdw>
                  </a:effectLst>
                  <a:latin typeface="Times New Roman" panose="02020603050405020304" pitchFamily="18" charset="0"/>
                </a:endParaRPr>
              </a:p>
            </p:txBody>
          </p:sp>
          <p:sp>
            <p:nvSpPr>
              <p:cNvPr id="65566" name="Rectangle 30"/>
              <p:cNvSpPr>
                <a:spLocks noChangeArrowheads="1"/>
              </p:cNvSpPr>
              <p:nvPr/>
            </p:nvSpPr>
            <p:spPr bwMode="auto">
              <a:xfrm>
                <a:off x="3087" y="2705"/>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rgbClr val="FF0066"/>
                    </a:solidFill>
                    <a:latin typeface="Dutch801 BT"/>
                  </a:rPr>
                  <a:t>A</a:t>
                </a:r>
                <a:endParaRPr lang="en-US" altLang="zh-CN" sz="2400">
                  <a:solidFill>
                    <a:srgbClr val="FF0066"/>
                  </a:solidFill>
                  <a:effectLst>
                    <a:outerShdw blurRad="38100" dist="38100" dir="2700000" algn="tl">
                      <a:srgbClr val="C0C0C0"/>
                    </a:outerShdw>
                  </a:effectLst>
                  <a:latin typeface="Times New Roman" panose="02020603050405020304" pitchFamily="18" charset="0"/>
                </a:endParaRPr>
              </a:p>
            </p:txBody>
          </p:sp>
          <p:sp>
            <p:nvSpPr>
              <p:cNvPr id="65567" name="Rectangle 31"/>
              <p:cNvSpPr>
                <a:spLocks noChangeArrowheads="1"/>
              </p:cNvSpPr>
              <p:nvPr/>
            </p:nvSpPr>
            <p:spPr bwMode="auto">
              <a:xfrm>
                <a:off x="4846" y="3266"/>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rgbClr val="FF0066"/>
                    </a:solidFill>
                    <a:latin typeface="Dutch801 BT"/>
                  </a:rPr>
                  <a:t>B</a:t>
                </a:r>
                <a:endParaRPr lang="en-US" altLang="zh-CN" sz="2400">
                  <a:solidFill>
                    <a:srgbClr val="FF0066"/>
                  </a:solidFill>
                  <a:effectLst>
                    <a:outerShdw blurRad="38100" dist="38100" dir="2700000" algn="tl">
                      <a:srgbClr val="C0C0C0"/>
                    </a:outerShdw>
                  </a:effectLst>
                  <a:latin typeface="Times New Roman" panose="02020603050405020304" pitchFamily="18" charset="0"/>
                </a:endParaRPr>
              </a:p>
            </p:txBody>
          </p:sp>
          <p:sp>
            <p:nvSpPr>
              <p:cNvPr id="65568" name="Rectangle 32"/>
              <p:cNvSpPr>
                <a:spLocks noChangeArrowheads="1"/>
              </p:cNvSpPr>
              <p:nvPr/>
            </p:nvSpPr>
            <p:spPr bwMode="auto">
              <a:xfrm>
                <a:off x="3531" y="1471"/>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1700">
                    <a:solidFill>
                      <a:srgbClr val="FF0066"/>
                    </a:solidFill>
                    <a:latin typeface="Dutch801 BT"/>
                  </a:rPr>
                  <a:t>C</a:t>
                </a:r>
                <a:endParaRPr lang="en-US" altLang="zh-CN" sz="2400">
                  <a:solidFill>
                    <a:srgbClr val="FF0066"/>
                  </a:solidFill>
                  <a:effectLst>
                    <a:outerShdw blurRad="38100" dist="38100" dir="2700000" algn="tl">
                      <a:srgbClr val="C0C0C0"/>
                    </a:outerShdw>
                  </a:effectLst>
                  <a:latin typeface="Times New Roman" panose="02020603050405020304" pitchFamily="18" charset="0"/>
                </a:endParaRPr>
              </a:p>
            </p:txBody>
          </p:sp>
        </p:grpSp>
      </p:grpSp>
      <p:sp>
        <p:nvSpPr>
          <p:cNvPr id="3" name="Rectangle 4"/>
          <p:cNvSpPr>
            <a:spLocks noGrp="1" noChangeArrowheads="1"/>
          </p:cNvSpPr>
          <p:nvPr/>
        </p:nvSpPr>
        <p:spPr>
          <a:xfrm>
            <a:off x="0" y="0"/>
            <a:ext cx="8644890" cy="800100"/>
          </a:xfrm>
          <a:prstGeom prst="rect">
            <a:avLst/>
          </a:prstGeom>
          <a:noFill/>
        </p:spPr>
        <p:txBody>
          <a:bodyPr vert="horz" lIns="91440" tIns="45720" rIns="91440" bIns="45720" rtlCol="0" anchor="b">
            <a:normAutofit fontScale="90000"/>
          </a:bodyPr>
          <a:lstStyle>
            <a:lvl1pPr algn="ctr" rtl="0" eaLnBrk="1" fontAlgn="auto" hangingPunct="1">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lgn="l"/>
            <a:r>
              <a:rPr lang="zh-CN" altLang="en-US" sz="3600" dirty="0"/>
              <a:t>P</a:t>
            </a:r>
            <a:r>
              <a:rPr altLang="zh-CN" sz="3600" dirty="0"/>
              <a:t>ractice5</a:t>
            </a:r>
            <a:r>
              <a:rPr lang="zh-CN" altLang="en-US" sz="3600" dirty="0"/>
              <a:t>：</a:t>
            </a:r>
            <a:r>
              <a:rPr altLang="zh-CN" sz="3600" dirty="0"/>
              <a:t>denotation of plane </a:t>
            </a:r>
            <a:endParaRPr altLang="zh-CN" sz="3600" b="1" dirty="0"/>
          </a:p>
        </p:txBody>
      </p:sp>
      <p:sp>
        <p:nvSpPr>
          <p:cNvPr id="33" name="Text Box 6">
            <a:extLst>
              <a:ext uri="{FF2B5EF4-FFF2-40B4-BE49-F238E27FC236}">
                <a16:creationId xmlns:a16="http://schemas.microsoft.com/office/drawing/2014/main" id="{278C5246-E234-4BFB-A47E-B8A80DEA9D3B}"/>
              </a:ext>
            </a:extLst>
          </p:cNvPr>
          <p:cNvSpPr txBox="1">
            <a:spLocks noChangeArrowheads="1"/>
          </p:cNvSpPr>
          <p:nvPr/>
        </p:nvSpPr>
        <p:spPr bwMode="auto">
          <a:xfrm>
            <a:off x="-10634" y="3190192"/>
            <a:ext cx="432244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n-US" altLang="zh-CN" sz="2800" b="1" dirty="0">
                <a:effectLst>
                  <a:outerShdw blurRad="38100" dist="38100" dir="2700000" algn="tl">
                    <a:srgbClr val="C0C0C0"/>
                  </a:outerShdw>
                </a:effectLst>
                <a:latin typeface="+mj-ea"/>
                <a:ea typeface="+mj-ea"/>
              </a:rPr>
              <a:t>	How about</a:t>
            </a:r>
          </a:p>
          <a:p>
            <a:pPr eaLnBrk="0" hangingPunct="0">
              <a:spcBef>
                <a:spcPct val="50000"/>
              </a:spcBef>
            </a:pPr>
            <a:r>
              <a:rPr lang="en-US" altLang="zh-CN" sz="2800" b="1" dirty="0">
                <a:effectLst>
                  <a:outerShdw blurRad="38100" dist="38100" dir="2700000" algn="tl">
                    <a:srgbClr val="C0C0C0"/>
                  </a:outerShdw>
                </a:effectLst>
                <a:latin typeface="+mj-ea"/>
                <a:ea typeface="+mj-ea"/>
              </a:rPr>
              <a:t>	XYZ = (1 2 3)</a:t>
            </a:r>
          </a:p>
          <a:p>
            <a:pPr eaLnBrk="0" hangingPunct="0">
              <a:spcBef>
                <a:spcPct val="50000"/>
              </a:spcBef>
            </a:pPr>
            <a:r>
              <a:rPr lang="en-US" altLang="zh-CN" sz="2800" b="1" dirty="0">
                <a:effectLst>
                  <a:outerShdw blurRad="38100" dist="38100" dir="2700000" algn="tl">
                    <a:srgbClr val="C0C0C0"/>
                  </a:outerShdw>
                </a:effectLst>
                <a:latin typeface="+mj-ea"/>
                <a:ea typeface="+mj-ea"/>
              </a:rPr>
              <a:t>	ABC = (h k l)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50" name="Rectangle 2"/>
          <p:cNvSpPr>
            <a:spLocks noGrp="1" noChangeArrowheads="1"/>
          </p:cNvSpPr>
          <p:nvPr>
            <p:ph type="body" sz="half" idx="1"/>
          </p:nvPr>
        </p:nvSpPr>
        <p:spPr>
          <a:xfrm>
            <a:off x="0" y="1052830"/>
            <a:ext cx="5345430" cy="5472514"/>
          </a:xfrm>
        </p:spPr>
        <p:txBody>
          <a:bodyPr/>
          <a:lstStyle/>
          <a:p>
            <a:pPr algn="just" latinLnBrk="0">
              <a:lnSpc>
                <a:spcPct val="100000"/>
              </a:lnSpc>
              <a:spcBef>
                <a:spcPts val="0"/>
              </a:spcBef>
              <a:buFont typeface="Wingdings" panose="05000000000000000000" pitchFamily="2" charset="2"/>
              <a:buNone/>
            </a:pPr>
            <a:r>
              <a:rPr lang="en-US" altLang="zh-CN" sz="1800" dirty="0">
                <a:latin typeface="Arial" panose="020B0604020202020204" pitchFamily="34" charset="0"/>
                <a:sym typeface="+mn-ea"/>
              </a:rPr>
              <a:t>Consider the HKL plane in the right figure. Get the </a:t>
            </a:r>
            <a:r>
              <a:rPr lang="en-US" altLang="zh-CN" sz="1800" dirty="0">
                <a:solidFill>
                  <a:srgbClr val="FF0000"/>
                </a:solidFill>
                <a:latin typeface="Arial" panose="020B0604020202020204" pitchFamily="34" charset="0"/>
                <a:sym typeface="+mn-ea"/>
              </a:rPr>
              <a:t>intercepts</a:t>
            </a:r>
            <a:r>
              <a:rPr lang="en-US" altLang="zh-CN" sz="1800" dirty="0">
                <a:latin typeface="Arial" panose="020B0604020202020204" pitchFamily="34" charset="0"/>
                <a:sym typeface="+mn-ea"/>
              </a:rPr>
              <a:t> of the plane on the axes X, Y and Z, which are 2a,3b and 6c, respectively. Thus the corresponding intercept</a:t>
            </a:r>
            <a:r>
              <a:rPr lang="en-US" altLang="zh-CN" sz="1800" b="1" dirty="0">
                <a:latin typeface="Arial" panose="020B0604020202020204" pitchFamily="34" charset="0"/>
              </a:rPr>
              <a:t> coefficients and their reciprocals are (</a:t>
            </a:r>
            <a:r>
              <a:rPr lang="en-US" altLang="zh-CN" sz="1800" dirty="0">
                <a:latin typeface="Arial" panose="020B0604020202020204" pitchFamily="34" charset="0"/>
                <a:sym typeface="+mn-ea"/>
              </a:rPr>
              <a:t>2,3, 6) and (1/2,1/3,1/6), respectively.</a:t>
            </a:r>
            <a:r>
              <a:rPr lang="en-US" altLang="zh-CN" sz="1800" b="1" dirty="0">
                <a:latin typeface="Arial" panose="020B0604020202020204" pitchFamily="34" charset="0"/>
              </a:rPr>
              <a:t>  After the reduction of the reciprocals to the simplest interger ratio</a:t>
            </a:r>
            <a:r>
              <a:rPr lang="en-US" altLang="zh-CN" sz="1800" dirty="0">
                <a:latin typeface="Arial" panose="020B0604020202020204" pitchFamily="34" charset="0"/>
              </a:rPr>
              <a:t>, the Miler index of the plane can be obtained as (321).</a:t>
            </a:r>
            <a:r>
              <a:rPr lang="zh-CN" altLang="en-US" sz="3200" dirty="0"/>
              <a:t> </a:t>
            </a:r>
            <a:r>
              <a:rPr lang="zh-CN" altLang="en-US" sz="2800" dirty="0"/>
              <a:t>  </a:t>
            </a:r>
          </a:p>
          <a:p>
            <a:pPr algn="just">
              <a:lnSpc>
                <a:spcPct val="130000"/>
              </a:lnSpc>
              <a:buFont typeface="Wingdings" panose="05000000000000000000" pitchFamily="2" charset="2"/>
              <a:buNone/>
            </a:pPr>
            <a:r>
              <a:rPr lang="en-US" altLang="zh-CN" sz="1800" dirty="0">
                <a:solidFill>
                  <a:srgbClr val="0000FF"/>
                </a:solidFill>
              </a:rPr>
              <a:t>Note:</a:t>
            </a:r>
            <a:r>
              <a:rPr lang="en-US" altLang="zh-CN" sz="2800" dirty="0">
                <a:solidFill>
                  <a:srgbClr val="0000FF"/>
                </a:solidFill>
              </a:rPr>
              <a:t> </a:t>
            </a:r>
            <a:r>
              <a:rPr lang="en-US" altLang="zh-CN" sz="1800" dirty="0">
                <a:solidFill>
                  <a:schemeClr val="tx1"/>
                </a:solidFill>
              </a:rPr>
              <a:t>the unit length of the three axes may not be the same, therefore, the ratio of the intercepts may not be the same as the ratio of the corresponding intercept coefficients.</a:t>
            </a:r>
            <a:r>
              <a:rPr lang="zh-CN" altLang="en-US" dirty="0">
                <a:solidFill>
                  <a:schemeClr val="tx1"/>
                </a:solidFill>
              </a:rPr>
              <a:t>  </a:t>
            </a:r>
            <a:r>
              <a:rPr lang="en-US" altLang="zh-CN" dirty="0">
                <a:solidFill>
                  <a:schemeClr val="tx1"/>
                </a:solidFill>
              </a:rPr>
              <a:t>The unit length of each axe is determined by the unit cell of crystals.</a:t>
            </a:r>
            <a:endParaRPr lang="zh-CN" altLang="en-US" dirty="0">
              <a:solidFill>
                <a:schemeClr val="tx1"/>
              </a:solidFill>
            </a:endParaRPr>
          </a:p>
        </p:txBody>
      </p:sp>
      <p:pic>
        <p:nvPicPr>
          <p:cNvPr id="78851" name="Picture 3" descr="图形45"/>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5345113" y="2319973"/>
            <a:ext cx="3651250" cy="3079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4516" name="Rectangle 4"/>
          <p:cNvSpPr>
            <a:spLocks noGrp="1" noChangeArrowheads="1"/>
          </p:cNvSpPr>
          <p:nvPr>
            <p:ph type="title"/>
          </p:nvPr>
        </p:nvSpPr>
        <p:spPr>
          <a:xfrm>
            <a:off x="31115" y="78105"/>
            <a:ext cx="8644890" cy="800100"/>
          </a:xfrm>
          <a:noFill/>
        </p:spPr>
        <p:txBody>
          <a:bodyPr anchor="b">
            <a:normAutofit/>
          </a:bodyPr>
          <a:lstStyle/>
          <a:p>
            <a:pPr algn="l"/>
            <a:r>
              <a:rPr lang="en-US" altLang="zh-CN" sz="3600" dirty="0"/>
              <a:t>Tips for </a:t>
            </a:r>
            <a:r>
              <a:rPr altLang="zh-CN" sz="3600" dirty="0"/>
              <a:t>denotation of plane </a:t>
            </a:r>
            <a:endParaRPr altLang="zh-CN" sz="3600" b="1" dirty="0"/>
          </a:p>
        </p:txBody>
      </p:sp>
    </p:spTree>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85" name="Group 25"/>
          <p:cNvGrpSpPr/>
          <p:nvPr/>
        </p:nvGrpSpPr>
        <p:grpSpPr bwMode="auto">
          <a:xfrm>
            <a:off x="3131840" y="620713"/>
            <a:ext cx="5637213" cy="5329237"/>
            <a:chOff x="2122" y="468"/>
            <a:chExt cx="3551" cy="3357"/>
          </a:xfrm>
        </p:grpSpPr>
        <p:sp>
          <p:nvSpPr>
            <p:cNvPr id="66565" name="Freeform 5"/>
            <p:cNvSpPr/>
            <p:nvPr/>
          </p:nvSpPr>
          <p:spPr bwMode="auto">
            <a:xfrm>
              <a:off x="3522" y="815"/>
              <a:ext cx="1837" cy="1729"/>
            </a:xfrm>
            <a:custGeom>
              <a:avLst/>
              <a:gdLst>
                <a:gd name="T0" fmla="*/ 0 w 865"/>
                <a:gd name="T1" fmla="*/ 0 h 728"/>
                <a:gd name="T2" fmla="*/ 0 w 865"/>
                <a:gd name="T3" fmla="*/ 728 h 728"/>
                <a:gd name="T4" fmla="*/ 865 w 865"/>
                <a:gd name="T5" fmla="*/ 728 h 728"/>
              </a:gdLst>
              <a:ahLst/>
              <a:cxnLst>
                <a:cxn ang="0">
                  <a:pos x="T0" y="T1"/>
                </a:cxn>
                <a:cxn ang="0">
                  <a:pos x="T2" y="T3"/>
                </a:cxn>
                <a:cxn ang="0">
                  <a:pos x="T4" y="T5"/>
                </a:cxn>
              </a:cxnLst>
              <a:rect l="0" t="0" r="r" b="b"/>
              <a:pathLst>
                <a:path w="865" h="728">
                  <a:moveTo>
                    <a:pt x="0" y="0"/>
                  </a:moveTo>
                  <a:lnTo>
                    <a:pt x="0" y="728"/>
                  </a:lnTo>
                  <a:lnTo>
                    <a:pt x="865" y="728"/>
                  </a:lnTo>
                </a:path>
              </a:pathLst>
            </a:custGeom>
            <a:noFill/>
            <a:ln w="12700" cmpd="sng">
              <a:solidFill>
                <a:srgbClr val="00CC00"/>
              </a:solidFill>
              <a:prstDash val="solid"/>
              <a:rou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66" name="Rectangle 6"/>
            <p:cNvSpPr>
              <a:spLocks noChangeArrowheads="1"/>
            </p:cNvSpPr>
            <p:nvPr/>
          </p:nvSpPr>
          <p:spPr bwMode="auto">
            <a:xfrm>
              <a:off x="3494" y="468"/>
              <a:ext cx="1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solidFill>
                    <a:srgbClr val="00CC00"/>
                  </a:solidFill>
                  <a:latin typeface="Dutch801 BT"/>
                </a:rPr>
                <a:t>b</a:t>
              </a:r>
              <a:endParaRPr lang="en-US" altLang="zh-CN" sz="5400">
                <a:solidFill>
                  <a:srgbClr val="00CC00"/>
                </a:solidFill>
                <a:effectLst>
                  <a:outerShdw blurRad="38100" dist="38100" dir="2700000" algn="tl">
                    <a:srgbClr val="C0C0C0"/>
                  </a:outerShdw>
                </a:effectLst>
                <a:latin typeface="Times New Roman" panose="02020603050405020304" pitchFamily="18" charset="0"/>
              </a:endParaRPr>
            </a:p>
          </p:txBody>
        </p:sp>
        <p:sp>
          <p:nvSpPr>
            <p:cNvPr id="66567" name="Rectangle 7"/>
            <p:cNvSpPr>
              <a:spLocks noChangeArrowheads="1"/>
            </p:cNvSpPr>
            <p:nvPr/>
          </p:nvSpPr>
          <p:spPr bwMode="auto">
            <a:xfrm>
              <a:off x="5548" y="2363"/>
              <a:ext cx="1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solidFill>
                    <a:srgbClr val="00CC00"/>
                  </a:solidFill>
                  <a:latin typeface="Dutch801 BT"/>
                </a:rPr>
                <a:t>a</a:t>
              </a:r>
              <a:endParaRPr lang="en-US" altLang="zh-CN" sz="5400">
                <a:solidFill>
                  <a:srgbClr val="00CC00"/>
                </a:solidFill>
                <a:effectLst>
                  <a:outerShdw blurRad="38100" dist="38100" dir="2700000" algn="tl">
                    <a:srgbClr val="C0C0C0"/>
                  </a:outerShdw>
                </a:effectLst>
                <a:latin typeface="Times New Roman" panose="02020603050405020304" pitchFamily="18" charset="0"/>
              </a:endParaRPr>
            </a:p>
          </p:txBody>
        </p:sp>
        <p:sp>
          <p:nvSpPr>
            <p:cNvPr id="66568" name="Rectangle 8"/>
            <p:cNvSpPr>
              <a:spLocks noChangeArrowheads="1"/>
            </p:cNvSpPr>
            <p:nvPr/>
          </p:nvSpPr>
          <p:spPr bwMode="auto">
            <a:xfrm>
              <a:off x="4378" y="1210"/>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6569" name="Rectangle 9"/>
            <p:cNvSpPr>
              <a:spLocks noChangeArrowheads="1"/>
            </p:cNvSpPr>
            <p:nvPr/>
          </p:nvSpPr>
          <p:spPr bwMode="auto">
            <a:xfrm>
              <a:off x="4816" y="1623"/>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(2 1 0)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6570" name="Line 10"/>
            <p:cNvSpPr>
              <a:spLocks noChangeShapeType="1"/>
            </p:cNvSpPr>
            <p:nvPr/>
          </p:nvSpPr>
          <p:spPr bwMode="auto">
            <a:xfrm flipV="1">
              <a:off x="2911" y="3824"/>
              <a:ext cx="1193"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1" name="Line 11"/>
            <p:cNvSpPr>
              <a:spLocks noChangeShapeType="1"/>
            </p:cNvSpPr>
            <p:nvPr/>
          </p:nvSpPr>
          <p:spPr bwMode="auto">
            <a:xfrm>
              <a:off x="2936" y="1314"/>
              <a:ext cx="114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2" name="Line 12"/>
            <p:cNvSpPr>
              <a:spLocks noChangeShapeType="1"/>
            </p:cNvSpPr>
            <p:nvPr/>
          </p:nvSpPr>
          <p:spPr bwMode="auto">
            <a:xfrm flipV="1">
              <a:off x="2125" y="2108"/>
              <a:ext cx="0" cy="9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3" name="Line 13"/>
            <p:cNvSpPr>
              <a:spLocks noChangeShapeType="1"/>
            </p:cNvSpPr>
            <p:nvPr/>
          </p:nvSpPr>
          <p:spPr bwMode="auto">
            <a:xfrm flipV="1">
              <a:off x="4865" y="2108"/>
              <a:ext cx="0" cy="9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4" name="Line 14"/>
            <p:cNvSpPr>
              <a:spLocks noChangeShapeType="1"/>
            </p:cNvSpPr>
            <p:nvPr/>
          </p:nvSpPr>
          <p:spPr bwMode="auto">
            <a:xfrm flipV="1">
              <a:off x="2513" y="1313"/>
              <a:ext cx="416" cy="268"/>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5" name="Line 15"/>
            <p:cNvSpPr>
              <a:spLocks noChangeShapeType="1"/>
            </p:cNvSpPr>
            <p:nvPr/>
          </p:nvSpPr>
          <p:spPr bwMode="auto">
            <a:xfrm>
              <a:off x="2498" y="3544"/>
              <a:ext cx="409" cy="276"/>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6" name="Line 16"/>
            <p:cNvSpPr>
              <a:spLocks noChangeShapeType="1"/>
            </p:cNvSpPr>
            <p:nvPr/>
          </p:nvSpPr>
          <p:spPr bwMode="auto">
            <a:xfrm>
              <a:off x="4076" y="1315"/>
              <a:ext cx="406" cy="277"/>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7" name="Line 17"/>
            <p:cNvSpPr>
              <a:spLocks noChangeShapeType="1"/>
            </p:cNvSpPr>
            <p:nvPr/>
          </p:nvSpPr>
          <p:spPr bwMode="auto">
            <a:xfrm flipV="1">
              <a:off x="4107" y="3559"/>
              <a:ext cx="387" cy="255"/>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8" name="Line 18"/>
            <p:cNvSpPr>
              <a:spLocks noChangeShapeType="1"/>
            </p:cNvSpPr>
            <p:nvPr/>
          </p:nvSpPr>
          <p:spPr bwMode="auto">
            <a:xfrm>
              <a:off x="2130" y="3055"/>
              <a:ext cx="370" cy="490"/>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79" name="Line 19"/>
            <p:cNvSpPr>
              <a:spLocks noChangeShapeType="1"/>
            </p:cNvSpPr>
            <p:nvPr/>
          </p:nvSpPr>
          <p:spPr bwMode="auto">
            <a:xfrm>
              <a:off x="4486" y="1596"/>
              <a:ext cx="374" cy="506"/>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80" name="Line 20"/>
            <p:cNvSpPr>
              <a:spLocks noChangeShapeType="1"/>
            </p:cNvSpPr>
            <p:nvPr/>
          </p:nvSpPr>
          <p:spPr bwMode="auto">
            <a:xfrm flipH="1">
              <a:off x="2122" y="1582"/>
              <a:ext cx="391" cy="529"/>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81" name="Line 21"/>
            <p:cNvSpPr>
              <a:spLocks noChangeShapeType="1"/>
            </p:cNvSpPr>
            <p:nvPr/>
          </p:nvSpPr>
          <p:spPr bwMode="auto">
            <a:xfrm flipH="1">
              <a:off x="4497" y="3045"/>
              <a:ext cx="369" cy="512"/>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82" name="Rectangle 22"/>
            <p:cNvSpPr>
              <a:spLocks noChangeArrowheads="1"/>
            </p:cNvSpPr>
            <p:nvPr/>
          </p:nvSpPr>
          <p:spPr bwMode="auto">
            <a:xfrm>
              <a:off x="4969" y="2179"/>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(1 0 0)</a:t>
              </a:r>
              <a:endParaRPr lang="en-US" altLang="zh-CN" sz="5400">
                <a:effectLst>
                  <a:outerShdw blurRad="38100" dist="38100" dir="2700000" algn="tl">
                    <a:srgbClr val="C0C0C0"/>
                  </a:outerShdw>
                </a:effectLst>
                <a:latin typeface="Times New Roman" panose="02020603050405020304" pitchFamily="18" charset="0"/>
              </a:endParaRPr>
            </a:p>
          </p:txBody>
        </p:sp>
      </p:grpSp>
      <p:sp>
        <p:nvSpPr>
          <p:cNvPr id="66583" name="Rectangle 23"/>
          <p:cNvSpPr>
            <a:spLocks noChangeArrowheads="1"/>
          </p:cNvSpPr>
          <p:nvPr/>
        </p:nvSpPr>
        <p:spPr bwMode="auto">
          <a:xfrm>
            <a:off x="468313" y="5589588"/>
            <a:ext cx="3536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a:solidFill>
                  <a:srgbClr val="33CC33"/>
                </a:solidFill>
                <a:latin typeface="Times New Roman" panose="02020603050405020304" pitchFamily="18" charset="0"/>
              </a:rPr>
              <a:t>Can you index the rest?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846" name="Group 262"/>
          <p:cNvGrpSpPr/>
          <p:nvPr/>
        </p:nvGrpSpPr>
        <p:grpSpPr bwMode="auto">
          <a:xfrm>
            <a:off x="1969135" y="930275"/>
            <a:ext cx="6948488" cy="5886450"/>
            <a:chOff x="1306" y="448"/>
            <a:chExt cx="4377" cy="3708"/>
          </a:xfrm>
        </p:grpSpPr>
        <p:grpSp>
          <p:nvGrpSpPr>
            <p:cNvPr id="67631" name="Group 47"/>
            <p:cNvGrpSpPr/>
            <p:nvPr/>
          </p:nvGrpSpPr>
          <p:grpSpPr bwMode="auto">
            <a:xfrm>
              <a:off x="1306" y="448"/>
              <a:ext cx="4377" cy="3708"/>
              <a:chOff x="1296" y="468"/>
              <a:chExt cx="4377" cy="3708"/>
            </a:xfrm>
          </p:grpSpPr>
          <p:sp>
            <p:nvSpPr>
              <p:cNvPr id="67589" name="Freeform 5"/>
              <p:cNvSpPr/>
              <p:nvPr/>
            </p:nvSpPr>
            <p:spPr bwMode="auto">
              <a:xfrm>
                <a:off x="3504" y="815"/>
                <a:ext cx="1837" cy="1729"/>
              </a:xfrm>
              <a:custGeom>
                <a:avLst/>
                <a:gdLst>
                  <a:gd name="T0" fmla="*/ 0 w 865"/>
                  <a:gd name="T1" fmla="*/ 0 h 728"/>
                  <a:gd name="T2" fmla="*/ 0 w 865"/>
                  <a:gd name="T3" fmla="*/ 728 h 728"/>
                  <a:gd name="T4" fmla="*/ 865 w 865"/>
                  <a:gd name="T5" fmla="*/ 728 h 728"/>
                </a:gdLst>
                <a:ahLst/>
                <a:cxnLst>
                  <a:cxn ang="0">
                    <a:pos x="T0" y="T1"/>
                  </a:cxn>
                  <a:cxn ang="0">
                    <a:pos x="T2" y="T3"/>
                  </a:cxn>
                  <a:cxn ang="0">
                    <a:pos x="T4" y="T5"/>
                  </a:cxn>
                </a:cxnLst>
                <a:rect l="0" t="0" r="r" b="b"/>
                <a:pathLst>
                  <a:path w="865" h="728">
                    <a:moveTo>
                      <a:pt x="0" y="0"/>
                    </a:moveTo>
                    <a:lnTo>
                      <a:pt x="0" y="728"/>
                    </a:lnTo>
                    <a:lnTo>
                      <a:pt x="865" y="728"/>
                    </a:lnTo>
                  </a:path>
                </a:pathLst>
              </a:custGeom>
              <a:noFill/>
              <a:ln w="12700" cmpd="sng">
                <a:solidFill>
                  <a:srgbClr val="00CC00"/>
                </a:solidFill>
                <a:prstDash val="solid"/>
                <a:rou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590" name="Rectangle 6"/>
              <p:cNvSpPr>
                <a:spLocks noChangeArrowheads="1"/>
              </p:cNvSpPr>
              <p:nvPr/>
            </p:nvSpPr>
            <p:spPr bwMode="auto">
              <a:xfrm>
                <a:off x="3456" y="468"/>
                <a:ext cx="1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solidFill>
                      <a:srgbClr val="00CC00"/>
                    </a:solidFill>
                    <a:latin typeface="Dutch801 BT"/>
                  </a:rPr>
                  <a:t>b</a:t>
                </a:r>
                <a:endParaRPr lang="en-US" altLang="zh-CN" sz="5400">
                  <a:solidFill>
                    <a:srgbClr val="00CC00"/>
                  </a:solidFill>
                  <a:effectLst>
                    <a:outerShdw blurRad="38100" dist="38100" dir="2700000" algn="tl">
                      <a:srgbClr val="C0C0C0"/>
                    </a:outerShdw>
                  </a:effectLst>
                  <a:latin typeface="Times New Roman" panose="02020603050405020304" pitchFamily="18" charset="0"/>
                </a:endParaRPr>
              </a:p>
            </p:txBody>
          </p:sp>
          <p:sp>
            <p:nvSpPr>
              <p:cNvPr id="67591" name="Rectangle 7"/>
              <p:cNvSpPr>
                <a:spLocks noChangeArrowheads="1"/>
              </p:cNvSpPr>
              <p:nvPr/>
            </p:nvSpPr>
            <p:spPr bwMode="auto">
              <a:xfrm>
                <a:off x="5548" y="2363"/>
                <a:ext cx="1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solidFill>
                      <a:srgbClr val="00CC00"/>
                    </a:solidFill>
                    <a:latin typeface="Dutch801 BT"/>
                  </a:rPr>
                  <a:t>a</a:t>
                </a:r>
                <a:endParaRPr lang="en-US" altLang="zh-CN" sz="5400">
                  <a:solidFill>
                    <a:srgbClr val="00CC00"/>
                  </a:solidFill>
                  <a:effectLst>
                    <a:outerShdw blurRad="38100" dist="38100" dir="2700000" algn="tl">
                      <a:srgbClr val="C0C0C0"/>
                    </a:outerShdw>
                  </a:effectLst>
                  <a:latin typeface="Times New Roman" panose="02020603050405020304" pitchFamily="18" charset="0"/>
                </a:endParaRPr>
              </a:p>
            </p:txBody>
          </p:sp>
          <p:sp>
            <p:nvSpPr>
              <p:cNvPr id="67592" name="Rectangle 8"/>
              <p:cNvSpPr>
                <a:spLocks noChangeArrowheads="1"/>
              </p:cNvSpPr>
              <p:nvPr/>
            </p:nvSpPr>
            <p:spPr bwMode="auto">
              <a:xfrm>
                <a:off x="4378" y="1210"/>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593" name="Rectangle 9"/>
              <p:cNvSpPr>
                <a:spLocks noChangeArrowheads="1"/>
              </p:cNvSpPr>
              <p:nvPr/>
            </p:nvSpPr>
            <p:spPr bwMode="auto">
              <a:xfrm>
                <a:off x="4816" y="1623"/>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(2 1 0)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594" name="Line 10"/>
              <p:cNvSpPr>
                <a:spLocks noChangeShapeType="1"/>
              </p:cNvSpPr>
              <p:nvPr/>
            </p:nvSpPr>
            <p:spPr bwMode="auto">
              <a:xfrm flipV="1">
                <a:off x="2911" y="3824"/>
                <a:ext cx="1193"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95" name="Line 11"/>
              <p:cNvSpPr>
                <a:spLocks noChangeShapeType="1"/>
              </p:cNvSpPr>
              <p:nvPr/>
            </p:nvSpPr>
            <p:spPr bwMode="auto">
              <a:xfrm>
                <a:off x="2936" y="1314"/>
                <a:ext cx="114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96" name="Line 12"/>
              <p:cNvSpPr>
                <a:spLocks noChangeShapeType="1"/>
              </p:cNvSpPr>
              <p:nvPr/>
            </p:nvSpPr>
            <p:spPr bwMode="auto">
              <a:xfrm flipV="1">
                <a:off x="2125" y="2108"/>
                <a:ext cx="0" cy="9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97" name="Line 13"/>
              <p:cNvSpPr>
                <a:spLocks noChangeShapeType="1"/>
              </p:cNvSpPr>
              <p:nvPr/>
            </p:nvSpPr>
            <p:spPr bwMode="auto">
              <a:xfrm flipV="1">
                <a:off x="4865" y="2108"/>
                <a:ext cx="0" cy="9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98" name="Line 14"/>
              <p:cNvSpPr>
                <a:spLocks noChangeShapeType="1"/>
              </p:cNvSpPr>
              <p:nvPr/>
            </p:nvSpPr>
            <p:spPr bwMode="auto">
              <a:xfrm flipV="1">
                <a:off x="2513" y="1313"/>
                <a:ext cx="416" cy="268"/>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99" name="Line 15"/>
              <p:cNvSpPr>
                <a:spLocks noChangeShapeType="1"/>
              </p:cNvSpPr>
              <p:nvPr/>
            </p:nvSpPr>
            <p:spPr bwMode="auto">
              <a:xfrm>
                <a:off x="2498" y="3544"/>
                <a:ext cx="409" cy="276"/>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00" name="Line 16"/>
              <p:cNvSpPr>
                <a:spLocks noChangeShapeType="1"/>
              </p:cNvSpPr>
              <p:nvPr/>
            </p:nvSpPr>
            <p:spPr bwMode="auto">
              <a:xfrm>
                <a:off x="4076" y="1315"/>
                <a:ext cx="406" cy="277"/>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01" name="Line 17"/>
              <p:cNvSpPr>
                <a:spLocks noChangeShapeType="1"/>
              </p:cNvSpPr>
              <p:nvPr/>
            </p:nvSpPr>
            <p:spPr bwMode="auto">
              <a:xfrm flipV="1">
                <a:off x="4107" y="3559"/>
                <a:ext cx="387" cy="255"/>
              </a:xfrm>
              <a:prstGeom prst="line">
                <a:avLst/>
              </a:prstGeom>
              <a:noFill/>
              <a:ln w="952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02" name="Line 18"/>
              <p:cNvSpPr>
                <a:spLocks noChangeShapeType="1"/>
              </p:cNvSpPr>
              <p:nvPr/>
            </p:nvSpPr>
            <p:spPr bwMode="auto">
              <a:xfrm>
                <a:off x="2130" y="3055"/>
                <a:ext cx="370" cy="490"/>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03" name="Line 19"/>
              <p:cNvSpPr>
                <a:spLocks noChangeShapeType="1"/>
              </p:cNvSpPr>
              <p:nvPr/>
            </p:nvSpPr>
            <p:spPr bwMode="auto">
              <a:xfrm>
                <a:off x="4486" y="1596"/>
                <a:ext cx="374" cy="506"/>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04" name="Line 20"/>
              <p:cNvSpPr>
                <a:spLocks noChangeShapeType="1"/>
              </p:cNvSpPr>
              <p:nvPr/>
            </p:nvSpPr>
            <p:spPr bwMode="auto">
              <a:xfrm flipH="1">
                <a:off x="2122" y="1582"/>
                <a:ext cx="391" cy="529"/>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05" name="Line 21"/>
              <p:cNvSpPr>
                <a:spLocks noChangeShapeType="1"/>
              </p:cNvSpPr>
              <p:nvPr/>
            </p:nvSpPr>
            <p:spPr bwMode="auto">
              <a:xfrm flipH="1">
                <a:off x="4497" y="3045"/>
                <a:ext cx="369" cy="512"/>
              </a:xfrm>
              <a:prstGeom prst="line">
                <a:avLst/>
              </a:prstGeom>
              <a:noFill/>
              <a:ln w="952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06" name="Rectangle 22"/>
              <p:cNvSpPr>
                <a:spLocks noChangeArrowheads="1"/>
              </p:cNvSpPr>
              <p:nvPr/>
            </p:nvSpPr>
            <p:spPr bwMode="auto">
              <a:xfrm>
                <a:off x="4969" y="2179"/>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(1 0 0)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07" name="Rectangle 23"/>
              <p:cNvSpPr>
                <a:spLocks noChangeArrowheads="1"/>
              </p:cNvSpPr>
              <p:nvPr/>
            </p:nvSpPr>
            <p:spPr bwMode="auto">
              <a:xfrm>
                <a:off x="2793" y="957"/>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dirty="0">
                    <a:latin typeface="Dutch801 BT"/>
                  </a:rPr>
                  <a:t>(0 1 0)</a:t>
                </a:r>
                <a:endParaRPr lang="en-US" altLang="zh-CN" sz="5400" dirty="0">
                  <a:effectLst>
                    <a:outerShdw blurRad="38100" dist="38100" dir="2700000" algn="tl">
                      <a:srgbClr val="C0C0C0"/>
                    </a:outerShdw>
                  </a:effectLst>
                  <a:latin typeface="Times New Roman" panose="02020603050405020304" pitchFamily="18" charset="0"/>
                </a:endParaRPr>
              </a:p>
            </p:txBody>
          </p:sp>
          <p:sp>
            <p:nvSpPr>
              <p:cNvPr id="67608" name="Rectangle 24"/>
              <p:cNvSpPr>
                <a:spLocks noChangeArrowheads="1"/>
              </p:cNvSpPr>
              <p:nvPr/>
            </p:nvSpPr>
            <p:spPr bwMode="auto">
              <a:xfrm>
                <a:off x="4707" y="3259"/>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(2 1 0)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09" name="Rectangle 25"/>
              <p:cNvSpPr>
                <a:spLocks noChangeArrowheads="1"/>
              </p:cNvSpPr>
              <p:nvPr/>
            </p:nvSpPr>
            <p:spPr bwMode="auto">
              <a:xfrm>
                <a:off x="1524" y="3264"/>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(2 1 0)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10" name="Rectangle 26"/>
              <p:cNvSpPr>
                <a:spLocks noChangeArrowheads="1"/>
              </p:cNvSpPr>
              <p:nvPr/>
            </p:nvSpPr>
            <p:spPr bwMode="auto">
              <a:xfrm>
                <a:off x="1535" y="1655"/>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(2 1 0)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11" name="Rectangle 27"/>
              <p:cNvSpPr>
                <a:spLocks noChangeArrowheads="1"/>
              </p:cNvSpPr>
              <p:nvPr/>
            </p:nvSpPr>
            <p:spPr bwMode="auto">
              <a:xfrm>
                <a:off x="4291" y="3703"/>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12" name="Rectangle 28"/>
              <p:cNvSpPr>
                <a:spLocks noChangeArrowheads="1"/>
              </p:cNvSpPr>
              <p:nvPr/>
            </p:nvSpPr>
            <p:spPr bwMode="auto">
              <a:xfrm>
                <a:off x="2036" y="3714"/>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13" name="Rectangle 29"/>
              <p:cNvSpPr>
                <a:spLocks noChangeArrowheads="1"/>
              </p:cNvSpPr>
              <p:nvPr/>
            </p:nvSpPr>
            <p:spPr bwMode="auto">
              <a:xfrm>
                <a:off x="2019" y="1167"/>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14" name="Rectangle 30"/>
              <p:cNvSpPr>
                <a:spLocks noChangeArrowheads="1"/>
              </p:cNvSpPr>
              <p:nvPr/>
            </p:nvSpPr>
            <p:spPr bwMode="auto">
              <a:xfrm>
                <a:off x="3322" y="3907"/>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(0 1 0)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15" name="Rectangle 31"/>
              <p:cNvSpPr>
                <a:spLocks noChangeArrowheads="1"/>
              </p:cNvSpPr>
              <p:nvPr/>
            </p:nvSpPr>
            <p:spPr bwMode="auto">
              <a:xfrm>
                <a:off x="1296" y="2440"/>
                <a:ext cx="6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latin typeface="Dutch801 BT"/>
                  </a:rPr>
                  <a:t>(1 0 0)</a:t>
                </a:r>
                <a:endParaRPr lang="en-US" altLang="zh-CN" sz="5400">
                  <a:effectLst>
                    <a:outerShdw blurRad="38100" dist="38100" dir="2700000" algn="tl">
                      <a:srgbClr val="C0C0C0"/>
                    </a:outerShdw>
                  </a:effectLst>
                  <a:latin typeface="Times New Roman" panose="02020603050405020304" pitchFamily="18" charset="0"/>
                </a:endParaRPr>
              </a:p>
            </p:txBody>
          </p:sp>
          <p:sp>
            <p:nvSpPr>
              <p:cNvPr id="67626" name="Line 42"/>
              <p:cNvSpPr>
                <a:spLocks noChangeShapeType="1"/>
              </p:cNvSpPr>
              <p:nvPr/>
            </p:nvSpPr>
            <p:spPr bwMode="auto">
              <a:xfrm flipH="1">
                <a:off x="1920" y="2544"/>
                <a:ext cx="1584" cy="0"/>
              </a:xfrm>
              <a:prstGeom prst="line">
                <a:avLst/>
              </a:prstGeom>
              <a:noFill/>
              <a:ln w="28575">
                <a:solidFill>
                  <a:srgbClr val="33CC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27" name="Rectangle 43"/>
              <p:cNvSpPr>
                <a:spLocks noChangeArrowheads="1"/>
              </p:cNvSpPr>
              <p:nvPr/>
            </p:nvSpPr>
            <p:spPr bwMode="auto">
              <a:xfrm>
                <a:off x="1872" y="2227"/>
                <a:ext cx="20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solidFill>
                      <a:srgbClr val="00CC00"/>
                    </a:solidFill>
                    <a:latin typeface="Dutch801 BT"/>
                  </a:rPr>
                  <a:t>-a</a:t>
                </a:r>
                <a:endParaRPr lang="en-US" altLang="zh-CN" sz="5400">
                  <a:solidFill>
                    <a:srgbClr val="00CC00"/>
                  </a:solidFill>
                  <a:effectLst>
                    <a:outerShdw blurRad="38100" dist="38100" dir="2700000" algn="tl">
                      <a:srgbClr val="C0C0C0"/>
                    </a:outerShdw>
                  </a:effectLst>
                  <a:latin typeface="Times New Roman" panose="02020603050405020304" pitchFamily="18" charset="0"/>
                </a:endParaRPr>
              </a:p>
            </p:txBody>
          </p:sp>
          <p:sp>
            <p:nvSpPr>
              <p:cNvPr id="67628" name="Line 44"/>
              <p:cNvSpPr>
                <a:spLocks noChangeShapeType="1"/>
              </p:cNvSpPr>
              <p:nvPr/>
            </p:nvSpPr>
            <p:spPr bwMode="auto">
              <a:xfrm>
                <a:off x="3504" y="2544"/>
                <a:ext cx="0" cy="1344"/>
              </a:xfrm>
              <a:prstGeom prst="line">
                <a:avLst/>
              </a:prstGeom>
              <a:noFill/>
              <a:ln w="28575">
                <a:solidFill>
                  <a:srgbClr val="33CC33"/>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29" name="Rectangle 45"/>
              <p:cNvSpPr>
                <a:spLocks noChangeArrowheads="1"/>
              </p:cNvSpPr>
              <p:nvPr/>
            </p:nvSpPr>
            <p:spPr bwMode="auto">
              <a:xfrm>
                <a:off x="3584" y="3571"/>
                <a:ext cx="20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a:solidFill>
                      <a:srgbClr val="00CC00"/>
                    </a:solidFill>
                    <a:latin typeface="Dutch801 BT"/>
                  </a:rPr>
                  <a:t>-b</a:t>
                </a:r>
                <a:endParaRPr lang="en-US" altLang="zh-CN" sz="5400">
                  <a:solidFill>
                    <a:srgbClr val="00CC00"/>
                  </a:solidFill>
                  <a:effectLst>
                    <a:outerShdw blurRad="38100" dist="38100" dir="2700000" algn="tl">
                      <a:srgbClr val="C0C0C0"/>
                    </a:outerShdw>
                  </a:effectLst>
                  <a:latin typeface="Times New Roman" panose="02020603050405020304" pitchFamily="18" charset="0"/>
                </a:endParaRPr>
              </a:p>
            </p:txBody>
          </p:sp>
        </p:grpSp>
        <p:grpSp>
          <p:nvGrpSpPr>
            <p:cNvPr id="67632" name="Group 48"/>
            <p:cNvGrpSpPr/>
            <p:nvPr/>
          </p:nvGrpSpPr>
          <p:grpSpPr bwMode="auto">
            <a:xfrm>
              <a:off x="1384" y="1195"/>
              <a:ext cx="3679" cy="2733"/>
              <a:chOff x="1384" y="1195"/>
              <a:chExt cx="3679" cy="2733"/>
            </a:xfrm>
          </p:grpSpPr>
          <p:sp>
            <p:nvSpPr>
              <p:cNvPr id="67616" name="Line 32"/>
              <p:cNvSpPr>
                <a:spLocks noChangeShapeType="1"/>
              </p:cNvSpPr>
              <p:nvPr/>
            </p:nvSpPr>
            <p:spPr bwMode="auto">
              <a:xfrm>
                <a:off x="4938" y="3273"/>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17" name="Line 33"/>
              <p:cNvSpPr>
                <a:spLocks noChangeShapeType="1"/>
              </p:cNvSpPr>
              <p:nvPr/>
            </p:nvSpPr>
            <p:spPr bwMode="auto">
              <a:xfrm>
                <a:off x="4529" y="3726"/>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18" name="Line 34"/>
              <p:cNvSpPr>
                <a:spLocks noChangeShapeType="1"/>
              </p:cNvSpPr>
              <p:nvPr/>
            </p:nvSpPr>
            <p:spPr bwMode="auto">
              <a:xfrm>
                <a:off x="2284" y="3742"/>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19" name="Line 35"/>
              <p:cNvSpPr>
                <a:spLocks noChangeShapeType="1"/>
              </p:cNvSpPr>
              <p:nvPr/>
            </p:nvSpPr>
            <p:spPr bwMode="auto">
              <a:xfrm>
                <a:off x="2104" y="3737"/>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20" name="Line 36"/>
              <p:cNvSpPr>
                <a:spLocks noChangeShapeType="1"/>
              </p:cNvSpPr>
              <p:nvPr/>
            </p:nvSpPr>
            <p:spPr bwMode="auto">
              <a:xfrm>
                <a:off x="1766" y="3284"/>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21" name="Line 37"/>
              <p:cNvSpPr>
                <a:spLocks noChangeShapeType="1"/>
              </p:cNvSpPr>
              <p:nvPr/>
            </p:nvSpPr>
            <p:spPr bwMode="auto">
              <a:xfrm>
                <a:off x="1597" y="3284"/>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22" name="Line 38"/>
              <p:cNvSpPr>
                <a:spLocks noChangeShapeType="1"/>
              </p:cNvSpPr>
              <p:nvPr/>
            </p:nvSpPr>
            <p:spPr bwMode="auto">
              <a:xfrm>
                <a:off x="1384" y="2455"/>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23" name="Line 39"/>
              <p:cNvSpPr>
                <a:spLocks noChangeShapeType="1"/>
              </p:cNvSpPr>
              <p:nvPr/>
            </p:nvSpPr>
            <p:spPr bwMode="auto">
              <a:xfrm>
                <a:off x="1618" y="1670"/>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24" name="Line 40"/>
              <p:cNvSpPr>
                <a:spLocks noChangeShapeType="1"/>
              </p:cNvSpPr>
              <p:nvPr/>
            </p:nvSpPr>
            <p:spPr bwMode="auto">
              <a:xfrm>
                <a:off x="2093" y="1195"/>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25" name="Line 41"/>
              <p:cNvSpPr>
                <a:spLocks noChangeShapeType="1"/>
              </p:cNvSpPr>
              <p:nvPr/>
            </p:nvSpPr>
            <p:spPr bwMode="auto">
              <a:xfrm>
                <a:off x="3569" y="3928"/>
                <a:ext cx="1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64516" name="Rectangle 4"/>
          <p:cNvSpPr>
            <a:spLocks noGrp="1" noChangeArrowheads="1"/>
          </p:cNvSpPr>
          <p:nvPr/>
        </p:nvSpPr>
        <p:spPr>
          <a:xfrm>
            <a:off x="13335" y="-17145"/>
            <a:ext cx="8644890" cy="800100"/>
          </a:xfrm>
          <a:prstGeom prst="rect">
            <a:avLst/>
          </a:prstGeom>
          <a:noFill/>
        </p:spPr>
        <p:txBody>
          <a:bodyPr vert="horz" lIns="91440" tIns="45720" rIns="91440" bIns="45720" rtlCol="0" anchor="b">
            <a:normAutofit/>
          </a:bodyPr>
          <a:lstStyle>
            <a:lvl1pPr algn="ctr" rtl="0" eaLnBrk="0" fontAlgn="base" hangingPunct="0">
              <a:spcBef>
                <a:spcPct val="0"/>
              </a:spcBef>
              <a:spcAft>
                <a:spcPct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lgn="l"/>
            <a:r>
              <a:rPr altLang="zh-CN" sz="3600" dirty="0"/>
              <a:t>denotation of plane </a:t>
            </a:r>
            <a:endParaRPr altLang="zh-CN" sz="3600"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a:xfrm>
            <a:off x="178519" y="548680"/>
            <a:ext cx="8783638" cy="800100"/>
          </a:xfrm>
          <a:noFill/>
        </p:spPr>
        <p:txBody>
          <a:bodyPr anchor="b">
            <a:noAutofit/>
          </a:bodyPr>
          <a:lstStyle/>
          <a:p>
            <a:r>
              <a:rPr lang="en-US" altLang="zh-CN" sz="2800" dirty="0"/>
              <a:t>2. </a:t>
            </a:r>
            <a:r>
              <a:rPr altLang="zh-CN" sz="2800" dirty="0"/>
              <a:t>Index of direactions and planes in hexagonal crystal system</a:t>
            </a:r>
            <a:endParaRPr altLang="zh-CN" sz="2800" b="1" dirty="0"/>
          </a:p>
        </p:txBody>
      </p:sp>
      <p:sp>
        <p:nvSpPr>
          <p:cNvPr id="2" name="Rectangle 1"/>
          <p:cNvSpPr/>
          <p:nvPr/>
        </p:nvSpPr>
        <p:spPr>
          <a:xfrm>
            <a:off x="95250" y="1345049"/>
            <a:ext cx="5364088" cy="4523105"/>
          </a:xfrm>
          <a:prstGeom prst="rect">
            <a:avLst/>
          </a:prstGeom>
        </p:spPr>
        <p:txBody>
          <a:bodyPr wrap="square">
            <a:spAutoFit/>
          </a:bodyPr>
          <a:lstStyle/>
          <a:p>
            <a:r>
              <a:rPr lang="en-US" altLang="zh-CN" b="1" dirty="0">
                <a:solidFill>
                  <a:srgbClr val="FF0066"/>
                </a:solidFill>
                <a:effectLst>
                  <a:outerShdw blurRad="38100" dist="38100" dir="2700000" algn="tl">
                    <a:srgbClr val="000000">
                      <a:alpha val="43137"/>
                    </a:srgbClr>
                  </a:outerShdw>
                </a:effectLst>
              </a:rPr>
              <a:t>The index in the 3-axis coordinate system of hexagonal crystal system</a:t>
            </a:r>
            <a:r>
              <a:rPr lang="zh-CN" altLang="en-US" b="1" dirty="0">
                <a:solidFill>
                  <a:srgbClr val="FF0066"/>
                </a:solidFill>
                <a:effectLst>
                  <a:outerShdw blurRad="38100" dist="38100" dir="2700000" algn="tl">
                    <a:srgbClr val="000000">
                      <a:alpha val="43137"/>
                    </a:srgbClr>
                  </a:outerShdw>
                </a:effectLst>
              </a:rPr>
              <a:t>：</a:t>
            </a:r>
          </a:p>
          <a:p>
            <a:endParaRPr lang="en-US" sz="2800" dirty="0"/>
          </a:p>
          <a:p>
            <a:r>
              <a:rPr lang="en-US" altLang="zh-CN" dirty="0"/>
              <a:t>1. Build a coordinate syttem with </a:t>
            </a:r>
            <a:r>
              <a:rPr lang="en-US" altLang="zh-CN" b="1" i="1" dirty="0"/>
              <a:t>a</a:t>
            </a:r>
            <a:r>
              <a:rPr lang="en-US" altLang="zh-CN" b="1" i="1" baseline="-25000" dirty="0"/>
              <a:t>1</a:t>
            </a:r>
            <a:r>
              <a:rPr lang="en-US" altLang="zh-CN" b="1" i="1" dirty="0"/>
              <a:t>, a</a:t>
            </a:r>
            <a:r>
              <a:rPr lang="en-US" altLang="zh-CN" b="1" i="1" baseline="-25000" dirty="0"/>
              <a:t>2</a:t>
            </a:r>
            <a:r>
              <a:rPr lang="en-US" altLang="zh-CN" b="1" i="1" dirty="0">
                <a:sym typeface="+mn-ea"/>
              </a:rPr>
              <a:t>, </a:t>
            </a:r>
            <a:r>
              <a:rPr lang="en-US" altLang="zh-CN" b="1" i="1" dirty="0"/>
              <a:t>c </a:t>
            </a:r>
            <a:r>
              <a:rPr lang="en-US" altLang="zh-CN" dirty="0"/>
              <a:t>as axes</a:t>
            </a:r>
            <a:r>
              <a:rPr lang="zh-CN" altLang="en-US" dirty="0"/>
              <a:t>，</a:t>
            </a:r>
            <a:r>
              <a:rPr lang="en-US" altLang="zh-CN" dirty="0"/>
              <a:t>and the angle between </a:t>
            </a:r>
            <a:r>
              <a:rPr lang="en-US" altLang="zh-CN" b="1" i="1" dirty="0"/>
              <a:t>a</a:t>
            </a:r>
            <a:r>
              <a:rPr lang="en-US" altLang="zh-CN" b="1" i="1" baseline="-25000" dirty="0"/>
              <a:t>1 </a:t>
            </a:r>
            <a:r>
              <a:rPr lang="en-US" altLang="zh-CN" dirty="0"/>
              <a:t>and </a:t>
            </a:r>
            <a:r>
              <a:rPr lang="en-US" altLang="zh-CN" b="1" i="1" dirty="0"/>
              <a:t>a</a:t>
            </a:r>
            <a:r>
              <a:rPr lang="en-US" altLang="zh-CN" b="1" i="1" baseline="-25000" dirty="0"/>
              <a:t>2</a:t>
            </a:r>
            <a:r>
              <a:rPr lang="en-US" altLang="zh-CN" dirty="0"/>
              <a:t> is 120</a:t>
            </a:r>
            <a:r>
              <a:rPr lang="en-US" altLang="zh-CN" dirty="0">
                <a:latin typeface="微软雅黑" panose="020B0503020204020204" pitchFamily="34" charset="-122"/>
                <a:ea typeface="微软雅黑" panose="020B0503020204020204" pitchFamily="34" charset="-122"/>
              </a:rPr>
              <a:t>° .</a:t>
            </a:r>
            <a:r>
              <a:rPr lang="en-US" altLang="zh-CN" dirty="0"/>
              <a:t>（primitive cell coordinate system）</a:t>
            </a:r>
          </a:p>
          <a:p>
            <a:endParaRPr lang="en-US" altLang="zh-CN" sz="2000" dirty="0"/>
          </a:p>
          <a:p>
            <a:r>
              <a:rPr lang="en-US" altLang="zh-CN" dirty="0"/>
              <a:t>2. The indices of the six lateral planes should be (100), (010), (-110), (-100), (0-10), (1-10). </a:t>
            </a:r>
            <a:r>
              <a:rPr lang="en-US" altLang="zh-CN" dirty="0">
                <a:solidFill>
                  <a:srgbClr val="FF0000"/>
                </a:solidFill>
              </a:rPr>
              <a:t>Note, they are equivalent planes but with different indices.</a:t>
            </a:r>
          </a:p>
        </p:txBody>
      </p:sp>
      <p:grpSp>
        <p:nvGrpSpPr>
          <p:cNvPr id="15" name="Group 14"/>
          <p:cNvGrpSpPr/>
          <p:nvPr/>
        </p:nvGrpSpPr>
        <p:grpSpPr>
          <a:xfrm>
            <a:off x="6135502" y="2290331"/>
            <a:ext cx="2371154" cy="3232358"/>
            <a:chOff x="3609975" y="1866900"/>
            <a:chExt cx="2371154" cy="3232358"/>
          </a:xfrm>
        </p:grpSpPr>
        <p:sp>
          <p:nvSpPr>
            <p:cNvPr id="16" name="Freeform 15"/>
            <p:cNvSpPr/>
            <p:nvPr/>
          </p:nvSpPr>
          <p:spPr>
            <a:xfrm>
              <a:off x="3609975" y="3810000"/>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3609975" y="1876425"/>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stCxn id="16" idx="5"/>
              <a:endCxn id="17" idx="5"/>
            </p:cNvCxnSpPr>
            <p:nvPr/>
          </p:nvCxnSpPr>
          <p:spPr>
            <a:xfrm flipV="1">
              <a:off x="3609975" y="2390775"/>
              <a:ext cx="0" cy="19335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99097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496252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34025" y="2400300"/>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7" idx="0"/>
              <a:endCxn id="17" idx="3"/>
            </p:cNvCxnSpPr>
            <p:nvPr/>
          </p:nvCxnSpPr>
          <p:spPr>
            <a:xfrm>
              <a:off x="4191000" y="1885950"/>
              <a:ext cx="781050"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7" idx="4"/>
              <a:endCxn id="17" idx="1"/>
            </p:cNvCxnSpPr>
            <p:nvPr/>
          </p:nvCxnSpPr>
          <p:spPr>
            <a:xfrm flipV="1">
              <a:off x="4000500" y="1885950"/>
              <a:ext cx="1171575"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7" idx="5"/>
              <a:endCxn id="17" idx="2"/>
            </p:cNvCxnSpPr>
            <p:nvPr/>
          </p:nvCxnSpPr>
          <p:spPr>
            <a:xfrm>
              <a:off x="3609975" y="2390775"/>
              <a:ext cx="1943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3990975" y="4295775"/>
              <a:ext cx="590550" cy="485775"/>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581525" y="4305300"/>
              <a:ext cx="990600" cy="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4181475" y="1866900"/>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153025" y="1876425"/>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4572000" y="2400300"/>
              <a:ext cx="19050" cy="192405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725888" y="4699148"/>
              <a:ext cx="397866" cy="400110"/>
            </a:xfrm>
            <a:prstGeom prst="rect">
              <a:avLst/>
            </a:prstGeom>
            <a:noFill/>
          </p:spPr>
          <p:txBody>
            <a:bodyPr wrap="none" rtlCol="0">
              <a:spAutoFit/>
            </a:bodyPr>
            <a:lstStyle/>
            <a:p>
              <a:r>
                <a:rPr lang="en-US" sz="2000" b="1" i="1" dirty="0"/>
                <a:t>a</a:t>
              </a:r>
              <a:r>
                <a:rPr lang="en-US" sz="2000" b="1" i="1" baseline="-25000" dirty="0"/>
                <a:t>1</a:t>
              </a:r>
            </a:p>
          </p:txBody>
        </p:sp>
        <p:sp>
          <p:nvSpPr>
            <p:cNvPr id="31" name="TextBox 30"/>
            <p:cNvSpPr txBox="1"/>
            <p:nvPr/>
          </p:nvSpPr>
          <p:spPr>
            <a:xfrm>
              <a:off x="5583263" y="4118123"/>
              <a:ext cx="397866" cy="400110"/>
            </a:xfrm>
            <a:prstGeom prst="rect">
              <a:avLst/>
            </a:prstGeom>
            <a:noFill/>
          </p:spPr>
          <p:txBody>
            <a:bodyPr wrap="none" rtlCol="0">
              <a:spAutoFit/>
            </a:bodyPr>
            <a:lstStyle/>
            <a:p>
              <a:r>
                <a:rPr lang="en-US" sz="2000" b="1" i="1" dirty="0"/>
                <a:t>a</a:t>
              </a:r>
              <a:r>
                <a:rPr lang="en-US" sz="2000" b="1" i="1" baseline="-25000" dirty="0"/>
                <a:t>2</a:t>
              </a:r>
            </a:p>
          </p:txBody>
        </p:sp>
        <p:sp>
          <p:nvSpPr>
            <p:cNvPr id="32" name="TextBox 31"/>
            <p:cNvSpPr txBox="1"/>
            <p:nvPr/>
          </p:nvSpPr>
          <p:spPr>
            <a:xfrm>
              <a:off x="4276154" y="2405796"/>
              <a:ext cx="298480" cy="400110"/>
            </a:xfrm>
            <a:prstGeom prst="rect">
              <a:avLst/>
            </a:prstGeom>
            <a:noFill/>
          </p:spPr>
          <p:txBody>
            <a:bodyPr wrap="none" rtlCol="0">
              <a:spAutoFit/>
            </a:bodyPr>
            <a:lstStyle/>
            <a:p>
              <a:r>
                <a:rPr lang="en-US" sz="2000" b="1" i="1" dirty="0"/>
                <a:t>c</a:t>
              </a:r>
              <a:endParaRPr lang="en-US" sz="2000" b="1" i="1" baseline="-25000" dirty="0"/>
            </a:p>
          </p:txBody>
        </p:sp>
      </p:grpSp>
      <p:sp>
        <p:nvSpPr>
          <p:cNvPr id="6" name="Rectangle 5"/>
          <p:cNvSpPr/>
          <p:nvPr/>
        </p:nvSpPr>
        <p:spPr>
          <a:xfrm>
            <a:off x="6534676" y="3284134"/>
            <a:ext cx="983411" cy="1949570"/>
          </a:xfrm>
          <a:prstGeom prst="rect">
            <a:avLst/>
          </a:prstGeom>
          <a:solidFill>
            <a:srgbClr val="0000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文本框 2"/>
          <p:cNvSpPr txBox="1"/>
          <p:nvPr/>
        </p:nvSpPr>
        <p:spPr>
          <a:xfrm>
            <a:off x="5459338" y="5637966"/>
            <a:ext cx="3493770" cy="460375"/>
          </a:xfrm>
          <a:prstGeom prst="rect">
            <a:avLst/>
          </a:prstGeom>
          <a:noFill/>
        </p:spPr>
        <p:txBody>
          <a:bodyPr wrap="none" rtlCol="0">
            <a:spAutoFit/>
          </a:bodyPr>
          <a:lstStyle/>
          <a:p>
            <a:pPr algn="l"/>
            <a:r>
              <a:rPr lang="en-US" altLang="zh-CN" dirty="0"/>
              <a:t>the intercepts are (a, </a:t>
            </a:r>
            <a:r>
              <a:rPr lang="en-US" altLang="zh-CN" dirty="0">
                <a:sym typeface="+mn-ea"/>
              </a:rPr>
              <a:t>∞,∞</a:t>
            </a:r>
            <a:r>
              <a:rPr lang="en-US" altLang="zh-CN" dirty="0"/>
              <a:t>)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08720"/>
            <a:ext cx="4968552" cy="4373563"/>
          </a:xfrm>
        </p:spPr>
        <p:txBody>
          <a:bodyPr/>
          <a:lstStyle/>
          <a:p>
            <a:r>
              <a:rPr lang="en-US" altLang="zh-CN" sz="2400" b="0" dirty="0"/>
              <a:t>3. Similar phenomenon can be also found in </a:t>
            </a:r>
            <a:r>
              <a:rPr lang="en-US" altLang="zh-CN" sz="2400" b="0" dirty="0">
                <a:sym typeface="+mn-ea"/>
              </a:rPr>
              <a:t>direction </a:t>
            </a:r>
            <a:r>
              <a:rPr lang="en-US" altLang="zh-CN" sz="2400" b="0" dirty="0"/>
              <a:t>indexing. For example, the direction [100] is equivalent to the direction [110].</a:t>
            </a:r>
          </a:p>
          <a:p>
            <a:r>
              <a:rPr lang="en-US" sz="2400" b="0" dirty="0"/>
              <a:t>4. In order to solve this problem, 4-axis coordinate system (unit cell coordinate system) is applied to index the hexagonal crystal system. The corresponding index is called Miler-Bravais index </a:t>
            </a:r>
            <a:r>
              <a:rPr lang="zh-CN" altLang="en-US" sz="2400" b="0" dirty="0"/>
              <a:t>（密勒</a:t>
            </a:r>
            <a:r>
              <a:rPr lang="en-US" altLang="zh-CN" sz="2400" b="0" dirty="0"/>
              <a:t>-</a:t>
            </a:r>
            <a:r>
              <a:rPr lang="zh-CN" altLang="en-US" sz="2400" b="0" dirty="0"/>
              <a:t>布拉菲指数）</a:t>
            </a:r>
            <a:r>
              <a:rPr lang="en-US" sz="2400" b="0" dirty="0"/>
              <a:t>.</a:t>
            </a:r>
          </a:p>
          <a:p>
            <a:endParaRPr lang="en-US" sz="2400" b="0" dirty="0"/>
          </a:p>
        </p:txBody>
      </p:sp>
      <p:grpSp>
        <p:nvGrpSpPr>
          <p:cNvPr id="5" name="Group 4"/>
          <p:cNvGrpSpPr/>
          <p:nvPr/>
        </p:nvGrpSpPr>
        <p:grpSpPr>
          <a:xfrm>
            <a:off x="6026250" y="1198027"/>
            <a:ext cx="2371154" cy="3232358"/>
            <a:chOff x="3609975" y="1866900"/>
            <a:chExt cx="2371154" cy="3232358"/>
          </a:xfrm>
        </p:grpSpPr>
        <p:sp>
          <p:nvSpPr>
            <p:cNvPr id="6" name="Freeform 5"/>
            <p:cNvSpPr/>
            <p:nvPr/>
          </p:nvSpPr>
          <p:spPr>
            <a:xfrm>
              <a:off x="3609975" y="3810000"/>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3609975" y="1876425"/>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6" idx="5"/>
              <a:endCxn id="7" idx="5"/>
            </p:cNvCxnSpPr>
            <p:nvPr/>
          </p:nvCxnSpPr>
          <p:spPr>
            <a:xfrm flipV="1">
              <a:off x="3609975" y="2390775"/>
              <a:ext cx="0" cy="19335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99097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96252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5534025" y="2400300"/>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7" idx="0"/>
              <a:endCxn id="7" idx="3"/>
            </p:cNvCxnSpPr>
            <p:nvPr/>
          </p:nvCxnSpPr>
          <p:spPr>
            <a:xfrm>
              <a:off x="4191000" y="1885950"/>
              <a:ext cx="781050"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4"/>
              <a:endCxn id="7" idx="1"/>
            </p:cNvCxnSpPr>
            <p:nvPr/>
          </p:nvCxnSpPr>
          <p:spPr>
            <a:xfrm flipV="1">
              <a:off x="4000500" y="1885950"/>
              <a:ext cx="1171575"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5"/>
              <a:endCxn id="7" idx="2"/>
            </p:cNvCxnSpPr>
            <p:nvPr/>
          </p:nvCxnSpPr>
          <p:spPr>
            <a:xfrm>
              <a:off x="3609975" y="2390775"/>
              <a:ext cx="1943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3990975" y="4295775"/>
              <a:ext cx="590550" cy="485775"/>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581525" y="4305300"/>
              <a:ext cx="990600" cy="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181475" y="1866900"/>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153025" y="1876425"/>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4572000" y="2400300"/>
              <a:ext cx="19050" cy="192405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25888" y="4699148"/>
              <a:ext cx="397866" cy="400110"/>
            </a:xfrm>
            <a:prstGeom prst="rect">
              <a:avLst/>
            </a:prstGeom>
            <a:noFill/>
          </p:spPr>
          <p:txBody>
            <a:bodyPr wrap="none" rtlCol="0">
              <a:spAutoFit/>
            </a:bodyPr>
            <a:lstStyle/>
            <a:p>
              <a:r>
                <a:rPr lang="en-US" sz="2000" b="1" i="1" dirty="0"/>
                <a:t>a</a:t>
              </a:r>
              <a:r>
                <a:rPr lang="en-US" sz="2000" b="1" i="1" baseline="-25000" dirty="0"/>
                <a:t>1</a:t>
              </a:r>
            </a:p>
          </p:txBody>
        </p:sp>
        <p:sp>
          <p:nvSpPr>
            <p:cNvPr id="21" name="TextBox 20"/>
            <p:cNvSpPr txBox="1"/>
            <p:nvPr/>
          </p:nvSpPr>
          <p:spPr>
            <a:xfrm>
              <a:off x="5583263" y="4118123"/>
              <a:ext cx="397866" cy="400110"/>
            </a:xfrm>
            <a:prstGeom prst="rect">
              <a:avLst/>
            </a:prstGeom>
            <a:noFill/>
          </p:spPr>
          <p:txBody>
            <a:bodyPr wrap="none" rtlCol="0">
              <a:spAutoFit/>
            </a:bodyPr>
            <a:lstStyle/>
            <a:p>
              <a:r>
                <a:rPr lang="en-US" sz="2000" b="1" i="1" dirty="0"/>
                <a:t>a</a:t>
              </a:r>
              <a:r>
                <a:rPr lang="en-US" sz="2000" b="1" i="1" baseline="-25000" dirty="0"/>
                <a:t>2</a:t>
              </a:r>
            </a:p>
          </p:txBody>
        </p:sp>
        <p:sp>
          <p:nvSpPr>
            <p:cNvPr id="22" name="TextBox 21"/>
            <p:cNvSpPr txBox="1"/>
            <p:nvPr/>
          </p:nvSpPr>
          <p:spPr>
            <a:xfrm>
              <a:off x="4276154" y="2405796"/>
              <a:ext cx="298480" cy="400110"/>
            </a:xfrm>
            <a:prstGeom prst="rect">
              <a:avLst/>
            </a:prstGeom>
            <a:noFill/>
          </p:spPr>
          <p:txBody>
            <a:bodyPr wrap="none" rtlCol="0">
              <a:spAutoFit/>
            </a:bodyPr>
            <a:lstStyle/>
            <a:p>
              <a:r>
                <a:rPr lang="en-US" sz="2000" b="1" i="1" dirty="0"/>
                <a:t>c</a:t>
              </a:r>
              <a:endParaRPr lang="en-US" sz="2000" b="1" i="1" baseline="-25000" dirty="0"/>
            </a:p>
          </p:txBody>
        </p:sp>
      </p:grpSp>
      <p:sp>
        <p:nvSpPr>
          <p:cNvPr id="4" name="TextBox 3"/>
          <p:cNvSpPr txBox="1"/>
          <p:nvPr/>
        </p:nvSpPr>
        <p:spPr>
          <a:xfrm>
            <a:off x="5858860" y="4340530"/>
            <a:ext cx="851515" cy="461665"/>
          </a:xfrm>
          <a:prstGeom prst="rect">
            <a:avLst/>
          </a:prstGeom>
          <a:noFill/>
        </p:spPr>
        <p:txBody>
          <a:bodyPr wrap="none" rtlCol="0">
            <a:spAutoFit/>
          </a:bodyPr>
          <a:lstStyle/>
          <a:p>
            <a:r>
              <a:rPr lang="en-US" b="1" dirty="0"/>
              <a:t>[100]</a:t>
            </a:r>
          </a:p>
        </p:txBody>
      </p:sp>
      <p:sp>
        <p:nvSpPr>
          <p:cNvPr id="25" name="TextBox 24"/>
          <p:cNvSpPr txBox="1"/>
          <p:nvPr/>
        </p:nvSpPr>
        <p:spPr>
          <a:xfrm>
            <a:off x="6962567" y="4430385"/>
            <a:ext cx="851515" cy="461665"/>
          </a:xfrm>
          <a:prstGeom prst="rect">
            <a:avLst/>
          </a:prstGeom>
          <a:noFill/>
        </p:spPr>
        <p:txBody>
          <a:bodyPr wrap="none" rtlCol="0">
            <a:spAutoFit/>
          </a:bodyPr>
          <a:lstStyle/>
          <a:p>
            <a:r>
              <a:rPr lang="en-US" b="1" dirty="0"/>
              <a:t>[110]</a:t>
            </a:r>
          </a:p>
        </p:txBody>
      </p:sp>
      <p:cxnSp>
        <p:nvCxnSpPr>
          <p:cNvPr id="26" name="Straight Arrow Connector 25"/>
          <p:cNvCxnSpPr/>
          <p:nvPr/>
        </p:nvCxnSpPr>
        <p:spPr>
          <a:xfrm flipH="1">
            <a:off x="5292080" y="3626902"/>
            <a:ext cx="1715245" cy="1314266"/>
          </a:xfrm>
          <a:prstGeom prst="straightConnector1">
            <a:avLst/>
          </a:prstGeom>
          <a:ln>
            <a:solidFill>
              <a:srgbClr val="00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6997801" y="3655477"/>
            <a:ext cx="1005347" cy="1146718"/>
          </a:xfrm>
          <a:prstGeom prst="straightConnector1">
            <a:avLst/>
          </a:prstGeom>
          <a:ln>
            <a:solidFill>
              <a:srgbClr val="00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87959" y="5445224"/>
            <a:ext cx="9039225" cy="1292662"/>
          </a:xfrm>
          <a:prstGeom prst="rect">
            <a:avLst/>
          </a:prstGeom>
          <a:noFill/>
        </p:spPr>
        <p:txBody>
          <a:bodyPr wrap="square" rtlCol="0">
            <a:spAutoFit/>
          </a:bodyPr>
          <a:lstStyle/>
          <a:p>
            <a:r>
              <a:rPr lang="en-US" sz="2600" b="1" u="sng" dirty="0">
                <a:solidFill>
                  <a:srgbClr val="FF0066"/>
                </a:solidFill>
                <a:effectLst>
                  <a:outerShdw blurRad="38100" dist="38100" dir="2700000" algn="tl">
                    <a:srgbClr val="000000">
                      <a:alpha val="43137"/>
                    </a:srgbClr>
                  </a:outerShdw>
                </a:effectLst>
              </a:rPr>
              <a:t>4-axis system is built to solve the problem that equivalent planes and directions have different indices in hexagonal crystal system.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a:xfrm>
            <a:off x="179789" y="274995"/>
            <a:ext cx="8783638" cy="800100"/>
          </a:xfrm>
          <a:noFill/>
        </p:spPr>
        <p:txBody>
          <a:bodyPr anchor="b">
            <a:noAutofit/>
          </a:bodyPr>
          <a:lstStyle/>
          <a:p>
            <a:r>
              <a:rPr lang="en-US" altLang="zh-CN" sz="2800" cap="none" dirty="0">
                <a:sym typeface="+mn-ea"/>
              </a:rPr>
              <a:t>Index of directions and planes in hexagonal crystal system</a:t>
            </a:r>
            <a:endParaRPr lang="en-US" altLang="zh-CN" sz="2800" b="1" cap="none" dirty="0">
              <a:sym typeface="+mn-ea"/>
            </a:endParaRPr>
          </a:p>
        </p:txBody>
      </p:sp>
      <p:sp>
        <p:nvSpPr>
          <p:cNvPr id="2" name="Rectangle 1"/>
          <p:cNvSpPr/>
          <p:nvPr/>
        </p:nvSpPr>
        <p:spPr>
          <a:xfrm>
            <a:off x="95250" y="1075055"/>
            <a:ext cx="5484862" cy="4093428"/>
          </a:xfrm>
          <a:prstGeom prst="rect">
            <a:avLst/>
          </a:prstGeom>
        </p:spPr>
        <p:txBody>
          <a:bodyPr wrap="square">
            <a:spAutoFit/>
          </a:bodyPr>
          <a:lstStyle/>
          <a:p>
            <a:r>
              <a:rPr lang="en-US" altLang="zh-CN" b="1" dirty="0">
                <a:solidFill>
                  <a:srgbClr val="FF0066"/>
                </a:solidFill>
                <a:sym typeface="+mn-ea"/>
              </a:rPr>
              <a:t>The index in the 4-axis coordinate system of hexagonal crystal system</a:t>
            </a:r>
            <a:r>
              <a:rPr lang="zh-CN" altLang="en-US" b="1" dirty="0">
                <a:solidFill>
                  <a:srgbClr val="FF0066"/>
                </a:solidFill>
                <a:sym typeface="+mn-ea"/>
              </a:rPr>
              <a:t>：</a:t>
            </a:r>
            <a:endParaRPr lang="en-US" altLang="zh-CN" b="1" dirty="0">
              <a:solidFill>
                <a:srgbClr val="FF0066"/>
              </a:solidFill>
              <a:sym typeface="+mn-ea"/>
            </a:endParaRPr>
          </a:p>
          <a:p>
            <a:endParaRPr lang="en-US" altLang="zh-CN" sz="1000" b="1" dirty="0">
              <a:solidFill>
                <a:srgbClr val="FF0066"/>
              </a:solidFill>
            </a:endParaRPr>
          </a:p>
          <a:p>
            <a:r>
              <a:rPr lang="en-US" altLang="zh-CN" sz="2000" dirty="0"/>
              <a:t>1. </a:t>
            </a:r>
            <a:r>
              <a:rPr lang="en-US" altLang="zh-CN" sz="2000" dirty="0">
                <a:sym typeface="+mn-ea"/>
              </a:rPr>
              <a:t>Build a coordinate syttem with </a:t>
            </a:r>
            <a:r>
              <a:rPr lang="en-US" altLang="zh-CN" sz="2000" b="1" i="1" dirty="0">
                <a:sym typeface="+mn-ea"/>
              </a:rPr>
              <a:t>a</a:t>
            </a:r>
            <a:r>
              <a:rPr lang="en-US" altLang="zh-CN" sz="2000" b="1" i="1" baseline="-25000" dirty="0">
                <a:sym typeface="+mn-ea"/>
              </a:rPr>
              <a:t>1</a:t>
            </a:r>
            <a:r>
              <a:rPr lang="en-US" altLang="zh-CN" sz="2000" b="1" i="1" dirty="0">
                <a:sym typeface="+mn-ea"/>
              </a:rPr>
              <a:t>, a</a:t>
            </a:r>
            <a:r>
              <a:rPr lang="en-US" altLang="zh-CN" sz="2000" b="1" i="1" baseline="-25000" dirty="0">
                <a:sym typeface="+mn-ea"/>
              </a:rPr>
              <a:t>2</a:t>
            </a:r>
            <a:r>
              <a:rPr lang="en-US" altLang="zh-CN" sz="2000" b="1" i="1" dirty="0">
                <a:sym typeface="+mn-ea"/>
              </a:rPr>
              <a:t>, a</a:t>
            </a:r>
            <a:r>
              <a:rPr lang="en-US" altLang="zh-CN" sz="2000" b="1" i="1" baseline="-25000" dirty="0">
                <a:sym typeface="+mn-ea"/>
              </a:rPr>
              <a:t>3 </a:t>
            </a:r>
            <a:r>
              <a:rPr lang="en-US" altLang="zh-CN" sz="2000" dirty="0">
                <a:sym typeface="+mn-ea"/>
              </a:rPr>
              <a:t>and</a:t>
            </a:r>
            <a:r>
              <a:rPr lang="en-US" altLang="zh-CN" sz="2000" b="1" i="1" dirty="0">
                <a:sym typeface="+mn-ea"/>
              </a:rPr>
              <a:t> c </a:t>
            </a:r>
            <a:r>
              <a:rPr lang="en-US" altLang="zh-CN" sz="2000" dirty="0">
                <a:sym typeface="+mn-ea"/>
              </a:rPr>
              <a:t>as axes, and the angle between </a:t>
            </a:r>
            <a:r>
              <a:rPr lang="en-US" altLang="zh-CN" sz="2000" b="1" i="1" dirty="0">
                <a:sym typeface="+mn-ea"/>
              </a:rPr>
              <a:t>a</a:t>
            </a:r>
            <a:r>
              <a:rPr lang="en-US" altLang="zh-CN" sz="2000" b="1" i="1" baseline="-25000" dirty="0">
                <a:sym typeface="+mn-ea"/>
              </a:rPr>
              <a:t>1</a:t>
            </a:r>
            <a:r>
              <a:rPr lang="en-US" altLang="zh-CN" sz="2000" b="1" i="1" dirty="0">
                <a:sym typeface="+mn-ea"/>
              </a:rPr>
              <a:t>, a</a:t>
            </a:r>
            <a:r>
              <a:rPr lang="en-US" altLang="zh-CN" sz="2000" b="1" i="1" baseline="-25000" dirty="0">
                <a:sym typeface="+mn-ea"/>
              </a:rPr>
              <a:t>2</a:t>
            </a:r>
            <a:r>
              <a:rPr lang="en-US" altLang="zh-CN" sz="2000" b="1" i="1" dirty="0">
                <a:sym typeface="+mn-ea"/>
              </a:rPr>
              <a:t>, a</a:t>
            </a:r>
            <a:r>
              <a:rPr lang="en-US" altLang="zh-CN" sz="2000" b="1" i="1" baseline="-25000" dirty="0">
                <a:sym typeface="+mn-ea"/>
              </a:rPr>
              <a:t>3  </a:t>
            </a:r>
            <a:r>
              <a:rPr lang="en-US" altLang="zh-CN" sz="2000" dirty="0">
                <a:sym typeface="+mn-ea"/>
              </a:rPr>
              <a:t>is 120</a:t>
            </a:r>
            <a:r>
              <a:rPr lang="en-US" altLang="zh-CN" sz="2000" dirty="0">
                <a:latin typeface="微软雅黑" panose="020B0503020204020204" pitchFamily="34" charset="-122"/>
                <a:ea typeface="微软雅黑" panose="020B0503020204020204" pitchFamily="34" charset="-122"/>
                <a:sym typeface="+mn-ea"/>
              </a:rPr>
              <a:t>°</a:t>
            </a:r>
            <a:r>
              <a:rPr lang="zh-CN" altLang="en-US" sz="1800" dirty="0"/>
              <a:t>；</a:t>
            </a:r>
          </a:p>
          <a:p>
            <a:r>
              <a:rPr lang="en-US" sz="2000" dirty="0"/>
              <a:t>2. The index </a:t>
            </a:r>
            <a:r>
              <a:rPr lang="en-US" sz="2000" b="1" dirty="0">
                <a:solidFill>
                  <a:srgbClr val="FF0066"/>
                </a:solidFill>
              </a:rPr>
              <a:t>h k l </a:t>
            </a:r>
            <a:r>
              <a:rPr lang="en-US" sz="2000" dirty="0"/>
              <a:t>of plane can be obtained via the method mentioned before, but it requires four index numbers, expressed as </a:t>
            </a:r>
            <a:r>
              <a:rPr lang="en-US" sz="2000" b="1" dirty="0">
                <a:solidFill>
                  <a:srgbClr val="FF0066"/>
                </a:solidFill>
              </a:rPr>
              <a:t>(</a:t>
            </a:r>
            <a:r>
              <a:rPr lang="en-US" altLang="zh-CN" sz="2000" b="1" dirty="0">
                <a:solidFill>
                  <a:srgbClr val="FF0066"/>
                </a:solidFill>
              </a:rPr>
              <a:t>h k </a:t>
            </a:r>
            <a:r>
              <a:rPr lang="en-US" altLang="zh-CN" sz="2000" b="1" dirty="0" err="1">
                <a:solidFill>
                  <a:srgbClr val="FF0066"/>
                </a:solidFill>
              </a:rPr>
              <a:t>i</a:t>
            </a:r>
            <a:r>
              <a:rPr lang="en-US" altLang="zh-CN" sz="2000" b="1" dirty="0">
                <a:solidFill>
                  <a:srgbClr val="FF0066"/>
                </a:solidFill>
              </a:rPr>
              <a:t> l)</a:t>
            </a:r>
            <a:r>
              <a:rPr lang="zh-CN" altLang="en-US" sz="1800" dirty="0"/>
              <a:t>；</a:t>
            </a:r>
          </a:p>
          <a:p>
            <a:pPr latinLnBrk="1"/>
            <a:r>
              <a:rPr lang="en-US" sz="2000" dirty="0"/>
              <a:t>3. </a:t>
            </a:r>
            <a:r>
              <a:rPr sz="2000" dirty="0"/>
              <a:t>According to the three-dimensional geometry, </a:t>
            </a:r>
            <a:r>
              <a:rPr lang="en-US" sz="2000" dirty="0"/>
              <a:t>the number of </a:t>
            </a:r>
            <a:r>
              <a:rPr sz="2000" dirty="0"/>
              <a:t>ind</a:t>
            </a:r>
            <a:r>
              <a:rPr lang="en-US" sz="2000" dirty="0"/>
              <a:t>e</a:t>
            </a:r>
            <a:r>
              <a:rPr sz="2000" dirty="0"/>
              <a:t>pendent ax</a:t>
            </a:r>
            <a:r>
              <a:rPr lang="en-US" sz="2000" dirty="0"/>
              <a:t>es can</a:t>
            </a:r>
            <a:r>
              <a:rPr sz="2000" dirty="0"/>
              <a:t> not exceed three. </a:t>
            </a:r>
            <a:endParaRPr lang="en-US" sz="2000" dirty="0"/>
          </a:p>
          <a:p>
            <a:pPr latinLnBrk="1"/>
            <a:r>
              <a:rPr sz="2000" dirty="0"/>
              <a:t>In the above method, </a:t>
            </a:r>
            <a:r>
              <a:rPr lang="en-US" sz="2000" dirty="0"/>
              <a:t>one of </a:t>
            </a:r>
            <a:r>
              <a:rPr sz="2000" dirty="0"/>
              <a:t>h, k, and </a:t>
            </a:r>
            <a:r>
              <a:rPr sz="2000" dirty="0" err="1"/>
              <a:t>i</a:t>
            </a:r>
            <a:r>
              <a:rPr sz="2000" dirty="0"/>
              <a:t> in the same </a:t>
            </a:r>
            <a:endParaRPr lang="en-US" sz="2000" dirty="0"/>
          </a:p>
          <a:p>
            <a:pPr latinLnBrk="1"/>
            <a:r>
              <a:rPr sz="2000" dirty="0"/>
              <a:t>plane </a:t>
            </a:r>
            <a:r>
              <a:rPr lang="en-US" sz="2000" dirty="0"/>
              <a:t>cannot </a:t>
            </a:r>
            <a:r>
              <a:rPr sz="2000" dirty="0"/>
              <a:t>be independent</a:t>
            </a:r>
            <a:r>
              <a:rPr lang="en-US" sz="2000" dirty="0"/>
              <a:t>. The following relationship can be verified,   </a:t>
            </a:r>
            <a:r>
              <a:rPr lang="en-US" altLang="zh-CN" sz="2000" b="1" dirty="0" err="1">
                <a:solidFill>
                  <a:srgbClr val="FF0066"/>
                </a:solidFill>
              </a:rPr>
              <a:t>i</a:t>
            </a:r>
            <a:r>
              <a:rPr lang="en-US" altLang="zh-CN" sz="2000" b="1" dirty="0">
                <a:solidFill>
                  <a:srgbClr val="FF0066"/>
                </a:solidFill>
              </a:rPr>
              <a:t> </a:t>
            </a:r>
            <a:r>
              <a:rPr lang="zh-CN" altLang="en-US" sz="2000" b="1" dirty="0">
                <a:solidFill>
                  <a:srgbClr val="FF0066"/>
                </a:solidFill>
              </a:rPr>
              <a:t>＝ </a:t>
            </a:r>
            <a:r>
              <a:rPr lang="en-US" altLang="zh-CN" sz="2000" b="1" dirty="0">
                <a:solidFill>
                  <a:srgbClr val="FF0066"/>
                </a:solidFill>
              </a:rPr>
              <a:t>- (h </a:t>
            </a:r>
            <a:r>
              <a:rPr lang="zh-CN" altLang="en-US" sz="2000" b="1" dirty="0">
                <a:solidFill>
                  <a:srgbClr val="FF0066"/>
                </a:solidFill>
              </a:rPr>
              <a:t>＋ </a:t>
            </a:r>
            <a:r>
              <a:rPr lang="en-US" altLang="zh-CN" sz="2000" b="1" dirty="0">
                <a:solidFill>
                  <a:srgbClr val="FF0066"/>
                </a:solidFill>
              </a:rPr>
              <a:t>k)</a:t>
            </a:r>
            <a:r>
              <a:rPr lang="zh-CN" altLang="en-US" sz="2000" dirty="0"/>
              <a:t>；</a:t>
            </a:r>
            <a:endParaRPr lang="en-US" dirty="0"/>
          </a:p>
        </p:txBody>
      </p:sp>
      <p:grpSp>
        <p:nvGrpSpPr>
          <p:cNvPr id="33" name="Group 32"/>
          <p:cNvGrpSpPr/>
          <p:nvPr/>
        </p:nvGrpSpPr>
        <p:grpSpPr>
          <a:xfrm>
            <a:off x="5782196" y="1558717"/>
            <a:ext cx="2371154" cy="3232358"/>
            <a:chOff x="3609975" y="1866900"/>
            <a:chExt cx="2371154" cy="3232358"/>
          </a:xfrm>
        </p:grpSpPr>
        <p:grpSp>
          <p:nvGrpSpPr>
            <p:cNvPr id="34" name="Group 33"/>
            <p:cNvGrpSpPr/>
            <p:nvPr/>
          </p:nvGrpSpPr>
          <p:grpSpPr>
            <a:xfrm>
              <a:off x="3609975" y="1866900"/>
              <a:ext cx="2371154" cy="3232358"/>
              <a:chOff x="3609975" y="1866900"/>
              <a:chExt cx="2371154" cy="3232358"/>
            </a:xfrm>
          </p:grpSpPr>
          <p:sp>
            <p:nvSpPr>
              <p:cNvPr id="37" name="Freeform 36"/>
              <p:cNvSpPr/>
              <p:nvPr/>
            </p:nvSpPr>
            <p:spPr>
              <a:xfrm>
                <a:off x="3609975" y="3810000"/>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3609975" y="1876425"/>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37" idx="5"/>
                <a:endCxn id="38" idx="5"/>
              </p:cNvCxnSpPr>
              <p:nvPr/>
            </p:nvCxnSpPr>
            <p:spPr>
              <a:xfrm flipV="1">
                <a:off x="3609975" y="2390775"/>
                <a:ext cx="0" cy="19335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399097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496252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34025" y="2400300"/>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8" idx="0"/>
                <a:endCxn id="38" idx="3"/>
              </p:cNvCxnSpPr>
              <p:nvPr/>
            </p:nvCxnSpPr>
            <p:spPr>
              <a:xfrm>
                <a:off x="4191000" y="1885950"/>
                <a:ext cx="781050"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8" idx="4"/>
                <a:endCxn id="38" idx="1"/>
              </p:cNvCxnSpPr>
              <p:nvPr/>
            </p:nvCxnSpPr>
            <p:spPr>
              <a:xfrm flipV="1">
                <a:off x="4000500" y="1885950"/>
                <a:ext cx="1171575"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8" idx="5"/>
                <a:endCxn id="38" idx="2"/>
              </p:cNvCxnSpPr>
              <p:nvPr/>
            </p:nvCxnSpPr>
            <p:spPr>
              <a:xfrm>
                <a:off x="3609975" y="2390775"/>
                <a:ext cx="1943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990975" y="4295775"/>
                <a:ext cx="590550" cy="485775"/>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581525" y="4305300"/>
                <a:ext cx="990600" cy="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4181475" y="1866900"/>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153025" y="1876425"/>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572000" y="2400300"/>
                <a:ext cx="19050" cy="192405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725888" y="4699148"/>
                <a:ext cx="397866" cy="400110"/>
              </a:xfrm>
              <a:prstGeom prst="rect">
                <a:avLst/>
              </a:prstGeom>
              <a:noFill/>
            </p:spPr>
            <p:txBody>
              <a:bodyPr wrap="none" rtlCol="0">
                <a:spAutoFit/>
              </a:bodyPr>
              <a:lstStyle/>
              <a:p>
                <a:r>
                  <a:rPr lang="en-US" sz="2000" b="1" i="1" dirty="0"/>
                  <a:t>a</a:t>
                </a:r>
                <a:r>
                  <a:rPr lang="en-US" sz="2000" b="1" i="1" baseline="-25000" dirty="0"/>
                  <a:t>1</a:t>
                </a:r>
              </a:p>
            </p:txBody>
          </p:sp>
          <p:sp>
            <p:nvSpPr>
              <p:cNvPr id="52" name="TextBox 51"/>
              <p:cNvSpPr txBox="1"/>
              <p:nvPr/>
            </p:nvSpPr>
            <p:spPr>
              <a:xfrm>
                <a:off x="5583263" y="4118123"/>
                <a:ext cx="397866" cy="400110"/>
              </a:xfrm>
              <a:prstGeom prst="rect">
                <a:avLst/>
              </a:prstGeom>
              <a:noFill/>
            </p:spPr>
            <p:txBody>
              <a:bodyPr wrap="none" rtlCol="0">
                <a:spAutoFit/>
              </a:bodyPr>
              <a:lstStyle/>
              <a:p>
                <a:r>
                  <a:rPr lang="en-US" sz="2000" b="1" i="1" dirty="0"/>
                  <a:t>a</a:t>
                </a:r>
                <a:r>
                  <a:rPr lang="en-US" sz="2000" b="1" i="1" baseline="-25000" dirty="0"/>
                  <a:t>2</a:t>
                </a:r>
              </a:p>
            </p:txBody>
          </p:sp>
          <p:sp>
            <p:nvSpPr>
              <p:cNvPr id="53" name="TextBox 52"/>
              <p:cNvSpPr txBox="1"/>
              <p:nvPr/>
            </p:nvSpPr>
            <p:spPr>
              <a:xfrm>
                <a:off x="4276154" y="2405796"/>
                <a:ext cx="298480" cy="400110"/>
              </a:xfrm>
              <a:prstGeom prst="rect">
                <a:avLst/>
              </a:prstGeom>
              <a:noFill/>
            </p:spPr>
            <p:txBody>
              <a:bodyPr wrap="none" rtlCol="0">
                <a:spAutoFit/>
              </a:bodyPr>
              <a:lstStyle/>
              <a:p>
                <a:r>
                  <a:rPr lang="en-US" sz="2000" b="1" i="1" dirty="0"/>
                  <a:t>c</a:t>
                </a:r>
                <a:endParaRPr lang="en-US" sz="2000" b="1" i="1" baseline="-25000" dirty="0"/>
              </a:p>
            </p:txBody>
          </p:sp>
        </p:grpSp>
        <p:cxnSp>
          <p:nvCxnSpPr>
            <p:cNvPr id="35" name="Straight Connector 34"/>
            <p:cNvCxnSpPr>
              <a:stCxn id="37" idx="0"/>
            </p:cNvCxnSpPr>
            <p:nvPr/>
          </p:nvCxnSpPr>
          <p:spPr>
            <a:xfrm>
              <a:off x="4191000" y="3819525"/>
              <a:ext cx="390525" cy="485776"/>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183659" y="3408540"/>
              <a:ext cx="397866" cy="400110"/>
            </a:xfrm>
            <a:prstGeom prst="rect">
              <a:avLst/>
            </a:prstGeom>
            <a:noFill/>
          </p:spPr>
          <p:txBody>
            <a:bodyPr wrap="none" rtlCol="0">
              <a:spAutoFit/>
            </a:bodyPr>
            <a:lstStyle/>
            <a:p>
              <a:r>
                <a:rPr lang="en-US" sz="2000" b="1" i="1" dirty="0"/>
                <a:t>a</a:t>
              </a:r>
              <a:r>
                <a:rPr lang="en-US" sz="2000" b="1" i="1" baseline="-25000" dirty="0"/>
                <a:t>3</a:t>
              </a:r>
            </a:p>
          </p:txBody>
        </p:sp>
      </p:grpSp>
      <p:sp>
        <p:nvSpPr>
          <p:cNvPr id="6" name="Rectangle 5"/>
          <p:cNvSpPr/>
          <p:nvPr/>
        </p:nvSpPr>
        <p:spPr>
          <a:xfrm>
            <a:off x="95250" y="5517232"/>
            <a:ext cx="8973820" cy="1015663"/>
          </a:xfrm>
          <a:prstGeom prst="rect">
            <a:avLst/>
          </a:prstGeom>
        </p:spPr>
        <p:txBody>
          <a:bodyPr wrap="square">
            <a:spAutoFit/>
          </a:bodyPr>
          <a:lstStyle/>
          <a:p>
            <a:r>
              <a:rPr lang="en-US" altLang="zh-CN" sz="2000" dirty="0">
                <a:sym typeface="+mn-ea"/>
              </a:rPr>
              <a:t>The indices of the six cylindrical surface of the above hexagonal prism are (10-10), (01-10), (-1100), (-1010), (0-110) and (1-100). These planes have the same index numbers and belong to the group of planes {10-10}. </a:t>
            </a:r>
          </a:p>
        </p:txBody>
      </p:sp>
      <mc:AlternateContent xmlns:mc="http://schemas.openxmlformats.org/markup-compatibility/2006" xmlns:a14="http://schemas.microsoft.com/office/drawing/2010/main">
        <mc:Choice Requires="a14">
          <p:sp>
            <p:nvSpPr>
              <p:cNvPr id="54" name="TextBox 53"/>
              <p:cNvSpPr txBox="1"/>
              <p:nvPr/>
            </p:nvSpPr>
            <p:spPr>
              <a:xfrm>
                <a:off x="5436096" y="4860776"/>
                <a:ext cx="3152658" cy="461665"/>
              </a:xfrm>
              <a:prstGeom prst="rect">
                <a:avLst/>
              </a:prstGeom>
              <a:noFill/>
            </p:spPr>
            <p:txBody>
              <a:bodyPr wrap="none" rtlCol="0">
                <a:spAutoFit/>
              </a:bodyPr>
              <a:lstStyle/>
              <a:p>
                <a:r>
                  <a:rPr lang="en-US" altLang="zh-CN" b="1" dirty="0">
                    <a:solidFill>
                      <a:srgbClr val="FF0066"/>
                    </a:solidFill>
                  </a:rPr>
                  <a:t>Intercept (</a:t>
                </a:r>
                <a:r>
                  <a:rPr lang="en-US" altLang="zh-CN" b="1" i="1" dirty="0">
                    <a:solidFill>
                      <a:srgbClr val="FF0066"/>
                    </a:solidFill>
                  </a:rPr>
                  <a:t>a</a:t>
                </a:r>
                <a:r>
                  <a:rPr lang="en-US" altLang="zh-CN" b="1" dirty="0">
                    <a:solidFill>
                      <a:srgbClr val="FF0066"/>
                    </a:solidFill>
                  </a:rPr>
                  <a:t>, </a:t>
                </a:r>
                <a14:m>
                  <m:oMath xmlns:m="http://schemas.openxmlformats.org/officeDocument/2006/math">
                    <m:r>
                      <a:rPr lang="en-US" altLang="zh-CN" b="1" i="1" smtClean="0">
                        <a:solidFill>
                          <a:srgbClr val="FF0066"/>
                        </a:solidFill>
                        <a:latin typeface="Cambria Math"/>
                        <a:ea typeface="Cambria Math"/>
                      </a:rPr>
                      <m:t>∞,−</m:t>
                    </m:r>
                    <m:r>
                      <a:rPr lang="en-US" altLang="zh-CN" b="1" i="1" smtClean="0">
                        <a:solidFill>
                          <a:srgbClr val="FF0066"/>
                        </a:solidFill>
                        <a:latin typeface="Cambria Math"/>
                        <a:ea typeface="Cambria Math"/>
                      </a:rPr>
                      <m:t>𝒂</m:t>
                    </m:r>
                    <m:r>
                      <a:rPr lang="en-US" altLang="zh-CN" b="1" i="1" smtClean="0">
                        <a:solidFill>
                          <a:srgbClr val="FF0066"/>
                        </a:solidFill>
                        <a:latin typeface="Cambria Math"/>
                        <a:ea typeface="Cambria Math"/>
                      </a:rPr>
                      <m:t>,∞</m:t>
                    </m:r>
                  </m:oMath>
                </a14:m>
                <a:r>
                  <a:rPr lang="en-US" b="1" dirty="0">
                    <a:solidFill>
                      <a:srgbClr val="FF0066"/>
                    </a:solidFill>
                  </a:rPr>
                  <a:t>)</a:t>
                </a:r>
              </a:p>
            </p:txBody>
          </p:sp>
        </mc:Choice>
        <mc:Fallback xmlns="">
          <p:sp>
            <p:nvSpPr>
              <p:cNvPr id="54" name="TextBox 53"/>
              <p:cNvSpPr txBox="1">
                <a:spLocks noRot="1" noChangeAspect="1" noMove="1" noResize="1" noEditPoints="1" noAdjustHandles="1" noChangeArrowheads="1" noChangeShapeType="1" noTextEdit="1"/>
              </p:cNvSpPr>
              <p:nvPr/>
            </p:nvSpPr>
            <p:spPr>
              <a:xfrm>
                <a:off x="5436096" y="4860776"/>
                <a:ext cx="3152658" cy="461665"/>
              </a:xfrm>
              <a:prstGeom prst="rect">
                <a:avLst/>
              </a:prstGeom>
              <a:blipFill rotWithShape="1">
                <a:blip r:embed="rId2"/>
                <a:stretch>
                  <a:fillRect l="-3095" t="-10526" r="-1934" b="-28947"/>
                </a:stretch>
              </a:blipFill>
            </p:spPr>
            <p:txBody>
              <a:bodyPr/>
              <a:lstStyle/>
              <a:p>
                <a:r>
                  <a:rPr lang="en-US">
                    <a:noFill/>
                  </a:rPr>
                  <a:t> </a:t>
                </a:r>
              </a:p>
            </p:txBody>
          </p:sp>
        </mc:Fallback>
      </mc:AlternateContent>
      <p:sp>
        <p:nvSpPr>
          <p:cNvPr id="55" name="Rectangle 54"/>
          <p:cNvSpPr/>
          <p:nvPr/>
        </p:nvSpPr>
        <p:spPr>
          <a:xfrm>
            <a:off x="6163933" y="2542995"/>
            <a:ext cx="983411" cy="1949570"/>
          </a:xfrm>
          <a:prstGeom prst="rect">
            <a:avLst/>
          </a:prstGeom>
          <a:solidFill>
            <a:srgbClr val="0000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p:cNvCxnSpPr>
            <a:endCxn id="37" idx="3"/>
          </p:cNvCxnSpPr>
          <p:nvPr/>
        </p:nvCxnSpPr>
        <p:spPr>
          <a:xfrm>
            <a:off x="6739892" y="4007013"/>
            <a:ext cx="394854" cy="475879"/>
          </a:xfrm>
          <a:prstGeom prst="line">
            <a:avLst/>
          </a:prstGeom>
          <a:ln w="28575">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7125047" y="4390965"/>
            <a:ext cx="546945" cy="400110"/>
          </a:xfrm>
          <a:prstGeom prst="rect">
            <a:avLst/>
          </a:prstGeom>
          <a:noFill/>
        </p:spPr>
        <p:txBody>
          <a:bodyPr wrap="none" rtlCol="0">
            <a:spAutoFit/>
          </a:bodyPr>
          <a:lstStyle/>
          <a:p>
            <a:r>
              <a:rPr lang="en-US" sz="2000" b="1" i="1" dirty="0"/>
              <a:t>- a</a:t>
            </a:r>
            <a:r>
              <a:rPr lang="en-US" sz="2000" b="1" i="1" baseline="-25000" dirty="0"/>
              <a:t>3</a:t>
            </a:r>
          </a:p>
        </p:txBody>
      </p:sp>
      <p:sp>
        <p:nvSpPr>
          <p:cNvPr id="13" name="Oval Callout 12"/>
          <p:cNvSpPr/>
          <p:nvPr/>
        </p:nvSpPr>
        <p:spPr>
          <a:xfrm>
            <a:off x="4690872" y="2754685"/>
            <a:ext cx="3462478" cy="2022029"/>
          </a:xfrm>
          <a:prstGeom prst="wedgeEllipseCallout">
            <a:avLst>
              <a:gd name="adj1" fmla="val -69846"/>
              <a:gd name="adj2" fmla="val 56758"/>
            </a:avLst>
          </a:prstGeom>
          <a:solidFill>
            <a:schemeClr val="tx1">
              <a:alpha val="50196"/>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Proof process refers to the reference P49-50</a:t>
            </a:r>
            <a:endParaRPr lang="en-US" dirty="0">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a:xfrm>
            <a:off x="107504" y="0"/>
            <a:ext cx="8783638" cy="1132756"/>
          </a:xfrm>
          <a:noFill/>
        </p:spPr>
        <p:txBody>
          <a:bodyPr anchor="b">
            <a:noAutofit/>
          </a:bodyPr>
          <a:lstStyle/>
          <a:p>
            <a:r>
              <a:rPr lang="en-US" altLang="zh-CN" cap="none" dirty="0">
                <a:sym typeface="+mn-ea"/>
              </a:rPr>
              <a:t>Index of directions and planes in </a:t>
            </a:r>
            <a:br>
              <a:rPr lang="en-US" altLang="zh-CN" cap="none" dirty="0">
                <a:sym typeface="+mn-ea"/>
              </a:rPr>
            </a:br>
            <a:r>
              <a:rPr lang="en-US" altLang="zh-CN" cap="none" dirty="0">
                <a:sym typeface="+mn-ea"/>
              </a:rPr>
              <a:t>hexagonal crystal system</a:t>
            </a:r>
            <a:endParaRPr lang="en-US" altLang="zh-CN" b="1" cap="none" dirty="0">
              <a:sym typeface="+mn-ea"/>
            </a:endParaRPr>
          </a:p>
        </p:txBody>
      </p:sp>
      <p:sp>
        <p:nvSpPr>
          <p:cNvPr id="2" name="Rectangle 1"/>
          <p:cNvSpPr/>
          <p:nvPr/>
        </p:nvSpPr>
        <p:spPr>
          <a:xfrm>
            <a:off x="118552" y="1493215"/>
            <a:ext cx="4741480" cy="5509200"/>
          </a:xfrm>
          <a:prstGeom prst="rect">
            <a:avLst/>
          </a:prstGeom>
        </p:spPr>
        <p:txBody>
          <a:bodyPr wrap="square">
            <a:spAutoFit/>
          </a:bodyPr>
          <a:lstStyle/>
          <a:p>
            <a:r>
              <a:rPr lang="en-US" altLang="zh-CN" sz="2800" b="1" spc="-60" dirty="0">
                <a:solidFill>
                  <a:srgbClr val="FF0066"/>
                </a:solidFill>
              </a:rPr>
              <a:t>Practice 8</a:t>
            </a:r>
            <a:r>
              <a:rPr lang="zh-CN" altLang="en-US" sz="2800" b="1" spc="-60" dirty="0">
                <a:solidFill>
                  <a:srgbClr val="FF0066"/>
                </a:solidFill>
              </a:rPr>
              <a:t>：</a:t>
            </a:r>
            <a:endParaRPr lang="en-US" altLang="zh-CN" sz="2800" b="1" spc="-60" dirty="0">
              <a:solidFill>
                <a:srgbClr val="FF0066"/>
              </a:solidFill>
            </a:endParaRPr>
          </a:p>
          <a:p>
            <a:r>
              <a:rPr lang="en-US" sz="2800" b="1" dirty="0">
                <a:solidFill>
                  <a:srgbClr val="FF0066"/>
                </a:solidFill>
              </a:rPr>
              <a:t>denotation of planes </a:t>
            </a:r>
          </a:p>
          <a:p>
            <a:endParaRPr lang="zh-CN" altLang="en-US" b="1" dirty="0">
              <a:solidFill>
                <a:srgbClr val="FF0066"/>
              </a:solidFill>
              <a:effectLst>
                <a:outerShdw blurRad="38100" dist="38100" dir="2700000" algn="tl">
                  <a:srgbClr val="000000">
                    <a:alpha val="43137"/>
                  </a:srgbClr>
                </a:outerShdw>
              </a:effectLst>
            </a:endParaRPr>
          </a:p>
          <a:p>
            <a:r>
              <a:rPr lang="en-US" altLang="zh-CN" b="1" dirty="0"/>
              <a:t>Q1. Please give the indices of the three colorful planes in the right picture based on three-axis and four-axis coordinate system, respectively</a:t>
            </a:r>
            <a:r>
              <a:rPr lang="zh-CN" altLang="en-US" b="1" dirty="0"/>
              <a:t>；</a:t>
            </a:r>
            <a:endParaRPr lang="en-US" altLang="zh-CN" b="1" dirty="0"/>
          </a:p>
          <a:p>
            <a:endParaRPr lang="en-US" altLang="zh-CN" b="1" dirty="0"/>
          </a:p>
          <a:p>
            <a:r>
              <a:rPr lang="en-US" altLang="zh-CN" b="1" dirty="0"/>
              <a:t>Q2. Please plot the planes, (-112), (-1100), (11-20), (123) and (12-33) in the hexagonal unit cell.</a:t>
            </a:r>
            <a:endParaRPr lang="en-US" altLang="zh-CN" dirty="0"/>
          </a:p>
          <a:p>
            <a:endParaRPr lang="en-US" sz="2800" dirty="0"/>
          </a:p>
          <a:p>
            <a:endParaRPr lang="en-US" sz="2800" dirty="0"/>
          </a:p>
        </p:txBody>
      </p:sp>
      <p:grpSp>
        <p:nvGrpSpPr>
          <p:cNvPr id="3" name="Group 2"/>
          <p:cNvGrpSpPr/>
          <p:nvPr/>
        </p:nvGrpSpPr>
        <p:grpSpPr>
          <a:xfrm>
            <a:off x="5041372" y="1478274"/>
            <a:ext cx="3635084" cy="5047070"/>
            <a:chOff x="2636371" y="2678030"/>
            <a:chExt cx="2307211" cy="3203408"/>
          </a:xfrm>
        </p:grpSpPr>
        <p:grpSp>
          <p:nvGrpSpPr>
            <p:cNvPr id="33" name="Group 32"/>
            <p:cNvGrpSpPr/>
            <p:nvPr/>
          </p:nvGrpSpPr>
          <p:grpSpPr>
            <a:xfrm>
              <a:off x="2636371" y="2678030"/>
              <a:ext cx="2307211" cy="3203408"/>
              <a:chOff x="3609975" y="1866900"/>
              <a:chExt cx="2307211" cy="3203408"/>
            </a:xfrm>
          </p:grpSpPr>
          <p:grpSp>
            <p:nvGrpSpPr>
              <p:cNvPr id="34" name="Group 33"/>
              <p:cNvGrpSpPr/>
              <p:nvPr/>
            </p:nvGrpSpPr>
            <p:grpSpPr>
              <a:xfrm>
                <a:off x="3609975" y="1866900"/>
                <a:ext cx="2307211" cy="3203408"/>
                <a:chOff x="3609975" y="1866900"/>
                <a:chExt cx="2307211" cy="3203408"/>
              </a:xfrm>
            </p:grpSpPr>
            <p:sp>
              <p:nvSpPr>
                <p:cNvPr id="37" name="Freeform 36"/>
                <p:cNvSpPr/>
                <p:nvPr/>
              </p:nvSpPr>
              <p:spPr>
                <a:xfrm>
                  <a:off x="3609975" y="3810000"/>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38" name="Freeform 37"/>
                <p:cNvSpPr/>
                <p:nvPr/>
              </p:nvSpPr>
              <p:spPr>
                <a:xfrm>
                  <a:off x="3609975" y="1876425"/>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cxnSp>
              <p:nvCxnSpPr>
                <p:cNvPr id="39" name="Straight Connector 38"/>
                <p:cNvCxnSpPr>
                  <a:stCxn id="37" idx="5"/>
                  <a:endCxn id="38" idx="5"/>
                </p:cNvCxnSpPr>
                <p:nvPr/>
              </p:nvCxnSpPr>
              <p:spPr>
                <a:xfrm flipV="1">
                  <a:off x="3609975" y="2390775"/>
                  <a:ext cx="0" cy="19335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399097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496252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34025" y="2400300"/>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8" idx="0"/>
                  <a:endCxn id="38" idx="3"/>
                </p:cNvCxnSpPr>
                <p:nvPr/>
              </p:nvCxnSpPr>
              <p:spPr>
                <a:xfrm>
                  <a:off x="4191000" y="1885950"/>
                  <a:ext cx="781050"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8" idx="4"/>
                  <a:endCxn id="38" idx="1"/>
                </p:cNvCxnSpPr>
                <p:nvPr/>
              </p:nvCxnSpPr>
              <p:spPr>
                <a:xfrm flipV="1">
                  <a:off x="4000500" y="1885950"/>
                  <a:ext cx="1171575"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8" idx="5"/>
                  <a:endCxn id="38" idx="2"/>
                </p:cNvCxnSpPr>
                <p:nvPr/>
              </p:nvCxnSpPr>
              <p:spPr>
                <a:xfrm>
                  <a:off x="3609975" y="2390775"/>
                  <a:ext cx="1943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990975" y="4295775"/>
                  <a:ext cx="590550" cy="485775"/>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581525" y="4305300"/>
                  <a:ext cx="990600" cy="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4181475" y="1866900"/>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153025" y="1876425"/>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572000" y="2400300"/>
                  <a:ext cx="19050" cy="1924050"/>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725888" y="4699148"/>
                  <a:ext cx="333923" cy="371160"/>
                </a:xfrm>
                <a:prstGeom prst="rect">
                  <a:avLst/>
                </a:prstGeom>
                <a:noFill/>
              </p:spPr>
              <p:txBody>
                <a:bodyPr wrap="none" rtlCol="0">
                  <a:spAutoFit/>
                </a:bodyPr>
                <a:lstStyle/>
                <a:p>
                  <a:r>
                    <a:rPr lang="en-US" sz="3200" b="1" i="1" dirty="0"/>
                    <a:t>a</a:t>
                  </a:r>
                  <a:r>
                    <a:rPr lang="en-US" sz="3200" b="1" i="1" baseline="-25000" dirty="0"/>
                    <a:t>1</a:t>
                  </a:r>
                </a:p>
              </p:txBody>
            </p:sp>
            <p:sp>
              <p:nvSpPr>
                <p:cNvPr id="52" name="TextBox 51"/>
                <p:cNvSpPr txBox="1"/>
                <p:nvPr/>
              </p:nvSpPr>
              <p:spPr>
                <a:xfrm>
                  <a:off x="5583263" y="4118123"/>
                  <a:ext cx="333923" cy="371160"/>
                </a:xfrm>
                <a:prstGeom prst="rect">
                  <a:avLst/>
                </a:prstGeom>
                <a:noFill/>
              </p:spPr>
              <p:txBody>
                <a:bodyPr wrap="none" rtlCol="0">
                  <a:spAutoFit/>
                </a:bodyPr>
                <a:lstStyle/>
                <a:p>
                  <a:r>
                    <a:rPr lang="en-US" sz="3200" b="1" i="1" dirty="0"/>
                    <a:t>a</a:t>
                  </a:r>
                  <a:r>
                    <a:rPr lang="en-US" sz="3200" b="1" i="1" baseline="-25000" dirty="0"/>
                    <a:t>2</a:t>
                  </a:r>
                </a:p>
              </p:txBody>
            </p:sp>
            <p:sp>
              <p:nvSpPr>
                <p:cNvPr id="53" name="TextBox 52"/>
                <p:cNvSpPr txBox="1"/>
                <p:nvPr/>
              </p:nvSpPr>
              <p:spPr>
                <a:xfrm>
                  <a:off x="4276154" y="2405796"/>
                  <a:ext cx="233196" cy="371160"/>
                </a:xfrm>
                <a:prstGeom prst="rect">
                  <a:avLst/>
                </a:prstGeom>
                <a:noFill/>
              </p:spPr>
              <p:txBody>
                <a:bodyPr wrap="none" rtlCol="0">
                  <a:spAutoFit/>
                </a:bodyPr>
                <a:lstStyle/>
                <a:p>
                  <a:r>
                    <a:rPr lang="en-US" sz="3200" b="1" i="1" dirty="0"/>
                    <a:t>c</a:t>
                  </a:r>
                  <a:endParaRPr lang="en-US" sz="3200" b="1" i="1" baseline="-25000" dirty="0"/>
                </a:p>
              </p:txBody>
            </p:sp>
          </p:grpSp>
          <p:cxnSp>
            <p:nvCxnSpPr>
              <p:cNvPr id="35" name="Straight Connector 34"/>
              <p:cNvCxnSpPr>
                <a:stCxn id="37" idx="0"/>
              </p:cNvCxnSpPr>
              <p:nvPr/>
            </p:nvCxnSpPr>
            <p:spPr>
              <a:xfrm>
                <a:off x="4191000" y="3819525"/>
                <a:ext cx="390525" cy="485776"/>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183659" y="3408540"/>
                <a:ext cx="333923" cy="371160"/>
              </a:xfrm>
              <a:prstGeom prst="rect">
                <a:avLst/>
              </a:prstGeom>
              <a:noFill/>
            </p:spPr>
            <p:txBody>
              <a:bodyPr wrap="none" rtlCol="0">
                <a:spAutoFit/>
              </a:bodyPr>
              <a:lstStyle/>
              <a:p>
                <a:r>
                  <a:rPr lang="en-US" sz="3200" b="1" i="1" dirty="0"/>
                  <a:t>a</a:t>
                </a:r>
                <a:r>
                  <a:rPr lang="en-US" sz="3200" b="1" i="1" baseline="-25000" dirty="0"/>
                  <a:t>3</a:t>
                </a:r>
              </a:p>
            </p:txBody>
          </p:sp>
        </p:grpSp>
        <p:cxnSp>
          <p:nvCxnSpPr>
            <p:cNvPr id="57" name="Straight Connector 56"/>
            <p:cNvCxnSpPr>
              <a:endCxn id="37" idx="3"/>
            </p:cNvCxnSpPr>
            <p:nvPr/>
          </p:nvCxnSpPr>
          <p:spPr>
            <a:xfrm>
              <a:off x="3594067" y="5126326"/>
              <a:ext cx="394854" cy="475879"/>
            </a:xfrm>
            <a:prstGeom prst="line">
              <a:avLst/>
            </a:prstGeom>
            <a:ln w="28575">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979222" y="5510278"/>
              <a:ext cx="485521" cy="371160"/>
            </a:xfrm>
            <a:prstGeom prst="rect">
              <a:avLst/>
            </a:prstGeom>
            <a:noFill/>
          </p:spPr>
          <p:txBody>
            <a:bodyPr wrap="none" rtlCol="0">
              <a:spAutoFit/>
            </a:bodyPr>
            <a:lstStyle/>
            <a:p>
              <a:r>
                <a:rPr lang="en-US" sz="3200" b="1" i="1" dirty="0"/>
                <a:t>- a</a:t>
              </a:r>
              <a:r>
                <a:rPr lang="en-US" sz="3200" b="1" i="1" baseline="-25000" dirty="0"/>
                <a:t>3</a:t>
              </a:r>
            </a:p>
          </p:txBody>
        </p:sp>
        <p:sp>
          <p:nvSpPr>
            <p:cNvPr id="10" name="Freeform 9"/>
            <p:cNvSpPr/>
            <p:nvPr/>
          </p:nvSpPr>
          <p:spPr>
            <a:xfrm>
              <a:off x="3001784" y="3216926"/>
              <a:ext cx="1579418" cy="2386940"/>
            </a:xfrm>
            <a:custGeom>
              <a:avLst/>
              <a:gdLst>
                <a:gd name="connsiteX0" fmla="*/ 0 w 1579418"/>
                <a:gd name="connsiteY0" fmla="*/ 463137 h 2386940"/>
                <a:gd name="connsiteX1" fmla="*/ 1579418 w 1579418"/>
                <a:gd name="connsiteY1" fmla="*/ 0 h 2386940"/>
                <a:gd name="connsiteX2" fmla="*/ 1543792 w 1579418"/>
                <a:gd name="connsiteY2" fmla="*/ 1923802 h 2386940"/>
                <a:gd name="connsiteX3" fmla="*/ 11875 w 1579418"/>
                <a:gd name="connsiteY3" fmla="*/ 2386940 h 2386940"/>
                <a:gd name="connsiteX4" fmla="*/ 0 w 1579418"/>
                <a:gd name="connsiteY4" fmla="*/ 463137 h 2386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418" h="2386940">
                  <a:moveTo>
                    <a:pt x="0" y="463137"/>
                  </a:moveTo>
                  <a:lnTo>
                    <a:pt x="1579418" y="0"/>
                  </a:lnTo>
                  <a:lnTo>
                    <a:pt x="1543792" y="1923802"/>
                  </a:lnTo>
                  <a:lnTo>
                    <a:pt x="11875" y="2386940"/>
                  </a:lnTo>
                  <a:cubicBezTo>
                    <a:pt x="7917" y="1745672"/>
                    <a:pt x="3958" y="1104405"/>
                    <a:pt x="0" y="463137"/>
                  </a:cubicBezTo>
                  <a:close/>
                </a:path>
              </a:pathLst>
            </a:custGeom>
            <a:solidFill>
              <a:srgbClr val="0000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grpSp>
      <p:sp>
        <p:nvSpPr>
          <p:cNvPr id="4" name="Freeform 3"/>
          <p:cNvSpPr/>
          <p:nvPr/>
        </p:nvSpPr>
        <p:spPr>
          <a:xfrm>
            <a:off x="5036795" y="2285357"/>
            <a:ext cx="2112579" cy="3799490"/>
          </a:xfrm>
          <a:custGeom>
            <a:avLst/>
            <a:gdLst>
              <a:gd name="connsiteX0" fmla="*/ 1529255 w 2112579"/>
              <a:gd name="connsiteY0" fmla="*/ 0 h 3799490"/>
              <a:gd name="connsiteX1" fmla="*/ 0 w 2112579"/>
              <a:gd name="connsiteY1" fmla="*/ 3042745 h 3799490"/>
              <a:gd name="connsiteX2" fmla="*/ 2112579 w 2112579"/>
              <a:gd name="connsiteY2" fmla="*/ 3799490 h 3799490"/>
              <a:gd name="connsiteX3" fmla="*/ 1529255 w 2112579"/>
              <a:gd name="connsiteY3" fmla="*/ 0 h 3799490"/>
            </a:gdLst>
            <a:ahLst/>
            <a:cxnLst>
              <a:cxn ang="0">
                <a:pos x="connsiteX0" y="connsiteY0"/>
              </a:cxn>
              <a:cxn ang="0">
                <a:pos x="connsiteX1" y="connsiteY1"/>
              </a:cxn>
              <a:cxn ang="0">
                <a:pos x="connsiteX2" y="connsiteY2"/>
              </a:cxn>
              <a:cxn ang="0">
                <a:pos x="connsiteX3" y="connsiteY3"/>
              </a:cxn>
            </a:cxnLst>
            <a:rect l="l" t="t" r="r" b="b"/>
            <a:pathLst>
              <a:path w="2112579" h="3799490">
                <a:moveTo>
                  <a:pt x="1529255" y="0"/>
                </a:moveTo>
                <a:lnTo>
                  <a:pt x="0" y="3042745"/>
                </a:lnTo>
                <a:lnTo>
                  <a:pt x="2112579" y="3799490"/>
                </a:lnTo>
                <a:lnTo>
                  <a:pt x="1529255" y="0"/>
                </a:lnTo>
                <a:close/>
              </a:path>
            </a:pathLst>
          </a:custGeom>
          <a:solidFill>
            <a:srgbClr val="FF33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5021029" y="2301123"/>
            <a:ext cx="3105807" cy="3026979"/>
          </a:xfrm>
          <a:custGeom>
            <a:avLst/>
            <a:gdLst>
              <a:gd name="connsiteX0" fmla="*/ 0 w 3105807"/>
              <a:gd name="connsiteY0" fmla="*/ 0 h 3026979"/>
              <a:gd name="connsiteX1" fmla="*/ 3105807 w 3105807"/>
              <a:gd name="connsiteY1" fmla="*/ 15765 h 3026979"/>
              <a:gd name="connsiteX2" fmla="*/ 3074276 w 3105807"/>
              <a:gd name="connsiteY2" fmla="*/ 3011213 h 3026979"/>
              <a:gd name="connsiteX3" fmla="*/ 31531 w 3105807"/>
              <a:gd name="connsiteY3" fmla="*/ 3026979 h 3026979"/>
              <a:gd name="connsiteX4" fmla="*/ 0 w 3105807"/>
              <a:gd name="connsiteY4" fmla="*/ 0 h 3026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5807" h="3026979">
                <a:moveTo>
                  <a:pt x="0" y="0"/>
                </a:moveTo>
                <a:lnTo>
                  <a:pt x="3105807" y="15765"/>
                </a:lnTo>
                <a:lnTo>
                  <a:pt x="3074276" y="3011213"/>
                </a:lnTo>
                <a:lnTo>
                  <a:pt x="31531" y="3026979"/>
                </a:lnTo>
                <a:lnTo>
                  <a:pt x="0" y="0"/>
                </a:lnTo>
                <a:close/>
              </a:path>
            </a:pathLst>
          </a:custGeom>
          <a:solidFill>
            <a:srgbClr val="92D0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p:cNvSpPr/>
          <p:nvPr/>
        </p:nvSpPr>
        <p:spPr>
          <a:xfrm>
            <a:off x="0" y="1484630"/>
            <a:ext cx="8641080" cy="5109091"/>
          </a:xfrm>
          <a:prstGeom prst="rect">
            <a:avLst/>
          </a:prstGeom>
        </p:spPr>
        <p:txBody>
          <a:bodyPr wrap="square">
            <a:spAutoFit/>
          </a:bodyPr>
          <a:lstStyle/>
          <a:p>
            <a:r>
              <a:rPr lang="en-US" altLang="zh-CN" b="1" dirty="0">
                <a:solidFill>
                  <a:srgbClr val="FF0066"/>
                </a:solidFill>
                <a:effectLst>
                  <a:outerShdw blurRad="38100" dist="38100" dir="2700000" algn="tl">
                    <a:srgbClr val="000000">
                      <a:alpha val="43137"/>
                    </a:srgbClr>
                  </a:outerShdw>
                </a:effectLst>
              </a:rPr>
              <a:t>Index of directions based on the four-axis coordinate system</a:t>
            </a:r>
            <a:r>
              <a:rPr lang="zh-CN" altLang="en-US" b="1" dirty="0">
                <a:solidFill>
                  <a:srgbClr val="FF0066"/>
                </a:solidFill>
                <a:effectLst>
                  <a:outerShdw blurRad="38100" dist="38100" dir="2700000" algn="tl">
                    <a:srgbClr val="000000">
                      <a:alpha val="43137"/>
                    </a:srgbClr>
                  </a:outerShdw>
                </a:effectLst>
              </a:rPr>
              <a:t>：</a:t>
            </a:r>
            <a:endParaRPr lang="en-US" altLang="zh-CN" b="1" dirty="0">
              <a:solidFill>
                <a:srgbClr val="FF0066"/>
              </a:solidFill>
              <a:effectLst>
                <a:outerShdw blurRad="38100" dist="38100" dir="2700000" algn="tl">
                  <a:srgbClr val="000000">
                    <a:alpha val="43137"/>
                  </a:srgbClr>
                </a:outerShdw>
              </a:effectLst>
            </a:endParaRPr>
          </a:p>
          <a:p>
            <a:endParaRPr lang="en-US" dirty="0"/>
          </a:p>
          <a:p>
            <a:r>
              <a:rPr lang="en-US" altLang="zh-CN" sz="2000" dirty="0"/>
              <a:t>1. When the</a:t>
            </a:r>
            <a:r>
              <a:rPr lang="zh-CN" altLang="en-US" sz="2000" dirty="0"/>
              <a:t> four-</a:t>
            </a:r>
            <a:r>
              <a:rPr lang="en-US" altLang="zh-CN" sz="2000" dirty="0"/>
              <a:t>axis</a:t>
            </a:r>
            <a:r>
              <a:rPr lang="zh-CN" altLang="en-US" sz="2000" dirty="0"/>
              <a:t> coordinate </a:t>
            </a:r>
            <a:r>
              <a:rPr lang="en-US" altLang="zh-CN" sz="2000" dirty="0"/>
              <a:t>system is applied</a:t>
            </a:r>
            <a:r>
              <a:rPr lang="zh-CN" altLang="en-US" sz="2000" dirty="0"/>
              <a:t>, the index </a:t>
            </a:r>
            <a:r>
              <a:rPr lang="en-US" altLang="zh-CN" sz="2000" dirty="0"/>
              <a:t>of direction</a:t>
            </a:r>
            <a:r>
              <a:rPr lang="en-US" altLang="zh-CN" sz="2000" b="1" dirty="0">
                <a:solidFill>
                  <a:srgbClr val="FF0000"/>
                </a:solidFill>
              </a:rPr>
              <a:t> </a:t>
            </a:r>
            <a:r>
              <a:rPr lang="zh-CN" altLang="en-US" sz="2000" b="1" dirty="0">
                <a:solidFill>
                  <a:srgbClr val="FF0000"/>
                </a:solidFill>
              </a:rPr>
              <a:t>can only be determined directly from the three-axis coordinate </a:t>
            </a:r>
            <a:r>
              <a:rPr lang="en-US" altLang="zh-CN" sz="2000" b="1" dirty="0">
                <a:solidFill>
                  <a:srgbClr val="FF0000"/>
                </a:solidFill>
              </a:rPr>
              <a:t>system</a:t>
            </a:r>
            <a:r>
              <a:rPr lang="zh-CN" altLang="en-US" sz="2000" dirty="0"/>
              <a:t>, and </a:t>
            </a:r>
            <a:r>
              <a:rPr lang="en-US" altLang="zh-CN" sz="2000" dirty="0"/>
              <a:t>then converted to the </a:t>
            </a:r>
            <a:r>
              <a:rPr lang="zh-CN" altLang="en-US" sz="2000" dirty="0"/>
              <a:t>four</a:t>
            </a:r>
            <a:r>
              <a:rPr lang="en-US" altLang="zh-CN" sz="2000" dirty="0"/>
              <a:t>-</a:t>
            </a:r>
            <a:r>
              <a:rPr lang="zh-CN" altLang="en-US" sz="2000" dirty="0"/>
              <a:t>index </a:t>
            </a:r>
            <a:r>
              <a:rPr lang="en-US" altLang="zh-CN" sz="2000" dirty="0"/>
              <a:t>form </a:t>
            </a:r>
            <a:r>
              <a:rPr lang="en-US" altLang="zh-CN" sz="2000" dirty="0">
                <a:solidFill>
                  <a:srgbClr val="000000"/>
                </a:solidFill>
              </a:rPr>
              <a:t>[</a:t>
            </a:r>
            <a:r>
              <a:rPr lang="en-US" altLang="zh-CN" sz="2000" dirty="0" err="1">
                <a:solidFill>
                  <a:srgbClr val="000000"/>
                </a:solidFill>
              </a:rPr>
              <a:t>uvtw</a:t>
            </a:r>
            <a:r>
              <a:rPr lang="en-US" altLang="zh-CN" sz="2000" dirty="0">
                <a:solidFill>
                  <a:srgbClr val="000000"/>
                </a:solidFill>
              </a:rPr>
              <a:t>]. As discussed before, only two of u, v and t can be independent. Their relationship is defined as:</a:t>
            </a:r>
            <a:endParaRPr lang="zh-CN" altLang="en-US" sz="2000" dirty="0">
              <a:solidFill>
                <a:srgbClr val="000000"/>
              </a:solidFill>
              <a:latin typeface="Verdana" panose="020B0604030504040204"/>
            </a:endParaRPr>
          </a:p>
          <a:p>
            <a:pPr algn="ctr" latinLnBrk="1"/>
            <a:endParaRPr lang="en-US" altLang="zh-CN" sz="1800" b="1" dirty="0">
              <a:solidFill>
                <a:srgbClr val="FF0066"/>
              </a:solidFill>
              <a:effectLst>
                <a:outerShdw blurRad="38100" dist="38100" dir="2700000" algn="tl">
                  <a:srgbClr val="000000">
                    <a:alpha val="43137"/>
                  </a:srgbClr>
                </a:outerShdw>
              </a:effectLst>
              <a:latin typeface="Verdana" panose="020B0604030504040204"/>
            </a:endParaRPr>
          </a:p>
          <a:p>
            <a:pPr algn="ctr" latinLnBrk="1"/>
            <a:r>
              <a:rPr lang="en-US" altLang="zh-CN" sz="1800" b="1" dirty="0">
                <a:solidFill>
                  <a:srgbClr val="FF0066"/>
                </a:solidFill>
                <a:effectLst>
                  <a:outerShdw blurRad="38100" dist="38100" dir="2700000" algn="tl">
                    <a:srgbClr val="000000">
                      <a:alpha val="43137"/>
                    </a:srgbClr>
                  </a:outerShdw>
                </a:effectLst>
                <a:latin typeface="Verdana" panose="020B0604030504040204"/>
              </a:rPr>
              <a:t>t </a:t>
            </a:r>
            <a:r>
              <a:rPr lang="zh-CN" altLang="en-US" sz="18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zh-CN" altLang="en-US" sz="1800" b="1" dirty="0">
                <a:solidFill>
                  <a:srgbClr val="FF0066"/>
                </a:solidFill>
                <a:effectLst>
                  <a:outerShdw blurRad="38100" dist="38100" dir="2700000" algn="tl">
                    <a:srgbClr val="000000">
                      <a:alpha val="43137"/>
                    </a:srgbClr>
                  </a:outerShdw>
                </a:effectLst>
                <a:latin typeface="Verdana" panose="020B0604030504040204"/>
              </a:rPr>
              <a:t> </a:t>
            </a:r>
            <a:r>
              <a:rPr lang="zh-CN" altLang="en-US" sz="18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800" b="1" dirty="0">
                <a:solidFill>
                  <a:srgbClr val="FF0066"/>
                </a:solidFill>
                <a:effectLst>
                  <a:outerShdw blurRad="38100" dist="38100" dir="2700000" algn="tl">
                    <a:srgbClr val="000000">
                      <a:alpha val="43137"/>
                    </a:srgbClr>
                  </a:outerShdw>
                </a:effectLst>
                <a:latin typeface="Verdana" panose="020B0604030504040204"/>
              </a:rPr>
              <a:t>u</a:t>
            </a:r>
            <a:r>
              <a:rPr lang="zh-CN" altLang="en-US" sz="18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800" b="1" dirty="0">
                <a:solidFill>
                  <a:srgbClr val="FF0066"/>
                </a:solidFill>
                <a:effectLst>
                  <a:outerShdw blurRad="38100" dist="38100" dir="2700000" algn="tl">
                    <a:srgbClr val="000000">
                      <a:alpha val="43137"/>
                    </a:srgbClr>
                  </a:outerShdw>
                </a:effectLst>
                <a:latin typeface="Verdana" panose="020B0604030504040204"/>
              </a:rPr>
              <a:t>v</a:t>
            </a:r>
            <a:r>
              <a:rPr lang="zh-CN" altLang="en-US" sz="1800" b="1" dirty="0">
                <a:solidFill>
                  <a:srgbClr val="FF0066"/>
                </a:solidFill>
                <a:effectLst>
                  <a:outerShdw blurRad="38100" dist="38100" dir="2700000" algn="tl">
                    <a:srgbClr val="000000">
                      <a:alpha val="43137"/>
                    </a:srgbClr>
                  </a:outerShdw>
                </a:effectLst>
                <a:latin typeface="宋体" panose="02010600030101010101" pitchFamily="2" charset="-122"/>
              </a:rPr>
              <a:t>）</a:t>
            </a:r>
          </a:p>
          <a:p>
            <a:pPr algn="ctr" latinLnBrk="1"/>
            <a:endParaRPr lang="zh-CN" altLang="en-US" sz="1800" b="1" dirty="0">
              <a:solidFill>
                <a:srgbClr val="FF0066"/>
              </a:solidFill>
              <a:effectLst>
                <a:outerShdw blurRad="38100" dist="38100" dir="2700000" algn="tl">
                  <a:srgbClr val="000000">
                    <a:alpha val="43137"/>
                  </a:srgbClr>
                </a:outerShdw>
              </a:effectLst>
              <a:latin typeface="宋体" panose="02010600030101010101" pitchFamily="2" charset="-122"/>
            </a:endParaRPr>
          </a:p>
          <a:p>
            <a:r>
              <a:rPr lang="en-US" altLang="zh-CN" sz="2000" dirty="0">
                <a:solidFill>
                  <a:srgbClr val="000000"/>
                </a:solidFill>
              </a:rPr>
              <a:t>2. </a:t>
            </a:r>
            <a:r>
              <a:rPr lang="en-US" altLang="zh-CN" sz="2000" dirty="0"/>
              <a:t>The relationship between [UVW] and [</a:t>
            </a:r>
            <a:r>
              <a:rPr lang="en-US" altLang="zh-CN" sz="2000" dirty="0" err="1"/>
              <a:t>uvtw</a:t>
            </a:r>
            <a:r>
              <a:rPr lang="en-US" altLang="zh-CN" sz="2000" dirty="0"/>
              <a:t>] can be expressed as follows:</a:t>
            </a:r>
          </a:p>
          <a:p>
            <a:pPr latinLnBrk="1"/>
            <a:endParaRPr lang="en-US" altLang="zh-CN" sz="2000" dirty="0">
              <a:solidFill>
                <a:srgbClr val="000000"/>
              </a:solidFill>
              <a:latin typeface="宋体" panose="02010600030101010101" pitchFamily="2" charset="-122"/>
            </a:endParaRPr>
          </a:p>
          <a:p>
            <a:pPr latinLnBrk="1"/>
            <a:endParaRPr lang="en-US" altLang="zh-CN" sz="2000" dirty="0">
              <a:solidFill>
                <a:srgbClr val="000000"/>
              </a:solidFill>
              <a:latin typeface="宋体" panose="02010600030101010101" pitchFamily="2" charset="-122"/>
            </a:endParaRPr>
          </a:p>
          <a:p>
            <a:pPr latinLnBrk="1"/>
            <a:endParaRPr lang="en-US" altLang="zh-CN" sz="2000" dirty="0">
              <a:solidFill>
                <a:srgbClr val="000000"/>
              </a:solidFill>
              <a:latin typeface="宋体" panose="02010600030101010101" pitchFamily="2" charset="-122"/>
            </a:endParaRPr>
          </a:p>
          <a:p>
            <a:pPr latinLnBrk="1"/>
            <a:r>
              <a:rPr lang="en-US" altLang="zh-CN" sz="2000" dirty="0">
                <a:solidFill>
                  <a:srgbClr val="000000"/>
                </a:solidFill>
                <a:latin typeface="宋体" panose="02010600030101010101" pitchFamily="2" charset="-122"/>
              </a:rPr>
              <a:t>3.</a:t>
            </a:r>
            <a:r>
              <a:rPr lang="en-US" altLang="zh-CN" sz="2000" dirty="0">
                <a:solidFill>
                  <a:srgbClr val="000000"/>
                </a:solidFill>
              </a:rPr>
              <a:t>Equivalent directions have the same four indices but we cannot directly plot the direction according to [</a:t>
            </a:r>
            <a:r>
              <a:rPr lang="en-US" altLang="zh-CN" sz="2000" dirty="0" err="1">
                <a:solidFill>
                  <a:srgbClr val="000000"/>
                </a:solidFill>
              </a:rPr>
              <a:t>uvtw</a:t>
            </a:r>
            <a:r>
              <a:rPr lang="en-US" altLang="zh-CN" sz="2000" dirty="0">
                <a:solidFill>
                  <a:srgbClr val="000000"/>
                </a:solidFill>
              </a:rPr>
              <a:t>] since they do not have geometric meaning.</a:t>
            </a:r>
            <a:endParaRPr lang="zh-CN" altLang="en-US" sz="2000" dirty="0">
              <a:solidFill>
                <a:srgbClr val="000000"/>
              </a:solidFill>
              <a:latin typeface="宋体" panose="02010600030101010101" pitchFamily="2" charset="-122"/>
            </a:endParaRPr>
          </a:p>
          <a:p>
            <a:endParaRPr lang="en-US" dirty="0"/>
          </a:p>
        </p:txBody>
      </p:sp>
      <p:sp>
        <p:nvSpPr>
          <p:cNvPr id="3" name="Rectangle 2"/>
          <p:cNvSpPr/>
          <p:nvPr/>
        </p:nvSpPr>
        <p:spPr>
          <a:xfrm>
            <a:off x="845171" y="4725144"/>
            <a:ext cx="7308304" cy="1076325"/>
          </a:xfrm>
          <a:prstGeom prst="rect">
            <a:avLst/>
          </a:prstGeom>
        </p:spPr>
        <p:txBody>
          <a:bodyPr wrap="square">
            <a:spAutoFit/>
          </a:bodyPr>
          <a:lstStyle/>
          <a:p>
            <a:pPr algn="ctr" latinLnBrk="1"/>
            <a:r>
              <a:rPr lang="en-US" altLang="zh-CN" sz="1600" b="1" u="sng" dirty="0">
                <a:solidFill>
                  <a:srgbClr val="FF0066"/>
                </a:solidFill>
                <a:effectLst>
                  <a:outerShdw blurRad="38100" dist="38100" dir="2700000" algn="tl">
                    <a:srgbClr val="000000">
                      <a:alpha val="43137"/>
                    </a:srgbClr>
                  </a:outerShdw>
                </a:effectLst>
                <a:latin typeface="Verdana" panose="020B0604030504040204"/>
              </a:rPr>
              <a:t>U = u −t ; V= v −t ; W=w </a:t>
            </a:r>
            <a:r>
              <a:rPr lang="en-US" altLang="zh-CN" sz="1600" b="1" dirty="0">
                <a:solidFill>
                  <a:srgbClr val="000000"/>
                </a:solidFill>
                <a:effectLst>
                  <a:outerShdw blurRad="38100" dist="38100" dir="2700000" algn="tl">
                    <a:srgbClr val="000000">
                      <a:alpha val="43137"/>
                    </a:srgbClr>
                  </a:outerShdw>
                </a:effectLst>
                <a:latin typeface="Verdana" panose="020B0604030504040204"/>
              </a:rPr>
              <a:t>  </a:t>
            </a:r>
            <a:endParaRPr lang="en-US" altLang="zh-CN" sz="1400" b="1" dirty="0">
              <a:solidFill>
                <a:srgbClr val="000000"/>
              </a:solidFill>
              <a:effectLst>
                <a:outerShdw blurRad="38100" dist="38100" dir="2700000" algn="tl">
                  <a:srgbClr val="000000">
                    <a:alpha val="43137"/>
                  </a:srgbClr>
                </a:outerShdw>
              </a:effectLst>
              <a:latin typeface="Verdana" panose="020B0604030504040204"/>
            </a:endParaRPr>
          </a:p>
          <a:p>
            <a:pPr algn="ctr" latinLnBrk="1"/>
            <a:endParaRPr lang="en-US" altLang="zh-CN" sz="1200" b="1" dirty="0">
              <a:solidFill>
                <a:srgbClr val="000000"/>
              </a:solidFill>
              <a:effectLst>
                <a:outerShdw blurRad="38100" dist="38100" dir="2700000" algn="tl">
                  <a:srgbClr val="000000">
                    <a:alpha val="43137"/>
                  </a:srgbClr>
                </a:outerShdw>
              </a:effectLst>
              <a:latin typeface="Verdana" panose="020B0604030504040204"/>
            </a:endParaRPr>
          </a:p>
          <a:p>
            <a:pPr algn="ctr" latinLnBrk="1"/>
            <a:r>
              <a:rPr lang="en-US" altLang="zh-CN" sz="1600" b="1" dirty="0">
                <a:solidFill>
                  <a:srgbClr val="FF0066"/>
                </a:solidFill>
                <a:effectLst>
                  <a:outerShdw blurRad="38100" dist="38100" dir="2700000" algn="tl">
                    <a:srgbClr val="000000">
                      <a:alpha val="43137"/>
                    </a:srgbClr>
                  </a:outerShdw>
                </a:effectLst>
                <a:latin typeface="Verdana" panose="020B0604030504040204"/>
              </a:rPr>
              <a:t>u</a:t>
            </a:r>
            <a:r>
              <a:rPr lang="zh-CN" altLang="en-US" sz="16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FF0066"/>
                </a:solidFill>
                <a:effectLst>
                  <a:outerShdw blurRad="38100" dist="38100" dir="2700000" algn="tl">
                    <a:srgbClr val="000000">
                      <a:alpha val="43137"/>
                    </a:srgbClr>
                  </a:outerShdw>
                </a:effectLst>
                <a:latin typeface="Verdana" panose="020B0604030504040204"/>
              </a:rPr>
              <a:t>[2U</a:t>
            </a:r>
            <a:r>
              <a:rPr lang="zh-CN" altLang="en-US" sz="16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FF0066"/>
                </a:solidFill>
                <a:effectLst>
                  <a:outerShdw blurRad="38100" dist="38100" dir="2700000" algn="tl">
                    <a:srgbClr val="000000">
                      <a:alpha val="43137"/>
                    </a:srgbClr>
                  </a:outerShdw>
                </a:effectLst>
                <a:latin typeface="Verdana" panose="020B0604030504040204"/>
              </a:rPr>
              <a:t>V]</a:t>
            </a:r>
            <a:r>
              <a:rPr lang="en-US" altLang="zh-CN" sz="1600" b="1" dirty="0">
                <a:solidFill>
                  <a:srgbClr val="FF0000"/>
                </a:solidFill>
                <a:effectLst>
                  <a:outerShdw blurRad="38100" dist="38100" dir="2700000" algn="tl">
                    <a:srgbClr val="000000">
                      <a:alpha val="43137"/>
                    </a:srgbClr>
                  </a:outerShdw>
                </a:effectLst>
                <a:latin typeface="Verdana" panose="020B0604030504040204"/>
              </a:rPr>
              <a:t>/3</a:t>
            </a:r>
            <a:r>
              <a:rPr lang="en-US" altLang="zh-CN" sz="1600" b="1" dirty="0">
                <a:solidFill>
                  <a:srgbClr val="FF0066"/>
                </a:solidFill>
                <a:effectLst>
                  <a:outerShdw blurRad="38100" dist="38100" dir="2700000" algn="tl">
                    <a:srgbClr val="000000">
                      <a:alpha val="43137"/>
                    </a:srgbClr>
                  </a:outerShdw>
                </a:effectLst>
                <a:latin typeface="Verdana" panose="020B0604030504040204"/>
              </a:rPr>
              <a:t>; v</a:t>
            </a:r>
            <a:r>
              <a:rPr lang="zh-CN" altLang="en-US" sz="16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FF0066"/>
                </a:solidFill>
                <a:effectLst>
                  <a:outerShdw blurRad="38100" dist="38100" dir="2700000" algn="tl">
                    <a:srgbClr val="000000">
                      <a:alpha val="43137"/>
                    </a:srgbClr>
                  </a:outerShdw>
                </a:effectLst>
                <a:latin typeface="Verdana" panose="020B0604030504040204"/>
              </a:rPr>
              <a:t>[2V</a:t>
            </a:r>
            <a:r>
              <a:rPr lang="zh-CN" altLang="en-US" sz="16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FF0066"/>
                </a:solidFill>
                <a:effectLst>
                  <a:outerShdw blurRad="38100" dist="38100" dir="2700000" algn="tl">
                    <a:srgbClr val="000000">
                      <a:alpha val="43137"/>
                    </a:srgbClr>
                  </a:outerShdw>
                </a:effectLst>
                <a:latin typeface="Verdana" panose="020B0604030504040204"/>
              </a:rPr>
              <a:t>U]/3; t</a:t>
            </a:r>
            <a:r>
              <a:rPr lang="zh-CN" altLang="en-US" sz="16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0000FF"/>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FF0066"/>
                </a:solidFill>
                <a:effectLst>
                  <a:outerShdw blurRad="38100" dist="38100" dir="2700000" algn="tl">
                    <a:srgbClr val="000000">
                      <a:alpha val="43137"/>
                    </a:srgbClr>
                  </a:outerShdw>
                </a:effectLst>
                <a:latin typeface="Verdana" panose="020B0604030504040204"/>
              </a:rPr>
              <a:t>[U</a:t>
            </a:r>
            <a:r>
              <a:rPr lang="zh-CN" altLang="en-US" sz="16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FF0066"/>
                </a:solidFill>
                <a:effectLst>
                  <a:outerShdw blurRad="38100" dist="38100" dir="2700000" algn="tl">
                    <a:srgbClr val="000000">
                      <a:alpha val="43137"/>
                    </a:srgbClr>
                  </a:outerShdw>
                </a:effectLst>
                <a:latin typeface="Verdana" panose="020B0604030504040204"/>
              </a:rPr>
              <a:t>V]/3; w</a:t>
            </a:r>
            <a:r>
              <a:rPr lang="zh-CN" altLang="en-US" sz="1600" b="1" dirty="0">
                <a:solidFill>
                  <a:srgbClr val="FF0066"/>
                </a:solidFill>
                <a:effectLst>
                  <a:outerShdw blurRad="38100" dist="38100" dir="2700000" algn="tl">
                    <a:srgbClr val="000000">
                      <a:alpha val="43137"/>
                    </a:srgbClr>
                  </a:outerShdw>
                </a:effectLst>
                <a:latin typeface="宋体" panose="02010600030101010101" pitchFamily="2" charset="-122"/>
              </a:rPr>
              <a:t>＝</a:t>
            </a:r>
            <a:r>
              <a:rPr lang="en-US" altLang="zh-CN" sz="1600" b="1" dirty="0">
                <a:solidFill>
                  <a:srgbClr val="FF0066"/>
                </a:solidFill>
                <a:effectLst>
                  <a:outerShdw blurRad="38100" dist="38100" dir="2700000" algn="tl">
                    <a:srgbClr val="000000">
                      <a:alpha val="43137"/>
                    </a:srgbClr>
                  </a:outerShdw>
                </a:effectLst>
                <a:latin typeface="Verdana" panose="020B0604030504040204"/>
              </a:rPr>
              <a:t>W</a:t>
            </a:r>
          </a:p>
          <a:p>
            <a:pPr algn="ctr" latinLnBrk="1"/>
            <a:r>
              <a:rPr lang="en-US" altLang="zh-CN" sz="2000" b="1" dirty="0">
                <a:solidFill>
                  <a:srgbClr val="000000"/>
                </a:solidFill>
                <a:effectLst>
                  <a:outerShdw blurRad="38100" dist="38100" dir="2700000" algn="tl">
                    <a:srgbClr val="000000">
                      <a:alpha val="43137"/>
                    </a:srgbClr>
                  </a:outerShdw>
                </a:effectLst>
                <a:latin typeface="Verdana" panose="020B0604030504040204"/>
              </a:rPr>
              <a:t>  </a:t>
            </a:r>
          </a:p>
        </p:txBody>
      </p:sp>
      <p:sp>
        <p:nvSpPr>
          <p:cNvPr id="6" name="Rectangle 4"/>
          <p:cNvSpPr txBox="1">
            <a:spLocks noChangeArrowheads="1"/>
          </p:cNvSpPr>
          <p:nvPr/>
        </p:nvSpPr>
        <p:spPr>
          <a:xfrm>
            <a:off x="107504" y="0"/>
            <a:ext cx="8783638" cy="1132756"/>
          </a:xfrm>
          <a:prstGeom prst="rect">
            <a:avLst/>
          </a:prstGeom>
          <a:noFill/>
        </p:spPr>
        <p:txBody>
          <a:bodyPr vert="horz" lIns="91440" tIns="45720" rIns="91440" bIns="45720" rtlCol="0" anchor="b">
            <a:noAutofit/>
          </a:bodyPr>
          <a:lstStyle>
            <a:lvl1pPr algn="ctr" rtl="0" eaLnBrk="1" fontAlgn="auto" hangingPunct="1">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r>
              <a:rPr lang="en-US" altLang="zh-CN" cap="none">
                <a:sym typeface="+mn-ea"/>
              </a:rPr>
              <a:t>Index of directions and planes in </a:t>
            </a:r>
            <a:br>
              <a:rPr lang="en-US" altLang="zh-CN" cap="none">
                <a:sym typeface="+mn-ea"/>
              </a:rPr>
            </a:br>
            <a:r>
              <a:rPr lang="en-US" altLang="zh-CN" cap="none">
                <a:sym typeface="+mn-ea"/>
              </a:rPr>
              <a:t>hexagonal crystal system</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8094" y="1527175"/>
            <a:ext cx="8576945" cy="460375"/>
          </a:xfrm>
          <a:prstGeom prst="rect">
            <a:avLst/>
          </a:prstGeom>
        </p:spPr>
        <p:txBody>
          <a:bodyPr wrap="none">
            <a:spAutoFit/>
          </a:bodyPr>
          <a:lstStyle/>
          <a:p>
            <a:pPr algn="l"/>
            <a:r>
              <a:rPr lang="en-US" altLang="zh-CN" b="1" dirty="0">
                <a:solidFill>
                  <a:srgbClr val="FF0066"/>
                </a:solidFill>
                <a:effectLst>
                  <a:outerShdw blurRad="38100" dist="38100" dir="2700000" algn="tl">
                    <a:srgbClr val="000000">
                      <a:alpha val="43137"/>
                    </a:srgbClr>
                  </a:outerShdw>
                </a:effectLst>
                <a:sym typeface="+mn-ea"/>
              </a:rPr>
              <a:t>Index of directions based on the four-vector coordinate system</a:t>
            </a:r>
            <a:r>
              <a:rPr lang="zh-CN" altLang="en-US" b="1" dirty="0">
                <a:solidFill>
                  <a:srgbClr val="FF0066"/>
                </a:solidFill>
                <a:effectLst>
                  <a:outerShdw blurRad="38100" dist="38100" dir="2700000" algn="tl">
                    <a:srgbClr val="000000">
                      <a:alpha val="43137"/>
                    </a:srgbClr>
                  </a:outerShdw>
                </a:effectLst>
              </a:rPr>
              <a:t>：</a:t>
            </a:r>
            <a:endParaRPr lang="en-US" altLang="zh-CN" b="1" dirty="0">
              <a:solidFill>
                <a:srgbClr val="FF0066"/>
              </a:solidFill>
              <a:effectLst>
                <a:outerShdw blurRad="38100" dist="38100" dir="2700000" algn="tl">
                  <a:srgbClr val="000000">
                    <a:alpha val="43137"/>
                  </a:srgbClr>
                </a:outerShdw>
              </a:effectLst>
            </a:endParaRPr>
          </a:p>
        </p:txBody>
      </p:sp>
      <p:pic>
        <p:nvPicPr>
          <p:cNvPr id="7" name="Picture 2"/>
          <p:cNvPicPr>
            <a:picLocks noChangeAspect="1" noChangeArrowheads="1"/>
          </p:cNvPicPr>
          <p:nvPr/>
        </p:nvPicPr>
        <p:blipFill>
          <a:blip r:embed="rId3">
            <a:biLevel thresh="75000"/>
            <a:extLst>
              <a:ext uri="{28A0092B-C50C-407E-A947-70E740481C1C}">
                <a14:useLocalDpi xmlns:a14="http://schemas.microsoft.com/office/drawing/2010/main" val="0"/>
              </a:ext>
            </a:extLst>
          </a:blip>
          <a:srcRect/>
          <a:stretch>
            <a:fillRect/>
          </a:stretch>
        </p:blipFill>
        <p:spPr bwMode="auto">
          <a:xfrm>
            <a:off x="1242180" y="1988840"/>
            <a:ext cx="5507511" cy="4499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4"/>
          <p:cNvSpPr>
            <a:spLocks noGrp="1" noChangeArrowheads="1"/>
          </p:cNvSpPr>
          <p:nvPr>
            <p:ph type="title"/>
          </p:nvPr>
        </p:nvSpPr>
        <p:spPr>
          <a:xfrm>
            <a:off x="107504" y="0"/>
            <a:ext cx="8783638" cy="1132756"/>
          </a:xfrm>
          <a:noFill/>
        </p:spPr>
        <p:txBody>
          <a:bodyPr anchor="b">
            <a:noAutofit/>
          </a:bodyPr>
          <a:lstStyle/>
          <a:p>
            <a:r>
              <a:rPr lang="en-US" altLang="zh-CN" cap="none" dirty="0">
                <a:sym typeface="+mn-ea"/>
              </a:rPr>
              <a:t>Index of directions and planes in </a:t>
            </a:r>
            <a:br>
              <a:rPr lang="en-US" altLang="zh-CN" cap="none" dirty="0">
                <a:sym typeface="+mn-ea"/>
              </a:rPr>
            </a:br>
            <a:r>
              <a:rPr lang="en-US" altLang="zh-CN" cap="none" dirty="0">
                <a:sym typeface="+mn-ea"/>
              </a:rPr>
              <a:t>hexagonal crystal system</a:t>
            </a:r>
            <a:endParaRPr lang="en-US" altLang="zh-CN" b="1" cap="none" dirty="0">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p:cNvSpPr/>
          <p:nvPr/>
        </p:nvSpPr>
        <p:spPr>
          <a:xfrm>
            <a:off x="213749" y="1257994"/>
            <a:ext cx="4139952" cy="4770537"/>
          </a:xfrm>
          <a:prstGeom prst="rect">
            <a:avLst/>
          </a:prstGeom>
        </p:spPr>
        <p:txBody>
          <a:bodyPr wrap="square">
            <a:spAutoFit/>
          </a:bodyPr>
          <a:lstStyle/>
          <a:p>
            <a:r>
              <a:rPr lang="en-US" altLang="zh-CN" sz="2000" b="1" spc="-60" dirty="0">
                <a:solidFill>
                  <a:srgbClr val="FF0066"/>
                </a:solidFill>
                <a:effectLst>
                  <a:outerShdw blurRad="38100" dist="38100" dir="2700000" algn="tl">
                    <a:srgbClr val="000000">
                      <a:alpha val="43137"/>
                    </a:srgbClr>
                  </a:outerShdw>
                </a:effectLst>
              </a:rPr>
              <a:t>Practice 9</a:t>
            </a:r>
            <a:r>
              <a:rPr lang="zh-CN" altLang="en-US" sz="2000" b="1" spc="-60" dirty="0">
                <a:solidFill>
                  <a:srgbClr val="FF0066"/>
                </a:solidFill>
              </a:rPr>
              <a:t>：</a:t>
            </a:r>
            <a:endParaRPr lang="en-US" altLang="zh-CN" sz="2000" b="1" spc="-60" dirty="0">
              <a:solidFill>
                <a:srgbClr val="FF0066"/>
              </a:solidFill>
            </a:endParaRPr>
          </a:p>
          <a:p>
            <a:r>
              <a:rPr lang="en-US" altLang="zh-CN" sz="2000" b="1" dirty="0">
                <a:solidFill>
                  <a:srgbClr val="FF0066"/>
                </a:solidFill>
                <a:effectLst>
                  <a:outerShdw blurRad="38100" dist="38100" dir="2700000" algn="tl">
                    <a:srgbClr val="000000">
                      <a:alpha val="43137"/>
                    </a:srgbClr>
                  </a:outerShdw>
                </a:effectLst>
                <a:sym typeface="+mn-ea"/>
              </a:rPr>
              <a:t>Q1. Please give the indices of the three colorful directions in the right picture based on the three-axis coordinate system and four-axis coordinate system, respectively</a:t>
            </a:r>
            <a:r>
              <a:rPr lang="zh-CN" altLang="en-US" sz="1800" b="1" dirty="0">
                <a:solidFill>
                  <a:srgbClr val="FF0066"/>
                </a:solidFill>
                <a:effectLst>
                  <a:outerShdw blurRad="38100" dist="38100" dir="2700000" algn="tl">
                    <a:srgbClr val="000000">
                      <a:alpha val="43137"/>
                    </a:srgbClr>
                  </a:outerShdw>
                </a:effectLst>
                <a:sym typeface="+mn-ea"/>
              </a:rPr>
              <a:t>；</a:t>
            </a:r>
          </a:p>
          <a:p>
            <a:endParaRPr lang="zh-CN" altLang="en-US" sz="1600" b="1" dirty="0">
              <a:solidFill>
                <a:srgbClr val="FF0066"/>
              </a:solidFill>
              <a:effectLst>
                <a:outerShdw blurRad="38100" dist="38100" dir="2700000" algn="tl">
                  <a:srgbClr val="000000">
                    <a:alpha val="43137"/>
                  </a:srgbClr>
                </a:outerShdw>
              </a:effectLst>
              <a:sym typeface="+mn-ea"/>
            </a:endParaRPr>
          </a:p>
          <a:p>
            <a:r>
              <a:rPr lang="en-US" altLang="zh-CN" sz="2000" b="1" dirty="0">
                <a:solidFill>
                  <a:srgbClr val="FF0066"/>
                </a:solidFill>
                <a:effectLst>
                  <a:outerShdw blurRad="38100" dist="38100" dir="2700000" algn="tl">
                    <a:srgbClr val="000000">
                      <a:alpha val="43137"/>
                    </a:srgbClr>
                  </a:outerShdw>
                </a:effectLst>
              </a:rPr>
              <a:t>Q2. Please plot the directions [101], [11-1], [121], [1-11]</a:t>
            </a:r>
            <a:r>
              <a:rPr lang="zh-CN" altLang="en-US" sz="2000" b="1" dirty="0">
                <a:solidFill>
                  <a:srgbClr val="FF0066"/>
                </a:solidFill>
                <a:effectLst>
                  <a:outerShdw blurRad="38100" dist="38100" dir="2700000" algn="tl">
                    <a:srgbClr val="000000">
                      <a:alpha val="43137"/>
                    </a:srgbClr>
                  </a:outerShdw>
                </a:effectLst>
              </a:rPr>
              <a:t>，</a:t>
            </a:r>
            <a:r>
              <a:rPr lang="en-US" altLang="zh-CN" sz="2000" b="1" dirty="0">
                <a:solidFill>
                  <a:srgbClr val="FF0066"/>
                </a:solidFill>
                <a:effectLst>
                  <a:outerShdw blurRad="38100" dist="38100" dir="2700000" algn="tl">
                    <a:srgbClr val="000000">
                      <a:alpha val="43137"/>
                    </a:srgbClr>
                  </a:outerShdw>
                </a:effectLst>
              </a:rPr>
              <a:t>[-2111] and [-12-11] </a:t>
            </a:r>
            <a:r>
              <a:rPr lang="en-US" altLang="zh-CN" sz="2000" b="1" dirty="0">
                <a:solidFill>
                  <a:srgbClr val="FF0066"/>
                </a:solidFill>
                <a:effectLst>
                  <a:outerShdw blurRad="38100" dist="38100" dir="2700000" algn="tl">
                    <a:srgbClr val="000000">
                      <a:alpha val="43137"/>
                    </a:srgbClr>
                  </a:outerShdw>
                </a:effectLst>
                <a:sym typeface="+mn-ea"/>
              </a:rPr>
              <a:t>in the hexagonal lattice</a:t>
            </a:r>
            <a:r>
              <a:rPr lang="en-US" altLang="zh-CN" sz="2000" b="1" dirty="0">
                <a:solidFill>
                  <a:srgbClr val="FF0066"/>
                </a:solidFill>
                <a:effectLst>
                  <a:outerShdw blurRad="38100" dist="38100" dir="2700000" algn="tl">
                    <a:srgbClr val="000000">
                      <a:alpha val="43137"/>
                    </a:srgbClr>
                  </a:outerShdw>
                </a:effectLst>
              </a:rPr>
              <a:t>. </a:t>
            </a:r>
          </a:p>
          <a:p>
            <a:endParaRPr lang="en-US" altLang="zh-CN" sz="2000" b="1" dirty="0">
              <a:solidFill>
                <a:srgbClr val="FF0066"/>
              </a:solidFill>
              <a:effectLst>
                <a:outerShdw blurRad="38100" dist="38100" dir="2700000" algn="tl">
                  <a:srgbClr val="000000">
                    <a:alpha val="43137"/>
                  </a:srgbClr>
                </a:outerShdw>
              </a:effectLst>
            </a:endParaRPr>
          </a:p>
          <a:p>
            <a:r>
              <a:rPr lang="en-US" altLang="zh-CN" sz="2000" b="1" dirty="0">
                <a:solidFill>
                  <a:srgbClr val="FF0066"/>
                </a:solidFill>
                <a:effectLst>
                  <a:outerShdw blurRad="38100" dist="38100" dir="2700000" algn="tl">
                    <a:srgbClr val="000000">
                      <a:alpha val="43137"/>
                    </a:srgbClr>
                  </a:outerShdw>
                </a:effectLst>
              </a:rPr>
              <a:t>Q3. Point out in Q2 which of them belong to the same group of direction.</a:t>
            </a:r>
            <a:endParaRPr lang="en-US" sz="2800" dirty="0"/>
          </a:p>
          <a:p>
            <a:endParaRPr lang="en-US" sz="2800" dirty="0"/>
          </a:p>
        </p:txBody>
      </p:sp>
      <p:grpSp>
        <p:nvGrpSpPr>
          <p:cNvPr id="3" name="Group 2"/>
          <p:cNvGrpSpPr/>
          <p:nvPr/>
        </p:nvGrpSpPr>
        <p:grpSpPr>
          <a:xfrm>
            <a:off x="5038573" y="1692361"/>
            <a:ext cx="3635084" cy="5047070"/>
            <a:chOff x="2636371" y="2678030"/>
            <a:chExt cx="2307211" cy="3203408"/>
          </a:xfrm>
        </p:grpSpPr>
        <p:grpSp>
          <p:nvGrpSpPr>
            <p:cNvPr id="33" name="Group 32"/>
            <p:cNvGrpSpPr/>
            <p:nvPr/>
          </p:nvGrpSpPr>
          <p:grpSpPr>
            <a:xfrm>
              <a:off x="2636371" y="2678030"/>
              <a:ext cx="2307211" cy="3203408"/>
              <a:chOff x="3609975" y="1866900"/>
              <a:chExt cx="2307211" cy="3203408"/>
            </a:xfrm>
          </p:grpSpPr>
          <p:grpSp>
            <p:nvGrpSpPr>
              <p:cNvPr id="34" name="Group 33"/>
              <p:cNvGrpSpPr/>
              <p:nvPr/>
            </p:nvGrpSpPr>
            <p:grpSpPr>
              <a:xfrm>
                <a:off x="3609975" y="1866900"/>
                <a:ext cx="2307211" cy="3203408"/>
                <a:chOff x="3609975" y="1866900"/>
                <a:chExt cx="2307211" cy="3203408"/>
              </a:xfrm>
            </p:grpSpPr>
            <p:sp>
              <p:nvSpPr>
                <p:cNvPr id="37" name="Freeform 36"/>
                <p:cNvSpPr/>
                <p:nvPr/>
              </p:nvSpPr>
              <p:spPr>
                <a:xfrm>
                  <a:off x="3609975" y="3810000"/>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38" name="Freeform 37"/>
                <p:cNvSpPr/>
                <p:nvPr/>
              </p:nvSpPr>
              <p:spPr>
                <a:xfrm>
                  <a:off x="3609975" y="1876425"/>
                  <a:ext cx="1943100" cy="981075"/>
                </a:xfrm>
                <a:custGeom>
                  <a:avLst/>
                  <a:gdLst>
                    <a:gd name="connsiteX0" fmla="*/ 581025 w 1943100"/>
                    <a:gd name="connsiteY0" fmla="*/ 9525 h 981075"/>
                    <a:gd name="connsiteX1" fmla="*/ 1552575 w 1943100"/>
                    <a:gd name="connsiteY1" fmla="*/ 0 h 981075"/>
                    <a:gd name="connsiteX2" fmla="*/ 1943100 w 1943100"/>
                    <a:gd name="connsiteY2" fmla="*/ 514350 h 981075"/>
                    <a:gd name="connsiteX3" fmla="*/ 1352550 w 1943100"/>
                    <a:gd name="connsiteY3" fmla="*/ 981075 h 981075"/>
                    <a:gd name="connsiteX4" fmla="*/ 390525 w 1943100"/>
                    <a:gd name="connsiteY4" fmla="*/ 981075 h 981075"/>
                    <a:gd name="connsiteX5" fmla="*/ 0 w 1943100"/>
                    <a:gd name="connsiteY5" fmla="*/ 514350 h 981075"/>
                    <a:gd name="connsiteX6" fmla="*/ 581025 w 1943100"/>
                    <a:gd name="connsiteY6" fmla="*/ 952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981075">
                      <a:moveTo>
                        <a:pt x="581025" y="9525"/>
                      </a:moveTo>
                      <a:lnTo>
                        <a:pt x="1552575" y="0"/>
                      </a:lnTo>
                      <a:lnTo>
                        <a:pt x="1943100" y="514350"/>
                      </a:lnTo>
                      <a:lnTo>
                        <a:pt x="1352550" y="981075"/>
                      </a:lnTo>
                      <a:lnTo>
                        <a:pt x="390525" y="981075"/>
                      </a:lnTo>
                      <a:lnTo>
                        <a:pt x="0" y="514350"/>
                      </a:lnTo>
                      <a:lnTo>
                        <a:pt x="581025" y="9525"/>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cxnSp>
              <p:nvCxnSpPr>
                <p:cNvPr id="39" name="Straight Connector 38"/>
                <p:cNvCxnSpPr>
                  <a:stCxn id="37" idx="5"/>
                  <a:endCxn id="38" idx="5"/>
                </p:cNvCxnSpPr>
                <p:nvPr/>
              </p:nvCxnSpPr>
              <p:spPr>
                <a:xfrm flipV="1">
                  <a:off x="3609975" y="2390775"/>
                  <a:ext cx="0" cy="19335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399097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4962525" y="2867025"/>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34025" y="2400300"/>
                  <a:ext cx="19050" cy="1924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8" idx="0"/>
                  <a:endCxn id="38" idx="3"/>
                </p:cNvCxnSpPr>
                <p:nvPr/>
              </p:nvCxnSpPr>
              <p:spPr>
                <a:xfrm>
                  <a:off x="4191000" y="1885950"/>
                  <a:ext cx="781050"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8" idx="4"/>
                  <a:endCxn id="38" idx="1"/>
                </p:cNvCxnSpPr>
                <p:nvPr/>
              </p:nvCxnSpPr>
              <p:spPr>
                <a:xfrm flipV="1">
                  <a:off x="4000500" y="1885950"/>
                  <a:ext cx="1171575" cy="9715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8" idx="5"/>
                  <a:endCxn id="38" idx="2"/>
                </p:cNvCxnSpPr>
                <p:nvPr/>
              </p:nvCxnSpPr>
              <p:spPr>
                <a:xfrm>
                  <a:off x="3609975" y="2390775"/>
                  <a:ext cx="1943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990975" y="4295775"/>
                  <a:ext cx="590550" cy="485775"/>
                </a:xfrm>
                <a:prstGeom prst="line">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581525" y="4305300"/>
                  <a:ext cx="990600" cy="0"/>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4181475" y="1866900"/>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153025" y="1876425"/>
                  <a:ext cx="19050" cy="192405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572000" y="2400300"/>
                  <a:ext cx="19050" cy="1924050"/>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725888" y="4699148"/>
                  <a:ext cx="333923" cy="371160"/>
                </a:xfrm>
                <a:prstGeom prst="rect">
                  <a:avLst/>
                </a:prstGeom>
                <a:noFill/>
              </p:spPr>
              <p:txBody>
                <a:bodyPr wrap="none" rtlCol="0">
                  <a:spAutoFit/>
                </a:bodyPr>
                <a:lstStyle/>
                <a:p>
                  <a:r>
                    <a:rPr lang="en-US" sz="3200" b="1" i="1" dirty="0"/>
                    <a:t>a</a:t>
                  </a:r>
                  <a:r>
                    <a:rPr lang="en-US" sz="3200" b="1" i="1" baseline="-25000" dirty="0"/>
                    <a:t>1</a:t>
                  </a:r>
                </a:p>
              </p:txBody>
            </p:sp>
            <p:sp>
              <p:nvSpPr>
                <p:cNvPr id="52" name="TextBox 51"/>
                <p:cNvSpPr txBox="1"/>
                <p:nvPr/>
              </p:nvSpPr>
              <p:spPr>
                <a:xfrm>
                  <a:off x="5583263" y="4118123"/>
                  <a:ext cx="333923" cy="371160"/>
                </a:xfrm>
                <a:prstGeom prst="rect">
                  <a:avLst/>
                </a:prstGeom>
                <a:noFill/>
              </p:spPr>
              <p:txBody>
                <a:bodyPr wrap="none" rtlCol="0">
                  <a:spAutoFit/>
                </a:bodyPr>
                <a:lstStyle/>
                <a:p>
                  <a:r>
                    <a:rPr lang="en-US" sz="3200" b="1" i="1" dirty="0"/>
                    <a:t>a</a:t>
                  </a:r>
                  <a:r>
                    <a:rPr lang="en-US" sz="3200" b="1" i="1" baseline="-25000" dirty="0"/>
                    <a:t>2</a:t>
                  </a:r>
                </a:p>
              </p:txBody>
            </p:sp>
            <p:sp>
              <p:nvSpPr>
                <p:cNvPr id="53" name="TextBox 52"/>
                <p:cNvSpPr txBox="1"/>
                <p:nvPr/>
              </p:nvSpPr>
              <p:spPr>
                <a:xfrm>
                  <a:off x="4276154" y="2405796"/>
                  <a:ext cx="233196" cy="371160"/>
                </a:xfrm>
                <a:prstGeom prst="rect">
                  <a:avLst/>
                </a:prstGeom>
                <a:noFill/>
              </p:spPr>
              <p:txBody>
                <a:bodyPr wrap="none" rtlCol="0">
                  <a:spAutoFit/>
                </a:bodyPr>
                <a:lstStyle/>
                <a:p>
                  <a:r>
                    <a:rPr lang="en-US" sz="3200" b="1" i="1" dirty="0"/>
                    <a:t>c</a:t>
                  </a:r>
                  <a:endParaRPr lang="en-US" sz="3200" b="1" i="1" baseline="-25000" dirty="0"/>
                </a:p>
              </p:txBody>
            </p:sp>
          </p:grpSp>
          <p:cxnSp>
            <p:nvCxnSpPr>
              <p:cNvPr id="35" name="Straight Connector 34"/>
              <p:cNvCxnSpPr>
                <a:stCxn id="37" idx="0"/>
              </p:cNvCxnSpPr>
              <p:nvPr/>
            </p:nvCxnSpPr>
            <p:spPr>
              <a:xfrm>
                <a:off x="4191000" y="3819525"/>
                <a:ext cx="390525" cy="485776"/>
              </a:xfrm>
              <a:prstGeom prst="line">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183659" y="3408540"/>
                <a:ext cx="333923" cy="371160"/>
              </a:xfrm>
              <a:prstGeom prst="rect">
                <a:avLst/>
              </a:prstGeom>
              <a:noFill/>
            </p:spPr>
            <p:txBody>
              <a:bodyPr wrap="none" rtlCol="0">
                <a:spAutoFit/>
              </a:bodyPr>
              <a:lstStyle/>
              <a:p>
                <a:r>
                  <a:rPr lang="en-US" sz="3200" b="1" i="1" dirty="0"/>
                  <a:t>a</a:t>
                </a:r>
                <a:r>
                  <a:rPr lang="en-US" sz="3200" b="1" i="1" baseline="-25000" dirty="0"/>
                  <a:t>3</a:t>
                </a:r>
              </a:p>
            </p:txBody>
          </p:sp>
        </p:grpSp>
        <p:cxnSp>
          <p:nvCxnSpPr>
            <p:cNvPr id="57" name="Straight Connector 56"/>
            <p:cNvCxnSpPr>
              <a:endCxn id="37" idx="3"/>
            </p:cNvCxnSpPr>
            <p:nvPr/>
          </p:nvCxnSpPr>
          <p:spPr>
            <a:xfrm>
              <a:off x="3594067" y="5126326"/>
              <a:ext cx="394854" cy="475879"/>
            </a:xfrm>
            <a:prstGeom prst="line">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979222" y="5510278"/>
              <a:ext cx="485521" cy="371160"/>
            </a:xfrm>
            <a:prstGeom prst="rect">
              <a:avLst/>
            </a:prstGeom>
            <a:noFill/>
          </p:spPr>
          <p:txBody>
            <a:bodyPr wrap="none" rtlCol="0">
              <a:spAutoFit/>
            </a:bodyPr>
            <a:lstStyle/>
            <a:p>
              <a:r>
                <a:rPr lang="en-US" sz="3200" b="1" i="1" dirty="0"/>
                <a:t>- a</a:t>
              </a:r>
              <a:r>
                <a:rPr lang="en-US" sz="3200" b="1" i="1" baseline="-25000" dirty="0"/>
                <a:t>3</a:t>
              </a:r>
            </a:p>
          </p:txBody>
        </p:sp>
      </p:grpSp>
      <p:cxnSp>
        <p:nvCxnSpPr>
          <p:cNvPr id="7" name="Straight Arrow Connector 6"/>
          <p:cNvCxnSpPr/>
          <p:nvPr/>
        </p:nvCxnSpPr>
        <p:spPr>
          <a:xfrm flipH="1">
            <a:off x="6256097" y="5564151"/>
            <a:ext cx="275590" cy="1175280"/>
          </a:xfrm>
          <a:prstGeom prst="straightConnector1">
            <a:avLst/>
          </a:prstGeom>
          <a:ln w="38100">
            <a:solidFill>
              <a:srgbClr val="00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V="1">
            <a:off x="5038573" y="4072479"/>
            <a:ext cx="3046409" cy="1478183"/>
          </a:xfrm>
          <a:prstGeom prst="straightConnector1">
            <a:avLst/>
          </a:prstGeom>
          <a:ln w="381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5961499" y="2517743"/>
            <a:ext cx="1388143" cy="2251041"/>
          </a:xfrm>
          <a:prstGeom prst="straightConnector1">
            <a:avLst/>
          </a:prstGeom>
          <a:ln w="38100">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147551" y="3841646"/>
            <a:ext cx="705642" cy="461665"/>
          </a:xfrm>
          <a:prstGeom prst="rect">
            <a:avLst/>
          </a:prstGeom>
          <a:noFill/>
        </p:spPr>
        <p:txBody>
          <a:bodyPr wrap="none" rtlCol="0">
            <a:spAutoFit/>
          </a:bodyPr>
          <a:lstStyle/>
          <a:p>
            <a:r>
              <a:rPr lang="en-US" dirty="0"/>
              <a:t>0.5</a:t>
            </a:r>
            <a:r>
              <a:rPr lang="en-US" b="1" i="1" dirty="0"/>
              <a:t>c</a:t>
            </a:r>
          </a:p>
        </p:txBody>
      </p:sp>
      <p:sp>
        <p:nvSpPr>
          <p:cNvPr id="56" name="TextBox 55"/>
          <p:cNvSpPr txBox="1"/>
          <p:nvPr/>
        </p:nvSpPr>
        <p:spPr>
          <a:xfrm>
            <a:off x="6996821" y="2016240"/>
            <a:ext cx="723275" cy="461665"/>
          </a:xfrm>
          <a:prstGeom prst="rect">
            <a:avLst/>
          </a:prstGeom>
          <a:noFill/>
        </p:spPr>
        <p:txBody>
          <a:bodyPr wrap="none" rtlCol="0">
            <a:spAutoFit/>
          </a:bodyPr>
          <a:lstStyle/>
          <a:p>
            <a:r>
              <a:rPr lang="en-US" dirty="0"/>
              <a:t>0.5</a:t>
            </a:r>
            <a:r>
              <a:rPr lang="en-US" b="1" i="1" dirty="0"/>
              <a:t>a</a:t>
            </a:r>
          </a:p>
        </p:txBody>
      </p:sp>
      <p:sp>
        <p:nvSpPr>
          <p:cNvPr id="58" name="TextBox 57"/>
          <p:cNvSpPr txBox="1"/>
          <p:nvPr/>
        </p:nvSpPr>
        <p:spPr>
          <a:xfrm>
            <a:off x="6273546" y="6440043"/>
            <a:ext cx="723275" cy="461665"/>
          </a:xfrm>
          <a:prstGeom prst="rect">
            <a:avLst/>
          </a:prstGeom>
          <a:noFill/>
        </p:spPr>
        <p:txBody>
          <a:bodyPr wrap="none" rtlCol="0">
            <a:spAutoFit/>
          </a:bodyPr>
          <a:lstStyle/>
          <a:p>
            <a:r>
              <a:rPr lang="en-US" dirty="0"/>
              <a:t>0.5</a:t>
            </a:r>
            <a:r>
              <a:rPr lang="en-US" b="1" i="1" dirty="0"/>
              <a:t>a</a:t>
            </a:r>
          </a:p>
        </p:txBody>
      </p:sp>
      <p:cxnSp>
        <p:nvCxnSpPr>
          <p:cNvPr id="60" name="Straight Arrow Connector 59"/>
          <p:cNvCxnSpPr/>
          <p:nvPr/>
        </p:nvCxnSpPr>
        <p:spPr>
          <a:xfrm flipH="1">
            <a:off x="6069724" y="2517744"/>
            <a:ext cx="2015259" cy="3410090"/>
          </a:xfrm>
          <a:prstGeom prst="straightConnector1">
            <a:avLst/>
          </a:prstGeom>
          <a:ln w="38100">
            <a:solidFill>
              <a:srgbClr val="7030A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5560067" y="5431412"/>
            <a:ext cx="723275" cy="461665"/>
          </a:xfrm>
          <a:prstGeom prst="rect">
            <a:avLst/>
          </a:prstGeom>
          <a:noFill/>
        </p:spPr>
        <p:txBody>
          <a:bodyPr wrap="none" rtlCol="0">
            <a:spAutoFit/>
          </a:bodyPr>
          <a:lstStyle/>
          <a:p>
            <a:r>
              <a:rPr lang="en-US" dirty="0"/>
              <a:t>0.5</a:t>
            </a:r>
            <a:r>
              <a:rPr lang="en-US" b="1" i="1" dirty="0"/>
              <a:t>a</a:t>
            </a:r>
          </a:p>
        </p:txBody>
      </p:sp>
      <p:sp>
        <p:nvSpPr>
          <p:cNvPr id="62" name="Rectangle 61"/>
          <p:cNvSpPr/>
          <p:nvPr/>
        </p:nvSpPr>
        <p:spPr>
          <a:xfrm>
            <a:off x="55759" y="5661248"/>
            <a:ext cx="4392488" cy="1323439"/>
          </a:xfrm>
          <a:prstGeom prst="rect">
            <a:avLst/>
          </a:prstGeom>
        </p:spPr>
        <p:txBody>
          <a:bodyPr wrap="square">
            <a:spAutoFit/>
          </a:bodyPr>
          <a:lstStyle/>
          <a:p>
            <a:pPr algn="ctr" latinLnBrk="1"/>
            <a:r>
              <a:rPr lang="en-US" altLang="zh-CN" sz="2000" b="1" dirty="0">
                <a:effectLst>
                  <a:outerShdw blurRad="38100" dist="38100" dir="2700000" algn="tl">
                    <a:srgbClr val="000000">
                      <a:alpha val="43137"/>
                    </a:srgbClr>
                  </a:outerShdw>
                </a:effectLst>
                <a:latin typeface="Verdana" panose="020B0604030504040204"/>
              </a:rPr>
              <a:t>u</a:t>
            </a:r>
            <a:r>
              <a:rPr lang="zh-CN" altLang="en-US"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Verdana" panose="020B0604030504040204"/>
              </a:rPr>
              <a:t>[2U</a:t>
            </a:r>
            <a:r>
              <a:rPr lang="zh-CN" altLang="en-US"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Verdana" panose="020B0604030504040204"/>
              </a:rPr>
              <a:t>V]/3; v</a:t>
            </a:r>
            <a:r>
              <a:rPr lang="zh-CN" altLang="en-US"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Verdana" panose="020B0604030504040204"/>
              </a:rPr>
              <a:t>[2V</a:t>
            </a:r>
            <a:r>
              <a:rPr lang="zh-CN" altLang="en-US"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Verdana" panose="020B0604030504040204"/>
              </a:rPr>
              <a:t>U]/3; t</a:t>
            </a:r>
            <a:r>
              <a:rPr lang="zh-CN" altLang="en-US"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Verdana" panose="020B0604030504040204"/>
              </a:rPr>
              <a:t>[U</a:t>
            </a:r>
            <a:r>
              <a:rPr lang="zh-CN" altLang="en-US"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Verdana" panose="020B0604030504040204"/>
              </a:rPr>
              <a:t>V]/3; w</a:t>
            </a:r>
            <a:r>
              <a:rPr lang="zh-CN" altLang="en-US" sz="2000" b="1" dirty="0">
                <a:effectLst>
                  <a:outerShdw blurRad="38100" dist="38100" dir="2700000" algn="tl">
                    <a:srgbClr val="000000">
                      <a:alpha val="43137"/>
                    </a:srgbClr>
                  </a:outerShdw>
                </a:effectLst>
                <a:latin typeface="宋体" panose="02010600030101010101" pitchFamily="2" charset="-122"/>
              </a:rPr>
              <a:t>＝</a:t>
            </a:r>
            <a:r>
              <a:rPr lang="en-US" altLang="zh-CN" sz="2000" b="1" dirty="0">
                <a:effectLst>
                  <a:outerShdw blurRad="38100" dist="38100" dir="2700000" algn="tl">
                    <a:srgbClr val="000000">
                      <a:alpha val="43137"/>
                    </a:srgbClr>
                  </a:outerShdw>
                </a:effectLst>
                <a:latin typeface="Verdana" panose="020B0604030504040204"/>
              </a:rPr>
              <a:t>W  </a:t>
            </a:r>
          </a:p>
          <a:p>
            <a:pPr algn="ctr" latinLnBrk="1"/>
            <a:r>
              <a:rPr lang="en-US" altLang="zh-CN" sz="2000" b="1" u="sng" dirty="0">
                <a:effectLst>
                  <a:outerShdw blurRad="38100" dist="38100" dir="2700000" algn="tl">
                    <a:srgbClr val="000000">
                      <a:alpha val="43137"/>
                    </a:srgbClr>
                  </a:outerShdw>
                </a:effectLst>
                <a:latin typeface="Verdana" panose="020B0604030504040204"/>
              </a:rPr>
              <a:t>U = u −t ; V= v −t ; W=w </a:t>
            </a:r>
            <a:r>
              <a:rPr lang="en-US" altLang="zh-CN" sz="2000" b="1" dirty="0">
                <a:effectLst>
                  <a:outerShdw blurRad="38100" dist="38100" dir="2700000" algn="tl">
                    <a:srgbClr val="000000">
                      <a:alpha val="43137"/>
                    </a:srgbClr>
                  </a:outerShdw>
                </a:effectLst>
                <a:latin typeface="Verdana" panose="020B0604030504040204"/>
              </a:rPr>
              <a:t>  </a:t>
            </a:r>
            <a:endParaRPr lang="zh-CN" altLang="en-US" sz="2000" b="1" dirty="0">
              <a:effectLst>
                <a:outerShdw blurRad="38100" dist="38100" dir="2700000" algn="tl">
                  <a:srgbClr val="000000">
                    <a:alpha val="43137"/>
                  </a:srgbClr>
                </a:outerShdw>
              </a:effectLst>
              <a:latin typeface="Verdana" panose="020B0604030504040204"/>
            </a:endParaRPr>
          </a:p>
          <a:p>
            <a:pPr algn="ctr" latinLnBrk="1"/>
            <a:r>
              <a:rPr lang="en-US" altLang="zh-CN" sz="2000" b="1" dirty="0">
                <a:effectLst>
                  <a:outerShdw blurRad="38100" dist="38100" dir="2700000" algn="tl">
                    <a:srgbClr val="000000">
                      <a:alpha val="43137"/>
                    </a:srgbClr>
                  </a:outerShdw>
                </a:effectLst>
                <a:latin typeface="Verdana" panose="020B0604030504040204"/>
              </a:rPr>
              <a:t>  </a:t>
            </a:r>
            <a:endParaRPr lang="zh-CN" altLang="en-US" sz="2000" b="1" dirty="0">
              <a:effectLst>
                <a:outerShdw blurRad="38100" dist="38100" dir="2700000" algn="tl">
                  <a:srgbClr val="000000">
                    <a:alpha val="43137"/>
                  </a:srgbClr>
                </a:outerShdw>
              </a:effectLst>
              <a:latin typeface="Verdana" panose="020B0604030504040204"/>
            </a:endParaRPr>
          </a:p>
        </p:txBody>
      </p:sp>
      <p:sp>
        <p:nvSpPr>
          <p:cNvPr id="63" name="Rectangle 4"/>
          <p:cNvSpPr>
            <a:spLocks noGrp="1" noChangeArrowheads="1"/>
          </p:cNvSpPr>
          <p:nvPr>
            <p:ph type="title"/>
          </p:nvPr>
        </p:nvSpPr>
        <p:spPr>
          <a:xfrm>
            <a:off x="107504" y="0"/>
            <a:ext cx="8783638" cy="1132756"/>
          </a:xfrm>
          <a:noFill/>
        </p:spPr>
        <p:txBody>
          <a:bodyPr anchor="b">
            <a:noAutofit/>
          </a:bodyPr>
          <a:lstStyle/>
          <a:p>
            <a:r>
              <a:rPr lang="en-US" altLang="zh-CN" cap="none" dirty="0">
                <a:sym typeface="+mn-ea"/>
              </a:rPr>
              <a:t>Index of directions and planes in </a:t>
            </a:r>
            <a:br>
              <a:rPr lang="en-US" altLang="zh-CN" cap="none" dirty="0">
                <a:sym typeface="+mn-ea"/>
              </a:rPr>
            </a:br>
            <a:r>
              <a:rPr lang="en-US" altLang="zh-CN" cap="none" dirty="0">
                <a:sym typeface="+mn-ea"/>
              </a:rPr>
              <a:t>hexagonal crystal system</a:t>
            </a:r>
            <a:endParaRPr lang="en-US" altLang="zh-CN" b="1" cap="none" dirty="0">
              <a:sym typeface="+mn-ea"/>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p:cNvSpPr/>
          <p:nvPr/>
        </p:nvSpPr>
        <p:spPr>
          <a:xfrm>
            <a:off x="179705" y="1287036"/>
            <a:ext cx="8712775" cy="1323439"/>
          </a:xfrm>
          <a:prstGeom prst="rect">
            <a:avLst/>
          </a:prstGeom>
        </p:spPr>
        <p:txBody>
          <a:bodyPr wrap="square">
            <a:spAutoFit/>
          </a:bodyPr>
          <a:lstStyle/>
          <a:p>
            <a:r>
              <a:rPr lang="en-US" altLang="zh-CN" b="1" dirty="0">
                <a:solidFill>
                  <a:srgbClr val="FF0000"/>
                </a:solidFill>
                <a:effectLst>
                  <a:outerShdw blurRad="38100" dist="38100" dir="2700000" algn="tl">
                    <a:srgbClr val="000000">
                      <a:alpha val="43137"/>
                    </a:srgbClr>
                  </a:outerShdw>
                </a:effectLst>
              </a:rPr>
              <a:t>How to get the coordinates of a point in a </a:t>
            </a:r>
            <a:r>
              <a:rPr lang="zh-CN" altLang="en-US" b="1" dirty="0">
                <a:solidFill>
                  <a:srgbClr val="FF0000"/>
                </a:solidFill>
                <a:effectLst>
                  <a:outerShdw blurRad="38100" dist="38100" dir="2700000" algn="tl">
                    <a:srgbClr val="000000">
                      <a:alpha val="43137"/>
                    </a:srgbClr>
                  </a:outerShdw>
                </a:effectLst>
              </a:rPr>
              <a:t>Non </a:t>
            </a:r>
            <a:r>
              <a:rPr lang="en-US" altLang="zh-CN" b="1" dirty="0">
                <a:solidFill>
                  <a:srgbClr val="FF0000"/>
                </a:solidFill>
                <a:effectLst>
                  <a:outerShdw blurRad="38100" dist="38100" dir="2700000" algn="tl">
                    <a:srgbClr val="000000">
                      <a:alpha val="43137"/>
                    </a:srgbClr>
                  </a:outerShdw>
                </a:effectLst>
              </a:rPr>
              <a:t>–</a:t>
            </a:r>
            <a:r>
              <a:rPr lang="zh-CN" altLang="en-US" b="1" dirty="0">
                <a:solidFill>
                  <a:srgbClr val="FF0000"/>
                </a:solidFill>
                <a:effectLst>
                  <a:outerShdw blurRad="38100" dist="38100" dir="2700000" algn="tl">
                    <a:srgbClr val="000000">
                      <a:alpha val="43137"/>
                    </a:srgbClr>
                  </a:outerShdw>
                </a:effectLst>
              </a:rPr>
              <a:t> </a:t>
            </a:r>
            <a:r>
              <a:rPr lang="en-US" altLang="zh-CN" b="1" dirty="0">
                <a:solidFill>
                  <a:srgbClr val="FF0000"/>
                </a:solidFill>
                <a:effectLst>
                  <a:outerShdw blurRad="38100" dist="38100" dir="2700000" algn="tl">
                    <a:srgbClr val="000000">
                      <a:alpha val="43137"/>
                    </a:srgbClr>
                  </a:outerShdw>
                </a:effectLst>
              </a:rPr>
              <a:t>rectangular </a:t>
            </a:r>
            <a:r>
              <a:rPr lang="zh-CN" altLang="en-US" b="1" dirty="0">
                <a:solidFill>
                  <a:srgbClr val="FF0000"/>
                </a:solidFill>
                <a:effectLst>
                  <a:outerShdw blurRad="38100" dist="38100" dir="2700000" algn="tl">
                    <a:srgbClr val="000000">
                      <a:alpha val="43137"/>
                    </a:srgbClr>
                  </a:outerShdw>
                </a:effectLst>
              </a:rPr>
              <a:t>coordinate system （直角坐标系）</a:t>
            </a:r>
            <a:r>
              <a:rPr lang="en-US" altLang="zh-CN" b="1" dirty="0">
                <a:solidFill>
                  <a:srgbClr val="FF0000"/>
                </a:solidFill>
                <a:effectLst>
                  <a:outerShdw blurRad="38100" dist="38100" dir="2700000" algn="tl">
                    <a:srgbClr val="000000">
                      <a:alpha val="43137"/>
                    </a:srgbClr>
                  </a:outerShdw>
                </a:effectLst>
              </a:rPr>
              <a:t>? (</a:t>
            </a:r>
            <a:r>
              <a:rPr lang="en-US" altLang="zh-CN" sz="2800" b="1" dirty="0">
                <a:solidFill>
                  <a:srgbClr val="FF0000"/>
                </a:solidFill>
                <a:effectLst>
                  <a:outerShdw blurRad="38100" dist="38100" dir="2700000" algn="tl">
                    <a:srgbClr val="000000">
                      <a:alpha val="43137"/>
                    </a:srgbClr>
                  </a:outerShdw>
                </a:effectLst>
              </a:rPr>
              <a:t>supplementory)</a:t>
            </a:r>
            <a:endParaRPr lang="en-US" sz="2800" b="1" dirty="0">
              <a:solidFill>
                <a:srgbClr val="FF0000"/>
              </a:solidFill>
              <a:effectLst>
                <a:outerShdw blurRad="38100" dist="38100" dir="2700000" algn="tl">
                  <a:srgbClr val="000000">
                    <a:alpha val="43137"/>
                  </a:srgbClr>
                </a:outerShdw>
              </a:effectLst>
            </a:endParaRPr>
          </a:p>
          <a:p>
            <a:endParaRPr lang="en-US" sz="2800" dirty="0"/>
          </a:p>
        </p:txBody>
      </p:sp>
      <p:sp>
        <p:nvSpPr>
          <p:cNvPr id="4" name="Hexagon 3"/>
          <p:cNvSpPr/>
          <p:nvPr/>
        </p:nvSpPr>
        <p:spPr>
          <a:xfrm>
            <a:off x="1187624" y="3268090"/>
            <a:ext cx="2659162" cy="2457718"/>
          </a:xfrm>
          <a:prstGeom prst="hexagon">
            <a:avLst>
              <a:gd name="adj" fmla="val 27566"/>
              <a:gd name="vf" fmla="val 11547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2472474" y="4496949"/>
            <a:ext cx="2196244" cy="0"/>
          </a:xfrm>
          <a:prstGeom prst="straightConnector1">
            <a:avLst/>
          </a:prstGeom>
          <a:ln w="76200">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579198" y="4493172"/>
            <a:ext cx="911754" cy="1661485"/>
          </a:xfrm>
          <a:prstGeom prst="straightConnector1">
            <a:avLst/>
          </a:prstGeom>
          <a:ln w="7620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1284611" y="6217719"/>
            <a:ext cx="526106" cy="584774"/>
          </a:xfrm>
          <a:prstGeom prst="rect">
            <a:avLst/>
          </a:prstGeom>
          <a:noFill/>
        </p:spPr>
        <p:txBody>
          <a:bodyPr wrap="none" rtlCol="0">
            <a:spAutoFit/>
          </a:bodyPr>
          <a:lstStyle/>
          <a:p>
            <a:r>
              <a:rPr lang="en-US" sz="3200" b="1" i="1" dirty="0"/>
              <a:t>a</a:t>
            </a:r>
            <a:r>
              <a:rPr lang="en-US" sz="3200" b="1" i="1" baseline="-25000" dirty="0"/>
              <a:t>1</a:t>
            </a:r>
          </a:p>
        </p:txBody>
      </p:sp>
      <p:sp>
        <p:nvSpPr>
          <p:cNvPr id="64" name="TextBox 63"/>
          <p:cNvSpPr txBox="1"/>
          <p:nvPr/>
        </p:nvSpPr>
        <p:spPr>
          <a:xfrm>
            <a:off x="3879974" y="3877125"/>
            <a:ext cx="526106" cy="584774"/>
          </a:xfrm>
          <a:prstGeom prst="rect">
            <a:avLst/>
          </a:prstGeom>
          <a:noFill/>
        </p:spPr>
        <p:txBody>
          <a:bodyPr wrap="none" rtlCol="0">
            <a:spAutoFit/>
          </a:bodyPr>
          <a:lstStyle/>
          <a:p>
            <a:r>
              <a:rPr lang="en-US" sz="3200" b="1" i="1" dirty="0"/>
              <a:t>a</a:t>
            </a:r>
            <a:r>
              <a:rPr lang="en-US" sz="3200" b="1" i="1" baseline="-25000" dirty="0"/>
              <a:t>2</a:t>
            </a:r>
          </a:p>
        </p:txBody>
      </p:sp>
      <p:cxnSp>
        <p:nvCxnSpPr>
          <p:cNvPr id="17" name="Straight Connector 16"/>
          <p:cNvCxnSpPr/>
          <p:nvPr/>
        </p:nvCxnSpPr>
        <p:spPr>
          <a:xfrm>
            <a:off x="-1044624" y="4493172"/>
            <a:ext cx="6408712"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733069" y="2790497"/>
            <a:ext cx="1947069" cy="390346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385459" y="2582949"/>
            <a:ext cx="3600399" cy="3415030"/>
          </a:xfrm>
          <a:prstGeom prst="rect">
            <a:avLst/>
          </a:prstGeom>
          <a:noFill/>
        </p:spPr>
        <p:txBody>
          <a:bodyPr wrap="square" rtlCol="0">
            <a:spAutoFit/>
          </a:bodyPr>
          <a:lstStyle/>
          <a:p>
            <a:pPr>
              <a:buAutoNum type="arabicPeriod"/>
            </a:pPr>
            <a:r>
              <a:rPr lang="en-US" altLang="zh-CN" dirty="0"/>
              <a:t> Plot two lines parallel to the axes passing through the point to be determined</a:t>
            </a:r>
            <a:r>
              <a:rPr lang="zh-CN" altLang="en-US" dirty="0"/>
              <a:t>；</a:t>
            </a:r>
            <a:endParaRPr lang="en-US" altLang="zh-CN" dirty="0"/>
          </a:p>
          <a:p>
            <a:pPr marL="457200" indent="-457200">
              <a:buAutoNum type="arabicPeriod"/>
            </a:pPr>
            <a:endParaRPr lang="en-US" altLang="zh-CN" dirty="0"/>
          </a:p>
          <a:p>
            <a:r>
              <a:rPr lang="en-US" dirty="0"/>
              <a:t>2. According to the intersections between the two lines and the axes, the coordinates of the point can be obtained.</a:t>
            </a:r>
          </a:p>
        </p:txBody>
      </p:sp>
      <p:cxnSp>
        <p:nvCxnSpPr>
          <p:cNvPr id="74" name="Straight Connector 73"/>
          <p:cNvCxnSpPr/>
          <p:nvPr/>
        </p:nvCxnSpPr>
        <p:spPr>
          <a:xfrm flipV="1">
            <a:off x="1212334" y="2474492"/>
            <a:ext cx="2305434" cy="4501084"/>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1378161" y="3268090"/>
            <a:ext cx="3769903"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3" name="Rectangle 4"/>
          <p:cNvSpPr>
            <a:spLocks noGrp="1" noChangeArrowheads="1"/>
          </p:cNvSpPr>
          <p:nvPr>
            <p:ph type="title"/>
          </p:nvPr>
        </p:nvSpPr>
        <p:spPr>
          <a:xfrm>
            <a:off x="107504" y="0"/>
            <a:ext cx="8783638" cy="1132756"/>
          </a:xfrm>
          <a:noFill/>
        </p:spPr>
        <p:txBody>
          <a:bodyPr anchor="b">
            <a:noAutofit/>
          </a:bodyPr>
          <a:lstStyle/>
          <a:p>
            <a:r>
              <a:rPr lang="en-US" altLang="zh-CN" cap="none" dirty="0">
                <a:sym typeface="+mn-ea"/>
              </a:rPr>
              <a:t>Index of directions and planes in </a:t>
            </a:r>
            <a:br>
              <a:rPr lang="en-US" altLang="zh-CN" cap="none" dirty="0">
                <a:sym typeface="+mn-ea"/>
              </a:rPr>
            </a:br>
            <a:r>
              <a:rPr lang="en-US" altLang="zh-CN" cap="none" dirty="0">
                <a:sym typeface="+mn-ea"/>
              </a:rPr>
              <a:t>hexagonal crystal system</a:t>
            </a:r>
            <a:endParaRPr lang="en-US" altLang="zh-CN" b="1" cap="none" dirty="0">
              <a:sym typeface="+mn-ea"/>
            </a:endParaRPr>
          </a:p>
        </p:txBody>
      </p:sp>
      <p:sp>
        <p:nvSpPr>
          <p:cNvPr id="24" name="Oval 23"/>
          <p:cNvSpPr/>
          <p:nvPr/>
        </p:nvSpPr>
        <p:spPr>
          <a:xfrm>
            <a:off x="2369709" y="3216288"/>
            <a:ext cx="144016" cy="144016"/>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barn(inVertical)">
                                      <p:cBhvr>
                                        <p:cTn id="7" dur="500"/>
                                        <p:tgtEl>
                                          <p:spTgt spid="69"/>
                                        </p:tgtEl>
                                      </p:cBhvr>
                                    </p:animEffect>
                                  </p:childTnLst>
                                </p:cTn>
                              </p:par>
                              <p:par>
                                <p:cTn id="8" presetID="16" presetClass="entr" presetSubtype="21" fill="hold"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barn(inVertical)">
                                      <p:cBhvr>
                                        <p:cTn id="10"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p:cNvSpPr/>
          <p:nvPr/>
        </p:nvSpPr>
        <p:spPr>
          <a:xfrm>
            <a:off x="179705" y="1287036"/>
            <a:ext cx="5516245" cy="1691640"/>
          </a:xfrm>
          <a:prstGeom prst="rect">
            <a:avLst/>
          </a:prstGeom>
        </p:spPr>
        <p:txBody>
          <a:bodyPr wrap="square">
            <a:spAutoFit/>
          </a:bodyPr>
          <a:lstStyle/>
          <a:p>
            <a:r>
              <a:rPr lang="en-US" altLang="zh-CN" b="1" dirty="0">
                <a:solidFill>
                  <a:srgbClr val="FF0000"/>
                </a:solidFill>
                <a:effectLst>
                  <a:outerShdw blurRad="38100" dist="38100" dir="2700000" algn="tl">
                    <a:srgbClr val="000000">
                      <a:alpha val="43137"/>
                    </a:srgbClr>
                  </a:outerShdw>
                </a:effectLst>
              </a:rPr>
              <a:t>How to get the coordinates of a point in a </a:t>
            </a:r>
            <a:r>
              <a:rPr lang="zh-CN" altLang="en-US" b="1" dirty="0">
                <a:solidFill>
                  <a:srgbClr val="FF0000"/>
                </a:solidFill>
                <a:effectLst>
                  <a:outerShdw blurRad="38100" dist="38100" dir="2700000" algn="tl">
                    <a:srgbClr val="000000">
                      <a:alpha val="43137"/>
                    </a:srgbClr>
                  </a:outerShdw>
                </a:effectLst>
              </a:rPr>
              <a:t>Non - Cartesian coordinate system</a:t>
            </a:r>
            <a:r>
              <a:rPr lang="en-US" altLang="zh-CN" b="1" dirty="0">
                <a:solidFill>
                  <a:srgbClr val="FF0000"/>
                </a:solidFill>
                <a:effectLst>
                  <a:outerShdw blurRad="38100" dist="38100" dir="2700000" algn="tl">
                    <a:srgbClr val="000000">
                      <a:alpha val="43137"/>
                    </a:srgbClr>
                  </a:outerShdw>
                </a:effectLst>
              </a:rPr>
              <a:t>? (</a:t>
            </a:r>
            <a:r>
              <a:rPr lang="en-US" altLang="zh-CN" sz="2800" b="1" dirty="0">
                <a:solidFill>
                  <a:srgbClr val="FF0000"/>
                </a:solidFill>
                <a:effectLst>
                  <a:outerShdw blurRad="38100" dist="38100" dir="2700000" algn="tl">
                    <a:srgbClr val="000000">
                      <a:alpha val="43137"/>
                    </a:srgbClr>
                  </a:outerShdw>
                </a:effectLst>
              </a:rPr>
              <a:t>supplementory)</a:t>
            </a:r>
            <a:endParaRPr lang="en-US" sz="2800" b="1" dirty="0">
              <a:solidFill>
                <a:srgbClr val="FF0000"/>
              </a:solidFill>
              <a:effectLst>
                <a:outerShdw blurRad="38100" dist="38100" dir="2700000" algn="tl">
                  <a:srgbClr val="000000">
                    <a:alpha val="43137"/>
                  </a:srgbClr>
                </a:outerShdw>
              </a:effectLst>
            </a:endParaRPr>
          </a:p>
          <a:p>
            <a:endParaRPr lang="en-US" sz="2800" dirty="0"/>
          </a:p>
        </p:txBody>
      </p:sp>
      <p:sp>
        <p:nvSpPr>
          <p:cNvPr id="4" name="Hexagon 3"/>
          <p:cNvSpPr/>
          <p:nvPr/>
        </p:nvSpPr>
        <p:spPr>
          <a:xfrm>
            <a:off x="1187624" y="3268090"/>
            <a:ext cx="2659162" cy="2457718"/>
          </a:xfrm>
          <a:prstGeom prst="hexagon">
            <a:avLst>
              <a:gd name="adj" fmla="val 27566"/>
              <a:gd name="vf" fmla="val 11547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2472474" y="4496949"/>
            <a:ext cx="2196244" cy="0"/>
          </a:xfrm>
          <a:prstGeom prst="straightConnector1">
            <a:avLst/>
          </a:prstGeom>
          <a:ln w="76200">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579198" y="4493172"/>
            <a:ext cx="911754" cy="1661485"/>
          </a:xfrm>
          <a:prstGeom prst="straightConnector1">
            <a:avLst/>
          </a:prstGeom>
          <a:ln w="7620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1579198" y="5930136"/>
            <a:ext cx="526106" cy="584774"/>
          </a:xfrm>
          <a:prstGeom prst="rect">
            <a:avLst/>
          </a:prstGeom>
          <a:noFill/>
        </p:spPr>
        <p:txBody>
          <a:bodyPr wrap="none" rtlCol="0">
            <a:spAutoFit/>
          </a:bodyPr>
          <a:lstStyle/>
          <a:p>
            <a:r>
              <a:rPr lang="en-US" sz="3200" b="1" i="1" dirty="0"/>
              <a:t>a</a:t>
            </a:r>
            <a:r>
              <a:rPr lang="en-US" sz="3200" b="1" i="1" baseline="-25000" dirty="0"/>
              <a:t>1</a:t>
            </a:r>
          </a:p>
        </p:txBody>
      </p:sp>
      <p:sp>
        <p:nvSpPr>
          <p:cNvPr id="64" name="TextBox 63"/>
          <p:cNvSpPr txBox="1"/>
          <p:nvPr/>
        </p:nvSpPr>
        <p:spPr>
          <a:xfrm>
            <a:off x="3865395" y="3876114"/>
            <a:ext cx="526106" cy="584774"/>
          </a:xfrm>
          <a:prstGeom prst="rect">
            <a:avLst/>
          </a:prstGeom>
          <a:noFill/>
        </p:spPr>
        <p:txBody>
          <a:bodyPr wrap="none" rtlCol="0">
            <a:spAutoFit/>
          </a:bodyPr>
          <a:lstStyle/>
          <a:p>
            <a:r>
              <a:rPr lang="en-US" sz="3200" b="1" i="1" dirty="0"/>
              <a:t>a</a:t>
            </a:r>
            <a:r>
              <a:rPr lang="en-US" sz="3200" b="1" i="1" baseline="-25000" dirty="0"/>
              <a:t>2</a:t>
            </a:r>
          </a:p>
        </p:txBody>
      </p:sp>
      <p:cxnSp>
        <p:nvCxnSpPr>
          <p:cNvPr id="17" name="Straight Connector 16"/>
          <p:cNvCxnSpPr/>
          <p:nvPr/>
        </p:nvCxnSpPr>
        <p:spPr>
          <a:xfrm>
            <a:off x="-1044624" y="4493172"/>
            <a:ext cx="6408712"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1044624" y="5716149"/>
            <a:ext cx="640871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364088" y="2132856"/>
            <a:ext cx="3600399" cy="1569660"/>
          </a:xfrm>
          <a:prstGeom prst="rect">
            <a:avLst/>
          </a:prstGeom>
          <a:noFill/>
        </p:spPr>
        <p:txBody>
          <a:bodyPr wrap="square" rtlCol="0">
            <a:spAutoFit/>
          </a:bodyPr>
          <a:lstStyle/>
          <a:p>
            <a:r>
              <a:rPr lang="en-US" altLang="zh-CN" b="1" dirty="0"/>
              <a:t>Practice</a:t>
            </a:r>
            <a:r>
              <a:rPr lang="zh-CN" altLang="en-US" b="1" dirty="0"/>
              <a:t>：</a:t>
            </a:r>
            <a:endParaRPr lang="en-US" altLang="zh-CN" b="1" dirty="0"/>
          </a:p>
          <a:p>
            <a:endParaRPr lang="en-US" dirty="0"/>
          </a:p>
          <a:p>
            <a:r>
              <a:rPr lang="en-US" altLang="zh-CN" dirty="0"/>
              <a:t>Give the coordinates of the points of A-E.</a:t>
            </a:r>
            <a:endParaRPr lang="en-US" dirty="0"/>
          </a:p>
        </p:txBody>
      </p:sp>
      <p:sp>
        <p:nvSpPr>
          <p:cNvPr id="66" name="Oval 65"/>
          <p:cNvSpPr/>
          <p:nvPr/>
        </p:nvSpPr>
        <p:spPr>
          <a:xfrm>
            <a:off x="451896" y="5635807"/>
            <a:ext cx="144016" cy="144016"/>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451782" y="5036616"/>
            <a:ext cx="144016" cy="14401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3131840" y="5629716"/>
            <a:ext cx="144016" cy="144016"/>
          </a:xfrm>
          <a:prstGeom prst="ellipse">
            <a:avLst/>
          </a:prstGeom>
          <a:solidFill>
            <a:srgbClr val="FF00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p:cNvCxnSpPr/>
          <p:nvPr/>
        </p:nvCxnSpPr>
        <p:spPr>
          <a:xfrm flipV="1">
            <a:off x="1205713" y="2474492"/>
            <a:ext cx="2312055" cy="439564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3053010" y="3197210"/>
            <a:ext cx="144016" cy="14401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4"/>
          <p:cNvSpPr>
            <a:spLocks noGrp="1" noChangeArrowheads="1"/>
          </p:cNvSpPr>
          <p:nvPr>
            <p:ph type="title"/>
          </p:nvPr>
        </p:nvSpPr>
        <p:spPr>
          <a:xfrm>
            <a:off x="107504" y="0"/>
            <a:ext cx="8783638" cy="1132756"/>
          </a:xfrm>
          <a:noFill/>
        </p:spPr>
        <p:txBody>
          <a:bodyPr anchor="b">
            <a:noAutofit/>
          </a:bodyPr>
          <a:lstStyle/>
          <a:p>
            <a:r>
              <a:rPr lang="en-US" altLang="zh-CN" cap="none" dirty="0">
                <a:sym typeface="+mn-ea"/>
              </a:rPr>
              <a:t>Index of directions and planes in </a:t>
            </a:r>
            <a:br>
              <a:rPr lang="en-US" altLang="zh-CN" cap="none" dirty="0">
                <a:sym typeface="+mn-ea"/>
              </a:rPr>
            </a:br>
            <a:r>
              <a:rPr lang="en-US" altLang="zh-CN" cap="none" dirty="0">
                <a:sym typeface="+mn-ea"/>
              </a:rPr>
              <a:t>hexagonal crystal system</a:t>
            </a:r>
            <a:endParaRPr lang="en-US" altLang="zh-CN" b="1" cap="none" dirty="0">
              <a:sym typeface="+mn-ea"/>
            </a:endParaRPr>
          </a:p>
        </p:txBody>
      </p:sp>
      <p:cxnSp>
        <p:nvCxnSpPr>
          <p:cNvPr id="28" name="Straight Connector 27"/>
          <p:cNvCxnSpPr/>
          <p:nvPr/>
        </p:nvCxnSpPr>
        <p:spPr>
          <a:xfrm flipV="1">
            <a:off x="-16184" y="2888857"/>
            <a:ext cx="2103929" cy="381134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274284" y="2799573"/>
            <a:ext cx="407484" cy="461665"/>
          </a:xfrm>
          <a:prstGeom prst="rect">
            <a:avLst/>
          </a:prstGeom>
          <a:noFill/>
        </p:spPr>
        <p:txBody>
          <a:bodyPr wrap="none" rtlCol="0">
            <a:spAutoFit/>
          </a:bodyPr>
          <a:lstStyle/>
          <a:p>
            <a:r>
              <a:rPr lang="en-US" dirty="0"/>
              <a:t>A</a:t>
            </a:r>
          </a:p>
        </p:txBody>
      </p:sp>
      <p:sp>
        <p:nvSpPr>
          <p:cNvPr id="29" name="TextBox 28"/>
          <p:cNvSpPr txBox="1"/>
          <p:nvPr/>
        </p:nvSpPr>
        <p:spPr>
          <a:xfrm>
            <a:off x="1932439" y="3685441"/>
            <a:ext cx="389850" cy="461665"/>
          </a:xfrm>
          <a:prstGeom prst="rect">
            <a:avLst/>
          </a:prstGeom>
          <a:noFill/>
        </p:spPr>
        <p:txBody>
          <a:bodyPr wrap="none" rtlCol="0">
            <a:spAutoFit/>
          </a:bodyPr>
          <a:lstStyle/>
          <a:p>
            <a:r>
              <a:rPr lang="en-US" altLang="zh-CN" dirty="0"/>
              <a:t>B</a:t>
            </a:r>
            <a:endParaRPr lang="en-US" dirty="0"/>
          </a:p>
        </p:txBody>
      </p:sp>
      <p:sp>
        <p:nvSpPr>
          <p:cNvPr id="30" name="TextBox 29"/>
          <p:cNvSpPr txBox="1"/>
          <p:nvPr/>
        </p:nvSpPr>
        <p:spPr>
          <a:xfrm>
            <a:off x="1631601" y="4652649"/>
            <a:ext cx="389850" cy="461665"/>
          </a:xfrm>
          <a:prstGeom prst="rect">
            <a:avLst/>
          </a:prstGeom>
          <a:noFill/>
        </p:spPr>
        <p:txBody>
          <a:bodyPr wrap="none" rtlCol="0">
            <a:spAutoFit/>
          </a:bodyPr>
          <a:lstStyle/>
          <a:p>
            <a:r>
              <a:rPr lang="en-US" altLang="zh-CN" dirty="0"/>
              <a:t>C</a:t>
            </a:r>
            <a:endParaRPr lang="en-US" dirty="0"/>
          </a:p>
        </p:txBody>
      </p:sp>
      <p:sp>
        <p:nvSpPr>
          <p:cNvPr id="31" name="TextBox 30"/>
          <p:cNvSpPr txBox="1"/>
          <p:nvPr/>
        </p:nvSpPr>
        <p:spPr>
          <a:xfrm>
            <a:off x="86022" y="5267643"/>
            <a:ext cx="407484" cy="461665"/>
          </a:xfrm>
          <a:prstGeom prst="rect">
            <a:avLst/>
          </a:prstGeom>
          <a:noFill/>
        </p:spPr>
        <p:txBody>
          <a:bodyPr wrap="none" rtlCol="0">
            <a:spAutoFit/>
          </a:bodyPr>
          <a:lstStyle/>
          <a:p>
            <a:r>
              <a:rPr lang="en-US" dirty="0"/>
              <a:t>D</a:t>
            </a:r>
          </a:p>
        </p:txBody>
      </p:sp>
      <p:sp>
        <p:nvSpPr>
          <p:cNvPr id="32" name="TextBox 31"/>
          <p:cNvSpPr txBox="1"/>
          <p:nvPr/>
        </p:nvSpPr>
        <p:spPr>
          <a:xfrm>
            <a:off x="3347112" y="5300012"/>
            <a:ext cx="372218" cy="461665"/>
          </a:xfrm>
          <a:prstGeom prst="rect">
            <a:avLst/>
          </a:prstGeom>
          <a:noFill/>
        </p:spPr>
        <p:txBody>
          <a:bodyPr wrap="none" rtlCol="0">
            <a:spAutoFit/>
          </a:bodyPr>
          <a:lstStyle/>
          <a:p>
            <a:r>
              <a:rPr lang="en-US" dirty="0"/>
              <a:t>E</a:t>
            </a:r>
          </a:p>
        </p:txBody>
      </p:sp>
      <p:sp>
        <p:nvSpPr>
          <p:cNvPr id="36" name="Oval 35"/>
          <p:cNvSpPr/>
          <p:nvPr/>
        </p:nvSpPr>
        <p:spPr>
          <a:xfrm>
            <a:off x="1728859" y="3985710"/>
            <a:ext cx="144016" cy="144016"/>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8486883"/>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398186" y="49699"/>
            <a:ext cx="6121400" cy="863600"/>
          </a:xfrm>
        </p:spPr>
        <p:txBody>
          <a:bodyPr>
            <a:noAutofit/>
          </a:bodyPr>
          <a:lstStyle/>
          <a:p>
            <a:r>
              <a:rPr lang="en-US" altLang="zh-CN" sz="2400" dirty="0"/>
              <a:t>3. </a:t>
            </a:r>
            <a:r>
              <a:rPr altLang="zh-CN" sz="2400" dirty="0"/>
              <a:t>Integer law and zone law</a:t>
            </a:r>
          </a:p>
        </p:txBody>
      </p:sp>
      <p:sp>
        <p:nvSpPr>
          <p:cNvPr id="79875" name="Rectangle 3"/>
          <p:cNvSpPr>
            <a:spLocks noGrp="1" noChangeArrowheads="1"/>
          </p:cNvSpPr>
          <p:nvPr>
            <p:ph type="body" sz="half" idx="1"/>
          </p:nvPr>
        </p:nvSpPr>
        <p:spPr>
          <a:xfrm>
            <a:off x="539552" y="1196752"/>
            <a:ext cx="4104456" cy="3167062"/>
          </a:xfrm>
        </p:spPr>
        <p:txBody>
          <a:bodyPr/>
          <a:lstStyle/>
          <a:p>
            <a:pPr>
              <a:lnSpc>
                <a:spcPct val="130000"/>
              </a:lnSpc>
              <a:buFont typeface="Wingdings" panose="05000000000000000000" pitchFamily="2" charset="2"/>
              <a:buNone/>
            </a:pPr>
            <a:r>
              <a:rPr lang="en-US" altLang="zh-CN" sz="2400" b="1" u="sng" dirty="0">
                <a:solidFill>
                  <a:srgbClr val="FF0000"/>
                </a:solidFill>
                <a:effectLst>
                  <a:outerShdw blurRad="38100" dist="38100" dir="2700000" algn="tl">
                    <a:srgbClr val="000000">
                      <a:alpha val="43137"/>
                    </a:srgbClr>
                  </a:outerShdw>
                </a:effectLst>
              </a:rPr>
              <a:t>Integer law</a:t>
            </a:r>
            <a:r>
              <a:rPr lang="zh-CN" altLang="en-US" sz="2400" b="1" u="sng" dirty="0">
                <a:solidFill>
                  <a:srgbClr val="FF0000"/>
                </a:solidFill>
                <a:effectLst>
                  <a:outerShdw blurRad="38100" dist="38100" dir="2700000" algn="tl">
                    <a:srgbClr val="000000">
                      <a:alpha val="43137"/>
                    </a:srgbClr>
                  </a:outerShdw>
                </a:effectLst>
              </a:rPr>
              <a:t>（整数定律）</a:t>
            </a:r>
            <a:r>
              <a:rPr lang="en-US" altLang="zh-CN" sz="2400" b="1" u="sng" dirty="0">
                <a:solidFill>
                  <a:srgbClr val="FF0000"/>
                </a:solidFill>
                <a:effectLst>
                  <a:outerShdw blurRad="38100" dist="38100" dir="2700000" algn="tl">
                    <a:srgbClr val="000000">
                      <a:alpha val="43137"/>
                    </a:srgbClr>
                  </a:outerShdw>
                </a:effectLst>
              </a:rPr>
              <a:t> </a:t>
            </a:r>
          </a:p>
          <a:p>
            <a:pPr algn="just" eaLnBrk="0" hangingPunct="0">
              <a:lnSpc>
                <a:spcPct val="130000"/>
              </a:lnSpc>
              <a:spcBef>
                <a:spcPct val="0"/>
              </a:spcBef>
              <a:buClrTx/>
              <a:buFontTx/>
              <a:buNone/>
            </a:pPr>
            <a:r>
              <a:rPr kumimoji="1" lang="en-US" altLang="zh-CN" dirty="0"/>
              <a:t>T</a:t>
            </a:r>
            <a:r>
              <a:rPr kumimoji="1" lang="zh-CN" altLang="en-US" dirty="0"/>
              <a:t>he ratio of the intercepts of any two crystal </a:t>
            </a:r>
            <a:r>
              <a:rPr kumimoji="1" lang="en-US" altLang="zh-CN" dirty="0"/>
              <a:t>surfaces</a:t>
            </a:r>
            <a:r>
              <a:rPr kumimoji="1" lang="zh-CN" altLang="en-US" dirty="0"/>
              <a:t> on </a:t>
            </a:r>
            <a:r>
              <a:rPr kumimoji="1" lang="en-US" altLang="zh-CN" dirty="0">
                <a:solidFill>
                  <a:srgbClr val="FF0000"/>
                </a:solidFill>
              </a:rPr>
              <a:t>real </a:t>
            </a:r>
            <a:r>
              <a:rPr kumimoji="1" lang="zh-CN" altLang="en-US" dirty="0">
                <a:solidFill>
                  <a:srgbClr val="FF0000"/>
                </a:solidFill>
              </a:rPr>
              <a:t>crystal</a:t>
            </a:r>
            <a:r>
              <a:rPr kumimoji="1" lang="en-US" altLang="zh-CN" dirty="0">
                <a:solidFill>
                  <a:srgbClr val="FF0000"/>
                </a:solidFill>
              </a:rPr>
              <a:t>s</a:t>
            </a:r>
            <a:r>
              <a:rPr kumimoji="1" lang="zh-CN" altLang="en-US" dirty="0">
                <a:solidFill>
                  <a:srgbClr val="FF0000"/>
                </a:solidFill>
              </a:rPr>
              <a:t> </a:t>
            </a:r>
            <a:r>
              <a:rPr kumimoji="1" lang="zh-CN" altLang="en-US" dirty="0"/>
              <a:t>is a simple integer ratio</a:t>
            </a:r>
            <a:r>
              <a:rPr kumimoji="1" lang="en-US" altLang="zh-CN" dirty="0"/>
              <a:t>. </a:t>
            </a:r>
            <a:r>
              <a:rPr kumimoji="1" lang="zh-CN" altLang="en-US" dirty="0"/>
              <a:t>（</a:t>
            </a:r>
            <a:r>
              <a:rPr kumimoji="1" lang="zh-CN" altLang="en-US" dirty="0">
                <a:solidFill>
                  <a:srgbClr val="FF0000"/>
                </a:solidFill>
              </a:rPr>
              <a:t>实际晶体</a:t>
            </a:r>
            <a:r>
              <a:rPr kumimoji="1" lang="zh-CN" altLang="en-US" dirty="0"/>
              <a:t>任意两个表面对应的截距的比值为一简单整数比）</a:t>
            </a:r>
            <a:endParaRPr kumimoji="1" lang="en-US" altLang="zh-CN" dirty="0"/>
          </a:p>
        </p:txBody>
      </p:sp>
      <p:pic>
        <p:nvPicPr>
          <p:cNvPr id="79876" name="Picture 4" descr="图形48"/>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4608756" y="1340768"/>
            <a:ext cx="3816350" cy="2924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9879" name="Rectangle 7"/>
          <p:cNvSpPr>
            <a:spLocks noChangeArrowheads="1"/>
          </p:cNvSpPr>
          <p:nvPr/>
        </p:nvSpPr>
        <p:spPr bwMode="auto">
          <a:xfrm>
            <a:off x="600768" y="4005064"/>
            <a:ext cx="7848600"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30000"/>
              </a:lnSpc>
              <a:spcBef>
                <a:spcPct val="20000"/>
              </a:spcBef>
              <a:spcAft>
                <a:spcPts val="600"/>
              </a:spcAft>
            </a:pPr>
            <a:r>
              <a:rPr lang="en-US" altLang="zh-CN" sz="2000" b="1" dirty="0">
                <a:solidFill>
                  <a:srgbClr val="FF0066"/>
                </a:solidFill>
                <a:latin typeface="+mn-lt"/>
                <a:ea typeface="+mn-ea"/>
              </a:rPr>
              <a:t>Explanation</a:t>
            </a:r>
          </a:p>
          <a:p>
            <a:pPr>
              <a:lnSpc>
                <a:spcPct val="130000"/>
              </a:lnSpc>
            </a:pPr>
            <a:r>
              <a:rPr lang="en-US" altLang="zh-CN" sz="1800" b="1" dirty="0"/>
              <a:t>The s</a:t>
            </a:r>
            <a:r>
              <a:rPr lang="zh-CN" altLang="en-US" sz="1800" b="1" dirty="0"/>
              <a:t>imple</a:t>
            </a:r>
            <a:r>
              <a:rPr lang="en-US" altLang="zh-CN" sz="1800" b="1" dirty="0"/>
              <a:t>r</a:t>
            </a:r>
            <a:r>
              <a:rPr lang="zh-CN" altLang="en-US" sz="1800" b="1" dirty="0"/>
              <a:t> </a:t>
            </a:r>
            <a:r>
              <a:rPr lang="en-US" altLang="zh-CN" sz="1800" b="1" dirty="0"/>
              <a:t>the </a:t>
            </a:r>
            <a:r>
              <a:rPr lang="zh-CN" altLang="en-US" sz="1800" b="1" dirty="0"/>
              <a:t>ind</a:t>
            </a:r>
            <a:r>
              <a:rPr lang="en-US" altLang="zh-CN" sz="1800" b="1" dirty="0"/>
              <a:t>ices</a:t>
            </a:r>
            <a:r>
              <a:rPr lang="zh-CN" altLang="en-US" sz="1800" b="1" dirty="0"/>
              <a:t> of crystal surface</a:t>
            </a:r>
            <a:r>
              <a:rPr lang="en-US" altLang="zh-CN" sz="1800" b="1" dirty="0"/>
              <a:t>, the higher the corresponding reticular density </a:t>
            </a:r>
            <a:r>
              <a:rPr lang="zh-CN" altLang="en-US" sz="1800" b="1" dirty="0"/>
              <a:t>（网格密度）</a:t>
            </a:r>
            <a:r>
              <a:rPr lang="en-US" altLang="zh-CN" sz="1800" b="1" dirty="0"/>
              <a:t>.  The growth speed of the planes with higher reticular density is relatively slow and it is easy for them to be remained as naked surfaces. Thus, the so-called crystallographic surfaces are planes with simple indices in real crystals</a:t>
            </a:r>
            <a:r>
              <a:rPr lang="zh-CN" altLang="en-US" sz="1800" b="1" dirty="0"/>
              <a:t>.</a:t>
            </a:r>
            <a:endParaRPr lang="zh-CN" altLang="en-US" sz="2400" b="1" dirty="0"/>
          </a:p>
        </p:txBody>
      </p:sp>
    </p:spTree>
  </p:cSld>
  <p:clrMapOvr>
    <a:masterClrMapping/>
  </p:clrMapOvr>
  <p:transition spd="med">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5" name="Rectangle 5"/>
          <p:cNvSpPr>
            <a:spLocks noChangeArrowheads="1"/>
          </p:cNvSpPr>
          <p:nvPr/>
        </p:nvSpPr>
        <p:spPr bwMode="auto">
          <a:xfrm>
            <a:off x="315842" y="620688"/>
            <a:ext cx="522859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a:defRPr sz="3800">
                <a:solidFill>
                  <a:schemeClr val="tx2"/>
                </a:solidFill>
                <a:latin typeface="Arial" panose="020B0604020202020204" pitchFamily="34" charset="0"/>
                <a:ea typeface="宋体" panose="02010600030101010101" pitchFamily="2" charset="-122"/>
              </a:defRPr>
            </a:lvl1pPr>
            <a:lvl2pPr>
              <a:defRPr sz="3800">
                <a:solidFill>
                  <a:schemeClr val="tx2"/>
                </a:solidFill>
                <a:latin typeface="Arial" panose="020B0604020202020204" pitchFamily="34" charset="0"/>
                <a:ea typeface="宋体" panose="02010600030101010101" pitchFamily="2" charset="-122"/>
              </a:defRPr>
            </a:lvl2pPr>
            <a:lvl3pPr>
              <a:defRPr sz="3800">
                <a:solidFill>
                  <a:schemeClr val="tx2"/>
                </a:solidFill>
                <a:latin typeface="Arial" panose="020B0604020202020204" pitchFamily="34" charset="0"/>
                <a:ea typeface="宋体" panose="02010600030101010101" pitchFamily="2" charset="-122"/>
              </a:defRPr>
            </a:lvl3pPr>
            <a:lvl4pPr>
              <a:defRPr sz="3800">
                <a:solidFill>
                  <a:schemeClr val="tx2"/>
                </a:solidFill>
                <a:latin typeface="Arial" panose="020B0604020202020204" pitchFamily="34" charset="0"/>
                <a:ea typeface="宋体" panose="02010600030101010101" pitchFamily="2" charset="-122"/>
              </a:defRPr>
            </a:lvl4pPr>
            <a:lvl5pPr>
              <a:defRPr sz="3800">
                <a:solidFill>
                  <a:schemeClr val="tx2"/>
                </a:solidFill>
                <a:latin typeface="Arial" panose="020B0604020202020204" pitchFamily="34" charset="0"/>
                <a:ea typeface="宋体" panose="02010600030101010101" pitchFamily="2" charset="-122"/>
              </a:defRPr>
            </a:lvl5pPr>
            <a:lvl6pPr marL="4572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6pPr>
            <a:lvl7pPr marL="9144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7pPr>
            <a:lvl8pPr marL="13716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8pPr>
            <a:lvl9pPr marL="1828800" fontAlgn="base">
              <a:spcBef>
                <a:spcPct val="0"/>
              </a:spcBef>
              <a:spcAft>
                <a:spcPct val="0"/>
              </a:spcAft>
              <a:defRPr sz="3800">
                <a:solidFill>
                  <a:schemeClr val="tx2"/>
                </a:solidFill>
                <a:latin typeface="Arial" panose="020B0604020202020204" pitchFamily="34" charset="0"/>
                <a:ea typeface="宋体" panose="02010600030101010101" pitchFamily="2" charset="-122"/>
              </a:defRPr>
            </a:lvl9pPr>
          </a:lstStyle>
          <a:p>
            <a:pPr fontAlgn="auto">
              <a:lnSpc>
                <a:spcPct val="130000"/>
              </a:lnSpc>
              <a:spcAft>
                <a:spcPts val="0"/>
              </a:spcAft>
            </a:pPr>
            <a:r>
              <a:rPr lang="en-US" altLang="zh-CN" sz="3600" b="1" cap="all" spc="-60" dirty="0">
                <a:solidFill>
                  <a:srgbClr val="FF0066"/>
                </a:solidFill>
                <a:effectLst>
                  <a:outerShdw blurRad="38100" dist="38100" dir="2700000" algn="tl">
                    <a:srgbClr val="000000"/>
                  </a:outerShdw>
                </a:effectLst>
                <a:latin typeface="+mj-lt"/>
                <a:ea typeface="+mj-ea"/>
                <a:cs typeface="+mj-cs"/>
              </a:rPr>
              <a:t>Bravais's law</a:t>
            </a:r>
          </a:p>
        </p:txBody>
      </p:sp>
      <p:grpSp>
        <p:nvGrpSpPr>
          <p:cNvPr id="138246" name="Group 6"/>
          <p:cNvGrpSpPr/>
          <p:nvPr/>
        </p:nvGrpSpPr>
        <p:grpSpPr bwMode="auto">
          <a:xfrm>
            <a:off x="4587504" y="1624923"/>
            <a:ext cx="3790950" cy="3741738"/>
            <a:chOff x="2928" y="1344"/>
            <a:chExt cx="2388" cy="2357"/>
          </a:xfrm>
        </p:grpSpPr>
        <p:sp>
          <p:nvSpPr>
            <p:cNvPr id="138247" name="Line 7"/>
            <p:cNvSpPr>
              <a:spLocks noChangeShapeType="1"/>
            </p:cNvSpPr>
            <p:nvPr/>
          </p:nvSpPr>
          <p:spPr bwMode="auto">
            <a:xfrm flipH="1">
              <a:off x="3003" y="3631"/>
              <a:ext cx="2255" cy="4"/>
            </a:xfrm>
            <a:prstGeom prst="line">
              <a:avLst/>
            </a:prstGeom>
            <a:noFill/>
            <a:ln w="2857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8248" name="Line 8"/>
            <p:cNvSpPr>
              <a:spLocks noChangeShapeType="1"/>
            </p:cNvSpPr>
            <p:nvPr/>
          </p:nvSpPr>
          <p:spPr bwMode="auto">
            <a:xfrm flipH="1">
              <a:off x="3008" y="2899"/>
              <a:ext cx="2241" cy="7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8249" name="Line 9"/>
            <p:cNvSpPr>
              <a:spLocks noChangeShapeType="1"/>
            </p:cNvSpPr>
            <p:nvPr/>
          </p:nvSpPr>
          <p:spPr bwMode="auto">
            <a:xfrm flipH="1">
              <a:off x="3003" y="2516"/>
              <a:ext cx="2246" cy="1136"/>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8250" name="Line 10"/>
            <p:cNvSpPr>
              <a:spLocks noChangeShapeType="1"/>
            </p:cNvSpPr>
            <p:nvPr/>
          </p:nvSpPr>
          <p:spPr bwMode="auto">
            <a:xfrm flipH="1">
              <a:off x="2997" y="2137"/>
              <a:ext cx="2247" cy="1510"/>
            </a:xfrm>
            <a:prstGeom prst="line">
              <a:avLst/>
            </a:prstGeom>
            <a:noFill/>
            <a:ln w="28575">
              <a:solidFill>
                <a:srgbClr val="00CC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8251" name="Line 11"/>
            <p:cNvSpPr>
              <a:spLocks noChangeShapeType="1"/>
            </p:cNvSpPr>
            <p:nvPr/>
          </p:nvSpPr>
          <p:spPr bwMode="auto">
            <a:xfrm flipH="1">
              <a:off x="3003" y="1402"/>
              <a:ext cx="2259" cy="2228"/>
            </a:xfrm>
            <a:prstGeom prst="line">
              <a:avLst/>
            </a:prstGeom>
            <a:noFill/>
            <a:ln w="28575">
              <a:solidFill>
                <a:srgbClr val="00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8252" name="Line 12"/>
            <p:cNvSpPr>
              <a:spLocks noChangeShapeType="1"/>
            </p:cNvSpPr>
            <p:nvPr/>
          </p:nvSpPr>
          <p:spPr bwMode="auto">
            <a:xfrm>
              <a:off x="2998" y="1393"/>
              <a:ext cx="1" cy="2250"/>
            </a:xfrm>
            <a:prstGeom prst="line">
              <a:avLst/>
            </a:prstGeom>
            <a:noFill/>
            <a:ln w="28575">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38253" name="Picture 1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28" y="1344"/>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54" name="Picture 1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28" y="1718"/>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55" name="Picture 1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28" y="206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56" name="Picture 1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28" y="2449"/>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57" name="Picture 1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28" y="284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58" name="Picture 1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28" y="320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59" name="Picture 1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928" y="357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0" name="Picture 2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2" y="1344"/>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1" name="Picture 2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2" y="1718"/>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2" name="Picture 2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2" y="206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3" name="Picture 2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2" y="2449"/>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4" name="Picture 2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2" y="284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5" name="Picture 2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2" y="320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6" name="Picture 2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02" y="357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7" name="Picture 2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77" y="1344"/>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8" name="Picture 2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77" y="1718"/>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69" name="Picture 2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77" y="206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0" name="Picture 3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77" y="2449"/>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1" name="Picture 3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77" y="284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2" name="Picture 3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77" y="320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3" name="Picture 3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677" y="357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4" name="Picture 3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51" y="1344"/>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5" name="Picture 3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51" y="1718"/>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6" name="Picture 3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51" y="206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7" name="Picture 3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51" y="2449"/>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8" name="Picture 3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51" y="284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9" name="Picture 3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51" y="320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0" name="Picture 4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051" y="357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1" name="Picture 4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34" y="1344"/>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2" name="Picture 4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34" y="1718"/>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3" name="Picture 4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34" y="206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4" name="Picture 4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34" y="2449"/>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5" name="Picture 4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34" y="284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6" name="Picture 4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34" y="320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7" name="Picture 4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34" y="357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8" name="Picture 4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13" y="1344"/>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89" name="Picture 4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13" y="1718"/>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0" name="Picture 5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13" y="206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1" name="Picture 5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13" y="2449"/>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2" name="Picture 52"/>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13" y="284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3" name="Picture 53"/>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13" y="320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4" name="Picture 54"/>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13" y="357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5" name="Picture 55"/>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188" y="1344"/>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6" name="Picture 56"/>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188" y="1718"/>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7" name="Picture 57"/>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188" y="206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8" name="Picture 58"/>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188" y="2449"/>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99" name="Picture 59"/>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188" y="284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00" name="Picture 60"/>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188" y="3206"/>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301" name="Picture 61"/>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188" y="3571"/>
              <a:ext cx="12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38302" name="Rectangle 62"/>
          <p:cNvSpPr>
            <a:spLocks noChangeArrowheads="1"/>
          </p:cNvSpPr>
          <p:nvPr/>
        </p:nvSpPr>
        <p:spPr bwMode="auto">
          <a:xfrm>
            <a:off x="291623" y="1556512"/>
            <a:ext cx="3992345"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454025" indent="3175">
              <a:defRPr kumimoji="1" sz="2400">
                <a:solidFill>
                  <a:schemeClr val="tx1"/>
                </a:solidFill>
                <a:latin typeface="Times New Roman" panose="02020603050405020304" pitchFamily="18" charset="0"/>
                <a:ea typeface="宋体" panose="02010600030101010101" pitchFamily="2" charset="-122"/>
              </a:defRPr>
            </a:lvl2pPr>
            <a:lvl3pPr marL="1246505">
              <a:defRPr kumimoji="1" sz="2400">
                <a:solidFill>
                  <a:schemeClr val="tx1"/>
                </a:solidFill>
                <a:latin typeface="Times New Roman" panose="02020603050405020304" pitchFamily="18" charset="0"/>
                <a:ea typeface="宋体" panose="02010600030101010101" pitchFamily="2" charset="-122"/>
              </a:defRPr>
            </a:lvl3pPr>
            <a:lvl4pPr marL="1437005">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2"/>
              </a:buClr>
            </a:pPr>
            <a:r>
              <a:rPr lang="en-US" altLang="zh-CN" sz="3200" dirty="0">
                <a:ea typeface="黑体" panose="02010609060101010101" pitchFamily="49" charset="-122"/>
              </a:rPr>
              <a:t>The real crystals are surrounded by the planes with large surface density or simple indices.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a:xfrm>
            <a:off x="498010" y="548680"/>
            <a:ext cx="7890414" cy="800100"/>
          </a:xfrm>
          <a:noFill/>
        </p:spPr>
        <p:txBody>
          <a:bodyPr anchor="b">
            <a:normAutofit fontScale="90000"/>
          </a:bodyPr>
          <a:lstStyle/>
          <a:p>
            <a:r>
              <a:rPr lang="en-US" altLang="zh-CN" sz="3400" b="1" dirty="0"/>
              <a:t>Z</a:t>
            </a:r>
            <a:r>
              <a:rPr altLang="zh-CN" sz="3400" b="1" dirty="0"/>
              <a:t>one</a:t>
            </a:r>
            <a:r>
              <a:rPr lang="zh-CN" altLang="en-US" sz="3400" b="1" dirty="0"/>
              <a:t>（晶带） </a:t>
            </a:r>
            <a:r>
              <a:rPr lang="en-US" altLang="zh-CN" sz="3400" dirty="0"/>
              <a:t>&amp; Zone axis</a:t>
            </a:r>
            <a:r>
              <a:rPr lang="zh-CN" altLang="en-US" sz="3400" dirty="0"/>
              <a:t>（晶带轴）</a:t>
            </a:r>
            <a:endParaRPr altLang="zh-CN" sz="3400" b="1" dirty="0"/>
          </a:p>
        </p:txBody>
      </p:sp>
      <p:sp>
        <p:nvSpPr>
          <p:cNvPr id="71685" name="Rectangle 5"/>
          <p:cNvSpPr>
            <a:spLocks noChangeArrowheads="1"/>
          </p:cNvSpPr>
          <p:nvPr/>
        </p:nvSpPr>
        <p:spPr bwMode="auto">
          <a:xfrm>
            <a:off x="107505" y="1484313"/>
            <a:ext cx="5472607" cy="4679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ct val="140000"/>
              </a:lnSpc>
            </a:pPr>
            <a:endParaRPr lang="en-US" altLang="zh-CN" sz="2000" dirty="0">
              <a:effectLst>
                <a:outerShdw blurRad="38100" dist="38100" dir="2700000" algn="tl">
                  <a:srgbClr val="C0C0C0"/>
                </a:outerShdw>
              </a:effectLst>
            </a:endParaRPr>
          </a:p>
        </p:txBody>
      </p:sp>
      <p:sp>
        <p:nvSpPr>
          <p:cNvPr id="6" name="Rectangle 5"/>
          <p:cNvSpPr/>
          <p:nvPr/>
        </p:nvSpPr>
        <p:spPr>
          <a:xfrm>
            <a:off x="467544" y="1628800"/>
            <a:ext cx="5328592" cy="4893647"/>
          </a:xfrm>
          <a:prstGeom prst="rect">
            <a:avLst/>
          </a:prstGeom>
        </p:spPr>
        <p:txBody>
          <a:bodyPr wrap="square">
            <a:spAutoFit/>
          </a:bodyPr>
          <a:lstStyle/>
          <a:p>
            <a:r>
              <a:rPr lang="en-US" dirty="0"/>
              <a:t>A set of crystal planes intersecting in parallel edges is called a </a:t>
            </a:r>
            <a:r>
              <a:rPr lang="en-US" b="1" dirty="0">
                <a:solidFill>
                  <a:srgbClr val="FF0000"/>
                </a:solidFill>
              </a:rPr>
              <a:t>zone</a:t>
            </a:r>
            <a:r>
              <a:rPr lang="en-US" dirty="0"/>
              <a:t>. </a:t>
            </a:r>
          </a:p>
          <a:p>
            <a:endParaRPr lang="en-US" dirty="0"/>
          </a:p>
          <a:p>
            <a:r>
              <a:rPr lang="en-US" dirty="0"/>
              <a:t>The common direction of the</a:t>
            </a:r>
            <a:r>
              <a:rPr lang="en-US" altLang="zh-CN" dirty="0"/>
              <a:t>se</a:t>
            </a:r>
            <a:r>
              <a:rPr lang="en-US" dirty="0"/>
              <a:t> edges is called the </a:t>
            </a:r>
            <a:r>
              <a:rPr lang="en-US" b="1" dirty="0">
                <a:solidFill>
                  <a:srgbClr val="FF0000"/>
                </a:solidFill>
              </a:rPr>
              <a:t>zone axis</a:t>
            </a:r>
            <a:r>
              <a:rPr lang="en-US" dirty="0"/>
              <a:t>. </a:t>
            </a:r>
          </a:p>
          <a:p>
            <a:endParaRPr lang="en-US" dirty="0"/>
          </a:p>
          <a:p>
            <a:r>
              <a:rPr lang="en-US" dirty="0"/>
              <a:t>Consider the set of planes (110), (-1-10) ,  (-1-10) and (1-10) in </a:t>
            </a:r>
            <a:r>
              <a:rPr lang="en-US" altLang="zh-CN" dirty="0"/>
              <a:t>the right figure</a:t>
            </a:r>
            <a:r>
              <a:rPr lang="en-US" dirty="0"/>
              <a:t>, they intersect in four edges parallel to [001]. These planes form a zone with zone axis [001]. </a:t>
            </a:r>
          </a:p>
          <a:p>
            <a:endParaRPr lang="en-US" dirty="0"/>
          </a:p>
          <a:p>
            <a:endParaRPr lang="en-US" dirty="0"/>
          </a:p>
        </p:txBody>
      </p:sp>
      <p:pic>
        <p:nvPicPr>
          <p:cNvPr id="133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1484313"/>
            <a:ext cx="2821704" cy="3347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4"/>
          <p:cNvSpPr>
            <a:spLocks noGrp="1" noChangeArrowheads="1"/>
          </p:cNvSpPr>
          <p:nvPr>
            <p:ph type="title"/>
          </p:nvPr>
        </p:nvSpPr>
        <p:spPr>
          <a:xfrm>
            <a:off x="1219200" y="762000"/>
            <a:ext cx="6705600" cy="800100"/>
          </a:xfrm>
          <a:noFill/>
        </p:spPr>
        <p:txBody>
          <a:bodyPr anchor="b"/>
          <a:lstStyle/>
          <a:p>
            <a:r>
              <a:rPr lang="en-US" altLang="zh-CN" sz="3400" b="1" dirty="0"/>
              <a:t>Z</a:t>
            </a:r>
            <a:r>
              <a:rPr lang="zh-CN" altLang="en-US" sz="3400" b="1" dirty="0"/>
              <a:t>one </a:t>
            </a:r>
            <a:r>
              <a:rPr lang="en-US" altLang="zh-CN" sz="3400" b="1" dirty="0"/>
              <a:t>&amp; Zone axis</a:t>
            </a:r>
            <a:endParaRPr lang="zh-CN" altLang="en-US" sz="3400" b="1" dirty="0"/>
          </a:p>
        </p:txBody>
      </p:sp>
      <p:sp>
        <p:nvSpPr>
          <p:cNvPr id="72709" name="Rectangle 5"/>
          <p:cNvSpPr>
            <a:spLocks noChangeArrowheads="1"/>
          </p:cNvSpPr>
          <p:nvPr/>
        </p:nvSpPr>
        <p:spPr bwMode="auto">
          <a:xfrm>
            <a:off x="-33655" y="1902296"/>
            <a:ext cx="520827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457200" lvl="1" indent="0" eaLnBrk="0" hangingPunct="0">
              <a:lnSpc>
                <a:spcPct val="130000"/>
              </a:lnSpc>
              <a:spcAft>
                <a:spcPts val="600"/>
              </a:spcAft>
              <a:buNone/>
            </a:pPr>
            <a:r>
              <a:rPr lang="en-US" altLang="zh-CN" sz="2800" b="1" u="sng" dirty="0">
                <a:solidFill>
                  <a:srgbClr val="FF0000"/>
                </a:solidFill>
                <a:effectLst>
                  <a:outerShdw blurRad="38100" dist="38100" dir="2700000" algn="tl">
                    <a:srgbClr val="000000">
                      <a:alpha val="43137"/>
                    </a:srgbClr>
                  </a:outerShdw>
                </a:effectLst>
                <a:latin typeface="+mn-lt"/>
                <a:ea typeface="+mn-ea"/>
              </a:rPr>
              <a:t>Exercise 10</a:t>
            </a:r>
          </a:p>
          <a:p>
            <a:pPr marL="457200" lvl="1" indent="0">
              <a:lnSpc>
                <a:spcPct val="120000"/>
              </a:lnSpc>
              <a:buNone/>
            </a:pPr>
            <a:r>
              <a:rPr lang="en-US" altLang="zh-CN" sz="2400" b="1" dirty="0">
                <a:latin typeface="Times New Roman" panose="02020603050405020304" pitchFamily="18" charset="0"/>
              </a:rPr>
              <a:t>The right figure shows a cubic crystal with several naked facets.</a:t>
            </a:r>
          </a:p>
          <a:p>
            <a:pPr marL="457200" lvl="1" indent="0">
              <a:lnSpc>
                <a:spcPct val="120000"/>
              </a:lnSpc>
              <a:buNone/>
            </a:pPr>
            <a:endParaRPr lang="en-US" altLang="zh-CN" sz="2400" dirty="0">
              <a:latin typeface="Times New Roman" panose="02020603050405020304" pitchFamily="18" charset="0"/>
            </a:endParaRPr>
          </a:p>
          <a:p>
            <a:pPr marL="457200" lvl="1" indent="0">
              <a:lnSpc>
                <a:spcPct val="120000"/>
              </a:lnSpc>
              <a:buNone/>
            </a:pPr>
            <a:r>
              <a:rPr lang="en-US" altLang="zh-CN" sz="2400" dirty="0">
                <a:latin typeface="Times New Roman" panose="02020603050405020304" pitchFamily="18" charset="0"/>
              </a:rPr>
              <a:t>Please give the planes that belong to Zones AA’, BB’, CC’ and DD’.</a:t>
            </a:r>
          </a:p>
        </p:txBody>
      </p:sp>
      <p:pic>
        <p:nvPicPr>
          <p:cNvPr id="72710"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b="50000"/>
          <a:stretch>
            <a:fillRect/>
          </a:stretch>
        </p:blipFill>
        <p:spPr bwMode="auto">
          <a:xfrm>
            <a:off x="5113650" y="1750783"/>
            <a:ext cx="3806281" cy="3946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35628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a:xfrm>
            <a:off x="1042988" y="168593"/>
            <a:ext cx="6705600" cy="800100"/>
          </a:xfrm>
          <a:noFill/>
        </p:spPr>
        <p:txBody>
          <a:bodyPr anchor="b">
            <a:normAutofit/>
          </a:bodyPr>
          <a:lstStyle/>
          <a:p>
            <a:r>
              <a:rPr lang="en-US" altLang="zh-CN" sz="3400" dirty="0"/>
              <a:t>zone law</a:t>
            </a:r>
            <a:r>
              <a:rPr lang="zh-CN" altLang="en-US" sz="3400" dirty="0"/>
              <a:t> </a:t>
            </a:r>
            <a:r>
              <a:rPr lang="en-US" altLang="zh-CN" sz="3400" dirty="0"/>
              <a:t>(</a:t>
            </a:r>
            <a:r>
              <a:rPr lang="zh-CN" altLang="en-US" sz="3400" dirty="0"/>
              <a:t>晶带定律</a:t>
            </a:r>
            <a:r>
              <a:rPr lang="en-US" altLang="zh-CN" sz="3400" dirty="0"/>
              <a:t>)</a:t>
            </a:r>
            <a:endParaRPr lang="zh-CN" altLang="zh-CN" sz="3400" dirty="0"/>
          </a:p>
        </p:txBody>
      </p:sp>
      <p:sp>
        <p:nvSpPr>
          <p:cNvPr id="73733" name="Rectangle 5"/>
          <p:cNvSpPr>
            <a:spLocks noChangeArrowheads="1"/>
          </p:cNvSpPr>
          <p:nvPr/>
        </p:nvSpPr>
        <p:spPr bwMode="auto">
          <a:xfrm>
            <a:off x="395605" y="873125"/>
            <a:ext cx="8001000" cy="5112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indent="0">
              <a:lnSpc>
                <a:spcPct val="120000"/>
              </a:lnSpc>
              <a:buNone/>
            </a:pPr>
            <a:endParaRPr lang="en-US" sz="2000" dirty="0"/>
          </a:p>
          <a:p>
            <a:pPr marL="0" indent="0" algn="just">
              <a:lnSpc>
                <a:spcPct val="120000"/>
              </a:lnSpc>
              <a:buNone/>
            </a:pPr>
            <a:r>
              <a:rPr sz="2400" dirty="0"/>
              <a:t>The intersection of two </a:t>
            </a:r>
            <a:r>
              <a:rPr lang="en-US" sz="2400" dirty="0"/>
              <a:t>zone axes</a:t>
            </a:r>
            <a:r>
              <a:rPr sz="2400" dirty="0"/>
              <a:t>(crystal edge) can determine a possible crystal </a:t>
            </a:r>
            <a:r>
              <a:rPr lang="en-US" sz="2400" dirty="0"/>
              <a:t>plane; </a:t>
            </a:r>
          </a:p>
          <a:p>
            <a:pPr marL="0" indent="0" algn="just">
              <a:lnSpc>
                <a:spcPct val="120000"/>
              </a:lnSpc>
              <a:buNone/>
            </a:pPr>
            <a:r>
              <a:rPr lang="en-US" altLang="zh-CN" sz="2400" dirty="0"/>
              <a:t>T</a:t>
            </a:r>
            <a:r>
              <a:rPr lang="en-US" sz="2400" dirty="0"/>
              <a:t>he intersection of</a:t>
            </a:r>
            <a:r>
              <a:rPr sz="2400" dirty="0"/>
              <a:t> two crystal planes </a:t>
            </a:r>
            <a:r>
              <a:rPr lang="en-US" sz="2400" dirty="0"/>
              <a:t>can</a:t>
            </a:r>
            <a:r>
              <a:rPr sz="2400" dirty="0"/>
              <a:t> determine a possible </a:t>
            </a:r>
            <a:r>
              <a:rPr lang="en-US" sz="2400" dirty="0"/>
              <a:t>zone axis </a:t>
            </a:r>
            <a:r>
              <a:rPr sz="2400" dirty="0"/>
              <a:t>(crystal edge).</a:t>
            </a:r>
            <a:endParaRPr lang="en-US" sz="2400" dirty="0"/>
          </a:p>
          <a:p>
            <a:pPr marL="0" indent="0">
              <a:lnSpc>
                <a:spcPct val="120000"/>
              </a:lnSpc>
              <a:buNone/>
            </a:pPr>
            <a:endParaRPr lang="en-US" altLang="zh-CN" sz="1200" dirty="0"/>
          </a:p>
          <a:p>
            <a:pPr marL="0" indent="0">
              <a:lnSpc>
                <a:spcPct val="120000"/>
              </a:lnSpc>
              <a:buNone/>
            </a:pPr>
            <a:r>
              <a:rPr lang="en-US" altLang="zh-CN" sz="2400" dirty="0"/>
              <a:t>Any plane</a:t>
            </a:r>
            <a:r>
              <a:rPr lang="en-US" altLang="zh-CN" sz="2400" dirty="0">
                <a:sym typeface="+mn-ea"/>
              </a:rPr>
              <a:t>(</a:t>
            </a:r>
            <a:r>
              <a:rPr lang="en-US" altLang="zh-CN" sz="2400" b="1" i="1" dirty="0">
                <a:solidFill>
                  <a:srgbClr val="FF0066"/>
                </a:solidFill>
                <a:sym typeface="+mn-ea"/>
              </a:rPr>
              <a:t>h k l</a:t>
            </a:r>
            <a:r>
              <a:rPr lang="en-US" altLang="zh-CN" sz="2400" dirty="0">
                <a:sym typeface="+mn-ea"/>
              </a:rPr>
              <a:t>)</a:t>
            </a:r>
            <a:r>
              <a:rPr lang="en-US" altLang="zh-CN" sz="2400" dirty="0"/>
              <a:t> belonging to zone [</a:t>
            </a:r>
            <a:r>
              <a:rPr lang="en-US" altLang="zh-CN" sz="2400" b="1" i="1" dirty="0">
                <a:solidFill>
                  <a:srgbClr val="FF0066"/>
                </a:solidFill>
              </a:rPr>
              <a:t>u v w</a:t>
            </a:r>
            <a:r>
              <a:rPr lang="en-US" altLang="zh-CN" sz="2400" dirty="0">
                <a:solidFill>
                  <a:schemeClr val="tx1"/>
                </a:solidFill>
              </a:rPr>
              <a:t>] must satisfy the following equation:</a:t>
            </a:r>
          </a:p>
          <a:p>
            <a:pPr marL="0" indent="0">
              <a:lnSpc>
                <a:spcPct val="120000"/>
              </a:lnSpc>
              <a:buNone/>
            </a:pPr>
            <a:r>
              <a:rPr lang="en-US" altLang="zh-CN" sz="2400" i="1" dirty="0"/>
              <a:t>		</a:t>
            </a:r>
            <a:r>
              <a:rPr lang="en-US" altLang="zh-CN" b="1" i="1" dirty="0">
                <a:solidFill>
                  <a:srgbClr val="FF0066"/>
                </a:solidFill>
              </a:rPr>
              <a:t>h u</a:t>
            </a:r>
            <a:r>
              <a:rPr lang="en-US" altLang="zh-CN" b="1" dirty="0">
                <a:solidFill>
                  <a:srgbClr val="FF0066"/>
                </a:solidFill>
              </a:rPr>
              <a:t> + </a:t>
            </a:r>
            <a:r>
              <a:rPr lang="en-US" altLang="zh-CN" b="1" i="1" dirty="0">
                <a:solidFill>
                  <a:srgbClr val="FF0066"/>
                </a:solidFill>
              </a:rPr>
              <a:t>k v</a:t>
            </a:r>
            <a:r>
              <a:rPr lang="en-US" altLang="zh-CN" b="1" dirty="0">
                <a:solidFill>
                  <a:srgbClr val="FF0066"/>
                </a:solidFill>
              </a:rPr>
              <a:t> + </a:t>
            </a:r>
            <a:r>
              <a:rPr lang="en-US" altLang="zh-CN" b="1" i="1" dirty="0">
                <a:solidFill>
                  <a:srgbClr val="FF0066"/>
                </a:solidFill>
              </a:rPr>
              <a:t>l w</a:t>
            </a:r>
            <a:r>
              <a:rPr lang="en-US" altLang="zh-CN" b="1" dirty="0">
                <a:solidFill>
                  <a:srgbClr val="FF0066"/>
                </a:solidFill>
              </a:rPr>
              <a:t> = 0 </a:t>
            </a:r>
            <a:r>
              <a:rPr lang="en-US" altLang="zh-CN" dirty="0">
                <a:solidFill>
                  <a:srgbClr val="0000FF"/>
                </a:solidFill>
              </a:rPr>
              <a:t>-</a:t>
            </a:r>
            <a:r>
              <a:rPr lang="en-US" altLang="zh-CN" dirty="0"/>
              <a:t>-- zone equation</a:t>
            </a:r>
            <a:endParaRPr lang="en-US" altLang="zh-CN" dirty="0">
              <a:solidFill>
                <a:srgbClr val="FF3300"/>
              </a:solidFill>
              <a:effectLst>
                <a:outerShdw blurRad="38100" dist="38100" dir="2700000" algn="tl">
                  <a:srgbClr val="C0C0C0"/>
                </a:outerShdw>
              </a:effectLs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Rectangle 5"/>
          <p:cNvSpPr>
            <a:spLocks noChangeArrowheads="1"/>
          </p:cNvSpPr>
          <p:nvPr/>
        </p:nvSpPr>
        <p:spPr bwMode="auto">
          <a:xfrm>
            <a:off x="395605" y="873125"/>
            <a:ext cx="8001000" cy="5868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342900" lvl="1" indent="-342900">
              <a:lnSpc>
                <a:spcPct val="200000"/>
              </a:lnSpc>
              <a:buFont typeface="Wingdings" panose="05000000000000000000" pitchFamily="2" charset="2"/>
              <a:buChar char="l"/>
            </a:pPr>
            <a:r>
              <a:rPr lang="en-US" altLang="zh-CN" b="1" dirty="0">
                <a:solidFill>
                  <a:srgbClr val="FF0000"/>
                </a:solidFill>
              </a:rPr>
              <a:t>Simple proof</a:t>
            </a:r>
            <a:r>
              <a:rPr lang="zh-CN" altLang="en-US" sz="1800" b="1" dirty="0">
                <a:solidFill>
                  <a:srgbClr val="FF0000"/>
                </a:solidFill>
              </a:rPr>
              <a:t>（</a:t>
            </a:r>
            <a:r>
              <a:rPr lang="en-US" altLang="zh-CN" sz="1800" b="1" dirty="0">
                <a:solidFill>
                  <a:srgbClr val="FF0000"/>
                </a:solidFill>
              </a:rPr>
              <a:t>Mini PJ</a:t>
            </a:r>
            <a:r>
              <a:rPr lang="zh-CN" altLang="en-US" sz="1800" b="1" dirty="0">
                <a:solidFill>
                  <a:srgbClr val="FF0000"/>
                </a:solidFill>
              </a:rPr>
              <a:t>）</a:t>
            </a:r>
            <a:endParaRPr lang="en-US" altLang="zh-CN" b="1" dirty="0">
              <a:solidFill>
                <a:srgbClr val="FF0000"/>
              </a:solidFill>
            </a:endParaRPr>
          </a:p>
          <a:p>
            <a:pPr marL="0" lvl="1" indent="0">
              <a:lnSpc>
                <a:spcPct val="200000"/>
              </a:lnSpc>
              <a:buNone/>
            </a:pPr>
            <a:r>
              <a:rPr lang="en-US" altLang="zh-CN" sz="1800" dirty="0"/>
              <a:t>	A general equation of the plane in 3-D space is :</a:t>
            </a:r>
          </a:p>
          <a:p>
            <a:pPr marL="457200" lvl="1" indent="0">
              <a:lnSpc>
                <a:spcPct val="200000"/>
              </a:lnSpc>
              <a:buNone/>
            </a:pPr>
            <a:r>
              <a:rPr lang="en-US" altLang="zh-CN" sz="1800" i="1" dirty="0"/>
              <a:t>			Ax</a:t>
            </a:r>
            <a:r>
              <a:rPr lang="en-US" altLang="zh-CN" sz="1800" dirty="0"/>
              <a:t> +</a:t>
            </a:r>
            <a:r>
              <a:rPr lang="en-US" altLang="zh-CN" sz="1800" i="1" dirty="0"/>
              <a:t> By</a:t>
            </a:r>
            <a:r>
              <a:rPr lang="en-US" altLang="zh-CN" sz="1800" dirty="0"/>
              <a:t> + </a:t>
            </a:r>
            <a:r>
              <a:rPr lang="en-US" altLang="zh-CN" sz="1800" i="1" dirty="0" err="1"/>
              <a:t>Cz</a:t>
            </a:r>
            <a:r>
              <a:rPr lang="en-US" altLang="zh-CN" sz="1800" i="1" dirty="0"/>
              <a:t> </a:t>
            </a:r>
            <a:r>
              <a:rPr lang="en-US" altLang="zh-CN" sz="1800" dirty="0"/>
              <a:t>+ </a:t>
            </a:r>
            <a:r>
              <a:rPr lang="en-US" altLang="zh-CN" sz="1800" i="1" dirty="0"/>
              <a:t>D</a:t>
            </a:r>
            <a:r>
              <a:rPr lang="en-US" altLang="zh-CN" sz="1800" dirty="0"/>
              <a:t> = 0		</a:t>
            </a:r>
          </a:p>
          <a:p>
            <a:pPr marL="0" lvl="1" indent="0">
              <a:lnSpc>
                <a:spcPct val="200000"/>
              </a:lnSpc>
              <a:buFont typeface="Wingdings" panose="05000000000000000000" pitchFamily="2" charset="2"/>
              <a:buNone/>
            </a:pPr>
            <a:r>
              <a:rPr lang="en-US" altLang="zh-CN" sz="1800" dirty="0"/>
              <a:t>    </a:t>
            </a:r>
            <a:r>
              <a:rPr lang="en-US" altLang="zh-CN" sz="1600" dirty="0"/>
              <a:t>where the cofficients, </a:t>
            </a:r>
            <a:r>
              <a:rPr lang="en-US" altLang="zh-CN" sz="1600" i="1" dirty="0"/>
              <a:t>A, B and C,</a:t>
            </a:r>
            <a:r>
              <a:rPr lang="en-US" altLang="zh-CN" sz="1600" dirty="0"/>
              <a:t> determine the direction of the plane and the coefficient D determines the distance between the plane and the origin. </a:t>
            </a:r>
          </a:p>
          <a:p>
            <a:pPr marL="0" lvl="1" indent="0">
              <a:lnSpc>
                <a:spcPct val="200000"/>
              </a:lnSpc>
              <a:buFont typeface="Wingdings" panose="05000000000000000000" pitchFamily="2" charset="2"/>
              <a:buNone/>
            </a:pPr>
            <a:r>
              <a:rPr lang="en-US" altLang="zh-CN" sz="1600" dirty="0"/>
              <a:t>     And the plane through the origin and parallel to plane (hkl) can be expressed as the equation:			 </a:t>
            </a:r>
            <a:r>
              <a:rPr lang="en-US" altLang="zh-CN" sz="2000" i="1" dirty="0">
                <a:solidFill>
                  <a:srgbClr val="FF0066"/>
                </a:solidFill>
              </a:rPr>
              <a:t>h </a:t>
            </a:r>
            <a:r>
              <a:rPr lang="en-US" altLang="zh-CN" sz="2000" i="1" dirty="0"/>
              <a:t>x </a:t>
            </a:r>
            <a:r>
              <a:rPr lang="en-US" altLang="zh-CN" sz="2000" dirty="0"/>
              <a:t>+ </a:t>
            </a:r>
            <a:r>
              <a:rPr lang="en-US" altLang="zh-CN" sz="2000" i="1" dirty="0">
                <a:solidFill>
                  <a:srgbClr val="FF0066"/>
                </a:solidFill>
              </a:rPr>
              <a:t>k</a:t>
            </a:r>
            <a:r>
              <a:rPr lang="en-US" altLang="zh-CN" sz="2000" i="1" dirty="0"/>
              <a:t> y</a:t>
            </a:r>
            <a:r>
              <a:rPr lang="en-US" altLang="zh-CN" sz="2000" dirty="0"/>
              <a:t> + </a:t>
            </a:r>
            <a:r>
              <a:rPr lang="en-US" altLang="zh-CN" sz="2000" i="1" dirty="0">
                <a:solidFill>
                  <a:srgbClr val="FF0066"/>
                </a:solidFill>
              </a:rPr>
              <a:t>l </a:t>
            </a:r>
            <a:r>
              <a:rPr lang="en-US" altLang="zh-CN" sz="2000" i="1" dirty="0"/>
              <a:t>z</a:t>
            </a:r>
            <a:r>
              <a:rPr lang="en-US" altLang="zh-CN" sz="2000" dirty="0"/>
              <a:t> = 0.</a:t>
            </a:r>
          </a:p>
          <a:p>
            <a:pPr marL="0" lvl="1" indent="0">
              <a:lnSpc>
                <a:spcPct val="200000"/>
              </a:lnSpc>
              <a:buFont typeface="Wingdings" panose="05000000000000000000" pitchFamily="2" charset="2"/>
              <a:buNone/>
            </a:pPr>
            <a:r>
              <a:rPr lang="en-US" altLang="zh-CN" sz="1600" dirty="0"/>
              <a:t>   P</a:t>
            </a:r>
            <a:r>
              <a:rPr lang="en-US" altLang="zh-CN" sz="1600" dirty="0">
                <a:sym typeface="+mn-ea"/>
              </a:rPr>
              <a:t>lane(</a:t>
            </a:r>
            <a:r>
              <a:rPr lang="en-US" altLang="zh-CN" sz="1600" i="1" dirty="0">
                <a:solidFill>
                  <a:srgbClr val="FF0066"/>
                </a:solidFill>
                <a:sym typeface="+mn-ea"/>
              </a:rPr>
              <a:t>h k l</a:t>
            </a:r>
            <a:r>
              <a:rPr lang="en-US" altLang="zh-CN" sz="1600" dirty="0">
                <a:sym typeface="+mn-ea"/>
              </a:rPr>
              <a:t>) belongs to zone [</a:t>
            </a:r>
            <a:r>
              <a:rPr lang="en-US" altLang="zh-CN" sz="1600" i="1" dirty="0">
                <a:solidFill>
                  <a:srgbClr val="FF0066"/>
                </a:solidFill>
                <a:sym typeface="+mn-ea"/>
              </a:rPr>
              <a:t>u v w</a:t>
            </a:r>
            <a:r>
              <a:rPr lang="en-US" altLang="zh-CN" sz="1600" dirty="0">
                <a:sym typeface="+mn-ea"/>
              </a:rPr>
              <a:t>] and any points on the straight line [uvw] can satisfy the equation hx+ky+lz=0, thus the equation hu+kv+lw=0 can be obtained. </a:t>
            </a:r>
            <a:endParaRPr lang="zh-CN" altLang="en-US" sz="1600" dirty="0"/>
          </a:p>
        </p:txBody>
      </p:sp>
      <p:sp>
        <p:nvSpPr>
          <p:cNvPr id="5" name="Rectangle 4"/>
          <p:cNvSpPr>
            <a:spLocks noGrp="1" noChangeArrowheads="1"/>
          </p:cNvSpPr>
          <p:nvPr>
            <p:ph type="title"/>
          </p:nvPr>
        </p:nvSpPr>
        <p:spPr>
          <a:xfrm>
            <a:off x="1042988" y="168593"/>
            <a:ext cx="6705600" cy="800100"/>
          </a:xfrm>
          <a:noFill/>
        </p:spPr>
        <p:txBody>
          <a:bodyPr anchor="b">
            <a:normAutofit/>
          </a:bodyPr>
          <a:lstStyle/>
          <a:p>
            <a:r>
              <a:rPr lang="en-US" altLang="zh-CN" sz="3400" dirty="0"/>
              <a:t>zone law</a:t>
            </a:r>
            <a:r>
              <a:rPr lang="zh-CN" altLang="en-US" sz="3400" dirty="0"/>
              <a:t> </a:t>
            </a:r>
            <a:r>
              <a:rPr lang="en-US" altLang="zh-CN" sz="3400" dirty="0"/>
              <a:t>(</a:t>
            </a:r>
            <a:r>
              <a:rPr lang="zh-CN" altLang="en-US" sz="3400" dirty="0"/>
              <a:t>晶带定律</a:t>
            </a:r>
            <a:r>
              <a:rPr lang="en-US" altLang="zh-CN" sz="3400" dirty="0"/>
              <a:t>)</a:t>
            </a:r>
            <a:endParaRPr lang="zh-CN" altLang="zh-CN" sz="3400" dirty="0"/>
          </a:p>
        </p:txBody>
      </p:sp>
    </p:spTree>
    <p:extLst>
      <p:ext uri="{BB962C8B-B14F-4D97-AF65-F5344CB8AC3E}">
        <p14:creationId xmlns:p14="http://schemas.microsoft.com/office/powerpoint/2010/main" val="25044669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4"/>
          <p:cNvSpPr>
            <a:spLocks noGrp="1" noChangeArrowheads="1"/>
          </p:cNvSpPr>
          <p:nvPr>
            <p:ph type="title"/>
          </p:nvPr>
        </p:nvSpPr>
        <p:spPr>
          <a:xfrm>
            <a:off x="1219200" y="762000"/>
            <a:ext cx="6705600" cy="800100"/>
          </a:xfrm>
          <a:noFill/>
        </p:spPr>
        <p:txBody>
          <a:bodyPr anchor="b">
            <a:normAutofit fontScale="90000"/>
          </a:bodyPr>
          <a:lstStyle/>
          <a:p>
            <a:r>
              <a:rPr altLang="zh-CN" sz="3400" b="1"/>
              <a:t>Applications of zone law</a:t>
            </a:r>
          </a:p>
        </p:txBody>
      </p:sp>
      <p:sp>
        <p:nvSpPr>
          <p:cNvPr id="74757" name="Rectangle 5"/>
          <p:cNvSpPr>
            <a:spLocks noChangeArrowheads="1"/>
          </p:cNvSpPr>
          <p:nvPr/>
        </p:nvSpPr>
        <p:spPr bwMode="auto">
          <a:xfrm>
            <a:off x="900113" y="2060575"/>
            <a:ext cx="7848600"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dirty="0"/>
              <a:t>Given two planes, get the zone containing the two planes</a:t>
            </a:r>
            <a:r>
              <a:rPr lang="zh-CN" altLang="en-US" dirty="0"/>
              <a:t>；</a:t>
            </a:r>
          </a:p>
          <a:p>
            <a:pPr>
              <a:lnSpc>
                <a:spcPct val="130000"/>
              </a:lnSpc>
            </a:pPr>
            <a:r>
              <a:rPr lang="en-US" altLang="zh-CN" dirty="0"/>
              <a:t>Given two zones, get the indices of the plane belonging to the two zones</a:t>
            </a:r>
            <a:r>
              <a:rPr lang="zh-CN" altLang="en-US" dirty="0"/>
              <a:t>；</a:t>
            </a:r>
          </a:p>
          <a:p>
            <a:pPr>
              <a:lnSpc>
                <a:spcPct val="130000"/>
              </a:lnSpc>
            </a:pPr>
            <a:r>
              <a:rPr lang="en-US" altLang="zh-CN" dirty="0"/>
              <a:t>Judge whether a plane belongs to a zone</a:t>
            </a:r>
            <a:r>
              <a:rPr lang="zh-CN" altLang="en-US" dirty="0"/>
              <a:t>；</a:t>
            </a:r>
          </a:p>
        </p:txBody>
      </p:sp>
      <p:sp>
        <p:nvSpPr>
          <p:cNvPr id="2" name="Rectangle 1"/>
          <p:cNvSpPr/>
          <p:nvPr/>
        </p:nvSpPr>
        <p:spPr>
          <a:xfrm>
            <a:off x="1669415" y="5475605"/>
            <a:ext cx="6125210" cy="607695"/>
          </a:xfrm>
          <a:prstGeom prst="rect">
            <a:avLst/>
          </a:prstGeom>
          <a:solidFill>
            <a:srgbClr val="7A7A7A"/>
          </a:solidFill>
        </p:spPr>
        <p:txBody>
          <a:bodyPr wrap="square">
            <a:spAutoFit/>
          </a:bodyPr>
          <a:lstStyle/>
          <a:p>
            <a:pPr lvl="1" algn="ctr">
              <a:lnSpc>
                <a:spcPct val="120000"/>
              </a:lnSpc>
            </a:pPr>
            <a:r>
              <a:rPr lang="en-US" altLang="zh-CN" sz="2800" b="1" i="1" dirty="0">
                <a:solidFill>
                  <a:schemeClr val="bg1"/>
                </a:solidFill>
                <a:effectLst>
                  <a:outerShdw blurRad="38100" dist="38100" dir="2700000" algn="tl">
                    <a:srgbClr val="000000">
                      <a:alpha val="43137"/>
                    </a:srgbClr>
                  </a:outerShdw>
                </a:effectLst>
              </a:rPr>
              <a:t>h u</a:t>
            </a:r>
            <a:r>
              <a:rPr lang="en-US" altLang="zh-CN" sz="2800" b="1" dirty="0">
                <a:solidFill>
                  <a:schemeClr val="bg1"/>
                </a:solidFill>
                <a:effectLst>
                  <a:outerShdw blurRad="38100" dist="38100" dir="2700000" algn="tl">
                    <a:srgbClr val="000000">
                      <a:alpha val="43137"/>
                    </a:srgbClr>
                  </a:outerShdw>
                </a:effectLst>
              </a:rPr>
              <a:t> + </a:t>
            </a:r>
            <a:r>
              <a:rPr lang="en-US" altLang="zh-CN" sz="2800" b="1" i="1" dirty="0">
                <a:solidFill>
                  <a:schemeClr val="bg1"/>
                </a:solidFill>
                <a:effectLst>
                  <a:outerShdw blurRad="38100" dist="38100" dir="2700000" algn="tl">
                    <a:srgbClr val="000000">
                      <a:alpha val="43137"/>
                    </a:srgbClr>
                  </a:outerShdw>
                </a:effectLst>
              </a:rPr>
              <a:t>k v</a:t>
            </a:r>
            <a:r>
              <a:rPr lang="en-US" altLang="zh-CN" sz="2800" b="1" dirty="0">
                <a:solidFill>
                  <a:schemeClr val="bg1"/>
                </a:solidFill>
                <a:effectLst>
                  <a:outerShdw blurRad="38100" dist="38100" dir="2700000" algn="tl">
                    <a:srgbClr val="000000">
                      <a:alpha val="43137"/>
                    </a:srgbClr>
                  </a:outerShdw>
                </a:effectLst>
              </a:rPr>
              <a:t> + </a:t>
            </a:r>
            <a:r>
              <a:rPr lang="en-US" altLang="zh-CN" sz="2800" b="1" i="1" dirty="0">
                <a:solidFill>
                  <a:schemeClr val="bg1"/>
                </a:solidFill>
                <a:effectLst>
                  <a:outerShdw blurRad="38100" dist="38100" dir="2700000" algn="tl">
                    <a:srgbClr val="000000">
                      <a:alpha val="43137"/>
                    </a:srgbClr>
                  </a:outerShdw>
                </a:effectLst>
              </a:rPr>
              <a:t>l w</a:t>
            </a:r>
            <a:r>
              <a:rPr lang="en-US" altLang="zh-CN" sz="2800" b="1" dirty="0">
                <a:solidFill>
                  <a:schemeClr val="bg1"/>
                </a:solidFill>
                <a:effectLst>
                  <a:outerShdw blurRad="38100" dist="38100" dir="2700000" algn="tl">
                    <a:srgbClr val="000000">
                      <a:alpha val="43137"/>
                    </a:srgbClr>
                  </a:outerShdw>
                </a:effectLst>
              </a:rPr>
              <a:t> = 0   zone equation</a:t>
            </a:r>
            <a:r>
              <a:rPr lang="zh-CN" altLang="en-US" sz="2800" b="1" dirty="0">
                <a:solidFill>
                  <a:schemeClr val="bg1"/>
                </a:solidFill>
                <a:effectLst>
                  <a:outerShdw blurRad="38100" dist="38100" dir="2700000" algn="tl">
                    <a:srgbClr val="000000">
                      <a:alpha val="43137"/>
                    </a:srgbClr>
                  </a:outerShdw>
                </a:effectLst>
              </a:rPr>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4"/>
          <p:cNvSpPr>
            <a:spLocks noGrp="1" noChangeArrowheads="1"/>
          </p:cNvSpPr>
          <p:nvPr>
            <p:ph type="title"/>
          </p:nvPr>
        </p:nvSpPr>
        <p:spPr>
          <a:xfrm>
            <a:off x="1219200" y="762000"/>
            <a:ext cx="6705600" cy="800100"/>
          </a:xfrm>
          <a:noFill/>
        </p:spPr>
        <p:txBody>
          <a:bodyPr anchor="b">
            <a:normAutofit fontScale="90000"/>
          </a:bodyPr>
          <a:lstStyle/>
          <a:p>
            <a:r>
              <a:rPr altLang="zh-CN" sz="3400">
                <a:sym typeface="+mn-ea"/>
              </a:rPr>
              <a:t>Applications of zone law</a:t>
            </a:r>
            <a:endParaRPr lang="zh-CN" altLang="zh-CN" sz="3400" b="1"/>
          </a:p>
        </p:txBody>
      </p:sp>
      <p:sp>
        <p:nvSpPr>
          <p:cNvPr id="75781" name="Rectangle 5"/>
          <p:cNvSpPr>
            <a:spLocks noChangeArrowheads="1"/>
          </p:cNvSpPr>
          <p:nvPr/>
        </p:nvSpPr>
        <p:spPr bwMode="auto">
          <a:xfrm>
            <a:off x="457200" y="1700213"/>
            <a:ext cx="8229600" cy="3024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accent1"/>
              </a:buClr>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3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2200">
                <a:solidFill>
                  <a:srgbClr val="FF0066"/>
                </a:solidFill>
              </a:rPr>
              <a:t>For example</a:t>
            </a:r>
            <a:r>
              <a:rPr lang="zh-CN" altLang="en-US" sz="2200">
                <a:solidFill>
                  <a:srgbClr val="FF0066"/>
                </a:solidFill>
              </a:rPr>
              <a:t>：</a:t>
            </a:r>
            <a:r>
              <a:rPr lang="en-US" altLang="zh-CN" sz="2200">
                <a:solidFill>
                  <a:srgbClr val="FF0066"/>
                </a:solidFill>
              </a:rPr>
              <a:t>if a zone contains two planes, (</a:t>
            </a:r>
            <a:r>
              <a:rPr lang="en-US" altLang="zh-CN" sz="2200" i="1">
                <a:solidFill>
                  <a:srgbClr val="FF0066"/>
                </a:solidFill>
              </a:rPr>
              <a:t>h</a:t>
            </a:r>
            <a:r>
              <a:rPr lang="en-US" altLang="zh-CN" sz="2200" baseline="-30000">
                <a:solidFill>
                  <a:srgbClr val="FF0066"/>
                </a:solidFill>
              </a:rPr>
              <a:t>1</a:t>
            </a:r>
            <a:r>
              <a:rPr lang="en-US" altLang="zh-CN" sz="2200">
                <a:solidFill>
                  <a:srgbClr val="FF0066"/>
                </a:solidFill>
              </a:rPr>
              <a:t> </a:t>
            </a:r>
            <a:r>
              <a:rPr lang="en-US" altLang="zh-CN" sz="2200" i="1">
                <a:solidFill>
                  <a:srgbClr val="FF0066"/>
                </a:solidFill>
              </a:rPr>
              <a:t>k</a:t>
            </a:r>
            <a:r>
              <a:rPr lang="en-US" altLang="zh-CN" sz="2200" baseline="-30000">
                <a:solidFill>
                  <a:srgbClr val="FF0066"/>
                </a:solidFill>
              </a:rPr>
              <a:t>1</a:t>
            </a:r>
            <a:r>
              <a:rPr lang="en-US" altLang="zh-CN" sz="2200">
                <a:solidFill>
                  <a:srgbClr val="FF0066"/>
                </a:solidFill>
              </a:rPr>
              <a:t> </a:t>
            </a:r>
            <a:r>
              <a:rPr lang="en-US" altLang="zh-CN" sz="2200" i="1">
                <a:solidFill>
                  <a:srgbClr val="FF0066"/>
                </a:solidFill>
              </a:rPr>
              <a:t>l</a:t>
            </a:r>
            <a:r>
              <a:rPr lang="en-US" altLang="zh-CN" sz="2200" baseline="-30000">
                <a:solidFill>
                  <a:srgbClr val="FF0066"/>
                </a:solidFill>
              </a:rPr>
              <a:t>1</a:t>
            </a:r>
            <a:r>
              <a:rPr lang="en-US" altLang="zh-CN" sz="2200">
                <a:solidFill>
                  <a:srgbClr val="FF0066"/>
                </a:solidFill>
              </a:rPr>
              <a:t>) and (</a:t>
            </a:r>
            <a:r>
              <a:rPr lang="en-US" altLang="zh-CN" sz="2200" i="1">
                <a:solidFill>
                  <a:srgbClr val="FF0066"/>
                </a:solidFill>
              </a:rPr>
              <a:t>h</a:t>
            </a:r>
            <a:r>
              <a:rPr lang="en-US" altLang="zh-CN" sz="2200" baseline="-30000">
                <a:solidFill>
                  <a:srgbClr val="FF0066"/>
                </a:solidFill>
              </a:rPr>
              <a:t>2</a:t>
            </a:r>
            <a:r>
              <a:rPr lang="en-US" altLang="zh-CN" sz="2200">
                <a:solidFill>
                  <a:srgbClr val="FF0066"/>
                </a:solidFill>
              </a:rPr>
              <a:t> </a:t>
            </a:r>
            <a:r>
              <a:rPr lang="en-US" altLang="zh-CN" sz="2200" i="1">
                <a:solidFill>
                  <a:srgbClr val="FF0066"/>
                </a:solidFill>
              </a:rPr>
              <a:t>k</a:t>
            </a:r>
            <a:r>
              <a:rPr lang="en-US" altLang="zh-CN" sz="2200" baseline="-30000">
                <a:solidFill>
                  <a:srgbClr val="FF0066"/>
                </a:solidFill>
              </a:rPr>
              <a:t>2</a:t>
            </a:r>
            <a:r>
              <a:rPr lang="en-US" altLang="zh-CN" sz="2200">
                <a:solidFill>
                  <a:srgbClr val="FF0066"/>
                </a:solidFill>
              </a:rPr>
              <a:t> </a:t>
            </a:r>
            <a:r>
              <a:rPr lang="en-US" altLang="zh-CN" sz="2200" i="1">
                <a:solidFill>
                  <a:srgbClr val="FF0066"/>
                </a:solidFill>
              </a:rPr>
              <a:t>l</a:t>
            </a:r>
            <a:r>
              <a:rPr lang="en-US" altLang="zh-CN" sz="2200" baseline="-30000">
                <a:solidFill>
                  <a:srgbClr val="FF0066"/>
                </a:solidFill>
              </a:rPr>
              <a:t>2</a:t>
            </a:r>
            <a:r>
              <a:rPr lang="en-US" altLang="zh-CN" sz="2200">
                <a:solidFill>
                  <a:srgbClr val="FF0066"/>
                </a:solidFill>
              </a:rPr>
              <a:t>)</a:t>
            </a:r>
            <a:r>
              <a:rPr lang="zh-CN" altLang="en-US" sz="2200">
                <a:solidFill>
                  <a:srgbClr val="FF0066"/>
                </a:solidFill>
              </a:rPr>
              <a:t>，</a:t>
            </a:r>
            <a:r>
              <a:rPr lang="en-US" altLang="zh-CN" sz="2200">
                <a:solidFill>
                  <a:srgbClr val="FF0066"/>
                </a:solidFill>
              </a:rPr>
              <a:t>get the symbol of the zone.</a:t>
            </a:r>
            <a:endParaRPr lang="zh-CN" altLang="en-US" sz="2200">
              <a:solidFill>
                <a:srgbClr val="FF0066"/>
              </a:solidFill>
            </a:endParaRPr>
          </a:p>
          <a:p>
            <a:pPr lvl="1">
              <a:lnSpc>
                <a:spcPct val="120000"/>
              </a:lnSpc>
            </a:pPr>
            <a:r>
              <a:rPr lang="en-US" altLang="zh-CN" sz="1800">
                <a:solidFill>
                  <a:srgbClr val="0000FF"/>
                </a:solidFill>
              </a:rPr>
              <a:t>According to the zone equation </a:t>
            </a:r>
            <a:r>
              <a:rPr lang="en-US" altLang="zh-CN" sz="1800" i="1">
                <a:solidFill>
                  <a:srgbClr val="0000FF"/>
                </a:solidFill>
              </a:rPr>
              <a:t>hu</a:t>
            </a:r>
            <a:r>
              <a:rPr lang="en-US" altLang="zh-CN" sz="1800">
                <a:solidFill>
                  <a:srgbClr val="0000FF"/>
                </a:solidFill>
              </a:rPr>
              <a:t> + </a:t>
            </a:r>
            <a:r>
              <a:rPr lang="en-US" altLang="zh-CN" sz="1800" i="1">
                <a:solidFill>
                  <a:srgbClr val="0000FF"/>
                </a:solidFill>
              </a:rPr>
              <a:t>kv</a:t>
            </a:r>
            <a:r>
              <a:rPr lang="en-US" altLang="zh-CN" sz="1800">
                <a:solidFill>
                  <a:srgbClr val="0000FF"/>
                </a:solidFill>
              </a:rPr>
              <a:t> + </a:t>
            </a:r>
            <a:r>
              <a:rPr lang="en-US" altLang="zh-CN" sz="1800" i="1">
                <a:solidFill>
                  <a:srgbClr val="0000FF"/>
                </a:solidFill>
              </a:rPr>
              <a:t>lw</a:t>
            </a:r>
            <a:r>
              <a:rPr lang="en-US" altLang="zh-CN" sz="1800">
                <a:solidFill>
                  <a:srgbClr val="0000FF"/>
                </a:solidFill>
              </a:rPr>
              <a:t> = 0</a:t>
            </a:r>
            <a:r>
              <a:rPr lang="zh-CN" altLang="en-US" sz="1800">
                <a:solidFill>
                  <a:srgbClr val="0000FF"/>
                </a:solidFill>
              </a:rPr>
              <a:t>：</a:t>
            </a:r>
          </a:p>
          <a:p>
            <a:pPr algn="ctr">
              <a:lnSpc>
                <a:spcPct val="120000"/>
              </a:lnSpc>
            </a:pPr>
            <a:r>
              <a:rPr lang="en-US" altLang="zh-CN" sz="2000" i="1">
                <a:solidFill>
                  <a:srgbClr val="0000FF"/>
                </a:solidFill>
              </a:rPr>
              <a:t>h</a:t>
            </a:r>
            <a:r>
              <a:rPr lang="en-US" altLang="zh-CN" sz="2000" baseline="-30000">
                <a:solidFill>
                  <a:srgbClr val="0000FF"/>
                </a:solidFill>
              </a:rPr>
              <a:t>1</a:t>
            </a:r>
            <a:r>
              <a:rPr lang="en-US" altLang="zh-CN" sz="2000" i="1">
                <a:solidFill>
                  <a:srgbClr val="0000FF"/>
                </a:solidFill>
              </a:rPr>
              <a:t>u</a:t>
            </a:r>
            <a:r>
              <a:rPr lang="en-US" altLang="zh-CN" sz="2000">
                <a:solidFill>
                  <a:srgbClr val="0000FF"/>
                </a:solidFill>
              </a:rPr>
              <a:t> + </a:t>
            </a:r>
            <a:r>
              <a:rPr lang="en-US" altLang="zh-CN" sz="2000" i="1">
                <a:solidFill>
                  <a:srgbClr val="0000FF"/>
                </a:solidFill>
              </a:rPr>
              <a:t>k</a:t>
            </a:r>
            <a:r>
              <a:rPr lang="en-US" altLang="zh-CN" sz="2000" baseline="-30000">
                <a:solidFill>
                  <a:srgbClr val="0000FF"/>
                </a:solidFill>
              </a:rPr>
              <a:t>1</a:t>
            </a:r>
            <a:r>
              <a:rPr lang="en-US" altLang="zh-CN" sz="2000" i="1">
                <a:solidFill>
                  <a:srgbClr val="0000FF"/>
                </a:solidFill>
              </a:rPr>
              <a:t>v</a:t>
            </a:r>
            <a:r>
              <a:rPr lang="en-US" altLang="zh-CN" sz="2000">
                <a:solidFill>
                  <a:srgbClr val="0000FF"/>
                </a:solidFill>
              </a:rPr>
              <a:t> + </a:t>
            </a:r>
            <a:r>
              <a:rPr lang="en-US" altLang="zh-CN" sz="2000" i="1">
                <a:solidFill>
                  <a:srgbClr val="0000FF"/>
                </a:solidFill>
              </a:rPr>
              <a:t>l</a:t>
            </a:r>
            <a:r>
              <a:rPr lang="en-US" altLang="zh-CN" sz="2000" baseline="-30000">
                <a:solidFill>
                  <a:srgbClr val="0000FF"/>
                </a:solidFill>
              </a:rPr>
              <a:t>1</a:t>
            </a:r>
            <a:r>
              <a:rPr lang="en-US" altLang="zh-CN" sz="2000" i="1">
                <a:solidFill>
                  <a:srgbClr val="0000FF"/>
                </a:solidFill>
              </a:rPr>
              <a:t>w</a:t>
            </a:r>
            <a:r>
              <a:rPr lang="en-US" altLang="zh-CN" sz="2000">
                <a:solidFill>
                  <a:srgbClr val="0000FF"/>
                </a:solidFill>
              </a:rPr>
              <a:t> = 0			(1)</a:t>
            </a:r>
          </a:p>
          <a:p>
            <a:pPr algn="ctr">
              <a:lnSpc>
                <a:spcPct val="120000"/>
              </a:lnSpc>
            </a:pPr>
            <a:r>
              <a:rPr lang="en-US" altLang="zh-CN" sz="2000" i="1">
                <a:solidFill>
                  <a:srgbClr val="0000FF"/>
                </a:solidFill>
              </a:rPr>
              <a:t>h</a:t>
            </a:r>
            <a:r>
              <a:rPr lang="en-US" altLang="zh-CN" sz="2000" baseline="-30000">
                <a:solidFill>
                  <a:srgbClr val="0000FF"/>
                </a:solidFill>
              </a:rPr>
              <a:t>2</a:t>
            </a:r>
            <a:r>
              <a:rPr lang="en-US" altLang="zh-CN" sz="2000" i="1">
                <a:solidFill>
                  <a:srgbClr val="0000FF"/>
                </a:solidFill>
              </a:rPr>
              <a:t>u</a:t>
            </a:r>
            <a:r>
              <a:rPr lang="en-US" altLang="zh-CN" sz="2000">
                <a:solidFill>
                  <a:srgbClr val="0000FF"/>
                </a:solidFill>
              </a:rPr>
              <a:t> + </a:t>
            </a:r>
            <a:r>
              <a:rPr lang="en-US" altLang="zh-CN" sz="2000" i="1">
                <a:solidFill>
                  <a:srgbClr val="0000FF"/>
                </a:solidFill>
              </a:rPr>
              <a:t>k</a:t>
            </a:r>
            <a:r>
              <a:rPr lang="en-US" altLang="zh-CN" sz="2000" baseline="-30000">
                <a:solidFill>
                  <a:srgbClr val="0000FF"/>
                </a:solidFill>
              </a:rPr>
              <a:t>2</a:t>
            </a:r>
            <a:r>
              <a:rPr lang="en-US" altLang="zh-CN" sz="2000" i="1">
                <a:solidFill>
                  <a:srgbClr val="0000FF"/>
                </a:solidFill>
              </a:rPr>
              <a:t>v</a:t>
            </a:r>
            <a:r>
              <a:rPr lang="en-US" altLang="zh-CN" sz="2000">
                <a:solidFill>
                  <a:srgbClr val="0000FF"/>
                </a:solidFill>
              </a:rPr>
              <a:t> + </a:t>
            </a:r>
            <a:r>
              <a:rPr lang="en-US" altLang="zh-CN" sz="2000" i="1">
                <a:solidFill>
                  <a:srgbClr val="0000FF"/>
                </a:solidFill>
              </a:rPr>
              <a:t>l</a:t>
            </a:r>
            <a:r>
              <a:rPr lang="en-US" altLang="zh-CN" sz="2000" baseline="-30000">
                <a:solidFill>
                  <a:srgbClr val="0000FF"/>
                </a:solidFill>
              </a:rPr>
              <a:t>2</a:t>
            </a:r>
            <a:r>
              <a:rPr lang="en-US" altLang="zh-CN" sz="2000" i="1">
                <a:solidFill>
                  <a:srgbClr val="0000FF"/>
                </a:solidFill>
              </a:rPr>
              <a:t>w</a:t>
            </a:r>
            <a:r>
              <a:rPr lang="en-US" altLang="zh-CN" sz="2000">
                <a:solidFill>
                  <a:srgbClr val="0000FF"/>
                </a:solidFill>
              </a:rPr>
              <a:t> = 0			(2)</a:t>
            </a:r>
          </a:p>
          <a:p>
            <a:pPr lvl="1" algn="just">
              <a:lnSpc>
                <a:spcPct val="120000"/>
              </a:lnSpc>
            </a:pPr>
            <a:r>
              <a:rPr lang="en-US" sz="1800">
                <a:solidFill>
                  <a:srgbClr val="0000FF"/>
                </a:solidFill>
              </a:rPr>
              <a:t>Solve the equation group</a:t>
            </a:r>
            <a:r>
              <a:rPr lang="zh-CN" altLang="en-US" sz="1800">
                <a:solidFill>
                  <a:srgbClr val="0000FF"/>
                </a:solidFill>
              </a:rPr>
              <a:t>，</a:t>
            </a:r>
          </a:p>
          <a:p>
            <a:pPr marL="457200" lvl="1" indent="0" algn="just">
              <a:lnSpc>
                <a:spcPct val="120000"/>
              </a:lnSpc>
              <a:buNone/>
            </a:pPr>
            <a:r>
              <a:rPr lang="en-US" altLang="zh-CN" sz="2000">
                <a:solidFill>
                  <a:srgbClr val="0000FF"/>
                </a:solidFill>
              </a:rPr>
              <a:t>     [</a:t>
            </a:r>
            <a:r>
              <a:rPr lang="en-US" altLang="zh-CN" sz="2000" i="1">
                <a:solidFill>
                  <a:srgbClr val="0000FF"/>
                </a:solidFill>
              </a:rPr>
              <a:t>u v w</a:t>
            </a:r>
            <a:r>
              <a:rPr lang="en-US" altLang="zh-CN" sz="2000">
                <a:solidFill>
                  <a:srgbClr val="0000FF"/>
                </a:solidFill>
              </a:rPr>
              <a:t>] = </a:t>
            </a:r>
            <a:r>
              <a:rPr lang="en-US" altLang="zh-CN" sz="2000" i="1">
                <a:solidFill>
                  <a:srgbClr val="0000FF"/>
                </a:solidFill>
              </a:rPr>
              <a:t>u </a:t>
            </a:r>
            <a:r>
              <a:rPr lang="en-US" altLang="zh-CN" sz="2000">
                <a:solidFill>
                  <a:srgbClr val="0000FF"/>
                </a:solidFill>
              </a:rPr>
              <a:t>:</a:t>
            </a:r>
            <a:r>
              <a:rPr lang="en-US" altLang="zh-CN" sz="2000" i="1">
                <a:solidFill>
                  <a:srgbClr val="0000FF"/>
                </a:solidFill>
              </a:rPr>
              <a:t> v</a:t>
            </a:r>
            <a:r>
              <a:rPr lang="en-US" altLang="zh-CN" sz="2000">
                <a:solidFill>
                  <a:srgbClr val="0000FF"/>
                </a:solidFill>
              </a:rPr>
              <a:t> :</a:t>
            </a:r>
            <a:r>
              <a:rPr lang="en-US" altLang="zh-CN" sz="2000" i="1">
                <a:solidFill>
                  <a:srgbClr val="0000FF"/>
                </a:solidFill>
              </a:rPr>
              <a:t> w</a:t>
            </a:r>
            <a:r>
              <a:rPr lang="en-US" altLang="zh-CN" sz="2000">
                <a:solidFill>
                  <a:srgbClr val="0000FF"/>
                </a:solidFill>
              </a:rPr>
              <a:t> = (</a:t>
            </a:r>
            <a:r>
              <a:rPr lang="en-US" altLang="zh-CN" sz="2000" i="1">
                <a:solidFill>
                  <a:srgbClr val="0000FF"/>
                </a:solidFill>
              </a:rPr>
              <a:t>k</a:t>
            </a:r>
            <a:r>
              <a:rPr lang="en-US" altLang="zh-CN" sz="2000" baseline="-30000">
                <a:solidFill>
                  <a:srgbClr val="0000FF"/>
                </a:solidFill>
              </a:rPr>
              <a:t>1</a:t>
            </a:r>
            <a:r>
              <a:rPr lang="en-US" altLang="zh-CN" sz="2000" i="1">
                <a:solidFill>
                  <a:srgbClr val="0000FF"/>
                </a:solidFill>
              </a:rPr>
              <a:t>l</a:t>
            </a:r>
            <a:r>
              <a:rPr lang="en-US" altLang="zh-CN" sz="2000" baseline="-30000">
                <a:solidFill>
                  <a:srgbClr val="0000FF"/>
                </a:solidFill>
              </a:rPr>
              <a:t>2</a:t>
            </a:r>
            <a:r>
              <a:rPr lang="en-US" altLang="zh-CN" sz="2000">
                <a:solidFill>
                  <a:srgbClr val="0000FF"/>
                </a:solidFill>
              </a:rPr>
              <a:t> - </a:t>
            </a:r>
            <a:r>
              <a:rPr lang="en-US" altLang="zh-CN" sz="2000" i="1">
                <a:solidFill>
                  <a:srgbClr val="0000FF"/>
                </a:solidFill>
              </a:rPr>
              <a:t>k</a:t>
            </a:r>
            <a:r>
              <a:rPr lang="en-US" altLang="zh-CN" sz="2000" baseline="-30000">
                <a:solidFill>
                  <a:srgbClr val="0000FF"/>
                </a:solidFill>
              </a:rPr>
              <a:t>2</a:t>
            </a:r>
            <a:r>
              <a:rPr lang="en-US" altLang="zh-CN" sz="2000" i="1">
                <a:solidFill>
                  <a:srgbClr val="0000FF"/>
                </a:solidFill>
              </a:rPr>
              <a:t>l</a:t>
            </a:r>
            <a:r>
              <a:rPr lang="en-US" altLang="zh-CN" sz="2000" baseline="-30000">
                <a:solidFill>
                  <a:srgbClr val="0000FF"/>
                </a:solidFill>
              </a:rPr>
              <a:t>1</a:t>
            </a:r>
            <a:r>
              <a:rPr lang="en-US" altLang="zh-CN" sz="2000">
                <a:solidFill>
                  <a:srgbClr val="0000FF"/>
                </a:solidFill>
              </a:rPr>
              <a:t>) : (</a:t>
            </a:r>
            <a:r>
              <a:rPr lang="en-US" altLang="zh-CN" sz="2000" i="1">
                <a:solidFill>
                  <a:srgbClr val="0000FF"/>
                </a:solidFill>
              </a:rPr>
              <a:t>l</a:t>
            </a:r>
            <a:r>
              <a:rPr lang="en-US" altLang="zh-CN" sz="2000" baseline="-30000">
                <a:solidFill>
                  <a:srgbClr val="0000FF"/>
                </a:solidFill>
              </a:rPr>
              <a:t>1</a:t>
            </a:r>
            <a:r>
              <a:rPr lang="en-US" altLang="zh-CN" sz="2000" i="1">
                <a:solidFill>
                  <a:srgbClr val="0000FF"/>
                </a:solidFill>
              </a:rPr>
              <a:t>h</a:t>
            </a:r>
            <a:r>
              <a:rPr lang="en-US" altLang="zh-CN" sz="2000" baseline="-30000">
                <a:solidFill>
                  <a:srgbClr val="0000FF"/>
                </a:solidFill>
              </a:rPr>
              <a:t>2</a:t>
            </a:r>
            <a:r>
              <a:rPr lang="en-US" altLang="zh-CN" sz="2000">
                <a:solidFill>
                  <a:srgbClr val="0000FF"/>
                </a:solidFill>
              </a:rPr>
              <a:t> -</a:t>
            </a:r>
            <a:r>
              <a:rPr lang="en-US" altLang="zh-CN" sz="2000" i="1">
                <a:solidFill>
                  <a:srgbClr val="0000FF"/>
                </a:solidFill>
              </a:rPr>
              <a:t> l</a:t>
            </a:r>
            <a:r>
              <a:rPr lang="en-US" altLang="zh-CN" sz="2000" baseline="-30000">
                <a:solidFill>
                  <a:srgbClr val="0000FF"/>
                </a:solidFill>
              </a:rPr>
              <a:t>2</a:t>
            </a:r>
            <a:r>
              <a:rPr lang="en-US" altLang="zh-CN" sz="2000" i="1">
                <a:solidFill>
                  <a:srgbClr val="0000FF"/>
                </a:solidFill>
              </a:rPr>
              <a:t>h</a:t>
            </a:r>
            <a:r>
              <a:rPr lang="en-US" altLang="zh-CN" sz="2000" baseline="-30000">
                <a:solidFill>
                  <a:srgbClr val="0000FF"/>
                </a:solidFill>
              </a:rPr>
              <a:t>1</a:t>
            </a:r>
            <a:r>
              <a:rPr lang="en-US" altLang="zh-CN" sz="2000">
                <a:solidFill>
                  <a:srgbClr val="0000FF"/>
                </a:solidFill>
              </a:rPr>
              <a:t>) : (</a:t>
            </a:r>
            <a:r>
              <a:rPr lang="en-US" altLang="zh-CN" sz="2000" i="1">
                <a:solidFill>
                  <a:srgbClr val="0000FF"/>
                </a:solidFill>
              </a:rPr>
              <a:t>h</a:t>
            </a:r>
            <a:r>
              <a:rPr lang="en-US" altLang="zh-CN" sz="2000" baseline="-30000">
                <a:solidFill>
                  <a:srgbClr val="0000FF"/>
                </a:solidFill>
              </a:rPr>
              <a:t>1</a:t>
            </a:r>
            <a:r>
              <a:rPr lang="en-US" altLang="zh-CN" sz="2000" i="1">
                <a:solidFill>
                  <a:srgbClr val="0000FF"/>
                </a:solidFill>
              </a:rPr>
              <a:t>k</a:t>
            </a:r>
            <a:r>
              <a:rPr lang="en-US" altLang="zh-CN" sz="2000" baseline="-30000">
                <a:solidFill>
                  <a:srgbClr val="0000FF"/>
                </a:solidFill>
              </a:rPr>
              <a:t>2</a:t>
            </a:r>
            <a:r>
              <a:rPr lang="en-US" altLang="zh-CN" sz="2000">
                <a:solidFill>
                  <a:srgbClr val="0000FF"/>
                </a:solidFill>
              </a:rPr>
              <a:t> -</a:t>
            </a:r>
            <a:r>
              <a:rPr lang="en-US" altLang="zh-CN" sz="2000" i="1">
                <a:solidFill>
                  <a:srgbClr val="0000FF"/>
                </a:solidFill>
              </a:rPr>
              <a:t> h</a:t>
            </a:r>
            <a:r>
              <a:rPr lang="en-US" altLang="zh-CN" sz="2000" baseline="-30000">
                <a:solidFill>
                  <a:srgbClr val="0000FF"/>
                </a:solidFill>
              </a:rPr>
              <a:t>2</a:t>
            </a:r>
            <a:r>
              <a:rPr lang="en-US" altLang="zh-CN" sz="2000" i="1">
                <a:solidFill>
                  <a:srgbClr val="0000FF"/>
                </a:solidFill>
              </a:rPr>
              <a:t>k</a:t>
            </a:r>
            <a:r>
              <a:rPr lang="en-US" altLang="zh-CN" sz="2000" baseline="-30000">
                <a:solidFill>
                  <a:srgbClr val="0000FF"/>
                </a:solidFill>
              </a:rPr>
              <a:t>1</a:t>
            </a:r>
            <a:r>
              <a:rPr lang="en-US" altLang="zh-CN" sz="2000">
                <a:solidFill>
                  <a:srgbClr val="0000FF"/>
                </a:solidFill>
              </a:rPr>
              <a:t>)</a:t>
            </a:r>
          </a:p>
        </p:txBody>
      </p:sp>
      <p:sp>
        <p:nvSpPr>
          <p:cNvPr id="75782" name="Rectangle 6"/>
          <p:cNvSpPr>
            <a:spLocks noChangeArrowheads="1"/>
          </p:cNvSpPr>
          <p:nvPr/>
        </p:nvSpPr>
        <p:spPr bwMode="auto">
          <a:xfrm>
            <a:off x="280035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nvGrpSpPr>
          <p:cNvPr id="75793" name="Group 17"/>
          <p:cNvGrpSpPr/>
          <p:nvPr/>
        </p:nvGrpSpPr>
        <p:grpSpPr bwMode="auto">
          <a:xfrm>
            <a:off x="1143000" y="4837113"/>
            <a:ext cx="6400800" cy="1255712"/>
            <a:chOff x="720" y="2795"/>
            <a:chExt cx="4032" cy="791"/>
          </a:xfrm>
        </p:grpSpPr>
        <p:graphicFrame>
          <p:nvGraphicFramePr>
            <p:cNvPr id="75783" name="Object 7"/>
            <p:cNvGraphicFramePr>
              <a:graphicFrameLocks noChangeAspect="1"/>
            </p:cNvGraphicFramePr>
            <p:nvPr/>
          </p:nvGraphicFramePr>
          <p:xfrm>
            <a:off x="720" y="2795"/>
            <a:ext cx="4032" cy="791"/>
          </p:xfrm>
          <a:graphic>
            <a:graphicData uri="http://schemas.openxmlformats.org/presentationml/2006/ole">
              <mc:AlternateContent xmlns:mc="http://schemas.openxmlformats.org/markup-compatibility/2006">
                <mc:Choice xmlns:v="urn:schemas-microsoft-com:vml" Requires="v">
                  <p:oleObj spid="_x0000_s12833" r:id="rId4" imgW="3543300" imgH="698500" progId="Equation.3">
                    <p:embed/>
                  </p:oleObj>
                </mc:Choice>
                <mc:Fallback>
                  <p:oleObj r:id="rId4" imgW="3543300" imgH="698500" progId="Equation.3">
                    <p:embed/>
                    <p:pic>
                      <p:nvPicPr>
                        <p:cNvPr id="0" name="图片 125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 y="2795"/>
                          <a:ext cx="4032" cy="791"/>
                        </a:xfrm>
                        <a:prstGeom prst="rect">
                          <a:avLst/>
                        </a:prstGeom>
                        <a:solidFill>
                          <a:schemeClr val="bg1"/>
                        </a:solidFill>
                      </p:spPr>
                    </p:pic>
                  </p:oleObj>
                </mc:Fallback>
              </mc:AlternateContent>
            </a:graphicData>
          </a:graphic>
        </p:graphicFrame>
        <p:grpSp>
          <p:nvGrpSpPr>
            <p:cNvPr id="75792" name="Group 16"/>
            <p:cNvGrpSpPr/>
            <p:nvPr/>
          </p:nvGrpSpPr>
          <p:grpSpPr bwMode="auto">
            <a:xfrm>
              <a:off x="2352" y="3022"/>
              <a:ext cx="768" cy="152"/>
              <a:chOff x="2352" y="3150"/>
              <a:chExt cx="768" cy="152"/>
            </a:xfrm>
          </p:grpSpPr>
          <p:sp>
            <p:nvSpPr>
              <p:cNvPr id="75784" name="Line 8"/>
              <p:cNvSpPr>
                <a:spLocks noChangeShapeType="1"/>
              </p:cNvSpPr>
              <p:nvPr/>
            </p:nvSpPr>
            <p:spPr bwMode="auto">
              <a:xfrm>
                <a:off x="2352" y="3158"/>
                <a:ext cx="144" cy="144"/>
              </a:xfrm>
              <a:prstGeom prst="line">
                <a:avLst/>
              </a:prstGeom>
              <a:noFill/>
              <a:ln w="28575"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5" name="Line 9"/>
              <p:cNvSpPr>
                <a:spLocks noChangeShapeType="1"/>
              </p:cNvSpPr>
              <p:nvPr/>
            </p:nvSpPr>
            <p:spPr bwMode="auto">
              <a:xfrm flipV="1">
                <a:off x="2352" y="3158"/>
                <a:ext cx="144" cy="144"/>
              </a:xfrm>
              <a:prstGeom prst="line">
                <a:avLst/>
              </a:prstGeom>
              <a:noFill/>
              <a:ln w="28575"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6" name="Line 10"/>
              <p:cNvSpPr>
                <a:spLocks noChangeShapeType="1"/>
              </p:cNvSpPr>
              <p:nvPr/>
            </p:nvSpPr>
            <p:spPr bwMode="auto">
              <a:xfrm>
                <a:off x="2640" y="3150"/>
                <a:ext cx="144" cy="144"/>
              </a:xfrm>
              <a:prstGeom prst="line">
                <a:avLst/>
              </a:prstGeom>
              <a:noFill/>
              <a:ln w="28575"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7" name="Line 11"/>
              <p:cNvSpPr>
                <a:spLocks noChangeShapeType="1"/>
              </p:cNvSpPr>
              <p:nvPr/>
            </p:nvSpPr>
            <p:spPr bwMode="auto">
              <a:xfrm flipV="1">
                <a:off x="2640" y="3158"/>
                <a:ext cx="144" cy="144"/>
              </a:xfrm>
              <a:prstGeom prst="line">
                <a:avLst/>
              </a:prstGeom>
              <a:noFill/>
              <a:ln w="28575"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8" name="Line 12"/>
              <p:cNvSpPr>
                <a:spLocks noChangeShapeType="1"/>
              </p:cNvSpPr>
              <p:nvPr/>
            </p:nvSpPr>
            <p:spPr bwMode="auto">
              <a:xfrm>
                <a:off x="2976" y="3158"/>
                <a:ext cx="144" cy="144"/>
              </a:xfrm>
              <a:prstGeom prst="line">
                <a:avLst/>
              </a:prstGeom>
              <a:noFill/>
              <a:ln w="28575"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9" name="Line 13"/>
              <p:cNvSpPr>
                <a:spLocks noChangeShapeType="1"/>
              </p:cNvSpPr>
              <p:nvPr/>
            </p:nvSpPr>
            <p:spPr bwMode="auto">
              <a:xfrm flipV="1">
                <a:off x="2976" y="3158"/>
                <a:ext cx="144" cy="144"/>
              </a:xfrm>
              <a:prstGeom prst="line">
                <a:avLst/>
              </a:prstGeom>
              <a:noFill/>
              <a:ln w="28575"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931224" cy="1371600"/>
          </a:xfrm>
        </p:spPr>
        <p:txBody>
          <a:bodyPr vert="horz" lIns="91440" tIns="45720" rIns="91440" bIns="45720" rtlCol="0" anchor="b">
            <a:normAutofit/>
          </a:bodyPr>
          <a:lstStyle/>
          <a:p>
            <a:r>
              <a:rPr altLang="zh-CN" sz="2800" dirty="0"/>
              <a:t>practice</a:t>
            </a:r>
            <a:r>
              <a:rPr lang="en-US" altLang="zh-CN" sz="2800" dirty="0"/>
              <a:t>11</a:t>
            </a:r>
            <a:r>
              <a:rPr lang="zh-CN" altLang="en-US" sz="2800" dirty="0"/>
              <a:t>： </a:t>
            </a:r>
            <a:r>
              <a:rPr lang="fr-FR" sz="2800" dirty="0" err="1"/>
              <a:t>Appl</a:t>
            </a:r>
            <a:r>
              <a:rPr lang="fr-FR" sz="2800" dirty="0"/>
              <a:t>. Phys. </a:t>
            </a:r>
            <a:r>
              <a:rPr lang="fr-FR" sz="2800" dirty="0" err="1"/>
              <a:t>Lett</a:t>
            </a:r>
            <a:r>
              <a:rPr lang="fr-FR" sz="2800" dirty="0"/>
              <a:t>. 100, 103111 (2012)</a:t>
            </a:r>
            <a:endParaRPr lang="en-US" sz="2800" dirty="0"/>
          </a:p>
        </p:txBody>
      </p:sp>
      <p:pic>
        <p:nvPicPr>
          <p:cNvPr id="133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59301"/>
          <a:stretch/>
        </p:blipFill>
        <p:spPr bwMode="auto">
          <a:xfrm>
            <a:off x="683569" y="1700808"/>
            <a:ext cx="2880320"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555776" y="5601167"/>
            <a:ext cx="1008112" cy="4644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1960" y="1476319"/>
            <a:ext cx="3672408" cy="4357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rot="16200000">
            <a:off x="4626720" y="3584602"/>
            <a:ext cx="883430" cy="400110"/>
          </a:xfrm>
          <a:prstGeom prst="rect">
            <a:avLst/>
          </a:prstGeom>
          <a:solidFill>
            <a:schemeClr val="bg1"/>
          </a:solidFill>
        </p:spPr>
        <p:txBody>
          <a:bodyPr wrap="square" rtlCol="0">
            <a:spAutoFit/>
          </a:bodyPr>
          <a:lstStyle/>
          <a:p>
            <a:r>
              <a:rPr lang="en-US" sz="2000" b="1" dirty="0"/>
              <a:t>(01-1)</a:t>
            </a:r>
          </a:p>
        </p:txBody>
      </p:sp>
      <p:sp>
        <p:nvSpPr>
          <p:cNvPr id="7" name="TextBox 6"/>
          <p:cNvSpPr txBox="1"/>
          <p:nvPr/>
        </p:nvSpPr>
        <p:spPr>
          <a:xfrm rot="21373717">
            <a:off x="5764599" y="3673645"/>
            <a:ext cx="883430" cy="400110"/>
          </a:xfrm>
          <a:prstGeom prst="rect">
            <a:avLst/>
          </a:prstGeom>
          <a:solidFill>
            <a:schemeClr val="bg1"/>
          </a:solidFill>
        </p:spPr>
        <p:txBody>
          <a:bodyPr wrap="square" rtlCol="0">
            <a:spAutoFit/>
          </a:bodyPr>
          <a:lstStyle/>
          <a:p>
            <a:r>
              <a:rPr lang="en-US" sz="2000" b="1" dirty="0"/>
              <a:t>(-201)</a:t>
            </a:r>
          </a:p>
        </p:txBody>
      </p:sp>
      <p:sp>
        <p:nvSpPr>
          <p:cNvPr id="6" name="Parallelogram 5"/>
          <p:cNvSpPr/>
          <p:nvPr/>
        </p:nvSpPr>
        <p:spPr>
          <a:xfrm>
            <a:off x="4887802" y="5479569"/>
            <a:ext cx="1944216" cy="122413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814117" y="6076184"/>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156182" y="6052369"/>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854399" y="6414552"/>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793976" y="5766013"/>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6216936" y="6394661"/>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6108444" y="5756964"/>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443263" y="6108585"/>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5487833" y="6434693"/>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427410" y="5786154"/>
            <a:ext cx="100064" cy="10494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5859910" y="5228526"/>
            <a:ext cx="0" cy="910723"/>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grpId="0" nodeType="clickEffect">
                                  <p:stCondLst>
                                    <p:cond delay="0"/>
                                  </p:stCondLst>
                                  <p:childTnLst>
                                    <p:animEffect transition="out" filter="circle(out)">
                                      <p:cBhvr>
                                        <p:cTn id="6" dur="2000"/>
                                        <p:tgtEl>
                                          <p:spTgt spid="3"/>
                                        </p:tgtEl>
                                      </p:cBhvr>
                                    </p:animEffect>
                                    <p:set>
                                      <p:cBhvr>
                                        <p:cTn id="7" dur="1" fill="hold">
                                          <p:stCondLst>
                                            <p:cond delay="1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1844824"/>
            <a:ext cx="4392488" cy="44405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57200" y="152400"/>
            <a:ext cx="7931224" cy="1371600"/>
          </a:xfrm>
        </p:spPr>
        <p:txBody>
          <a:bodyPr>
            <a:normAutofit/>
          </a:bodyPr>
          <a:lstStyle/>
          <a:p>
            <a:r>
              <a:rPr altLang="zh-CN" sz="2800" dirty="0"/>
              <a:t>practice</a:t>
            </a:r>
            <a:r>
              <a:rPr lang="en-US" altLang="zh-CN" sz="2800" dirty="0"/>
              <a:t>12</a:t>
            </a:r>
            <a:r>
              <a:rPr lang="zh-CN" altLang="en-US" sz="2800" dirty="0"/>
              <a:t>： </a:t>
            </a:r>
            <a:r>
              <a:rPr lang="it-IT" sz="2800" i="1" dirty="0"/>
              <a:t>ACS Nano 3 (2009) 53 </a:t>
            </a:r>
            <a:endParaRPr lang="en-US" sz="2800" i="1" dirty="0"/>
          </a:p>
        </p:txBody>
      </p:sp>
      <p:sp>
        <p:nvSpPr>
          <p:cNvPr id="3" name="Rectangle 2"/>
          <p:cNvSpPr/>
          <p:nvPr/>
        </p:nvSpPr>
        <p:spPr>
          <a:xfrm>
            <a:off x="4067944" y="3717032"/>
            <a:ext cx="2448272" cy="4644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Zone Axis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grpId="0" nodeType="clickEffect">
                                  <p:stCondLst>
                                    <p:cond delay="0"/>
                                  </p:stCondLst>
                                  <p:childTnLst>
                                    <p:animEffect transition="out" filter="circle(out)">
                                      <p:cBhvr>
                                        <p:cTn id="6" dur="2000"/>
                                        <p:tgtEl>
                                          <p:spTgt spid="3"/>
                                        </p:tgtEl>
                                      </p:cBhvr>
                                    </p:animEffect>
                                    <p:set>
                                      <p:cBhvr>
                                        <p:cTn id="7" dur="1" fill="hold">
                                          <p:stCondLst>
                                            <p:cond delay="1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52400"/>
            <a:ext cx="8784976" cy="1371600"/>
          </a:xfrm>
        </p:spPr>
        <p:txBody>
          <a:bodyPr>
            <a:normAutofit/>
          </a:bodyPr>
          <a:lstStyle/>
          <a:p>
            <a:r>
              <a:rPr altLang="zh-CN" sz="2800" dirty="0"/>
              <a:t>practice</a:t>
            </a:r>
            <a:r>
              <a:rPr lang="en-US" altLang="zh-CN" sz="2800" dirty="0"/>
              <a:t>13</a:t>
            </a:r>
            <a:r>
              <a:rPr lang="zh-CN" altLang="en-US" sz="2800" dirty="0"/>
              <a:t>： </a:t>
            </a:r>
            <a:r>
              <a:rPr lang="en-US" altLang="zh-CN" sz="2800" dirty="0"/>
              <a:t>J. Phys. Chem. C 115 (2011) 78 </a:t>
            </a:r>
            <a:endParaRPr lang="zh-CN" altLang="en-US" sz="2800"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1700808"/>
            <a:ext cx="6264696" cy="4778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07504" y="1700808"/>
            <a:ext cx="2304256" cy="2677656"/>
          </a:xfrm>
          <a:prstGeom prst="rect">
            <a:avLst/>
          </a:prstGeom>
          <a:noFill/>
        </p:spPr>
        <p:txBody>
          <a:bodyPr wrap="square" rtlCol="0">
            <a:spAutoFit/>
          </a:bodyPr>
          <a:lstStyle/>
          <a:p>
            <a:r>
              <a:rPr lang="en-US" b="1" dirty="0"/>
              <a:t>Please give the calculation process to show how to get the zone axis in Figure b, c, f, and 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body" idx="1"/>
          </p:nvPr>
        </p:nvSpPr>
        <p:spPr>
          <a:xfrm>
            <a:off x="755650" y="2465388"/>
            <a:ext cx="7869238" cy="2692400"/>
          </a:xfrm>
        </p:spPr>
        <p:txBody>
          <a:bodyPr/>
          <a:lstStyle/>
          <a:p>
            <a:pPr>
              <a:lnSpc>
                <a:spcPct val="120000"/>
              </a:lnSpc>
            </a:pPr>
            <a:r>
              <a:rPr lang="en-US" altLang="zh-CN" sz="2400" b="1" dirty="0"/>
              <a:t> </a:t>
            </a:r>
            <a:endParaRPr lang="zh-CN" altLang="en-US" sz="2400" dirty="0"/>
          </a:p>
        </p:txBody>
      </p:sp>
      <p:sp>
        <p:nvSpPr>
          <p:cNvPr id="81924" name="Rectangle 4"/>
          <p:cNvSpPr>
            <a:spLocks noChangeArrowheads="1"/>
          </p:cNvSpPr>
          <p:nvPr/>
        </p:nvSpPr>
        <p:spPr bwMode="auto">
          <a:xfrm>
            <a:off x="827088" y="908720"/>
            <a:ext cx="7772400" cy="4967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r">
              <a:defRPr sz="4400">
                <a:solidFill>
                  <a:schemeClr val="tx2"/>
                </a:solidFill>
                <a:latin typeface="Arial" panose="020B0604020202020204" pitchFamily="34" charset="0"/>
                <a:ea typeface="宋体" panose="02010600030101010101" pitchFamily="2" charset="-122"/>
              </a:defRPr>
            </a:lvl1pPr>
            <a:lvl2pPr algn="r">
              <a:defRPr sz="4400">
                <a:solidFill>
                  <a:schemeClr val="tx2"/>
                </a:solidFill>
                <a:latin typeface="Arial" panose="020B0604020202020204" pitchFamily="34" charset="0"/>
                <a:ea typeface="宋体" panose="02010600030101010101" pitchFamily="2" charset="-122"/>
              </a:defRPr>
            </a:lvl2pPr>
            <a:lvl3pPr algn="r">
              <a:defRPr sz="4400">
                <a:solidFill>
                  <a:schemeClr val="tx2"/>
                </a:solidFill>
                <a:latin typeface="Arial" panose="020B0604020202020204" pitchFamily="34" charset="0"/>
                <a:ea typeface="宋体" panose="02010600030101010101" pitchFamily="2" charset="-122"/>
              </a:defRPr>
            </a:lvl3pPr>
            <a:lvl4pPr algn="r">
              <a:defRPr sz="4400">
                <a:solidFill>
                  <a:schemeClr val="tx2"/>
                </a:solidFill>
                <a:latin typeface="Arial" panose="020B0604020202020204" pitchFamily="34" charset="0"/>
                <a:ea typeface="宋体" panose="02010600030101010101" pitchFamily="2" charset="-122"/>
              </a:defRPr>
            </a:lvl4pPr>
            <a:lvl5pPr algn="r">
              <a:defRPr sz="4400">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b="1" dirty="0">
                <a:solidFill>
                  <a:srgbClr val="FF0066"/>
                </a:solidFill>
                <a:effectLst>
                  <a:outerShdw blurRad="38100" dist="38100" dir="2700000" algn="tl">
                    <a:srgbClr val="000000">
                      <a:alpha val="43137"/>
                    </a:srgbClr>
                  </a:outerShdw>
                </a:effectLst>
                <a:latin typeface="Times New Roman" panose="02020603050405020304" pitchFamily="18" charset="0"/>
                <a:ea typeface="+mn-ea"/>
              </a:rPr>
              <a:t>Highlights</a:t>
            </a:r>
            <a:r>
              <a:rPr lang="zh-CN" altLang="en-US" b="1" dirty="0">
                <a:solidFill>
                  <a:srgbClr val="FF0066"/>
                </a:solidFill>
                <a:effectLst>
                  <a:outerShdw blurRad="38100" dist="38100" dir="2700000" algn="tl">
                    <a:srgbClr val="000000">
                      <a:alpha val="43137"/>
                    </a:srgbClr>
                  </a:outerShdw>
                </a:effectLst>
                <a:latin typeface="Times New Roman" panose="02020603050405020304" pitchFamily="18" charset="0"/>
                <a:ea typeface="+mn-ea"/>
              </a:rPr>
              <a:t>：</a:t>
            </a:r>
            <a:endParaRPr lang="en-US" altLang="zh-CN" b="1" dirty="0">
              <a:solidFill>
                <a:srgbClr val="FF0066"/>
              </a:solidFill>
              <a:effectLst>
                <a:outerShdw blurRad="38100" dist="38100" dir="2700000" algn="tl">
                  <a:srgbClr val="000000">
                    <a:alpha val="43137"/>
                  </a:srgbClr>
                </a:outerShdw>
              </a:effectLst>
              <a:latin typeface="Times New Roman" panose="02020603050405020304" pitchFamily="18" charset="0"/>
              <a:ea typeface="+mn-ea"/>
            </a:endParaRPr>
          </a:p>
          <a:p>
            <a:pPr algn="l"/>
            <a:endParaRPr lang="en-US" altLang="zh-CN" b="1" dirty="0">
              <a:solidFill>
                <a:srgbClr val="CC3300"/>
              </a:solidFill>
              <a:effectLst>
                <a:outerShdw blurRad="38100" dist="38100" dir="2700000" algn="tl">
                  <a:srgbClr val="C0C0C0"/>
                </a:outerShdw>
              </a:effectLst>
            </a:endParaRPr>
          </a:p>
          <a:p>
            <a:pPr marL="514350" indent="-514350" algn="l">
              <a:buFont typeface="+mj-lt"/>
              <a:buAutoNum type="arabicPeriod"/>
            </a:pPr>
            <a:r>
              <a:rPr lang="en-US" altLang="zh-CN" sz="2800" dirty="0">
                <a:solidFill>
                  <a:schemeClr val="tx1"/>
                </a:solidFill>
              </a:rPr>
              <a:t>The defination of unit cell</a:t>
            </a:r>
            <a:r>
              <a:rPr lang="zh-CN" altLang="en-US" sz="2400" dirty="0">
                <a:solidFill>
                  <a:schemeClr val="tx1"/>
                </a:solidFill>
              </a:rPr>
              <a:t>；</a:t>
            </a:r>
          </a:p>
          <a:p>
            <a:pPr marL="514350" indent="-514350" algn="l">
              <a:buFont typeface="+mj-lt"/>
              <a:buAutoNum type="arabicPeriod"/>
            </a:pPr>
            <a:r>
              <a:rPr lang="en-US" altLang="zh-CN" sz="2800" dirty="0">
                <a:solidFill>
                  <a:schemeClr val="tx1"/>
                </a:solidFill>
              </a:rPr>
              <a:t>7</a:t>
            </a:r>
            <a:r>
              <a:rPr lang="zh-CN" altLang="en-US" sz="2800" dirty="0">
                <a:solidFill>
                  <a:schemeClr val="tx1"/>
                </a:solidFill>
              </a:rPr>
              <a:t> </a:t>
            </a:r>
            <a:r>
              <a:rPr lang="en-US" altLang="zh-CN" sz="2800" dirty="0">
                <a:solidFill>
                  <a:schemeClr val="tx1"/>
                </a:solidFill>
              </a:rPr>
              <a:t>crystal systems, 14 Bravais lattices</a:t>
            </a:r>
            <a:r>
              <a:rPr lang="zh-CN" altLang="en-US" sz="2400" dirty="0">
                <a:solidFill>
                  <a:schemeClr val="tx1"/>
                </a:solidFill>
              </a:rPr>
              <a:t>；</a:t>
            </a:r>
          </a:p>
          <a:p>
            <a:pPr marL="514350" indent="-514350" algn="l">
              <a:buFont typeface="+mj-lt"/>
              <a:buAutoNum type="arabicPeriod"/>
            </a:pPr>
            <a:r>
              <a:rPr lang="en-US" altLang="zh-CN" sz="2800" dirty="0">
                <a:solidFill>
                  <a:schemeClr val="tx1"/>
                </a:solidFill>
              </a:rPr>
              <a:t>Indexing of crystallographic planes and directions</a:t>
            </a:r>
            <a:r>
              <a:rPr lang="zh-CN" altLang="en-US" sz="2400" dirty="0">
                <a:solidFill>
                  <a:schemeClr val="tx1"/>
                </a:solidFill>
              </a:rPr>
              <a:t>；</a:t>
            </a:r>
          </a:p>
          <a:p>
            <a:pPr marL="514350" indent="-514350" algn="l">
              <a:buFont typeface="+mj-lt"/>
              <a:buAutoNum type="arabicPeriod"/>
            </a:pPr>
            <a:r>
              <a:rPr lang="en-US" altLang="zh-CN" sz="2800" dirty="0">
                <a:solidFill>
                  <a:schemeClr val="tx1"/>
                </a:solidFill>
              </a:rPr>
              <a:t>Indexing of the hexagonal crystal system based on 4-vector coordinate system and 3-vector coordinate system;</a:t>
            </a:r>
            <a:endParaRPr lang="en-US" altLang="zh-CN" sz="2400" dirty="0">
              <a:solidFill>
                <a:schemeClr val="tx1"/>
              </a:solidFill>
            </a:endParaRPr>
          </a:p>
          <a:p>
            <a:pPr marL="514350" indent="-514350" algn="l">
              <a:buFont typeface="+mj-lt"/>
              <a:buAutoNum type="arabicPeriod"/>
            </a:pPr>
            <a:r>
              <a:rPr lang="en-US" altLang="zh-CN" sz="2800" dirty="0">
                <a:solidFill>
                  <a:schemeClr val="tx1"/>
                </a:solidFill>
              </a:rPr>
              <a:t>Zone law and its applications.</a:t>
            </a:r>
          </a:p>
          <a:p>
            <a:pPr algn="l"/>
            <a:endParaRPr lang="zh-CN" altLang="en-US" b="1" dirty="0">
              <a:solidFill>
                <a:srgbClr val="CC3300"/>
              </a:solidFill>
              <a:effectLst>
                <a:outerShdw blurRad="38100" dist="38100" dir="2700000" algn="tl">
                  <a:srgbClr val="C0C0C0"/>
                </a:outerShdw>
              </a:effectLs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zh-CN" altLang="en-US" dirty="0"/>
              <a:t>H</a:t>
            </a:r>
            <a:r>
              <a:rPr altLang="zh-CN" dirty="0"/>
              <a:t>omework</a:t>
            </a:r>
          </a:p>
        </p:txBody>
      </p:sp>
      <p:sp>
        <p:nvSpPr>
          <p:cNvPr id="3" name="Content Placeholder 2"/>
          <p:cNvSpPr>
            <a:spLocks noGrp="1"/>
          </p:cNvSpPr>
          <p:nvPr>
            <p:ph idx="1"/>
          </p:nvPr>
        </p:nvSpPr>
        <p:spPr/>
        <p:txBody>
          <a:bodyPr/>
          <a:lstStyle/>
          <a:p>
            <a:r>
              <a:rPr lang="en-US" sz="3200" dirty="0"/>
              <a:t>1. Practice 1-13 in this </a:t>
            </a:r>
            <a:r>
              <a:rPr lang="en-US" altLang="zh-CN" sz="3200" dirty="0"/>
              <a:t>PPT</a:t>
            </a:r>
            <a:r>
              <a:rPr lang="zh-CN" altLang="en-US" sz="3200" dirty="0"/>
              <a:t>；</a:t>
            </a:r>
            <a:endParaRPr lang="en-US" altLang="zh-CN" sz="3200" dirty="0"/>
          </a:p>
          <a:p>
            <a:endParaRPr lang="en-US" sz="3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19"/>
            <a:ext cx="6851104" cy="1371600"/>
          </a:xfrm>
        </p:spPr>
        <p:txBody>
          <a:bodyPr>
            <a:normAutofit/>
          </a:bodyPr>
          <a:lstStyle/>
          <a:p>
            <a:r>
              <a:rPr lang="en-US" sz="3600" b="0" dirty="0">
                <a:effectLst/>
              </a:rPr>
              <a:t>Stanford University</a:t>
            </a:r>
            <a:endParaRPr lang="en-US" sz="3600"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628800"/>
            <a:ext cx="4584721" cy="3381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1772816"/>
            <a:ext cx="5255052" cy="3528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4762500"/>
            <a:ext cx="838200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arn(inVertical)">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barn(inVertical)">
                                      <p:cBhvr>
                                        <p:cTn id="12" dur="500"/>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8132</TotalTime>
  <Words>6462</Words>
  <Application>Microsoft Office PowerPoint</Application>
  <PresentationFormat>全屏显示(4:3)</PresentationFormat>
  <Paragraphs>729</Paragraphs>
  <Slides>80</Slides>
  <Notes>42</Notes>
  <HiddenSlides>7</HiddenSlides>
  <MMClips>4</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80</vt:i4>
      </vt:variant>
    </vt:vector>
  </HeadingPairs>
  <TitlesOfParts>
    <vt:vector size="94" baseType="lpstr">
      <vt:lpstr>Dutch801 BT</vt:lpstr>
      <vt:lpstr>黑体</vt:lpstr>
      <vt:lpstr>宋体</vt:lpstr>
      <vt:lpstr>微软雅黑</vt:lpstr>
      <vt:lpstr>Arial</vt:lpstr>
      <vt:lpstr>Arial Black</vt:lpstr>
      <vt:lpstr>Calibri</vt:lpstr>
      <vt:lpstr>Cambria Math</vt:lpstr>
      <vt:lpstr>Symbol</vt:lpstr>
      <vt:lpstr>Times New Roman</vt:lpstr>
      <vt:lpstr>Verdana</vt:lpstr>
      <vt:lpstr>Wingdings</vt:lpstr>
      <vt:lpstr>Essential</vt:lpstr>
      <vt:lpstr>Equation.3</vt:lpstr>
      <vt:lpstr>Why the pulling method involves a rotation operation when it is applied on the growth of Si crystals? </vt:lpstr>
      <vt:lpstr>Chapter 3 Classification of space lattice and crystallographic symbols </vt:lpstr>
      <vt:lpstr>PowerPoint 演示文稿</vt:lpstr>
      <vt:lpstr>Motif and Lattice</vt:lpstr>
      <vt:lpstr>PowerPoint 演示文稿</vt:lpstr>
      <vt:lpstr>PowerPoint 演示文稿</vt:lpstr>
      <vt:lpstr>PowerPoint 演示文稿</vt:lpstr>
      <vt:lpstr>Primitive Cell and Wigner-Seitz Cell</vt:lpstr>
      <vt:lpstr>PowerPoint 演示文稿</vt:lpstr>
      <vt:lpstr>Primitive cell and unit cell</vt:lpstr>
      <vt:lpstr>PowerPoint 演示文稿</vt:lpstr>
      <vt:lpstr>PowerPoint 演示文稿</vt:lpstr>
      <vt:lpstr>PowerPoint 演示文稿</vt:lpstr>
      <vt:lpstr>PowerPoint 演示文稿</vt:lpstr>
      <vt:lpstr>Practice 2：choose the unit cell of  2-D hexagonal lattice</vt:lpstr>
      <vt:lpstr>PowerPoint 演示文稿</vt:lpstr>
      <vt:lpstr>PowerPoint 演示文稿</vt:lpstr>
      <vt:lpstr>Primitive cell and unit cell of cubic crystal systems (FCC and BCC)</vt:lpstr>
      <vt:lpstr> 24 distinct forms of wigner-seitz cells</vt:lpstr>
      <vt:lpstr>PowerPoint 演示文稿</vt:lpstr>
      <vt:lpstr>PowerPoint 演示文稿</vt:lpstr>
      <vt:lpstr>PowerPoint 演示文稿</vt:lpstr>
      <vt:lpstr>5． Lattice type and the distribution of lattice points in parallelepipeds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Homework</vt:lpstr>
      <vt:lpstr>PowerPoint 演示文稿</vt:lpstr>
      <vt:lpstr>Elements of NaCl crystals</vt:lpstr>
      <vt:lpstr>PowerPoint 演示文稿</vt:lpstr>
      <vt:lpstr>PowerPoint 演示文稿</vt:lpstr>
      <vt:lpstr>PowerPoint 演示文稿</vt:lpstr>
      <vt:lpstr>PowerPoint 演示文稿</vt:lpstr>
      <vt:lpstr> 2. Denotation of crystallographic direction</vt:lpstr>
      <vt:lpstr>PowerPoint 演示文稿</vt:lpstr>
      <vt:lpstr>Denotation of crystallographic directions</vt:lpstr>
      <vt:lpstr>DEnotation of crystallographic directions</vt:lpstr>
      <vt:lpstr>Practice4：DEnotation of crystallographic directions</vt:lpstr>
      <vt:lpstr>PowerPoint 演示文稿</vt:lpstr>
      <vt:lpstr>PowerPoint 演示文稿</vt:lpstr>
      <vt:lpstr>Denotation of crystallographic planes</vt:lpstr>
      <vt:lpstr>group of planes</vt:lpstr>
      <vt:lpstr>group of planes</vt:lpstr>
      <vt:lpstr>PowerPoint 演示文稿</vt:lpstr>
      <vt:lpstr>PowerPoint 演示文稿</vt:lpstr>
      <vt:lpstr>Denotation of plane </vt:lpstr>
      <vt:lpstr>Practice5：denotation of plane </vt:lpstr>
      <vt:lpstr>PowerPoint 演示文稿</vt:lpstr>
      <vt:lpstr>Tips for denotation of plane </vt:lpstr>
      <vt:lpstr>PowerPoint 演示文稿</vt:lpstr>
      <vt:lpstr>PowerPoint 演示文稿</vt:lpstr>
      <vt:lpstr>2. Index of direactions and planes in hexagonal crystal system</vt:lpstr>
      <vt:lpstr>PowerPoint 演示文稿</vt:lpstr>
      <vt:lpstr>Index of directions and planes in hexagonal crystal system</vt:lpstr>
      <vt:lpstr>Index of directions and planes in  hexagonal crystal system</vt:lpstr>
      <vt:lpstr>PowerPoint 演示文稿</vt:lpstr>
      <vt:lpstr>Index of directions and planes in  hexagonal crystal system</vt:lpstr>
      <vt:lpstr>Index of directions and planes in  hexagonal crystal system</vt:lpstr>
      <vt:lpstr>Index of directions and planes in  hexagonal crystal system</vt:lpstr>
      <vt:lpstr>Index of directions and planes in  hexagonal crystal system</vt:lpstr>
      <vt:lpstr>3. Integer law and zone law</vt:lpstr>
      <vt:lpstr>PowerPoint 演示文稿</vt:lpstr>
      <vt:lpstr>Zone（晶带） &amp; Zone axis（晶带轴）</vt:lpstr>
      <vt:lpstr>Zone &amp; Zone axis</vt:lpstr>
      <vt:lpstr>zone law (晶带定律)</vt:lpstr>
      <vt:lpstr>zone law (晶带定律)</vt:lpstr>
      <vt:lpstr>Applications of zone law</vt:lpstr>
      <vt:lpstr>Applications of zone law</vt:lpstr>
      <vt:lpstr>practice11： Appl. Phys. Lett. 100, 103111 (2012)</vt:lpstr>
      <vt:lpstr>practice12： ACS Nano 3 (2009) 53 </vt:lpstr>
      <vt:lpstr>practice13： J. Phys. Chem. C 115 (2011) 78 </vt:lpstr>
      <vt:lpstr>PowerPoint 演示文稿</vt:lpstr>
      <vt:lpstr>Homework</vt:lpstr>
      <vt:lpstr>Stanford University</vt:lpstr>
    </vt:vector>
  </TitlesOfParts>
  <Company>PKU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sqin</dc:creator>
  <cp:lastModifiedBy>cheng chun</cp:lastModifiedBy>
  <cp:revision>850</cp:revision>
  <dcterms:created xsi:type="dcterms:W3CDTF">2001-02-12T06:44:00Z</dcterms:created>
  <dcterms:modified xsi:type="dcterms:W3CDTF">2021-11-02T03:30:54Z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