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331" r:id="rId2"/>
    <p:sldId id="332" r:id="rId3"/>
    <p:sldId id="382" r:id="rId4"/>
    <p:sldId id="383" r:id="rId5"/>
    <p:sldId id="361" r:id="rId6"/>
    <p:sldId id="257" r:id="rId7"/>
    <p:sldId id="286" r:id="rId8"/>
    <p:sldId id="287" r:id="rId9"/>
    <p:sldId id="288" r:id="rId10"/>
    <p:sldId id="363" r:id="rId11"/>
    <p:sldId id="392" r:id="rId12"/>
    <p:sldId id="259" r:id="rId13"/>
    <p:sldId id="381" r:id="rId14"/>
    <p:sldId id="290" r:id="rId15"/>
    <p:sldId id="365" r:id="rId16"/>
    <p:sldId id="393" r:id="rId17"/>
    <p:sldId id="266" r:id="rId18"/>
    <p:sldId id="303" r:id="rId19"/>
    <p:sldId id="304" r:id="rId20"/>
    <p:sldId id="305" r:id="rId21"/>
    <p:sldId id="364" r:id="rId22"/>
    <p:sldId id="289" r:id="rId23"/>
    <p:sldId id="394" r:id="rId24"/>
    <p:sldId id="260" r:id="rId25"/>
    <p:sldId id="395" r:id="rId26"/>
    <p:sldId id="362" r:id="rId27"/>
    <p:sldId id="396" r:id="rId28"/>
    <p:sldId id="366" r:id="rId29"/>
    <p:sldId id="263" r:id="rId30"/>
    <p:sldId id="369" r:id="rId31"/>
    <p:sldId id="367" r:id="rId32"/>
    <p:sldId id="285" r:id="rId33"/>
    <p:sldId id="265" r:id="rId34"/>
    <p:sldId id="264" r:id="rId35"/>
    <p:sldId id="370" r:id="rId36"/>
    <p:sldId id="371" r:id="rId37"/>
    <p:sldId id="374" r:id="rId38"/>
    <p:sldId id="268" r:id="rId39"/>
    <p:sldId id="269" r:id="rId40"/>
    <p:sldId id="387" r:id="rId41"/>
    <p:sldId id="389" r:id="rId42"/>
    <p:sldId id="348" r:id="rId43"/>
    <p:sldId id="398" r:id="rId44"/>
    <p:sldId id="339" r:id="rId45"/>
    <p:sldId id="270" r:id="rId46"/>
    <p:sldId id="271" r:id="rId47"/>
    <p:sldId id="390" r:id="rId48"/>
    <p:sldId id="399" r:id="rId49"/>
    <p:sldId id="340" r:id="rId50"/>
    <p:sldId id="272" r:id="rId51"/>
    <p:sldId id="400" r:id="rId52"/>
    <p:sldId id="386" r:id="rId53"/>
    <p:sldId id="349" r:id="rId54"/>
    <p:sldId id="403" r:id="rId55"/>
    <p:sldId id="402" r:id="rId56"/>
    <p:sldId id="404" r:id="rId57"/>
    <p:sldId id="384" r:id="rId58"/>
    <p:sldId id="274" r:id="rId59"/>
    <p:sldId id="406" r:id="rId60"/>
    <p:sldId id="275" r:id="rId61"/>
    <p:sldId id="276" r:id="rId62"/>
    <p:sldId id="407" r:id="rId63"/>
    <p:sldId id="277" r:id="rId64"/>
    <p:sldId id="333" r:id="rId65"/>
    <p:sldId id="278" r:id="rId66"/>
    <p:sldId id="320" r:id="rId67"/>
    <p:sldId id="321" r:id="rId68"/>
    <p:sldId id="322" r:id="rId69"/>
    <p:sldId id="419" r:id="rId70"/>
    <p:sldId id="414" r:id="rId71"/>
    <p:sldId id="421" r:id="rId72"/>
    <p:sldId id="420" r:id="rId73"/>
    <p:sldId id="408" r:id="rId74"/>
    <p:sldId id="324" r:id="rId75"/>
    <p:sldId id="325" r:id="rId76"/>
    <p:sldId id="330" r:id="rId77"/>
    <p:sldId id="373" r:id="rId78"/>
    <p:sldId id="327" r:id="rId79"/>
    <p:sldId id="328" r:id="rId80"/>
    <p:sldId id="415" r:id="rId81"/>
    <p:sldId id="416" r:id="rId82"/>
    <p:sldId id="417" r:id="rId83"/>
    <p:sldId id="418" r:id="rId84"/>
    <p:sldId id="282" r:id="rId85"/>
    <p:sldId id="283" r:id="rId86"/>
    <p:sldId id="378" r:id="rId87"/>
    <p:sldId id="338" r:id="rId88"/>
  </p:sldIdLst>
  <p:sldSz cx="9144000" cy="6858000" type="screen4x3"/>
  <p:notesSz cx="6858000" cy="9144000"/>
  <p:defaultTextStyle>
    <a:defPPr>
      <a:defRPr lang="zh-CN"/>
    </a:defPPr>
    <a:lvl1pPr algn="l" rtl="0" fontAlgn="base">
      <a:spcBef>
        <a:spcPct val="0"/>
      </a:spcBef>
      <a:spcAft>
        <a:spcPct val="0"/>
      </a:spcAft>
      <a:defRPr kumimoji="1" sz="4400" b="1"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4400" b="1"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4400" b="1"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4400" b="1"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4400" b="1"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4400" b="1"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4400" b="1"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4400" b="1"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44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9900FF"/>
    <a:srgbClr val="00CC99"/>
    <a:srgbClr val="FFCC66"/>
    <a:srgbClr val="FFFF66"/>
    <a:srgbClr val="99FFCC"/>
    <a:srgbClr val="993366"/>
    <a:srgbClr val="006699"/>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83E17E-3370-7343-8683-B52919A66E9A}" v="2" dt="2022-01-03T07:38:48.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09"/>
  </p:normalViewPr>
  <p:slideViewPr>
    <p:cSldViewPr snapToGrid="0">
      <p:cViewPr varScale="1">
        <p:scale>
          <a:sx n="100" d="100"/>
          <a:sy n="100" d="100"/>
        </p:scale>
        <p:origin x="1864" y="1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ip Zhan" userId="fd0cb2f6-9dd6-4afa-a340-ca04f7968bbe" providerId="ADAL" clId="{2283E17E-3370-7343-8683-B52919A66E9A}"/>
    <pc:docChg chg="modSld">
      <pc:chgData name="Philip Zhan" userId="fd0cb2f6-9dd6-4afa-a340-ca04f7968bbe" providerId="ADAL" clId="{2283E17E-3370-7343-8683-B52919A66E9A}" dt="2022-01-03T07:38:48.018" v="1" actId="1036"/>
      <pc:docMkLst>
        <pc:docMk/>
      </pc:docMkLst>
      <pc:sldChg chg="modSp">
        <pc:chgData name="Philip Zhan" userId="fd0cb2f6-9dd6-4afa-a340-ca04f7968bbe" providerId="ADAL" clId="{2283E17E-3370-7343-8683-B52919A66E9A}" dt="2022-01-03T07:38:48.018" v="1" actId="1036"/>
        <pc:sldMkLst>
          <pc:docMk/>
          <pc:sldMk cId="0" sldId="349"/>
        </pc:sldMkLst>
        <pc:picChg chg="mod">
          <ac:chgData name="Philip Zhan" userId="fd0cb2f6-9dd6-4afa-a340-ca04f7968bbe" providerId="ADAL" clId="{2283E17E-3370-7343-8683-B52919A66E9A}" dt="2022-01-03T07:38:48.018" v="1" actId="1036"/>
          <ac:picMkLst>
            <pc:docMk/>
            <pc:sldMk cId="0" sldId="349"/>
            <ac:picMk id="41989" creationId="{00000000-0000-0000-0000-000000000000}"/>
          </ac:picMkLst>
        </pc:pic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pPr>
              <a:defRPr/>
            </a:pPr>
            <a:endParaRPr lang="en-US" altLang="zh-CN"/>
          </a:p>
        </p:txBody>
      </p:sp>
      <p:sp>
        <p:nvSpPr>
          <p:cNvPr id="1229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ltLang="zh-CN"/>
          </a:p>
        </p:txBody>
      </p:sp>
      <p:sp>
        <p:nvSpPr>
          <p:cNvPr id="675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29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pPr>
              <a:defRPr/>
            </a:pPr>
            <a:endParaRPr lang="en-US" altLang="zh-CN"/>
          </a:p>
        </p:txBody>
      </p:sp>
      <p:sp>
        <p:nvSpPr>
          <p:cNvPr id="1229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pPr>
              <a:defRPr/>
            </a:pPr>
            <a:fld id="{067E983D-B0AB-4392-9431-0AF40140DE56}" type="slidenum">
              <a:rPr lang="en-US" altLang="zh-CN"/>
              <a:pPr>
                <a:defRPr/>
              </a:pPr>
              <a:t>‹#›</a:t>
            </a:fld>
            <a:endParaRPr lang="en-US" altLang="zh-CN"/>
          </a:p>
        </p:txBody>
      </p:sp>
    </p:spTree>
    <p:extLst>
      <p:ext uri="{BB962C8B-B14F-4D97-AF65-F5344CB8AC3E}">
        <p14:creationId xmlns:p14="http://schemas.microsoft.com/office/powerpoint/2010/main" val="18976529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baike.baidu.com/view/1925966.htm"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0D4EA282-4EDA-43A4-B28B-863125EFC4D9}" type="slidenum">
              <a:rPr lang="en-US" altLang="zh-CN" smtClean="0"/>
              <a:pPr eaLnBrk="1" hangingPunct="1">
                <a:spcBef>
                  <a:spcPct val="0"/>
                </a:spcBef>
              </a:pPr>
              <a:t>1</a:t>
            </a:fld>
            <a:endParaRPr lang="en-US" altLang="zh-CN"/>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pPr eaLnBrk="1" hangingPunct="1"/>
            <a:r>
              <a:rPr lang="zh-CN" altLang="en-US" b="0" i="0">
                <a:solidFill>
                  <a:srgbClr val="333333"/>
                </a:solidFill>
                <a:effectLst/>
                <a:latin typeface="Arial" panose="020B0604020202020204" pitchFamily="34" charset="0"/>
              </a:rPr>
              <a:t>宏观对称性的数学描述晶体的对称性有宏观对称性和微观对称性之分</a:t>
            </a:r>
            <a:r>
              <a:rPr lang="en-US" altLang="zh-CN" b="0" i="0">
                <a:solidFill>
                  <a:srgbClr val="333333"/>
                </a:solidFill>
                <a:effectLst/>
                <a:latin typeface="Arial" panose="020B0604020202020204" pitchFamily="34" charset="0"/>
              </a:rPr>
              <a:t>, </a:t>
            </a:r>
            <a:r>
              <a:rPr lang="zh-CN" altLang="en-US" b="0" i="0">
                <a:solidFill>
                  <a:srgbClr val="333333"/>
                </a:solidFill>
                <a:effectLst/>
                <a:latin typeface="Arial" panose="020B0604020202020204" pitchFamily="34" charset="0"/>
              </a:rPr>
              <a:t>前者指晶体的外形对称性</a:t>
            </a:r>
            <a:r>
              <a:rPr lang="en-US" altLang="zh-CN" b="0" i="0">
                <a:solidFill>
                  <a:srgbClr val="333333"/>
                </a:solidFill>
                <a:effectLst/>
                <a:latin typeface="Arial" panose="020B0604020202020204" pitchFamily="34" charset="0"/>
              </a:rPr>
              <a:t>,</a:t>
            </a:r>
            <a:r>
              <a:rPr lang="zh-CN" altLang="en-US" b="0" i="0">
                <a:solidFill>
                  <a:srgbClr val="333333"/>
                </a:solidFill>
                <a:effectLst/>
                <a:latin typeface="Arial" panose="020B0604020202020204" pitchFamily="34" charset="0"/>
              </a:rPr>
              <a:t>后者指晶体微观结构的对称性。</a:t>
            </a: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156A54A0-61B8-469C-891A-8A6FF2FEBD2F}" type="slidenum">
              <a:rPr lang="en-US" altLang="zh-CN" smtClean="0"/>
              <a:pPr eaLnBrk="1" hangingPunct="1">
                <a:spcBef>
                  <a:spcPct val="0"/>
                </a:spcBef>
              </a:pPr>
              <a:t>2</a:t>
            </a:fld>
            <a:endParaRPr lang="en-US" altLang="zh-CN"/>
          </a:p>
        </p:txBody>
      </p:sp>
      <p:sp>
        <p:nvSpPr>
          <p:cNvPr id="69635"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p:txBody>
          <a:bodyPr/>
          <a:lstStyle/>
          <a:p>
            <a:pPr eaLnBrk="1" hangingPunct="1">
              <a:defRPr/>
            </a:pPr>
            <a:r>
              <a:rPr lang="en-US" altLang="zh-CN"/>
              <a:t>http://blog.sina.com.cn/s/blog_53205e4201009kun.html</a:t>
            </a:r>
          </a:p>
          <a:p>
            <a:pPr eaLnBrk="1" hangingPunct="1">
              <a:defRPr/>
            </a:pPr>
            <a:endParaRPr lang="en-US" altLang="zh-CN"/>
          </a:p>
          <a:p>
            <a:pPr eaLnBrk="1" hangingPunct="1">
              <a:defRPr/>
            </a:pPr>
            <a:endParaRPr lang="en-US" altLang="zh-CN"/>
          </a:p>
          <a:p>
            <a:pPr eaLnBrk="1" hangingPunct="1">
              <a:defRPr/>
            </a:pPr>
            <a:r>
              <a:rPr lang="zh-CN" altLang="en-US"/>
              <a:t>简单说，宇称就是一种空间的左右对称。在物理学中，</a:t>
            </a:r>
            <a:r>
              <a:rPr lang="zh-CN" altLang="en-US" b="1"/>
              <a:t>这种“对称性”就是指物理规律在某种变化下的不变性</a:t>
            </a:r>
            <a:r>
              <a:rPr lang="zh-CN" altLang="en-US"/>
              <a:t>。例如，在实验室做某一实验，你无论是今天做还是明天做，无论是今年做，还是</a:t>
            </a:r>
            <a:r>
              <a:rPr lang="en-US" altLang="zh-CN"/>
              <a:t>10</a:t>
            </a:r>
            <a:r>
              <a:rPr lang="zh-CN" altLang="en-US"/>
              <a:t>年以后做，只要实验条件没有改变，所得的实验结果都应是一样的。同样，同一个物理实验，你无论放到哪一个实验室去做，都应该得出一样的实验结果。总之，时间和空间的变化，不会改变物理规律的形式和结果。</a:t>
            </a:r>
          </a:p>
          <a:p>
            <a:pPr eaLnBrk="1" hangingPunct="1">
              <a:defRPr/>
            </a:pPr>
            <a:r>
              <a:rPr lang="zh-CN" altLang="en-US"/>
              <a:t>在量子力学里，</a:t>
            </a:r>
            <a:r>
              <a:rPr lang="zh-CN" altLang="en-US" b="1"/>
              <a:t>宇称，是表征微观粒子运动特性的物理量</a:t>
            </a:r>
            <a:r>
              <a:rPr lang="zh-CN" altLang="en-US"/>
              <a:t>。宇称守恒定律是关于微观粒子体系的运动或变化规律具有左右对称性的定律。即微观粒子体系在发生某种变化过程（如核反应、基本粒子的产生和衰变等）前的总宇称（其值为</a:t>
            </a:r>
            <a:r>
              <a:rPr lang="en-US" altLang="zh-CN"/>
              <a:t>+1</a:t>
            </a:r>
            <a:r>
              <a:rPr lang="zh-CN" altLang="en-US"/>
              <a:t>或</a:t>
            </a:r>
            <a:r>
              <a:rPr lang="en-US" altLang="zh-CN"/>
              <a:t>-1</a:t>
            </a:r>
            <a:r>
              <a:rPr lang="zh-CN" altLang="en-US"/>
              <a:t>）必须等于变化过程后的总宇称。其物理意义是，粒子体系和它的“镜像粒子”体系都遵从同样的运动变化规律。</a:t>
            </a:r>
          </a:p>
          <a:p>
            <a:pPr eaLnBrk="1" hangingPunct="1">
              <a:defRPr/>
            </a:pPr>
            <a:r>
              <a:rPr lang="zh-CN" altLang="en-US"/>
              <a:t>宇称守恒定律与许多实验结果相符合，原本是物理学界一致相信的原理之一，曾为人们所公认。尽管由于</a:t>
            </a:r>
            <a:r>
              <a:rPr lang="en-US" altLang="zh-CN"/>
              <a:t>θ</a:t>
            </a:r>
            <a:r>
              <a:rPr lang="zh-CN" altLang="en-US"/>
              <a:t>与</a:t>
            </a:r>
            <a:r>
              <a:rPr lang="en-US" altLang="zh-CN"/>
              <a:t>τ</a:t>
            </a:r>
            <a:r>
              <a:rPr lang="zh-CN" altLang="en-US"/>
              <a:t>粒子在实验中所显现出的矛盾现象，引起了人们对宇称守恒定律的怀疑，但要推倒这棵大树简直太难了，大多数人都望而却步。直到</a:t>
            </a:r>
            <a:r>
              <a:rPr lang="en-US" altLang="zh-CN"/>
              <a:t>1956</a:t>
            </a:r>
            <a:r>
              <a:rPr lang="zh-CN" altLang="en-US"/>
              <a:t>年，李政道和杨振宁根据对实验事实的分析，首先从理论上指出，并由吴健雄等人在实验中证实，</a:t>
            </a:r>
            <a:r>
              <a:rPr lang="zh-CN" altLang="en-US" b="1">
                <a:effectLst>
                  <a:outerShdw blurRad="38100" dist="38100" dir="2700000" algn="tl">
                    <a:srgbClr val="000000">
                      <a:alpha val="43137"/>
                    </a:srgbClr>
                  </a:outerShdw>
                </a:effectLst>
              </a:rPr>
              <a:t>至少在基本粒子弱相互作用的领域内，宇称并不守恒。</a:t>
            </a:r>
            <a:r>
              <a:rPr lang="zh-CN" altLang="en-US"/>
              <a:t>从而证明，宇称守恒定律并不普遍适用。</a:t>
            </a:r>
            <a:endParaRPr lang="en-US" altLang="zh-CN"/>
          </a:p>
          <a:p>
            <a:pPr eaLnBrk="1" hangingPunct="1">
              <a:defRPr/>
            </a:pPr>
            <a:endParaRPr lang="en-US" altLang="zh-CN"/>
          </a:p>
          <a:p>
            <a:pPr eaLnBrk="1" hangingPunct="1">
              <a:defRPr/>
            </a:pPr>
            <a:r>
              <a:rPr lang="zh-CN" altLang="en-US" b="1"/>
              <a:t>在相当长的一段时间内，物理学家们相信，所有自然规律在这样的镜象反演下都保持不变</a:t>
            </a:r>
            <a:r>
              <a:rPr lang="en-US" altLang="zh-CN" b="1"/>
              <a:t>!</a:t>
            </a:r>
          </a:p>
          <a:p>
            <a:pPr eaLnBrk="1" hangingPunct="1">
              <a:defRPr/>
            </a:pPr>
            <a:endParaRPr lang="en-US" altLang="zh-CN"/>
          </a:p>
          <a:p>
            <a:pPr eaLnBrk="1" hangingPunct="1">
              <a:defRPr/>
            </a:pPr>
            <a:r>
              <a:rPr lang="zh-CN" altLang="en-US" b="1"/>
              <a:t>宇称守恒是指在任何情况下</a:t>
            </a:r>
            <a:r>
              <a:rPr lang="en-US" altLang="zh-CN" b="1"/>
              <a:t>,</a:t>
            </a:r>
            <a:r>
              <a:rPr lang="zh-CN" altLang="en-US" b="1"/>
              <a:t>任何粒子的镜象与该粒子除自旋方向外</a:t>
            </a:r>
            <a:r>
              <a:rPr lang="en-US" altLang="zh-CN" b="1"/>
              <a:t>,</a:t>
            </a:r>
            <a:r>
              <a:rPr lang="zh-CN" altLang="en-US" b="1"/>
              <a:t>具有完全相同的性质</a:t>
            </a:r>
            <a:r>
              <a:rPr lang="en-US" altLang="zh-CN" b="1"/>
              <a:t>.</a:t>
            </a:r>
          </a:p>
          <a:p>
            <a:pPr eaLnBrk="1" hangingPunct="1">
              <a:defRPr/>
            </a:pPr>
            <a:r>
              <a:rPr lang="zh-CN" altLang="en-US" b="1"/>
              <a:t>宇称不守恒定律是指在弱相互作用中</a:t>
            </a:r>
            <a:r>
              <a:rPr lang="en-US" altLang="zh-CN" b="1"/>
              <a:t>,</a:t>
            </a:r>
            <a:r>
              <a:rPr lang="zh-CN" altLang="en-US" b="1"/>
              <a:t>互为镜像的物质的运动不对称</a:t>
            </a:r>
            <a:r>
              <a:rPr lang="en-US" altLang="zh-CN" b="1"/>
              <a:t>.</a:t>
            </a:r>
          </a:p>
          <a:p>
            <a:pPr eaLnBrk="1" hangingPunct="1">
              <a:defRPr/>
            </a:pPr>
            <a:endParaRPr lang="en-US" altLang="en-US"/>
          </a:p>
          <a:p>
            <a:pPr eaLnBrk="1" hangingPunct="1">
              <a:defRPr/>
            </a:pPr>
            <a:r>
              <a:rPr lang="zh-CN" altLang="en-US"/>
              <a:t>吴健雄用两套实验装置观测钴</a:t>
            </a:r>
            <a:r>
              <a:rPr lang="en-US" altLang="zh-CN"/>
              <a:t>60</a:t>
            </a:r>
            <a:r>
              <a:rPr lang="zh-CN" altLang="en-US"/>
              <a:t>的衰变，她在极低温</a:t>
            </a:r>
            <a:r>
              <a:rPr lang="en-US" altLang="zh-CN"/>
              <a:t>(0.01K)</a:t>
            </a:r>
            <a:r>
              <a:rPr lang="zh-CN" altLang="en-US"/>
              <a:t>下用强磁场把一套装置中的钴</a:t>
            </a:r>
            <a:r>
              <a:rPr lang="en-US" altLang="zh-CN"/>
              <a:t>60</a:t>
            </a:r>
            <a:r>
              <a:rPr lang="zh-CN" altLang="en-US"/>
              <a:t>原子核自旋方向转向左旋，把另一套装置中的钴</a:t>
            </a:r>
            <a:r>
              <a:rPr lang="en-US" altLang="zh-CN"/>
              <a:t>60</a:t>
            </a:r>
            <a:r>
              <a:rPr lang="zh-CN" altLang="en-US"/>
              <a:t>原子核自旋方向转向右旋，这两套装置中的钴</a:t>
            </a:r>
            <a:r>
              <a:rPr lang="en-US" altLang="zh-CN"/>
              <a:t>60</a:t>
            </a:r>
            <a:r>
              <a:rPr lang="zh-CN" altLang="en-US"/>
              <a:t>互为镜像。实验结果表明，这两套装置中的钴</a:t>
            </a:r>
            <a:r>
              <a:rPr lang="en-US" altLang="zh-CN"/>
              <a:t>60</a:t>
            </a:r>
            <a:r>
              <a:rPr lang="zh-CN" altLang="en-US"/>
              <a:t>放射出来的电子数有很大差异，而且电子放射的方向也不能互相对称。实验结果证实了</a:t>
            </a:r>
            <a:r>
              <a:rPr lang="zh-CN" altLang="en-US" b="1"/>
              <a:t>弱相互作用中的宇称不守恒</a:t>
            </a:r>
            <a:r>
              <a:rPr lang="zh-CN" altLang="en-US"/>
              <a:t>。</a:t>
            </a:r>
            <a:endParaRPr lang="en-US" altLang="zh-CN"/>
          </a:p>
          <a:p>
            <a:pPr eaLnBrk="1" hangingPunct="1">
              <a:defRPr/>
            </a:pPr>
            <a:endParaRPr lang="en-US" altLang="en-US"/>
          </a:p>
          <a:p>
            <a:pPr eaLnBrk="1" hangingPunct="1">
              <a:defRPr/>
            </a:pPr>
            <a:r>
              <a:rPr lang="zh-CN" altLang="en-US"/>
              <a:t>对称性反映不同物质形态在运动中的共性，而对称性的破坏才使它们显示出各自的特性。如同图案一样，只有对称没有它的破坏，看上去虽然很规则，但同时显得单调和呆板。只有基本上对称而又不完全对称才构成美的建筑和图案。大自然正是这样的建筑师。当大自然构造像</a:t>
            </a:r>
            <a:r>
              <a:rPr lang="en-US" altLang="zh-CN"/>
              <a:t>DNA</a:t>
            </a:r>
            <a:r>
              <a:rPr lang="zh-CN" altLang="en-US"/>
              <a:t>这样的大分子时，总是遵循复制的原则，将分子按照对称的</a:t>
            </a:r>
            <a:r>
              <a:rPr lang="zh-CN" altLang="en-US">
                <a:hlinkClick r:id="rId3"/>
              </a:rPr>
              <a:t>螺旋结构</a:t>
            </a:r>
            <a:r>
              <a:rPr lang="zh-CN" altLang="en-US"/>
              <a:t>联接在一起，而构成螺旋形结构的空间排列是全同的。但是在复制过程中，对精确对称性的细微的偏离就会在大分子单位的排列次序上产生新的可能性，从而使得那些更便于复制的样式更快地发展，形成了发育的过程。</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基本概述</a:t>
            </a:r>
            <a:endParaRPr lang="en-US" altLang="zh-CN"/>
          </a:p>
          <a:p>
            <a:r>
              <a:rPr lang="zh-CN" altLang="en-US"/>
              <a:t>宇称不守恒定律是指：在弱相互作用中，互为镜像的物质的运动不对称，由吴健雄用钴</a:t>
            </a:r>
            <a:r>
              <a:rPr lang="en-US" altLang="zh-CN"/>
              <a:t>60</a:t>
            </a:r>
            <a:r>
              <a:rPr lang="zh-CN" altLang="en-US"/>
              <a:t>验证。</a:t>
            </a:r>
          </a:p>
          <a:p>
            <a:r>
              <a:rPr lang="zh-CN" altLang="en-US"/>
              <a:t>科学界在</a:t>
            </a:r>
            <a:r>
              <a:rPr lang="en-US" altLang="zh-CN"/>
              <a:t>1956</a:t>
            </a:r>
            <a:r>
              <a:rPr lang="zh-CN" altLang="en-US"/>
              <a:t>年前一直认为宇称守恒，也就是说一个粒子的镜像与其本身性质完全相同。</a:t>
            </a:r>
          </a:p>
          <a:p>
            <a:r>
              <a:rPr lang="en-US" altLang="zh-CN"/>
              <a:t>1956</a:t>
            </a:r>
            <a:r>
              <a:rPr lang="zh-CN" altLang="en-US"/>
              <a:t>年，科学家发现</a:t>
            </a:r>
            <a:r>
              <a:rPr lang="en-US" altLang="zh-CN"/>
              <a:t>θ</a:t>
            </a:r>
            <a:r>
              <a:rPr lang="zh-CN" altLang="en-US"/>
              <a:t>和</a:t>
            </a:r>
            <a:r>
              <a:rPr lang="en-US" altLang="zh-CN"/>
              <a:t>τ</a:t>
            </a:r>
            <a:r>
              <a:rPr lang="zh-CN" altLang="en-US"/>
              <a:t>两种介子的自旋、质量、寿命、电荷等完全相同，多数人认为它们是同一种粒子，但</a:t>
            </a:r>
            <a:r>
              <a:rPr lang="en-US" altLang="zh-CN"/>
              <a:t>θ</a:t>
            </a:r>
            <a:r>
              <a:rPr lang="zh-CN" altLang="en-US"/>
              <a:t>介子衰变时产生两个</a:t>
            </a:r>
            <a:r>
              <a:rPr lang="en-US" altLang="zh-CN"/>
              <a:t>π</a:t>
            </a:r>
            <a:r>
              <a:rPr lang="zh-CN" altLang="en-US"/>
              <a:t>介子，</a:t>
            </a:r>
            <a:r>
              <a:rPr lang="en-US" altLang="zh-CN"/>
              <a:t>τ</a:t>
            </a:r>
            <a:r>
              <a:rPr lang="zh-CN" altLang="en-US"/>
              <a:t>子衰变时产生</a:t>
            </a:r>
            <a:r>
              <a:rPr lang="en-US" altLang="zh-CN"/>
              <a:t>3</a:t>
            </a:r>
            <a:r>
              <a:rPr lang="zh-CN" altLang="en-US"/>
              <a:t>个，这又说明它们是不同种粒子。</a:t>
            </a:r>
          </a:p>
          <a:p>
            <a:r>
              <a:rPr lang="zh-CN" altLang="en-US"/>
              <a:t>深入研究</a:t>
            </a:r>
            <a:endParaRPr lang="en-US" altLang="zh-CN"/>
          </a:p>
          <a:p>
            <a:r>
              <a:rPr lang="en-US" altLang="zh-CN"/>
              <a:t>1956</a:t>
            </a:r>
            <a:r>
              <a:rPr lang="zh-CN" altLang="en-US"/>
              <a:t>年，李政道和杨振宁在深入细致地研究了各种因素之后，大胆地断言：</a:t>
            </a:r>
            <a:r>
              <a:rPr lang="en-US" altLang="zh-CN"/>
              <a:t>τ</a:t>
            </a:r>
            <a:r>
              <a:rPr lang="zh-CN" altLang="en-US"/>
              <a:t>和</a:t>
            </a:r>
            <a:r>
              <a:rPr lang="en-US" altLang="zh-CN"/>
              <a:t>θ</a:t>
            </a:r>
            <a:r>
              <a:rPr lang="zh-CN" altLang="en-US"/>
              <a:t>是完全相同的同一种粒子</a:t>
            </a:r>
            <a:r>
              <a:rPr lang="en-US" altLang="zh-CN"/>
              <a:t>(</a:t>
            </a:r>
            <a:r>
              <a:rPr lang="zh-CN" altLang="en-US"/>
              <a:t>后来被称为</a:t>
            </a:r>
            <a:r>
              <a:rPr lang="en-US" altLang="zh-CN"/>
              <a:t>K</a:t>
            </a:r>
            <a:r>
              <a:rPr lang="zh-CN" altLang="en-US"/>
              <a:t>介子</a:t>
            </a:r>
            <a:r>
              <a:rPr lang="en-US" altLang="zh-CN"/>
              <a:t>)</a:t>
            </a:r>
            <a:r>
              <a:rPr lang="zh-CN" altLang="en-US"/>
              <a:t>，但在弱相互作用的环境中，它们的运动规律却不一定完全相同，通俗地说，这两个相同的粒子如果互相照镜子的话，它们的衰变方式在镜子里和镜子外居然不一样！用科学语言来说，“</a:t>
            </a:r>
            <a:r>
              <a:rPr lang="en-US" altLang="zh-CN"/>
              <a:t>θ-τ”</a:t>
            </a:r>
            <a:r>
              <a:rPr lang="zh-CN" altLang="en-US"/>
              <a:t>粒子在弱相互作用下是宇称不守恒的。</a:t>
            </a:r>
          </a:p>
        </p:txBody>
      </p:sp>
      <p:sp>
        <p:nvSpPr>
          <p:cNvPr id="4" name="灯片编号占位符 3"/>
          <p:cNvSpPr>
            <a:spLocks noGrp="1"/>
          </p:cNvSpPr>
          <p:nvPr>
            <p:ph type="sldNum" sz="quarter" idx="5"/>
          </p:nvPr>
        </p:nvSpPr>
        <p:spPr/>
        <p:txBody>
          <a:bodyPr/>
          <a:lstStyle/>
          <a:p>
            <a:pPr>
              <a:defRPr/>
            </a:pPr>
            <a:fld id="{067E983D-B0AB-4392-9431-0AF40140DE56}" type="slidenum">
              <a:rPr lang="en-US" altLang="zh-CN" smtClean="0"/>
              <a:pPr>
                <a:defRPr/>
              </a:pPr>
              <a:t>3</a:t>
            </a:fld>
            <a:endParaRPr lang="en-US" altLang="zh-CN"/>
          </a:p>
        </p:txBody>
      </p:sp>
    </p:spTree>
    <p:extLst>
      <p:ext uri="{BB962C8B-B14F-4D97-AF65-F5344CB8AC3E}">
        <p14:creationId xmlns:p14="http://schemas.microsoft.com/office/powerpoint/2010/main" val="1863663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zh-CN" altLang="en-US" sz="1200" b="0" i="0" u="none" strike="noStrike" kern="1200">
                <a:solidFill>
                  <a:schemeClr val="tx1"/>
                </a:solidFill>
                <a:effectLst/>
                <a:latin typeface="Times New Roman" pitchFamily="18" charset="0"/>
                <a:ea typeface="宋体" pitchFamily="2" charset="-122"/>
                <a:cs typeface="+mn-cs"/>
              </a:rPr>
              <a:t>平移不变性</a:t>
            </a:r>
            <a:r>
              <a:rPr kumimoji="1" lang="zh-CN" altLang="en-US" sz="1200" b="0" i="0" kern="1200">
                <a:solidFill>
                  <a:schemeClr val="tx1"/>
                </a:solidFill>
                <a:effectLst/>
                <a:latin typeface="Times New Roman" pitchFamily="18" charset="0"/>
                <a:ea typeface="宋体" pitchFamily="2" charset="-122"/>
                <a:cs typeface="+mn-cs"/>
              </a:rPr>
              <a:t> </a:t>
            </a:r>
            <a:r>
              <a:rPr kumimoji="1" lang="en-US" sz="1200" b="0" i="0" kern="1200">
                <a:solidFill>
                  <a:schemeClr val="tx1"/>
                </a:solidFill>
                <a:effectLst/>
                <a:latin typeface="Times New Roman" pitchFamily="18" charset="0"/>
                <a:ea typeface="宋体" pitchFamily="2" charset="-122"/>
                <a:cs typeface="+mn-cs"/>
              </a:rPr>
              <a:t>translation invariance</a:t>
            </a:r>
            <a:endParaRPr lang="en-US"/>
          </a:p>
        </p:txBody>
      </p:sp>
      <p:sp>
        <p:nvSpPr>
          <p:cNvPr id="4" name="Slide Number Placeholder 3"/>
          <p:cNvSpPr>
            <a:spLocks noGrp="1"/>
          </p:cNvSpPr>
          <p:nvPr>
            <p:ph type="sldNum" sz="quarter" idx="10"/>
          </p:nvPr>
        </p:nvSpPr>
        <p:spPr/>
        <p:txBody>
          <a:bodyPr/>
          <a:lstStyle/>
          <a:p>
            <a:pPr>
              <a:defRPr/>
            </a:pPr>
            <a:fld id="{067E983D-B0AB-4392-9431-0AF40140DE56}" type="slidenum">
              <a:rPr lang="en-US" altLang="zh-CN" smtClean="0"/>
              <a:pPr>
                <a:defRPr/>
              </a:pPr>
              <a:t>6</a:t>
            </a:fld>
            <a:endParaRPr lang="en-US" altLang="zh-CN"/>
          </a:p>
        </p:txBody>
      </p:sp>
    </p:spTree>
    <p:extLst>
      <p:ext uri="{BB962C8B-B14F-4D97-AF65-F5344CB8AC3E}">
        <p14:creationId xmlns:p14="http://schemas.microsoft.com/office/powerpoint/2010/main" val="1721259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p:spPr>
        <p:txBody>
          <a:bodyPr/>
          <a:lstStyle/>
          <a:p>
            <a:r>
              <a:rPr lang="zh-CN" altLang="en-US"/>
              <a:t>下发若干模型</a:t>
            </a:r>
            <a:endParaRPr lang="en-US" altLang="en-US"/>
          </a:p>
        </p:txBody>
      </p:sp>
      <p:sp>
        <p:nvSpPr>
          <p:cNvPr id="70660"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0C363704-E05D-48BB-9FBB-78D7CBCB5AC5}" type="slidenum">
              <a:rPr lang="en-US" altLang="zh-CN" smtClean="0"/>
              <a:pPr eaLnBrk="1" hangingPunct="1">
                <a:spcBef>
                  <a:spcPct val="0"/>
                </a:spcBef>
              </a:pPr>
              <a:t>11</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p:spPr>
        <p:txBody>
          <a:bodyPr/>
          <a:lstStyle/>
          <a:p>
            <a:r>
              <a:rPr lang="zh-CN" altLang="en-US"/>
              <a:t>下发若干模型</a:t>
            </a:r>
            <a:endParaRPr lang="en-US" altLang="en-US"/>
          </a:p>
        </p:txBody>
      </p:sp>
      <p:sp>
        <p:nvSpPr>
          <p:cNvPr id="70660"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0C363704-E05D-48BB-9FBB-78D7CBCB5AC5}" type="slidenum">
              <a:rPr lang="en-US" altLang="zh-CN" smtClean="0"/>
              <a:pPr eaLnBrk="1" hangingPunct="1">
                <a:spcBef>
                  <a:spcPct val="0"/>
                </a:spcBef>
              </a:pPr>
              <a:t>12</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p:spPr>
        <p:txBody>
          <a:bodyPr/>
          <a:lstStyle/>
          <a:p>
            <a:endParaRPr lang="en-US" altLang="zh-CN" b="1" i="1">
              <a:ea typeface="楷体_GB2312" pitchFamily="49" charset="-122"/>
            </a:endParaRPr>
          </a:p>
        </p:txBody>
      </p:sp>
      <p:sp>
        <p:nvSpPr>
          <p:cNvPr id="78852"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1EA5D014-68FF-4B52-9BE3-8C6865B2D9F6}" type="slidenum">
              <a:rPr lang="en-US" altLang="zh-CN" smtClean="0"/>
              <a:pPr eaLnBrk="1" hangingPunct="1">
                <a:spcBef>
                  <a:spcPct val="0"/>
                </a:spcBef>
              </a:pPr>
              <a:t>13</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Planar graphic presentation</a:t>
            </a:r>
          </a:p>
        </p:txBody>
      </p:sp>
      <p:sp>
        <p:nvSpPr>
          <p:cNvPr id="4" name="Slide Number Placeholder 3"/>
          <p:cNvSpPr>
            <a:spLocks noGrp="1"/>
          </p:cNvSpPr>
          <p:nvPr>
            <p:ph type="sldNum" sz="quarter" idx="10"/>
          </p:nvPr>
        </p:nvSpPr>
        <p:spPr/>
        <p:txBody>
          <a:bodyPr/>
          <a:lstStyle/>
          <a:p>
            <a:pPr>
              <a:defRPr/>
            </a:pPr>
            <a:fld id="{067E983D-B0AB-4392-9431-0AF40140DE56}" type="slidenum">
              <a:rPr lang="en-US" altLang="zh-CN" smtClean="0"/>
              <a:pPr>
                <a:defRPr/>
              </a:pPr>
              <a:t>14</a:t>
            </a:fld>
            <a:endParaRPr lang="en-US" altLang="zh-CN"/>
          </a:p>
        </p:txBody>
      </p:sp>
    </p:spTree>
    <p:extLst>
      <p:ext uri="{BB962C8B-B14F-4D97-AF65-F5344CB8AC3E}">
        <p14:creationId xmlns:p14="http://schemas.microsoft.com/office/powerpoint/2010/main" val="11381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p:spPr>
        <p:txBody>
          <a:bodyPr/>
          <a:lstStyle/>
          <a:p>
            <a:r>
              <a:rPr lang="zh-CN" altLang="en-US"/>
              <a:t>各自在手中的模型中寻找</a:t>
            </a:r>
            <a:endParaRPr lang="en-US" altLang="en-US"/>
          </a:p>
        </p:txBody>
      </p:sp>
      <p:sp>
        <p:nvSpPr>
          <p:cNvPr id="71684" name="Slide Number Placeholder 3"/>
          <p:cNvSpPr>
            <a:spLocks noGrp="1"/>
          </p:cNvSpPr>
          <p:nvPr>
            <p:ph type="sldNum" sz="quarter" idx="5"/>
          </p:nvPr>
        </p:nvSpPr>
        <p:spPr>
          <a:noFill/>
        </p:spPr>
        <p:txBody>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fld id="{FC15583D-DE3A-442C-9E97-837474E81300}" type="slidenum">
              <a:rPr lang="en-US" altLang="zh-CN" sz="1200" b="0" smtClean="0"/>
              <a:pPr eaLnBrk="1" hangingPunct="1"/>
              <a:t>16</a:t>
            </a:fld>
            <a:endParaRPr lang="en-US" altLang="zh-CN" sz="1200" b="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p:spPr>
        <p:txBody>
          <a:bodyPr/>
          <a:lstStyle/>
          <a:p>
            <a:r>
              <a:rPr lang="zh-CN" altLang="en-US"/>
              <a:t>各自在手中的模型中寻找</a:t>
            </a:r>
            <a:endParaRPr lang="en-US" altLang="en-US"/>
          </a:p>
        </p:txBody>
      </p:sp>
      <p:sp>
        <p:nvSpPr>
          <p:cNvPr id="71684" name="Slide Number Placeholder 3"/>
          <p:cNvSpPr>
            <a:spLocks noGrp="1"/>
          </p:cNvSpPr>
          <p:nvPr>
            <p:ph type="sldNum" sz="quarter" idx="5"/>
          </p:nvPr>
        </p:nvSpPr>
        <p:spPr>
          <a:noFill/>
        </p:spPr>
        <p:txBody>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fld id="{FC15583D-DE3A-442C-9E97-837474E81300}" type="slidenum">
              <a:rPr lang="en-US" altLang="zh-CN" sz="1200" b="0" smtClean="0"/>
              <a:pPr eaLnBrk="1" hangingPunct="1"/>
              <a:t>17</a:t>
            </a:fld>
            <a:endParaRPr lang="en-US" altLang="zh-CN" sz="1200" b="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p:spPr>
        <p:txBody>
          <a:bodyPr/>
          <a:lstStyle/>
          <a:p>
            <a:r>
              <a:rPr lang="zh-CN" altLang="en-US"/>
              <a:t>此时</a:t>
            </a:r>
            <a:r>
              <a:rPr lang="en-US" altLang="zh-CN"/>
              <a:t>alpha</a:t>
            </a:r>
            <a:r>
              <a:rPr lang="zh-CN" altLang="en-US"/>
              <a:t>是实际的转角，而不是基转角。</a:t>
            </a:r>
            <a:endParaRPr lang="en-US" altLang="en-US"/>
          </a:p>
        </p:txBody>
      </p:sp>
      <p:sp>
        <p:nvSpPr>
          <p:cNvPr id="72708" name="Slide Number Placeholder 3"/>
          <p:cNvSpPr>
            <a:spLocks noGrp="1"/>
          </p:cNvSpPr>
          <p:nvPr>
            <p:ph type="sldNum" sz="quarter" idx="5"/>
          </p:nvPr>
        </p:nvSpPr>
        <p:spPr>
          <a:noFill/>
        </p:spPr>
        <p:txBody>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fld id="{5A11B3CB-2A91-4B72-84B0-BC34EBFF9817}" type="slidenum">
              <a:rPr lang="en-US" altLang="zh-CN" sz="1200" b="0" smtClean="0"/>
              <a:pPr eaLnBrk="1" hangingPunct="1"/>
              <a:t>22</a:t>
            </a:fld>
            <a:endParaRPr lang="en-US" altLang="zh-CN" sz="1200" b="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p:spPr>
        <p:txBody>
          <a:bodyPr/>
          <a:lstStyle/>
          <a:p>
            <a:r>
              <a:rPr lang="zh-CN" altLang="en-US"/>
              <a:t>此时</a:t>
            </a:r>
            <a:r>
              <a:rPr lang="en-US" altLang="zh-CN"/>
              <a:t>alpha</a:t>
            </a:r>
            <a:r>
              <a:rPr lang="zh-CN" altLang="en-US"/>
              <a:t>是实际的转角，而不是基转角。</a:t>
            </a:r>
            <a:endParaRPr lang="en-US" altLang="en-US"/>
          </a:p>
        </p:txBody>
      </p:sp>
      <p:sp>
        <p:nvSpPr>
          <p:cNvPr id="72708" name="Slide Number Placeholder 3"/>
          <p:cNvSpPr>
            <a:spLocks noGrp="1"/>
          </p:cNvSpPr>
          <p:nvPr>
            <p:ph type="sldNum" sz="quarter" idx="5"/>
          </p:nvPr>
        </p:nvSpPr>
        <p:spPr>
          <a:noFill/>
        </p:spPr>
        <p:txBody>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fld id="{5A11B3CB-2A91-4B72-84B0-BC34EBFF9817}" type="slidenum">
              <a:rPr lang="en-US" altLang="zh-CN" sz="1200" b="0" smtClean="0"/>
              <a:pPr eaLnBrk="1" hangingPunct="1"/>
              <a:t>23</a:t>
            </a:fld>
            <a:endParaRPr lang="en-US" altLang="zh-CN" sz="1200" b="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p:spPr>
        <p:txBody>
          <a:bodyPr/>
          <a:lstStyle/>
          <a:p>
            <a:r>
              <a:rPr lang="zh-CN" altLang="en-US"/>
              <a:t>反伸和</a:t>
            </a:r>
            <a:r>
              <a:rPr lang="en-US" altLang="zh-CN"/>
              <a:t>2</a:t>
            </a:r>
            <a:r>
              <a:rPr lang="zh-CN" altLang="en-US"/>
              <a:t>次旋转操作</a:t>
            </a:r>
            <a:endParaRPr lang="en-US" altLang="en-US"/>
          </a:p>
        </p:txBody>
      </p:sp>
      <p:sp>
        <p:nvSpPr>
          <p:cNvPr id="73732"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A7556F74-6A6F-4F44-BBCB-297B86F7057A}" type="slidenum">
              <a:rPr lang="en-US" altLang="zh-CN" smtClean="0"/>
              <a:pPr eaLnBrk="1" hangingPunct="1">
                <a:spcBef>
                  <a:spcPct val="0"/>
                </a:spcBef>
              </a:pPr>
              <a:t>27</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67E983D-B0AB-4392-9431-0AF40140DE56}" type="slidenum">
              <a:rPr lang="en-US" altLang="zh-CN" smtClean="0"/>
              <a:pPr>
                <a:defRPr/>
              </a:pPr>
              <a:t>28</a:t>
            </a:fld>
            <a:endParaRPr lang="en-US" altLang="zh-CN"/>
          </a:p>
        </p:txBody>
      </p:sp>
    </p:spTree>
    <p:extLst>
      <p:ext uri="{BB962C8B-B14F-4D97-AF65-F5344CB8AC3E}">
        <p14:creationId xmlns:p14="http://schemas.microsoft.com/office/powerpoint/2010/main" val="1969625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p:spPr>
        <p:txBody>
          <a:bodyPr/>
          <a:lstStyle/>
          <a:p>
            <a:r>
              <a:rPr lang="zh-CN" altLang="en-US" b="1">
                <a:latin typeface="楷体_GB2312" pitchFamily="49" charset="-122"/>
                <a:ea typeface="楷体_GB2312" pitchFamily="49" charset="-122"/>
              </a:rPr>
              <a:t>倒转轴又称旋转反伸轴（</a:t>
            </a:r>
            <a:r>
              <a:rPr lang="en-US" altLang="zh-CN" b="1">
                <a:latin typeface="楷体_GB2312" pitchFamily="49" charset="-122"/>
                <a:ea typeface="楷体_GB2312" pitchFamily="49" charset="-122"/>
              </a:rPr>
              <a:t>rotoinversion axis</a:t>
            </a:r>
            <a:r>
              <a:rPr lang="zh-CN" altLang="en-US" b="1">
                <a:latin typeface="楷体_GB2312" pitchFamily="49" charset="-122"/>
                <a:ea typeface="楷体_GB2312" pitchFamily="49" charset="-122"/>
              </a:rPr>
              <a:t>）或反演轴</a:t>
            </a:r>
            <a:r>
              <a:rPr lang="en-US" altLang="zh-CN" b="1">
                <a:latin typeface="楷体_GB2312" pitchFamily="49" charset="-122"/>
                <a:ea typeface="楷体_GB2312" pitchFamily="49" charset="-122"/>
              </a:rPr>
              <a:t>(inversion axis)</a:t>
            </a:r>
          </a:p>
          <a:p>
            <a:endParaRPr lang="en-US" altLang="zh-CN" b="1">
              <a:latin typeface="楷体_GB2312" pitchFamily="49" charset="-122"/>
              <a:ea typeface="楷体_GB2312" pitchFamily="49" charset="-122"/>
            </a:endParaRPr>
          </a:p>
          <a:p>
            <a:r>
              <a:rPr lang="zh-CN" altLang="en-US" b="1">
                <a:latin typeface="楷体_GB2312" pitchFamily="49" charset="-122"/>
                <a:ea typeface="楷体_GB2312" pitchFamily="49" charset="-122"/>
              </a:rPr>
              <a:t>（请同学们在模型上找</a:t>
            </a:r>
            <a:r>
              <a:rPr lang="en-US" altLang="zh-CN" b="1" i="1">
                <a:solidFill>
                  <a:srgbClr val="FF0066"/>
                </a:solidFill>
                <a:latin typeface="楷体_GB2312" pitchFamily="49" charset="-122"/>
                <a:ea typeface="楷体_GB2312" pitchFamily="49" charset="-122"/>
              </a:rPr>
              <a:t>L</a:t>
            </a:r>
            <a:r>
              <a:rPr lang="en-US" altLang="zh-CN" b="1" i="1" baseline="-25000">
                <a:solidFill>
                  <a:srgbClr val="FF0066"/>
                </a:solidFill>
                <a:latin typeface="楷体_GB2312" pitchFamily="49" charset="-122"/>
                <a:ea typeface="楷体_GB2312" pitchFamily="49" charset="-122"/>
              </a:rPr>
              <a:t>i</a:t>
            </a:r>
            <a:r>
              <a:rPr lang="en-US" altLang="zh-CN" b="1" i="1" baseline="30000">
                <a:solidFill>
                  <a:srgbClr val="FF0066"/>
                </a:solidFill>
                <a:latin typeface="楷体_GB2312" pitchFamily="49" charset="-122"/>
                <a:ea typeface="楷体_GB2312" pitchFamily="49" charset="-122"/>
              </a:rPr>
              <a:t>4</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和</a:t>
            </a:r>
            <a:r>
              <a:rPr lang="en-US" altLang="zh-CN" b="1" i="1">
                <a:solidFill>
                  <a:srgbClr val="FF0066"/>
                </a:solidFill>
                <a:latin typeface="楷体_GB2312" pitchFamily="49" charset="-122"/>
                <a:ea typeface="楷体_GB2312" pitchFamily="49" charset="-122"/>
              </a:rPr>
              <a:t>L</a:t>
            </a:r>
            <a:r>
              <a:rPr lang="en-US" altLang="zh-CN" b="1" i="1" baseline="-25000">
                <a:solidFill>
                  <a:srgbClr val="FF0066"/>
                </a:solidFill>
                <a:latin typeface="楷体_GB2312" pitchFamily="49" charset="-122"/>
                <a:ea typeface="楷体_GB2312" pitchFamily="49" charset="-122"/>
              </a:rPr>
              <a:t>i</a:t>
            </a:r>
            <a:r>
              <a:rPr lang="en-US" altLang="zh-CN" b="1" i="1" baseline="30000">
                <a:solidFill>
                  <a:srgbClr val="FF0066"/>
                </a:solidFill>
                <a:latin typeface="楷体_GB2312" pitchFamily="49" charset="-122"/>
                <a:ea typeface="楷体_GB2312" pitchFamily="49" charset="-122"/>
              </a:rPr>
              <a:t>6</a:t>
            </a:r>
            <a:r>
              <a:rPr lang="zh-CN" altLang="en-US" b="1">
                <a:latin typeface="楷体_GB2312" pitchFamily="49" charset="-122"/>
                <a:ea typeface="楷体_GB2312" pitchFamily="49" charset="-122"/>
              </a:rPr>
              <a:t>）</a:t>
            </a:r>
          </a:p>
          <a:p>
            <a:endParaRPr lang="en-US" altLang="en-US"/>
          </a:p>
        </p:txBody>
      </p:sp>
      <p:sp>
        <p:nvSpPr>
          <p:cNvPr id="74756"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C3882D2B-AEE9-4904-ADA9-CFD908439200}" type="slidenum">
              <a:rPr lang="en-US" altLang="zh-CN" smtClean="0"/>
              <a:pPr eaLnBrk="1" hangingPunct="1">
                <a:spcBef>
                  <a:spcPct val="0"/>
                </a:spcBef>
              </a:pPr>
              <a:t>33</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p:spPr>
        <p:txBody>
          <a:bodyPr/>
          <a:lstStyle/>
          <a:p>
            <a:pPr eaLnBrk="1" hangingPunct="1"/>
            <a:r>
              <a:rPr lang="zh-CN" altLang="en-US" b="1"/>
              <a:t>**********</a:t>
            </a:r>
          </a:p>
          <a:p>
            <a:pPr eaLnBrk="1" hangingPunct="1"/>
            <a:r>
              <a:rPr lang="zh-CN" altLang="en-US" b="1"/>
              <a:t>           </a:t>
            </a:r>
            <a:r>
              <a:rPr lang="zh-CN" altLang="en-US" b="1">
                <a:solidFill>
                  <a:srgbClr val="FF0066"/>
                </a:solidFill>
                <a:ea typeface="楷体_GB2312" pitchFamily="49" charset="-122"/>
              </a:rPr>
              <a:t>最后，请同学们找出几个模型上所有对称要素。</a:t>
            </a:r>
            <a:endParaRPr lang="zh-CN" altLang="en-US" b="1" u="sng"/>
          </a:p>
          <a:p>
            <a:endParaRPr lang="en-US" altLang="en-US"/>
          </a:p>
        </p:txBody>
      </p:sp>
      <p:sp>
        <p:nvSpPr>
          <p:cNvPr id="75780" name="Slide Number Placeholder 3"/>
          <p:cNvSpPr>
            <a:spLocks noGrp="1"/>
          </p:cNvSpPr>
          <p:nvPr>
            <p:ph type="sldNum" sz="quarter" idx="5"/>
          </p:nvPr>
        </p:nvSpPr>
        <p:spPr>
          <a:noFill/>
        </p:spPr>
        <p:txBody>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fld id="{3B8C4A16-9E6A-4435-A2CA-A9EA31EFD99C}" type="slidenum">
              <a:rPr lang="en-US" altLang="zh-CN" sz="1200" b="0" smtClean="0"/>
              <a:pPr eaLnBrk="1" hangingPunct="1"/>
              <a:t>34</a:t>
            </a:fld>
            <a:endParaRPr lang="en-US" altLang="zh-CN" sz="1200" b="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p:spPr>
        <p:txBody>
          <a:bodyPr/>
          <a:lstStyle/>
          <a:p>
            <a:pPr eaLnBrk="1" hangingPunct="1"/>
            <a:r>
              <a:rPr lang="zh-CN" altLang="en-US" b="1"/>
              <a:t>**********</a:t>
            </a:r>
          </a:p>
          <a:p>
            <a:pPr eaLnBrk="1" hangingPunct="1"/>
            <a:r>
              <a:rPr lang="zh-CN" altLang="en-US" b="1"/>
              <a:t>           </a:t>
            </a:r>
            <a:r>
              <a:rPr lang="zh-CN" altLang="en-US" b="1">
                <a:solidFill>
                  <a:srgbClr val="FF0066"/>
                </a:solidFill>
                <a:ea typeface="楷体_GB2312" pitchFamily="49" charset="-122"/>
              </a:rPr>
              <a:t>最后，请同学们找出几个模型上所有对称要素。</a:t>
            </a:r>
            <a:endParaRPr lang="zh-CN" altLang="en-US" b="1" u="sng"/>
          </a:p>
          <a:p>
            <a:endParaRPr lang="en-US" altLang="en-US"/>
          </a:p>
        </p:txBody>
      </p:sp>
      <p:sp>
        <p:nvSpPr>
          <p:cNvPr id="76804" name="Slide Number Placeholder 3"/>
          <p:cNvSpPr>
            <a:spLocks noGrp="1"/>
          </p:cNvSpPr>
          <p:nvPr>
            <p:ph type="sldNum" sz="quarter" idx="5"/>
          </p:nvPr>
        </p:nvSpPr>
        <p:spPr>
          <a:noFill/>
        </p:spPr>
        <p:txBody>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fld id="{C95EDAD2-CDEC-42C7-A232-359B71F639BD}" type="slidenum">
              <a:rPr lang="en-US" altLang="zh-CN" sz="1200" b="0" smtClean="0"/>
              <a:pPr eaLnBrk="1" hangingPunct="1"/>
              <a:t>37</a:t>
            </a:fld>
            <a:endParaRPr lang="en-US" altLang="zh-CN" sz="1200" b="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p:spPr>
        <p:txBody>
          <a:bodyPr/>
          <a:lstStyle/>
          <a:p>
            <a:endParaRPr lang="en-US" altLang="en-US"/>
          </a:p>
        </p:txBody>
      </p:sp>
      <p:sp>
        <p:nvSpPr>
          <p:cNvPr id="77828"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38DF16E6-EEAA-4478-96E3-C5871B70F587}" type="slidenum">
              <a:rPr lang="en-US" altLang="zh-CN" smtClean="0"/>
              <a:pPr eaLnBrk="1" hangingPunct="1">
                <a:spcBef>
                  <a:spcPct val="0"/>
                </a:spcBef>
              </a:pPr>
              <a:t>38</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067E983D-B0AB-4392-9431-0AF40140DE56}" type="slidenum">
              <a:rPr lang="en-US" altLang="zh-CN" smtClean="0"/>
              <a:pPr>
                <a:defRPr/>
              </a:pPr>
              <a:t>40</a:t>
            </a:fld>
            <a:endParaRPr lang="en-US" altLang="zh-CN"/>
          </a:p>
        </p:txBody>
      </p:sp>
    </p:spTree>
    <p:extLst>
      <p:ext uri="{BB962C8B-B14F-4D97-AF65-F5344CB8AC3E}">
        <p14:creationId xmlns:p14="http://schemas.microsoft.com/office/powerpoint/2010/main" val="2875847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L6</a:t>
            </a:r>
            <a:endParaRPr lang="en-US"/>
          </a:p>
        </p:txBody>
      </p:sp>
      <p:sp>
        <p:nvSpPr>
          <p:cNvPr id="4" name="Slide Number Placeholder 3"/>
          <p:cNvSpPr>
            <a:spLocks noGrp="1"/>
          </p:cNvSpPr>
          <p:nvPr>
            <p:ph type="sldNum" sz="quarter" idx="10"/>
          </p:nvPr>
        </p:nvSpPr>
        <p:spPr/>
        <p:txBody>
          <a:bodyPr/>
          <a:lstStyle/>
          <a:p>
            <a:pPr>
              <a:defRPr/>
            </a:pPr>
            <a:fld id="{067E983D-B0AB-4392-9431-0AF40140DE56}" type="slidenum">
              <a:rPr lang="en-US" altLang="zh-CN" smtClean="0"/>
              <a:pPr>
                <a:defRPr/>
              </a:pPr>
              <a:t>42</a:t>
            </a:fld>
            <a:endParaRPr lang="en-US" altLang="zh-CN"/>
          </a:p>
        </p:txBody>
      </p:sp>
    </p:spTree>
    <p:extLst>
      <p:ext uri="{BB962C8B-B14F-4D97-AF65-F5344CB8AC3E}">
        <p14:creationId xmlns:p14="http://schemas.microsoft.com/office/powerpoint/2010/main" val="1316862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p:spPr>
        <p:txBody>
          <a:bodyPr/>
          <a:lstStyle/>
          <a:p>
            <a:pPr algn="just" eaLnBrk="1" hangingPunct="1">
              <a:lnSpc>
                <a:spcPct val="80000"/>
              </a:lnSpc>
              <a:buFontTx/>
              <a:buNone/>
            </a:pPr>
            <a:r>
              <a:rPr lang="en-US" altLang="zh-CN" sz="1200" b="1">
                <a:solidFill>
                  <a:srgbClr val="CC3300"/>
                </a:solidFill>
                <a:sym typeface="Symbol" pitchFamily="18" charset="2"/>
              </a:rPr>
              <a:t>Quiz: </a:t>
            </a:r>
            <a:r>
              <a:rPr lang="en-US" altLang="zh-CN" sz="1200" b="1">
                <a:sym typeface="Symbol" pitchFamily="18" charset="2"/>
              </a:rPr>
              <a:t>When two P</a:t>
            </a:r>
            <a:r>
              <a:rPr lang="en-US" altLang="zh-CN" sz="1200" b="1" baseline="0">
                <a:sym typeface="Symbol" pitchFamily="18" charset="2"/>
              </a:rPr>
              <a:t> </a:t>
            </a:r>
            <a:r>
              <a:rPr lang="en-US" altLang="zh-CN" sz="1200" b="1">
                <a:sym typeface="Symbol" pitchFamily="18" charset="2"/>
              </a:rPr>
              <a:t>intersect with 60°, which symmetry axis will be generated?</a:t>
            </a:r>
          </a:p>
        </p:txBody>
      </p:sp>
      <p:sp>
        <p:nvSpPr>
          <p:cNvPr id="79876"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BF68AA3A-659D-41B4-A997-B0348AC9700D}" type="slidenum">
              <a:rPr lang="en-US" altLang="zh-CN" smtClean="0"/>
              <a:pPr eaLnBrk="1" hangingPunct="1">
                <a:spcBef>
                  <a:spcPct val="0"/>
                </a:spcBef>
              </a:pPr>
              <a:t>46</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p:spPr>
        <p:txBody>
          <a:bodyPr/>
          <a:lstStyle/>
          <a:p>
            <a:r>
              <a:rPr lang="zh-CN" altLang="en-US"/>
              <a:t>对称面</a:t>
            </a:r>
            <a:r>
              <a:rPr lang="en-US" altLang="zh-CN"/>
              <a:t>P</a:t>
            </a:r>
            <a:r>
              <a:rPr lang="zh-CN" altLang="en-US"/>
              <a:t>包含</a:t>
            </a:r>
            <a:r>
              <a:rPr lang="en-US" altLang="zh-CN"/>
              <a:t>L</a:t>
            </a:r>
            <a:r>
              <a:rPr lang="en-US" altLang="zh-CN" baseline="30000"/>
              <a:t>n</a:t>
            </a:r>
            <a:endParaRPr lang="en-US" altLang="en-US" baseline="30000"/>
          </a:p>
        </p:txBody>
      </p:sp>
      <p:sp>
        <p:nvSpPr>
          <p:cNvPr id="79876"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BF68AA3A-659D-41B4-A997-B0348AC9700D}" type="slidenum">
              <a:rPr lang="en-US" altLang="zh-CN" smtClean="0"/>
              <a:pPr eaLnBrk="1" hangingPunct="1">
                <a:spcBef>
                  <a:spcPct val="0"/>
                </a:spcBef>
              </a:pPr>
              <a:t>47</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p:spPr>
        <p:txBody>
          <a:bodyPr/>
          <a:lstStyle/>
          <a:p>
            <a:r>
              <a:rPr lang="zh-CN" altLang="en-US"/>
              <a:t>对称面</a:t>
            </a:r>
            <a:r>
              <a:rPr lang="en-US" altLang="zh-CN"/>
              <a:t>P</a:t>
            </a:r>
            <a:r>
              <a:rPr lang="zh-CN" altLang="en-US"/>
              <a:t>包含</a:t>
            </a:r>
            <a:r>
              <a:rPr lang="en-US" altLang="zh-CN"/>
              <a:t>L</a:t>
            </a:r>
            <a:r>
              <a:rPr lang="en-US" altLang="zh-CN" baseline="30000"/>
              <a:t>n</a:t>
            </a:r>
            <a:endParaRPr lang="en-US" altLang="en-US" baseline="30000"/>
          </a:p>
        </p:txBody>
      </p:sp>
      <p:sp>
        <p:nvSpPr>
          <p:cNvPr id="79876"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BF68AA3A-659D-41B4-A997-B0348AC9700D}" type="slidenum">
              <a:rPr lang="en-US" altLang="zh-CN" smtClean="0"/>
              <a:pPr eaLnBrk="1" hangingPunct="1">
                <a:spcBef>
                  <a:spcPct val="0"/>
                </a:spcBef>
              </a:pPr>
              <a:t>48</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67E983D-B0AB-4392-9431-0AF40140DE56}" type="slidenum">
              <a:rPr lang="en-US" altLang="zh-CN" smtClean="0"/>
              <a:pPr>
                <a:defRPr/>
              </a:pPr>
              <a:t>50</a:t>
            </a:fld>
            <a:endParaRPr lang="en-US" altLang="zh-CN"/>
          </a:p>
        </p:txBody>
      </p:sp>
    </p:spTree>
    <p:extLst>
      <p:ext uri="{BB962C8B-B14F-4D97-AF65-F5344CB8AC3E}">
        <p14:creationId xmlns:p14="http://schemas.microsoft.com/office/powerpoint/2010/main" val="19061028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67E983D-B0AB-4392-9431-0AF40140DE56}" type="slidenum">
              <a:rPr lang="en-US" altLang="zh-CN" smtClean="0"/>
              <a:pPr>
                <a:defRPr/>
              </a:pPr>
              <a:t>51</a:t>
            </a:fld>
            <a:endParaRPr lang="en-US" altLang="zh-CN"/>
          </a:p>
        </p:txBody>
      </p:sp>
    </p:spTree>
    <p:extLst>
      <p:ext uri="{BB962C8B-B14F-4D97-AF65-F5344CB8AC3E}">
        <p14:creationId xmlns:p14="http://schemas.microsoft.com/office/powerpoint/2010/main" val="19061028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067E983D-B0AB-4392-9431-0AF40140DE56}" type="slidenum">
              <a:rPr lang="en-US" altLang="zh-CN" smtClean="0"/>
              <a:pPr>
                <a:defRPr/>
              </a:pPr>
              <a:t>53</a:t>
            </a:fld>
            <a:endParaRPr lang="en-US" altLang="zh-CN"/>
          </a:p>
        </p:txBody>
      </p:sp>
    </p:spTree>
    <p:extLst>
      <p:ext uri="{BB962C8B-B14F-4D97-AF65-F5344CB8AC3E}">
        <p14:creationId xmlns:p14="http://schemas.microsoft.com/office/powerpoint/2010/main" val="24920728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p:spPr>
        <p:txBody>
          <a:bodyPr/>
          <a:lstStyle/>
          <a:p>
            <a:r>
              <a:rPr lang="en-US" altLang="zh-CN" dirty="0"/>
              <a:t>Ⅰ.</a:t>
            </a:r>
            <a:r>
              <a:rPr lang="zh-CN" altLang="en-US" dirty="0"/>
              <a:t>结合律成立，即对</a:t>
            </a:r>
            <a:r>
              <a:rPr lang="en-US" altLang="en-US" dirty="0"/>
              <a:t>G</a:t>
            </a:r>
            <a:r>
              <a:rPr lang="zh-CN" altLang="en-US" dirty="0"/>
              <a:t>中任意元素</a:t>
            </a:r>
            <a:r>
              <a:rPr lang="en-US" altLang="en-US" dirty="0" err="1"/>
              <a:t>a,b,c</a:t>
            </a:r>
            <a:r>
              <a:rPr lang="zh-CN" altLang="en-US" dirty="0"/>
              <a:t>都有 </a:t>
            </a:r>
            <a:r>
              <a:rPr lang="en-US" altLang="zh-CN" dirty="0"/>
              <a:t>(</a:t>
            </a:r>
            <a:r>
              <a:rPr lang="en-US" altLang="en-US" dirty="0"/>
              <a:t>a*b)*c=a*(b*c)；</a:t>
            </a:r>
          </a:p>
          <a:p>
            <a:r>
              <a:rPr lang="en-US" altLang="en-US" dirty="0" err="1"/>
              <a:t>Ⅱ.G</a:t>
            </a:r>
            <a:r>
              <a:rPr lang="zh-CN" altLang="en-US" dirty="0"/>
              <a:t>中有元素</a:t>
            </a:r>
            <a:r>
              <a:rPr lang="en-US" altLang="en-US" dirty="0"/>
              <a:t>e，</a:t>
            </a:r>
            <a:r>
              <a:rPr lang="zh-CN" altLang="en-US" dirty="0"/>
              <a:t>叫做</a:t>
            </a:r>
            <a:r>
              <a:rPr lang="en-US" altLang="en-US" dirty="0"/>
              <a:t>G</a:t>
            </a:r>
            <a:r>
              <a:rPr lang="zh-CN" altLang="en-US" dirty="0"/>
              <a:t>的左单位元，它对</a:t>
            </a:r>
            <a:r>
              <a:rPr lang="en-US" altLang="en-US" dirty="0"/>
              <a:t>G</a:t>
            </a:r>
            <a:r>
              <a:rPr lang="zh-CN" altLang="en-US" dirty="0"/>
              <a:t>中每个元素</a:t>
            </a:r>
            <a:r>
              <a:rPr lang="en-US" altLang="en-US" dirty="0"/>
              <a:t>a</a:t>
            </a:r>
            <a:r>
              <a:rPr lang="zh-CN" altLang="en-US" dirty="0"/>
              <a:t>都有 </a:t>
            </a:r>
            <a:r>
              <a:rPr lang="en-US" altLang="en-US" dirty="0"/>
              <a:t>e*a=a；</a:t>
            </a:r>
          </a:p>
          <a:p>
            <a:r>
              <a:rPr lang="en-US" altLang="en-US" dirty="0"/>
              <a:t>Ⅲ.</a:t>
            </a:r>
            <a:r>
              <a:rPr lang="zh-CN" altLang="en-US" dirty="0"/>
              <a:t>对</a:t>
            </a:r>
            <a:r>
              <a:rPr lang="en-US" altLang="en-US" dirty="0"/>
              <a:t>G</a:t>
            </a:r>
            <a:r>
              <a:rPr lang="zh-CN" altLang="en-US" dirty="0"/>
              <a:t>中每个元素</a:t>
            </a:r>
            <a:r>
              <a:rPr lang="en-US" altLang="en-US" dirty="0"/>
              <a:t>a</a:t>
            </a:r>
            <a:r>
              <a:rPr lang="zh-CN" altLang="en-US" dirty="0"/>
              <a:t>在</a:t>
            </a:r>
            <a:r>
              <a:rPr lang="en-US" altLang="en-US" dirty="0"/>
              <a:t>G</a:t>
            </a:r>
            <a:r>
              <a:rPr lang="zh-CN" altLang="en-US" dirty="0"/>
              <a:t>中都有元素</a:t>
            </a:r>
            <a:r>
              <a:rPr lang="en-US" altLang="en-US" dirty="0"/>
              <a:t>a^（-1），</a:t>
            </a:r>
            <a:r>
              <a:rPr lang="zh-CN" altLang="en-US" dirty="0"/>
              <a:t>叫做</a:t>
            </a:r>
            <a:r>
              <a:rPr lang="en-US" altLang="en-US" dirty="0"/>
              <a:t>a</a:t>
            </a:r>
            <a:r>
              <a:rPr lang="zh-CN" altLang="en-US" dirty="0"/>
              <a:t>的左逆元，使 </a:t>
            </a:r>
            <a:r>
              <a:rPr lang="en-US" altLang="en-US" dirty="0"/>
              <a:t>a^（-1）*a=e；</a:t>
            </a:r>
          </a:p>
          <a:p>
            <a:r>
              <a:rPr lang="zh-CN" altLang="en-US" dirty="0"/>
              <a:t>则称</a:t>
            </a:r>
            <a:r>
              <a:rPr lang="en-US" altLang="en-US" dirty="0"/>
              <a:t>G</a:t>
            </a:r>
            <a:r>
              <a:rPr lang="zh-CN" altLang="en-US" dirty="0"/>
              <a:t>对代数运算*做成一个群。</a:t>
            </a:r>
            <a:endParaRPr lang="en-US" altLang="zh-CN" dirty="0"/>
          </a:p>
          <a:p>
            <a:endParaRPr lang="en-US" altLang="en-US" dirty="0"/>
          </a:p>
          <a:p>
            <a:r>
              <a:rPr lang="zh-CN" altLang="en-US" dirty="0"/>
              <a:t>群：数学概念，集合和其上的一种运算构成一个群。群要求满足封闭性，存在单位元素，存在逆元素，满足该运算的结合律；简单说群是按照某种规律相互联系着的一组元素的集合。群的元素可以是字母、数字等，在晶体对称理论中，群的元素是对称操作。</a:t>
            </a:r>
            <a:endParaRPr lang="en-US" altLang="en-US" dirty="0"/>
          </a:p>
        </p:txBody>
      </p:sp>
      <p:sp>
        <p:nvSpPr>
          <p:cNvPr id="80900"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9EDAD3C2-B990-4042-BE7C-ADF0F32828CE}" type="slidenum">
              <a:rPr lang="en-US" altLang="zh-CN" smtClean="0"/>
              <a:pPr eaLnBrk="1" hangingPunct="1">
                <a:spcBef>
                  <a:spcPct val="0"/>
                </a:spcBef>
              </a:pPr>
              <a:t>54</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p:spPr>
        <p:txBody>
          <a:bodyPr/>
          <a:lstStyle/>
          <a:p>
            <a:r>
              <a:rPr lang="en-US" altLang="zh-CN"/>
              <a:t>Ⅰ.</a:t>
            </a:r>
            <a:r>
              <a:rPr lang="zh-CN" altLang="en-US"/>
              <a:t>结合律成立，即对</a:t>
            </a:r>
            <a:r>
              <a:rPr lang="en-US" altLang="en-US"/>
              <a:t>G</a:t>
            </a:r>
            <a:r>
              <a:rPr lang="zh-CN" altLang="en-US"/>
              <a:t>中任意元素</a:t>
            </a:r>
            <a:r>
              <a:rPr lang="en-US" altLang="en-US" err="1"/>
              <a:t>a,b,c</a:t>
            </a:r>
            <a:r>
              <a:rPr lang="zh-CN" altLang="en-US"/>
              <a:t>都有 </a:t>
            </a:r>
            <a:r>
              <a:rPr lang="en-US" altLang="zh-CN"/>
              <a:t>(</a:t>
            </a:r>
            <a:r>
              <a:rPr lang="en-US" altLang="en-US"/>
              <a:t>a*b)*c=a*(b*c)；</a:t>
            </a:r>
          </a:p>
          <a:p>
            <a:r>
              <a:rPr lang="en-US" altLang="en-US" err="1"/>
              <a:t>Ⅱ.G</a:t>
            </a:r>
            <a:r>
              <a:rPr lang="zh-CN" altLang="en-US"/>
              <a:t>中有元素</a:t>
            </a:r>
            <a:r>
              <a:rPr lang="en-US" altLang="en-US"/>
              <a:t>e，</a:t>
            </a:r>
            <a:r>
              <a:rPr lang="zh-CN" altLang="en-US"/>
              <a:t>叫做</a:t>
            </a:r>
            <a:r>
              <a:rPr lang="en-US" altLang="en-US"/>
              <a:t>G</a:t>
            </a:r>
            <a:r>
              <a:rPr lang="zh-CN" altLang="en-US"/>
              <a:t>的左单位元，它对</a:t>
            </a:r>
            <a:r>
              <a:rPr lang="en-US" altLang="en-US"/>
              <a:t>G</a:t>
            </a:r>
            <a:r>
              <a:rPr lang="zh-CN" altLang="en-US"/>
              <a:t>中每个元素</a:t>
            </a:r>
            <a:r>
              <a:rPr lang="en-US" altLang="en-US"/>
              <a:t>a</a:t>
            </a:r>
            <a:r>
              <a:rPr lang="zh-CN" altLang="en-US"/>
              <a:t>都有 </a:t>
            </a:r>
            <a:r>
              <a:rPr lang="en-US" altLang="en-US"/>
              <a:t>e*a=a；</a:t>
            </a:r>
          </a:p>
          <a:p>
            <a:r>
              <a:rPr lang="en-US" altLang="en-US"/>
              <a:t>Ⅲ.</a:t>
            </a:r>
            <a:r>
              <a:rPr lang="zh-CN" altLang="en-US"/>
              <a:t>对</a:t>
            </a:r>
            <a:r>
              <a:rPr lang="en-US" altLang="en-US"/>
              <a:t>G</a:t>
            </a:r>
            <a:r>
              <a:rPr lang="zh-CN" altLang="en-US"/>
              <a:t>中每个元素</a:t>
            </a:r>
            <a:r>
              <a:rPr lang="en-US" altLang="en-US"/>
              <a:t>a</a:t>
            </a:r>
            <a:r>
              <a:rPr lang="zh-CN" altLang="en-US"/>
              <a:t>在</a:t>
            </a:r>
            <a:r>
              <a:rPr lang="en-US" altLang="en-US"/>
              <a:t>G</a:t>
            </a:r>
            <a:r>
              <a:rPr lang="zh-CN" altLang="en-US"/>
              <a:t>中都有元素</a:t>
            </a:r>
            <a:r>
              <a:rPr lang="en-US" altLang="en-US"/>
              <a:t>a^（-1），</a:t>
            </a:r>
            <a:r>
              <a:rPr lang="zh-CN" altLang="en-US"/>
              <a:t>叫做</a:t>
            </a:r>
            <a:r>
              <a:rPr lang="en-US" altLang="en-US"/>
              <a:t>a</a:t>
            </a:r>
            <a:r>
              <a:rPr lang="zh-CN" altLang="en-US"/>
              <a:t>的左逆元，使 </a:t>
            </a:r>
            <a:r>
              <a:rPr lang="en-US" altLang="en-US"/>
              <a:t>a^（-1）*a=e；</a:t>
            </a:r>
          </a:p>
          <a:p>
            <a:r>
              <a:rPr lang="zh-CN" altLang="en-US"/>
              <a:t>则称</a:t>
            </a:r>
            <a:r>
              <a:rPr lang="en-US" altLang="en-US"/>
              <a:t>G</a:t>
            </a:r>
            <a:r>
              <a:rPr lang="zh-CN" altLang="en-US"/>
              <a:t>对代数运算*做成一个群。</a:t>
            </a:r>
            <a:endParaRPr lang="en-US" altLang="zh-CN"/>
          </a:p>
          <a:p>
            <a:endParaRPr lang="en-US" altLang="en-US"/>
          </a:p>
          <a:p>
            <a:r>
              <a:rPr lang="zh-CN" altLang="en-US"/>
              <a:t>群：数学概念，集合和其上的一种运算构成一个群。群要求满足封闭性，存在单位元素，存在逆元素，满足该运算的结合律；简单说群是按照某种规律相互联系着的一组元素的集合。群的元素可以是字母、数字等，在晶体对称理论中，群的元素是对称操作。</a:t>
            </a:r>
            <a:endParaRPr lang="en-US" altLang="en-US"/>
          </a:p>
        </p:txBody>
      </p:sp>
      <p:sp>
        <p:nvSpPr>
          <p:cNvPr id="80900"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9EDAD3C2-B990-4042-BE7C-ADF0F32828CE}" type="slidenum">
              <a:rPr lang="en-US" altLang="zh-CN" smtClean="0"/>
              <a:pPr eaLnBrk="1" hangingPunct="1">
                <a:spcBef>
                  <a:spcPct val="0"/>
                </a:spcBef>
              </a:pPr>
              <a:t>55</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p:spPr>
        <p:txBody>
          <a:bodyPr/>
          <a:lstStyle/>
          <a:p>
            <a:r>
              <a:rPr lang="en-US" altLang="zh-CN"/>
              <a:t>Ⅰ.</a:t>
            </a:r>
            <a:r>
              <a:rPr lang="zh-CN" altLang="en-US"/>
              <a:t>结合律成立，即对</a:t>
            </a:r>
            <a:r>
              <a:rPr lang="en-US" altLang="en-US"/>
              <a:t>G</a:t>
            </a:r>
            <a:r>
              <a:rPr lang="zh-CN" altLang="en-US"/>
              <a:t>中任意元素</a:t>
            </a:r>
            <a:r>
              <a:rPr lang="en-US" altLang="en-US" err="1"/>
              <a:t>a,b,c</a:t>
            </a:r>
            <a:r>
              <a:rPr lang="zh-CN" altLang="en-US"/>
              <a:t>都有 </a:t>
            </a:r>
            <a:r>
              <a:rPr lang="en-US" altLang="zh-CN"/>
              <a:t>(</a:t>
            </a:r>
            <a:r>
              <a:rPr lang="en-US" altLang="en-US"/>
              <a:t>a*b)*c=a*(b*c)；</a:t>
            </a:r>
          </a:p>
          <a:p>
            <a:r>
              <a:rPr lang="en-US" altLang="en-US" err="1"/>
              <a:t>Ⅱ.G</a:t>
            </a:r>
            <a:r>
              <a:rPr lang="zh-CN" altLang="en-US"/>
              <a:t>中有元素</a:t>
            </a:r>
            <a:r>
              <a:rPr lang="en-US" altLang="en-US"/>
              <a:t>e，</a:t>
            </a:r>
            <a:r>
              <a:rPr lang="zh-CN" altLang="en-US"/>
              <a:t>叫做</a:t>
            </a:r>
            <a:r>
              <a:rPr lang="en-US" altLang="en-US"/>
              <a:t>G</a:t>
            </a:r>
            <a:r>
              <a:rPr lang="zh-CN" altLang="en-US"/>
              <a:t>的左单位元，它对</a:t>
            </a:r>
            <a:r>
              <a:rPr lang="en-US" altLang="en-US"/>
              <a:t>G</a:t>
            </a:r>
            <a:r>
              <a:rPr lang="zh-CN" altLang="en-US"/>
              <a:t>中每个元素</a:t>
            </a:r>
            <a:r>
              <a:rPr lang="en-US" altLang="en-US"/>
              <a:t>a</a:t>
            </a:r>
            <a:r>
              <a:rPr lang="zh-CN" altLang="en-US"/>
              <a:t>都有 </a:t>
            </a:r>
            <a:r>
              <a:rPr lang="en-US" altLang="en-US"/>
              <a:t>e*a=a；</a:t>
            </a:r>
          </a:p>
          <a:p>
            <a:r>
              <a:rPr lang="en-US" altLang="en-US"/>
              <a:t>Ⅲ.</a:t>
            </a:r>
            <a:r>
              <a:rPr lang="zh-CN" altLang="en-US"/>
              <a:t>对</a:t>
            </a:r>
            <a:r>
              <a:rPr lang="en-US" altLang="en-US"/>
              <a:t>G</a:t>
            </a:r>
            <a:r>
              <a:rPr lang="zh-CN" altLang="en-US"/>
              <a:t>中每个元素</a:t>
            </a:r>
            <a:r>
              <a:rPr lang="en-US" altLang="en-US"/>
              <a:t>a</a:t>
            </a:r>
            <a:r>
              <a:rPr lang="zh-CN" altLang="en-US"/>
              <a:t>在</a:t>
            </a:r>
            <a:r>
              <a:rPr lang="en-US" altLang="en-US"/>
              <a:t>G</a:t>
            </a:r>
            <a:r>
              <a:rPr lang="zh-CN" altLang="en-US"/>
              <a:t>中都有元素</a:t>
            </a:r>
            <a:r>
              <a:rPr lang="en-US" altLang="en-US"/>
              <a:t>a^（-1），</a:t>
            </a:r>
            <a:r>
              <a:rPr lang="zh-CN" altLang="en-US"/>
              <a:t>叫做</a:t>
            </a:r>
            <a:r>
              <a:rPr lang="en-US" altLang="en-US"/>
              <a:t>a</a:t>
            </a:r>
            <a:r>
              <a:rPr lang="zh-CN" altLang="en-US"/>
              <a:t>的左逆元，使 </a:t>
            </a:r>
            <a:r>
              <a:rPr lang="en-US" altLang="en-US"/>
              <a:t>a^（-1）*a=e；</a:t>
            </a:r>
          </a:p>
          <a:p>
            <a:r>
              <a:rPr lang="zh-CN" altLang="en-US"/>
              <a:t>则称</a:t>
            </a:r>
            <a:r>
              <a:rPr lang="en-US" altLang="en-US"/>
              <a:t>G</a:t>
            </a:r>
            <a:r>
              <a:rPr lang="zh-CN" altLang="en-US"/>
              <a:t>对代数运算*做成一个群。</a:t>
            </a:r>
            <a:endParaRPr lang="en-US" altLang="zh-CN"/>
          </a:p>
          <a:p>
            <a:endParaRPr lang="en-US" altLang="en-US"/>
          </a:p>
          <a:p>
            <a:r>
              <a:rPr lang="zh-CN" altLang="en-US"/>
              <a:t>群：数学概念，集合和其上的一种运算构成一个群。群要求满足封闭性，存在单位元素，存在逆元素，满足该运算的结合律；简单说群是按照某种规律相互联系着的一组元素的集合。群的元素可以是字母、数字等，在晶体对称理论中，群的元素是对称操作。</a:t>
            </a:r>
            <a:endParaRPr lang="en-US" altLang="en-US"/>
          </a:p>
        </p:txBody>
      </p:sp>
      <p:sp>
        <p:nvSpPr>
          <p:cNvPr id="80900"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9EDAD3C2-B990-4042-BE7C-ADF0F32828CE}" type="slidenum">
              <a:rPr lang="en-US" altLang="zh-CN" smtClean="0"/>
              <a:pPr eaLnBrk="1" hangingPunct="1">
                <a:spcBef>
                  <a:spcPct val="0"/>
                </a:spcBef>
              </a:pPr>
              <a:t>56</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p:spPr>
        <p:txBody>
          <a:bodyPr/>
          <a:lstStyle/>
          <a:p>
            <a:r>
              <a:rPr lang="en-US" altLang="zh-CN"/>
              <a:t>Ⅰ.</a:t>
            </a:r>
            <a:r>
              <a:rPr lang="zh-CN" altLang="en-US"/>
              <a:t>结合律成立，即对</a:t>
            </a:r>
            <a:r>
              <a:rPr lang="en-US" altLang="en-US"/>
              <a:t>G</a:t>
            </a:r>
            <a:r>
              <a:rPr lang="zh-CN" altLang="en-US"/>
              <a:t>中任意元素</a:t>
            </a:r>
            <a:r>
              <a:rPr lang="en-US" altLang="en-US" err="1"/>
              <a:t>a,b,c</a:t>
            </a:r>
            <a:r>
              <a:rPr lang="zh-CN" altLang="en-US"/>
              <a:t>都有 </a:t>
            </a:r>
            <a:r>
              <a:rPr lang="en-US" altLang="zh-CN"/>
              <a:t>(</a:t>
            </a:r>
            <a:r>
              <a:rPr lang="en-US" altLang="en-US"/>
              <a:t>a*b)*c=a*(b*c)；</a:t>
            </a:r>
          </a:p>
          <a:p>
            <a:r>
              <a:rPr lang="en-US" altLang="en-US" err="1"/>
              <a:t>Ⅱ.G</a:t>
            </a:r>
            <a:r>
              <a:rPr lang="zh-CN" altLang="en-US"/>
              <a:t>中有元素</a:t>
            </a:r>
            <a:r>
              <a:rPr lang="en-US" altLang="en-US"/>
              <a:t>e，</a:t>
            </a:r>
            <a:r>
              <a:rPr lang="zh-CN" altLang="en-US"/>
              <a:t>叫做</a:t>
            </a:r>
            <a:r>
              <a:rPr lang="en-US" altLang="en-US"/>
              <a:t>G</a:t>
            </a:r>
            <a:r>
              <a:rPr lang="zh-CN" altLang="en-US"/>
              <a:t>的左单位元，它对</a:t>
            </a:r>
            <a:r>
              <a:rPr lang="en-US" altLang="en-US"/>
              <a:t>G</a:t>
            </a:r>
            <a:r>
              <a:rPr lang="zh-CN" altLang="en-US"/>
              <a:t>中每个元素</a:t>
            </a:r>
            <a:r>
              <a:rPr lang="en-US" altLang="en-US"/>
              <a:t>a</a:t>
            </a:r>
            <a:r>
              <a:rPr lang="zh-CN" altLang="en-US"/>
              <a:t>都有 </a:t>
            </a:r>
            <a:r>
              <a:rPr lang="en-US" altLang="en-US"/>
              <a:t>e*a=a；</a:t>
            </a:r>
          </a:p>
          <a:p>
            <a:r>
              <a:rPr lang="en-US" altLang="en-US"/>
              <a:t>Ⅲ.</a:t>
            </a:r>
            <a:r>
              <a:rPr lang="zh-CN" altLang="en-US"/>
              <a:t>对</a:t>
            </a:r>
            <a:r>
              <a:rPr lang="en-US" altLang="en-US"/>
              <a:t>G</a:t>
            </a:r>
            <a:r>
              <a:rPr lang="zh-CN" altLang="en-US"/>
              <a:t>中每个元素</a:t>
            </a:r>
            <a:r>
              <a:rPr lang="en-US" altLang="en-US"/>
              <a:t>a</a:t>
            </a:r>
            <a:r>
              <a:rPr lang="zh-CN" altLang="en-US"/>
              <a:t>在</a:t>
            </a:r>
            <a:r>
              <a:rPr lang="en-US" altLang="en-US"/>
              <a:t>G</a:t>
            </a:r>
            <a:r>
              <a:rPr lang="zh-CN" altLang="en-US"/>
              <a:t>中都有元素</a:t>
            </a:r>
            <a:r>
              <a:rPr lang="en-US" altLang="en-US"/>
              <a:t>a^（-1），</a:t>
            </a:r>
            <a:r>
              <a:rPr lang="zh-CN" altLang="en-US"/>
              <a:t>叫做</a:t>
            </a:r>
            <a:r>
              <a:rPr lang="en-US" altLang="en-US"/>
              <a:t>a</a:t>
            </a:r>
            <a:r>
              <a:rPr lang="zh-CN" altLang="en-US"/>
              <a:t>的左逆元，使 </a:t>
            </a:r>
            <a:r>
              <a:rPr lang="en-US" altLang="en-US"/>
              <a:t>a^（-1）*a=e；</a:t>
            </a:r>
          </a:p>
          <a:p>
            <a:r>
              <a:rPr lang="zh-CN" altLang="en-US"/>
              <a:t>则称</a:t>
            </a:r>
            <a:r>
              <a:rPr lang="en-US" altLang="en-US"/>
              <a:t>G</a:t>
            </a:r>
            <a:r>
              <a:rPr lang="zh-CN" altLang="en-US"/>
              <a:t>对代数运算*做成一个群。</a:t>
            </a:r>
            <a:endParaRPr lang="en-US" altLang="zh-CN"/>
          </a:p>
          <a:p>
            <a:endParaRPr lang="en-US" altLang="en-US"/>
          </a:p>
          <a:p>
            <a:r>
              <a:rPr lang="zh-CN" altLang="en-US"/>
              <a:t>群：数学概念，集合和其上的一种运算构成一个群。群要求满足封闭性，存在单位元素，存在逆元素，满足该运算的结合律；简单说群是按照某种规律相互联系着的一组元素的集合。群的元素可以是字母、数字等，在晶体对称理论中，群的元素是对称操作。</a:t>
            </a:r>
            <a:endParaRPr lang="en-US" altLang="en-US"/>
          </a:p>
        </p:txBody>
      </p:sp>
      <p:sp>
        <p:nvSpPr>
          <p:cNvPr id="80900"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9EDAD3C2-B990-4042-BE7C-ADF0F32828CE}" type="slidenum">
              <a:rPr lang="en-US" altLang="zh-CN" smtClean="0"/>
              <a:pPr eaLnBrk="1" hangingPunct="1">
                <a:spcBef>
                  <a:spcPct val="0"/>
                </a:spcBef>
              </a:pPr>
              <a:t>57</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p:spPr>
        <p:txBody>
          <a:bodyPr/>
          <a:lstStyle/>
          <a:p>
            <a:r>
              <a:rPr lang="en-US" altLang="zh-CN" b="1" i="1">
                <a:solidFill>
                  <a:srgbClr val="FF33CC"/>
                </a:solidFill>
              </a:rPr>
              <a:t>L</a:t>
            </a:r>
            <a:r>
              <a:rPr lang="en-US" altLang="zh-CN" b="1" i="1" baseline="30000">
                <a:solidFill>
                  <a:srgbClr val="FF33CC"/>
                </a:solidFill>
              </a:rPr>
              <a:t>n </a:t>
            </a:r>
            <a:r>
              <a:rPr lang="en-US" altLang="zh-CN" b="1">
                <a:solidFill>
                  <a:srgbClr val="FF33CC"/>
                </a:solidFill>
                <a:sym typeface="Symbol" pitchFamily="18" charset="2"/>
              </a:rPr>
              <a:t></a:t>
            </a:r>
            <a:r>
              <a:rPr lang="en-US" altLang="zh-CN" b="1" i="1" baseline="30000">
                <a:solidFill>
                  <a:srgbClr val="FF33CC"/>
                </a:solidFill>
              </a:rPr>
              <a:t> </a:t>
            </a:r>
            <a:r>
              <a:rPr lang="en-US" altLang="zh-CN" b="1" i="1">
                <a:solidFill>
                  <a:srgbClr val="FF33CC"/>
                </a:solidFill>
              </a:rPr>
              <a:t>P</a:t>
            </a:r>
            <a:r>
              <a:rPr lang="en-US" altLang="zh-CN" b="1" i="1" baseline="-30000">
                <a:solidFill>
                  <a:srgbClr val="FF33CC"/>
                </a:solidFill>
              </a:rPr>
              <a:t>⊥ </a:t>
            </a:r>
            <a:r>
              <a:rPr lang="en-US" altLang="zh-CN" b="1">
                <a:solidFill>
                  <a:srgbClr val="FF33CC"/>
                </a:solidFill>
                <a:sym typeface="Symbol" pitchFamily="18" charset="2"/>
              </a:rPr>
              <a:t></a:t>
            </a:r>
            <a:r>
              <a:rPr lang="en-US" altLang="zh-CN" b="1" i="1" baseline="-30000">
                <a:solidFill>
                  <a:srgbClr val="FF33CC"/>
                </a:solidFill>
              </a:rPr>
              <a:t> </a:t>
            </a:r>
            <a:r>
              <a:rPr lang="en-US" altLang="zh-CN" b="1" i="1">
                <a:solidFill>
                  <a:srgbClr val="FF33CC"/>
                </a:solidFill>
              </a:rPr>
              <a:t>P</a:t>
            </a:r>
            <a:r>
              <a:rPr lang="en-US" altLang="zh-CN" b="1" i="1" baseline="-30000">
                <a:solidFill>
                  <a:srgbClr val="FF33CC"/>
                </a:solidFill>
              </a:rPr>
              <a:t>∥</a:t>
            </a:r>
            <a:r>
              <a:rPr lang="en-US" altLang="zh-CN" b="1">
                <a:solidFill>
                  <a:srgbClr val="FF33CC"/>
                </a:solidFill>
              </a:rPr>
              <a:t>=</a:t>
            </a:r>
            <a:r>
              <a:rPr lang="en-US" altLang="zh-CN" b="1" i="1">
                <a:solidFill>
                  <a:srgbClr val="FF33CC"/>
                </a:solidFill>
              </a:rPr>
              <a:t>L</a:t>
            </a:r>
            <a:r>
              <a:rPr lang="en-US" altLang="zh-CN" b="1" i="1" baseline="30000">
                <a:solidFill>
                  <a:srgbClr val="FF33CC"/>
                </a:solidFill>
              </a:rPr>
              <a:t>n </a:t>
            </a:r>
            <a:r>
              <a:rPr lang="en-US" altLang="zh-CN" b="1">
                <a:solidFill>
                  <a:srgbClr val="FF33CC"/>
                </a:solidFill>
                <a:sym typeface="Symbol" pitchFamily="18" charset="2"/>
              </a:rPr>
              <a:t></a:t>
            </a:r>
            <a:r>
              <a:rPr lang="en-US" altLang="zh-CN" b="1" i="1" baseline="30000">
                <a:solidFill>
                  <a:srgbClr val="FF33CC"/>
                </a:solidFill>
              </a:rPr>
              <a:t> </a:t>
            </a:r>
            <a:r>
              <a:rPr lang="en-US" altLang="zh-CN" b="1" i="1">
                <a:solidFill>
                  <a:srgbClr val="FF33CC"/>
                </a:solidFill>
              </a:rPr>
              <a:t>P</a:t>
            </a:r>
            <a:r>
              <a:rPr lang="en-US" altLang="zh-CN" b="1" i="1" baseline="-30000">
                <a:solidFill>
                  <a:srgbClr val="FF33CC"/>
                </a:solidFill>
              </a:rPr>
              <a:t>⊥ </a:t>
            </a:r>
            <a:r>
              <a:rPr lang="en-US" altLang="zh-CN" b="1">
                <a:solidFill>
                  <a:srgbClr val="FF33CC"/>
                </a:solidFill>
                <a:sym typeface="Symbol" pitchFamily="18" charset="2"/>
              </a:rPr>
              <a:t></a:t>
            </a:r>
            <a:r>
              <a:rPr lang="en-US" altLang="zh-CN" b="1" i="1" baseline="-30000">
                <a:solidFill>
                  <a:srgbClr val="FF33CC"/>
                </a:solidFill>
              </a:rPr>
              <a:t> </a:t>
            </a:r>
            <a:r>
              <a:rPr lang="en-US" altLang="zh-CN" b="1" i="1">
                <a:solidFill>
                  <a:srgbClr val="FF33CC"/>
                </a:solidFill>
              </a:rPr>
              <a:t>P</a:t>
            </a:r>
            <a:r>
              <a:rPr lang="en-US" altLang="zh-CN" b="1" i="1" baseline="-30000">
                <a:solidFill>
                  <a:srgbClr val="FF33CC"/>
                </a:solidFill>
              </a:rPr>
              <a:t>∥ </a:t>
            </a:r>
            <a:r>
              <a:rPr lang="en-US" altLang="zh-CN" b="1">
                <a:solidFill>
                  <a:srgbClr val="FF33CC"/>
                </a:solidFill>
                <a:sym typeface="Symbol" pitchFamily="18" charset="2"/>
              </a:rPr>
              <a:t></a:t>
            </a:r>
            <a:r>
              <a:rPr lang="en-US" altLang="zh-CN" b="1" i="1" baseline="-30000">
                <a:solidFill>
                  <a:srgbClr val="FF33CC"/>
                </a:solidFill>
              </a:rPr>
              <a:t> </a:t>
            </a:r>
            <a:r>
              <a:rPr lang="en-US" altLang="zh-CN" b="1" i="1">
                <a:solidFill>
                  <a:srgbClr val="FF33CC"/>
                </a:solidFill>
              </a:rPr>
              <a:t>L</a:t>
            </a:r>
            <a:r>
              <a:rPr lang="en-US" altLang="zh-CN" b="1" baseline="30000">
                <a:solidFill>
                  <a:srgbClr val="FF33CC"/>
                </a:solidFill>
              </a:rPr>
              <a:t>2</a:t>
            </a:r>
            <a:r>
              <a:rPr lang="en-US" altLang="zh-CN" b="1" i="1" baseline="-30000">
                <a:solidFill>
                  <a:srgbClr val="FF33CC"/>
                </a:solidFill>
              </a:rPr>
              <a:t>⊥</a:t>
            </a:r>
            <a:r>
              <a:rPr lang="en-US" altLang="zh-CN" b="1" baseline="30000">
                <a:solidFill>
                  <a:srgbClr val="FF33CC"/>
                </a:solidFill>
              </a:rPr>
              <a:t> </a:t>
            </a:r>
            <a:r>
              <a:rPr lang="en-US" altLang="zh-CN" b="1">
                <a:solidFill>
                  <a:srgbClr val="FF33CC"/>
                </a:solidFill>
              </a:rPr>
              <a:t>=</a:t>
            </a:r>
            <a:r>
              <a:rPr lang="en-US" altLang="zh-CN" b="1" i="1">
                <a:solidFill>
                  <a:srgbClr val="FF33CC"/>
                </a:solidFill>
              </a:rPr>
              <a:t>L</a:t>
            </a:r>
            <a:r>
              <a:rPr lang="en-US" altLang="zh-CN" b="1" i="1" baseline="30000">
                <a:solidFill>
                  <a:srgbClr val="FF33CC"/>
                </a:solidFill>
              </a:rPr>
              <a:t>n</a:t>
            </a:r>
            <a:r>
              <a:rPr lang="en-US" altLang="zh-CN" b="1" i="1">
                <a:solidFill>
                  <a:srgbClr val="FF33CC"/>
                </a:solidFill>
              </a:rPr>
              <a:t>nL</a:t>
            </a:r>
            <a:r>
              <a:rPr lang="en-US" altLang="zh-CN" b="1" baseline="30000">
                <a:solidFill>
                  <a:srgbClr val="FF33CC"/>
                </a:solidFill>
              </a:rPr>
              <a:t>2</a:t>
            </a:r>
            <a:r>
              <a:rPr lang="en-US" altLang="zh-CN" b="1">
                <a:solidFill>
                  <a:srgbClr val="FF33CC"/>
                </a:solidFill>
              </a:rPr>
              <a:t>(</a:t>
            </a:r>
            <a:r>
              <a:rPr lang="en-US" altLang="zh-CN" b="1" i="1">
                <a:solidFill>
                  <a:srgbClr val="FF33CC"/>
                </a:solidFill>
              </a:rPr>
              <a:t>n </a:t>
            </a:r>
            <a:r>
              <a:rPr lang="en-US" altLang="zh-CN" b="1">
                <a:solidFill>
                  <a:srgbClr val="FF33CC"/>
                </a:solidFill>
              </a:rPr>
              <a:t>+ 1)</a:t>
            </a:r>
            <a:r>
              <a:rPr lang="en-US" altLang="zh-CN" b="1" i="1">
                <a:solidFill>
                  <a:srgbClr val="FF33CC"/>
                </a:solidFill>
              </a:rPr>
              <a:t>P</a:t>
            </a:r>
            <a:r>
              <a:rPr lang="zh-CN" altLang="en-US" b="1">
                <a:solidFill>
                  <a:srgbClr val="FF33CC"/>
                </a:solidFill>
              </a:rPr>
              <a:t>（</a:t>
            </a:r>
            <a:r>
              <a:rPr lang="en-US" altLang="zh-CN" b="1" i="1">
                <a:solidFill>
                  <a:srgbClr val="FF33CC"/>
                </a:solidFill>
              </a:rPr>
              <a:t>C</a:t>
            </a:r>
            <a:r>
              <a:rPr lang="zh-CN" altLang="en-US" b="1">
                <a:solidFill>
                  <a:srgbClr val="FF33CC"/>
                </a:solidFill>
              </a:rPr>
              <a:t>）</a:t>
            </a:r>
            <a:r>
              <a:rPr lang="en-US" altLang="zh-CN" b="1">
                <a:solidFill>
                  <a:srgbClr val="FF33CC"/>
                </a:solidFill>
              </a:rPr>
              <a:t>; </a:t>
            </a:r>
            <a:r>
              <a:rPr lang="zh-CN" altLang="en-US" b="1">
                <a:solidFill>
                  <a:srgbClr val="FF33CC"/>
                </a:solidFill>
              </a:rPr>
              <a:t>这里</a:t>
            </a:r>
            <a:r>
              <a:rPr lang="en-US" altLang="zh-CN" b="1">
                <a:solidFill>
                  <a:srgbClr val="FF33CC"/>
                </a:solidFill>
              </a:rPr>
              <a:t>n+1</a:t>
            </a:r>
            <a:r>
              <a:rPr lang="zh-CN" altLang="en-US" b="1">
                <a:solidFill>
                  <a:srgbClr val="FF33CC"/>
                </a:solidFill>
              </a:rPr>
              <a:t>个</a:t>
            </a:r>
            <a:r>
              <a:rPr lang="en-US" altLang="zh-CN" b="1">
                <a:solidFill>
                  <a:srgbClr val="FF33CC"/>
                </a:solidFill>
              </a:rPr>
              <a:t>P</a:t>
            </a:r>
            <a:r>
              <a:rPr lang="zh-CN" altLang="en-US" b="1">
                <a:solidFill>
                  <a:srgbClr val="FF33CC"/>
                </a:solidFill>
              </a:rPr>
              <a:t>有</a:t>
            </a:r>
            <a:r>
              <a:rPr lang="en-US" altLang="zh-CN" b="1">
                <a:solidFill>
                  <a:srgbClr val="FF33CC"/>
                </a:solidFill>
              </a:rPr>
              <a:t>n</a:t>
            </a:r>
            <a:r>
              <a:rPr lang="zh-CN" altLang="en-US" b="1">
                <a:solidFill>
                  <a:srgbClr val="FF33CC"/>
                </a:solidFill>
              </a:rPr>
              <a:t>个来自于</a:t>
            </a:r>
            <a:r>
              <a:rPr lang="en-US" altLang="zh-CN" b="1">
                <a:solidFill>
                  <a:srgbClr val="FF33CC"/>
                </a:solidFill>
              </a:rPr>
              <a:t>Ln</a:t>
            </a:r>
            <a:r>
              <a:rPr lang="zh-CN" altLang="en-US" b="1">
                <a:solidFill>
                  <a:srgbClr val="FF33CC"/>
                </a:solidFill>
              </a:rPr>
              <a:t>和</a:t>
            </a:r>
            <a:r>
              <a:rPr lang="en-US" altLang="zh-CN" b="1">
                <a:solidFill>
                  <a:srgbClr val="FF33CC"/>
                </a:solidFill>
              </a:rPr>
              <a:t>P</a:t>
            </a:r>
            <a:r>
              <a:rPr lang="en-US" altLang="zh-CN" b="1" baseline="-25000">
                <a:solidFill>
                  <a:srgbClr val="FF33CC"/>
                </a:solidFill>
              </a:rPr>
              <a:t>//</a:t>
            </a:r>
            <a:r>
              <a:rPr lang="en-US" altLang="zh-CN" b="1">
                <a:solidFill>
                  <a:srgbClr val="FF33CC"/>
                </a:solidFill>
              </a:rPr>
              <a:t>, +1</a:t>
            </a:r>
            <a:r>
              <a:rPr lang="zh-CN" altLang="en-US" b="1">
                <a:solidFill>
                  <a:srgbClr val="FF33CC"/>
                </a:solidFill>
              </a:rPr>
              <a:t>来自于</a:t>
            </a:r>
            <a:r>
              <a:rPr lang="en-US" altLang="zh-CN" b="1" i="1">
                <a:solidFill>
                  <a:srgbClr val="FF33CC"/>
                </a:solidFill>
              </a:rPr>
              <a:t>P</a:t>
            </a:r>
            <a:r>
              <a:rPr lang="en-US" altLang="zh-CN" b="1" i="1" baseline="-30000">
                <a:solidFill>
                  <a:srgbClr val="FF33CC"/>
                </a:solidFill>
              </a:rPr>
              <a:t>⊥</a:t>
            </a:r>
            <a:endParaRPr lang="en-US" altLang="en-US"/>
          </a:p>
        </p:txBody>
      </p:sp>
      <p:sp>
        <p:nvSpPr>
          <p:cNvPr id="81924"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66146439-26F1-4950-8672-EC19EAC32CC6}" type="slidenum">
              <a:rPr lang="en-US" altLang="zh-CN" smtClean="0"/>
              <a:pPr eaLnBrk="1" hangingPunct="1">
                <a:spcBef>
                  <a:spcPct val="0"/>
                </a:spcBef>
              </a:pPr>
              <a:t>61</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p:spPr>
        <p:txBody>
          <a:bodyPr/>
          <a:lstStyle/>
          <a:p>
            <a:r>
              <a:rPr lang="en-US" altLang="zh-CN" b="1" i="1">
                <a:solidFill>
                  <a:srgbClr val="FF33CC"/>
                </a:solidFill>
              </a:rPr>
              <a:t>L</a:t>
            </a:r>
            <a:r>
              <a:rPr lang="en-US" altLang="zh-CN" b="1" i="1" baseline="30000">
                <a:solidFill>
                  <a:srgbClr val="FF33CC"/>
                </a:solidFill>
              </a:rPr>
              <a:t>n </a:t>
            </a:r>
            <a:r>
              <a:rPr lang="en-US" altLang="zh-CN" b="1">
                <a:solidFill>
                  <a:srgbClr val="FF33CC"/>
                </a:solidFill>
                <a:sym typeface="Symbol" pitchFamily="18" charset="2"/>
              </a:rPr>
              <a:t></a:t>
            </a:r>
            <a:r>
              <a:rPr lang="en-US" altLang="zh-CN" b="1" i="1" baseline="30000">
                <a:solidFill>
                  <a:srgbClr val="FF33CC"/>
                </a:solidFill>
              </a:rPr>
              <a:t> </a:t>
            </a:r>
            <a:r>
              <a:rPr lang="en-US" altLang="zh-CN" b="1" i="1">
                <a:solidFill>
                  <a:srgbClr val="FF33CC"/>
                </a:solidFill>
              </a:rPr>
              <a:t>P</a:t>
            </a:r>
            <a:r>
              <a:rPr lang="en-US" altLang="zh-CN" b="1" i="1" baseline="-30000">
                <a:solidFill>
                  <a:srgbClr val="FF33CC"/>
                </a:solidFill>
              </a:rPr>
              <a:t>⊥ </a:t>
            </a:r>
            <a:r>
              <a:rPr lang="en-US" altLang="zh-CN" b="1">
                <a:solidFill>
                  <a:srgbClr val="FF33CC"/>
                </a:solidFill>
                <a:sym typeface="Symbol" pitchFamily="18" charset="2"/>
              </a:rPr>
              <a:t></a:t>
            </a:r>
            <a:r>
              <a:rPr lang="en-US" altLang="zh-CN" b="1" i="1" baseline="-30000">
                <a:solidFill>
                  <a:srgbClr val="FF33CC"/>
                </a:solidFill>
              </a:rPr>
              <a:t> </a:t>
            </a:r>
            <a:r>
              <a:rPr lang="en-US" altLang="zh-CN" b="1" i="1">
                <a:solidFill>
                  <a:srgbClr val="FF33CC"/>
                </a:solidFill>
              </a:rPr>
              <a:t>P</a:t>
            </a:r>
            <a:r>
              <a:rPr lang="en-US" altLang="zh-CN" b="1" i="1" baseline="-30000">
                <a:solidFill>
                  <a:srgbClr val="FF33CC"/>
                </a:solidFill>
              </a:rPr>
              <a:t>∥</a:t>
            </a:r>
            <a:r>
              <a:rPr lang="en-US" altLang="zh-CN" b="1">
                <a:solidFill>
                  <a:srgbClr val="FF33CC"/>
                </a:solidFill>
              </a:rPr>
              <a:t>=</a:t>
            </a:r>
            <a:r>
              <a:rPr lang="en-US" altLang="zh-CN" b="1" i="1">
                <a:solidFill>
                  <a:srgbClr val="FF33CC"/>
                </a:solidFill>
              </a:rPr>
              <a:t>L</a:t>
            </a:r>
            <a:r>
              <a:rPr lang="en-US" altLang="zh-CN" b="1" i="1" baseline="30000">
                <a:solidFill>
                  <a:srgbClr val="FF33CC"/>
                </a:solidFill>
              </a:rPr>
              <a:t>n </a:t>
            </a:r>
            <a:r>
              <a:rPr lang="en-US" altLang="zh-CN" b="1">
                <a:solidFill>
                  <a:srgbClr val="FF33CC"/>
                </a:solidFill>
                <a:sym typeface="Symbol" pitchFamily="18" charset="2"/>
              </a:rPr>
              <a:t></a:t>
            </a:r>
            <a:r>
              <a:rPr lang="en-US" altLang="zh-CN" b="1" i="1" baseline="30000">
                <a:solidFill>
                  <a:srgbClr val="FF33CC"/>
                </a:solidFill>
              </a:rPr>
              <a:t> </a:t>
            </a:r>
            <a:r>
              <a:rPr lang="en-US" altLang="zh-CN" b="1" i="1">
                <a:solidFill>
                  <a:srgbClr val="FF33CC"/>
                </a:solidFill>
              </a:rPr>
              <a:t>P</a:t>
            </a:r>
            <a:r>
              <a:rPr lang="en-US" altLang="zh-CN" b="1" i="1" baseline="-30000">
                <a:solidFill>
                  <a:srgbClr val="FF33CC"/>
                </a:solidFill>
              </a:rPr>
              <a:t>⊥ </a:t>
            </a:r>
            <a:r>
              <a:rPr lang="en-US" altLang="zh-CN" b="1">
                <a:solidFill>
                  <a:srgbClr val="FF33CC"/>
                </a:solidFill>
                <a:sym typeface="Symbol" pitchFamily="18" charset="2"/>
              </a:rPr>
              <a:t></a:t>
            </a:r>
            <a:r>
              <a:rPr lang="en-US" altLang="zh-CN" b="1" i="1" baseline="-30000">
                <a:solidFill>
                  <a:srgbClr val="FF33CC"/>
                </a:solidFill>
              </a:rPr>
              <a:t> </a:t>
            </a:r>
            <a:r>
              <a:rPr lang="en-US" altLang="zh-CN" b="1" i="1">
                <a:solidFill>
                  <a:srgbClr val="FF33CC"/>
                </a:solidFill>
              </a:rPr>
              <a:t>P</a:t>
            </a:r>
            <a:r>
              <a:rPr lang="en-US" altLang="zh-CN" b="1" i="1" baseline="-30000">
                <a:solidFill>
                  <a:srgbClr val="FF33CC"/>
                </a:solidFill>
              </a:rPr>
              <a:t>∥ </a:t>
            </a:r>
            <a:r>
              <a:rPr lang="en-US" altLang="zh-CN" b="1">
                <a:solidFill>
                  <a:srgbClr val="FF33CC"/>
                </a:solidFill>
                <a:sym typeface="Symbol" pitchFamily="18" charset="2"/>
              </a:rPr>
              <a:t></a:t>
            </a:r>
            <a:r>
              <a:rPr lang="en-US" altLang="zh-CN" b="1" i="1" baseline="-30000">
                <a:solidFill>
                  <a:srgbClr val="FF33CC"/>
                </a:solidFill>
              </a:rPr>
              <a:t> </a:t>
            </a:r>
            <a:r>
              <a:rPr lang="en-US" altLang="zh-CN" b="1" i="1">
                <a:solidFill>
                  <a:srgbClr val="FF33CC"/>
                </a:solidFill>
              </a:rPr>
              <a:t>L</a:t>
            </a:r>
            <a:r>
              <a:rPr lang="en-US" altLang="zh-CN" b="1" baseline="30000">
                <a:solidFill>
                  <a:srgbClr val="FF33CC"/>
                </a:solidFill>
              </a:rPr>
              <a:t>2</a:t>
            </a:r>
            <a:r>
              <a:rPr lang="en-US" altLang="zh-CN" b="1" i="1" baseline="-30000">
                <a:solidFill>
                  <a:srgbClr val="FF33CC"/>
                </a:solidFill>
              </a:rPr>
              <a:t>⊥</a:t>
            </a:r>
            <a:r>
              <a:rPr lang="en-US" altLang="zh-CN" b="1" baseline="30000">
                <a:solidFill>
                  <a:srgbClr val="FF33CC"/>
                </a:solidFill>
              </a:rPr>
              <a:t> </a:t>
            </a:r>
            <a:r>
              <a:rPr lang="en-US" altLang="zh-CN" b="1">
                <a:solidFill>
                  <a:srgbClr val="FF33CC"/>
                </a:solidFill>
              </a:rPr>
              <a:t>=</a:t>
            </a:r>
            <a:r>
              <a:rPr lang="en-US" altLang="zh-CN" b="1" i="1">
                <a:solidFill>
                  <a:srgbClr val="FF33CC"/>
                </a:solidFill>
              </a:rPr>
              <a:t>L</a:t>
            </a:r>
            <a:r>
              <a:rPr lang="en-US" altLang="zh-CN" b="1" i="1" baseline="30000">
                <a:solidFill>
                  <a:srgbClr val="FF33CC"/>
                </a:solidFill>
              </a:rPr>
              <a:t>n</a:t>
            </a:r>
            <a:r>
              <a:rPr lang="en-US" altLang="zh-CN" b="1" i="1">
                <a:solidFill>
                  <a:srgbClr val="FF33CC"/>
                </a:solidFill>
              </a:rPr>
              <a:t>nL</a:t>
            </a:r>
            <a:r>
              <a:rPr lang="en-US" altLang="zh-CN" b="1" baseline="30000">
                <a:solidFill>
                  <a:srgbClr val="FF33CC"/>
                </a:solidFill>
              </a:rPr>
              <a:t>2</a:t>
            </a:r>
            <a:r>
              <a:rPr lang="en-US" altLang="zh-CN" b="1">
                <a:solidFill>
                  <a:srgbClr val="FF33CC"/>
                </a:solidFill>
              </a:rPr>
              <a:t>(</a:t>
            </a:r>
            <a:r>
              <a:rPr lang="en-US" altLang="zh-CN" b="1" i="1">
                <a:solidFill>
                  <a:srgbClr val="FF33CC"/>
                </a:solidFill>
              </a:rPr>
              <a:t>n </a:t>
            </a:r>
            <a:r>
              <a:rPr lang="en-US" altLang="zh-CN" b="1">
                <a:solidFill>
                  <a:srgbClr val="FF33CC"/>
                </a:solidFill>
              </a:rPr>
              <a:t>+ 1)</a:t>
            </a:r>
            <a:r>
              <a:rPr lang="en-US" altLang="zh-CN" b="1" i="1">
                <a:solidFill>
                  <a:srgbClr val="FF33CC"/>
                </a:solidFill>
              </a:rPr>
              <a:t>P</a:t>
            </a:r>
            <a:r>
              <a:rPr lang="zh-CN" altLang="en-US" b="1">
                <a:solidFill>
                  <a:srgbClr val="FF33CC"/>
                </a:solidFill>
              </a:rPr>
              <a:t>（</a:t>
            </a:r>
            <a:r>
              <a:rPr lang="en-US" altLang="zh-CN" b="1" i="1">
                <a:solidFill>
                  <a:srgbClr val="FF33CC"/>
                </a:solidFill>
              </a:rPr>
              <a:t>C</a:t>
            </a:r>
            <a:r>
              <a:rPr lang="zh-CN" altLang="en-US" b="1">
                <a:solidFill>
                  <a:srgbClr val="FF33CC"/>
                </a:solidFill>
              </a:rPr>
              <a:t>）</a:t>
            </a:r>
            <a:r>
              <a:rPr lang="en-US" altLang="zh-CN" b="1">
                <a:solidFill>
                  <a:srgbClr val="FF33CC"/>
                </a:solidFill>
              </a:rPr>
              <a:t>; </a:t>
            </a:r>
            <a:r>
              <a:rPr lang="zh-CN" altLang="en-US" b="1">
                <a:solidFill>
                  <a:srgbClr val="FF33CC"/>
                </a:solidFill>
              </a:rPr>
              <a:t>这里</a:t>
            </a:r>
            <a:r>
              <a:rPr lang="en-US" altLang="zh-CN" b="1">
                <a:solidFill>
                  <a:srgbClr val="FF33CC"/>
                </a:solidFill>
              </a:rPr>
              <a:t>n+1</a:t>
            </a:r>
            <a:r>
              <a:rPr lang="zh-CN" altLang="en-US" b="1">
                <a:solidFill>
                  <a:srgbClr val="FF33CC"/>
                </a:solidFill>
              </a:rPr>
              <a:t>个</a:t>
            </a:r>
            <a:r>
              <a:rPr lang="en-US" altLang="zh-CN" b="1">
                <a:solidFill>
                  <a:srgbClr val="FF33CC"/>
                </a:solidFill>
              </a:rPr>
              <a:t>P</a:t>
            </a:r>
            <a:r>
              <a:rPr lang="zh-CN" altLang="en-US" b="1">
                <a:solidFill>
                  <a:srgbClr val="FF33CC"/>
                </a:solidFill>
              </a:rPr>
              <a:t>有</a:t>
            </a:r>
            <a:r>
              <a:rPr lang="en-US" altLang="zh-CN" b="1">
                <a:solidFill>
                  <a:srgbClr val="FF33CC"/>
                </a:solidFill>
              </a:rPr>
              <a:t>n</a:t>
            </a:r>
            <a:r>
              <a:rPr lang="zh-CN" altLang="en-US" b="1">
                <a:solidFill>
                  <a:srgbClr val="FF33CC"/>
                </a:solidFill>
              </a:rPr>
              <a:t>个来自于</a:t>
            </a:r>
            <a:r>
              <a:rPr lang="en-US" altLang="zh-CN" b="1">
                <a:solidFill>
                  <a:srgbClr val="FF33CC"/>
                </a:solidFill>
              </a:rPr>
              <a:t>Ln</a:t>
            </a:r>
            <a:r>
              <a:rPr lang="zh-CN" altLang="en-US" b="1">
                <a:solidFill>
                  <a:srgbClr val="FF33CC"/>
                </a:solidFill>
              </a:rPr>
              <a:t>和</a:t>
            </a:r>
            <a:r>
              <a:rPr lang="en-US" altLang="zh-CN" b="1">
                <a:solidFill>
                  <a:srgbClr val="FF33CC"/>
                </a:solidFill>
              </a:rPr>
              <a:t>P</a:t>
            </a:r>
            <a:r>
              <a:rPr lang="en-US" altLang="zh-CN" b="1" baseline="-25000">
                <a:solidFill>
                  <a:srgbClr val="FF33CC"/>
                </a:solidFill>
              </a:rPr>
              <a:t>//</a:t>
            </a:r>
            <a:r>
              <a:rPr lang="en-US" altLang="zh-CN" b="1">
                <a:solidFill>
                  <a:srgbClr val="FF33CC"/>
                </a:solidFill>
              </a:rPr>
              <a:t>, +1</a:t>
            </a:r>
            <a:r>
              <a:rPr lang="zh-CN" altLang="en-US" b="1">
                <a:solidFill>
                  <a:srgbClr val="FF33CC"/>
                </a:solidFill>
              </a:rPr>
              <a:t>来自于</a:t>
            </a:r>
            <a:r>
              <a:rPr lang="en-US" altLang="zh-CN" b="1" i="1">
                <a:solidFill>
                  <a:srgbClr val="FF33CC"/>
                </a:solidFill>
              </a:rPr>
              <a:t>P</a:t>
            </a:r>
            <a:r>
              <a:rPr lang="en-US" altLang="zh-CN" b="1" i="1" baseline="-30000">
                <a:solidFill>
                  <a:srgbClr val="FF33CC"/>
                </a:solidFill>
              </a:rPr>
              <a:t>⊥</a:t>
            </a:r>
            <a:endParaRPr lang="en-US" altLang="en-US"/>
          </a:p>
        </p:txBody>
      </p:sp>
      <p:sp>
        <p:nvSpPr>
          <p:cNvPr id="81924"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66146439-26F1-4950-8672-EC19EAC32CC6}" type="slidenum">
              <a:rPr lang="en-US" altLang="zh-CN" smtClean="0"/>
              <a:pPr eaLnBrk="1" hangingPunct="1">
                <a:spcBef>
                  <a:spcPct val="0"/>
                </a:spcBef>
              </a:pPr>
              <a:t>62</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1">
                <a:solidFill>
                  <a:srgbClr val="FF0066"/>
                </a:solidFill>
                <a:effectLst>
                  <a:outerShdw blurRad="38100" dist="38100" dir="2700000" algn="tl">
                    <a:srgbClr val="000000">
                      <a:alpha val="43137"/>
                    </a:srgbClr>
                  </a:outerShdw>
                </a:effectLst>
              </a:rPr>
              <a:t>立方（等轴）晶系；</a:t>
            </a:r>
            <a:endParaRPr lang="en-US" altLang="zh-CN" sz="1200" b="1">
              <a:solidFill>
                <a:srgbClr val="FF0066"/>
              </a:solidFill>
              <a:effectLst>
                <a:outerShdw blurRad="38100" dist="38100" dir="2700000" algn="tl">
                  <a:srgbClr val="000000">
                    <a:alpha val="43137"/>
                  </a:srgbClr>
                </a:outerShdw>
              </a:effectLst>
            </a:endParaRPr>
          </a:p>
          <a:p>
            <a:r>
              <a:rPr lang="zh-CN" altLang="en-US" sz="1200" b="1">
                <a:solidFill>
                  <a:srgbClr val="FF0066"/>
                </a:solidFill>
                <a:effectLst>
                  <a:outerShdw blurRad="38100" dist="38100" dir="2700000" algn="tl">
                    <a:srgbClr val="000000">
                      <a:alpha val="43137"/>
                    </a:srgbClr>
                  </a:outerShdw>
                </a:effectLst>
              </a:rPr>
              <a:t>正方（四方）晶系；</a:t>
            </a:r>
            <a:endParaRPr lang="en-US" altLang="zh-CN" sz="1200" b="1">
              <a:solidFill>
                <a:srgbClr val="FF0066"/>
              </a:solidFill>
              <a:effectLst>
                <a:outerShdw blurRad="38100" dist="38100" dir="2700000" algn="tl">
                  <a:srgbClr val="000000">
                    <a:alpha val="43137"/>
                  </a:srgbClr>
                </a:outerShdw>
              </a:effectLst>
            </a:endParaRPr>
          </a:p>
          <a:p>
            <a:r>
              <a:rPr lang="zh-CN" altLang="en-US" sz="1200" b="1">
                <a:solidFill>
                  <a:srgbClr val="FF0066"/>
                </a:solidFill>
                <a:effectLst>
                  <a:outerShdw blurRad="38100" dist="38100" dir="2700000" algn="tl">
                    <a:srgbClr val="000000">
                      <a:alpha val="43137"/>
                    </a:srgbClr>
                  </a:outerShdw>
                </a:effectLst>
              </a:rPr>
              <a:t>六角  </a:t>
            </a:r>
            <a:r>
              <a:rPr lang="en-US" altLang="zh-CN" sz="1200" b="1">
                <a:solidFill>
                  <a:srgbClr val="FF0066"/>
                </a:solidFill>
                <a:effectLst>
                  <a:outerShdw blurRad="38100" dist="38100" dir="2700000" algn="tl">
                    <a:srgbClr val="000000">
                      <a:alpha val="43137"/>
                    </a:srgbClr>
                  </a:outerShdw>
                </a:effectLst>
              </a:rPr>
              <a:t>(</a:t>
            </a:r>
            <a:r>
              <a:rPr lang="zh-CN" altLang="en-US" sz="1200" b="1">
                <a:solidFill>
                  <a:srgbClr val="FF0066"/>
                </a:solidFill>
                <a:effectLst>
                  <a:outerShdw blurRad="38100" dist="38100" dir="2700000" algn="tl">
                    <a:srgbClr val="000000">
                      <a:alpha val="43137"/>
                    </a:srgbClr>
                  </a:outerShdw>
                </a:effectLst>
              </a:rPr>
              <a:t>六方）晶系；</a:t>
            </a:r>
            <a:endParaRPr lang="en-US" altLang="zh-CN" sz="1200" b="1">
              <a:solidFill>
                <a:srgbClr val="FF0066"/>
              </a:solidFill>
              <a:effectLst>
                <a:outerShdw blurRad="38100" dist="38100" dir="2700000" algn="tl">
                  <a:srgbClr val="000000">
                    <a:alpha val="43137"/>
                  </a:srgbClr>
                </a:outerShdw>
              </a:effectLst>
            </a:endParaRPr>
          </a:p>
          <a:p>
            <a:r>
              <a:rPr lang="zh-CN" altLang="en-US" sz="1200" b="1">
                <a:solidFill>
                  <a:srgbClr val="FF0066"/>
                </a:solidFill>
                <a:effectLst>
                  <a:outerShdw blurRad="38100" dist="38100" dir="2700000" algn="tl">
                    <a:srgbClr val="000000">
                      <a:alpha val="43137"/>
                    </a:srgbClr>
                  </a:outerShdw>
                </a:effectLst>
              </a:rPr>
              <a:t>三角（三方，菱方）晶系；</a:t>
            </a:r>
            <a:endParaRPr lang="en-US" altLang="zh-CN" sz="1200" b="1">
              <a:solidFill>
                <a:srgbClr val="FF0066"/>
              </a:solidFill>
              <a:effectLst>
                <a:outerShdw blurRad="38100" dist="38100" dir="2700000" algn="tl">
                  <a:srgbClr val="000000">
                    <a:alpha val="43137"/>
                  </a:srgbClr>
                </a:outerShdw>
              </a:effectLst>
            </a:endParaRPr>
          </a:p>
          <a:p>
            <a:r>
              <a:rPr lang="zh-CN" altLang="en-US" sz="1200" b="1">
                <a:solidFill>
                  <a:srgbClr val="FF0066"/>
                </a:solidFill>
                <a:effectLst>
                  <a:outerShdw blurRad="38100" dist="38100" dir="2700000" algn="tl">
                    <a:srgbClr val="000000">
                      <a:alpha val="43137"/>
                    </a:srgbClr>
                  </a:outerShdw>
                </a:effectLst>
              </a:rPr>
              <a:t>正交（斜方）晶系；</a:t>
            </a:r>
            <a:endParaRPr lang="en-US" altLang="zh-CN" sz="1200" b="1">
              <a:solidFill>
                <a:srgbClr val="FF0066"/>
              </a:solidFill>
              <a:effectLst>
                <a:outerShdw blurRad="38100" dist="38100" dir="2700000" algn="tl">
                  <a:srgbClr val="000000">
                    <a:alpha val="43137"/>
                  </a:srgbClr>
                </a:outerShdw>
              </a:effectLst>
            </a:endParaRPr>
          </a:p>
          <a:p>
            <a:r>
              <a:rPr lang="zh-CN" altLang="en-US" sz="1200" b="1">
                <a:solidFill>
                  <a:srgbClr val="FF0066"/>
                </a:solidFill>
                <a:effectLst>
                  <a:outerShdw blurRad="38100" dist="38100" dir="2700000" algn="tl">
                    <a:srgbClr val="000000">
                      <a:alpha val="43137"/>
                    </a:srgbClr>
                  </a:outerShdw>
                </a:effectLst>
              </a:rPr>
              <a:t>单斜晶系；</a:t>
            </a:r>
            <a:endParaRPr lang="en-US" altLang="zh-CN" sz="1200" b="1">
              <a:solidFill>
                <a:srgbClr val="FF0066"/>
              </a:solidFill>
              <a:effectLst>
                <a:outerShdw blurRad="38100" dist="38100" dir="2700000" algn="tl">
                  <a:srgbClr val="000000">
                    <a:alpha val="43137"/>
                  </a:srgbClr>
                </a:outerShdw>
              </a:effectLst>
            </a:endParaRPr>
          </a:p>
          <a:p>
            <a:r>
              <a:rPr lang="zh-CN" altLang="en-US" sz="1200" b="1">
                <a:solidFill>
                  <a:srgbClr val="FF0066"/>
                </a:solidFill>
                <a:effectLst>
                  <a:outerShdw blurRad="38100" dist="38100" dir="2700000" algn="tl">
                    <a:srgbClr val="000000">
                      <a:alpha val="43137"/>
                    </a:srgbClr>
                  </a:outerShdw>
                </a:effectLst>
              </a:rPr>
              <a:t>三斜晶系。</a:t>
            </a:r>
            <a:endParaRPr lang="en-US" sz="1200" b="1">
              <a:solidFill>
                <a:srgbClr val="FF0066"/>
              </a:solidFill>
              <a:effectLst>
                <a:outerShdw blurRad="38100" dist="38100" dir="2700000" algn="tl">
                  <a:srgbClr val="000000">
                    <a:alpha val="43137"/>
                  </a:srgbClr>
                </a:outerShdw>
              </a:effectLst>
            </a:endParaRPr>
          </a:p>
          <a:p>
            <a:endParaRPr lang="en-US"/>
          </a:p>
        </p:txBody>
      </p:sp>
      <p:sp>
        <p:nvSpPr>
          <p:cNvPr id="4" name="Slide Number Placeholder 3"/>
          <p:cNvSpPr>
            <a:spLocks noGrp="1"/>
          </p:cNvSpPr>
          <p:nvPr>
            <p:ph type="sldNum" sz="quarter" idx="10"/>
          </p:nvPr>
        </p:nvSpPr>
        <p:spPr/>
        <p:txBody>
          <a:bodyPr/>
          <a:lstStyle/>
          <a:p>
            <a:pPr>
              <a:defRPr/>
            </a:pPr>
            <a:fld id="{067E983D-B0AB-4392-9431-0AF40140DE56}" type="slidenum">
              <a:rPr lang="en-US" altLang="zh-CN" smtClean="0"/>
              <a:pPr>
                <a:defRPr/>
              </a:pPr>
              <a:t>67</a:t>
            </a:fld>
            <a:endParaRPr lang="en-US" altLang="zh-CN"/>
          </a:p>
        </p:txBody>
      </p:sp>
    </p:spTree>
    <p:extLst>
      <p:ext uri="{BB962C8B-B14F-4D97-AF65-F5344CB8AC3E}">
        <p14:creationId xmlns:p14="http://schemas.microsoft.com/office/powerpoint/2010/main" val="31289428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FFDAFE77-60D9-4D1A-BA81-DE4159C1D477}" type="slidenum">
              <a:rPr lang="en-US" altLang="zh-CN" smtClean="0"/>
              <a:pPr eaLnBrk="1" hangingPunct="1">
                <a:spcBef>
                  <a:spcPct val="0"/>
                </a:spcBef>
              </a:pPr>
              <a:t>68</a:t>
            </a:fld>
            <a:endParaRPr lang="en-US" altLang="zh-CN"/>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p:spPr>
        <p:txBody>
          <a:bodyPr/>
          <a:lstStyle/>
          <a:p>
            <a:pPr eaLnBrk="1" hangingPunct="1"/>
            <a:r>
              <a:rPr lang="zh-CN" altLang="en-US"/>
              <a:t>三方和六方晶系有些时候简并成一个晶系。</a:t>
            </a:r>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p:spPr>
        <p:txBody>
          <a:bodyPr/>
          <a:lstStyle/>
          <a:p>
            <a:r>
              <a:rPr lang="zh-CN" altLang="en-US"/>
              <a:t>？？？</a:t>
            </a:r>
            <a:endParaRPr lang="en-US" altLang="zh-CN"/>
          </a:p>
          <a:p>
            <a:r>
              <a:rPr lang="en-US" altLang="zh-CN"/>
              <a:t>7</a:t>
            </a:r>
            <a:r>
              <a:rPr lang="zh-CN" altLang="en-US"/>
              <a:t>大晶系、</a:t>
            </a:r>
            <a:r>
              <a:rPr lang="en-US" altLang="zh-CN"/>
              <a:t>32</a:t>
            </a:r>
            <a:r>
              <a:rPr lang="zh-CN" altLang="en-US"/>
              <a:t>点群是通过晶体空间点阵的宏观对称性</a:t>
            </a:r>
            <a:r>
              <a:rPr lang="en-US" altLang="zh-CN"/>
              <a:t>8</a:t>
            </a:r>
            <a:r>
              <a:rPr lang="zh-CN" altLang="en-US"/>
              <a:t>种基本对称操作来确定的，晶系的概念比较宽泛，主要由点阵的几何特征得出。</a:t>
            </a:r>
            <a:br>
              <a:rPr lang="zh-CN" altLang="en-US"/>
            </a:br>
            <a:r>
              <a:rPr lang="en-US" altLang="zh-CN"/>
              <a:t>32</a:t>
            </a:r>
            <a:r>
              <a:rPr lang="zh-CN" altLang="en-US"/>
              <a:t>种点群是</a:t>
            </a:r>
            <a:r>
              <a:rPr lang="en-US" altLang="zh-CN"/>
              <a:t>8</a:t>
            </a:r>
            <a:r>
              <a:rPr lang="zh-CN" altLang="en-US"/>
              <a:t>种对称操作元素组合的结果，</a:t>
            </a:r>
            <a:r>
              <a:rPr lang="en-US" altLang="zh-CN"/>
              <a:t>1</a:t>
            </a:r>
            <a:r>
              <a:rPr lang="zh-CN" altLang="en-US"/>
              <a:t>个晶系里可以有多个点群。如三斜晶系里有</a:t>
            </a:r>
            <a:r>
              <a:rPr lang="en-US" altLang="zh-CN"/>
              <a:t>1</a:t>
            </a:r>
            <a:r>
              <a:rPr lang="zh-CN" altLang="en-US"/>
              <a:t>、</a:t>
            </a:r>
            <a:r>
              <a:rPr lang="en-US" altLang="zh-CN"/>
              <a:t>ī</a:t>
            </a:r>
            <a:r>
              <a:rPr lang="zh-CN" altLang="en-US"/>
              <a:t>两种点群。</a:t>
            </a:r>
            <a:br>
              <a:rPr lang="zh-CN" altLang="en-US"/>
            </a:br>
            <a:r>
              <a:rPr lang="en-US" altLang="zh-CN"/>
              <a:t>32</a:t>
            </a:r>
            <a:r>
              <a:rPr lang="zh-CN" altLang="en-US"/>
              <a:t>种点群通过微观对称性（平移、螺旋、滑移反映）扩展出</a:t>
            </a:r>
            <a:r>
              <a:rPr lang="en-US" altLang="zh-CN"/>
              <a:t>320</a:t>
            </a:r>
            <a:r>
              <a:rPr lang="zh-CN" altLang="en-US"/>
              <a:t>种空间群，</a:t>
            </a:r>
            <a:r>
              <a:rPr lang="en-US" altLang="zh-CN"/>
              <a:t>1</a:t>
            </a:r>
            <a:r>
              <a:rPr lang="zh-CN" altLang="en-US"/>
              <a:t>个点群可以扩展为几个空间群。</a:t>
            </a:r>
            <a:endParaRPr lang="en-US" altLang="en-US"/>
          </a:p>
        </p:txBody>
      </p:sp>
      <p:sp>
        <p:nvSpPr>
          <p:cNvPr id="84996"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F7FE9EC6-8BBB-4323-AE72-A0065365299B}" type="slidenum">
              <a:rPr lang="en-US" altLang="zh-CN" smtClean="0"/>
              <a:pPr eaLnBrk="1" hangingPunct="1">
                <a:spcBef>
                  <a:spcPct val="0"/>
                </a:spcBef>
              </a:pPr>
              <a:t>76</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p:spPr>
        <p:txBody>
          <a:bodyPr/>
          <a:lstStyle/>
          <a:p>
            <a:endParaRPr lang="en-US" altLang="en-US"/>
          </a:p>
        </p:txBody>
      </p:sp>
      <p:sp>
        <p:nvSpPr>
          <p:cNvPr id="86020" name="Slide Number Placeholder 3"/>
          <p:cNvSpPr>
            <a:spLocks noGrp="1"/>
          </p:cNvSpPr>
          <p:nvPr>
            <p:ph type="sldNum" sz="quarter" idx="5"/>
          </p:nvPr>
        </p:nvSpPr>
        <p:spPr>
          <a:noFill/>
        </p:spPr>
        <p:txBody>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fld id="{1513B087-00F8-4D86-9356-77C00E325954}" type="slidenum">
              <a:rPr lang="en-US" altLang="zh-CN" sz="1200" b="0" smtClean="0"/>
              <a:pPr eaLnBrk="1" hangingPunct="1"/>
              <a:t>78</a:t>
            </a:fld>
            <a:endParaRPr lang="en-US" altLang="zh-CN" sz="1200" b="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差一个</a:t>
            </a:r>
            <a:r>
              <a:rPr lang="en-US" altLang="zh-CN"/>
              <a:t>m</a:t>
            </a:r>
            <a:endParaRPr lang="en-US"/>
          </a:p>
        </p:txBody>
      </p:sp>
      <p:sp>
        <p:nvSpPr>
          <p:cNvPr id="4" name="Slide Number Placeholder 3"/>
          <p:cNvSpPr>
            <a:spLocks noGrp="1"/>
          </p:cNvSpPr>
          <p:nvPr>
            <p:ph type="sldNum" sz="quarter" idx="10"/>
          </p:nvPr>
        </p:nvSpPr>
        <p:spPr/>
        <p:txBody>
          <a:bodyPr/>
          <a:lstStyle/>
          <a:p>
            <a:pPr>
              <a:defRPr/>
            </a:pPr>
            <a:fld id="{067E983D-B0AB-4392-9431-0AF40140DE56}" type="slidenum">
              <a:rPr lang="en-US" altLang="zh-CN" smtClean="0"/>
              <a:pPr>
                <a:defRPr/>
              </a:pPr>
              <a:t>79</a:t>
            </a:fld>
            <a:endParaRPr lang="en-US" altLang="zh-CN"/>
          </a:p>
        </p:txBody>
      </p:sp>
    </p:spTree>
    <p:extLst>
      <p:ext uri="{BB962C8B-B14F-4D97-AF65-F5344CB8AC3E}">
        <p14:creationId xmlns:p14="http://schemas.microsoft.com/office/powerpoint/2010/main" val="13803885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p:spPr>
        <p:txBody>
          <a:bodyPr/>
          <a:lstStyle/>
          <a:p>
            <a:endParaRPr lang="en-US" altLang="en-US"/>
          </a:p>
        </p:txBody>
      </p:sp>
      <p:sp>
        <p:nvSpPr>
          <p:cNvPr id="87044" name="Slide Number Placeholder 3"/>
          <p:cNvSpPr>
            <a:spLocks noGrp="1"/>
          </p:cNvSpPr>
          <p:nvPr>
            <p:ph type="sldNum" sz="quarter" idx="5"/>
          </p:nvPr>
        </p:nvSpPr>
        <p:spPr>
          <a:noFill/>
        </p:spPr>
        <p:txBody>
          <a:bodyPr/>
          <a:lstStyle>
            <a:lvl1pPr eaLnBrk="0" hangingPunct="0">
              <a:spcBef>
                <a:spcPct val="30000"/>
              </a:spcBef>
              <a:defRPr kumimoji="1" sz="1200">
                <a:solidFill>
                  <a:schemeClr val="tx1"/>
                </a:solidFill>
                <a:latin typeface="Times New Roman" pitchFamily="18" charset="0"/>
                <a:ea typeface="宋体" pitchFamily="2" charset="-122"/>
              </a:defRPr>
            </a:lvl1pPr>
            <a:lvl2pPr marL="742950" indent="-285750" eaLnBrk="0" hangingPunct="0">
              <a:spcBef>
                <a:spcPct val="30000"/>
              </a:spcBef>
              <a:defRPr kumimoji="1" sz="1200">
                <a:solidFill>
                  <a:schemeClr val="tx1"/>
                </a:solidFill>
                <a:latin typeface="Times New Roman" pitchFamily="18" charset="0"/>
                <a:ea typeface="宋体" pitchFamily="2" charset="-122"/>
              </a:defRPr>
            </a:lvl2pPr>
            <a:lvl3pPr marL="1143000" indent="-228600" eaLnBrk="0" hangingPunct="0">
              <a:spcBef>
                <a:spcPct val="30000"/>
              </a:spcBef>
              <a:defRPr kumimoji="1" sz="1200">
                <a:solidFill>
                  <a:schemeClr val="tx1"/>
                </a:solidFill>
                <a:latin typeface="Times New Roman" pitchFamily="18" charset="0"/>
                <a:ea typeface="宋体" pitchFamily="2" charset="-122"/>
              </a:defRPr>
            </a:lvl3pPr>
            <a:lvl4pPr marL="1600200" indent="-228600" eaLnBrk="0" hangingPunct="0">
              <a:spcBef>
                <a:spcPct val="30000"/>
              </a:spcBef>
              <a:defRPr kumimoji="1" sz="1200">
                <a:solidFill>
                  <a:schemeClr val="tx1"/>
                </a:solidFill>
                <a:latin typeface="Times New Roman" pitchFamily="18" charset="0"/>
                <a:ea typeface="宋体" pitchFamily="2" charset="-122"/>
              </a:defRPr>
            </a:lvl4pPr>
            <a:lvl5pPr marL="2057400" indent="-228600" eaLnBrk="0" hangingPunct="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eaLnBrk="1" hangingPunct="1">
              <a:spcBef>
                <a:spcPct val="0"/>
              </a:spcBef>
            </a:pPr>
            <a:fld id="{2B41F345-BCC2-4FDF-9D05-CE911E233C90}" type="slidenum">
              <a:rPr lang="en-US" altLang="zh-CN" smtClean="0"/>
              <a:pPr eaLnBrk="1" hangingPunct="1">
                <a:spcBef>
                  <a:spcPct val="0"/>
                </a:spcBef>
              </a:pPr>
              <a:t>84</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D07E249-A9A7-4E16-BEA6-A90C059F81AE}" type="slidenum">
              <a:rPr lang="en-US" altLang="zh-CN"/>
              <a:pPr>
                <a:defRPr/>
              </a:pPr>
              <a:t>‹#›</a:t>
            </a:fld>
            <a:endParaRPr lang="en-US" altLang="zh-CN"/>
          </a:p>
        </p:txBody>
      </p:sp>
    </p:spTree>
    <p:extLst>
      <p:ext uri="{BB962C8B-B14F-4D97-AF65-F5344CB8AC3E}">
        <p14:creationId xmlns:p14="http://schemas.microsoft.com/office/powerpoint/2010/main" val="1929240178"/>
      </p:ext>
    </p:extLst>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EE583FA-5BB8-48F3-A85A-F9239E18DED9}" type="slidenum">
              <a:rPr lang="en-US" altLang="zh-CN"/>
              <a:pPr>
                <a:defRPr/>
              </a:pPr>
              <a:t>‹#›</a:t>
            </a:fld>
            <a:endParaRPr lang="en-US" altLang="zh-CN"/>
          </a:p>
        </p:txBody>
      </p:sp>
    </p:spTree>
    <p:extLst>
      <p:ext uri="{BB962C8B-B14F-4D97-AF65-F5344CB8AC3E}">
        <p14:creationId xmlns:p14="http://schemas.microsoft.com/office/powerpoint/2010/main" val="3934462194"/>
      </p:ext>
    </p:extLst>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130C627-B669-4621-B351-6367ED6F0025}" type="slidenum">
              <a:rPr lang="en-US" altLang="zh-CN"/>
              <a:pPr>
                <a:defRPr/>
              </a:pPr>
              <a:t>‹#›</a:t>
            </a:fld>
            <a:endParaRPr lang="en-US" altLang="zh-CN"/>
          </a:p>
        </p:txBody>
      </p:sp>
    </p:spTree>
    <p:extLst>
      <p:ext uri="{BB962C8B-B14F-4D97-AF65-F5344CB8AC3E}">
        <p14:creationId xmlns:p14="http://schemas.microsoft.com/office/powerpoint/2010/main" val="1525238879"/>
      </p:ext>
    </p:extLst>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F78F723-026B-4E97-8530-D31BFE77D496}" type="slidenum">
              <a:rPr lang="en-US" altLang="zh-CN"/>
              <a:pPr>
                <a:defRPr/>
              </a:pPr>
              <a:t>‹#›</a:t>
            </a:fld>
            <a:endParaRPr lang="en-US" altLang="zh-CN"/>
          </a:p>
        </p:txBody>
      </p:sp>
    </p:spTree>
    <p:extLst>
      <p:ext uri="{BB962C8B-B14F-4D97-AF65-F5344CB8AC3E}">
        <p14:creationId xmlns:p14="http://schemas.microsoft.com/office/powerpoint/2010/main" val="649647044"/>
      </p:ext>
    </p:extLst>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02C717D3-3C47-44C5-BE83-11D0DE4B7F45}" type="slidenum">
              <a:rPr lang="en-US" altLang="zh-CN"/>
              <a:pPr>
                <a:defRPr/>
              </a:pPr>
              <a:t>‹#›</a:t>
            </a:fld>
            <a:endParaRPr lang="en-US" altLang="zh-CN"/>
          </a:p>
        </p:txBody>
      </p:sp>
    </p:spTree>
    <p:extLst>
      <p:ext uri="{BB962C8B-B14F-4D97-AF65-F5344CB8AC3E}">
        <p14:creationId xmlns:p14="http://schemas.microsoft.com/office/powerpoint/2010/main" val="2846227618"/>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C77CE0C2-8E33-49D9-9BEF-13227270855A}" type="slidenum">
              <a:rPr lang="en-US" altLang="zh-CN"/>
              <a:pPr>
                <a:defRPr/>
              </a:pPr>
              <a:t>‹#›</a:t>
            </a:fld>
            <a:endParaRPr lang="en-US" altLang="zh-CN"/>
          </a:p>
        </p:txBody>
      </p:sp>
    </p:spTree>
    <p:extLst>
      <p:ext uri="{BB962C8B-B14F-4D97-AF65-F5344CB8AC3E}">
        <p14:creationId xmlns:p14="http://schemas.microsoft.com/office/powerpoint/2010/main" val="3547068892"/>
      </p:ext>
    </p:extLst>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EFFCBA1-16F3-446F-8C49-A57BEB8DBE96}" type="slidenum">
              <a:rPr lang="en-US" altLang="zh-CN"/>
              <a:pPr>
                <a:defRPr/>
              </a:pPr>
              <a:t>‹#›</a:t>
            </a:fld>
            <a:endParaRPr lang="en-US" altLang="zh-CN"/>
          </a:p>
        </p:txBody>
      </p:sp>
    </p:spTree>
    <p:extLst>
      <p:ext uri="{BB962C8B-B14F-4D97-AF65-F5344CB8AC3E}">
        <p14:creationId xmlns:p14="http://schemas.microsoft.com/office/powerpoint/2010/main" val="2544753689"/>
      </p:ext>
    </p:extLst>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6CC1B46-4926-4562-AC24-182B84EE9A17}" type="slidenum">
              <a:rPr lang="en-US" altLang="zh-CN"/>
              <a:pPr>
                <a:defRPr/>
              </a:pPr>
              <a:t>‹#›</a:t>
            </a:fld>
            <a:endParaRPr lang="en-US" altLang="zh-CN"/>
          </a:p>
        </p:txBody>
      </p:sp>
    </p:spTree>
    <p:extLst>
      <p:ext uri="{BB962C8B-B14F-4D97-AF65-F5344CB8AC3E}">
        <p14:creationId xmlns:p14="http://schemas.microsoft.com/office/powerpoint/2010/main" val="2615164607"/>
      </p:ext>
    </p:extLst>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CC4D3C6-0B66-4796-A60D-C794EADF1CCD}" type="slidenum">
              <a:rPr lang="en-US" altLang="zh-CN"/>
              <a:pPr>
                <a:defRPr/>
              </a:pPr>
              <a:t>‹#›</a:t>
            </a:fld>
            <a:endParaRPr lang="en-US" altLang="zh-CN"/>
          </a:p>
        </p:txBody>
      </p:sp>
    </p:spTree>
    <p:extLst>
      <p:ext uri="{BB962C8B-B14F-4D97-AF65-F5344CB8AC3E}">
        <p14:creationId xmlns:p14="http://schemas.microsoft.com/office/powerpoint/2010/main" val="2858396681"/>
      </p:ext>
    </p:extLst>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13C86C3-AC36-4D2C-8123-E024B8E6E504}" type="slidenum">
              <a:rPr lang="en-US" altLang="zh-CN"/>
              <a:pPr>
                <a:defRPr/>
              </a:pPr>
              <a:t>‹#›</a:t>
            </a:fld>
            <a:endParaRPr lang="en-US" altLang="zh-CN"/>
          </a:p>
        </p:txBody>
      </p:sp>
    </p:spTree>
    <p:extLst>
      <p:ext uri="{BB962C8B-B14F-4D97-AF65-F5344CB8AC3E}">
        <p14:creationId xmlns:p14="http://schemas.microsoft.com/office/powerpoint/2010/main" val="1516350515"/>
      </p:ext>
    </p:extLst>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1641E42-033C-4699-B35C-D0B73C2478E9}" type="slidenum">
              <a:rPr lang="en-US" altLang="zh-CN"/>
              <a:pPr>
                <a:defRPr/>
              </a:pPr>
              <a:t>‹#›</a:t>
            </a:fld>
            <a:endParaRPr lang="en-US" altLang="zh-CN"/>
          </a:p>
        </p:txBody>
      </p:sp>
    </p:spTree>
    <p:extLst>
      <p:ext uri="{BB962C8B-B14F-4D97-AF65-F5344CB8AC3E}">
        <p14:creationId xmlns:p14="http://schemas.microsoft.com/office/powerpoint/2010/main" val="2032674992"/>
      </p:ext>
    </p:extLst>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14ED8766-1382-41D3-A867-BB1969DA694A}" type="slidenum">
              <a:rPr lang="en-US" altLang="zh-CN"/>
              <a:pPr>
                <a:defRPr/>
              </a:pPr>
              <a:t>‹#›</a:t>
            </a:fld>
            <a:endParaRPr lang="en-US" altLang="zh-CN"/>
          </a:p>
        </p:txBody>
      </p:sp>
    </p:spTree>
    <p:extLst>
      <p:ext uri="{BB962C8B-B14F-4D97-AF65-F5344CB8AC3E}">
        <p14:creationId xmlns:p14="http://schemas.microsoft.com/office/powerpoint/2010/main" val="4097375322"/>
      </p:ext>
    </p:extLst>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7DFE3AC-21E6-43F5-BFBA-50E3B7BF27CE}" type="slidenum">
              <a:rPr lang="en-US" altLang="zh-CN"/>
              <a:pPr>
                <a:defRPr/>
              </a:pPr>
              <a:t>‹#›</a:t>
            </a:fld>
            <a:endParaRPr lang="en-US" altLang="zh-CN"/>
          </a:p>
        </p:txBody>
      </p:sp>
    </p:spTree>
    <p:extLst>
      <p:ext uri="{BB962C8B-B14F-4D97-AF65-F5344CB8AC3E}">
        <p14:creationId xmlns:p14="http://schemas.microsoft.com/office/powerpoint/2010/main" val="770890601"/>
      </p:ext>
    </p:extLst>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vl1pPr>
          </a:lstStyle>
          <a:p>
            <a:pPr>
              <a:defRPr/>
            </a:pPr>
            <a:fld id="{DA63C3E7-15F4-44E2-9F41-57BDFADE8C8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zoom/>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5.wmf"/><Relationship Id="rId5" Type="http://schemas.openxmlformats.org/officeDocument/2006/relationships/oleObject" Target="../embeddings/oleObject3.bin"/><Relationship Id="rId4" Type="http://schemas.openxmlformats.org/officeDocument/2006/relationships/image" Target="../media/image14.wmf"/></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gif"/></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6.wmf"/><Relationship Id="rId5" Type="http://schemas.openxmlformats.org/officeDocument/2006/relationships/oleObject" Target="../embeddings/oleObject6.bin"/><Relationship Id="rId4" Type="http://schemas.openxmlformats.org/officeDocument/2006/relationships/image" Target="../media/image25.wmf"/></Relationships>
</file>

<file path=ppt/slides/_rels/slide1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0.gif"/><Relationship Id="rId4" Type="http://schemas.openxmlformats.org/officeDocument/2006/relationships/image" Target="../media/image29.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2.wmf"/><Relationship Id="rId5" Type="http://schemas.openxmlformats.org/officeDocument/2006/relationships/oleObject" Target="../embeddings/oleObject8.bin"/><Relationship Id="rId4" Type="http://schemas.openxmlformats.org/officeDocument/2006/relationships/image" Target="../media/image31.w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vmlDrawing" Target="../drawings/vmlDrawing5.vml"/><Relationship Id="rId5" Type="http://schemas.openxmlformats.org/officeDocument/2006/relationships/image" Target="../media/image31.wmf"/><Relationship Id="rId4" Type="http://schemas.openxmlformats.org/officeDocument/2006/relationships/oleObject" Target="../embeddings/oleObject9.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6.wmf"/><Relationship Id="rId5" Type="http://schemas.openxmlformats.org/officeDocument/2006/relationships/oleObject" Target="../embeddings/oleObject10.bin"/><Relationship Id="rId4" Type="http://schemas.openxmlformats.org/officeDocument/2006/relationships/image" Target="../media/image37.jpeg"/></Relationships>
</file>

<file path=ppt/slides/_rels/slide29.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image" Target="../media/image38.gif"/><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image" Target="../media/image41.gif"/><Relationship Id="rId1" Type="http://schemas.openxmlformats.org/officeDocument/2006/relationships/slideLayout" Target="../slideLayouts/slideLayout2.xml"/><Relationship Id="rId4" Type="http://schemas.openxmlformats.org/officeDocument/2006/relationships/image" Target="../media/image43.gi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44.wmf"/></Relationships>
</file>

<file path=ppt/slides/_rels/slide3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7.gif"/><Relationship Id="rId2" Type="http://schemas.openxmlformats.org/officeDocument/2006/relationships/image" Target="../media/image46.gif"/><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8.gif"/></Relationships>
</file>

<file path=ppt/slides/_rels/slide36.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image" Target="../media/image49.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1.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3.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5.gif"/><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7.gi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5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0.gif"/><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3.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70.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ctrTitle"/>
          </p:nvPr>
        </p:nvSpPr>
        <p:spPr>
          <a:xfrm>
            <a:off x="467544" y="764704"/>
            <a:ext cx="7776864" cy="1224136"/>
          </a:xfrm>
        </p:spPr>
        <p:txBody>
          <a:bodyPr/>
          <a:lstStyle/>
          <a:p>
            <a:pPr eaLnBrk="1" hangingPunct="1">
              <a:defRPr/>
            </a:pPr>
            <a:r>
              <a:rPr lang="en-US" altLang="zh-CN" sz="4000" b="1">
                <a:solidFill>
                  <a:schemeClr val="tx1"/>
                </a:solidFill>
                <a:latin typeface="+mn-lt"/>
              </a:rPr>
              <a:t>Chapter 5.</a:t>
            </a:r>
            <a:br>
              <a:rPr lang="en-US" altLang="zh-CN" sz="4000" b="1">
                <a:solidFill>
                  <a:schemeClr val="tx1"/>
                </a:solidFill>
                <a:latin typeface="+mn-lt"/>
              </a:rPr>
            </a:br>
            <a:r>
              <a:rPr lang="en-US" altLang="zh-CN" sz="4000" b="1">
                <a:solidFill>
                  <a:schemeClr val="tx1"/>
                </a:solidFill>
                <a:latin typeface="+mn-lt"/>
              </a:rPr>
              <a:t> Macroscopic symmetry of</a:t>
            </a:r>
            <a:r>
              <a:rPr lang="zh-CN" altLang="en-US" sz="4000" b="1">
                <a:solidFill>
                  <a:schemeClr val="tx1"/>
                </a:solidFill>
                <a:latin typeface="+mn-lt"/>
              </a:rPr>
              <a:t> </a:t>
            </a:r>
            <a:r>
              <a:rPr lang="en-US" altLang="zh-CN" sz="4000" b="1">
                <a:solidFill>
                  <a:schemeClr val="tx1"/>
                </a:solidFill>
                <a:latin typeface="+mn-lt"/>
              </a:rPr>
              <a:t>crystals</a:t>
            </a:r>
            <a:endParaRPr lang="zh-CN" altLang="en-US" sz="4000" b="1">
              <a:solidFill>
                <a:schemeClr val="tx1"/>
              </a:solidFill>
              <a:latin typeface="+mn-lt"/>
            </a:endParaRPr>
          </a:p>
        </p:txBody>
      </p:sp>
      <p:sp>
        <p:nvSpPr>
          <p:cNvPr id="2051" name="Text Box 7"/>
          <p:cNvSpPr txBox="1">
            <a:spLocks noChangeArrowheads="1"/>
          </p:cNvSpPr>
          <p:nvPr/>
        </p:nvSpPr>
        <p:spPr bwMode="auto">
          <a:xfrm>
            <a:off x="1006093" y="2204864"/>
            <a:ext cx="8136880" cy="4142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marL="514350" indent="-514350" eaLnBrk="1" hangingPunct="1">
              <a:buClr>
                <a:srgbClr val="993366"/>
              </a:buClr>
              <a:buSzPct val="90000"/>
              <a:buFont typeface="+mj-lt"/>
              <a:buAutoNum type="arabicPeriod"/>
            </a:pPr>
            <a:r>
              <a:rPr lang="en-US" altLang="zh-CN" sz="2800"/>
              <a:t> Concept of symmetry</a:t>
            </a:r>
          </a:p>
          <a:p>
            <a:pPr marL="514350" indent="-514350" eaLnBrk="1" hangingPunct="1">
              <a:buClr>
                <a:srgbClr val="993366"/>
              </a:buClr>
              <a:buSzPct val="90000"/>
              <a:buFont typeface="+mj-lt"/>
              <a:buAutoNum type="arabicPeriod"/>
            </a:pPr>
            <a:r>
              <a:rPr lang="en-US" altLang="zh-CN" sz="2800"/>
              <a:t> Characteristic of crystal symmetry</a:t>
            </a:r>
            <a:endParaRPr lang="zh-CN" altLang="en-US" sz="2800"/>
          </a:p>
          <a:p>
            <a:pPr marL="514350" indent="-514350" eaLnBrk="1" hangingPunct="1">
              <a:buClr>
                <a:srgbClr val="993366"/>
              </a:buClr>
              <a:buSzPct val="90000"/>
              <a:buFont typeface="+mj-lt"/>
              <a:buAutoNum type="arabicPeriod"/>
            </a:pPr>
            <a:r>
              <a:rPr lang="zh-CN" altLang="en-US" sz="2800"/>
              <a:t> </a:t>
            </a:r>
            <a:r>
              <a:rPr lang="en-US" altLang="zh-CN" sz="2800"/>
              <a:t>Elements and operations of crystal symmetry</a:t>
            </a:r>
            <a:endParaRPr lang="zh-CN" altLang="en-US" sz="2800"/>
          </a:p>
          <a:p>
            <a:pPr marL="514350" indent="-514350" eaLnBrk="1" hangingPunct="1">
              <a:buClr>
                <a:srgbClr val="993366"/>
              </a:buClr>
              <a:buSzPct val="90000"/>
              <a:buFont typeface="+mj-lt"/>
              <a:buAutoNum type="arabicPeriod"/>
            </a:pPr>
            <a:r>
              <a:rPr lang="zh-CN" altLang="en-US" sz="2800"/>
              <a:t> </a:t>
            </a:r>
            <a:r>
              <a:rPr lang="en-US" altLang="zh-CN" sz="2800"/>
              <a:t>Combination of symmetry elements</a:t>
            </a:r>
            <a:endParaRPr lang="zh-CN" altLang="en-US" sz="2800"/>
          </a:p>
          <a:p>
            <a:pPr marL="514350" indent="-514350" eaLnBrk="1" hangingPunct="1">
              <a:buClr>
                <a:srgbClr val="993366"/>
              </a:buClr>
              <a:buSzPct val="90000"/>
              <a:buFont typeface="+mj-lt"/>
              <a:buAutoNum type="arabicPeriod"/>
            </a:pPr>
            <a:r>
              <a:rPr lang="zh-CN" altLang="en-US" sz="2800"/>
              <a:t> </a:t>
            </a:r>
            <a:r>
              <a:rPr lang="en-US" altLang="zh-CN" sz="2800"/>
              <a:t>Symmetric type and its derivation</a:t>
            </a:r>
            <a:endParaRPr lang="zh-CN" altLang="en-US" sz="2800"/>
          </a:p>
          <a:p>
            <a:pPr marL="514350" indent="-514350" eaLnBrk="1" hangingPunct="1">
              <a:buClr>
                <a:srgbClr val="993366"/>
              </a:buClr>
              <a:buSzPct val="90000"/>
              <a:buFont typeface="+mj-lt"/>
              <a:buAutoNum type="arabicPeriod"/>
            </a:pPr>
            <a:r>
              <a:rPr lang="en-US" altLang="zh-CN" sz="2800"/>
              <a:t> Symmetry classification of crystals</a:t>
            </a:r>
          </a:p>
          <a:p>
            <a:pPr marL="514350" indent="-514350" eaLnBrk="1" hangingPunct="1">
              <a:buClr>
                <a:srgbClr val="993366"/>
              </a:buClr>
              <a:buSzPct val="90000"/>
              <a:buFont typeface="+mj-lt"/>
              <a:buAutoNum type="arabicPeriod"/>
            </a:pPr>
            <a:r>
              <a:rPr lang="en-US" altLang="zh-CN" sz="2800"/>
              <a:t> Symmetry symbols of point group </a:t>
            </a:r>
            <a:endParaRPr lang="zh-CN" altLang="en-US" sz="2800"/>
          </a:p>
          <a:p>
            <a:pPr marL="514350" indent="-514350" eaLnBrk="1" hangingPunct="1">
              <a:buClr>
                <a:srgbClr val="993366"/>
              </a:buClr>
              <a:buSzPct val="90000"/>
              <a:buFont typeface="+mj-lt"/>
              <a:buAutoNum type="arabicPeriod"/>
            </a:pPr>
            <a:r>
              <a:rPr lang="zh-CN" altLang="en-US" sz="2800"/>
              <a:t> </a:t>
            </a:r>
            <a:r>
              <a:rPr lang="en-US" altLang="zh-CN" sz="2800"/>
              <a:t>Classification of quasicrystals</a:t>
            </a:r>
            <a:endParaRPr lang="zh-CN" altLang="en-US" sz="2800"/>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ctrTitle"/>
          </p:nvPr>
        </p:nvSpPr>
        <p:spPr>
          <a:xfrm>
            <a:off x="-396551" y="574675"/>
            <a:ext cx="5832648" cy="838200"/>
          </a:xfrm>
        </p:spPr>
        <p:txBody>
          <a:bodyPr/>
          <a:lstStyle/>
          <a:p>
            <a:pPr eaLnBrk="1" hangingPunct="1">
              <a:defRPr/>
            </a:pPr>
            <a:r>
              <a:rPr lang="en-US" altLang="zh-CN" sz="3200" b="1">
                <a:solidFill>
                  <a:srgbClr val="FF0066"/>
                </a:solidFill>
                <a:effectLst>
                  <a:outerShdw blurRad="38100" dist="38100" dir="2700000" algn="tl">
                    <a:srgbClr val="000000"/>
                  </a:outerShdw>
                </a:effectLst>
                <a:latin typeface="宋体" pitchFamily="2" charset="-122"/>
              </a:rPr>
              <a:t>1.</a:t>
            </a:r>
            <a:r>
              <a:rPr lang="en-US" altLang="zh-CN" sz="3200">
                <a:solidFill>
                  <a:srgbClr val="FF0066"/>
                </a:solidFill>
              </a:rPr>
              <a:t> Concept of symmetry</a:t>
            </a:r>
            <a:endParaRPr lang="zh-CN" altLang="en-US" sz="3200" b="1">
              <a:solidFill>
                <a:srgbClr val="FF0066"/>
              </a:solidFill>
              <a:effectLst>
                <a:outerShdw blurRad="38100" dist="38100" dir="2700000" algn="tl">
                  <a:srgbClr val="000000"/>
                </a:outerShdw>
              </a:effectLst>
              <a:latin typeface="宋体" pitchFamily="2" charset="-122"/>
            </a:endParaRPr>
          </a:p>
        </p:txBody>
      </p:sp>
      <p:pic>
        <p:nvPicPr>
          <p:cNvPr id="3075" name="Picture 6" descr="butterfl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3600" y="3649663"/>
            <a:ext cx="18129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11"/>
          <p:cNvSpPr>
            <a:spLocks noChangeArrowheads="1"/>
          </p:cNvSpPr>
          <p:nvPr/>
        </p:nvSpPr>
        <p:spPr bwMode="auto">
          <a:xfrm>
            <a:off x="0" y="1360191"/>
            <a:ext cx="5340350" cy="2760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20000"/>
              </a:lnSpc>
            </a:pPr>
            <a:r>
              <a:rPr lang="en-US" altLang="zh-CN" sz="2400"/>
              <a:t>General phenomena in universe</a:t>
            </a:r>
            <a:endParaRPr lang="zh-CN" altLang="en-US" sz="2400"/>
          </a:p>
          <a:p>
            <a:pPr eaLnBrk="1" hangingPunct="1">
              <a:lnSpc>
                <a:spcPct val="120000"/>
              </a:lnSpc>
            </a:pPr>
            <a:r>
              <a:rPr lang="en-US" altLang="zh-CN" sz="2400"/>
              <a:t>Most general and basic concept of natural science</a:t>
            </a:r>
            <a:endParaRPr lang="zh-CN" altLang="en-US" sz="2400"/>
          </a:p>
          <a:p>
            <a:pPr eaLnBrk="1" hangingPunct="1">
              <a:lnSpc>
                <a:spcPct val="120000"/>
              </a:lnSpc>
            </a:pPr>
            <a:r>
              <a:rPr lang="en-US" altLang="zh-CN" sz="2400"/>
              <a:t>Code for nature</a:t>
            </a:r>
            <a:endParaRPr lang="zh-CN" altLang="en-US" sz="2400"/>
          </a:p>
          <a:p>
            <a:pPr eaLnBrk="1" hangingPunct="1">
              <a:lnSpc>
                <a:spcPct val="120000"/>
              </a:lnSpc>
            </a:pPr>
            <a:r>
              <a:rPr lang="en-US" altLang="zh-CN" sz="2400"/>
              <a:t>Permanent aesthetic element</a:t>
            </a:r>
            <a:endParaRPr lang="zh-CN" altLang="en-US" sz="2400"/>
          </a:p>
        </p:txBody>
      </p:sp>
      <p:sp>
        <p:nvSpPr>
          <p:cNvPr id="3077" name="Line 12"/>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8" name="Text Box 13"/>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pic>
        <p:nvPicPr>
          <p:cNvPr id="308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5188" y="-14288"/>
            <a:ext cx="3098800" cy="23272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1"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9463" y="4851400"/>
            <a:ext cx="2006600" cy="200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2" name="Picture 1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97713" y="4962525"/>
            <a:ext cx="2046287" cy="189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3" name="Picture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83175" y="3554413"/>
            <a:ext cx="1822450" cy="191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AutoShape 20" descr="http://img3.imgtn.bdimg.com/it/u=1890470612,4273158167&amp;fm=23&amp;gp=0.jpg"/>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3084" name="AutoShape 22" descr="http://img3.imgtn.bdimg.com/it/u=1890470612,4273158167&amp;fm=23&amp;gp=0.jpg"/>
          <p:cNvSpPr>
            <a:spLocks noChangeAspect="1" noChangeArrowheads="1"/>
          </p:cNvSpPr>
          <p:nvPr/>
        </p:nvSpPr>
        <p:spPr bwMode="auto">
          <a:xfrm>
            <a:off x="320675" y="-30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pic>
        <p:nvPicPr>
          <p:cNvPr id="3086"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65875" y="1952625"/>
            <a:ext cx="2592388" cy="1700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a:spLocks noChangeArrowheads="1"/>
          </p:cNvSpPr>
          <p:nvPr/>
        </p:nvSpPr>
        <p:spPr bwMode="auto">
          <a:xfrm>
            <a:off x="5165279" y="1441450"/>
            <a:ext cx="3864867" cy="52322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zh-CN" sz="2800"/>
              <a:t>Parity Nonconservation</a:t>
            </a:r>
            <a:endParaRPr lang="en-US" altLang="en-US" sz="2800"/>
          </a:p>
        </p:txBody>
      </p:sp>
      <p:pic>
        <p:nvPicPr>
          <p:cNvPr id="3087"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563" y="4854575"/>
            <a:ext cx="2951162" cy="1814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8"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3625" y="581025"/>
            <a:ext cx="800100" cy="757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26"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31640" y="3751820"/>
            <a:ext cx="2584456" cy="1722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3080"/>
                                        </p:tgtEl>
                                        <p:attrNameLst>
                                          <p:attrName>style.visibility</p:attrName>
                                        </p:attrNameLst>
                                      </p:cBhvr>
                                      <p:to>
                                        <p:strVal val="visible"/>
                                      </p:to>
                                    </p:set>
                                    <p:animEffect transition="in" filter="barn(inVertical)">
                                      <p:cBhvr>
                                        <p:cTn id="7" dur="500"/>
                                        <p:tgtEl>
                                          <p:spTgt spid="3080"/>
                                        </p:tgtEl>
                                      </p:cBhvr>
                                    </p:animEffect>
                                  </p:childTnLst>
                                </p:cTn>
                              </p:par>
                              <p:par>
                                <p:cTn id="8" presetID="16" presetClass="entr" presetSubtype="21" fill="hold" nodeType="withEffect">
                                  <p:stCondLst>
                                    <p:cond delay="0"/>
                                  </p:stCondLst>
                                  <p:childTnLst>
                                    <p:set>
                                      <p:cBhvr>
                                        <p:cTn id="9" dur="1" fill="hold">
                                          <p:stCondLst>
                                            <p:cond delay="0"/>
                                          </p:stCondLst>
                                        </p:cTn>
                                        <p:tgtEl>
                                          <p:spTgt spid="3088"/>
                                        </p:tgtEl>
                                        <p:attrNameLst>
                                          <p:attrName>style.visibility</p:attrName>
                                        </p:attrNameLst>
                                      </p:cBhvr>
                                      <p:to>
                                        <p:strVal val="visible"/>
                                      </p:to>
                                    </p:set>
                                    <p:animEffect transition="in" filter="barn(inVertical)">
                                      <p:cBhvr>
                                        <p:cTn id="10" dur="500"/>
                                        <p:tgtEl>
                                          <p:spTgt spid="308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par>
                                <p:cTn id="16" presetID="16" presetClass="entr" presetSubtype="21" fill="hold" nodeType="withEffect">
                                  <p:stCondLst>
                                    <p:cond delay="0"/>
                                  </p:stCondLst>
                                  <p:childTnLst>
                                    <p:set>
                                      <p:cBhvr>
                                        <p:cTn id="17" dur="1" fill="hold">
                                          <p:stCondLst>
                                            <p:cond delay="0"/>
                                          </p:stCondLst>
                                        </p:cTn>
                                        <p:tgtEl>
                                          <p:spTgt spid="3086"/>
                                        </p:tgtEl>
                                        <p:attrNameLst>
                                          <p:attrName>style.visibility</p:attrName>
                                        </p:attrNameLst>
                                      </p:cBhvr>
                                      <p:to>
                                        <p:strVal val="visible"/>
                                      </p:to>
                                    </p:set>
                                    <p:animEffect transition="in" filter="barn(inVertical)">
                                      <p:cBhvr>
                                        <p:cTn id="18" dur="500"/>
                                        <p:tgtEl>
                                          <p:spTgt spid="3086"/>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3083"/>
                                        </p:tgtEl>
                                        <p:attrNameLst>
                                          <p:attrName>style.visibility</p:attrName>
                                        </p:attrNameLst>
                                      </p:cBhvr>
                                      <p:to>
                                        <p:strVal val="visible"/>
                                      </p:to>
                                    </p:set>
                                    <p:animEffect transition="in" filter="barn(inVertical)">
                                      <p:cBhvr>
                                        <p:cTn id="23" dur="500"/>
                                        <p:tgtEl>
                                          <p:spTgt spid="3083"/>
                                        </p:tgtEl>
                                      </p:cBhvr>
                                    </p:animEffect>
                                  </p:childTnLst>
                                </p:cTn>
                              </p:par>
                              <p:par>
                                <p:cTn id="24" presetID="16" presetClass="entr" presetSubtype="21" fill="hold" nodeType="withEffect">
                                  <p:stCondLst>
                                    <p:cond delay="0"/>
                                  </p:stCondLst>
                                  <p:childTnLst>
                                    <p:set>
                                      <p:cBhvr>
                                        <p:cTn id="25" dur="1" fill="hold">
                                          <p:stCondLst>
                                            <p:cond delay="0"/>
                                          </p:stCondLst>
                                        </p:cTn>
                                        <p:tgtEl>
                                          <p:spTgt spid="3075"/>
                                        </p:tgtEl>
                                        <p:attrNameLst>
                                          <p:attrName>style.visibility</p:attrName>
                                        </p:attrNameLst>
                                      </p:cBhvr>
                                      <p:to>
                                        <p:strVal val="visible"/>
                                      </p:to>
                                    </p:set>
                                    <p:animEffect transition="in" filter="barn(inVertical)">
                                      <p:cBhvr>
                                        <p:cTn id="26" dur="500"/>
                                        <p:tgtEl>
                                          <p:spTgt spid="3075"/>
                                        </p:tgtEl>
                                      </p:cBhvr>
                                    </p:animEffect>
                                  </p:childTnLst>
                                </p:cTn>
                              </p:par>
                              <p:par>
                                <p:cTn id="27" presetID="16" presetClass="entr" presetSubtype="21" fill="hold" nodeType="withEffect">
                                  <p:stCondLst>
                                    <p:cond delay="0"/>
                                  </p:stCondLst>
                                  <p:childTnLst>
                                    <p:set>
                                      <p:cBhvr>
                                        <p:cTn id="28" dur="1" fill="hold">
                                          <p:stCondLst>
                                            <p:cond delay="0"/>
                                          </p:stCondLst>
                                        </p:cTn>
                                        <p:tgtEl>
                                          <p:spTgt spid="3082"/>
                                        </p:tgtEl>
                                        <p:attrNameLst>
                                          <p:attrName>style.visibility</p:attrName>
                                        </p:attrNameLst>
                                      </p:cBhvr>
                                      <p:to>
                                        <p:strVal val="visible"/>
                                      </p:to>
                                    </p:set>
                                    <p:animEffect transition="in" filter="barn(inVertical)">
                                      <p:cBhvr>
                                        <p:cTn id="29" dur="500"/>
                                        <p:tgtEl>
                                          <p:spTgt spid="3082"/>
                                        </p:tgtEl>
                                      </p:cBhvr>
                                    </p:animEffect>
                                  </p:childTnLst>
                                </p:cTn>
                              </p:par>
                              <p:par>
                                <p:cTn id="30" presetID="16" presetClass="entr" presetSubtype="21" fill="hold" nodeType="withEffect">
                                  <p:stCondLst>
                                    <p:cond delay="0"/>
                                  </p:stCondLst>
                                  <p:childTnLst>
                                    <p:set>
                                      <p:cBhvr>
                                        <p:cTn id="31" dur="1" fill="hold">
                                          <p:stCondLst>
                                            <p:cond delay="0"/>
                                          </p:stCondLst>
                                        </p:cTn>
                                        <p:tgtEl>
                                          <p:spTgt spid="3081"/>
                                        </p:tgtEl>
                                        <p:attrNameLst>
                                          <p:attrName>style.visibility</p:attrName>
                                        </p:attrNameLst>
                                      </p:cBhvr>
                                      <p:to>
                                        <p:strVal val="visible"/>
                                      </p:to>
                                    </p:set>
                                    <p:animEffect transition="in" filter="barn(inVertical)">
                                      <p:cBhvr>
                                        <p:cTn id="32" dur="500"/>
                                        <p:tgtEl>
                                          <p:spTgt spid="308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087"/>
                                        </p:tgtEl>
                                        <p:attrNameLst>
                                          <p:attrName>style.visibility</p:attrName>
                                        </p:attrNameLst>
                                      </p:cBhvr>
                                      <p:to>
                                        <p:strVal val="visible"/>
                                      </p:to>
                                    </p:set>
                                    <p:animEffect transition="in" filter="barn(inVertical)">
                                      <p:cBhvr>
                                        <p:cTn id="37" dur="500"/>
                                        <p:tgtEl>
                                          <p:spTgt spid="3087"/>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26626"/>
                                        </p:tgtEl>
                                        <p:attrNameLst>
                                          <p:attrName>style.visibility</p:attrName>
                                        </p:attrNameLst>
                                      </p:cBhvr>
                                      <p:to>
                                        <p:strVal val="visible"/>
                                      </p:to>
                                    </p:set>
                                    <p:animEffect transition="in" filter="barn(inVertical)">
                                      <p:cBhvr>
                                        <p:cTn id="42" dur="500"/>
                                        <p:tgtEl>
                                          <p:spTgt spid="26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a:t>Parity Nonconservation</a:t>
            </a:r>
            <a:endParaRPr lang="en-US" b="1"/>
          </a:p>
        </p:txBody>
      </p:sp>
      <p:sp>
        <p:nvSpPr>
          <p:cNvPr id="3" name="Content Placeholder 2"/>
          <p:cNvSpPr>
            <a:spLocks noGrp="1"/>
          </p:cNvSpPr>
          <p:nvPr>
            <p:ph idx="1"/>
          </p:nvPr>
        </p:nvSpPr>
        <p:spPr>
          <a:xfrm>
            <a:off x="685800" y="1981200"/>
            <a:ext cx="7772400" cy="4616152"/>
          </a:xfrm>
        </p:spPr>
        <p:txBody>
          <a:bodyPr/>
          <a:lstStyle/>
          <a:p>
            <a:pPr eaLnBrk="1" hangingPunct="1">
              <a:defRPr/>
            </a:pPr>
            <a:r>
              <a:rPr lang="en-US" altLang="zh-CN" sz="2800"/>
              <a:t>In quite a long period of time, physicists believed that all the laws of nature are unchanged in the mirror inversion!</a:t>
            </a:r>
          </a:p>
          <a:p>
            <a:pPr eaLnBrk="1" hangingPunct="1">
              <a:defRPr/>
            </a:pPr>
            <a:r>
              <a:rPr lang="en-US" altLang="zh-CN" sz="2800"/>
              <a:t>Parity conservation refers to in any case, the image of any particles, has exactly the same properties with  the particles except the direction of their spin.</a:t>
            </a:r>
          </a:p>
          <a:p>
            <a:pPr eaLnBrk="1" hangingPunct="1">
              <a:defRPr/>
            </a:pPr>
            <a:r>
              <a:rPr lang="en-US" altLang="zh-CN" sz="2800"/>
              <a:t>The law of parity nonconservation refers to that in the weak interaction, the movement is asymmetry for mutual mirrored materials.</a:t>
            </a:r>
          </a:p>
          <a:p>
            <a:pPr eaLnBrk="1" hangingPunct="1">
              <a:defRPr/>
            </a:pPr>
            <a:endParaRPr lang="en-US" altLang="zh-CN" sz="2800" b="1"/>
          </a:p>
          <a:p>
            <a:endParaRPr lang="en-US" sz="2800"/>
          </a:p>
        </p:txBody>
      </p:sp>
    </p:spTree>
    <p:extLst>
      <p:ext uri="{BB962C8B-B14F-4D97-AF65-F5344CB8AC3E}">
        <p14:creationId xmlns:p14="http://schemas.microsoft.com/office/powerpoint/2010/main" val="732576380"/>
      </p:ext>
    </p:extLst>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a:t>Parity Nonconservation</a:t>
            </a:r>
            <a:endParaRPr lang="en-US" b="1"/>
          </a:p>
        </p:txBody>
      </p:sp>
      <p:sp>
        <p:nvSpPr>
          <p:cNvPr id="3" name="Content Placeholder 2"/>
          <p:cNvSpPr>
            <a:spLocks noGrp="1"/>
          </p:cNvSpPr>
          <p:nvPr>
            <p:ph idx="1"/>
          </p:nvPr>
        </p:nvSpPr>
        <p:spPr>
          <a:xfrm>
            <a:off x="683568" y="1700808"/>
            <a:ext cx="7772400" cy="4832176"/>
          </a:xfrm>
        </p:spPr>
        <p:txBody>
          <a:bodyPr/>
          <a:lstStyle/>
          <a:p>
            <a:pPr marL="0" indent="0" eaLnBrk="1" hangingPunct="1">
              <a:buNone/>
              <a:defRPr/>
            </a:pPr>
            <a:r>
              <a:rPr lang="en-US" altLang="zh-CN" sz="2400"/>
              <a:t>	Mrs. Wu </a:t>
            </a:r>
            <a:r>
              <a:rPr lang="en-US" altLang="zh-CN" sz="2400" err="1"/>
              <a:t>Jianxiong</a:t>
            </a:r>
            <a:r>
              <a:rPr lang="en-US" altLang="zh-CN" sz="2400"/>
              <a:t> observed the decay of cobalt 60 with two sets of experimental devices. She used a strong magnetic field at a very low temperature (0.01K) to turn the spin direction of the cobalt 60 nucleus in a set of devices to the </a:t>
            </a:r>
            <a:r>
              <a:rPr lang="en-US" altLang="zh-CN" sz="2400">
                <a:solidFill>
                  <a:srgbClr val="FF0000"/>
                </a:solidFill>
              </a:rPr>
              <a:t>left</a:t>
            </a:r>
            <a:r>
              <a:rPr lang="en-US" altLang="zh-CN" sz="2400"/>
              <a:t>, and the spin direction of cobalt 60 nucleus in another set is turned to the </a:t>
            </a:r>
            <a:r>
              <a:rPr lang="en-US" altLang="zh-CN" sz="2400">
                <a:solidFill>
                  <a:srgbClr val="FF0000"/>
                </a:solidFill>
              </a:rPr>
              <a:t>right</a:t>
            </a:r>
            <a:r>
              <a:rPr lang="en-US" altLang="zh-CN" sz="2400"/>
              <a:t>. The cobalt 60 in these two sets of </a:t>
            </a:r>
            <a:r>
              <a:rPr lang="en-US" altLang="zh-CN" sz="2400" err="1"/>
              <a:t>equipments</a:t>
            </a:r>
            <a:r>
              <a:rPr lang="en-US" altLang="zh-CN" sz="2400"/>
              <a:t> are mirror images of each other. Experimental results showed that the cobalt 60 in the two sets of devices emitted the number of electrons are quite different, and the direction of electron emission can </a:t>
            </a:r>
            <a:r>
              <a:rPr lang="en-US" altLang="zh-CN" sz="2400">
                <a:solidFill>
                  <a:srgbClr val="FF0000"/>
                </a:solidFill>
              </a:rPr>
              <a:t>not be symmetrical </a:t>
            </a:r>
            <a:r>
              <a:rPr lang="en-US" altLang="zh-CN" sz="2400"/>
              <a:t>with each other. The experimental results confirm that the parity is not conserved in the weak interaction.</a:t>
            </a:r>
            <a:endParaRPr lang="en-US" sz="2400"/>
          </a:p>
        </p:txBody>
      </p:sp>
    </p:spTree>
    <p:extLst>
      <p:ext uri="{BB962C8B-B14F-4D97-AF65-F5344CB8AC3E}">
        <p14:creationId xmlns:p14="http://schemas.microsoft.com/office/powerpoint/2010/main" val="2116881338"/>
      </p:ext>
    </p:extLst>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Grp="1" noChangeArrowheads="1"/>
          </p:cNvSpPr>
          <p:nvPr>
            <p:ph type="body" idx="1"/>
          </p:nvPr>
        </p:nvSpPr>
        <p:spPr>
          <a:xfrm>
            <a:off x="359917" y="1848948"/>
            <a:ext cx="4678362" cy="1447800"/>
          </a:xfrm>
        </p:spPr>
        <p:txBody>
          <a:bodyPr/>
          <a:lstStyle/>
          <a:p>
            <a:pPr eaLnBrk="1" hangingPunct="1">
              <a:defRPr/>
            </a:pPr>
            <a:r>
              <a:rPr lang="en-US" altLang="zh-CN" sz="2800" b="1"/>
              <a:t>The same parts in the object (or graphics) are regularly </a:t>
            </a:r>
            <a:r>
              <a:rPr lang="en-US" altLang="zh-CN" sz="2800" b="1">
                <a:solidFill>
                  <a:srgbClr val="FF0000"/>
                </a:solidFill>
              </a:rPr>
              <a:t>repeated.</a:t>
            </a:r>
            <a:endParaRPr lang="zh-CN" altLang="en-US" sz="2800" b="1"/>
          </a:p>
        </p:txBody>
      </p:sp>
      <p:pic>
        <p:nvPicPr>
          <p:cNvPr id="4099" name="Picture 5" descr="flowe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501008"/>
            <a:ext cx="3240088" cy="243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4" name="Rectangle 6"/>
          <p:cNvSpPr>
            <a:spLocks noChangeArrowheads="1"/>
          </p:cNvSpPr>
          <p:nvPr/>
        </p:nvSpPr>
        <p:spPr bwMode="auto">
          <a:xfrm>
            <a:off x="538858" y="1046164"/>
            <a:ext cx="432048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itchFamily="18" charset="0"/>
                <a:ea typeface="宋体" pitchFamily="2" charset="-122"/>
              </a:defRPr>
            </a:lvl1pPr>
            <a:lvl2pPr algn="ctr">
              <a:defRPr kumimoji="1" sz="4400">
                <a:solidFill>
                  <a:schemeClr val="tx2"/>
                </a:solidFill>
                <a:latin typeface="Times New Roman" pitchFamily="18" charset="0"/>
                <a:ea typeface="宋体" pitchFamily="2" charset="-122"/>
              </a:defRPr>
            </a:lvl2pPr>
            <a:lvl3pPr algn="ctr">
              <a:defRPr kumimoji="1" sz="4400">
                <a:solidFill>
                  <a:schemeClr val="tx2"/>
                </a:solidFill>
                <a:latin typeface="Times New Roman" pitchFamily="18" charset="0"/>
                <a:ea typeface="宋体" pitchFamily="2" charset="-122"/>
              </a:defRPr>
            </a:lvl3pPr>
            <a:lvl4pPr algn="ctr">
              <a:defRPr kumimoji="1" sz="4400">
                <a:solidFill>
                  <a:schemeClr val="tx2"/>
                </a:solidFill>
                <a:latin typeface="Times New Roman" pitchFamily="18" charset="0"/>
                <a:ea typeface="宋体" pitchFamily="2" charset="-122"/>
              </a:defRPr>
            </a:lvl4pPr>
            <a:lvl5pPr algn="ctr">
              <a:defRPr kumimoji="1" sz="4400">
                <a:solidFill>
                  <a:schemeClr val="tx2"/>
                </a:solidFill>
                <a:latin typeface="Times New Roman" pitchFamily="18" charset="0"/>
                <a:ea typeface="宋体" pitchFamily="2" charset="-122"/>
              </a:defRPr>
            </a:lvl5pPr>
            <a:lvl6pPr marL="457200" algn="ctr" fontAlgn="base">
              <a:spcBef>
                <a:spcPct val="0"/>
              </a:spcBef>
              <a:spcAft>
                <a:spcPct val="0"/>
              </a:spcAft>
              <a:defRPr kumimoji="1" sz="4400">
                <a:solidFill>
                  <a:schemeClr val="tx2"/>
                </a:solidFill>
                <a:latin typeface="Times New Roman" pitchFamily="18" charset="0"/>
                <a:ea typeface="宋体" pitchFamily="2" charset="-122"/>
              </a:defRPr>
            </a:lvl6pPr>
            <a:lvl7pPr marL="914400" algn="ctr"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fontAlgn="base">
              <a:spcBef>
                <a:spcPct val="0"/>
              </a:spcBef>
              <a:spcAft>
                <a:spcPct val="0"/>
              </a:spcAft>
              <a:defRPr kumimoji="1" sz="4400">
                <a:solidFill>
                  <a:schemeClr val="tx2"/>
                </a:solidFill>
                <a:latin typeface="Times New Roman" pitchFamily="18" charset="0"/>
                <a:ea typeface="宋体" pitchFamily="2" charset="-122"/>
              </a:defRPr>
            </a:lvl9pPr>
          </a:lstStyle>
          <a:p>
            <a:pPr>
              <a:defRPr/>
            </a:pPr>
            <a:r>
              <a:rPr lang="en-US" altLang="zh-CN" sz="3200">
                <a:solidFill>
                  <a:schemeClr val="tx1"/>
                </a:solidFill>
                <a:latin typeface="+mn-lt"/>
              </a:rPr>
              <a:t>Concept of Symmetry</a:t>
            </a:r>
            <a:endParaRPr lang="zh-CN" altLang="en-US" sz="3200">
              <a:solidFill>
                <a:schemeClr val="tx1"/>
              </a:solidFill>
              <a:latin typeface="+mn-lt"/>
            </a:endParaRPr>
          </a:p>
        </p:txBody>
      </p:sp>
      <p:pic>
        <p:nvPicPr>
          <p:cNvPr id="410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0215" y="1072452"/>
            <a:ext cx="3429000" cy="279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2" name="Line 8"/>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3" name="Text Box 9"/>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 name="Rectangle 1"/>
          <p:cNvSpPr/>
          <p:nvPr/>
        </p:nvSpPr>
        <p:spPr bwMode="auto">
          <a:xfrm>
            <a:off x="5136040" y="1624855"/>
            <a:ext cx="720080" cy="743642"/>
          </a:xfrm>
          <a:prstGeom prst="rect">
            <a:avLst/>
          </a:prstGeom>
          <a:solidFill>
            <a:srgbClr val="FF0066">
              <a:alpha val="50196"/>
            </a:srgbClr>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pic>
        <p:nvPicPr>
          <p:cNvPr id="276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7071" y="4149080"/>
            <a:ext cx="2943225"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80528" y="720567"/>
            <a:ext cx="9072810" cy="914400"/>
          </a:xfrm>
        </p:spPr>
        <p:txBody>
          <a:bodyPr/>
          <a:lstStyle/>
          <a:p>
            <a:pPr eaLnBrk="1" hangingPunct="1">
              <a:defRPr/>
            </a:pPr>
            <a:r>
              <a:rPr lang="en-US" altLang="zh-CN" sz="3600" b="1">
                <a:solidFill>
                  <a:srgbClr val="FF0066"/>
                </a:solidFill>
                <a:effectLst>
                  <a:outerShdw blurRad="38100" dist="38100" dir="2700000" algn="tl">
                    <a:srgbClr val="000000"/>
                  </a:outerShdw>
                </a:effectLst>
                <a:latin typeface="宋体" pitchFamily="2" charset="-122"/>
              </a:rPr>
              <a:t>2.Character of crystal symmetry</a:t>
            </a:r>
            <a:endParaRPr lang="zh-CN" altLang="en-US" sz="3600" b="1">
              <a:effectLst>
                <a:outerShdw blurRad="38100" dist="38100" dir="2700000" algn="tl">
                  <a:srgbClr val="FFFFFF"/>
                </a:outerShdw>
              </a:effectLst>
              <a:latin typeface="宋体" pitchFamily="2" charset="-122"/>
            </a:endParaRPr>
          </a:p>
        </p:txBody>
      </p:sp>
      <p:sp>
        <p:nvSpPr>
          <p:cNvPr id="5123" name="Rectangle 3"/>
          <p:cNvSpPr>
            <a:spLocks noGrp="1" noChangeArrowheads="1"/>
          </p:cNvSpPr>
          <p:nvPr>
            <p:ph type="body" idx="1"/>
          </p:nvPr>
        </p:nvSpPr>
        <p:spPr>
          <a:xfrm>
            <a:off x="685800" y="1804988"/>
            <a:ext cx="7924800" cy="4648200"/>
          </a:xfrm>
        </p:spPr>
        <p:txBody>
          <a:bodyPr/>
          <a:lstStyle/>
          <a:p>
            <a:pPr algn="just" eaLnBrk="1" hangingPunct="1">
              <a:buClr>
                <a:schemeClr val="accent2"/>
              </a:buClr>
              <a:buFont typeface="Wingdings" pitchFamily="2" charset="2"/>
              <a:buChar char="q"/>
              <a:defRPr/>
            </a:pPr>
            <a:r>
              <a:rPr lang="en-US" altLang="zh-CN" sz="2400" b="1"/>
              <a:t> Since the interior of crystals has a lattice structure, the same particles can be repeated by translation, so that all the crystal structures are </a:t>
            </a:r>
            <a:r>
              <a:rPr lang="en-US" altLang="zh-CN" sz="2400" b="1">
                <a:solidFill>
                  <a:srgbClr val="FF0000"/>
                </a:solidFill>
              </a:rPr>
              <a:t>symmetrical</a:t>
            </a:r>
            <a:r>
              <a:rPr lang="en-US" altLang="zh-CN" sz="2400" b="1"/>
              <a:t>.</a:t>
            </a:r>
          </a:p>
          <a:p>
            <a:pPr algn="just" eaLnBrk="1" hangingPunct="1">
              <a:buClr>
                <a:schemeClr val="accent2"/>
              </a:buClr>
              <a:buFont typeface="Wingdings" pitchFamily="2" charset="2"/>
              <a:buChar char="q"/>
              <a:defRPr/>
            </a:pPr>
            <a:r>
              <a:rPr lang="en-US" altLang="zh-CN" sz="2400" b="1"/>
              <a:t>The symmetry of crystals is limited by the lattice structure, so the symmetry of the crystal is </a:t>
            </a:r>
            <a:r>
              <a:rPr lang="en-US" altLang="zh-CN" sz="2400" b="1">
                <a:solidFill>
                  <a:srgbClr val="FF0000"/>
                </a:solidFill>
              </a:rPr>
              <a:t>finite</a:t>
            </a:r>
            <a:r>
              <a:rPr lang="en-US" altLang="zh-CN" sz="2400" b="1"/>
              <a:t>, and it follows "crystal symmetry law".</a:t>
            </a:r>
            <a:r>
              <a:rPr lang="zh-CN" altLang="en-US" sz="2400" b="1"/>
              <a:t> </a:t>
            </a:r>
          </a:p>
          <a:p>
            <a:pPr algn="just" eaLnBrk="1" hangingPunct="1">
              <a:buClr>
                <a:schemeClr val="accent2"/>
              </a:buClr>
              <a:buFont typeface="Wingdings" pitchFamily="2" charset="2"/>
              <a:buChar char="q"/>
              <a:defRPr/>
            </a:pPr>
            <a:r>
              <a:rPr lang="zh-CN" altLang="en-US" sz="2400" b="1"/>
              <a:t> </a:t>
            </a:r>
            <a:r>
              <a:rPr lang="en-US" altLang="zh-CN" sz="2400" b="1"/>
              <a:t>Crystal symmetry is not only reflected in </a:t>
            </a:r>
            <a:r>
              <a:rPr lang="en-US" altLang="zh-CN" sz="2400" b="1">
                <a:solidFill>
                  <a:srgbClr val="FF0000"/>
                </a:solidFill>
              </a:rPr>
              <a:t>shape</a:t>
            </a:r>
            <a:r>
              <a:rPr lang="en-US" altLang="zh-CN" sz="2400" b="1"/>
              <a:t>, but also reflected in </a:t>
            </a:r>
            <a:r>
              <a:rPr lang="en-US" altLang="zh-CN" sz="2400" b="1">
                <a:solidFill>
                  <a:srgbClr val="FF0000"/>
                </a:solidFill>
              </a:rPr>
              <a:t>physical properties</a:t>
            </a:r>
            <a:r>
              <a:rPr lang="en-US" altLang="zh-CN" sz="2400" b="1"/>
              <a:t>.</a:t>
            </a:r>
            <a:endParaRPr lang="en-US" altLang="zh-CN" sz="2400" b="1">
              <a:solidFill>
                <a:srgbClr val="FF0066"/>
              </a:solidFill>
            </a:endParaRPr>
          </a:p>
          <a:p>
            <a:pPr marL="0" indent="0" algn="just" eaLnBrk="1" hangingPunct="1">
              <a:buClr>
                <a:schemeClr val="accent2"/>
              </a:buClr>
              <a:buFontTx/>
              <a:buNone/>
              <a:defRPr/>
            </a:pPr>
            <a:endParaRPr lang="en-US" altLang="zh-CN" sz="2400" b="1">
              <a:solidFill>
                <a:srgbClr val="FF0000"/>
              </a:solidFill>
              <a:effectLst>
                <a:outerShdw blurRad="38100" dist="38100" dir="2700000" algn="tl">
                  <a:srgbClr val="000000">
                    <a:alpha val="43137"/>
                  </a:srgbClr>
                </a:outerShdw>
              </a:effectLst>
            </a:endParaRPr>
          </a:p>
          <a:p>
            <a:pPr marL="0" indent="0" algn="just" eaLnBrk="1" hangingPunct="1">
              <a:buClr>
                <a:schemeClr val="accent2"/>
              </a:buClr>
              <a:buFontTx/>
              <a:buNone/>
              <a:defRPr/>
            </a:pPr>
            <a:r>
              <a:rPr lang="en-US" altLang="zh-CN" sz="2400" b="1">
                <a:solidFill>
                  <a:srgbClr val="FF0000"/>
                </a:solidFill>
              </a:rPr>
              <a:t>The lattice structure makes all the crystals symmetrical, and the lattice structure also makes it impossible for all symmetries to appear in crystals.</a:t>
            </a:r>
            <a:endParaRPr lang="zh-CN" altLang="en-US" sz="2400" b="1">
              <a:solidFill>
                <a:srgbClr val="FF0066"/>
              </a:solidFill>
            </a:endParaRPr>
          </a:p>
        </p:txBody>
      </p:sp>
      <p:sp>
        <p:nvSpPr>
          <p:cNvPr id="5124" name="Line 4"/>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5" name="Text Box 5"/>
          <p:cNvSpPr txBox="1">
            <a:spLocks noChangeArrowheads="1"/>
          </p:cNvSpPr>
          <p:nvPr/>
        </p:nvSpPr>
        <p:spPr bwMode="auto">
          <a:xfrm>
            <a:off x="971550" y="223838"/>
            <a:ext cx="2592388"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a:p>
            <a:pPr eaLnBrk="1" hangingPunct="1">
              <a:spcBef>
                <a:spcPct val="50000"/>
              </a:spcBef>
              <a:buFontTx/>
              <a:buNone/>
            </a:pPr>
            <a:endParaRPr lang="zh-CN" altLang="en-US" sz="2000" b="0">
              <a:solidFill>
                <a:srgbClr val="9900FF"/>
              </a:solidFill>
            </a:endParaRPr>
          </a:p>
        </p:txBody>
      </p:sp>
    </p:spTree>
  </p:cSld>
  <p:clrMapOvr>
    <a:masterClrMapping/>
  </p:clrMapOvr>
  <p:transition spd="med">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a:xfrm>
            <a:off x="1042988" y="1981200"/>
            <a:ext cx="6248400" cy="800100"/>
          </a:xfrm>
          <a:noFill/>
        </p:spPr>
        <p:txBody>
          <a:bodyPr anchor="b"/>
          <a:lstStyle/>
          <a:p>
            <a:pPr algn="l" eaLnBrk="1" hangingPunct="1"/>
            <a:r>
              <a:rPr lang="en-US" altLang="zh-CN" sz="3600">
                <a:solidFill>
                  <a:schemeClr val="accent2"/>
                </a:solidFill>
              </a:rPr>
              <a:t>symmetry operation</a:t>
            </a:r>
            <a:r>
              <a:rPr lang="zh-CN" altLang="en-US" sz="3600" b="1">
                <a:solidFill>
                  <a:schemeClr val="accent2"/>
                </a:solidFill>
              </a:rPr>
              <a:t> </a:t>
            </a:r>
            <a:r>
              <a:rPr lang="en-US" altLang="zh-CN" sz="3600" b="1">
                <a:solidFill>
                  <a:schemeClr val="accent2"/>
                </a:solidFill>
              </a:rPr>
              <a:t>(</a:t>
            </a:r>
            <a:r>
              <a:rPr lang="zh-CN" altLang="en-US" sz="3600" b="1">
                <a:solidFill>
                  <a:schemeClr val="accent2"/>
                </a:solidFill>
              </a:rPr>
              <a:t>对称操作</a:t>
            </a:r>
            <a:r>
              <a:rPr lang="en-US" altLang="zh-CN" sz="3600" b="1">
                <a:solidFill>
                  <a:schemeClr val="accent2"/>
                </a:solidFill>
              </a:rPr>
              <a:t>)</a:t>
            </a:r>
            <a:endParaRPr lang="zh-CN" altLang="zh-CN" sz="3600" b="1">
              <a:solidFill>
                <a:schemeClr val="accent2"/>
              </a:solidFill>
            </a:endParaRPr>
          </a:p>
        </p:txBody>
      </p:sp>
      <p:sp>
        <p:nvSpPr>
          <p:cNvPr id="6147" name="Rectangle 5"/>
          <p:cNvSpPr>
            <a:spLocks noChangeArrowheads="1"/>
          </p:cNvSpPr>
          <p:nvPr/>
        </p:nvSpPr>
        <p:spPr bwMode="auto">
          <a:xfrm>
            <a:off x="914400" y="3105150"/>
            <a:ext cx="7391400"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r>
              <a:rPr lang="zh-CN" altLang="en-US" sz="2800" b="0"/>
              <a:t>能够使</a:t>
            </a:r>
            <a:r>
              <a:rPr lang="zh-CN" altLang="en-US" sz="2800">
                <a:effectLst>
                  <a:outerShdw blurRad="38100" dist="38100" dir="2700000" algn="tl">
                    <a:srgbClr val="000000">
                      <a:alpha val="43137"/>
                    </a:srgbClr>
                  </a:outerShdw>
                </a:effectLst>
              </a:rPr>
              <a:t>对称物体</a:t>
            </a:r>
            <a:r>
              <a:rPr lang="en-US" altLang="zh-CN" sz="2800">
                <a:effectLst>
                  <a:outerShdw blurRad="38100" dist="38100" dir="2700000" algn="tl">
                    <a:srgbClr val="000000">
                      <a:alpha val="43137"/>
                    </a:srgbClr>
                  </a:outerShdw>
                </a:effectLst>
              </a:rPr>
              <a:t>(</a:t>
            </a:r>
            <a:r>
              <a:rPr lang="zh-CN" altLang="en-US" sz="2800">
                <a:effectLst>
                  <a:outerShdw blurRad="38100" dist="38100" dir="2700000" algn="tl">
                    <a:srgbClr val="000000">
                      <a:alpha val="43137"/>
                    </a:srgbClr>
                  </a:outerShdw>
                </a:effectLst>
              </a:rPr>
              <a:t>或图形</a:t>
            </a:r>
            <a:r>
              <a:rPr lang="en-US" altLang="zh-CN" sz="2800">
                <a:effectLst>
                  <a:outerShdw blurRad="38100" dist="38100" dir="2700000" algn="tl">
                    <a:srgbClr val="000000">
                      <a:alpha val="43137"/>
                    </a:srgbClr>
                  </a:outerShdw>
                </a:effectLst>
              </a:rPr>
              <a:t>)</a:t>
            </a:r>
            <a:r>
              <a:rPr lang="zh-CN" altLang="en-US" sz="2800">
                <a:effectLst>
                  <a:outerShdw blurRad="38100" dist="38100" dir="2700000" algn="tl">
                    <a:srgbClr val="000000">
                      <a:alpha val="43137"/>
                    </a:srgbClr>
                  </a:outerShdw>
                </a:effectLst>
              </a:rPr>
              <a:t>中的等同部分</a:t>
            </a:r>
            <a:r>
              <a:rPr lang="zh-CN" altLang="en-US" sz="2800" b="0"/>
              <a:t>作有规律重复的变换动作</a:t>
            </a:r>
            <a:r>
              <a:rPr lang="en-US" altLang="zh-CN" sz="2800" b="0"/>
              <a:t>(</a:t>
            </a:r>
            <a:r>
              <a:rPr lang="zh-CN" altLang="en-US" sz="2800" b="0">
                <a:solidFill>
                  <a:srgbClr val="33CC33"/>
                </a:solidFill>
              </a:rPr>
              <a:t>对称操作</a:t>
            </a:r>
            <a:r>
              <a:rPr lang="en-US" altLang="zh-CN" sz="2800" b="0"/>
              <a:t>)</a:t>
            </a:r>
          </a:p>
          <a:p>
            <a:pPr eaLnBrk="1" hangingPunct="1"/>
            <a:r>
              <a:rPr lang="en-US" altLang="zh-CN" sz="2800" b="0">
                <a:solidFill>
                  <a:srgbClr val="FF3300"/>
                </a:solidFill>
              </a:rPr>
              <a:t>some acts that reproduce the </a:t>
            </a:r>
            <a:r>
              <a:rPr lang="en-US" altLang="zh-CN" sz="2800">
                <a:solidFill>
                  <a:srgbClr val="33CC33"/>
                </a:solidFill>
              </a:rPr>
              <a:t>motif</a:t>
            </a:r>
            <a:r>
              <a:rPr lang="en-US" altLang="zh-CN" sz="2800">
                <a:solidFill>
                  <a:srgbClr val="FF3300"/>
                </a:solidFill>
              </a:rPr>
              <a:t> </a:t>
            </a:r>
            <a:r>
              <a:rPr lang="en-US" altLang="zh-CN" sz="2800" b="0">
                <a:solidFill>
                  <a:srgbClr val="FF3300"/>
                </a:solidFill>
              </a:rPr>
              <a:t>to create the pattern</a:t>
            </a:r>
          </a:p>
          <a:p>
            <a:pPr eaLnBrk="1" hangingPunct="1"/>
            <a:r>
              <a:rPr lang="en-US" altLang="zh-CN" sz="2400"/>
              <a:t>Motif</a:t>
            </a:r>
            <a:r>
              <a:rPr lang="zh-CN" altLang="en-US" sz="2400" b="0"/>
              <a:t>：</a:t>
            </a:r>
            <a:r>
              <a:rPr lang="en-US" altLang="zh-CN" sz="2400" b="0"/>
              <a:t>the fundamental part of a symmetric design that, when repeated, creates the whole pattern</a:t>
            </a:r>
            <a:endParaRPr lang="en-US" altLang="zh-CN" sz="2800" b="0"/>
          </a:p>
        </p:txBody>
      </p:sp>
      <p:sp>
        <p:nvSpPr>
          <p:cNvPr id="36870" name="Rectangle 6"/>
          <p:cNvSpPr>
            <a:spLocks noChangeArrowheads="1"/>
          </p:cNvSpPr>
          <p:nvPr/>
        </p:nvSpPr>
        <p:spPr bwMode="auto">
          <a:xfrm>
            <a:off x="827584" y="849312"/>
            <a:ext cx="720015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kumimoji="1" sz="4400">
                <a:solidFill>
                  <a:schemeClr val="tx2"/>
                </a:solidFill>
                <a:latin typeface="Times New Roman" pitchFamily="18" charset="0"/>
                <a:ea typeface="宋体" pitchFamily="2" charset="-122"/>
              </a:defRPr>
            </a:lvl1pPr>
            <a:lvl2pPr algn="ctr">
              <a:defRPr kumimoji="1" sz="4400">
                <a:solidFill>
                  <a:schemeClr val="tx2"/>
                </a:solidFill>
                <a:latin typeface="Times New Roman" pitchFamily="18" charset="0"/>
                <a:ea typeface="宋体" pitchFamily="2" charset="-122"/>
              </a:defRPr>
            </a:lvl2pPr>
            <a:lvl3pPr algn="ctr">
              <a:defRPr kumimoji="1" sz="4400">
                <a:solidFill>
                  <a:schemeClr val="tx2"/>
                </a:solidFill>
                <a:latin typeface="Times New Roman" pitchFamily="18" charset="0"/>
                <a:ea typeface="宋体" pitchFamily="2" charset="-122"/>
              </a:defRPr>
            </a:lvl3pPr>
            <a:lvl4pPr algn="ctr">
              <a:defRPr kumimoji="1" sz="4400">
                <a:solidFill>
                  <a:schemeClr val="tx2"/>
                </a:solidFill>
                <a:latin typeface="Times New Roman" pitchFamily="18" charset="0"/>
                <a:ea typeface="宋体" pitchFamily="2" charset="-122"/>
              </a:defRPr>
            </a:lvl4pPr>
            <a:lvl5pPr algn="ctr">
              <a:defRPr kumimoji="1" sz="4400">
                <a:solidFill>
                  <a:schemeClr val="tx2"/>
                </a:solidFill>
                <a:latin typeface="Times New Roman" pitchFamily="18" charset="0"/>
                <a:ea typeface="宋体" pitchFamily="2" charset="-122"/>
              </a:defRPr>
            </a:lvl5pPr>
            <a:lvl6pPr marL="457200" algn="ctr" fontAlgn="base">
              <a:spcBef>
                <a:spcPct val="0"/>
              </a:spcBef>
              <a:spcAft>
                <a:spcPct val="0"/>
              </a:spcAft>
              <a:defRPr kumimoji="1" sz="4400">
                <a:solidFill>
                  <a:schemeClr val="tx2"/>
                </a:solidFill>
                <a:latin typeface="Times New Roman" pitchFamily="18" charset="0"/>
                <a:ea typeface="宋体" pitchFamily="2" charset="-122"/>
              </a:defRPr>
            </a:lvl6pPr>
            <a:lvl7pPr marL="914400" algn="ctr"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fontAlgn="base">
              <a:spcBef>
                <a:spcPct val="0"/>
              </a:spcBef>
              <a:spcAft>
                <a:spcPct val="0"/>
              </a:spcAft>
              <a:defRPr kumimoji="1" sz="4400">
                <a:solidFill>
                  <a:schemeClr val="tx2"/>
                </a:solidFill>
                <a:latin typeface="Times New Roman" pitchFamily="18" charset="0"/>
                <a:ea typeface="宋体" pitchFamily="2" charset="-122"/>
              </a:defRPr>
            </a:lvl9pPr>
          </a:lstStyle>
          <a:p>
            <a:pPr algn="l">
              <a:defRPr/>
            </a:pPr>
            <a:r>
              <a:rPr lang="en-US" altLang="zh-CN" sz="3600" b="0">
                <a:solidFill>
                  <a:srgbClr val="FF0066"/>
                </a:solidFill>
                <a:effectLst>
                  <a:outerShdw blurRad="38100" dist="38100" dir="2700000" algn="tl">
                    <a:srgbClr val="000000"/>
                  </a:outerShdw>
                </a:effectLst>
                <a:latin typeface="+mn-lt"/>
              </a:rPr>
              <a:t>3. Macroscopic symmetry element and symmetry operation in crystal</a:t>
            </a:r>
            <a:endParaRPr lang="zh-CN" altLang="en-US" sz="3600" b="0">
              <a:effectLst>
                <a:outerShdw blurRad="38100" dist="38100" dir="2700000" algn="tl">
                  <a:srgbClr val="FFFFFF"/>
                </a:outerShdw>
              </a:effectLst>
              <a:latin typeface="+mn-lt"/>
            </a:endParaRPr>
          </a:p>
        </p:txBody>
      </p:sp>
      <p:sp>
        <p:nvSpPr>
          <p:cNvPr id="6149" name="Line 7"/>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0" name="Text Box 8"/>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8"/>
          <p:cNvSpPr>
            <a:spLocks noGrp="1" noChangeArrowheads="1"/>
          </p:cNvSpPr>
          <p:nvPr>
            <p:ph type="title"/>
          </p:nvPr>
        </p:nvSpPr>
        <p:spPr>
          <a:xfrm>
            <a:off x="1219200" y="762000"/>
            <a:ext cx="6248400" cy="800100"/>
          </a:xfrm>
          <a:noFill/>
        </p:spPr>
        <p:txBody>
          <a:bodyPr anchor="b"/>
          <a:lstStyle/>
          <a:p>
            <a:pPr algn="l" eaLnBrk="1" hangingPunct="1"/>
            <a:r>
              <a:rPr lang="en-US" altLang="zh-CN" sz="4000" b="1"/>
              <a:t>Symmetry element</a:t>
            </a:r>
            <a:endParaRPr lang="zh-CN" altLang="zh-CN" sz="4000" b="1"/>
          </a:p>
        </p:txBody>
      </p:sp>
      <p:sp>
        <p:nvSpPr>
          <p:cNvPr id="37893" name="Rectangle 1029"/>
          <p:cNvSpPr>
            <a:spLocks noChangeArrowheads="1"/>
          </p:cNvSpPr>
          <p:nvPr/>
        </p:nvSpPr>
        <p:spPr bwMode="auto">
          <a:xfrm>
            <a:off x="827088" y="1772816"/>
            <a:ext cx="7783512"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kumimoji="1" sz="2800">
                <a:solidFill>
                  <a:schemeClr val="tx1"/>
                </a:solidFill>
                <a:latin typeface="Times New Roman" pitchFamily="18" charset="0"/>
                <a:ea typeface="宋体" pitchFamily="2" charset="-122"/>
              </a:defRPr>
            </a:lvl1pPr>
            <a:lvl2pPr marL="742950" indent="-285750">
              <a:spcBef>
                <a:spcPct val="20000"/>
              </a:spcBef>
              <a:buChar char="–"/>
              <a:defRPr kumimoji="1" sz="2400">
                <a:solidFill>
                  <a:schemeClr val="tx1"/>
                </a:solidFill>
                <a:latin typeface="Times New Roman" pitchFamily="18" charset="0"/>
                <a:ea typeface="宋体" pitchFamily="2" charset="-122"/>
              </a:defRPr>
            </a:lvl2pPr>
            <a:lvl3pPr marL="1143000" indent="-228600">
              <a:spcBef>
                <a:spcPct val="20000"/>
              </a:spcBef>
              <a:buChar char="•"/>
              <a:defRPr kumimoji="1" sz="2000">
                <a:solidFill>
                  <a:schemeClr val="tx1"/>
                </a:solidFill>
                <a:latin typeface="Times New Roman" pitchFamily="18" charset="0"/>
                <a:ea typeface="宋体" pitchFamily="2" charset="-122"/>
              </a:defRPr>
            </a:lvl3pPr>
            <a:lvl4pPr marL="1600200" indent="-228600">
              <a:spcBef>
                <a:spcPct val="20000"/>
              </a:spcBef>
              <a:buChar char="–"/>
              <a:defRPr kumimoji="1">
                <a:solidFill>
                  <a:schemeClr val="tx1"/>
                </a:solidFill>
                <a:latin typeface="Times New Roman" pitchFamily="18" charset="0"/>
                <a:ea typeface="宋体" pitchFamily="2" charset="-122"/>
              </a:defRPr>
            </a:lvl4pPr>
            <a:lvl5pPr marL="2057400" indent="-228600">
              <a:spcBef>
                <a:spcPct val="20000"/>
              </a:spcBef>
              <a:buChar char="»"/>
              <a:defRPr kumimoji="1">
                <a:solidFill>
                  <a:schemeClr val="tx1"/>
                </a:solidFill>
                <a:latin typeface="Times New Roman" pitchFamily="18" charset="0"/>
                <a:ea typeface="宋体" pitchFamily="2" charset="-122"/>
              </a:defRPr>
            </a:lvl5pPr>
            <a:lvl6pPr marL="2514600" indent="-228600" fontAlgn="base">
              <a:spcBef>
                <a:spcPct val="20000"/>
              </a:spcBef>
              <a:spcAft>
                <a:spcPct val="0"/>
              </a:spcAft>
              <a:buChar char="»"/>
              <a:defRPr kumimoji="1">
                <a:solidFill>
                  <a:schemeClr val="tx1"/>
                </a:solidFill>
                <a:latin typeface="Times New Roman" pitchFamily="18" charset="0"/>
                <a:ea typeface="宋体" pitchFamily="2" charset="-122"/>
              </a:defRPr>
            </a:lvl6pPr>
            <a:lvl7pPr marL="2971800" indent="-228600" fontAlgn="base">
              <a:spcBef>
                <a:spcPct val="20000"/>
              </a:spcBef>
              <a:spcAft>
                <a:spcPct val="0"/>
              </a:spcAft>
              <a:buChar char="»"/>
              <a:defRPr kumimoji="1">
                <a:solidFill>
                  <a:schemeClr val="tx1"/>
                </a:solidFill>
                <a:latin typeface="Times New Roman" pitchFamily="18" charset="0"/>
                <a:ea typeface="宋体" pitchFamily="2" charset="-122"/>
              </a:defRPr>
            </a:lvl7pPr>
            <a:lvl8pPr marL="3429000" indent="-228600" fontAlgn="base">
              <a:spcBef>
                <a:spcPct val="20000"/>
              </a:spcBef>
              <a:spcAft>
                <a:spcPct val="0"/>
              </a:spcAft>
              <a:buChar char="»"/>
              <a:defRPr kumimoji="1">
                <a:solidFill>
                  <a:schemeClr val="tx1"/>
                </a:solidFill>
                <a:latin typeface="Times New Roman" pitchFamily="18" charset="0"/>
                <a:ea typeface="宋体" pitchFamily="2" charset="-122"/>
              </a:defRPr>
            </a:lvl8pPr>
            <a:lvl9pPr marL="3886200" indent="-228600" fontAlgn="base">
              <a:spcBef>
                <a:spcPct val="20000"/>
              </a:spcBef>
              <a:spcAft>
                <a:spcPct val="0"/>
              </a:spcAft>
              <a:buChar char="»"/>
              <a:defRPr kumimoji="1">
                <a:solidFill>
                  <a:schemeClr val="tx1"/>
                </a:solidFill>
                <a:latin typeface="Times New Roman" pitchFamily="18" charset="0"/>
                <a:ea typeface="宋体" pitchFamily="2" charset="-122"/>
              </a:defRPr>
            </a:lvl9pPr>
          </a:lstStyle>
          <a:p>
            <a:pPr>
              <a:defRPr/>
            </a:pPr>
            <a:r>
              <a:rPr lang="en-US" altLang="zh-CN"/>
              <a:t>Symmetry element</a:t>
            </a:r>
            <a:r>
              <a:rPr lang="zh-CN" altLang="en-US"/>
              <a:t>：</a:t>
            </a:r>
            <a:r>
              <a:rPr lang="en-US" altLang="zh-CN" b="0"/>
              <a:t>The auxiliary geometric elements (</a:t>
            </a:r>
            <a:r>
              <a:rPr lang="zh-CN" altLang="en-US" b="0"/>
              <a:t>辅助几何元素</a:t>
            </a:r>
            <a:r>
              <a:rPr lang="en-US" altLang="zh-CN" b="0"/>
              <a:t>) - points, lines, faces, etc., which are used for symmetry operations.</a:t>
            </a:r>
            <a:endParaRPr lang="zh-CN" altLang="en-US" b="0"/>
          </a:p>
          <a:p>
            <a:pPr>
              <a:defRPr/>
            </a:pPr>
            <a:r>
              <a:rPr lang="en-US" altLang="zh-CN"/>
              <a:t>Classification of symmetry elements</a:t>
            </a:r>
            <a:endParaRPr lang="zh-CN" altLang="en-US"/>
          </a:p>
          <a:p>
            <a:pPr lvl="1">
              <a:defRPr/>
            </a:pPr>
            <a:r>
              <a:rPr lang="en-US" altLang="zh-CN" sz="2000" b="0"/>
              <a:t>Symmetry</a:t>
            </a:r>
            <a:r>
              <a:rPr lang="zh-CN" altLang="en-US" sz="2000" b="0"/>
              <a:t> </a:t>
            </a:r>
            <a:r>
              <a:rPr lang="en-US" altLang="zh-CN" sz="2000" b="0"/>
              <a:t>center (</a:t>
            </a:r>
            <a:r>
              <a:rPr lang="zh-CN" altLang="en-US" sz="2000" b="0"/>
              <a:t>对称中心</a:t>
            </a:r>
            <a:r>
              <a:rPr lang="en-US" altLang="zh-CN" sz="2000" b="0"/>
              <a:t>)</a:t>
            </a:r>
          </a:p>
          <a:p>
            <a:pPr lvl="1">
              <a:defRPr/>
            </a:pPr>
            <a:r>
              <a:rPr lang="en-US" altLang="zh-CN" sz="2000" b="0"/>
              <a:t>Symmetry axis</a:t>
            </a:r>
            <a:r>
              <a:rPr lang="zh-CN" altLang="en-US" sz="2000" b="0"/>
              <a:t> </a:t>
            </a:r>
            <a:r>
              <a:rPr lang="en-US" altLang="zh-CN" sz="2000" b="0"/>
              <a:t>(</a:t>
            </a:r>
            <a:r>
              <a:rPr lang="zh-CN" altLang="en-US" sz="2000" b="0"/>
              <a:t>对称轴</a:t>
            </a:r>
            <a:r>
              <a:rPr lang="en-US" altLang="zh-CN" sz="2000" b="0"/>
              <a:t>)</a:t>
            </a:r>
          </a:p>
          <a:p>
            <a:pPr lvl="1">
              <a:defRPr/>
            </a:pPr>
            <a:r>
              <a:rPr lang="en-US" altLang="zh-CN" sz="2000" b="0"/>
              <a:t>Symmetry plane (</a:t>
            </a:r>
            <a:r>
              <a:rPr lang="zh-CN" altLang="en-US" sz="2000" b="0"/>
              <a:t>对称面</a:t>
            </a:r>
            <a:r>
              <a:rPr lang="en-US" altLang="zh-CN" sz="2000" b="0"/>
              <a:t>)</a:t>
            </a:r>
          </a:p>
          <a:p>
            <a:pPr lvl="1">
              <a:defRPr/>
            </a:pPr>
            <a:r>
              <a:rPr lang="en-US" altLang="zh-CN" sz="2000" b="0"/>
              <a:t>Rotoinversion axis</a:t>
            </a:r>
            <a:r>
              <a:rPr lang="zh-CN" altLang="en-US" sz="2000" b="0"/>
              <a:t> </a:t>
            </a:r>
            <a:r>
              <a:rPr lang="en-US" altLang="zh-CN" sz="2000" b="0"/>
              <a:t>(</a:t>
            </a:r>
            <a:r>
              <a:rPr lang="zh-CN" altLang="en-US" sz="2000" b="0"/>
              <a:t>旋转反伸轴</a:t>
            </a:r>
            <a:r>
              <a:rPr lang="en-US" altLang="zh-CN" sz="2000" b="0"/>
              <a:t>)</a:t>
            </a:r>
            <a:endParaRPr lang="en-US" altLang="zh-CN" sz="2000" b="0" baseline="-25000"/>
          </a:p>
          <a:p>
            <a:pPr lvl="1">
              <a:defRPr/>
            </a:pPr>
            <a:r>
              <a:rPr lang="en-US" altLang="zh-CN" sz="2000" b="0"/>
              <a:t>Rotoreflection axis</a:t>
            </a:r>
            <a:r>
              <a:rPr lang="zh-CN" altLang="en-US" sz="2000" b="0"/>
              <a:t> </a:t>
            </a:r>
            <a:r>
              <a:rPr lang="en-US" altLang="zh-CN" sz="2000" b="0"/>
              <a:t>(</a:t>
            </a:r>
            <a:r>
              <a:rPr lang="zh-CN" altLang="en-US" sz="2000" b="0"/>
              <a:t>旋转反映轴</a:t>
            </a:r>
            <a:r>
              <a:rPr lang="en-US" altLang="zh-CN" sz="2000" b="0"/>
              <a:t>)</a:t>
            </a:r>
          </a:p>
          <a:p>
            <a:pPr>
              <a:defRPr/>
            </a:pPr>
            <a:r>
              <a:rPr lang="en-US" altLang="zh-CN"/>
              <a:t>Symbols of symmetry elements </a:t>
            </a:r>
            <a:endParaRPr lang="zh-CN" altLang="en-US"/>
          </a:p>
        </p:txBody>
      </p:sp>
      <p:sp>
        <p:nvSpPr>
          <p:cNvPr id="7172" name="Line 1030"/>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 name="Text Box 1031"/>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8"/>
          <p:cNvSpPr>
            <a:spLocks noGrp="1" noChangeArrowheads="1"/>
          </p:cNvSpPr>
          <p:nvPr>
            <p:ph type="title"/>
          </p:nvPr>
        </p:nvSpPr>
        <p:spPr>
          <a:xfrm>
            <a:off x="1219200" y="762000"/>
            <a:ext cx="7239000" cy="800100"/>
          </a:xfrm>
          <a:noFill/>
        </p:spPr>
        <p:txBody>
          <a:bodyPr anchor="b"/>
          <a:lstStyle/>
          <a:p>
            <a:pPr algn="l" eaLnBrk="1" hangingPunct="1"/>
            <a:r>
              <a:rPr lang="en-US" altLang="zh-CN" sz="4000" b="1"/>
              <a:t>Symbol of symmetry elements</a:t>
            </a:r>
            <a:endParaRPr lang="zh-CN" altLang="zh-CN" sz="4000" b="1"/>
          </a:p>
        </p:txBody>
      </p:sp>
      <p:sp>
        <p:nvSpPr>
          <p:cNvPr id="9228" name="Line 1044"/>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9" name="Text Box 1045"/>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sp>
        <p:nvSpPr>
          <p:cNvPr id="9230" name="Rectangle 1046"/>
          <p:cNvSpPr>
            <a:spLocks noChangeArrowheads="1"/>
          </p:cNvSpPr>
          <p:nvPr/>
        </p:nvSpPr>
        <p:spPr bwMode="auto">
          <a:xfrm>
            <a:off x="57316" y="5157192"/>
            <a:ext cx="901765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zh-CN" sz="2400">
                <a:latin typeface="+mn-lt"/>
                <a:ea typeface="楷体" pitchFamily="49" charset="-122"/>
              </a:rPr>
              <a:t>The possible </a:t>
            </a:r>
            <a:r>
              <a:rPr lang="en-US" altLang="zh-CN" sz="2400" u="sng">
                <a:solidFill>
                  <a:srgbClr val="FF0000"/>
                </a:solidFill>
                <a:latin typeface="+mn-lt"/>
                <a:ea typeface="楷体" pitchFamily="49" charset="-122"/>
              </a:rPr>
              <a:t>symmetry elements </a:t>
            </a:r>
            <a:r>
              <a:rPr lang="en-US" altLang="zh-CN" sz="2400">
                <a:latin typeface="+mn-lt"/>
                <a:ea typeface="楷体" pitchFamily="49" charset="-122"/>
              </a:rPr>
              <a:t>existing in crystal morphologies and corresponding </a:t>
            </a:r>
            <a:r>
              <a:rPr lang="en-US" altLang="zh-CN" sz="2400" u="sng">
                <a:solidFill>
                  <a:srgbClr val="FF0000"/>
                </a:solidFill>
                <a:latin typeface="+mn-lt"/>
                <a:ea typeface="楷体" pitchFamily="49" charset="-122"/>
              </a:rPr>
              <a:t>symmetry operations</a:t>
            </a:r>
            <a:r>
              <a:rPr lang="zh-CN" altLang="en-US" sz="2400">
                <a:solidFill>
                  <a:srgbClr val="FF0000"/>
                </a:solidFill>
                <a:latin typeface="+mn-lt"/>
                <a:ea typeface="楷体" pitchFamily="49" charset="-122"/>
              </a:rPr>
              <a:t> </a:t>
            </a:r>
            <a:r>
              <a:rPr lang="en-US" altLang="zh-CN" sz="2400">
                <a:latin typeface="+mn-lt"/>
                <a:ea typeface="楷体" pitchFamily="49" charset="-122"/>
              </a:rPr>
              <a:t>are introduced in the following slides:</a:t>
            </a:r>
            <a:endParaRPr lang="zh-CN" altLang="en-US" sz="2400">
              <a:latin typeface="+mn-lt"/>
              <a:ea typeface="楷体" pitchFamily="49" charset="-122"/>
            </a:endParaRPr>
          </a:p>
        </p:txBody>
      </p:sp>
      <p:grpSp>
        <p:nvGrpSpPr>
          <p:cNvPr id="4" name="Group 3"/>
          <p:cNvGrpSpPr/>
          <p:nvPr/>
        </p:nvGrpSpPr>
        <p:grpSpPr>
          <a:xfrm>
            <a:off x="-71488" y="1311448"/>
            <a:ext cx="9477835" cy="3574877"/>
            <a:chOff x="-71488" y="1311448"/>
            <a:chExt cx="9477835" cy="3574877"/>
          </a:xfrm>
        </p:grpSpPr>
        <p:sp>
          <p:nvSpPr>
            <p:cNvPr id="9220" name="Rectangle 1030"/>
            <p:cNvSpPr>
              <a:spLocks noChangeArrowheads="1"/>
            </p:cNvSpPr>
            <p:nvPr/>
          </p:nvSpPr>
          <p:spPr bwMode="auto">
            <a:xfrm>
              <a:off x="34903" y="1669506"/>
              <a:ext cx="6203032" cy="645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a:solidFill>
                    <a:schemeClr val="tx2"/>
                  </a:solidFill>
                </a:rPr>
                <a:t>Symmetrical elements of macroscopic crystals</a:t>
              </a:r>
              <a:endParaRPr lang="zh-CN" altLang="zh-CN" sz="2400">
                <a:solidFill>
                  <a:schemeClr val="tx2"/>
                </a:solidFill>
              </a:endParaRPr>
            </a:p>
          </p:txBody>
        </p:sp>
        <p:graphicFrame>
          <p:nvGraphicFramePr>
            <p:cNvPr id="9219" name="Object 1029"/>
            <p:cNvGraphicFramePr>
              <a:graphicFrameLocks noChangeAspect="1"/>
            </p:cNvGraphicFramePr>
            <p:nvPr>
              <p:extLst>
                <p:ext uri="{D42A27DB-BD31-4B8C-83A1-F6EECF244321}">
                  <p14:modId xmlns:p14="http://schemas.microsoft.com/office/powerpoint/2010/main" val="2733620868"/>
                </p:ext>
              </p:extLst>
            </p:nvPr>
          </p:nvGraphicFramePr>
          <p:xfrm>
            <a:off x="14288" y="2360613"/>
            <a:ext cx="9047162" cy="2525712"/>
          </p:xfrm>
          <a:graphic>
            <a:graphicData uri="http://schemas.openxmlformats.org/presentationml/2006/ole">
              <mc:AlternateContent xmlns:mc="http://schemas.openxmlformats.org/markup-compatibility/2006">
                <mc:Choice xmlns:v="urn:schemas-microsoft-com:vml" Requires="v">
                  <p:oleObj spid="_x0000_s1025" name="Document" r:id="rId3" imgW="6196367" imgH="1738926" progId="Word.Document.8">
                    <p:embed/>
                  </p:oleObj>
                </mc:Choice>
                <mc:Fallback>
                  <p:oleObj name="Document" r:id="rId3" imgW="6196367" imgH="1738926" progId="Word.Document.8">
                    <p:embed/>
                    <p:pic>
                      <p:nvPicPr>
                        <p:cNvPr id="9219" name="Object 1029"/>
                        <p:cNvPicPr>
                          <a:picLocks noChangeAspect="1" noChangeArrowheads="1"/>
                        </p:cNvPicPr>
                        <p:nvPr/>
                      </p:nvPicPr>
                      <p:blipFill>
                        <a:blip r:embed="rId4"/>
                        <a:srcRect/>
                        <a:stretch>
                          <a:fillRect/>
                        </a:stretch>
                      </p:blipFill>
                      <p:spPr bwMode="auto">
                        <a:xfrm>
                          <a:off x="14288" y="2360613"/>
                          <a:ext cx="9047162" cy="2525712"/>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221" name="Group 1031"/>
            <p:cNvGrpSpPr>
              <a:grpSpLocks/>
            </p:cNvGrpSpPr>
            <p:nvPr/>
          </p:nvGrpSpPr>
          <p:grpSpPr bwMode="auto">
            <a:xfrm>
              <a:off x="8504238" y="4351338"/>
              <a:ext cx="381000" cy="211137"/>
              <a:chOff x="3969" y="1423"/>
              <a:chExt cx="216" cy="85"/>
            </a:xfrm>
          </p:grpSpPr>
          <p:sp>
            <p:nvSpPr>
              <p:cNvPr id="9235" name="AutoShape 1032"/>
              <p:cNvSpPr>
                <a:spLocks noChangeArrowheads="1"/>
              </p:cNvSpPr>
              <p:nvPr/>
            </p:nvSpPr>
            <p:spPr bwMode="auto">
              <a:xfrm>
                <a:off x="3969" y="1423"/>
                <a:ext cx="216" cy="85"/>
              </a:xfrm>
              <a:prstGeom prst="hexagon">
                <a:avLst>
                  <a:gd name="adj" fmla="val 63529"/>
                  <a:gd name="vf" fmla="val 115470"/>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9236" name="Oval 1033"/>
              <p:cNvSpPr>
                <a:spLocks noChangeArrowheads="1"/>
              </p:cNvSpPr>
              <p:nvPr/>
            </p:nvSpPr>
            <p:spPr bwMode="auto">
              <a:xfrm>
                <a:off x="4048" y="1440"/>
                <a:ext cx="56" cy="47"/>
              </a:xfrm>
              <a:prstGeom prst="ellipse">
                <a:avLst/>
              </a:prstGeom>
              <a:solidFill>
                <a:srgbClr val="FFFF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9222" name="Group 1034"/>
            <p:cNvGrpSpPr>
              <a:grpSpLocks/>
            </p:cNvGrpSpPr>
            <p:nvPr/>
          </p:nvGrpSpPr>
          <p:grpSpPr bwMode="auto">
            <a:xfrm>
              <a:off x="7943850" y="4351338"/>
              <a:ext cx="377825" cy="198437"/>
              <a:chOff x="3962" y="1423"/>
              <a:chExt cx="238" cy="77"/>
            </a:xfrm>
          </p:grpSpPr>
          <p:sp>
            <p:nvSpPr>
              <p:cNvPr id="9233" name="AutoShape 1035"/>
              <p:cNvSpPr>
                <a:spLocks noChangeArrowheads="1"/>
              </p:cNvSpPr>
              <p:nvPr/>
            </p:nvSpPr>
            <p:spPr bwMode="auto">
              <a:xfrm>
                <a:off x="3962" y="1423"/>
                <a:ext cx="238" cy="77"/>
              </a:xfrm>
              <a:prstGeom prst="parallelogram">
                <a:avLst>
                  <a:gd name="adj" fmla="val 77273"/>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9234" name="Oval 1036"/>
              <p:cNvSpPr>
                <a:spLocks noChangeArrowheads="1"/>
              </p:cNvSpPr>
              <p:nvPr/>
            </p:nvSpPr>
            <p:spPr bwMode="auto">
              <a:xfrm>
                <a:off x="4048" y="1440"/>
                <a:ext cx="56" cy="47"/>
              </a:xfrm>
              <a:prstGeom prst="ellipse">
                <a:avLst/>
              </a:prstGeom>
              <a:solidFill>
                <a:srgbClr val="FFFF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9223" name="Group 1037"/>
            <p:cNvGrpSpPr>
              <a:grpSpLocks/>
            </p:cNvGrpSpPr>
            <p:nvPr/>
          </p:nvGrpSpPr>
          <p:grpSpPr bwMode="auto">
            <a:xfrm>
              <a:off x="7348538" y="4324350"/>
              <a:ext cx="342900" cy="228600"/>
              <a:chOff x="2976" y="1592"/>
              <a:chExt cx="168" cy="88"/>
            </a:xfrm>
          </p:grpSpPr>
          <p:sp>
            <p:nvSpPr>
              <p:cNvPr id="9231" name="AutoShape 1038"/>
              <p:cNvSpPr>
                <a:spLocks noChangeArrowheads="1"/>
              </p:cNvSpPr>
              <p:nvPr/>
            </p:nvSpPr>
            <p:spPr bwMode="auto">
              <a:xfrm>
                <a:off x="2976" y="1592"/>
                <a:ext cx="168" cy="88"/>
              </a:xfrm>
              <a:prstGeom prst="triangle">
                <a:avLst>
                  <a:gd name="adj" fmla="val 50000"/>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9232" name="Oval 1039"/>
              <p:cNvSpPr>
                <a:spLocks noChangeArrowheads="1"/>
              </p:cNvSpPr>
              <p:nvPr/>
            </p:nvSpPr>
            <p:spPr bwMode="auto">
              <a:xfrm>
                <a:off x="3032" y="1624"/>
                <a:ext cx="56" cy="47"/>
              </a:xfrm>
              <a:prstGeom prst="ellipse">
                <a:avLst/>
              </a:prstGeom>
              <a:solidFill>
                <a:srgbClr val="FFFF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sp>
          <p:nvSpPr>
            <p:cNvPr id="9224" name="Oval 1040"/>
            <p:cNvSpPr>
              <a:spLocks noChangeArrowheads="1"/>
            </p:cNvSpPr>
            <p:nvPr/>
          </p:nvSpPr>
          <p:spPr bwMode="auto">
            <a:xfrm>
              <a:off x="1908175" y="4414838"/>
              <a:ext cx="304800" cy="1524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en-US" altLang="en-US" sz="4400"/>
            </a:p>
          </p:txBody>
        </p:sp>
        <p:sp>
          <p:nvSpPr>
            <p:cNvPr id="9225" name="AutoShape 1041"/>
            <p:cNvSpPr>
              <a:spLocks noChangeArrowheads="1"/>
            </p:cNvSpPr>
            <p:nvPr/>
          </p:nvSpPr>
          <p:spPr bwMode="auto">
            <a:xfrm>
              <a:off x="2484438" y="4262438"/>
              <a:ext cx="304800" cy="304800"/>
            </a:xfrm>
            <a:prstGeom prst="triangle">
              <a:avLst>
                <a:gd name="adj" fmla="val 50000"/>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9226" name="Rectangle 1042"/>
            <p:cNvSpPr>
              <a:spLocks noChangeArrowheads="1"/>
            </p:cNvSpPr>
            <p:nvPr/>
          </p:nvSpPr>
          <p:spPr bwMode="auto">
            <a:xfrm>
              <a:off x="3132138" y="4338638"/>
              <a:ext cx="228600" cy="2286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9227" name="AutoShape 1043"/>
            <p:cNvSpPr>
              <a:spLocks noChangeArrowheads="1"/>
            </p:cNvSpPr>
            <p:nvPr/>
          </p:nvSpPr>
          <p:spPr bwMode="auto">
            <a:xfrm>
              <a:off x="3695700" y="4338638"/>
              <a:ext cx="228600" cy="228600"/>
            </a:xfrm>
            <a:prstGeom prst="hexagon">
              <a:avLst>
                <a:gd name="adj" fmla="val 25000"/>
                <a:gd name="vf" fmla="val 115470"/>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2" name="TextBox 1"/>
            <p:cNvSpPr txBox="1"/>
            <p:nvPr/>
          </p:nvSpPr>
          <p:spPr>
            <a:xfrm>
              <a:off x="7371206" y="3711953"/>
              <a:ext cx="253596" cy="338554"/>
            </a:xfrm>
            <a:prstGeom prst="rect">
              <a:avLst/>
            </a:prstGeom>
            <a:noFill/>
          </p:spPr>
          <p:txBody>
            <a:bodyPr wrap="none" rtlCol="0">
              <a:spAutoFit/>
            </a:bodyPr>
            <a:lstStyle/>
            <a:p>
              <a:r>
                <a:rPr lang="en-US" altLang="zh-CN" sz="1600"/>
                <a:t>-</a:t>
              </a:r>
              <a:endParaRPr lang="en-US" sz="1600"/>
            </a:p>
          </p:txBody>
        </p:sp>
        <p:sp>
          <p:nvSpPr>
            <p:cNvPr id="22" name="TextBox 21"/>
            <p:cNvSpPr txBox="1"/>
            <p:nvPr/>
          </p:nvSpPr>
          <p:spPr>
            <a:xfrm>
              <a:off x="7954415" y="3704461"/>
              <a:ext cx="253596" cy="338554"/>
            </a:xfrm>
            <a:prstGeom prst="rect">
              <a:avLst/>
            </a:prstGeom>
            <a:noFill/>
          </p:spPr>
          <p:txBody>
            <a:bodyPr wrap="none" rtlCol="0">
              <a:spAutoFit/>
            </a:bodyPr>
            <a:lstStyle/>
            <a:p>
              <a:r>
                <a:rPr lang="en-US" altLang="zh-CN" sz="1600"/>
                <a:t>-</a:t>
              </a:r>
              <a:endParaRPr lang="en-US" sz="1600"/>
            </a:p>
          </p:txBody>
        </p:sp>
        <p:sp>
          <p:nvSpPr>
            <p:cNvPr id="23" name="TextBox 22"/>
            <p:cNvSpPr txBox="1"/>
            <p:nvPr/>
          </p:nvSpPr>
          <p:spPr>
            <a:xfrm>
              <a:off x="8546050" y="3711438"/>
              <a:ext cx="253596" cy="338554"/>
            </a:xfrm>
            <a:prstGeom prst="rect">
              <a:avLst/>
            </a:prstGeom>
            <a:noFill/>
          </p:spPr>
          <p:txBody>
            <a:bodyPr wrap="none" rtlCol="0">
              <a:spAutoFit/>
            </a:bodyPr>
            <a:lstStyle/>
            <a:p>
              <a:r>
                <a:rPr lang="en-US" altLang="zh-CN" sz="1600"/>
                <a:t>-</a:t>
              </a:r>
              <a:endParaRPr lang="en-US" sz="1600"/>
            </a:p>
          </p:txBody>
        </p:sp>
        <p:sp>
          <p:nvSpPr>
            <p:cNvPr id="5" name="TextBox 4"/>
            <p:cNvSpPr txBox="1"/>
            <p:nvPr/>
          </p:nvSpPr>
          <p:spPr>
            <a:xfrm>
              <a:off x="6859177" y="1311448"/>
              <a:ext cx="2547170" cy="1015663"/>
            </a:xfrm>
            <a:prstGeom prst="rect">
              <a:avLst/>
            </a:prstGeom>
            <a:noFill/>
          </p:spPr>
          <p:txBody>
            <a:bodyPr wrap="square" rtlCol="0">
              <a:spAutoFit/>
            </a:bodyPr>
            <a:lstStyle/>
            <a:p>
              <a:endParaRPr lang="en-US" altLang="zh-CN" sz="2000"/>
            </a:p>
            <a:p>
              <a:r>
                <a:rPr lang="en-US" altLang="zh-CN" sz="2000"/>
                <a:t>Symmetry elements of the compound</a:t>
              </a:r>
              <a:endParaRPr lang="en-US" sz="2000"/>
            </a:p>
          </p:txBody>
        </p:sp>
        <p:sp>
          <p:nvSpPr>
            <p:cNvPr id="6" name="TextBox 5"/>
            <p:cNvSpPr txBox="1"/>
            <p:nvPr/>
          </p:nvSpPr>
          <p:spPr>
            <a:xfrm>
              <a:off x="57316" y="2353056"/>
              <a:ext cx="822661" cy="307777"/>
            </a:xfrm>
            <a:prstGeom prst="rect">
              <a:avLst/>
            </a:prstGeom>
            <a:solidFill>
              <a:schemeClr val="bg1">
                <a:lumMod val="95000"/>
              </a:schemeClr>
            </a:solidFill>
          </p:spPr>
          <p:txBody>
            <a:bodyPr wrap="none" rtlCol="0">
              <a:spAutoFit/>
            </a:bodyPr>
            <a:lstStyle/>
            <a:p>
              <a:r>
                <a:rPr lang="en-US" sz="1400">
                  <a:latin typeface="+mn-lt"/>
                </a:rPr>
                <a:t>Element</a:t>
              </a:r>
            </a:p>
          </p:txBody>
        </p:sp>
        <p:sp>
          <p:nvSpPr>
            <p:cNvPr id="7" name="Rectangle 6"/>
            <p:cNvSpPr/>
            <p:nvPr/>
          </p:nvSpPr>
          <p:spPr bwMode="auto">
            <a:xfrm>
              <a:off x="2267744" y="2406599"/>
              <a:ext cx="720080" cy="16991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33" name="TextBox 32"/>
            <p:cNvSpPr txBox="1"/>
            <p:nvPr/>
          </p:nvSpPr>
          <p:spPr>
            <a:xfrm>
              <a:off x="1836117" y="2353056"/>
              <a:ext cx="1620508" cy="276999"/>
            </a:xfrm>
            <a:prstGeom prst="rect">
              <a:avLst/>
            </a:prstGeom>
            <a:noFill/>
          </p:spPr>
          <p:txBody>
            <a:bodyPr wrap="none" rtlCol="0">
              <a:spAutoFit/>
            </a:bodyPr>
            <a:lstStyle/>
            <a:p>
              <a:pPr algn="ctr"/>
              <a:r>
                <a:rPr lang="en-US" altLang="zh-CN" sz="1200">
                  <a:latin typeface="+mn-lt"/>
                </a:rPr>
                <a:t>Symmetry Axis </a:t>
              </a:r>
              <a:r>
                <a:rPr lang="zh-CN" altLang="en-US" sz="1200">
                  <a:latin typeface="+mn-lt"/>
                </a:rPr>
                <a:t>（</a:t>
              </a:r>
              <a:r>
                <a:rPr lang="en-US" altLang="zh-CN" sz="1200">
                  <a:latin typeface="+mn-lt"/>
                </a:rPr>
                <a:t>n</a:t>
              </a:r>
              <a:r>
                <a:rPr lang="zh-CN" altLang="en-US" sz="1200">
                  <a:latin typeface="+mn-lt"/>
                </a:rPr>
                <a:t>）</a:t>
              </a:r>
              <a:endParaRPr lang="en-US" sz="1200">
                <a:latin typeface="+mn-lt"/>
              </a:endParaRPr>
            </a:p>
          </p:txBody>
        </p:sp>
        <p:sp>
          <p:nvSpPr>
            <p:cNvPr id="35" name="Rectangle 34"/>
            <p:cNvSpPr/>
            <p:nvPr/>
          </p:nvSpPr>
          <p:spPr bwMode="auto">
            <a:xfrm>
              <a:off x="19844" y="2806648"/>
              <a:ext cx="1004094" cy="177964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30" name="TextBox 29"/>
            <p:cNvSpPr txBox="1"/>
            <p:nvPr/>
          </p:nvSpPr>
          <p:spPr>
            <a:xfrm>
              <a:off x="-54675" y="2752132"/>
              <a:ext cx="1239442" cy="253916"/>
            </a:xfrm>
            <a:prstGeom prst="rect">
              <a:avLst/>
            </a:prstGeom>
            <a:noFill/>
          </p:spPr>
          <p:txBody>
            <a:bodyPr wrap="none" rtlCol="0">
              <a:spAutoFit/>
            </a:bodyPr>
            <a:lstStyle/>
            <a:p>
              <a:pPr algn="ctr"/>
              <a:r>
                <a:rPr lang="en-US" sz="1050" b="0"/>
                <a:t>Auxiliary geometry</a:t>
              </a:r>
              <a:endParaRPr lang="en-US" sz="1050"/>
            </a:p>
          </p:txBody>
        </p:sp>
        <p:sp>
          <p:nvSpPr>
            <p:cNvPr id="31" name="TextBox 30"/>
            <p:cNvSpPr txBox="1"/>
            <p:nvPr/>
          </p:nvSpPr>
          <p:spPr>
            <a:xfrm>
              <a:off x="-71488" y="3011944"/>
              <a:ext cx="1273069" cy="253916"/>
            </a:xfrm>
            <a:prstGeom prst="rect">
              <a:avLst/>
            </a:prstGeom>
            <a:noFill/>
          </p:spPr>
          <p:txBody>
            <a:bodyPr wrap="square" rtlCol="0">
              <a:spAutoFit/>
            </a:bodyPr>
            <a:lstStyle/>
            <a:p>
              <a:pPr algn="ctr"/>
              <a:r>
                <a:rPr lang="en-US" sz="1050" b="0"/>
                <a:t>Symmetry operation</a:t>
              </a:r>
              <a:endParaRPr lang="en-US" sz="1050"/>
            </a:p>
          </p:txBody>
        </p:sp>
        <p:sp>
          <p:nvSpPr>
            <p:cNvPr id="32" name="TextBox 31"/>
            <p:cNvSpPr txBox="1"/>
            <p:nvPr/>
          </p:nvSpPr>
          <p:spPr>
            <a:xfrm>
              <a:off x="16278" y="3280970"/>
              <a:ext cx="1097537" cy="415498"/>
            </a:xfrm>
            <a:prstGeom prst="rect">
              <a:avLst/>
            </a:prstGeom>
            <a:noFill/>
          </p:spPr>
          <p:txBody>
            <a:bodyPr wrap="square" rtlCol="0">
              <a:spAutoFit/>
            </a:bodyPr>
            <a:lstStyle/>
            <a:p>
              <a:pPr algn="ctr"/>
              <a:r>
                <a:rPr lang="en-US" sz="1050" b="0"/>
                <a:t>Basic rotation </a:t>
              </a:r>
            </a:p>
            <a:p>
              <a:pPr algn="ctr"/>
              <a:r>
                <a:rPr lang="en-US" sz="1050" b="0"/>
                <a:t>angle</a:t>
              </a:r>
            </a:p>
          </p:txBody>
        </p:sp>
        <p:sp>
          <p:nvSpPr>
            <p:cNvPr id="36" name="Rectangle 35"/>
            <p:cNvSpPr/>
            <p:nvPr/>
          </p:nvSpPr>
          <p:spPr bwMode="auto">
            <a:xfrm>
              <a:off x="7648162" y="2404862"/>
              <a:ext cx="884277" cy="18594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37" name="Rectangle 36"/>
            <p:cNvSpPr/>
            <p:nvPr/>
          </p:nvSpPr>
          <p:spPr bwMode="auto">
            <a:xfrm>
              <a:off x="4211960" y="2406598"/>
              <a:ext cx="1080120" cy="950393"/>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38" name="Rectangle 37"/>
            <p:cNvSpPr/>
            <p:nvPr/>
          </p:nvSpPr>
          <p:spPr bwMode="auto">
            <a:xfrm>
              <a:off x="5652120" y="2416124"/>
              <a:ext cx="1296144" cy="88541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39" name="Rectangle 38"/>
            <p:cNvSpPr/>
            <p:nvPr/>
          </p:nvSpPr>
          <p:spPr bwMode="auto">
            <a:xfrm>
              <a:off x="1238286" y="2642007"/>
              <a:ext cx="2829657" cy="71703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40" name="TextBox 39"/>
            <p:cNvSpPr txBox="1"/>
            <p:nvPr/>
          </p:nvSpPr>
          <p:spPr>
            <a:xfrm>
              <a:off x="1331640" y="2564904"/>
              <a:ext cx="251992" cy="253916"/>
            </a:xfrm>
            <a:prstGeom prst="rect">
              <a:avLst/>
            </a:prstGeom>
            <a:noFill/>
          </p:spPr>
          <p:txBody>
            <a:bodyPr wrap="none" rtlCol="0">
              <a:spAutoFit/>
            </a:bodyPr>
            <a:lstStyle/>
            <a:p>
              <a:pPr algn="ctr"/>
              <a:r>
                <a:rPr lang="en-US" sz="1050" b="0"/>
                <a:t>1</a:t>
              </a:r>
              <a:endParaRPr lang="en-US" sz="1050"/>
            </a:p>
          </p:txBody>
        </p:sp>
        <p:sp>
          <p:nvSpPr>
            <p:cNvPr id="41" name="TextBox 40"/>
            <p:cNvSpPr txBox="1"/>
            <p:nvPr/>
          </p:nvSpPr>
          <p:spPr>
            <a:xfrm>
              <a:off x="1907704" y="2564904"/>
              <a:ext cx="251992" cy="253916"/>
            </a:xfrm>
            <a:prstGeom prst="rect">
              <a:avLst/>
            </a:prstGeom>
            <a:noFill/>
          </p:spPr>
          <p:txBody>
            <a:bodyPr wrap="none" rtlCol="0">
              <a:spAutoFit/>
            </a:bodyPr>
            <a:lstStyle/>
            <a:p>
              <a:pPr algn="ctr"/>
              <a:r>
                <a:rPr lang="en-US" sz="1050" b="0"/>
                <a:t>2</a:t>
              </a:r>
              <a:endParaRPr lang="en-US" sz="1050"/>
            </a:p>
          </p:txBody>
        </p:sp>
        <p:sp>
          <p:nvSpPr>
            <p:cNvPr id="42" name="TextBox 41"/>
            <p:cNvSpPr txBox="1"/>
            <p:nvPr/>
          </p:nvSpPr>
          <p:spPr>
            <a:xfrm>
              <a:off x="2483768" y="2564904"/>
              <a:ext cx="251992" cy="253916"/>
            </a:xfrm>
            <a:prstGeom prst="rect">
              <a:avLst/>
            </a:prstGeom>
            <a:noFill/>
          </p:spPr>
          <p:txBody>
            <a:bodyPr wrap="none" rtlCol="0">
              <a:spAutoFit/>
            </a:bodyPr>
            <a:lstStyle/>
            <a:p>
              <a:pPr algn="ctr"/>
              <a:r>
                <a:rPr lang="en-US" sz="1050" b="0"/>
                <a:t>3</a:t>
              </a:r>
              <a:endParaRPr lang="en-US" sz="1050"/>
            </a:p>
          </p:txBody>
        </p:sp>
        <p:sp>
          <p:nvSpPr>
            <p:cNvPr id="43" name="TextBox 42"/>
            <p:cNvSpPr txBox="1"/>
            <p:nvPr/>
          </p:nvSpPr>
          <p:spPr>
            <a:xfrm>
              <a:off x="3050902" y="2564904"/>
              <a:ext cx="251992" cy="253916"/>
            </a:xfrm>
            <a:prstGeom prst="rect">
              <a:avLst/>
            </a:prstGeom>
            <a:noFill/>
          </p:spPr>
          <p:txBody>
            <a:bodyPr wrap="none" rtlCol="0">
              <a:spAutoFit/>
            </a:bodyPr>
            <a:lstStyle/>
            <a:p>
              <a:pPr algn="ctr"/>
              <a:r>
                <a:rPr lang="en-US" sz="1050" b="0"/>
                <a:t>4</a:t>
              </a:r>
              <a:endParaRPr lang="en-US" sz="1050"/>
            </a:p>
          </p:txBody>
        </p:sp>
        <p:sp>
          <p:nvSpPr>
            <p:cNvPr id="44" name="TextBox 43"/>
            <p:cNvSpPr txBox="1"/>
            <p:nvPr/>
          </p:nvSpPr>
          <p:spPr>
            <a:xfrm>
              <a:off x="3636689" y="2564904"/>
              <a:ext cx="251992" cy="253916"/>
            </a:xfrm>
            <a:prstGeom prst="rect">
              <a:avLst/>
            </a:prstGeom>
            <a:noFill/>
          </p:spPr>
          <p:txBody>
            <a:bodyPr wrap="none" rtlCol="0">
              <a:spAutoFit/>
            </a:bodyPr>
            <a:lstStyle/>
            <a:p>
              <a:pPr algn="ctr"/>
              <a:r>
                <a:rPr lang="en-US" sz="1050" b="0"/>
                <a:t>6</a:t>
              </a:r>
              <a:endParaRPr lang="en-US" sz="1050"/>
            </a:p>
          </p:txBody>
        </p:sp>
        <p:sp>
          <p:nvSpPr>
            <p:cNvPr id="45" name="TextBox 44"/>
            <p:cNvSpPr txBox="1"/>
            <p:nvPr/>
          </p:nvSpPr>
          <p:spPr>
            <a:xfrm>
              <a:off x="2417642" y="2736354"/>
              <a:ext cx="385041" cy="253916"/>
            </a:xfrm>
            <a:prstGeom prst="rect">
              <a:avLst/>
            </a:prstGeom>
            <a:noFill/>
          </p:spPr>
          <p:txBody>
            <a:bodyPr wrap="none" rtlCol="0">
              <a:spAutoFit/>
            </a:bodyPr>
            <a:lstStyle/>
            <a:p>
              <a:pPr algn="ctr"/>
              <a:r>
                <a:rPr lang="en-US" sz="1050" b="0"/>
                <a:t>line</a:t>
              </a:r>
              <a:endParaRPr lang="en-US" sz="1050"/>
            </a:p>
          </p:txBody>
        </p:sp>
        <p:sp>
          <p:nvSpPr>
            <p:cNvPr id="46" name="TextBox 45"/>
            <p:cNvSpPr txBox="1"/>
            <p:nvPr/>
          </p:nvSpPr>
          <p:spPr>
            <a:xfrm>
              <a:off x="1982383" y="3038093"/>
              <a:ext cx="1265091" cy="253916"/>
            </a:xfrm>
            <a:prstGeom prst="rect">
              <a:avLst/>
            </a:prstGeom>
            <a:noFill/>
          </p:spPr>
          <p:txBody>
            <a:bodyPr wrap="none" rtlCol="0">
              <a:spAutoFit/>
            </a:bodyPr>
            <a:lstStyle/>
            <a:p>
              <a:pPr algn="ctr"/>
              <a:r>
                <a:rPr lang="en-US" sz="1050" b="0"/>
                <a:t>Rotation about lines</a:t>
              </a:r>
              <a:endParaRPr lang="en-US" sz="1050"/>
            </a:p>
          </p:txBody>
        </p:sp>
        <p:sp>
          <p:nvSpPr>
            <p:cNvPr id="8" name="Rectangle 7"/>
            <p:cNvSpPr/>
            <p:nvPr/>
          </p:nvSpPr>
          <p:spPr>
            <a:xfrm>
              <a:off x="-41049" y="3699943"/>
              <a:ext cx="1212191" cy="261610"/>
            </a:xfrm>
            <a:prstGeom prst="rect">
              <a:avLst/>
            </a:prstGeom>
          </p:spPr>
          <p:txBody>
            <a:bodyPr wrap="none">
              <a:spAutoFit/>
            </a:bodyPr>
            <a:lstStyle/>
            <a:p>
              <a:r>
                <a:rPr lang="en-US" sz="1100" b="0"/>
                <a:t>Conventional sign</a:t>
              </a:r>
            </a:p>
          </p:txBody>
        </p:sp>
        <p:sp>
          <p:nvSpPr>
            <p:cNvPr id="50" name="Rectangle 49"/>
            <p:cNvSpPr/>
            <p:nvPr/>
          </p:nvSpPr>
          <p:spPr>
            <a:xfrm>
              <a:off x="-21999" y="3863655"/>
              <a:ext cx="1170513" cy="261610"/>
            </a:xfrm>
            <a:prstGeom prst="rect">
              <a:avLst/>
            </a:prstGeom>
          </p:spPr>
          <p:txBody>
            <a:bodyPr wrap="none">
              <a:spAutoFit/>
            </a:bodyPr>
            <a:lstStyle/>
            <a:p>
              <a:r>
                <a:rPr lang="en-US" altLang="zh-CN" sz="1100" b="0"/>
                <a:t>International</a:t>
              </a:r>
              <a:r>
                <a:rPr lang="en-US" sz="1100" b="0"/>
                <a:t> sign</a:t>
              </a:r>
            </a:p>
          </p:txBody>
        </p:sp>
        <p:sp>
          <p:nvSpPr>
            <p:cNvPr id="51" name="Rectangle 50"/>
            <p:cNvSpPr/>
            <p:nvPr/>
          </p:nvSpPr>
          <p:spPr>
            <a:xfrm>
              <a:off x="-37518" y="4103494"/>
              <a:ext cx="1273105" cy="261610"/>
            </a:xfrm>
            <a:prstGeom prst="rect">
              <a:avLst/>
            </a:prstGeom>
          </p:spPr>
          <p:txBody>
            <a:bodyPr wrap="none">
              <a:spAutoFit/>
            </a:bodyPr>
            <a:lstStyle/>
            <a:p>
              <a:r>
                <a:rPr lang="en-US" altLang="zh-CN" sz="1100" b="0"/>
                <a:t>Equivalent element</a:t>
              </a:r>
              <a:endParaRPr lang="en-US" sz="1100" b="0"/>
            </a:p>
          </p:txBody>
        </p:sp>
        <p:sp>
          <p:nvSpPr>
            <p:cNvPr id="10" name="Rectangle 9"/>
            <p:cNvSpPr/>
            <p:nvPr/>
          </p:nvSpPr>
          <p:spPr>
            <a:xfrm>
              <a:off x="28393" y="4330155"/>
              <a:ext cx="1188146" cy="261610"/>
            </a:xfrm>
            <a:prstGeom prst="rect">
              <a:avLst/>
            </a:prstGeom>
          </p:spPr>
          <p:txBody>
            <a:bodyPr wrap="none">
              <a:spAutoFit/>
            </a:bodyPr>
            <a:lstStyle/>
            <a:p>
              <a:r>
                <a:rPr lang="en-US" altLang="zh-CN" sz="1100" b="0"/>
                <a:t>G</a:t>
              </a:r>
              <a:r>
                <a:rPr lang="en-US" sz="1100" b="0"/>
                <a:t>raphical symbol</a:t>
              </a:r>
            </a:p>
          </p:txBody>
        </p:sp>
        <p:sp>
          <p:nvSpPr>
            <p:cNvPr id="11" name="Rectangle 10"/>
            <p:cNvSpPr/>
            <p:nvPr/>
          </p:nvSpPr>
          <p:spPr bwMode="auto">
            <a:xfrm>
              <a:off x="4644008" y="4395149"/>
              <a:ext cx="216024" cy="185979"/>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55" name="Rectangle 54"/>
            <p:cNvSpPr/>
            <p:nvPr/>
          </p:nvSpPr>
          <p:spPr bwMode="auto">
            <a:xfrm>
              <a:off x="5772720" y="4380861"/>
              <a:ext cx="887511" cy="185979"/>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53" name="TextBox 52"/>
            <p:cNvSpPr txBox="1"/>
            <p:nvPr/>
          </p:nvSpPr>
          <p:spPr>
            <a:xfrm>
              <a:off x="4588986" y="4339506"/>
              <a:ext cx="327333" cy="253916"/>
            </a:xfrm>
            <a:prstGeom prst="rect">
              <a:avLst/>
            </a:prstGeom>
            <a:noFill/>
          </p:spPr>
          <p:txBody>
            <a:bodyPr wrap="none" rtlCol="0">
              <a:spAutoFit/>
            </a:bodyPr>
            <a:lstStyle/>
            <a:p>
              <a:pPr algn="ctr"/>
              <a:r>
                <a:rPr lang="en-US" altLang="zh-CN" sz="1050" b="0"/>
                <a:t>Or</a:t>
              </a:r>
              <a:endParaRPr lang="en-US" sz="1050" b="0"/>
            </a:p>
          </p:txBody>
        </p:sp>
        <p:sp>
          <p:nvSpPr>
            <p:cNvPr id="56" name="TextBox 55"/>
            <p:cNvSpPr txBox="1"/>
            <p:nvPr/>
          </p:nvSpPr>
          <p:spPr>
            <a:xfrm>
              <a:off x="5633100" y="4341317"/>
              <a:ext cx="1495922" cy="253916"/>
            </a:xfrm>
            <a:prstGeom prst="rect">
              <a:avLst/>
            </a:prstGeom>
            <a:noFill/>
          </p:spPr>
          <p:txBody>
            <a:bodyPr wrap="none" rtlCol="0">
              <a:spAutoFit/>
            </a:bodyPr>
            <a:lstStyle/>
            <a:p>
              <a:pPr algn="ctr"/>
              <a:r>
                <a:rPr lang="en-US" altLang="zh-CN" sz="1050" b="0"/>
                <a:t>Double line or thick line</a:t>
              </a:r>
              <a:endParaRPr lang="en-US" sz="1050" b="0"/>
            </a:p>
          </p:txBody>
        </p:sp>
        <p:sp>
          <p:nvSpPr>
            <p:cNvPr id="12" name="Rectangle 11"/>
            <p:cNvSpPr/>
            <p:nvPr/>
          </p:nvSpPr>
          <p:spPr>
            <a:xfrm>
              <a:off x="7370370" y="2353056"/>
              <a:ext cx="1441421" cy="276999"/>
            </a:xfrm>
            <a:prstGeom prst="rect">
              <a:avLst/>
            </a:prstGeom>
            <a:noFill/>
          </p:spPr>
          <p:txBody>
            <a:bodyPr wrap="none" rtlCol="0">
              <a:spAutoFit/>
            </a:bodyPr>
            <a:lstStyle/>
            <a:p>
              <a:pPr algn="ctr"/>
              <a:r>
                <a:rPr lang="en-US" sz="1200">
                  <a:latin typeface="+mn-lt"/>
                </a:rPr>
                <a:t>Rotoinversion axis </a:t>
              </a:r>
            </a:p>
          </p:txBody>
        </p:sp>
        <p:sp>
          <p:nvSpPr>
            <p:cNvPr id="58" name="Rectangle 57"/>
            <p:cNvSpPr/>
            <p:nvPr/>
          </p:nvSpPr>
          <p:spPr bwMode="auto">
            <a:xfrm>
              <a:off x="7270212" y="2638223"/>
              <a:ext cx="1694276" cy="850495"/>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59" name="TextBox 58"/>
            <p:cNvSpPr txBox="1"/>
            <p:nvPr/>
          </p:nvSpPr>
          <p:spPr>
            <a:xfrm>
              <a:off x="7346676" y="2555377"/>
              <a:ext cx="251992" cy="253916"/>
            </a:xfrm>
            <a:prstGeom prst="rect">
              <a:avLst/>
            </a:prstGeom>
            <a:noFill/>
          </p:spPr>
          <p:txBody>
            <a:bodyPr wrap="none" rtlCol="0">
              <a:spAutoFit/>
            </a:bodyPr>
            <a:lstStyle/>
            <a:p>
              <a:pPr algn="ctr"/>
              <a:r>
                <a:rPr lang="en-US" sz="1050" b="0"/>
                <a:t>3</a:t>
              </a:r>
              <a:endParaRPr lang="en-US" sz="1050"/>
            </a:p>
          </p:txBody>
        </p:sp>
        <p:sp>
          <p:nvSpPr>
            <p:cNvPr id="60" name="TextBox 59"/>
            <p:cNvSpPr txBox="1"/>
            <p:nvPr/>
          </p:nvSpPr>
          <p:spPr>
            <a:xfrm>
              <a:off x="7956276" y="2545852"/>
              <a:ext cx="251992" cy="253916"/>
            </a:xfrm>
            <a:prstGeom prst="rect">
              <a:avLst/>
            </a:prstGeom>
            <a:noFill/>
          </p:spPr>
          <p:txBody>
            <a:bodyPr wrap="none" rtlCol="0">
              <a:spAutoFit/>
            </a:bodyPr>
            <a:lstStyle/>
            <a:p>
              <a:pPr algn="ctr"/>
              <a:r>
                <a:rPr lang="en-US" sz="1050" b="0"/>
                <a:t>4</a:t>
              </a:r>
              <a:endParaRPr lang="en-US" sz="1050"/>
            </a:p>
          </p:txBody>
        </p:sp>
        <p:sp>
          <p:nvSpPr>
            <p:cNvPr id="61" name="TextBox 60"/>
            <p:cNvSpPr txBox="1"/>
            <p:nvPr/>
          </p:nvSpPr>
          <p:spPr>
            <a:xfrm>
              <a:off x="8551588" y="2545852"/>
              <a:ext cx="251992" cy="253916"/>
            </a:xfrm>
            <a:prstGeom prst="rect">
              <a:avLst/>
            </a:prstGeom>
            <a:noFill/>
          </p:spPr>
          <p:txBody>
            <a:bodyPr wrap="none" rtlCol="0">
              <a:spAutoFit/>
            </a:bodyPr>
            <a:lstStyle/>
            <a:p>
              <a:pPr algn="ctr"/>
              <a:r>
                <a:rPr lang="en-US" sz="1050" b="0"/>
                <a:t>6</a:t>
              </a:r>
              <a:endParaRPr lang="en-US" sz="1050"/>
            </a:p>
          </p:txBody>
        </p:sp>
        <p:sp>
          <p:nvSpPr>
            <p:cNvPr id="62" name="TextBox 61"/>
            <p:cNvSpPr txBox="1"/>
            <p:nvPr/>
          </p:nvSpPr>
          <p:spPr>
            <a:xfrm>
              <a:off x="7125395" y="2736354"/>
              <a:ext cx="1949573" cy="253916"/>
            </a:xfrm>
            <a:prstGeom prst="rect">
              <a:avLst/>
            </a:prstGeom>
            <a:noFill/>
          </p:spPr>
          <p:txBody>
            <a:bodyPr wrap="none" rtlCol="0">
              <a:spAutoFit/>
            </a:bodyPr>
            <a:lstStyle/>
            <a:p>
              <a:pPr algn="ctr"/>
              <a:r>
                <a:rPr lang="en-US" altLang="zh-CN" sz="1050" b="0"/>
                <a:t>Line and certain point on the line</a:t>
              </a:r>
              <a:endParaRPr lang="en-US" sz="1050"/>
            </a:p>
          </p:txBody>
        </p:sp>
        <p:sp>
          <p:nvSpPr>
            <p:cNvPr id="63" name="TextBox 62"/>
            <p:cNvSpPr txBox="1"/>
            <p:nvPr/>
          </p:nvSpPr>
          <p:spPr>
            <a:xfrm>
              <a:off x="7060758" y="2943996"/>
              <a:ext cx="2039234" cy="415498"/>
            </a:xfrm>
            <a:prstGeom prst="rect">
              <a:avLst/>
            </a:prstGeom>
            <a:noFill/>
          </p:spPr>
          <p:txBody>
            <a:bodyPr wrap="square" rtlCol="0">
              <a:spAutoFit/>
            </a:bodyPr>
            <a:lstStyle/>
            <a:p>
              <a:pPr algn="ctr"/>
              <a:r>
                <a:rPr lang="en-US" altLang="zh-CN" sz="1050" b="0"/>
                <a:t>Rotation about the line and inversion about the point</a:t>
              </a:r>
              <a:endParaRPr lang="en-US" sz="1050"/>
            </a:p>
          </p:txBody>
        </p:sp>
        <p:sp>
          <p:nvSpPr>
            <p:cNvPr id="64" name="TextBox 63"/>
            <p:cNvSpPr txBox="1"/>
            <p:nvPr/>
          </p:nvSpPr>
          <p:spPr>
            <a:xfrm>
              <a:off x="7341709" y="2419011"/>
              <a:ext cx="253596" cy="338554"/>
            </a:xfrm>
            <a:prstGeom prst="rect">
              <a:avLst/>
            </a:prstGeom>
            <a:noFill/>
          </p:spPr>
          <p:txBody>
            <a:bodyPr wrap="none" rtlCol="0">
              <a:spAutoFit/>
            </a:bodyPr>
            <a:lstStyle/>
            <a:p>
              <a:r>
                <a:rPr lang="en-US" altLang="zh-CN" sz="1600"/>
                <a:t>-</a:t>
              </a:r>
              <a:endParaRPr lang="en-US" sz="1600"/>
            </a:p>
          </p:txBody>
        </p:sp>
        <p:sp>
          <p:nvSpPr>
            <p:cNvPr id="65" name="TextBox 64"/>
            <p:cNvSpPr txBox="1"/>
            <p:nvPr/>
          </p:nvSpPr>
          <p:spPr>
            <a:xfrm>
              <a:off x="7956224" y="2414095"/>
              <a:ext cx="253596" cy="338554"/>
            </a:xfrm>
            <a:prstGeom prst="rect">
              <a:avLst/>
            </a:prstGeom>
            <a:noFill/>
          </p:spPr>
          <p:txBody>
            <a:bodyPr wrap="none" rtlCol="0">
              <a:spAutoFit/>
            </a:bodyPr>
            <a:lstStyle/>
            <a:p>
              <a:r>
                <a:rPr lang="en-US" altLang="zh-CN" sz="1600"/>
                <a:t>-</a:t>
              </a:r>
              <a:endParaRPr lang="en-US" sz="1600"/>
            </a:p>
          </p:txBody>
        </p:sp>
        <p:sp>
          <p:nvSpPr>
            <p:cNvPr id="66" name="TextBox 65"/>
            <p:cNvSpPr txBox="1"/>
            <p:nvPr/>
          </p:nvSpPr>
          <p:spPr>
            <a:xfrm>
              <a:off x="8555991" y="2414095"/>
              <a:ext cx="253596" cy="338554"/>
            </a:xfrm>
            <a:prstGeom prst="rect">
              <a:avLst/>
            </a:prstGeom>
            <a:noFill/>
          </p:spPr>
          <p:txBody>
            <a:bodyPr wrap="none" rtlCol="0">
              <a:spAutoFit/>
            </a:bodyPr>
            <a:lstStyle/>
            <a:p>
              <a:r>
                <a:rPr lang="en-US" altLang="zh-CN" sz="1600"/>
                <a:t>-</a:t>
              </a:r>
              <a:endParaRPr lang="en-US" sz="1600"/>
            </a:p>
          </p:txBody>
        </p:sp>
        <p:sp>
          <p:nvSpPr>
            <p:cNvPr id="67" name="TextBox 66"/>
            <p:cNvSpPr txBox="1"/>
            <p:nvPr/>
          </p:nvSpPr>
          <p:spPr>
            <a:xfrm>
              <a:off x="4104868" y="2353056"/>
              <a:ext cx="1319592" cy="276999"/>
            </a:xfrm>
            <a:prstGeom prst="rect">
              <a:avLst/>
            </a:prstGeom>
            <a:noFill/>
          </p:spPr>
          <p:txBody>
            <a:bodyPr wrap="none" rtlCol="0">
              <a:spAutoFit/>
            </a:bodyPr>
            <a:lstStyle/>
            <a:p>
              <a:pPr algn="ctr"/>
              <a:r>
                <a:rPr lang="en-US" altLang="zh-CN" sz="1200">
                  <a:latin typeface="+mn-lt"/>
                </a:rPr>
                <a:t>Symmetry center</a:t>
              </a:r>
              <a:endParaRPr lang="en-US" sz="1200">
                <a:latin typeface="+mn-lt"/>
              </a:endParaRPr>
            </a:p>
          </p:txBody>
        </p:sp>
        <p:sp>
          <p:nvSpPr>
            <p:cNvPr id="68" name="TextBox 67"/>
            <p:cNvSpPr txBox="1"/>
            <p:nvPr/>
          </p:nvSpPr>
          <p:spPr>
            <a:xfrm>
              <a:off x="5677700" y="2353056"/>
              <a:ext cx="1266693" cy="276999"/>
            </a:xfrm>
            <a:prstGeom prst="rect">
              <a:avLst/>
            </a:prstGeom>
            <a:noFill/>
          </p:spPr>
          <p:txBody>
            <a:bodyPr wrap="none" rtlCol="0">
              <a:spAutoFit/>
            </a:bodyPr>
            <a:lstStyle/>
            <a:p>
              <a:pPr algn="ctr"/>
              <a:r>
                <a:rPr lang="en-US" altLang="zh-CN" sz="1200">
                  <a:latin typeface="+mn-lt"/>
                </a:rPr>
                <a:t>Symmetry plane</a:t>
              </a:r>
              <a:endParaRPr lang="en-US" sz="1200">
                <a:latin typeface="+mn-lt"/>
              </a:endParaRPr>
            </a:p>
          </p:txBody>
        </p:sp>
        <p:sp>
          <p:nvSpPr>
            <p:cNvPr id="69" name="TextBox 68"/>
            <p:cNvSpPr txBox="1"/>
            <p:nvPr/>
          </p:nvSpPr>
          <p:spPr>
            <a:xfrm>
              <a:off x="4534473" y="2728670"/>
              <a:ext cx="460382" cy="253916"/>
            </a:xfrm>
            <a:prstGeom prst="rect">
              <a:avLst/>
            </a:prstGeom>
            <a:noFill/>
          </p:spPr>
          <p:txBody>
            <a:bodyPr wrap="none" rtlCol="0">
              <a:spAutoFit/>
            </a:bodyPr>
            <a:lstStyle/>
            <a:p>
              <a:pPr algn="ctr"/>
              <a:r>
                <a:rPr lang="en-US" altLang="zh-CN" sz="1050" b="0"/>
                <a:t>point</a:t>
              </a:r>
              <a:endParaRPr lang="en-US" sz="1050" b="0"/>
            </a:p>
          </p:txBody>
        </p:sp>
        <p:sp>
          <p:nvSpPr>
            <p:cNvPr id="70" name="TextBox 69"/>
            <p:cNvSpPr txBox="1"/>
            <p:nvPr/>
          </p:nvSpPr>
          <p:spPr>
            <a:xfrm>
              <a:off x="6073642" y="2728670"/>
              <a:ext cx="474809" cy="253916"/>
            </a:xfrm>
            <a:prstGeom prst="rect">
              <a:avLst/>
            </a:prstGeom>
            <a:noFill/>
          </p:spPr>
          <p:txBody>
            <a:bodyPr wrap="none" rtlCol="0">
              <a:spAutoFit/>
            </a:bodyPr>
            <a:lstStyle/>
            <a:p>
              <a:pPr algn="ctr"/>
              <a:r>
                <a:rPr lang="en-US" altLang="zh-CN" sz="1050" b="0"/>
                <a:t>plane</a:t>
              </a:r>
              <a:endParaRPr lang="en-US" sz="1050" b="0"/>
            </a:p>
          </p:txBody>
        </p:sp>
        <p:sp>
          <p:nvSpPr>
            <p:cNvPr id="71" name="TextBox 70"/>
            <p:cNvSpPr txBox="1"/>
            <p:nvPr/>
          </p:nvSpPr>
          <p:spPr>
            <a:xfrm>
              <a:off x="4097654" y="3038093"/>
              <a:ext cx="1334020" cy="253916"/>
            </a:xfrm>
            <a:prstGeom prst="rect">
              <a:avLst/>
            </a:prstGeom>
            <a:noFill/>
          </p:spPr>
          <p:txBody>
            <a:bodyPr wrap="none" rtlCol="0">
              <a:spAutoFit/>
            </a:bodyPr>
            <a:lstStyle/>
            <a:p>
              <a:pPr algn="ctr"/>
              <a:r>
                <a:rPr lang="en-US" altLang="zh-CN" sz="1050" b="0"/>
                <a:t>Inversion about point</a:t>
              </a:r>
              <a:endParaRPr lang="en-US" sz="1050" b="0"/>
            </a:p>
          </p:txBody>
        </p:sp>
        <p:sp>
          <p:nvSpPr>
            <p:cNvPr id="72" name="TextBox 71"/>
            <p:cNvSpPr txBox="1"/>
            <p:nvPr/>
          </p:nvSpPr>
          <p:spPr>
            <a:xfrm>
              <a:off x="5611976" y="3038093"/>
              <a:ext cx="1398140" cy="253916"/>
            </a:xfrm>
            <a:prstGeom prst="rect">
              <a:avLst/>
            </a:prstGeom>
            <a:noFill/>
          </p:spPr>
          <p:txBody>
            <a:bodyPr wrap="none" rtlCol="0">
              <a:spAutoFit/>
            </a:bodyPr>
            <a:lstStyle/>
            <a:p>
              <a:pPr algn="ctr"/>
              <a:r>
                <a:rPr lang="en-US" sz="1050" b="0"/>
                <a:t>Reflection about plane</a:t>
              </a:r>
            </a:p>
          </p:txBody>
        </p:sp>
      </p:grpSp>
      <p:sp>
        <p:nvSpPr>
          <p:cNvPr id="3" name="TextBox 2"/>
          <p:cNvSpPr txBox="1"/>
          <p:nvPr/>
        </p:nvSpPr>
        <p:spPr>
          <a:xfrm>
            <a:off x="4355976" y="6453336"/>
            <a:ext cx="184731" cy="769441"/>
          </a:xfrm>
          <a:prstGeom prst="rect">
            <a:avLst/>
          </a:prstGeom>
          <a:noFill/>
        </p:spPr>
        <p:txBody>
          <a:bodyPr wrap="none" rtlCol="0">
            <a:spAutoFit/>
          </a:bodyPr>
          <a:lstStyle/>
          <a:p>
            <a:endParaRPr lang="en-US"/>
          </a:p>
        </p:txBody>
      </p:sp>
    </p:spTree>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1331640" y="3581727"/>
            <a:ext cx="2880320" cy="3303657"/>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8194" name="Text Box 2"/>
          <p:cNvSpPr txBox="1">
            <a:spLocks noChangeArrowheads="1"/>
          </p:cNvSpPr>
          <p:nvPr/>
        </p:nvSpPr>
        <p:spPr bwMode="auto">
          <a:xfrm>
            <a:off x="990600" y="152400"/>
            <a:ext cx="21659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400" b="0">
                <a:solidFill>
                  <a:srgbClr val="9900FF"/>
                </a:solidFill>
              </a:rPr>
              <a:t>Crystallography</a:t>
            </a:r>
            <a:endParaRPr lang="zh-CN" altLang="en-US" sz="2400" b="0">
              <a:solidFill>
                <a:srgbClr val="9900FF"/>
              </a:solidFill>
            </a:endParaRPr>
          </a:p>
        </p:txBody>
      </p:sp>
      <p:sp>
        <p:nvSpPr>
          <p:cNvPr id="8195" name="Line 3"/>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6" name="Rectangle 4"/>
          <p:cNvSpPr>
            <a:spLocks noGrp="1" noChangeArrowheads="1"/>
          </p:cNvSpPr>
          <p:nvPr>
            <p:ph type="title"/>
          </p:nvPr>
        </p:nvSpPr>
        <p:spPr>
          <a:xfrm>
            <a:off x="990600" y="764704"/>
            <a:ext cx="6953200" cy="800100"/>
          </a:xfrm>
          <a:noFill/>
        </p:spPr>
        <p:txBody>
          <a:bodyPr anchor="b"/>
          <a:lstStyle/>
          <a:p>
            <a:pPr eaLnBrk="1" hangingPunct="1"/>
            <a:r>
              <a:rPr lang="en-US" altLang="zh-CN" sz="3600" b="1"/>
              <a:t>Symmetry operations</a:t>
            </a:r>
            <a:endParaRPr lang="zh-CN" altLang="zh-CN" sz="3600" b="1"/>
          </a:p>
        </p:txBody>
      </p:sp>
      <p:sp>
        <p:nvSpPr>
          <p:cNvPr id="129029" name="Rectangle 5"/>
          <p:cNvSpPr>
            <a:spLocks noChangeArrowheads="1"/>
          </p:cNvSpPr>
          <p:nvPr/>
        </p:nvSpPr>
        <p:spPr bwMode="auto">
          <a:xfrm>
            <a:off x="762000" y="1916832"/>
            <a:ext cx="7626424"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lvl1pPr algn="ctr">
              <a:defRPr kumimoji="1" sz="4400">
                <a:solidFill>
                  <a:schemeClr val="tx2"/>
                </a:solidFill>
                <a:latin typeface="Times New Roman" pitchFamily="18" charset="0"/>
                <a:ea typeface="宋体" pitchFamily="2" charset="-122"/>
              </a:defRPr>
            </a:lvl1pPr>
            <a:lvl2pPr algn="ctr">
              <a:defRPr kumimoji="1" sz="4400">
                <a:solidFill>
                  <a:schemeClr val="tx2"/>
                </a:solidFill>
                <a:latin typeface="Times New Roman" pitchFamily="18" charset="0"/>
                <a:ea typeface="宋体" pitchFamily="2" charset="-122"/>
              </a:defRPr>
            </a:lvl2pPr>
            <a:lvl3pPr algn="ctr">
              <a:defRPr kumimoji="1" sz="4400">
                <a:solidFill>
                  <a:schemeClr val="tx2"/>
                </a:solidFill>
                <a:latin typeface="Times New Roman" pitchFamily="18" charset="0"/>
                <a:ea typeface="宋体" pitchFamily="2" charset="-122"/>
              </a:defRPr>
            </a:lvl3pPr>
            <a:lvl4pPr algn="ctr">
              <a:defRPr kumimoji="1" sz="4400">
                <a:solidFill>
                  <a:schemeClr val="tx2"/>
                </a:solidFill>
                <a:latin typeface="Times New Roman" pitchFamily="18" charset="0"/>
                <a:ea typeface="宋体" pitchFamily="2" charset="-122"/>
              </a:defRPr>
            </a:lvl4pPr>
            <a:lvl5pPr algn="ctr">
              <a:defRPr kumimoji="1" sz="4400">
                <a:solidFill>
                  <a:schemeClr val="tx2"/>
                </a:solidFill>
                <a:latin typeface="Times New Roman" pitchFamily="18" charset="0"/>
                <a:ea typeface="宋体" pitchFamily="2" charset="-122"/>
              </a:defRPr>
            </a:lvl5pPr>
            <a:lvl6pPr marL="457200" algn="ctr" fontAlgn="base">
              <a:spcBef>
                <a:spcPct val="0"/>
              </a:spcBef>
              <a:spcAft>
                <a:spcPct val="0"/>
              </a:spcAft>
              <a:defRPr kumimoji="1" sz="4400">
                <a:solidFill>
                  <a:schemeClr val="tx2"/>
                </a:solidFill>
                <a:latin typeface="Times New Roman" pitchFamily="18" charset="0"/>
                <a:ea typeface="宋体" pitchFamily="2" charset="-122"/>
              </a:defRPr>
            </a:lvl6pPr>
            <a:lvl7pPr marL="914400" algn="ctr"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fontAlgn="base">
              <a:spcBef>
                <a:spcPct val="0"/>
              </a:spcBef>
              <a:spcAft>
                <a:spcPct val="0"/>
              </a:spcAft>
              <a:defRPr kumimoji="1" sz="4400">
                <a:solidFill>
                  <a:schemeClr val="tx2"/>
                </a:solidFill>
                <a:latin typeface="Times New Roman" pitchFamily="18" charset="0"/>
                <a:ea typeface="宋体" pitchFamily="2" charset="-122"/>
              </a:defRPr>
            </a:lvl9pPr>
          </a:lstStyle>
          <a:p>
            <a:pPr>
              <a:defRPr/>
            </a:pPr>
            <a:r>
              <a:rPr lang="en-US" altLang="zh-CN" sz="2400">
                <a:solidFill>
                  <a:schemeClr val="tx1"/>
                </a:solidFill>
                <a:effectLst>
                  <a:outerShdw blurRad="38100" dist="38100" dir="2700000" algn="tl">
                    <a:srgbClr val="000000">
                      <a:alpha val="43137"/>
                    </a:srgbClr>
                  </a:outerShdw>
                </a:effectLst>
                <a:latin typeface="宋体" pitchFamily="2" charset="-122"/>
              </a:rPr>
              <a:t>Symmetry operation</a:t>
            </a:r>
            <a:r>
              <a:rPr lang="zh-CN" altLang="en-US" sz="2400">
                <a:solidFill>
                  <a:schemeClr val="tx1"/>
                </a:solidFill>
                <a:effectLst>
                  <a:outerShdw blurRad="38100" dist="38100" dir="2700000" algn="tl">
                    <a:srgbClr val="000000">
                      <a:alpha val="43137"/>
                    </a:srgbClr>
                  </a:outerShdw>
                </a:effectLst>
                <a:latin typeface="宋体" pitchFamily="2" charset="-122"/>
              </a:rPr>
              <a:t> ＝ </a:t>
            </a:r>
            <a:r>
              <a:rPr lang="en-US" altLang="zh-CN" sz="2400">
                <a:solidFill>
                  <a:schemeClr val="tx1"/>
                </a:solidFill>
                <a:effectLst>
                  <a:outerShdw blurRad="38100" dist="38100" dir="2700000" algn="tl">
                    <a:srgbClr val="000000">
                      <a:alpha val="43137"/>
                    </a:srgbClr>
                  </a:outerShdw>
                </a:effectLst>
                <a:latin typeface="宋体" pitchFamily="2" charset="-122"/>
              </a:rPr>
              <a:t>coordinate transformation</a:t>
            </a:r>
            <a:endParaRPr lang="zh-CN" altLang="zh-CN" sz="3200">
              <a:solidFill>
                <a:schemeClr val="tx1"/>
              </a:solidFill>
              <a:effectLst>
                <a:outerShdw blurRad="38100" dist="38100" dir="2700000" algn="tl">
                  <a:srgbClr val="000000">
                    <a:alpha val="43137"/>
                  </a:srgbClr>
                </a:outerShdw>
              </a:effectLst>
            </a:endParaRPr>
          </a:p>
        </p:txBody>
      </p:sp>
      <p:sp>
        <p:nvSpPr>
          <p:cNvPr id="8199" name="Rectangle 7"/>
          <p:cNvSpPr>
            <a:spLocks noChangeArrowheads="1"/>
          </p:cNvSpPr>
          <p:nvPr/>
        </p:nvSpPr>
        <p:spPr bwMode="auto">
          <a:xfrm>
            <a:off x="2485236" y="5001418"/>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b="0"/>
              <a:t>or</a:t>
            </a:r>
          </a:p>
        </p:txBody>
      </p:sp>
      <p:graphicFrame>
        <p:nvGraphicFramePr>
          <p:cNvPr id="8200" name="Object 8"/>
          <p:cNvGraphicFramePr>
            <a:graphicFrameLocks noChangeAspect="1"/>
          </p:cNvGraphicFramePr>
          <p:nvPr>
            <p:extLst>
              <p:ext uri="{D42A27DB-BD31-4B8C-83A1-F6EECF244321}">
                <p14:modId xmlns:p14="http://schemas.microsoft.com/office/powerpoint/2010/main" val="2476301664"/>
              </p:ext>
            </p:extLst>
          </p:nvPr>
        </p:nvGraphicFramePr>
        <p:xfrm>
          <a:off x="1596394" y="3789040"/>
          <a:ext cx="2286000" cy="1120775"/>
        </p:xfrm>
        <a:graphic>
          <a:graphicData uri="http://schemas.openxmlformats.org/presentationml/2006/ole">
            <mc:AlternateContent xmlns:mc="http://schemas.openxmlformats.org/markup-compatibility/2006">
              <mc:Choice xmlns:v="urn:schemas-microsoft-com:vml" Requires="v">
                <p:oleObj spid="_x0000_s2049" r:id="rId3" imgW="1459866" imgH="710891" progId="Equation.3">
                  <p:embed/>
                </p:oleObj>
              </mc:Choice>
              <mc:Fallback>
                <p:oleObj r:id="rId3" imgW="1459866" imgH="710891" progId="Equation.3">
                  <p:embed/>
                  <p:pic>
                    <p:nvPicPr>
                      <p:cNvPr id="820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6394" y="3789040"/>
                        <a:ext cx="2286000" cy="1120775"/>
                      </a:xfrm>
                      <a:prstGeom prst="rect">
                        <a:avLst/>
                      </a:prstGeom>
                      <a:noFill/>
                      <a:ln>
                        <a:noFill/>
                      </a:ln>
                    </p:spPr>
                  </p:pic>
                </p:oleObj>
              </mc:Fallback>
            </mc:AlternateContent>
          </a:graphicData>
        </a:graphic>
      </p:graphicFrame>
      <p:graphicFrame>
        <p:nvGraphicFramePr>
          <p:cNvPr id="8201" name="Object 9"/>
          <p:cNvGraphicFramePr>
            <a:graphicFrameLocks noChangeAspect="1"/>
          </p:cNvGraphicFramePr>
          <p:nvPr>
            <p:extLst>
              <p:ext uri="{D42A27DB-BD31-4B8C-83A1-F6EECF244321}">
                <p14:modId xmlns:p14="http://schemas.microsoft.com/office/powerpoint/2010/main" val="3476845328"/>
              </p:ext>
            </p:extLst>
          </p:nvPr>
        </p:nvGraphicFramePr>
        <p:xfrm>
          <a:off x="2130297" y="5589240"/>
          <a:ext cx="1219200" cy="1074738"/>
        </p:xfrm>
        <a:graphic>
          <a:graphicData uri="http://schemas.openxmlformats.org/presentationml/2006/ole">
            <mc:AlternateContent xmlns:mc="http://schemas.openxmlformats.org/markup-compatibility/2006">
              <mc:Choice xmlns:v="urn:schemas-microsoft-com:vml" Requires="v">
                <p:oleObj spid="_x0000_s2050" r:id="rId5" imgW="812447" imgH="710891" progId="Equation.3">
                  <p:embed/>
                </p:oleObj>
              </mc:Choice>
              <mc:Fallback>
                <p:oleObj r:id="rId5" imgW="812447" imgH="710891" progId="Equation.3">
                  <p:embed/>
                  <p:pic>
                    <p:nvPicPr>
                      <p:cNvPr id="8201"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0297" y="5589240"/>
                        <a:ext cx="1219200" cy="1074738"/>
                      </a:xfrm>
                      <a:prstGeom prst="rect">
                        <a:avLst/>
                      </a:prstGeom>
                      <a:noFill/>
                      <a:ln>
                        <a:noFill/>
                      </a:ln>
                    </p:spPr>
                  </p:pic>
                </p:oleObj>
              </mc:Fallback>
            </mc:AlternateContent>
          </a:graphicData>
        </a:graphic>
      </p:graphicFrame>
      <p:graphicFrame>
        <p:nvGraphicFramePr>
          <p:cNvPr id="8202" name="Object 10"/>
          <p:cNvGraphicFramePr>
            <a:graphicFrameLocks noChangeAspect="1"/>
          </p:cNvGraphicFramePr>
          <p:nvPr>
            <p:extLst>
              <p:ext uri="{D42A27DB-BD31-4B8C-83A1-F6EECF244321}">
                <p14:modId xmlns:p14="http://schemas.microsoft.com/office/powerpoint/2010/main" val="3251791563"/>
              </p:ext>
            </p:extLst>
          </p:nvPr>
        </p:nvGraphicFramePr>
        <p:xfrm>
          <a:off x="4784137" y="3709193"/>
          <a:ext cx="2362200" cy="1292225"/>
        </p:xfrm>
        <a:graphic>
          <a:graphicData uri="http://schemas.openxmlformats.org/presentationml/2006/ole">
            <mc:AlternateContent xmlns:mc="http://schemas.openxmlformats.org/markup-compatibility/2006">
              <mc:Choice xmlns:v="urn:schemas-microsoft-com:vml" Requires="v">
                <p:oleObj spid="_x0000_s2051" r:id="rId7" imgW="1308100" imgH="711200" progId="Equation.3">
                  <p:embed/>
                </p:oleObj>
              </mc:Choice>
              <mc:Fallback>
                <p:oleObj r:id="rId7" imgW="1308100" imgH="711200" progId="Equation.3">
                  <p:embed/>
                  <p:pic>
                    <p:nvPicPr>
                      <p:cNvPr id="8202"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4137" y="3709193"/>
                        <a:ext cx="2362200" cy="1292225"/>
                      </a:xfrm>
                      <a:prstGeom prst="rect">
                        <a:avLst/>
                      </a:prstGeom>
                      <a:noFill/>
                      <a:ln>
                        <a:noFill/>
                      </a:ln>
                    </p:spPr>
                  </p:pic>
                </p:oleObj>
              </mc:Fallback>
            </mc:AlternateContent>
          </a:graphicData>
        </a:graphic>
      </p:graphicFrame>
      <p:sp>
        <p:nvSpPr>
          <p:cNvPr id="129035" name="Rectangle 11"/>
          <p:cNvSpPr>
            <a:spLocks noChangeArrowheads="1"/>
          </p:cNvSpPr>
          <p:nvPr/>
        </p:nvSpPr>
        <p:spPr bwMode="auto">
          <a:xfrm>
            <a:off x="4176947" y="5611234"/>
            <a:ext cx="3949352" cy="523220"/>
          </a:xfrm>
          <a:prstGeom prst="rect">
            <a:avLst/>
          </a:prstGeom>
          <a:noFill/>
          <a:ln w="12700" cap="sq">
            <a:solidFill>
              <a:srgbClr val="FF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defRPr/>
            </a:pPr>
            <a:r>
              <a:rPr kumimoji="0" lang="en-US" altLang="zh-CN" sz="2800" b="0">
                <a:solidFill>
                  <a:srgbClr val="FF3300"/>
                </a:solidFill>
                <a:effectLst>
                  <a:outerShdw blurRad="38100" dist="38100" dir="2700000" algn="tl">
                    <a:srgbClr val="000000"/>
                  </a:outerShdw>
                </a:effectLst>
                <a:latin typeface="宋体" pitchFamily="2" charset="-122"/>
              </a:rPr>
              <a:t>Transformation matrix</a:t>
            </a:r>
            <a:endParaRPr kumimoji="0" lang="zh-CN" altLang="en-US" sz="2800" b="0">
              <a:solidFill>
                <a:srgbClr val="FF3300"/>
              </a:solidFill>
              <a:effectLst>
                <a:outerShdw blurRad="38100" dist="38100" dir="2700000" algn="tl">
                  <a:srgbClr val="000000"/>
                </a:outerShdw>
              </a:effectLst>
            </a:endParaRPr>
          </a:p>
        </p:txBody>
      </p:sp>
      <p:grpSp>
        <p:nvGrpSpPr>
          <p:cNvPr id="3" name="Group 2"/>
          <p:cNvGrpSpPr/>
          <p:nvPr/>
        </p:nvGrpSpPr>
        <p:grpSpPr>
          <a:xfrm>
            <a:off x="2123728" y="2708920"/>
            <a:ext cx="5885929" cy="584775"/>
            <a:chOff x="1819535" y="2920588"/>
            <a:chExt cx="5885929" cy="584775"/>
          </a:xfrm>
        </p:grpSpPr>
        <p:sp>
          <p:nvSpPr>
            <p:cNvPr id="8198" name="Line 6"/>
            <p:cNvSpPr>
              <a:spLocks noChangeShapeType="1"/>
            </p:cNvSpPr>
            <p:nvPr/>
          </p:nvSpPr>
          <p:spPr bwMode="auto">
            <a:xfrm>
              <a:off x="3635896" y="3212976"/>
              <a:ext cx="762000" cy="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Rectangle 1"/>
            <p:cNvSpPr/>
            <p:nvPr/>
          </p:nvSpPr>
          <p:spPr>
            <a:xfrm>
              <a:off x="1819535" y="2920588"/>
              <a:ext cx="5885929" cy="584775"/>
            </a:xfrm>
            <a:prstGeom prst="rect">
              <a:avLst/>
            </a:prstGeom>
          </p:spPr>
          <p:txBody>
            <a:bodyPr wrap="square">
              <a:spAutoFit/>
            </a:bodyPr>
            <a:lstStyle/>
            <a:p>
              <a:r>
                <a:rPr lang="zh-CN" altLang="en-US" sz="2400">
                  <a:solidFill>
                    <a:srgbClr val="FF0066"/>
                  </a:solidFill>
                  <a:latin typeface="宋体" pitchFamily="2" charset="-122"/>
                </a:rPr>
                <a:t> </a:t>
              </a:r>
              <a:r>
                <a:rPr lang="en-US" altLang="zh-CN" sz="3200">
                  <a:solidFill>
                    <a:srgbClr val="FF0066"/>
                  </a:solidFill>
                </a:rPr>
                <a:t>(</a:t>
              </a:r>
              <a:r>
                <a:rPr lang="en-US" altLang="zh-CN" sz="3200" i="1">
                  <a:solidFill>
                    <a:srgbClr val="FF0066"/>
                  </a:solidFill>
                </a:rPr>
                <a:t>x, y, z</a:t>
              </a:r>
              <a:r>
                <a:rPr lang="en-US" altLang="zh-CN" sz="3200">
                  <a:solidFill>
                    <a:srgbClr val="FF0066"/>
                  </a:solidFill>
                </a:rPr>
                <a:t>)</a:t>
              </a:r>
              <a:r>
                <a:rPr lang="en-US" altLang="zh-CN" sz="3200">
                  <a:solidFill>
                    <a:srgbClr val="FF0066"/>
                  </a:solidFill>
                  <a:latin typeface="宋体" pitchFamily="2" charset="-122"/>
                </a:rPr>
                <a:t>       </a:t>
              </a:r>
              <a:r>
                <a:rPr lang="en-US" altLang="zh-CN" sz="3200">
                  <a:solidFill>
                    <a:srgbClr val="FF0066"/>
                  </a:solidFill>
                </a:rPr>
                <a:t>(</a:t>
              </a:r>
              <a:r>
                <a:rPr lang="en-US" altLang="zh-CN" sz="3200" i="1">
                  <a:solidFill>
                    <a:srgbClr val="FF0066"/>
                  </a:solidFill>
                </a:rPr>
                <a:t>X, Y, Z</a:t>
              </a:r>
              <a:r>
                <a:rPr lang="en-US" altLang="zh-CN" sz="3200">
                  <a:solidFill>
                    <a:srgbClr val="FF0066"/>
                  </a:solidFill>
                </a:rPr>
                <a:t>) </a:t>
              </a:r>
              <a:endParaRPr lang="en-US"/>
            </a:p>
          </p:txBody>
        </p:sp>
      </p:grpSp>
    </p:spTree>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8"/>
          <p:cNvSpPr>
            <a:spLocks noChangeArrowheads="1"/>
          </p:cNvSpPr>
          <p:nvPr/>
        </p:nvSpPr>
        <p:spPr bwMode="auto">
          <a:xfrm>
            <a:off x="474440" y="801713"/>
            <a:ext cx="62484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4000">
                <a:solidFill>
                  <a:schemeClr val="tx2"/>
                </a:solidFill>
              </a:rPr>
              <a:t>Mirror Planes</a:t>
            </a:r>
            <a:endParaRPr lang="zh-CN" altLang="zh-CN" sz="4000">
              <a:solidFill>
                <a:schemeClr val="tx2"/>
              </a:solidFill>
            </a:endParaRPr>
          </a:p>
        </p:txBody>
      </p:sp>
      <p:sp>
        <p:nvSpPr>
          <p:cNvPr id="10247" name="Text Box 10"/>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4" name="Rectangle 3"/>
          <p:cNvSpPr/>
          <p:nvPr/>
        </p:nvSpPr>
        <p:spPr>
          <a:xfrm>
            <a:off x="467544" y="1628800"/>
            <a:ext cx="8044114" cy="954107"/>
          </a:xfrm>
          <a:prstGeom prst="rect">
            <a:avLst/>
          </a:prstGeom>
        </p:spPr>
        <p:txBody>
          <a:bodyPr wrap="square">
            <a:spAutoFit/>
          </a:bodyPr>
          <a:lstStyle/>
          <a:p>
            <a:r>
              <a:rPr lang="en-US" altLang="zh-CN" sz="2800" b="0" kern="0">
                <a:latin typeface="+mn-lt"/>
                <a:ea typeface="宋体"/>
                <a:cs typeface="+mj-cs"/>
              </a:rPr>
              <a:t>The operation for mirror planes—</a:t>
            </a:r>
            <a:r>
              <a:rPr lang="en-US" altLang="zh-CN" sz="2800" b="0" i="1" kern="0">
                <a:latin typeface="+mn-lt"/>
                <a:ea typeface="宋体"/>
                <a:cs typeface="+mj-cs"/>
              </a:rPr>
              <a:t>P</a:t>
            </a:r>
            <a:r>
              <a:rPr lang="en-US" altLang="zh-CN" sz="2800" b="0" kern="0">
                <a:latin typeface="+mn-lt"/>
                <a:ea typeface="宋体"/>
                <a:cs typeface="+mj-cs"/>
              </a:rPr>
              <a:t> is reflection. There could be many mirror planes, such as 3P</a:t>
            </a:r>
            <a:r>
              <a:rPr lang="zh-CN" altLang="en-US" sz="2800" b="0" kern="0">
                <a:latin typeface="+mn-lt"/>
                <a:ea typeface="宋体"/>
                <a:cs typeface="+mj-cs"/>
              </a:rPr>
              <a:t>、</a:t>
            </a:r>
            <a:r>
              <a:rPr lang="en-US" altLang="zh-CN" sz="2800" b="0" kern="0">
                <a:latin typeface="+mn-lt"/>
                <a:ea typeface="宋体"/>
                <a:cs typeface="+mj-cs"/>
              </a:rPr>
              <a:t>6P,</a:t>
            </a:r>
            <a:r>
              <a:rPr lang="zh-CN" altLang="en-US" sz="2800" b="0" kern="0">
                <a:latin typeface="+mn-lt"/>
                <a:ea typeface="宋体"/>
                <a:cs typeface="+mj-cs"/>
              </a:rPr>
              <a:t> </a:t>
            </a:r>
            <a:r>
              <a:rPr lang="en-US" altLang="zh-CN" sz="2800" b="0" kern="0">
                <a:latin typeface="+mn-lt"/>
                <a:ea typeface="宋体"/>
                <a:cs typeface="+mj-cs"/>
              </a:rPr>
              <a:t>etc.</a:t>
            </a:r>
            <a:endParaRPr lang="en-US" sz="4800" b="0">
              <a:latin typeface="+mn-lt"/>
            </a:endParaRPr>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4360" y="2924944"/>
            <a:ext cx="3747298" cy="2633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3160609"/>
            <a:ext cx="3816424" cy="2162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Line 9"/>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296557830"/>
      </p:ext>
    </p:extLst>
  </p:cSld>
  <p:clrMapOvr>
    <a:masterClrMapping/>
  </p:clrMapOvr>
  <p:transition spd="med">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6" descr="nosymplane"/>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876529" y="1823776"/>
            <a:ext cx="2808287"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Picture 7" descr="symplane"/>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986745" y="1825399"/>
            <a:ext cx="273685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Rectangle 8"/>
          <p:cNvSpPr>
            <a:spLocks noChangeArrowheads="1"/>
          </p:cNvSpPr>
          <p:nvPr/>
        </p:nvSpPr>
        <p:spPr bwMode="auto">
          <a:xfrm>
            <a:off x="1219200" y="620713"/>
            <a:ext cx="62484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4000">
                <a:solidFill>
                  <a:schemeClr val="tx2"/>
                </a:solidFill>
              </a:rPr>
              <a:t>Mirror Planes</a:t>
            </a:r>
            <a:endParaRPr lang="zh-CN" altLang="zh-CN" sz="4000">
              <a:solidFill>
                <a:schemeClr val="tx2"/>
              </a:solidFill>
            </a:endParaRPr>
          </a:p>
        </p:txBody>
      </p:sp>
      <p:sp>
        <p:nvSpPr>
          <p:cNvPr id="10246" name="Line 9"/>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7" name="Text Box 10"/>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5" name="Rectangle 4"/>
          <p:cNvSpPr/>
          <p:nvPr/>
        </p:nvSpPr>
        <p:spPr>
          <a:xfrm>
            <a:off x="466733" y="4691847"/>
            <a:ext cx="8676456" cy="523220"/>
          </a:xfrm>
          <a:prstGeom prst="rect">
            <a:avLst/>
          </a:prstGeom>
        </p:spPr>
        <p:txBody>
          <a:bodyPr wrap="square">
            <a:spAutoFit/>
          </a:bodyPr>
          <a:lstStyle/>
          <a:p>
            <a:pPr lvl="0"/>
            <a:r>
              <a:rPr lang="en-US" altLang="zh-CN" sz="2800" kern="0">
                <a:solidFill>
                  <a:srgbClr val="000000"/>
                </a:solidFill>
                <a:latin typeface="+mn-lt"/>
                <a:ea typeface="隶书" pitchFamily="49" charset="-122"/>
                <a:cs typeface="+mj-cs"/>
              </a:rPr>
              <a:t>Please find mirror planes on the crystal models above</a:t>
            </a:r>
            <a:endParaRPr lang="en-US" altLang="zh-CN" sz="2800" kern="0">
              <a:solidFill>
                <a:srgbClr val="FFFF00"/>
              </a:solidFill>
              <a:latin typeface="+mn-lt"/>
              <a:ea typeface="黑体" pitchFamily="49" charset="-122"/>
              <a:cs typeface="+mj-cs"/>
            </a:endParaRPr>
          </a:p>
        </p:txBody>
      </p:sp>
    </p:spTree>
  </p:cSld>
  <p:clrMapOvr>
    <a:masterClrMapping/>
  </p:clrMapOvr>
  <p:transition spd="med">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395536" y="609600"/>
            <a:ext cx="8062664" cy="1143000"/>
          </a:xfrm>
        </p:spPr>
        <p:txBody>
          <a:bodyPr/>
          <a:lstStyle/>
          <a:p>
            <a:r>
              <a:rPr lang="en-US" altLang="zh-CN"/>
              <a:t>Symmetry element in cubic system</a:t>
            </a:r>
            <a:br>
              <a:rPr lang="en-US" altLang="zh-CN"/>
            </a:br>
            <a:r>
              <a:rPr lang="en-US" altLang="zh-CN" b="1" i="1">
                <a:ea typeface="楷体_GB2312" pitchFamily="49" charset="-122"/>
              </a:rPr>
              <a:t>3L</a:t>
            </a:r>
            <a:r>
              <a:rPr lang="en-US" altLang="zh-CN" b="1" i="1" baseline="30000">
                <a:ea typeface="楷体_GB2312" pitchFamily="49" charset="-122"/>
              </a:rPr>
              <a:t>4</a:t>
            </a:r>
            <a:r>
              <a:rPr lang="en-US" altLang="zh-CN" b="1" i="1">
                <a:ea typeface="楷体_GB2312" pitchFamily="49" charset="-122"/>
              </a:rPr>
              <a:t>4L</a:t>
            </a:r>
            <a:r>
              <a:rPr lang="en-US" altLang="zh-CN" b="1" i="1" baseline="30000">
                <a:ea typeface="楷体_GB2312" pitchFamily="49" charset="-122"/>
              </a:rPr>
              <a:t>3</a:t>
            </a:r>
            <a:r>
              <a:rPr lang="en-US" altLang="zh-CN" b="1" i="1">
                <a:ea typeface="楷体_GB2312" pitchFamily="49" charset="-122"/>
              </a:rPr>
              <a:t>6L</a:t>
            </a:r>
            <a:r>
              <a:rPr lang="en-US" altLang="zh-CN" b="1" i="1" baseline="30000">
                <a:ea typeface="楷体_GB2312" pitchFamily="49" charset="-122"/>
              </a:rPr>
              <a:t>2</a:t>
            </a:r>
            <a:r>
              <a:rPr lang="en-US" altLang="zh-CN" b="1" i="1">
                <a:solidFill>
                  <a:srgbClr val="FF0000"/>
                </a:solidFill>
                <a:ea typeface="楷体_GB2312" pitchFamily="49" charset="-122"/>
              </a:rPr>
              <a:t>9P</a:t>
            </a:r>
            <a:r>
              <a:rPr lang="en-US" altLang="zh-CN" b="1" i="1">
                <a:ea typeface="楷体_GB2312" pitchFamily="49" charset="-122"/>
              </a:rPr>
              <a:t>C</a:t>
            </a:r>
            <a:br>
              <a:rPr lang="en-US" altLang="zh-CN" b="1" i="1">
                <a:ea typeface="楷体_GB2312" pitchFamily="49" charset="-122"/>
              </a:rPr>
            </a:br>
            <a:endParaRPr lang="en-US" altLang="en-US"/>
          </a:p>
        </p:txBody>
      </p:sp>
      <p:pic>
        <p:nvPicPr>
          <p:cNvPr id="337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5460" y="1700808"/>
            <a:ext cx="4103688" cy="1384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7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1960" y="3347045"/>
            <a:ext cx="4149725" cy="275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79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1628800"/>
            <a:ext cx="2305050" cy="213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8" name="Rectangle 5"/>
          <p:cNvSpPr>
            <a:spLocks noChangeArrowheads="1"/>
          </p:cNvSpPr>
          <p:nvPr/>
        </p:nvSpPr>
        <p:spPr bwMode="auto">
          <a:xfrm>
            <a:off x="1584325" y="3759225"/>
            <a:ext cx="1073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i="1">
                <a:ea typeface="楷体_GB2312" pitchFamily="49" charset="-122"/>
              </a:rPr>
              <a:t>3L</a:t>
            </a:r>
            <a:r>
              <a:rPr lang="en-US" altLang="zh-CN" sz="2400" i="1" baseline="30000">
                <a:ea typeface="楷体_GB2312" pitchFamily="49" charset="-122"/>
              </a:rPr>
              <a:t>4</a:t>
            </a:r>
            <a:r>
              <a:rPr lang="en-US" altLang="zh-CN" sz="2400" i="1">
                <a:ea typeface="楷体_GB2312" pitchFamily="49" charset="-122"/>
              </a:rPr>
              <a:t>4L</a:t>
            </a:r>
            <a:r>
              <a:rPr lang="en-US" altLang="zh-CN" sz="2400" i="1" baseline="30000">
                <a:ea typeface="楷体_GB2312" pitchFamily="49" charset="-122"/>
              </a:rPr>
              <a:t>3</a:t>
            </a:r>
            <a:endParaRPr lang="en-US" altLang="en-US" sz="2400"/>
          </a:p>
        </p:txBody>
      </p:sp>
      <p:sp>
        <p:nvSpPr>
          <p:cNvPr id="33799" name="Rectangle 6"/>
          <p:cNvSpPr>
            <a:spLocks noChangeArrowheads="1"/>
          </p:cNvSpPr>
          <p:nvPr/>
        </p:nvSpPr>
        <p:spPr bwMode="auto">
          <a:xfrm>
            <a:off x="1436514" y="6171704"/>
            <a:ext cx="1517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i="1">
                <a:ea typeface="楷体_GB2312" pitchFamily="49" charset="-122"/>
              </a:rPr>
              <a:t>3L</a:t>
            </a:r>
            <a:r>
              <a:rPr lang="en-US" altLang="zh-CN" sz="2400" i="1" baseline="30000">
                <a:ea typeface="楷体_GB2312" pitchFamily="49" charset="-122"/>
              </a:rPr>
              <a:t>4</a:t>
            </a:r>
            <a:r>
              <a:rPr lang="en-US" altLang="zh-CN" sz="2400" i="1">
                <a:ea typeface="楷体_GB2312" pitchFamily="49" charset="-122"/>
              </a:rPr>
              <a:t>4L</a:t>
            </a:r>
            <a:r>
              <a:rPr lang="en-US" altLang="zh-CN" sz="2400" i="1" baseline="30000">
                <a:ea typeface="楷体_GB2312" pitchFamily="49" charset="-122"/>
              </a:rPr>
              <a:t>3</a:t>
            </a:r>
            <a:r>
              <a:rPr lang="en-US" altLang="zh-CN" sz="2400" i="1">
                <a:ea typeface="楷体_GB2312" pitchFamily="49" charset="-122"/>
              </a:rPr>
              <a:t>6L</a:t>
            </a:r>
            <a:r>
              <a:rPr lang="en-US" altLang="zh-CN" sz="2400" i="1" baseline="30000">
                <a:ea typeface="楷体_GB2312" pitchFamily="49" charset="-122"/>
              </a:rPr>
              <a:t>2</a:t>
            </a:r>
            <a:endParaRPr lang="en-US" altLang="en-US" sz="2400"/>
          </a:p>
        </p:txBody>
      </p:sp>
      <p:pic>
        <p:nvPicPr>
          <p:cNvPr id="33800" name="Picture 4"/>
          <p:cNvPicPr>
            <a:picLocks noChangeAspect="1" noChangeArrowheads="1"/>
          </p:cNvPicPr>
          <p:nvPr/>
        </p:nvPicPr>
        <p:blipFill>
          <a:blip r:embed="rId6">
            <a:extLst>
              <a:ext uri="{28A0092B-C50C-407E-A947-70E740481C1C}">
                <a14:useLocalDpi xmlns:a14="http://schemas.microsoft.com/office/drawing/2010/main" val="0"/>
              </a:ext>
            </a:extLst>
          </a:blip>
          <a:srcRect l="51019" b="10002"/>
          <a:stretch>
            <a:fillRect/>
          </a:stretch>
        </p:blipFill>
        <p:spPr bwMode="auto">
          <a:xfrm>
            <a:off x="1036464" y="4277816"/>
            <a:ext cx="2311400" cy="1893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3801" name="Rectangle 7"/>
          <p:cNvSpPr>
            <a:spLocks noChangeArrowheads="1"/>
          </p:cNvSpPr>
          <p:nvPr/>
        </p:nvSpPr>
        <p:spPr bwMode="auto">
          <a:xfrm>
            <a:off x="5966148" y="6341070"/>
            <a:ext cx="527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i="1">
                <a:solidFill>
                  <a:srgbClr val="FF0000"/>
                </a:solidFill>
                <a:ea typeface="楷体_GB2312" pitchFamily="49" charset="-122"/>
              </a:rPr>
              <a:t>9P</a:t>
            </a:r>
            <a:endParaRPr lang="en-US" altLang="en-US" sz="2400">
              <a:solidFill>
                <a:srgbClr val="FF0000"/>
              </a:solidFill>
            </a:endParaRPr>
          </a:p>
        </p:txBody>
      </p:sp>
    </p:spTree>
    <p:extLst>
      <p:ext uri="{BB962C8B-B14F-4D97-AF65-F5344CB8AC3E}">
        <p14:creationId xmlns:p14="http://schemas.microsoft.com/office/powerpoint/2010/main" val="2549577699"/>
      </p:ext>
    </p:extLst>
  </p:cSld>
  <p:clrMapOvr>
    <a:masterClrMapping/>
  </p:clrMapOvr>
  <p:transition spd="med">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6" name="Rectangle 1030"/>
          <p:cNvSpPr>
            <a:spLocks noChangeArrowheads="1"/>
          </p:cNvSpPr>
          <p:nvPr/>
        </p:nvSpPr>
        <p:spPr bwMode="auto">
          <a:xfrm>
            <a:off x="4427538" y="2021681"/>
            <a:ext cx="4176712" cy="3711575"/>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endParaRPr kumimoji="0" lang="en-US" altLang="en-US" sz="2400" b="0">
              <a:effectLst>
                <a:outerShdw blurRad="38100" dist="38100" dir="2700000" algn="tl">
                  <a:srgbClr val="FFFFFF"/>
                </a:outerShdw>
              </a:effectLst>
            </a:endParaRPr>
          </a:p>
        </p:txBody>
      </p:sp>
      <p:sp>
        <p:nvSpPr>
          <p:cNvPr id="11269" name="Freeform 1031"/>
          <p:cNvSpPr>
            <a:spLocks noEditPoints="1"/>
          </p:cNvSpPr>
          <p:nvPr/>
        </p:nvSpPr>
        <p:spPr bwMode="auto">
          <a:xfrm>
            <a:off x="5710238" y="3328194"/>
            <a:ext cx="425450" cy="701675"/>
          </a:xfrm>
          <a:custGeom>
            <a:avLst/>
            <a:gdLst>
              <a:gd name="T0" fmla="*/ 2147483647 w 537"/>
              <a:gd name="T1" fmla="*/ 2147483647 h 883"/>
              <a:gd name="T2" fmla="*/ 2147483647 w 537"/>
              <a:gd name="T3" fmla="*/ 2147483647 h 883"/>
              <a:gd name="T4" fmla="*/ 2147483647 w 537"/>
              <a:gd name="T5" fmla="*/ 2147483647 h 883"/>
              <a:gd name="T6" fmla="*/ 2147483647 w 537"/>
              <a:gd name="T7" fmla="*/ 2147483647 h 883"/>
              <a:gd name="T8" fmla="*/ 2147483647 w 537"/>
              <a:gd name="T9" fmla="*/ 2147483647 h 883"/>
              <a:gd name="T10" fmla="*/ 2147483647 w 537"/>
              <a:gd name="T11" fmla="*/ 2147483647 h 883"/>
              <a:gd name="T12" fmla="*/ 2147483647 w 537"/>
              <a:gd name="T13" fmla="*/ 2147483647 h 883"/>
              <a:gd name="T14" fmla="*/ 2147483647 w 537"/>
              <a:gd name="T15" fmla="*/ 2147483647 h 883"/>
              <a:gd name="T16" fmla="*/ 2147483647 w 537"/>
              <a:gd name="T17" fmla="*/ 2147483647 h 883"/>
              <a:gd name="T18" fmla="*/ 2147483647 w 537"/>
              <a:gd name="T19" fmla="*/ 2147483647 h 883"/>
              <a:gd name="T20" fmla="*/ 2147483647 w 537"/>
              <a:gd name="T21" fmla="*/ 2147483647 h 883"/>
              <a:gd name="T22" fmla="*/ 2147483647 w 537"/>
              <a:gd name="T23" fmla="*/ 2147483647 h 883"/>
              <a:gd name="T24" fmla="*/ 2147483647 w 537"/>
              <a:gd name="T25" fmla="*/ 2147483647 h 883"/>
              <a:gd name="T26" fmla="*/ 2147483647 w 537"/>
              <a:gd name="T27" fmla="*/ 2147483647 h 883"/>
              <a:gd name="T28" fmla="*/ 2147483647 w 537"/>
              <a:gd name="T29" fmla="*/ 2147483647 h 883"/>
              <a:gd name="T30" fmla="*/ 2147483647 w 537"/>
              <a:gd name="T31" fmla="*/ 2147483647 h 883"/>
              <a:gd name="T32" fmla="*/ 2147483647 w 537"/>
              <a:gd name="T33" fmla="*/ 2147483647 h 883"/>
              <a:gd name="T34" fmla="*/ 2147483647 w 537"/>
              <a:gd name="T35" fmla="*/ 2147483647 h 883"/>
              <a:gd name="T36" fmla="*/ 2147483647 w 537"/>
              <a:gd name="T37" fmla="*/ 2147483647 h 883"/>
              <a:gd name="T38" fmla="*/ 2147483647 w 537"/>
              <a:gd name="T39" fmla="*/ 2147483647 h 883"/>
              <a:gd name="T40" fmla="*/ 2147483647 w 537"/>
              <a:gd name="T41" fmla="*/ 2147483647 h 883"/>
              <a:gd name="T42" fmla="*/ 2147483647 w 537"/>
              <a:gd name="T43" fmla="*/ 2147483647 h 883"/>
              <a:gd name="T44" fmla="*/ 0 w 537"/>
              <a:gd name="T45" fmla="*/ 2147483647 h 883"/>
              <a:gd name="T46" fmla="*/ 2147483647 w 537"/>
              <a:gd name="T47" fmla="*/ 2147483647 h 883"/>
              <a:gd name="T48" fmla="*/ 2147483647 w 537"/>
              <a:gd name="T49" fmla="*/ 2147483647 h 883"/>
              <a:gd name="T50" fmla="*/ 2147483647 w 537"/>
              <a:gd name="T51" fmla="*/ 2147483647 h 883"/>
              <a:gd name="T52" fmla="*/ 2147483647 w 537"/>
              <a:gd name="T53" fmla="*/ 2147483647 h 883"/>
              <a:gd name="T54" fmla="*/ 2147483647 w 537"/>
              <a:gd name="T55" fmla="*/ 2147483647 h 883"/>
              <a:gd name="T56" fmla="*/ 2147483647 w 537"/>
              <a:gd name="T57" fmla="*/ 2147483647 h 883"/>
              <a:gd name="T58" fmla="*/ 2147483647 w 537"/>
              <a:gd name="T59" fmla="*/ 2147483647 h 883"/>
              <a:gd name="T60" fmla="*/ 2147483647 w 537"/>
              <a:gd name="T61" fmla="*/ 2147483647 h 883"/>
              <a:gd name="T62" fmla="*/ 2147483647 w 537"/>
              <a:gd name="T63" fmla="*/ 2147483647 h 883"/>
              <a:gd name="T64" fmla="*/ 2147483647 w 537"/>
              <a:gd name="T65" fmla="*/ 2147483647 h 883"/>
              <a:gd name="T66" fmla="*/ 2147483647 w 537"/>
              <a:gd name="T67" fmla="*/ 2147483647 h 883"/>
              <a:gd name="T68" fmla="*/ 2147483647 w 537"/>
              <a:gd name="T69" fmla="*/ 2147483647 h 883"/>
              <a:gd name="T70" fmla="*/ 2147483647 w 537"/>
              <a:gd name="T71" fmla="*/ 2147483647 h 883"/>
              <a:gd name="T72" fmla="*/ 2147483647 w 537"/>
              <a:gd name="T73" fmla="*/ 2147483647 h 883"/>
              <a:gd name="T74" fmla="*/ 2147483647 w 537"/>
              <a:gd name="T75" fmla="*/ 2147483647 h 883"/>
              <a:gd name="T76" fmla="*/ 2147483647 w 537"/>
              <a:gd name="T77" fmla="*/ 2147483647 h 883"/>
              <a:gd name="T78" fmla="*/ 2147483647 w 537"/>
              <a:gd name="T79" fmla="*/ 2147483647 h 883"/>
              <a:gd name="T80" fmla="*/ 2147483647 w 537"/>
              <a:gd name="T81" fmla="*/ 2147483647 h 883"/>
              <a:gd name="T82" fmla="*/ 2147483647 w 537"/>
              <a:gd name="T83" fmla="*/ 2147483647 h 883"/>
              <a:gd name="T84" fmla="*/ 2147483647 w 537"/>
              <a:gd name="T85" fmla="*/ 2147483647 h 88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37" h="883">
                <a:moveTo>
                  <a:pt x="520" y="0"/>
                </a:moveTo>
                <a:lnTo>
                  <a:pt x="520" y="24"/>
                </a:lnTo>
                <a:lnTo>
                  <a:pt x="479" y="29"/>
                </a:lnTo>
                <a:lnTo>
                  <a:pt x="445" y="36"/>
                </a:lnTo>
                <a:lnTo>
                  <a:pt x="413" y="46"/>
                </a:lnTo>
                <a:lnTo>
                  <a:pt x="385" y="57"/>
                </a:lnTo>
                <a:lnTo>
                  <a:pt x="358" y="71"/>
                </a:lnTo>
                <a:lnTo>
                  <a:pt x="333" y="88"/>
                </a:lnTo>
                <a:lnTo>
                  <a:pt x="307" y="109"/>
                </a:lnTo>
                <a:lnTo>
                  <a:pt x="282" y="133"/>
                </a:lnTo>
                <a:lnTo>
                  <a:pt x="258" y="159"/>
                </a:lnTo>
                <a:lnTo>
                  <a:pt x="236" y="186"/>
                </a:lnTo>
                <a:lnTo>
                  <a:pt x="215" y="215"/>
                </a:lnTo>
                <a:lnTo>
                  <a:pt x="198" y="246"/>
                </a:lnTo>
                <a:lnTo>
                  <a:pt x="181" y="278"/>
                </a:lnTo>
                <a:lnTo>
                  <a:pt x="166" y="313"/>
                </a:lnTo>
                <a:lnTo>
                  <a:pt x="153" y="352"/>
                </a:lnTo>
                <a:lnTo>
                  <a:pt x="141" y="393"/>
                </a:lnTo>
                <a:lnTo>
                  <a:pt x="185" y="366"/>
                </a:lnTo>
                <a:lnTo>
                  <a:pt x="231" y="346"/>
                </a:lnTo>
                <a:lnTo>
                  <a:pt x="277" y="335"/>
                </a:lnTo>
                <a:lnTo>
                  <a:pt x="322" y="331"/>
                </a:lnTo>
                <a:lnTo>
                  <a:pt x="343" y="332"/>
                </a:lnTo>
                <a:lnTo>
                  <a:pt x="364" y="335"/>
                </a:lnTo>
                <a:lnTo>
                  <a:pt x="383" y="340"/>
                </a:lnTo>
                <a:lnTo>
                  <a:pt x="403" y="349"/>
                </a:lnTo>
                <a:lnTo>
                  <a:pt x="421" y="359"/>
                </a:lnTo>
                <a:lnTo>
                  <a:pt x="439" y="371"/>
                </a:lnTo>
                <a:lnTo>
                  <a:pt x="456" y="385"/>
                </a:lnTo>
                <a:lnTo>
                  <a:pt x="472" y="402"/>
                </a:lnTo>
                <a:lnTo>
                  <a:pt x="488" y="420"/>
                </a:lnTo>
                <a:lnTo>
                  <a:pt x="500" y="440"/>
                </a:lnTo>
                <a:lnTo>
                  <a:pt x="512" y="459"/>
                </a:lnTo>
                <a:lnTo>
                  <a:pt x="520" y="481"/>
                </a:lnTo>
                <a:lnTo>
                  <a:pt x="527" y="505"/>
                </a:lnTo>
                <a:lnTo>
                  <a:pt x="532" y="529"/>
                </a:lnTo>
                <a:lnTo>
                  <a:pt x="535" y="555"/>
                </a:lnTo>
                <a:lnTo>
                  <a:pt x="537" y="582"/>
                </a:lnTo>
                <a:lnTo>
                  <a:pt x="535" y="608"/>
                </a:lnTo>
                <a:lnTo>
                  <a:pt x="532" y="633"/>
                </a:lnTo>
                <a:lnTo>
                  <a:pt x="527" y="659"/>
                </a:lnTo>
                <a:lnTo>
                  <a:pt x="520" y="684"/>
                </a:lnTo>
                <a:lnTo>
                  <a:pt x="512" y="707"/>
                </a:lnTo>
                <a:lnTo>
                  <a:pt x="500" y="731"/>
                </a:lnTo>
                <a:lnTo>
                  <a:pt x="488" y="753"/>
                </a:lnTo>
                <a:lnTo>
                  <a:pt x="472" y="776"/>
                </a:lnTo>
                <a:lnTo>
                  <a:pt x="452" y="801"/>
                </a:lnTo>
                <a:lnTo>
                  <a:pt x="429" y="822"/>
                </a:lnTo>
                <a:lnTo>
                  <a:pt x="407" y="840"/>
                </a:lnTo>
                <a:lnTo>
                  <a:pt x="382" y="855"/>
                </a:lnTo>
                <a:lnTo>
                  <a:pt x="355" y="868"/>
                </a:lnTo>
                <a:lnTo>
                  <a:pt x="328" y="876"/>
                </a:lnTo>
                <a:lnTo>
                  <a:pt x="297" y="882"/>
                </a:lnTo>
                <a:lnTo>
                  <a:pt x="266" y="883"/>
                </a:lnTo>
                <a:lnTo>
                  <a:pt x="245" y="882"/>
                </a:lnTo>
                <a:lnTo>
                  <a:pt x="224" y="879"/>
                </a:lnTo>
                <a:lnTo>
                  <a:pt x="205" y="875"/>
                </a:lnTo>
                <a:lnTo>
                  <a:pt x="187" y="868"/>
                </a:lnTo>
                <a:lnTo>
                  <a:pt x="169" y="859"/>
                </a:lnTo>
                <a:lnTo>
                  <a:pt x="151" y="850"/>
                </a:lnTo>
                <a:lnTo>
                  <a:pt x="120" y="825"/>
                </a:lnTo>
                <a:lnTo>
                  <a:pt x="92" y="795"/>
                </a:lnTo>
                <a:lnTo>
                  <a:pt x="68" y="765"/>
                </a:lnTo>
                <a:lnTo>
                  <a:pt x="47" y="731"/>
                </a:lnTo>
                <a:lnTo>
                  <a:pt x="31" y="695"/>
                </a:lnTo>
                <a:lnTo>
                  <a:pt x="17" y="657"/>
                </a:lnTo>
                <a:lnTo>
                  <a:pt x="7" y="618"/>
                </a:lnTo>
                <a:lnTo>
                  <a:pt x="1" y="578"/>
                </a:lnTo>
                <a:lnTo>
                  <a:pt x="0" y="534"/>
                </a:lnTo>
                <a:lnTo>
                  <a:pt x="3" y="479"/>
                </a:lnTo>
                <a:lnTo>
                  <a:pt x="11" y="423"/>
                </a:lnTo>
                <a:lnTo>
                  <a:pt x="26" y="368"/>
                </a:lnTo>
                <a:lnTo>
                  <a:pt x="46" y="317"/>
                </a:lnTo>
                <a:lnTo>
                  <a:pt x="71" y="266"/>
                </a:lnTo>
                <a:lnTo>
                  <a:pt x="100" y="219"/>
                </a:lnTo>
                <a:lnTo>
                  <a:pt x="137" y="176"/>
                </a:lnTo>
                <a:lnTo>
                  <a:pt x="176" y="134"/>
                </a:lnTo>
                <a:lnTo>
                  <a:pt x="217" y="98"/>
                </a:lnTo>
                <a:lnTo>
                  <a:pt x="259" y="68"/>
                </a:lnTo>
                <a:lnTo>
                  <a:pt x="300" y="45"/>
                </a:lnTo>
                <a:lnTo>
                  <a:pt x="339" y="27"/>
                </a:lnTo>
                <a:lnTo>
                  <a:pt x="376" y="15"/>
                </a:lnTo>
                <a:lnTo>
                  <a:pt x="414" y="7"/>
                </a:lnTo>
                <a:lnTo>
                  <a:pt x="449" y="1"/>
                </a:lnTo>
                <a:lnTo>
                  <a:pt x="484" y="0"/>
                </a:lnTo>
                <a:lnTo>
                  <a:pt x="520" y="0"/>
                </a:lnTo>
                <a:close/>
                <a:moveTo>
                  <a:pt x="131" y="440"/>
                </a:moveTo>
                <a:lnTo>
                  <a:pt x="125" y="479"/>
                </a:lnTo>
                <a:lnTo>
                  <a:pt x="123" y="515"/>
                </a:lnTo>
                <a:lnTo>
                  <a:pt x="120" y="547"/>
                </a:lnTo>
                <a:lnTo>
                  <a:pt x="120" y="575"/>
                </a:lnTo>
                <a:lnTo>
                  <a:pt x="121" y="606"/>
                </a:lnTo>
                <a:lnTo>
                  <a:pt x="125" y="638"/>
                </a:lnTo>
                <a:lnTo>
                  <a:pt x="131" y="671"/>
                </a:lnTo>
                <a:lnTo>
                  <a:pt x="141" y="706"/>
                </a:lnTo>
                <a:lnTo>
                  <a:pt x="153" y="739"/>
                </a:lnTo>
                <a:lnTo>
                  <a:pt x="169" y="769"/>
                </a:lnTo>
                <a:lnTo>
                  <a:pt x="187" y="795"/>
                </a:lnTo>
                <a:lnTo>
                  <a:pt x="208" y="818"/>
                </a:lnTo>
                <a:lnTo>
                  <a:pt x="224" y="830"/>
                </a:lnTo>
                <a:lnTo>
                  <a:pt x="243" y="840"/>
                </a:lnTo>
                <a:lnTo>
                  <a:pt x="262" y="846"/>
                </a:lnTo>
                <a:lnTo>
                  <a:pt x="284" y="847"/>
                </a:lnTo>
                <a:lnTo>
                  <a:pt x="311" y="844"/>
                </a:lnTo>
                <a:lnTo>
                  <a:pt x="336" y="834"/>
                </a:lnTo>
                <a:lnTo>
                  <a:pt x="360" y="818"/>
                </a:lnTo>
                <a:lnTo>
                  <a:pt x="382" y="795"/>
                </a:lnTo>
                <a:lnTo>
                  <a:pt x="400" y="766"/>
                </a:lnTo>
                <a:lnTo>
                  <a:pt x="414" y="733"/>
                </a:lnTo>
                <a:lnTo>
                  <a:pt x="422" y="693"/>
                </a:lnTo>
                <a:lnTo>
                  <a:pt x="425" y="649"/>
                </a:lnTo>
                <a:lnTo>
                  <a:pt x="422" y="597"/>
                </a:lnTo>
                <a:lnTo>
                  <a:pt x="414" y="550"/>
                </a:lnTo>
                <a:lnTo>
                  <a:pt x="400" y="505"/>
                </a:lnTo>
                <a:lnTo>
                  <a:pt x="382" y="463"/>
                </a:lnTo>
                <a:lnTo>
                  <a:pt x="371" y="445"/>
                </a:lnTo>
                <a:lnTo>
                  <a:pt x="358" y="428"/>
                </a:lnTo>
                <a:lnTo>
                  <a:pt x="346" y="416"/>
                </a:lnTo>
                <a:lnTo>
                  <a:pt x="332" y="405"/>
                </a:lnTo>
                <a:lnTo>
                  <a:pt x="316" y="396"/>
                </a:lnTo>
                <a:lnTo>
                  <a:pt x="300" y="389"/>
                </a:lnTo>
                <a:lnTo>
                  <a:pt x="282" y="386"/>
                </a:lnTo>
                <a:lnTo>
                  <a:pt x="262" y="385"/>
                </a:lnTo>
                <a:lnTo>
                  <a:pt x="238" y="388"/>
                </a:lnTo>
                <a:lnTo>
                  <a:pt x="210" y="395"/>
                </a:lnTo>
                <a:lnTo>
                  <a:pt x="195" y="402"/>
                </a:lnTo>
                <a:lnTo>
                  <a:pt x="177" y="412"/>
                </a:lnTo>
                <a:lnTo>
                  <a:pt x="156" y="424"/>
                </a:lnTo>
                <a:lnTo>
                  <a:pt x="131" y="4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70" name="Freeform 1032"/>
          <p:cNvSpPr>
            <a:spLocks noEditPoints="1"/>
          </p:cNvSpPr>
          <p:nvPr/>
        </p:nvSpPr>
        <p:spPr bwMode="auto">
          <a:xfrm flipH="1">
            <a:off x="6967538" y="3328194"/>
            <a:ext cx="425450" cy="701675"/>
          </a:xfrm>
          <a:custGeom>
            <a:avLst/>
            <a:gdLst>
              <a:gd name="T0" fmla="*/ 2147483647 w 537"/>
              <a:gd name="T1" fmla="*/ 2147483647 h 883"/>
              <a:gd name="T2" fmla="*/ 2147483647 w 537"/>
              <a:gd name="T3" fmla="*/ 2147483647 h 883"/>
              <a:gd name="T4" fmla="*/ 2147483647 w 537"/>
              <a:gd name="T5" fmla="*/ 2147483647 h 883"/>
              <a:gd name="T6" fmla="*/ 2147483647 w 537"/>
              <a:gd name="T7" fmla="*/ 2147483647 h 883"/>
              <a:gd name="T8" fmla="*/ 2147483647 w 537"/>
              <a:gd name="T9" fmla="*/ 2147483647 h 883"/>
              <a:gd name="T10" fmla="*/ 2147483647 w 537"/>
              <a:gd name="T11" fmla="*/ 2147483647 h 883"/>
              <a:gd name="T12" fmla="*/ 2147483647 w 537"/>
              <a:gd name="T13" fmla="*/ 2147483647 h 883"/>
              <a:gd name="T14" fmla="*/ 2147483647 w 537"/>
              <a:gd name="T15" fmla="*/ 2147483647 h 883"/>
              <a:gd name="T16" fmla="*/ 2147483647 w 537"/>
              <a:gd name="T17" fmla="*/ 2147483647 h 883"/>
              <a:gd name="T18" fmla="*/ 2147483647 w 537"/>
              <a:gd name="T19" fmla="*/ 2147483647 h 883"/>
              <a:gd name="T20" fmla="*/ 2147483647 w 537"/>
              <a:gd name="T21" fmla="*/ 2147483647 h 883"/>
              <a:gd name="T22" fmla="*/ 2147483647 w 537"/>
              <a:gd name="T23" fmla="*/ 2147483647 h 883"/>
              <a:gd name="T24" fmla="*/ 2147483647 w 537"/>
              <a:gd name="T25" fmla="*/ 2147483647 h 883"/>
              <a:gd name="T26" fmla="*/ 2147483647 w 537"/>
              <a:gd name="T27" fmla="*/ 2147483647 h 883"/>
              <a:gd name="T28" fmla="*/ 2147483647 w 537"/>
              <a:gd name="T29" fmla="*/ 2147483647 h 883"/>
              <a:gd name="T30" fmla="*/ 2147483647 w 537"/>
              <a:gd name="T31" fmla="*/ 2147483647 h 883"/>
              <a:gd name="T32" fmla="*/ 2147483647 w 537"/>
              <a:gd name="T33" fmla="*/ 2147483647 h 883"/>
              <a:gd name="T34" fmla="*/ 2147483647 w 537"/>
              <a:gd name="T35" fmla="*/ 2147483647 h 883"/>
              <a:gd name="T36" fmla="*/ 2147483647 w 537"/>
              <a:gd name="T37" fmla="*/ 2147483647 h 883"/>
              <a:gd name="T38" fmla="*/ 2147483647 w 537"/>
              <a:gd name="T39" fmla="*/ 2147483647 h 883"/>
              <a:gd name="T40" fmla="*/ 2147483647 w 537"/>
              <a:gd name="T41" fmla="*/ 2147483647 h 883"/>
              <a:gd name="T42" fmla="*/ 2147483647 w 537"/>
              <a:gd name="T43" fmla="*/ 2147483647 h 883"/>
              <a:gd name="T44" fmla="*/ 0 w 537"/>
              <a:gd name="T45" fmla="*/ 2147483647 h 883"/>
              <a:gd name="T46" fmla="*/ 2147483647 w 537"/>
              <a:gd name="T47" fmla="*/ 2147483647 h 883"/>
              <a:gd name="T48" fmla="*/ 2147483647 w 537"/>
              <a:gd name="T49" fmla="*/ 2147483647 h 883"/>
              <a:gd name="T50" fmla="*/ 2147483647 w 537"/>
              <a:gd name="T51" fmla="*/ 2147483647 h 883"/>
              <a:gd name="T52" fmla="*/ 2147483647 w 537"/>
              <a:gd name="T53" fmla="*/ 2147483647 h 883"/>
              <a:gd name="T54" fmla="*/ 2147483647 w 537"/>
              <a:gd name="T55" fmla="*/ 2147483647 h 883"/>
              <a:gd name="T56" fmla="*/ 2147483647 w 537"/>
              <a:gd name="T57" fmla="*/ 2147483647 h 883"/>
              <a:gd name="T58" fmla="*/ 2147483647 w 537"/>
              <a:gd name="T59" fmla="*/ 2147483647 h 883"/>
              <a:gd name="T60" fmla="*/ 2147483647 w 537"/>
              <a:gd name="T61" fmla="*/ 2147483647 h 883"/>
              <a:gd name="T62" fmla="*/ 2147483647 w 537"/>
              <a:gd name="T63" fmla="*/ 2147483647 h 883"/>
              <a:gd name="T64" fmla="*/ 2147483647 w 537"/>
              <a:gd name="T65" fmla="*/ 2147483647 h 883"/>
              <a:gd name="T66" fmla="*/ 2147483647 w 537"/>
              <a:gd name="T67" fmla="*/ 2147483647 h 883"/>
              <a:gd name="T68" fmla="*/ 2147483647 w 537"/>
              <a:gd name="T69" fmla="*/ 2147483647 h 883"/>
              <a:gd name="T70" fmla="*/ 2147483647 w 537"/>
              <a:gd name="T71" fmla="*/ 2147483647 h 883"/>
              <a:gd name="T72" fmla="*/ 2147483647 w 537"/>
              <a:gd name="T73" fmla="*/ 2147483647 h 883"/>
              <a:gd name="T74" fmla="*/ 2147483647 w 537"/>
              <a:gd name="T75" fmla="*/ 2147483647 h 883"/>
              <a:gd name="T76" fmla="*/ 2147483647 w 537"/>
              <a:gd name="T77" fmla="*/ 2147483647 h 883"/>
              <a:gd name="T78" fmla="*/ 2147483647 w 537"/>
              <a:gd name="T79" fmla="*/ 2147483647 h 883"/>
              <a:gd name="T80" fmla="*/ 2147483647 w 537"/>
              <a:gd name="T81" fmla="*/ 2147483647 h 883"/>
              <a:gd name="T82" fmla="*/ 2147483647 w 537"/>
              <a:gd name="T83" fmla="*/ 2147483647 h 883"/>
              <a:gd name="T84" fmla="*/ 2147483647 w 537"/>
              <a:gd name="T85" fmla="*/ 2147483647 h 88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37" h="883">
                <a:moveTo>
                  <a:pt x="520" y="0"/>
                </a:moveTo>
                <a:lnTo>
                  <a:pt x="520" y="24"/>
                </a:lnTo>
                <a:lnTo>
                  <a:pt x="479" y="29"/>
                </a:lnTo>
                <a:lnTo>
                  <a:pt x="445" y="36"/>
                </a:lnTo>
                <a:lnTo>
                  <a:pt x="413" y="46"/>
                </a:lnTo>
                <a:lnTo>
                  <a:pt x="385" y="57"/>
                </a:lnTo>
                <a:lnTo>
                  <a:pt x="358" y="71"/>
                </a:lnTo>
                <a:lnTo>
                  <a:pt x="333" y="88"/>
                </a:lnTo>
                <a:lnTo>
                  <a:pt x="307" y="109"/>
                </a:lnTo>
                <a:lnTo>
                  <a:pt x="282" y="133"/>
                </a:lnTo>
                <a:lnTo>
                  <a:pt x="258" y="159"/>
                </a:lnTo>
                <a:lnTo>
                  <a:pt x="236" y="186"/>
                </a:lnTo>
                <a:lnTo>
                  <a:pt x="215" y="215"/>
                </a:lnTo>
                <a:lnTo>
                  <a:pt x="198" y="246"/>
                </a:lnTo>
                <a:lnTo>
                  <a:pt x="181" y="278"/>
                </a:lnTo>
                <a:lnTo>
                  <a:pt x="166" y="313"/>
                </a:lnTo>
                <a:lnTo>
                  <a:pt x="153" y="352"/>
                </a:lnTo>
                <a:lnTo>
                  <a:pt x="141" y="393"/>
                </a:lnTo>
                <a:lnTo>
                  <a:pt x="185" y="366"/>
                </a:lnTo>
                <a:lnTo>
                  <a:pt x="231" y="346"/>
                </a:lnTo>
                <a:lnTo>
                  <a:pt x="277" y="335"/>
                </a:lnTo>
                <a:lnTo>
                  <a:pt x="322" y="331"/>
                </a:lnTo>
                <a:lnTo>
                  <a:pt x="343" y="332"/>
                </a:lnTo>
                <a:lnTo>
                  <a:pt x="364" y="335"/>
                </a:lnTo>
                <a:lnTo>
                  <a:pt x="383" y="340"/>
                </a:lnTo>
                <a:lnTo>
                  <a:pt x="403" y="349"/>
                </a:lnTo>
                <a:lnTo>
                  <a:pt x="421" y="359"/>
                </a:lnTo>
                <a:lnTo>
                  <a:pt x="439" y="371"/>
                </a:lnTo>
                <a:lnTo>
                  <a:pt x="456" y="385"/>
                </a:lnTo>
                <a:lnTo>
                  <a:pt x="472" y="402"/>
                </a:lnTo>
                <a:lnTo>
                  <a:pt x="488" y="420"/>
                </a:lnTo>
                <a:lnTo>
                  <a:pt x="500" y="440"/>
                </a:lnTo>
                <a:lnTo>
                  <a:pt x="512" y="459"/>
                </a:lnTo>
                <a:lnTo>
                  <a:pt x="520" y="481"/>
                </a:lnTo>
                <a:lnTo>
                  <a:pt x="527" y="505"/>
                </a:lnTo>
                <a:lnTo>
                  <a:pt x="532" y="529"/>
                </a:lnTo>
                <a:lnTo>
                  <a:pt x="535" y="555"/>
                </a:lnTo>
                <a:lnTo>
                  <a:pt x="537" y="582"/>
                </a:lnTo>
                <a:lnTo>
                  <a:pt x="535" y="608"/>
                </a:lnTo>
                <a:lnTo>
                  <a:pt x="532" y="633"/>
                </a:lnTo>
                <a:lnTo>
                  <a:pt x="527" y="659"/>
                </a:lnTo>
                <a:lnTo>
                  <a:pt x="520" y="684"/>
                </a:lnTo>
                <a:lnTo>
                  <a:pt x="512" y="707"/>
                </a:lnTo>
                <a:lnTo>
                  <a:pt x="500" y="731"/>
                </a:lnTo>
                <a:lnTo>
                  <a:pt x="488" y="753"/>
                </a:lnTo>
                <a:lnTo>
                  <a:pt x="472" y="776"/>
                </a:lnTo>
                <a:lnTo>
                  <a:pt x="452" y="801"/>
                </a:lnTo>
                <a:lnTo>
                  <a:pt x="429" y="822"/>
                </a:lnTo>
                <a:lnTo>
                  <a:pt x="407" y="840"/>
                </a:lnTo>
                <a:lnTo>
                  <a:pt x="382" y="855"/>
                </a:lnTo>
                <a:lnTo>
                  <a:pt x="355" y="868"/>
                </a:lnTo>
                <a:lnTo>
                  <a:pt x="328" y="876"/>
                </a:lnTo>
                <a:lnTo>
                  <a:pt x="297" y="882"/>
                </a:lnTo>
                <a:lnTo>
                  <a:pt x="266" y="883"/>
                </a:lnTo>
                <a:lnTo>
                  <a:pt x="245" y="882"/>
                </a:lnTo>
                <a:lnTo>
                  <a:pt x="224" y="879"/>
                </a:lnTo>
                <a:lnTo>
                  <a:pt x="205" y="875"/>
                </a:lnTo>
                <a:lnTo>
                  <a:pt x="187" y="868"/>
                </a:lnTo>
                <a:lnTo>
                  <a:pt x="169" y="859"/>
                </a:lnTo>
                <a:lnTo>
                  <a:pt x="151" y="850"/>
                </a:lnTo>
                <a:lnTo>
                  <a:pt x="120" y="825"/>
                </a:lnTo>
                <a:lnTo>
                  <a:pt x="92" y="795"/>
                </a:lnTo>
                <a:lnTo>
                  <a:pt x="68" y="765"/>
                </a:lnTo>
                <a:lnTo>
                  <a:pt x="47" y="731"/>
                </a:lnTo>
                <a:lnTo>
                  <a:pt x="31" y="695"/>
                </a:lnTo>
                <a:lnTo>
                  <a:pt x="17" y="657"/>
                </a:lnTo>
                <a:lnTo>
                  <a:pt x="7" y="618"/>
                </a:lnTo>
                <a:lnTo>
                  <a:pt x="1" y="578"/>
                </a:lnTo>
                <a:lnTo>
                  <a:pt x="0" y="534"/>
                </a:lnTo>
                <a:lnTo>
                  <a:pt x="3" y="479"/>
                </a:lnTo>
                <a:lnTo>
                  <a:pt x="11" y="423"/>
                </a:lnTo>
                <a:lnTo>
                  <a:pt x="26" y="368"/>
                </a:lnTo>
                <a:lnTo>
                  <a:pt x="46" y="317"/>
                </a:lnTo>
                <a:lnTo>
                  <a:pt x="71" y="266"/>
                </a:lnTo>
                <a:lnTo>
                  <a:pt x="100" y="219"/>
                </a:lnTo>
                <a:lnTo>
                  <a:pt x="137" y="176"/>
                </a:lnTo>
                <a:lnTo>
                  <a:pt x="176" y="134"/>
                </a:lnTo>
                <a:lnTo>
                  <a:pt x="217" y="98"/>
                </a:lnTo>
                <a:lnTo>
                  <a:pt x="259" y="68"/>
                </a:lnTo>
                <a:lnTo>
                  <a:pt x="300" y="45"/>
                </a:lnTo>
                <a:lnTo>
                  <a:pt x="339" y="27"/>
                </a:lnTo>
                <a:lnTo>
                  <a:pt x="376" y="15"/>
                </a:lnTo>
                <a:lnTo>
                  <a:pt x="414" y="7"/>
                </a:lnTo>
                <a:lnTo>
                  <a:pt x="449" y="1"/>
                </a:lnTo>
                <a:lnTo>
                  <a:pt x="484" y="0"/>
                </a:lnTo>
                <a:lnTo>
                  <a:pt x="520" y="0"/>
                </a:lnTo>
                <a:close/>
                <a:moveTo>
                  <a:pt x="131" y="440"/>
                </a:moveTo>
                <a:lnTo>
                  <a:pt x="125" y="479"/>
                </a:lnTo>
                <a:lnTo>
                  <a:pt x="123" y="515"/>
                </a:lnTo>
                <a:lnTo>
                  <a:pt x="120" y="547"/>
                </a:lnTo>
                <a:lnTo>
                  <a:pt x="120" y="575"/>
                </a:lnTo>
                <a:lnTo>
                  <a:pt x="121" y="606"/>
                </a:lnTo>
                <a:lnTo>
                  <a:pt x="125" y="638"/>
                </a:lnTo>
                <a:lnTo>
                  <a:pt x="131" y="671"/>
                </a:lnTo>
                <a:lnTo>
                  <a:pt x="141" y="706"/>
                </a:lnTo>
                <a:lnTo>
                  <a:pt x="153" y="739"/>
                </a:lnTo>
                <a:lnTo>
                  <a:pt x="169" y="769"/>
                </a:lnTo>
                <a:lnTo>
                  <a:pt x="187" y="795"/>
                </a:lnTo>
                <a:lnTo>
                  <a:pt x="208" y="818"/>
                </a:lnTo>
                <a:lnTo>
                  <a:pt x="224" y="830"/>
                </a:lnTo>
                <a:lnTo>
                  <a:pt x="243" y="840"/>
                </a:lnTo>
                <a:lnTo>
                  <a:pt x="262" y="846"/>
                </a:lnTo>
                <a:lnTo>
                  <a:pt x="284" y="847"/>
                </a:lnTo>
                <a:lnTo>
                  <a:pt x="311" y="844"/>
                </a:lnTo>
                <a:lnTo>
                  <a:pt x="336" y="834"/>
                </a:lnTo>
                <a:lnTo>
                  <a:pt x="360" y="818"/>
                </a:lnTo>
                <a:lnTo>
                  <a:pt x="382" y="795"/>
                </a:lnTo>
                <a:lnTo>
                  <a:pt x="400" y="766"/>
                </a:lnTo>
                <a:lnTo>
                  <a:pt x="414" y="733"/>
                </a:lnTo>
                <a:lnTo>
                  <a:pt x="422" y="693"/>
                </a:lnTo>
                <a:lnTo>
                  <a:pt x="425" y="649"/>
                </a:lnTo>
                <a:lnTo>
                  <a:pt x="422" y="597"/>
                </a:lnTo>
                <a:lnTo>
                  <a:pt x="414" y="550"/>
                </a:lnTo>
                <a:lnTo>
                  <a:pt x="400" y="505"/>
                </a:lnTo>
                <a:lnTo>
                  <a:pt x="382" y="463"/>
                </a:lnTo>
                <a:lnTo>
                  <a:pt x="371" y="445"/>
                </a:lnTo>
                <a:lnTo>
                  <a:pt x="358" y="428"/>
                </a:lnTo>
                <a:lnTo>
                  <a:pt x="346" y="416"/>
                </a:lnTo>
                <a:lnTo>
                  <a:pt x="332" y="405"/>
                </a:lnTo>
                <a:lnTo>
                  <a:pt x="316" y="396"/>
                </a:lnTo>
                <a:lnTo>
                  <a:pt x="300" y="389"/>
                </a:lnTo>
                <a:lnTo>
                  <a:pt x="282" y="386"/>
                </a:lnTo>
                <a:lnTo>
                  <a:pt x="262" y="385"/>
                </a:lnTo>
                <a:lnTo>
                  <a:pt x="238" y="388"/>
                </a:lnTo>
                <a:lnTo>
                  <a:pt x="210" y="395"/>
                </a:lnTo>
                <a:lnTo>
                  <a:pt x="195" y="402"/>
                </a:lnTo>
                <a:lnTo>
                  <a:pt x="177" y="412"/>
                </a:lnTo>
                <a:lnTo>
                  <a:pt x="156" y="424"/>
                </a:lnTo>
                <a:lnTo>
                  <a:pt x="131" y="4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3" name="Group 2"/>
          <p:cNvGrpSpPr/>
          <p:nvPr/>
        </p:nvGrpSpPr>
        <p:grpSpPr>
          <a:xfrm>
            <a:off x="251520" y="2329934"/>
            <a:ext cx="4381500" cy="4343400"/>
            <a:chOff x="467544" y="1041400"/>
            <a:chExt cx="4381500" cy="4343400"/>
          </a:xfrm>
        </p:grpSpPr>
        <p:sp>
          <p:nvSpPr>
            <p:cNvPr id="11267" name="Rectangle 1029"/>
            <p:cNvSpPr>
              <a:spLocks noChangeArrowheads="1"/>
            </p:cNvSpPr>
            <p:nvPr/>
          </p:nvSpPr>
          <p:spPr bwMode="auto">
            <a:xfrm>
              <a:off x="467544" y="1041400"/>
              <a:ext cx="43815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865188" indent="-407988"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buClr>
                  <a:schemeClr val="tx2"/>
                </a:buClr>
                <a:buNone/>
              </a:pPr>
              <a:r>
                <a:rPr lang="en-US" altLang="zh-CN" sz="2800">
                  <a:solidFill>
                    <a:schemeClr val="tx2"/>
                  </a:solidFill>
                </a:rPr>
                <a:t>Mirror plane </a:t>
              </a:r>
              <a:r>
                <a:rPr lang="en-US" altLang="zh-CN" sz="2800" b="0"/>
                <a:t>(</a:t>
              </a:r>
              <a:r>
                <a:rPr lang="zh-CN" altLang="en-US" sz="2800" b="0">
                  <a:solidFill>
                    <a:srgbClr val="33CC33"/>
                  </a:solidFill>
                </a:rPr>
                <a:t>对称面</a:t>
              </a:r>
              <a:r>
                <a:rPr lang="en-US" altLang="zh-CN" sz="2800" b="0"/>
                <a:t>)</a:t>
              </a:r>
            </a:p>
            <a:p>
              <a:pPr eaLnBrk="1" hangingPunct="1">
                <a:buClr>
                  <a:schemeClr val="tx2"/>
                </a:buClr>
                <a:buFontTx/>
                <a:buNone/>
              </a:pPr>
              <a:endParaRPr lang="en-US" altLang="zh-CN" sz="2400" b="0">
                <a:solidFill>
                  <a:srgbClr val="33CC33"/>
                </a:solidFill>
              </a:endParaRPr>
            </a:p>
            <a:p>
              <a:pPr lvl="1" eaLnBrk="1" hangingPunct="1">
                <a:buClr>
                  <a:schemeClr val="tx2"/>
                </a:buClr>
              </a:pPr>
              <a:r>
                <a:rPr lang="en-US" altLang="zh-CN" b="0"/>
                <a:t> Reflection across a “mirror plane” reproduces a motif </a:t>
              </a:r>
            </a:p>
            <a:p>
              <a:pPr lvl="1" eaLnBrk="1" hangingPunct="1">
                <a:buClr>
                  <a:schemeClr val="tx2"/>
                </a:buClr>
                <a:buFontTx/>
                <a:buNone/>
              </a:pPr>
              <a:r>
                <a:rPr lang="en-US" altLang="zh-CN" b="0"/>
                <a:t>= symbol for a mirror</a:t>
              </a:r>
            </a:p>
          </p:txBody>
        </p:sp>
        <p:sp>
          <p:nvSpPr>
            <p:cNvPr id="11271" name="Line 1033"/>
            <p:cNvSpPr>
              <a:spLocks noChangeShapeType="1"/>
            </p:cNvSpPr>
            <p:nvPr/>
          </p:nvSpPr>
          <p:spPr bwMode="auto">
            <a:xfrm flipH="1">
              <a:off x="794657" y="3262313"/>
              <a:ext cx="0" cy="685800"/>
            </a:xfrm>
            <a:prstGeom prst="line">
              <a:avLst/>
            </a:prstGeom>
            <a:noFill/>
            <a:ln w="38100">
              <a:solidFill>
                <a:srgbClr val="33CC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272" name="Line 1034"/>
          <p:cNvSpPr>
            <a:spLocks noChangeShapeType="1"/>
          </p:cNvSpPr>
          <p:nvPr/>
        </p:nvSpPr>
        <p:spPr bwMode="auto">
          <a:xfrm>
            <a:off x="6553200" y="2742406"/>
            <a:ext cx="0" cy="2984500"/>
          </a:xfrm>
          <a:prstGeom prst="line">
            <a:avLst/>
          </a:prstGeom>
          <a:noFill/>
          <a:ln w="38100">
            <a:solidFill>
              <a:srgbClr val="33CC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3" name="Rectangle 1035"/>
          <p:cNvSpPr>
            <a:spLocks noChangeArrowheads="1"/>
          </p:cNvSpPr>
          <p:nvPr/>
        </p:nvSpPr>
        <p:spPr bwMode="auto">
          <a:xfrm>
            <a:off x="6324600" y="2272506"/>
            <a:ext cx="46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lang="en-US" altLang="zh-CN" sz="2800" b="0">
                <a:solidFill>
                  <a:srgbClr val="33CC33"/>
                </a:solidFill>
              </a:rPr>
              <a:t>m</a:t>
            </a:r>
          </a:p>
        </p:txBody>
      </p:sp>
      <p:sp>
        <p:nvSpPr>
          <p:cNvPr id="11274" name="Line 1036"/>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5" name="Text Box 1037"/>
          <p:cNvSpPr txBox="1">
            <a:spLocks noChangeArrowheads="1"/>
          </p:cNvSpPr>
          <p:nvPr/>
        </p:nvSpPr>
        <p:spPr bwMode="auto">
          <a:xfrm>
            <a:off x="971550" y="223838"/>
            <a:ext cx="2592388"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a:p>
            <a:pPr eaLnBrk="1" hangingPunct="1">
              <a:spcBef>
                <a:spcPct val="50000"/>
              </a:spcBef>
              <a:buFontTx/>
              <a:buNone/>
            </a:pPr>
            <a:endParaRPr lang="zh-CN" altLang="en-US" sz="2000" b="0">
              <a:solidFill>
                <a:srgbClr val="9900FF"/>
              </a:solidFill>
            </a:endParaRPr>
          </a:p>
        </p:txBody>
      </p:sp>
      <p:sp>
        <p:nvSpPr>
          <p:cNvPr id="2" name="Rectangle 1"/>
          <p:cNvSpPr/>
          <p:nvPr/>
        </p:nvSpPr>
        <p:spPr>
          <a:xfrm>
            <a:off x="994266" y="658170"/>
            <a:ext cx="6925327" cy="1077218"/>
          </a:xfrm>
          <a:prstGeom prst="rect">
            <a:avLst/>
          </a:prstGeom>
        </p:spPr>
        <p:txBody>
          <a:bodyPr wrap="square">
            <a:spAutoFit/>
          </a:bodyPr>
          <a:lstStyle/>
          <a:p>
            <a:pPr algn="ctr"/>
            <a:r>
              <a:rPr lang="en-US" sz="3200">
                <a:latin typeface="+mn-lt"/>
              </a:rPr>
              <a:t>Planar graphic presentation of</a:t>
            </a:r>
          </a:p>
          <a:p>
            <a:pPr algn="ctr"/>
            <a:r>
              <a:rPr lang="en-US" altLang="zh-CN" sz="3200">
                <a:latin typeface="+mn-lt"/>
              </a:rPr>
              <a:t>Symmetry operation for mirror plane</a:t>
            </a:r>
          </a:p>
        </p:txBody>
      </p:sp>
    </p:spTree>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Line 3"/>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1" name="Rectangle 4"/>
          <p:cNvSpPr>
            <a:spLocks noChangeArrowheads="1"/>
          </p:cNvSpPr>
          <p:nvPr/>
        </p:nvSpPr>
        <p:spPr bwMode="auto">
          <a:xfrm>
            <a:off x="381000" y="762000"/>
            <a:ext cx="8295456" cy="102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3600">
                <a:solidFill>
                  <a:schemeClr val="tx2"/>
                </a:solidFill>
              </a:rPr>
              <a:t>Symmetry operation of mirror planes</a:t>
            </a:r>
            <a:r>
              <a:rPr lang="zh-CN" altLang="en-US" sz="3600">
                <a:solidFill>
                  <a:schemeClr val="tx2"/>
                </a:solidFill>
              </a:rPr>
              <a:t> </a:t>
            </a:r>
            <a:r>
              <a:rPr lang="en-US" altLang="zh-CN" sz="3600">
                <a:solidFill>
                  <a:schemeClr val="tx2"/>
                </a:solidFill>
              </a:rPr>
              <a:t>(m)</a:t>
            </a:r>
            <a:endParaRPr lang="zh-CN" altLang="en-US" sz="3600">
              <a:solidFill>
                <a:schemeClr val="tx2"/>
              </a:solidFill>
            </a:endParaRPr>
          </a:p>
        </p:txBody>
      </p:sp>
      <p:sp>
        <p:nvSpPr>
          <p:cNvPr id="134149" name="Rectangle 5"/>
          <p:cNvSpPr>
            <a:spLocks noChangeArrowheads="1"/>
          </p:cNvSpPr>
          <p:nvPr/>
        </p:nvSpPr>
        <p:spPr bwMode="auto">
          <a:xfrm>
            <a:off x="381000" y="1828800"/>
            <a:ext cx="7791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itchFamily="18" charset="0"/>
                <a:ea typeface="宋体" pitchFamily="2" charset="-122"/>
              </a:defRPr>
            </a:lvl1pPr>
            <a:lvl2pPr marL="865188" indent="-407988">
              <a:defRPr kumimoji="1" sz="2400">
                <a:solidFill>
                  <a:schemeClr val="tx1"/>
                </a:solidFill>
                <a:latin typeface="Times New Roman" pitchFamily="18" charset="0"/>
                <a:ea typeface="宋体" pitchFamily="2" charset="-122"/>
              </a:defRPr>
            </a:lvl2pPr>
            <a:lvl3pPr marL="1246188">
              <a:defRPr kumimoji="1" sz="2400">
                <a:solidFill>
                  <a:schemeClr val="tx1"/>
                </a:solidFill>
                <a:latin typeface="Times New Roman" pitchFamily="18" charset="0"/>
                <a:ea typeface="宋体" pitchFamily="2" charset="-122"/>
              </a:defRPr>
            </a:lvl3pPr>
            <a:lvl4pPr marL="1436688">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buClr>
                <a:schemeClr val="tx2"/>
              </a:buClr>
              <a:buFontTx/>
              <a:buChar char="•"/>
              <a:defRPr/>
            </a:pPr>
            <a:r>
              <a:rPr lang="en-US" altLang="zh-CN" sz="2800" b="0"/>
              <a:t> </a:t>
            </a:r>
            <a:r>
              <a:rPr lang="en-US" altLang="zh-CN" sz="2800">
                <a:solidFill>
                  <a:schemeClr val="tx2"/>
                </a:solidFill>
              </a:rPr>
              <a:t>Mirror plane </a:t>
            </a:r>
            <a:r>
              <a:rPr lang="en-US" altLang="zh-CN" sz="2800" b="0"/>
              <a:t>(</a:t>
            </a:r>
            <a:r>
              <a:rPr lang="en-US" altLang="zh-CN" sz="2800" b="0">
                <a:solidFill>
                  <a:srgbClr val="33CC33"/>
                </a:solidFill>
              </a:rPr>
              <a:t>m</a:t>
            </a:r>
            <a:r>
              <a:rPr lang="en-US" altLang="zh-CN" sz="2800" b="0"/>
              <a:t>)</a:t>
            </a:r>
          </a:p>
          <a:p>
            <a:pPr>
              <a:spcBef>
                <a:spcPct val="20000"/>
              </a:spcBef>
              <a:buClr>
                <a:schemeClr val="tx2"/>
              </a:buClr>
              <a:defRPr/>
            </a:pPr>
            <a:r>
              <a:rPr kumimoji="0" lang="en-US" altLang="zh-CN" b="0">
                <a:solidFill>
                  <a:srgbClr val="33CC33"/>
                </a:solidFill>
                <a:effectLst>
                  <a:outerShdw blurRad="38100" dist="38100" dir="2700000" algn="tl">
                    <a:srgbClr val="000000"/>
                  </a:outerShdw>
                </a:effectLst>
              </a:rPr>
              <a:t>    </a:t>
            </a:r>
            <a:r>
              <a:rPr kumimoji="0" lang="en-US" altLang="zh-CN" sz="2800" b="0"/>
              <a:t>Transformation matrix for m including x, y axises</a:t>
            </a:r>
            <a:endParaRPr lang="zh-CN" altLang="en-US" sz="2800" b="0"/>
          </a:p>
        </p:txBody>
      </p:sp>
      <p:graphicFrame>
        <p:nvGraphicFramePr>
          <p:cNvPr id="134155" name="Object 11"/>
          <p:cNvGraphicFramePr>
            <a:graphicFrameLocks noChangeAspect="1"/>
          </p:cNvGraphicFramePr>
          <p:nvPr>
            <p:extLst>
              <p:ext uri="{D42A27DB-BD31-4B8C-83A1-F6EECF244321}">
                <p14:modId xmlns:p14="http://schemas.microsoft.com/office/powerpoint/2010/main" val="3464324898"/>
              </p:ext>
            </p:extLst>
          </p:nvPr>
        </p:nvGraphicFramePr>
        <p:xfrm>
          <a:off x="1249274" y="2950593"/>
          <a:ext cx="2409056" cy="1985590"/>
        </p:xfrm>
        <a:graphic>
          <a:graphicData uri="http://schemas.openxmlformats.org/presentationml/2006/ole">
            <mc:AlternateContent xmlns:mc="http://schemas.openxmlformats.org/markup-compatibility/2006">
              <mc:Choice xmlns:v="urn:schemas-microsoft-com:vml" Requires="v">
                <p:oleObj spid="_x0000_s3073" name="Microsoft 公式 3.0" r:id="rId3" imgW="863225" imgH="710891" progId="Equation.3">
                  <p:embed/>
                </p:oleObj>
              </mc:Choice>
              <mc:Fallback>
                <p:oleObj name="Microsoft 公式 3.0" r:id="rId3" imgW="863225" imgH="710891" progId="Equation.3">
                  <p:embed/>
                  <p:pic>
                    <p:nvPicPr>
                      <p:cNvPr id="134155"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9274" y="2950593"/>
                        <a:ext cx="2409056" cy="1985590"/>
                      </a:xfrm>
                      <a:prstGeom prst="rect">
                        <a:avLst/>
                      </a:prstGeom>
                      <a:noFill/>
                      <a:ln>
                        <a:noFill/>
                      </a:ln>
                    </p:spPr>
                  </p:pic>
                </p:oleObj>
              </mc:Fallback>
            </mc:AlternateContent>
          </a:graphicData>
        </a:graphic>
      </p:graphicFrame>
      <p:graphicFrame>
        <p:nvGraphicFramePr>
          <p:cNvPr id="134156" name="Object 12"/>
          <p:cNvGraphicFramePr>
            <a:graphicFrameLocks noChangeAspect="1"/>
          </p:cNvGraphicFramePr>
          <p:nvPr>
            <p:extLst>
              <p:ext uri="{D42A27DB-BD31-4B8C-83A1-F6EECF244321}">
                <p14:modId xmlns:p14="http://schemas.microsoft.com/office/powerpoint/2010/main" val="3138921967"/>
              </p:ext>
            </p:extLst>
          </p:nvPr>
        </p:nvGraphicFramePr>
        <p:xfrm>
          <a:off x="4528728" y="2996952"/>
          <a:ext cx="2815194" cy="1937541"/>
        </p:xfrm>
        <a:graphic>
          <a:graphicData uri="http://schemas.openxmlformats.org/presentationml/2006/ole">
            <mc:AlternateContent xmlns:mc="http://schemas.openxmlformats.org/markup-compatibility/2006">
              <mc:Choice xmlns:v="urn:schemas-microsoft-com:vml" Requires="v">
                <p:oleObj spid="_x0000_s3074" name="Microsoft 公式 3.0" r:id="rId5" imgW="1040948" imgH="710891" progId="Equation.3">
                  <p:embed/>
                </p:oleObj>
              </mc:Choice>
              <mc:Fallback>
                <p:oleObj name="Microsoft 公式 3.0" r:id="rId5" imgW="1040948" imgH="710891" progId="Equation.3">
                  <p:embed/>
                  <p:pic>
                    <p:nvPicPr>
                      <p:cNvPr id="134156"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8728" y="2996952"/>
                        <a:ext cx="2815194" cy="1937541"/>
                      </a:xfrm>
                      <a:prstGeom prst="rect">
                        <a:avLst/>
                      </a:prstGeom>
                      <a:noFill/>
                      <a:ln>
                        <a:noFill/>
                      </a:ln>
                    </p:spPr>
                  </p:pic>
                </p:oleObj>
              </mc:Fallback>
            </mc:AlternateContent>
          </a:graphicData>
        </a:graphic>
      </p:graphicFrame>
      <p:sp>
        <p:nvSpPr>
          <p:cNvPr id="134158" name="Rectangle 14"/>
          <p:cNvSpPr>
            <a:spLocks noChangeArrowheads="1"/>
          </p:cNvSpPr>
          <p:nvPr/>
        </p:nvSpPr>
        <p:spPr bwMode="auto">
          <a:xfrm>
            <a:off x="467544" y="5085184"/>
            <a:ext cx="842493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i="1"/>
              <a:t>Exercise I:</a:t>
            </a:r>
          </a:p>
          <a:p>
            <a:pPr>
              <a:spcBef>
                <a:spcPct val="0"/>
              </a:spcBef>
              <a:buFontTx/>
              <a:buNone/>
            </a:pPr>
            <a:r>
              <a:rPr kumimoji="0" lang="en-US" altLang="zh-CN" sz="2400" b="0" i="1"/>
              <a:t>Please give the transformation matrix when m</a:t>
            </a:r>
            <a:r>
              <a:rPr kumimoji="0" lang="en-US" altLang="zh-CN" sz="2400" b="0"/>
              <a:t> include </a:t>
            </a:r>
            <a:r>
              <a:rPr kumimoji="0" lang="en-US" altLang="zh-CN" sz="2400" b="0" i="1"/>
              <a:t>x</a:t>
            </a:r>
            <a:r>
              <a:rPr kumimoji="0" lang="zh-CN" altLang="en-US" sz="2400" b="0" i="1"/>
              <a:t>、</a:t>
            </a:r>
            <a:r>
              <a:rPr kumimoji="0" lang="en-US" altLang="zh-CN" sz="2400" b="0" i="1"/>
              <a:t>z</a:t>
            </a:r>
            <a:r>
              <a:rPr kumimoji="0" lang="en-US" altLang="zh-CN" sz="2400" b="0"/>
              <a:t> axis</a:t>
            </a:r>
            <a:r>
              <a:rPr kumimoji="0" lang="zh-CN" altLang="en-US" sz="2400" b="0"/>
              <a:t> </a:t>
            </a:r>
            <a:r>
              <a:rPr kumimoji="0" lang="en-US" altLang="zh-CN" sz="2400" b="0"/>
              <a:t>? When </a:t>
            </a:r>
            <a:r>
              <a:rPr kumimoji="0" lang="en-US" altLang="zh-CN" sz="2400" b="0" i="1"/>
              <a:t>m</a:t>
            </a:r>
            <a:r>
              <a:rPr kumimoji="0" lang="en-US" altLang="zh-CN" sz="2400" b="0"/>
              <a:t> include </a:t>
            </a:r>
            <a:r>
              <a:rPr kumimoji="0" lang="en-US" altLang="zh-CN" sz="2400" b="0" i="1"/>
              <a:t>y</a:t>
            </a:r>
            <a:r>
              <a:rPr kumimoji="0" lang="zh-CN" altLang="en-US" sz="2400" b="0" i="1"/>
              <a:t>、</a:t>
            </a:r>
            <a:r>
              <a:rPr kumimoji="0" lang="en-US" altLang="zh-CN" sz="2400" b="0" i="1"/>
              <a:t>z</a:t>
            </a:r>
            <a:r>
              <a:rPr kumimoji="0" lang="en-US" altLang="zh-CN" sz="2400" b="0"/>
              <a:t> axis</a:t>
            </a:r>
            <a:r>
              <a:rPr kumimoji="0" lang="zh-CN" altLang="en-US" sz="2400" b="0"/>
              <a:t> </a:t>
            </a:r>
            <a:r>
              <a:rPr kumimoji="0" lang="en-US" altLang="zh-CN" sz="2400" b="0"/>
              <a:t>? </a:t>
            </a:r>
          </a:p>
          <a:p>
            <a:pPr>
              <a:spcBef>
                <a:spcPct val="0"/>
              </a:spcBef>
              <a:buFontTx/>
              <a:buNone/>
            </a:pPr>
            <a:endParaRPr kumimoji="0" lang="en-US" altLang="zh-CN" sz="1100" b="0" i="1">
              <a:solidFill>
                <a:srgbClr val="FF3300"/>
              </a:solidFill>
            </a:endParaRPr>
          </a:p>
          <a:p>
            <a:pPr>
              <a:spcBef>
                <a:spcPct val="0"/>
              </a:spcBef>
              <a:buFontTx/>
              <a:buNone/>
            </a:pPr>
            <a:r>
              <a:rPr kumimoji="0" lang="en-US" altLang="zh-CN" sz="2400" i="1">
                <a:solidFill>
                  <a:srgbClr val="FF0066"/>
                </a:solidFill>
              </a:rPr>
              <a:t>How about when m</a:t>
            </a:r>
            <a:r>
              <a:rPr kumimoji="0" lang="zh-CN" altLang="en-US" sz="2400">
                <a:solidFill>
                  <a:srgbClr val="FF0066"/>
                </a:solidFill>
              </a:rPr>
              <a:t> </a:t>
            </a:r>
            <a:r>
              <a:rPr kumimoji="0" lang="en-US" altLang="zh-CN" sz="2400">
                <a:solidFill>
                  <a:srgbClr val="FF0066"/>
                </a:solidFill>
              </a:rPr>
              <a:t>at other places? </a:t>
            </a:r>
          </a:p>
        </p:txBody>
      </p:sp>
      <p:sp>
        <p:nvSpPr>
          <p:cNvPr id="12302" name="Text Box 15"/>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4155"/>
                                        </p:tgtEl>
                                        <p:attrNameLst>
                                          <p:attrName>style.visibility</p:attrName>
                                        </p:attrNameLst>
                                      </p:cBhvr>
                                      <p:to>
                                        <p:strVal val="visible"/>
                                      </p:to>
                                    </p:set>
                                    <p:anim calcmode="lin" valueType="num">
                                      <p:cBhvr additive="base">
                                        <p:cTn id="7" dur="500" fill="hold"/>
                                        <p:tgtEl>
                                          <p:spTgt spid="134155"/>
                                        </p:tgtEl>
                                        <p:attrNameLst>
                                          <p:attrName>ppt_x</p:attrName>
                                        </p:attrNameLst>
                                      </p:cBhvr>
                                      <p:tavLst>
                                        <p:tav tm="0">
                                          <p:val>
                                            <p:strVal val="0-#ppt_w/2"/>
                                          </p:val>
                                        </p:tav>
                                        <p:tav tm="100000">
                                          <p:val>
                                            <p:strVal val="#ppt_x"/>
                                          </p:val>
                                        </p:tav>
                                      </p:tavLst>
                                    </p:anim>
                                    <p:anim calcmode="lin" valueType="num">
                                      <p:cBhvr additive="base">
                                        <p:cTn id="8" dur="500" fill="hold"/>
                                        <p:tgtEl>
                                          <p:spTgt spid="13415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4156"/>
                                        </p:tgtEl>
                                        <p:attrNameLst>
                                          <p:attrName>style.visibility</p:attrName>
                                        </p:attrNameLst>
                                      </p:cBhvr>
                                      <p:to>
                                        <p:strVal val="visible"/>
                                      </p:to>
                                    </p:set>
                                    <p:anim calcmode="lin" valueType="num">
                                      <p:cBhvr additive="base">
                                        <p:cTn id="13" dur="500" fill="hold"/>
                                        <p:tgtEl>
                                          <p:spTgt spid="134156"/>
                                        </p:tgtEl>
                                        <p:attrNameLst>
                                          <p:attrName>ppt_x</p:attrName>
                                        </p:attrNameLst>
                                      </p:cBhvr>
                                      <p:tavLst>
                                        <p:tav tm="0">
                                          <p:val>
                                            <p:strVal val="0-#ppt_w/2"/>
                                          </p:val>
                                        </p:tav>
                                        <p:tav tm="100000">
                                          <p:val>
                                            <p:strVal val="#ppt_x"/>
                                          </p:val>
                                        </p:tav>
                                      </p:tavLst>
                                    </p:anim>
                                    <p:anim calcmode="lin" valueType="num">
                                      <p:cBhvr additive="base">
                                        <p:cTn id="14" dur="500" fill="hold"/>
                                        <p:tgtEl>
                                          <p:spTgt spid="13415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4158"/>
                                        </p:tgtEl>
                                        <p:attrNameLst>
                                          <p:attrName>style.visibility</p:attrName>
                                        </p:attrNameLst>
                                      </p:cBhvr>
                                      <p:to>
                                        <p:strVal val="visible"/>
                                      </p:to>
                                    </p:set>
                                    <p:anim calcmode="lin" valueType="num">
                                      <p:cBhvr additive="base">
                                        <p:cTn id="19" dur="500" fill="hold"/>
                                        <p:tgtEl>
                                          <p:spTgt spid="134158"/>
                                        </p:tgtEl>
                                        <p:attrNameLst>
                                          <p:attrName>ppt_x</p:attrName>
                                        </p:attrNameLst>
                                      </p:cBhvr>
                                      <p:tavLst>
                                        <p:tav tm="0">
                                          <p:val>
                                            <p:strVal val="0-#ppt_w/2"/>
                                          </p:val>
                                        </p:tav>
                                        <p:tav tm="100000">
                                          <p:val>
                                            <p:strVal val="#ppt_x"/>
                                          </p:val>
                                        </p:tav>
                                      </p:tavLst>
                                    </p:anim>
                                    <p:anim calcmode="lin" valueType="num">
                                      <p:cBhvr additive="base">
                                        <p:cTn id="20" dur="500" fill="hold"/>
                                        <p:tgtEl>
                                          <p:spTgt spid="1341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1"/>
          </p:nvPr>
        </p:nvSpPr>
        <p:spPr>
          <a:xfrm>
            <a:off x="539552" y="1773238"/>
            <a:ext cx="7993261" cy="2519858"/>
          </a:xfrm>
        </p:spPr>
        <p:txBody>
          <a:bodyPr/>
          <a:lstStyle/>
          <a:p>
            <a:pPr eaLnBrk="1" hangingPunct="1">
              <a:lnSpc>
                <a:spcPct val="120000"/>
              </a:lnSpc>
              <a:buFontTx/>
              <a:buNone/>
            </a:pPr>
            <a:r>
              <a:rPr lang="en-US" altLang="zh-CN" sz="2400">
                <a:solidFill>
                  <a:srgbClr val="FF00FF"/>
                </a:solidFill>
              </a:rPr>
              <a:t>☆</a:t>
            </a:r>
            <a:r>
              <a:rPr lang="en-US" altLang="zh-CN" sz="2400" b="1"/>
              <a:t>Symmetry axis—</a:t>
            </a:r>
            <a:r>
              <a:rPr lang="en-US" altLang="zh-CN" sz="2400" b="1" i="1">
                <a:solidFill>
                  <a:srgbClr val="FF0066"/>
                </a:solidFill>
              </a:rPr>
              <a:t>L</a:t>
            </a:r>
            <a:r>
              <a:rPr lang="en-US" altLang="zh-CN" sz="2400" b="1" i="1" baseline="30000">
                <a:solidFill>
                  <a:srgbClr val="FF0066"/>
                </a:solidFill>
              </a:rPr>
              <a:t>n</a:t>
            </a:r>
            <a:r>
              <a:rPr lang="en-US" altLang="zh-CN" sz="2400" b="1" baseline="30000">
                <a:solidFill>
                  <a:srgbClr val="FF0066"/>
                </a:solidFill>
              </a:rPr>
              <a:t>  </a:t>
            </a:r>
            <a:r>
              <a:rPr lang="en-US" altLang="zh-CN" sz="2400" b="1" baseline="30000"/>
              <a:t>   </a:t>
            </a:r>
          </a:p>
          <a:p>
            <a:pPr eaLnBrk="1" hangingPunct="1">
              <a:lnSpc>
                <a:spcPct val="120000"/>
              </a:lnSpc>
              <a:buFontTx/>
              <a:buNone/>
            </a:pPr>
            <a:r>
              <a:rPr lang="en-US" altLang="zh-CN" sz="2400" b="1"/>
              <a:t>    </a:t>
            </a:r>
            <a:r>
              <a:rPr lang="en-US" altLang="zh-CN" sz="2400"/>
              <a:t>Operation is rotation.  </a:t>
            </a:r>
            <a:r>
              <a:rPr lang="en-US" altLang="zh-CN" sz="2400" i="1">
                <a:solidFill>
                  <a:srgbClr val="FF0066"/>
                </a:solidFill>
              </a:rPr>
              <a:t>n (</a:t>
            </a:r>
            <a:r>
              <a:rPr lang="zh-CN" altLang="en-US" sz="2400" i="1">
                <a:solidFill>
                  <a:srgbClr val="FF0066"/>
                </a:solidFill>
              </a:rPr>
              <a:t>轴次</a:t>
            </a:r>
            <a:r>
              <a:rPr lang="en-US" altLang="zh-CN" sz="2400" i="1">
                <a:solidFill>
                  <a:srgbClr val="FF0066"/>
                </a:solidFill>
              </a:rPr>
              <a:t>) </a:t>
            </a:r>
            <a:r>
              <a:rPr lang="en-US" altLang="zh-CN" sz="2400"/>
              <a:t>means the repeat times of the same part during 360°rotation. </a:t>
            </a:r>
            <a:r>
              <a:rPr lang="zh-CN" altLang="en-US" sz="2400" i="1">
                <a:solidFill>
                  <a:srgbClr val="FF0066"/>
                </a:solidFill>
                <a:sym typeface="Symbol" pitchFamily="18" charset="2"/>
              </a:rPr>
              <a:t> </a:t>
            </a:r>
            <a:r>
              <a:rPr lang="en-US" altLang="zh-CN" sz="2400"/>
              <a:t>is the minimum rotation angle that object overlaps with itself and is named as base rotation angle (</a:t>
            </a:r>
            <a:r>
              <a:rPr lang="zh-CN" altLang="en-US" sz="2400"/>
              <a:t>基转角</a:t>
            </a:r>
            <a:r>
              <a:rPr lang="en-US" altLang="zh-CN" sz="2400"/>
              <a:t>)</a:t>
            </a:r>
            <a:r>
              <a:rPr lang="zh-CN" altLang="en-US" sz="2400"/>
              <a:t>，</a:t>
            </a:r>
            <a:r>
              <a:rPr lang="en-US" altLang="zh-CN" sz="2400"/>
              <a:t>where</a:t>
            </a:r>
            <a:r>
              <a:rPr lang="zh-CN" altLang="en-US" sz="2400"/>
              <a:t>：</a:t>
            </a:r>
            <a:r>
              <a:rPr lang="en-US" altLang="zh-CN" sz="2400" i="1">
                <a:solidFill>
                  <a:srgbClr val="FF0066"/>
                </a:solidFill>
              </a:rPr>
              <a:t>n </a:t>
            </a:r>
            <a:r>
              <a:rPr lang="en-US" altLang="zh-CN" sz="2400">
                <a:solidFill>
                  <a:srgbClr val="FF0066"/>
                </a:solidFill>
              </a:rPr>
              <a:t>= 360/</a:t>
            </a:r>
            <a:r>
              <a:rPr lang="en-US" altLang="zh-CN" sz="2400" i="1">
                <a:solidFill>
                  <a:srgbClr val="FF0066"/>
                </a:solidFill>
                <a:sym typeface="Symbol" pitchFamily="18" charset="2"/>
              </a:rPr>
              <a:t></a:t>
            </a:r>
            <a:r>
              <a:rPr lang="en-US" altLang="zh-CN" sz="2400" i="1"/>
              <a:t> </a:t>
            </a:r>
            <a:r>
              <a:rPr lang="zh-CN" altLang="en-US" sz="2400"/>
              <a:t>。</a:t>
            </a:r>
          </a:p>
          <a:p>
            <a:pPr eaLnBrk="1" hangingPunct="1">
              <a:lnSpc>
                <a:spcPct val="120000"/>
              </a:lnSpc>
              <a:buFontTx/>
              <a:buNone/>
            </a:pPr>
            <a:endParaRPr lang="zh-CN" altLang="en-US" sz="2400" b="1"/>
          </a:p>
          <a:p>
            <a:pPr eaLnBrk="1" hangingPunct="1">
              <a:lnSpc>
                <a:spcPct val="120000"/>
              </a:lnSpc>
              <a:buFontTx/>
              <a:buNone/>
            </a:pPr>
            <a:endParaRPr lang="zh-CN" altLang="en-US" sz="2400" b="1"/>
          </a:p>
          <a:p>
            <a:pPr eaLnBrk="1" hangingPunct="1">
              <a:lnSpc>
                <a:spcPct val="120000"/>
              </a:lnSpc>
              <a:buFontTx/>
              <a:buNone/>
            </a:pPr>
            <a:endParaRPr lang="zh-CN" altLang="en-US" sz="2400" b="1"/>
          </a:p>
          <a:p>
            <a:pPr eaLnBrk="1" hangingPunct="1">
              <a:lnSpc>
                <a:spcPct val="120000"/>
              </a:lnSpc>
              <a:buFontTx/>
              <a:buNone/>
            </a:pPr>
            <a:endParaRPr lang="zh-CN" altLang="en-US" sz="2400" b="1"/>
          </a:p>
          <a:p>
            <a:pPr eaLnBrk="1" hangingPunct="1">
              <a:lnSpc>
                <a:spcPct val="120000"/>
              </a:lnSpc>
              <a:buFontTx/>
              <a:buNone/>
            </a:pPr>
            <a:endParaRPr lang="zh-CN" altLang="en-US" sz="2400" b="1"/>
          </a:p>
          <a:p>
            <a:pPr eaLnBrk="1" hangingPunct="1">
              <a:lnSpc>
                <a:spcPct val="120000"/>
              </a:lnSpc>
              <a:buFontTx/>
              <a:buNone/>
            </a:pPr>
            <a:r>
              <a:rPr lang="zh-CN" altLang="en-US" sz="2400" b="1"/>
              <a:t> </a:t>
            </a:r>
            <a:endParaRPr lang="en-US" altLang="zh-CN" sz="2400" b="1"/>
          </a:p>
        </p:txBody>
      </p:sp>
      <p:sp>
        <p:nvSpPr>
          <p:cNvPr id="13315" name="Rectangle 9"/>
          <p:cNvSpPr>
            <a:spLocks noChangeArrowheads="1"/>
          </p:cNvSpPr>
          <p:nvPr/>
        </p:nvSpPr>
        <p:spPr bwMode="auto">
          <a:xfrm>
            <a:off x="1219200" y="692150"/>
            <a:ext cx="62484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4000">
                <a:solidFill>
                  <a:schemeClr val="tx2"/>
                </a:solidFill>
              </a:rPr>
              <a:t>Symmetry axis</a:t>
            </a:r>
            <a:endParaRPr lang="zh-CN" altLang="zh-CN" sz="4000">
              <a:solidFill>
                <a:schemeClr val="tx2"/>
              </a:solidFill>
            </a:endParaRPr>
          </a:p>
        </p:txBody>
      </p:sp>
      <p:sp>
        <p:nvSpPr>
          <p:cNvPr id="13316" name="Line 10"/>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7" name="Text Box 11"/>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pic>
        <p:nvPicPr>
          <p:cNvPr id="2867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42690"/>
          <a:stretch/>
        </p:blipFill>
        <p:spPr bwMode="auto">
          <a:xfrm>
            <a:off x="2267744" y="4329300"/>
            <a:ext cx="3744416" cy="169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879311" y="6135687"/>
            <a:ext cx="7398179" cy="461665"/>
          </a:xfrm>
          <a:prstGeom prst="rect">
            <a:avLst/>
          </a:prstGeom>
          <a:noFill/>
        </p:spPr>
        <p:txBody>
          <a:bodyPr wrap="none" rtlCol="0">
            <a:spAutoFit/>
          </a:bodyPr>
          <a:lstStyle/>
          <a:p>
            <a:r>
              <a:rPr lang="en-US" altLang="zh-CN" sz="2400"/>
              <a:t>A</a:t>
            </a:r>
            <a:r>
              <a:rPr lang="en-US" altLang="zh-CN" sz="2400" b="0"/>
              <a:t>. a rotation symmetrical shape </a:t>
            </a:r>
            <a:r>
              <a:rPr lang="en-US" altLang="zh-CN" sz="2400"/>
              <a:t>B</a:t>
            </a:r>
            <a:r>
              <a:rPr lang="en-US" altLang="zh-CN" sz="2400" b="0"/>
              <a:t>. non-symmetrical shape</a:t>
            </a:r>
          </a:p>
        </p:txBody>
      </p:sp>
    </p:spTree>
    <p:extLst>
      <p:ext uri="{BB962C8B-B14F-4D97-AF65-F5344CB8AC3E}">
        <p14:creationId xmlns:p14="http://schemas.microsoft.com/office/powerpoint/2010/main" val="2820385062"/>
      </p:ext>
    </p:extLst>
  </p:cSld>
  <p:clrMapOvr>
    <a:masterClrMapping/>
  </p:clrMapOvr>
  <p:transition spd="med">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1"/>
          </p:nvPr>
        </p:nvSpPr>
        <p:spPr>
          <a:xfrm>
            <a:off x="615950" y="1773238"/>
            <a:ext cx="7916863" cy="4608512"/>
          </a:xfrm>
        </p:spPr>
        <p:txBody>
          <a:bodyPr/>
          <a:lstStyle/>
          <a:p>
            <a:pPr eaLnBrk="1" hangingPunct="1">
              <a:lnSpc>
                <a:spcPct val="120000"/>
              </a:lnSpc>
              <a:buFontTx/>
              <a:buNone/>
            </a:pPr>
            <a:r>
              <a:rPr lang="en-US" altLang="zh-CN" sz="2400">
                <a:solidFill>
                  <a:srgbClr val="FF00FF"/>
                </a:solidFill>
              </a:rPr>
              <a:t>☆</a:t>
            </a:r>
            <a:r>
              <a:rPr lang="en-US" altLang="zh-CN" sz="2400" b="1"/>
              <a:t>Symmetry axis—</a:t>
            </a:r>
            <a:r>
              <a:rPr lang="en-US" altLang="zh-CN" sz="2400" b="1" i="1">
                <a:solidFill>
                  <a:srgbClr val="FF0066"/>
                </a:solidFill>
              </a:rPr>
              <a:t>L</a:t>
            </a:r>
            <a:r>
              <a:rPr lang="en-US" altLang="zh-CN" sz="2400" b="1" i="1" baseline="30000">
                <a:solidFill>
                  <a:srgbClr val="FF0066"/>
                </a:solidFill>
              </a:rPr>
              <a:t>n</a:t>
            </a:r>
            <a:r>
              <a:rPr lang="en-US" altLang="zh-CN" sz="2400" b="1" baseline="30000">
                <a:solidFill>
                  <a:srgbClr val="FF0066"/>
                </a:solidFill>
              </a:rPr>
              <a:t>  </a:t>
            </a:r>
            <a:r>
              <a:rPr lang="en-US" altLang="zh-CN" sz="2400" b="1" baseline="30000"/>
              <a:t>  </a:t>
            </a:r>
            <a:r>
              <a:rPr lang="zh-CN" altLang="en-US" sz="2400" b="1"/>
              <a:t>，</a:t>
            </a:r>
            <a:r>
              <a:rPr lang="en-US" altLang="zh-CN" sz="2400" b="1"/>
              <a:t>n-fold rotation axis</a:t>
            </a:r>
            <a:r>
              <a:rPr lang="en-US" altLang="zh-CN" sz="2400" b="1" baseline="30000"/>
              <a:t> </a:t>
            </a:r>
          </a:p>
          <a:p>
            <a:pPr eaLnBrk="1" hangingPunct="1">
              <a:lnSpc>
                <a:spcPct val="120000"/>
              </a:lnSpc>
              <a:buFontTx/>
              <a:buNone/>
            </a:pPr>
            <a:endParaRPr lang="zh-CN" altLang="en-US" sz="2400" b="1"/>
          </a:p>
          <a:p>
            <a:pPr eaLnBrk="1" hangingPunct="1">
              <a:lnSpc>
                <a:spcPct val="120000"/>
              </a:lnSpc>
              <a:buFontTx/>
              <a:buNone/>
            </a:pPr>
            <a:endParaRPr lang="zh-CN" altLang="en-US" sz="2400" b="1"/>
          </a:p>
          <a:p>
            <a:pPr eaLnBrk="1" hangingPunct="1">
              <a:lnSpc>
                <a:spcPct val="120000"/>
              </a:lnSpc>
              <a:buFontTx/>
              <a:buNone/>
            </a:pPr>
            <a:endParaRPr lang="zh-CN" altLang="en-US" sz="2400" b="1"/>
          </a:p>
          <a:p>
            <a:pPr eaLnBrk="1" hangingPunct="1">
              <a:lnSpc>
                <a:spcPct val="120000"/>
              </a:lnSpc>
              <a:buFontTx/>
              <a:buNone/>
            </a:pPr>
            <a:endParaRPr lang="zh-CN" altLang="en-US" sz="2400" b="1"/>
          </a:p>
          <a:p>
            <a:pPr eaLnBrk="1" hangingPunct="1">
              <a:lnSpc>
                <a:spcPct val="120000"/>
              </a:lnSpc>
              <a:buFontTx/>
              <a:buNone/>
            </a:pPr>
            <a:endParaRPr lang="zh-CN" altLang="en-US" sz="2400" b="1"/>
          </a:p>
        </p:txBody>
      </p:sp>
      <p:sp>
        <p:nvSpPr>
          <p:cNvPr id="13315" name="Rectangle 9"/>
          <p:cNvSpPr>
            <a:spLocks noChangeArrowheads="1"/>
          </p:cNvSpPr>
          <p:nvPr/>
        </p:nvSpPr>
        <p:spPr bwMode="auto">
          <a:xfrm>
            <a:off x="1219200" y="692150"/>
            <a:ext cx="62484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4000">
                <a:solidFill>
                  <a:schemeClr val="tx2"/>
                </a:solidFill>
              </a:rPr>
              <a:t>Symmetry axis</a:t>
            </a:r>
            <a:endParaRPr lang="zh-CN" altLang="zh-CN" sz="4000">
              <a:solidFill>
                <a:schemeClr val="tx2"/>
              </a:solidFill>
            </a:endParaRPr>
          </a:p>
        </p:txBody>
      </p:sp>
      <p:sp>
        <p:nvSpPr>
          <p:cNvPr id="13316" name="Line 10"/>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7" name="Text Box 11"/>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pic>
        <p:nvPicPr>
          <p:cNvPr id="13318" name="Picture 12" descr="二次轴"/>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20327" y="2996952"/>
            <a:ext cx="2452688"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14" descr="四次轴"/>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580706" y="3027908"/>
            <a:ext cx="2376488"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0" name="Picture 15" descr="六次轴"/>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221002" y="2996952"/>
            <a:ext cx="2387600"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677018" y="4963815"/>
            <a:ext cx="739305" cy="769441"/>
          </a:xfrm>
          <a:prstGeom prst="rect">
            <a:avLst/>
          </a:prstGeom>
        </p:spPr>
        <p:txBody>
          <a:bodyPr wrap="none">
            <a:spAutoFit/>
          </a:bodyPr>
          <a:lstStyle/>
          <a:p>
            <a:r>
              <a:rPr lang="en-US" altLang="zh-CN" i="1">
                <a:solidFill>
                  <a:srgbClr val="FF0066"/>
                </a:solidFill>
              </a:rPr>
              <a:t>L</a:t>
            </a:r>
            <a:r>
              <a:rPr lang="en-US" altLang="zh-CN" i="1" baseline="30000">
                <a:solidFill>
                  <a:srgbClr val="FF0066"/>
                </a:solidFill>
              </a:rPr>
              <a:t>2</a:t>
            </a:r>
            <a:endParaRPr lang="en-US"/>
          </a:p>
        </p:txBody>
      </p:sp>
      <p:sp>
        <p:nvSpPr>
          <p:cNvPr id="10" name="Rectangle 9"/>
          <p:cNvSpPr/>
          <p:nvPr/>
        </p:nvSpPr>
        <p:spPr>
          <a:xfrm>
            <a:off x="4387561" y="4963815"/>
            <a:ext cx="739305" cy="769441"/>
          </a:xfrm>
          <a:prstGeom prst="rect">
            <a:avLst/>
          </a:prstGeom>
        </p:spPr>
        <p:txBody>
          <a:bodyPr wrap="none">
            <a:spAutoFit/>
          </a:bodyPr>
          <a:lstStyle/>
          <a:p>
            <a:r>
              <a:rPr lang="en-US" altLang="zh-CN" i="1">
                <a:solidFill>
                  <a:srgbClr val="FF0066"/>
                </a:solidFill>
              </a:rPr>
              <a:t>L</a:t>
            </a:r>
            <a:r>
              <a:rPr lang="en-US" altLang="zh-CN" i="1" baseline="30000">
                <a:solidFill>
                  <a:srgbClr val="FF0066"/>
                </a:solidFill>
              </a:rPr>
              <a:t>4</a:t>
            </a:r>
            <a:endParaRPr lang="en-US"/>
          </a:p>
        </p:txBody>
      </p:sp>
      <p:sp>
        <p:nvSpPr>
          <p:cNvPr id="11" name="Rectangle 10"/>
          <p:cNvSpPr/>
          <p:nvPr/>
        </p:nvSpPr>
        <p:spPr>
          <a:xfrm>
            <a:off x="7011019" y="4963815"/>
            <a:ext cx="739305" cy="769441"/>
          </a:xfrm>
          <a:prstGeom prst="rect">
            <a:avLst/>
          </a:prstGeom>
        </p:spPr>
        <p:txBody>
          <a:bodyPr wrap="none">
            <a:spAutoFit/>
          </a:bodyPr>
          <a:lstStyle/>
          <a:p>
            <a:r>
              <a:rPr lang="en-US" altLang="zh-CN" i="1">
                <a:solidFill>
                  <a:srgbClr val="FF0066"/>
                </a:solidFill>
              </a:rPr>
              <a:t>L</a:t>
            </a:r>
            <a:r>
              <a:rPr lang="en-US" altLang="zh-CN" i="1" baseline="30000">
                <a:solidFill>
                  <a:srgbClr val="FF0066"/>
                </a:solidFill>
              </a:rPr>
              <a:t>6</a:t>
            </a:r>
            <a:endParaRPr lang="en-US"/>
          </a:p>
        </p:txBody>
      </p:sp>
    </p:spTree>
  </p:cSld>
  <p:clrMapOvr>
    <a:masterClrMapping/>
  </p:clrMapOvr>
  <p:transition spd="med">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5"/>
          <p:cNvSpPr>
            <a:spLocks noChangeArrowheads="1"/>
          </p:cNvSpPr>
          <p:nvPr/>
        </p:nvSpPr>
        <p:spPr bwMode="auto">
          <a:xfrm>
            <a:off x="381000" y="1828800"/>
            <a:ext cx="3627438"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865188" indent="-407988" eaLnBrk="0" hangingPunct="0">
              <a:spcBef>
                <a:spcPct val="20000"/>
              </a:spcBef>
              <a:buChar char="–"/>
              <a:defRPr kumimoji="1" sz="2800">
                <a:solidFill>
                  <a:schemeClr val="tx1"/>
                </a:solidFill>
                <a:latin typeface="Times New Roman" pitchFamily="18" charset="0"/>
                <a:ea typeface="宋体" pitchFamily="2" charset="-122"/>
              </a:defRPr>
            </a:lvl2pPr>
            <a:lvl3pPr marL="1246188"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buClr>
                <a:schemeClr val="tx2"/>
              </a:buClr>
            </a:pPr>
            <a:r>
              <a:rPr lang="en-US" altLang="zh-CN" sz="2800" b="0"/>
              <a:t> </a:t>
            </a:r>
            <a:r>
              <a:rPr lang="en-US" altLang="zh-CN" sz="2800">
                <a:solidFill>
                  <a:schemeClr val="tx2"/>
                </a:solidFill>
              </a:rPr>
              <a:t>symmetric axis</a:t>
            </a:r>
            <a:endParaRPr lang="zh-CN" altLang="en-US" sz="2800" b="0"/>
          </a:p>
          <a:p>
            <a:pPr lvl="1" eaLnBrk="1" hangingPunct="1">
              <a:buClr>
                <a:schemeClr val="tx2"/>
              </a:buClr>
              <a:buFontTx/>
              <a:buNone/>
            </a:pPr>
            <a:r>
              <a:rPr lang="en-US" altLang="zh-CN" sz="2400" b="0">
                <a:solidFill>
                  <a:srgbClr val="33CC33"/>
                </a:solidFill>
              </a:rPr>
              <a:t>(two-fold rotation)</a:t>
            </a:r>
          </a:p>
          <a:p>
            <a:pPr lvl="1" eaLnBrk="1" hangingPunct="1">
              <a:buClr>
                <a:schemeClr val="tx2"/>
              </a:buClr>
            </a:pPr>
            <a:endParaRPr lang="en-US" altLang="zh-CN" sz="2400" b="0">
              <a:solidFill>
                <a:srgbClr val="33CC33"/>
              </a:solidFill>
            </a:endParaRPr>
          </a:p>
          <a:p>
            <a:pPr lvl="1" eaLnBrk="1" hangingPunct="1">
              <a:buClr>
                <a:schemeClr val="tx2"/>
              </a:buClr>
            </a:pPr>
            <a:r>
              <a:rPr lang="en-US" altLang="zh-CN" b="0"/>
              <a:t>= 360</a:t>
            </a:r>
            <a:r>
              <a:rPr lang="en-US" altLang="zh-CN" b="0" baseline="30000"/>
              <a:t>o</a:t>
            </a:r>
            <a:r>
              <a:rPr lang="en-US" altLang="zh-CN" b="0"/>
              <a:t>/</a:t>
            </a:r>
            <a:r>
              <a:rPr lang="en-US" altLang="zh-CN" b="0">
                <a:solidFill>
                  <a:srgbClr val="FF0066"/>
                </a:solidFill>
              </a:rPr>
              <a:t>2</a:t>
            </a:r>
            <a:r>
              <a:rPr lang="en-US" altLang="zh-CN" b="0"/>
              <a:t> rotation</a:t>
            </a:r>
          </a:p>
          <a:p>
            <a:pPr lvl="1" eaLnBrk="1" hangingPunct="1">
              <a:buClr>
                <a:schemeClr val="tx2"/>
              </a:buClr>
            </a:pPr>
            <a:r>
              <a:rPr lang="en-US" altLang="zh-CN" b="0"/>
              <a:t>to reproduce a motif in a symmetrical pattern</a:t>
            </a:r>
          </a:p>
          <a:p>
            <a:pPr lvl="2" eaLnBrk="1" hangingPunct="1">
              <a:buClr>
                <a:schemeClr val="tx2"/>
              </a:buClr>
            </a:pPr>
            <a:endParaRPr lang="en-US" altLang="zh-CN" sz="2800" b="0"/>
          </a:p>
        </p:txBody>
      </p:sp>
      <p:sp>
        <p:nvSpPr>
          <p:cNvPr id="54278" name="Rectangle 6"/>
          <p:cNvSpPr>
            <a:spLocks noChangeArrowheads="1"/>
          </p:cNvSpPr>
          <p:nvPr/>
        </p:nvSpPr>
        <p:spPr bwMode="auto">
          <a:xfrm>
            <a:off x="4133850" y="3030538"/>
            <a:ext cx="4541838" cy="3711575"/>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endParaRPr kumimoji="0" lang="en-US" altLang="en-US" sz="2400" b="0">
              <a:effectLst>
                <a:outerShdw blurRad="38100" dist="38100" dir="2700000" algn="tl">
                  <a:srgbClr val="FFFFFF"/>
                </a:outerShdw>
              </a:effectLst>
            </a:endParaRPr>
          </a:p>
        </p:txBody>
      </p:sp>
      <p:sp>
        <p:nvSpPr>
          <p:cNvPr id="54279" name="Text Box 7"/>
          <p:cNvSpPr txBox="1">
            <a:spLocks noChangeArrowheads="1"/>
          </p:cNvSpPr>
          <p:nvPr/>
        </p:nvSpPr>
        <p:spPr bwMode="auto">
          <a:xfrm>
            <a:off x="5029200" y="2209800"/>
            <a:ext cx="2973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solidFill>
                  <a:srgbClr val="33CC33"/>
                </a:solidFill>
                <a:effectLst>
                  <a:outerShdw blurRad="38100" dist="38100" dir="2700000" algn="tl">
                    <a:srgbClr val="000000"/>
                  </a:outerShdw>
                </a:effectLst>
              </a:rPr>
              <a:t>A Symmetrical Pattern</a:t>
            </a:r>
          </a:p>
        </p:txBody>
      </p:sp>
      <p:sp>
        <p:nvSpPr>
          <p:cNvPr id="14342" name="Line 8"/>
          <p:cNvSpPr>
            <a:spLocks noChangeShapeType="1"/>
          </p:cNvSpPr>
          <p:nvPr/>
        </p:nvSpPr>
        <p:spPr bwMode="auto">
          <a:xfrm>
            <a:off x="1295400" y="3200400"/>
            <a:ext cx="2406650" cy="0"/>
          </a:xfrm>
          <a:prstGeom prst="line">
            <a:avLst/>
          </a:prstGeom>
          <a:noFill/>
          <a:ln w="28575">
            <a:solidFill>
              <a:srgbClr val="33CC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3" name="Rectangle 9"/>
          <p:cNvSpPr>
            <a:spLocks noChangeArrowheads="1"/>
          </p:cNvSpPr>
          <p:nvPr/>
        </p:nvSpPr>
        <p:spPr bwMode="auto">
          <a:xfrm>
            <a:off x="5724525" y="3248025"/>
            <a:ext cx="5270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5400" b="0">
                <a:solidFill>
                  <a:schemeClr val="bg2"/>
                </a:solidFill>
              </a:rPr>
              <a:t>6</a:t>
            </a:r>
          </a:p>
        </p:txBody>
      </p:sp>
      <p:sp>
        <p:nvSpPr>
          <p:cNvPr id="14344" name="Rectangle 10"/>
          <p:cNvSpPr>
            <a:spLocks noChangeArrowheads="1"/>
          </p:cNvSpPr>
          <p:nvPr/>
        </p:nvSpPr>
        <p:spPr bwMode="auto">
          <a:xfrm rot="10800000">
            <a:off x="6715125" y="5610225"/>
            <a:ext cx="5270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5400" b="0">
                <a:solidFill>
                  <a:schemeClr val="bg2"/>
                </a:solidFill>
              </a:rPr>
              <a:t>6</a:t>
            </a:r>
          </a:p>
        </p:txBody>
      </p:sp>
      <p:sp>
        <p:nvSpPr>
          <p:cNvPr id="14345" name="Line 11"/>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6" name="Text Box 12"/>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sp>
        <p:nvSpPr>
          <p:cNvPr id="11" name="Rectangle 4">
            <a:extLst>
              <a:ext uri="{FF2B5EF4-FFF2-40B4-BE49-F238E27FC236}">
                <a16:creationId xmlns:a16="http://schemas.microsoft.com/office/drawing/2014/main" id="{B9D0509E-B3FF-4BA4-8E27-F0684A374112}"/>
              </a:ext>
            </a:extLst>
          </p:cNvPr>
          <p:cNvSpPr>
            <a:spLocks noChangeArrowheads="1"/>
          </p:cNvSpPr>
          <p:nvPr/>
        </p:nvSpPr>
        <p:spPr bwMode="auto">
          <a:xfrm>
            <a:off x="-972616" y="783431"/>
            <a:ext cx="10659144" cy="102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None/>
            </a:pPr>
            <a:r>
              <a:rPr lang="en-US" altLang="zh-CN">
                <a:solidFill>
                  <a:schemeClr val="tx2"/>
                </a:solidFill>
              </a:rPr>
              <a:t>Symmetry operation of symmetric axis</a:t>
            </a:r>
            <a:r>
              <a:rPr lang="zh-CN" altLang="en-US">
                <a:solidFill>
                  <a:schemeClr val="tx2"/>
                </a:solidFill>
              </a:rPr>
              <a:t> </a:t>
            </a:r>
            <a:r>
              <a:rPr lang="en-US" altLang="zh-CN">
                <a:solidFill>
                  <a:schemeClr val="tx2"/>
                </a:solidFill>
                <a:latin typeface="宋体" pitchFamily="2" charset="-122"/>
              </a:rPr>
              <a:t>(</a:t>
            </a:r>
            <a:r>
              <a:rPr lang="en-US" altLang="zh-CN" i="1">
                <a:solidFill>
                  <a:schemeClr val="tx2"/>
                </a:solidFill>
                <a:latin typeface="宋体" pitchFamily="2" charset="-122"/>
              </a:rPr>
              <a:t>L</a:t>
            </a:r>
            <a:r>
              <a:rPr lang="en-US" altLang="zh-CN" i="1" baseline="30000">
                <a:solidFill>
                  <a:schemeClr val="tx2"/>
                </a:solidFill>
                <a:latin typeface="宋体" pitchFamily="2" charset="-122"/>
              </a:rPr>
              <a:t>n</a:t>
            </a:r>
            <a:r>
              <a:rPr lang="en-US" altLang="zh-CN">
                <a:solidFill>
                  <a:schemeClr val="tx2"/>
                </a:solidFill>
                <a:latin typeface="宋体" pitchFamily="2" charset="-122"/>
              </a:rPr>
              <a:t>)</a:t>
            </a:r>
            <a:endParaRPr lang="zh-CN" altLang="en-US">
              <a:solidFill>
                <a:schemeClr val="tx2"/>
              </a:solidFill>
            </a:endParaRPr>
          </a:p>
        </p:txBody>
      </p:sp>
    </p:spTree>
  </p:cSld>
  <p:clrMapOvr>
    <a:masterClrMapping/>
  </p:clrMapOvr>
  <p:transition spd="med">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1295400" y="3200400"/>
            <a:ext cx="2438400" cy="24384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15362" name="Rectangle 4"/>
          <p:cNvSpPr>
            <a:spLocks noChangeArrowheads="1"/>
          </p:cNvSpPr>
          <p:nvPr/>
        </p:nvSpPr>
        <p:spPr bwMode="auto">
          <a:xfrm>
            <a:off x="-972616" y="783431"/>
            <a:ext cx="10659144" cy="102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None/>
            </a:pPr>
            <a:r>
              <a:rPr lang="en-US" altLang="zh-CN">
                <a:solidFill>
                  <a:schemeClr val="tx2"/>
                </a:solidFill>
              </a:rPr>
              <a:t>Symmetry operation of symmetric axis</a:t>
            </a:r>
            <a:r>
              <a:rPr lang="zh-CN" altLang="en-US">
                <a:solidFill>
                  <a:schemeClr val="tx2"/>
                </a:solidFill>
              </a:rPr>
              <a:t> </a:t>
            </a:r>
            <a:r>
              <a:rPr lang="en-US" altLang="zh-CN">
                <a:solidFill>
                  <a:schemeClr val="tx2"/>
                </a:solidFill>
                <a:latin typeface="宋体" pitchFamily="2" charset="-122"/>
              </a:rPr>
              <a:t>(</a:t>
            </a:r>
            <a:r>
              <a:rPr lang="en-US" altLang="zh-CN" i="1">
                <a:solidFill>
                  <a:schemeClr val="tx2"/>
                </a:solidFill>
                <a:latin typeface="宋体" pitchFamily="2" charset="-122"/>
              </a:rPr>
              <a:t>L</a:t>
            </a:r>
            <a:r>
              <a:rPr lang="en-US" altLang="zh-CN" i="1" baseline="30000">
                <a:solidFill>
                  <a:schemeClr val="tx2"/>
                </a:solidFill>
                <a:latin typeface="宋体" pitchFamily="2" charset="-122"/>
              </a:rPr>
              <a:t>n</a:t>
            </a:r>
            <a:r>
              <a:rPr lang="en-US" altLang="zh-CN">
                <a:solidFill>
                  <a:schemeClr val="tx2"/>
                </a:solidFill>
                <a:latin typeface="宋体" pitchFamily="2" charset="-122"/>
              </a:rPr>
              <a:t>)</a:t>
            </a:r>
            <a:endParaRPr lang="zh-CN" altLang="en-US">
              <a:solidFill>
                <a:schemeClr val="tx2"/>
              </a:solidFill>
            </a:endParaRPr>
          </a:p>
        </p:txBody>
      </p:sp>
      <p:sp>
        <p:nvSpPr>
          <p:cNvPr id="15363" name="Rectangle 5"/>
          <p:cNvSpPr>
            <a:spLocks noChangeArrowheads="1"/>
          </p:cNvSpPr>
          <p:nvPr/>
        </p:nvSpPr>
        <p:spPr bwMode="auto">
          <a:xfrm>
            <a:off x="381000" y="1828800"/>
            <a:ext cx="3627438"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865188" indent="-407988" eaLnBrk="0" hangingPunct="0">
              <a:spcBef>
                <a:spcPct val="20000"/>
              </a:spcBef>
              <a:buChar char="–"/>
              <a:defRPr kumimoji="1" sz="2800">
                <a:solidFill>
                  <a:schemeClr val="tx1"/>
                </a:solidFill>
                <a:latin typeface="Times New Roman" pitchFamily="18" charset="0"/>
                <a:ea typeface="宋体" pitchFamily="2" charset="-122"/>
              </a:defRPr>
            </a:lvl2pPr>
            <a:lvl3pPr marL="1246188"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buClr>
                <a:schemeClr val="tx2"/>
              </a:buClr>
            </a:pPr>
            <a:r>
              <a:rPr lang="en-US" altLang="zh-CN" sz="2800" b="0"/>
              <a:t> </a:t>
            </a:r>
            <a:r>
              <a:rPr lang="en-US" altLang="zh-CN" sz="2800">
                <a:solidFill>
                  <a:schemeClr val="tx2"/>
                </a:solidFill>
              </a:rPr>
              <a:t>symmetric axis</a:t>
            </a:r>
            <a:endParaRPr lang="zh-CN" altLang="en-US" sz="2800" b="0"/>
          </a:p>
          <a:p>
            <a:pPr lvl="1" eaLnBrk="1" hangingPunct="1">
              <a:buClr>
                <a:schemeClr val="tx2"/>
              </a:buClr>
              <a:buFontTx/>
              <a:buNone/>
            </a:pPr>
            <a:r>
              <a:rPr lang="en-US" altLang="zh-CN" sz="2400" b="0">
                <a:solidFill>
                  <a:srgbClr val="33CC33"/>
                </a:solidFill>
              </a:rPr>
              <a:t>(two-fold rotation)</a:t>
            </a:r>
          </a:p>
          <a:p>
            <a:pPr lvl="1" eaLnBrk="1" hangingPunct="1">
              <a:buClr>
                <a:schemeClr val="tx2"/>
              </a:buClr>
            </a:pPr>
            <a:endParaRPr lang="en-US" altLang="zh-CN" sz="2400" b="0">
              <a:solidFill>
                <a:srgbClr val="33CC33"/>
              </a:solidFill>
            </a:endParaRPr>
          </a:p>
          <a:p>
            <a:pPr lvl="1" eaLnBrk="1" hangingPunct="1">
              <a:buClr>
                <a:schemeClr val="tx2"/>
              </a:buClr>
            </a:pPr>
            <a:r>
              <a:rPr lang="en-US" altLang="zh-CN" b="0"/>
              <a:t>= 360</a:t>
            </a:r>
            <a:r>
              <a:rPr lang="en-US" altLang="zh-CN" b="0" baseline="30000"/>
              <a:t>o</a:t>
            </a:r>
            <a:r>
              <a:rPr lang="en-US" altLang="zh-CN" b="0"/>
              <a:t>/</a:t>
            </a:r>
            <a:r>
              <a:rPr lang="en-US" altLang="zh-CN" b="0">
                <a:solidFill>
                  <a:srgbClr val="FF0066"/>
                </a:solidFill>
              </a:rPr>
              <a:t>2</a:t>
            </a:r>
            <a:r>
              <a:rPr lang="en-US" altLang="zh-CN" b="0"/>
              <a:t> rotation</a:t>
            </a:r>
          </a:p>
          <a:p>
            <a:pPr lvl="1" eaLnBrk="1" hangingPunct="1">
              <a:buClr>
                <a:schemeClr val="tx2"/>
              </a:buClr>
            </a:pPr>
            <a:r>
              <a:rPr lang="en-US" altLang="zh-CN" b="0"/>
              <a:t>to reproduce a motif in a symmetrical pattern</a:t>
            </a:r>
          </a:p>
          <a:p>
            <a:pPr lvl="2" eaLnBrk="1" hangingPunct="1">
              <a:buClr>
                <a:schemeClr val="tx2"/>
              </a:buClr>
            </a:pPr>
            <a:endParaRPr lang="en-US" altLang="zh-CN" sz="2800" b="0"/>
          </a:p>
        </p:txBody>
      </p:sp>
      <p:sp>
        <p:nvSpPr>
          <p:cNvPr id="55302" name="Rectangle 6"/>
          <p:cNvSpPr>
            <a:spLocks noChangeArrowheads="1"/>
          </p:cNvSpPr>
          <p:nvPr/>
        </p:nvSpPr>
        <p:spPr bwMode="auto">
          <a:xfrm>
            <a:off x="4067175" y="3030538"/>
            <a:ext cx="4541838" cy="3711575"/>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endParaRPr kumimoji="0" lang="en-US" altLang="en-US" sz="2400" b="0">
              <a:effectLst>
                <a:outerShdw blurRad="38100" dist="38100" dir="2700000" algn="tl">
                  <a:srgbClr val="FFFFFF"/>
                </a:outerShdw>
              </a:effectLst>
            </a:endParaRPr>
          </a:p>
        </p:txBody>
      </p:sp>
      <p:sp>
        <p:nvSpPr>
          <p:cNvPr id="55303" name="Text Box 7"/>
          <p:cNvSpPr txBox="1">
            <a:spLocks noChangeArrowheads="1"/>
          </p:cNvSpPr>
          <p:nvPr/>
        </p:nvSpPr>
        <p:spPr bwMode="auto">
          <a:xfrm>
            <a:off x="5029200" y="2209800"/>
            <a:ext cx="2973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solidFill>
                  <a:srgbClr val="33CC33"/>
                </a:solidFill>
                <a:effectLst>
                  <a:outerShdw blurRad="38100" dist="38100" dir="2700000" algn="tl">
                    <a:srgbClr val="000000"/>
                  </a:outerShdw>
                </a:effectLst>
              </a:rPr>
              <a:t>A Symmetrical Pattern</a:t>
            </a:r>
          </a:p>
        </p:txBody>
      </p:sp>
      <p:sp>
        <p:nvSpPr>
          <p:cNvPr id="15366" name="Line 8"/>
          <p:cNvSpPr>
            <a:spLocks noChangeShapeType="1"/>
          </p:cNvSpPr>
          <p:nvPr/>
        </p:nvSpPr>
        <p:spPr bwMode="auto">
          <a:xfrm>
            <a:off x="1295400" y="3200400"/>
            <a:ext cx="2406650" cy="0"/>
          </a:xfrm>
          <a:prstGeom prst="line">
            <a:avLst/>
          </a:prstGeom>
          <a:noFill/>
          <a:ln w="28575">
            <a:solidFill>
              <a:srgbClr val="33CC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7" name="Oval 9"/>
          <p:cNvSpPr>
            <a:spLocks noChangeArrowheads="1"/>
          </p:cNvSpPr>
          <p:nvPr/>
        </p:nvSpPr>
        <p:spPr bwMode="auto">
          <a:xfrm>
            <a:off x="6362700" y="4559300"/>
            <a:ext cx="177800" cy="622300"/>
          </a:xfrm>
          <a:prstGeom prst="ellipse">
            <a:avLst/>
          </a:prstGeom>
          <a:solidFill>
            <a:schemeClr val="accent1"/>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15368" name="Line 10"/>
          <p:cNvSpPr>
            <a:spLocks noChangeShapeType="1"/>
          </p:cNvSpPr>
          <p:nvPr/>
        </p:nvSpPr>
        <p:spPr bwMode="auto">
          <a:xfrm flipH="1">
            <a:off x="6134100" y="3505200"/>
            <a:ext cx="381000" cy="25400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9" name="Line 11"/>
          <p:cNvSpPr>
            <a:spLocks noChangeShapeType="1"/>
          </p:cNvSpPr>
          <p:nvPr/>
        </p:nvSpPr>
        <p:spPr bwMode="auto">
          <a:xfrm flipH="1">
            <a:off x="6616700" y="4724400"/>
            <a:ext cx="609600" cy="17780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0" name="Text Box 12"/>
          <p:cNvSpPr txBox="1">
            <a:spLocks noChangeArrowheads="1"/>
          </p:cNvSpPr>
          <p:nvPr/>
        </p:nvSpPr>
        <p:spPr bwMode="auto">
          <a:xfrm>
            <a:off x="6473825" y="3276600"/>
            <a:ext cx="911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0066FF"/>
                </a:solidFill>
              </a:rPr>
              <a:t>Motif</a:t>
            </a:r>
          </a:p>
        </p:txBody>
      </p:sp>
      <p:sp>
        <p:nvSpPr>
          <p:cNvPr id="15371" name="Text Box 13"/>
          <p:cNvSpPr txBox="1">
            <a:spLocks noChangeArrowheads="1"/>
          </p:cNvSpPr>
          <p:nvPr/>
        </p:nvSpPr>
        <p:spPr bwMode="auto">
          <a:xfrm>
            <a:off x="7299325" y="4495800"/>
            <a:ext cx="1266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0066FF"/>
                </a:solidFill>
              </a:rPr>
              <a:t>Element</a:t>
            </a:r>
          </a:p>
        </p:txBody>
      </p:sp>
      <p:sp>
        <p:nvSpPr>
          <p:cNvPr id="15372" name="Line 14"/>
          <p:cNvSpPr>
            <a:spLocks noChangeShapeType="1"/>
          </p:cNvSpPr>
          <p:nvPr/>
        </p:nvSpPr>
        <p:spPr bwMode="auto">
          <a:xfrm flipH="1">
            <a:off x="3200400" y="2286000"/>
            <a:ext cx="533400" cy="88900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1" name="Text Box 15"/>
          <p:cNvSpPr txBox="1">
            <a:spLocks noChangeArrowheads="1"/>
          </p:cNvSpPr>
          <p:nvPr/>
        </p:nvSpPr>
        <p:spPr bwMode="auto">
          <a:xfrm>
            <a:off x="3505200" y="1828800"/>
            <a:ext cx="1401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solidFill>
                  <a:srgbClr val="0066FF"/>
                </a:solidFill>
                <a:effectLst>
                  <a:outerShdw blurRad="38100" dist="38100" dir="2700000" algn="tl">
                    <a:srgbClr val="000000"/>
                  </a:outerShdw>
                </a:effectLst>
              </a:rPr>
              <a:t>Operation</a:t>
            </a:r>
          </a:p>
        </p:txBody>
      </p:sp>
      <p:sp>
        <p:nvSpPr>
          <p:cNvPr id="15374" name="Oval 16"/>
          <p:cNvSpPr>
            <a:spLocks noChangeArrowheads="1"/>
          </p:cNvSpPr>
          <p:nvPr/>
        </p:nvSpPr>
        <p:spPr bwMode="auto">
          <a:xfrm>
            <a:off x="609600" y="5867400"/>
            <a:ext cx="1524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15375" name="Rectangle 17"/>
          <p:cNvSpPr>
            <a:spLocks noChangeArrowheads="1"/>
          </p:cNvSpPr>
          <p:nvPr/>
        </p:nvSpPr>
        <p:spPr bwMode="auto">
          <a:xfrm>
            <a:off x="5724525" y="3276600"/>
            <a:ext cx="5270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5400" b="0">
                <a:solidFill>
                  <a:schemeClr val="bg2"/>
                </a:solidFill>
              </a:rPr>
              <a:t>6</a:t>
            </a:r>
          </a:p>
        </p:txBody>
      </p:sp>
      <p:sp>
        <p:nvSpPr>
          <p:cNvPr id="15376" name="Rectangle 18"/>
          <p:cNvSpPr>
            <a:spLocks noChangeArrowheads="1"/>
          </p:cNvSpPr>
          <p:nvPr/>
        </p:nvSpPr>
        <p:spPr bwMode="auto">
          <a:xfrm rot="10800000">
            <a:off x="6715125" y="5638800"/>
            <a:ext cx="5270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5400" b="0">
                <a:solidFill>
                  <a:schemeClr val="bg2"/>
                </a:solidFill>
              </a:rPr>
              <a:t>6</a:t>
            </a:r>
          </a:p>
        </p:txBody>
      </p:sp>
      <p:sp>
        <p:nvSpPr>
          <p:cNvPr id="15377" name="Rectangle 19"/>
          <p:cNvSpPr>
            <a:spLocks noChangeArrowheads="1"/>
          </p:cNvSpPr>
          <p:nvPr/>
        </p:nvSpPr>
        <p:spPr bwMode="auto">
          <a:xfrm>
            <a:off x="838200" y="5867400"/>
            <a:ext cx="3276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rgbClr val="33CC33"/>
                </a:solidFill>
              </a:rPr>
              <a:t>= the symbol for a two-fold rotation</a:t>
            </a:r>
          </a:p>
        </p:txBody>
      </p:sp>
      <p:sp>
        <p:nvSpPr>
          <p:cNvPr id="15378" name="Line 20"/>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9" name="Text Box 21"/>
          <p:cNvSpPr txBox="1">
            <a:spLocks noChangeArrowheads="1"/>
          </p:cNvSpPr>
          <p:nvPr/>
        </p:nvSpPr>
        <p:spPr bwMode="auto">
          <a:xfrm>
            <a:off x="971550" y="223838"/>
            <a:ext cx="2592388"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a:p>
            <a:pPr eaLnBrk="1" hangingPunct="1">
              <a:spcBef>
                <a:spcPct val="50000"/>
              </a:spcBef>
              <a:buFontTx/>
              <a:buNone/>
            </a:pPr>
            <a:endParaRPr lang="zh-CN" altLang="en-US" sz="2000" b="0">
              <a:solidFill>
                <a:srgbClr val="9900FF"/>
              </a:solidFill>
            </a:endParaRPr>
          </a:p>
        </p:txBody>
      </p:sp>
    </p:spTree>
  </p:cSld>
  <p:clrMapOvr>
    <a:masterClrMapping/>
  </p:clrMapOvr>
  <p:transition spd="med">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ChangeArrowheads="1"/>
          </p:cNvSpPr>
          <p:nvPr/>
        </p:nvSpPr>
        <p:spPr bwMode="auto">
          <a:xfrm>
            <a:off x="-926864" y="812007"/>
            <a:ext cx="10515128" cy="102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lvl="0" algn="ctr" eaLnBrk="1" hangingPunct="1">
              <a:spcBef>
                <a:spcPct val="0"/>
              </a:spcBef>
              <a:buNone/>
            </a:pPr>
            <a:r>
              <a:rPr lang="en-US" altLang="zh-CN">
                <a:solidFill>
                  <a:srgbClr val="000000"/>
                </a:solidFill>
              </a:rPr>
              <a:t>Symmetry operation of symmetric axis</a:t>
            </a:r>
            <a:r>
              <a:rPr lang="zh-CN" altLang="en-US">
                <a:solidFill>
                  <a:srgbClr val="000000"/>
                </a:solidFill>
              </a:rPr>
              <a:t> </a:t>
            </a:r>
            <a:r>
              <a:rPr lang="en-US" altLang="zh-CN">
                <a:solidFill>
                  <a:srgbClr val="000000"/>
                </a:solidFill>
                <a:latin typeface="宋体" pitchFamily="2" charset="-122"/>
              </a:rPr>
              <a:t>(</a:t>
            </a:r>
            <a:r>
              <a:rPr lang="en-US" altLang="zh-CN" i="1">
                <a:solidFill>
                  <a:srgbClr val="000000"/>
                </a:solidFill>
                <a:latin typeface="宋体" pitchFamily="2" charset="-122"/>
              </a:rPr>
              <a:t>L</a:t>
            </a:r>
            <a:r>
              <a:rPr lang="en-US" altLang="zh-CN" i="1" baseline="30000">
                <a:solidFill>
                  <a:srgbClr val="000000"/>
                </a:solidFill>
                <a:latin typeface="宋体" pitchFamily="2" charset="-122"/>
              </a:rPr>
              <a:t>n</a:t>
            </a:r>
            <a:r>
              <a:rPr lang="en-US" altLang="zh-CN">
                <a:solidFill>
                  <a:srgbClr val="000000"/>
                </a:solidFill>
                <a:latin typeface="宋体" pitchFamily="2" charset="-122"/>
              </a:rPr>
              <a:t>)</a:t>
            </a:r>
            <a:endParaRPr lang="zh-CN" altLang="en-US">
              <a:solidFill>
                <a:srgbClr val="000000"/>
              </a:solidFill>
            </a:endParaRPr>
          </a:p>
        </p:txBody>
      </p:sp>
      <p:sp>
        <p:nvSpPr>
          <p:cNvPr id="16387" name="Rectangle 5"/>
          <p:cNvSpPr>
            <a:spLocks noChangeArrowheads="1"/>
          </p:cNvSpPr>
          <p:nvPr/>
        </p:nvSpPr>
        <p:spPr bwMode="auto">
          <a:xfrm>
            <a:off x="381000" y="1828800"/>
            <a:ext cx="3627438"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865188" indent="-407988" eaLnBrk="0" hangingPunct="0">
              <a:spcBef>
                <a:spcPct val="20000"/>
              </a:spcBef>
              <a:buChar char="–"/>
              <a:defRPr kumimoji="1" sz="2800">
                <a:solidFill>
                  <a:schemeClr val="tx1"/>
                </a:solidFill>
                <a:latin typeface="Times New Roman" pitchFamily="18" charset="0"/>
                <a:ea typeface="宋体" pitchFamily="2" charset="-122"/>
              </a:defRPr>
            </a:lvl2pPr>
            <a:lvl3pPr marL="1246188"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buClr>
                <a:schemeClr val="tx2"/>
              </a:buClr>
            </a:pPr>
            <a:r>
              <a:rPr lang="en-US" altLang="zh-CN" sz="2800" b="0"/>
              <a:t> </a:t>
            </a:r>
            <a:r>
              <a:rPr lang="en-US" altLang="zh-CN" sz="2800">
                <a:solidFill>
                  <a:schemeClr val="tx2"/>
                </a:solidFill>
              </a:rPr>
              <a:t>symmetric axis</a:t>
            </a:r>
            <a:endParaRPr lang="zh-CN" altLang="en-US" sz="2800" b="0"/>
          </a:p>
          <a:p>
            <a:pPr lvl="1" eaLnBrk="1" hangingPunct="1">
              <a:buClr>
                <a:schemeClr val="tx2"/>
              </a:buClr>
              <a:buFontTx/>
              <a:buNone/>
            </a:pPr>
            <a:r>
              <a:rPr lang="en-US" altLang="zh-CN" sz="2400" b="0">
                <a:solidFill>
                  <a:srgbClr val="33CC33"/>
                </a:solidFill>
              </a:rPr>
              <a:t>(two-fold rotation)</a:t>
            </a:r>
          </a:p>
          <a:p>
            <a:pPr lvl="1" eaLnBrk="1" hangingPunct="1">
              <a:buClr>
                <a:schemeClr val="tx2"/>
              </a:buClr>
            </a:pPr>
            <a:endParaRPr lang="en-US" altLang="zh-CN" sz="2400" b="0">
              <a:solidFill>
                <a:srgbClr val="33CC33"/>
              </a:solidFill>
            </a:endParaRPr>
          </a:p>
          <a:p>
            <a:pPr lvl="1" eaLnBrk="1" hangingPunct="1">
              <a:buClr>
                <a:schemeClr val="tx2"/>
              </a:buClr>
            </a:pPr>
            <a:r>
              <a:rPr lang="en-US" altLang="zh-CN" b="0"/>
              <a:t>= 360</a:t>
            </a:r>
            <a:r>
              <a:rPr lang="en-US" altLang="zh-CN" b="0" baseline="30000"/>
              <a:t>o</a:t>
            </a:r>
            <a:r>
              <a:rPr lang="en-US" altLang="zh-CN" b="0"/>
              <a:t>/</a:t>
            </a:r>
            <a:r>
              <a:rPr lang="en-US" altLang="zh-CN" b="0">
                <a:solidFill>
                  <a:srgbClr val="FF0066"/>
                </a:solidFill>
              </a:rPr>
              <a:t>2</a:t>
            </a:r>
            <a:r>
              <a:rPr lang="en-US" altLang="zh-CN" b="0"/>
              <a:t> rotation</a:t>
            </a:r>
          </a:p>
          <a:p>
            <a:pPr lvl="1" eaLnBrk="1" hangingPunct="1">
              <a:buClr>
                <a:schemeClr val="tx2"/>
              </a:buClr>
            </a:pPr>
            <a:r>
              <a:rPr lang="en-US" altLang="zh-CN" b="0"/>
              <a:t>to reproduce a motif in a symmetrical pattern</a:t>
            </a:r>
          </a:p>
          <a:p>
            <a:pPr lvl="2" eaLnBrk="1" hangingPunct="1">
              <a:buClr>
                <a:schemeClr val="tx2"/>
              </a:buClr>
            </a:pPr>
            <a:endParaRPr lang="en-US" altLang="zh-CN" sz="2800" b="0"/>
          </a:p>
        </p:txBody>
      </p:sp>
      <p:sp>
        <p:nvSpPr>
          <p:cNvPr id="56326" name="Rectangle 6"/>
          <p:cNvSpPr>
            <a:spLocks noChangeArrowheads="1"/>
          </p:cNvSpPr>
          <p:nvPr/>
        </p:nvSpPr>
        <p:spPr bwMode="auto">
          <a:xfrm>
            <a:off x="4133850" y="2957513"/>
            <a:ext cx="4541838" cy="3711575"/>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endParaRPr kumimoji="0" lang="en-US" altLang="en-US" sz="2400" b="0">
              <a:effectLst>
                <a:outerShdw blurRad="38100" dist="38100" dir="2700000" algn="tl">
                  <a:srgbClr val="FFFFFF"/>
                </a:outerShdw>
              </a:effectLst>
            </a:endParaRPr>
          </a:p>
        </p:txBody>
      </p:sp>
      <p:sp>
        <p:nvSpPr>
          <p:cNvPr id="56327" name="Text Box 7"/>
          <p:cNvSpPr txBox="1">
            <a:spLocks noChangeArrowheads="1"/>
          </p:cNvSpPr>
          <p:nvPr/>
        </p:nvSpPr>
        <p:spPr bwMode="auto">
          <a:xfrm>
            <a:off x="5029200" y="2209800"/>
            <a:ext cx="2973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solidFill>
                  <a:srgbClr val="33CC33"/>
                </a:solidFill>
                <a:effectLst>
                  <a:outerShdw blurRad="38100" dist="38100" dir="2700000" algn="tl">
                    <a:srgbClr val="000000"/>
                  </a:outerShdw>
                </a:effectLst>
              </a:rPr>
              <a:t>A Symmetrical Pattern</a:t>
            </a:r>
          </a:p>
        </p:txBody>
      </p:sp>
      <p:sp>
        <p:nvSpPr>
          <p:cNvPr id="16390" name="Line 8"/>
          <p:cNvSpPr>
            <a:spLocks noChangeShapeType="1"/>
          </p:cNvSpPr>
          <p:nvPr/>
        </p:nvSpPr>
        <p:spPr bwMode="auto">
          <a:xfrm>
            <a:off x="1295400" y="3200400"/>
            <a:ext cx="2406650" cy="0"/>
          </a:xfrm>
          <a:prstGeom prst="line">
            <a:avLst/>
          </a:prstGeom>
          <a:noFill/>
          <a:ln w="28575">
            <a:solidFill>
              <a:srgbClr val="33CC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1" name="Oval 9"/>
          <p:cNvSpPr>
            <a:spLocks noChangeArrowheads="1"/>
          </p:cNvSpPr>
          <p:nvPr/>
        </p:nvSpPr>
        <p:spPr bwMode="auto">
          <a:xfrm>
            <a:off x="6362700" y="4559300"/>
            <a:ext cx="177800" cy="622300"/>
          </a:xfrm>
          <a:prstGeom prst="ellipse">
            <a:avLst/>
          </a:prstGeom>
          <a:solidFill>
            <a:schemeClr val="accent1"/>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16392" name="Line 10"/>
          <p:cNvSpPr>
            <a:spLocks noChangeShapeType="1"/>
          </p:cNvSpPr>
          <p:nvPr/>
        </p:nvSpPr>
        <p:spPr bwMode="auto">
          <a:xfrm flipH="1">
            <a:off x="6134100" y="3505200"/>
            <a:ext cx="381000" cy="25400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3" name="Line 11"/>
          <p:cNvSpPr>
            <a:spLocks noChangeShapeType="1"/>
          </p:cNvSpPr>
          <p:nvPr/>
        </p:nvSpPr>
        <p:spPr bwMode="auto">
          <a:xfrm flipH="1">
            <a:off x="6616700" y="4724400"/>
            <a:ext cx="609600" cy="17780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4" name="Text Box 12"/>
          <p:cNvSpPr txBox="1">
            <a:spLocks noChangeArrowheads="1"/>
          </p:cNvSpPr>
          <p:nvPr/>
        </p:nvSpPr>
        <p:spPr bwMode="auto">
          <a:xfrm>
            <a:off x="6473825" y="3276600"/>
            <a:ext cx="911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0066FF"/>
                </a:solidFill>
              </a:rPr>
              <a:t>Motif</a:t>
            </a:r>
          </a:p>
        </p:txBody>
      </p:sp>
      <p:sp>
        <p:nvSpPr>
          <p:cNvPr id="16395" name="Text Box 13"/>
          <p:cNvSpPr txBox="1">
            <a:spLocks noChangeArrowheads="1"/>
          </p:cNvSpPr>
          <p:nvPr/>
        </p:nvSpPr>
        <p:spPr bwMode="auto">
          <a:xfrm>
            <a:off x="7299325" y="4495800"/>
            <a:ext cx="1266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0066FF"/>
                </a:solidFill>
              </a:rPr>
              <a:t>Element</a:t>
            </a:r>
          </a:p>
        </p:txBody>
      </p:sp>
      <p:sp>
        <p:nvSpPr>
          <p:cNvPr id="16396" name="Oval 14"/>
          <p:cNvSpPr>
            <a:spLocks noChangeArrowheads="1"/>
          </p:cNvSpPr>
          <p:nvPr/>
        </p:nvSpPr>
        <p:spPr bwMode="auto">
          <a:xfrm>
            <a:off x="609600" y="5867400"/>
            <a:ext cx="1524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16397" name="Rectangle 15"/>
          <p:cNvSpPr>
            <a:spLocks noChangeArrowheads="1"/>
          </p:cNvSpPr>
          <p:nvPr/>
        </p:nvSpPr>
        <p:spPr bwMode="auto">
          <a:xfrm>
            <a:off x="5724525" y="3276600"/>
            <a:ext cx="5270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5400" b="0">
                <a:solidFill>
                  <a:schemeClr val="bg2"/>
                </a:solidFill>
              </a:rPr>
              <a:t>6</a:t>
            </a:r>
          </a:p>
        </p:txBody>
      </p:sp>
      <p:sp>
        <p:nvSpPr>
          <p:cNvPr id="16398" name="Rectangle 16"/>
          <p:cNvSpPr>
            <a:spLocks noChangeArrowheads="1"/>
          </p:cNvSpPr>
          <p:nvPr/>
        </p:nvSpPr>
        <p:spPr bwMode="auto">
          <a:xfrm rot="10800000">
            <a:off x="6715125" y="5638800"/>
            <a:ext cx="5270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5400" b="0">
                <a:solidFill>
                  <a:schemeClr val="bg2"/>
                </a:solidFill>
              </a:rPr>
              <a:t>6</a:t>
            </a:r>
          </a:p>
        </p:txBody>
      </p:sp>
      <p:sp>
        <p:nvSpPr>
          <p:cNvPr id="16399" name="Rectangle 17"/>
          <p:cNvSpPr>
            <a:spLocks noChangeArrowheads="1"/>
          </p:cNvSpPr>
          <p:nvPr/>
        </p:nvSpPr>
        <p:spPr bwMode="auto">
          <a:xfrm>
            <a:off x="838200" y="5867400"/>
            <a:ext cx="3276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rgbClr val="33CC33"/>
                </a:solidFill>
              </a:rPr>
              <a:t>= the symbol for a two-fold rotation</a:t>
            </a:r>
          </a:p>
        </p:txBody>
      </p:sp>
      <p:sp>
        <p:nvSpPr>
          <p:cNvPr id="56338" name="Freeform 18"/>
          <p:cNvSpPr>
            <a:spLocks/>
          </p:cNvSpPr>
          <p:nvPr/>
        </p:nvSpPr>
        <p:spPr bwMode="auto">
          <a:xfrm>
            <a:off x="6230938" y="3608388"/>
            <a:ext cx="1541462" cy="2335212"/>
          </a:xfrm>
          <a:custGeom>
            <a:avLst/>
            <a:gdLst>
              <a:gd name="T0" fmla="*/ 0 w 971"/>
              <a:gd name="T1" fmla="*/ 2147483647 h 1471"/>
              <a:gd name="T2" fmla="*/ 2147483647 w 971"/>
              <a:gd name="T3" fmla="*/ 2147483647 h 1471"/>
              <a:gd name="T4" fmla="*/ 2147483647 w 971"/>
              <a:gd name="T5" fmla="*/ 2147483647 h 1471"/>
              <a:gd name="T6" fmla="*/ 2147483647 w 971"/>
              <a:gd name="T7" fmla="*/ 2147483647 h 1471"/>
              <a:gd name="T8" fmla="*/ 2147483647 w 971"/>
              <a:gd name="T9" fmla="*/ 2147483647 h 1471"/>
              <a:gd name="T10" fmla="*/ 2147483647 w 971"/>
              <a:gd name="T11" fmla="*/ 2147483647 h 1471"/>
              <a:gd name="T12" fmla="*/ 2147483647 w 971"/>
              <a:gd name="T13" fmla="*/ 2147483647 h 14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1" h="1471">
                <a:moveTo>
                  <a:pt x="0" y="15"/>
                </a:moveTo>
                <a:cubicBezTo>
                  <a:pt x="115" y="7"/>
                  <a:pt x="231" y="0"/>
                  <a:pt x="344" y="31"/>
                </a:cubicBezTo>
                <a:cubicBezTo>
                  <a:pt x="457" y="62"/>
                  <a:pt x="587" y="120"/>
                  <a:pt x="680" y="199"/>
                </a:cubicBezTo>
                <a:cubicBezTo>
                  <a:pt x="773" y="278"/>
                  <a:pt x="856" y="390"/>
                  <a:pt x="904" y="503"/>
                </a:cubicBezTo>
                <a:cubicBezTo>
                  <a:pt x="952" y="616"/>
                  <a:pt x="971" y="762"/>
                  <a:pt x="968" y="879"/>
                </a:cubicBezTo>
                <a:cubicBezTo>
                  <a:pt x="965" y="996"/>
                  <a:pt x="935" y="1108"/>
                  <a:pt x="888" y="1207"/>
                </a:cubicBezTo>
                <a:cubicBezTo>
                  <a:pt x="841" y="1306"/>
                  <a:pt x="721" y="1427"/>
                  <a:pt x="688" y="1471"/>
                </a:cubicBezTo>
              </a:path>
            </a:pathLst>
          </a:custGeom>
          <a:noFill/>
          <a:ln w="9525">
            <a:solidFill>
              <a:srgbClr val="0066FF"/>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39" name="Freeform 19"/>
          <p:cNvSpPr>
            <a:spLocks/>
          </p:cNvSpPr>
          <p:nvPr/>
        </p:nvSpPr>
        <p:spPr bwMode="auto">
          <a:xfrm rot="10800000">
            <a:off x="5181600" y="3886200"/>
            <a:ext cx="1541463" cy="2335213"/>
          </a:xfrm>
          <a:custGeom>
            <a:avLst/>
            <a:gdLst>
              <a:gd name="T0" fmla="*/ 0 w 971"/>
              <a:gd name="T1" fmla="*/ 2147483647 h 1471"/>
              <a:gd name="T2" fmla="*/ 2147483647 w 971"/>
              <a:gd name="T3" fmla="*/ 2147483647 h 1471"/>
              <a:gd name="T4" fmla="*/ 2147483647 w 971"/>
              <a:gd name="T5" fmla="*/ 2147483647 h 1471"/>
              <a:gd name="T6" fmla="*/ 2147483647 w 971"/>
              <a:gd name="T7" fmla="*/ 2147483647 h 1471"/>
              <a:gd name="T8" fmla="*/ 2147483647 w 971"/>
              <a:gd name="T9" fmla="*/ 2147483647 h 1471"/>
              <a:gd name="T10" fmla="*/ 2147483647 w 971"/>
              <a:gd name="T11" fmla="*/ 2147483647 h 1471"/>
              <a:gd name="T12" fmla="*/ 2147483647 w 971"/>
              <a:gd name="T13" fmla="*/ 2147483647 h 14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1" h="1471">
                <a:moveTo>
                  <a:pt x="0" y="15"/>
                </a:moveTo>
                <a:cubicBezTo>
                  <a:pt x="115" y="7"/>
                  <a:pt x="231" y="0"/>
                  <a:pt x="344" y="31"/>
                </a:cubicBezTo>
                <a:cubicBezTo>
                  <a:pt x="457" y="62"/>
                  <a:pt x="587" y="120"/>
                  <a:pt x="680" y="199"/>
                </a:cubicBezTo>
                <a:cubicBezTo>
                  <a:pt x="773" y="278"/>
                  <a:pt x="856" y="390"/>
                  <a:pt x="904" y="503"/>
                </a:cubicBezTo>
                <a:cubicBezTo>
                  <a:pt x="952" y="616"/>
                  <a:pt x="971" y="762"/>
                  <a:pt x="968" y="879"/>
                </a:cubicBezTo>
                <a:cubicBezTo>
                  <a:pt x="965" y="996"/>
                  <a:pt x="935" y="1108"/>
                  <a:pt x="888" y="1207"/>
                </a:cubicBezTo>
                <a:cubicBezTo>
                  <a:pt x="841" y="1306"/>
                  <a:pt x="721" y="1427"/>
                  <a:pt x="688" y="1471"/>
                </a:cubicBezTo>
              </a:path>
            </a:pathLst>
          </a:custGeom>
          <a:noFill/>
          <a:ln w="9525">
            <a:solidFill>
              <a:srgbClr val="0066FF"/>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40" name="Text Box 20"/>
          <p:cNvSpPr txBox="1">
            <a:spLocks noChangeArrowheads="1"/>
          </p:cNvSpPr>
          <p:nvPr/>
        </p:nvSpPr>
        <p:spPr bwMode="auto">
          <a:xfrm>
            <a:off x="7315200" y="3810000"/>
            <a:ext cx="1155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000" b="0">
                <a:solidFill>
                  <a:srgbClr val="33CC33"/>
                </a:solidFill>
              </a:rPr>
              <a:t>First step</a:t>
            </a:r>
            <a:endParaRPr kumimoji="0" lang="zh-CN" altLang="en-US" sz="2000" b="0">
              <a:solidFill>
                <a:srgbClr val="33CC33"/>
              </a:solidFill>
            </a:endParaRPr>
          </a:p>
        </p:txBody>
      </p:sp>
      <p:sp>
        <p:nvSpPr>
          <p:cNvPr id="56341" name="Text Box 21"/>
          <p:cNvSpPr txBox="1">
            <a:spLocks noChangeArrowheads="1"/>
          </p:cNvSpPr>
          <p:nvPr/>
        </p:nvSpPr>
        <p:spPr bwMode="auto">
          <a:xfrm>
            <a:off x="4330699" y="5013325"/>
            <a:ext cx="15287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000" b="0">
                <a:solidFill>
                  <a:srgbClr val="33CC33"/>
                </a:solidFill>
              </a:rPr>
              <a:t>Second step</a:t>
            </a:r>
            <a:endParaRPr kumimoji="0" lang="zh-CN" altLang="en-US" sz="2000" b="0">
              <a:solidFill>
                <a:srgbClr val="33CC33"/>
              </a:solidFill>
            </a:endParaRPr>
          </a:p>
        </p:txBody>
      </p:sp>
      <p:sp>
        <p:nvSpPr>
          <p:cNvPr id="16404" name="Line 22"/>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05" name="Text Box 23"/>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40"/>
                                        </p:tgtEl>
                                        <p:attrNameLst>
                                          <p:attrName>style.visibility</p:attrName>
                                        </p:attrNameLst>
                                      </p:cBhvr>
                                      <p:to>
                                        <p:strVal val="visible"/>
                                      </p:to>
                                    </p:set>
                                    <p:anim calcmode="lin" valueType="num">
                                      <p:cBhvr additive="base">
                                        <p:cTn id="7" dur="500" fill="hold"/>
                                        <p:tgtEl>
                                          <p:spTgt spid="56340"/>
                                        </p:tgtEl>
                                        <p:attrNameLst>
                                          <p:attrName>ppt_x</p:attrName>
                                        </p:attrNameLst>
                                      </p:cBhvr>
                                      <p:tavLst>
                                        <p:tav tm="0">
                                          <p:val>
                                            <p:strVal val="0-#ppt_w/2"/>
                                          </p:val>
                                        </p:tav>
                                        <p:tav tm="100000">
                                          <p:val>
                                            <p:strVal val="#ppt_x"/>
                                          </p:val>
                                        </p:tav>
                                      </p:tavLst>
                                    </p:anim>
                                    <p:anim calcmode="lin" valueType="num">
                                      <p:cBhvr additive="base">
                                        <p:cTn id="8" dur="500" fill="hold"/>
                                        <p:tgtEl>
                                          <p:spTgt spid="5634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338"/>
                                        </p:tgtEl>
                                        <p:attrNameLst>
                                          <p:attrName>style.visibility</p:attrName>
                                        </p:attrNameLst>
                                      </p:cBhvr>
                                      <p:to>
                                        <p:strVal val="visible"/>
                                      </p:to>
                                    </p:set>
                                    <p:anim calcmode="lin" valueType="num">
                                      <p:cBhvr additive="base">
                                        <p:cTn id="13" dur="500" fill="hold"/>
                                        <p:tgtEl>
                                          <p:spTgt spid="56338"/>
                                        </p:tgtEl>
                                        <p:attrNameLst>
                                          <p:attrName>ppt_x</p:attrName>
                                        </p:attrNameLst>
                                      </p:cBhvr>
                                      <p:tavLst>
                                        <p:tav tm="0">
                                          <p:val>
                                            <p:strVal val="0-#ppt_w/2"/>
                                          </p:val>
                                        </p:tav>
                                        <p:tav tm="100000">
                                          <p:val>
                                            <p:strVal val="#ppt_x"/>
                                          </p:val>
                                        </p:tav>
                                      </p:tavLst>
                                    </p:anim>
                                    <p:anim calcmode="lin" valueType="num">
                                      <p:cBhvr additive="base">
                                        <p:cTn id="14" dur="500" fill="hold"/>
                                        <p:tgtEl>
                                          <p:spTgt spid="5633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6341"/>
                                        </p:tgtEl>
                                        <p:attrNameLst>
                                          <p:attrName>style.visibility</p:attrName>
                                        </p:attrNameLst>
                                      </p:cBhvr>
                                      <p:to>
                                        <p:strVal val="visible"/>
                                      </p:to>
                                    </p:set>
                                    <p:anim calcmode="lin" valueType="num">
                                      <p:cBhvr additive="base">
                                        <p:cTn id="19" dur="500" fill="hold"/>
                                        <p:tgtEl>
                                          <p:spTgt spid="56341"/>
                                        </p:tgtEl>
                                        <p:attrNameLst>
                                          <p:attrName>ppt_x</p:attrName>
                                        </p:attrNameLst>
                                      </p:cBhvr>
                                      <p:tavLst>
                                        <p:tav tm="0">
                                          <p:val>
                                            <p:strVal val="0-#ppt_w/2"/>
                                          </p:val>
                                        </p:tav>
                                        <p:tav tm="100000">
                                          <p:val>
                                            <p:strVal val="#ppt_x"/>
                                          </p:val>
                                        </p:tav>
                                      </p:tavLst>
                                    </p:anim>
                                    <p:anim calcmode="lin" valueType="num">
                                      <p:cBhvr additive="base">
                                        <p:cTn id="20" dur="500" fill="hold"/>
                                        <p:tgtEl>
                                          <p:spTgt spid="5634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6339"/>
                                        </p:tgtEl>
                                        <p:attrNameLst>
                                          <p:attrName>style.visibility</p:attrName>
                                        </p:attrNameLst>
                                      </p:cBhvr>
                                      <p:to>
                                        <p:strVal val="visible"/>
                                      </p:to>
                                    </p:set>
                                    <p:anim calcmode="lin" valueType="num">
                                      <p:cBhvr additive="base">
                                        <p:cTn id="25" dur="500" fill="hold"/>
                                        <p:tgtEl>
                                          <p:spTgt spid="56339"/>
                                        </p:tgtEl>
                                        <p:attrNameLst>
                                          <p:attrName>ppt_x</p:attrName>
                                        </p:attrNameLst>
                                      </p:cBhvr>
                                      <p:tavLst>
                                        <p:tav tm="0">
                                          <p:val>
                                            <p:strVal val="0-#ppt_w/2"/>
                                          </p:val>
                                        </p:tav>
                                        <p:tav tm="100000">
                                          <p:val>
                                            <p:strVal val="#ppt_x"/>
                                          </p:val>
                                        </p:tav>
                                      </p:tavLst>
                                    </p:anim>
                                    <p:anim calcmode="lin" valueType="num">
                                      <p:cBhvr additive="base">
                                        <p:cTn id="26" dur="500" fill="hold"/>
                                        <p:tgtEl>
                                          <p:spTgt spid="563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8" grpId="0" animBg="1"/>
      <p:bldP spid="56339" grpId="0" animBg="1"/>
      <p:bldP spid="56340" grpId="0" autoUpdateAnimBg="0"/>
      <p:bldP spid="5634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Line 3"/>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25" name="Rectangle 5"/>
          <p:cNvSpPr>
            <a:spLocks noChangeArrowheads="1"/>
          </p:cNvSpPr>
          <p:nvPr/>
        </p:nvSpPr>
        <p:spPr bwMode="auto">
          <a:xfrm>
            <a:off x="381000" y="1828800"/>
            <a:ext cx="7719392"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itchFamily="18" charset="0"/>
                <a:ea typeface="宋体" pitchFamily="2" charset="-122"/>
              </a:defRPr>
            </a:lvl1pPr>
            <a:lvl2pPr marL="865188" indent="-407988">
              <a:defRPr kumimoji="1" sz="2400">
                <a:solidFill>
                  <a:schemeClr val="tx1"/>
                </a:solidFill>
                <a:latin typeface="Times New Roman" pitchFamily="18" charset="0"/>
                <a:ea typeface="宋体" pitchFamily="2" charset="-122"/>
              </a:defRPr>
            </a:lvl2pPr>
            <a:lvl3pPr marL="1246188">
              <a:defRPr kumimoji="1" sz="2400">
                <a:solidFill>
                  <a:schemeClr val="tx1"/>
                </a:solidFill>
                <a:latin typeface="Times New Roman" pitchFamily="18" charset="0"/>
                <a:ea typeface="宋体" pitchFamily="2" charset="-122"/>
              </a:defRPr>
            </a:lvl3pPr>
            <a:lvl4pPr marL="1436688">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buClr>
                <a:schemeClr val="tx2"/>
              </a:buClr>
              <a:buFontTx/>
              <a:buChar char="•"/>
              <a:defRPr/>
            </a:pPr>
            <a:r>
              <a:rPr lang="en-US" altLang="zh-CN" sz="2800" b="0"/>
              <a:t> </a:t>
            </a:r>
            <a:r>
              <a:rPr lang="en-US" altLang="zh-CN" sz="2800">
                <a:solidFill>
                  <a:schemeClr val="tx2"/>
                </a:solidFill>
              </a:rPr>
              <a:t>symmetric axis</a:t>
            </a:r>
            <a:endParaRPr lang="zh-CN" altLang="en-US" sz="2800" b="0"/>
          </a:p>
          <a:p>
            <a:pPr lvl="1">
              <a:spcBef>
                <a:spcPct val="20000"/>
              </a:spcBef>
              <a:buClr>
                <a:schemeClr val="tx2"/>
              </a:buClr>
              <a:buFontTx/>
              <a:buChar char="–"/>
              <a:defRPr/>
            </a:pPr>
            <a:r>
              <a:rPr kumimoji="0" lang="en-US" altLang="zh-CN"/>
              <a:t>transformation matrix</a:t>
            </a:r>
            <a:r>
              <a:rPr lang="zh-CN" altLang="en-US" sz="2800"/>
              <a:t> </a:t>
            </a:r>
            <a:r>
              <a:rPr lang="en-US" altLang="zh-CN" sz="2800" b="0"/>
              <a:t>of </a:t>
            </a:r>
            <a:r>
              <a:rPr lang="en-US" altLang="zh-CN" sz="2800" i="1">
                <a:solidFill>
                  <a:schemeClr val="tx2"/>
                </a:solidFill>
              </a:rPr>
              <a:t>L</a:t>
            </a:r>
            <a:r>
              <a:rPr lang="en-US" altLang="zh-CN" sz="2800" i="1" baseline="30000">
                <a:solidFill>
                  <a:schemeClr val="tx2"/>
                </a:solidFill>
              </a:rPr>
              <a:t>n</a:t>
            </a:r>
            <a:endParaRPr lang="zh-CN" altLang="en-US" sz="2800" b="0"/>
          </a:p>
          <a:p>
            <a:pPr lvl="1">
              <a:spcBef>
                <a:spcPct val="20000"/>
              </a:spcBef>
              <a:buClr>
                <a:schemeClr val="tx2"/>
              </a:buClr>
              <a:buFontTx/>
              <a:buChar char="–"/>
              <a:defRPr/>
            </a:pPr>
            <a:endParaRPr lang="zh-CN" altLang="en-US" sz="2800" b="0"/>
          </a:p>
        </p:txBody>
      </p:sp>
      <p:graphicFrame>
        <p:nvGraphicFramePr>
          <p:cNvPr id="17423" name="Object 16"/>
          <p:cNvGraphicFramePr>
            <a:graphicFrameLocks noChangeAspect="1"/>
          </p:cNvGraphicFramePr>
          <p:nvPr>
            <p:extLst>
              <p:ext uri="{D42A27DB-BD31-4B8C-83A1-F6EECF244321}">
                <p14:modId xmlns:p14="http://schemas.microsoft.com/office/powerpoint/2010/main" val="1996214252"/>
              </p:ext>
            </p:extLst>
          </p:nvPr>
        </p:nvGraphicFramePr>
        <p:xfrm>
          <a:off x="755576" y="3501343"/>
          <a:ext cx="3168352" cy="1761453"/>
        </p:xfrm>
        <a:graphic>
          <a:graphicData uri="http://schemas.openxmlformats.org/presentationml/2006/ole">
            <mc:AlternateContent xmlns:mc="http://schemas.openxmlformats.org/markup-compatibility/2006">
              <mc:Choice xmlns:v="urn:schemas-microsoft-com:vml" Requires="v">
                <p:oleObj spid="_x0000_s4097" name="公式" r:id="rId3" imgW="1282700" imgH="711200" progId="Equation.3">
                  <p:embed/>
                </p:oleObj>
              </mc:Choice>
              <mc:Fallback>
                <p:oleObj name="公式" r:id="rId3" imgW="1282700" imgH="711200" progId="Equation.3">
                  <p:embed/>
                  <p:pic>
                    <p:nvPicPr>
                      <p:cNvPr id="17423"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3501343"/>
                        <a:ext cx="3168352" cy="1761453"/>
                      </a:xfrm>
                      <a:prstGeom prst="rect">
                        <a:avLst/>
                      </a:prstGeom>
                      <a:noFill/>
                      <a:ln>
                        <a:noFill/>
                      </a:ln>
                    </p:spPr>
                  </p:pic>
                </p:oleObj>
              </mc:Fallback>
            </mc:AlternateContent>
          </a:graphicData>
        </a:graphic>
      </p:graphicFrame>
      <p:sp>
        <p:nvSpPr>
          <p:cNvPr id="17424" name="Text Box 17"/>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sp>
        <p:nvSpPr>
          <p:cNvPr id="17" name="Rectangle 4">
            <a:extLst>
              <a:ext uri="{FF2B5EF4-FFF2-40B4-BE49-F238E27FC236}">
                <a16:creationId xmlns:a16="http://schemas.microsoft.com/office/drawing/2014/main" id="{EF10C3AD-8517-491F-A901-322E6A9008FA}"/>
              </a:ext>
            </a:extLst>
          </p:cNvPr>
          <p:cNvSpPr>
            <a:spLocks noChangeArrowheads="1"/>
          </p:cNvSpPr>
          <p:nvPr/>
        </p:nvSpPr>
        <p:spPr bwMode="auto">
          <a:xfrm>
            <a:off x="-926864" y="812007"/>
            <a:ext cx="10515128" cy="102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lvl="0" algn="ctr" eaLnBrk="1" hangingPunct="1">
              <a:spcBef>
                <a:spcPct val="0"/>
              </a:spcBef>
              <a:buNone/>
            </a:pPr>
            <a:r>
              <a:rPr lang="en-US" altLang="zh-CN">
                <a:solidFill>
                  <a:srgbClr val="000000"/>
                </a:solidFill>
              </a:rPr>
              <a:t>Symmetry operation of symmetric axis</a:t>
            </a:r>
            <a:r>
              <a:rPr lang="zh-CN" altLang="en-US">
                <a:solidFill>
                  <a:srgbClr val="000000"/>
                </a:solidFill>
              </a:rPr>
              <a:t> </a:t>
            </a:r>
            <a:r>
              <a:rPr lang="en-US" altLang="zh-CN">
                <a:solidFill>
                  <a:srgbClr val="000000"/>
                </a:solidFill>
                <a:latin typeface="宋体" pitchFamily="2" charset="-122"/>
              </a:rPr>
              <a:t>(</a:t>
            </a:r>
            <a:r>
              <a:rPr lang="en-US" altLang="zh-CN" i="1">
                <a:solidFill>
                  <a:srgbClr val="000000"/>
                </a:solidFill>
                <a:latin typeface="宋体" pitchFamily="2" charset="-122"/>
              </a:rPr>
              <a:t>L</a:t>
            </a:r>
            <a:r>
              <a:rPr lang="en-US" altLang="zh-CN" i="1" baseline="30000">
                <a:solidFill>
                  <a:srgbClr val="000000"/>
                </a:solidFill>
                <a:latin typeface="宋体" pitchFamily="2" charset="-122"/>
              </a:rPr>
              <a:t>n</a:t>
            </a:r>
            <a:r>
              <a:rPr lang="en-US" altLang="zh-CN">
                <a:solidFill>
                  <a:srgbClr val="000000"/>
                </a:solidFill>
                <a:latin typeface="宋体" pitchFamily="2" charset="-122"/>
              </a:rPr>
              <a:t>)</a:t>
            </a:r>
            <a:endParaRPr lang="zh-CN" altLang="en-US">
              <a:solidFill>
                <a:srgbClr val="000000"/>
              </a:solidFill>
            </a:endParaRPr>
          </a:p>
        </p:txBody>
      </p:sp>
      <p:sp>
        <p:nvSpPr>
          <p:cNvPr id="2" name="Right Arrow 1"/>
          <p:cNvSpPr/>
          <p:nvPr/>
        </p:nvSpPr>
        <p:spPr bwMode="auto">
          <a:xfrm>
            <a:off x="4791769" y="4166046"/>
            <a:ext cx="504056" cy="432048"/>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grpSp>
        <p:nvGrpSpPr>
          <p:cNvPr id="6" name="Group 5"/>
          <p:cNvGrpSpPr/>
          <p:nvPr/>
        </p:nvGrpSpPr>
        <p:grpSpPr>
          <a:xfrm>
            <a:off x="4408189" y="4848255"/>
            <a:ext cx="1178185" cy="524961"/>
            <a:chOff x="4240696" y="4437112"/>
            <a:chExt cx="1178185" cy="524961"/>
          </a:xfrm>
        </p:grpSpPr>
        <p:sp>
          <p:nvSpPr>
            <p:cNvPr id="3" name="TextBox 2"/>
            <p:cNvSpPr txBox="1"/>
            <p:nvPr/>
          </p:nvSpPr>
          <p:spPr>
            <a:xfrm>
              <a:off x="4240696" y="4437112"/>
              <a:ext cx="689612" cy="461665"/>
            </a:xfrm>
            <a:prstGeom prst="rect">
              <a:avLst/>
            </a:prstGeom>
            <a:noFill/>
          </p:spPr>
          <p:txBody>
            <a:bodyPr wrap="none" rtlCol="0">
              <a:spAutoFit/>
            </a:bodyPr>
            <a:lstStyle/>
            <a:p>
              <a:r>
                <a:rPr lang="en-US" altLang="zh-CN" sz="2400" b="0"/>
                <a:t>For </a:t>
              </a:r>
              <a:endParaRPr lang="en-US" sz="2400" b="0"/>
            </a:p>
          </p:txBody>
        </p:sp>
        <p:sp>
          <p:nvSpPr>
            <p:cNvPr id="4" name="Rectangle 3"/>
            <p:cNvSpPr/>
            <p:nvPr/>
          </p:nvSpPr>
          <p:spPr>
            <a:xfrm>
              <a:off x="4932851" y="4438853"/>
              <a:ext cx="486030" cy="523220"/>
            </a:xfrm>
            <a:prstGeom prst="rect">
              <a:avLst/>
            </a:prstGeom>
          </p:spPr>
          <p:txBody>
            <a:bodyPr wrap="none">
              <a:spAutoFit/>
            </a:bodyPr>
            <a:lstStyle/>
            <a:p>
              <a:r>
                <a:rPr lang="en-US" altLang="zh-CN" sz="2800" i="1">
                  <a:solidFill>
                    <a:srgbClr val="000000"/>
                  </a:solidFill>
                  <a:latin typeface="宋体" pitchFamily="2" charset="-122"/>
                </a:rPr>
                <a:t>L</a:t>
              </a:r>
              <a:r>
                <a:rPr lang="en-US" altLang="zh-CN" sz="2800" i="1" baseline="30000">
                  <a:solidFill>
                    <a:srgbClr val="000000"/>
                  </a:solidFill>
                  <a:latin typeface="宋体" pitchFamily="2" charset="-122"/>
                </a:rPr>
                <a:t>2</a:t>
              </a:r>
              <a:endParaRPr lang="en-US" sz="2800"/>
            </a:p>
          </p:txBody>
        </p:sp>
      </p:grpSp>
      <p:graphicFrame>
        <p:nvGraphicFramePr>
          <p:cNvPr id="5" name="Object 4"/>
          <p:cNvGraphicFramePr>
            <a:graphicFrameLocks noChangeAspect="1"/>
          </p:cNvGraphicFramePr>
          <p:nvPr>
            <p:extLst>
              <p:ext uri="{D42A27DB-BD31-4B8C-83A1-F6EECF244321}">
                <p14:modId xmlns:p14="http://schemas.microsoft.com/office/powerpoint/2010/main" val="2811126529"/>
              </p:ext>
            </p:extLst>
          </p:nvPr>
        </p:nvGraphicFramePr>
        <p:xfrm>
          <a:off x="6157129" y="3501008"/>
          <a:ext cx="1944687" cy="1762125"/>
        </p:xfrm>
        <a:graphic>
          <a:graphicData uri="http://schemas.openxmlformats.org/presentationml/2006/ole">
            <mc:AlternateContent xmlns:mc="http://schemas.openxmlformats.org/markup-compatibility/2006">
              <mc:Choice xmlns:v="urn:schemas-microsoft-com:vml" Requires="v">
                <p:oleObj spid="_x0000_s4098" name="Equation" r:id="rId5" imgW="787320" imgH="711000" progId="Equation.3">
                  <p:embed/>
                </p:oleObj>
              </mc:Choice>
              <mc:Fallback>
                <p:oleObj name="Equation" r:id="rId5" imgW="787320" imgH="711000" progId="Equation.3">
                  <p:embed/>
                  <p:pic>
                    <p:nvPicPr>
                      <p:cNvPr id="5" name="Object 4"/>
                      <p:cNvPicPr>
                        <a:picLocks noChangeAspect="1" noChangeArrowheads="1"/>
                      </p:cNvPicPr>
                      <p:nvPr/>
                    </p:nvPicPr>
                    <p:blipFill>
                      <a:blip r:embed="rId6"/>
                      <a:srcRect/>
                      <a:stretch>
                        <a:fillRect/>
                      </a:stretch>
                    </p:blipFill>
                    <p:spPr bwMode="auto">
                      <a:xfrm>
                        <a:off x="6157129" y="3501008"/>
                        <a:ext cx="1944687" cy="1762125"/>
                      </a:xfrm>
                      <a:prstGeom prst="rect">
                        <a:avLst/>
                      </a:prstGeom>
                      <a:noFill/>
                      <a:ln>
                        <a:noFill/>
                      </a:ln>
                    </p:spPr>
                  </p:pic>
                </p:oleObj>
              </mc:Fallback>
            </mc:AlternateContent>
          </a:graphicData>
        </a:graphic>
      </p:graphicFrame>
    </p:spTree>
  </p:cSld>
  <p:clrMapOvr>
    <a:masterClrMapping/>
  </p:clrMapOvr>
  <p:transition spd="med">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ChangeArrowheads="1"/>
          </p:cNvSpPr>
          <p:nvPr/>
        </p:nvSpPr>
        <p:spPr bwMode="auto">
          <a:xfrm>
            <a:off x="233363" y="2330450"/>
            <a:ext cx="8758237" cy="2632075"/>
          </a:xfrm>
          <a:prstGeom prst="rect">
            <a:avLst/>
          </a:prstGeom>
          <a:solidFill>
            <a:schemeClr val="bg1"/>
          </a:solidFill>
          <a:ln w="9525">
            <a:solidFill>
              <a:schemeClr val="tx1"/>
            </a:solidFill>
            <a:miter lim="800000"/>
            <a:headEnd/>
            <a:tailEnd/>
          </a:ln>
          <a:effec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endParaRPr kumimoji="0" lang="en-US" altLang="en-US" sz="2400" b="0">
              <a:latin typeface="Monotype Sorts" pitchFamily="2" charset="2"/>
            </a:endParaRPr>
          </a:p>
        </p:txBody>
      </p:sp>
      <p:sp>
        <p:nvSpPr>
          <p:cNvPr id="18435" name="Rectangle 1063"/>
          <p:cNvSpPr>
            <a:spLocks noChangeArrowheads="1"/>
          </p:cNvSpPr>
          <p:nvPr/>
        </p:nvSpPr>
        <p:spPr bwMode="auto">
          <a:xfrm>
            <a:off x="609599" y="762000"/>
            <a:ext cx="8380413" cy="102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a:t>Planar graphic presentation of symmetry operation for</a:t>
            </a:r>
            <a:r>
              <a:rPr lang="zh-CN" altLang="en-US" sz="4000">
                <a:solidFill>
                  <a:schemeClr val="tx2"/>
                </a:solidFill>
              </a:rPr>
              <a:t> </a:t>
            </a:r>
            <a:r>
              <a:rPr lang="en-US" altLang="zh-CN" sz="4000">
                <a:solidFill>
                  <a:schemeClr val="tx2"/>
                </a:solidFill>
              </a:rPr>
              <a:t>(</a:t>
            </a:r>
            <a:r>
              <a:rPr lang="en-US" altLang="zh-CN" sz="4000" i="1">
                <a:solidFill>
                  <a:schemeClr val="tx2"/>
                </a:solidFill>
              </a:rPr>
              <a:t>L</a:t>
            </a:r>
            <a:r>
              <a:rPr lang="en-US" altLang="zh-CN" sz="4000" i="1" baseline="30000">
                <a:solidFill>
                  <a:schemeClr val="tx2"/>
                </a:solidFill>
              </a:rPr>
              <a:t>n</a:t>
            </a:r>
            <a:r>
              <a:rPr lang="en-US" altLang="zh-CN" sz="4000">
                <a:solidFill>
                  <a:schemeClr val="tx2"/>
                </a:solidFill>
              </a:rPr>
              <a:t>)</a:t>
            </a:r>
            <a:endParaRPr lang="zh-CN" altLang="en-US" sz="4000">
              <a:solidFill>
                <a:schemeClr val="tx2"/>
              </a:solidFill>
            </a:endParaRPr>
          </a:p>
        </p:txBody>
      </p:sp>
      <p:sp>
        <p:nvSpPr>
          <p:cNvPr id="18436" name="Rectangle 1064"/>
          <p:cNvSpPr>
            <a:spLocks noChangeArrowheads="1"/>
          </p:cNvSpPr>
          <p:nvPr/>
        </p:nvSpPr>
        <p:spPr bwMode="auto">
          <a:xfrm>
            <a:off x="228600" y="1797050"/>
            <a:ext cx="73485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865188" indent="-407988"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buClr>
                <a:schemeClr val="tx2"/>
              </a:buClr>
            </a:pPr>
            <a:r>
              <a:rPr lang="en-US" altLang="zh-CN" sz="2800" b="0"/>
              <a:t>(</a:t>
            </a:r>
            <a:r>
              <a:rPr kumimoji="0" lang="en-US" altLang="zh-CN" sz="2400" b="0"/>
              <a:t>no 5-fold and</a:t>
            </a:r>
            <a:r>
              <a:rPr kumimoji="0" lang="zh-CN" altLang="en-US" sz="2400" b="0"/>
              <a:t> </a:t>
            </a:r>
            <a:r>
              <a:rPr kumimoji="0" lang="en-US" altLang="zh-CN" sz="2400" b="0"/>
              <a:t>&gt; 6-fold for classic crystal concept</a:t>
            </a:r>
            <a:r>
              <a:rPr lang="en-US" altLang="zh-CN" sz="2800" b="0"/>
              <a:t>)</a:t>
            </a:r>
          </a:p>
        </p:txBody>
      </p:sp>
      <p:grpSp>
        <p:nvGrpSpPr>
          <p:cNvPr id="18437" name="Group 1071"/>
          <p:cNvGrpSpPr>
            <a:grpSpLocks/>
          </p:cNvGrpSpPr>
          <p:nvPr/>
        </p:nvGrpSpPr>
        <p:grpSpPr bwMode="auto">
          <a:xfrm>
            <a:off x="238125" y="2362200"/>
            <a:ext cx="8751888" cy="2590800"/>
            <a:chOff x="150" y="1488"/>
            <a:chExt cx="5513" cy="1632"/>
          </a:xfrm>
        </p:grpSpPr>
        <p:grpSp>
          <p:nvGrpSpPr>
            <p:cNvPr id="18442" name="Group 1027"/>
            <p:cNvGrpSpPr>
              <a:grpSpLocks/>
            </p:cNvGrpSpPr>
            <p:nvPr/>
          </p:nvGrpSpPr>
          <p:grpSpPr bwMode="auto">
            <a:xfrm>
              <a:off x="2123" y="1589"/>
              <a:ext cx="930" cy="1022"/>
              <a:chOff x="2069" y="1450"/>
              <a:chExt cx="930" cy="1022"/>
            </a:xfrm>
          </p:grpSpPr>
          <p:sp>
            <p:nvSpPr>
              <p:cNvPr id="18475" name="Rectangle 1028"/>
              <p:cNvSpPr>
                <a:spLocks noChangeArrowheads="1"/>
              </p:cNvSpPr>
              <p:nvPr/>
            </p:nvSpPr>
            <p:spPr bwMode="auto">
              <a:xfrm rot="-1393545">
                <a:off x="2069" y="145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8476" name="Rectangle 1029"/>
              <p:cNvSpPr>
                <a:spLocks noChangeArrowheads="1"/>
              </p:cNvSpPr>
              <p:nvPr/>
            </p:nvSpPr>
            <p:spPr bwMode="auto">
              <a:xfrm rot="6188442">
                <a:off x="2749" y="179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8477" name="AutoShape 1030"/>
              <p:cNvSpPr>
                <a:spLocks noChangeArrowheads="1"/>
              </p:cNvSpPr>
              <p:nvPr/>
            </p:nvSpPr>
            <p:spPr bwMode="auto">
              <a:xfrm>
                <a:off x="2310" y="1862"/>
                <a:ext cx="145" cy="103"/>
              </a:xfrm>
              <a:prstGeom prst="triangle">
                <a:avLst>
                  <a:gd name="adj" fmla="val 50000"/>
                </a:avLst>
              </a:prstGeom>
              <a:solidFill>
                <a:schemeClr val="accent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18478" name="Rectangle 1031"/>
              <p:cNvSpPr>
                <a:spLocks noChangeArrowheads="1"/>
              </p:cNvSpPr>
              <p:nvPr/>
            </p:nvSpPr>
            <p:spPr bwMode="auto">
              <a:xfrm rot="-8433043">
                <a:off x="2081" y="218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grpSp>
        <p:grpSp>
          <p:nvGrpSpPr>
            <p:cNvPr id="18443" name="Group 1032"/>
            <p:cNvGrpSpPr>
              <a:grpSpLocks/>
            </p:cNvGrpSpPr>
            <p:nvPr/>
          </p:nvGrpSpPr>
          <p:grpSpPr bwMode="auto">
            <a:xfrm>
              <a:off x="1190" y="1573"/>
              <a:ext cx="434" cy="926"/>
              <a:chOff x="1910" y="2175"/>
              <a:chExt cx="314" cy="762"/>
            </a:xfrm>
          </p:grpSpPr>
          <p:sp>
            <p:nvSpPr>
              <p:cNvPr id="18472" name="Oval 1033"/>
              <p:cNvSpPr>
                <a:spLocks noChangeArrowheads="1"/>
              </p:cNvSpPr>
              <p:nvPr/>
            </p:nvSpPr>
            <p:spPr bwMode="auto">
              <a:xfrm>
                <a:off x="2040" y="2461"/>
                <a:ext cx="47" cy="180"/>
              </a:xfrm>
              <a:prstGeom prst="ellipse">
                <a:avLst/>
              </a:prstGeom>
              <a:solidFill>
                <a:schemeClr val="accent1"/>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18473" name="Rectangle 1034"/>
              <p:cNvSpPr>
                <a:spLocks noChangeArrowheads="1"/>
              </p:cNvSpPr>
              <p:nvPr/>
            </p:nvSpPr>
            <p:spPr bwMode="auto">
              <a:xfrm>
                <a:off x="1910" y="2175"/>
                <a:ext cx="153"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8474" name="Rectangle 1035"/>
              <p:cNvSpPr>
                <a:spLocks noChangeArrowheads="1"/>
              </p:cNvSpPr>
              <p:nvPr/>
            </p:nvSpPr>
            <p:spPr bwMode="auto">
              <a:xfrm rot="10800000">
                <a:off x="2071" y="2700"/>
                <a:ext cx="153"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grpSp>
        <p:sp>
          <p:nvSpPr>
            <p:cNvPr id="18444" name="Rectangle 1036"/>
            <p:cNvSpPr>
              <a:spLocks noChangeArrowheads="1"/>
            </p:cNvSpPr>
            <p:nvPr/>
          </p:nvSpPr>
          <p:spPr bwMode="auto">
            <a:xfrm>
              <a:off x="342" y="16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grpSp>
          <p:nvGrpSpPr>
            <p:cNvPr id="18445" name="Group 1037"/>
            <p:cNvGrpSpPr>
              <a:grpSpLocks/>
            </p:cNvGrpSpPr>
            <p:nvPr/>
          </p:nvGrpSpPr>
          <p:grpSpPr bwMode="auto">
            <a:xfrm>
              <a:off x="4541" y="1574"/>
              <a:ext cx="1056" cy="1104"/>
              <a:chOff x="4431" y="2146"/>
              <a:chExt cx="1056" cy="1104"/>
            </a:xfrm>
          </p:grpSpPr>
          <p:grpSp>
            <p:nvGrpSpPr>
              <p:cNvPr id="18462" name="Group 1038"/>
              <p:cNvGrpSpPr>
                <a:grpSpLocks/>
              </p:cNvGrpSpPr>
              <p:nvPr/>
            </p:nvGrpSpPr>
            <p:grpSpPr bwMode="auto">
              <a:xfrm>
                <a:off x="4431" y="2146"/>
                <a:ext cx="1056" cy="1104"/>
                <a:chOff x="3215" y="2250"/>
                <a:chExt cx="1056" cy="1104"/>
              </a:xfrm>
            </p:grpSpPr>
            <p:grpSp>
              <p:nvGrpSpPr>
                <p:cNvPr id="18464" name="Group 1039"/>
                <p:cNvGrpSpPr>
                  <a:grpSpLocks/>
                </p:cNvGrpSpPr>
                <p:nvPr/>
              </p:nvGrpSpPr>
              <p:grpSpPr bwMode="auto">
                <a:xfrm>
                  <a:off x="3341" y="2250"/>
                  <a:ext cx="930" cy="1022"/>
                  <a:chOff x="3341" y="2250"/>
                  <a:chExt cx="930" cy="1022"/>
                </a:xfrm>
              </p:grpSpPr>
              <p:sp>
                <p:nvSpPr>
                  <p:cNvPr id="18469" name="Rectangle 1040"/>
                  <p:cNvSpPr>
                    <a:spLocks noChangeArrowheads="1"/>
                  </p:cNvSpPr>
                  <p:nvPr/>
                </p:nvSpPr>
                <p:spPr bwMode="auto">
                  <a:xfrm>
                    <a:off x="3341" y="225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8470" name="Rectangle 1041"/>
                  <p:cNvSpPr>
                    <a:spLocks noChangeArrowheads="1"/>
                  </p:cNvSpPr>
                  <p:nvPr/>
                </p:nvSpPr>
                <p:spPr bwMode="auto">
                  <a:xfrm rot="6188442">
                    <a:off x="4021" y="259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8471" name="Rectangle 1042"/>
                  <p:cNvSpPr>
                    <a:spLocks noChangeArrowheads="1"/>
                  </p:cNvSpPr>
                  <p:nvPr/>
                </p:nvSpPr>
                <p:spPr bwMode="auto">
                  <a:xfrm rot="-8433043">
                    <a:off x="3353" y="298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grpSp>
            <p:grpSp>
              <p:nvGrpSpPr>
                <p:cNvPr id="18465" name="Group 1043"/>
                <p:cNvGrpSpPr>
                  <a:grpSpLocks/>
                </p:cNvGrpSpPr>
                <p:nvPr/>
              </p:nvGrpSpPr>
              <p:grpSpPr bwMode="auto">
                <a:xfrm rot="3704105">
                  <a:off x="3261" y="2378"/>
                  <a:ext cx="930" cy="1022"/>
                  <a:chOff x="3341" y="2250"/>
                  <a:chExt cx="930" cy="1022"/>
                </a:xfrm>
              </p:grpSpPr>
              <p:sp>
                <p:nvSpPr>
                  <p:cNvPr id="18466" name="Rectangle 1044"/>
                  <p:cNvSpPr>
                    <a:spLocks noChangeArrowheads="1"/>
                  </p:cNvSpPr>
                  <p:nvPr/>
                </p:nvSpPr>
                <p:spPr bwMode="auto">
                  <a:xfrm>
                    <a:off x="3341" y="225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8467" name="Rectangle 1045"/>
                  <p:cNvSpPr>
                    <a:spLocks noChangeArrowheads="1"/>
                  </p:cNvSpPr>
                  <p:nvPr/>
                </p:nvSpPr>
                <p:spPr bwMode="auto">
                  <a:xfrm rot="6188442">
                    <a:off x="4021" y="259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8468" name="Rectangle 1046"/>
                  <p:cNvSpPr>
                    <a:spLocks noChangeArrowheads="1"/>
                  </p:cNvSpPr>
                  <p:nvPr/>
                </p:nvSpPr>
                <p:spPr bwMode="auto">
                  <a:xfrm rot="-8433043">
                    <a:off x="3353" y="298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grpSp>
          </p:grpSp>
          <p:sp>
            <p:nvSpPr>
              <p:cNvPr id="18463" name="AutoShape 1047"/>
              <p:cNvSpPr>
                <a:spLocks noChangeArrowheads="1"/>
              </p:cNvSpPr>
              <p:nvPr/>
            </p:nvSpPr>
            <p:spPr bwMode="auto">
              <a:xfrm>
                <a:off x="4792" y="2592"/>
                <a:ext cx="160" cy="136"/>
              </a:xfrm>
              <a:prstGeom prst="hexagon">
                <a:avLst>
                  <a:gd name="adj" fmla="val 29412"/>
                  <a:gd name="vf" fmla="val 115470"/>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18446" name="Group 1048"/>
            <p:cNvGrpSpPr>
              <a:grpSpLocks/>
            </p:cNvGrpSpPr>
            <p:nvPr/>
          </p:nvGrpSpPr>
          <p:grpSpPr bwMode="auto">
            <a:xfrm>
              <a:off x="3288" y="1629"/>
              <a:ext cx="901" cy="912"/>
              <a:chOff x="3152" y="2041"/>
              <a:chExt cx="901" cy="912"/>
            </a:xfrm>
          </p:grpSpPr>
          <p:sp>
            <p:nvSpPr>
              <p:cNvPr id="18457" name="Rectangle 1049"/>
              <p:cNvSpPr>
                <a:spLocks noChangeArrowheads="1"/>
              </p:cNvSpPr>
              <p:nvPr/>
            </p:nvSpPr>
            <p:spPr bwMode="auto">
              <a:xfrm>
                <a:off x="3382" y="2041"/>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8458" name="Rectangle 1050"/>
              <p:cNvSpPr>
                <a:spLocks noChangeArrowheads="1"/>
              </p:cNvSpPr>
              <p:nvPr/>
            </p:nvSpPr>
            <p:spPr bwMode="auto">
              <a:xfrm rot="10800000">
                <a:off x="3604" y="266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8459" name="Rectangle 1051"/>
              <p:cNvSpPr>
                <a:spLocks noChangeArrowheads="1"/>
              </p:cNvSpPr>
              <p:nvPr/>
            </p:nvSpPr>
            <p:spPr bwMode="auto">
              <a:xfrm rot="5400000">
                <a:off x="3803" y="225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8460" name="Rectangle 1052"/>
              <p:cNvSpPr>
                <a:spLocks noChangeArrowheads="1"/>
              </p:cNvSpPr>
              <p:nvPr/>
            </p:nvSpPr>
            <p:spPr bwMode="auto">
              <a:xfrm rot="-5400000">
                <a:off x="3190" y="244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8461" name="Rectangle 1053"/>
              <p:cNvSpPr>
                <a:spLocks noChangeArrowheads="1"/>
              </p:cNvSpPr>
              <p:nvPr/>
            </p:nvSpPr>
            <p:spPr bwMode="auto">
              <a:xfrm>
                <a:off x="3528" y="2432"/>
                <a:ext cx="112" cy="12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sp>
          <p:nvSpPr>
            <p:cNvPr id="18447" name="Text Box 1054"/>
            <p:cNvSpPr txBox="1">
              <a:spLocks noChangeArrowheads="1"/>
            </p:cNvSpPr>
            <p:nvPr/>
          </p:nvSpPr>
          <p:spPr bwMode="auto">
            <a:xfrm>
              <a:off x="340" y="2631"/>
              <a:ext cx="5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kumimoji="0" lang="en-US" altLang="zh-CN" sz="2000" b="0">
                  <a:solidFill>
                    <a:srgbClr val="33CC33"/>
                  </a:solidFill>
                </a:rPr>
                <a:t>1-fold</a:t>
              </a:r>
            </a:p>
          </p:txBody>
        </p:sp>
        <p:sp>
          <p:nvSpPr>
            <p:cNvPr id="18448" name="Text Box 1055"/>
            <p:cNvSpPr txBox="1">
              <a:spLocks noChangeArrowheads="1"/>
            </p:cNvSpPr>
            <p:nvPr/>
          </p:nvSpPr>
          <p:spPr bwMode="auto">
            <a:xfrm>
              <a:off x="1172" y="2615"/>
              <a:ext cx="5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kumimoji="0" lang="en-US" altLang="zh-CN" sz="2000" b="0">
                  <a:solidFill>
                    <a:srgbClr val="33CC33"/>
                  </a:solidFill>
                </a:rPr>
                <a:t>2-fold</a:t>
              </a:r>
            </a:p>
          </p:txBody>
        </p:sp>
        <p:sp>
          <p:nvSpPr>
            <p:cNvPr id="18449" name="Text Box 1056"/>
            <p:cNvSpPr txBox="1">
              <a:spLocks noChangeArrowheads="1"/>
            </p:cNvSpPr>
            <p:nvPr/>
          </p:nvSpPr>
          <p:spPr bwMode="auto">
            <a:xfrm>
              <a:off x="2188" y="2623"/>
              <a:ext cx="5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kumimoji="0" lang="en-US" altLang="zh-CN" sz="2000" b="0">
                  <a:solidFill>
                    <a:srgbClr val="33CC33"/>
                  </a:solidFill>
                </a:rPr>
                <a:t>3-fold</a:t>
              </a:r>
            </a:p>
          </p:txBody>
        </p:sp>
        <p:sp>
          <p:nvSpPr>
            <p:cNvPr id="18450" name="Text Box 1057"/>
            <p:cNvSpPr txBox="1">
              <a:spLocks noChangeArrowheads="1"/>
            </p:cNvSpPr>
            <p:nvPr/>
          </p:nvSpPr>
          <p:spPr bwMode="auto">
            <a:xfrm>
              <a:off x="3492" y="2623"/>
              <a:ext cx="5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kumimoji="0" lang="en-US" altLang="zh-CN" sz="2000" b="0">
                  <a:solidFill>
                    <a:srgbClr val="33CC33"/>
                  </a:solidFill>
                </a:rPr>
                <a:t>4-fold</a:t>
              </a:r>
            </a:p>
          </p:txBody>
        </p:sp>
        <p:sp>
          <p:nvSpPr>
            <p:cNvPr id="18451" name="Text Box 1058"/>
            <p:cNvSpPr txBox="1">
              <a:spLocks noChangeArrowheads="1"/>
            </p:cNvSpPr>
            <p:nvPr/>
          </p:nvSpPr>
          <p:spPr bwMode="auto">
            <a:xfrm>
              <a:off x="4716" y="2639"/>
              <a:ext cx="5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kumimoji="0" lang="en-US" altLang="zh-CN" sz="2000" b="0">
                  <a:solidFill>
                    <a:srgbClr val="33CC33"/>
                  </a:solidFill>
                </a:rPr>
                <a:t>6-fold</a:t>
              </a:r>
            </a:p>
          </p:txBody>
        </p:sp>
        <p:sp>
          <p:nvSpPr>
            <p:cNvPr id="18452" name="Line 1060"/>
            <p:cNvSpPr>
              <a:spLocks noChangeShapeType="1"/>
            </p:cNvSpPr>
            <p:nvPr/>
          </p:nvSpPr>
          <p:spPr bwMode="auto">
            <a:xfrm>
              <a:off x="150" y="2915"/>
              <a:ext cx="55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3" name="Line 1065"/>
            <p:cNvSpPr>
              <a:spLocks noChangeShapeType="1"/>
            </p:cNvSpPr>
            <p:nvPr/>
          </p:nvSpPr>
          <p:spPr bwMode="auto">
            <a:xfrm>
              <a:off x="912" y="1488"/>
              <a:ext cx="0" cy="1632"/>
            </a:xfrm>
            <a:prstGeom prst="line">
              <a:avLst/>
            </a:prstGeom>
            <a:noFill/>
            <a:ln w="1270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4" name="Line 1066"/>
            <p:cNvSpPr>
              <a:spLocks noChangeShapeType="1"/>
            </p:cNvSpPr>
            <p:nvPr/>
          </p:nvSpPr>
          <p:spPr bwMode="auto">
            <a:xfrm>
              <a:off x="1872" y="1488"/>
              <a:ext cx="0" cy="1632"/>
            </a:xfrm>
            <a:prstGeom prst="line">
              <a:avLst/>
            </a:prstGeom>
            <a:noFill/>
            <a:ln w="1270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5" name="Line 1067"/>
            <p:cNvSpPr>
              <a:spLocks noChangeShapeType="1"/>
            </p:cNvSpPr>
            <p:nvPr/>
          </p:nvSpPr>
          <p:spPr bwMode="auto">
            <a:xfrm>
              <a:off x="3168" y="1488"/>
              <a:ext cx="0" cy="1632"/>
            </a:xfrm>
            <a:prstGeom prst="line">
              <a:avLst/>
            </a:prstGeom>
            <a:noFill/>
            <a:ln w="1270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6" name="Line 1068"/>
            <p:cNvSpPr>
              <a:spLocks noChangeShapeType="1"/>
            </p:cNvSpPr>
            <p:nvPr/>
          </p:nvSpPr>
          <p:spPr bwMode="auto">
            <a:xfrm>
              <a:off x="4368" y="1488"/>
              <a:ext cx="0" cy="1632"/>
            </a:xfrm>
            <a:prstGeom prst="line">
              <a:avLst/>
            </a:prstGeom>
            <a:noFill/>
            <a:ln w="12700" cap="sq">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8438" name="Line 1072"/>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9" name="Text Box 1073"/>
          <p:cNvSpPr txBox="1">
            <a:spLocks noChangeArrowheads="1"/>
          </p:cNvSpPr>
          <p:nvPr/>
        </p:nvSpPr>
        <p:spPr bwMode="auto">
          <a:xfrm>
            <a:off x="971550" y="223838"/>
            <a:ext cx="2592388"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a:p>
            <a:pPr eaLnBrk="1" hangingPunct="1">
              <a:spcBef>
                <a:spcPct val="50000"/>
              </a:spcBef>
              <a:buFontTx/>
              <a:buNone/>
            </a:pPr>
            <a:endParaRPr lang="zh-CN" altLang="en-US" sz="2000" b="0">
              <a:solidFill>
                <a:srgbClr val="9900FF"/>
              </a:solidFill>
            </a:endParaRPr>
          </a:p>
        </p:txBody>
      </p:sp>
      <p:graphicFrame>
        <p:nvGraphicFramePr>
          <p:cNvPr id="18440" name="Object 1080"/>
          <p:cNvGraphicFramePr>
            <a:graphicFrameLocks noGrp="1" noChangeAspect="1"/>
          </p:cNvGraphicFramePr>
          <p:nvPr>
            <p:ph/>
            <p:extLst>
              <p:ext uri="{D42A27DB-BD31-4B8C-83A1-F6EECF244321}">
                <p14:modId xmlns:p14="http://schemas.microsoft.com/office/powerpoint/2010/main" val="2170705039"/>
              </p:ext>
            </p:extLst>
          </p:nvPr>
        </p:nvGraphicFramePr>
        <p:xfrm>
          <a:off x="4859338" y="5084763"/>
          <a:ext cx="2592387" cy="1436687"/>
        </p:xfrm>
        <a:graphic>
          <a:graphicData uri="http://schemas.openxmlformats.org/presentationml/2006/ole">
            <mc:AlternateContent xmlns:mc="http://schemas.openxmlformats.org/markup-compatibility/2006">
              <mc:Choice xmlns:v="urn:schemas-microsoft-com:vml" Requires="v">
                <p:oleObj spid="_x0000_s5121" name="公式" r:id="rId4" imgW="1282700" imgH="711200" progId="Equation.3">
                  <p:embed/>
                </p:oleObj>
              </mc:Choice>
              <mc:Fallback>
                <p:oleObj name="公式" r:id="rId4" imgW="1282700" imgH="711200" progId="Equation.3">
                  <p:embed/>
                  <p:pic>
                    <p:nvPicPr>
                      <p:cNvPr id="18440" name="Object 10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9338" y="5084763"/>
                        <a:ext cx="2592387" cy="1436687"/>
                      </a:xfrm>
                      <a:prstGeom prst="rect">
                        <a:avLst/>
                      </a:prstGeom>
                      <a:noFill/>
                      <a:ln>
                        <a:noFill/>
                      </a:ln>
                      <a:effectLst/>
                    </p:spPr>
                  </p:pic>
                </p:oleObj>
              </mc:Fallback>
            </mc:AlternateContent>
          </a:graphicData>
        </a:graphic>
      </p:graphicFrame>
      <p:sp>
        <p:nvSpPr>
          <p:cNvPr id="39994" name="Rectangle 1082"/>
          <p:cNvSpPr>
            <a:spLocks noChangeArrowheads="1"/>
          </p:cNvSpPr>
          <p:nvPr/>
        </p:nvSpPr>
        <p:spPr bwMode="auto">
          <a:xfrm>
            <a:off x="247015" y="5390281"/>
            <a:ext cx="623688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kumimoji="0" lang="en-US" altLang="zh-CN" sz="3600" b="0">
                <a:solidFill>
                  <a:srgbClr val="9900FF"/>
                </a:solidFill>
                <a:effectLst>
                  <a:outerShdw blurRad="38100" dist="38100" dir="2700000" algn="tl">
                    <a:srgbClr val="000000"/>
                  </a:outerShdw>
                </a:effectLst>
              </a:rPr>
              <a:t>Transformation matrix</a:t>
            </a:r>
            <a:r>
              <a:rPr lang="zh-CN" altLang="en-US" sz="3600" b="0">
                <a:solidFill>
                  <a:srgbClr val="9900FF"/>
                </a:solidFill>
                <a:effectLst>
                  <a:outerShdw blurRad="38100" dist="38100" dir="2700000" algn="tl">
                    <a:srgbClr val="000000"/>
                  </a:outerShdw>
                </a:effectLst>
              </a:rPr>
              <a:t>：</a:t>
            </a:r>
          </a:p>
        </p:txBody>
      </p:sp>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Line 1072"/>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9" name="Text Box 1073"/>
          <p:cNvSpPr txBox="1">
            <a:spLocks noChangeArrowheads="1"/>
          </p:cNvSpPr>
          <p:nvPr/>
        </p:nvSpPr>
        <p:spPr bwMode="auto">
          <a:xfrm>
            <a:off x="971550" y="223838"/>
            <a:ext cx="2592388"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a:p>
            <a:pPr eaLnBrk="1" hangingPunct="1">
              <a:spcBef>
                <a:spcPct val="50000"/>
              </a:spcBef>
              <a:buFontTx/>
              <a:buNone/>
            </a:pPr>
            <a:endParaRPr lang="zh-CN" altLang="en-US" sz="2000" b="0">
              <a:solidFill>
                <a:srgbClr val="9900FF"/>
              </a:solidFill>
            </a:endParaRPr>
          </a:p>
        </p:txBody>
      </p:sp>
      <p:sp>
        <p:nvSpPr>
          <p:cNvPr id="39994" name="Rectangle 1082"/>
          <p:cNvSpPr>
            <a:spLocks noChangeArrowheads="1"/>
          </p:cNvSpPr>
          <p:nvPr/>
        </p:nvSpPr>
        <p:spPr bwMode="auto">
          <a:xfrm>
            <a:off x="755576" y="1085612"/>
            <a:ext cx="799288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kumimoji="0" lang="en-US" altLang="zh-CN" sz="3600"/>
              <a:t>Exercise:</a:t>
            </a:r>
          </a:p>
          <a:p>
            <a:pPr>
              <a:defRPr/>
            </a:pPr>
            <a:endParaRPr kumimoji="0" lang="en-US" altLang="zh-CN" sz="3600" b="0"/>
          </a:p>
          <a:p>
            <a:pPr>
              <a:defRPr/>
            </a:pPr>
            <a:r>
              <a:rPr kumimoji="0" lang="en-US" altLang="zh-CN" sz="3600" b="0"/>
              <a:t>Please derive all the transformation matrixes for L</a:t>
            </a:r>
            <a:r>
              <a:rPr kumimoji="0" lang="en-US" altLang="zh-CN" sz="3600" b="0" baseline="30000"/>
              <a:t>6</a:t>
            </a:r>
            <a:r>
              <a:rPr lang="en-US" altLang="zh-CN" sz="3600" b="0"/>
              <a:t>.</a:t>
            </a:r>
            <a:endParaRPr lang="zh-CN" altLang="en-US" sz="3600" b="0"/>
          </a:p>
        </p:txBody>
      </p:sp>
    </p:spTree>
    <p:extLst>
      <p:ext uri="{BB962C8B-B14F-4D97-AF65-F5344CB8AC3E}">
        <p14:creationId xmlns:p14="http://schemas.microsoft.com/office/powerpoint/2010/main" val="43316115"/>
      </p:ext>
    </p:extLst>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a:xfrm>
            <a:off x="755576" y="764704"/>
            <a:ext cx="7772400" cy="827088"/>
          </a:xfrm>
        </p:spPr>
        <p:txBody>
          <a:bodyPr/>
          <a:lstStyle/>
          <a:p>
            <a:pPr algn="l" eaLnBrk="1" hangingPunct="1"/>
            <a:r>
              <a:rPr lang="en-US" altLang="zh-CN" sz="3600" b="1">
                <a:solidFill>
                  <a:schemeClr val="tx1"/>
                </a:solidFill>
              </a:rPr>
              <a:t>Crystallographic restriction theorem</a:t>
            </a:r>
            <a:endParaRPr lang="zh-CN" altLang="en-US" sz="3600"/>
          </a:p>
        </p:txBody>
      </p:sp>
      <p:sp>
        <p:nvSpPr>
          <p:cNvPr id="19459" name="Rectangle 3"/>
          <p:cNvSpPr>
            <a:spLocks noGrp="1" noChangeArrowheads="1"/>
          </p:cNvSpPr>
          <p:nvPr>
            <p:ph type="subTitle" idx="1"/>
          </p:nvPr>
        </p:nvSpPr>
        <p:spPr>
          <a:xfrm>
            <a:off x="652704" y="1798476"/>
            <a:ext cx="7632700" cy="4006788"/>
          </a:xfrm>
        </p:spPr>
        <p:txBody>
          <a:bodyPr/>
          <a:lstStyle/>
          <a:p>
            <a:pPr algn="just" eaLnBrk="1" hangingPunct="1">
              <a:lnSpc>
                <a:spcPct val="150000"/>
              </a:lnSpc>
            </a:pPr>
            <a:r>
              <a:rPr lang="en-US" altLang="zh-CN" sz="2800">
                <a:ea typeface="黑体" pitchFamily="49" charset="-122"/>
              </a:rPr>
              <a:t>   Since crystals are solid substances with lattice structures, this internal property determines that the rotation axis </a:t>
            </a:r>
            <a:r>
              <a:rPr lang="en-US" altLang="zh-CN" sz="2800"/>
              <a:t>(</a:t>
            </a:r>
            <a:r>
              <a:rPr lang="en-US" altLang="zh-CN" sz="2800" i="1"/>
              <a:t>n</a:t>
            </a:r>
            <a:r>
              <a:rPr lang="en-US" altLang="zh-CN" sz="2800"/>
              <a:t>) </a:t>
            </a:r>
            <a:r>
              <a:rPr lang="en-US" altLang="zh-CN" sz="2800">
                <a:ea typeface="黑体" pitchFamily="49" charset="-122"/>
              </a:rPr>
              <a:t>in crystals can only occur </a:t>
            </a:r>
            <a:r>
              <a:rPr lang="en-US" altLang="zh-CN" sz="2800" b="1">
                <a:solidFill>
                  <a:srgbClr val="FF0000"/>
                </a:solidFill>
                <a:ea typeface="黑体" pitchFamily="49" charset="-122"/>
              </a:rPr>
              <a:t>one, twice, three, four and six fold</a:t>
            </a:r>
            <a:r>
              <a:rPr lang="en-US" altLang="zh-CN" sz="2800">
                <a:ea typeface="黑体" pitchFamily="49" charset="-122"/>
              </a:rPr>
              <a:t>. </a:t>
            </a:r>
          </a:p>
          <a:p>
            <a:pPr algn="just" eaLnBrk="1" hangingPunct="1">
              <a:lnSpc>
                <a:spcPct val="150000"/>
              </a:lnSpc>
            </a:pPr>
            <a:r>
              <a:rPr lang="en-US" altLang="zh-CN" sz="2800">
                <a:ea typeface="黑体" pitchFamily="49" charset="-122"/>
              </a:rPr>
              <a:t>   Five fold and more than six fold rotation axis are forbidden.</a:t>
            </a:r>
            <a:endParaRPr lang="zh-CN" altLang="en-US" sz="3600"/>
          </a:p>
        </p:txBody>
      </p:sp>
      <p:sp>
        <p:nvSpPr>
          <p:cNvPr id="19461" name="Line 6"/>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2" name="Text Box 7"/>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a:xfrm>
            <a:off x="760413" y="692150"/>
            <a:ext cx="7772400" cy="827088"/>
          </a:xfrm>
        </p:spPr>
        <p:txBody>
          <a:bodyPr/>
          <a:lstStyle/>
          <a:p>
            <a:pPr algn="l" eaLnBrk="1" hangingPunct="1"/>
            <a:r>
              <a:rPr lang="en-US" altLang="zh-CN" sz="3600" b="1">
                <a:solidFill>
                  <a:schemeClr val="tx1"/>
                </a:solidFill>
              </a:rPr>
              <a:t>Crystallographic restriction theorem</a:t>
            </a:r>
            <a:endParaRPr lang="zh-CN" altLang="en-US" sz="3600"/>
          </a:p>
        </p:txBody>
      </p:sp>
      <p:pic>
        <p:nvPicPr>
          <p:cNvPr id="19460" name="Picture 5" descr="varin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3501008"/>
            <a:ext cx="5892419"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Line 6"/>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2" name="Text Box 7"/>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sp>
        <p:nvSpPr>
          <p:cNvPr id="18" name="矩形 17">
            <a:extLst>
              <a:ext uri="{FF2B5EF4-FFF2-40B4-BE49-F238E27FC236}">
                <a16:creationId xmlns:a16="http://schemas.microsoft.com/office/drawing/2014/main" id="{195F6C04-7776-48A3-980E-A364C01BEB64}"/>
              </a:ext>
            </a:extLst>
          </p:cNvPr>
          <p:cNvSpPr/>
          <p:nvPr/>
        </p:nvSpPr>
        <p:spPr>
          <a:xfrm>
            <a:off x="662391" y="1844824"/>
            <a:ext cx="7775847" cy="1403461"/>
          </a:xfrm>
          <a:prstGeom prst="rect">
            <a:avLst/>
          </a:prstGeom>
        </p:spPr>
        <p:txBody>
          <a:bodyPr wrap="square">
            <a:spAutoFit/>
          </a:bodyPr>
          <a:lstStyle/>
          <a:p>
            <a:pPr eaLnBrk="1" hangingPunct="1">
              <a:lnSpc>
                <a:spcPct val="90000"/>
              </a:lnSpc>
            </a:pPr>
            <a:r>
              <a:rPr lang="en-US" altLang="zh-CN" sz="2800">
                <a:latin typeface="+mn-lt"/>
                <a:ea typeface="黑体" pitchFamily="49" charset="-122"/>
              </a:rPr>
              <a:t>1.Intuitive image understanding:</a:t>
            </a:r>
          </a:p>
          <a:p>
            <a:pPr eaLnBrk="1" hangingPunct="1">
              <a:lnSpc>
                <a:spcPct val="150000"/>
              </a:lnSpc>
            </a:pPr>
            <a:r>
              <a:rPr lang="en-US" altLang="zh-CN" sz="2000" b="0">
                <a:latin typeface="+mn-lt"/>
              </a:rPr>
              <a:t>The plane motif with  five or more than six fold rotation symmetry can not cover the entire space, and thus can not form crystal structures.</a:t>
            </a:r>
            <a:endParaRPr lang="zh-CN" altLang="en-US" sz="2000" b="0">
              <a:latin typeface="+mn-lt"/>
            </a:endParaRPr>
          </a:p>
        </p:txBody>
      </p:sp>
      <p:sp>
        <p:nvSpPr>
          <p:cNvPr id="19" name="矩形 18">
            <a:extLst>
              <a:ext uri="{FF2B5EF4-FFF2-40B4-BE49-F238E27FC236}">
                <a16:creationId xmlns:a16="http://schemas.microsoft.com/office/drawing/2014/main" id="{25B719C8-8B66-455B-9976-C2E50D6925F5}"/>
              </a:ext>
            </a:extLst>
          </p:cNvPr>
          <p:cNvSpPr/>
          <p:nvPr/>
        </p:nvSpPr>
        <p:spPr>
          <a:xfrm>
            <a:off x="7020272" y="1493958"/>
            <a:ext cx="1601721" cy="701731"/>
          </a:xfrm>
          <a:prstGeom prst="rect">
            <a:avLst/>
          </a:prstGeom>
        </p:spPr>
        <p:txBody>
          <a:bodyPr wrap="none">
            <a:spAutoFit/>
          </a:bodyPr>
          <a:lstStyle/>
          <a:p>
            <a:pPr algn="just" eaLnBrk="1" hangingPunct="1">
              <a:lnSpc>
                <a:spcPct val="90000"/>
              </a:lnSpc>
            </a:pPr>
            <a:r>
              <a:rPr lang="en-US" altLang="zh-CN">
                <a:solidFill>
                  <a:srgbClr val="FF00FF"/>
                </a:solidFill>
                <a:latin typeface="黑体" pitchFamily="49" charset="-122"/>
                <a:ea typeface="黑体" pitchFamily="49" charset="-122"/>
              </a:rPr>
              <a:t>Why</a:t>
            </a:r>
            <a:r>
              <a:rPr lang="zh-CN" altLang="en-US">
                <a:solidFill>
                  <a:srgbClr val="FF00FF"/>
                </a:solidFill>
                <a:latin typeface="黑体" pitchFamily="49" charset="-122"/>
                <a:ea typeface="黑体" pitchFamily="49" charset="-122"/>
              </a:rPr>
              <a:t>？</a:t>
            </a:r>
          </a:p>
        </p:txBody>
      </p:sp>
    </p:spTree>
    <p:extLst>
      <p:ext uri="{BB962C8B-B14F-4D97-AF65-F5344CB8AC3E}">
        <p14:creationId xmlns:p14="http://schemas.microsoft.com/office/powerpoint/2010/main" val="111444676"/>
      </p:ext>
    </p:extLst>
  </p:cSld>
  <p:clrMapOvr>
    <a:masterClrMapping/>
  </p:clrMapOvr>
  <p:transition spd="med">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Line 3"/>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3" name="Rectangle 4"/>
          <p:cNvSpPr>
            <a:spLocks noGrp="1" noChangeArrowheads="1"/>
          </p:cNvSpPr>
          <p:nvPr>
            <p:ph type="title"/>
          </p:nvPr>
        </p:nvSpPr>
        <p:spPr>
          <a:xfrm>
            <a:off x="684410" y="620713"/>
            <a:ext cx="7992046" cy="800100"/>
          </a:xfrm>
          <a:noFill/>
        </p:spPr>
        <p:txBody>
          <a:bodyPr anchor="b"/>
          <a:lstStyle/>
          <a:p>
            <a:pPr algn="l" eaLnBrk="1" hangingPunct="1"/>
            <a:r>
              <a:rPr lang="en-US" altLang="zh-CN" sz="3600" b="1">
                <a:solidFill>
                  <a:schemeClr val="tx1"/>
                </a:solidFill>
              </a:rPr>
              <a:t>Crystallographic restriction theorem</a:t>
            </a:r>
            <a:endParaRPr lang="zh-CN" altLang="zh-CN" sz="3600" b="1"/>
          </a:p>
        </p:txBody>
      </p:sp>
      <p:sp>
        <p:nvSpPr>
          <p:cNvPr id="128005" name="Rectangle 5"/>
          <p:cNvSpPr>
            <a:spLocks noChangeArrowheads="1"/>
          </p:cNvSpPr>
          <p:nvPr/>
        </p:nvSpPr>
        <p:spPr bwMode="auto">
          <a:xfrm>
            <a:off x="684410" y="1412875"/>
            <a:ext cx="8352086" cy="61205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buFontTx/>
              <a:buNone/>
            </a:pPr>
            <a:r>
              <a:rPr lang="en-US" altLang="zh-CN" sz="2800">
                <a:latin typeface="+mn-lt"/>
                <a:ea typeface="黑体" pitchFamily="49" charset="-122"/>
              </a:rPr>
              <a:t>2</a:t>
            </a:r>
            <a:r>
              <a:rPr lang="zh-CN" altLang="en-US" sz="2800">
                <a:latin typeface="+mn-lt"/>
                <a:ea typeface="黑体" pitchFamily="49" charset="-122"/>
              </a:rPr>
              <a:t>、</a:t>
            </a:r>
            <a:r>
              <a:rPr lang="en-US" altLang="zh-CN" sz="2800">
                <a:latin typeface="+mn-lt"/>
                <a:ea typeface="黑体" pitchFamily="49" charset="-122"/>
              </a:rPr>
              <a:t>Proof in math way</a:t>
            </a:r>
            <a:r>
              <a:rPr lang="zh-CN" altLang="en-US" sz="2800">
                <a:latin typeface="+mn-lt"/>
                <a:ea typeface="黑体" pitchFamily="49" charset="-122"/>
              </a:rPr>
              <a:t>：</a:t>
            </a:r>
            <a:r>
              <a:rPr lang="zh-CN" altLang="en-US" sz="2400" b="0">
                <a:solidFill>
                  <a:srgbClr val="FF3300"/>
                </a:solidFill>
                <a:latin typeface="+mn-lt"/>
              </a:rPr>
              <a:t>     </a:t>
            </a:r>
          </a:p>
          <a:p>
            <a:pPr eaLnBrk="1" hangingPunct="1">
              <a:buSzPct val="50000"/>
              <a:buFont typeface="Wingdings" pitchFamily="2" charset="2"/>
              <a:buChar char="l"/>
            </a:pPr>
            <a:r>
              <a:rPr lang="en-US" altLang="zh-CN" sz="2400" b="0">
                <a:solidFill>
                  <a:schemeClr val="accent2"/>
                </a:solidFill>
                <a:latin typeface="+mn-lt"/>
              </a:rPr>
              <a:t>A</a:t>
            </a:r>
            <a:r>
              <a:rPr lang="en-US" altLang="zh-CN" sz="2400" b="0" baseline="-25000">
                <a:solidFill>
                  <a:schemeClr val="accent2"/>
                </a:solidFill>
                <a:latin typeface="+mn-lt"/>
              </a:rPr>
              <a:t>1</a:t>
            </a:r>
            <a:r>
              <a:rPr lang="zh-CN" altLang="en-US" sz="2400" b="0" baseline="-25000">
                <a:solidFill>
                  <a:schemeClr val="accent2"/>
                </a:solidFill>
                <a:latin typeface="+mn-lt"/>
              </a:rPr>
              <a:t>、</a:t>
            </a:r>
            <a:r>
              <a:rPr lang="en-US" altLang="zh-CN" sz="2400" b="0">
                <a:solidFill>
                  <a:schemeClr val="accent2"/>
                </a:solidFill>
                <a:latin typeface="+mn-lt"/>
              </a:rPr>
              <a:t>A</a:t>
            </a:r>
            <a:r>
              <a:rPr lang="en-US" altLang="zh-CN" sz="2400" b="0" baseline="-25000">
                <a:solidFill>
                  <a:schemeClr val="accent2"/>
                </a:solidFill>
                <a:latin typeface="+mn-lt"/>
              </a:rPr>
              <a:t>2</a:t>
            </a:r>
            <a:r>
              <a:rPr lang="zh-CN" altLang="en-US" sz="2400" b="0" baseline="-25000">
                <a:solidFill>
                  <a:schemeClr val="accent2"/>
                </a:solidFill>
                <a:latin typeface="+mn-lt"/>
              </a:rPr>
              <a:t>、</a:t>
            </a:r>
            <a:r>
              <a:rPr lang="en-US" altLang="zh-CN" sz="2400" b="0">
                <a:solidFill>
                  <a:schemeClr val="accent2"/>
                </a:solidFill>
                <a:latin typeface="+mn-lt"/>
              </a:rPr>
              <a:t>A</a:t>
            </a:r>
            <a:r>
              <a:rPr lang="en-US" altLang="zh-CN" sz="2400" b="0" baseline="-25000">
                <a:solidFill>
                  <a:schemeClr val="accent2"/>
                </a:solidFill>
                <a:latin typeface="+mn-lt"/>
              </a:rPr>
              <a:t>3</a:t>
            </a:r>
            <a:r>
              <a:rPr lang="zh-CN" altLang="en-US" sz="2400" b="0" baseline="-25000">
                <a:solidFill>
                  <a:schemeClr val="accent2"/>
                </a:solidFill>
                <a:latin typeface="+mn-lt"/>
              </a:rPr>
              <a:t>、</a:t>
            </a:r>
            <a:r>
              <a:rPr lang="en-US" altLang="zh-CN" sz="2400" b="0">
                <a:solidFill>
                  <a:schemeClr val="accent2"/>
                </a:solidFill>
                <a:latin typeface="+mn-lt"/>
              </a:rPr>
              <a:t>A</a:t>
            </a:r>
            <a:r>
              <a:rPr lang="en-US" altLang="zh-CN" sz="2400" b="0" baseline="-25000">
                <a:solidFill>
                  <a:schemeClr val="accent2"/>
                </a:solidFill>
                <a:latin typeface="+mn-lt"/>
              </a:rPr>
              <a:t>4</a:t>
            </a:r>
            <a:r>
              <a:rPr lang="zh-CN" altLang="en-US" sz="2400" b="0" baseline="-25000">
                <a:solidFill>
                  <a:schemeClr val="accent2"/>
                </a:solidFill>
                <a:latin typeface="+mn-lt"/>
              </a:rPr>
              <a:t>、</a:t>
            </a:r>
            <a:r>
              <a:rPr lang="en-US" altLang="zh-CN" sz="2400" b="0">
                <a:solidFill>
                  <a:schemeClr val="accent2"/>
                </a:solidFill>
                <a:latin typeface="+mn-lt"/>
              </a:rPr>
              <a:t>are lattice points with distance a;</a:t>
            </a:r>
          </a:p>
          <a:p>
            <a:pPr eaLnBrk="1" hangingPunct="1">
              <a:buSzPct val="50000"/>
              <a:buFont typeface="Wingdings" pitchFamily="2" charset="2"/>
              <a:buChar char="l"/>
            </a:pPr>
            <a:r>
              <a:rPr lang="en-US" altLang="zh-CN" sz="2400" b="0">
                <a:solidFill>
                  <a:schemeClr val="accent2"/>
                </a:solidFill>
                <a:latin typeface="+mn-lt"/>
              </a:rPr>
              <a:t>A</a:t>
            </a:r>
            <a:r>
              <a:rPr lang="en-US" altLang="zh-CN" sz="2400" b="0" baseline="-25000">
                <a:solidFill>
                  <a:schemeClr val="accent2"/>
                </a:solidFill>
                <a:latin typeface="+mn-lt"/>
              </a:rPr>
              <a:t>1</a:t>
            </a:r>
            <a:r>
              <a:rPr lang="zh-CN" altLang="en-US" sz="2400" b="0" baseline="-25000">
                <a:solidFill>
                  <a:schemeClr val="accent2"/>
                </a:solidFill>
                <a:latin typeface="+mn-lt"/>
              </a:rPr>
              <a:t>、</a:t>
            </a:r>
            <a:r>
              <a:rPr lang="en-US" altLang="zh-CN" sz="2400" b="0">
                <a:solidFill>
                  <a:schemeClr val="accent2"/>
                </a:solidFill>
                <a:latin typeface="+mn-lt"/>
              </a:rPr>
              <a:t>A</a:t>
            </a:r>
            <a:r>
              <a:rPr lang="en-US" altLang="zh-CN" sz="2400" b="0" baseline="-25000">
                <a:solidFill>
                  <a:schemeClr val="accent2"/>
                </a:solidFill>
                <a:latin typeface="+mn-lt"/>
              </a:rPr>
              <a:t>4 </a:t>
            </a:r>
            <a:r>
              <a:rPr lang="en-US" altLang="zh-CN" sz="2400" b="0">
                <a:solidFill>
                  <a:schemeClr val="accent2"/>
                </a:solidFill>
                <a:latin typeface="+mn-lt"/>
              </a:rPr>
              <a:t>rotate around A</a:t>
            </a:r>
            <a:r>
              <a:rPr lang="en-US" altLang="zh-CN" sz="2400" b="0" baseline="-25000">
                <a:solidFill>
                  <a:schemeClr val="accent2"/>
                </a:solidFill>
                <a:latin typeface="+mn-lt"/>
              </a:rPr>
              <a:t>2</a:t>
            </a:r>
            <a:r>
              <a:rPr lang="zh-CN" altLang="en-US" sz="2400" b="0">
                <a:solidFill>
                  <a:schemeClr val="accent2"/>
                </a:solidFill>
                <a:latin typeface="+mn-lt"/>
              </a:rPr>
              <a:t>、</a:t>
            </a:r>
            <a:r>
              <a:rPr lang="en-US" altLang="zh-CN" sz="2400" b="0">
                <a:solidFill>
                  <a:schemeClr val="accent2"/>
                </a:solidFill>
                <a:latin typeface="+mn-lt"/>
              </a:rPr>
              <a:t>A</a:t>
            </a:r>
            <a:r>
              <a:rPr lang="en-US" altLang="zh-CN" sz="2400" b="0" baseline="-25000">
                <a:solidFill>
                  <a:schemeClr val="accent2"/>
                </a:solidFill>
                <a:latin typeface="+mn-lt"/>
              </a:rPr>
              <a:t>3</a:t>
            </a:r>
            <a:r>
              <a:rPr lang="zh-CN" altLang="en-US" sz="2400" b="0">
                <a:solidFill>
                  <a:schemeClr val="accent2"/>
                </a:solidFill>
                <a:latin typeface="+mn-lt"/>
              </a:rPr>
              <a:t> </a:t>
            </a:r>
            <a:r>
              <a:rPr lang="en-US" altLang="zh-CN" sz="2400" b="0">
                <a:solidFill>
                  <a:schemeClr val="accent2"/>
                </a:solidFill>
                <a:latin typeface="+mn-lt"/>
              </a:rPr>
              <a:t>with</a:t>
            </a:r>
            <a:r>
              <a:rPr lang="el-GR" altLang="zh-CN" sz="2400" b="0">
                <a:solidFill>
                  <a:schemeClr val="accent2"/>
                </a:solidFill>
              </a:rPr>
              <a:t> α</a:t>
            </a:r>
            <a:r>
              <a:rPr lang="en-US" altLang="zh-CN" sz="2400" b="0">
                <a:solidFill>
                  <a:schemeClr val="accent2"/>
                </a:solidFill>
              </a:rPr>
              <a:t> </a:t>
            </a:r>
            <a:r>
              <a:rPr lang="en-US" altLang="zh-CN" sz="2400" b="0">
                <a:solidFill>
                  <a:schemeClr val="accent2"/>
                </a:solidFill>
                <a:latin typeface="+mn-lt"/>
              </a:rPr>
              <a:t>and overlap with B</a:t>
            </a:r>
            <a:r>
              <a:rPr lang="en-US" altLang="zh-CN" sz="2400" b="0" baseline="-25000">
                <a:solidFill>
                  <a:schemeClr val="accent2"/>
                </a:solidFill>
                <a:latin typeface="+mn-lt"/>
              </a:rPr>
              <a:t>1</a:t>
            </a:r>
            <a:r>
              <a:rPr lang="zh-CN" altLang="en-US" sz="2400" b="0" baseline="-25000">
                <a:solidFill>
                  <a:schemeClr val="accent2"/>
                </a:solidFill>
                <a:latin typeface="+mn-lt"/>
              </a:rPr>
              <a:t>、</a:t>
            </a:r>
            <a:r>
              <a:rPr lang="en-US" altLang="zh-CN" sz="2400" b="0">
                <a:solidFill>
                  <a:schemeClr val="accent2"/>
                </a:solidFill>
                <a:latin typeface="+mn-lt"/>
              </a:rPr>
              <a:t>B</a:t>
            </a:r>
            <a:r>
              <a:rPr lang="en-US" altLang="zh-CN" sz="2400" b="0" baseline="-25000">
                <a:solidFill>
                  <a:schemeClr val="accent2"/>
                </a:solidFill>
                <a:latin typeface="+mn-lt"/>
              </a:rPr>
              <a:t>2</a:t>
            </a:r>
            <a:r>
              <a:rPr lang="en-US" altLang="zh-CN" sz="2400" b="0">
                <a:solidFill>
                  <a:schemeClr val="accent2"/>
                </a:solidFill>
                <a:latin typeface="+mn-lt"/>
              </a:rPr>
              <a:t>;</a:t>
            </a:r>
            <a:endParaRPr lang="zh-CN" altLang="en-US" sz="2400" b="0">
              <a:solidFill>
                <a:schemeClr val="accent2"/>
              </a:solidFill>
              <a:latin typeface="+mn-lt"/>
            </a:endParaRPr>
          </a:p>
          <a:p>
            <a:pPr eaLnBrk="1" hangingPunct="1"/>
            <a:r>
              <a:rPr lang="en-US" altLang="zh-CN" sz="2400" b="0">
                <a:solidFill>
                  <a:schemeClr val="accent2"/>
                </a:solidFill>
                <a:latin typeface="+mn-lt"/>
              </a:rPr>
              <a:t>B</a:t>
            </a:r>
            <a:r>
              <a:rPr lang="en-US" altLang="zh-CN" sz="2400" b="0" baseline="-25000">
                <a:solidFill>
                  <a:schemeClr val="accent2"/>
                </a:solidFill>
                <a:latin typeface="+mn-lt"/>
              </a:rPr>
              <a:t>1</a:t>
            </a:r>
            <a:r>
              <a:rPr lang="en-US" altLang="zh-CN" sz="2400" b="0">
                <a:solidFill>
                  <a:schemeClr val="accent2"/>
                </a:solidFill>
                <a:latin typeface="+mn-lt"/>
              </a:rPr>
              <a:t>B</a:t>
            </a:r>
            <a:r>
              <a:rPr lang="en-US" altLang="zh-CN" sz="2400" b="0" baseline="-25000">
                <a:solidFill>
                  <a:schemeClr val="accent2"/>
                </a:solidFill>
                <a:latin typeface="+mn-lt"/>
              </a:rPr>
              <a:t>2 </a:t>
            </a:r>
            <a:r>
              <a:rPr lang="en-US" altLang="zh-CN" sz="2400" b="0">
                <a:solidFill>
                  <a:schemeClr val="accent2"/>
                </a:solidFill>
                <a:latin typeface="+mn-lt"/>
              </a:rPr>
              <a:t>= ma, m is an integer;</a:t>
            </a:r>
          </a:p>
          <a:p>
            <a:pPr eaLnBrk="1" hangingPunct="1"/>
            <a:r>
              <a:rPr lang="en-US" altLang="zh-CN" sz="2800">
                <a:solidFill>
                  <a:srgbClr val="FF0066"/>
                </a:solidFill>
                <a:latin typeface="+mn-lt"/>
              </a:rPr>
              <a:t>a + 2a cos</a:t>
            </a:r>
            <a:r>
              <a:rPr lang="el-GR" altLang="zh-CN" sz="2800">
                <a:solidFill>
                  <a:srgbClr val="FF0066"/>
                </a:solidFill>
                <a:latin typeface="+mn-lt"/>
              </a:rPr>
              <a:t>α</a:t>
            </a:r>
            <a:r>
              <a:rPr lang="en-US" altLang="zh-CN" sz="2800">
                <a:solidFill>
                  <a:srgbClr val="FF0066"/>
                </a:solidFill>
                <a:latin typeface="+mn-lt"/>
              </a:rPr>
              <a:t> = ma</a:t>
            </a:r>
          </a:p>
          <a:p>
            <a:pPr eaLnBrk="1" hangingPunct="1"/>
            <a:r>
              <a:rPr lang="en-US" altLang="zh-CN" sz="2400" b="0">
                <a:solidFill>
                  <a:schemeClr val="accent2"/>
                </a:solidFill>
                <a:latin typeface="+mn-lt"/>
                <a:sym typeface="Symbol" pitchFamily="18" charset="2"/>
              </a:rPr>
              <a:t>-1 </a:t>
            </a:r>
            <a:r>
              <a:rPr lang="en-US" altLang="zh-CN" sz="2400" b="0">
                <a:solidFill>
                  <a:schemeClr val="accent2"/>
                </a:solidFill>
                <a:latin typeface="+mn-lt"/>
              </a:rPr>
              <a:t>cos</a:t>
            </a:r>
            <a:r>
              <a:rPr lang="el-GR" altLang="zh-CN" sz="2400" b="0">
                <a:solidFill>
                  <a:schemeClr val="accent2"/>
                </a:solidFill>
                <a:latin typeface="+mn-lt"/>
              </a:rPr>
              <a:t>α</a:t>
            </a:r>
            <a:r>
              <a:rPr lang="en-US" altLang="zh-CN" sz="2400" b="0">
                <a:solidFill>
                  <a:schemeClr val="accent2"/>
                </a:solidFill>
                <a:latin typeface="+mn-lt"/>
              </a:rPr>
              <a:t> = (m-1)/2 </a:t>
            </a:r>
            <a:r>
              <a:rPr lang="en-US" altLang="zh-CN" sz="2400" b="0">
                <a:solidFill>
                  <a:schemeClr val="accent2"/>
                </a:solidFill>
                <a:latin typeface="+mn-lt"/>
                <a:sym typeface="Symbol" pitchFamily="18" charset="2"/>
              </a:rPr>
              <a:t></a:t>
            </a:r>
            <a:r>
              <a:rPr lang="en-US" altLang="zh-CN" sz="2400" b="0">
                <a:solidFill>
                  <a:schemeClr val="accent2"/>
                </a:solidFill>
                <a:latin typeface="+mn-lt"/>
              </a:rPr>
              <a:t> 1</a:t>
            </a:r>
          </a:p>
          <a:p>
            <a:pPr eaLnBrk="1" hangingPunct="1">
              <a:buFont typeface="Wingdings" pitchFamily="2" charset="2"/>
              <a:buNone/>
            </a:pPr>
            <a:r>
              <a:rPr lang="en-US" altLang="zh-CN" sz="2400" b="0">
                <a:solidFill>
                  <a:schemeClr val="accent2"/>
                </a:solidFill>
                <a:latin typeface="+mn-lt"/>
              </a:rPr>
              <a:t>	m = 3, 2, 1, 0, -1</a:t>
            </a:r>
          </a:p>
          <a:p>
            <a:pPr eaLnBrk="1" hangingPunct="1">
              <a:buFont typeface="Wingdings" pitchFamily="2" charset="2"/>
              <a:buNone/>
            </a:pPr>
            <a:r>
              <a:rPr lang="en-US" altLang="zh-CN" sz="2400" b="0">
                <a:solidFill>
                  <a:schemeClr val="accent2"/>
                </a:solidFill>
                <a:latin typeface="+mn-lt"/>
              </a:rPr>
              <a:t>	a = 0, 60, 90, 120, 180</a:t>
            </a:r>
          </a:p>
          <a:p>
            <a:pPr eaLnBrk="1" hangingPunct="1">
              <a:buFont typeface="Wingdings" pitchFamily="2" charset="2"/>
              <a:buNone/>
            </a:pPr>
            <a:r>
              <a:rPr lang="en-US" altLang="zh-CN" sz="2400" b="0" i="1">
                <a:solidFill>
                  <a:schemeClr val="accent2"/>
                </a:solidFill>
                <a:latin typeface="+mn-lt"/>
              </a:rPr>
              <a:t>	n</a:t>
            </a:r>
            <a:r>
              <a:rPr lang="en-US" altLang="zh-CN" sz="2400" b="0">
                <a:solidFill>
                  <a:schemeClr val="accent2"/>
                </a:solidFill>
                <a:latin typeface="+mn-lt"/>
              </a:rPr>
              <a:t> = 1, 6, 4, 3, 2</a:t>
            </a:r>
          </a:p>
          <a:p>
            <a:pPr eaLnBrk="1" hangingPunct="1">
              <a:buFont typeface="Wingdings" pitchFamily="2" charset="2"/>
              <a:buNone/>
            </a:pPr>
            <a:r>
              <a:rPr lang="en-US" altLang="zh-CN" sz="2400">
                <a:solidFill>
                  <a:srgbClr val="CC3300"/>
                </a:solidFill>
                <a:latin typeface="+mn-lt"/>
                <a:ea typeface="黑体" pitchFamily="49" charset="-122"/>
              </a:rPr>
              <a:t>    </a:t>
            </a:r>
          </a:p>
          <a:p>
            <a:pPr eaLnBrk="1" hangingPunct="1">
              <a:buFont typeface="Wingdings" pitchFamily="2" charset="2"/>
              <a:buNone/>
            </a:pPr>
            <a:r>
              <a:rPr lang="en-US" altLang="zh-CN" sz="2400">
                <a:solidFill>
                  <a:srgbClr val="CC3300"/>
                </a:solidFill>
                <a:latin typeface="+mn-lt"/>
                <a:ea typeface="黑体" pitchFamily="49" charset="-122"/>
              </a:rPr>
              <a:t>	 (but</a:t>
            </a:r>
            <a:r>
              <a:rPr lang="zh-CN" altLang="en-US" sz="2400">
                <a:solidFill>
                  <a:srgbClr val="CC3300"/>
                </a:solidFill>
                <a:latin typeface="+mn-lt"/>
                <a:ea typeface="黑体" pitchFamily="49" charset="-122"/>
              </a:rPr>
              <a:t>，</a:t>
            </a:r>
            <a:r>
              <a:rPr lang="en-US" altLang="zh-CN" sz="2400">
                <a:solidFill>
                  <a:srgbClr val="CC3300"/>
                </a:solidFill>
                <a:latin typeface="+mn-lt"/>
                <a:ea typeface="黑体" pitchFamily="49" charset="-122"/>
              </a:rPr>
              <a:t>5</a:t>
            </a:r>
            <a:r>
              <a:rPr lang="zh-CN" altLang="en-US" sz="2400">
                <a:solidFill>
                  <a:srgbClr val="CC3300"/>
                </a:solidFill>
                <a:latin typeface="+mn-lt"/>
                <a:ea typeface="黑体" pitchFamily="49" charset="-122"/>
              </a:rPr>
              <a:t>、</a:t>
            </a:r>
            <a:r>
              <a:rPr lang="en-US" altLang="zh-CN" sz="2400">
                <a:solidFill>
                  <a:srgbClr val="CC3300"/>
                </a:solidFill>
                <a:latin typeface="+mn-lt"/>
                <a:ea typeface="黑体" pitchFamily="49" charset="-122"/>
              </a:rPr>
              <a:t>8</a:t>
            </a:r>
            <a:r>
              <a:rPr lang="zh-CN" altLang="en-US" sz="2400">
                <a:solidFill>
                  <a:srgbClr val="CC3300"/>
                </a:solidFill>
                <a:latin typeface="+mn-lt"/>
                <a:ea typeface="黑体" pitchFamily="49" charset="-122"/>
              </a:rPr>
              <a:t>、</a:t>
            </a:r>
            <a:r>
              <a:rPr lang="en-US" altLang="zh-CN" sz="2400">
                <a:solidFill>
                  <a:srgbClr val="CC3300"/>
                </a:solidFill>
                <a:latin typeface="+mn-lt"/>
                <a:ea typeface="黑体" pitchFamily="49" charset="-122"/>
              </a:rPr>
              <a:t>10</a:t>
            </a:r>
            <a:r>
              <a:rPr lang="zh-CN" altLang="en-US" sz="2400">
                <a:solidFill>
                  <a:srgbClr val="CC3300"/>
                </a:solidFill>
                <a:latin typeface="+mn-lt"/>
                <a:ea typeface="黑体" pitchFamily="49" charset="-122"/>
              </a:rPr>
              <a:t>、</a:t>
            </a:r>
            <a:r>
              <a:rPr lang="en-US" altLang="zh-CN" sz="2400">
                <a:solidFill>
                  <a:srgbClr val="CC3300"/>
                </a:solidFill>
                <a:latin typeface="+mn-lt"/>
                <a:ea typeface="黑体" pitchFamily="49" charset="-122"/>
              </a:rPr>
              <a:t>12 fold axis is allowed in quasi-crystal)</a:t>
            </a:r>
            <a:endParaRPr lang="zh-CN" altLang="en-US" sz="2400">
              <a:solidFill>
                <a:srgbClr val="CC3300"/>
              </a:solidFill>
              <a:latin typeface="+mn-lt"/>
              <a:ea typeface="黑体" pitchFamily="49" charset="-122"/>
            </a:endParaRPr>
          </a:p>
        </p:txBody>
      </p:sp>
      <p:pic>
        <p:nvPicPr>
          <p:cNvPr id="20485" name="Picture 6" descr="pic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6311" y="3642518"/>
            <a:ext cx="4356100" cy="1854200"/>
          </a:xfrm>
          <a:prstGeom prst="rect">
            <a:avLst/>
          </a:prstGeom>
          <a:solidFill>
            <a:srgbClr val="FFFFFF"/>
          </a:solidFill>
          <a:ln w="9525">
            <a:solidFill>
              <a:schemeClr val="tx1"/>
            </a:solidFill>
            <a:miter lim="800000"/>
            <a:headEnd/>
            <a:tailEnd/>
          </a:ln>
        </p:spPr>
      </p:pic>
      <p:sp>
        <p:nvSpPr>
          <p:cNvPr id="20486" name="Text Box 7"/>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0487" name="Line 14"/>
          <p:cNvSpPr>
            <a:spLocks noChangeShapeType="1"/>
          </p:cNvSpPr>
          <p:nvPr/>
        </p:nvSpPr>
        <p:spPr bwMode="auto">
          <a:xfrm flipH="1">
            <a:off x="3707901" y="3068960"/>
            <a:ext cx="1152551" cy="458067"/>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Text Box 15"/>
          <p:cNvSpPr txBox="1">
            <a:spLocks noChangeArrowheads="1"/>
          </p:cNvSpPr>
          <p:nvPr/>
        </p:nvSpPr>
        <p:spPr bwMode="auto">
          <a:xfrm>
            <a:off x="4826388" y="2733625"/>
            <a:ext cx="20120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a:solidFill>
                  <a:srgbClr val="FF0066"/>
                </a:solidFill>
              </a:rPr>
              <a:t>Rule of lattice</a:t>
            </a:r>
          </a:p>
        </p:txBody>
      </p:sp>
      <p:cxnSp>
        <p:nvCxnSpPr>
          <p:cNvPr id="20489" name="Straight Connector 2"/>
          <p:cNvCxnSpPr>
            <a:cxnSpLocks noChangeShapeType="1"/>
          </p:cNvCxnSpPr>
          <p:nvPr/>
        </p:nvCxnSpPr>
        <p:spPr bwMode="auto">
          <a:xfrm>
            <a:off x="5350718" y="3141663"/>
            <a:ext cx="0" cy="2590800"/>
          </a:xfrm>
          <a:prstGeom prst="line">
            <a:avLst/>
          </a:prstGeom>
          <a:noFill/>
          <a:ln w="9525" algn="ctr">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90" name="Straight Connector 11"/>
          <p:cNvCxnSpPr>
            <a:cxnSpLocks noChangeShapeType="1"/>
          </p:cNvCxnSpPr>
          <p:nvPr/>
        </p:nvCxnSpPr>
        <p:spPr bwMode="auto">
          <a:xfrm>
            <a:off x="7884368" y="3141663"/>
            <a:ext cx="0" cy="2590800"/>
          </a:xfrm>
          <a:prstGeom prst="line">
            <a:avLst/>
          </a:prstGeom>
          <a:noFill/>
          <a:ln w="9525" algn="ctr">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8005"/>
                                        </p:tgtEl>
                                        <p:attrNameLst>
                                          <p:attrName>style.visibility</p:attrName>
                                        </p:attrNameLst>
                                      </p:cBhvr>
                                      <p:to>
                                        <p:strVal val="visible"/>
                                      </p:to>
                                    </p:set>
                                    <p:anim calcmode="lin" valueType="num">
                                      <p:cBhvr additive="base">
                                        <p:cTn id="7" dur="500" fill="hold"/>
                                        <p:tgtEl>
                                          <p:spTgt spid="128005"/>
                                        </p:tgtEl>
                                        <p:attrNameLst>
                                          <p:attrName>ppt_x</p:attrName>
                                        </p:attrNameLst>
                                      </p:cBhvr>
                                      <p:tavLst>
                                        <p:tav tm="0">
                                          <p:val>
                                            <p:strVal val="0-#ppt_w/2"/>
                                          </p:val>
                                        </p:tav>
                                        <p:tav tm="100000">
                                          <p:val>
                                            <p:strVal val="#ppt_x"/>
                                          </p:val>
                                        </p:tav>
                                      </p:tavLst>
                                    </p:anim>
                                    <p:anim calcmode="lin" valueType="num">
                                      <p:cBhvr additive="base">
                                        <p:cTn id="8" dur="500" fill="hold"/>
                                        <p:tgtEl>
                                          <p:spTgt spid="1280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ctrTitle"/>
          </p:nvPr>
        </p:nvSpPr>
        <p:spPr>
          <a:xfrm>
            <a:off x="835112" y="1556793"/>
            <a:ext cx="7840576" cy="1512168"/>
          </a:xfrm>
        </p:spPr>
        <p:txBody>
          <a:bodyPr/>
          <a:lstStyle/>
          <a:p>
            <a:pPr algn="l" eaLnBrk="1" hangingPunct="1"/>
            <a:r>
              <a:rPr lang="en-US" altLang="zh-CN" sz="2800" b="1" i="1">
                <a:solidFill>
                  <a:srgbClr val="FF0000"/>
                </a:solidFill>
                <a:latin typeface="+mn-lt"/>
                <a:ea typeface="隶书" pitchFamily="49" charset="-122"/>
              </a:rPr>
              <a:t>C </a:t>
            </a:r>
            <a:r>
              <a:rPr lang="en-US" altLang="zh-CN" sz="2800" b="1">
                <a:solidFill>
                  <a:schemeClr val="tx1"/>
                </a:solidFill>
                <a:latin typeface="+mn-lt"/>
                <a:ea typeface="隶书" pitchFamily="49" charset="-122"/>
              </a:rPr>
              <a:t>is only located at crystal center. The operation is inversion. </a:t>
            </a:r>
            <a:br>
              <a:rPr lang="zh-CN" altLang="en-US" sz="2800" b="1">
                <a:solidFill>
                  <a:schemeClr val="tx1"/>
                </a:solidFill>
                <a:latin typeface="+mn-lt"/>
                <a:ea typeface="隶书" pitchFamily="49" charset="-122"/>
              </a:rPr>
            </a:br>
            <a:endParaRPr lang="zh-CN" altLang="en-US" sz="2800" b="1">
              <a:solidFill>
                <a:srgbClr val="FF0066"/>
              </a:solidFill>
              <a:latin typeface="+mn-lt"/>
              <a:ea typeface="华文楷体" pitchFamily="2" charset="-122"/>
            </a:endParaRPr>
          </a:p>
        </p:txBody>
      </p:sp>
      <p:pic>
        <p:nvPicPr>
          <p:cNvPr id="21507" name="Picture 5" descr="symcente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971550" y="2994283"/>
            <a:ext cx="3113077" cy="2583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6"/>
          <p:cNvSpPr>
            <a:spLocks noChangeArrowheads="1"/>
          </p:cNvSpPr>
          <p:nvPr/>
        </p:nvSpPr>
        <p:spPr bwMode="auto">
          <a:xfrm>
            <a:off x="903288" y="585788"/>
            <a:ext cx="7772400"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600"/>
              <a:t>Symmetry center - </a:t>
            </a:r>
            <a:r>
              <a:rPr lang="en-US" altLang="zh-CN" sz="3600" i="1">
                <a:solidFill>
                  <a:srgbClr val="FF0000"/>
                </a:solidFill>
              </a:rPr>
              <a:t>c</a:t>
            </a:r>
            <a:endParaRPr lang="zh-CN" altLang="en-US" sz="3600" b="0" i="1">
              <a:solidFill>
                <a:srgbClr val="FF0000"/>
              </a:solidFill>
            </a:endParaRPr>
          </a:p>
        </p:txBody>
      </p:sp>
      <p:sp>
        <p:nvSpPr>
          <p:cNvPr id="21509" name="Line 7"/>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0" name="Text Box 8"/>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 name="Rectangle 1"/>
          <p:cNvSpPr/>
          <p:nvPr/>
        </p:nvSpPr>
        <p:spPr>
          <a:xfrm>
            <a:off x="4355976" y="2920299"/>
            <a:ext cx="4102224" cy="2246769"/>
          </a:xfrm>
          <a:prstGeom prst="rect">
            <a:avLst/>
          </a:prstGeom>
        </p:spPr>
        <p:txBody>
          <a:bodyPr wrap="square">
            <a:spAutoFit/>
          </a:bodyPr>
          <a:lstStyle/>
          <a:p>
            <a:pPr lvl="0" algn="just"/>
            <a:r>
              <a:rPr lang="en-US" altLang="zh-CN" sz="2800" b="0" kern="0">
                <a:latin typeface="Times New Roman"/>
                <a:ea typeface="华文楷体" pitchFamily="2" charset="-122"/>
                <a:cs typeface="+mj-cs"/>
              </a:rPr>
              <a:t>In crystals with symmetry center, crystal planes are always present in pairs and reversely parallel with same shape and size.</a:t>
            </a:r>
            <a:endParaRPr lang="zh-CN" altLang="en-US" sz="2800" b="0" kern="0">
              <a:latin typeface="Times New Roman"/>
              <a:ea typeface="华文楷体" pitchFamily="2" charset="-122"/>
              <a:cs typeface="+mj-cs"/>
            </a:endParaRPr>
          </a:p>
        </p:txBody>
      </p:sp>
    </p:spTree>
    <p:extLst>
      <p:ext uri="{BB962C8B-B14F-4D97-AF65-F5344CB8AC3E}">
        <p14:creationId xmlns:p14="http://schemas.microsoft.com/office/powerpoint/2010/main" val="1403905962"/>
      </p:ext>
    </p:extLst>
  </p:cSld>
  <p:clrMapOvr>
    <a:masterClrMapping/>
  </p:clrMapOvr>
  <p:transition spd="med">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Line 3"/>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1" name="Rectangle 4"/>
          <p:cNvSpPr>
            <a:spLocks noChangeArrowheads="1"/>
          </p:cNvSpPr>
          <p:nvPr/>
        </p:nvSpPr>
        <p:spPr bwMode="auto">
          <a:xfrm>
            <a:off x="609600" y="762000"/>
            <a:ext cx="7772400" cy="102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4000">
                <a:solidFill>
                  <a:schemeClr val="tx2"/>
                </a:solidFill>
              </a:rPr>
              <a:t>Operation of symmetry center</a:t>
            </a:r>
            <a:endParaRPr lang="zh-CN" altLang="en-US" sz="4000">
              <a:solidFill>
                <a:schemeClr val="tx2"/>
              </a:solidFill>
            </a:endParaRPr>
          </a:p>
        </p:txBody>
      </p:sp>
      <p:sp>
        <p:nvSpPr>
          <p:cNvPr id="135173" name="Rectangle 5"/>
          <p:cNvSpPr>
            <a:spLocks noChangeArrowheads="1"/>
          </p:cNvSpPr>
          <p:nvPr/>
        </p:nvSpPr>
        <p:spPr bwMode="auto">
          <a:xfrm>
            <a:off x="381000" y="1828800"/>
            <a:ext cx="4263008"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itchFamily="18" charset="0"/>
                <a:ea typeface="宋体" pitchFamily="2" charset="-122"/>
              </a:defRPr>
            </a:lvl1pPr>
            <a:lvl2pPr marL="865188" indent="-407988">
              <a:defRPr kumimoji="1" sz="2400">
                <a:solidFill>
                  <a:schemeClr val="tx1"/>
                </a:solidFill>
                <a:latin typeface="Times New Roman" pitchFamily="18" charset="0"/>
                <a:ea typeface="宋体" pitchFamily="2" charset="-122"/>
              </a:defRPr>
            </a:lvl2pPr>
            <a:lvl3pPr marL="1246188">
              <a:defRPr kumimoji="1" sz="2400">
                <a:solidFill>
                  <a:schemeClr val="tx1"/>
                </a:solidFill>
                <a:latin typeface="Times New Roman" pitchFamily="18" charset="0"/>
                <a:ea typeface="宋体" pitchFamily="2" charset="-122"/>
              </a:defRPr>
            </a:lvl3pPr>
            <a:lvl4pPr marL="1436688">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buClr>
                <a:schemeClr val="tx2"/>
              </a:buClr>
              <a:buFontTx/>
              <a:buChar char="•"/>
              <a:defRPr/>
            </a:pPr>
            <a:r>
              <a:rPr lang="en-US" altLang="zh-CN" sz="2800" b="0"/>
              <a:t> </a:t>
            </a:r>
            <a:r>
              <a:rPr lang="en-US" altLang="zh-CN" sz="2800">
                <a:solidFill>
                  <a:schemeClr val="tx2"/>
                </a:solidFill>
              </a:rPr>
              <a:t>symmetry center </a:t>
            </a:r>
            <a:r>
              <a:rPr lang="en-US" altLang="zh-CN" sz="2800" b="0">
                <a:solidFill>
                  <a:srgbClr val="FF0000"/>
                </a:solidFill>
              </a:rPr>
              <a:t>(</a:t>
            </a:r>
            <a:r>
              <a:rPr lang="en-US" altLang="zh-CN" sz="2800">
                <a:solidFill>
                  <a:srgbClr val="FF0000"/>
                </a:solidFill>
              </a:rPr>
              <a:t>C, 1</a:t>
            </a:r>
            <a:r>
              <a:rPr lang="en-US" altLang="zh-CN" sz="2800" b="0">
                <a:solidFill>
                  <a:srgbClr val="FF0000"/>
                </a:solidFill>
              </a:rPr>
              <a:t>)</a:t>
            </a:r>
          </a:p>
          <a:p>
            <a:pPr lvl="1">
              <a:spcBef>
                <a:spcPct val="20000"/>
              </a:spcBef>
              <a:buClr>
                <a:schemeClr val="tx2"/>
              </a:buClr>
              <a:buFontTx/>
              <a:buChar char="•"/>
              <a:defRPr/>
            </a:pPr>
            <a:r>
              <a:rPr kumimoji="0" lang="en-US" altLang="zh-CN" b="0">
                <a:latin typeface="宋体" pitchFamily="2" charset="-122"/>
              </a:rPr>
              <a:t>inversion according to an imaginary geometric point </a:t>
            </a:r>
          </a:p>
          <a:p>
            <a:pPr marL="457200" lvl="1" indent="0">
              <a:spcBef>
                <a:spcPct val="20000"/>
              </a:spcBef>
              <a:buClr>
                <a:schemeClr val="tx2"/>
              </a:buClr>
              <a:defRPr/>
            </a:pPr>
            <a:r>
              <a:rPr kumimoji="0" lang="en-US" altLang="zh-CN" b="0"/>
              <a:t>(</a:t>
            </a:r>
            <a:r>
              <a:rPr kumimoji="0" lang="en-US" altLang="zh-CN" b="0" i="1"/>
              <a:t>x, y, z</a:t>
            </a:r>
            <a:r>
              <a:rPr kumimoji="0" lang="en-US" altLang="zh-CN" b="0"/>
              <a:t>)         (-</a:t>
            </a:r>
            <a:r>
              <a:rPr kumimoji="0" lang="en-US" altLang="zh-CN" b="0" i="1"/>
              <a:t>x, -y, -z</a:t>
            </a:r>
            <a:r>
              <a:rPr kumimoji="0" lang="en-US" altLang="zh-CN" b="0"/>
              <a:t>)</a:t>
            </a:r>
          </a:p>
          <a:p>
            <a:pPr>
              <a:spcBef>
                <a:spcPct val="20000"/>
              </a:spcBef>
              <a:buClr>
                <a:schemeClr val="tx2"/>
              </a:buClr>
              <a:defRPr/>
            </a:pPr>
            <a:endParaRPr kumimoji="0" lang="en-US" altLang="zh-CN" b="0">
              <a:solidFill>
                <a:srgbClr val="9900FF"/>
              </a:solidFill>
              <a:effectLst>
                <a:outerShdw blurRad="38100" dist="38100" dir="2700000" algn="tl">
                  <a:srgbClr val="000000"/>
                </a:outerShdw>
              </a:effectLst>
            </a:endParaRPr>
          </a:p>
          <a:p>
            <a:pPr>
              <a:spcBef>
                <a:spcPct val="20000"/>
              </a:spcBef>
              <a:buClr>
                <a:schemeClr val="tx2"/>
              </a:buClr>
              <a:buFontTx/>
              <a:buChar char="•"/>
              <a:defRPr/>
            </a:pPr>
            <a:r>
              <a:rPr kumimoji="0" lang="en-US" altLang="zh-CN"/>
              <a:t> Transformation matrix</a:t>
            </a:r>
            <a:r>
              <a:rPr lang="zh-CN" altLang="en-US"/>
              <a:t>：</a:t>
            </a:r>
            <a:endParaRPr lang="zh-CN" altLang="en-US" sz="2800"/>
          </a:p>
        </p:txBody>
      </p:sp>
      <p:sp>
        <p:nvSpPr>
          <p:cNvPr id="22533" name="Line 6"/>
          <p:cNvSpPr>
            <a:spLocks noChangeShapeType="1"/>
          </p:cNvSpPr>
          <p:nvPr/>
        </p:nvSpPr>
        <p:spPr bwMode="auto">
          <a:xfrm>
            <a:off x="1905000" y="3789040"/>
            <a:ext cx="533400" cy="0"/>
          </a:xfrm>
          <a:prstGeom prst="line">
            <a:avLst/>
          </a:prstGeom>
          <a:noFill/>
          <a:ln w="1905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4" name="Line 7"/>
          <p:cNvSpPr>
            <a:spLocks noChangeShapeType="1"/>
          </p:cNvSpPr>
          <p:nvPr/>
        </p:nvSpPr>
        <p:spPr bwMode="auto">
          <a:xfrm flipH="1" flipV="1">
            <a:off x="6116638" y="3436938"/>
            <a:ext cx="668337" cy="9398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5" name="Line 8"/>
          <p:cNvSpPr>
            <a:spLocks noChangeShapeType="1"/>
          </p:cNvSpPr>
          <p:nvPr/>
        </p:nvSpPr>
        <p:spPr bwMode="auto">
          <a:xfrm>
            <a:off x="3877124" y="1947568"/>
            <a:ext cx="152400" cy="0"/>
          </a:xfrm>
          <a:prstGeom prst="line">
            <a:avLst/>
          </a:prstGeom>
          <a:noFill/>
          <a:ln w="28575" cap="sq">
            <a:solidFill>
              <a:srgbClr val="33CC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35177" name="Picture 9" descr="pic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828800"/>
            <a:ext cx="3609975" cy="414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5178" name="Object 10"/>
          <p:cNvGraphicFramePr>
            <a:graphicFrameLocks noChangeAspect="1"/>
          </p:cNvGraphicFramePr>
          <p:nvPr>
            <p:extLst>
              <p:ext uri="{D42A27DB-BD31-4B8C-83A1-F6EECF244321}">
                <p14:modId xmlns:p14="http://schemas.microsoft.com/office/powerpoint/2010/main" val="2270277998"/>
              </p:ext>
            </p:extLst>
          </p:nvPr>
        </p:nvGraphicFramePr>
        <p:xfrm>
          <a:off x="1691680" y="5026173"/>
          <a:ext cx="2163763" cy="1293813"/>
        </p:xfrm>
        <a:graphic>
          <a:graphicData uri="http://schemas.openxmlformats.org/presentationml/2006/ole">
            <mc:AlternateContent xmlns:mc="http://schemas.openxmlformats.org/markup-compatibility/2006">
              <mc:Choice xmlns:v="urn:schemas-microsoft-com:vml" Requires="v">
                <p:oleObj spid="_x0000_s6145" name="公式" r:id="rId5" imgW="1193800" imgH="711200" progId="Equation.3">
                  <p:embed/>
                </p:oleObj>
              </mc:Choice>
              <mc:Fallback>
                <p:oleObj name="公式" r:id="rId5" imgW="1193800" imgH="711200" progId="Equation.3">
                  <p:embed/>
                  <p:pic>
                    <p:nvPicPr>
                      <p:cNvPr id="135178"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1680" y="5026173"/>
                        <a:ext cx="2163763" cy="1293813"/>
                      </a:xfrm>
                      <a:prstGeom prst="rect">
                        <a:avLst/>
                      </a:prstGeom>
                      <a:noFill/>
                      <a:ln>
                        <a:noFill/>
                      </a:ln>
                    </p:spPr>
                  </p:pic>
                </p:oleObj>
              </mc:Fallback>
            </mc:AlternateContent>
          </a:graphicData>
        </a:graphic>
      </p:graphicFrame>
      <p:sp>
        <p:nvSpPr>
          <p:cNvPr id="22538" name="Text Box 11"/>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5177"/>
                                        </p:tgtEl>
                                        <p:attrNameLst>
                                          <p:attrName>style.visibility</p:attrName>
                                        </p:attrNameLst>
                                      </p:cBhvr>
                                      <p:to>
                                        <p:strVal val="visible"/>
                                      </p:to>
                                    </p:set>
                                    <p:anim calcmode="lin" valueType="num">
                                      <p:cBhvr additive="base">
                                        <p:cTn id="7" dur="500" fill="hold"/>
                                        <p:tgtEl>
                                          <p:spTgt spid="135177"/>
                                        </p:tgtEl>
                                        <p:attrNameLst>
                                          <p:attrName>ppt_x</p:attrName>
                                        </p:attrNameLst>
                                      </p:cBhvr>
                                      <p:tavLst>
                                        <p:tav tm="0">
                                          <p:val>
                                            <p:strVal val="0-#ppt_w/2"/>
                                          </p:val>
                                        </p:tav>
                                        <p:tav tm="100000">
                                          <p:val>
                                            <p:strVal val="#ppt_x"/>
                                          </p:val>
                                        </p:tav>
                                      </p:tavLst>
                                    </p:anim>
                                    <p:anim calcmode="lin" valueType="num">
                                      <p:cBhvr additive="base">
                                        <p:cTn id="8" dur="500" fill="hold"/>
                                        <p:tgtEl>
                                          <p:spTgt spid="13517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5178"/>
                                        </p:tgtEl>
                                        <p:attrNameLst>
                                          <p:attrName>style.visibility</p:attrName>
                                        </p:attrNameLst>
                                      </p:cBhvr>
                                      <p:to>
                                        <p:strVal val="visible"/>
                                      </p:to>
                                    </p:set>
                                    <p:anim calcmode="lin" valueType="num">
                                      <p:cBhvr additive="base">
                                        <p:cTn id="13" dur="500" fill="hold"/>
                                        <p:tgtEl>
                                          <p:spTgt spid="135178"/>
                                        </p:tgtEl>
                                        <p:attrNameLst>
                                          <p:attrName>ppt_x</p:attrName>
                                        </p:attrNameLst>
                                      </p:cBhvr>
                                      <p:tavLst>
                                        <p:tav tm="0">
                                          <p:val>
                                            <p:strVal val="0-#ppt_w/2"/>
                                          </p:val>
                                        </p:tav>
                                        <p:tav tm="100000">
                                          <p:val>
                                            <p:strVal val="#ppt_x"/>
                                          </p:val>
                                        </p:tav>
                                      </p:tavLst>
                                    </p:anim>
                                    <p:anim calcmode="lin" valueType="num">
                                      <p:cBhvr additive="base">
                                        <p:cTn id="14" dur="500" fill="hold"/>
                                        <p:tgtEl>
                                          <p:spTgt spid="1351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idx="1"/>
          </p:nvPr>
        </p:nvSpPr>
        <p:spPr>
          <a:xfrm>
            <a:off x="468313" y="1690688"/>
            <a:ext cx="8351837" cy="1090612"/>
          </a:xfrm>
        </p:spPr>
        <p:txBody>
          <a:bodyPr/>
          <a:lstStyle/>
          <a:p>
            <a:pPr eaLnBrk="1" hangingPunct="1">
              <a:buFontTx/>
              <a:buNone/>
            </a:pPr>
            <a:r>
              <a:rPr lang="en-US" altLang="zh-CN" sz="2800">
                <a:solidFill>
                  <a:srgbClr val="FF00FF"/>
                </a:solidFill>
              </a:rPr>
              <a:t>   ☆ </a:t>
            </a:r>
            <a:r>
              <a:rPr lang="en-US" altLang="zh-CN" sz="2800" b="1">
                <a:latin typeface="Brush455 BT" charset="0"/>
                <a:ea typeface="隶书" pitchFamily="49" charset="-122"/>
              </a:rPr>
              <a:t>Rotoinversion axis</a:t>
            </a:r>
            <a:r>
              <a:rPr lang="zh-CN" altLang="en-US" sz="2800"/>
              <a:t> </a:t>
            </a:r>
            <a:r>
              <a:rPr lang="en-US" altLang="zh-CN" sz="2800" b="1"/>
              <a:t>–</a:t>
            </a:r>
            <a:r>
              <a:rPr lang="en-US" altLang="zh-CN" sz="2800"/>
              <a:t> </a:t>
            </a:r>
            <a:r>
              <a:rPr lang="en-US" altLang="zh-CN" sz="2800" b="1" i="1">
                <a:solidFill>
                  <a:srgbClr val="FF0066"/>
                </a:solidFill>
              </a:rPr>
              <a:t>L</a:t>
            </a:r>
            <a:r>
              <a:rPr lang="en-US" altLang="zh-CN" sz="2800" b="1" i="1" baseline="-25000">
                <a:solidFill>
                  <a:srgbClr val="FF0066"/>
                </a:solidFill>
              </a:rPr>
              <a:t>i</a:t>
            </a:r>
            <a:r>
              <a:rPr lang="en-US" altLang="zh-CN" sz="2800" b="1" i="1" baseline="30000">
                <a:solidFill>
                  <a:srgbClr val="FF0066"/>
                </a:solidFill>
              </a:rPr>
              <a:t>n</a:t>
            </a:r>
            <a:r>
              <a:rPr lang="en-US" altLang="zh-CN" sz="2800" i="1" baseline="30000">
                <a:solidFill>
                  <a:srgbClr val="FF00FF"/>
                </a:solidFill>
              </a:rPr>
              <a:t> </a:t>
            </a:r>
            <a:r>
              <a:rPr lang="en-US" altLang="zh-CN" sz="2800" i="1"/>
              <a:t> </a:t>
            </a:r>
          </a:p>
          <a:p>
            <a:pPr eaLnBrk="1" hangingPunct="1">
              <a:buFontTx/>
              <a:buNone/>
            </a:pPr>
            <a:r>
              <a:rPr lang="en-US" altLang="zh-CN" sz="2800" b="1" i="1">
                <a:ea typeface="隶书" pitchFamily="49" charset="-122"/>
              </a:rPr>
              <a:t>        </a:t>
            </a:r>
            <a:r>
              <a:rPr lang="en-US" altLang="zh-CN" sz="2800" b="1">
                <a:latin typeface="Brush455 BT" charset="0"/>
                <a:ea typeface="隶书" pitchFamily="49" charset="-122"/>
              </a:rPr>
              <a:t>Operation: rotation + inversion</a:t>
            </a:r>
            <a:endParaRPr lang="zh-CN" altLang="en-US" sz="2800" b="1">
              <a:latin typeface="Brush455 BT" charset="0"/>
              <a:ea typeface="隶书" pitchFamily="49" charset="-122"/>
            </a:endParaRPr>
          </a:p>
        </p:txBody>
      </p:sp>
      <p:sp>
        <p:nvSpPr>
          <p:cNvPr id="23555" name="Rectangle 34"/>
          <p:cNvSpPr>
            <a:spLocks noChangeArrowheads="1"/>
          </p:cNvSpPr>
          <p:nvPr/>
        </p:nvSpPr>
        <p:spPr bwMode="auto">
          <a:xfrm>
            <a:off x="903288" y="801688"/>
            <a:ext cx="7772400"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a:t>Rotoinversion axis</a:t>
            </a:r>
            <a:r>
              <a:rPr lang="zh-CN" altLang="en-US"/>
              <a:t>（旋转反伸轴、倒转轴、反轴或反演轴）</a:t>
            </a:r>
            <a:endParaRPr lang="zh-CN" altLang="en-US" sz="3600" b="0">
              <a:solidFill>
                <a:schemeClr val="tx2"/>
              </a:solidFill>
            </a:endParaRPr>
          </a:p>
        </p:txBody>
      </p:sp>
      <p:sp>
        <p:nvSpPr>
          <p:cNvPr id="23556" name="Line 3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7" name="Text Box 3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pic>
        <p:nvPicPr>
          <p:cNvPr id="23558" name="Picture 38" descr="旋转反伸轴l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99852" y="3454425"/>
            <a:ext cx="3816350" cy="277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39" descr="旋转反伸轴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905127" y="3441725"/>
            <a:ext cx="3843337" cy="279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TextBox 7"/>
          <p:cNvSpPr txBox="1">
            <a:spLocks noChangeArrowheads="1"/>
          </p:cNvSpPr>
          <p:nvPr/>
        </p:nvSpPr>
        <p:spPr bwMode="auto">
          <a:xfrm>
            <a:off x="5156622" y="5518175"/>
            <a:ext cx="1071562" cy="40005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algn="ctr" eaLnBrk="1" hangingPunct="1"/>
            <a:r>
              <a:rPr lang="en-US" altLang="en-US" sz="2000">
                <a:solidFill>
                  <a:schemeClr val="bg1"/>
                </a:solidFill>
              </a:rPr>
              <a:t>L</a:t>
            </a:r>
            <a:r>
              <a:rPr lang="en-US" altLang="en-US" sz="2000" baseline="-25000">
                <a:solidFill>
                  <a:schemeClr val="bg1"/>
                </a:solidFill>
              </a:rPr>
              <a:t>i</a:t>
            </a:r>
            <a:r>
              <a:rPr lang="en-US" altLang="en-US" sz="2000" baseline="30000">
                <a:solidFill>
                  <a:schemeClr val="bg1"/>
                </a:solidFill>
              </a:rPr>
              <a:t>2</a:t>
            </a:r>
            <a:r>
              <a:rPr lang="en-US" altLang="en-US" sz="2000">
                <a:solidFill>
                  <a:schemeClr val="bg1"/>
                </a:solidFill>
              </a:rPr>
              <a:t>=P</a:t>
            </a:r>
          </a:p>
        </p:txBody>
      </p:sp>
      <p:pic>
        <p:nvPicPr>
          <p:cNvPr id="23561" name="Picture 8"/>
          <p:cNvPicPr>
            <a:picLocks noChangeAspect="1" noChangeArrowheads="1"/>
          </p:cNvPicPr>
          <p:nvPr/>
        </p:nvPicPr>
        <p:blipFill>
          <a:blip r:embed="rId4">
            <a:extLst>
              <a:ext uri="{28A0092B-C50C-407E-A947-70E740481C1C}">
                <a14:useLocalDpi xmlns:a14="http://schemas.microsoft.com/office/drawing/2010/main" val="0"/>
              </a:ext>
            </a:extLst>
          </a:blip>
          <a:srcRect t="966" r="56438" b="71730"/>
          <a:stretch>
            <a:fillRect/>
          </a:stretch>
        </p:blipFill>
        <p:spPr bwMode="auto">
          <a:xfrm>
            <a:off x="799852" y="5338787"/>
            <a:ext cx="1818357" cy="75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62" name="TextBox 9"/>
          <p:cNvSpPr txBox="1">
            <a:spLocks noChangeArrowheads="1"/>
          </p:cNvSpPr>
          <p:nvPr/>
        </p:nvSpPr>
        <p:spPr bwMode="auto">
          <a:xfrm>
            <a:off x="1100559" y="5518175"/>
            <a:ext cx="1071563" cy="40005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algn="ctr" eaLnBrk="1" hangingPunct="1"/>
            <a:r>
              <a:rPr lang="en-US" altLang="en-US" sz="2000">
                <a:solidFill>
                  <a:schemeClr val="bg1"/>
                </a:solidFill>
              </a:rPr>
              <a:t>L</a:t>
            </a:r>
            <a:r>
              <a:rPr lang="en-US" altLang="en-US" sz="2000" baseline="-25000">
                <a:solidFill>
                  <a:schemeClr val="bg1"/>
                </a:solidFill>
              </a:rPr>
              <a:t>i</a:t>
            </a:r>
            <a:r>
              <a:rPr lang="en-US" altLang="en-US" sz="2000" baseline="30000">
                <a:solidFill>
                  <a:schemeClr val="bg1"/>
                </a:solidFill>
              </a:rPr>
              <a:t>1</a:t>
            </a:r>
            <a:r>
              <a:rPr lang="en-US" altLang="en-US" sz="2000">
                <a:solidFill>
                  <a:schemeClr val="bg1"/>
                </a:solidFill>
              </a:rPr>
              <a:t>=C</a:t>
            </a:r>
          </a:p>
        </p:txBody>
      </p:sp>
      <p:cxnSp>
        <p:nvCxnSpPr>
          <p:cNvPr id="3" name="Straight Arrow Connector 2"/>
          <p:cNvCxnSpPr/>
          <p:nvPr/>
        </p:nvCxnSpPr>
        <p:spPr bwMode="auto">
          <a:xfrm flipV="1">
            <a:off x="1736328" y="3141315"/>
            <a:ext cx="2016274" cy="1368152"/>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3"/>
          <p:cNvSpPr txBox="1"/>
          <p:nvPr/>
        </p:nvSpPr>
        <p:spPr>
          <a:xfrm>
            <a:off x="3824560" y="2879705"/>
            <a:ext cx="3990067" cy="523220"/>
          </a:xfrm>
          <a:prstGeom prst="rect">
            <a:avLst/>
          </a:prstGeom>
          <a:noFill/>
        </p:spPr>
        <p:txBody>
          <a:bodyPr wrap="none" rtlCol="0">
            <a:spAutoFit/>
          </a:bodyPr>
          <a:lstStyle/>
          <a:p>
            <a:r>
              <a:rPr lang="en-US" altLang="zh-CN" sz="2800">
                <a:solidFill>
                  <a:srgbClr val="FF0066"/>
                </a:solidFill>
              </a:rPr>
              <a:t>Stereographic projection</a:t>
            </a:r>
            <a:endParaRPr lang="en-US" sz="2800">
              <a:solidFill>
                <a:srgbClr val="FF0066"/>
              </a:solidFill>
            </a:endParaRPr>
          </a:p>
        </p:txBody>
      </p:sp>
      <p:sp>
        <p:nvSpPr>
          <p:cNvPr id="2" name="TextBox 1"/>
          <p:cNvSpPr txBox="1"/>
          <p:nvPr/>
        </p:nvSpPr>
        <p:spPr>
          <a:xfrm>
            <a:off x="1590862" y="6334780"/>
            <a:ext cx="6343275" cy="523220"/>
          </a:xfrm>
          <a:prstGeom prst="rect">
            <a:avLst/>
          </a:prstGeom>
          <a:noFill/>
        </p:spPr>
        <p:txBody>
          <a:bodyPr wrap="none" rtlCol="0">
            <a:spAutoFit/>
          </a:bodyPr>
          <a:lstStyle/>
          <a:p>
            <a:r>
              <a:rPr lang="en-US" altLang="zh-CN" sz="2800"/>
              <a:t>Symmetry center locates at rotation axis</a:t>
            </a:r>
            <a:endParaRPr lang="zh-CN" altLang="en-US" sz="2800"/>
          </a:p>
        </p:txBody>
      </p:sp>
    </p:spTree>
  </p:cSld>
  <p:clrMapOvr>
    <a:masterClrMapping/>
  </p:clrMapOvr>
  <p:transition spd="med">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7" descr="旋转反伸轴l3"/>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28663" y="862013"/>
            <a:ext cx="3627437"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Picture 8" descr="旋转反伸轴l4"/>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836613"/>
            <a:ext cx="3698875"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9" descr="旋转反伸轴l6"/>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3573463"/>
            <a:ext cx="4203700"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Line 10"/>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2" name="Text Box 11"/>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4583" name="TextBox 1"/>
          <p:cNvSpPr txBox="1">
            <a:spLocks noChangeArrowheads="1"/>
          </p:cNvSpPr>
          <p:nvPr/>
        </p:nvSpPr>
        <p:spPr bwMode="auto">
          <a:xfrm>
            <a:off x="827088" y="2997200"/>
            <a:ext cx="1223962" cy="40005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en-US" sz="2000">
                <a:solidFill>
                  <a:schemeClr val="bg1"/>
                </a:solidFill>
              </a:rPr>
              <a:t>L</a:t>
            </a:r>
            <a:r>
              <a:rPr lang="en-US" altLang="en-US" sz="2000" baseline="-25000">
                <a:solidFill>
                  <a:schemeClr val="bg1"/>
                </a:solidFill>
              </a:rPr>
              <a:t>i</a:t>
            </a:r>
            <a:r>
              <a:rPr lang="en-US" altLang="en-US" sz="2000" baseline="30000">
                <a:solidFill>
                  <a:schemeClr val="bg1"/>
                </a:solidFill>
              </a:rPr>
              <a:t>3</a:t>
            </a:r>
            <a:r>
              <a:rPr lang="en-US" altLang="en-US" sz="2000">
                <a:solidFill>
                  <a:schemeClr val="bg1"/>
                </a:solidFill>
              </a:rPr>
              <a:t>=L</a:t>
            </a:r>
            <a:r>
              <a:rPr lang="en-US" altLang="en-US" sz="2000" baseline="30000">
                <a:solidFill>
                  <a:schemeClr val="bg1"/>
                </a:solidFill>
              </a:rPr>
              <a:t>3</a:t>
            </a:r>
            <a:r>
              <a:rPr lang="en-US" altLang="en-US" sz="2000">
                <a:solidFill>
                  <a:schemeClr val="bg1"/>
                </a:solidFill>
              </a:rPr>
              <a:t>+C</a:t>
            </a:r>
          </a:p>
        </p:txBody>
      </p:sp>
      <p:sp>
        <p:nvSpPr>
          <p:cNvPr id="24584" name="TextBox 7"/>
          <p:cNvSpPr txBox="1">
            <a:spLocks noChangeArrowheads="1"/>
          </p:cNvSpPr>
          <p:nvPr/>
        </p:nvSpPr>
        <p:spPr bwMode="auto">
          <a:xfrm>
            <a:off x="4965700" y="2997200"/>
            <a:ext cx="1079500" cy="40005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algn="ctr" eaLnBrk="1" hangingPunct="1"/>
            <a:r>
              <a:rPr lang="en-US" altLang="en-US" sz="2000">
                <a:solidFill>
                  <a:schemeClr val="bg1"/>
                </a:solidFill>
              </a:rPr>
              <a:t>L</a:t>
            </a:r>
            <a:r>
              <a:rPr lang="en-US" altLang="en-US" sz="2000" baseline="-25000">
                <a:solidFill>
                  <a:schemeClr val="bg1"/>
                </a:solidFill>
              </a:rPr>
              <a:t>i</a:t>
            </a:r>
            <a:r>
              <a:rPr lang="en-US" altLang="en-US" sz="2000" baseline="30000">
                <a:solidFill>
                  <a:schemeClr val="bg1"/>
                </a:solidFill>
              </a:rPr>
              <a:t>4</a:t>
            </a:r>
            <a:endParaRPr lang="en-US" altLang="en-US" sz="2000">
              <a:solidFill>
                <a:schemeClr val="bg1"/>
              </a:solidFill>
            </a:endParaRPr>
          </a:p>
        </p:txBody>
      </p:sp>
      <p:sp>
        <p:nvSpPr>
          <p:cNvPr id="24585" name="TextBox 8"/>
          <p:cNvSpPr txBox="1">
            <a:spLocks noChangeArrowheads="1"/>
          </p:cNvSpPr>
          <p:nvPr/>
        </p:nvSpPr>
        <p:spPr bwMode="auto">
          <a:xfrm>
            <a:off x="2552700" y="5949950"/>
            <a:ext cx="1195388" cy="40005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en-US" sz="2000">
                <a:solidFill>
                  <a:schemeClr val="bg1"/>
                </a:solidFill>
              </a:rPr>
              <a:t>L</a:t>
            </a:r>
            <a:r>
              <a:rPr lang="en-US" altLang="en-US" sz="2000" baseline="-25000">
                <a:solidFill>
                  <a:schemeClr val="bg1"/>
                </a:solidFill>
              </a:rPr>
              <a:t>i</a:t>
            </a:r>
            <a:r>
              <a:rPr lang="en-US" altLang="en-US" sz="2000" baseline="30000">
                <a:solidFill>
                  <a:schemeClr val="bg1"/>
                </a:solidFill>
              </a:rPr>
              <a:t>6</a:t>
            </a:r>
            <a:r>
              <a:rPr lang="en-US" altLang="en-US" sz="2000">
                <a:solidFill>
                  <a:schemeClr val="bg1"/>
                </a:solidFill>
              </a:rPr>
              <a:t>=L</a:t>
            </a:r>
            <a:r>
              <a:rPr lang="en-US" altLang="en-US" sz="2000" baseline="30000">
                <a:solidFill>
                  <a:schemeClr val="bg1"/>
                </a:solidFill>
              </a:rPr>
              <a:t>3</a:t>
            </a:r>
            <a:r>
              <a:rPr lang="en-US" altLang="en-US" sz="2000">
                <a:solidFill>
                  <a:schemeClr val="bg1"/>
                </a:solidFill>
              </a:rPr>
              <a:t>+P</a:t>
            </a:r>
          </a:p>
        </p:txBody>
      </p:sp>
    </p:spTree>
  </p:cSld>
  <p:clrMapOvr>
    <a:masterClrMapping/>
  </p:clrMapOvr>
  <p:transition spd="med">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Line 3"/>
          <p:cNvSpPr>
            <a:spLocks noChangeShapeType="1"/>
          </p:cNvSpPr>
          <p:nvPr/>
        </p:nvSpPr>
        <p:spPr bwMode="auto">
          <a:xfrm>
            <a:off x="1066800" y="566738"/>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3" name="Rectangle 4"/>
          <p:cNvSpPr>
            <a:spLocks noChangeArrowheads="1"/>
          </p:cNvSpPr>
          <p:nvPr/>
        </p:nvSpPr>
        <p:spPr bwMode="auto">
          <a:xfrm>
            <a:off x="575591" y="652462"/>
            <a:ext cx="7778824" cy="102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600">
                <a:solidFill>
                  <a:schemeClr val="tx2"/>
                </a:solidFill>
              </a:rPr>
              <a:t>Operation of </a:t>
            </a:r>
            <a:r>
              <a:rPr lang="en-US" altLang="zh-CN" sz="3600"/>
              <a:t>Rotoinversion axis</a:t>
            </a:r>
            <a:r>
              <a:rPr lang="zh-CN" altLang="en-US" sz="2800" b="0">
                <a:solidFill>
                  <a:schemeClr val="tx2"/>
                </a:solidFill>
              </a:rPr>
              <a:t> </a:t>
            </a:r>
            <a:r>
              <a:rPr lang="en-US" altLang="zh-CN" sz="3600">
                <a:solidFill>
                  <a:schemeClr val="tx2"/>
                </a:solidFill>
              </a:rPr>
              <a:t>(</a:t>
            </a:r>
            <a:r>
              <a:rPr lang="en-US" altLang="zh-CN" sz="3600" b="0" i="1">
                <a:solidFill>
                  <a:schemeClr val="tx2"/>
                </a:solidFill>
              </a:rPr>
              <a:t>L</a:t>
            </a:r>
            <a:r>
              <a:rPr lang="en-US" altLang="zh-CN" sz="3600" b="0" i="1" baseline="-25000">
                <a:solidFill>
                  <a:schemeClr val="tx2"/>
                </a:solidFill>
              </a:rPr>
              <a:t>i</a:t>
            </a:r>
            <a:r>
              <a:rPr lang="en-US" altLang="zh-CN" sz="3600" b="0" i="1" baseline="30000">
                <a:solidFill>
                  <a:schemeClr val="tx2"/>
                </a:solidFill>
              </a:rPr>
              <a:t>n</a:t>
            </a:r>
            <a:r>
              <a:rPr lang="en-US" altLang="zh-CN" sz="3600">
                <a:solidFill>
                  <a:schemeClr val="tx2"/>
                </a:solidFill>
              </a:rPr>
              <a:t>)</a:t>
            </a:r>
            <a:endParaRPr lang="zh-CN" altLang="en-US" sz="3600">
              <a:solidFill>
                <a:schemeClr val="tx2"/>
              </a:solidFill>
            </a:endParaRPr>
          </a:p>
        </p:txBody>
      </p:sp>
      <p:sp>
        <p:nvSpPr>
          <p:cNvPr id="137221" name="Rectangle 5"/>
          <p:cNvSpPr>
            <a:spLocks noChangeArrowheads="1"/>
          </p:cNvSpPr>
          <p:nvPr/>
        </p:nvSpPr>
        <p:spPr bwMode="auto">
          <a:xfrm>
            <a:off x="381000" y="1676400"/>
            <a:ext cx="4335016"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itchFamily="18" charset="0"/>
                <a:ea typeface="宋体" pitchFamily="2" charset="-122"/>
              </a:defRPr>
            </a:lvl1pPr>
            <a:lvl2pPr marL="865188" indent="-407988">
              <a:defRPr kumimoji="1" sz="2400">
                <a:solidFill>
                  <a:schemeClr val="tx1"/>
                </a:solidFill>
                <a:latin typeface="Times New Roman" pitchFamily="18" charset="0"/>
                <a:ea typeface="宋体" pitchFamily="2" charset="-122"/>
              </a:defRPr>
            </a:lvl2pPr>
            <a:lvl3pPr marL="1246188">
              <a:defRPr kumimoji="1" sz="2400">
                <a:solidFill>
                  <a:schemeClr val="tx1"/>
                </a:solidFill>
                <a:latin typeface="Times New Roman" pitchFamily="18" charset="0"/>
                <a:ea typeface="宋体" pitchFamily="2" charset="-122"/>
              </a:defRPr>
            </a:lvl3pPr>
            <a:lvl4pPr marL="1436688">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buClr>
                <a:schemeClr val="tx2"/>
              </a:buClr>
              <a:buFontTx/>
              <a:buChar char="•"/>
              <a:defRPr/>
            </a:pPr>
            <a:r>
              <a:rPr lang="en-US" altLang="zh-CN" sz="2800" b="0">
                <a:latin typeface="+mn-lt"/>
              </a:rPr>
              <a:t> </a:t>
            </a:r>
            <a:r>
              <a:rPr lang="en-US" altLang="zh-CN" sz="2800">
                <a:latin typeface="+mn-lt"/>
              </a:rPr>
              <a:t>Rotoinversion axis</a:t>
            </a:r>
            <a:endParaRPr lang="zh-CN" altLang="en-US" sz="2800" b="0">
              <a:latin typeface="+mn-lt"/>
            </a:endParaRPr>
          </a:p>
          <a:p>
            <a:pPr lvl="1">
              <a:spcBef>
                <a:spcPct val="20000"/>
              </a:spcBef>
              <a:buClr>
                <a:schemeClr val="tx2"/>
              </a:buClr>
              <a:buFontTx/>
              <a:buChar char="•"/>
              <a:defRPr/>
            </a:pPr>
            <a:r>
              <a:rPr kumimoji="0" lang="en-US" altLang="zh-CN" b="0">
                <a:latin typeface="+mn-lt"/>
              </a:rPr>
              <a:t>Rotate around a line and inverse around a point</a:t>
            </a:r>
            <a:endParaRPr kumimoji="0" lang="zh-CN" altLang="en-US" b="0">
              <a:latin typeface="+mn-lt"/>
            </a:endParaRPr>
          </a:p>
          <a:p>
            <a:pPr lvl="1">
              <a:spcBef>
                <a:spcPct val="20000"/>
              </a:spcBef>
              <a:buClr>
                <a:schemeClr val="tx2"/>
              </a:buClr>
              <a:buFontTx/>
              <a:buChar char="•"/>
              <a:defRPr/>
            </a:pPr>
            <a:r>
              <a:rPr kumimoji="0" lang="en-US" altLang="zh-CN" b="0">
                <a:latin typeface="+mn-lt"/>
              </a:rPr>
              <a:t>= symmetry axis</a:t>
            </a:r>
            <a:r>
              <a:rPr kumimoji="0" lang="zh-CN" altLang="en-US" b="0">
                <a:latin typeface="+mn-lt"/>
              </a:rPr>
              <a:t>＋</a:t>
            </a:r>
            <a:r>
              <a:rPr kumimoji="0" lang="en-US" altLang="zh-CN" b="0">
                <a:latin typeface="+mn-lt"/>
              </a:rPr>
              <a:t>symmetry center</a:t>
            </a:r>
            <a:endParaRPr kumimoji="0" lang="zh-CN" altLang="en-US" b="0">
              <a:latin typeface="+mn-lt"/>
            </a:endParaRPr>
          </a:p>
          <a:p>
            <a:pPr lvl="1">
              <a:spcBef>
                <a:spcPct val="20000"/>
              </a:spcBef>
              <a:buClr>
                <a:schemeClr val="tx2"/>
              </a:buClr>
              <a:buFontTx/>
              <a:buChar char="•"/>
              <a:defRPr/>
            </a:pPr>
            <a:endParaRPr kumimoji="0" lang="zh-CN" altLang="en-US" b="0">
              <a:solidFill>
                <a:srgbClr val="33CC33"/>
              </a:solidFill>
              <a:latin typeface="+mn-lt"/>
            </a:endParaRPr>
          </a:p>
          <a:p>
            <a:pPr lvl="1">
              <a:spcBef>
                <a:spcPct val="20000"/>
              </a:spcBef>
              <a:buClr>
                <a:schemeClr val="tx2"/>
              </a:buClr>
              <a:defRPr/>
            </a:pPr>
            <a:r>
              <a:rPr kumimoji="0" lang="zh-CN" altLang="en-US">
                <a:latin typeface="+mn-lt"/>
              </a:rPr>
              <a:t>  </a:t>
            </a:r>
            <a:r>
              <a:rPr kumimoji="0" lang="en-US" altLang="zh-CN">
                <a:latin typeface="+mn-lt"/>
              </a:rPr>
              <a:t>Transformation matrix</a:t>
            </a:r>
            <a:r>
              <a:rPr lang="zh-CN" altLang="en-US">
                <a:latin typeface="+mn-lt"/>
              </a:rPr>
              <a:t>：</a:t>
            </a:r>
          </a:p>
        </p:txBody>
      </p:sp>
      <p:graphicFrame>
        <p:nvGraphicFramePr>
          <p:cNvPr id="137222" name="Object 6"/>
          <p:cNvGraphicFramePr>
            <a:graphicFrameLocks noChangeAspect="1"/>
          </p:cNvGraphicFramePr>
          <p:nvPr>
            <p:extLst>
              <p:ext uri="{D42A27DB-BD31-4B8C-83A1-F6EECF244321}">
                <p14:modId xmlns:p14="http://schemas.microsoft.com/office/powerpoint/2010/main" val="4084781819"/>
              </p:ext>
            </p:extLst>
          </p:nvPr>
        </p:nvGraphicFramePr>
        <p:xfrm>
          <a:off x="1066800" y="4941168"/>
          <a:ext cx="2667000" cy="1274763"/>
        </p:xfrm>
        <a:graphic>
          <a:graphicData uri="http://schemas.openxmlformats.org/presentationml/2006/ole">
            <mc:AlternateContent xmlns:mc="http://schemas.openxmlformats.org/markup-compatibility/2006">
              <mc:Choice xmlns:v="urn:schemas-microsoft-com:vml" Requires="v">
                <p:oleObj spid="_x0000_s7169" name="Microsoft 公式 3.0" r:id="rId3" imgW="1498600" imgH="711200" progId="Equation.3">
                  <p:embed/>
                </p:oleObj>
              </mc:Choice>
              <mc:Fallback>
                <p:oleObj name="Microsoft 公式 3.0" r:id="rId3" imgW="1498600" imgH="711200" progId="Equation.3">
                  <p:embed/>
                  <p:pic>
                    <p:nvPicPr>
                      <p:cNvPr id="13722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4941168"/>
                        <a:ext cx="2667000" cy="1274763"/>
                      </a:xfrm>
                      <a:prstGeom prst="rect">
                        <a:avLst/>
                      </a:prstGeom>
                      <a:noFill/>
                      <a:ln>
                        <a:noFill/>
                      </a:ln>
                    </p:spPr>
                  </p:pic>
                </p:oleObj>
              </mc:Fallback>
            </mc:AlternateContent>
          </a:graphicData>
        </a:graphic>
      </p:graphicFrame>
      <p:sp>
        <p:nvSpPr>
          <p:cNvPr id="137223" name="Rectangle 7"/>
          <p:cNvSpPr>
            <a:spLocks noChangeArrowheads="1"/>
          </p:cNvSpPr>
          <p:nvPr/>
        </p:nvSpPr>
        <p:spPr bwMode="auto">
          <a:xfrm>
            <a:off x="4876800" y="2057400"/>
            <a:ext cx="3627438"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865188" indent="-407988"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buClr>
                <a:schemeClr val="tx2"/>
              </a:buClr>
            </a:pPr>
            <a:r>
              <a:rPr lang="en-US" altLang="zh-CN" sz="4000" b="0" i="1">
                <a:solidFill>
                  <a:schemeClr val="tx2"/>
                </a:solidFill>
              </a:rPr>
              <a:t> </a:t>
            </a:r>
            <a:r>
              <a:rPr lang="en-US" altLang="zh-CN" sz="3600">
                <a:latin typeface="+mn-lt"/>
              </a:rPr>
              <a:t>Type</a:t>
            </a:r>
            <a:endParaRPr lang="zh-CN" altLang="en-US" sz="3600">
              <a:latin typeface="+mn-lt"/>
            </a:endParaRPr>
          </a:p>
          <a:p>
            <a:pPr lvl="1" eaLnBrk="1" hangingPunct="1">
              <a:buClr>
                <a:schemeClr val="tx2"/>
              </a:buClr>
              <a:buFontTx/>
              <a:buChar char="•"/>
            </a:pPr>
            <a:r>
              <a:rPr lang="en-US" altLang="zh-CN" sz="3200" b="0" i="1">
                <a:solidFill>
                  <a:schemeClr val="tx2"/>
                </a:solidFill>
              </a:rPr>
              <a:t>L</a:t>
            </a:r>
            <a:r>
              <a:rPr lang="en-US" altLang="zh-CN" sz="3200" b="0" i="1" baseline="-25000">
                <a:solidFill>
                  <a:schemeClr val="tx2"/>
                </a:solidFill>
              </a:rPr>
              <a:t>i</a:t>
            </a:r>
            <a:r>
              <a:rPr lang="en-US" altLang="zh-CN" sz="3200" b="0" baseline="30000">
                <a:solidFill>
                  <a:schemeClr val="tx2"/>
                </a:solidFill>
              </a:rPr>
              <a:t>1</a:t>
            </a:r>
            <a:r>
              <a:rPr lang="en-US" altLang="zh-CN" sz="3200" b="0" i="1" baseline="30000">
                <a:solidFill>
                  <a:schemeClr val="tx2"/>
                </a:solidFill>
              </a:rPr>
              <a:t> </a:t>
            </a:r>
            <a:r>
              <a:rPr lang="en-US" altLang="zh-CN" sz="3200" b="0" i="1">
                <a:solidFill>
                  <a:schemeClr val="tx2"/>
                </a:solidFill>
              </a:rPr>
              <a:t>= C</a:t>
            </a:r>
          </a:p>
          <a:p>
            <a:pPr lvl="1" eaLnBrk="1" hangingPunct="1">
              <a:buClr>
                <a:schemeClr val="tx2"/>
              </a:buClr>
              <a:buFontTx/>
              <a:buChar char="•"/>
            </a:pPr>
            <a:r>
              <a:rPr lang="en-US" altLang="zh-CN" sz="3200" b="0" i="1">
                <a:solidFill>
                  <a:schemeClr val="tx2"/>
                </a:solidFill>
              </a:rPr>
              <a:t>L</a:t>
            </a:r>
            <a:r>
              <a:rPr lang="en-US" altLang="zh-CN" sz="3200" b="0" i="1" baseline="-25000">
                <a:solidFill>
                  <a:schemeClr val="tx2"/>
                </a:solidFill>
              </a:rPr>
              <a:t>i</a:t>
            </a:r>
            <a:r>
              <a:rPr lang="en-US" altLang="zh-CN" sz="3200" b="0" baseline="30000">
                <a:solidFill>
                  <a:schemeClr val="tx2"/>
                </a:solidFill>
              </a:rPr>
              <a:t>2</a:t>
            </a:r>
            <a:r>
              <a:rPr lang="en-US" altLang="zh-CN" sz="3200" b="0" i="1" baseline="30000">
                <a:solidFill>
                  <a:schemeClr val="tx2"/>
                </a:solidFill>
              </a:rPr>
              <a:t> </a:t>
            </a:r>
            <a:r>
              <a:rPr lang="en-US" altLang="zh-CN" sz="3200" b="0" i="1">
                <a:solidFill>
                  <a:schemeClr val="tx2"/>
                </a:solidFill>
              </a:rPr>
              <a:t>= P</a:t>
            </a:r>
          </a:p>
          <a:p>
            <a:pPr lvl="1" eaLnBrk="1" hangingPunct="1">
              <a:buClr>
                <a:schemeClr val="tx2"/>
              </a:buClr>
              <a:buFontTx/>
              <a:buChar char="•"/>
            </a:pPr>
            <a:r>
              <a:rPr lang="en-US" altLang="zh-CN" sz="3200" b="0" i="1">
                <a:solidFill>
                  <a:srgbClr val="FF3300"/>
                </a:solidFill>
              </a:rPr>
              <a:t>L</a:t>
            </a:r>
            <a:r>
              <a:rPr lang="en-US" altLang="zh-CN" sz="3200" b="0" i="1" baseline="-25000">
                <a:solidFill>
                  <a:srgbClr val="FF3300"/>
                </a:solidFill>
              </a:rPr>
              <a:t>i</a:t>
            </a:r>
            <a:r>
              <a:rPr lang="en-US" altLang="zh-CN" sz="3200" b="0" baseline="30000">
                <a:solidFill>
                  <a:srgbClr val="FF3300"/>
                </a:solidFill>
              </a:rPr>
              <a:t>3</a:t>
            </a:r>
            <a:r>
              <a:rPr lang="en-US" altLang="zh-CN" sz="3200" b="0" i="1" baseline="30000">
                <a:solidFill>
                  <a:srgbClr val="FF3300"/>
                </a:solidFill>
              </a:rPr>
              <a:t> </a:t>
            </a:r>
            <a:r>
              <a:rPr lang="en-US" altLang="zh-CN" sz="3200" b="0" i="1">
                <a:solidFill>
                  <a:srgbClr val="FF3300"/>
                </a:solidFill>
              </a:rPr>
              <a:t>= L</a:t>
            </a:r>
            <a:r>
              <a:rPr lang="en-US" altLang="zh-CN" sz="3200" b="0" baseline="30000">
                <a:solidFill>
                  <a:srgbClr val="FF3300"/>
                </a:solidFill>
              </a:rPr>
              <a:t>3</a:t>
            </a:r>
            <a:r>
              <a:rPr lang="en-US" altLang="zh-CN" sz="3200" b="0" i="1" baseline="30000">
                <a:solidFill>
                  <a:srgbClr val="FF3300"/>
                </a:solidFill>
              </a:rPr>
              <a:t> </a:t>
            </a:r>
            <a:r>
              <a:rPr lang="en-US" altLang="zh-CN" sz="3200" b="0" i="1">
                <a:solidFill>
                  <a:srgbClr val="FF3300"/>
                </a:solidFill>
              </a:rPr>
              <a:t>+C</a:t>
            </a:r>
          </a:p>
          <a:p>
            <a:pPr lvl="1" eaLnBrk="1" hangingPunct="1">
              <a:buClr>
                <a:schemeClr val="tx2"/>
              </a:buClr>
              <a:buFontTx/>
              <a:buChar char="•"/>
            </a:pPr>
            <a:r>
              <a:rPr lang="en-US" altLang="zh-CN" sz="3200" b="0" i="1">
                <a:solidFill>
                  <a:srgbClr val="FF3300"/>
                </a:solidFill>
              </a:rPr>
              <a:t>L</a:t>
            </a:r>
            <a:r>
              <a:rPr lang="en-US" altLang="zh-CN" sz="3200" b="0" i="1" baseline="-25000">
                <a:solidFill>
                  <a:srgbClr val="FF3300"/>
                </a:solidFill>
              </a:rPr>
              <a:t>i</a:t>
            </a:r>
            <a:r>
              <a:rPr lang="en-US" altLang="zh-CN" sz="3200" b="0" baseline="30000">
                <a:solidFill>
                  <a:srgbClr val="FF3300"/>
                </a:solidFill>
              </a:rPr>
              <a:t>4</a:t>
            </a:r>
          </a:p>
          <a:p>
            <a:pPr lvl="1" eaLnBrk="1" hangingPunct="1">
              <a:buClr>
                <a:schemeClr val="tx2"/>
              </a:buClr>
              <a:buFontTx/>
              <a:buChar char="•"/>
            </a:pPr>
            <a:r>
              <a:rPr lang="en-US" altLang="zh-CN" sz="3200" b="0" i="1">
                <a:solidFill>
                  <a:srgbClr val="FF3300"/>
                </a:solidFill>
              </a:rPr>
              <a:t>L</a:t>
            </a:r>
            <a:r>
              <a:rPr lang="en-US" altLang="zh-CN" sz="3200" b="0" i="1" baseline="-25000">
                <a:solidFill>
                  <a:srgbClr val="FF3300"/>
                </a:solidFill>
              </a:rPr>
              <a:t>i</a:t>
            </a:r>
            <a:r>
              <a:rPr lang="en-US" altLang="zh-CN" sz="3200" b="0" baseline="30000">
                <a:solidFill>
                  <a:srgbClr val="FF3300"/>
                </a:solidFill>
              </a:rPr>
              <a:t>6</a:t>
            </a:r>
            <a:r>
              <a:rPr lang="en-US" altLang="zh-CN" sz="3200" b="0" i="1" baseline="30000">
                <a:solidFill>
                  <a:srgbClr val="FF3300"/>
                </a:solidFill>
              </a:rPr>
              <a:t> </a:t>
            </a:r>
            <a:r>
              <a:rPr lang="en-US" altLang="zh-CN" sz="3200" b="0" i="1">
                <a:solidFill>
                  <a:srgbClr val="FF3300"/>
                </a:solidFill>
              </a:rPr>
              <a:t>= L</a:t>
            </a:r>
            <a:r>
              <a:rPr lang="en-US" altLang="zh-CN" sz="3200" b="0" baseline="30000">
                <a:solidFill>
                  <a:srgbClr val="FF3300"/>
                </a:solidFill>
              </a:rPr>
              <a:t>3</a:t>
            </a:r>
            <a:r>
              <a:rPr lang="en-US" altLang="zh-CN" sz="3200" b="0" i="1" baseline="30000">
                <a:solidFill>
                  <a:srgbClr val="FF3300"/>
                </a:solidFill>
              </a:rPr>
              <a:t> </a:t>
            </a:r>
            <a:r>
              <a:rPr lang="en-US" altLang="zh-CN" sz="3200" b="0" i="1">
                <a:solidFill>
                  <a:srgbClr val="FF3300"/>
                </a:solidFill>
              </a:rPr>
              <a:t>+P</a:t>
            </a:r>
          </a:p>
        </p:txBody>
      </p:sp>
      <p:sp>
        <p:nvSpPr>
          <p:cNvPr id="25607" name="Text Box 8"/>
          <p:cNvSpPr txBox="1">
            <a:spLocks noChangeArrowheads="1"/>
          </p:cNvSpPr>
          <p:nvPr/>
        </p:nvSpPr>
        <p:spPr bwMode="auto">
          <a:xfrm>
            <a:off x="971550" y="188913"/>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7221"/>
                                        </p:tgtEl>
                                        <p:attrNameLst>
                                          <p:attrName>style.visibility</p:attrName>
                                        </p:attrNameLst>
                                      </p:cBhvr>
                                      <p:to>
                                        <p:strVal val="visible"/>
                                      </p:to>
                                    </p:set>
                                    <p:anim calcmode="lin" valueType="num">
                                      <p:cBhvr additive="base">
                                        <p:cTn id="7" dur="500" fill="hold"/>
                                        <p:tgtEl>
                                          <p:spTgt spid="137221"/>
                                        </p:tgtEl>
                                        <p:attrNameLst>
                                          <p:attrName>ppt_x</p:attrName>
                                        </p:attrNameLst>
                                      </p:cBhvr>
                                      <p:tavLst>
                                        <p:tav tm="0">
                                          <p:val>
                                            <p:strVal val="0-#ppt_w/2"/>
                                          </p:val>
                                        </p:tav>
                                        <p:tav tm="100000">
                                          <p:val>
                                            <p:strVal val="#ppt_x"/>
                                          </p:val>
                                        </p:tav>
                                      </p:tavLst>
                                    </p:anim>
                                    <p:anim calcmode="lin" valueType="num">
                                      <p:cBhvr additive="base">
                                        <p:cTn id="8" dur="500" fill="hold"/>
                                        <p:tgtEl>
                                          <p:spTgt spid="13722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7222"/>
                                        </p:tgtEl>
                                        <p:attrNameLst>
                                          <p:attrName>style.visibility</p:attrName>
                                        </p:attrNameLst>
                                      </p:cBhvr>
                                      <p:to>
                                        <p:strVal val="visible"/>
                                      </p:to>
                                    </p:set>
                                    <p:anim calcmode="lin" valueType="num">
                                      <p:cBhvr additive="base">
                                        <p:cTn id="13" dur="500" fill="hold"/>
                                        <p:tgtEl>
                                          <p:spTgt spid="137222"/>
                                        </p:tgtEl>
                                        <p:attrNameLst>
                                          <p:attrName>ppt_x</p:attrName>
                                        </p:attrNameLst>
                                      </p:cBhvr>
                                      <p:tavLst>
                                        <p:tav tm="0">
                                          <p:val>
                                            <p:strVal val="0-#ppt_w/2"/>
                                          </p:val>
                                        </p:tav>
                                        <p:tav tm="100000">
                                          <p:val>
                                            <p:strVal val="#ppt_x"/>
                                          </p:val>
                                        </p:tav>
                                      </p:tavLst>
                                    </p:anim>
                                    <p:anim calcmode="lin" valueType="num">
                                      <p:cBhvr additive="base">
                                        <p:cTn id="14" dur="500" fill="hold"/>
                                        <p:tgtEl>
                                          <p:spTgt spid="13722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7223"/>
                                        </p:tgtEl>
                                        <p:attrNameLst>
                                          <p:attrName>style.visibility</p:attrName>
                                        </p:attrNameLst>
                                      </p:cBhvr>
                                      <p:to>
                                        <p:strVal val="visible"/>
                                      </p:to>
                                    </p:set>
                                    <p:anim calcmode="lin" valueType="num">
                                      <p:cBhvr additive="base">
                                        <p:cTn id="19" dur="500" fill="hold"/>
                                        <p:tgtEl>
                                          <p:spTgt spid="137223"/>
                                        </p:tgtEl>
                                        <p:attrNameLst>
                                          <p:attrName>ppt_x</p:attrName>
                                        </p:attrNameLst>
                                      </p:cBhvr>
                                      <p:tavLst>
                                        <p:tav tm="0">
                                          <p:val>
                                            <p:strVal val="0-#ppt_w/2"/>
                                          </p:val>
                                        </p:tav>
                                        <p:tav tm="100000">
                                          <p:val>
                                            <p:strVal val="#ppt_x"/>
                                          </p:val>
                                        </p:tav>
                                      </p:tavLst>
                                    </p:anim>
                                    <p:anim calcmode="lin" valueType="num">
                                      <p:cBhvr additive="base">
                                        <p:cTn id="20" dur="500" fill="hold"/>
                                        <p:tgtEl>
                                          <p:spTgt spid="1372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1" grpId="0" autoUpdateAnimBg="0"/>
      <p:bldP spid="13722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8"/>
          <p:cNvSpPr>
            <a:spLocks noChangeArrowheads="1"/>
          </p:cNvSpPr>
          <p:nvPr/>
        </p:nvSpPr>
        <p:spPr bwMode="auto">
          <a:xfrm>
            <a:off x="-430872" y="995363"/>
            <a:ext cx="9579024" cy="102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800"/>
              <a:t>Planar graphic of operation for rotoinversion axis</a:t>
            </a:r>
            <a:r>
              <a:rPr lang="zh-CN" altLang="en-US" sz="2800">
                <a:solidFill>
                  <a:schemeClr val="tx2"/>
                </a:solidFill>
              </a:rPr>
              <a:t> </a:t>
            </a:r>
            <a:r>
              <a:rPr lang="en-US" altLang="zh-CN" sz="2800">
                <a:solidFill>
                  <a:schemeClr val="tx2"/>
                </a:solidFill>
              </a:rPr>
              <a:t>(</a:t>
            </a:r>
            <a:r>
              <a:rPr lang="en-US" altLang="zh-CN" sz="2800" b="0" i="1">
                <a:solidFill>
                  <a:srgbClr val="FF3300"/>
                </a:solidFill>
              </a:rPr>
              <a:t>L</a:t>
            </a:r>
            <a:r>
              <a:rPr lang="en-US" altLang="zh-CN" sz="2800" b="0" i="1" baseline="-25000">
                <a:solidFill>
                  <a:srgbClr val="FF3300"/>
                </a:solidFill>
              </a:rPr>
              <a:t>i</a:t>
            </a:r>
            <a:r>
              <a:rPr lang="en-US" altLang="zh-CN" sz="2800" b="0" i="1" baseline="30000">
                <a:solidFill>
                  <a:srgbClr val="FF3300"/>
                </a:solidFill>
              </a:rPr>
              <a:t>n</a:t>
            </a:r>
            <a:r>
              <a:rPr lang="en-US" altLang="zh-CN" sz="2800">
                <a:solidFill>
                  <a:schemeClr val="tx2"/>
                </a:solidFill>
              </a:rPr>
              <a:t>)</a:t>
            </a:r>
            <a:endParaRPr lang="zh-CN" altLang="en-US" sz="2800">
              <a:solidFill>
                <a:schemeClr val="tx2"/>
              </a:solidFill>
            </a:endParaRPr>
          </a:p>
        </p:txBody>
      </p:sp>
      <p:pic>
        <p:nvPicPr>
          <p:cNvPr id="26627" name="Picture 1030" descr="pic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05038"/>
            <a:ext cx="8686800"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Line 1031"/>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29" name="Text Box 1032"/>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type="body" idx="1"/>
          </p:nvPr>
        </p:nvSpPr>
        <p:spPr>
          <a:xfrm>
            <a:off x="760413" y="1903413"/>
            <a:ext cx="7772400" cy="4333875"/>
          </a:xfrm>
        </p:spPr>
        <p:txBody>
          <a:bodyPr/>
          <a:lstStyle/>
          <a:p>
            <a:pPr algn="just" eaLnBrk="1" hangingPunct="1">
              <a:lnSpc>
                <a:spcPct val="110000"/>
              </a:lnSpc>
              <a:defRPr/>
            </a:pPr>
            <a:r>
              <a:rPr lang="en-US" altLang="zh-CN" sz="2400"/>
              <a:t>Besides </a:t>
            </a:r>
            <a:r>
              <a:rPr lang="en-US" altLang="zh-CN" sz="2400" i="1">
                <a:solidFill>
                  <a:srgbClr val="FF0066"/>
                </a:solidFill>
              </a:rPr>
              <a:t>L</a:t>
            </a:r>
            <a:r>
              <a:rPr lang="en-US" altLang="zh-CN" sz="2400" i="1" baseline="-25000">
                <a:solidFill>
                  <a:srgbClr val="FF0066"/>
                </a:solidFill>
              </a:rPr>
              <a:t>i</a:t>
            </a:r>
            <a:r>
              <a:rPr lang="en-US" altLang="zh-CN" sz="2400" i="1" baseline="30000">
                <a:solidFill>
                  <a:srgbClr val="FF0066"/>
                </a:solidFill>
              </a:rPr>
              <a:t>4</a:t>
            </a:r>
            <a:r>
              <a:rPr lang="en-US" altLang="zh-CN" sz="2400"/>
              <a:t>,other rotoinversion axis could be replaced by simple combination of symmetry elements</a:t>
            </a:r>
            <a:r>
              <a:rPr lang="zh-CN" altLang="en-US" sz="2400"/>
              <a:t>：</a:t>
            </a:r>
          </a:p>
          <a:p>
            <a:pPr algn="just" eaLnBrk="1" hangingPunct="1">
              <a:lnSpc>
                <a:spcPct val="110000"/>
              </a:lnSpc>
              <a:buFontTx/>
              <a:buNone/>
              <a:defRPr/>
            </a:pPr>
            <a:r>
              <a:rPr lang="zh-CN" altLang="en-US" sz="2400" b="1" i="1">
                <a:solidFill>
                  <a:srgbClr val="FF0066"/>
                </a:solidFill>
              </a:rPr>
              <a:t>           </a:t>
            </a:r>
            <a:r>
              <a:rPr lang="en-US" altLang="zh-CN" sz="2400" b="1" i="1">
                <a:solidFill>
                  <a:srgbClr val="FF0066"/>
                </a:solidFill>
              </a:rPr>
              <a:t>L</a:t>
            </a:r>
            <a:r>
              <a:rPr lang="en-US" altLang="zh-CN" sz="2400" b="1" i="1" baseline="-25000">
                <a:solidFill>
                  <a:srgbClr val="FF0066"/>
                </a:solidFill>
              </a:rPr>
              <a:t>i</a:t>
            </a:r>
            <a:r>
              <a:rPr lang="en-US" altLang="zh-CN" sz="2400" b="1" i="1" baseline="30000">
                <a:solidFill>
                  <a:srgbClr val="FF0066"/>
                </a:solidFill>
              </a:rPr>
              <a:t>1</a:t>
            </a:r>
            <a:r>
              <a:rPr lang="en-US" altLang="zh-CN" sz="2400" b="1" i="1">
                <a:solidFill>
                  <a:srgbClr val="FF0066"/>
                </a:solidFill>
              </a:rPr>
              <a:t> = C</a:t>
            </a:r>
            <a:r>
              <a:rPr lang="zh-CN" altLang="en-US" sz="2400" b="1" i="1">
                <a:solidFill>
                  <a:srgbClr val="FF0066"/>
                </a:solidFill>
              </a:rPr>
              <a:t>， </a:t>
            </a:r>
            <a:r>
              <a:rPr lang="en-US" altLang="zh-CN" sz="2400" b="1" i="1">
                <a:solidFill>
                  <a:srgbClr val="FF0066"/>
                </a:solidFill>
              </a:rPr>
              <a:t>L</a:t>
            </a:r>
            <a:r>
              <a:rPr lang="en-US" altLang="zh-CN" sz="2400" b="1" i="1" baseline="-25000">
                <a:solidFill>
                  <a:srgbClr val="FF0066"/>
                </a:solidFill>
              </a:rPr>
              <a:t>i</a:t>
            </a:r>
            <a:r>
              <a:rPr lang="en-US" altLang="zh-CN" sz="2400" b="1" i="1" baseline="30000">
                <a:solidFill>
                  <a:srgbClr val="FF0066"/>
                </a:solidFill>
              </a:rPr>
              <a:t>2</a:t>
            </a:r>
            <a:r>
              <a:rPr lang="en-US" altLang="zh-CN" sz="2400" b="1" i="1">
                <a:solidFill>
                  <a:srgbClr val="FF0066"/>
                </a:solidFill>
              </a:rPr>
              <a:t> = P</a:t>
            </a:r>
            <a:r>
              <a:rPr lang="zh-CN" altLang="en-US" sz="2400" b="1" i="1">
                <a:solidFill>
                  <a:srgbClr val="FF0066"/>
                </a:solidFill>
              </a:rPr>
              <a:t>， </a:t>
            </a:r>
            <a:r>
              <a:rPr lang="en-US" altLang="zh-CN" sz="2400" b="1" i="1">
                <a:solidFill>
                  <a:srgbClr val="FF0066"/>
                </a:solidFill>
              </a:rPr>
              <a:t>L</a:t>
            </a:r>
            <a:r>
              <a:rPr lang="en-US" altLang="zh-CN" sz="2400" b="1" i="1" baseline="-25000">
                <a:solidFill>
                  <a:srgbClr val="FF0066"/>
                </a:solidFill>
              </a:rPr>
              <a:t>i</a:t>
            </a:r>
            <a:r>
              <a:rPr lang="en-US" altLang="zh-CN" sz="2400" b="1" i="1" baseline="30000">
                <a:solidFill>
                  <a:srgbClr val="FF0066"/>
                </a:solidFill>
              </a:rPr>
              <a:t>3</a:t>
            </a:r>
            <a:r>
              <a:rPr lang="en-US" altLang="zh-CN" sz="2400" b="1" i="1">
                <a:solidFill>
                  <a:srgbClr val="FF0066"/>
                </a:solidFill>
              </a:rPr>
              <a:t> = L</a:t>
            </a:r>
            <a:r>
              <a:rPr lang="en-US" altLang="zh-CN" sz="2400" b="1" i="1" baseline="30000">
                <a:solidFill>
                  <a:srgbClr val="FF0066"/>
                </a:solidFill>
              </a:rPr>
              <a:t>3 </a:t>
            </a:r>
            <a:r>
              <a:rPr lang="en-US" altLang="zh-CN" sz="2400" b="1" i="1">
                <a:solidFill>
                  <a:srgbClr val="FF0066"/>
                </a:solidFill>
              </a:rPr>
              <a:t>+C</a:t>
            </a:r>
            <a:r>
              <a:rPr lang="zh-CN" altLang="en-US" sz="2400" b="1" i="1">
                <a:solidFill>
                  <a:srgbClr val="FF0066"/>
                </a:solidFill>
              </a:rPr>
              <a:t>，</a:t>
            </a:r>
            <a:r>
              <a:rPr lang="en-US" altLang="zh-CN" sz="2400" b="1" i="1">
                <a:solidFill>
                  <a:srgbClr val="FF0066"/>
                </a:solidFill>
              </a:rPr>
              <a:t>L</a:t>
            </a:r>
            <a:r>
              <a:rPr lang="en-US" altLang="zh-CN" sz="2400" b="1" i="1" baseline="-25000">
                <a:solidFill>
                  <a:srgbClr val="FF0066"/>
                </a:solidFill>
              </a:rPr>
              <a:t>i</a:t>
            </a:r>
            <a:r>
              <a:rPr lang="en-US" altLang="zh-CN" sz="2400" b="1" i="1" baseline="30000">
                <a:solidFill>
                  <a:srgbClr val="FF0066"/>
                </a:solidFill>
              </a:rPr>
              <a:t>6</a:t>
            </a:r>
            <a:r>
              <a:rPr lang="en-US" altLang="zh-CN" sz="2400" b="1" i="1">
                <a:solidFill>
                  <a:srgbClr val="FF0066"/>
                </a:solidFill>
              </a:rPr>
              <a:t> = L</a:t>
            </a:r>
            <a:r>
              <a:rPr lang="en-US" altLang="zh-CN" sz="2400" b="1" i="1" baseline="30000">
                <a:solidFill>
                  <a:srgbClr val="FF0066"/>
                </a:solidFill>
              </a:rPr>
              <a:t>3 </a:t>
            </a:r>
            <a:r>
              <a:rPr lang="en-US" altLang="zh-CN" sz="2400" b="1" i="1">
                <a:solidFill>
                  <a:srgbClr val="FF0066"/>
                </a:solidFill>
              </a:rPr>
              <a:t>+ P</a:t>
            </a:r>
          </a:p>
          <a:p>
            <a:pPr eaLnBrk="1" hangingPunct="1">
              <a:lnSpc>
                <a:spcPct val="110000"/>
              </a:lnSpc>
              <a:defRPr/>
            </a:pPr>
            <a:r>
              <a:rPr lang="en-US" altLang="zh-CN" sz="2400"/>
              <a:t>But when we give symmetry elements of crystals, </a:t>
            </a:r>
            <a:r>
              <a:rPr lang="en-US" altLang="zh-CN" sz="2400" i="1">
                <a:solidFill>
                  <a:srgbClr val="FF0066"/>
                </a:solidFill>
              </a:rPr>
              <a:t>L</a:t>
            </a:r>
            <a:r>
              <a:rPr lang="en-US" altLang="zh-CN" sz="2400" i="1" baseline="-25000">
                <a:solidFill>
                  <a:srgbClr val="FF0066"/>
                </a:solidFill>
              </a:rPr>
              <a:t>i</a:t>
            </a:r>
            <a:r>
              <a:rPr lang="en-US" altLang="zh-CN" sz="2400" i="1" baseline="30000">
                <a:solidFill>
                  <a:srgbClr val="FF0066"/>
                </a:solidFill>
              </a:rPr>
              <a:t>4</a:t>
            </a:r>
            <a:r>
              <a:rPr lang="en-US" altLang="zh-CN" sz="2400"/>
              <a:t> and </a:t>
            </a:r>
            <a:r>
              <a:rPr lang="en-US" altLang="zh-CN" sz="2400" i="1">
                <a:solidFill>
                  <a:srgbClr val="FF0066"/>
                </a:solidFill>
              </a:rPr>
              <a:t>L</a:t>
            </a:r>
            <a:r>
              <a:rPr lang="en-US" altLang="zh-CN" sz="2400" i="1" baseline="-25000">
                <a:solidFill>
                  <a:srgbClr val="FF0066"/>
                </a:solidFill>
              </a:rPr>
              <a:t>i</a:t>
            </a:r>
            <a:r>
              <a:rPr lang="en-US" altLang="zh-CN" sz="2400" i="1" baseline="30000">
                <a:solidFill>
                  <a:srgbClr val="FF0066"/>
                </a:solidFill>
              </a:rPr>
              <a:t>6</a:t>
            </a:r>
            <a:r>
              <a:rPr lang="zh-CN" altLang="en-US" sz="2400" i="1" baseline="30000">
                <a:solidFill>
                  <a:srgbClr val="FF0066"/>
                </a:solidFill>
              </a:rPr>
              <a:t> </a:t>
            </a:r>
            <a:r>
              <a:rPr lang="en-US" altLang="zh-CN" sz="2400"/>
              <a:t>are always applied, but others are replaced by simple elements. This is due to the irreplaceability of </a:t>
            </a:r>
            <a:r>
              <a:rPr lang="en-US" altLang="zh-CN" sz="2400" i="1">
                <a:solidFill>
                  <a:srgbClr val="FF0066"/>
                </a:solidFill>
              </a:rPr>
              <a:t>L</a:t>
            </a:r>
            <a:r>
              <a:rPr lang="en-US" altLang="zh-CN" sz="2400" i="1" baseline="-25000">
                <a:solidFill>
                  <a:srgbClr val="FF0066"/>
                </a:solidFill>
              </a:rPr>
              <a:t>i</a:t>
            </a:r>
            <a:r>
              <a:rPr lang="en-US" altLang="zh-CN" sz="2400" i="1" baseline="30000">
                <a:solidFill>
                  <a:srgbClr val="FF0066"/>
                </a:solidFill>
              </a:rPr>
              <a:t>4</a:t>
            </a:r>
            <a:r>
              <a:rPr lang="en-US" altLang="zh-CN" sz="2400"/>
              <a:t> and</a:t>
            </a:r>
            <a:r>
              <a:rPr lang="zh-CN" altLang="en-US" sz="2400"/>
              <a:t> </a:t>
            </a:r>
            <a:r>
              <a:rPr lang="en-US" altLang="zh-CN" sz="2400" i="1" u="sng">
                <a:solidFill>
                  <a:srgbClr val="FF0066"/>
                </a:solidFill>
              </a:rPr>
              <a:t>L</a:t>
            </a:r>
            <a:r>
              <a:rPr lang="en-US" altLang="zh-CN" sz="2400" i="1" u="sng" baseline="-25000">
                <a:solidFill>
                  <a:srgbClr val="FF0066"/>
                </a:solidFill>
              </a:rPr>
              <a:t>i</a:t>
            </a:r>
            <a:r>
              <a:rPr lang="en-US" altLang="zh-CN" sz="2400" i="1" u="sng" baseline="30000">
                <a:solidFill>
                  <a:srgbClr val="FF0066"/>
                </a:solidFill>
              </a:rPr>
              <a:t>6 </a:t>
            </a:r>
            <a:r>
              <a:rPr lang="en-US" altLang="zh-CN" sz="2400"/>
              <a:t>has specific meaning in symmetry classification (refer to table 3-3 in text book ).</a:t>
            </a:r>
            <a:endParaRPr lang="zh-CN" altLang="en-US" sz="2400"/>
          </a:p>
          <a:p>
            <a:pPr eaLnBrk="1" hangingPunct="1">
              <a:lnSpc>
                <a:spcPct val="110000"/>
              </a:lnSpc>
              <a:buFontTx/>
              <a:buNone/>
              <a:defRPr/>
            </a:pPr>
            <a:r>
              <a:rPr lang="zh-CN" altLang="en-US" sz="2400" b="1">
                <a:latin typeface="华文隶书" pitchFamily="2" charset="-122"/>
                <a:ea typeface="华文隶书" pitchFamily="2" charset="-122"/>
              </a:rPr>
              <a:t>   </a:t>
            </a:r>
            <a:endParaRPr lang="zh-CN" altLang="en-US" sz="2400" b="1">
              <a:latin typeface="楷体_GB2312" pitchFamily="49" charset="-122"/>
              <a:ea typeface="楷体_GB2312" pitchFamily="49" charset="-122"/>
            </a:endParaRPr>
          </a:p>
        </p:txBody>
      </p:sp>
      <p:sp>
        <p:nvSpPr>
          <p:cNvPr id="27651" name="Rectangle 4"/>
          <p:cNvSpPr>
            <a:spLocks noChangeArrowheads="1"/>
          </p:cNvSpPr>
          <p:nvPr/>
        </p:nvSpPr>
        <p:spPr bwMode="auto">
          <a:xfrm>
            <a:off x="903288" y="801688"/>
            <a:ext cx="7772400"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600"/>
              <a:t>Rotoinversion axis</a:t>
            </a:r>
          </a:p>
        </p:txBody>
      </p:sp>
      <p:sp>
        <p:nvSpPr>
          <p:cNvPr id="27652"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3"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type="body" idx="1"/>
          </p:nvPr>
        </p:nvSpPr>
        <p:spPr>
          <a:xfrm>
            <a:off x="684213" y="1617663"/>
            <a:ext cx="7704137" cy="4764087"/>
          </a:xfrm>
        </p:spPr>
        <p:txBody>
          <a:bodyPr/>
          <a:lstStyle/>
          <a:p>
            <a:pPr marL="0" indent="0" eaLnBrk="1" hangingPunct="1">
              <a:buFontTx/>
              <a:buNone/>
            </a:pPr>
            <a:r>
              <a:rPr lang="en-US" altLang="zh-CN"/>
              <a:t>	It is difficult to find </a:t>
            </a:r>
            <a:r>
              <a:rPr lang="en-US" altLang="zh-CN" i="1">
                <a:solidFill>
                  <a:srgbClr val="FF0066"/>
                </a:solidFill>
              </a:rPr>
              <a:t>L</a:t>
            </a:r>
            <a:r>
              <a:rPr lang="en-US" altLang="zh-CN" i="1" baseline="-25000">
                <a:solidFill>
                  <a:srgbClr val="FF0066"/>
                </a:solidFill>
              </a:rPr>
              <a:t>i</a:t>
            </a:r>
            <a:r>
              <a:rPr lang="en-US" altLang="zh-CN" i="1" baseline="30000">
                <a:solidFill>
                  <a:srgbClr val="FF0066"/>
                </a:solidFill>
              </a:rPr>
              <a:t>4  </a:t>
            </a:r>
            <a:r>
              <a:rPr lang="en-US" altLang="zh-CN"/>
              <a:t>in crystal model, because it is similar with</a:t>
            </a:r>
            <a:r>
              <a:rPr lang="en-US" altLang="zh-CN" i="1">
                <a:solidFill>
                  <a:srgbClr val="FF0066"/>
                </a:solidFill>
                <a:ea typeface="隶书" pitchFamily="49" charset="-122"/>
              </a:rPr>
              <a:t> L</a:t>
            </a:r>
            <a:r>
              <a:rPr lang="en-US" altLang="zh-CN" i="1" baseline="30000">
                <a:solidFill>
                  <a:srgbClr val="FF0066"/>
                </a:solidFill>
                <a:ea typeface="隶书" pitchFamily="49" charset="-122"/>
              </a:rPr>
              <a:t>2 </a:t>
            </a:r>
            <a:r>
              <a:rPr lang="en-US" altLang="zh-CN"/>
              <a:t>.</a:t>
            </a:r>
            <a:endParaRPr lang="zh-CN" altLang="en-US"/>
          </a:p>
          <a:p>
            <a:pPr marL="0" indent="0" eaLnBrk="1" hangingPunct="1">
              <a:buFontTx/>
              <a:buNone/>
            </a:pPr>
            <a:r>
              <a:rPr lang="zh-CN" altLang="en-US"/>
              <a:t>         </a:t>
            </a:r>
            <a:r>
              <a:rPr lang="en-US" altLang="zh-CN"/>
              <a:t>We can not replace </a:t>
            </a:r>
            <a:r>
              <a:rPr lang="en-US" altLang="zh-CN" i="1">
                <a:solidFill>
                  <a:srgbClr val="FF0066"/>
                </a:solidFill>
              </a:rPr>
              <a:t>L</a:t>
            </a:r>
            <a:r>
              <a:rPr lang="en-US" altLang="zh-CN" i="1" baseline="-25000">
                <a:solidFill>
                  <a:srgbClr val="FF0066"/>
                </a:solidFill>
              </a:rPr>
              <a:t>i</a:t>
            </a:r>
            <a:r>
              <a:rPr lang="en-US" altLang="zh-CN" i="1" baseline="30000">
                <a:solidFill>
                  <a:srgbClr val="FF0066"/>
                </a:solidFill>
              </a:rPr>
              <a:t>4 </a:t>
            </a:r>
            <a:r>
              <a:rPr lang="en-US" altLang="zh-CN"/>
              <a:t>with </a:t>
            </a:r>
            <a:r>
              <a:rPr lang="en-US" altLang="zh-CN" i="1">
                <a:solidFill>
                  <a:srgbClr val="FF0066"/>
                </a:solidFill>
                <a:ea typeface="隶书" pitchFamily="49" charset="-122"/>
              </a:rPr>
              <a:t>L</a:t>
            </a:r>
            <a:r>
              <a:rPr lang="en-US" altLang="zh-CN" i="1" baseline="30000">
                <a:solidFill>
                  <a:srgbClr val="FF0066"/>
                </a:solidFill>
                <a:ea typeface="隶书" pitchFamily="49" charset="-122"/>
              </a:rPr>
              <a:t>2</a:t>
            </a:r>
            <a:r>
              <a:rPr lang="en-US" altLang="zh-CN"/>
              <a:t> as that we can not replace</a:t>
            </a:r>
            <a:r>
              <a:rPr lang="en-US" altLang="zh-CN" i="1">
                <a:solidFill>
                  <a:srgbClr val="FF0066"/>
                </a:solidFill>
                <a:ea typeface="隶书" pitchFamily="49" charset="-122"/>
              </a:rPr>
              <a:t> L</a:t>
            </a:r>
            <a:r>
              <a:rPr lang="en-US" altLang="zh-CN" i="1" baseline="30000">
                <a:solidFill>
                  <a:srgbClr val="FF0066"/>
                </a:solidFill>
                <a:ea typeface="隶书" pitchFamily="49" charset="-122"/>
              </a:rPr>
              <a:t>2</a:t>
            </a:r>
            <a:r>
              <a:rPr lang="en-US" altLang="zh-CN" baseline="30000">
                <a:solidFill>
                  <a:srgbClr val="FF0066"/>
                </a:solidFill>
                <a:ea typeface="隶书" pitchFamily="49" charset="-122"/>
              </a:rPr>
              <a:t> </a:t>
            </a:r>
            <a:r>
              <a:rPr lang="en-US" altLang="zh-CN">
                <a:ea typeface="隶书" pitchFamily="49" charset="-122"/>
              </a:rPr>
              <a:t>with</a:t>
            </a:r>
            <a:r>
              <a:rPr lang="en-US" altLang="zh-CN" baseline="30000">
                <a:solidFill>
                  <a:srgbClr val="FF0066"/>
                </a:solidFill>
                <a:ea typeface="隶书" pitchFamily="49" charset="-122"/>
              </a:rPr>
              <a:t> </a:t>
            </a:r>
            <a:r>
              <a:rPr lang="en-US" altLang="zh-CN" i="1">
                <a:solidFill>
                  <a:srgbClr val="FF0066"/>
                </a:solidFill>
                <a:ea typeface="隶书" pitchFamily="49" charset="-122"/>
              </a:rPr>
              <a:t>L</a:t>
            </a:r>
            <a:r>
              <a:rPr lang="en-US" altLang="zh-CN" i="1" baseline="30000">
                <a:solidFill>
                  <a:srgbClr val="FF0066"/>
                </a:solidFill>
                <a:ea typeface="隶书" pitchFamily="49" charset="-122"/>
              </a:rPr>
              <a:t>4</a:t>
            </a:r>
            <a:r>
              <a:rPr lang="en-US" altLang="zh-CN"/>
              <a:t>.</a:t>
            </a:r>
          </a:p>
          <a:p>
            <a:pPr marL="0" indent="0" eaLnBrk="1" hangingPunct="1">
              <a:buFontTx/>
              <a:buNone/>
            </a:pPr>
            <a:r>
              <a:rPr lang="en-US" altLang="zh-CN"/>
              <a:t>         This is because </a:t>
            </a:r>
            <a:r>
              <a:rPr lang="en-US" altLang="zh-CN" i="1">
                <a:solidFill>
                  <a:srgbClr val="FF0066"/>
                </a:solidFill>
                <a:ea typeface="隶书" pitchFamily="49" charset="-122"/>
              </a:rPr>
              <a:t>L</a:t>
            </a:r>
            <a:r>
              <a:rPr lang="en-US" altLang="zh-CN" i="1" baseline="30000">
                <a:solidFill>
                  <a:srgbClr val="FF0066"/>
                </a:solidFill>
                <a:ea typeface="隶书" pitchFamily="49" charset="-122"/>
              </a:rPr>
              <a:t>4</a:t>
            </a:r>
            <a:r>
              <a:rPr lang="zh-CN" altLang="en-US"/>
              <a:t> </a:t>
            </a:r>
            <a:r>
              <a:rPr lang="en-US" altLang="zh-CN"/>
              <a:t>is higher than</a:t>
            </a:r>
            <a:r>
              <a:rPr lang="zh-CN" altLang="en-US"/>
              <a:t>于</a:t>
            </a:r>
            <a:r>
              <a:rPr lang="en-US" altLang="zh-CN" i="1">
                <a:solidFill>
                  <a:srgbClr val="FF0066"/>
                </a:solidFill>
                <a:ea typeface="隶书" pitchFamily="49" charset="-122"/>
              </a:rPr>
              <a:t>L</a:t>
            </a:r>
            <a:r>
              <a:rPr lang="en-US" altLang="zh-CN" i="1" baseline="30000">
                <a:solidFill>
                  <a:srgbClr val="FF0066"/>
                </a:solidFill>
                <a:ea typeface="隶书" pitchFamily="49" charset="-122"/>
              </a:rPr>
              <a:t>2</a:t>
            </a:r>
            <a:r>
              <a:rPr lang="en-US" altLang="zh-CN"/>
              <a:t> </a:t>
            </a:r>
            <a:r>
              <a:rPr lang="zh-CN" altLang="en-US"/>
              <a:t>， </a:t>
            </a:r>
            <a:r>
              <a:rPr lang="en-US" altLang="zh-CN" i="1">
                <a:solidFill>
                  <a:srgbClr val="FF0066"/>
                </a:solidFill>
              </a:rPr>
              <a:t>L</a:t>
            </a:r>
            <a:r>
              <a:rPr lang="en-US" altLang="zh-CN" i="1" baseline="-25000">
                <a:solidFill>
                  <a:srgbClr val="FF0066"/>
                </a:solidFill>
              </a:rPr>
              <a:t>i</a:t>
            </a:r>
            <a:r>
              <a:rPr lang="en-US" altLang="zh-CN" i="1" baseline="30000">
                <a:solidFill>
                  <a:srgbClr val="FF0066"/>
                </a:solidFill>
              </a:rPr>
              <a:t>4</a:t>
            </a:r>
            <a:r>
              <a:rPr lang="en-US" altLang="zh-CN"/>
              <a:t> is higher than  </a:t>
            </a:r>
            <a:r>
              <a:rPr lang="en-US" altLang="zh-CN" i="1">
                <a:solidFill>
                  <a:srgbClr val="FF0066"/>
                </a:solidFill>
                <a:ea typeface="隶书" pitchFamily="49" charset="-122"/>
              </a:rPr>
              <a:t>L</a:t>
            </a:r>
            <a:r>
              <a:rPr lang="en-US" altLang="zh-CN" i="1" baseline="30000">
                <a:solidFill>
                  <a:srgbClr val="FF0066"/>
                </a:solidFill>
                <a:ea typeface="隶书" pitchFamily="49" charset="-122"/>
              </a:rPr>
              <a:t>2</a:t>
            </a:r>
            <a:r>
              <a:rPr lang="en-US" altLang="zh-CN"/>
              <a:t> . The </a:t>
            </a:r>
            <a:r>
              <a:rPr lang="en-US" altLang="zh-CN">
                <a:solidFill>
                  <a:srgbClr val="FF0000"/>
                </a:solidFill>
              </a:rPr>
              <a:t>highest symmetry element </a:t>
            </a:r>
            <a:r>
              <a:rPr lang="en-US" altLang="zh-CN"/>
              <a:t>must be found when one hopes to find out the symmetry elements of crystals!</a:t>
            </a:r>
            <a:endParaRPr lang="zh-CN" altLang="en-US"/>
          </a:p>
        </p:txBody>
      </p:sp>
      <p:sp>
        <p:nvSpPr>
          <p:cNvPr id="28675" name="Rectangle 6"/>
          <p:cNvSpPr>
            <a:spLocks noChangeArrowheads="1"/>
          </p:cNvSpPr>
          <p:nvPr/>
        </p:nvSpPr>
        <p:spPr bwMode="auto">
          <a:xfrm>
            <a:off x="903288" y="549275"/>
            <a:ext cx="7772400" cy="82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600"/>
              <a:t>Rotoinversion axis</a:t>
            </a:r>
          </a:p>
        </p:txBody>
      </p:sp>
      <p:sp>
        <p:nvSpPr>
          <p:cNvPr id="28676" name="Line 7"/>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77" name="Text Box 8"/>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3760" y="692696"/>
            <a:ext cx="4177586" cy="1025294"/>
          </a:xfrm>
        </p:spPr>
        <p:txBody>
          <a:bodyPr/>
          <a:lstStyle/>
          <a:p>
            <a:pPr eaLnBrk="1" hangingPunct="1"/>
            <a:r>
              <a:rPr lang="en-US" altLang="zh-CN" sz="3200" b="1"/>
              <a:t>Rotoreflection axis</a:t>
            </a:r>
            <a:br>
              <a:rPr lang="en-US" altLang="zh-CN" sz="3200" b="1"/>
            </a:br>
            <a:r>
              <a:rPr lang="zh-CN" altLang="en-US" sz="2800" b="1"/>
              <a:t>（旋转反映轴、映转轴）</a:t>
            </a:r>
            <a:endParaRPr lang="zh-CN" altLang="en-US" sz="2000"/>
          </a:p>
        </p:txBody>
      </p:sp>
      <p:sp>
        <p:nvSpPr>
          <p:cNvPr id="29699" name="Line 4"/>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0" name="Text Box 5"/>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pic>
        <p:nvPicPr>
          <p:cNvPr id="29701" name="Picture 6" descr="旋转反映轴l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41338" y="2060575"/>
            <a:ext cx="3598862" cy="261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7" descr="旋转反映轴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500563" y="908050"/>
            <a:ext cx="3482975"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Picture 8" descr="旋转反映轴l3"/>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427538" y="3716338"/>
            <a:ext cx="3698875"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4" name="TextBox 7"/>
          <p:cNvSpPr txBox="1">
            <a:spLocks noChangeArrowheads="1"/>
          </p:cNvSpPr>
          <p:nvPr/>
        </p:nvSpPr>
        <p:spPr bwMode="auto">
          <a:xfrm>
            <a:off x="4508500" y="5589588"/>
            <a:ext cx="1212850" cy="40005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en-US" sz="2000">
                <a:solidFill>
                  <a:schemeClr val="bg1"/>
                </a:solidFill>
              </a:rPr>
              <a:t>L</a:t>
            </a:r>
            <a:r>
              <a:rPr lang="en-US" altLang="en-US" sz="2000" baseline="-25000">
                <a:solidFill>
                  <a:schemeClr val="bg1"/>
                </a:solidFill>
              </a:rPr>
              <a:t>s</a:t>
            </a:r>
            <a:r>
              <a:rPr lang="en-US" altLang="en-US" sz="2000" baseline="30000">
                <a:solidFill>
                  <a:schemeClr val="bg1"/>
                </a:solidFill>
              </a:rPr>
              <a:t>3</a:t>
            </a:r>
            <a:r>
              <a:rPr lang="en-US" altLang="en-US" sz="2000">
                <a:solidFill>
                  <a:schemeClr val="bg1"/>
                </a:solidFill>
              </a:rPr>
              <a:t>=L</a:t>
            </a:r>
            <a:r>
              <a:rPr lang="en-US" altLang="en-US" sz="2000" baseline="30000">
                <a:solidFill>
                  <a:schemeClr val="bg1"/>
                </a:solidFill>
              </a:rPr>
              <a:t>3</a:t>
            </a:r>
            <a:r>
              <a:rPr lang="en-US" altLang="en-US" sz="2000">
                <a:solidFill>
                  <a:schemeClr val="bg1"/>
                </a:solidFill>
              </a:rPr>
              <a:t>+P</a:t>
            </a:r>
          </a:p>
        </p:txBody>
      </p:sp>
      <p:pic>
        <p:nvPicPr>
          <p:cNvPr id="29705" name="Picture 8"/>
          <p:cNvPicPr>
            <a:picLocks noChangeAspect="1" noChangeArrowheads="1"/>
          </p:cNvPicPr>
          <p:nvPr/>
        </p:nvPicPr>
        <p:blipFill>
          <a:blip r:embed="rId5">
            <a:extLst>
              <a:ext uri="{28A0092B-C50C-407E-A947-70E740481C1C}">
                <a14:useLocalDpi xmlns:a14="http://schemas.microsoft.com/office/drawing/2010/main" val="0"/>
              </a:ext>
            </a:extLst>
          </a:blip>
          <a:srcRect t="966" r="56438" b="71730"/>
          <a:stretch>
            <a:fillRect/>
          </a:stretch>
        </p:blipFill>
        <p:spPr bwMode="auto">
          <a:xfrm>
            <a:off x="590550" y="3727450"/>
            <a:ext cx="1662113" cy="75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706" name="TextBox 9"/>
          <p:cNvSpPr txBox="1">
            <a:spLocks noChangeArrowheads="1"/>
          </p:cNvSpPr>
          <p:nvPr/>
        </p:nvSpPr>
        <p:spPr bwMode="auto">
          <a:xfrm>
            <a:off x="792163" y="3905250"/>
            <a:ext cx="1071562" cy="40005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algn="ctr" eaLnBrk="1" hangingPunct="1"/>
            <a:r>
              <a:rPr lang="en-US" altLang="en-US" sz="2000">
                <a:solidFill>
                  <a:schemeClr val="bg1"/>
                </a:solidFill>
              </a:rPr>
              <a:t>L</a:t>
            </a:r>
            <a:r>
              <a:rPr lang="en-US" altLang="en-US" sz="2000" baseline="-25000">
                <a:solidFill>
                  <a:schemeClr val="bg1"/>
                </a:solidFill>
              </a:rPr>
              <a:t>s</a:t>
            </a:r>
            <a:r>
              <a:rPr lang="en-US" altLang="en-US" sz="2000" baseline="30000">
                <a:solidFill>
                  <a:schemeClr val="bg1"/>
                </a:solidFill>
              </a:rPr>
              <a:t>1</a:t>
            </a:r>
            <a:r>
              <a:rPr lang="en-US" altLang="en-US" sz="2000">
                <a:solidFill>
                  <a:schemeClr val="bg1"/>
                </a:solidFill>
              </a:rPr>
              <a:t>=P</a:t>
            </a:r>
          </a:p>
        </p:txBody>
      </p:sp>
      <p:sp>
        <p:nvSpPr>
          <p:cNvPr id="29707" name="TextBox 10"/>
          <p:cNvSpPr txBox="1">
            <a:spLocks noChangeArrowheads="1"/>
          </p:cNvSpPr>
          <p:nvPr/>
        </p:nvSpPr>
        <p:spPr bwMode="auto">
          <a:xfrm>
            <a:off x="4565650" y="2781300"/>
            <a:ext cx="1211263" cy="40005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algn="ctr" eaLnBrk="1" hangingPunct="1"/>
            <a:r>
              <a:rPr lang="en-US" altLang="en-US" sz="2000">
                <a:solidFill>
                  <a:schemeClr val="bg1"/>
                </a:solidFill>
              </a:rPr>
              <a:t>L</a:t>
            </a:r>
            <a:r>
              <a:rPr lang="en-US" altLang="en-US" sz="2000" baseline="-25000">
                <a:solidFill>
                  <a:schemeClr val="bg1"/>
                </a:solidFill>
              </a:rPr>
              <a:t>s</a:t>
            </a:r>
            <a:r>
              <a:rPr lang="en-US" altLang="en-US" sz="2000" baseline="30000">
                <a:solidFill>
                  <a:schemeClr val="bg1"/>
                </a:solidFill>
              </a:rPr>
              <a:t>2</a:t>
            </a:r>
            <a:r>
              <a:rPr lang="en-US" altLang="en-US" sz="2000">
                <a:solidFill>
                  <a:schemeClr val="bg1"/>
                </a:solidFill>
              </a:rPr>
              <a:t>=C</a:t>
            </a:r>
          </a:p>
        </p:txBody>
      </p:sp>
      <p:sp>
        <p:nvSpPr>
          <p:cNvPr id="12" name="TextBox 11"/>
          <p:cNvSpPr txBox="1"/>
          <p:nvPr/>
        </p:nvSpPr>
        <p:spPr>
          <a:xfrm>
            <a:off x="590551" y="4845598"/>
            <a:ext cx="3430746" cy="1384995"/>
          </a:xfrm>
          <a:prstGeom prst="rect">
            <a:avLst/>
          </a:prstGeom>
          <a:noFill/>
        </p:spPr>
        <p:txBody>
          <a:bodyPr wrap="square" rtlCol="0">
            <a:spAutoFit/>
          </a:bodyPr>
          <a:lstStyle/>
          <a:p>
            <a:r>
              <a:rPr lang="en-US" altLang="zh-CN" sz="2800" b="0"/>
              <a:t>Symmetry plane is perpendicular to rotation axis</a:t>
            </a:r>
            <a:endParaRPr lang="zh-CN" altLang="en-US" sz="2800" b="0"/>
          </a:p>
        </p:txBody>
      </p:sp>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Line 3"/>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3" name="Text Box 4"/>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30724" name="Rectangle 5"/>
          <p:cNvSpPr>
            <a:spLocks noGrp="1" noChangeArrowheads="1"/>
          </p:cNvSpPr>
          <p:nvPr>
            <p:ph type="title"/>
          </p:nvPr>
        </p:nvSpPr>
        <p:spPr>
          <a:xfrm>
            <a:off x="685800" y="825500"/>
            <a:ext cx="4534272" cy="587375"/>
          </a:xfrm>
          <a:noFill/>
        </p:spPr>
        <p:txBody>
          <a:bodyPr/>
          <a:lstStyle/>
          <a:p>
            <a:pPr eaLnBrk="1" hangingPunct="1"/>
            <a:r>
              <a:rPr lang="en-US" altLang="zh-CN" sz="4000" b="1"/>
              <a:t>Rotoreflection axis</a:t>
            </a:r>
            <a:endParaRPr lang="zh-CN" altLang="en-US" sz="4000"/>
          </a:p>
        </p:txBody>
      </p:sp>
      <p:pic>
        <p:nvPicPr>
          <p:cNvPr id="30725" name="Picture 6" descr="旋转反映轴l4"/>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98438" y="1773238"/>
            <a:ext cx="4256087"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7" descr="旋转反映轴l6"/>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762500" y="3644900"/>
            <a:ext cx="4176713" cy="30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TextBox 6"/>
          <p:cNvSpPr txBox="1">
            <a:spLocks noChangeArrowheads="1"/>
          </p:cNvSpPr>
          <p:nvPr/>
        </p:nvSpPr>
        <p:spPr bwMode="auto">
          <a:xfrm>
            <a:off x="460375" y="3933825"/>
            <a:ext cx="958850" cy="40005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en-US" sz="2000">
                <a:solidFill>
                  <a:schemeClr val="bg1"/>
                </a:solidFill>
              </a:rPr>
              <a:t>L</a:t>
            </a:r>
            <a:r>
              <a:rPr lang="en-US" altLang="en-US" sz="2000" baseline="-25000">
                <a:solidFill>
                  <a:schemeClr val="bg1"/>
                </a:solidFill>
              </a:rPr>
              <a:t>s</a:t>
            </a:r>
            <a:r>
              <a:rPr lang="en-US" altLang="en-US" sz="2000" baseline="30000">
                <a:solidFill>
                  <a:schemeClr val="bg1"/>
                </a:solidFill>
              </a:rPr>
              <a:t>4</a:t>
            </a:r>
            <a:r>
              <a:rPr lang="en-US" altLang="en-US" sz="2000">
                <a:solidFill>
                  <a:schemeClr val="bg1"/>
                </a:solidFill>
              </a:rPr>
              <a:t>=L</a:t>
            </a:r>
            <a:r>
              <a:rPr lang="en-US" altLang="en-US" sz="2000" baseline="-25000">
                <a:solidFill>
                  <a:schemeClr val="bg1"/>
                </a:solidFill>
              </a:rPr>
              <a:t>i</a:t>
            </a:r>
            <a:r>
              <a:rPr lang="en-US" altLang="en-US" sz="2000" baseline="30000">
                <a:solidFill>
                  <a:schemeClr val="bg1"/>
                </a:solidFill>
              </a:rPr>
              <a:t>4</a:t>
            </a:r>
            <a:endParaRPr lang="en-US" altLang="en-US" sz="2000">
              <a:solidFill>
                <a:schemeClr val="bg1"/>
              </a:solidFill>
            </a:endParaRPr>
          </a:p>
        </p:txBody>
      </p:sp>
      <p:sp>
        <p:nvSpPr>
          <p:cNvPr id="30728" name="TextBox 8"/>
          <p:cNvSpPr txBox="1">
            <a:spLocks noChangeArrowheads="1"/>
          </p:cNvSpPr>
          <p:nvPr/>
        </p:nvSpPr>
        <p:spPr bwMode="auto">
          <a:xfrm>
            <a:off x="5003800" y="5949950"/>
            <a:ext cx="1243013" cy="40005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en-US" sz="2000">
                <a:solidFill>
                  <a:schemeClr val="bg1"/>
                </a:solidFill>
              </a:rPr>
              <a:t>L</a:t>
            </a:r>
            <a:r>
              <a:rPr lang="en-US" altLang="en-US" sz="2000" baseline="-25000">
                <a:solidFill>
                  <a:schemeClr val="bg1"/>
                </a:solidFill>
              </a:rPr>
              <a:t>s</a:t>
            </a:r>
            <a:r>
              <a:rPr lang="en-US" altLang="en-US" sz="2000" baseline="30000">
                <a:solidFill>
                  <a:schemeClr val="bg1"/>
                </a:solidFill>
              </a:rPr>
              <a:t>6</a:t>
            </a:r>
            <a:r>
              <a:rPr lang="en-US" altLang="en-US" sz="2000">
                <a:solidFill>
                  <a:schemeClr val="bg1"/>
                </a:solidFill>
              </a:rPr>
              <a:t>=L</a:t>
            </a:r>
            <a:r>
              <a:rPr lang="en-US" altLang="en-US" sz="2000" baseline="30000">
                <a:solidFill>
                  <a:schemeClr val="bg1"/>
                </a:solidFill>
              </a:rPr>
              <a:t>3</a:t>
            </a:r>
            <a:r>
              <a:rPr lang="en-US" altLang="en-US" sz="2000">
                <a:solidFill>
                  <a:schemeClr val="bg1"/>
                </a:solidFill>
              </a:rPr>
              <a:t>+C</a:t>
            </a:r>
          </a:p>
        </p:txBody>
      </p:sp>
    </p:spTree>
  </p:cSld>
  <p:clrMapOvr>
    <a:masterClrMapping/>
  </p:clrMapOvr>
  <p:transition spd="med">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6"/>
          <p:cNvSpPr>
            <a:spLocks noChangeArrowheads="1"/>
          </p:cNvSpPr>
          <p:nvPr/>
        </p:nvSpPr>
        <p:spPr bwMode="auto">
          <a:xfrm>
            <a:off x="903288" y="620713"/>
            <a:ext cx="7772400"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3600"/>
              <a:t>Rotoreflection axis</a:t>
            </a:r>
            <a:endParaRPr lang="zh-CN" altLang="en-US" sz="3600" b="0">
              <a:solidFill>
                <a:schemeClr val="tx2"/>
              </a:solidFill>
            </a:endParaRPr>
          </a:p>
        </p:txBody>
      </p:sp>
      <p:sp>
        <p:nvSpPr>
          <p:cNvPr id="31747" name="Line 7"/>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48" name="Text Box 8"/>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 name="Content Placeholder 1"/>
          <p:cNvSpPr>
            <a:spLocks noGrp="1"/>
          </p:cNvSpPr>
          <p:nvPr>
            <p:ph idx="1"/>
          </p:nvPr>
        </p:nvSpPr>
        <p:spPr>
          <a:xfrm>
            <a:off x="323528" y="1700808"/>
            <a:ext cx="8711952" cy="4319587"/>
          </a:xfrm>
        </p:spPr>
        <p:txBody>
          <a:bodyPr/>
          <a:lstStyle/>
          <a:p>
            <a:pPr>
              <a:defRPr/>
            </a:pPr>
            <a:r>
              <a:rPr lang="en-US" altLang="zh-CN" sz="2800"/>
              <a:t>The operation of rotoreflection axis and rotoinversion axis is the same at the effect.</a:t>
            </a:r>
          </a:p>
          <a:p>
            <a:pPr>
              <a:defRPr/>
            </a:pPr>
            <a:r>
              <a:rPr lang="en-US" altLang="zh-CN" sz="2800"/>
              <a:t>They have the relations as below</a:t>
            </a:r>
            <a:r>
              <a:rPr lang="zh-CN" altLang="en-US" sz="2800"/>
              <a:t>：</a:t>
            </a:r>
            <a:endParaRPr lang="en-US" altLang="zh-CN" sz="2800"/>
          </a:p>
          <a:p>
            <a:pPr>
              <a:defRPr/>
            </a:pPr>
            <a:endParaRPr lang="en-US" altLang="zh-CN" sz="1600"/>
          </a:p>
          <a:p>
            <a:pPr marL="0" indent="0" algn="ctr">
              <a:buFontTx/>
              <a:buNone/>
              <a:defRPr/>
            </a:pPr>
            <a:r>
              <a:rPr lang="en-US" sz="2400" b="1">
                <a:solidFill>
                  <a:srgbClr val="FF0066"/>
                </a:solidFill>
              </a:rPr>
              <a:t>L</a:t>
            </a:r>
            <a:r>
              <a:rPr lang="en-US" sz="2400" b="1" baseline="-25000">
                <a:solidFill>
                  <a:srgbClr val="FF0066"/>
                </a:solidFill>
              </a:rPr>
              <a:t>i</a:t>
            </a:r>
            <a:r>
              <a:rPr lang="en-US" sz="2400" b="1" baseline="30000">
                <a:solidFill>
                  <a:srgbClr val="FF0066"/>
                </a:solidFill>
              </a:rPr>
              <a:t>1</a:t>
            </a:r>
            <a:r>
              <a:rPr lang="en-US" sz="2400" b="1">
                <a:solidFill>
                  <a:srgbClr val="FF0066"/>
                </a:solidFill>
              </a:rPr>
              <a:t>=L</a:t>
            </a:r>
            <a:r>
              <a:rPr lang="en-US" sz="2400" b="1" baseline="-25000">
                <a:solidFill>
                  <a:srgbClr val="FF0066"/>
                </a:solidFill>
              </a:rPr>
              <a:t>s</a:t>
            </a:r>
            <a:r>
              <a:rPr lang="en-US" sz="2400" b="1" baseline="30000">
                <a:solidFill>
                  <a:srgbClr val="FF0066"/>
                </a:solidFill>
              </a:rPr>
              <a:t>2</a:t>
            </a:r>
            <a:r>
              <a:rPr lang="en-US" sz="2400" b="1">
                <a:solidFill>
                  <a:srgbClr val="FF0066"/>
                </a:solidFill>
              </a:rPr>
              <a:t>=C, L</a:t>
            </a:r>
            <a:r>
              <a:rPr lang="en-US" sz="2400" b="1" baseline="-25000">
                <a:solidFill>
                  <a:srgbClr val="FF0066"/>
                </a:solidFill>
              </a:rPr>
              <a:t>i</a:t>
            </a:r>
            <a:r>
              <a:rPr lang="en-US" sz="2400" b="1" baseline="30000">
                <a:solidFill>
                  <a:srgbClr val="FF0066"/>
                </a:solidFill>
              </a:rPr>
              <a:t>2</a:t>
            </a:r>
            <a:r>
              <a:rPr lang="en-US" sz="2400" b="1">
                <a:solidFill>
                  <a:srgbClr val="FF0066"/>
                </a:solidFill>
              </a:rPr>
              <a:t>=L</a:t>
            </a:r>
            <a:r>
              <a:rPr lang="en-US" sz="2400" b="1" baseline="-25000">
                <a:solidFill>
                  <a:srgbClr val="FF0066"/>
                </a:solidFill>
              </a:rPr>
              <a:t>s</a:t>
            </a:r>
            <a:r>
              <a:rPr lang="en-US" sz="2400" b="1" baseline="30000">
                <a:solidFill>
                  <a:srgbClr val="FF0066"/>
                </a:solidFill>
              </a:rPr>
              <a:t>1</a:t>
            </a:r>
            <a:r>
              <a:rPr lang="en-US" sz="2400" b="1">
                <a:solidFill>
                  <a:srgbClr val="FF0066"/>
                </a:solidFill>
              </a:rPr>
              <a:t>=P, </a:t>
            </a:r>
          </a:p>
          <a:p>
            <a:pPr marL="0" indent="0" algn="ctr">
              <a:buFontTx/>
              <a:buNone/>
              <a:defRPr/>
            </a:pPr>
            <a:r>
              <a:rPr lang="en-US" sz="2400" b="1">
                <a:solidFill>
                  <a:srgbClr val="FF0066"/>
                </a:solidFill>
              </a:rPr>
              <a:t>L</a:t>
            </a:r>
            <a:r>
              <a:rPr lang="en-US" sz="2400" b="1" baseline="-25000">
                <a:solidFill>
                  <a:srgbClr val="FF0066"/>
                </a:solidFill>
              </a:rPr>
              <a:t>i</a:t>
            </a:r>
            <a:r>
              <a:rPr lang="en-US" sz="2400" b="1" baseline="30000">
                <a:solidFill>
                  <a:srgbClr val="FF0066"/>
                </a:solidFill>
              </a:rPr>
              <a:t>3</a:t>
            </a:r>
            <a:r>
              <a:rPr lang="en-US" sz="2400" b="1">
                <a:solidFill>
                  <a:srgbClr val="FF0066"/>
                </a:solidFill>
              </a:rPr>
              <a:t>=L</a:t>
            </a:r>
            <a:r>
              <a:rPr lang="en-US" sz="2400" b="1" baseline="-25000">
                <a:solidFill>
                  <a:srgbClr val="FF0066"/>
                </a:solidFill>
              </a:rPr>
              <a:t>s</a:t>
            </a:r>
            <a:r>
              <a:rPr lang="en-US" sz="2400" b="1" baseline="30000">
                <a:solidFill>
                  <a:srgbClr val="FF0066"/>
                </a:solidFill>
              </a:rPr>
              <a:t>6</a:t>
            </a:r>
            <a:r>
              <a:rPr lang="en-US" sz="2400" b="1">
                <a:solidFill>
                  <a:srgbClr val="FF0066"/>
                </a:solidFill>
              </a:rPr>
              <a:t>=L</a:t>
            </a:r>
            <a:r>
              <a:rPr lang="en-US" sz="2400" b="1" baseline="30000">
                <a:solidFill>
                  <a:srgbClr val="FF0066"/>
                </a:solidFill>
              </a:rPr>
              <a:t>3</a:t>
            </a:r>
            <a:r>
              <a:rPr lang="en-US" sz="2400" b="1">
                <a:solidFill>
                  <a:srgbClr val="FF0066"/>
                </a:solidFill>
              </a:rPr>
              <a:t>+C, L</a:t>
            </a:r>
            <a:r>
              <a:rPr lang="en-US" sz="2400" b="1" baseline="-25000">
                <a:solidFill>
                  <a:srgbClr val="FF0066"/>
                </a:solidFill>
              </a:rPr>
              <a:t>i</a:t>
            </a:r>
            <a:r>
              <a:rPr lang="en-US" sz="2400" b="1" baseline="30000">
                <a:solidFill>
                  <a:srgbClr val="FF0066"/>
                </a:solidFill>
              </a:rPr>
              <a:t>4</a:t>
            </a:r>
            <a:r>
              <a:rPr lang="en-US" sz="2400" b="1">
                <a:solidFill>
                  <a:srgbClr val="FF0066"/>
                </a:solidFill>
              </a:rPr>
              <a:t>=L</a:t>
            </a:r>
            <a:r>
              <a:rPr lang="en-US" sz="2400" b="1" baseline="-25000">
                <a:solidFill>
                  <a:srgbClr val="FF0066"/>
                </a:solidFill>
              </a:rPr>
              <a:t>s</a:t>
            </a:r>
            <a:r>
              <a:rPr lang="en-US" sz="2400" b="1" baseline="30000">
                <a:solidFill>
                  <a:srgbClr val="FF0066"/>
                </a:solidFill>
              </a:rPr>
              <a:t>4</a:t>
            </a:r>
            <a:r>
              <a:rPr lang="en-US" sz="2400" b="1">
                <a:solidFill>
                  <a:srgbClr val="FF0066"/>
                </a:solidFill>
              </a:rPr>
              <a:t>, L</a:t>
            </a:r>
            <a:r>
              <a:rPr lang="en-US" sz="2400" b="1" baseline="-25000">
                <a:solidFill>
                  <a:srgbClr val="FF0066"/>
                </a:solidFill>
              </a:rPr>
              <a:t>i</a:t>
            </a:r>
            <a:r>
              <a:rPr lang="en-US" sz="2400" b="1" baseline="30000">
                <a:solidFill>
                  <a:srgbClr val="FF0066"/>
                </a:solidFill>
              </a:rPr>
              <a:t>6</a:t>
            </a:r>
            <a:r>
              <a:rPr lang="en-US" sz="2400" b="1">
                <a:solidFill>
                  <a:srgbClr val="FF0066"/>
                </a:solidFill>
              </a:rPr>
              <a:t>=L</a:t>
            </a:r>
            <a:r>
              <a:rPr lang="en-US" sz="2400" b="1" baseline="-25000">
                <a:solidFill>
                  <a:srgbClr val="FF0066"/>
                </a:solidFill>
              </a:rPr>
              <a:t>s</a:t>
            </a:r>
            <a:r>
              <a:rPr lang="en-US" sz="2400" b="1" baseline="30000">
                <a:solidFill>
                  <a:srgbClr val="FF0066"/>
                </a:solidFill>
              </a:rPr>
              <a:t>3</a:t>
            </a:r>
            <a:r>
              <a:rPr lang="en-US" sz="2400" b="1">
                <a:solidFill>
                  <a:srgbClr val="FF0066"/>
                </a:solidFill>
              </a:rPr>
              <a:t>=L</a:t>
            </a:r>
            <a:r>
              <a:rPr lang="en-US" sz="2400" b="1" baseline="30000">
                <a:solidFill>
                  <a:srgbClr val="FF0066"/>
                </a:solidFill>
              </a:rPr>
              <a:t>3</a:t>
            </a:r>
            <a:r>
              <a:rPr lang="en-US" sz="2400" b="1">
                <a:solidFill>
                  <a:srgbClr val="FF0066"/>
                </a:solidFill>
              </a:rPr>
              <a:t>+P</a:t>
            </a:r>
            <a:endParaRPr lang="en-US" sz="2400" b="1" baseline="30000">
              <a:solidFill>
                <a:srgbClr val="FF0066"/>
              </a:solidFill>
            </a:endParaRPr>
          </a:p>
          <a:p>
            <a:pPr marL="0" indent="0">
              <a:buFontTx/>
              <a:buNone/>
              <a:defRPr/>
            </a:pPr>
            <a:r>
              <a:rPr lang="en-US" altLang="zh-CN" sz="2800"/>
              <a:t>Based on above relations, only rotoinversion is considered in practical work.</a:t>
            </a:r>
            <a:endParaRPr lang="en-US" sz="2800"/>
          </a:p>
        </p:txBody>
      </p:sp>
    </p:spTree>
  </p:cSld>
  <p:clrMapOvr>
    <a:masterClrMapping/>
  </p:clrMapOvr>
  <p:transition spd="med">
    <p:zoom/>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08520" y="620688"/>
            <a:ext cx="9714656" cy="750888"/>
          </a:xfrm>
        </p:spPr>
        <p:txBody>
          <a:bodyPr/>
          <a:lstStyle/>
          <a:p>
            <a:pPr eaLnBrk="1" hangingPunct="1">
              <a:defRPr/>
            </a:pPr>
            <a:r>
              <a:rPr lang="en-US" altLang="zh-CN" sz="4000" b="1">
                <a:solidFill>
                  <a:srgbClr val="FF0000"/>
                </a:solidFill>
                <a:effectLst>
                  <a:outerShdw blurRad="38100" dist="38100" dir="2700000" algn="tl">
                    <a:srgbClr val="000000"/>
                  </a:outerShdw>
                </a:effectLst>
              </a:rPr>
              <a:t>4. Combinations of symmetry elements</a:t>
            </a:r>
            <a:br>
              <a:rPr lang="en-US" altLang="zh-CN" sz="4000" b="1">
                <a:solidFill>
                  <a:srgbClr val="FF0000"/>
                </a:solidFill>
                <a:effectLst>
                  <a:outerShdw blurRad="38100" dist="38100" dir="2700000" algn="tl">
                    <a:srgbClr val="000000"/>
                  </a:outerShdw>
                </a:effectLst>
              </a:rPr>
            </a:br>
            <a:endParaRPr lang="zh-CN" altLang="en-US" sz="4000" b="1">
              <a:solidFill>
                <a:srgbClr val="FF0000"/>
              </a:solidFill>
              <a:effectLst>
                <a:outerShdw blurRad="38100" dist="38100" dir="2700000" algn="tl">
                  <a:srgbClr val="000000"/>
                </a:outerShdw>
              </a:effectLst>
            </a:endParaRPr>
          </a:p>
        </p:txBody>
      </p:sp>
      <p:sp>
        <p:nvSpPr>
          <p:cNvPr id="3" name="矩形 2">
            <a:extLst>
              <a:ext uri="{FF2B5EF4-FFF2-40B4-BE49-F238E27FC236}">
                <a16:creationId xmlns:a16="http://schemas.microsoft.com/office/drawing/2014/main" id="{4830C813-FAC6-48DB-A231-94CA24F9F523}"/>
              </a:ext>
            </a:extLst>
          </p:cNvPr>
          <p:cNvSpPr/>
          <p:nvPr/>
        </p:nvSpPr>
        <p:spPr>
          <a:xfrm>
            <a:off x="467544" y="1700808"/>
            <a:ext cx="8244408" cy="4031873"/>
          </a:xfrm>
          <a:prstGeom prst="rect">
            <a:avLst/>
          </a:prstGeom>
        </p:spPr>
        <p:txBody>
          <a:bodyPr wrap="square">
            <a:spAutoFit/>
          </a:bodyPr>
          <a:lstStyle/>
          <a:p>
            <a:pPr marL="457200" indent="-457200" algn="just">
              <a:buFont typeface="Arial" panose="020B0604020202020204" pitchFamily="34" charset="0"/>
              <a:buChar char="•"/>
            </a:pPr>
            <a:r>
              <a:rPr lang="en-US" altLang="zh-CN" sz="3200" b="0"/>
              <a:t>There are 8 basic symmetry elements, </a:t>
            </a:r>
            <a:r>
              <a:rPr lang="en-US" altLang="zh-CN" sz="3200">
                <a:solidFill>
                  <a:srgbClr val="FF0000"/>
                </a:solidFill>
              </a:rPr>
              <a:t>L</a:t>
            </a:r>
            <a:r>
              <a:rPr lang="en-US" altLang="zh-CN" sz="3200" baseline="30000">
                <a:solidFill>
                  <a:srgbClr val="FF0000"/>
                </a:solidFill>
              </a:rPr>
              <a:t>1</a:t>
            </a:r>
            <a:r>
              <a:rPr lang="en-US" altLang="zh-CN" sz="3200">
                <a:solidFill>
                  <a:srgbClr val="FF0000"/>
                </a:solidFill>
              </a:rPr>
              <a:t>, L</a:t>
            </a:r>
            <a:r>
              <a:rPr lang="en-US" altLang="zh-CN" sz="3200" baseline="30000">
                <a:solidFill>
                  <a:srgbClr val="FF0000"/>
                </a:solidFill>
              </a:rPr>
              <a:t>2</a:t>
            </a:r>
            <a:r>
              <a:rPr lang="en-US" altLang="zh-CN" sz="3200">
                <a:solidFill>
                  <a:srgbClr val="FF0000"/>
                </a:solidFill>
              </a:rPr>
              <a:t>, L</a:t>
            </a:r>
            <a:r>
              <a:rPr lang="en-US" altLang="zh-CN" sz="3200" baseline="30000">
                <a:solidFill>
                  <a:srgbClr val="FF0000"/>
                </a:solidFill>
              </a:rPr>
              <a:t>3</a:t>
            </a:r>
            <a:r>
              <a:rPr lang="en-US" altLang="zh-CN" sz="3200">
                <a:solidFill>
                  <a:srgbClr val="FF0000"/>
                </a:solidFill>
              </a:rPr>
              <a:t>, L</a:t>
            </a:r>
            <a:r>
              <a:rPr lang="en-US" altLang="zh-CN" sz="3200" baseline="30000">
                <a:solidFill>
                  <a:srgbClr val="FF0000"/>
                </a:solidFill>
              </a:rPr>
              <a:t>4</a:t>
            </a:r>
            <a:r>
              <a:rPr lang="en-US" altLang="zh-CN" sz="3200">
                <a:solidFill>
                  <a:srgbClr val="FF0000"/>
                </a:solidFill>
              </a:rPr>
              <a:t>, L</a:t>
            </a:r>
            <a:r>
              <a:rPr lang="en-US" altLang="zh-CN" sz="3200" baseline="30000">
                <a:solidFill>
                  <a:srgbClr val="FF0000"/>
                </a:solidFill>
              </a:rPr>
              <a:t>6</a:t>
            </a:r>
            <a:r>
              <a:rPr lang="en-US" altLang="zh-CN" sz="3200">
                <a:solidFill>
                  <a:srgbClr val="FF0000"/>
                </a:solidFill>
              </a:rPr>
              <a:t>, C, P, L</a:t>
            </a:r>
            <a:r>
              <a:rPr lang="en-US" altLang="zh-CN" sz="3200" baseline="-25000">
                <a:solidFill>
                  <a:srgbClr val="FF0000"/>
                </a:solidFill>
              </a:rPr>
              <a:t>i</a:t>
            </a:r>
            <a:r>
              <a:rPr lang="en-US" altLang="zh-CN" sz="3200" baseline="30000">
                <a:solidFill>
                  <a:srgbClr val="FF0000"/>
                </a:solidFill>
              </a:rPr>
              <a:t>4</a:t>
            </a:r>
            <a:r>
              <a:rPr lang="en-US" altLang="zh-CN" sz="3200">
                <a:solidFill>
                  <a:srgbClr val="FF0000"/>
                </a:solidFill>
              </a:rPr>
              <a:t>. </a:t>
            </a:r>
            <a:r>
              <a:rPr lang="en-US" altLang="zh-CN" sz="3200" b="0"/>
              <a:t>Their combinations form the point group of crystal.</a:t>
            </a:r>
          </a:p>
          <a:p>
            <a:pPr marL="457200" indent="-457200" algn="just">
              <a:buFont typeface="Arial" panose="020B0604020202020204" pitchFamily="34" charset="0"/>
              <a:buChar char="•"/>
            </a:pPr>
            <a:r>
              <a:rPr lang="en-US" altLang="zh-CN" sz="3200" b="0"/>
              <a:t>The combination of symmetry element is not random. It must fulfill the combination law of symmetry element.</a:t>
            </a:r>
          </a:p>
          <a:p>
            <a:pPr marL="457200" indent="-457200" algn="just">
              <a:buFont typeface="Arial" panose="020B0604020202020204" pitchFamily="34" charset="0"/>
              <a:buChar char="•"/>
            </a:pPr>
            <a:r>
              <a:rPr lang="en-US" altLang="zh-CN" sz="3200" b="0"/>
              <a:t>When symmetry elements coexist, new element may be formed. </a:t>
            </a:r>
          </a:p>
        </p:txBody>
      </p:sp>
    </p:spTree>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title"/>
          </p:nvPr>
        </p:nvSpPr>
        <p:spPr>
          <a:xfrm>
            <a:off x="506983" y="885926"/>
            <a:ext cx="8276083" cy="573087"/>
          </a:xfrm>
        </p:spPr>
        <p:txBody>
          <a:bodyPr/>
          <a:lstStyle/>
          <a:p>
            <a:pPr algn="l" eaLnBrk="1" hangingPunct="1"/>
            <a:r>
              <a:rPr lang="en-US" altLang="zh-CN" sz="3600" b="1">
                <a:solidFill>
                  <a:srgbClr val="FF0000"/>
                </a:solidFill>
              </a:rPr>
              <a:t>Combination law of symmetry elements:</a:t>
            </a:r>
            <a:endParaRPr lang="zh-CN" altLang="en-US" sz="3600" b="1">
              <a:solidFill>
                <a:srgbClr val="FF0000"/>
              </a:solidFill>
            </a:endParaRPr>
          </a:p>
        </p:txBody>
      </p:sp>
      <p:sp>
        <p:nvSpPr>
          <p:cNvPr id="34819" name="Rectangle 4"/>
          <p:cNvSpPr>
            <a:spLocks noGrp="1" noChangeArrowheads="1"/>
          </p:cNvSpPr>
          <p:nvPr>
            <p:ph type="body" idx="1"/>
          </p:nvPr>
        </p:nvSpPr>
        <p:spPr>
          <a:xfrm>
            <a:off x="435769" y="1628800"/>
            <a:ext cx="5648399" cy="4176464"/>
          </a:xfrm>
        </p:spPr>
        <p:txBody>
          <a:bodyPr/>
          <a:lstStyle/>
          <a:p>
            <a:pPr eaLnBrk="1" hangingPunct="1">
              <a:buFontTx/>
              <a:buNone/>
            </a:pPr>
            <a:r>
              <a:rPr lang="en-US" altLang="zh-CN" sz="2400" b="1">
                <a:solidFill>
                  <a:srgbClr val="990000"/>
                </a:solidFill>
              </a:rPr>
              <a:t>Theorem 1</a:t>
            </a:r>
            <a:r>
              <a:rPr lang="zh-CN" altLang="en-US" sz="2400" b="1">
                <a:solidFill>
                  <a:srgbClr val="990000"/>
                </a:solidFill>
              </a:rPr>
              <a:t>：</a:t>
            </a:r>
            <a:r>
              <a:rPr lang="en-US" altLang="zh-CN" sz="2400" b="1" i="1"/>
              <a:t>L</a:t>
            </a:r>
            <a:r>
              <a:rPr lang="en-US" altLang="zh-CN" sz="2400" b="1" i="1" baseline="30000"/>
              <a:t>n</a:t>
            </a:r>
            <a:r>
              <a:rPr lang="en-US" altLang="zh-CN" sz="2400" b="1">
                <a:sym typeface="Symbol" pitchFamily="18" charset="2"/>
              </a:rPr>
              <a:t></a:t>
            </a:r>
            <a:r>
              <a:rPr lang="en-US" altLang="zh-CN" sz="2400" b="1" i="1">
                <a:sym typeface="Symbol" pitchFamily="18" charset="2"/>
              </a:rPr>
              <a:t>L</a:t>
            </a:r>
            <a:r>
              <a:rPr lang="en-US" altLang="zh-CN" sz="2400" b="1" i="1" baseline="30000">
                <a:sym typeface="Symbol" pitchFamily="18" charset="2"/>
              </a:rPr>
              <a:t>2</a:t>
            </a:r>
            <a:r>
              <a:rPr lang="en-US" altLang="zh-CN" sz="2400" b="1" baseline="-25000">
                <a:sym typeface="Symbol" pitchFamily="18" charset="2"/>
              </a:rPr>
              <a:t></a:t>
            </a:r>
            <a:r>
              <a:rPr lang="en-US" altLang="zh-CN" sz="2400" b="1">
                <a:sym typeface="Symbol" pitchFamily="18" charset="2"/>
              </a:rPr>
              <a:t></a:t>
            </a:r>
            <a:r>
              <a:rPr lang="en-US" altLang="zh-CN" sz="2400" b="1" i="1">
                <a:sym typeface="Symbol" pitchFamily="18" charset="2"/>
              </a:rPr>
              <a:t>L</a:t>
            </a:r>
            <a:r>
              <a:rPr lang="en-US" altLang="zh-CN" sz="2400" b="1" i="1" baseline="30000">
                <a:sym typeface="Symbol" pitchFamily="18" charset="2"/>
              </a:rPr>
              <a:t>n</a:t>
            </a:r>
            <a:r>
              <a:rPr lang="en-US" altLang="zh-CN" sz="2400" b="1" i="1">
                <a:sym typeface="Symbol" pitchFamily="18" charset="2"/>
              </a:rPr>
              <a:t>nL</a:t>
            </a:r>
            <a:r>
              <a:rPr lang="en-US" altLang="zh-CN" sz="2400" b="1" i="1" baseline="30000">
                <a:sym typeface="Symbol" pitchFamily="18" charset="2"/>
              </a:rPr>
              <a:t>2</a:t>
            </a:r>
            <a:r>
              <a:rPr lang="en-US" altLang="zh-CN" sz="2400" b="1" i="1">
                <a:sym typeface="Symbol" pitchFamily="18" charset="2"/>
              </a:rPr>
              <a:t> </a:t>
            </a:r>
            <a:r>
              <a:rPr lang="en-US" altLang="zh-CN" sz="2400" b="1">
                <a:sym typeface="Symbol" pitchFamily="18" charset="2"/>
              </a:rPr>
              <a:t>(the angle between </a:t>
            </a:r>
            <a:r>
              <a:rPr lang="en-US" altLang="zh-CN" sz="2400" b="1" i="1">
                <a:sym typeface="Symbol" pitchFamily="18" charset="2"/>
              </a:rPr>
              <a:t>L</a:t>
            </a:r>
            <a:r>
              <a:rPr lang="en-US" altLang="zh-CN" sz="2400" b="1" i="1" baseline="30000">
                <a:sym typeface="Symbol" pitchFamily="18" charset="2"/>
              </a:rPr>
              <a:t>2</a:t>
            </a:r>
            <a:r>
              <a:rPr lang="en-US" altLang="zh-CN" sz="2400" b="1">
                <a:sym typeface="Symbol" pitchFamily="18" charset="2"/>
              </a:rPr>
              <a:t>and </a:t>
            </a:r>
            <a:r>
              <a:rPr lang="en-US" altLang="zh-CN" sz="2400" b="1" i="1">
                <a:sym typeface="Symbol" pitchFamily="18" charset="2"/>
              </a:rPr>
              <a:t>L</a:t>
            </a:r>
            <a:r>
              <a:rPr lang="en-US" altLang="zh-CN" sz="2400" b="1" i="1" baseline="30000">
                <a:sym typeface="Symbol" pitchFamily="18" charset="2"/>
              </a:rPr>
              <a:t>2 </a:t>
            </a:r>
            <a:r>
              <a:rPr lang="en-US" altLang="zh-CN" sz="2400" b="1">
                <a:sym typeface="Symbol" pitchFamily="18" charset="2"/>
              </a:rPr>
              <a:t>is half of base angle of L</a:t>
            </a:r>
            <a:r>
              <a:rPr lang="en-US" altLang="zh-CN" sz="2400" b="1" baseline="30000">
                <a:sym typeface="Symbol" pitchFamily="18" charset="2"/>
              </a:rPr>
              <a:t>n</a:t>
            </a:r>
            <a:r>
              <a:rPr lang="en-US" altLang="zh-CN" sz="2400" b="1">
                <a:sym typeface="Symbol" pitchFamily="18" charset="2"/>
              </a:rPr>
              <a:t>)</a:t>
            </a:r>
          </a:p>
          <a:p>
            <a:pPr eaLnBrk="1" hangingPunct="1">
              <a:buFontTx/>
              <a:buNone/>
            </a:pPr>
            <a:r>
              <a:rPr lang="en-US" altLang="zh-CN" sz="2400" b="1">
                <a:solidFill>
                  <a:srgbClr val="990000"/>
                </a:solidFill>
              </a:rPr>
              <a:t>Converse theorem</a:t>
            </a:r>
            <a:r>
              <a:rPr lang="zh-CN" altLang="en-US" sz="2400" b="1">
                <a:solidFill>
                  <a:srgbClr val="990000"/>
                </a:solidFill>
              </a:rPr>
              <a:t>：</a:t>
            </a:r>
            <a:r>
              <a:rPr lang="zh-CN" altLang="en-US" sz="2400"/>
              <a:t> </a:t>
            </a:r>
            <a:r>
              <a:rPr lang="en-US" altLang="zh-CN" sz="2400"/>
              <a:t>when </a:t>
            </a:r>
            <a:r>
              <a:rPr lang="en-US" altLang="zh-CN" sz="2400" i="1">
                <a:sym typeface="Symbol" pitchFamily="18" charset="2"/>
              </a:rPr>
              <a:t>L</a:t>
            </a:r>
            <a:r>
              <a:rPr lang="en-US" altLang="zh-CN" sz="2400" i="1" baseline="30000">
                <a:sym typeface="Symbol" pitchFamily="18" charset="2"/>
              </a:rPr>
              <a:t>2</a:t>
            </a:r>
            <a:r>
              <a:rPr lang="zh-CN" altLang="en-US" sz="2400">
                <a:sym typeface="Symbol" pitchFamily="18" charset="2"/>
              </a:rPr>
              <a:t> </a:t>
            </a:r>
            <a:r>
              <a:rPr lang="en-US" altLang="zh-CN" sz="2400">
                <a:sym typeface="Symbol" pitchFamily="18" charset="2"/>
              </a:rPr>
              <a:t>intersect with </a:t>
            </a:r>
            <a:r>
              <a:rPr lang="en-US" altLang="zh-CN" sz="2400" i="1">
                <a:sym typeface="Symbol" pitchFamily="18" charset="2"/>
              </a:rPr>
              <a:t>L</a:t>
            </a:r>
            <a:r>
              <a:rPr lang="en-US" altLang="zh-CN" sz="2400" i="1" baseline="30000">
                <a:sym typeface="Symbol" pitchFamily="18" charset="2"/>
              </a:rPr>
              <a:t>2</a:t>
            </a:r>
            <a:r>
              <a:rPr lang="en-US" altLang="zh-CN" sz="2400">
                <a:sym typeface="Symbol" pitchFamily="18" charset="2"/>
              </a:rPr>
              <a:t>, </a:t>
            </a:r>
            <a:r>
              <a:rPr lang="en-US" altLang="zh-CN" sz="2400" i="1">
                <a:sym typeface="Symbol" pitchFamily="18" charset="2"/>
              </a:rPr>
              <a:t>L</a:t>
            </a:r>
            <a:r>
              <a:rPr lang="en-US" altLang="zh-CN" sz="2400" i="1" baseline="30000">
                <a:sym typeface="Symbol" pitchFamily="18" charset="2"/>
              </a:rPr>
              <a:t>n </a:t>
            </a:r>
            <a:r>
              <a:rPr lang="en-US" altLang="zh-CN" sz="2400">
                <a:sym typeface="Symbol" pitchFamily="18" charset="2"/>
              </a:rPr>
              <a:t>will be generated at their joint point</a:t>
            </a:r>
            <a:r>
              <a:rPr lang="zh-CN" altLang="en-US" sz="2400">
                <a:sym typeface="Symbol" pitchFamily="18" charset="2"/>
              </a:rPr>
              <a:t> </a:t>
            </a:r>
            <a:r>
              <a:rPr lang="en-US" altLang="zh-CN" sz="2400">
                <a:sym typeface="Symbol" pitchFamily="18" charset="2"/>
              </a:rPr>
              <a:t>and it is perpendicular to </a:t>
            </a:r>
            <a:r>
              <a:rPr lang="en-US" altLang="zh-CN" sz="2400" i="1">
                <a:sym typeface="Symbol" pitchFamily="18" charset="2"/>
              </a:rPr>
              <a:t>L</a:t>
            </a:r>
            <a:r>
              <a:rPr lang="en-US" altLang="zh-CN" sz="2400" i="1" baseline="30000">
                <a:sym typeface="Symbol" pitchFamily="18" charset="2"/>
              </a:rPr>
              <a:t>2</a:t>
            </a:r>
            <a:r>
              <a:rPr lang="en-US" altLang="zh-CN" sz="2400" i="1">
                <a:sym typeface="Symbol" pitchFamily="18" charset="2"/>
              </a:rPr>
              <a:t>. </a:t>
            </a:r>
            <a:r>
              <a:rPr lang="en-US" altLang="zh-CN" sz="2400">
                <a:sym typeface="Symbol" pitchFamily="18" charset="2"/>
              </a:rPr>
              <a:t>The base angle is twice as much as the included angle of two </a:t>
            </a:r>
            <a:r>
              <a:rPr lang="en-US" altLang="zh-CN" sz="2400" i="1">
                <a:sym typeface="Symbol" pitchFamily="18" charset="2"/>
              </a:rPr>
              <a:t>L</a:t>
            </a:r>
            <a:r>
              <a:rPr lang="en-US" altLang="zh-CN" sz="2400" i="1" baseline="30000">
                <a:sym typeface="Symbol" pitchFamily="18" charset="2"/>
              </a:rPr>
              <a:t>2</a:t>
            </a:r>
            <a:r>
              <a:rPr lang="en-US" altLang="zh-CN" sz="2400">
                <a:sym typeface="Symbol" pitchFamily="18" charset="2"/>
              </a:rPr>
              <a:t>. And other </a:t>
            </a:r>
            <a:r>
              <a:rPr lang="en-US" altLang="zh-CN" sz="2400" i="1">
                <a:sym typeface="Symbol" pitchFamily="18" charset="2"/>
              </a:rPr>
              <a:t>L</a:t>
            </a:r>
            <a:r>
              <a:rPr lang="en-US" altLang="zh-CN" sz="2400" i="1" baseline="30000">
                <a:sym typeface="Symbol" pitchFamily="18" charset="2"/>
              </a:rPr>
              <a:t>2</a:t>
            </a:r>
            <a:r>
              <a:rPr lang="en-US" altLang="zh-CN" sz="2400" baseline="30000">
                <a:sym typeface="Symbol" pitchFamily="18" charset="2"/>
              </a:rPr>
              <a:t> </a:t>
            </a:r>
            <a:r>
              <a:rPr lang="en-US" altLang="zh-CN" sz="2400">
                <a:sym typeface="Symbol" pitchFamily="18" charset="2"/>
              </a:rPr>
              <a:t>at the plane perpendicular to  </a:t>
            </a:r>
            <a:r>
              <a:rPr lang="en-US" altLang="zh-CN" sz="2400" i="1">
                <a:sym typeface="Symbol" pitchFamily="18" charset="2"/>
              </a:rPr>
              <a:t>L</a:t>
            </a:r>
            <a:r>
              <a:rPr lang="en-US" altLang="zh-CN" sz="2400" i="1" baseline="30000">
                <a:sym typeface="Symbol" pitchFamily="18" charset="2"/>
              </a:rPr>
              <a:t>n</a:t>
            </a:r>
            <a:r>
              <a:rPr lang="en-US" altLang="zh-CN" sz="2400">
                <a:sym typeface="Symbol" pitchFamily="18" charset="2"/>
              </a:rPr>
              <a:t> can be generated. (</a:t>
            </a:r>
            <a:r>
              <a:rPr lang="en-US" altLang="zh-CN" sz="2400" b="1">
                <a:solidFill>
                  <a:srgbClr val="FF0000"/>
                </a:solidFill>
                <a:sym typeface="Symbol" pitchFamily="18" charset="2"/>
              </a:rPr>
              <a:t>The angle of converse theorem is limited</a:t>
            </a:r>
            <a:r>
              <a:rPr lang="en-US" altLang="zh-CN" sz="2400">
                <a:sym typeface="Symbol" pitchFamily="18" charset="2"/>
              </a:rPr>
              <a:t>)</a:t>
            </a:r>
            <a:endParaRPr lang="zh-CN" altLang="en-US" sz="2400">
              <a:solidFill>
                <a:srgbClr val="FF0000"/>
              </a:solidFill>
              <a:sym typeface="Symbol" pitchFamily="18" charset="2"/>
            </a:endParaRPr>
          </a:p>
          <a:p>
            <a:pPr eaLnBrk="1" hangingPunct="1">
              <a:buFontTx/>
              <a:buNone/>
            </a:pPr>
            <a:endParaRPr lang="en-US" altLang="zh-CN" sz="2400" b="1" i="1" baseline="30000">
              <a:sym typeface="Symbol" pitchFamily="18" charset="2"/>
            </a:endParaRPr>
          </a:p>
          <a:p>
            <a:pPr eaLnBrk="1" hangingPunct="1">
              <a:buFontTx/>
              <a:buNone/>
            </a:pPr>
            <a:endParaRPr lang="en-US" altLang="zh-CN" sz="2400" b="1" i="1" baseline="30000">
              <a:sym typeface="Symbol" pitchFamily="18" charset="2"/>
            </a:endParaRPr>
          </a:p>
          <a:p>
            <a:pPr eaLnBrk="1" hangingPunct="1">
              <a:buFontTx/>
              <a:buNone/>
            </a:pPr>
            <a:endParaRPr lang="en-US" altLang="zh-CN" sz="2400" b="1" i="1">
              <a:sym typeface="Symbol" pitchFamily="18" charset="2"/>
            </a:endParaRPr>
          </a:p>
          <a:p>
            <a:pPr eaLnBrk="1" hangingPunct="1">
              <a:buFontTx/>
              <a:buNone/>
            </a:pPr>
            <a:endParaRPr lang="en-US" altLang="zh-CN" sz="2400" b="1">
              <a:sym typeface="Symbol" pitchFamily="18" charset="2"/>
            </a:endParaRPr>
          </a:p>
          <a:p>
            <a:pPr eaLnBrk="1" hangingPunct="1">
              <a:buFontTx/>
              <a:buNone/>
            </a:pPr>
            <a:endParaRPr lang="en-US" altLang="zh-CN" sz="2400" b="1">
              <a:sym typeface="Symbol" pitchFamily="18" charset="2"/>
            </a:endParaRPr>
          </a:p>
          <a:p>
            <a:pPr eaLnBrk="1" hangingPunct="1">
              <a:buFontTx/>
              <a:buNone/>
            </a:pPr>
            <a:endParaRPr lang="en-US" altLang="zh-CN" sz="2400" b="1">
              <a:sym typeface="Symbol" pitchFamily="18" charset="2"/>
            </a:endParaRPr>
          </a:p>
          <a:p>
            <a:pPr eaLnBrk="1" hangingPunct="1">
              <a:buFontTx/>
              <a:buNone/>
            </a:pPr>
            <a:endParaRPr lang="en-US" altLang="zh-CN" sz="2400" b="1">
              <a:sym typeface="Symbol" pitchFamily="18" charset="2"/>
            </a:endParaRPr>
          </a:p>
          <a:p>
            <a:pPr eaLnBrk="1" hangingPunct="1">
              <a:buFontTx/>
              <a:buNone/>
            </a:pPr>
            <a:endParaRPr lang="en-US" altLang="zh-CN" sz="2400" b="1">
              <a:sym typeface="Symbol" pitchFamily="18" charset="2"/>
            </a:endParaRPr>
          </a:p>
        </p:txBody>
      </p:sp>
      <p:pic>
        <p:nvPicPr>
          <p:cNvPr id="34820" name="Picture 28" descr="Ln+L2"/>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230131" y="2420888"/>
            <a:ext cx="2631797" cy="309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Line 30"/>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2" name="Text Box 31"/>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 name="Rectangle 1"/>
          <p:cNvSpPr/>
          <p:nvPr/>
        </p:nvSpPr>
        <p:spPr>
          <a:xfrm>
            <a:off x="467544" y="6094002"/>
            <a:ext cx="7818437" cy="461665"/>
          </a:xfrm>
          <a:prstGeom prst="rect">
            <a:avLst/>
          </a:prstGeom>
        </p:spPr>
        <p:txBody>
          <a:bodyPr wrap="square">
            <a:spAutoFit/>
          </a:bodyPr>
          <a:lstStyle/>
          <a:p>
            <a:pPr marL="342900" lvl="0" indent="-342900">
              <a:spcBef>
                <a:spcPct val="20000"/>
              </a:spcBef>
            </a:pPr>
            <a:r>
              <a:rPr lang="en-US" altLang="zh-CN" sz="2400">
                <a:solidFill>
                  <a:srgbClr val="990000"/>
                </a:solidFill>
                <a:latin typeface="+mn-lt"/>
                <a:ea typeface="+mn-ea"/>
                <a:sym typeface="Symbol" pitchFamily="18" charset="2"/>
              </a:rPr>
              <a:t>For example: </a:t>
            </a:r>
            <a:r>
              <a:rPr lang="en-US" altLang="zh-CN" sz="2400" i="1" kern="0">
                <a:solidFill>
                  <a:srgbClr val="000000"/>
                </a:solidFill>
                <a:latin typeface="Times New Roman"/>
                <a:ea typeface="宋体"/>
              </a:rPr>
              <a:t>L</a:t>
            </a:r>
            <a:r>
              <a:rPr lang="en-US" altLang="zh-CN" sz="2400" i="1" kern="0" baseline="30000">
                <a:solidFill>
                  <a:srgbClr val="000000"/>
                </a:solidFill>
                <a:latin typeface="Times New Roman"/>
                <a:ea typeface="宋体"/>
              </a:rPr>
              <a:t>4</a:t>
            </a:r>
            <a:r>
              <a:rPr lang="en-US" altLang="zh-CN" sz="2400" kern="0">
                <a:solidFill>
                  <a:srgbClr val="000000"/>
                </a:solidFill>
                <a:latin typeface="Times New Roman"/>
                <a:ea typeface="宋体"/>
                <a:sym typeface="Symbol" pitchFamily="18" charset="2"/>
              </a:rPr>
              <a:t></a:t>
            </a:r>
            <a:r>
              <a:rPr lang="en-US" altLang="zh-CN" sz="2400" i="1" kern="0">
                <a:solidFill>
                  <a:srgbClr val="000000"/>
                </a:solidFill>
                <a:latin typeface="Times New Roman"/>
                <a:ea typeface="宋体"/>
                <a:sym typeface="Symbol" pitchFamily="18" charset="2"/>
              </a:rPr>
              <a:t>L</a:t>
            </a:r>
            <a:r>
              <a:rPr lang="en-US" altLang="zh-CN" sz="2400" i="1" kern="0" baseline="30000">
                <a:solidFill>
                  <a:srgbClr val="000000"/>
                </a:solidFill>
                <a:latin typeface="Times New Roman"/>
                <a:ea typeface="宋体"/>
                <a:sym typeface="Symbol" pitchFamily="18" charset="2"/>
              </a:rPr>
              <a:t>2</a:t>
            </a:r>
            <a:r>
              <a:rPr lang="en-US" altLang="zh-CN" sz="2400" kern="0" baseline="-25000">
                <a:solidFill>
                  <a:srgbClr val="000000"/>
                </a:solidFill>
                <a:latin typeface="Times New Roman"/>
                <a:ea typeface="宋体"/>
                <a:sym typeface="Symbol" pitchFamily="18" charset="2"/>
              </a:rPr>
              <a:t></a:t>
            </a:r>
            <a:r>
              <a:rPr lang="en-US" altLang="zh-CN" sz="2400" kern="0">
                <a:solidFill>
                  <a:srgbClr val="000000"/>
                </a:solidFill>
                <a:latin typeface="Times New Roman"/>
                <a:ea typeface="宋体"/>
                <a:sym typeface="Symbol" pitchFamily="18" charset="2"/>
              </a:rPr>
              <a:t></a:t>
            </a:r>
            <a:r>
              <a:rPr lang="en-US" altLang="zh-CN" sz="2400" i="1" kern="0">
                <a:solidFill>
                  <a:srgbClr val="000000"/>
                </a:solidFill>
                <a:latin typeface="Times New Roman"/>
                <a:ea typeface="宋体"/>
                <a:sym typeface="Symbol" pitchFamily="18" charset="2"/>
              </a:rPr>
              <a:t>L</a:t>
            </a:r>
            <a:r>
              <a:rPr lang="en-US" altLang="zh-CN" sz="2400" i="1" kern="0" baseline="30000">
                <a:solidFill>
                  <a:srgbClr val="000000"/>
                </a:solidFill>
                <a:latin typeface="Times New Roman"/>
                <a:ea typeface="宋体"/>
                <a:sym typeface="Symbol" pitchFamily="18" charset="2"/>
              </a:rPr>
              <a:t>4</a:t>
            </a:r>
            <a:r>
              <a:rPr lang="en-US" altLang="zh-CN" sz="2400" kern="0">
                <a:solidFill>
                  <a:srgbClr val="000000"/>
                </a:solidFill>
                <a:latin typeface="Times New Roman"/>
                <a:ea typeface="宋体"/>
                <a:sym typeface="Symbol" pitchFamily="18" charset="2"/>
              </a:rPr>
              <a:t>4</a:t>
            </a:r>
            <a:r>
              <a:rPr lang="en-US" altLang="zh-CN" sz="2400" i="1" kern="0">
                <a:solidFill>
                  <a:srgbClr val="000000"/>
                </a:solidFill>
                <a:latin typeface="Times New Roman"/>
                <a:ea typeface="宋体"/>
                <a:sym typeface="Symbol" pitchFamily="18" charset="2"/>
              </a:rPr>
              <a:t>L</a:t>
            </a:r>
            <a:r>
              <a:rPr lang="en-US" altLang="zh-CN" sz="2400" i="1" kern="0" baseline="30000">
                <a:solidFill>
                  <a:srgbClr val="000000"/>
                </a:solidFill>
                <a:latin typeface="Times New Roman"/>
                <a:ea typeface="宋体"/>
                <a:sym typeface="Symbol" pitchFamily="18" charset="2"/>
              </a:rPr>
              <a:t>2 </a:t>
            </a:r>
            <a:r>
              <a:rPr lang="en-US" altLang="zh-CN" sz="2400" kern="0">
                <a:solidFill>
                  <a:srgbClr val="000000"/>
                </a:solidFill>
                <a:latin typeface="Times New Roman"/>
                <a:ea typeface="宋体"/>
                <a:sym typeface="Symbol" pitchFamily="18" charset="2"/>
              </a:rPr>
              <a:t>,  </a:t>
            </a:r>
            <a:r>
              <a:rPr lang="en-US" altLang="zh-CN" sz="2400" i="1" kern="0">
                <a:solidFill>
                  <a:srgbClr val="000000"/>
                </a:solidFill>
                <a:latin typeface="Times New Roman"/>
                <a:ea typeface="宋体"/>
              </a:rPr>
              <a:t>L</a:t>
            </a:r>
            <a:r>
              <a:rPr lang="en-US" altLang="zh-CN" sz="2400" i="1" kern="0" baseline="30000">
                <a:solidFill>
                  <a:srgbClr val="000000"/>
                </a:solidFill>
                <a:latin typeface="Times New Roman"/>
                <a:ea typeface="宋体"/>
              </a:rPr>
              <a:t>3</a:t>
            </a:r>
            <a:r>
              <a:rPr lang="en-US" altLang="zh-CN" sz="2400" kern="0">
                <a:solidFill>
                  <a:srgbClr val="000000"/>
                </a:solidFill>
                <a:latin typeface="Times New Roman"/>
                <a:ea typeface="宋体"/>
                <a:sym typeface="Symbol" pitchFamily="18" charset="2"/>
              </a:rPr>
              <a:t></a:t>
            </a:r>
            <a:r>
              <a:rPr lang="en-US" altLang="zh-CN" sz="2400" i="1" kern="0">
                <a:solidFill>
                  <a:srgbClr val="000000"/>
                </a:solidFill>
                <a:latin typeface="Times New Roman"/>
                <a:ea typeface="宋体"/>
                <a:sym typeface="Symbol" pitchFamily="18" charset="2"/>
              </a:rPr>
              <a:t>L</a:t>
            </a:r>
            <a:r>
              <a:rPr lang="en-US" altLang="zh-CN" sz="2400" i="1" kern="0" baseline="30000">
                <a:solidFill>
                  <a:srgbClr val="000000"/>
                </a:solidFill>
                <a:latin typeface="Times New Roman"/>
                <a:ea typeface="宋体"/>
                <a:sym typeface="Symbol" pitchFamily="18" charset="2"/>
              </a:rPr>
              <a:t>2</a:t>
            </a:r>
            <a:r>
              <a:rPr lang="en-US" altLang="zh-CN" sz="2400" kern="0" baseline="-25000">
                <a:solidFill>
                  <a:srgbClr val="000000"/>
                </a:solidFill>
                <a:latin typeface="Times New Roman"/>
                <a:ea typeface="宋体"/>
                <a:sym typeface="Symbol" pitchFamily="18" charset="2"/>
              </a:rPr>
              <a:t></a:t>
            </a:r>
            <a:r>
              <a:rPr lang="en-US" altLang="zh-CN" sz="2400" kern="0">
                <a:solidFill>
                  <a:srgbClr val="000000"/>
                </a:solidFill>
                <a:latin typeface="Times New Roman"/>
                <a:ea typeface="宋体"/>
                <a:sym typeface="Symbol" pitchFamily="18" charset="2"/>
              </a:rPr>
              <a:t></a:t>
            </a:r>
            <a:r>
              <a:rPr lang="en-US" altLang="zh-CN" sz="2400" i="1" kern="0">
                <a:solidFill>
                  <a:srgbClr val="000000"/>
                </a:solidFill>
                <a:latin typeface="Times New Roman"/>
                <a:ea typeface="宋体"/>
                <a:sym typeface="Symbol" pitchFamily="18" charset="2"/>
              </a:rPr>
              <a:t>L</a:t>
            </a:r>
            <a:r>
              <a:rPr lang="en-US" altLang="zh-CN" sz="2400" i="1" kern="0" baseline="30000">
                <a:solidFill>
                  <a:srgbClr val="000000"/>
                </a:solidFill>
                <a:latin typeface="Times New Roman"/>
                <a:ea typeface="宋体"/>
                <a:sym typeface="Symbol" pitchFamily="18" charset="2"/>
              </a:rPr>
              <a:t>3</a:t>
            </a:r>
            <a:r>
              <a:rPr lang="en-US" altLang="zh-CN" sz="2400" i="1" kern="0">
                <a:solidFill>
                  <a:srgbClr val="000000"/>
                </a:solidFill>
                <a:latin typeface="Times New Roman"/>
                <a:ea typeface="宋体"/>
                <a:sym typeface="Symbol" pitchFamily="18" charset="2"/>
              </a:rPr>
              <a:t>3L</a:t>
            </a:r>
            <a:r>
              <a:rPr lang="en-US" altLang="zh-CN" sz="2400" i="1" kern="0" baseline="30000">
                <a:solidFill>
                  <a:srgbClr val="000000"/>
                </a:solidFill>
                <a:latin typeface="Times New Roman"/>
                <a:ea typeface="宋体"/>
                <a:sym typeface="Symbol" pitchFamily="18" charset="2"/>
              </a:rPr>
              <a:t>2</a:t>
            </a:r>
          </a:p>
        </p:txBody>
      </p:sp>
    </p:spTree>
  </p:cSld>
  <p:clrMapOvr>
    <a:masterClrMapping/>
  </p:clrMapOvr>
  <p:transition spd="med">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Down Arrow 34"/>
          <p:cNvSpPr/>
          <p:nvPr/>
        </p:nvSpPr>
        <p:spPr bwMode="auto">
          <a:xfrm>
            <a:off x="3114280" y="3664238"/>
            <a:ext cx="986786" cy="340826"/>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5" name="Rectangle 1049"/>
          <p:cNvSpPr>
            <a:spLocks noChangeArrowheads="1"/>
          </p:cNvSpPr>
          <p:nvPr/>
        </p:nvSpPr>
        <p:spPr bwMode="auto">
          <a:xfrm>
            <a:off x="1120701" y="1439932"/>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6" name="Rectangle 1050"/>
          <p:cNvSpPr>
            <a:spLocks noChangeArrowheads="1"/>
          </p:cNvSpPr>
          <p:nvPr/>
        </p:nvSpPr>
        <p:spPr bwMode="auto">
          <a:xfrm rot="10800000">
            <a:off x="1473126" y="2430532"/>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7" name="Rectangle 1051"/>
          <p:cNvSpPr>
            <a:spLocks noChangeArrowheads="1"/>
          </p:cNvSpPr>
          <p:nvPr/>
        </p:nvSpPr>
        <p:spPr bwMode="auto">
          <a:xfrm rot="5400000">
            <a:off x="1789039" y="1782832"/>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8" name="Rectangle 1052"/>
          <p:cNvSpPr>
            <a:spLocks noChangeArrowheads="1"/>
          </p:cNvSpPr>
          <p:nvPr/>
        </p:nvSpPr>
        <p:spPr bwMode="auto">
          <a:xfrm rot="16200000">
            <a:off x="815901" y="2081282"/>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9" name="Rectangle 1053"/>
          <p:cNvSpPr>
            <a:spLocks noChangeArrowheads="1"/>
          </p:cNvSpPr>
          <p:nvPr/>
        </p:nvSpPr>
        <p:spPr bwMode="auto">
          <a:xfrm>
            <a:off x="1352476" y="2060645"/>
            <a:ext cx="177800"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10" name="Text Box 1057"/>
          <p:cNvSpPr txBox="1">
            <a:spLocks noChangeArrowheads="1"/>
          </p:cNvSpPr>
          <p:nvPr/>
        </p:nvSpPr>
        <p:spPr bwMode="auto">
          <a:xfrm>
            <a:off x="909593" y="3017907"/>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4</a:t>
            </a:r>
            <a:endParaRPr kumimoji="0" lang="en-US" altLang="zh-CN" sz="3600" b="0">
              <a:solidFill>
                <a:srgbClr val="33CC33"/>
              </a:solidFill>
            </a:endParaRPr>
          </a:p>
        </p:txBody>
      </p:sp>
      <p:sp>
        <p:nvSpPr>
          <p:cNvPr id="12" name="Rectangle 11"/>
          <p:cNvSpPr/>
          <p:nvPr/>
        </p:nvSpPr>
        <p:spPr>
          <a:xfrm>
            <a:off x="54389" y="0"/>
            <a:ext cx="8987043" cy="707886"/>
          </a:xfrm>
          <a:prstGeom prst="rect">
            <a:avLst/>
          </a:prstGeom>
        </p:spPr>
        <p:txBody>
          <a:bodyPr wrap="square">
            <a:spAutoFit/>
          </a:bodyPr>
          <a:lstStyle/>
          <a:p>
            <a:r>
              <a:rPr lang="en-US" altLang="zh-CN" sz="4000">
                <a:solidFill>
                  <a:srgbClr val="990000"/>
                </a:solidFill>
              </a:rPr>
              <a:t>Sample for Theorem 1</a:t>
            </a:r>
            <a:r>
              <a:rPr lang="zh-CN" altLang="en-US" sz="4000">
                <a:solidFill>
                  <a:srgbClr val="990000"/>
                </a:solidFill>
              </a:rPr>
              <a:t>： </a:t>
            </a:r>
            <a:r>
              <a:rPr lang="en-US" altLang="zh-CN" sz="4000" i="1"/>
              <a:t>L</a:t>
            </a:r>
            <a:r>
              <a:rPr lang="en-US" altLang="zh-CN" sz="4000" i="1" baseline="30000"/>
              <a:t>4</a:t>
            </a:r>
            <a:r>
              <a:rPr lang="en-US" altLang="zh-CN" sz="4000">
                <a:sym typeface="Symbol" pitchFamily="18" charset="2"/>
              </a:rPr>
              <a:t></a:t>
            </a:r>
            <a:r>
              <a:rPr lang="en-US" altLang="zh-CN" sz="4000" i="1">
                <a:sym typeface="Symbol" pitchFamily="18" charset="2"/>
              </a:rPr>
              <a:t>L</a:t>
            </a:r>
            <a:r>
              <a:rPr lang="en-US" altLang="zh-CN" sz="4000" i="1" baseline="30000">
                <a:sym typeface="Symbol" pitchFamily="18" charset="2"/>
              </a:rPr>
              <a:t>2</a:t>
            </a:r>
            <a:r>
              <a:rPr lang="en-US" altLang="zh-CN" sz="4000" baseline="-25000">
                <a:sym typeface="Symbol" pitchFamily="18" charset="2"/>
              </a:rPr>
              <a:t></a:t>
            </a:r>
            <a:r>
              <a:rPr lang="en-US" altLang="zh-CN" sz="4000">
                <a:sym typeface="Symbol" pitchFamily="18" charset="2"/>
              </a:rPr>
              <a:t></a:t>
            </a:r>
            <a:r>
              <a:rPr lang="en-US" altLang="zh-CN" sz="4000" i="1">
                <a:sym typeface="Symbol" pitchFamily="18" charset="2"/>
              </a:rPr>
              <a:t>L</a:t>
            </a:r>
            <a:r>
              <a:rPr lang="en-US" altLang="zh-CN" sz="4000" i="1" baseline="30000">
                <a:sym typeface="Symbol" pitchFamily="18" charset="2"/>
              </a:rPr>
              <a:t>4</a:t>
            </a:r>
            <a:r>
              <a:rPr lang="en-US" altLang="zh-CN" sz="4000">
                <a:sym typeface="Symbol" pitchFamily="18" charset="2"/>
              </a:rPr>
              <a:t>4</a:t>
            </a:r>
            <a:r>
              <a:rPr lang="en-US" altLang="zh-CN" sz="4000" i="1">
                <a:sym typeface="Symbol" pitchFamily="18" charset="2"/>
              </a:rPr>
              <a:t>L</a:t>
            </a:r>
            <a:r>
              <a:rPr lang="en-US" altLang="zh-CN" sz="4000" i="1" baseline="30000">
                <a:sym typeface="Symbol" pitchFamily="18" charset="2"/>
              </a:rPr>
              <a:t>2 </a:t>
            </a:r>
            <a:endParaRPr lang="en-US" sz="4000"/>
          </a:p>
        </p:txBody>
      </p:sp>
      <p:sp>
        <p:nvSpPr>
          <p:cNvPr id="14" name="Rectangle 1049"/>
          <p:cNvSpPr>
            <a:spLocks noChangeArrowheads="1"/>
          </p:cNvSpPr>
          <p:nvPr/>
        </p:nvSpPr>
        <p:spPr bwMode="auto">
          <a:xfrm>
            <a:off x="3253940" y="1439932"/>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15" name="Rectangle 1050"/>
          <p:cNvSpPr>
            <a:spLocks noChangeArrowheads="1"/>
          </p:cNvSpPr>
          <p:nvPr/>
        </p:nvSpPr>
        <p:spPr bwMode="auto">
          <a:xfrm rot="10800000">
            <a:off x="3606365" y="2430532"/>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16" name="Rectangle 1051"/>
          <p:cNvSpPr>
            <a:spLocks noChangeArrowheads="1"/>
          </p:cNvSpPr>
          <p:nvPr/>
        </p:nvSpPr>
        <p:spPr bwMode="auto">
          <a:xfrm rot="5400000">
            <a:off x="3935926" y="179648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17" name="Rectangle 1052"/>
          <p:cNvSpPr>
            <a:spLocks noChangeArrowheads="1"/>
          </p:cNvSpPr>
          <p:nvPr/>
        </p:nvSpPr>
        <p:spPr bwMode="auto">
          <a:xfrm rot="16200000">
            <a:off x="2949140" y="2081282"/>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18" name="Rectangle 1053"/>
          <p:cNvSpPr>
            <a:spLocks noChangeArrowheads="1"/>
          </p:cNvSpPr>
          <p:nvPr/>
        </p:nvSpPr>
        <p:spPr bwMode="auto">
          <a:xfrm>
            <a:off x="3485715" y="2060645"/>
            <a:ext cx="177800"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cxnSp>
        <p:nvCxnSpPr>
          <p:cNvPr id="21" name="Straight Arrow Connector 20"/>
          <p:cNvCxnSpPr/>
          <p:nvPr/>
        </p:nvCxnSpPr>
        <p:spPr bwMode="auto">
          <a:xfrm>
            <a:off x="2537002" y="2168902"/>
            <a:ext cx="2475273" cy="0"/>
          </a:xfrm>
          <a:prstGeom prst="straightConnector1">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 Box 1057"/>
          <p:cNvSpPr txBox="1">
            <a:spLocks noChangeArrowheads="1"/>
          </p:cNvSpPr>
          <p:nvPr/>
        </p:nvSpPr>
        <p:spPr bwMode="auto">
          <a:xfrm>
            <a:off x="5012275" y="1818441"/>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28" name="Rectangle 1053"/>
          <p:cNvSpPr>
            <a:spLocks noChangeArrowheads="1"/>
          </p:cNvSpPr>
          <p:nvPr/>
        </p:nvSpPr>
        <p:spPr bwMode="auto">
          <a:xfrm flipH="1">
            <a:off x="3482569" y="2060645"/>
            <a:ext cx="193105"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pic>
        <p:nvPicPr>
          <p:cNvPr id="276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3724883" y="2069862"/>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V="1">
            <a:off x="2836456" y="1761592"/>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 name="Rectangle 1049"/>
          <p:cNvSpPr>
            <a:spLocks noChangeArrowheads="1"/>
          </p:cNvSpPr>
          <p:nvPr/>
        </p:nvSpPr>
        <p:spPr bwMode="auto">
          <a:xfrm>
            <a:off x="3278101" y="456355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40" name="Rectangle 1050"/>
          <p:cNvSpPr>
            <a:spLocks noChangeArrowheads="1"/>
          </p:cNvSpPr>
          <p:nvPr/>
        </p:nvSpPr>
        <p:spPr bwMode="auto">
          <a:xfrm rot="10800000">
            <a:off x="3616878" y="555415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41" name="Rectangle 1051"/>
          <p:cNvSpPr>
            <a:spLocks noChangeArrowheads="1"/>
          </p:cNvSpPr>
          <p:nvPr/>
        </p:nvSpPr>
        <p:spPr bwMode="auto">
          <a:xfrm rot="5400000">
            <a:off x="3960087" y="492010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42" name="Rectangle 1052"/>
          <p:cNvSpPr>
            <a:spLocks noChangeArrowheads="1"/>
          </p:cNvSpPr>
          <p:nvPr/>
        </p:nvSpPr>
        <p:spPr bwMode="auto">
          <a:xfrm rot="16200000">
            <a:off x="2973301" y="520490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43" name="Rectangle 1053"/>
          <p:cNvSpPr>
            <a:spLocks noChangeArrowheads="1"/>
          </p:cNvSpPr>
          <p:nvPr/>
        </p:nvSpPr>
        <p:spPr bwMode="auto">
          <a:xfrm>
            <a:off x="3509876" y="5184268"/>
            <a:ext cx="177800"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cxnSp>
        <p:nvCxnSpPr>
          <p:cNvPr id="45" name="Straight Arrow Connector 44"/>
          <p:cNvCxnSpPr/>
          <p:nvPr/>
        </p:nvCxnSpPr>
        <p:spPr bwMode="auto">
          <a:xfrm>
            <a:off x="2561163" y="5292525"/>
            <a:ext cx="2082845" cy="0"/>
          </a:xfrm>
          <a:prstGeom prst="straightConnector1">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Text Box 1057"/>
          <p:cNvSpPr txBox="1">
            <a:spLocks noChangeArrowheads="1"/>
          </p:cNvSpPr>
          <p:nvPr/>
        </p:nvSpPr>
        <p:spPr bwMode="auto">
          <a:xfrm>
            <a:off x="4701933" y="4925311"/>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47" name="Rectangle 1053"/>
          <p:cNvSpPr>
            <a:spLocks noChangeArrowheads="1"/>
          </p:cNvSpPr>
          <p:nvPr/>
        </p:nvSpPr>
        <p:spPr bwMode="auto">
          <a:xfrm flipH="1">
            <a:off x="3506730" y="5184268"/>
            <a:ext cx="193105"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pic>
        <p:nvPicPr>
          <p:cNvPr id="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3749044" y="5193485"/>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V="1">
            <a:off x="2860617" y="4885215"/>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0" name="Straight Arrow Connector 49"/>
          <p:cNvCxnSpPr/>
          <p:nvPr/>
        </p:nvCxnSpPr>
        <p:spPr bwMode="auto">
          <a:xfrm>
            <a:off x="3599874" y="4532427"/>
            <a:ext cx="0" cy="1648295"/>
          </a:xfrm>
          <a:prstGeom prst="straightConnector1">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flipV="1">
            <a:off x="3462095" y="4591996"/>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flipV="1">
            <a:off x="3078279" y="5457261"/>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Flowchart: Or 36"/>
          <p:cNvSpPr/>
          <p:nvPr/>
        </p:nvSpPr>
        <p:spPr bwMode="auto">
          <a:xfrm>
            <a:off x="1581756" y="3227112"/>
            <a:ext cx="227920" cy="227920"/>
          </a:xfrm>
          <a:prstGeom prst="flowChartOr">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grpSp>
        <p:nvGrpSpPr>
          <p:cNvPr id="2" name="组合 1">
            <a:extLst>
              <a:ext uri="{FF2B5EF4-FFF2-40B4-BE49-F238E27FC236}">
                <a16:creationId xmlns:a16="http://schemas.microsoft.com/office/drawing/2014/main" id="{CEBCA355-9BDD-475E-BA69-F41DE21B2C66}"/>
              </a:ext>
            </a:extLst>
          </p:cNvPr>
          <p:cNvGrpSpPr/>
          <p:nvPr/>
        </p:nvGrpSpPr>
        <p:grpSpPr>
          <a:xfrm>
            <a:off x="2963489" y="3006011"/>
            <a:ext cx="1010710" cy="646331"/>
            <a:chOff x="2963489" y="3006011"/>
            <a:chExt cx="1010710" cy="646331"/>
          </a:xfrm>
        </p:grpSpPr>
        <p:sp>
          <p:nvSpPr>
            <p:cNvPr id="19" name="Text Box 1057"/>
            <p:cNvSpPr txBox="1">
              <a:spLocks noChangeArrowheads="1"/>
            </p:cNvSpPr>
            <p:nvPr/>
          </p:nvSpPr>
          <p:spPr bwMode="auto">
            <a:xfrm>
              <a:off x="2963489" y="3006011"/>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4</a:t>
              </a:r>
              <a:endParaRPr kumimoji="0" lang="en-US" altLang="zh-CN" sz="3600" b="0">
                <a:solidFill>
                  <a:srgbClr val="33CC33"/>
                </a:solidFill>
              </a:endParaRPr>
            </a:p>
          </p:txBody>
        </p:sp>
        <p:sp>
          <p:nvSpPr>
            <p:cNvPr id="56" name="Flowchart: Or 55"/>
            <p:cNvSpPr/>
            <p:nvPr/>
          </p:nvSpPr>
          <p:spPr bwMode="auto">
            <a:xfrm>
              <a:off x="3746279" y="3215216"/>
              <a:ext cx="227920" cy="227920"/>
            </a:xfrm>
            <a:prstGeom prst="flowChartOr">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grpSp>
      <p:sp>
        <p:nvSpPr>
          <p:cNvPr id="58" name="Text Box 1057"/>
          <p:cNvSpPr txBox="1">
            <a:spLocks noChangeArrowheads="1"/>
          </p:cNvSpPr>
          <p:nvPr/>
        </p:nvSpPr>
        <p:spPr bwMode="auto">
          <a:xfrm>
            <a:off x="3568444" y="3955134"/>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59" name="Rectangle 1049"/>
          <p:cNvSpPr>
            <a:spLocks noChangeArrowheads="1"/>
          </p:cNvSpPr>
          <p:nvPr/>
        </p:nvSpPr>
        <p:spPr bwMode="auto">
          <a:xfrm>
            <a:off x="6585470" y="455153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60" name="Rectangle 1050"/>
          <p:cNvSpPr>
            <a:spLocks noChangeArrowheads="1"/>
          </p:cNvSpPr>
          <p:nvPr/>
        </p:nvSpPr>
        <p:spPr bwMode="auto">
          <a:xfrm rot="10800000">
            <a:off x="6924247" y="554213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61" name="Rectangle 1051"/>
          <p:cNvSpPr>
            <a:spLocks noChangeArrowheads="1"/>
          </p:cNvSpPr>
          <p:nvPr/>
        </p:nvSpPr>
        <p:spPr bwMode="auto">
          <a:xfrm rot="5400000">
            <a:off x="7267456" y="4908078"/>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62" name="Rectangle 1052"/>
          <p:cNvSpPr>
            <a:spLocks noChangeArrowheads="1"/>
          </p:cNvSpPr>
          <p:nvPr/>
        </p:nvSpPr>
        <p:spPr bwMode="auto">
          <a:xfrm rot="16200000">
            <a:off x="6280670" y="519288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63" name="Rectangle 1053"/>
          <p:cNvSpPr>
            <a:spLocks noChangeArrowheads="1"/>
          </p:cNvSpPr>
          <p:nvPr/>
        </p:nvSpPr>
        <p:spPr bwMode="auto">
          <a:xfrm>
            <a:off x="6817245" y="5172243"/>
            <a:ext cx="177800"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cxnSp>
        <p:nvCxnSpPr>
          <p:cNvPr id="65" name="Straight Arrow Connector 64"/>
          <p:cNvCxnSpPr/>
          <p:nvPr/>
        </p:nvCxnSpPr>
        <p:spPr bwMode="auto">
          <a:xfrm>
            <a:off x="5868532" y="5280500"/>
            <a:ext cx="2475273" cy="0"/>
          </a:xfrm>
          <a:prstGeom prst="straightConnector1">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Text Box 1057"/>
          <p:cNvSpPr txBox="1">
            <a:spLocks noChangeArrowheads="1"/>
          </p:cNvSpPr>
          <p:nvPr/>
        </p:nvSpPr>
        <p:spPr bwMode="auto">
          <a:xfrm>
            <a:off x="8343805" y="4930039"/>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67" name="Rectangle 1053"/>
          <p:cNvSpPr>
            <a:spLocks noChangeArrowheads="1"/>
          </p:cNvSpPr>
          <p:nvPr/>
        </p:nvSpPr>
        <p:spPr bwMode="auto">
          <a:xfrm flipH="1">
            <a:off x="6814099" y="5172243"/>
            <a:ext cx="193105"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pic>
        <p:nvPicPr>
          <p:cNvPr id="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7056413" y="5181460"/>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V="1">
            <a:off x="6167986" y="4873190"/>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0" name="Straight Arrow Connector 69"/>
          <p:cNvCxnSpPr/>
          <p:nvPr/>
        </p:nvCxnSpPr>
        <p:spPr bwMode="auto">
          <a:xfrm>
            <a:off x="6907243" y="4520402"/>
            <a:ext cx="0" cy="1648295"/>
          </a:xfrm>
          <a:prstGeom prst="straightConnector1">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7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flipV="1">
            <a:off x="6769464" y="4579971"/>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flipV="1">
            <a:off x="6385648" y="5445236"/>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 name="Text Box 1057"/>
          <p:cNvSpPr txBox="1">
            <a:spLocks noChangeArrowheads="1"/>
          </p:cNvSpPr>
          <p:nvPr/>
        </p:nvSpPr>
        <p:spPr bwMode="auto">
          <a:xfrm>
            <a:off x="6673627" y="3909694"/>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cxnSp>
        <p:nvCxnSpPr>
          <p:cNvPr id="75" name="Straight Arrow Connector 74"/>
          <p:cNvCxnSpPr/>
          <p:nvPr/>
        </p:nvCxnSpPr>
        <p:spPr bwMode="auto">
          <a:xfrm>
            <a:off x="6065444" y="4472246"/>
            <a:ext cx="1842447" cy="1692323"/>
          </a:xfrm>
          <a:prstGeom prst="straightConnector1">
            <a:avLst/>
          </a:prstGeom>
          <a:solidFill>
            <a:schemeClr val="accent1"/>
          </a:solidFill>
          <a:ln w="9525" cap="flat" cmpd="sng" algn="ctr">
            <a:solidFill>
              <a:srgbClr val="FF006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Straight Arrow Connector 81"/>
          <p:cNvCxnSpPr/>
          <p:nvPr/>
        </p:nvCxnSpPr>
        <p:spPr bwMode="auto">
          <a:xfrm flipV="1">
            <a:off x="6174626" y="4669585"/>
            <a:ext cx="1334862" cy="1317563"/>
          </a:xfrm>
          <a:prstGeom prst="straightConnector1">
            <a:avLst/>
          </a:prstGeom>
          <a:solidFill>
            <a:schemeClr val="accent1"/>
          </a:solidFill>
          <a:ln w="9525" cap="flat" cmpd="sng" algn="ctr">
            <a:solidFill>
              <a:srgbClr val="FF006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 Box 1057"/>
          <p:cNvSpPr txBox="1">
            <a:spLocks noChangeArrowheads="1"/>
          </p:cNvSpPr>
          <p:nvPr/>
        </p:nvSpPr>
        <p:spPr bwMode="auto">
          <a:xfrm>
            <a:off x="7597549" y="4149080"/>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86" name="Text Box 1057"/>
          <p:cNvSpPr txBox="1">
            <a:spLocks noChangeArrowheads="1"/>
          </p:cNvSpPr>
          <p:nvPr/>
        </p:nvSpPr>
        <p:spPr bwMode="auto">
          <a:xfrm>
            <a:off x="8033463" y="5828044"/>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87" name="Down Arrow 86"/>
          <p:cNvSpPr/>
          <p:nvPr/>
        </p:nvSpPr>
        <p:spPr bwMode="auto">
          <a:xfrm rot="16200000">
            <a:off x="5016508" y="5146565"/>
            <a:ext cx="986786" cy="340826"/>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76" name="Rectangle 1">
            <a:extLst>
              <a:ext uri="{FF2B5EF4-FFF2-40B4-BE49-F238E27FC236}">
                <a16:creationId xmlns:a16="http://schemas.microsoft.com/office/drawing/2014/main" id="{3DEB3ECF-8371-499F-9E85-DA6A789E803D}"/>
              </a:ext>
            </a:extLst>
          </p:cNvPr>
          <p:cNvSpPr/>
          <p:nvPr/>
        </p:nvSpPr>
        <p:spPr>
          <a:xfrm>
            <a:off x="5933972" y="1297717"/>
            <a:ext cx="3367155" cy="830997"/>
          </a:xfrm>
          <a:prstGeom prst="rect">
            <a:avLst/>
          </a:prstGeom>
        </p:spPr>
        <p:txBody>
          <a:bodyPr wrap="square">
            <a:spAutoFit/>
          </a:bodyPr>
          <a:lstStyle/>
          <a:p>
            <a:r>
              <a:rPr lang="en-US" altLang="zh-CN" sz="2400">
                <a:solidFill>
                  <a:srgbClr val="FF0000"/>
                </a:solidFill>
              </a:rPr>
              <a:t>Red:   	above plane </a:t>
            </a:r>
          </a:p>
          <a:p>
            <a:r>
              <a:rPr lang="en-US" altLang="zh-CN" sz="2400">
                <a:solidFill>
                  <a:schemeClr val="bg1">
                    <a:lumMod val="65000"/>
                  </a:schemeClr>
                </a:solidFill>
              </a:rPr>
              <a:t>Grey:  below plane</a:t>
            </a:r>
            <a:endParaRPr lang="zh-CN" altLang="en-US" sz="2400">
              <a:solidFill>
                <a:schemeClr val="bg1">
                  <a:lumMod val="65000"/>
                </a:schemeClr>
              </a:solidFill>
            </a:endParaRPr>
          </a:p>
        </p:txBody>
      </p:sp>
      <p:grpSp>
        <p:nvGrpSpPr>
          <p:cNvPr id="73" name="组合 72">
            <a:extLst>
              <a:ext uri="{FF2B5EF4-FFF2-40B4-BE49-F238E27FC236}">
                <a16:creationId xmlns:a16="http://schemas.microsoft.com/office/drawing/2014/main" id="{2FEFDAFF-6BBC-4495-BEF9-95F715881E86}"/>
              </a:ext>
            </a:extLst>
          </p:cNvPr>
          <p:cNvGrpSpPr/>
          <p:nvPr/>
        </p:nvGrpSpPr>
        <p:grpSpPr>
          <a:xfrm>
            <a:off x="3230189" y="6250861"/>
            <a:ext cx="1010710" cy="646331"/>
            <a:chOff x="2963489" y="3006011"/>
            <a:chExt cx="1010710" cy="646331"/>
          </a:xfrm>
        </p:grpSpPr>
        <p:sp>
          <p:nvSpPr>
            <p:cNvPr id="77" name="Text Box 1057">
              <a:extLst>
                <a:ext uri="{FF2B5EF4-FFF2-40B4-BE49-F238E27FC236}">
                  <a16:creationId xmlns:a16="http://schemas.microsoft.com/office/drawing/2014/main" id="{EFC36DA5-1BCF-4172-AE81-C01BC1B4972D}"/>
                </a:ext>
              </a:extLst>
            </p:cNvPr>
            <p:cNvSpPr txBox="1">
              <a:spLocks noChangeArrowheads="1"/>
            </p:cNvSpPr>
            <p:nvPr/>
          </p:nvSpPr>
          <p:spPr bwMode="auto">
            <a:xfrm>
              <a:off x="2963489" y="3006011"/>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4</a:t>
              </a:r>
              <a:endParaRPr kumimoji="0" lang="en-US" altLang="zh-CN" sz="3600" b="0">
                <a:solidFill>
                  <a:srgbClr val="33CC33"/>
                </a:solidFill>
              </a:endParaRPr>
            </a:p>
          </p:txBody>
        </p:sp>
        <p:sp>
          <p:nvSpPr>
            <p:cNvPr id="78" name="Flowchart: Or 55">
              <a:extLst>
                <a:ext uri="{FF2B5EF4-FFF2-40B4-BE49-F238E27FC236}">
                  <a16:creationId xmlns:a16="http://schemas.microsoft.com/office/drawing/2014/main" id="{7712A95F-9EBE-4B41-8FE6-89EED72C7FF3}"/>
                </a:ext>
              </a:extLst>
            </p:cNvPr>
            <p:cNvSpPr/>
            <p:nvPr/>
          </p:nvSpPr>
          <p:spPr bwMode="auto">
            <a:xfrm>
              <a:off x="3746279" y="3215216"/>
              <a:ext cx="227920" cy="227920"/>
            </a:xfrm>
            <a:prstGeom prst="flowChartOr">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grpSp>
      <p:grpSp>
        <p:nvGrpSpPr>
          <p:cNvPr id="79" name="组合 78">
            <a:extLst>
              <a:ext uri="{FF2B5EF4-FFF2-40B4-BE49-F238E27FC236}">
                <a16:creationId xmlns:a16="http://schemas.microsoft.com/office/drawing/2014/main" id="{5806ED72-6F83-4F25-BC18-1A7C33D7B735}"/>
              </a:ext>
            </a:extLst>
          </p:cNvPr>
          <p:cNvGrpSpPr/>
          <p:nvPr/>
        </p:nvGrpSpPr>
        <p:grpSpPr>
          <a:xfrm>
            <a:off x="6633789" y="6282611"/>
            <a:ext cx="1010710" cy="646331"/>
            <a:chOff x="2963489" y="3006011"/>
            <a:chExt cx="1010710" cy="646331"/>
          </a:xfrm>
        </p:grpSpPr>
        <p:sp>
          <p:nvSpPr>
            <p:cNvPr id="80" name="Text Box 1057">
              <a:extLst>
                <a:ext uri="{FF2B5EF4-FFF2-40B4-BE49-F238E27FC236}">
                  <a16:creationId xmlns:a16="http://schemas.microsoft.com/office/drawing/2014/main" id="{76C3FE47-E7A9-468D-9FDF-E47A4EC92343}"/>
                </a:ext>
              </a:extLst>
            </p:cNvPr>
            <p:cNvSpPr txBox="1">
              <a:spLocks noChangeArrowheads="1"/>
            </p:cNvSpPr>
            <p:nvPr/>
          </p:nvSpPr>
          <p:spPr bwMode="auto">
            <a:xfrm>
              <a:off x="2963489" y="3006011"/>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4</a:t>
              </a:r>
              <a:endParaRPr kumimoji="0" lang="en-US" altLang="zh-CN" sz="3600" b="0">
                <a:solidFill>
                  <a:srgbClr val="33CC33"/>
                </a:solidFill>
              </a:endParaRPr>
            </a:p>
          </p:txBody>
        </p:sp>
        <p:sp>
          <p:nvSpPr>
            <p:cNvPr id="81" name="Flowchart: Or 55">
              <a:extLst>
                <a:ext uri="{FF2B5EF4-FFF2-40B4-BE49-F238E27FC236}">
                  <a16:creationId xmlns:a16="http://schemas.microsoft.com/office/drawing/2014/main" id="{D7AB1BAE-B028-4955-ADFD-EE79B8F1BC69}"/>
                </a:ext>
              </a:extLst>
            </p:cNvPr>
            <p:cNvSpPr/>
            <p:nvPr/>
          </p:nvSpPr>
          <p:spPr bwMode="auto">
            <a:xfrm>
              <a:off x="3746279" y="3215216"/>
              <a:ext cx="227920" cy="227920"/>
            </a:xfrm>
            <a:prstGeom prst="flowChartOr">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grpSp>
    </p:spTree>
    <p:extLst>
      <p:ext uri="{BB962C8B-B14F-4D97-AF65-F5344CB8AC3E}">
        <p14:creationId xmlns:p14="http://schemas.microsoft.com/office/powerpoint/2010/main" val="2259094817"/>
      </p:ext>
    </p:extLst>
  </p:cSld>
  <p:clrMapOvr>
    <a:masterClrMapping/>
  </p:clrMapOvr>
  <p:transition spd="med">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1050"/>
          <p:cNvSpPr>
            <a:spLocks noChangeArrowheads="1"/>
          </p:cNvSpPr>
          <p:nvPr/>
        </p:nvSpPr>
        <p:spPr bwMode="auto">
          <a:xfrm rot="10800000">
            <a:off x="1291258" y="278859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61" name="Rectangle 1051"/>
          <p:cNvSpPr>
            <a:spLocks noChangeArrowheads="1"/>
          </p:cNvSpPr>
          <p:nvPr/>
        </p:nvSpPr>
        <p:spPr bwMode="auto">
          <a:xfrm rot="5400000">
            <a:off x="1634467" y="215454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63" name="Rectangle 1053"/>
          <p:cNvSpPr>
            <a:spLocks noChangeArrowheads="1"/>
          </p:cNvSpPr>
          <p:nvPr/>
        </p:nvSpPr>
        <p:spPr bwMode="auto">
          <a:xfrm>
            <a:off x="1184256" y="2418708"/>
            <a:ext cx="177800"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cxnSp>
        <p:nvCxnSpPr>
          <p:cNvPr id="65" name="Straight Arrow Connector 64"/>
          <p:cNvCxnSpPr/>
          <p:nvPr/>
        </p:nvCxnSpPr>
        <p:spPr bwMode="auto">
          <a:xfrm>
            <a:off x="235543" y="2526965"/>
            <a:ext cx="2475273" cy="0"/>
          </a:xfrm>
          <a:prstGeom prst="straightConnector1">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Text Box 1057"/>
          <p:cNvSpPr txBox="1">
            <a:spLocks noChangeArrowheads="1"/>
          </p:cNvSpPr>
          <p:nvPr/>
        </p:nvSpPr>
        <p:spPr bwMode="auto">
          <a:xfrm>
            <a:off x="2710816" y="2176504"/>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67" name="Rectangle 1053"/>
          <p:cNvSpPr>
            <a:spLocks noChangeArrowheads="1"/>
          </p:cNvSpPr>
          <p:nvPr/>
        </p:nvSpPr>
        <p:spPr bwMode="auto">
          <a:xfrm flipH="1">
            <a:off x="1181110" y="2418708"/>
            <a:ext cx="193105"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pic>
        <p:nvPicPr>
          <p:cNvPr id="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1423424" y="2427925"/>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flipV="1">
            <a:off x="752659" y="2691701"/>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5" name="Straight Arrow Connector 74"/>
          <p:cNvCxnSpPr/>
          <p:nvPr/>
        </p:nvCxnSpPr>
        <p:spPr bwMode="auto">
          <a:xfrm>
            <a:off x="432455" y="1718711"/>
            <a:ext cx="1842447" cy="1692323"/>
          </a:xfrm>
          <a:prstGeom prst="straightConnector1">
            <a:avLst/>
          </a:prstGeom>
          <a:solidFill>
            <a:schemeClr val="accent1"/>
          </a:solidFill>
          <a:ln w="9525" cap="flat" cmpd="sng" algn="ctr">
            <a:solidFill>
              <a:srgbClr val="FF006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Text Box 1057"/>
          <p:cNvSpPr txBox="1">
            <a:spLocks noChangeArrowheads="1"/>
          </p:cNvSpPr>
          <p:nvPr/>
        </p:nvSpPr>
        <p:spPr bwMode="auto">
          <a:xfrm>
            <a:off x="2400474" y="3074509"/>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87" name="Down Arrow 86"/>
          <p:cNvSpPr/>
          <p:nvPr/>
        </p:nvSpPr>
        <p:spPr bwMode="auto">
          <a:xfrm>
            <a:off x="4989526" y="3550427"/>
            <a:ext cx="986786" cy="340826"/>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76" name="Rectangle 75"/>
          <p:cNvSpPr/>
          <p:nvPr/>
        </p:nvSpPr>
        <p:spPr>
          <a:xfrm>
            <a:off x="-1744" y="-3539"/>
            <a:ext cx="9145744" cy="1754326"/>
          </a:xfrm>
          <a:prstGeom prst="rect">
            <a:avLst/>
          </a:prstGeom>
        </p:spPr>
        <p:txBody>
          <a:bodyPr wrap="square">
            <a:spAutoFit/>
          </a:bodyPr>
          <a:lstStyle/>
          <a:p>
            <a:r>
              <a:rPr lang="en-US" altLang="zh-CN" sz="3600">
                <a:solidFill>
                  <a:srgbClr val="990000"/>
                </a:solidFill>
              </a:rPr>
              <a:t>Sample for converse theorem </a:t>
            </a:r>
            <a:r>
              <a:rPr lang="zh-CN" altLang="en-US" sz="3600">
                <a:solidFill>
                  <a:srgbClr val="990000"/>
                </a:solidFill>
              </a:rPr>
              <a:t>：</a:t>
            </a:r>
            <a:r>
              <a:rPr lang="zh-CN" altLang="en-US" sz="3600"/>
              <a:t> </a:t>
            </a:r>
            <a:r>
              <a:rPr lang="en-US" altLang="zh-CN" sz="3600" b="0" i="1">
                <a:latin typeface="+mn-lt"/>
                <a:sym typeface="Symbol" pitchFamily="18" charset="2"/>
              </a:rPr>
              <a:t>L</a:t>
            </a:r>
            <a:r>
              <a:rPr lang="en-US" altLang="zh-CN" sz="3600" b="0" i="1" baseline="30000">
                <a:latin typeface="+mn-lt"/>
                <a:sym typeface="Symbol" pitchFamily="18" charset="2"/>
              </a:rPr>
              <a:t>2</a:t>
            </a:r>
            <a:r>
              <a:rPr lang="zh-CN" altLang="en-US" sz="3600" b="0">
                <a:latin typeface="+mn-lt"/>
                <a:sym typeface="Symbol" pitchFamily="18" charset="2"/>
              </a:rPr>
              <a:t> </a:t>
            </a:r>
            <a:r>
              <a:rPr lang="en-US" altLang="zh-CN" sz="3600" b="0">
                <a:latin typeface="+mn-lt"/>
                <a:sym typeface="Symbol" pitchFamily="18" charset="2"/>
              </a:rPr>
              <a:t>intersects with </a:t>
            </a:r>
            <a:r>
              <a:rPr lang="en-US" altLang="zh-CN" sz="3600" b="0" i="1">
                <a:latin typeface="+mn-lt"/>
                <a:sym typeface="Symbol" pitchFamily="18" charset="2"/>
              </a:rPr>
              <a:t>L</a:t>
            </a:r>
            <a:r>
              <a:rPr lang="en-US" altLang="zh-CN" sz="3600" b="0" i="1" baseline="30000">
                <a:latin typeface="+mn-lt"/>
                <a:sym typeface="Symbol" pitchFamily="18" charset="2"/>
              </a:rPr>
              <a:t>2 </a:t>
            </a:r>
            <a:r>
              <a:rPr lang="en-US" altLang="zh-CN" sz="3600" b="0">
                <a:latin typeface="+mn-lt"/>
                <a:sym typeface="Symbol" pitchFamily="18" charset="2"/>
              </a:rPr>
              <a:t>with 45°,</a:t>
            </a:r>
            <a:r>
              <a:rPr lang="zh-CN" altLang="en-US" sz="3600" b="0">
                <a:latin typeface="+mn-lt"/>
                <a:sym typeface="Symbol" pitchFamily="18" charset="2"/>
              </a:rPr>
              <a:t> </a:t>
            </a:r>
            <a:r>
              <a:rPr lang="en-US" altLang="zh-CN" sz="3600" b="0">
                <a:latin typeface="+mn-lt"/>
                <a:sym typeface="Symbol" pitchFamily="18" charset="2"/>
              </a:rPr>
              <a:t>then generates</a:t>
            </a:r>
            <a:r>
              <a:rPr lang="zh-CN" altLang="en-US" sz="3600" b="0">
                <a:latin typeface="+mn-lt"/>
                <a:sym typeface="Symbol" pitchFamily="18" charset="2"/>
              </a:rPr>
              <a:t> </a:t>
            </a:r>
            <a:r>
              <a:rPr lang="en-US" altLang="zh-CN" sz="3600" b="0">
                <a:latin typeface="+mn-lt"/>
                <a:sym typeface="Symbol" pitchFamily="18" charset="2"/>
              </a:rPr>
              <a:t>one </a:t>
            </a:r>
            <a:r>
              <a:rPr lang="en-US" altLang="zh-CN" sz="3600" b="0" i="1">
                <a:latin typeface="+mn-lt"/>
                <a:sym typeface="Symbol" pitchFamily="18" charset="2"/>
              </a:rPr>
              <a:t>L</a:t>
            </a:r>
            <a:r>
              <a:rPr lang="en-US" altLang="zh-CN" sz="3600" b="0" i="1" baseline="30000">
                <a:latin typeface="+mn-lt"/>
                <a:sym typeface="Symbol" pitchFamily="18" charset="2"/>
              </a:rPr>
              <a:t>4</a:t>
            </a:r>
            <a:r>
              <a:rPr lang="en-US" altLang="zh-CN" sz="3600" b="0">
                <a:latin typeface="+mn-lt"/>
                <a:sym typeface="Symbol" pitchFamily="18" charset="2"/>
              </a:rPr>
              <a:t>,  form 4 L</a:t>
            </a:r>
            <a:r>
              <a:rPr lang="en-US" altLang="zh-CN" sz="3600" b="0" baseline="30000">
                <a:latin typeface="+mn-lt"/>
                <a:sym typeface="Symbol" pitchFamily="18" charset="2"/>
              </a:rPr>
              <a:t>2</a:t>
            </a:r>
            <a:r>
              <a:rPr lang="zh-CN" altLang="en-US" sz="3600" b="0" baseline="30000">
                <a:latin typeface="+mn-lt"/>
                <a:sym typeface="Symbol" pitchFamily="18" charset="2"/>
              </a:rPr>
              <a:t> </a:t>
            </a:r>
            <a:r>
              <a:rPr lang="zh-CN" altLang="en-US" sz="3600" b="0" baseline="-25000">
                <a:latin typeface="+mn-lt"/>
                <a:sym typeface="Symbol" pitchFamily="18" charset="2"/>
              </a:rPr>
              <a:t>，</a:t>
            </a:r>
            <a:r>
              <a:rPr lang="en-US" altLang="zh-CN" sz="3600" b="0">
                <a:latin typeface="+mn-lt"/>
                <a:sym typeface="Symbol" pitchFamily="18" charset="2"/>
              </a:rPr>
              <a:t> which are perpendicular to the L</a:t>
            </a:r>
            <a:r>
              <a:rPr lang="en-US" altLang="zh-CN" sz="3600" b="0" baseline="30000">
                <a:latin typeface="+mn-lt"/>
                <a:sym typeface="Symbol" pitchFamily="18" charset="2"/>
              </a:rPr>
              <a:t>4</a:t>
            </a:r>
            <a:r>
              <a:rPr lang="en-US" altLang="zh-CN" sz="3600" b="0">
                <a:latin typeface="+mn-lt"/>
                <a:sym typeface="Symbol" pitchFamily="18" charset="2"/>
              </a:rPr>
              <a:t>.</a:t>
            </a:r>
            <a:endParaRPr lang="en-US" sz="3600" b="0">
              <a:latin typeface="+mn-lt"/>
            </a:endParaRPr>
          </a:p>
        </p:txBody>
      </p:sp>
      <p:sp>
        <p:nvSpPr>
          <p:cNvPr id="78" name="Rectangle 1049"/>
          <p:cNvSpPr>
            <a:spLocks noChangeArrowheads="1"/>
          </p:cNvSpPr>
          <p:nvPr/>
        </p:nvSpPr>
        <p:spPr bwMode="auto">
          <a:xfrm>
            <a:off x="5126051" y="179418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79" name="Rectangle 1050"/>
          <p:cNvSpPr>
            <a:spLocks noChangeArrowheads="1"/>
          </p:cNvSpPr>
          <p:nvPr/>
        </p:nvSpPr>
        <p:spPr bwMode="auto">
          <a:xfrm rot="10800000">
            <a:off x="5464828" y="278478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80" name="Rectangle 1051"/>
          <p:cNvSpPr>
            <a:spLocks noChangeArrowheads="1"/>
          </p:cNvSpPr>
          <p:nvPr/>
        </p:nvSpPr>
        <p:spPr bwMode="auto">
          <a:xfrm rot="5400000">
            <a:off x="5808037" y="215073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81" name="Rectangle 1052"/>
          <p:cNvSpPr>
            <a:spLocks noChangeArrowheads="1"/>
          </p:cNvSpPr>
          <p:nvPr/>
        </p:nvSpPr>
        <p:spPr bwMode="auto">
          <a:xfrm rot="16200000">
            <a:off x="4821251" y="243553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83" name="Rectangle 1053"/>
          <p:cNvSpPr>
            <a:spLocks noChangeArrowheads="1"/>
          </p:cNvSpPr>
          <p:nvPr/>
        </p:nvSpPr>
        <p:spPr bwMode="auto">
          <a:xfrm>
            <a:off x="5357826" y="2414900"/>
            <a:ext cx="177800"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cxnSp>
        <p:nvCxnSpPr>
          <p:cNvPr id="84" name="Straight Arrow Connector 83"/>
          <p:cNvCxnSpPr/>
          <p:nvPr/>
        </p:nvCxnSpPr>
        <p:spPr bwMode="auto">
          <a:xfrm>
            <a:off x="4409113" y="2523157"/>
            <a:ext cx="2475273" cy="0"/>
          </a:xfrm>
          <a:prstGeom prst="straightConnector1">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Text Box 1057"/>
          <p:cNvSpPr txBox="1">
            <a:spLocks noChangeArrowheads="1"/>
          </p:cNvSpPr>
          <p:nvPr/>
        </p:nvSpPr>
        <p:spPr bwMode="auto">
          <a:xfrm>
            <a:off x="6884386" y="2172696"/>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89" name="Rectangle 1053"/>
          <p:cNvSpPr>
            <a:spLocks noChangeArrowheads="1"/>
          </p:cNvSpPr>
          <p:nvPr/>
        </p:nvSpPr>
        <p:spPr bwMode="auto">
          <a:xfrm flipH="1">
            <a:off x="5354680" y="2414900"/>
            <a:ext cx="193105"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pic>
        <p:nvPicPr>
          <p:cNvPr id="9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5596994" y="2424117"/>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V="1">
            <a:off x="4708567" y="2115847"/>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flipV="1">
            <a:off x="5310045" y="1822628"/>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flipV="1">
            <a:off x="4926229" y="2687893"/>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4" name="Straight Arrow Connector 93"/>
          <p:cNvCxnSpPr/>
          <p:nvPr/>
        </p:nvCxnSpPr>
        <p:spPr bwMode="auto">
          <a:xfrm>
            <a:off x="4606025" y="1714903"/>
            <a:ext cx="1842447" cy="1692323"/>
          </a:xfrm>
          <a:prstGeom prst="straightConnector1">
            <a:avLst/>
          </a:prstGeom>
          <a:solidFill>
            <a:schemeClr val="accent1"/>
          </a:solidFill>
          <a:ln w="9525" cap="flat" cmpd="sng" algn="ctr">
            <a:solidFill>
              <a:srgbClr val="FF006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Text Box 1057"/>
          <p:cNvSpPr txBox="1">
            <a:spLocks noChangeArrowheads="1"/>
          </p:cNvSpPr>
          <p:nvPr/>
        </p:nvSpPr>
        <p:spPr bwMode="auto">
          <a:xfrm>
            <a:off x="6574044" y="3070701"/>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96" name="Down Arrow 95"/>
          <p:cNvSpPr/>
          <p:nvPr/>
        </p:nvSpPr>
        <p:spPr bwMode="auto">
          <a:xfrm rot="16200000">
            <a:off x="3332130" y="2343545"/>
            <a:ext cx="986786" cy="340826"/>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97" name="Rectangle 1049"/>
          <p:cNvSpPr>
            <a:spLocks noChangeArrowheads="1"/>
          </p:cNvSpPr>
          <p:nvPr/>
        </p:nvSpPr>
        <p:spPr bwMode="auto">
          <a:xfrm>
            <a:off x="5083689" y="4210174"/>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98" name="Rectangle 1050"/>
          <p:cNvSpPr>
            <a:spLocks noChangeArrowheads="1"/>
          </p:cNvSpPr>
          <p:nvPr/>
        </p:nvSpPr>
        <p:spPr bwMode="auto">
          <a:xfrm rot="10800000">
            <a:off x="5422466" y="5200774"/>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99" name="Rectangle 1051"/>
          <p:cNvSpPr>
            <a:spLocks noChangeArrowheads="1"/>
          </p:cNvSpPr>
          <p:nvPr/>
        </p:nvSpPr>
        <p:spPr bwMode="auto">
          <a:xfrm rot="5400000">
            <a:off x="5765675" y="4566722"/>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100" name="Rectangle 1052"/>
          <p:cNvSpPr>
            <a:spLocks noChangeArrowheads="1"/>
          </p:cNvSpPr>
          <p:nvPr/>
        </p:nvSpPr>
        <p:spPr bwMode="auto">
          <a:xfrm rot="16200000">
            <a:off x="4778889" y="4851524"/>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a:solidFill>
                  <a:srgbClr val="FF0000"/>
                </a:solidFill>
                <a:effectLst>
                  <a:outerShdw blurRad="38100" dist="38100" dir="2700000" algn="tl">
                    <a:srgbClr val="000000">
                      <a:alpha val="43137"/>
                    </a:srgbClr>
                  </a:outerShdw>
                </a:effectLst>
              </a:rPr>
              <a:t>6</a:t>
            </a:r>
          </a:p>
        </p:txBody>
      </p:sp>
      <p:sp>
        <p:nvSpPr>
          <p:cNvPr id="101" name="Rectangle 1053"/>
          <p:cNvSpPr>
            <a:spLocks noChangeArrowheads="1"/>
          </p:cNvSpPr>
          <p:nvPr/>
        </p:nvSpPr>
        <p:spPr bwMode="auto">
          <a:xfrm>
            <a:off x="5315464" y="4830887"/>
            <a:ext cx="177800"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102" name="Text Box 1057"/>
          <p:cNvSpPr txBox="1">
            <a:spLocks noChangeArrowheads="1"/>
          </p:cNvSpPr>
          <p:nvPr/>
        </p:nvSpPr>
        <p:spPr bwMode="auto">
          <a:xfrm>
            <a:off x="5133711" y="6184532"/>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4</a:t>
            </a:r>
            <a:endParaRPr kumimoji="0" lang="en-US" altLang="zh-CN" sz="3600" b="0">
              <a:solidFill>
                <a:srgbClr val="33CC33"/>
              </a:solidFill>
            </a:endParaRPr>
          </a:p>
        </p:txBody>
      </p:sp>
      <p:cxnSp>
        <p:nvCxnSpPr>
          <p:cNvPr id="103" name="Straight Arrow Connector 102"/>
          <p:cNvCxnSpPr/>
          <p:nvPr/>
        </p:nvCxnSpPr>
        <p:spPr bwMode="auto">
          <a:xfrm>
            <a:off x="4366751" y="4939144"/>
            <a:ext cx="2475273" cy="0"/>
          </a:xfrm>
          <a:prstGeom prst="straightConnector1">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Text Box 1057"/>
          <p:cNvSpPr txBox="1">
            <a:spLocks noChangeArrowheads="1"/>
          </p:cNvSpPr>
          <p:nvPr/>
        </p:nvSpPr>
        <p:spPr bwMode="auto">
          <a:xfrm>
            <a:off x="6842024" y="4588683"/>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105" name="Rectangle 1053"/>
          <p:cNvSpPr>
            <a:spLocks noChangeArrowheads="1"/>
          </p:cNvSpPr>
          <p:nvPr/>
        </p:nvSpPr>
        <p:spPr bwMode="auto">
          <a:xfrm flipH="1">
            <a:off x="5312318" y="4830887"/>
            <a:ext cx="193105" cy="190500"/>
          </a:xfrm>
          <a:prstGeom prst="rect">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pic>
        <p:nvPicPr>
          <p:cNvPr id="10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5554632" y="4840104"/>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V="1">
            <a:off x="4666205" y="4531834"/>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8" name="Straight Arrow Connector 107"/>
          <p:cNvCxnSpPr/>
          <p:nvPr/>
        </p:nvCxnSpPr>
        <p:spPr bwMode="auto">
          <a:xfrm>
            <a:off x="5405462" y="4179046"/>
            <a:ext cx="0" cy="1648295"/>
          </a:xfrm>
          <a:prstGeom prst="straightConnector1">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flipV="1">
            <a:off x="5267683" y="4238615"/>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flipV="1">
            <a:off x="4883867" y="5103880"/>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1" name="Flowchart: Or 110"/>
          <p:cNvSpPr/>
          <p:nvPr/>
        </p:nvSpPr>
        <p:spPr bwMode="auto">
          <a:xfrm>
            <a:off x="5779787" y="6393737"/>
            <a:ext cx="227920" cy="227920"/>
          </a:xfrm>
          <a:prstGeom prst="flowChartOr">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112" name="Text Box 1057"/>
          <p:cNvSpPr txBox="1">
            <a:spLocks noChangeArrowheads="1"/>
          </p:cNvSpPr>
          <p:nvPr/>
        </p:nvSpPr>
        <p:spPr bwMode="auto">
          <a:xfrm>
            <a:off x="5493264" y="5538201"/>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cxnSp>
        <p:nvCxnSpPr>
          <p:cNvPr id="113" name="Straight Arrow Connector 112"/>
          <p:cNvCxnSpPr/>
          <p:nvPr/>
        </p:nvCxnSpPr>
        <p:spPr bwMode="auto">
          <a:xfrm>
            <a:off x="4563663" y="4130890"/>
            <a:ext cx="1842447" cy="1692323"/>
          </a:xfrm>
          <a:prstGeom prst="straightConnector1">
            <a:avLst/>
          </a:prstGeom>
          <a:solidFill>
            <a:schemeClr val="accent1"/>
          </a:solidFill>
          <a:ln w="9525" cap="flat" cmpd="sng" algn="ctr">
            <a:solidFill>
              <a:srgbClr val="FF006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Straight Arrow Connector 113"/>
          <p:cNvCxnSpPr/>
          <p:nvPr/>
        </p:nvCxnSpPr>
        <p:spPr bwMode="auto">
          <a:xfrm flipV="1">
            <a:off x="4672845" y="4328229"/>
            <a:ext cx="1334862" cy="1317563"/>
          </a:xfrm>
          <a:prstGeom prst="straightConnector1">
            <a:avLst/>
          </a:prstGeom>
          <a:solidFill>
            <a:schemeClr val="accent1"/>
          </a:solidFill>
          <a:ln w="9525" cap="flat" cmpd="sng" algn="ctr">
            <a:solidFill>
              <a:srgbClr val="FF006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Text Box 1057"/>
          <p:cNvSpPr txBox="1">
            <a:spLocks noChangeArrowheads="1"/>
          </p:cNvSpPr>
          <p:nvPr/>
        </p:nvSpPr>
        <p:spPr bwMode="auto">
          <a:xfrm>
            <a:off x="6095768" y="3807724"/>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116" name="Text Box 1057"/>
          <p:cNvSpPr txBox="1">
            <a:spLocks noChangeArrowheads="1"/>
          </p:cNvSpPr>
          <p:nvPr/>
        </p:nvSpPr>
        <p:spPr bwMode="auto">
          <a:xfrm>
            <a:off x="6531682" y="5486688"/>
            <a:ext cx="6206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3600" i="1"/>
              <a:t>L</a:t>
            </a:r>
            <a:r>
              <a:rPr lang="en-US" altLang="zh-CN" sz="3600" i="1" baseline="30000"/>
              <a:t>2</a:t>
            </a:r>
            <a:endParaRPr kumimoji="0" lang="en-US" altLang="zh-CN" sz="3600" b="0">
              <a:solidFill>
                <a:srgbClr val="33CC33"/>
              </a:solidFill>
            </a:endParaRPr>
          </a:p>
        </p:txBody>
      </p:sp>
      <p:sp>
        <p:nvSpPr>
          <p:cNvPr id="2" name="Rectangle 1"/>
          <p:cNvSpPr/>
          <p:nvPr/>
        </p:nvSpPr>
        <p:spPr>
          <a:xfrm>
            <a:off x="52716" y="4628812"/>
            <a:ext cx="3367155" cy="830997"/>
          </a:xfrm>
          <a:prstGeom prst="rect">
            <a:avLst/>
          </a:prstGeom>
        </p:spPr>
        <p:txBody>
          <a:bodyPr wrap="square">
            <a:spAutoFit/>
          </a:bodyPr>
          <a:lstStyle/>
          <a:p>
            <a:r>
              <a:rPr lang="en-US" altLang="zh-CN" sz="2400">
                <a:solidFill>
                  <a:srgbClr val="FF0000"/>
                </a:solidFill>
              </a:rPr>
              <a:t>Red: above plane </a:t>
            </a:r>
          </a:p>
          <a:p>
            <a:r>
              <a:rPr lang="en-US" altLang="zh-CN" sz="2400">
                <a:solidFill>
                  <a:schemeClr val="bg1">
                    <a:lumMod val="65000"/>
                  </a:schemeClr>
                </a:solidFill>
              </a:rPr>
              <a:t>Grey: below plane</a:t>
            </a:r>
            <a:endParaRPr lang="zh-CN" altLang="en-US" sz="2400">
              <a:solidFill>
                <a:schemeClr val="bg1">
                  <a:lumMod val="65000"/>
                </a:schemeClr>
              </a:solidFill>
            </a:endParaRPr>
          </a:p>
        </p:txBody>
      </p:sp>
    </p:spTree>
    <p:extLst>
      <p:ext uri="{BB962C8B-B14F-4D97-AF65-F5344CB8AC3E}">
        <p14:creationId xmlns:p14="http://schemas.microsoft.com/office/powerpoint/2010/main" val="2187162079"/>
      </p:ext>
    </p:extLst>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ChangeArrowheads="1"/>
          </p:cNvSpPr>
          <p:nvPr>
            <p:ph type="title"/>
          </p:nvPr>
        </p:nvSpPr>
        <p:spPr>
          <a:xfrm>
            <a:off x="760413" y="1055688"/>
            <a:ext cx="7772400" cy="573087"/>
          </a:xfrm>
          <a:noFill/>
        </p:spPr>
        <p:txBody>
          <a:bodyPr/>
          <a:lstStyle/>
          <a:p>
            <a:pPr algn="l" eaLnBrk="1" hangingPunct="1"/>
            <a:r>
              <a:rPr lang="en-US" altLang="zh-CN" sz="3200" b="1">
                <a:solidFill>
                  <a:srgbClr val="FF0066"/>
                </a:solidFill>
              </a:rPr>
              <a:t>Theorem of symmetry element combination</a:t>
            </a:r>
            <a:r>
              <a:rPr lang="zh-CN" altLang="en-US" sz="3200" b="1">
                <a:solidFill>
                  <a:srgbClr val="FF0066"/>
                </a:solidFill>
              </a:rPr>
              <a:t>：</a:t>
            </a:r>
          </a:p>
        </p:txBody>
      </p:sp>
      <p:pic>
        <p:nvPicPr>
          <p:cNvPr id="35843" name="Picture 5" descr="L3+L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660232" y="1796443"/>
            <a:ext cx="207327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Rectangle 6"/>
          <p:cNvSpPr>
            <a:spLocks noChangeArrowheads="1"/>
          </p:cNvSpPr>
          <p:nvPr/>
        </p:nvSpPr>
        <p:spPr bwMode="auto">
          <a:xfrm>
            <a:off x="447801" y="4293096"/>
            <a:ext cx="8629397"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a:solidFill>
                  <a:srgbClr val="CC3300"/>
                </a:solidFill>
                <a:sym typeface="Symbol" pitchFamily="18" charset="2"/>
              </a:rPr>
              <a:t>Question: </a:t>
            </a:r>
          </a:p>
          <a:p>
            <a:pPr eaLnBrk="1" hangingPunct="1">
              <a:spcBef>
                <a:spcPct val="0"/>
              </a:spcBef>
              <a:buFontTx/>
              <a:buNone/>
            </a:pPr>
            <a:r>
              <a:rPr lang="en-US" altLang="zh-CN" sz="2800" b="0">
                <a:sym typeface="Symbol" pitchFamily="18" charset="2"/>
              </a:rPr>
              <a:t>When two </a:t>
            </a:r>
            <a:r>
              <a:rPr lang="en-US" altLang="zh-CN" sz="2800" b="0" i="1">
                <a:sym typeface="Symbol" pitchFamily="18" charset="2"/>
              </a:rPr>
              <a:t>L</a:t>
            </a:r>
            <a:r>
              <a:rPr lang="en-US" altLang="zh-CN" sz="2800" b="0" i="1" baseline="30000">
                <a:sym typeface="Symbol" pitchFamily="18" charset="2"/>
              </a:rPr>
              <a:t>2</a:t>
            </a:r>
            <a:r>
              <a:rPr lang="zh-CN" altLang="en-US" sz="2800" b="0" i="1" baseline="30000">
                <a:sym typeface="Symbol" pitchFamily="18" charset="2"/>
              </a:rPr>
              <a:t> </a:t>
            </a:r>
            <a:r>
              <a:rPr lang="en-US" altLang="zh-CN" sz="2800" b="0">
                <a:sym typeface="Symbol" pitchFamily="18" charset="2"/>
              </a:rPr>
              <a:t>intersect with 30°, which symmetry axis will be generated at their joint point and perpendicular to the plane of </a:t>
            </a:r>
            <a:r>
              <a:rPr lang="en-US" altLang="zh-CN" sz="2800" b="0" i="1">
                <a:sym typeface="Symbol" pitchFamily="18" charset="2"/>
              </a:rPr>
              <a:t>L</a:t>
            </a:r>
            <a:r>
              <a:rPr lang="en-US" altLang="zh-CN" sz="2800" b="0" i="1" baseline="30000">
                <a:sym typeface="Symbol" pitchFamily="18" charset="2"/>
              </a:rPr>
              <a:t>2</a:t>
            </a:r>
            <a:r>
              <a:rPr lang="en-US" altLang="zh-CN" sz="2800" b="0">
                <a:sym typeface="Symbol" pitchFamily="18" charset="2"/>
              </a:rPr>
              <a:t>?</a:t>
            </a:r>
          </a:p>
        </p:txBody>
      </p:sp>
      <p:sp>
        <p:nvSpPr>
          <p:cNvPr id="35845" name="Line 7"/>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6" name="Text Box 8"/>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 name="Rectangle 1"/>
          <p:cNvSpPr/>
          <p:nvPr/>
        </p:nvSpPr>
        <p:spPr>
          <a:xfrm>
            <a:off x="1907704" y="3356992"/>
            <a:ext cx="3805850" cy="769441"/>
          </a:xfrm>
          <a:prstGeom prst="rect">
            <a:avLst/>
          </a:prstGeom>
        </p:spPr>
        <p:txBody>
          <a:bodyPr wrap="none">
            <a:spAutoFit/>
          </a:bodyPr>
          <a:lstStyle/>
          <a:p>
            <a:r>
              <a:rPr lang="en-US" altLang="zh-CN" i="1"/>
              <a:t>L</a:t>
            </a:r>
            <a:r>
              <a:rPr lang="en-US" altLang="zh-CN" i="1" baseline="30000"/>
              <a:t>3</a:t>
            </a:r>
            <a:r>
              <a:rPr lang="en-US" altLang="zh-CN">
                <a:sym typeface="Symbol" pitchFamily="18" charset="2"/>
              </a:rPr>
              <a:t></a:t>
            </a:r>
            <a:r>
              <a:rPr lang="en-US" altLang="zh-CN" i="1">
                <a:sym typeface="Symbol" pitchFamily="18" charset="2"/>
              </a:rPr>
              <a:t>L</a:t>
            </a:r>
            <a:r>
              <a:rPr lang="en-US" altLang="zh-CN" i="1" baseline="30000">
                <a:sym typeface="Symbol" pitchFamily="18" charset="2"/>
              </a:rPr>
              <a:t>2</a:t>
            </a:r>
            <a:r>
              <a:rPr lang="en-US" altLang="zh-CN" baseline="-25000">
                <a:sym typeface="Symbol" pitchFamily="18" charset="2"/>
              </a:rPr>
              <a:t></a:t>
            </a:r>
            <a:r>
              <a:rPr lang="en-US" altLang="zh-CN">
                <a:sym typeface="Symbol" pitchFamily="18" charset="2"/>
              </a:rPr>
              <a:t></a:t>
            </a:r>
            <a:r>
              <a:rPr lang="en-US" altLang="zh-CN" i="1">
                <a:sym typeface="Symbol" pitchFamily="18" charset="2"/>
              </a:rPr>
              <a:t>L</a:t>
            </a:r>
            <a:r>
              <a:rPr lang="en-US" altLang="zh-CN" i="1" baseline="30000">
                <a:sym typeface="Symbol" pitchFamily="18" charset="2"/>
              </a:rPr>
              <a:t>3</a:t>
            </a:r>
            <a:r>
              <a:rPr lang="en-US" altLang="zh-CN" i="1">
                <a:sym typeface="Symbol" pitchFamily="18" charset="2"/>
              </a:rPr>
              <a:t>3L</a:t>
            </a:r>
            <a:r>
              <a:rPr lang="en-US" altLang="zh-CN" i="1" baseline="30000">
                <a:sym typeface="Symbol" pitchFamily="18" charset="2"/>
              </a:rPr>
              <a:t>2 </a:t>
            </a:r>
            <a:endParaRPr lang="en-US"/>
          </a:p>
        </p:txBody>
      </p:sp>
      <p:sp>
        <p:nvSpPr>
          <p:cNvPr id="8" name="Text Box 7"/>
          <p:cNvSpPr txBox="1">
            <a:spLocks noChangeArrowheads="1"/>
          </p:cNvSpPr>
          <p:nvPr/>
        </p:nvSpPr>
        <p:spPr bwMode="auto">
          <a:xfrm>
            <a:off x="625902" y="1796443"/>
            <a:ext cx="5904656"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defRPr/>
            </a:pPr>
            <a:r>
              <a:rPr kumimoji="0" lang="en-US" altLang="zh-CN" sz="2800" b="0"/>
              <a:t>Please give the symmetrical patterns to demonstrate the combination of symmetry elements below. </a:t>
            </a:r>
          </a:p>
        </p:txBody>
      </p:sp>
    </p:spTree>
  </p:cSld>
  <p:clrMapOvr>
    <a:masterClrMapping/>
  </p:clrMapOvr>
  <p:transition spd="med">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35496" y="188640"/>
            <a:ext cx="8987043" cy="4832092"/>
          </a:xfrm>
          <a:prstGeom prst="rect">
            <a:avLst/>
          </a:prstGeom>
        </p:spPr>
        <p:txBody>
          <a:bodyPr wrap="square">
            <a:spAutoFit/>
          </a:bodyPr>
          <a:lstStyle/>
          <a:p>
            <a:r>
              <a:rPr lang="en-US" altLang="zh-CN" sz="3600">
                <a:solidFill>
                  <a:srgbClr val="990000"/>
                </a:solidFill>
              </a:rPr>
              <a:t>Exercise for Theorem 1</a:t>
            </a:r>
            <a:r>
              <a:rPr lang="zh-CN" altLang="en-US" sz="3600">
                <a:solidFill>
                  <a:srgbClr val="990000"/>
                </a:solidFill>
              </a:rPr>
              <a:t>： </a:t>
            </a:r>
            <a:endParaRPr lang="en-US" altLang="zh-CN" sz="3600">
              <a:solidFill>
                <a:srgbClr val="990000"/>
              </a:solidFill>
            </a:endParaRPr>
          </a:p>
          <a:p>
            <a:r>
              <a:rPr lang="en-US" altLang="zh-CN" sz="3600" i="1">
                <a:solidFill>
                  <a:srgbClr val="990000"/>
                </a:solidFill>
              </a:rPr>
              <a:t>				</a:t>
            </a:r>
          </a:p>
          <a:p>
            <a:r>
              <a:rPr lang="en-US" altLang="zh-CN" sz="3600" b="0" i="1">
                <a:solidFill>
                  <a:srgbClr val="990000"/>
                </a:solidFill>
              </a:rPr>
              <a:t>	</a:t>
            </a:r>
            <a:r>
              <a:rPr lang="en-US" altLang="zh-CN" sz="3200" b="0" i="1">
                <a:solidFill>
                  <a:srgbClr val="990000"/>
                </a:solidFill>
              </a:rPr>
              <a:t>		</a:t>
            </a:r>
            <a:r>
              <a:rPr lang="en-US" altLang="zh-CN" sz="3200" b="0" i="1"/>
              <a:t>L</a:t>
            </a:r>
            <a:r>
              <a:rPr lang="en-US" altLang="zh-CN" sz="3200" b="0" i="1" baseline="30000"/>
              <a:t>6</a:t>
            </a:r>
            <a:r>
              <a:rPr lang="en-US" altLang="zh-CN" sz="3200" b="0">
                <a:sym typeface="Symbol" pitchFamily="18" charset="2"/>
              </a:rPr>
              <a:t></a:t>
            </a:r>
            <a:r>
              <a:rPr lang="en-US" altLang="zh-CN" sz="3200" b="0" i="1">
                <a:sym typeface="Symbol" pitchFamily="18" charset="2"/>
              </a:rPr>
              <a:t>L</a:t>
            </a:r>
            <a:r>
              <a:rPr lang="en-US" altLang="zh-CN" sz="3200" b="0" i="1" baseline="30000">
                <a:sym typeface="Symbol" pitchFamily="18" charset="2"/>
              </a:rPr>
              <a:t>2</a:t>
            </a:r>
            <a:r>
              <a:rPr lang="en-US" altLang="zh-CN" sz="3200" b="0" baseline="-25000">
                <a:sym typeface="Symbol" pitchFamily="18" charset="2"/>
              </a:rPr>
              <a:t> </a:t>
            </a:r>
            <a:r>
              <a:rPr lang="en-US" altLang="zh-CN" sz="3200" b="0">
                <a:sym typeface="Symbol" pitchFamily="18" charset="2"/>
              </a:rPr>
              <a:t> </a:t>
            </a:r>
            <a:r>
              <a:rPr lang="en-US" altLang="zh-CN" sz="3200" b="0" i="1">
                <a:sym typeface="Symbol" pitchFamily="18" charset="2"/>
              </a:rPr>
              <a:t>?</a:t>
            </a:r>
          </a:p>
          <a:p>
            <a:endParaRPr lang="en-US" altLang="zh-CN" sz="3600" i="1">
              <a:sym typeface="Symbol" pitchFamily="18" charset="2"/>
            </a:endParaRPr>
          </a:p>
          <a:p>
            <a:r>
              <a:rPr lang="en-US" altLang="zh-CN" sz="3600">
                <a:solidFill>
                  <a:srgbClr val="990000"/>
                </a:solidFill>
              </a:rPr>
              <a:t>Exercise for converse theorem </a:t>
            </a:r>
            <a:r>
              <a:rPr lang="zh-CN" altLang="en-US" sz="3600">
                <a:solidFill>
                  <a:srgbClr val="990000"/>
                </a:solidFill>
              </a:rPr>
              <a:t>：</a:t>
            </a:r>
            <a:r>
              <a:rPr lang="zh-CN" altLang="en-US" sz="3600"/>
              <a:t> </a:t>
            </a:r>
            <a:endParaRPr lang="en-US" altLang="zh-CN" sz="3600"/>
          </a:p>
          <a:p>
            <a:r>
              <a:rPr lang="en-US" altLang="zh-CN" sz="3600" b="0" i="1">
                <a:sym typeface="Symbol" pitchFamily="18" charset="2"/>
              </a:rPr>
              <a:t>		</a:t>
            </a:r>
          </a:p>
          <a:p>
            <a:pPr algn="ctr"/>
            <a:r>
              <a:rPr lang="en-US" altLang="zh-CN" sz="2800" b="0">
                <a:latin typeface="+mn-lt"/>
                <a:sym typeface="Symbol" pitchFamily="18" charset="2"/>
              </a:rPr>
              <a:t>When L</a:t>
            </a:r>
            <a:r>
              <a:rPr lang="en-US" altLang="zh-CN" sz="2800" b="0" baseline="30000">
                <a:latin typeface="+mn-lt"/>
                <a:sym typeface="Symbol" pitchFamily="18" charset="2"/>
              </a:rPr>
              <a:t>2</a:t>
            </a:r>
            <a:r>
              <a:rPr lang="zh-CN" altLang="en-US" sz="2800" b="0">
                <a:latin typeface="+mn-lt"/>
                <a:sym typeface="Symbol" pitchFamily="18" charset="2"/>
              </a:rPr>
              <a:t> </a:t>
            </a:r>
            <a:r>
              <a:rPr lang="en-US" altLang="zh-CN" sz="2800" b="0">
                <a:latin typeface="+mn-lt"/>
                <a:sym typeface="Symbol" pitchFamily="18" charset="2"/>
              </a:rPr>
              <a:t>intersects with L</a:t>
            </a:r>
            <a:r>
              <a:rPr lang="en-US" altLang="zh-CN" sz="2800" b="0" baseline="30000">
                <a:latin typeface="+mn-lt"/>
                <a:sym typeface="Symbol" pitchFamily="18" charset="2"/>
              </a:rPr>
              <a:t>2 </a:t>
            </a:r>
            <a:r>
              <a:rPr lang="en-US" altLang="zh-CN" sz="2800" b="0">
                <a:latin typeface="+mn-lt"/>
                <a:sym typeface="Symbol" pitchFamily="18" charset="2"/>
              </a:rPr>
              <a:t>with 15°, which symmetry axis can be generated?</a:t>
            </a:r>
            <a:endParaRPr lang="en-US" altLang="zh-CN" sz="2800">
              <a:latin typeface="+mn-lt"/>
              <a:sym typeface="Symbol" pitchFamily="18" charset="2"/>
            </a:endParaRPr>
          </a:p>
          <a:p>
            <a:endParaRPr lang="en-US" sz="3600"/>
          </a:p>
        </p:txBody>
      </p:sp>
      <p:sp>
        <p:nvSpPr>
          <p:cNvPr id="77" name="Text Box 7"/>
          <p:cNvSpPr txBox="1">
            <a:spLocks noChangeArrowheads="1"/>
          </p:cNvSpPr>
          <p:nvPr/>
        </p:nvSpPr>
        <p:spPr bwMode="auto">
          <a:xfrm>
            <a:off x="59025" y="4869160"/>
            <a:ext cx="896351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defRPr/>
            </a:pPr>
            <a:r>
              <a:rPr kumimoji="0" lang="en-US" altLang="zh-CN" sz="2800" b="0" i="1">
                <a:solidFill>
                  <a:srgbClr val="FF0000"/>
                </a:solidFill>
              </a:rPr>
              <a:t>Please give the symmetrical patterns to demonstrate the combination of symmetry elements above. </a:t>
            </a:r>
          </a:p>
        </p:txBody>
      </p:sp>
    </p:spTree>
    <p:extLst>
      <p:ext uri="{BB962C8B-B14F-4D97-AF65-F5344CB8AC3E}">
        <p14:creationId xmlns:p14="http://schemas.microsoft.com/office/powerpoint/2010/main" val="366422164"/>
      </p:ext>
    </p:extLst>
  </p:cSld>
  <p:clrMapOvr>
    <a:masterClrMapping/>
  </p:clrMapOvr>
  <p:transition spd="med">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zh-CN" sz="3600" b="1">
                <a:solidFill>
                  <a:srgbClr val="FF0000"/>
                </a:solidFill>
              </a:rPr>
              <a:t>Combination of symmetry elements</a:t>
            </a:r>
            <a:endParaRPr lang="zh-CN" altLang="en-US" sz="3600" b="1">
              <a:solidFill>
                <a:srgbClr val="FF0000"/>
              </a:solidFill>
            </a:endParaRPr>
          </a:p>
        </p:txBody>
      </p:sp>
      <p:pic>
        <p:nvPicPr>
          <p:cNvPr id="36867" name="Picture 4" descr="1210"/>
          <p:cNvPicPr>
            <a:picLocks noChangeAspect="1" noChangeArrowheads="1"/>
          </p:cNvPicPr>
          <p:nvPr/>
        </p:nvPicPr>
        <p:blipFill>
          <a:blip r:embed="rId2">
            <a:lum contrast="60000"/>
            <a:extLst>
              <a:ext uri="{28A0092B-C50C-407E-A947-70E740481C1C}">
                <a14:useLocalDpi xmlns:a14="http://schemas.microsoft.com/office/drawing/2010/main" val="0"/>
              </a:ext>
            </a:extLst>
          </a:blip>
          <a:srcRect/>
          <a:stretch>
            <a:fillRect/>
          </a:stretch>
        </p:blipFill>
        <p:spPr bwMode="auto">
          <a:xfrm>
            <a:off x="1453749" y="1556791"/>
            <a:ext cx="6617502" cy="3847417"/>
          </a:xfrm>
          <a:prstGeom prst="rect">
            <a:avLst/>
          </a:prstGeom>
          <a:noFill/>
          <a:ln w="57150" cmpd="thickThin">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68"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69"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 name="TextBox 1"/>
          <p:cNvSpPr txBox="1"/>
          <p:nvPr/>
        </p:nvSpPr>
        <p:spPr>
          <a:xfrm>
            <a:off x="683568" y="5805264"/>
            <a:ext cx="7918649" cy="830997"/>
          </a:xfrm>
          <a:prstGeom prst="rect">
            <a:avLst/>
          </a:prstGeom>
          <a:noFill/>
        </p:spPr>
        <p:txBody>
          <a:bodyPr wrap="square" rtlCol="0">
            <a:spAutoFit/>
          </a:bodyPr>
          <a:lstStyle/>
          <a:p>
            <a:r>
              <a:rPr lang="en-US" altLang="zh-CN" sz="2400"/>
              <a:t>The solid signs are initial L</a:t>
            </a:r>
            <a:r>
              <a:rPr lang="en-US" altLang="zh-CN" sz="2400" baseline="30000"/>
              <a:t>2 </a:t>
            </a:r>
            <a:r>
              <a:rPr lang="en-US" altLang="zh-CN" sz="2400"/>
              <a:t> or generated by the operation of L</a:t>
            </a:r>
            <a:r>
              <a:rPr lang="en-US" altLang="zh-CN" sz="2400" baseline="30000"/>
              <a:t>2</a:t>
            </a:r>
            <a:r>
              <a:rPr lang="zh-CN" altLang="en-US" sz="2400"/>
              <a:t> </a:t>
            </a:r>
            <a:r>
              <a:rPr lang="en-US" altLang="zh-CN" sz="2400"/>
              <a:t>and L</a:t>
            </a:r>
            <a:r>
              <a:rPr lang="en-US" altLang="zh-CN" sz="2400" baseline="30000"/>
              <a:t>n</a:t>
            </a:r>
            <a:r>
              <a:rPr lang="en-US" altLang="zh-CN" sz="2400"/>
              <a:t>. The hollow signs</a:t>
            </a:r>
            <a:r>
              <a:rPr lang="zh-CN" altLang="en-US" sz="2400"/>
              <a:t> </a:t>
            </a:r>
            <a:r>
              <a:rPr lang="en-US" altLang="zh-CN" sz="2400"/>
              <a:t>are newly generated.</a:t>
            </a:r>
            <a:endParaRPr lang="en-US" sz="2400"/>
          </a:p>
        </p:txBody>
      </p:sp>
      <p:sp>
        <p:nvSpPr>
          <p:cNvPr id="3" name="TextBox 2"/>
          <p:cNvSpPr txBox="1"/>
          <p:nvPr/>
        </p:nvSpPr>
        <p:spPr>
          <a:xfrm>
            <a:off x="246423" y="2256218"/>
            <a:ext cx="881973" cy="954107"/>
          </a:xfrm>
          <a:prstGeom prst="rect">
            <a:avLst/>
          </a:prstGeom>
          <a:noFill/>
        </p:spPr>
        <p:txBody>
          <a:bodyPr wrap="none" rtlCol="0">
            <a:spAutoFit/>
          </a:bodyPr>
          <a:lstStyle/>
          <a:p>
            <a:r>
              <a:rPr lang="en-US" sz="2800"/>
              <a:t>Side</a:t>
            </a:r>
          </a:p>
          <a:p>
            <a:r>
              <a:rPr lang="en-US" sz="2800"/>
              <a:t>view</a:t>
            </a:r>
          </a:p>
        </p:txBody>
      </p:sp>
      <p:sp>
        <p:nvSpPr>
          <p:cNvPr id="8" name="TextBox 7"/>
          <p:cNvSpPr txBox="1"/>
          <p:nvPr/>
        </p:nvSpPr>
        <p:spPr>
          <a:xfrm>
            <a:off x="246423" y="4054282"/>
            <a:ext cx="881973" cy="954107"/>
          </a:xfrm>
          <a:prstGeom prst="rect">
            <a:avLst/>
          </a:prstGeom>
          <a:noFill/>
        </p:spPr>
        <p:txBody>
          <a:bodyPr wrap="none" rtlCol="0">
            <a:spAutoFit/>
          </a:bodyPr>
          <a:lstStyle/>
          <a:p>
            <a:r>
              <a:rPr lang="en-US" sz="2800"/>
              <a:t>Top</a:t>
            </a:r>
          </a:p>
          <a:p>
            <a:r>
              <a:rPr lang="en-US" sz="2800"/>
              <a:t>view</a:t>
            </a:r>
          </a:p>
        </p:txBody>
      </p:sp>
      <p:sp>
        <p:nvSpPr>
          <p:cNvPr id="4" name="TextBox 3"/>
          <p:cNvSpPr txBox="1"/>
          <p:nvPr/>
        </p:nvSpPr>
        <p:spPr>
          <a:xfrm>
            <a:off x="3059832" y="5173375"/>
            <a:ext cx="3575018" cy="461665"/>
          </a:xfrm>
          <a:prstGeom prst="rect">
            <a:avLst/>
          </a:prstGeom>
          <a:solidFill>
            <a:schemeClr val="bg1"/>
          </a:solidFill>
        </p:spPr>
        <p:txBody>
          <a:bodyPr wrap="none" rtlCol="0">
            <a:spAutoFit/>
          </a:bodyPr>
          <a:lstStyle/>
          <a:p>
            <a:r>
              <a:rPr lang="en-US" sz="2400"/>
              <a:t>Combination of L</a:t>
            </a:r>
            <a:r>
              <a:rPr lang="en-US" sz="2400" baseline="30000"/>
              <a:t>n </a:t>
            </a:r>
            <a:r>
              <a:rPr lang="en-US" sz="2400"/>
              <a:t>and L</a:t>
            </a:r>
            <a:r>
              <a:rPr lang="en-US" sz="2400" baseline="30000"/>
              <a:t>2</a:t>
            </a:r>
          </a:p>
        </p:txBody>
      </p:sp>
    </p:spTree>
  </p:cSld>
  <p:clrMapOvr>
    <a:masterClrMapping/>
  </p:clrMapOvr>
  <p:transition spd="med">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body" idx="1"/>
          </p:nvPr>
        </p:nvSpPr>
        <p:spPr>
          <a:xfrm>
            <a:off x="539750" y="1557338"/>
            <a:ext cx="8208714" cy="3671887"/>
          </a:xfrm>
        </p:spPr>
        <p:txBody>
          <a:bodyPr/>
          <a:lstStyle/>
          <a:p>
            <a:pPr eaLnBrk="1" hangingPunct="1">
              <a:buFontTx/>
              <a:buNone/>
            </a:pPr>
            <a:r>
              <a:rPr lang="en-US" altLang="zh-CN" sz="2800" b="1">
                <a:solidFill>
                  <a:srgbClr val="990000"/>
                </a:solidFill>
                <a:sym typeface="Symbol" pitchFamily="18" charset="2"/>
              </a:rPr>
              <a:t>Theorem 2</a:t>
            </a:r>
            <a:r>
              <a:rPr lang="zh-CN" altLang="en-US" sz="2800" b="1">
                <a:solidFill>
                  <a:srgbClr val="990000"/>
                </a:solidFill>
                <a:sym typeface="Symbol" pitchFamily="18" charset="2"/>
              </a:rPr>
              <a:t>：</a:t>
            </a:r>
            <a:r>
              <a:rPr lang="en-US" altLang="zh-CN" sz="2800" b="1" i="1">
                <a:sym typeface="Symbol" pitchFamily="18" charset="2"/>
              </a:rPr>
              <a:t>L</a:t>
            </a:r>
            <a:r>
              <a:rPr lang="en-US" altLang="zh-CN" sz="2800" b="1" i="1" baseline="30000">
                <a:sym typeface="Symbol" pitchFamily="18" charset="2"/>
              </a:rPr>
              <a:t>n</a:t>
            </a:r>
            <a:r>
              <a:rPr lang="en-US" altLang="zh-CN" sz="2800" b="1">
                <a:sym typeface="Symbol" pitchFamily="18" charset="2"/>
              </a:rPr>
              <a:t> </a:t>
            </a:r>
            <a:r>
              <a:rPr lang="en-US" altLang="zh-CN" sz="2800" b="1" i="1">
                <a:sym typeface="Symbol" pitchFamily="18" charset="2"/>
              </a:rPr>
              <a:t>P </a:t>
            </a:r>
            <a:r>
              <a:rPr lang="en-US" altLang="zh-CN" sz="2800" b="1" baseline="-25000">
                <a:sym typeface="Symbol" pitchFamily="18" charset="2"/>
              </a:rPr>
              <a:t></a:t>
            </a:r>
            <a:r>
              <a:rPr lang="en-US" altLang="zh-CN" sz="2800" b="1">
                <a:sym typeface="Symbol" pitchFamily="18" charset="2"/>
              </a:rPr>
              <a:t> </a:t>
            </a:r>
            <a:r>
              <a:rPr lang="en-US" altLang="zh-CN" sz="2800" b="1" i="1" err="1">
                <a:sym typeface="Symbol" pitchFamily="18" charset="2"/>
              </a:rPr>
              <a:t>L</a:t>
            </a:r>
            <a:r>
              <a:rPr lang="en-US" altLang="zh-CN" sz="2800" b="1" i="1" baseline="30000" err="1">
                <a:sym typeface="Symbol" pitchFamily="18" charset="2"/>
              </a:rPr>
              <a:t>n</a:t>
            </a:r>
            <a:r>
              <a:rPr lang="en-US" altLang="zh-CN" sz="2800" b="1" i="1" err="1">
                <a:sym typeface="Symbol" pitchFamily="18" charset="2"/>
              </a:rPr>
              <a:t>P</a:t>
            </a:r>
            <a:r>
              <a:rPr lang="en-US" altLang="zh-CN" sz="2800" b="1">
                <a:sym typeface="Symbol" pitchFamily="18" charset="2"/>
              </a:rPr>
              <a:t> </a:t>
            </a:r>
            <a:r>
              <a:rPr lang="en-US" altLang="zh-CN" sz="2800" b="1" baseline="-25000">
                <a:sym typeface="Symbol" pitchFamily="18" charset="2"/>
              </a:rPr>
              <a:t></a:t>
            </a:r>
            <a:r>
              <a:rPr lang="en-US" altLang="zh-CN" sz="2800" b="1">
                <a:sym typeface="Symbol" pitchFamily="18" charset="2"/>
              </a:rPr>
              <a:t> </a:t>
            </a:r>
            <a:r>
              <a:rPr lang="en-US" altLang="zh-CN" sz="2800" b="1" i="1">
                <a:sym typeface="Symbol" pitchFamily="18" charset="2"/>
              </a:rPr>
              <a:t>C</a:t>
            </a:r>
            <a:r>
              <a:rPr lang="en-US" altLang="zh-CN" sz="2800" b="1">
                <a:sym typeface="Symbol" pitchFamily="18" charset="2"/>
              </a:rPr>
              <a:t>  (</a:t>
            </a:r>
            <a:r>
              <a:rPr lang="en-US" altLang="zh-CN" sz="2800" b="1" i="1">
                <a:sym typeface="Symbol" pitchFamily="18" charset="2"/>
              </a:rPr>
              <a:t>n</a:t>
            </a:r>
            <a:r>
              <a:rPr lang="zh-CN" altLang="en-US" sz="2800" b="1">
                <a:sym typeface="Symbol" pitchFamily="18" charset="2"/>
              </a:rPr>
              <a:t> </a:t>
            </a:r>
            <a:r>
              <a:rPr lang="en-US" altLang="zh-CN" sz="2800" b="1">
                <a:sym typeface="Symbol" pitchFamily="18" charset="2"/>
              </a:rPr>
              <a:t>is even)</a:t>
            </a:r>
          </a:p>
          <a:p>
            <a:pPr eaLnBrk="1" hangingPunct="1">
              <a:buFontTx/>
              <a:buNone/>
            </a:pPr>
            <a:r>
              <a:rPr lang="en-US" altLang="zh-CN" sz="2800" b="1">
                <a:solidFill>
                  <a:srgbClr val="990000"/>
                </a:solidFill>
              </a:rPr>
              <a:t>Converse theorem</a:t>
            </a:r>
            <a:r>
              <a:rPr lang="zh-CN" altLang="en-US" sz="2800" b="1">
                <a:solidFill>
                  <a:srgbClr val="990000"/>
                </a:solidFill>
              </a:rPr>
              <a:t>：</a:t>
            </a:r>
            <a:r>
              <a:rPr lang="zh-CN" altLang="en-US" sz="2800" b="1"/>
              <a:t> </a:t>
            </a:r>
            <a:r>
              <a:rPr lang="en-US" altLang="zh-CN" sz="2800" b="1" i="1">
                <a:sym typeface="Symbol" pitchFamily="18" charset="2"/>
              </a:rPr>
              <a:t>L</a:t>
            </a:r>
            <a:r>
              <a:rPr lang="en-US" altLang="zh-CN" sz="2800" b="1" i="1" baseline="30000">
                <a:sym typeface="Symbol" pitchFamily="18" charset="2"/>
              </a:rPr>
              <a:t>n</a:t>
            </a:r>
            <a:r>
              <a:rPr lang="en-US" altLang="zh-CN" sz="2800" b="1">
                <a:sym typeface="Symbol" pitchFamily="18" charset="2"/>
              </a:rPr>
              <a:t> </a:t>
            </a:r>
            <a:r>
              <a:rPr lang="en-US" altLang="zh-CN" sz="2800" b="1" i="1">
                <a:sym typeface="Symbol" pitchFamily="18" charset="2"/>
              </a:rPr>
              <a:t>C </a:t>
            </a:r>
            <a:r>
              <a:rPr lang="en-US" altLang="zh-CN" sz="2800" b="1">
                <a:sym typeface="Symbol" pitchFamily="18" charset="2"/>
              </a:rPr>
              <a:t> </a:t>
            </a:r>
            <a:r>
              <a:rPr lang="en-US" altLang="zh-CN" sz="2800" b="1" i="1" err="1">
                <a:sym typeface="Symbol" pitchFamily="18" charset="2"/>
              </a:rPr>
              <a:t>L</a:t>
            </a:r>
            <a:r>
              <a:rPr lang="en-US" altLang="zh-CN" sz="2800" b="1" i="1" baseline="30000" err="1">
                <a:sym typeface="Symbol" pitchFamily="18" charset="2"/>
              </a:rPr>
              <a:t>n</a:t>
            </a:r>
            <a:r>
              <a:rPr lang="en-US" altLang="zh-CN" sz="2800" b="1" i="1" err="1">
                <a:sym typeface="Symbol" pitchFamily="18" charset="2"/>
              </a:rPr>
              <a:t>P</a:t>
            </a:r>
            <a:r>
              <a:rPr lang="en-US" altLang="zh-CN" sz="2800" b="1">
                <a:sym typeface="Symbol" pitchFamily="18" charset="2"/>
              </a:rPr>
              <a:t> </a:t>
            </a:r>
            <a:r>
              <a:rPr lang="en-US" altLang="zh-CN" sz="2800" b="1" baseline="-25000">
                <a:sym typeface="Symbol" pitchFamily="18" charset="2"/>
              </a:rPr>
              <a:t></a:t>
            </a:r>
            <a:r>
              <a:rPr lang="en-US" altLang="zh-CN" sz="2800" b="1">
                <a:sym typeface="Symbol" pitchFamily="18" charset="2"/>
              </a:rPr>
              <a:t> </a:t>
            </a:r>
            <a:r>
              <a:rPr lang="en-US" altLang="zh-CN" sz="2800" b="1" i="1">
                <a:sym typeface="Symbol" pitchFamily="18" charset="2"/>
              </a:rPr>
              <a:t>C</a:t>
            </a:r>
            <a:r>
              <a:rPr lang="en-US" altLang="zh-CN" sz="2800" b="1">
                <a:sym typeface="Symbol" pitchFamily="18" charset="2"/>
              </a:rPr>
              <a:t> (</a:t>
            </a:r>
            <a:r>
              <a:rPr lang="en-US" altLang="zh-CN" sz="2800" b="1" i="1">
                <a:sym typeface="Symbol" pitchFamily="18" charset="2"/>
              </a:rPr>
              <a:t>n</a:t>
            </a:r>
            <a:r>
              <a:rPr lang="en-US" altLang="zh-CN" sz="2800" b="1">
                <a:sym typeface="Symbol" pitchFamily="18" charset="2"/>
              </a:rPr>
              <a:t> is even)</a:t>
            </a:r>
          </a:p>
          <a:p>
            <a:pPr eaLnBrk="1" hangingPunct="1">
              <a:buFontTx/>
              <a:buNone/>
            </a:pPr>
            <a:r>
              <a:rPr lang="en-US" altLang="zh-CN" sz="2800" b="1">
                <a:sym typeface="Symbol" pitchFamily="18" charset="2"/>
              </a:rPr>
              <a:t>                 P C  </a:t>
            </a:r>
            <a:r>
              <a:rPr lang="en-US" altLang="zh-CN" sz="2800" b="1" err="1">
                <a:sym typeface="Symbol" pitchFamily="18" charset="2"/>
              </a:rPr>
              <a:t>L</a:t>
            </a:r>
            <a:r>
              <a:rPr lang="en-US" altLang="zh-CN" sz="2800" b="1" baseline="30000" err="1">
                <a:sym typeface="Symbol" pitchFamily="18" charset="2"/>
              </a:rPr>
              <a:t>n</a:t>
            </a:r>
            <a:r>
              <a:rPr lang="en-US" altLang="zh-CN" sz="2800" b="1" err="1">
                <a:sym typeface="Symbol" pitchFamily="18" charset="2"/>
              </a:rPr>
              <a:t>P</a:t>
            </a:r>
            <a:r>
              <a:rPr lang="en-US" altLang="zh-CN" sz="2800" b="1">
                <a:sym typeface="Symbol" pitchFamily="18" charset="2"/>
              </a:rPr>
              <a:t> </a:t>
            </a:r>
            <a:r>
              <a:rPr lang="en-US" altLang="zh-CN" sz="2800" b="1" baseline="-25000">
                <a:sym typeface="Symbol" pitchFamily="18" charset="2"/>
              </a:rPr>
              <a:t></a:t>
            </a:r>
            <a:r>
              <a:rPr lang="en-US" altLang="zh-CN" sz="2800" b="1">
                <a:sym typeface="Symbol" pitchFamily="18" charset="2"/>
              </a:rPr>
              <a:t> C  (</a:t>
            </a:r>
            <a:r>
              <a:rPr lang="en-US" altLang="zh-CN" sz="2800" b="1" i="1">
                <a:sym typeface="Symbol" pitchFamily="18" charset="2"/>
              </a:rPr>
              <a:t>n</a:t>
            </a:r>
            <a:r>
              <a:rPr lang="en-US" altLang="zh-CN" sz="2800" b="1">
                <a:sym typeface="Symbol" pitchFamily="18" charset="2"/>
              </a:rPr>
              <a:t> is even </a:t>
            </a:r>
            <a:r>
              <a:rPr lang="zh-CN" altLang="en-US" sz="2800" b="1">
                <a:sym typeface="Symbol" pitchFamily="18" charset="2"/>
              </a:rPr>
              <a:t>，</a:t>
            </a:r>
            <a:r>
              <a:rPr lang="en-US" altLang="zh-CN" sz="2800" b="1">
                <a:sym typeface="Symbol" pitchFamily="18" charset="2"/>
              </a:rPr>
              <a:t>at least n=2)</a:t>
            </a:r>
          </a:p>
          <a:p>
            <a:pPr eaLnBrk="1" hangingPunct="1">
              <a:buFontTx/>
              <a:buNone/>
            </a:pPr>
            <a:endParaRPr lang="zh-CN" altLang="en-US" sz="2800" b="1"/>
          </a:p>
        </p:txBody>
      </p:sp>
      <p:grpSp>
        <p:nvGrpSpPr>
          <p:cNvPr id="37891" name="Group 10"/>
          <p:cNvGrpSpPr>
            <a:grpSpLocks/>
          </p:cNvGrpSpPr>
          <p:nvPr/>
        </p:nvGrpSpPr>
        <p:grpSpPr bwMode="auto">
          <a:xfrm>
            <a:off x="5364088" y="3503613"/>
            <a:ext cx="2663825" cy="2806700"/>
            <a:chOff x="2562" y="2296"/>
            <a:chExt cx="1678" cy="1768"/>
          </a:xfrm>
        </p:grpSpPr>
        <p:sp>
          <p:nvSpPr>
            <p:cNvPr id="37895" name="Line 5"/>
            <p:cNvSpPr>
              <a:spLocks noChangeShapeType="1"/>
            </p:cNvSpPr>
            <p:nvPr/>
          </p:nvSpPr>
          <p:spPr bwMode="auto">
            <a:xfrm>
              <a:off x="3379" y="3566"/>
              <a:ext cx="0" cy="4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7896" name="Group 9"/>
            <p:cNvGrpSpPr>
              <a:grpSpLocks/>
            </p:cNvGrpSpPr>
            <p:nvPr/>
          </p:nvGrpSpPr>
          <p:grpSpPr bwMode="auto">
            <a:xfrm>
              <a:off x="2562" y="2296"/>
              <a:ext cx="1678" cy="1768"/>
              <a:chOff x="1565" y="2160"/>
              <a:chExt cx="1678" cy="1768"/>
            </a:xfrm>
          </p:grpSpPr>
          <p:sp>
            <p:nvSpPr>
              <p:cNvPr id="37897" name="AutoShape 3"/>
              <p:cNvSpPr>
                <a:spLocks noChangeArrowheads="1"/>
              </p:cNvSpPr>
              <p:nvPr/>
            </p:nvSpPr>
            <p:spPr bwMode="auto">
              <a:xfrm>
                <a:off x="1565" y="2886"/>
                <a:ext cx="1678" cy="544"/>
              </a:xfrm>
              <a:prstGeom prst="parallelogram">
                <a:avLst>
                  <a:gd name="adj" fmla="val 7711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37898" name="Line 4"/>
              <p:cNvSpPr>
                <a:spLocks noChangeShapeType="1"/>
              </p:cNvSpPr>
              <p:nvPr/>
            </p:nvSpPr>
            <p:spPr bwMode="auto">
              <a:xfrm>
                <a:off x="2381" y="2160"/>
                <a:ext cx="0" cy="9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899" name="Oval 6"/>
              <p:cNvSpPr>
                <a:spLocks noChangeArrowheads="1"/>
              </p:cNvSpPr>
              <p:nvPr/>
            </p:nvSpPr>
            <p:spPr bwMode="auto">
              <a:xfrm>
                <a:off x="2245" y="2160"/>
                <a:ext cx="317" cy="9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37900" name="Oval 7"/>
              <p:cNvSpPr>
                <a:spLocks noChangeArrowheads="1"/>
              </p:cNvSpPr>
              <p:nvPr/>
            </p:nvSpPr>
            <p:spPr bwMode="auto">
              <a:xfrm>
                <a:off x="2200" y="3838"/>
                <a:ext cx="317" cy="9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37901" name="Oval 8"/>
              <p:cNvSpPr>
                <a:spLocks noChangeArrowheads="1"/>
              </p:cNvSpPr>
              <p:nvPr/>
            </p:nvSpPr>
            <p:spPr bwMode="auto">
              <a:xfrm>
                <a:off x="2336" y="3067"/>
                <a:ext cx="91" cy="91"/>
              </a:xfrm>
              <a:prstGeom prst="ellipse">
                <a:avLst/>
              </a:prstGeom>
              <a:solidFill>
                <a:srgbClr val="FF33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sp>
        <p:nvSpPr>
          <p:cNvPr id="37892" name="Rectangle 11"/>
          <p:cNvSpPr>
            <a:spLocks noGrp="1" noChangeArrowheads="1"/>
          </p:cNvSpPr>
          <p:nvPr>
            <p:ph type="title"/>
          </p:nvPr>
        </p:nvSpPr>
        <p:spPr>
          <a:xfrm>
            <a:off x="269750" y="687998"/>
            <a:ext cx="8748713" cy="573087"/>
          </a:xfrm>
          <a:noFill/>
        </p:spPr>
        <p:txBody>
          <a:bodyPr/>
          <a:lstStyle/>
          <a:p>
            <a:pPr algn="l" eaLnBrk="1" hangingPunct="1"/>
            <a:r>
              <a:rPr lang="en-US" altLang="zh-CN" sz="3600" b="1">
                <a:solidFill>
                  <a:srgbClr val="FF0000"/>
                </a:solidFill>
              </a:rPr>
              <a:t>Theorem of symmetry element combination</a:t>
            </a:r>
            <a:endParaRPr lang="zh-CN" altLang="en-US" sz="3600" b="1">
              <a:solidFill>
                <a:srgbClr val="FF0000"/>
              </a:solidFill>
            </a:endParaRPr>
          </a:p>
        </p:txBody>
      </p:sp>
      <p:sp>
        <p:nvSpPr>
          <p:cNvPr id="37893" name="Line 12"/>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894" name="Text Box 13"/>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 name="Rectangle 1"/>
          <p:cNvSpPr/>
          <p:nvPr/>
        </p:nvSpPr>
        <p:spPr>
          <a:xfrm>
            <a:off x="647126" y="3286367"/>
            <a:ext cx="5004993" cy="523220"/>
          </a:xfrm>
          <a:prstGeom prst="rect">
            <a:avLst/>
          </a:prstGeom>
        </p:spPr>
        <p:txBody>
          <a:bodyPr wrap="square">
            <a:spAutoFit/>
          </a:bodyPr>
          <a:lstStyle/>
          <a:p>
            <a:pPr marL="342900" lvl="0" indent="-342900">
              <a:spcBef>
                <a:spcPct val="20000"/>
              </a:spcBef>
            </a:pPr>
            <a:r>
              <a:rPr lang="en-US" altLang="zh-CN" sz="2800" kern="0">
                <a:solidFill>
                  <a:srgbClr val="CC3300"/>
                </a:solidFill>
                <a:latin typeface="Times New Roman"/>
                <a:ea typeface="宋体"/>
              </a:rPr>
              <a:t>Because even axis include </a:t>
            </a:r>
            <a:r>
              <a:rPr lang="en-US" altLang="zh-CN" sz="2800" i="1" kern="0">
                <a:solidFill>
                  <a:srgbClr val="CC3300"/>
                </a:solidFill>
                <a:latin typeface="Times New Roman"/>
                <a:ea typeface="宋体"/>
                <a:sym typeface="Symbol" pitchFamily="18" charset="2"/>
              </a:rPr>
              <a:t>L</a:t>
            </a:r>
            <a:r>
              <a:rPr lang="en-US" altLang="zh-CN" sz="2800" i="1" kern="0" baseline="30000">
                <a:solidFill>
                  <a:srgbClr val="CC3300"/>
                </a:solidFill>
                <a:latin typeface="Times New Roman"/>
                <a:ea typeface="宋体"/>
                <a:sym typeface="Symbol" pitchFamily="18" charset="2"/>
              </a:rPr>
              <a:t>2</a:t>
            </a:r>
            <a:r>
              <a:rPr lang="en-US" altLang="zh-CN" sz="2800" i="1" kern="0" baseline="-25000">
                <a:solidFill>
                  <a:srgbClr val="CC3300"/>
                </a:solidFill>
                <a:latin typeface="Times New Roman"/>
                <a:ea typeface="宋体"/>
                <a:sym typeface="Symbol" pitchFamily="18" charset="2"/>
              </a:rPr>
              <a:t>.</a:t>
            </a:r>
            <a:endParaRPr lang="zh-CN" altLang="en-US" sz="2800" kern="0" baseline="-25000">
              <a:solidFill>
                <a:srgbClr val="CC3300"/>
              </a:solidFill>
              <a:latin typeface="Times New Roman"/>
              <a:ea typeface="宋体"/>
              <a:sym typeface="Symbol" pitchFamily="18" charset="2"/>
            </a:endParaRPr>
          </a:p>
        </p:txBody>
      </p:sp>
      <p:cxnSp>
        <p:nvCxnSpPr>
          <p:cNvPr id="4" name="Straight Arrow Connector 3"/>
          <p:cNvCxnSpPr>
            <a:cxnSpLocks/>
          </p:cNvCxnSpPr>
          <p:nvPr/>
        </p:nvCxnSpPr>
        <p:spPr bwMode="auto">
          <a:xfrm flipV="1">
            <a:off x="5487820" y="3068960"/>
            <a:ext cx="2019486" cy="308579"/>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Rectangle 5"/>
          <p:cNvSpPr/>
          <p:nvPr/>
        </p:nvSpPr>
        <p:spPr>
          <a:xfrm>
            <a:off x="539174" y="4536727"/>
            <a:ext cx="4032448" cy="1384995"/>
          </a:xfrm>
          <a:prstGeom prst="rect">
            <a:avLst/>
          </a:prstGeom>
        </p:spPr>
        <p:txBody>
          <a:bodyPr wrap="square">
            <a:spAutoFit/>
          </a:bodyPr>
          <a:lstStyle/>
          <a:p>
            <a:pPr lvl="0">
              <a:spcBef>
                <a:spcPct val="20000"/>
              </a:spcBef>
            </a:pPr>
            <a:r>
              <a:rPr lang="en-US" altLang="zh-CN" sz="2800" kern="0">
                <a:solidFill>
                  <a:srgbClr val="000000"/>
                </a:solidFill>
                <a:latin typeface="Times New Roman"/>
                <a:ea typeface="宋体"/>
                <a:sym typeface="Symbol" pitchFamily="18" charset="2"/>
              </a:rPr>
              <a:t>This theorem illustrates any two of </a:t>
            </a:r>
            <a:r>
              <a:rPr lang="en-US" altLang="zh-CN" sz="2800" i="1" kern="0">
                <a:solidFill>
                  <a:srgbClr val="000000"/>
                </a:solidFill>
                <a:latin typeface="Times New Roman"/>
                <a:ea typeface="宋体"/>
                <a:sym typeface="Symbol" pitchFamily="18" charset="2"/>
              </a:rPr>
              <a:t>L</a:t>
            </a:r>
            <a:r>
              <a:rPr lang="en-US" altLang="zh-CN" sz="2800" i="1" kern="0" baseline="30000">
                <a:solidFill>
                  <a:srgbClr val="000000"/>
                </a:solidFill>
                <a:latin typeface="Times New Roman"/>
                <a:ea typeface="宋体"/>
                <a:sym typeface="Symbol" pitchFamily="18" charset="2"/>
              </a:rPr>
              <a:t>n</a:t>
            </a:r>
            <a:r>
              <a:rPr lang="zh-CN" altLang="en-US" sz="2800" kern="0">
                <a:solidFill>
                  <a:srgbClr val="000000"/>
                </a:solidFill>
                <a:latin typeface="Times New Roman"/>
                <a:ea typeface="宋体"/>
                <a:sym typeface="Symbol" pitchFamily="18" charset="2"/>
              </a:rPr>
              <a:t>、</a:t>
            </a:r>
            <a:r>
              <a:rPr lang="en-US" altLang="zh-CN" sz="2800" i="1" kern="0">
                <a:solidFill>
                  <a:srgbClr val="000000"/>
                </a:solidFill>
                <a:latin typeface="Times New Roman"/>
                <a:ea typeface="宋体"/>
                <a:sym typeface="Symbol" pitchFamily="18" charset="2"/>
              </a:rPr>
              <a:t>P</a:t>
            </a:r>
            <a:r>
              <a:rPr lang="zh-CN" altLang="en-US" sz="2800" kern="0">
                <a:solidFill>
                  <a:srgbClr val="000000"/>
                </a:solidFill>
                <a:latin typeface="Times New Roman"/>
                <a:ea typeface="宋体"/>
                <a:sym typeface="Symbol" pitchFamily="18" charset="2"/>
              </a:rPr>
              <a:t>、</a:t>
            </a:r>
            <a:r>
              <a:rPr lang="en-US" altLang="zh-CN" sz="2800" i="1" kern="0">
                <a:solidFill>
                  <a:srgbClr val="000000"/>
                </a:solidFill>
                <a:latin typeface="Times New Roman"/>
                <a:ea typeface="宋体"/>
                <a:sym typeface="Symbol" pitchFamily="18" charset="2"/>
              </a:rPr>
              <a:t>C</a:t>
            </a:r>
            <a:r>
              <a:rPr lang="zh-CN" altLang="en-US" sz="2800" kern="0">
                <a:solidFill>
                  <a:srgbClr val="000000"/>
                </a:solidFill>
                <a:latin typeface="Times New Roman"/>
                <a:ea typeface="宋体"/>
                <a:sym typeface="Symbol" pitchFamily="18" charset="2"/>
              </a:rPr>
              <a:t> </a:t>
            </a:r>
            <a:r>
              <a:rPr lang="en-US" altLang="zh-CN" sz="2800" kern="0">
                <a:solidFill>
                  <a:srgbClr val="000000"/>
                </a:solidFill>
                <a:latin typeface="Times New Roman"/>
                <a:ea typeface="宋体"/>
                <a:sym typeface="Symbol" pitchFamily="18" charset="2"/>
              </a:rPr>
              <a:t>can generate the third one.</a:t>
            </a:r>
            <a:endParaRPr lang="zh-CN" altLang="en-US" sz="2800" kern="0">
              <a:solidFill>
                <a:srgbClr val="000000"/>
              </a:solidFill>
              <a:latin typeface="Times New Roman"/>
              <a:ea typeface="宋体"/>
              <a:sym typeface="Symbol" pitchFamily="18" charset="2"/>
            </a:endParaRPr>
          </a:p>
        </p:txBody>
      </p:sp>
    </p:spTree>
  </p:cSld>
  <p:clrMapOvr>
    <a:masterClrMapping/>
  </p:clrMapOvr>
  <p:transition spd="med">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body" sz="half" idx="1"/>
          </p:nvPr>
        </p:nvSpPr>
        <p:spPr>
          <a:xfrm>
            <a:off x="323528" y="1611074"/>
            <a:ext cx="8687407" cy="4895850"/>
          </a:xfrm>
        </p:spPr>
        <p:txBody>
          <a:bodyPr/>
          <a:lstStyle/>
          <a:p>
            <a:pPr algn="just" eaLnBrk="1" hangingPunct="1">
              <a:lnSpc>
                <a:spcPct val="80000"/>
              </a:lnSpc>
              <a:buFontTx/>
              <a:buNone/>
            </a:pPr>
            <a:r>
              <a:rPr lang="en-US" altLang="zh-CN" sz="2400" b="1">
                <a:solidFill>
                  <a:srgbClr val="990000"/>
                </a:solidFill>
                <a:sym typeface="Symbol" pitchFamily="18" charset="2"/>
              </a:rPr>
              <a:t>Theorem </a:t>
            </a:r>
            <a:r>
              <a:rPr lang="en-US" altLang="zh-CN" sz="2400" b="1">
                <a:solidFill>
                  <a:srgbClr val="990000"/>
                </a:solidFill>
              </a:rPr>
              <a:t>3</a:t>
            </a:r>
            <a:r>
              <a:rPr lang="zh-CN" altLang="en-US" sz="2400" b="1">
                <a:solidFill>
                  <a:srgbClr val="990000"/>
                </a:solidFill>
              </a:rPr>
              <a:t>：</a:t>
            </a:r>
            <a:r>
              <a:rPr lang="en-US" altLang="zh-CN" sz="2400" b="1" i="1"/>
              <a:t>L</a:t>
            </a:r>
            <a:r>
              <a:rPr lang="en-US" altLang="zh-CN" sz="2400" b="1" i="1" baseline="30000"/>
              <a:t>n</a:t>
            </a:r>
            <a:r>
              <a:rPr lang="en-US" altLang="zh-CN" sz="2400" b="1" i="1"/>
              <a:t> </a:t>
            </a:r>
            <a:r>
              <a:rPr lang="en-US" altLang="zh-CN" sz="2400" b="1" i="1">
                <a:sym typeface="Symbol" pitchFamily="18" charset="2"/>
              </a:rPr>
              <a:t>P</a:t>
            </a:r>
            <a:r>
              <a:rPr lang="en-US" altLang="zh-CN" sz="2400" b="1" i="1" baseline="-25000">
                <a:sym typeface="Symbol" pitchFamily="18" charset="2"/>
              </a:rPr>
              <a:t>//</a:t>
            </a:r>
            <a:r>
              <a:rPr lang="en-US" altLang="zh-CN" sz="2400" b="1" i="1">
                <a:sym typeface="Symbol" pitchFamily="18" charset="2"/>
              </a:rPr>
              <a:t> </a:t>
            </a:r>
            <a:r>
              <a:rPr lang="en-US" altLang="zh-CN" sz="2400" b="1" i="1" err="1">
                <a:sym typeface="Symbol" pitchFamily="18" charset="2"/>
              </a:rPr>
              <a:t>L</a:t>
            </a:r>
            <a:r>
              <a:rPr lang="en-US" altLang="zh-CN" sz="2400" b="1" i="1" baseline="30000" err="1">
                <a:sym typeface="Symbol" pitchFamily="18" charset="2"/>
              </a:rPr>
              <a:t>n</a:t>
            </a:r>
            <a:r>
              <a:rPr lang="en-US" altLang="zh-CN" sz="2400" b="1" i="1" err="1">
                <a:sym typeface="Symbol" pitchFamily="18" charset="2"/>
              </a:rPr>
              <a:t>nP</a:t>
            </a:r>
            <a:r>
              <a:rPr lang="en-US" altLang="zh-CN" sz="2400" b="1" i="1" baseline="-25000">
                <a:sym typeface="Symbol" pitchFamily="18" charset="2"/>
              </a:rPr>
              <a:t>//</a:t>
            </a:r>
            <a:r>
              <a:rPr lang="zh-CN" altLang="en-US" sz="2400" b="1">
                <a:sym typeface="Symbol" pitchFamily="18" charset="2"/>
              </a:rPr>
              <a:t>（</a:t>
            </a:r>
            <a:r>
              <a:rPr lang="en-US" altLang="zh-CN" sz="2400" b="1">
                <a:sym typeface="Symbol" pitchFamily="18" charset="2"/>
              </a:rPr>
              <a:t>the angle between </a:t>
            </a:r>
            <a:r>
              <a:rPr lang="en-US" altLang="zh-CN" sz="2400" b="1" i="1">
                <a:sym typeface="Symbol" pitchFamily="18" charset="2"/>
              </a:rPr>
              <a:t>P</a:t>
            </a:r>
            <a:r>
              <a:rPr lang="zh-CN" altLang="en-US" sz="2400" b="1">
                <a:sym typeface="Symbol" pitchFamily="18" charset="2"/>
              </a:rPr>
              <a:t> </a:t>
            </a:r>
            <a:r>
              <a:rPr lang="en-US" altLang="zh-CN" sz="2400" b="1">
                <a:sym typeface="Symbol" pitchFamily="18" charset="2"/>
              </a:rPr>
              <a:t>and </a:t>
            </a:r>
            <a:r>
              <a:rPr lang="en-US" altLang="zh-CN" sz="2400" b="1" i="1">
                <a:sym typeface="Symbol" pitchFamily="18" charset="2"/>
              </a:rPr>
              <a:t>P</a:t>
            </a:r>
            <a:r>
              <a:rPr lang="zh-CN" altLang="en-US" sz="2400" b="1">
                <a:sym typeface="Symbol" pitchFamily="18" charset="2"/>
              </a:rPr>
              <a:t> </a:t>
            </a:r>
            <a:r>
              <a:rPr lang="en-US" altLang="zh-CN" sz="2400" b="1">
                <a:sym typeface="Symbol" pitchFamily="18" charset="2"/>
              </a:rPr>
              <a:t>is half of base angle of </a:t>
            </a:r>
            <a:r>
              <a:rPr lang="en-US" altLang="zh-CN" sz="2400" b="1" i="1">
                <a:sym typeface="Symbol" pitchFamily="18" charset="2"/>
              </a:rPr>
              <a:t>L</a:t>
            </a:r>
            <a:r>
              <a:rPr lang="en-US" altLang="zh-CN" sz="2400" b="1" i="1" baseline="30000">
                <a:sym typeface="Symbol" pitchFamily="18" charset="2"/>
              </a:rPr>
              <a:t>n </a:t>
            </a:r>
            <a:r>
              <a:rPr lang="zh-CN" altLang="en-US" sz="2400" b="1">
                <a:sym typeface="Symbol" pitchFamily="18" charset="2"/>
              </a:rPr>
              <a:t>）</a:t>
            </a:r>
          </a:p>
          <a:p>
            <a:pPr algn="just" eaLnBrk="1" hangingPunct="1">
              <a:lnSpc>
                <a:spcPct val="80000"/>
              </a:lnSpc>
              <a:buNone/>
            </a:pPr>
            <a:r>
              <a:rPr lang="en-US" altLang="zh-CN" sz="2400" b="1">
                <a:solidFill>
                  <a:srgbClr val="990000"/>
                </a:solidFill>
              </a:rPr>
              <a:t>Converse theorem </a:t>
            </a:r>
            <a:r>
              <a:rPr lang="zh-CN" altLang="en-US" sz="2400" b="1">
                <a:solidFill>
                  <a:srgbClr val="990000"/>
                </a:solidFill>
                <a:sym typeface="Symbol" pitchFamily="18" charset="2"/>
              </a:rPr>
              <a:t>：</a:t>
            </a:r>
            <a:r>
              <a:rPr lang="en-US" altLang="zh-CN" sz="2400" b="1">
                <a:sym typeface="Symbol" pitchFamily="18" charset="2"/>
              </a:rPr>
              <a:t>The intersection of two </a:t>
            </a:r>
            <a:r>
              <a:rPr lang="en-US" altLang="zh-CN" sz="2400" b="1" i="1">
                <a:sym typeface="Symbol" pitchFamily="18" charset="2"/>
              </a:rPr>
              <a:t>P</a:t>
            </a:r>
            <a:r>
              <a:rPr lang="en-US" altLang="zh-CN" sz="2400" b="1">
                <a:sym typeface="Symbol" pitchFamily="18" charset="2"/>
              </a:rPr>
              <a:t> must be a </a:t>
            </a:r>
            <a:r>
              <a:rPr lang="en-US" altLang="zh-CN" sz="2400" b="1" i="1">
                <a:sym typeface="Symbol" pitchFamily="18" charset="2"/>
              </a:rPr>
              <a:t>L</a:t>
            </a:r>
            <a:r>
              <a:rPr lang="en-US" altLang="zh-CN" sz="2400" b="1" i="1" baseline="30000">
                <a:sym typeface="Symbol" pitchFamily="18" charset="2"/>
              </a:rPr>
              <a:t>n</a:t>
            </a:r>
            <a:r>
              <a:rPr lang="zh-CN" altLang="en-US" sz="2400" b="1">
                <a:sym typeface="Symbol" pitchFamily="18" charset="2"/>
              </a:rPr>
              <a:t>，</a:t>
            </a:r>
            <a:r>
              <a:rPr lang="en-US" altLang="zh-CN" sz="2400" b="1">
                <a:sym typeface="Symbol" pitchFamily="18" charset="2"/>
              </a:rPr>
              <a:t>which base angle is twice as much as the included angle of two </a:t>
            </a:r>
            <a:r>
              <a:rPr lang="en-US" altLang="zh-CN" sz="2400" b="1" i="1">
                <a:sym typeface="Symbol" pitchFamily="18" charset="2"/>
              </a:rPr>
              <a:t>P </a:t>
            </a:r>
            <a:r>
              <a:rPr lang="en-US" altLang="zh-CN" sz="2400" b="1">
                <a:sym typeface="Symbol" pitchFamily="18" charset="2"/>
              </a:rPr>
              <a:t>and other </a:t>
            </a:r>
            <a:r>
              <a:rPr lang="en-US" altLang="zh-CN" sz="2400" b="1" i="1">
                <a:sym typeface="Symbol" pitchFamily="18" charset="2"/>
              </a:rPr>
              <a:t>n P </a:t>
            </a:r>
            <a:r>
              <a:rPr lang="en-US" altLang="zh-CN" sz="2400" b="1">
                <a:sym typeface="Symbol" pitchFamily="18" charset="2"/>
              </a:rPr>
              <a:t>included </a:t>
            </a:r>
            <a:r>
              <a:rPr lang="en-US" altLang="zh-CN" sz="2400" b="1" i="1">
                <a:sym typeface="Symbol" pitchFamily="18" charset="2"/>
              </a:rPr>
              <a:t>L</a:t>
            </a:r>
            <a:r>
              <a:rPr lang="en-US" altLang="zh-CN" sz="2400" b="1" i="1" baseline="30000">
                <a:sym typeface="Symbol" pitchFamily="18" charset="2"/>
              </a:rPr>
              <a:t>n </a:t>
            </a:r>
            <a:r>
              <a:rPr lang="en-US" altLang="zh-CN" sz="2400" b="1">
                <a:sym typeface="Symbol" pitchFamily="18" charset="2"/>
              </a:rPr>
              <a:t>are generated.</a:t>
            </a:r>
            <a:r>
              <a:rPr lang="en-US" altLang="zh-CN" sz="2400">
                <a:sym typeface="Symbol" pitchFamily="18" charset="2"/>
              </a:rPr>
              <a:t> (</a:t>
            </a:r>
            <a:r>
              <a:rPr lang="en-US" altLang="zh-CN" sz="2400" b="1">
                <a:solidFill>
                  <a:srgbClr val="FF0000"/>
                </a:solidFill>
                <a:sym typeface="Symbol" pitchFamily="18" charset="2"/>
              </a:rPr>
              <a:t>The angle of converse theorem is limited</a:t>
            </a:r>
            <a:r>
              <a:rPr lang="en-US" altLang="zh-CN" sz="2400">
                <a:sym typeface="Symbol" pitchFamily="18" charset="2"/>
              </a:rPr>
              <a:t>)</a:t>
            </a:r>
            <a:endParaRPr lang="zh-CN" altLang="en-US" sz="2400">
              <a:solidFill>
                <a:srgbClr val="FF0000"/>
              </a:solidFill>
              <a:sym typeface="Symbol" pitchFamily="18" charset="2"/>
            </a:endParaRPr>
          </a:p>
          <a:p>
            <a:pPr algn="just" eaLnBrk="1" hangingPunct="1">
              <a:lnSpc>
                <a:spcPct val="80000"/>
              </a:lnSpc>
              <a:buFontTx/>
              <a:buNone/>
            </a:pPr>
            <a:endParaRPr lang="zh-CN" altLang="en-US" sz="2400" b="1">
              <a:sym typeface="Symbol" pitchFamily="18" charset="2"/>
            </a:endParaRPr>
          </a:p>
          <a:p>
            <a:pPr algn="just" eaLnBrk="1" hangingPunct="1">
              <a:lnSpc>
                <a:spcPct val="80000"/>
              </a:lnSpc>
              <a:buFontTx/>
              <a:buNone/>
            </a:pPr>
            <a:endParaRPr lang="zh-CN" altLang="en-US" sz="2400" b="1">
              <a:sym typeface="Symbol" pitchFamily="18" charset="2"/>
            </a:endParaRPr>
          </a:p>
          <a:p>
            <a:pPr algn="just" eaLnBrk="1" hangingPunct="1">
              <a:lnSpc>
                <a:spcPct val="80000"/>
              </a:lnSpc>
              <a:buFontTx/>
              <a:buNone/>
            </a:pPr>
            <a:endParaRPr lang="zh-CN" altLang="en-US" sz="2400" b="1">
              <a:sym typeface="Symbol" pitchFamily="18" charset="2"/>
            </a:endParaRPr>
          </a:p>
          <a:p>
            <a:pPr algn="just" eaLnBrk="1" hangingPunct="1">
              <a:lnSpc>
                <a:spcPct val="80000"/>
              </a:lnSpc>
              <a:buFontTx/>
              <a:buNone/>
            </a:pPr>
            <a:endParaRPr lang="zh-CN" altLang="en-US" sz="2400" b="1">
              <a:sym typeface="Symbol" pitchFamily="18" charset="2"/>
            </a:endParaRPr>
          </a:p>
          <a:p>
            <a:pPr algn="just" eaLnBrk="1" hangingPunct="1">
              <a:lnSpc>
                <a:spcPct val="80000"/>
              </a:lnSpc>
              <a:buFontTx/>
              <a:buNone/>
            </a:pPr>
            <a:endParaRPr lang="zh-CN" altLang="en-US" sz="2400" b="1">
              <a:sym typeface="Symbol" pitchFamily="18" charset="2"/>
            </a:endParaRPr>
          </a:p>
          <a:p>
            <a:pPr algn="just" eaLnBrk="1" hangingPunct="1">
              <a:lnSpc>
                <a:spcPct val="80000"/>
              </a:lnSpc>
              <a:buFontTx/>
              <a:buNone/>
            </a:pPr>
            <a:endParaRPr lang="zh-CN" altLang="en-US" sz="2400" b="1">
              <a:sym typeface="Symbol" pitchFamily="18" charset="2"/>
            </a:endParaRPr>
          </a:p>
          <a:p>
            <a:pPr algn="just" eaLnBrk="1" hangingPunct="1">
              <a:lnSpc>
                <a:spcPct val="80000"/>
              </a:lnSpc>
              <a:buFontTx/>
              <a:buNone/>
            </a:pPr>
            <a:endParaRPr lang="zh-CN" altLang="en-US" sz="2400" b="1">
              <a:sym typeface="Symbol" pitchFamily="18" charset="2"/>
            </a:endParaRPr>
          </a:p>
          <a:p>
            <a:pPr algn="just" eaLnBrk="1" hangingPunct="1">
              <a:lnSpc>
                <a:spcPct val="80000"/>
              </a:lnSpc>
              <a:buFontTx/>
              <a:buNone/>
            </a:pPr>
            <a:endParaRPr lang="zh-CN" altLang="en-US" sz="2400" b="1">
              <a:sym typeface="Symbol" pitchFamily="18" charset="2"/>
            </a:endParaRPr>
          </a:p>
          <a:p>
            <a:pPr algn="just" eaLnBrk="1" hangingPunct="1">
              <a:lnSpc>
                <a:spcPct val="80000"/>
              </a:lnSpc>
              <a:buFontTx/>
              <a:buNone/>
            </a:pPr>
            <a:endParaRPr lang="zh-CN" altLang="en-US" sz="2400" b="1">
              <a:sym typeface="Symbol" pitchFamily="18" charset="2"/>
            </a:endParaRPr>
          </a:p>
        </p:txBody>
      </p:sp>
      <p:pic>
        <p:nvPicPr>
          <p:cNvPr id="38915" name="Picture 3" descr="Ln+P2"/>
          <p:cNvPicPr>
            <a:picLocks noGrp="1" noChangeAspect="1" noChangeArrowheads="1" noCrop="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781112" y="3622088"/>
            <a:ext cx="3095625" cy="2616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916" name="Rectangle 4"/>
          <p:cNvSpPr>
            <a:spLocks noGrp="1" noChangeArrowheads="1"/>
          </p:cNvSpPr>
          <p:nvPr>
            <p:ph type="title"/>
          </p:nvPr>
        </p:nvSpPr>
        <p:spPr>
          <a:xfrm>
            <a:off x="614363" y="829350"/>
            <a:ext cx="7772400" cy="573087"/>
          </a:xfrm>
          <a:noFill/>
        </p:spPr>
        <p:txBody>
          <a:bodyPr/>
          <a:lstStyle/>
          <a:p>
            <a:pPr algn="l" eaLnBrk="1" hangingPunct="1"/>
            <a:r>
              <a:rPr lang="en-US" altLang="zh-CN" sz="3200" b="1">
                <a:solidFill>
                  <a:schemeClr val="accent2"/>
                </a:solidFill>
              </a:rPr>
              <a:t>Theorem of symmetry element combination</a:t>
            </a:r>
            <a:r>
              <a:rPr lang="zh-CN" altLang="en-US" sz="3200" b="1">
                <a:solidFill>
                  <a:schemeClr val="accent2"/>
                </a:solidFill>
              </a:rPr>
              <a:t>：</a:t>
            </a:r>
          </a:p>
        </p:txBody>
      </p:sp>
      <p:sp>
        <p:nvSpPr>
          <p:cNvPr id="38917"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8"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38919" name="Hexagon 1"/>
          <p:cNvSpPr>
            <a:spLocks noChangeArrowheads="1"/>
          </p:cNvSpPr>
          <p:nvPr/>
        </p:nvSpPr>
        <p:spPr bwMode="auto">
          <a:xfrm>
            <a:off x="2530843" y="4692582"/>
            <a:ext cx="360363" cy="309563"/>
          </a:xfrm>
          <a:prstGeom prst="hexagon">
            <a:avLst>
              <a:gd name="adj" fmla="val 28930"/>
              <a:gd name="vf" fmla="val 115470"/>
            </a:avLst>
          </a:prstGeom>
          <a:solidFill>
            <a:schemeClr val="tx1"/>
          </a:solidFill>
          <a:ln w="6350" algn="ctr">
            <a:solidFill>
              <a:schemeClr val="tx1"/>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cxnSp>
        <p:nvCxnSpPr>
          <p:cNvPr id="38920" name="Straight Connector 3"/>
          <p:cNvCxnSpPr>
            <a:cxnSpLocks noChangeShapeType="1"/>
          </p:cNvCxnSpPr>
          <p:nvPr/>
        </p:nvCxnSpPr>
        <p:spPr bwMode="auto">
          <a:xfrm>
            <a:off x="1613268" y="4844982"/>
            <a:ext cx="2195513" cy="0"/>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10"/>
          <p:cNvCxnSpPr>
            <a:cxnSpLocks noChangeShapeType="1"/>
          </p:cNvCxnSpPr>
          <p:nvPr/>
        </p:nvCxnSpPr>
        <p:spPr bwMode="auto">
          <a:xfrm>
            <a:off x="2110156" y="3913120"/>
            <a:ext cx="1258887" cy="1955800"/>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Straight Connector 17"/>
          <p:cNvCxnSpPr>
            <a:cxnSpLocks noChangeShapeType="1"/>
          </p:cNvCxnSpPr>
          <p:nvPr/>
        </p:nvCxnSpPr>
        <p:spPr bwMode="auto">
          <a:xfrm flipH="1">
            <a:off x="2124443" y="3913120"/>
            <a:ext cx="1144588" cy="1882775"/>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9" name="Group 28"/>
          <p:cNvGrpSpPr>
            <a:grpSpLocks/>
          </p:cNvGrpSpPr>
          <p:nvPr/>
        </p:nvGrpSpPr>
        <p:grpSpPr bwMode="auto">
          <a:xfrm rot="2005954">
            <a:off x="1586281" y="3911532"/>
            <a:ext cx="2197100" cy="1954213"/>
            <a:chOff x="1367644" y="3370020"/>
            <a:chExt cx="2196294" cy="1955446"/>
          </a:xfrm>
        </p:grpSpPr>
        <p:cxnSp>
          <p:nvCxnSpPr>
            <p:cNvPr id="38924" name="Straight Connector 29"/>
            <p:cNvCxnSpPr>
              <a:cxnSpLocks noChangeShapeType="1"/>
            </p:cNvCxnSpPr>
            <p:nvPr/>
          </p:nvCxnSpPr>
          <p:spPr bwMode="auto">
            <a:xfrm>
              <a:off x="1367644" y="4302352"/>
              <a:ext cx="2196294" cy="0"/>
            </a:xfrm>
            <a:prstGeom prst="line">
              <a:avLst/>
            </a:prstGeom>
            <a:noFill/>
            <a:ln w="381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25" name="Straight Connector 30"/>
            <p:cNvCxnSpPr>
              <a:cxnSpLocks noChangeShapeType="1"/>
            </p:cNvCxnSpPr>
            <p:nvPr/>
          </p:nvCxnSpPr>
          <p:spPr bwMode="auto">
            <a:xfrm>
              <a:off x="1865386" y="3370656"/>
              <a:ext cx="1258204" cy="1954810"/>
            </a:xfrm>
            <a:prstGeom prst="line">
              <a:avLst/>
            </a:prstGeom>
            <a:noFill/>
            <a:ln w="381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26" name="Straight Connector 31"/>
            <p:cNvCxnSpPr>
              <a:cxnSpLocks noChangeShapeType="1"/>
            </p:cNvCxnSpPr>
            <p:nvPr/>
          </p:nvCxnSpPr>
          <p:spPr bwMode="auto">
            <a:xfrm flipH="1">
              <a:off x="1880006" y="3370020"/>
              <a:ext cx="1143458" cy="1882294"/>
            </a:xfrm>
            <a:prstGeom prst="line">
              <a:avLst/>
            </a:prstGeom>
            <a:noFill/>
            <a:ln w="381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16"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500" fill="hold"/>
                                        <p:tgtEl>
                                          <p:spTgt spid="29"/>
                                        </p:tgtEl>
                                        <p:attrNameLst>
                                          <p:attrName>ppt_w</p:attrName>
                                        </p:attrNameLst>
                                      </p:cBhvr>
                                      <p:tavLst>
                                        <p:tav tm="0">
                                          <p:val>
                                            <p:fltVal val="0"/>
                                          </p:val>
                                        </p:tav>
                                        <p:tav tm="100000">
                                          <p:val>
                                            <p:strVal val="#ppt_w"/>
                                          </p:val>
                                        </p:tav>
                                      </p:tavLst>
                                    </p:anim>
                                    <p:anim calcmode="lin" valueType="num">
                                      <p:cBhvr>
                                        <p:cTn id="18" dur="500" fill="hold"/>
                                        <p:tgtEl>
                                          <p:spTgt spid="29"/>
                                        </p:tgtEl>
                                        <p:attrNameLst>
                                          <p:attrName>ppt_h</p:attrName>
                                        </p:attrNameLst>
                                      </p:cBhvr>
                                      <p:tavLst>
                                        <p:tav tm="0">
                                          <p:val>
                                            <p:fltVal val="0"/>
                                          </p:val>
                                        </p:tav>
                                        <p:tav tm="100000">
                                          <p:val>
                                            <p:strVal val="#ppt_h"/>
                                          </p:val>
                                        </p:tav>
                                      </p:tavLst>
                                    </p:anim>
                                    <p:animEffect transition="in" filter="fade">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p:cNvSpPr>
            <a:spLocks noGrp="1" noChangeArrowheads="1"/>
          </p:cNvSpPr>
          <p:nvPr>
            <p:ph type="title"/>
          </p:nvPr>
        </p:nvSpPr>
        <p:spPr>
          <a:xfrm>
            <a:off x="431553" y="764704"/>
            <a:ext cx="8712447" cy="1500155"/>
          </a:xfrm>
          <a:noFill/>
        </p:spPr>
        <p:txBody>
          <a:bodyPr/>
          <a:lstStyle/>
          <a:p>
            <a:pPr algn="l" eaLnBrk="1" hangingPunct="1"/>
            <a:r>
              <a:rPr lang="en-US" altLang="zh-CN" sz="3600" b="1">
                <a:solidFill>
                  <a:schemeClr val="accent2"/>
                </a:solidFill>
              </a:rPr>
              <a:t>Example of theorem 3</a:t>
            </a:r>
            <a:r>
              <a:rPr lang="zh-CN" altLang="en-US" sz="3600" b="1">
                <a:solidFill>
                  <a:schemeClr val="accent2"/>
                </a:solidFill>
              </a:rPr>
              <a:t>：</a:t>
            </a:r>
            <a:br>
              <a:rPr lang="en-US" altLang="zh-CN" sz="3600" b="1">
                <a:solidFill>
                  <a:schemeClr val="accent2"/>
                </a:solidFill>
              </a:rPr>
            </a:br>
            <a:r>
              <a:rPr lang="en-US" altLang="zh-CN" sz="3600" b="1">
                <a:solidFill>
                  <a:schemeClr val="accent2"/>
                </a:solidFill>
              </a:rPr>
              <a:t>			</a:t>
            </a:r>
            <a:r>
              <a:rPr lang="en-US" altLang="zh-CN" sz="3600" b="1" i="1"/>
              <a:t> </a:t>
            </a:r>
            <a:br>
              <a:rPr lang="en-US" altLang="zh-CN" sz="3600" b="1" i="1"/>
            </a:br>
            <a:r>
              <a:rPr lang="en-US" altLang="zh-CN" sz="3600" b="1" i="1"/>
              <a:t>			L</a:t>
            </a:r>
            <a:r>
              <a:rPr lang="en-US" altLang="zh-CN" sz="3600" b="1" i="1" baseline="30000"/>
              <a:t>6</a:t>
            </a:r>
            <a:r>
              <a:rPr lang="en-US" altLang="zh-CN" sz="3600" b="1" i="1"/>
              <a:t> </a:t>
            </a:r>
            <a:r>
              <a:rPr lang="en-US" altLang="zh-CN" sz="3600" b="1" i="1">
                <a:sym typeface="Symbol" pitchFamily="18" charset="2"/>
              </a:rPr>
              <a:t>P</a:t>
            </a:r>
            <a:r>
              <a:rPr lang="en-US" altLang="zh-CN" sz="3600" b="1" i="1" baseline="-25000">
                <a:sym typeface="Symbol" pitchFamily="18" charset="2"/>
              </a:rPr>
              <a:t>//</a:t>
            </a:r>
            <a:r>
              <a:rPr lang="en-US" altLang="zh-CN" sz="3600" b="1" i="1">
                <a:sym typeface="Symbol" pitchFamily="18" charset="2"/>
              </a:rPr>
              <a:t> L</a:t>
            </a:r>
            <a:r>
              <a:rPr lang="en-US" altLang="zh-CN" sz="3600" b="1" i="1" baseline="30000">
                <a:sym typeface="Symbol" pitchFamily="18" charset="2"/>
              </a:rPr>
              <a:t>6</a:t>
            </a:r>
            <a:r>
              <a:rPr lang="en-US" altLang="zh-CN" sz="3600" b="1" i="1">
                <a:sym typeface="Symbol" pitchFamily="18" charset="2"/>
              </a:rPr>
              <a:t>6P</a:t>
            </a:r>
            <a:r>
              <a:rPr lang="en-US" altLang="zh-CN" sz="3600" b="1" i="1" baseline="-25000">
                <a:sym typeface="Symbol" pitchFamily="18" charset="2"/>
              </a:rPr>
              <a:t>//</a:t>
            </a:r>
            <a:endParaRPr lang="zh-CN" altLang="en-US" sz="3600" b="1">
              <a:solidFill>
                <a:schemeClr val="accent2"/>
              </a:solidFill>
            </a:endParaRPr>
          </a:p>
        </p:txBody>
      </p:sp>
      <p:sp>
        <p:nvSpPr>
          <p:cNvPr id="38917"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8"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38919" name="Hexagon 1"/>
          <p:cNvSpPr>
            <a:spLocks noChangeArrowheads="1"/>
          </p:cNvSpPr>
          <p:nvPr/>
        </p:nvSpPr>
        <p:spPr bwMode="auto">
          <a:xfrm>
            <a:off x="1481946" y="4251673"/>
            <a:ext cx="360363" cy="309563"/>
          </a:xfrm>
          <a:prstGeom prst="hexagon">
            <a:avLst>
              <a:gd name="adj" fmla="val 28930"/>
              <a:gd name="vf" fmla="val 115470"/>
            </a:avLst>
          </a:prstGeom>
          <a:solidFill>
            <a:schemeClr val="tx1"/>
          </a:solidFill>
          <a:ln w="6350" algn="ctr">
            <a:solidFill>
              <a:schemeClr val="tx1"/>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cxnSp>
        <p:nvCxnSpPr>
          <p:cNvPr id="38920" name="Straight Connector 3"/>
          <p:cNvCxnSpPr>
            <a:cxnSpLocks noChangeShapeType="1"/>
          </p:cNvCxnSpPr>
          <p:nvPr/>
        </p:nvCxnSpPr>
        <p:spPr bwMode="auto">
          <a:xfrm>
            <a:off x="523427" y="4404073"/>
            <a:ext cx="2195513" cy="0"/>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 name="Group 2"/>
          <p:cNvGrpSpPr/>
          <p:nvPr/>
        </p:nvGrpSpPr>
        <p:grpSpPr>
          <a:xfrm rot="20930689">
            <a:off x="744755" y="3615763"/>
            <a:ext cx="1867794" cy="1677557"/>
            <a:chOff x="5264112" y="3278679"/>
            <a:chExt cx="1867794" cy="1677557"/>
          </a:xfrm>
        </p:grpSpPr>
        <p:sp>
          <p:nvSpPr>
            <p:cNvPr id="16" name="Rectangle 1040"/>
            <p:cNvSpPr>
              <a:spLocks noChangeArrowheads="1"/>
            </p:cNvSpPr>
            <p:nvPr/>
          </p:nvSpPr>
          <p:spPr bwMode="auto">
            <a:xfrm>
              <a:off x="5655531" y="3278679"/>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7" name="Rectangle 1041"/>
            <p:cNvSpPr>
              <a:spLocks noChangeArrowheads="1"/>
            </p:cNvSpPr>
            <p:nvPr/>
          </p:nvSpPr>
          <p:spPr bwMode="auto">
            <a:xfrm rot="6188442">
              <a:off x="6735031" y="3831129"/>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19" name="Rectangle 1042"/>
            <p:cNvSpPr>
              <a:spLocks noChangeArrowheads="1"/>
            </p:cNvSpPr>
            <p:nvPr/>
          </p:nvSpPr>
          <p:spPr bwMode="auto">
            <a:xfrm rot="13166957">
              <a:off x="5674581" y="4443904"/>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20" name="Rectangle 1044"/>
            <p:cNvSpPr>
              <a:spLocks noChangeArrowheads="1"/>
            </p:cNvSpPr>
            <p:nvPr/>
          </p:nvSpPr>
          <p:spPr bwMode="auto">
            <a:xfrm rot="3704105">
              <a:off x="6341708" y="328663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21" name="Rectangle 1045"/>
            <p:cNvSpPr>
              <a:spLocks noChangeArrowheads="1"/>
            </p:cNvSpPr>
            <p:nvPr/>
          </p:nvSpPr>
          <p:spPr bwMode="auto">
            <a:xfrm rot="9892547">
              <a:off x="6366324" y="449903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22" name="Rectangle 1046"/>
            <p:cNvSpPr>
              <a:spLocks noChangeArrowheads="1"/>
            </p:cNvSpPr>
            <p:nvPr/>
          </p:nvSpPr>
          <p:spPr bwMode="auto">
            <a:xfrm rot="16871062">
              <a:off x="5324437" y="385520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grpSp>
      <p:pic>
        <p:nvPicPr>
          <p:cNvPr id="2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1975573" y="4297748"/>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V="1">
            <a:off x="686732" y="4006782"/>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 name="Group 14"/>
          <p:cNvGrpSpPr/>
          <p:nvPr/>
        </p:nvGrpSpPr>
        <p:grpSpPr>
          <a:xfrm>
            <a:off x="3277318" y="3481375"/>
            <a:ext cx="2195513" cy="1898260"/>
            <a:chOff x="3024559" y="2320119"/>
            <a:chExt cx="2195513" cy="1898260"/>
          </a:xfrm>
        </p:grpSpPr>
        <p:sp>
          <p:nvSpPr>
            <p:cNvPr id="27" name="Hexagon 1"/>
            <p:cNvSpPr>
              <a:spLocks noChangeArrowheads="1"/>
            </p:cNvSpPr>
            <p:nvPr/>
          </p:nvSpPr>
          <p:spPr bwMode="auto">
            <a:xfrm>
              <a:off x="3872829" y="3092798"/>
              <a:ext cx="360363" cy="309563"/>
            </a:xfrm>
            <a:prstGeom prst="hexagon">
              <a:avLst>
                <a:gd name="adj" fmla="val 28930"/>
                <a:gd name="vf" fmla="val 115470"/>
              </a:avLst>
            </a:prstGeom>
            <a:solidFill>
              <a:schemeClr val="tx1"/>
            </a:solidFill>
            <a:ln w="6350" algn="ctr">
              <a:solidFill>
                <a:schemeClr val="tx1"/>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cxnSp>
          <p:nvCxnSpPr>
            <p:cNvPr id="28" name="Straight Connector 3"/>
            <p:cNvCxnSpPr>
              <a:cxnSpLocks noChangeShapeType="1"/>
            </p:cNvCxnSpPr>
            <p:nvPr/>
          </p:nvCxnSpPr>
          <p:spPr bwMode="auto">
            <a:xfrm>
              <a:off x="3024559" y="3245198"/>
              <a:ext cx="2195513" cy="0"/>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 name="Group 29"/>
            <p:cNvGrpSpPr/>
            <p:nvPr/>
          </p:nvGrpSpPr>
          <p:grpSpPr>
            <a:xfrm rot="20930689">
              <a:off x="3135638" y="2456888"/>
              <a:ext cx="1867794" cy="1677557"/>
              <a:chOff x="5264112" y="3278679"/>
              <a:chExt cx="1867794" cy="1677557"/>
            </a:xfrm>
          </p:grpSpPr>
          <p:sp>
            <p:nvSpPr>
              <p:cNvPr id="31" name="Rectangle 1040"/>
              <p:cNvSpPr>
                <a:spLocks noChangeArrowheads="1"/>
              </p:cNvSpPr>
              <p:nvPr/>
            </p:nvSpPr>
            <p:spPr bwMode="auto">
              <a:xfrm>
                <a:off x="5655531" y="3278679"/>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32" name="Rectangle 1041"/>
              <p:cNvSpPr>
                <a:spLocks noChangeArrowheads="1"/>
              </p:cNvSpPr>
              <p:nvPr/>
            </p:nvSpPr>
            <p:spPr bwMode="auto">
              <a:xfrm rot="6188442">
                <a:off x="6735031" y="3831129"/>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33" name="Rectangle 1042"/>
              <p:cNvSpPr>
                <a:spLocks noChangeArrowheads="1"/>
              </p:cNvSpPr>
              <p:nvPr/>
            </p:nvSpPr>
            <p:spPr bwMode="auto">
              <a:xfrm rot="13166957">
                <a:off x="5674581" y="4443904"/>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34" name="Rectangle 1044"/>
              <p:cNvSpPr>
                <a:spLocks noChangeArrowheads="1"/>
              </p:cNvSpPr>
              <p:nvPr/>
            </p:nvSpPr>
            <p:spPr bwMode="auto">
              <a:xfrm rot="3296721">
                <a:off x="6341708" y="328663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35" name="Rectangle 1045"/>
              <p:cNvSpPr>
                <a:spLocks noChangeArrowheads="1"/>
              </p:cNvSpPr>
              <p:nvPr/>
            </p:nvSpPr>
            <p:spPr bwMode="auto">
              <a:xfrm rot="9892547">
                <a:off x="6366324" y="449903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36" name="Rectangle 1046"/>
              <p:cNvSpPr>
                <a:spLocks noChangeArrowheads="1"/>
              </p:cNvSpPr>
              <p:nvPr/>
            </p:nvSpPr>
            <p:spPr bwMode="auto">
              <a:xfrm rot="16871062">
                <a:off x="5324437" y="385520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grpSp>
        <p:pic>
          <p:nvPicPr>
            <p:cNvPr id="3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4366456" y="3138873"/>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V="1">
              <a:off x="3077615" y="2847907"/>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9152397" flipV="1">
              <a:off x="4151207" y="2625363"/>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0" name="Straight Connector 39"/>
            <p:cNvCxnSpPr>
              <a:cxnSpLocks noChangeShapeType="1"/>
            </p:cNvCxnSpPr>
            <p:nvPr/>
          </p:nvCxnSpPr>
          <p:spPr bwMode="auto">
            <a:xfrm>
              <a:off x="3500134" y="2320119"/>
              <a:ext cx="1068020" cy="1828800"/>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p:cNvCxnSpPr>
              <a:cxnSpLocks noChangeShapeType="1"/>
            </p:cNvCxnSpPr>
            <p:nvPr/>
          </p:nvCxnSpPr>
          <p:spPr bwMode="auto">
            <a:xfrm flipV="1">
              <a:off x="3489764" y="2320119"/>
              <a:ext cx="1146629" cy="1828800"/>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391949" flipV="1">
              <a:off x="3578513" y="2422310"/>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7322386" flipV="1">
              <a:off x="3276188" y="3446462"/>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10154" flipV="1">
              <a:off x="3937431" y="3631835"/>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4" name="Right Arrow 23"/>
          <p:cNvSpPr/>
          <p:nvPr/>
        </p:nvSpPr>
        <p:spPr bwMode="auto">
          <a:xfrm>
            <a:off x="2796770" y="4119967"/>
            <a:ext cx="377627" cy="60581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55" name="Right Arrow 54"/>
          <p:cNvSpPr/>
          <p:nvPr/>
        </p:nvSpPr>
        <p:spPr bwMode="auto">
          <a:xfrm>
            <a:off x="5676447" y="4133615"/>
            <a:ext cx="377627" cy="60581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grpSp>
        <p:nvGrpSpPr>
          <p:cNvPr id="56" name="Group 55"/>
          <p:cNvGrpSpPr/>
          <p:nvPr/>
        </p:nvGrpSpPr>
        <p:grpSpPr>
          <a:xfrm>
            <a:off x="6192911" y="3503399"/>
            <a:ext cx="2195513" cy="1898260"/>
            <a:chOff x="2914310" y="2320119"/>
            <a:chExt cx="2195513" cy="1898260"/>
          </a:xfrm>
        </p:grpSpPr>
        <p:sp>
          <p:nvSpPr>
            <p:cNvPr id="57" name="Hexagon 1"/>
            <p:cNvSpPr>
              <a:spLocks noChangeArrowheads="1"/>
            </p:cNvSpPr>
            <p:nvPr/>
          </p:nvSpPr>
          <p:spPr bwMode="auto">
            <a:xfrm>
              <a:off x="3872829" y="3092798"/>
              <a:ext cx="360363" cy="309563"/>
            </a:xfrm>
            <a:prstGeom prst="hexagon">
              <a:avLst>
                <a:gd name="adj" fmla="val 28930"/>
                <a:gd name="vf" fmla="val 115470"/>
              </a:avLst>
            </a:prstGeom>
            <a:solidFill>
              <a:schemeClr val="tx1"/>
            </a:solidFill>
            <a:ln w="6350" algn="ctr">
              <a:solidFill>
                <a:schemeClr val="tx1"/>
              </a:solidFill>
              <a:round/>
              <a:headEnd/>
              <a:tailEnd/>
            </a:ln>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cxnSp>
          <p:nvCxnSpPr>
            <p:cNvPr id="58" name="Straight Connector 3"/>
            <p:cNvCxnSpPr>
              <a:cxnSpLocks noChangeShapeType="1"/>
            </p:cNvCxnSpPr>
            <p:nvPr/>
          </p:nvCxnSpPr>
          <p:spPr bwMode="auto">
            <a:xfrm>
              <a:off x="2914310" y="3245198"/>
              <a:ext cx="2195513" cy="0"/>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9" name="Group 58"/>
            <p:cNvGrpSpPr/>
            <p:nvPr/>
          </p:nvGrpSpPr>
          <p:grpSpPr>
            <a:xfrm rot="20930689">
              <a:off x="3135638" y="2456888"/>
              <a:ext cx="1867794" cy="1677557"/>
              <a:chOff x="5264112" y="3278679"/>
              <a:chExt cx="1867794" cy="1677557"/>
            </a:xfrm>
          </p:grpSpPr>
          <p:sp>
            <p:nvSpPr>
              <p:cNvPr id="68" name="Rectangle 1040"/>
              <p:cNvSpPr>
                <a:spLocks noChangeArrowheads="1"/>
              </p:cNvSpPr>
              <p:nvPr/>
            </p:nvSpPr>
            <p:spPr bwMode="auto">
              <a:xfrm>
                <a:off x="5655531" y="3278679"/>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69" name="Rectangle 1041"/>
              <p:cNvSpPr>
                <a:spLocks noChangeArrowheads="1"/>
              </p:cNvSpPr>
              <p:nvPr/>
            </p:nvSpPr>
            <p:spPr bwMode="auto">
              <a:xfrm rot="6188442">
                <a:off x="6735031" y="3831129"/>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70" name="Rectangle 1042"/>
              <p:cNvSpPr>
                <a:spLocks noChangeArrowheads="1"/>
              </p:cNvSpPr>
              <p:nvPr/>
            </p:nvSpPr>
            <p:spPr bwMode="auto">
              <a:xfrm rot="13166957">
                <a:off x="5674581" y="4443904"/>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71" name="Rectangle 1044"/>
              <p:cNvSpPr>
                <a:spLocks noChangeArrowheads="1"/>
              </p:cNvSpPr>
              <p:nvPr/>
            </p:nvSpPr>
            <p:spPr bwMode="auto">
              <a:xfrm rot="3296721">
                <a:off x="6341708" y="328663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72" name="Rectangle 1045"/>
              <p:cNvSpPr>
                <a:spLocks noChangeArrowheads="1"/>
              </p:cNvSpPr>
              <p:nvPr/>
            </p:nvSpPr>
            <p:spPr bwMode="auto">
              <a:xfrm rot="9892547">
                <a:off x="6366324" y="4499036"/>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sp>
            <p:nvSpPr>
              <p:cNvPr id="73" name="Rectangle 1046"/>
              <p:cNvSpPr>
                <a:spLocks noChangeArrowheads="1"/>
              </p:cNvSpPr>
              <p:nvPr/>
            </p:nvSpPr>
            <p:spPr bwMode="auto">
              <a:xfrm rot="16871062">
                <a:off x="5324437" y="385520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en-US" altLang="zh-CN" sz="2400" b="0">
                    <a:solidFill>
                      <a:schemeClr val="bg2"/>
                    </a:solidFill>
                  </a:rPr>
                  <a:t>6</a:t>
                </a:r>
              </a:p>
            </p:txBody>
          </p:sp>
        </p:grpSp>
        <p:pic>
          <p:nvPicPr>
            <p:cNvPr id="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4366456" y="3138873"/>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V="1">
              <a:off x="3077615" y="2847907"/>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9152397" flipV="1">
              <a:off x="4151207" y="2625363"/>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3" name="Straight Connector 62"/>
            <p:cNvCxnSpPr>
              <a:cxnSpLocks noChangeShapeType="1"/>
            </p:cNvCxnSpPr>
            <p:nvPr/>
          </p:nvCxnSpPr>
          <p:spPr bwMode="auto">
            <a:xfrm>
              <a:off x="3500134" y="2320119"/>
              <a:ext cx="1068020" cy="1828800"/>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Straight Connector 63"/>
            <p:cNvCxnSpPr>
              <a:cxnSpLocks noChangeShapeType="1"/>
            </p:cNvCxnSpPr>
            <p:nvPr/>
          </p:nvCxnSpPr>
          <p:spPr bwMode="auto">
            <a:xfrm flipV="1">
              <a:off x="3489764" y="2320119"/>
              <a:ext cx="1146629" cy="1828800"/>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4391949" flipV="1">
              <a:off x="3578513" y="2422310"/>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7322386" flipV="1">
              <a:off x="3276188" y="3446462"/>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10154" flipV="1">
              <a:off x="3937431" y="3631835"/>
              <a:ext cx="646113" cy="52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42" name="Straight Connector 41"/>
          <p:cNvCxnSpPr/>
          <p:nvPr/>
        </p:nvCxnSpPr>
        <p:spPr bwMode="auto">
          <a:xfrm flipH="1">
            <a:off x="7322299" y="3366120"/>
            <a:ext cx="9312" cy="2367136"/>
          </a:xfrm>
          <a:prstGeom prst="line">
            <a:avLst/>
          </a:prstGeom>
          <a:solidFill>
            <a:schemeClr val="accent1"/>
          </a:solidFill>
          <a:ln w="38100" cap="flat" cmpd="sng" algn="ctr">
            <a:solidFill>
              <a:srgbClr val="FF006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Straight Connector 75"/>
          <p:cNvCxnSpPr/>
          <p:nvPr/>
        </p:nvCxnSpPr>
        <p:spPr bwMode="auto">
          <a:xfrm>
            <a:off x="6216831" y="3727035"/>
            <a:ext cx="2171593" cy="1329543"/>
          </a:xfrm>
          <a:prstGeom prst="line">
            <a:avLst/>
          </a:prstGeom>
          <a:solidFill>
            <a:schemeClr val="accent1"/>
          </a:solidFill>
          <a:ln w="38100" cap="flat" cmpd="sng" algn="ctr">
            <a:solidFill>
              <a:srgbClr val="FF006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Straight Connector 79"/>
          <p:cNvCxnSpPr/>
          <p:nvPr/>
        </p:nvCxnSpPr>
        <p:spPr bwMode="auto">
          <a:xfrm flipH="1">
            <a:off x="6192912" y="3727035"/>
            <a:ext cx="2195512" cy="1481943"/>
          </a:xfrm>
          <a:prstGeom prst="line">
            <a:avLst/>
          </a:prstGeom>
          <a:solidFill>
            <a:schemeClr val="accent1"/>
          </a:solidFill>
          <a:ln w="38100" cap="flat" cmpd="sng" algn="ctr">
            <a:solidFill>
              <a:srgbClr val="FF0066"/>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244465489"/>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par>
                                <p:cTn id="8" presetID="22" presetClass="entr" presetSubtype="4"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down)">
                                      <p:cBhvr>
                                        <p:cTn id="1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8"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7" name="Rectangle 6"/>
          <p:cNvSpPr/>
          <p:nvPr/>
        </p:nvSpPr>
        <p:spPr>
          <a:xfrm>
            <a:off x="467544" y="764704"/>
            <a:ext cx="7920880" cy="5201424"/>
          </a:xfrm>
          <a:prstGeom prst="rect">
            <a:avLst/>
          </a:prstGeom>
        </p:spPr>
        <p:txBody>
          <a:bodyPr wrap="square">
            <a:spAutoFit/>
          </a:bodyPr>
          <a:lstStyle/>
          <a:p>
            <a:pPr lvl="0"/>
            <a:r>
              <a:rPr lang="en-US" altLang="zh-CN" sz="3600" kern="0">
                <a:solidFill>
                  <a:srgbClr val="3333CC"/>
                </a:solidFill>
              </a:rPr>
              <a:t>Exercise of theorem 3</a:t>
            </a:r>
            <a:r>
              <a:rPr lang="zh-CN" altLang="en-US" sz="3600" kern="0">
                <a:solidFill>
                  <a:srgbClr val="3333CC"/>
                </a:solidFill>
              </a:rPr>
              <a:t>：</a:t>
            </a:r>
            <a:endParaRPr lang="en-US" altLang="zh-CN" sz="3600" kern="0">
              <a:solidFill>
                <a:srgbClr val="3333CC"/>
              </a:solidFill>
            </a:endParaRPr>
          </a:p>
          <a:p>
            <a:pPr lvl="0"/>
            <a:endParaRPr lang="en-US" altLang="zh-CN" sz="3600" kern="0">
              <a:solidFill>
                <a:srgbClr val="3333CC"/>
              </a:solidFill>
            </a:endParaRPr>
          </a:p>
          <a:p>
            <a:pPr lvl="0"/>
            <a:r>
              <a:rPr lang="en-US" altLang="zh-CN" sz="3600" i="1" kern="0">
                <a:solidFill>
                  <a:srgbClr val="000000"/>
                </a:solidFill>
              </a:rPr>
              <a:t> 			</a:t>
            </a:r>
            <a:r>
              <a:rPr lang="en-US" altLang="zh-CN" sz="3200" b="0" i="1" kern="0">
                <a:solidFill>
                  <a:srgbClr val="000000"/>
                </a:solidFill>
              </a:rPr>
              <a:t>L</a:t>
            </a:r>
            <a:r>
              <a:rPr lang="en-US" altLang="zh-CN" sz="3200" b="0" i="1" kern="0" baseline="30000">
                <a:solidFill>
                  <a:srgbClr val="000000"/>
                </a:solidFill>
              </a:rPr>
              <a:t>3</a:t>
            </a:r>
            <a:r>
              <a:rPr lang="en-US" altLang="zh-CN" sz="3200" b="0" i="1" kern="0">
                <a:solidFill>
                  <a:srgbClr val="000000"/>
                </a:solidFill>
              </a:rPr>
              <a:t> </a:t>
            </a:r>
            <a:r>
              <a:rPr lang="en-US" altLang="zh-CN" sz="3200" b="0" i="1" kern="0">
                <a:solidFill>
                  <a:srgbClr val="000000"/>
                </a:solidFill>
                <a:sym typeface="Symbol" pitchFamily="18" charset="2"/>
              </a:rPr>
              <a:t>P</a:t>
            </a:r>
            <a:r>
              <a:rPr lang="en-US" altLang="zh-CN" sz="3200" b="0" i="1" kern="0" baseline="-25000">
                <a:solidFill>
                  <a:srgbClr val="000000"/>
                </a:solidFill>
                <a:sym typeface="Symbol" pitchFamily="18" charset="2"/>
              </a:rPr>
              <a:t>//</a:t>
            </a:r>
            <a:r>
              <a:rPr lang="en-US" altLang="zh-CN" sz="3200" b="0" i="1" kern="0">
                <a:solidFill>
                  <a:srgbClr val="000000"/>
                </a:solidFill>
                <a:sym typeface="Symbol" pitchFamily="18" charset="2"/>
              </a:rPr>
              <a:t>  ?</a:t>
            </a:r>
          </a:p>
          <a:p>
            <a:pPr lvl="0"/>
            <a:endParaRPr lang="en-US" altLang="zh-CN" sz="3200" b="0">
              <a:solidFill>
                <a:srgbClr val="000000"/>
              </a:solidFill>
              <a:sym typeface="Symbol" pitchFamily="18" charset="2"/>
            </a:endParaRPr>
          </a:p>
          <a:p>
            <a:pPr lvl="0" algn="just"/>
            <a:r>
              <a:rPr lang="en-US" altLang="zh-CN" sz="3200" b="0">
                <a:solidFill>
                  <a:srgbClr val="000000"/>
                </a:solidFill>
                <a:sym typeface="Symbol" pitchFamily="18" charset="2"/>
              </a:rPr>
              <a:t>	When two P intersect with 60°, which symmetry axis will be generated?  </a:t>
            </a:r>
          </a:p>
          <a:p>
            <a:pPr lvl="0" algn="just"/>
            <a:endParaRPr kumimoji="0" lang="en-US" altLang="zh-CN" sz="3200" b="0" i="1">
              <a:solidFill>
                <a:srgbClr val="000000"/>
              </a:solidFill>
              <a:sym typeface="Symbol" pitchFamily="18" charset="2"/>
            </a:endParaRPr>
          </a:p>
          <a:p>
            <a:pPr lvl="0" algn="just"/>
            <a:r>
              <a:rPr kumimoji="0" lang="en-US" altLang="zh-CN" sz="3200" b="0" i="1">
                <a:solidFill>
                  <a:srgbClr val="000000"/>
                </a:solidFill>
                <a:sym typeface="Symbol" pitchFamily="18" charset="2"/>
              </a:rPr>
              <a:t>	</a:t>
            </a:r>
            <a:r>
              <a:rPr kumimoji="0" lang="en-US" altLang="zh-CN" sz="3200" b="0" i="1">
                <a:solidFill>
                  <a:srgbClr val="FF0000"/>
                </a:solidFill>
              </a:rPr>
              <a:t>Please give the symmetrical patterns to demonstrate the combination of symmetry elements above. </a:t>
            </a:r>
          </a:p>
        </p:txBody>
      </p:sp>
    </p:spTree>
    <p:extLst>
      <p:ext uri="{BB962C8B-B14F-4D97-AF65-F5344CB8AC3E}">
        <p14:creationId xmlns:p14="http://schemas.microsoft.com/office/powerpoint/2010/main" val="2909183069"/>
      </p:ext>
    </p:extLst>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67112" y="620713"/>
            <a:ext cx="8710736" cy="1143000"/>
          </a:xfrm>
        </p:spPr>
        <p:txBody>
          <a:bodyPr/>
          <a:lstStyle/>
          <a:p>
            <a:pPr eaLnBrk="1" hangingPunct="1"/>
            <a:r>
              <a:rPr lang="en-US" altLang="zh-CN" sz="4000" b="1">
                <a:solidFill>
                  <a:schemeClr val="accent2"/>
                </a:solidFill>
              </a:rPr>
              <a:t>Combination of symmetry elements</a:t>
            </a:r>
            <a:endParaRPr lang="zh-CN" altLang="en-US" sz="4000" b="1">
              <a:solidFill>
                <a:schemeClr val="accent2"/>
              </a:solidFill>
            </a:endParaRPr>
          </a:p>
        </p:txBody>
      </p:sp>
      <p:pic>
        <p:nvPicPr>
          <p:cNvPr id="39939" name="Picture 4" descr="1208"/>
          <p:cNvPicPr>
            <a:picLocks noChangeAspect="1" noChangeArrowheads="1"/>
          </p:cNvPicPr>
          <p:nvPr/>
        </p:nvPicPr>
        <p:blipFill rotWithShape="1">
          <a:blip r:embed="rId2">
            <a:lum contrast="60000"/>
            <a:extLst>
              <a:ext uri="{28A0092B-C50C-407E-A947-70E740481C1C}">
                <a14:useLocalDpi xmlns:a14="http://schemas.microsoft.com/office/drawing/2010/main" val="0"/>
              </a:ext>
            </a:extLst>
          </a:blip>
          <a:srcRect l="4166" t="38972" r="9342"/>
          <a:stretch/>
        </p:blipFill>
        <p:spPr bwMode="auto">
          <a:xfrm>
            <a:off x="1548762" y="2314344"/>
            <a:ext cx="6623638" cy="2812490"/>
          </a:xfrm>
          <a:prstGeom prst="rect">
            <a:avLst/>
          </a:prstGeom>
          <a:noFill/>
          <a:ln w="57150" cmpd="thickThin">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940"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941"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6" name="TextBox 5"/>
          <p:cNvSpPr txBox="1"/>
          <p:nvPr/>
        </p:nvSpPr>
        <p:spPr>
          <a:xfrm>
            <a:off x="3212081" y="5055567"/>
            <a:ext cx="3454792" cy="461665"/>
          </a:xfrm>
          <a:prstGeom prst="rect">
            <a:avLst/>
          </a:prstGeom>
          <a:solidFill>
            <a:schemeClr val="bg1"/>
          </a:solidFill>
        </p:spPr>
        <p:txBody>
          <a:bodyPr wrap="none" rtlCol="0">
            <a:spAutoFit/>
          </a:bodyPr>
          <a:lstStyle/>
          <a:p>
            <a:r>
              <a:rPr lang="en-US" sz="2400"/>
              <a:t>Combination of L</a:t>
            </a:r>
            <a:r>
              <a:rPr lang="en-US" sz="2400" baseline="30000"/>
              <a:t>n </a:t>
            </a:r>
            <a:r>
              <a:rPr lang="en-US" sz="2400"/>
              <a:t>and </a:t>
            </a:r>
            <a:r>
              <a:rPr lang="en-US" altLang="zh-CN" sz="2400"/>
              <a:t>P</a:t>
            </a:r>
            <a:endParaRPr lang="en-US" sz="2400" baseline="30000"/>
          </a:p>
        </p:txBody>
      </p:sp>
      <p:sp>
        <p:nvSpPr>
          <p:cNvPr id="7" name="TextBox 6"/>
          <p:cNvSpPr txBox="1"/>
          <p:nvPr/>
        </p:nvSpPr>
        <p:spPr>
          <a:xfrm>
            <a:off x="542688" y="2386352"/>
            <a:ext cx="881973" cy="954107"/>
          </a:xfrm>
          <a:prstGeom prst="rect">
            <a:avLst/>
          </a:prstGeom>
          <a:noFill/>
        </p:spPr>
        <p:txBody>
          <a:bodyPr wrap="none" rtlCol="0">
            <a:spAutoFit/>
          </a:bodyPr>
          <a:lstStyle/>
          <a:p>
            <a:r>
              <a:rPr lang="en-US" sz="2800"/>
              <a:t>Side</a:t>
            </a:r>
          </a:p>
          <a:p>
            <a:r>
              <a:rPr lang="en-US" sz="2800"/>
              <a:t>view</a:t>
            </a:r>
          </a:p>
        </p:txBody>
      </p:sp>
      <p:sp>
        <p:nvSpPr>
          <p:cNvPr id="8" name="TextBox 7"/>
          <p:cNvSpPr txBox="1"/>
          <p:nvPr/>
        </p:nvSpPr>
        <p:spPr>
          <a:xfrm>
            <a:off x="542688" y="4184416"/>
            <a:ext cx="881973" cy="954107"/>
          </a:xfrm>
          <a:prstGeom prst="rect">
            <a:avLst/>
          </a:prstGeom>
          <a:noFill/>
        </p:spPr>
        <p:txBody>
          <a:bodyPr wrap="none" rtlCol="0">
            <a:spAutoFit/>
          </a:bodyPr>
          <a:lstStyle/>
          <a:p>
            <a:r>
              <a:rPr lang="en-US" sz="2800"/>
              <a:t>Top</a:t>
            </a:r>
          </a:p>
          <a:p>
            <a:r>
              <a:rPr lang="en-US" sz="2800"/>
              <a:t>view</a:t>
            </a:r>
          </a:p>
        </p:txBody>
      </p:sp>
    </p:spTree>
  </p:cSld>
  <p:clrMapOvr>
    <a:masterClrMapping/>
  </p:clrMapOvr>
  <p:transition spd="med">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body" idx="1"/>
          </p:nvPr>
        </p:nvSpPr>
        <p:spPr>
          <a:xfrm>
            <a:off x="876870" y="1844824"/>
            <a:ext cx="7771260" cy="3528392"/>
          </a:xfrm>
        </p:spPr>
        <p:txBody>
          <a:bodyPr/>
          <a:lstStyle/>
          <a:p>
            <a:pPr eaLnBrk="1" hangingPunct="1">
              <a:lnSpc>
                <a:spcPct val="200000"/>
              </a:lnSpc>
              <a:buFontTx/>
              <a:buNone/>
            </a:pPr>
            <a:r>
              <a:rPr lang="en-US" altLang="zh-CN" b="1">
                <a:solidFill>
                  <a:srgbClr val="990000"/>
                </a:solidFill>
                <a:sym typeface="Symbol" pitchFamily="18" charset="2"/>
              </a:rPr>
              <a:t>Theorem 4</a:t>
            </a:r>
            <a:r>
              <a:rPr lang="zh-CN" altLang="en-US" b="1">
                <a:solidFill>
                  <a:srgbClr val="990000"/>
                </a:solidFill>
                <a:sym typeface="Symbol" pitchFamily="18" charset="2"/>
              </a:rPr>
              <a:t>：</a:t>
            </a:r>
            <a:r>
              <a:rPr lang="en-US" altLang="zh-CN" b="1" i="1">
                <a:sym typeface="Symbol" pitchFamily="18" charset="2"/>
              </a:rPr>
              <a:t>L</a:t>
            </a:r>
            <a:r>
              <a:rPr lang="en-US" altLang="zh-CN" b="1" i="1" baseline="-25000">
                <a:sym typeface="Symbol" pitchFamily="18" charset="2"/>
              </a:rPr>
              <a:t>i</a:t>
            </a:r>
            <a:r>
              <a:rPr lang="en-US" altLang="zh-CN" b="1" i="1" baseline="30000">
                <a:sym typeface="Symbol" pitchFamily="18" charset="2"/>
              </a:rPr>
              <a:t>n</a:t>
            </a:r>
            <a:r>
              <a:rPr lang="en-US" altLang="zh-CN" b="1" i="1">
                <a:sym typeface="Symbol" pitchFamily="18" charset="2"/>
              </a:rPr>
              <a:t>  P</a:t>
            </a:r>
            <a:r>
              <a:rPr lang="en-US" altLang="zh-CN" b="1" i="1" baseline="-25000">
                <a:sym typeface="Symbol" pitchFamily="18" charset="2"/>
              </a:rPr>
              <a:t>//</a:t>
            </a:r>
            <a:r>
              <a:rPr lang="en-US" altLang="zh-CN" b="1" i="1">
                <a:sym typeface="Symbol" pitchFamily="18" charset="2"/>
              </a:rPr>
              <a:t> = L</a:t>
            </a:r>
            <a:r>
              <a:rPr lang="en-US" altLang="zh-CN" b="1" i="1" baseline="-25000">
                <a:sym typeface="Symbol" pitchFamily="18" charset="2"/>
              </a:rPr>
              <a:t>i</a:t>
            </a:r>
            <a:r>
              <a:rPr lang="en-US" altLang="zh-CN" b="1" i="1" baseline="30000">
                <a:sym typeface="Symbol" pitchFamily="18" charset="2"/>
              </a:rPr>
              <a:t>n </a:t>
            </a:r>
            <a:r>
              <a:rPr lang="en-US" altLang="zh-CN" b="1" i="1">
                <a:sym typeface="Symbol" pitchFamily="18" charset="2"/>
              </a:rPr>
              <a:t>L</a:t>
            </a:r>
            <a:r>
              <a:rPr lang="en-US" altLang="zh-CN" b="1" i="1" baseline="30000">
                <a:sym typeface="Symbol" pitchFamily="18" charset="2"/>
              </a:rPr>
              <a:t>2</a:t>
            </a:r>
            <a:r>
              <a:rPr lang="en-US" altLang="zh-CN" b="1" i="1" baseline="-25000">
                <a:sym typeface="Symbol" pitchFamily="18" charset="2"/>
              </a:rPr>
              <a:t> </a:t>
            </a:r>
          </a:p>
          <a:p>
            <a:pPr eaLnBrk="1" hangingPunct="1">
              <a:lnSpc>
                <a:spcPct val="200000"/>
              </a:lnSpc>
              <a:buFontTx/>
              <a:buNone/>
            </a:pPr>
            <a:r>
              <a:rPr lang="en-US" altLang="zh-CN" b="1" i="1" baseline="-25000">
                <a:sym typeface="Symbol" pitchFamily="18" charset="2"/>
              </a:rPr>
              <a:t>			</a:t>
            </a:r>
            <a:r>
              <a:rPr lang="en-US" altLang="zh-CN" b="1" i="1">
                <a:sym typeface="Symbol" pitchFamily="18" charset="2"/>
              </a:rPr>
              <a:t>  L</a:t>
            </a:r>
            <a:r>
              <a:rPr lang="en-US" altLang="zh-CN" b="1" i="1" baseline="-25000">
                <a:sym typeface="Symbol" pitchFamily="18" charset="2"/>
              </a:rPr>
              <a:t>i</a:t>
            </a:r>
            <a:r>
              <a:rPr lang="en-US" altLang="zh-CN" b="1" i="1" baseline="30000">
                <a:sym typeface="Symbol" pitchFamily="18" charset="2"/>
              </a:rPr>
              <a:t>n</a:t>
            </a:r>
            <a:r>
              <a:rPr lang="en-US" altLang="zh-CN" b="1" i="1">
                <a:sym typeface="Symbol" pitchFamily="18" charset="2"/>
              </a:rPr>
              <a:t>n/2 L</a:t>
            </a:r>
            <a:r>
              <a:rPr lang="en-US" altLang="zh-CN" b="1" i="1" baseline="30000">
                <a:sym typeface="Symbol" pitchFamily="18" charset="2"/>
              </a:rPr>
              <a:t>2</a:t>
            </a:r>
            <a:r>
              <a:rPr lang="en-US" altLang="zh-CN" b="1" i="1" baseline="-25000">
                <a:sym typeface="Symbol" pitchFamily="18" charset="2"/>
              </a:rPr>
              <a:t> </a:t>
            </a:r>
            <a:r>
              <a:rPr lang="en-US" altLang="zh-CN" b="1" i="1">
                <a:sym typeface="Symbol" pitchFamily="18" charset="2"/>
              </a:rPr>
              <a:t>n/2 P</a:t>
            </a:r>
            <a:r>
              <a:rPr lang="en-US" altLang="zh-CN" b="1" i="1" baseline="-25000">
                <a:sym typeface="Symbol" pitchFamily="18" charset="2"/>
              </a:rPr>
              <a:t>//</a:t>
            </a:r>
            <a:r>
              <a:rPr lang="en-US" altLang="zh-CN" b="1" i="1">
                <a:sym typeface="Symbol" pitchFamily="18" charset="2"/>
              </a:rPr>
              <a:t> </a:t>
            </a:r>
            <a:r>
              <a:rPr lang="zh-CN" altLang="en-US" b="1">
                <a:sym typeface="Symbol" pitchFamily="18" charset="2"/>
              </a:rPr>
              <a:t>（</a:t>
            </a:r>
            <a:r>
              <a:rPr lang="en-US" altLang="zh-CN" b="1" i="1">
                <a:sym typeface="Symbol" pitchFamily="18" charset="2"/>
              </a:rPr>
              <a:t>n</a:t>
            </a:r>
            <a:r>
              <a:rPr lang="zh-CN" altLang="en-US" b="1">
                <a:sym typeface="Symbol" pitchFamily="18" charset="2"/>
              </a:rPr>
              <a:t> </a:t>
            </a:r>
            <a:r>
              <a:rPr lang="en-US" altLang="zh-CN" b="1">
                <a:sym typeface="Symbol" pitchFamily="18" charset="2"/>
              </a:rPr>
              <a:t>is even</a:t>
            </a:r>
            <a:r>
              <a:rPr lang="zh-CN" altLang="en-US" b="1">
                <a:sym typeface="Symbol" pitchFamily="18" charset="2"/>
              </a:rPr>
              <a:t>）</a:t>
            </a:r>
          </a:p>
          <a:p>
            <a:pPr eaLnBrk="1" hangingPunct="1">
              <a:lnSpc>
                <a:spcPct val="200000"/>
              </a:lnSpc>
              <a:buFontTx/>
              <a:buNone/>
            </a:pPr>
            <a:r>
              <a:rPr lang="zh-CN" altLang="en-US" b="1">
                <a:sym typeface="Symbol" pitchFamily="18" charset="2"/>
              </a:rPr>
              <a:t>                    </a:t>
            </a:r>
            <a:r>
              <a:rPr lang="en-US" altLang="zh-CN" b="1" i="1">
                <a:sym typeface="Symbol" pitchFamily="18" charset="2"/>
              </a:rPr>
              <a:t>L</a:t>
            </a:r>
            <a:r>
              <a:rPr lang="en-US" altLang="zh-CN" b="1" i="1" baseline="-25000">
                <a:sym typeface="Symbol" pitchFamily="18" charset="2"/>
              </a:rPr>
              <a:t>i</a:t>
            </a:r>
            <a:r>
              <a:rPr lang="en-US" altLang="zh-CN" b="1" i="1" baseline="30000">
                <a:sym typeface="Symbol" pitchFamily="18" charset="2"/>
              </a:rPr>
              <a:t>n</a:t>
            </a:r>
            <a:r>
              <a:rPr lang="en-US" altLang="zh-CN" b="1" i="1">
                <a:sym typeface="Symbol" pitchFamily="18" charset="2"/>
              </a:rPr>
              <a:t>n L</a:t>
            </a:r>
            <a:r>
              <a:rPr lang="en-US" altLang="zh-CN" b="1" i="1" baseline="30000">
                <a:sym typeface="Symbol" pitchFamily="18" charset="2"/>
              </a:rPr>
              <a:t>2</a:t>
            </a:r>
            <a:r>
              <a:rPr lang="en-US" altLang="zh-CN" b="1" i="1" baseline="-25000">
                <a:sym typeface="Symbol" pitchFamily="18" charset="2"/>
              </a:rPr>
              <a:t> </a:t>
            </a:r>
            <a:r>
              <a:rPr lang="en-US" altLang="zh-CN" b="1" i="1" err="1">
                <a:sym typeface="Symbol" pitchFamily="18" charset="2"/>
              </a:rPr>
              <a:t>nP</a:t>
            </a:r>
            <a:r>
              <a:rPr lang="en-US" altLang="zh-CN" b="1" i="1" baseline="-25000">
                <a:sym typeface="Symbol" pitchFamily="18" charset="2"/>
              </a:rPr>
              <a:t>//</a:t>
            </a:r>
            <a:r>
              <a:rPr lang="zh-CN" altLang="en-US" b="1">
                <a:sym typeface="Symbol" pitchFamily="18" charset="2"/>
              </a:rPr>
              <a:t>（</a:t>
            </a:r>
            <a:r>
              <a:rPr lang="en-US" altLang="zh-CN" b="1" i="1">
                <a:sym typeface="Symbol" pitchFamily="18" charset="2"/>
              </a:rPr>
              <a:t>n</a:t>
            </a:r>
            <a:r>
              <a:rPr lang="en-US" altLang="zh-CN" b="1">
                <a:sym typeface="Symbol" pitchFamily="18" charset="2"/>
              </a:rPr>
              <a:t> is odd</a:t>
            </a:r>
            <a:r>
              <a:rPr lang="zh-CN" altLang="en-US" b="1">
                <a:sym typeface="Symbol" pitchFamily="18" charset="2"/>
              </a:rPr>
              <a:t>）</a:t>
            </a:r>
            <a:endParaRPr lang="zh-CN" altLang="en-US" sz="4000"/>
          </a:p>
        </p:txBody>
      </p:sp>
      <p:sp>
        <p:nvSpPr>
          <p:cNvPr id="40965" name="Line 6"/>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6" name="Text Box 7"/>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14" name="Rectangle 2"/>
          <p:cNvSpPr>
            <a:spLocks noGrp="1" noChangeArrowheads="1"/>
          </p:cNvSpPr>
          <p:nvPr>
            <p:ph type="title"/>
          </p:nvPr>
        </p:nvSpPr>
        <p:spPr>
          <a:xfrm>
            <a:off x="467112" y="620713"/>
            <a:ext cx="8710736" cy="1143000"/>
          </a:xfrm>
        </p:spPr>
        <p:txBody>
          <a:bodyPr/>
          <a:lstStyle/>
          <a:p>
            <a:pPr eaLnBrk="1" hangingPunct="1"/>
            <a:r>
              <a:rPr lang="en-US" altLang="zh-CN" sz="4000" b="1">
                <a:solidFill>
                  <a:schemeClr val="accent2"/>
                </a:solidFill>
              </a:rPr>
              <a:t>Combination of symmetry elements</a:t>
            </a:r>
            <a:endParaRPr lang="zh-CN" altLang="en-US" sz="4000" b="1">
              <a:solidFill>
                <a:schemeClr val="accent2"/>
              </a:solidFill>
            </a:endParaRPr>
          </a:p>
        </p:txBody>
      </p:sp>
    </p:spTree>
  </p:cSld>
  <p:clrMapOvr>
    <a:masterClrMapping/>
  </p:clrMapOvr>
  <p:transition spd="med">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3" name="Picture 3" descr="Li4+P"/>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845966" y="3597955"/>
            <a:ext cx="3097213"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Line 6"/>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6" name="Text Box 7"/>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40967" name="Text Box 8"/>
          <p:cNvSpPr txBox="1">
            <a:spLocks noChangeArrowheads="1"/>
          </p:cNvSpPr>
          <p:nvPr/>
        </p:nvSpPr>
        <p:spPr bwMode="auto">
          <a:xfrm>
            <a:off x="322882" y="1628800"/>
            <a:ext cx="8497589"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800" err="1">
                <a:solidFill>
                  <a:srgbClr val="FF0066"/>
                </a:solidFill>
              </a:rPr>
              <a:t>e.g</a:t>
            </a:r>
            <a:r>
              <a:rPr lang="zh-CN" altLang="en-US" sz="2800">
                <a:solidFill>
                  <a:srgbClr val="FF0066"/>
                </a:solidFill>
              </a:rPr>
              <a:t>：</a:t>
            </a:r>
            <a:r>
              <a:rPr lang="en-US" altLang="zh-CN" sz="2800">
                <a:solidFill>
                  <a:srgbClr val="FF0066"/>
                </a:solidFill>
              </a:rPr>
              <a:t>tetragonal tetrahedron</a:t>
            </a:r>
            <a:r>
              <a:rPr lang="zh-CN" altLang="en-US" sz="2800">
                <a:solidFill>
                  <a:srgbClr val="FF0066"/>
                </a:solidFill>
              </a:rPr>
              <a:t>（四方四面体）</a:t>
            </a:r>
            <a:r>
              <a:rPr lang="en-US" altLang="zh-CN" sz="2800">
                <a:solidFill>
                  <a:srgbClr val="FF0066"/>
                </a:solidFill>
              </a:rPr>
              <a:t>can be generated by the following combination:</a:t>
            </a:r>
            <a:endParaRPr lang="zh-CN" altLang="en-US" sz="2800">
              <a:solidFill>
                <a:srgbClr val="FF0066"/>
              </a:solidFill>
            </a:endParaRPr>
          </a:p>
          <a:p>
            <a:pPr algn="ctr" eaLnBrk="1" hangingPunct="1">
              <a:spcBef>
                <a:spcPct val="50000"/>
              </a:spcBef>
              <a:buFontTx/>
              <a:buNone/>
            </a:pPr>
            <a:r>
              <a:rPr lang="zh-CN" altLang="en-US" sz="2800" i="1">
                <a:solidFill>
                  <a:srgbClr val="FF0066"/>
                </a:solidFill>
                <a:sym typeface="Symbol" pitchFamily="18" charset="2"/>
              </a:rPr>
              <a:t> </a:t>
            </a:r>
            <a:r>
              <a:rPr lang="en-US" altLang="zh-CN" sz="2800" i="1">
                <a:sym typeface="Symbol" pitchFamily="18" charset="2"/>
              </a:rPr>
              <a:t>L</a:t>
            </a:r>
            <a:r>
              <a:rPr lang="en-US" altLang="zh-CN" sz="2800" i="1" baseline="-25000">
                <a:sym typeface="Symbol" pitchFamily="18" charset="2"/>
              </a:rPr>
              <a:t>i</a:t>
            </a:r>
            <a:r>
              <a:rPr lang="en-US" altLang="zh-CN" sz="2800" i="1" baseline="30000">
                <a:sym typeface="Symbol" pitchFamily="18" charset="2"/>
              </a:rPr>
              <a:t>4</a:t>
            </a:r>
            <a:r>
              <a:rPr lang="en-US" altLang="zh-CN" sz="2800" i="1">
                <a:sym typeface="Symbol" pitchFamily="18" charset="2"/>
              </a:rPr>
              <a:t>  P</a:t>
            </a:r>
            <a:r>
              <a:rPr lang="en-US" altLang="zh-CN" sz="2800" i="1" baseline="-25000">
                <a:sym typeface="Symbol" pitchFamily="18" charset="2"/>
              </a:rPr>
              <a:t>//</a:t>
            </a:r>
            <a:r>
              <a:rPr lang="zh-CN" altLang="en-US" sz="2800" i="1">
                <a:solidFill>
                  <a:srgbClr val="FF0066"/>
                </a:solidFill>
                <a:sym typeface="Symbol" pitchFamily="18" charset="2"/>
              </a:rPr>
              <a:t> </a:t>
            </a:r>
            <a:r>
              <a:rPr lang="en-US" altLang="zh-CN" sz="2800" i="1">
                <a:sym typeface="Symbol" pitchFamily="18" charset="2"/>
              </a:rPr>
              <a:t> </a:t>
            </a:r>
            <a:r>
              <a:rPr lang="en-US" altLang="zh-CN" sz="2800" i="1">
                <a:solidFill>
                  <a:srgbClr val="FF0066"/>
                </a:solidFill>
                <a:sym typeface="Symbol" pitchFamily="18" charset="2"/>
              </a:rPr>
              <a:t>L</a:t>
            </a:r>
            <a:r>
              <a:rPr lang="en-US" altLang="zh-CN" sz="2800" i="1" baseline="-25000">
                <a:solidFill>
                  <a:srgbClr val="FF0066"/>
                </a:solidFill>
                <a:sym typeface="Symbol" pitchFamily="18" charset="2"/>
              </a:rPr>
              <a:t>i</a:t>
            </a:r>
            <a:r>
              <a:rPr lang="en-US" altLang="zh-CN" sz="2800" i="1" baseline="30000">
                <a:solidFill>
                  <a:srgbClr val="FF0066"/>
                </a:solidFill>
                <a:sym typeface="Symbol" pitchFamily="18" charset="2"/>
              </a:rPr>
              <a:t>4</a:t>
            </a:r>
            <a:r>
              <a:rPr lang="en-US" altLang="zh-CN" sz="2800" i="1">
                <a:solidFill>
                  <a:srgbClr val="FF0066"/>
                </a:solidFill>
                <a:sym typeface="Symbol" pitchFamily="18" charset="2"/>
              </a:rPr>
              <a:t>2L</a:t>
            </a:r>
            <a:r>
              <a:rPr lang="en-US" altLang="zh-CN" sz="2800" i="1" baseline="30000">
                <a:solidFill>
                  <a:srgbClr val="FF0066"/>
                </a:solidFill>
                <a:sym typeface="Symbol" pitchFamily="18" charset="2"/>
              </a:rPr>
              <a:t>2</a:t>
            </a:r>
            <a:r>
              <a:rPr lang="en-US" altLang="zh-CN" sz="2800" i="1">
                <a:solidFill>
                  <a:srgbClr val="FF0066"/>
                </a:solidFill>
                <a:sym typeface="Symbol" pitchFamily="18" charset="2"/>
              </a:rPr>
              <a:t> 2P</a:t>
            </a:r>
          </a:p>
        </p:txBody>
      </p:sp>
      <p:cxnSp>
        <p:nvCxnSpPr>
          <p:cNvPr id="40968" name="Straight Connector 2"/>
          <p:cNvCxnSpPr>
            <a:cxnSpLocks noChangeShapeType="1"/>
          </p:cNvCxnSpPr>
          <p:nvPr/>
        </p:nvCxnSpPr>
        <p:spPr bwMode="auto">
          <a:xfrm>
            <a:off x="4932040" y="3284984"/>
            <a:ext cx="0" cy="3671887"/>
          </a:xfrm>
          <a:prstGeom prst="line">
            <a:avLst/>
          </a:prstGeom>
          <a:noFill/>
          <a:ln w="9525"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extBox 1"/>
          <p:cNvSpPr txBox="1"/>
          <p:nvPr/>
        </p:nvSpPr>
        <p:spPr>
          <a:xfrm>
            <a:off x="311320" y="3729528"/>
            <a:ext cx="3534646" cy="2308324"/>
          </a:xfrm>
          <a:prstGeom prst="rect">
            <a:avLst/>
          </a:prstGeom>
          <a:noFill/>
        </p:spPr>
        <p:txBody>
          <a:bodyPr wrap="square" rtlCol="0">
            <a:spAutoFit/>
          </a:bodyPr>
          <a:lstStyle/>
          <a:p>
            <a:r>
              <a:rPr lang="en-US" altLang="zh-CN" sz="2400" b="0">
                <a:latin typeface="+mn-lt"/>
              </a:rPr>
              <a:t>There are three pairs or totally six arrises. Each pair of arrises corresponds to a L</a:t>
            </a:r>
            <a:r>
              <a:rPr lang="en-US" altLang="zh-CN" sz="2400" b="0" baseline="30000">
                <a:latin typeface="+mn-lt"/>
              </a:rPr>
              <a:t>2</a:t>
            </a:r>
            <a:r>
              <a:rPr lang="en-US" altLang="zh-CN" sz="2400" b="0">
                <a:latin typeface="+mn-lt"/>
              </a:rPr>
              <a:t>. One L</a:t>
            </a:r>
            <a:r>
              <a:rPr lang="en-US" altLang="zh-CN" sz="2400" b="0" baseline="30000">
                <a:latin typeface="+mn-lt"/>
              </a:rPr>
              <a:t>2</a:t>
            </a:r>
            <a:r>
              <a:rPr lang="zh-CN" altLang="en-US" sz="2400" b="0" baseline="30000">
                <a:latin typeface="+mn-lt"/>
              </a:rPr>
              <a:t> </a:t>
            </a:r>
            <a:r>
              <a:rPr lang="en-US" altLang="zh-CN" sz="2400" b="0">
                <a:latin typeface="+mn-lt"/>
              </a:rPr>
              <a:t>has a higher symmetry </a:t>
            </a:r>
            <a:r>
              <a:rPr lang="en-US" altLang="zh-CN" sz="2400" b="0">
                <a:latin typeface="+mn-lt"/>
                <a:sym typeface="Symbol" pitchFamily="18" charset="2"/>
              </a:rPr>
              <a:t>L</a:t>
            </a:r>
            <a:r>
              <a:rPr lang="en-US" altLang="zh-CN" sz="2400" b="0" baseline="-25000">
                <a:latin typeface="+mn-lt"/>
                <a:sym typeface="Symbol" pitchFamily="18" charset="2"/>
              </a:rPr>
              <a:t>i</a:t>
            </a:r>
            <a:r>
              <a:rPr lang="en-US" altLang="zh-CN" sz="2400" b="0" baseline="30000">
                <a:latin typeface="+mn-lt"/>
                <a:sym typeface="Symbol" pitchFamily="18" charset="2"/>
              </a:rPr>
              <a:t>4</a:t>
            </a:r>
            <a:r>
              <a:rPr lang="en-US" altLang="zh-CN" sz="2400" b="0">
                <a:latin typeface="+mn-lt"/>
                <a:sym typeface="Symbol" pitchFamily="18" charset="2"/>
              </a:rPr>
              <a:t> , so here two L</a:t>
            </a:r>
            <a:r>
              <a:rPr lang="en-US" altLang="zh-CN" sz="2400" b="0" baseline="30000">
                <a:latin typeface="+mn-lt"/>
                <a:sym typeface="Symbol" pitchFamily="18" charset="2"/>
              </a:rPr>
              <a:t>2 </a:t>
            </a:r>
            <a:r>
              <a:rPr lang="en-US" altLang="zh-CN" sz="2400" b="0">
                <a:latin typeface="+mn-lt"/>
                <a:sym typeface="Symbol" pitchFamily="18" charset="2"/>
              </a:rPr>
              <a:t>is given.</a:t>
            </a:r>
            <a:endParaRPr lang="zh-CN" altLang="en-US" sz="2400" b="0" baseline="30000">
              <a:latin typeface="+mn-lt"/>
            </a:endParaRPr>
          </a:p>
        </p:txBody>
      </p:sp>
      <p:sp>
        <p:nvSpPr>
          <p:cNvPr id="14" name="Rectangle 2"/>
          <p:cNvSpPr>
            <a:spLocks noGrp="1" noChangeArrowheads="1"/>
          </p:cNvSpPr>
          <p:nvPr>
            <p:ph type="title"/>
          </p:nvPr>
        </p:nvSpPr>
        <p:spPr>
          <a:xfrm>
            <a:off x="467112" y="620713"/>
            <a:ext cx="8710736" cy="1143000"/>
          </a:xfrm>
        </p:spPr>
        <p:txBody>
          <a:bodyPr/>
          <a:lstStyle/>
          <a:p>
            <a:pPr eaLnBrk="1" hangingPunct="1"/>
            <a:r>
              <a:rPr lang="en-US" altLang="zh-CN" sz="4000" b="1">
                <a:solidFill>
                  <a:schemeClr val="accent2"/>
                </a:solidFill>
              </a:rPr>
              <a:t>Combination of symmetry elements</a:t>
            </a:r>
            <a:endParaRPr lang="zh-CN" altLang="en-US" sz="4000" b="1">
              <a:solidFill>
                <a:schemeClr val="accent2"/>
              </a:solidFill>
            </a:endParaRPr>
          </a:p>
        </p:txBody>
      </p:sp>
      <p:pic>
        <p:nvPicPr>
          <p:cNvPr id="39944" name="Picture 8"/>
          <p:cNvPicPr>
            <a:picLocks noChangeAspect="1" noChangeArrowheads="1"/>
          </p:cNvPicPr>
          <p:nvPr/>
        </p:nvPicPr>
        <p:blipFill>
          <a:blip r:embed="rId4">
            <a:extLst>
              <a:ext uri="{28A0092B-C50C-407E-A947-70E740481C1C}">
                <a14:useLocalDpi xmlns:a14="http://schemas.microsoft.com/office/drawing/2010/main" val="0"/>
              </a:ext>
            </a:extLst>
          </a:blip>
          <a:srcRect l="46915" t="46404" r="26396" b="12923"/>
          <a:stretch>
            <a:fillRect/>
          </a:stretch>
        </p:blipFill>
        <p:spPr bwMode="auto">
          <a:xfrm>
            <a:off x="6510906" y="3986247"/>
            <a:ext cx="2541587" cy="2420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3728815"/>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39944"/>
                                        </p:tgtEl>
                                        <p:attrNameLst>
                                          <p:attrName>style.visibility</p:attrName>
                                        </p:attrNameLst>
                                      </p:cBhvr>
                                      <p:to>
                                        <p:strVal val="visible"/>
                                      </p:to>
                                    </p:set>
                                    <p:animEffect transition="in" filter="barn(inVertical)">
                                      <p:cBhvr>
                                        <p:cTn id="7" dur="500"/>
                                        <p:tgtEl>
                                          <p:spTgt spid="39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437" t="6151" r="25218"/>
          <a:stretch/>
        </p:blipFill>
        <p:spPr bwMode="auto">
          <a:xfrm>
            <a:off x="251520" y="1040779"/>
            <a:ext cx="3179928" cy="31085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437" t="6151" r="25218"/>
          <a:stretch/>
        </p:blipFill>
        <p:spPr bwMode="auto">
          <a:xfrm rot="18853955">
            <a:off x="4923713" y="880787"/>
            <a:ext cx="3179928" cy="31085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Connector 5"/>
          <p:cNvCxnSpPr/>
          <p:nvPr/>
        </p:nvCxnSpPr>
        <p:spPr bwMode="auto">
          <a:xfrm>
            <a:off x="6609210" y="-11942"/>
            <a:ext cx="8255" cy="1840589"/>
          </a:xfrm>
          <a:prstGeom prst="line">
            <a:avLst/>
          </a:prstGeom>
          <a:solidFill>
            <a:schemeClr val="accent1"/>
          </a:solidFill>
          <a:ln w="57150" cap="flat" cmpd="sng" algn="ctr">
            <a:solidFill>
              <a:schemeClr val="accent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Connector 7"/>
          <p:cNvCxnSpPr/>
          <p:nvPr/>
        </p:nvCxnSpPr>
        <p:spPr bwMode="auto">
          <a:xfrm flipH="1">
            <a:off x="7559161" y="2227842"/>
            <a:ext cx="1564543" cy="201304"/>
          </a:xfrm>
          <a:prstGeom prst="line">
            <a:avLst/>
          </a:prstGeom>
          <a:solidFill>
            <a:schemeClr val="accent1"/>
          </a:solidFill>
          <a:ln w="57150" cap="flat" cmpd="sng" algn="ctr">
            <a:solidFill>
              <a:schemeClr val="accent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11"/>
          <p:cNvCxnSpPr/>
          <p:nvPr/>
        </p:nvCxnSpPr>
        <p:spPr bwMode="auto">
          <a:xfrm flipH="1">
            <a:off x="4371176" y="2674806"/>
            <a:ext cx="1959686" cy="698082"/>
          </a:xfrm>
          <a:prstGeom prst="line">
            <a:avLst/>
          </a:prstGeom>
          <a:solidFill>
            <a:schemeClr val="accent1"/>
          </a:solidFill>
          <a:ln w="57150" cap="flat" cmpd="sng" algn="ctr">
            <a:solidFill>
              <a:schemeClr val="accent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p:nvPr/>
        </p:nvCxnSpPr>
        <p:spPr bwMode="auto">
          <a:xfrm flipH="1">
            <a:off x="4229107" y="2666845"/>
            <a:ext cx="1594114" cy="226325"/>
          </a:xfrm>
          <a:prstGeom prst="line">
            <a:avLst/>
          </a:prstGeom>
          <a:solidFill>
            <a:schemeClr val="accent1"/>
          </a:solidFill>
          <a:ln w="57150" cap="flat" cmpd="sng" algn="ctr">
            <a:solidFill>
              <a:schemeClr val="accent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Connector 16"/>
          <p:cNvCxnSpPr/>
          <p:nvPr/>
        </p:nvCxnSpPr>
        <p:spPr bwMode="auto">
          <a:xfrm flipH="1">
            <a:off x="6603817" y="3389981"/>
            <a:ext cx="5393" cy="1993907"/>
          </a:xfrm>
          <a:prstGeom prst="line">
            <a:avLst/>
          </a:prstGeom>
          <a:solidFill>
            <a:schemeClr val="accent1"/>
          </a:solidFill>
          <a:ln w="57150" cap="flat" cmpd="sng" algn="ctr">
            <a:solidFill>
              <a:schemeClr val="accent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p:nvPr/>
        </p:nvCxnSpPr>
        <p:spPr bwMode="auto">
          <a:xfrm flipV="1">
            <a:off x="5955352" y="1678520"/>
            <a:ext cx="1822173" cy="1636398"/>
          </a:xfrm>
          <a:prstGeom prst="line">
            <a:avLst/>
          </a:prstGeom>
          <a:solidFill>
            <a:schemeClr val="accent1"/>
          </a:solidFill>
          <a:ln w="38100"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Straight Connector 31"/>
          <p:cNvCxnSpPr/>
          <p:nvPr/>
        </p:nvCxnSpPr>
        <p:spPr bwMode="auto">
          <a:xfrm flipH="1">
            <a:off x="6256842" y="2511033"/>
            <a:ext cx="619931" cy="168093"/>
          </a:xfrm>
          <a:prstGeom prst="line">
            <a:avLst/>
          </a:prstGeom>
          <a:solidFill>
            <a:schemeClr val="accent1"/>
          </a:solidFill>
          <a:ln w="57150" cap="flat" cmpd="sng" algn="ctr">
            <a:solidFill>
              <a:srgbClr val="9900FF"/>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TextBox 2"/>
          <p:cNvSpPr txBox="1"/>
          <p:nvPr/>
        </p:nvSpPr>
        <p:spPr>
          <a:xfrm>
            <a:off x="-1" y="4895594"/>
            <a:ext cx="9144001" cy="1384995"/>
          </a:xfrm>
          <a:prstGeom prst="rect">
            <a:avLst/>
          </a:prstGeom>
          <a:noFill/>
        </p:spPr>
        <p:txBody>
          <a:bodyPr wrap="square" rtlCol="0">
            <a:spAutoFit/>
          </a:bodyPr>
          <a:lstStyle/>
          <a:p>
            <a:r>
              <a:rPr lang="en-US" altLang="zh-CN" sz="2800"/>
              <a:t>Example</a:t>
            </a:r>
            <a:r>
              <a:rPr lang="zh-CN" altLang="en-US" sz="2800"/>
              <a:t>：粽子</a:t>
            </a:r>
            <a:r>
              <a:rPr lang="en-US" altLang="zh-CN" sz="2800"/>
              <a:t>(Zongzi)</a:t>
            </a:r>
          </a:p>
          <a:p>
            <a:r>
              <a:rPr lang="en-US" altLang="zh-CN" sz="2800" b="0"/>
              <a:t>The symmetry is higher. All the  three axes of regular tetrahedron(</a:t>
            </a:r>
            <a:r>
              <a:rPr lang="zh-CN" altLang="en-US" sz="2800" b="0"/>
              <a:t>正四面体</a:t>
            </a:r>
            <a:r>
              <a:rPr lang="en-US" altLang="zh-CN" sz="2800" b="0"/>
              <a:t>) are all </a:t>
            </a:r>
            <a:r>
              <a:rPr lang="en-US" altLang="zh-CN" sz="2800" b="0" i="1">
                <a:solidFill>
                  <a:srgbClr val="FF0066"/>
                </a:solidFill>
                <a:sym typeface="Symbol" pitchFamily="18" charset="2"/>
              </a:rPr>
              <a:t>L</a:t>
            </a:r>
            <a:r>
              <a:rPr lang="en-US" altLang="zh-CN" sz="2800" b="0" i="1" baseline="-25000">
                <a:solidFill>
                  <a:srgbClr val="FF0066"/>
                </a:solidFill>
                <a:sym typeface="Symbol" pitchFamily="18" charset="2"/>
              </a:rPr>
              <a:t>i</a:t>
            </a:r>
            <a:r>
              <a:rPr lang="en-US" altLang="zh-CN" sz="2800" b="0" i="1" baseline="30000">
                <a:solidFill>
                  <a:srgbClr val="FF0066"/>
                </a:solidFill>
                <a:sym typeface="Symbol" pitchFamily="18" charset="2"/>
              </a:rPr>
              <a:t>4</a:t>
            </a:r>
            <a:endParaRPr lang="zh-CN" altLang="en-US" sz="2800" b="0"/>
          </a:p>
        </p:txBody>
      </p:sp>
      <p:grpSp>
        <p:nvGrpSpPr>
          <p:cNvPr id="29" name="Group 28"/>
          <p:cNvGrpSpPr/>
          <p:nvPr/>
        </p:nvGrpSpPr>
        <p:grpSpPr>
          <a:xfrm rot="18822683">
            <a:off x="5450684" y="935945"/>
            <a:ext cx="2232248" cy="2583794"/>
            <a:chOff x="899592" y="1196752"/>
            <a:chExt cx="2232248" cy="2583794"/>
          </a:xfrm>
        </p:grpSpPr>
        <p:cxnSp>
          <p:nvCxnSpPr>
            <p:cNvPr id="4" name="Straight Connector 3"/>
            <p:cNvCxnSpPr/>
            <p:nvPr/>
          </p:nvCxnSpPr>
          <p:spPr bwMode="auto">
            <a:xfrm>
              <a:off x="1547664" y="1196752"/>
              <a:ext cx="1584176" cy="180020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15"/>
            <p:cNvCxnSpPr/>
            <p:nvPr/>
          </p:nvCxnSpPr>
          <p:spPr bwMode="auto">
            <a:xfrm flipH="1">
              <a:off x="899592" y="1196752"/>
              <a:ext cx="648072" cy="1583255"/>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Straight Connector 17"/>
            <p:cNvCxnSpPr/>
            <p:nvPr/>
          </p:nvCxnSpPr>
          <p:spPr bwMode="auto">
            <a:xfrm flipH="1">
              <a:off x="1483018" y="1196752"/>
              <a:ext cx="64646" cy="2583793"/>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Straight Connector 20"/>
            <p:cNvCxnSpPr/>
            <p:nvPr/>
          </p:nvCxnSpPr>
          <p:spPr bwMode="auto">
            <a:xfrm flipH="1">
              <a:off x="1483018" y="2996952"/>
              <a:ext cx="1648822" cy="783593"/>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flipH="1" flipV="1">
              <a:off x="899592" y="2780007"/>
              <a:ext cx="2232248" cy="216945"/>
            </a:xfrm>
            <a:prstGeom prst="line">
              <a:avLst/>
            </a:prstGeom>
            <a:solidFill>
              <a:schemeClr val="accent1"/>
            </a:solidFill>
            <a:ln w="28575" cap="flat" cmpd="sng" algn="ctr">
              <a:solidFill>
                <a:srgbClr val="FF000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p:nvPr/>
          </p:nvCxnSpPr>
          <p:spPr bwMode="auto">
            <a:xfrm flipH="1" flipV="1">
              <a:off x="899592" y="2780007"/>
              <a:ext cx="583426" cy="1000539"/>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3" name="Group 32"/>
          <p:cNvGrpSpPr/>
          <p:nvPr/>
        </p:nvGrpSpPr>
        <p:grpSpPr>
          <a:xfrm>
            <a:off x="922644" y="1210078"/>
            <a:ext cx="2232248" cy="2583794"/>
            <a:chOff x="899592" y="1196752"/>
            <a:chExt cx="2232248" cy="2583794"/>
          </a:xfrm>
        </p:grpSpPr>
        <p:cxnSp>
          <p:nvCxnSpPr>
            <p:cNvPr id="34" name="Straight Connector 33"/>
            <p:cNvCxnSpPr/>
            <p:nvPr/>
          </p:nvCxnSpPr>
          <p:spPr bwMode="auto">
            <a:xfrm>
              <a:off x="1547664" y="1196752"/>
              <a:ext cx="1584176" cy="180020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34"/>
            <p:cNvCxnSpPr/>
            <p:nvPr/>
          </p:nvCxnSpPr>
          <p:spPr bwMode="auto">
            <a:xfrm flipH="1">
              <a:off x="899592" y="1196752"/>
              <a:ext cx="648072" cy="1583255"/>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p:cNvCxnSpPr/>
            <p:nvPr/>
          </p:nvCxnSpPr>
          <p:spPr bwMode="auto">
            <a:xfrm flipH="1">
              <a:off x="1483018" y="1196752"/>
              <a:ext cx="64646" cy="2583793"/>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Connector 36"/>
            <p:cNvCxnSpPr/>
            <p:nvPr/>
          </p:nvCxnSpPr>
          <p:spPr bwMode="auto">
            <a:xfrm flipH="1">
              <a:off x="1483018" y="2996952"/>
              <a:ext cx="1648822" cy="783593"/>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Connector 37"/>
            <p:cNvCxnSpPr/>
            <p:nvPr/>
          </p:nvCxnSpPr>
          <p:spPr bwMode="auto">
            <a:xfrm flipH="1" flipV="1">
              <a:off x="899592" y="2780007"/>
              <a:ext cx="2232248" cy="216945"/>
            </a:xfrm>
            <a:prstGeom prst="line">
              <a:avLst/>
            </a:prstGeom>
            <a:solidFill>
              <a:schemeClr val="accent1"/>
            </a:solidFill>
            <a:ln w="28575" cap="flat" cmpd="sng" algn="ctr">
              <a:solidFill>
                <a:srgbClr val="FF000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Straight Connector 38"/>
            <p:cNvCxnSpPr/>
            <p:nvPr/>
          </p:nvCxnSpPr>
          <p:spPr bwMode="auto">
            <a:xfrm flipH="1" flipV="1">
              <a:off x="899592" y="2780007"/>
              <a:ext cx="583426" cy="1000539"/>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986540671"/>
      </p:ext>
    </p:extLst>
  </p:cSld>
  <p:clrMapOvr>
    <a:masterClrMapping/>
  </p:clrMapOvr>
  <p:transition spd="med">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title"/>
          </p:nvPr>
        </p:nvSpPr>
        <p:spPr>
          <a:xfrm>
            <a:off x="252090" y="658083"/>
            <a:ext cx="8424986" cy="800100"/>
          </a:xfrm>
          <a:noFill/>
        </p:spPr>
        <p:txBody>
          <a:bodyPr anchor="b"/>
          <a:lstStyle/>
          <a:p>
            <a:pPr algn="l" eaLnBrk="1" hangingPunct="1"/>
            <a:r>
              <a:rPr lang="en-US" altLang="zh-CN" sz="3200" b="1">
                <a:solidFill>
                  <a:schemeClr val="accent2"/>
                </a:solidFill>
              </a:rPr>
              <a:t>Combination of symmetry elements</a:t>
            </a:r>
            <a:endParaRPr lang="zh-CN" altLang="zh-CN" sz="3200" b="1">
              <a:solidFill>
                <a:schemeClr val="accent2"/>
              </a:solidFill>
            </a:endParaRPr>
          </a:p>
        </p:txBody>
      </p:sp>
      <p:sp>
        <p:nvSpPr>
          <p:cNvPr id="41987"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88"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pic>
        <p:nvPicPr>
          <p:cNvPr id="41989" name="Picture 7" descr="Li3+P"/>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61005" y="3141663"/>
            <a:ext cx="3167063" cy="316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Text Box 8"/>
          <p:cNvSpPr txBox="1">
            <a:spLocks noChangeArrowheads="1"/>
          </p:cNvSpPr>
          <p:nvPr/>
        </p:nvSpPr>
        <p:spPr bwMode="auto">
          <a:xfrm>
            <a:off x="378100" y="1628800"/>
            <a:ext cx="657016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a:solidFill>
                  <a:srgbClr val="FF0066"/>
                </a:solidFill>
              </a:rPr>
              <a:t>Example</a:t>
            </a:r>
            <a:r>
              <a:rPr lang="zh-CN" altLang="en-US" sz="2400" dirty="0">
                <a:solidFill>
                  <a:srgbClr val="FF0066"/>
                </a:solidFill>
              </a:rPr>
              <a:t>：</a:t>
            </a:r>
            <a:r>
              <a:rPr lang="en-US" altLang="zh-CN" sz="2400" dirty="0">
                <a:solidFill>
                  <a:srgbClr val="FF0066"/>
                </a:solidFill>
              </a:rPr>
              <a:t>ditrigonal scalenohedron (</a:t>
            </a:r>
            <a:r>
              <a:rPr lang="zh-CN" altLang="en-US" sz="2400" dirty="0">
                <a:solidFill>
                  <a:srgbClr val="FF0066"/>
                </a:solidFill>
              </a:rPr>
              <a:t>复三方偏三角面体</a:t>
            </a:r>
            <a:r>
              <a:rPr lang="en-US" altLang="zh-CN" sz="2400" dirty="0">
                <a:solidFill>
                  <a:srgbClr val="FF0066"/>
                </a:solidFill>
              </a:rPr>
              <a:t>)</a:t>
            </a:r>
            <a:endParaRPr lang="zh-CN" altLang="en-US" sz="2400" dirty="0">
              <a:solidFill>
                <a:srgbClr val="FF0066"/>
              </a:solidFill>
            </a:endParaRPr>
          </a:p>
          <a:p>
            <a:pPr algn="ctr" eaLnBrk="1" hangingPunct="1">
              <a:spcBef>
                <a:spcPct val="50000"/>
              </a:spcBef>
              <a:buFontTx/>
              <a:buNone/>
            </a:pPr>
            <a:r>
              <a:rPr lang="zh-CN" altLang="en-US" sz="2800" i="1" dirty="0">
                <a:solidFill>
                  <a:srgbClr val="FF0066"/>
                </a:solidFill>
                <a:sym typeface="Symbol" pitchFamily="18" charset="2"/>
              </a:rPr>
              <a:t> </a:t>
            </a:r>
            <a:r>
              <a:rPr lang="en-US" altLang="zh-CN" sz="2800" i="1" dirty="0">
                <a:sym typeface="Symbol" pitchFamily="18" charset="2"/>
              </a:rPr>
              <a:t>L</a:t>
            </a:r>
            <a:r>
              <a:rPr lang="en-US" altLang="zh-CN" sz="2800" i="1" baseline="-25000" dirty="0">
                <a:sym typeface="Symbol" pitchFamily="18" charset="2"/>
              </a:rPr>
              <a:t>i</a:t>
            </a:r>
            <a:r>
              <a:rPr lang="en-US" altLang="zh-CN" sz="2800" i="1" baseline="30000" dirty="0">
                <a:sym typeface="Symbol" pitchFamily="18" charset="2"/>
              </a:rPr>
              <a:t>3</a:t>
            </a:r>
            <a:r>
              <a:rPr lang="en-US" altLang="zh-CN" sz="2800" i="1" dirty="0">
                <a:sym typeface="Symbol" pitchFamily="18" charset="2"/>
              </a:rPr>
              <a:t>  P</a:t>
            </a:r>
            <a:r>
              <a:rPr lang="en-US" altLang="zh-CN" sz="2800" i="1" baseline="-25000" dirty="0">
                <a:sym typeface="Symbol" pitchFamily="18" charset="2"/>
              </a:rPr>
              <a:t>//</a:t>
            </a:r>
            <a:r>
              <a:rPr lang="zh-CN" altLang="en-US" sz="2800" i="1" dirty="0">
                <a:solidFill>
                  <a:srgbClr val="FF0066"/>
                </a:solidFill>
                <a:sym typeface="Symbol" pitchFamily="18" charset="2"/>
              </a:rPr>
              <a:t> </a:t>
            </a:r>
            <a:r>
              <a:rPr lang="en-US" altLang="zh-CN" sz="2800" i="1" dirty="0">
                <a:sym typeface="Symbol" pitchFamily="18" charset="2"/>
              </a:rPr>
              <a:t> </a:t>
            </a:r>
            <a:r>
              <a:rPr lang="en-US" altLang="zh-CN" sz="2800" i="1" dirty="0">
                <a:solidFill>
                  <a:srgbClr val="FF0066"/>
                </a:solidFill>
                <a:sym typeface="Symbol" pitchFamily="18" charset="2"/>
              </a:rPr>
              <a:t>L</a:t>
            </a:r>
            <a:r>
              <a:rPr lang="en-US" altLang="zh-CN" sz="2800" i="1" baseline="-25000" dirty="0">
                <a:solidFill>
                  <a:srgbClr val="FF0066"/>
                </a:solidFill>
                <a:sym typeface="Symbol" pitchFamily="18" charset="2"/>
              </a:rPr>
              <a:t>i</a:t>
            </a:r>
            <a:r>
              <a:rPr lang="en-US" altLang="zh-CN" sz="2800" i="1" baseline="30000" dirty="0">
                <a:solidFill>
                  <a:srgbClr val="FF0066"/>
                </a:solidFill>
                <a:sym typeface="Symbol" pitchFamily="18" charset="2"/>
              </a:rPr>
              <a:t>3</a:t>
            </a:r>
            <a:r>
              <a:rPr lang="en-US" altLang="zh-CN" sz="2800" i="1" dirty="0">
                <a:solidFill>
                  <a:srgbClr val="FF0066"/>
                </a:solidFill>
                <a:sym typeface="Symbol" pitchFamily="18" charset="2"/>
              </a:rPr>
              <a:t>3L</a:t>
            </a:r>
            <a:r>
              <a:rPr lang="en-US" altLang="zh-CN" sz="2800" i="1" baseline="30000" dirty="0">
                <a:solidFill>
                  <a:srgbClr val="FF0066"/>
                </a:solidFill>
                <a:sym typeface="Symbol" pitchFamily="18" charset="2"/>
              </a:rPr>
              <a:t>2</a:t>
            </a:r>
            <a:r>
              <a:rPr lang="en-US" altLang="zh-CN" sz="2800" i="1" dirty="0">
                <a:solidFill>
                  <a:srgbClr val="FF0066"/>
                </a:solidFill>
                <a:sym typeface="Symbol" pitchFamily="18" charset="2"/>
              </a:rPr>
              <a:t> 3P</a:t>
            </a:r>
          </a:p>
        </p:txBody>
      </p:sp>
      <p:pic>
        <p:nvPicPr>
          <p:cNvPr id="41991" name="Picture 7"/>
          <p:cNvPicPr>
            <a:picLocks noChangeAspect="1" noChangeArrowheads="1"/>
          </p:cNvPicPr>
          <p:nvPr/>
        </p:nvPicPr>
        <p:blipFill>
          <a:blip r:embed="rId4">
            <a:extLst>
              <a:ext uri="{28A0092B-C50C-407E-A947-70E740481C1C}">
                <a14:useLocalDpi xmlns:a14="http://schemas.microsoft.com/office/drawing/2010/main" val="0"/>
              </a:ext>
            </a:extLst>
          </a:blip>
          <a:srcRect r="56335"/>
          <a:stretch>
            <a:fillRect/>
          </a:stretch>
        </p:blipFill>
        <p:spPr bwMode="auto">
          <a:xfrm>
            <a:off x="7236296" y="1124744"/>
            <a:ext cx="1440780" cy="26770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3928" y="3176461"/>
            <a:ext cx="3118112" cy="3132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51520" y="6351711"/>
            <a:ext cx="8307980" cy="461665"/>
          </a:xfrm>
          <a:prstGeom prst="rect">
            <a:avLst/>
          </a:prstGeom>
          <a:noFill/>
        </p:spPr>
        <p:txBody>
          <a:bodyPr wrap="none" rtlCol="0">
            <a:spAutoFit/>
          </a:bodyPr>
          <a:lstStyle/>
          <a:p>
            <a:r>
              <a:rPr lang="en-US" altLang="zh-CN" sz="2400"/>
              <a:t>Exercise</a:t>
            </a:r>
            <a:r>
              <a:rPr lang="zh-CN" altLang="en-US" sz="2400"/>
              <a:t>：</a:t>
            </a:r>
            <a:r>
              <a:rPr lang="en-US" altLang="zh-CN" sz="2400"/>
              <a:t>to build up a paper model of the above polyhedron.</a:t>
            </a:r>
            <a:endParaRPr lang="en-US" sz="2400"/>
          </a:p>
        </p:txBody>
      </p:sp>
    </p:spTree>
  </p:cSld>
  <p:clrMapOvr>
    <a:masterClrMapping/>
  </p:clrMapOvr>
  <p:transition spd="med">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762000" y="458788"/>
            <a:ext cx="7914456" cy="882650"/>
          </a:xfrm>
        </p:spPr>
        <p:txBody>
          <a:bodyPr/>
          <a:lstStyle/>
          <a:p>
            <a:pPr eaLnBrk="1" hangingPunct="1">
              <a:defRPr/>
            </a:pPr>
            <a:r>
              <a:rPr lang="en-US" altLang="zh-CN" sz="2800" b="1">
                <a:solidFill>
                  <a:schemeClr val="accent2"/>
                </a:solidFill>
                <a:latin typeface="+mn-lt"/>
              </a:rPr>
              <a:t>5. 32 classes of symmetry and their derivations</a:t>
            </a:r>
            <a:endParaRPr lang="zh-CN" altLang="en-US" sz="2800" b="1">
              <a:solidFill>
                <a:schemeClr val="accent2"/>
              </a:solidFill>
              <a:latin typeface="+mn-lt"/>
            </a:endParaRPr>
          </a:p>
        </p:txBody>
      </p:sp>
      <p:sp>
        <p:nvSpPr>
          <p:cNvPr id="43011" name="Rectangle 3"/>
          <p:cNvSpPr>
            <a:spLocks noGrp="1" noChangeArrowheads="1"/>
          </p:cNvSpPr>
          <p:nvPr>
            <p:ph type="subTitle" idx="1"/>
          </p:nvPr>
        </p:nvSpPr>
        <p:spPr>
          <a:xfrm>
            <a:off x="755576" y="1700808"/>
            <a:ext cx="7920037" cy="3528392"/>
          </a:xfrm>
        </p:spPr>
        <p:txBody>
          <a:bodyPr/>
          <a:lstStyle/>
          <a:p>
            <a:pPr algn="just" eaLnBrk="1" hangingPunct="1">
              <a:lnSpc>
                <a:spcPct val="150000"/>
              </a:lnSpc>
              <a:defRPr/>
            </a:pPr>
            <a:r>
              <a:rPr lang="en-US" altLang="zh-CN" sz="2800">
                <a:ea typeface="隶书" pitchFamily="49" charset="-122"/>
              </a:rPr>
              <a:t>    All the </a:t>
            </a:r>
            <a:r>
              <a:rPr lang="en-US" altLang="zh-CN" sz="2800">
                <a:solidFill>
                  <a:srgbClr val="FF0000"/>
                </a:solidFill>
                <a:ea typeface="隶书" pitchFamily="49" charset="-122"/>
              </a:rPr>
              <a:t>combination of symmetry elements </a:t>
            </a:r>
            <a:r>
              <a:rPr lang="en-US" altLang="zh-CN" sz="2800">
                <a:ea typeface="隶书" pitchFamily="49" charset="-122"/>
              </a:rPr>
              <a:t>are called </a:t>
            </a:r>
            <a:r>
              <a:rPr lang="en-US" altLang="zh-CN" sz="2800">
                <a:solidFill>
                  <a:srgbClr val="FF0000"/>
                </a:solidFill>
                <a:ea typeface="隶书" pitchFamily="49" charset="-122"/>
              </a:rPr>
              <a:t>class of symmetry </a:t>
            </a:r>
            <a:r>
              <a:rPr lang="en-US" altLang="zh-CN" sz="2800">
                <a:ea typeface="隶书" pitchFamily="49" charset="-122"/>
              </a:rPr>
              <a:t>or </a:t>
            </a:r>
            <a:r>
              <a:rPr lang="en-US" altLang="zh-CN" sz="2800">
                <a:solidFill>
                  <a:srgbClr val="FF0000"/>
                </a:solidFill>
                <a:ea typeface="隶书" pitchFamily="49" charset="-122"/>
              </a:rPr>
              <a:t>point group</a:t>
            </a:r>
            <a:r>
              <a:rPr lang="en-US" altLang="zh-CN" sz="2800">
                <a:ea typeface="隶书" pitchFamily="49" charset="-122"/>
              </a:rPr>
              <a:t>. </a:t>
            </a:r>
          </a:p>
          <a:p>
            <a:pPr algn="just" eaLnBrk="1" hangingPunct="1">
              <a:lnSpc>
                <a:spcPct val="150000"/>
              </a:lnSpc>
              <a:defRPr/>
            </a:pPr>
            <a:r>
              <a:rPr lang="en-US" altLang="zh-CN" sz="2800">
                <a:ea typeface="隶书" pitchFamily="49" charset="-122"/>
              </a:rPr>
              <a:t>    Generally, it is called </a:t>
            </a:r>
            <a:r>
              <a:rPr lang="en-US" altLang="zh-CN" sz="2800" b="1">
                <a:solidFill>
                  <a:srgbClr val="FF0000"/>
                </a:solidFill>
                <a:ea typeface="隶书" pitchFamily="49" charset="-122"/>
              </a:rPr>
              <a:t>class of symmetry </a:t>
            </a:r>
            <a:r>
              <a:rPr lang="en-US" altLang="zh-CN" sz="2800">
                <a:ea typeface="隶书" pitchFamily="49" charset="-122"/>
              </a:rPr>
              <a:t>when it emphasizes </a:t>
            </a:r>
            <a:r>
              <a:rPr lang="en-US" altLang="zh-CN" sz="2800">
                <a:solidFill>
                  <a:srgbClr val="FF0000"/>
                </a:solidFill>
                <a:ea typeface="隶书" pitchFamily="49" charset="-122"/>
              </a:rPr>
              <a:t>symmetry element</a:t>
            </a:r>
            <a:r>
              <a:rPr lang="en-US" altLang="zh-CN" sz="2800">
                <a:ea typeface="隶书" pitchFamily="49" charset="-122"/>
              </a:rPr>
              <a:t>, and called </a:t>
            </a:r>
            <a:r>
              <a:rPr lang="en-US" altLang="zh-CN" sz="2800" b="1">
                <a:solidFill>
                  <a:srgbClr val="FF0000"/>
                </a:solidFill>
                <a:ea typeface="隶书" pitchFamily="49" charset="-122"/>
              </a:rPr>
              <a:t>point group </a:t>
            </a:r>
            <a:r>
              <a:rPr lang="en-US" altLang="zh-CN" sz="2800">
                <a:ea typeface="隶书" pitchFamily="49" charset="-122"/>
              </a:rPr>
              <a:t>when emphasizes </a:t>
            </a:r>
            <a:r>
              <a:rPr lang="en-US" altLang="zh-CN" sz="2800">
                <a:solidFill>
                  <a:srgbClr val="FF0000"/>
                </a:solidFill>
                <a:ea typeface="隶书" pitchFamily="49" charset="-122"/>
              </a:rPr>
              <a:t>symmetry operation</a:t>
            </a:r>
            <a:r>
              <a:rPr lang="en-US" altLang="zh-CN" sz="2800">
                <a:ea typeface="隶书" pitchFamily="49" charset="-122"/>
              </a:rPr>
              <a:t>.</a:t>
            </a:r>
            <a:r>
              <a:rPr lang="zh-CN" altLang="en-US" sz="2800">
                <a:ea typeface="隶书" pitchFamily="49" charset="-122"/>
              </a:rPr>
              <a:t> </a:t>
            </a:r>
            <a:endParaRPr lang="en-US" altLang="zh-CN" sz="2800">
              <a:ea typeface="隶书" pitchFamily="49" charset="-122"/>
            </a:endParaRPr>
          </a:p>
        </p:txBody>
      </p:sp>
    </p:spTree>
    <p:extLst>
      <p:ext uri="{BB962C8B-B14F-4D97-AF65-F5344CB8AC3E}">
        <p14:creationId xmlns:p14="http://schemas.microsoft.com/office/powerpoint/2010/main" val="864009538"/>
      </p:ext>
    </p:extLst>
  </p:cSld>
  <p:clrMapOvr>
    <a:masterClrMapping/>
  </p:clrMapOvr>
  <p:transition spd="med">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762000" y="458788"/>
            <a:ext cx="7914456" cy="882650"/>
          </a:xfrm>
        </p:spPr>
        <p:txBody>
          <a:bodyPr/>
          <a:lstStyle/>
          <a:p>
            <a:pPr eaLnBrk="1" hangingPunct="1">
              <a:defRPr/>
            </a:pPr>
            <a:r>
              <a:rPr lang="en-US" altLang="zh-CN" sz="2800" b="1">
                <a:solidFill>
                  <a:schemeClr val="accent2"/>
                </a:solidFill>
                <a:latin typeface="+mn-lt"/>
              </a:rPr>
              <a:t>5. 32 classes of symmetry and their derivations</a:t>
            </a:r>
            <a:endParaRPr lang="zh-CN" altLang="en-US" sz="2800" b="1">
              <a:solidFill>
                <a:schemeClr val="accent2"/>
              </a:solidFill>
              <a:latin typeface="+mn-lt"/>
            </a:endParaRPr>
          </a:p>
        </p:txBody>
      </p:sp>
      <p:sp>
        <p:nvSpPr>
          <p:cNvPr id="43011" name="Rectangle 3"/>
          <p:cNvSpPr>
            <a:spLocks noGrp="1" noChangeArrowheads="1"/>
          </p:cNvSpPr>
          <p:nvPr>
            <p:ph type="subTitle" idx="1"/>
          </p:nvPr>
        </p:nvSpPr>
        <p:spPr>
          <a:xfrm>
            <a:off x="755576" y="1412776"/>
            <a:ext cx="7920037" cy="5057775"/>
          </a:xfrm>
        </p:spPr>
        <p:txBody>
          <a:bodyPr/>
          <a:lstStyle/>
          <a:p>
            <a:pPr algn="just" eaLnBrk="1" hangingPunct="1">
              <a:lnSpc>
                <a:spcPct val="90000"/>
              </a:lnSpc>
              <a:defRPr/>
            </a:pPr>
            <a:r>
              <a:rPr lang="en-US" altLang="zh-CN" sz="2800" b="1">
                <a:solidFill>
                  <a:schemeClr val="accent2"/>
                </a:solidFill>
                <a:ea typeface="隶书" pitchFamily="49" charset="-122"/>
              </a:rPr>
              <a:t>Why called point group? </a:t>
            </a:r>
          </a:p>
          <a:p>
            <a:pPr algn="just" eaLnBrk="1" hangingPunct="1">
              <a:lnSpc>
                <a:spcPct val="150000"/>
              </a:lnSpc>
              <a:defRPr/>
            </a:pPr>
            <a:r>
              <a:rPr lang="en-US" altLang="zh-CN" sz="2600">
                <a:ea typeface="隶书" pitchFamily="49" charset="-122"/>
              </a:rPr>
              <a:t>Because every symmetry element intersect at the crystal center, and </a:t>
            </a:r>
            <a:r>
              <a:rPr lang="en-US" altLang="zh-CN" sz="2600">
                <a:solidFill>
                  <a:srgbClr val="FF0000"/>
                </a:solidFill>
                <a:ea typeface="隶书" pitchFamily="49" charset="-122"/>
              </a:rPr>
              <a:t>the center does not move when carrying out symmetry operation</a:t>
            </a:r>
            <a:r>
              <a:rPr lang="en-US" altLang="zh-CN" sz="2600">
                <a:ea typeface="隶书" pitchFamily="49" charset="-122"/>
              </a:rPr>
              <a:t>. All the operations could form a group which agrees well with the concept of group in math, so it is called </a:t>
            </a:r>
            <a:r>
              <a:rPr lang="en-US" altLang="zh-CN" sz="2600" b="1">
                <a:ea typeface="隶书" pitchFamily="49" charset="-122"/>
              </a:rPr>
              <a:t>point group</a:t>
            </a:r>
            <a:r>
              <a:rPr lang="en-US" altLang="zh-CN" sz="2600">
                <a:ea typeface="隶书" pitchFamily="49" charset="-122"/>
              </a:rPr>
              <a:t>.</a:t>
            </a:r>
            <a:r>
              <a:rPr lang="zh-CN" altLang="en-US" sz="2600">
                <a:ea typeface="隶书" pitchFamily="49" charset="-122"/>
              </a:rPr>
              <a:t> </a:t>
            </a:r>
            <a:r>
              <a:rPr lang="en-US" altLang="zh-CN" sz="2600"/>
              <a:t>The possible class of symmetry(point group) is only 32. </a:t>
            </a:r>
          </a:p>
          <a:p>
            <a:pPr algn="just" eaLnBrk="1" hangingPunct="1">
              <a:lnSpc>
                <a:spcPct val="150000"/>
              </a:lnSpc>
              <a:defRPr/>
            </a:pPr>
            <a:r>
              <a:rPr lang="en-US" altLang="zh-CN" sz="2600">
                <a:solidFill>
                  <a:srgbClr val="FF0000"/>
                </a:solidFill>
              </a:rPr>
              <a:t>How are these 32 classes of symmetry derived?</a:t>
            </a:r>
            <a:endParaRPr lang="zh-CN" altLang="en-US" sz="2600">
              <a:solidFill>
                <a:srgbClr val="FF0000"/>
              </a:solidFill>
              <a:ea typeface="隶书" pitchFamily="49" charset="-122"/>
            </a:endParaRPr>
          </a:p>
        </p:txBody>
      </p:sp>
    </p:spTree>
    <p:extLst>
      <p:ext uri="{BB962C8B-B14F-4D97-AF65-F5344CB8AC3E}">
        <p14:creationId xmlns:p14="http://schemas.microsoft.com/office/powerpoint/2010/main" val="2408791962"/>
      </p:ext>
    </p:extLst>
  </p:cSld>
  <p:clrMapOvr>
    <a:masterClrMapping/>
  </p:clrMapOvr>
  <p:transition spd="med">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721804" y="40639"/>
            <a:ext cx="7772400" cy="882650"/>
          </a:xfrm>
        </p:spPr>
        <p:txBody>
          <a:bodyPr/>
          <a:lstStyle/>
          <a:p>
            <a:pPr eaLnBrk="1" hangingPunct="1">
              <a:defRPr/>
            </a:pPr>
            <a:r>
              <a:rPr lang="en-US" altLang="zh-CN" b="1">
                <a:solidFill>
                  <a:srgbClr val="FF0000"/>
                </a:solidFill>
                <a:latin typeface="+mn-lt"/>
              </a:rPr>
              <a:t>Group</a:t>
            </a:r>
            <a:endParaRPr lang="zh-CN" altLang="en-US" b="1">
              <a:solidFill>
                <a:srgbClr val="FF0000"/>
              </a:solidFill>
              <a:latin typeface="+mn-lt"/>
            </a:endParaRPr>
          </a:p>
        </p:txBody>
      </p:sp>
      <p:sp>
        <p:nvSpPr>
          <p:cNvPr id="43011" name="Rectangle 3"/>
          <p:cNvSpPr>
            <a:spLocks noGrp="1" noChangeArrowheads="1"/>
          </p:cNvSpPr>
          <p:nvPr>
            <p:ph type="subTitle" idx="1"/>
          </p:nvPr>
        </p:nvSpPr>
        <p:spPr>
          <a:xfrm>
            <a:off x="330186" y="1196753"/>
            <a:ext cx="8416940" cy="4824636"/>
          </a:xfrm>
        </p:spPr>
        <p:txBody>
          <a:bodyPr/>
          <a:lstStyle/>
          <a:p>
            <a:pPr algn="l" eaLnBrk="1" hangingPunct="1">
              <a:lnSpc>
                <a:spcPct val="90000"/>
              </a:lnSpc>
              <a:defRPr/>
            </a:pPr>
            <a:r>
              <a:rPr lang="en-US" altLang="zh-CN" sz="2800" b="1">
                <a:latin typeface="隶书" pitchFamily="49" charset="-122"/>
                <a:ea typeface="隶书" pitchFamily="49" charset="-122"/>
              </a:rPr>
              <a:t>  </a:t>
            </a:r>
            <a:r>
              <a:rPr lang="zh-CN" altLang="en-US" sz="2800" b="1">
                <a:solidFill>
                  <a:srgbClr val="FF9933"/>
                </a:solidFill>
                <a:latin typeface="隶书" pitchFamily="49" charset="-122"/>
                <a:ea typeface="隶书" pitchFamily="49" charset="-122"/>
              </a:rPr>
              <a:t> </a:t>
            </a:r>
          </a:p>
        </p:txBody>
      </p:sp>
      <p:sp>
        <p:nvSpPr>
          <p:cNvPr id="2" name="TextBox 1"/>
          <p:cNvSpPr txBox="1"/>
          <p:nvPr/>
        </p:nvSpPr>
        <p:spPr>
          <a:xfrm>
            <a:off x="330185" y="1484784"/>
            <a:ext cx="8568952" cy="3970318"/>
          </a:xfrm>
          <a:prstGeom prst="rect">
            <a:avLst/>
          </a:prstGeom>
          <a:noFill/>
        </p:spPr>
        <p:txBody>
          <a:bodyPr wrap="square" rtlCol="0">
            <a:spAutoFit/>
          </a:bodyPr>
          <a:lstStyle/>
          <a:p>
            <a:r>
              <a:rPr lang="en-US" altLang="zh-CN" sz="2800"/>
              <a:t>Group</a:t>
            </a:r>
            <a:r>
              <a:rPr lang="zh-CN" altLang="en-US" sz="2800"/>
              <a:t>：</a:t>
            </a:r>
            <a:r>
              <a:rPr lang="en-US" altLang="zh-CN" sz="2800" b="0"/>
              <a:t>a</a:t>
            </a:r>
            <a:r>
              <a:rPr lang="en-US" altLang="zh-CN" sz="2800"/>
              <a:t> </a:t>
            </a:r>
            <a:r>
              <a:rPr lang="en-US" altLang="zh-CN" sz="2800" b="0"/>
              <a:t>math concept; a set and an operation on it to form a group.</a:t>
            </a:r>
          </a:p>
          <a:p>
            <a:endParaRPr lang="en-US" altLang="zh-CN" sz="2800" b="0"/>
          </a:p>
          <a:p>
            <a:r>
              <a:rPr lang="en-US" altLang="zh-CN" sz="2400" b="0"/>
              <a:t>Group requires the </a:t>
            </a:r>
            <a:r>
              <a:rPr lang="en-US" altLang="zh-CN" sz="2400">
                <a:solidFill>
                  <a:srgbClr val="FF0000"/>
                </a:solidFill>
              </a:rPr>
              <a:t>closure</a:t>
            </a:r>
            <a:r>
              <a:rPr lang="en-US" altLang="zh-CN" sz="2400" b="0"/>
              <a:t>, the existence of </a:t>
            </a:r>
            <a:r>
              <a:rPr lang="en-US" altLang="zh-CN" sz="2400">
                <a:solidFill>
                  <a:srgbClr val="FF0000"/>
                </a:solidFill>
              </a:rPr>
              <a:t>unit elements</a:t>
            </a:r>
            <a:r>
              <a:rPr lang="en-US" altLang="zh-CN" sz="2400" b="0"/>
              <a:t>, the existence of </a:t>
            </a:r>
            <a:r>
              <a:rPr lang="en-US" altLang="zh-CN" sz="2400">
                <a:solidFill>
                  <a:srgbClr val="FF0000"/>
                </a:solidFill>
              </a:rPr>
              <a:t>inverse elements</a:t>
            </a:r>
            <a:r>
              <a:rPr lang="en-US" altLang="zh-CN" sz="2400" b="0"/>
              <a:t>, and </a:t>
            </a:r>
            <a:r>
              <a:rPr lang="en-US" altLang="zh-CN" sz="2400">
                <a:solidFill>
                  <a:srgbClr val="FF0000"/>
                </a:solidFill>
              </a:rPr>
              <a:t>the associative law</a:t>
            </a:r>
            <a:r>
              <a:rPr lang="en-US" altLang="zh-CN" sz="2400" b="0"/>
              <a:t>.</a:t>
            </a:r>
            <a:r>
              <a:rPr lang="zh-CN" altLang="en-US" sz="2400" b="0"/>
              <a:t> </a:t>
            </a:r>
            <a:endParaRPr lang="en-US" altLang="zh-CN" sz="2400" b="0"/>
          </a:p>
          <a:p>
            <a:endParaRPr lang="en-US" altLang="zh-CN" sz="2400" b="0"/>
          </a:p>
          <a:p>
            <a:r>
              <a:rPr lang="en-US" altLang="zh-CN" sz="2400" b="0"/>
              <a:t>Simply speaking, </a:t>
            </a:r>
            <a:r>
              <a:rPr lang="en-US" altLang="zh-CN" sz="2400">
                <a:solidFill>
                  <a:srgbClr val="FF0000"/>
                </a:solidFill>
              </a:rPr>
              <a:t>group is a set of elements </a:t>
            </a:r>
            <a:r>
              <a:rPr lang="en-US" altLang="zh-CN" sz="2400" b="0"/>
              <a:t>that are interrelated by a certain law. Group elements can be letters, numbers, etc.. </a:t>
            </a:r>
          </a:p>
          <a:p>
            <a:endParaRPr lang="en-US" altLang="zh-CN" sz="2400" b="0">
              <a:solidFill>
                <a:srgbClr val="FF0000"/>
              </a:solidFill>
            </a:endParaRPr>
          </a:p>
          <a:p>
            <a:r>
              <a:rPr lang="en-US" altLang="zh-CN" sz="2400">
                <a:solidFill>
                  <a:srgbClr val="FF0000"/>
                </a:solidFill>
              </a:rPr>
              <a:t>In crystal symmetry theory, elements are symmetry operations.</a:t>
            </a:r>
            <a:endParaRPr lang="en-US" altLang="en-US" sz="2400">
              <a:solidFill>
                <a:srgbClr val="FF0000"/>
              </a:solidFill>
            </a:endParaRPr>
          </a:p>
        </p:txBody>
      </p:sp>
      <p:sp>
        <p:nvSpPr>
          <p:cNvPr id="3" name="Rectangle 1">
            <a:extLst>
              <a:ext uri="{FF2B5EF4-FFF2-40B4-BE49-F238E27FC236}">
                <a16:creationId xmlns:a16="http://schemas.microsoft.com/office/drawing/2014/main" id="{87F029E7-B98D-4B60-84AE-F21025520699}"/>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7448692"/>
      </p:ext>
    </p:extLst>
  </p:cSld>
  <p:clrMapOvr>
    <a:masterClrMapping/>
  </p:clrMapOvr>
  <p:transition spd="med">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721804" y="40639"/>
            <a:ext cx="7772400" cy="882650"/>
          </a:xfrm>
        </p:spPr>
        <p:txBody>
          <a:bodyPr/>
          <a:lstStyle/>
          <a:p>
            <a:pPr eaLnBrk="1" hangingPunct="1">
              <a:defRPr/>
            </a:pPr>
            <a:r>
              <a:rPr lang="en-US" altLang="zh-CN" b="1">
                <a:solidFill>
                  <a:srgbClr val="FF0000"/>
                </a:solidFill>
                <a:latin typeface="+mn-lt"/>
              </a:rPr>
              <a:t>Group</a:t>
            </a:r>
            <a:endParaRPr lang="zh-CN" altLang="en-US" b="1">
              <a:solidFill>
                <a:srgbClr val="FF0000"/>
              </a:solidFill>
              <a:latin typeface="+mn-lt"/>
            </a:endParaRPr>
          </a:p>
        </p:txBody>
      </p:sp>
      <p:sp>
        <p:nvSpPr>
          <p:cNvPr id="43011" name="Rectangle 3"/>
          <p:cNvSpPr>
            <a:spLocks noGrp="1" noChangeArrowheads="1"/>
          </p:cNvSpPr>
          <p:nvPr>
            <p:ph type="subTitle" idx="1"/>
          </p:nvPr>
        </p:nvSpPr>
        <p:spPr>
          <a:xfrm>
            <a:off x="179512" y="1628801"/>
            <a:ext cx="8567613" cy="4392588"/>
          </a:xfrm>
        </p:spPr>
        <p:txBody>
          <a:bodyPr/>
          <a:lstStyle/>
          <a:p>
            <a:pPr algn="l" eaLnBrk="1" hangingPunct="1">
              <a:lnSpc>
                <a:spcPct val="90000"/>
              </a:lnSpc>
              <a:defRPr/>
            </a:pPr>
            <a:r>
              <a:rPr lang="en-US" altLang="zh-CN" sz="2800" b="1">
                <a:latin typeface="隶书" pitchFamily="49" charset="-122"/>
                <a:ea typeface="隶书" pitchFamily="49" charset="-122"/>
              </a:rPr>
              <a:t>  </a:t>
            </a:r>
            <a:r>
              <a:rPr lang="zh-CN" altLang="en-US" sz="2800" b="1">
                <a:solidFill>
                  <a:srgbClr val="FF9933"/>
                </a:solidFill>
                <a:latin typeface="隶书" pitchFamily="49" charset="-122"/>
                <a:ea typeface="隶书" pitchFamily="49" charset="-122"/>
              </a:rPr>
              <a:t> </a:t>
            </a:r>
          </a:p>
        </p:txBody>
      </p:sp>
      <p:sp>
        <p:nvSpPr>
          <p:cNvPr id="2" name="TextBox 1"/>
          <p:cNvSpPr txBox="1"/>
          <p:nvPr/>
        </p:nvSpPr>
        <p:spPr>
          <a:xfrm>
            <a:off x="323528" y="1268760"/>
            <a:ext cx="8568952" cy="4647426"/>
          </a:xfrm>
          <a:prstGeom prst="rect">
            <a:avLst/>
          </a:prstGeom>
          <a:noFill/>
        </p:spPr>
        <p:txBody>
          <a:bodyPr wrap="square" rtlCol="0">
            <a:spAutoFit/>
          </a:bodyPr>
          <a:lstStyle/>
          <a:p>
            <a:pPr algn="just"/>
            <a:r>
              <a:rPr lang="en-US" altLang="zh-CN" sz="2800"/>
              <a:t>Group operations:</a:t>
            </a:r>
          </a:p>
          <a:p>
            <a:pPr algn="just"/>
            <a:endParaRPr lang="en-US" altLang="zh-CN" sz="2400"/>
          </a:p>
          <a:p>
            <a:pPr algn="just"/>
            <a:r>
              <a:rPr lang="en-US" altLang="zh-CN" sz="2400" b="0"/>
              <a:t>Ⅰ. </a:t>
            </a:r>
            <a:r>
              <a:rPr lang="en-US" altLang="zh-CN" sz="2400">
                <a:solidFill>
                  <a:srgbClr val="FF0000"/>
                </a:solidFill>
              </a:rPr>
              <a:t>Associative law: </a:t>
            </a:r>
            <a:r>
              <a:rPr lang="en-US" altLang="zh-CN" sz="2400" b="0"/>
              <a:t>For any element </a:t>
            </a:r>
            <a:r>
              <a:rPr lang="en-US" altLang="en-US" sz="2400" b="0"/>
              <a:t>a, b, c in G,</a:t>
            </a:r>
            <a:r>
              <a:rPr lang="zh-CN" altLang="en-US" sz="2400" b="0"/>
              <a:t> </a:t>
            </a:r>
            <a:r>
              <a:rPr lang="en-US" altLang="zh-CN" sz="2400" b="0"/>
              <a:t>there is </a:t>
            </a:r>
            <a:r>
              <a:rPr lang="zh-CN" altLang="en-US" sz="2400" b="0"/>
              <a:t> </a:t>
            </a:r>
            <a:r>
              <a:rPr lang="en-US" altLang="zh-CN" sz="2400" b="0"/>
              <a:t>(</a:t>
            </a:r>
            <a:r>
              <a:rPr lang="en-US" altLang="en-US" sz="2400" b="0"/>
              <a:t>a*b)*c=a*(b*c)；</a:t>
            </a:r>
          </a:p>
          <a:p>
            <a:pPr algn="just"/>
            <a:endParaRPr lang="en-US" altLang="en-US" sz="2400" b="0"/>
          </a:p>
          <a:p>
            <a:pPr algn="just"/>
            <a:r>
              <a:rPr lang="en-US" altLang="en-US" sz="2400" b="0"/>
              <a:t>Ⅱ. There must be </a:t>
            </a:r>
            <a:r>
              <a:rPr lang="en-US" altLang="en-US" sz="2400">
                <a:solidFill>
                  <a:srgbClr val="FF0000"/>
                </a:solidFill>
              </a:rPr>
              <a:t>an element e</a:t>
            </a:r>
            <a:r>
              <a:rPr lang="en-US" altLang="en-US" sz="2400" b="0"/>
              <a:t>, which is called the left unit of  G. F</a:t>
            </a:r>
            <a:r>
              <a:rPr lang="en-US" altLang="zh-CN" sz="2400" b="0"/>
              <a:t>or every element </a:t>
            </a:r>
            <a:r>
              <a:rPr lang="en-US" altLang="en-US" sz="2400" b="0"/>
              <a:t>a </a:t>
            </a:r>
            <a:r>
              <a:rPr lang="en-US" altLang="zh-CN" sz="2400" b="0"/>
              <a:t>in G,</a:t>
            </a:r>
            <a:r>
              <a:rPr lang="zh-CN" altLang="en-US" sz="2400" b="0"/>
              <a:t> </a:t>
            </a:r>
            <a:r>
              <a:rPr lang="en-US" altLang="zh-CN" sz="2400" b="0"/>
              <a:t>there is</a:t>
            </a:r>
            <a:r>
              <a:rPr lang="zh-CN" altLang="en-US" sz="2400" b="0"/>
              <a:t> </a:t>
            </a:r>
            <a:r>
              <a:rPr lang="en-US" altLang="en-US" sz="2400" b="0"/>
              <a:t>e*a=a；</a:t>
            </a:r>
          </a:p>
          <a:p>
            <a:pPr algn="just"/>
            <a:endParaRPr lang="en-US" altLang="en-US" sz="2400" b="0"/>
          </a:p>
          <a:p>
            <a:pPr algn="just"/>
            <a:r>
              <a:rPr lang="en-US" altLang="en-US" sz="2400" b="0"/>
              <a:t>Ⅲ. For every element a in G, there is a^（-1），</a:t>
            </a:r>
            <a:r>
              <a:rPr lang="en-US" altLang="zh-CN" sz="2400" b="0"/>
              <a:t>called the </a:t>
            </a:r>
            <a:r>
              <a:rPr lang="en-US" altLang="zh-CN" sz="2400">
                <a:solidFill>
                  <a:srgbClr val="FF0000"/>
                </a:solidFill>
              </a:rPr>
              <a:t>left inverse element of </a:t>
            </a:r>
            <a:r>
              <a:rPr lang="en-US" altLang="en-US" sz="2400">
                <a:solidFill>
                  <a:srgbClr val="FF0000"/>
                </a:solidFill>
              </a:rPr>
              <a:t>a</a:t>
            </a:r>
            <a:r>
              <a:rPr lang="zh-CN" altLang="en-US" sz="2400" b="0"/>
              <a:t>， </a:t>
            </a:r>
            <a:r>
              <a:rPr lang="en-US" altLang="en-US" sz="2400" b="0"/>
              <a:t>a^（-1）*a=e; G form a group based on the </a:t>
            </a:r>
            <a:r>
              <a:rPr lang="en-US" altLang="zh-CN" sz="2400" b="0"/>
              <a:t>algebraic operations “</a:t>
            </a:r>
            <a:r>
              <a:rPr lang="zh-CN" altLang="en-US" sz="2400" b="0"/>
              <a:t>*</a:t>
            </a:r>
            <a:r>
              <a:rPr lang="en-US" altLang="zh-CN" sz="2400" b="0"/>
              <a:t>”.</a:t>
            </a:r>
          </a:p>
          <a:p>
            <a:endParaRPr lang="en-US" sz="2400"/>
          </a:p>
        </p:txBody>
      </p:sp>
      <p:sp>
        <p:nvSpPr>
          <p:cNvPr id="3" name="Rectangle 1">
            <a:extLst>
              <a:ext uri="{FF2B5EF4-FFF2-40B4-BE49-F238E27FC236}">
                <a16:creationId xmlns:a16="http://schemas.microsoft.com/office/drawing/2014/main" id="{87F029E7-B98D-4B60-84AE-F21025520699}"/>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3551425"/>
      </p:ext>
    </p:extLst>
  </p:cSld>
  <p:clrMapOvr>
    <a:masterClrMapping/>
  </p:clrMapOvr>
  <p:transition spd="med">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subTitle" idx="1"/>
          </p:nvPr>
        </p:nvSpPr>
        <p:spPr>
          <a:xfrm>
            <a:off x="710645" y="2060848"/>
            <a:ext cx="7908925" cy="4320480"/>
          </a:xfrm>
        </p:spPr>
        <p:txBody>
          <a:bodyPr/>
          <a:lstStyle/>
          <a:p>
            <a:pPr algn="just" eaLnBrk="1" hangingPunct="1">
              <a:lnSpc>
                <a:spcPct val="150000"/>
              </a:lnSpc>
            </a:pPr>
            <a:r>
              <a:rPr lang="en-US" altLang="zh-CN" sz="2500" b="1">
                <a:latin typeface="仿宋_GB2312" pitchFamily="49" charset="-122"/>
              </a:rPr>
              <a:t>1</a:t>
            </a:r>
            <a:r>
              <a:rPr lang="en-US" altLang="zh-CN" sz="2500" b="1"/>
              <a:t>) Individual symmetry axis </a:t>
            </a:r>
            <a:r>
              <a:rPr lang="en-US" altLang="zh-CN" sz="2500" b="1" i="1"/>
              <a:t>L</a:t>
            </a:r>
            <a:r>
              <a:rPr lang="en-US" altLang="zh-CN" sz="2500" b="1" i="1" baseline="30000"/>
              <a:t>n</a:t>
            </a:r>
            <a:r>
              <a:rPr lang="en-US" altLang="zh-CN" sz="2500"/>
              <a:t>: possible symmetry class </a:t>
            </a:r>
            <a:r>
              <a:rPr lang="en-US" altLang="zh-CN" sz="2500" i="1">
                <a:solidFill>
                  <a:srgbClr val="FF0000"/>
                </a:solidFill>
              </a:rPr>
              <a:t>L</a:t>
            </a:r>
            <a:r>
              <a:rPr lang="en-US" altLang="zh-CN" sz="2500" baseline="30000">
                <a:solidFill>
                  <a:srgbClr val="FF0000"/>
                </a:solidFill>
              </a:rPr>
              <a:t>1</a:t>
            </a:r>
            <a:r>
              <a:rPr lang="en-US" altLang="zh-CN" sz="2500">
                <a:solidFill>
                  <a:srgbClr val="FF0000"/>
                </a:solidFill>
              </a:rPr>
              <a:t>, </a:t>
            </a:r>
            <a:r>
              <a:rPr lang="en-US" altLang="zh-CN" sz="2500" i="1">
                <a:solidFill>
                  <a:srgbClr val="FF0000"/>
                </a:solidFill>
              </a:rPr>
              <a:t>L</a:t>
            </a:r>
            <a:r>
              <a:rPr lang="en-US" altLang="zh-CN" sz="2500" baseline="30000">
                <a:solidFill>
                  <a:srgbClr val="FF0000"/>
                </a:solidFill>
              </a:rPr>
              <a:t>2</a:t>
            </a:r>
            <a:r>
              <a:rPr lang="en-US" altLang="zh-CN" sz="2500">
                <a:solidFill>
                  <a:srgbClr val="FF0000"/>
                </a:solidFill>
              </a:rPr>
              <a:t>, </a:t>
            </a:r>
            <a:r>
              <a:rPr lang="en-US" altLang="zh-CN" sz="2500" i="1">
                <a:solidFill>
                  <a:srgbClr val="FF0000"/>
                </a:solidFill>
              </a:rPr>
              <a:t>L</a:t>
            </a:r>
            <a:r>
              <a:rPr lang="en-US" altLang="zh-CN" sz="2500" baseline="30000">
                <a:solidFill>
                  <a:srgbClr val="FF0000"/>
                </a:solidFill>
              </a:rPr>
              <a:t>3</a:t>
            </a:r>
            <a:r>
              <a:rPr lang="en-US" altLang="zh-CN" sz="2500">
                <a:solidFill>
                  <a:srgbClr val="FF0000"/>
                </a:solidFill>
              </a:rPr>
              <a:t> , </a:t>
            </a:r>
            <a:r>
              <a:rPr lang="en-US" altLang="zh-CN" sz="2500" i="1">
                <a:solidFill>
                  <a:srgbClr val="FF0000"/>
                </a:solidFill>
              </a:rPr>
              <a:t>L</a:t>
            </a:r>
            <a:r>
              <a:rPr lang="en-US" altLang="zh-CN" sz="2500" baseline="30000">
                <a:solidFill>
                  <a:srgbClr val="FF0000"/>
                </a:solidFill>
              </a:rPr>
              <a:t>4</a:t>
            </a:r>
            <a:r>
              <a:rPr lang="en-US" altLang="zh-CN" sz="2500">
                <a:solidFill>
                  <a:srgbClr val="FF0000"/>
                </a:solidFill>
              </a:rPr>
              <a:t> , </a:t>
            </a:r>
            <a:r>
              <a:rPr lang="en-US" altLang="zh-CN" sz="2500" i="1">
                <a:solidFill>
                  <a:srgbClr val="FF0000"/>
                </a:solidFill>
              </a:rPr>
              <a:t>L</a:t>
            </a:r>
            <a:r>
              <a:rPr lang="en-US" altLang="zh-CN" sz="2500" baseline="30000">
                <a:solidFill>
                  <a:srgbClr val="FF0000"/>
                </a:solidFill>
              </a:rPr>
              <a:t>6</a:t>
            </a:r>
            <a:r>
              <a:rPr lang="en-US" altLang="zh-CN" sz="2500">
                <a:solidFill>
                  <a:srgbClr val="FF0000"/>
                </a:solidFill>
                <a:ea typeface="仿宋_GB2312" pitchFamily="49" charset="-122"/>
              </a:rPr>
              <a:t> ;</a:t>
            </a:r>
            <a:endParaRPr lang="zh-CN" altLang="en-US" sz="2500">
              <a:solidFill>
                <a:srgbClr val="FF0000"/>
              </a:solidFill>
              <a:ea typeface="仿宋_GB2312" pitchFamily="49" charset="-122"/>
            </a:endParaRPr>
          </a:p>
          <a:p>
            <a:pPr algn="just" eaLnBrk="1" hangingPunct="1">
              <a:lnSpc>
                <a:spcPct val="150000"/>
              </a:lnSpc>
            </a:pPr>
            <a:r>
              <a:rPr lang="en-US" altLang="zh-CN" sz="2500" b="1"/>
              <a:t>2) The combination of symmetry axises</a:t>
            </a:r>
            <a:r>
              <a:rPr lang="en-US" altLang="zh-CN" sz="2500"/>
              <a:t>:  Here we only consider the combination of a </a:t>
            </a:r>
            <a:r>
              <a:rPr lang="en-US" altLang="zh-CN" sz="2500" i="1"/>
              <a:t>L</a:t>
            </a:r>
            <a:r>
              <a:rPr lang="en-US" altLang="zh-CN" sz="2500" i="1" baseline="30000"/>
              <a:t>n </a:t>
            </a:r>
            <a:r>
              <a:rPr lang="en-US" altLang="zh-CN" sz="2500"/>
              <a:t>and the </a:t>
            </a:r>
            <a:r>
              <a:rPr lang="en-US" altLang="zh-CN" sz="2500" i="1"/>
              <a:t>L</a:t>
            </a:r>
            <a:r>
              <a:rPr lang="en-US" altLang="zh-CN" sz="2500" baseline="30000"/>
              <a:t>2</a:t>
            </a:r>
            <a:r>
              <a:rPr lang="en-US" altLang="zh-CN" sz="2500"/>
              <a:t> that is </a:t>
            </a:r>
            <a:r>
              <a:rPr lang="en-US" sz="2500"/>
              <a:t>perpendicular to</a:t>
            </a:r>
            <a:r>
              <a:rPr lang="en-US" sz="2800"/>
              <a:t> </a:t>
            </a:r>
            <a:r>
              <a:rPr lang="en-US" altLang="zh-CN" sz="2800" i="1"/>
              <a:t>L</a:t>
            </a:r>
            <a:r>
              <a:rPr lang="en-US" altLang="zh-CN" sz="2800" i="1" baseline="30000"/>
              <a:t>n </a:t>
            </a:r>
            <a:r>
              <a:rPr lang="en-US" altLang="zh-CN" sz="2500"/>
              <a:t>. According to </a:t>
            </a:r>
            <a:r>
              <a:rPr lang="en-US" altLang="zh-CN" sz="2500" i="1"/>
              <a:t>L</a:t>
            </a:r>
            <a:r>
              <a:rPr lang="en-US" altLang="zh-CN" sz="2500" i="1" baseline="30000"/>
              <a:t>n</a:t>
            </a:r>
            <a:r>
              <a:rPr lang="en-US" altLang="zh-CN" sz="2500">
                <a:sym typeface="Symbol" pitchFamily="18" charset="2"/>
              </a:rPr>
              <a:t></a:t>
            </a:r>
            <a:r>
              <a:rPr lang="en-US" altLang="zh-CN" sz="2500" i="1"/>
              <a:t>L</a:t>
            </a:r>
            <a:r>
              <a:rPr lang="en-US" altLang="zh-CN" sz="2500" i="1" baseline="30000"/>
              <a:t>2</a:t>
            </a:r>
            <a:r>
              <a:rPr lang="en-US" altLang="zh-CN" sz="2500" i="1" baseline="-25000">
                <a:sym typeface="Symbol" pitchFamily="18" charset="2"/>
              </a:rPr>
              <a:t></a:t>
            </a:r>
            <a:r>
              <a:rPr lang="en-US" altLang="zh-CN" sz="2500"/>
              <a:t>→</a:t>
            </a:r>
            <a:r>
              <a:rPr lang="en-US" altLang="zh-CN" sz="2500" i="1"/>
              <a:t>L</a:t>
            </a:r>
            <a:r>
              <a:rPr lang="en-US" altLang="zh-CN" sz="2500" i="1" baseline="30000"/>
              <a:t>n</a:t>
            </a:r>
            <a:r>
              <a:rPr lang="en-US" altLang="zh-CN" sz="2500" i="1"/>
              <a:t>nL</a:t>
            </a:r>
            <a:r>
              <a:rPr lang="en-US" altLang="zh-CN" sz="2500" baseline="30000"/>
              <a:t>2</a:t>
            </a:r>
            <a:r>
              <a:rPr lang="zh-CN" altLang="en-US" sz="2500"/>
              <a:t>，</a:t>
            </a:r>
            <a:r>
              <a:rPr lang="en-US" altLang="zh-CN" sz="2500"/>
              <a:t>the possible class of symmetry</a:t>
            </a:r>
            <a:r>
              <a:rPr lang="zh-CN" altLang="en-US" sz="2500"/>
              <a:t>：</a:t>
            </a:r>
            <a:r>
              <a:rPr lang="en-US" altLang="zh-CN" sz="2500" i="1">
                <a:solidFill>
                  <a:srgbClr val="FF0000"/>
                </a:solidFill>
              </a:rPr>
              <a:t>L</a:t>
            </a:r>
            <a:r>
              <a:rPr lang="en-US" altLang="zh-CN" sz="2500" baseline="30000">
                <a:solidFill>
                  <a:srgbClr val="FF0000"/>
                </a:solidFill>
              </a:rPr>
              <a:t>1</a:t>
            </a:r>
            <a:r>
              <a:rPr lang="en-US" altLang="zh-CN" sz="2500" i="1">
                <a:solidFill>
                  <a:srgbClr val="FF0000"/>
                </a:solidFill>
              </a:rPr>
              <a:t>L</a:t>
            </a:r>
            <a:r>
              <a:rPr lang="en-US" altLang="zh-CN" sz="2500" baseline="30000">
                <a:solidFill>
                  <a:srgbClr val="FF0000"/>
                </a:solidFill>
              </a:rPr>
              <a:t>2</a:t>
            </a:r>
            <a:r>
              <a:rPr lang="en-US" altLang="zh-CN" sz="2500">
                <a:solidFill>
                  <a:srgbClr val="FF0000"/>
                </a:solidFill>
              </a:rPr>
              <a:t>=</a:t>
            </a:r>
            <a:r>
              <a:rPr lang="en-US" altLang="zh-CN" sz="2500" i="1">
                <a:solidFill>
                  <a:srgbClr val="FF0000"/>
                </a:solidFill>
              </a:rPr>
              <a:t>L</a:t>
            </a:r>
            <a:r>
              <a:rPr lang="en-US" altLang="zh-CN" sz="2500" baseline="30000">
                <a:solidFill>
                  <a:srgbClr val="FF0000"/>
                </a:solidFill>
              </a:rPr>
              <a:t>2</a:t>
            </a:r>
            <a:r>
              <a:rPr lang="en-US" altLang="zh-CN" sz="2500">
                <a:solidFill>
                  <a:srgbClr val="FF0000"/>
                </a:solidFill>
              </a:rPr>
              <a:t>, </a:t>
            </a:r>
            <a:r>
              <a:rPr lang="en-US" altLang="zh-CN" sz="2500" i="1">
                <a:solidFill>
                  <a:srgbClr val="FF0000"/>
                </a:solidFill>
              </a:rPr>
              <a:t>L</a:t>
            </a:r>
            <a:r>
              <a:rPr lang="en-US" altLang="zh-CN" sz="2500" baseline="30000">
                <a:solidFill>
                  <a:srgbClr val="FF0000"/>
                </a:solidFill>
              </a:rPr>
              <a:t>2</a:t>
            </a:r>
            <a:r>
              <a:rPr lang="en-US" altLang="zh-CN" sz="2500">
                <a:solidFill>
                  <a:srgbClr val="FF0000"/>
                </a:solidFill>
              </a:rPr>
              <a:t>2</a:t>
            </a:r>
            <a:r>
              <a:rPr lang="en-US" altLang="zh-CN" sz="2500" i="1">
                <a:solidFill>
                  <a:srgbClr val="FF0000"/>
                </a:solidFill>
              </a:rPr>
              <a:t>L</a:t>
            </a:r>
            <a:r>
              <a:rPr lang="en-US" altLang="zh-CN" sz="2500" baseline="30000">
                <a:solidFill>
                  <a:srgbClr val="FF0000"/>
                </a:solidFill>
              </a:rPr>
              <a:t>2</a:t>
            </a:r>
            <a:r>
              <a:rPr lang="en-US" altLang="zh-CN" sz="2500">
                <a:solidFill>
                  <a:srgbClr val="FF0000"/>
                </a:solidFill>
              </a:rPr>
              <a:t>=3</a:t>
            </a:r>
            <a:r>
              <a:rPr lang="en-US" altLang="zh-CN" sz="2500" i="1">
                <a:solidFill>
                  <a:srgbClr val="FF0000"/>
                </a:solidFill>
              </a:rPr>
              <a:t>L</a:t>
            </a:r>
            <a:r>
              <a:rPr lang="en-US" altLang="zh-CN" sz="2500" baseline="30000">
                <a:solidFill>
                  <a:srgbClr val="FF0000"/>
                </a:solidFill>
              </a:rPr>
              <a:t>2</a:t>
            </a:r>
            <a:r>
              <a:rPr lang="en-US" altLang="zh-CN" sz="2500">
                <a:solidFill>
                  <a:srgbClr val="FF0000"/>
                </a:solidFill>
              </a:rPr>
              <a:t>, </a:t>
            </a:r>
            <a:r>
              <a:rPr lang="en-US" altLang="zh-CN" sz="2500" i="1">
                <a:solidFill>
                  <a:srgbClr val="FF0000"/>
                </a:solidFill>
              </a:rPr>
              <a:t>L</a:t>
            </a:r>
            <a:r>
              <a:rPr lang="en-US" altLang="zh-CN" sz="2500" baseline="30000">
                <a:solidFill>
                  <a:srgbClr val="FF0000"/>
                </a:solidFill>
              </a:rPr>
              <a:t>3</a:t>
            </a:r>
            <a:r>
              <a:rPr lang="en-US" altLang="zh-CN" sz="2500">
                <a:solidFill>
                  <a:srgbClr val="FF0000"/>
                </a:solidFill>
              </a:rPr>
              <a:t>3</a:t>
            </a:r>
            <a:r>
              <a:rPr lang="en-US" altLang="zh-CN" sz="2500" i="1">
                <a:solidFill>
                  <a:srgbClr val="FF0000"/>
                </a:solidFill>
              </a:rPr>
              <a:t>L</a:t>
            </a:r>
            <a:r>
              <a:rPr lang="en-US" altLang="zh-CN" sz="2500" baseline="30000">
                <a:solidFill>
                  <a:srgbClr val="FF0000"/>
                </a:solidFill>
              </a:rPr>
              <a:t>2</a:t>
            </a:r>
            <a:r>
              <a:rPr lang="en-US" altLang="zh-CN" sz="2500">
                <a:solidFill>
                  <a:srgbClr val="FF0000"/>
                </a:solidFill>
              </a:rPr>
              <a:t>, </a:t>
            </a:r>
            <a:r>
              <a:rPr lang="en-US" altLang="zh-CN" sz="2500" i="1">
                <a:solidFill>
                  <a:srgbClr val="FF0000"/>
                </a:solidFill>
              </a:rPr>
              <a:t>L</a:t>
            </a:r>
            <a:r>
              <a:rPr lang="en-US" altLang="zh-CN" sz="2500" baseline="30000">
                <a:solidFill>
                  <a:srgbClr val="FF0000"/>
                </a:solidFill>
              </a:rPr>
              <a:t>4</a:t>
            </a:r>
            <a:r>
              <a:rPr lang="en-US" altLang="zh-CN" sz="2500">
                <a:solidFill>
                  <a:srgbClr val="FF0000"/>
                </a:solidFill>
              </a:rPr>
              <a:t>4</a:t>
            </a:r>
            <a:r>
              <a:rPr lang="en-US" altLang="zh-CN" sz="2500" i="1">
                <a:solidFill>
                  <a:srgbClr val="FF0000"/>
                </a:solidFill>
              </a:rPr>
              <a:t>L</a:t>
            </a:r>
            <a:r>
              <a:rPr lang="en-US" altLang="zh-CN" sz="2500" baseline="30000">
                <a:solidFill>
                  <a:srgbClr val="FF0000"/>
                </a:solidFill>
              </a:rPr>
              <a:t>2</a:t>
            </a:r>
            <a:r>
              <a:rPr lang="en-US" altLang="zh-CN" sz="2500">
                <a:solidFill>
                  <a:srgbClr val="FF0000"/>
                </a:solidFill>
              </a:rPr>
              <a:t>, </a:t>
            </a:r>
            <a:r>
              <a:rPr lang="en-US" altLang="zh-CN" sz="2500" i="1">
                <a:solidFill>
                  <a:srgbClr val="FF0000"/>
                </a:solidFill>
              </a:rPr>
              <a:t>L</a:t>
            </a:r>
            <a:r>
              <a:rPr lang="en-US" altLang="zh-CN" sz="2500" baseline="30000">
                <a:solidFill>
                  <a:srgbClr val="FF0000"/>
                </a:solidFill>
              </a:rPr>
              <a:t>6</a:t>
            </a:r>
            <a:r>
              <a:rPr lang="en-US" altLang="zh-CN" sz="2500">
                <a:solidFill>
                  <a:srgbClr val="FF0000"/>
                </a:solidFill>
              </a:rPr>
              <a:t>6</a:t>
            </a:r>
            <a:r>
              <a:rPr lang="en-US" altLang="zh-CN" sz="2500" i="1">
                <a:solidFill>
                  <a:srgbClr val="FF0000"/>
                </a:solidFill>
              </a:rPr>
              <a:t>L</a:t>
            </a:r>
            <a:r>
              <a:rPr lang="en-US" altLang="zh-CN" sz="2500" baseline="30000">
                <a:solidFill>
                  <a:srgbClr val="FF0000"/>
                </a:solidFill>
              </a:rPr>
              <a:t>2</a:t>
            </a:r>
            <a:r>
              <a:rPr lang="en-US" altLang="zh-CN" sz="2500">
                <a:solidFill>
                  <a:srgbClr val="FF0000"/>
                </a:solidFill>
              </a:rPr>
              <a:t>.</a:t>
            </a:r>
          </a:p>
        </p:txBody>
      </p:sp>
      <p:sp>
        <p:nvSpPr>
          <p:cNvPr id="23556" name="Rectangle 4"/>
          <p:cNvSpPr>
            <a:spLocks noChangeArrowheads="1"/>
          </p:cNvSpPr>
          <p:nvPr/>
        </p:nvSpPr>
        <p:spPr bwMode="auto">
          <a:xfrm>
            <a:off x="710645" y="583656"/>
            <a:ext cx="792162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CN" sz="3600">
                <a:solidFill>
                  <a:srgbClr val="FF0000"/>
                </a:solidFill>
              </a:rPr>
              <a:t>Derivation of A</a:t>
            </a:r>
            <a:r>
              <a:rPr lang="zh-CN" altLang="en-US" sz="3600">
                <a:solidFill>
                  <a:srgbClr val="FF0000"/>
                </a:solidFill>
              </a:rPr>
              <a:t> </a:t>
            </a:r>
            <a:r>
              <a:rPr lang="en-US" altLang="zh-CN" sz="3600">
                <a:solidFill>
                  <a:srgbClr val="FF0000"/>
                </a:solidFill>
              </a:rPr>
              <a:t>type class of symmetry</a:t>
            </a:r>
          </a:p>
          <a:p>
            <a:pPr algn="ctr">
              <a:defRPr/>
            </a:pPr>
            <a:r>
              <a:rPr lang="en-US" altLang="zh-CN" sz="2800" b="0"/>
              <a:t>High axis (n&gt;2)</a:t>
            </a:r>
            <a:r>
              <a:rPr lang="zh-CN" altLang="en-US" sz="2800" b="0"/>
              <a:t> </a:t>
            </a:r>
            <a:r>
              <a:rPr lang="en-US" altLang="zh-CN" sz="2800" b="0"/>
              <a:t>is no more than one</a:t>
            </a:r>
            <a:endParaRPr lang="zh-CN" altLang="en-US" sz="2800" b="0"/>
          </a:p>
        </p:txBody>
      </p:sp>
      <p:sp>
        <p:nvSpPr>
          <p:cNvPr id="44037"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38"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4"/>
          <p:cNvSpPr>
            <a:spLocks noChangeArrowheads="1"/>
          </p:cNvSpPr>
          <p:nvPr/>
        </p:nvSpPr>
        <p:spPr bwMode="auto">
          <a:xfrm>
            <a:off x="710645" y="583656"/>
            <a:ext cx="792162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CN" sz="3600">
                <a:solidFill>
                  <a:srgbClr val="FF0000"/>
                </a:solidFill>
              </a:rPr>
              <a:t>Derivation of A</a:t>
            </a:r>
            <a:r>
              <a:rPr lang="zh-CN" altLang="en-US" sz="3600">
                <a:solidFill>
                  <a:srgbClr val="FF0000"/>
                </a:solidFill>
              </a:rPr>
              <a:t> </a:t>
            </a:r>
            <a:r>
              <a:rPr lang="en-US" altLang="zh-CN" sz="3600">
                <a:solidFill>
                  <a:srgbClr val="FF0000"/>
                </a:solidFill>
              </a:rPr>
              <a:t>type class of symmetry</a:t>
            </a:r>
          </a:p>
          <a:p>
            <a:pPr algn="ctr">
              <a:defRPr/>
            </a:pPr>
            <a:r>
              <a:rPr lang="en-US" altLang="zh-CN" sz="2800" b="0"/>
              <a:t>High axis (n&gt;2)</a:t>
            </a:r>
            <a:r>
              <a:rPr lang="zh-CN" altLang="en-US" sz="2800" b="0"/>
              <a:t> </a:t>
            </a:r>
            <a:r>
              <a:rPr lang="en-US" altLang="zh-CN" sz="2800" b="0"/>
              <a:t>is no more than one</a:t>
            </a:r>
            <a:endParaRPr lang="zh-CN" altLang="en-US" sz="2800" b="0"/>
          </a:p>
        </p:txBody>
      </p:sp>
      <p:sp>
        <p:nvSpPr>
          <p:cNvPr id="44037"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38"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pic>
        <p:nvPicPr>
          <p:cNvPr id="7" name="Picture 3" descr="图片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3356992"/>
            <a:ext cx="5184576" cy="2802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3">
            <a:extLst>
              <a:ext uri="{FF2B5EF4-FFF2-40B4-BE49-F238E27FC236}">
                <a16:creationId xmlns:a16="http://schemas.microsoft.com/office/drawing/2014/main" id="{87BC9A70-FAF0-473A-A5F8-63C662D018B0}"/>
              </a:ext>
            </a:extLst>
          </p:cNvPr>
          <p:cNvSpPr/>
          <p:nvPr/>
        </p:nvSpPr>
        <p:spPr>
          <a:xfrm>
            <a:off x="971550" y="2132856"/>
            <a:ext cx="7660720" cy="904863"/>
          </a:xfrm>
          <a:prstGeom prst="rect">
            <a:avLst/>
          </a:prstGeom>
        </p:spPr>
        <p:txBody>
          <a:bodyPr wrap="square">
            <a:spAutoFit/>
          </a:bodyPr>
          <a:lstStyle/>
          <a:p>
            <a:pPr algn="just" eaLnBrk="1" hangingPunct="1">
              <a:lnSpc>
                <a:spcPct val="110000"/>
              </a:lnSpc>
            </a:pPr>
            <a:r>
              <a:rPr lang="en-US" altLang="zh-CN" sz="2400" b="0">
                <a:ea typeface="仿宋_GB2312" pitchFamily="49" charset="-122"/>
              </a:rPr>
              <a:t>If </a:t>
            </a:r>
            <a:r>
              <a:rPr lang="en-US" altLang="zh-CN" sz="2400" b="0" i="1"/>
              <a:t>L</a:t>
            </a:r>
            <a:r>
              <a:rPr lang="en-US" altLang="zh-CN" sz="2400" b="0" baseline="30000"/>
              <a:t>2</a:t>
            </a:r>
            <a:r>
              <a:rPr lang="zh-CN" altLang="en-US" sz="2400" b="0"/>
              <a:t> </a:t>
            </a:r>
            <a:r>
              <a:rPr lang="en-US" altLang="zh-CN" sz="2400" b="0"/>
              <a:t>skew </a:t>
            </a:r>
            <a:r>
              <a:rPr lang="en-US" altLang="zh-CN" sz="2400" b="0" i="1"/>
              <a:t>L</a:t>
            </a:r>
            <a:r>
              <a:rPr lang="en-US" altLang="zh-CN" sz="2400" b="0" i="1" baseline="30000"/>
              <a:t>n</a:t>
            </a:r>
            <a:r>
              <a:rPr lang="en-US" altLang="zh-CN" sz="2400" b="0"/>
              <a:t>, a higher axis may form, then it does not belong to A type.</a:t>
            </a:r>
            <a:endParaRPr lang="zh-CN" altLang="en-US" sz="2400" b="0">
              <a:latin typeface="仿宋_GB2312" pitchFamily="49" charset="-122"/>
              <a:ea typeface="仿宋_GB2312" pitchFamily="49" charset="-122"/>
            </a:endParaRPr>
          </a:p>
        </p:txBody>
      </p:sp>
    </p:spTree>
    <p:extLst>
      <p:ext uri="{BB962C8B-B14F-4D97-AF65-F5344CB8AC3E}">
        <p14:creationId xmlns:p14="http://schemas.microsoft.com/office/powerpoint/2010/main" val="2593640591"/>
      </p:ext>
    </p:extLst>
  </p:cSld>
  <p:clrMapOvr>
    <a:masterClrMapping/>
  </p:clrMapOvr>
  <p:transition spd="med">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subTitle" idx="1"/>
          </p:nvPr>
        </p:nvSpPr>
        <p:spPr>
          <a:xfrm>
            <a:off x="665163" y="1814512"/>
            <a:ext cx="7939087" cy="4710831"/>
          </a:xfrm>
        </p:spPr>
        <p:txBody>
          <a:bodyPr/>
          <a:lstStyle/>
          <a:p>
            <a:pPr algn="just" eaLnBrk="1" hangingPunct="1">
              <a:lnSpc>
                <a:spcPct val="130000"/>
              </a:lnSpc>
            </a:pPr>
            <a:r>
              <a:rPr lang="en-US" altLang="zh-CN" sz="2400" b="1"/>
              <a:t>3) Combination of </a:t>
            </a:r>
            <a:r>
              <a:rPr lang="en-US" altLang="zh-CN" sz="2400" b="1" i="1"/>
              <a:t>L</a:t>
            </a:r>
            <a:r>
              <a:rPr lang="en-US" altLang="zh-CN" sz="2400" b="1" i="1" baseline="30000"/>
              <a:t>n</a:t>
            </a:r>
            <a:r>
              <a:rPr lang="zh-CN" altLang="en-US" sz="2400" b="1" i="1" baseline="30000"/>
              <a:t> </a:t>
            </a:r>
            <a:r>
              <a:rPr lang="en-US" altLang="zh-CN" sz="2400" b="1"/>
              <a:t>and the </a:t>
            </a:r>
            <a:r>
              <a:rPr lang="en-US" altLang="zh-CN" sz="2400" b="1" i="1"/>
              <a:t>P </a:t>
            </a:r>
            <a:r>
              <a:rPr lang="en-US" altLang="zh-CN" sz="2400" b="1"/>
              <a:t>that is perpendicular it</a:t>
            </a:r>
            <a:r>
              <a:rPr lang="en-US" altLang="zh-CN" sz="2400" b="1" i="1"/>
              <a:t>.</a:t>
            </a:r>
          </a:p>
          <a:p>
            <a:pPr algn="just" eaLnBrk="1" hangingPunct="1">
              <a:lnSpc>
                <a:spcPct val="130000"/>
              </a:lnSpc>
            </a:pPr>
            <a:r>
              <a:rPr lang="en-US" altLang="zh-CN" sz="2400"/>
              <a:t>Consider the combination law </a:t>
            </a:r>
            <a:r>
              <a:rPr lang="en-US" altLang="zh-CN" sz="2400" i="1"/>
              <a:t>L</a:t>
            </a:r>
            <a:r>
              <a:rPr lang="en-US" altLang="zh-CN" sz="2400" i="1" baseline="30000"/>
              <a:t>n(</a:t>
            </a:r>
            <a:r>
              <a:rPr lang="en-US" altLang="zh-CN" sz="2400" baseline="30000"/>
              <a:t>even)</a:t>
            </a:r>
            <a:r>
              <a:rPr lang="en-US" altLang="zh-CN" sz="2400">
                <a:sym typeface="Symbol" pitchFamily="18" charset="2"/>
              </a:rPr>
              <a:t></a:t>
            </a:r>
            <a:r>
              <a:rPr lang="en-US" altLang="zh-CN" sz="2400" i="1"/>
              <a:t>P</a:t>
            </a:r>
            <a:r>
              <a:rPr lang="en-US" altLang="zh-CN" sz="2400" i="1" baseline="-30000"/>
              <a:t>⊥</a:t>
            </a:r>
            <a:r>
              <a:rPr lang="en-US" altLang="zh-CN" sz="2400"/>
              <a:t>→</a:t>
            </a:r>
            <a:r>
              <a:rPr lang="en-US" altLang="zh-CN" sz="2400" i="1"/>
              <a:t>L</a:t>
            </a:r>
            <a:r>
              <a:rPr lang="en-US" altLang="zh-CN" sz="2400" i="1" baseline="30000"/>
              <a:t>n</a:t>
            </a:r>
            <a:r>
              <a:rPr lang="en-US" altLang="zh-CN" sz="2400" baseline="30000"/>
              <a:t>(even)</a:t>
            </a:r>
            <a:r>
              <a:rPr lang="en-US" altLang="zh-CN" sz="2400" i="1"/>
              <a:t>PC</a:t>
            </a:r>
            <a:r>
              <a:rPr lang="zh-CN" altLang="en-US" sz="2400"/>
              <a:t>，</a:t>
            </a:r>
            <a:r>
              <a:rPr lang="en-US" altLang="zh-CN" sz="2400"/>
              <a:t>the possible class of symmetry</a:t>
            </a:r>
            <a:r>
              <a:rPr lang="zh-CN" altLang="en-US" sz="2400"/>
              <a:t>：</a:t>
            </a:r>
            <a:r>
              <a:rPr lang="zh-CN" altLang="en-US" sz="2400" b="1">
                <a:solidFill>
                  <a:srgbClr val="FF0000"/>
                </a:solidFill>
              </a:rPr>
              <a:t>（</a:t>
            </a:r>
            <a:r>
              <a:rPr lang="en-US" altLang="zh-CN" sz="2400" b="1" i="1">
                <a:solidFill>
                  <a:srgbClr val="FF0000"/>
                </a:solidFill>
              </a:rPr>
              <a:t>L</a:t>
            </a:r>
            <a:r>
              <a:rPr lang="en-US" altLang="zh-CN" sz="2400" b="1" baseline="30000">
                <a:solidFill>
                  <a:srgbClr val="FF0000"/>
                </a:solidFill>
              </a:rPr>
              <a:t>1</a:t>
            </a:r>
            <a:r>
              <a:rPr lang="en-US" altLang="zh-CN" sz="2400" b="1" i="1">
                <a:solidFill>
                  <a:srgbClr val="FF0000"/>
                </a:solidFill>
              </a:rPr>
              <a:t>P</a:t>
            </a:r>
            <a:r>
              <a:rPr lang="en-US" altLang="zh-CN" sz="2400" b="1">
                <a:solidFill>
                  <a:srgbClr val="FF0000"/>
                </a:solidFill>
              </a:rPr>
              <a:t>=</a:t>
            </a:r>
            <a:r>
              <a:rPr lang="en-US" altLang="zh-CN" sz="2400" b="1" i="1">
                <a:solidFill>
                  <a:srgbClr val="FF0000"/>
                </a:solidFill>
              </a:rPr>
              <a:t>P</a:t>
            </a:r>
            <a:r>
              <a:rPr lang="zh-CN" altLang="en-US" sz="2400" b="1">
                <a:solidFill>
                  <a:srgbClr val="FF0000"/>
                </a:solidFill>
              </a:rPr>
              <a:t>）；</a:t>
            </a:r>
            <a:r>
              <a:rPr lang="en-US" altLang="zh-CN" sz="2400" b="1" i="1">
                <a:solidFill>
                  <a:srgbClr val="FF0000"/>
                </a:solidFill>
              </a:rPr>
              <a:t>L</a:t>
            </a:r>
            <a:r>
              <a:rPr lang="en-US" altLang="zh-CN" sz="2400" b="1" baseline="30000">
                <a:solidFill>
                  <a:srgbClr val="FF0000"/>
                </a:solidFill>
              </a:rPr>
              <a:t>2</a:t>
            </a:r>
            <a:r>
              <a:rPr lang="en-US" altLang="zh-CN" sz="2400" b="1" i="1">
                <a:solidFill>
                  <a:srgbClr val="FF0000"/>
                </a:solidFill>
              </a:rPr>
              <a:t>PC</a:t>
            </a:r>
            <a:r>
              <a:rPr lang="zh-CN" altLang="en-US" sz="2400" b="1">
                <a:solidFill>
                  <a:srgbClr val="FF0000"/>
                </a:solidFill>
              </a:rPr>
              <a:t>；（</a:t>
            </a:r>
            <a:r>
              <a:rPr lang="en-US" altLang="zh-CN" sz="2400" b="1" i="1">
                <a:solidFill>
                  <a:srgbClr val="FF0000"/>
                </a:solidFill>
              </a:rPr>
              <a:t>L</a:t>
            </a:r>
            <a:r>
              <a:rPr lang="en-US" altLang="zh-CN" sz="2400" b="1" baseline="30000">
                <a:solidFill>
                  <a:srgbClr val="FF0000"/>
                </a:solidFill>
              </a:rPr>
              <a:t>3</a:t>
            </a:r>
            <a:r>
              <a:rPr lang="en-US" altLang="zh-CN" sz="2400" b="1" i="1">
                <a:solidFill>
                  <a:srgbClr val="FF0000"/>
                </a:solidFill>
              </a:rPr>
              <a:t>P</a:t>
            </a:r>
            <a:r>
              <a:rPr lang="en-US" altLang="zh-CN" sz="2400" b="1">
                <a:solidFill>
                  <a:srgbClr val="FF0000"/>
                </a:solidFill>
              </a:rPr>
              <a:t>=</a:t>
            </a:r>
            <a:r>
              <a:rPr lang="en-US" altLang="zh-CN" sz="2400" b="1" i="1">
                <a:solidFill>
                  <a:srgbClr val="FF0000"/>
                </a:solidFill>
              </a:rPr>
              <a:t>L</a:t>
            </a:r>
            <a:r>
              <a:rPr lang="en-US" altLang="zh-CN" sz="2400" b="1" i="1" baseline="-25000">
                <a:solidFill>
                  <a:srgbClr val="FF0000"/>
                </a:solidFill>
              </a:rPr>
              <a:t>i</a:t>
            </a:r>
            <a:r>
              <a:rPr lang="en-US" altLang="zh-CN" sz="2400" b="1" i="1" baseline="30000">
                <a:solidFill>
                  <a:srgbClr val="FF0000"/>
                </a:solidFill>
              </a:rPr>
              <a:t>6</a:t>
            </a:r>
            <a:r>
              <a:rPr lang="zh-CN" altLang="en-US" sz="2400" b="1">
                <a:solidFill>
                  <a:srgbClr val="FF0000"/>
                </a:solidFill>
              </a:rPr>
              <a:t>）；</a:t>
            </a:r>
            <a:r>
              <a:rPr lang="en-US" altLang="zh-CN" sz="2400" b="1" i="1">
                <a:solidFill>
                  <a:srgbClr val="FF0000"/>
                </a:solidFill>
              </a:rPr>
              <a:t>L</a:t>
            </a:r>
            <a:r>
              <a:rPr lang="en-US" altLang="zh-CN" sz="2400" b="1" baseline="30000">
                <a:solidFill>
                  <a:srgbClr val="FF0000"/>
                </a:solidFill>
              </a:rPr>
              <a:t>4</a:t>
            </a:r>
            <a:r>
              <a:rPr lang="en-US" altLang="zh-CN" sz="2400" b="1" i="1">
                <a:solidFill>
                  <a:srgbClr val="FF0000"/>
                </a:solidFill>
              </a:rPr>
              <a:t>PC</a:t>
            </a:r>
            <a:r>
              <a:rPr lang="zh-CN" altLang="en-US" sz="2400" b="1">
                <a:solidFill>
                  <a:srgbClr val="FF0000"/>
                </a:solidFill>
              </a:rPr>
              <a:t>；</a:t>
            </a:r>
            <a:r>
              <a:rPr lang="en-US" altLang="zh-CN" sz="2400" b="1" i="1">
                <a:solidFill>
                  <a:srgbClr val="FF0000"/>
                </a:solidFill>
              </a:rPr>
              <a:t>L</a:t>
            </a:r>
            <a:r>
              <a:rPr lang="en-US" altLang="zh-CN" sz="2400" b="1" baseline="30000">
                <a:solidFill>
                  <a:srgbClr val="FF0000"/>
                </a:solidFill>
              </a:rPr>
              <a:t>6</a:t>
            </a:r>
            <a:r>
              <a:rPr lang="en-US" altLang="zh-CN" sz="2400" b="1" i="1">
                <a:solidFill>
                  <a:srgbClr val="FF0000"/>
                </a:solidFill>
              </a:rPr>
              <a:t>PC.</a:t>
            </a:r>
          </a:p>
          <a:p>
            <a:pPr algn="just" eaLnBrk="1" hangingPunct="1">
              <a:lnSpc>
                <a:spcPct val="130000"/>
              </a:lnSpc>
            </a:pPr>
            <a:r>
              <a:rPr lang="en-US" altLang="zh-CN" sz="2400" b="1"/>
              <a:t>4) Combination of </a:t>
            </a:r>
            <a:r>
              <a:rPr lang="en-US" altLang="zh-CN" sz="2400" b="1" i="1"/>
              <a:t>L</a:t>
            </a:r>
            <a:r>
              <a:rPr lang="en-US" altLang="zh-CN" sz="2400" b="1" i="1" baseline="30000"/>
              <a:t>n</a:t>
            </a:r>
            <a:r>
              <a:rPr lang="zh-CN" altLang="en-US" sz="2400" b="1" i="1" baseline="30000"/>
              <a:t> </a:t>
            </a:r>
            <a:r>
              <a:rPr lang="en-US" altLang="zh-CN" sz="2400" b="1"/>
              <a:t>and the </a:t>
            </a:r>
            <a:r>
              <a:rPr lang="en-US" altLang="zh-CN" sz="2400" b="1" i="1"/>
              <a:t>P that </a:t>
            </a:r>
            <a:r>
              <a:rPr lang="en-US" altLang="zh-CN" sz="2400" b="1"/>
              <a:t>contains it.</a:t>
            </a:r>
          </a:p>
          <a:p>
            <a:pPr algn="just" eaLnBrk="1" hangingPunct="1">
              <a:lnSpc>
                <a:spcPct val="130000"/>
              </a:lnSpc>
            </a:pPr>
            <a:r>
              <a:rPr lang="en-US" altLang="zh-CN" sz="2400"/>
              <a:t>Consider the combination law </a:t>
            </a:r>
            <a:r>
              <a:rPr lang="en-US" altLang="zh-CN" sz="2400" i="1"/>
              <a:t>L</a:t>
            </a:r>
            <a:r>
              <a:rPr lang="en-US" altLang="zh-CN" sz="2400" i="1" baseline="30000"/>
              <a:t>n </a:t>
            </a:r>
            <a:r>
              <a:rPr lang="en-US" altLang="zh-CN" sz="2400">
                <a:sym typeface="Symbol" pitchFamily="18" charset="2"/>
              </a:rPr>
              <a:t></a:t>
            </a:r>
            <a:r>
              <a:rPr lang="en-US" altLang="zh-CN" sz="2400" i="1" baseline="30000"/>
              <a:t> </a:t>
            </a:r>
            <a:r>
              <a:rPr lang="en-US" altLang="zh-CN" sz="2400" i="1"/>
              <a:t>P</a:t>
            </a:r>
            <a:r>
              <a:rPr lang="en-US" altLang="zh-CN" sz="2400" i="1" baseline="-30000"/>
              <a:t>∥</a:t>
            </a:r>
            <a:r>
              <a:rPr lang="en-US" altLang="zh-CN" sz="2400"/>
              <a:t>→</a:t>
            </a:r>
            <a:r>
              <a:rPr lang="en-US" altLang="zh-CN" sz="2400" i="1" err="1"/>
              <a:t>L</a:t>
            </a:r>
            <a:r>
              <a:rPr lang="en-US" altLang="zh-CN" sz="2400" i="1" baseline="30000" err="1"/>
              <a:t>n</a:t>
            </a:r>
            <a:r>
              <a:rPr lang="en-US" altLang="zh-CN" sz="2400" i="1" err="1"/>
              <a:t>nP</a:t>
            </a:r>
            <a:r>
              <a:rPr lang="zh-CN" altLang="en-US" sz="2400"/>
              <a:t>，</a:t>
            </a:r>
            <a:r>
              <a:rPr lang="en-US" altLang="zh-CN" sz="2400"/>
              <a:t> the possible class of symmetry</a:t>
            </a:r>
            <a:r>
              <a:rPr lang="zh-CN" altLang="en-US" sz="2400"/>
              <a:t>：</a:t>
            </a:r>
            <a:r>
              <a:rPr lang="zh-CN" altLang="en-US" sz="2800" b="1">
                <a:solidFill>
                  <a:srgbClr val="000000"/>
                </a:solidFill>
              </a:rPr>
              <a:t> </a:t>
            </a:r>
            <a:r>
              <a:rPr lang="zh-CN" altLang="en-US" sz="2400" b="1">
                <a:solidFill>
                  <a:srgbClr val="FF0000"/>
                </a:solidFill>
              </a:rPr>
              <a:t>（</a:t>
            </a:r>
            <a:r>
              <a:rPr lang="en-US" altLang="zh-CN" sz="2400" b="1" i="1">
                <a:solidFill>
                  <a:srgbClr val="FF0000"/>
                </a:solidFill>
              </a:rPr>
              <a:t>L</a:t>
            </a:r>
            <a:r>
              <a:rPr lang="en-US" altLang="zh-CN" sz="2400" b="1" baseline="30000">
                <a:solidFill>
                  <a:srgbClr val="FF0000"/>
                </a:solidFill>
              </a:rPr>
              <a:t>1</a:t>
            </a:r>
            <a:r>
              <a:rPr lang="en-US" altLang="zh-CN" sz="2400" b="1" i="1">
                <a:solidFill>
                  <a:srgbClr val="FF0000"/>
                </a:solidFill>
              </a:rPr>
              <a:t>P</a:t>
            </a:r>
            <a:r>
              <a:rPr lang="en-US" altLang="zh-CN" sz="2400" b="1">
                <a:solidFill>
                  <a:srgbClr val="FF0000"/>
                </a:solidFill>
              </a:rPr>
              <a:t>=</a:t>
            </a:r>
            <a:r>
              <a:rPr lang="en-US" altLang="zh-CN" sz="2400" b="1" i="1">
                <a:solidFill>
                  <a:srgbClr val="FF0000"/>
                </a:solidFill>
              </a:rPr>
              <a:t>P</a:t>
            </a:r>
            <a:r>
              <a:rPr lang="zh-CN" altLang="en-US" sz="2400" b="1">
                <a:solidFill>
                  <a:srgbClr val="FF0000"/>
                </a:solidFill>
              </a:rPr>
              <a:t>）</a:t>
            </a:r>
            <a:r>
              <a:rPr lang="en-US" altLang="zh-CN" sz="2400" b="1">
                <a:solidFill>
                  <a:srgbClr val="FF0000"/>
                </a:solidFill>
              </a:rPr>
              <a:t>; </a:t>
            </a:r>
            <a:r>
              <a:rPr lang="en-US" altLang="zh-CN" sz="2400" b="1" i="1">
                <a:solidFill>
                  <a:srgbClr val="FF0000"/>
                </a:solidFill>
              </a:rPr>
              <a:t>L</a:t>
            </a:r>
            <a:r>
              <a:rPr lang="en-US" altLang="zh-CN" sz="2400" b="1" baseline="30000">
                <a:solidFill>
                  <a:srgbClr val="FF0000"/>
                </a:solidFill>
              </a:rPr>
              <a:t>2</a:t>
            </a:r>
            <a:r>
              <a:rPr lang="en-US" altLang="zh-CN" sz="2400" b="1">
                <a:solidFill>
                  <a:srgbClr val="FF0000"/>
                </a:solidFill>
              </a:rPr>
              <a:t>2</a:t>
            </a:r>
            <a:r>
              <a:rPr lang="en-US" altLang="zh-CN" sz="2400" b="1" i="1">
                <a:solidFill>
                  <a:srgbClr val="FF0000"/>
                </a:solidFill>
              </a:rPr>
              <a:t>P</a:t>
            </a:r>
            <a:r>
              <a:rPr lang="zh-CN" altLang="en-US" sz="2400" b="1">
                <a:solidFill>
                  <a:srgbClr val="FF0000"/>
                </a:solidFill>
              </a:rPr>
              <a:t>；</a:t>
            </a:r>
            <a:r>
              <a:rPr lang="en-US" altLang="zh-CN" sz="2400" b="1" i="1">
                <a:solidFill>
                  <a:srgbClr val="FF0000"/>
                </a:solidFill>
              </a:rPr>
              <a:t>L</a:t>
            </a:r>
            <a:r>
              <a:rPr lang="en-US" altLang="zh-CN" sz="2400" b="1" baseline="30000">
                <a:solidFill>
                  <a:srgbClr val="FF0000"/>
                </a:solidFill>
              </a:rPr>
              <a:t>3</a:t>
            </a:r>
            <a:r>
              <a:rPr lang="en-US" altLang="zh-CN" sz="2400" b="1">
                <a:solidFill>
                  <a:srgbClr val="FF0000"/>
                </a:solidFill>
              </a:rPr>
              <a:t>3</a:t>
            </a:r>
            <a:r>
              <a:rPr lang="en-US" altLang="zh-CN" sz="2400" b="1" i="1">
                <a:solidFill>
                  <a:srgbClr val="FF0000"/>
                </a:solidFill>
              </a:rPr>
              <a:t>P</a:t>
            </a:r>
            <a:r>
              <a:rPr lang="zh-CN" altLang="en-US" sz="2400" b="1">
                <a:solidFill>
                  <a:srgbClr val="FF0000"/>
                </a:solidFill>
              </a:rPr>
              <a:t>；</a:t>
            </a:r>
            <a:r>
              <a:rPr lang="en-US" altLang="zh-CN" sz="2400" b="1" i="1">
                <a:solidFill>
                  <a:srgbClr val="FF0000"/>
                </a:solidFill>
              </a:rPr>
              <a:t>L</a:t>
            </a:r>
            <a:r>
              <a:rPr lang="en-US" altLang="zh-CN" sz="2400" b="1" baseline="30000">
                <a:solidFill>
                  <a:srgbClr val="FF0000"/>
                </a:solidFill>
              </a:rPr>
              <a:t>4</a:t>
            </a:r>
            <a:r>
              <a:rPr lang="en-US" altLang="zh-CN" sz="2400" b="1">
                <a:solidFill>
                  <a:srgbClr val="FF0000"/>
                </a:solidFill>
              </a:rPr>
              <a:t>4</a:t>
            </a:r>
            <a:r>
              <a:rPr lang="en-US" altLang="zh-CN" sz="2400" b="1" i="1">
                <a:solidFill>
                  <a:srgbClr val="FF0000"/>
                </a:solidFill>
              </a:rPr>
              <a:t>P</a:t>
            </a:r>
            <a:r>
              <a:rPr lang="zh-CN" altLang="en-US" sz="2400" b="1">
                <a:solidFill>
                  <a:srgbClr val="FF0000"/>
                </a:solidFill>
              </a:rPr>
              <a:t>；</a:t>
            </a:r>
            <a:r>
              <a:rPr lang="en-US" altLang="zh-CN" sz="2400" b="1" i="1">
                <a:solidFill>
                  <a:srgbClr val="FF0000"/>
                </a:solidFill>
              </a:rPr>
              <a:t>L</a:t>
            </a:r>
            <a:r>
              <a:rPr lang="en-US" altLang="zh-CN" sz="2400" b="1" baseline="30000">
                <a:solidFill>
                  <a:srgbClr val="FF0000"/>
                </a:solidFill>
              </a:rPr>
              <a:t>6</a:t>
            </a:r>
            <a:r>
              <a:rPr lang="en-US" altLang="zh-CN" sz="2400" b="1">
                <a:solidFill>
                  <a:srgbClr val="FF0000"/>
                </a:solidFill>
              </a:rPr>
              <a:t>6</a:t>
            </a:r>
            <a:r>
              <a:rPr lang="en-US" altLang="zh-CN" sz="2400" b="1" i="1">
                <a:solidFill>
                  <a:srgbClr val="FF0000"/>
                </a:solidFill>
              </a:rPr>
              <a:t>P.</a:t>
            </a:r>
            <a:endParaRPr lang="zh-CN" altLang="en-US" sz="2000" b="1">
              <a:solidFill>
                <a:srgbClr val="FF0000"/>
              </a:solidFill>
            </a:endParaRPr>
          </a:p>
        </p:txBody>
      </p:sp>
      <p:sp>
        <p:nvSpPr>
          <p:cNvPr id="45060" name="Line 4"/>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1" name="Text Box 5"/>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6" name="Rectangle 4"/>
          <p:cNvSpPr>
            <a:spLocks noChangeArrowheads="1"/>
          </p:cNvSpPr>
          <p:nvPr/>
        </p:nvSpPr>
        <p:spPr bwMode="auto">
          <a:xfrm>
            <a:off x="710645" y="583656"/>
            <a:ext cx="792162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CN" sz="3600">
                <a:solidFill>
                  <a:srgbClr val="FF0000"/>
                </a:solidFill>
              </a:rPr>
              <a:t>Derivation of A</a:t>
            </a:r>
            <a:r>
              <a:rPr lang="zh-CN" altLang="en-US" sz="3600">
                <a:solidFill>
                  <a:srgbClr val="FF0000"/>
                </a:solidFill>
              </a:rPr>
              <a:t> </a:t>
            </a:r>
            <a:r>
              <a:rPr lang="en-US" altLang="zh-CN" sz="3600">
                <a:solidFill>
                  <a:srgbClr val="FF0000"/>
                </a:solidFill>
              </a:rPr>
              <a:t>type class of symmetry</a:t>
            </a:r>
          </a:p>
          <a:p>
            <a:pPr algn="ctr">
              <a:defRPr/>
            </a:pPr>
            <a:r>
              <a:rPr lang="en-US" altLang="zh-CN" sz="2800" b="0"/>
              <a:t>High axis (n&gt;2)</a:t>
            </a:r>
            <a:r>
              <a:rPr lang="zh-CN" altLang="en-US" sz="2800" b="0"/>
              <a:t> </a:t>
            </a:r>
            <a:r>
              <a:rPr lang="en-US" altLang="zh-CN" sz="2800" b="0"/>
              <a:t>no more than one</a:t>
            </a:r>
            <a:endParaRPr lang="zh-CN" altLang="en-US" sz="2800" b="0"/>
          </a:p>
        </p:txBody>
      </p:sp>
    </p:spTree>
  </p:cSld>
  <p:clrMapOvr>
    <a:masterClrMapping/>
  </p:clrMapOvr>
  <p:transition spd="med">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683568" y="1760736"/>
            <a:ext cx="8460432" cy="4764608"/>
          </a:xfrm>
        </p:spPr>
        <p:txBody>
          <a:bodyPr/>
          <a:lstStyle/>
          <a:p>
            <a:pPr marL="0" indent="0" eaLnBrk="1" hangingPunct="1">
              <a:lnSpc>
                <a:spcPct val="150000"/>
              </a:lnSpc>
              <a:buFontTx/>
              <a:buNone/>
              <a:defRPr/>
            </a:pPr>
            <a:r>
              <a:rPr lang="en-US" altLang="zh-CN" sz="2400" b="1"/>
              <a:t>5) Combination of </a:t>
            </a:r>
            <a:r>
              <a:rPr lang="en-US" altLang="zh-CN" sz="2400" b="1" i="1"/>
              <a:t>L</a:t>
            </a:r>
            <a:r>
              <a:rPr lang="en-US" altLang="zh-CN" sz="2400" b="1" i="1" baseline="30000"/>
              <a:t>n</a:t>
            </a:r>
            <a:r>
              <a:rPr lang="zh-CN" altLang="en-US" sz="2400" b="1" i="1" baseline="30000"/>
              <a:t> </a:t>
            </a:r>
            <a:r>
              <a:rPr lang="en-US" altLang="zh-CN" sz="2400" b="1"/>
              <a:t>and the P that is perpendicular it and the </a:t>
            </a:r>
            <a:r>
              <a:rPr lang="en-US" altLang="zh-CN" sz="2400" b="1" i="1"/>
              <a:t>P that </a:t>
            </a:r>
            <a:r>
              <a:rPr lang="en-US" altLang="zh-CN" sz="2400" b="1"/>
              <a:t>contains it.</a:t>
            </a:r>
            <a:r>
              <a:rPr lang="en-US" altLang="zh-CN" sz="2400" b="1" i="1"/>
              <a:t> </a:t>
            </a:r>
          </a:p>
          <a:p>
            <a:pPr marL="0" indent="0" eaLnBrk="1" hangingPunct="1">
              <a:lnSpc>
                <a:spcPct val="150000"/>
              </a:lnSpc>
              <a:buFontTx/>
              <a:buNone/>
              <a:defRPr/>
            </a:pPr>
            <a:r>
              <a:rPr lang="en-US" altLang="zh-CN" sz="2400" i="1"/>
              <a:t>    </a:t>
            </a:r>
            <a:r>
              <a:rPr lang="en-US" altLang="zh-CN" sz="2400"/>
              <a:t>The intersection between the </a:t>
            </a:r>
            <a:r>
              <a:rPr lang="en-US" altLang="zh-CN" sz="2400" i="1"/>
              <a:t>P </a:t>
            </a:r>
            <a:r>
              <a:rPr lang="en-US" altLang="zh-CN" sz="2400"/>
              <a:t>(perpendicular to </a:t>
            </a:r>
            <a:r>
              <a:rPr lang="en-US" altLang="zh-CN" sz="2400" i="1"/>
              <a:t>L</a:t>
            </a:r>
            <a:r>
              <a:rPr lang="en-US" altLang="zh-CN" sz="2400" i="1" baseline="30000"/>
              <a:t>n</a:t>
            </a:r>
            <a:r>
              <a:rPr lang="zh-CN" altLang="en-US" sz="2400"/>
              <a:t> </a:t>
            </a:r>
            <a:r>
              <a:rPr lang="en-US" altLang="zh-CN" sz="2400"/>
              <a:t>) and the </a:t>
            </a:r>
            <a:r>
              <a:rPr lang="en-US" altLang="zh-CN" sz="2400" i="1"/>
              <a:t>P</a:t>
            </a:r>
            <a:r>
              <a:rPr lang="zh-CN" altLang="en-US" sz="2400"/>
              <a:t> </a:t>
            </a:r>
            <a:r>
              <a:rPr lang="en-US" altLang="zh-CN" sz="2400"/>
              <a:t>(contains </a:t>
            </a:r>
            <a:r>
              <a:rPr lang="en-US" altLang="zh-CN" sz="2400" i="1"/>
              <a:t>L</a:t>
            </a:r>
            <a:r>
              <a:rPr lang="en-US" altLang="zh-CN" sz="2400" i="1" baseline="30000"/>
              <a:t>n  </a:t>
            </a:r>
            <a:r>
              <a:rPr lang="en-US" altLang="zh-CN" sz="2400"/>
              <a:t>) must be the </a:t>
            </a:r>
            <a:r>
              <a:rPr lang="en-US" altLang="zh-CN" sz="2400" i="1"/>
              <a:t>L</a:t>
            </a:r>
            <a:r>
              <a:rPr lang="en-US" altLang="zh-CN" sz="2400" baseline="30000"/>
              <a:t>2 </a:t>
            </a:r>
            <a:r>
              <a:rPr lang="en-US" altLang="zh-CN" sz="2400"/>
              <a:t>perpendicular to </a:t>
            </a:r>
            <a:r>
              <a:rPr lang="en-US" altLang="zh-CN" sz="2400" i="1"/>
              <a:t>L</a:t>
            </a:r>
            <a:r>
              <a:rPr lang="en-US" altLang="zh-CN" sz="2400" i="1" baseline="30000"/>
              <a:t>n</a:t>
            </a:r>
            <a:r>
              <a:rPr lang="zh-CN" altLang="en-US" sz="2400"/>
              <a:t> </a:t>
            </a:r>
            <a:r>
              <a:rPr lang="en-US" altLang="zh-CN" sz="2400"/>
              <a:t>. </a:t>
            </a:r>
          </a:p>
          <a:p>
            <a:pPr marL="0" indent="0" eaLnBrk="1" hangingPunct="1">
              <a:lnSpc>
                <a:spcPct val="150000"/>
              </a:lnSpc>
              <a:buFontTx/>
              <a:buNone/>
              <a:defRPr/>
            </a:pPr>
            <a:r>
              <a:rPr lang="en-US" altLang="zh-CN" sz="2400" i="1"/>
              <a:t>	</a:t>
            </a:r>
            <a:r>
              <a:rPr lang="en-US" altLang="zh-CN" sz="2400" b="1" i="1">
                <a:solidFill>
                  <a:srgbClr val="FF0000"/>
                </a:solidFill>
              </a:rPr>
              <a:t>L</a:t>
            </a:r>
            <a:r>
              <a:rPr lang="en-US" altLang="zh-CN" sz="2400" b="1" i="1" baseline="30000">
                <a:solidFill>
                  <a:srgbClr val="FF0000"/>
                </a:solidFill>
              </a:rPr>
              <a:t>n </a:t>
            </a:r>
            <a:r>
              <a:rPr lang="en-US" altLang="zh-CN" sz="2400" b="1" i="1">
                <a:solidFill>
                  <a:srgbClr val="FF0000"/>
                </a:solidFill>
                <a:sym typeface="Symbol" pitchFamily="18" charset="2"/>
              </a:rPr>
              <a:t></a:t>
            </a:r>
            <a:r>
              <a:rPr lang="en-US" altLang="zh-CN" sz="2400" b="1" i="1" baseline="30000">
                <a:solidFill>
                  <a:srgbClr val="FF0000"/>
                </a:solidFill>
              </a:rPr>
              <a:t> </a:t>
            </a:r>
            <a:r>
              <a:rPr lang="en-US" altLang="zh-CN" sz="2400" b="1" i="1">
                <a:solidFill>
                  <a:srgbClr val="FF0000"/>
                </a:solidFill>
              </a:rPr>
              <a:t>P</a:t>
            </a:r>
            <a:r>
              <a:rPr lang="en-US" altLang="zh-CN" sz="2400" b="1" i="1" baseline="-30000">
                <a:solidFill>
                  <a:srgbClr val="FF0000"/>
                </a:solidFill>
              </a:rPr>
              <a:t>⊥ </a:t>
            </a:r>
            <a:r>
              <a:rPr lang="en-US" altLang="zh-CN" sz="2400" b="1" i="1">
                <a:solidFill>
                  <a:srgbClr val="FF0000"/>
                </a:solidFill>
                <a:sym typeface="Symbol" pitchFamily="18" charset="2"/>
              </a:rPr>
              <a:t></a:t>
            </a:r>
            <a:r>
              <a:rPr lang="en-US" altLang="zh-CN" sz="2400" b="1" i="1" baseline="-30000">
                <a:solidFill>
                  <a:srgbClr val="FF0000"/>
                </a:solidFill>
              </a:rPr>
              <a:t> </a:t>
            </a:r>
            <a:r>
              <a:rPr lang="en-US" altLang="zh-CN" sz="2400" b="1" i="1">
                <a:solidFill>
                  <a:srgbClr val="FF0000"/>
                </a:solidFill>
              </a:rPr>
              <a:t>P</a:t>
            </a:r>
            <a:r>
              <a:rPr lang="en-US" altLang="zh-CN" sz="2400" b="1" i="1" baseline="-30000">
                <a:solidFill>
                  <a:srgbClr val="FF0000"/>
                </a:solidFill>
              </a:rPr>
              <a:t>∥</a:t>
            </a:r>
            <a:r>
              <a:rPr lang="en-US" altLang="zh-CN" sz="2400" b="1" i="1">
                <a:solidFill>
                  <a:srgbClr val="FF0000"/>
                </a:solidFill>
              </a:rPr>
              <a:t>=L</a:t>
            </a:r>
            <a:r>
              <a:rPr lang="en-US" altLang="zh-CN" sz="2400" b="1" i="1" baseline="30000">
                <a:solidFill>
                  <a:srgbClr val="FF0000"/>
                </a:solidFill>
              </a:rPr>
              <a:t>n </a:t>
            </a:r>
            <a:r>
              <a:rPr lang="en-US" altLang="zh-CN" sz="2400" b="1" i="1">
                <a:solidFill>
                  <a:srgbClr val="FF0000"/>
                </a:solidFill>
                <a:sym typeface="Symbol" pitchFamily="18" charset="2"/>
              </a:rPr>
              <a:t></a:t>
            </a:r>
            <a:r>
              <a:rPr lang="en-US" altLang="zh-CN" sz="2400" b="1" i="1" baseline="30000">
                <a:solidFill>
                  <a:srgbClr val="FF0000"/>
                </a:solidFill>
              </a:rPr>
              <a:t> </a:t>
            </a:r>
            <a:r>
              <a:rPr lang="en-US" altLang="zh-CN" sz="2400" b="1" i="1">
                <a:solidFill>
                  <a:srgbClr val="FF0000"/>
                </a:solidFill>
              </a:rPr>
              <a:t>P</a:t>
            </a:r>
            <a:r>
              <a:rPr lang="en-US" altLang="zh-CN" sz="2400" b="1" i="1" baseline="-30000">
                <a:solidFill>
                  <a:srgbClr val="FF0000"/>
                </a:solidFill>
              </a:rPr>
              <a:t>⊥ </a:t>
            </a:r>
            <a:r>
              <a:rPr lang="en-US" altLang="zh-CN" sz="2400" b="1" i="1">
                <a:solidFill>
                  <a:srgbClr val="FF0000"/>
                </a:solidFill>
                <a:sym typeface="Symbol" pitchFamily="18" charset="2"/>
              </a:rPr>
              <a:t></a:t>
            </a:r>
            <a:r>
              <a:rPr lang="en-US" altLang="zh-CN" sz="2400" b="1" i="1" baseline="-30000">
                <a:solidFill>
                  <a:srgbClr val="FF0000"/>
                </a:solidFill>
              </a:rPr>
              <a:t> </a:t>
            </a:r>
            <a:r>
              <a:rPr lang="en-US" altLang="zh-CN" sz="2400" b="1" i="1">
                <a:solidFill>
                  <a:srgbClr val="FF0000"/>
                </a:solidFill>
              </a:rPr>
              <a:t>P</a:t>
            </a:r>
            <a:r>
              <a:rPr lang="en-US" altLang="zh-CN" sz="2400" b="1" i="1" baseline="-30000">
                <a:solidFill>
                  <a:srgbClr val="FF0000"/>
                </a:solidFill>
              </a:rPr>
              <a:t>∥ </a:t>
            </a:r>
            <a:r>
              <a:rPr lang="en-US" altLang="zh-CN" sz="2400" b="1" i="1">
                <a:solidFill>
                  <a:srgbClr val="FF0000"/>
                </a:solidFill>
                <a:sym typeface="Symbol" pitchFamily="18" charset="2"/>
              </a:rPr>
              <a:t></a:t>
            </a:r>
            <a:r>
              <a:rPr lang="en-US" altLang="zh-CN" sz="2400" b="1" i="1" baseline="-30000">
                <a:solidFill>
                  <a:srgbClr val="FF0000"/>
                </a:solidFill>
              </a:rPr>
              <a:t> </a:t>
            </a:r>
            <a:r>
              <a:rPr lang="en-US" altLang="zh-CN" sz="2400" b="1" i="1">
                <a:solidFill>
                  <a:srgbClr val="FF0000"/>
                </a:solidFill>
              </a:rPr>
              <a:t>L</a:t>
            </a:r>
            <a:r>
              <a:rPr lang="en-US" altLang="zh-CN" sz="2400" b="1" i="1" baseline="30000">
                <a:solidFill>
                  <a:srgbClr val="FF0000"/>
                </a:solidFill>
              </a:rPr>
              <a:t>2</a:t>
            </a:r>
            <a:r>
              <a:rPr lang="en-US" altLang="zh-CN" sz="2400" b="1" i="1" baseline="-30000">
                <a:solidFill>
                  <a:srgbClr val="FF0000"/>
                </a:solidFill>
              </a:rPr>
              <a:t>⊥</a:t>
            </a:r>
            <a:r>
              <a:rPr lang="en-US" altLang="zh-CN" sz="2400" b="1" i="1" baseline="30000">
                <a:solidFill>
                  <a:srgbClr val="FF0000"/>
                </a:solidFill>
              </a:rPr>
              <a:t> </a:t>
            </a:r>
            <a:r>
              <a:rPr lang="en-US" altLang="zh-CN" sz="2400" b="1" i="1">
                <a:solidFill>
                  <a:srgbClr val="FF0000"/>
                </a:solidFill>
              </a:rPr>
              <a:t>=L</a:t>
            </a:r>
            <a:r>
              <a:rPr lang="en-US" altLang="zh-CN" sz="2400" b="1" i="1" baseline="30000">
                <a:solidFill>
                  <a:srgbClr val="FF0000"/>
                </a:solidFill>
              </a:rPr>
              <a:t>n</a:t>
            </a:r>
            <a:r>
              <a:rPr lang="en-US" altLang="zh-CN" sz="2400" b="1" i="1">
                <a:solidFill>
                  <a:srgbClr val="FF0000"/>
                </a:solidFill>
              </a:rPr>
              <a:t>nL</a:t>
            </a:r>
            <a:r>
              <a:rPr lang="en-US" altLang="zh-CN" sz="2400" b="1" i="1" baseline="30000">
                <a:solidFill>
                  <a:srgbClr val="FF0000"/>
                </a:solidFill>
              </a:rPr>
              <a:t>2</a:t>
            </a:r>
            <a:r>
              <a:rPr lang="en-US" altLang="zh-CN" sz="2400" b="1" i="1">
                <a:solidFill>
                  <a:srgbClr val="FF0000"/>
                </a:solidFill>
              </a:rPr>
              <a:t>(n + 1)P</a:t>
            </a:r>
            <a:r>
              <a:rPr lang="zh-CN" altLang="en-US" sz="2400" b="1" i="1">
                <a:solidFill>
                  <a:srgbClr val="FF0000"/>
                </a:solidFill>
              </a:rPr>
              <a:t> </a:t>
            </a:r>
            <a:r>
              <a:rPr lang="en-US" altLang="zh-CN" sz="2400" b="1" i="1">
                <a:solidFill>
                  <a:srgbClr val="FF0000"/>
                </a:solidFill>
              </a:rPr>
              <a:t>(C)</a:t>
            </a:r>
          </a:p>
          <a:p>
            <a:pPr marL="0" indent="0" eaLnBrk="1" hangingPunct="1">
              <a:lnSpc>
                <a:spcPct val="150000"/>
              </a:lnSpc>
              <a:buFontTx/>
              <a:buNone/>
              <a:defRPr/>
            </a:pPr>
            <a:r>
              <a:rPr lang="en-US" altLang="zh-CN" sz="2400"/>
              <a:t>(C is generated only in the case of n is even ).</a:t>
            </a:r>
          </a:p>
          <a:p>
            <a:pPr marL="0" indent="0" eaLnBrk="1" hangingPunct="1">
              <a:lnSpc>
                <a:spcPct val="150000"/>
              </a:lnSpc>
              <a:buFontTx/>
              <a:buNone/>
              <a:defRPr/>
            </a:pPr>
            <a:r>
              <a:rPr lang="en-US" altLang="zh-CN" sz="2400"/>
              <a:t>     </a:t>
            </a:r>
            <a:endParaRPr lang="zh-CN" altLang="en-US" sz="2400" b="1">
              <a:solidFill>
                <a:srgbClr val="FF0000"/>
              </a:solidFill>
            </a:endParaRPr>
          </a:p>
        </p:txBody>
      </p:sp>
      <p:sp>
        <p:nvSpPr>
          <p:cNvPr id="25604" name="Rectangle 4"/>
          <p:cNvSpPr>
            <a:spLocks noChangeArrowheads="1"/>
          </p:cNvSpPr>
          <p:nvPr/>
        </p:nvSpPr>
        <p:spPr bwMode="auto">
          <a:xfrm>
            <a:off x="755650" y="692150"/>
            <a:ext cx="792162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CN" sz="3200">
                <a:solidFill>
                  <a:srgbClr val="FF0000"/>
                </a:solidFill>
              </a:rPr>
              <a:t>Derivation of A</a:t>
            </a:r>
            <a:r>
              <a:rPr lang="zh-CN" altLang="en-US" sz="3200">
                <a:solidFill>
                  <a:srgbClr val="FF0000"/>
                </a:solidFill>
              </a:rPr>
              <a:t> </a:t>
            </a:r>
            <a:r>
              <a:rPr lang="en-US" altLang="zh-CN" sz="3200">
                <a:solidFill>
                  <a:srgbClr val="FF0000"/>
                </a:solidFill>
              </a:rPr>
              <a:t>type class of symmetry</a:t>
            </a:r>
          </a:p>
          <a:p>
            <a:pPr algn="ctr">
              <a:defRPr/>
            </a:pPr>
            <a:r>
              <a:rPr lang="en-US" altLang="zh-CN" sz="2400" b="0"/>
              <a:t>High axis (n&gt;2)</a:t>
            </a:r>
            <a:r>
              <a:rPr lang="zh-CN" altLang="en-US" sz="2400" b="0"/>
              <a:t> </a:t>
            </a:r>
            <a:r>
              <a:rPr lang="en-US" altLang="zh-CN" sz="2400" b="0"/>
              <a:t>no more than one</a:t>
            </a:r>
            <a:endParaRPr lang="zh-CN" altLang="en-US" sz="2400" b="0"/>
          </a:p>
        </p:txBody>
      </p:sp>
      <p:sp>
        <p:nvSpPr>
          <p:cNvPr id="46085"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86"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3" name="Picture 3" descr="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1988840"/>
            <a:ext cx="7239000" cy="260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Rectangle 4"/>
          <p:cNvSpPr>
            <a:spLocks noChangeArrowheads="1"/>
          </p:cNvSpPr>
          <p:nvPr/>
        </p:nvSpPr>
        <p:spPr bwMode="auto">
          <a:xfrm>
            <a:off x="755650" y="692150"/>
            <a:ext cx="792162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CN" sz="3200">
                <a:solidFill>
                  <a:srgbClr val="FF0000"/>
                </a:solidFill>
              </a:rPr>
              <a:t>Derivation of A</a:t>
            </a:r>
            <a:r>
              <a:rPr lang="zh-CN" altLang="en-US" sz="3200">
                <a:solidFill>
                  <a:srgbClr val="FF0000"/>
                </a:solidFill>
              </a:rPr>
              <a:t> </a:t>
            </a:r>
            <a:r>
              <a:rPr lang="en-US" altLang="zh-CN" sz="3200">
                <a:solidFill>
                  <a:srgbClr val="FF0000"/>
                </a:solidFill>
              </a:rPr>
              <a:t>type class of symmetry</a:t>
            </a:r>
          </a:p>
          <a:p>
            <a:pPr algn="ctr">
              <a:defRPr/>
            </a:pPr>
            <a:r>
              <a:rPr lang="en-US" altLang="zh-CN" sz="2400" b="0"/>
              <a:t>High axis (n&gt;2)</a:t>
            </a:r>
            <a:r>
              <a:rPr lang="zh-CN" altLang="en-US" sz="2400" b="0"/>
              <a:t> </a:t>
            </a:r>
            <a:r>
              <a:rPr lang="en-US" altLang="zh-CN" sz="2400" b="0"/>
              <a:t>no more than one</a:t>
            </a:r>
            <a:endParaRPr lang="zh-CN" altLang="en-US" sz="2400" b="0"/>
          </a:p>
        </p:txBody>
      </p:sp>
      <p:sp>
        <p:nvSpPr>
          <p:cNvPr id="46085"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86"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4" name="Rectangle 3"/>
          <p:cNvSpPr/>
          <p:nvPr/>
        </p:nvSpPr>
        <p:spPr>
          <a:xfrm>
            <a:off x="971550" y="4869160"/>
            <a:ext cx="7776914" cy="1495794"/>
          </a:xfrm>
          <a:prstGeom prst="rect">
            <a:avLst/>
          </a:prstGeom>
        </p:spPr>
        <p:txBody>
          <a:bodyPr wrap="square">
            <a:spAutoFit/>
          </a:bodyPr>
          <a:lstStyle/>
          <a:p>
            <a:pPr lvl="0">
              <a:lnSpc>
                <a:spcPct val="120000"/>
              </a:lnSpc>
              <a:spcBef>
                <a:spcPct val="20000"/>
              </a:spcBef>
              <a:defRPr/>
            </a:pPr>
            <a:r>
              <a:rPr lang="en-US" altLang="zh-CN" sz="2400" kern="0">
                <a:solidFill>
                  <a:srgbClr val="000000"/>
                </a:solidFill>
                <a:latin typeface="Times New Roman"/>
                <a:ea typeface="宋体"/>
              </a:rPr>
              <a:t>The possible class of symmetry</a:t>
            </a:r>
            <a:r>
              <a:rPr lang="zh-CN" altLang="en-US" sz="2400" kern="0">
                <a:solidFill>
                  <a:srgbClr val="000000"/>
                </a:solidFill>
                <a:latin typeface="Times New Roman"/>
                <a:ea typeface="宋体"/>
              </a:rPr>
              <a:t>：</a:t>
            </a:r>
            <a:endParaRPr lang="en-US" altLang="zh-CN" sz="2400" kern="0">
              <a:solidFill>
                <a:srgbClr val="000000"/>
              </a:solidFill>
              <a:latin typeface="Times New Roman"/>
              <a:ea typeface="宋体"/>
            </a:endParaRPr>
          </a:p>
          <a:p>
            <a:pPr lvl="0">
              <a:lnSpc>
                <a:spcPct val="120000"/>
              </a:lnSpc>
              <a:spcBef>
                <a:spcPct val="20000"/>
              </a:spcBef>
              <a:defRPr/>
            </a:pPr>
            <a:r>
              <a:rPr lang="zh-CN" altLang="en-US" sz="2400" kern="0">
                <a:solidFill>
                  <a:srgbClr val="FF0000"/>
                </a:solidFill>
                <a:latin typeface="Times New Roman"/>
                <a:ea typeface="宋体"/>
              </a:rPr>
              <a:t>（</a:t>
            </a:r>
            <a:r>
              <a:rPr lang="en-US" altLang="zh-CN" sz="2400" i="1" kern="0">
                <a:solidFill>
                  <a:srgbClr val="FF0000"/>
                </a:solidFill>
                <a:latin typeface="Times New Roman"/>
                <a:ea typeface="宋体"/>
              </a:rPr>
              <a:t>L</a:t>
            </a:r>
            <a:r>
              <a:rPr lang="en-US" altLang="zh-CN" sz="2400" kern="0" baseline="30000">
                <a:solidFill>
                  <a:srgbClr val="FF0000"/>
                </a:solidFill>
                <a:latin typeface="Times New Roman"/>
                <a:ea typeface="宋体"/>
              </a:rPr>
              <a:t>1</a:t>
            </a:r>
            <a:r>
              <a:rPr lang="en-US" altLang="zh-CN" sz="2400" i="1" kern="0">
                <a:solidFill>
                  <a:srgbClr val="FF0000"/>
                </a:solidFill>
                <a:latin typeface="Times New Roman"/>
                <a:ea typeface="宋体"/>
              </a:rPr>
              <a:t>L</a:t>
            </a:r>
            <a:r>
              <a:rPr lang="en-US" altLang="zh-CN" sz="2400" kern="0" baseline="30000">
                <a:solidFill>
                  <a:srgbClr val="FF0000"/>
                </a:solidFill>
                <a:latin typeface="Times New Roman"/>
                <a:ea typeface="宋体"/>
              </a:rPr>
              <a:t>2</a:t>
            </a:r>
            <a:r>
              <a:rPr lang="en-US" altLang="zh-CN" sz="2400" kern="0">
                <a:solidFill>
                  <a:srgbClr val="FF0000"/>
                </a:solidFill>
                <a:latin typeface="Times New Roman"/>
                <a:ea typeface="宋体"/>
              </a:rPr>
              <a:t>2</a:t>
            </a:r>
            <a:r>
              <a:rPr lang="en-US" altLang="zh-CN" sz="2400" i="1" kern="0">
                <a:solidFill>
                  <a:srgbClr val="FF0000"/>
                </a:solidFill>
                <a:latin typeface="Times New Roman"/>
                <a:ea typeface="宋体"/>
              </a:rPr>
              <a:t>P</a:t>
            </a:r>
            <a:r>
              <a:rPr lang="en-US" altLang="zh-CN" sz="2400" kern="0">
                <a:solidFill>
                  <a:srgbClr val="FF0000"/>
                </a:solidFill>
                <a:latin typeface="Times New Roman"/>
                <a:ea typeface="宋体"/>
              </a:rPr>
              <a:t>=</a:t>
            </a:r>
            <a:r>
              <a:rPr lang="en-US" altLang="zh-CN" sz="2400" i="1" kern="0">
                <a:solidFill>
                  <a:srgbClr val="FF0000"/>
                </a:solidFill>
                <a:latin typeface="Times New Roman"/>
                <a:ea typeface="宋体"/>
              </a:rPr>
              <a:t>L</a:t>
            </a:r>
            <a:r>
              <a:rPr lang="en-US" altLang="zh-CN" sz="2400" kern="0" baseline="30000">
                <a:solidFill>
                  <a:srgbClr val="FF0000"/>
                </a:solidFill>
                <a:latin typeface="Times New Roman"/>
                <a:ea typeface="宋体"/>
              </a:rPr>
              <a:t>2</a:t>
            </a:r>
            <a:r>
              <a:rPr lang="en-US" altLang="zh-CN" sz="2400" kern="0">
                <a:solidFill>
                  <a:srgbClr val="FF0000"/>
                </a:solidFill>
                <a:latin typeface="Times New Roman"/>
                <a:ea typeface="宋体"/>
              </a:rPr>
              <a:t>2</a:t>
            </a:r>
            <a:r>
              <a:rPr lang="en-US" altLang="zh-CN" sz="2400" i="1" kern="0">
                <a:solidFill>
                  <a:srgbClr val="FF0000"/>
                </a:solidFill>
                <a:latin typeface="Times New Roman"/>
                <a:ea typeface="宋体"/>
              </a:rPr>
              <a:t>P</a:t>
            </a:r>
            <a:r>
              <a:rPr lang="en-US" altLang="zh-CN" sz="2400" kern="0">
                <a:solidFill>
                  <a:srgbClr val="FF0000"/>
                </a:solidFill>
                <a:latin typeface="宋体" pitchFamily="2" charset="-122"/>
                <a:ea typeface="宋体"/>
              </a:rPr>
              <a:t>)</a:t>
            </a:r>
            <a:r>
              <a:rPr lang="en-US" altLang="zh-CN" sz="2400" kern="0">
                <a:solidFill>
                  <a:srgbClr val="FF0000"/>
                </a:solidFill>
                <a:latin typeface="Times New Roman"/>
                <a:ea typeface="宋体"/>
              </a:rPr>
              <a:t>; </a:t>
            </a:r>
            <a:r>
              <a:rPr lang="en-US" altLang="zh-CN" sz="2400" i="1" kern="0">
                <a:solidFill>
                  <a:srgbClr val="FF0000"/>
                </a:solidFill>
                <a:latin typeface="Times New Roman"/>
                <a:ea typeface="宋体"/>
              </a:rPr>
              <a:t>L</a:t>
            </a:r>
            <a:r>
              <a:rPr lang="en-US" altLang="zh-CN" sz="2400" kern="0" baseline="30000">
                <a:solidFill>
                  <a:srgbClr val="FF0000"/>
                </a:solidFill>
                <a:latin typeface="Times New Roman"/>
                <a:ea typeface="宋体"/>
              </a:rPr>
              <a:t>2</a:t>
            </a:r>
            <a:r>
              <a:rPr lang="en-US" altLang="zh-CN" sz="2400" kern="0">
                <a:solidFill>
                  <a:srgbClr val="FF0000"/>
                </a:solidFill>
                <a:latin typeface="Times New Roman"/>
                <a:ea typeface="宋体"/>
              </a:rPr>
              <a:t>2</a:t>
            </a:r>
            <a:r>
              <a:rPr lang="en-US" altLang="zh-CN" sz="2400" i="1" kern="0">
                <a:solidFill>
                  <a:srgbClr val="FF0000"/>
                </a:solidFill>
                <a:latin typeface="Times New Roman"/>
                <a:ea typeface="宋体"/>
              </a:rPr>
              <a:t>L</a:t>
            </a:r>
            <a:r>
              <a:rPr lang="en-US" altLang="zh-CN" sz="2400" kern="0" baseline="30000">
                <a:solidFill>
                  <a:srgbClr val="FF0000"/>
                </a:solidFill>
                <a:latin typeface="Times New Roman"/>
                <a:ea typeface="宋体"/>
              </a:rPr>
              <a:t>2</a:t>
            </a:r>
            <a:r>
              <a:rPr lang="en-US" altLang="zh-CN" sz="2400" kern="0">
                <a:solidFill>
                  <a:srgbClr val="FF0000"/>
                </a:solidFill>
                <a:latin typeface="Times New Roman"/>
                <a:ea typeface="宋体"/>
              </a:rPr>
              <a:t>3</a:t>
            </a:r>
            <a:r>
              <a:rPr lang="en-US" altLang="zh-CN" sz="2400" i="1" kern="0">
                <a:solidFill>
                  <a:srgbClr val="FF0000"/>
                </a:solidFill>
                <a:latin typeface="Times New Roman"/>
                <a:ea typeface="宋体"/>
              </a:rPr>
              <a:t>PC</a:t>
            </a:r>
            <a:r>
              <a:rPr lang="en-US" altLang="zh-CN" sz="2400" kern="0">
                <a:solidFill>
                  <a:srgbClr val="FF0000"/>
                </a:solidFill>
                <a:latin typeface="Times New Roman"/>
                <a:ea typeface="宋体"/>
              </a:rPr>
              <a:t>=3</a:t>
            </a:r>
            <a:r>
              <a:rPr lang="en-US" altLang="zh-CN" sz="2400" i="1" kern="0">
                <a:solidFill>
                  <a:srgbClr val="FF0000"/>
                </a:solidFill>
                <a:latin typeface="Times New Roman"/>
                <a:ea typeface="宋体"/>
              </a:rPr>
              <a:t>L</a:t>
            </a:r>
            <a:r>
              <a:rPr lang="en-US" altLang="zh-CN" sz="2400" kern="0" baseline="30000">
                <a:solidFill>
                  <a:srgbClr val="FF0000"/>
                </a:solidFill>
                <a:latin typeface="Times New Roman"/>
                <a:ea typeface="宋体"/>
              </a:rPr>
              <a:t>2</a:t>
            </a:r>
            <a:r>
              <a:rPr lang="en-US" altLang="zh-CN" sz="2400" kern="0">
                <a:solidFill>
                  <a:srgbClr val="FF0000"/>
                </a:solidFill>
                <a:latin typeface="Times New Roman"/>
                <a:ea typeface="宋体"/>
              </a:rPr>
              <a:t>3</a:t>
            </a:r>
            <a:r>
              <a:rPr lang="en-US" altLang="zh-CN" sz="2400" i="1" kern="0">
                <a:solidFill>
                  <a:srgbClr val="FF0000"/>
                </a:solidFill>
                <a:latin typeface="Times New Roman"/>
                <a:ea typeface="宋体"/>
              </a:rPr>
              <a:t>PC;</a:t>
            </a:r>
            <a:r>
              <a:rPr lang="en-US" altLang="zh-CN" sz="2400" kern="0">
                <a:solidFill>
                  <a:srgbClr val="FF0000"/>
                </a:solidFill>
                <a:latin typeface="宋体" pitchFamily="2" charset="-122"/>
                <a:ea typeface="宋体"/>
              </a:rPr>
              <a:t>(</a:t>
            </a:r>
            <a:r>
              <a:rPr lang="en-US" altLang="zh-CN" sz="2400" i="1" kern="0">
                <a:solidFill>
                  <a:srgbClr val="FF0000"/>
                </a:solidFill>
                <a:latin typeface="Times New Roman"/>
                <a:ea typeface="宋体"/>
              </a:rPr>
              <a:t>L</a:t>
            </a:r>
            <a:r>
              <a:rPr lang="en-US" altLang="zh-CN" sz="2400" kern="0" baseline="30000">
                <a:solidFill>
                  <a:srgbClr val="FF0000"/>
                </a:solidFill>
                <a:latin typeface="Times New Roman"/>
                <a:ea typeface="宋体"/>
              </a:rPr>
              <a:t>3</a:t>
            </a:r>
            <a:r>
              <a:rPr lang="en-US" altLang="zh-CN" sz="2400" kern="0">
                <a:solidFill>
                  <a:srgbClr val="FF0000"/>
                </a:solidFill>
                <a:latin typeface="Times New Roman"/>
                <a:ea typeface="宋体"/>
              </a:rPr>
              <a:t>3</a:t>
            </a:r>
            <a:r>
              <a:rPr lang="en-US" altLang="zh-CN" sz="2400" i="1" kern="0">
                <a:solidFill>
                  <a:srgbClr val="FF0000"/>
                </a:solidFill>
                <a:latin typeface="Times New Roman"/>
                <a:ea typeface="宋体"/>
              </a:rPr>
              <a:t>L</a:t>
            </a:r>
            <a:r>
              <a:rPr lang="en-US" altLang="zh-CN" sz="2400" kern="0" baseline="30000">
                <a:solidFill>
                  <a:srgbClr val="FF0000"/>
                </a:solidFill>
                <a:latin typeface="Times New Roman"/>
                <a:ea typeface="宋体"/>
              </a:rPr>
              <a:t>2</a:t>
            </a:r>
            <a:r>
              <a:rPr lang="en-US" altLang="zh-CN" sz="2400" kern="0">
                <a:solidFill>
                  <a:srgbClr val="FF0000"/>
                </a:solidFill>
                <a:latin typeface="Times New Roman"/>
                <a:ea typeface="宋体"/>
              </a:rPr>
              <a:t>4</a:t>
            </a:r>
            <a:r>
              <a:rPr lang="en-US" altLang="zh-CN" sz="2400" i="1" kern="0">
                <a:solidFill>
                  <a:srgbClr val="FF0000"/>
                </a:solidFill>
                <a:latin typeface="Times New Roman"/>
                <a:ea typeface="宋体"/>
              </a:rPr>
              <a:t>P</a:t>
            </a:r>
            <a:r>
              <a:rPr lang="en-US" altLang="zh-CN" sz="2400" kern="0">
                <a:solidFill>
                  <a:srgbClr val="FF0000"/>
                </a:solidFill>
                <a:latin typeface="Times New Roman"/>
                <a:ea typeface="宋体"/>
              </a:rPr>
              <a:t>=</a:t>
            </a:r>
            <a:r>
              <a:rPr lang="en-US" altLang="zh-CN" sz="2400" i="1" kern="0">
                <a:solidFill>
                  <a:srgbClr val="FF0000"/>
                </a:solidFill>
                <a:latin typeface="Times New Roman"/>
                <a:ea typeface="宋体"/>
              </a:rPr>
              <a:t>L</a:t>
            </a:r>
            <a:r>
              <a:rPr lang="en-US" altLang="zh-CN" sz="2400" i="1" kern="0" baseline="-25000">
                <a:solidFill>
                  <a:srgbClr val="FF0000"/>
                </a:solidFill>
                <a:latin typeface="Times New Roman"/>
                <a:ea typeface="宋体"/>
              </a:rPr>
              <a:t>i</a:t>
            </a:r>
            <a:r>
              <a:rPr lang="en-US" altLang="zh-CN" sz="2400" i="1" kern="0" baseline="30000">
                <a:solidFill>
                  <a:srgbClr val="FF0000"/>
                </a:solidFill>
                <a:latin typeface="Times New Roman"/>
                <a:ea typeface="宋体"/>
              </a:rPr>
              <a:t>6</a:t>
            </a:r>
            <a:r>
              <a:rPr lang="en-US" altLang="zh-CN" sz="2400" kern="0">
                <a:solidFill>
                  <a:srgbClr val="FF0000"/>
                </a:solidFill>
                <a:latin typeface="Times New Roman"/>
                <a:ea typeface="宋体"/>
              </a:rPr>
              <a:t>3</a:t>
            </a:r>
            <a:r>
              <a:rPr lang="en-US" altLang="zh-CN" sz="2400" i="1" kern="0">
                <a:solidFill>
                  <a:srgbClr val="FF0000"/>
                </a:solidFill>
                <a:latin typeface="Times New Roman"/>
                <a:ea typeface="宋体"/>
              </a:rPr>
              <a:t>L</a:t>
            </a:r>
            <a:r>
              <a:rPr lang="en-US" altLang="zh-CN" sz="2400" kern="0" baseline="30000">
                <a:solidFill>
                  <a:srgbClr val="FF0000"/>
                </a:solidFill>
                <a:latin typeface="Times New Roman"/>
                <a:ea typeface="宋体"/>
              </a:rPr>
              <a:t>2</a:t>
            </a:r>
            <a:r>
              <a:rPr lang="en-US" altLang="zh-CN" sz="2400" kern="0">
                <a:solidFill>
                  <a:srgbClr val="FF0000"/>
                </a:solidFill>
                <a:latin typeface="Times New Roman"/>
                <a:ea typeface="宋体"/>
              </a:rPr>
              <a:t>3</a:t>
            </a:r>
            <a:r>
              <a:rPr lang="en-US" altLang="zh-CN" sz="2400" i="1" kern="0">
                <a:solidFill>
                  <a:srgbClr val="FF0000"/>
                </a:solidFill>
                <a:latin typeface="Times New Roman"/>
                <a:ea typeface="宋体"/>
              </a:rPr>
              <a:t>P</a:t>
            </a:r>
            <a:r>
              <a:rPr lang="en-US" altLang="zh-CN" sz="2400" kern="0">
                <a:solidFill>
                  <a:srgbClr val="FF0000"/>
                </a:solidFill>
                <a:latin typeface="宋体" pitchFamily="2" charset="-122"/>
                <a:ea typeface="宋体"/>
              </a:rPr>
              <a:t>)</a:t>
            </a:r>
            <a:r>
              <a:rPr lang="en-US" altLang="zh-CN" sz="2400" i="1" kern="0">
                <a:solidFill>
                  <a:srgbClr val="FF0000"/>
                </a:solidFill>
                <a:latin typeface="Times New Roman"/>
                <a:ea typeface="宋体"/>
              </a:rPr>
              <a:t>; L</a:t>
            </a:r>
            <a:r>
              <a:rPr lang="en-US" altLang="zh-CN" sz="2400" kern="0" baseline="30000">
                <a:solidFill>
                  <a:srgbClr val="FF0000"/>
                </a:solidFill>
                <a:latin typeface="Times New Roman"/>
                <a:ea typeface="宋体"/>
              </a:rPr>
              <a:t>4</a:t>
            </a:r>
            <a:r>
              <a:rPr lang="en-US" altLang="zh-CN" sz="2400" kern="0">
                <a:solidFill>
                  <a:srgbClr val="FF0000"/>
                </a:solidFill>
                <a:latin typeface="Times New Roman"/>
                <a:ea typeface="宋体"/>
              </a:rPr>
              <a:t>4</a:t>
            </a:r>
            <a:r>
              <a:rPr lang="en-US" altLang="zh-CN" sz="2400" i="1" kern="0">
                <a:solidFill>
                  <a:srgbClr val="FF0000"/>
                </a:solidFill>
                <a:latin typeface="Times New Roman"/>
                <a:ea typeface="宋体"/>
              </a:rPr>
              <a:t>L</a:t>
            </a:r>
            <a:r>
              <a:rPr lang="en-US" altLang="zh-CN" sz="2400" kern="0" baseline="30000">
                <a:solidFill>
                  <a:srgbClr val="FF0000"/>
                </a:solidFill>
                <a:latin typeface="Times New Roman"/>
                <a:ea typeface="宋体"/>
              </a:rPr>
              <a:t>2</a:t>
            </a:r>
            <a:r>
              <a:rPr lang="en-US" altLang="zh-CN" sz="2400" kern="0">
                <a:solidFill>
                  <a:srgbClr val="FF0000"/>
                </a:solidFill>
                <a:latin typeface="Times New Roman"/>
                <a:ea typeface="宋体"/>
              </a:rPr>
              <a:t>5</a:t>
            </a:r>
            <a:r>
              <a:rPr lang="en-US" altLang="zh-CN" sz="2400" i="1" kern="0">
                <a:solidFill>
                  <a:srgbClr val="FF0000"/>
                </a:solidFill>
                <a:latin typeface="Times New Roman"/>
                <a:ea typeface="宋体"/>
              </a:rPr>
              <a:t>PC; L</a:t>
            </a:r>
            <a:r>
              <a:rPr lang="en-US" altLang="zh-CN" sz="2400" kern="0" baseline="30000">
                <a:solidFill>
                  <a:srgbClr val="FF0000"/>
                </a:solidFill>
                <a:latin typeface="Times New Roman"/>
                <a:ea typeface="宋体"/>
              </a:rPr>
              <a:t>6</a:t>
            </a:r>
            <a:r>
              <a:rPr lang="en-US" altLang="zh-CN" sz="2400" kern="0">
                <a:solidFill>
                  <a:srgbClr val="FF0000"/>
                </a:solidFill>
                <a:latin typeface="Times New Roman"/>
                <a:ea typeface="宋体"/>
              </a:rPr>
              <a:t>6</a:t>
            </a:r>
            <a:r>
              <a:rPr lang="en-US" altLang="zh-CN" sz="2400" i="1" kern="0">
                <a:solidFill>
                  <a:srgbClr val="FF0000"/>
                </a:solidFill>
                <a:latin typeface="Times New Roman"/>
                <a:ea typeface="宋体"/>
              </a:rPr>
              <a:t>L</a:t>
            </a:r>
            <a:r>
              <a:rPr lang="en-US" altLang="zh-CN" sz="2400" kern="0" baseline="30000">
                <a:solidFill>
                  <a:srgbClr val="FF0000"/>
                </a:solidFill>
                <a:latin typeface="Times New Roman"/>
                <a:ea typeface="宋体"/>
              </a:rPr>
              <a:t>2</a:t>
            </a:r>
            <a:r>
              <a:rPr lang="en-US" altLang="zh-CN" sz="2400" kern="0">
                <a:solidFill>
                  <a:srgbClr val="FF0000"/>
                </a:solidFill>
                <a:latin typeface="Times New Roman"/>
                <a:ea typeface="宋体"/>
              </a:rPr>
              <a:t>7</a:t>
            </a:r>
            <a:r>
              <a:rPr lang="en-US" altLang="zh-CN" sz="2400" i="1" kern="0">
                <a:solidFill>
                  <a:srgbClr val="FF0000"/>
                </a:solidFill>
                <a:latin typeface="Times New Roman"/>
                <a:ea typeface="宋体"/>
              </a:rPr>
              <a:t>PC</a:t>
            </a:r>
            <a:r>
              <a:rPr lang="zh-CN" altLang="en-US" sz="2400" kern="0">
                <a:solidFill>
                  <a:srgbClr val="FF0000"/>
                </a:solidFill>
                <a:latin typeface="Times New Roman"/>
                <a:ea typeface="宋体"/>
              </a:rPr>
              <a:t>。</a:t>
            </a:r>
          </a:p>
        </p:txBody>
      </p:sp>
    </p:spTree>
    <p:extLst>
      <p:ext uri="{BB962C8B-B14F-4D97-AF65-F5344CB8AC3E}">
        <p14:creationId xmlns:p14="http://schemas.microsoft.com/office/powerpoint/2010/main" val="3924793824"/>
      </p:ext>
    </p:extLst>
  </p:cSld>
  <p:clrMapOvr>
    <a:masterClrMapping/>
  </p:clrMapOvr>
  <p:transition spd="med">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subTitle" idx="1"/>
          </p:nvPr>
        </p:nvSpPr>
        <p:spPr>
          <a:xfrm>
            <a:off x="684213" y="1823000"/>
            <a:ext cx="8280275" cy="4774351"/>
          </a:xfrm>
        </p:spPr>
        <p:txBody>
          <a:bodyPr/>
          <a:lstStyle/>
          <a:p>
            <a:pPr algn="l" eaLnBrk="1" hangingPunct="1">
              <a:lnSpc>
                <a:spcPct val="130000"/>
              </a:lnSpc>
            </a:pPr>
            <a:r>
              <a:rPr lang="en-US" altLang="zh-CN" sz="2400"/>
              <a:t>6) </a:t>
            </a:r>
            <a:r>
              <a:rPr lang="en-US" altLang="zh-CN" sz="2400" b="1"/>
              <a:t>Rotoinversion axis.  </a:t>
            </a:r>
            <a:r>
              <a:rPr lang="en-US" altLang="zh-CN" sz="2400"/>
              <a:t>Possible class of symmetry</a:t>
            </a:r>
            <a:r>
              <a:rPr lang="zh-CN" altLang="en-US" sz="2400"/>
              <a:t>：</a:t>
            </a:r>
            <a:r>
              <a:rPr lang="en-US" altLang="zh-CN" sz="2400" i="1"/>
              <a:t>L</a:t>
            </a:r>
            <a:r>
              <a:rPr lang="en-US" altLang="zh-CN" sz="2400" i="1" baseline="-25000"/>
              <a:t>i</a:t>
            </a:r>
            <a:r>
              <a:rPr lang="en-US" altLang="zh-CN" sz="2400" i="1" baseline="30000"/>
              <a:t>1</a:t>
            </a:r>
            <a:r>
              <a:rPr lang="en-US" altLang="zh-CN" sz="2400"/>
              <a:t>=</a:t>
            </a:r>
            <a:r>
              <a:rPr lang="en-US" altLang="zh-CN" sz="2400" i="1"/>
              <a:t>C</a:t>
            </a:r>
            <a:r>
              <a:rPr lang="zh-CN" altLang="en-US" sz="2400"/>
              <a:t>；</a:t>
            </a:r>
            <a:r>
              <a:rPr lang="en-US" altLang="zh-CN" sz="2400" i="1"/>
              <a:t>L</a:t>
            </a:r>
            <a:r>
              <a:rPr lang="en-US" altLang="zh-CN" sz="2400" i="1" baseline="-25000"/>
              <a:t>i</a:t>
            </a:r>
            <a:r>
              <a:rPr lang="en-US" altLang="zh-CN" sz="2400" i="1" baseline="30000"/>
              <a:t>2</a:t>
            </a:r>
            <a:r>
              <a:rPr lang="en-US" altLang="zh-CN" sz="2400"/>
              <a:t>=</a:t>
            </a:r>
            <a:r>
              <a:rPr lang="en-US" altLang="zh-CN" sz="2400" i="1"/>
              <a:t>P</a:t>
            </a:r>
            <a:r>
              <a:rPr lang="zh-CN" altLang="en-US" sz="2400"/>
              <a:t>；</a:t>
            </a:r>
            <a:r>
              <a:rPr lang="en-US" altLang="zh-CN" sz="2400" i="1"/>
              <a:t>L</a:t>
            </a:r>
            <a:r>
              <a:rPr lang="en-US" altLang="zh-CN" sz="2400" i="1" baseline="-25000"/>
              <a:t>i</a:t>
            </a:r>
            <a:r>
              <a:rPr lang="en-US" altLang="zh-CN" sz="2400" i="1" baseline="30000"/>
              <a:t>3</a:t>
            </a:r>
            <a:r>
              <a:rPr lang="en-US" altLang="zh-CN" sz="2400"/>
              <a:t>=</a:t>
            </a:r>
            <a:r>
              <a:rPr lang="en-US" altLang="zh-CN" sz="2400" i="1"/>
              <a:t>L</a:t>
            </a:r>
            <a:r>
              <a:rPr lang="en-US" altLang="zh-CN" sz="2400" baseline="30000"/>
              <a:t>3</a:t>
            </a:r>
            <a:r>
              <a:rPr lang="en-US" altLang="zh-CN" sz="2400" i="1"/>
              <a:t>C</a:t>
            </a:r>
            <a:r>
              <a:rPr lang="zh-CN" altLang="en-US" sz="2400"/>
              <a:t>；</a:t>
            </a:r>
            <a:r>
              <a:rPr lang="en-US" altLang="zh-CN" sz="2400" i="1"/>
              <a:t>L</a:t>
            </a:r>
            <a:r>
              <a:rPr lang="en-US" altLang="zh-CN" sz="2400" i="1" baseline="-25000"/>
              <a:t>i</a:t>
            </a:r>
            <a:r>
              <a:rPr lang="en-US" altLang="zh-CN" sz="2400" i="1" baseline="30000"/>
              <a:t>4</a:t>
            </a:r>
            <a:r>
              <a:rPr lang="zh-CN" altLang="en-US" sz="2400"/>
              <a:t>；</a:t>
            </a:r>
            <a:r>
              <a:rPr lang="en-US" altLang="zh-CN" sz="2400" i="1"/>
              <a:t>L</a:t>
            </a:r>
            <a:r>
              <a:rPr lang="en-US" altLang="zh-CN" sz="2400" i="1" baseline="-25000"/>
              <a:t>i</a:t>
            </a:r>
            <a:r>
              <a:rPr lang="en-US" altLang="zh-CN" sz="2400" i="1" baseline="30000"/>
              <a:t>6</a:t>
            </a:r>
            <a:r>
              <a:rPr lang="en-US" altLang="zh-CN" sz="2400"/>
              <a:t>=</a:t>
            </a:r>
            <a:r>
              <a:rPr lang="en-US" altLang="zh-CN" sz="2400" i="1"/>
              <a:t>L</a:t>
            </a:r>
            <a:r>
              <a:rPr lang="en-US" altLang="zh-CN" sz="2400" baseline="30000"/>
              <a:t>3</a:t>
            </a:r>
            <a:r>
              <a:rPr lang="en-US" altLang="zh-CN" sz="2400" i="1"/>
              <a:t>P</a:t>
            </a:r>
            <a:r>
              <a:rPr lang="zh-CN" altLang="en-US" sz="2400"/>
              <a:t>。</a:t>
            </a:r>
          </a:p>
          <a:p>
            <a:pPr algn="l" eaLnBrk="1" hangingPunct="1">
              <a:lnSpc>
                <a:spcPct val="130000"/>
              </a:lnSpc>
            </a:pPr>
            <a:r>
              <a:rPr lang="en-US" altLang="zh-CN" sz="2400"/>
              <a:t>7) </a:t>
            </a:r>
            <a:r>
              <a:rPr lang="en-US" altLang="zh-CN" sz="2400" b="1"/>
              <a:t>Combination of  </a:t>
            </a:r>
            <a:r>
              <a:rPr lang="en-US" altLang="zh-CN" sz="2400" b="1" i="1"/>
              <a:t>L</a:t>
            </a:r>
            <a:r>
              <a:rPr lang="en-US" altLang="zh-CN" sz="2400" b="1" i="1" baseline="-25000"/>
              <a:t>i</a:t>
            </a:r>
            <a:r>
              <a:rPr lang="en-US" altLang="zh-CN" sz="2400" b="1" i="1" baseline="30000"/>
              <a:t>n</a:t>
            </a:r>
            <a:r>
              <a:rPr lang="zh-CN" altLang="en-US" sz="2400" b="1"/>
              <a:t> </a:t>
            </a:r>
            <a:r>
              <a:rPr lang="en-US" altLang="zh-CN" sz="2400" b="1"/>
              <a:t>and </a:t>
            </a:r>
            <a:r>
              <a:rPr lang="en-US" altLang="zh-CN" sz="2400" b="1" i="1"/>
              <a:t>L</a:t>
            </a:r>
            <a:r>
              <a:rPr lang="en-US" altLang="zh-CN" sz="2400" b="1" baseline="30000"/>
              <a:t>2 </a:t>
            </a:r>
            <a:r>
              <a:rPr lang="en-US" altLang="zh-CN" sz="2400" b="1"/>
              <a:t>perpendicular to it</a:t>
            </a:r>
            <a:r>
              <a:rPr lang="zh-CN" altLang="en-US" sz="2400" b="1"/>
              <a:t>（</a:t>
            </a:r>
            <a:r>
              <a:rPr lang="en-US" altLang="zh-CN" sz="2400" b="1"/>
              <a:t>or </a:t>
            </a:r>
            <a:r>
              <a:rPr lang="en-US" altLang="zh-CN" sz="2400" b="1" i="1"/>
              <a:t>P </a:t>
            </a:r>
            <a:r>
              <a:rPr lang="en-US" altLang="zh-CN" sz="2400" b="1"/>
              <a:t>which contains it</a:t>
            </a:r>
            <a:r>
              <a:rPr lang="zh-CN" altLang="en-US" sz="2400" b="1"/>
              <a:t>）</a:t>
            </a:r>
            <a:r>
              <a:rPr lang="en-US" altLang="zh-CN" sz="2400"/>
              <a:t>. </a:t>
            </a:r>
          </a:p>
          <a:p>
            <a:pPr algn="l" eaLnBrk="1" hangingPunct="1">
              <a:lnSpc>
                <a:spcPct val="130000"/>
              </a:lnSpc>
            </a:pPr>
            <a:r>
              <a:rPr lang="en-US" altLang="zh-CN" sz="2400"/>
              <a:t>According to combination law</a:t>
            </a:r>
            <a:r>
              <a:rPr lang="zh-CN" altLang="en-US" sz="2400"/>
              <a:t>，</a:t>
            </a:r>
            <a:endParaRPr lang="en-US" altLang="zh-CN" sz="2400"/>
          </a:p>
          <a:p>
            <a:pPr algn="l" eaLnBrk="1" hangingPunct="1">
              <a:lnSpc>
                <a:spcPct val="130000"/>
              </a:lnSpc>
            </a:pPr>
            <a:r>
              <a:rPr lang="en-US" altLang="zh-CN" sz="2400"/>
              <a:t>when</a:t>
            </a:r>
            <a:r>
              <a:rPr lang="zh-CN" altLang="en-US" sz="2400"/>
              <a:t> </a:t>
            </a:r>
            <a:r>
              <a:rPr lang="en-US" altLang="zh-CN" sz="2400" i="1"/>
              <a:t>n</a:t>
            </a:r>
            <a:r>
              <a:rPr lang="zh-CN" altLang="en-US" sz="2400"/>
              <a:t> </a:t>
            </a:r>
            <a:r>
              <a:rPr lang="en-US" altLang="zh-CN" sz="2400"/>
              <a:t>is odd, </a:t>
            </a:r>
            <a:r>
              <a:rPr lang="en-US" altLang="zh-CN" sz="2400" i="1"/>
              <a:t>L</a:t>
            </a:r>
            <a:r>
              <a:rPr lang="en-US" altLang="zh-CN" sz="2400" i="1" baseline="-25000"/>
              <a:t>i</a:t>
            </a:r>
            <a:r>
              <a:rPr lang="en-US" altLang="zh-CN" sz="2400" i="1" baseline="30000"/>
              <a:t>n</a:t>
            </a:r>
            <a:r>
              <a:rPr lang="en-US" altLang="zh-CN" sz="2400" i="1"/>
              <a:t>nL</a:t>
            </a:r>
            <a:r>
              <a:rPr lang="en-US" altLang="zh-CN" sz="2400" baseline="30000"/>
              <a:t>2</a:t>
            </a:r>
            <a:r>
              <a:rPr lang="en-US" altLang="zh-CN" sz="2400" i="1"/>
              <a:t>nP</a:t>
            </a:r>
            <a:r>
              <a:rPr lang="zh-CN" altLang="en-US" sz="2400"/>
              <a:t>，</a:t>
            </a:r>
            <a:r>
              <a:rPr lang="en-US" altLang="zh-CN" sz="2400"/>
              <a:t>possible class of symmetry</a:t>
            </a:r>
            <a:r>
              <a:rPr lang="zh-CN" altLang="en-US" sz="2400"/>
              <a:t>：</a:t>
            </a:r>
            <a:r>
              <a:rPr lang="zh-CN" altLang="en-US" sz="2400">
                <a:solidFill>
                  <a:srgbClr val="FF0000"/>
                </a:solidFill>
              </a:rPr>
              <a:t>（</a:t>
            </a:r>
            <a:r>
              <a:rPr lang="en-US" altLang="zh-CN" sz="2400" i="1">
                <a:solidFill>
                  <a:srgbClr val="FF0000"/>
                </a:solidFill>
              </a:rPr>
              <a:t>L</a:t>
            </a:r>
            <a:r>
              <a:rPr lang="en-US" altLang="zh-CN" sz="2400" i="1" baseline="-25000">
                <a:solidFill>
                  <a:srgbClr val="FF0000"/>
                </a:solidFill>
              </a:rPr>
              <a:t>i</a:t>
            </a:r>
            <a:r>
              <a:rPr lang="en-US" altLang="zh-CN" sz="2400" i="1" baseline="30000">
                <a:solidFill>
                  <a:srgbClr val="FF0000"/>
                </a:solidFill>
              </a:rPr>
              <a:t>1</a:t>
            </a:r>
            <a:r>
              <a:rPr lang="en-US" altLang="zh-CN" sz="2400" i="1">
                <a:solidFill>
                  <a:srgbClr val="FF0000"/>
                </a:solidFill>
              </a:rPr>
              <a:t>L</a:t>
            </a:r>
            <a:r>
              <a:rPr lang="en-US" altLang="zh-CN" sz="2400" baseline="30000">
                <a:solidFill>
                  <a:srgbClr val="FF0000"/>
                </a:solidFill>
              </a:rPr>
              <a:t>2</a:t>
            </a:r>
            <a:r>
              <a:rPr lang="en-US" altLang="zh-CN" sz="2400" i="1">
                <a:solidFill>
                  <a:srgbClr val="FF0000"/>
                </a:solidFill>
              </a:rPr>
              <a:t>P</a:t>
            </a:r>
            <a:r>
              <a:rPr lang="en-US" altLang="zh-CN" sz="2400">
                <a:solidFill>
                  <a:srgbClr val="FF0000"/>
                </a:solidFill>
              </a:rPr>
              <a:t>=</a:t>
            </a:r>
            <a:r>
              <a:rPr lang="en-US" altLang="zh-CN" sz="2400" i="1">
                <a:solidFill>
                  <a:srgbClr val="FF0000"/>
                </a:solidFill>
              </a:rPr>
              <a:t>L</a:t>
            </a:r>
            <a:r>
              <a:rPr lang="en-US" altLang="zh-CN" sz="2400" baseline="30000">
                <a:solidFill>
                  <a:srgbClr val="FF0000"/>
                </a:solidFill>
              </a:rPr>
              <a:t>2</a:t>
            </a:r>
            <a:r>
              <a:rPr lang="en-US" altLang="zh-CN" sz="2400" i="1">
                <a:solidFill>
                  <a:srgbClr val="FF0000"/>
                </a:solidFill>
              </a:rPr>
              <a:t>PC</a:t>
            </a:r>
            <a:r>
              <a:rPr lang="zh-CN" altLang="en-US" sz="2400">
                <a:solidFill>
                  <a:srgbClr val="FF0000"/>
                </a:solidFill>
              </a:rPr>
              <a:t>）；</a:t>
            </a:r>
            <a:r>
              <a:rPr lang="en-US" altLang="zh-CN" sz="2400" i="1">
                <a:solidFill>
                  <a:srgbClr val="FF0000"/>
                </a:solidFill>
              </a:rPr>
              <a:t>L</a:t>
            </a:r>
            <a:r>
              <a:rPr lang="en-US" altLang="zh-CN" sz="2400" i="1" baseline="-25000">
                <a:solidFill>
                  <a:srgbClr val="FF0000"/>
                </a:solidFill>
              </a:rPr>
              <a:t>i</a:t>
            </a:r>
            <a:r>
              <a:rPr lang="en-US" altLang="zh-CN" sz="2400" i="1" baseline="30000">
                <a:solidFill>
                  <a:srgbClr val="FF0000"/>
                </a:solidFill>
              </a:rPr>
              <a:t>3</a:t>
            </a:r>
            <a:r>
              <a:rPr lang="en-US" altLang="zh-CN" sz="2400">
                <a:solidFill>
                  <a:srgbClr val="FF0000"/>
                </a:solidFill>
              </a:rPr>
              <a:t>3</a:t>
            </a:r>
            <a:r>
              <a:rPr lang="en-US" altLang="zh-CN" sz="2400" i="1">
                <a:solidFill>
                  <a:srgbClr val="FF0000"/>
                </a:solidFill>
              </a:rPr>
              <a:t>L</a:t>
            </a:r>
            <a:r>
              <a:rPr lang="en-US" altLang="zh-CN" sz="2400" baseline="30000">
                <a:solidFill>
                  <a:srgbClr val="FF0000"/>
                </a:solidFill>
              </a:rPr>
              <a:t>2</a:t>
            </a:r>
            <a:r>
              <a:rPr lang="en-US" altLang="zh-CN" sz="2400">
                <a:solidFill>
                  <a:srgbClr val="FF0000"/>
                </a:solidFill>
              </a:rPr>
              <a:t>3</a:t>
            </a:r>
            <a:r>
              <a:rPr lang="en-US" altLang="zh-CN" sz="2400" i="1">
                <a:solidFill>
                  <a:srgbClr val="FF0000"/>
                </a:solidFill>
              </a:rPr>
              <a:t>P</a:t>
            </a:r>
            <a:r>
              <a:rPr lang="en-US" altLang="zh-CN" sz="2400">
                <a:solidFill>
                  <a:srgbClr val="FF0000"/>
                </a:solidFill>
              </a:rPr>
              <a:t>=</a:t>
            </a:r>
            <a:r>
              <a:rPr lang="en-US" altLang="zh-CN" sz="2400" i="1">
                <a:solidFill>
                  <a:srgbClr val="FF0000"/>
                </a:solidFill>
              </a:rPr>
              <a:t>L</a:t>
            </a:r>
            <a:r>
              <a:rPr lang="en-US" altLang="zh-CN" sz="2400" baseline="30000">
                <a:solidFill>
                  <a:srgbClr val="FF0000"/>
                </a:solidFill>
              </a:rPr>
              <a:t>3</a:t>
            </a:r>
            <a:r>
              <a:rPr lang="en-US" altLang="zh-CN" sz="2400">
                <a:solidFill>
                  <a:srgbClr val="FF0000"/>
                </a:solidFill>
              </a:rPr>
              <a:t>3</a:t>
            </a:r>
            <a:r>
              <a:rPr lang="en-US" altLang="zh-CN" sz="2400" i="1">
                <a:solidFill>
                  <a:srgbClr val="FF0000"/>
                </a:solidFill>
              </a:rPr>
              <a:t>L</a:t>
            </a:r>
            <a:r>
              <a:rPr lang="en-US" altLang="zh-CN" sz="2400" baseline="30000">
                <a:solidFill>
                  <a:srgbClr val="FF0000"/>
                </a:solidFill>
              </a:rPr>
              <a:t>2</a:t>
            </a:r>
            <a:r>
              <a:rPr lang="en-US" altLang="zh-CN" sz="2400">
                <a:solidFill>
                  <a:srgbClr val="FF0000"/>
                </a:solidFill>
              </a:rPr>
              <a:t>3</a:t>
            </a:r>
            <a:r>
              <a:rPr lang="en-US" altLang="zh-CN" sz="2400" i="1">
                <a:solidFill>
                  <a:srgbClr val="FF0000"/>
                </a:solidFill>
              </a:rPr>
              <a:t>PC</a:t>
            </a:r>
            <a:r>
              <a:rPr lang="zh-CN" altLang="en-US" sz="2400">
                <a:solidFill>
                  <a:srgbClr val="FF0000"/>
                </a:solidFill>
              </a:rPr>
              <a:t>；</a:t>
            </a:r>
            <a:r>
              <a:rPr lang="en-US" altLang="zh-CN" sz="2400">
                <a:solidFill>
                  <a:srgbClr val="FF0000"/>
                </a:solidFill>
              </a:rPr>
              <a:t> </a:t>
            </a:r>
          </a:p>
          <a:p>
            <a:pPr algn="l" eaLnBrk="1" hangingPunct="1">
              <a:lnSpc>
                <a:spcPct val="130000"/>
              </a:lnSpc>
            </a:pPr>
            <a:r>
              <a:rPr lang="en-US" altLang="zh-CN" sz="2400"/>
              <a:t>when</a:t>
            </a:r>
            <a:r>
              <a:rPr lang="zh-CN" altLang="en-US" sz="2400"/>
              <a:t> </a:t>
            </a:r>
            <a:r>
              <a:rPr lang="en-US" altLang="zh-CN" sz="2400" i="1"/>
              <a:t>n</a:t>
            </a:r>
            <a:r>
              <a:rPr lang="zh-CN" altLang="en-US" sz="2400"/>
              <a:t> </a:t>
            </a:r>
            <a:r>
              <a:rPr lang="en-US" altLang="zh-CN" sz="2400"/>
              <a:t>is even</a:t>
            </a:r>
            <a:r>
              <a:rPr lang="zh-CN" altLang="en-US" sz="2400"/>
              <a:t> </a:t>
            </a:r>
            <a:r>
              <a:rPr lang="en-US" altLang="zh-CN" sz="2400" i="1"/>
              <a:t>L</a:t>
            </a:r>
            <a:r>
              <a:rPr lang="en-US" altLang="zh-CN" sz="2400" i="1" baseline="-25000"/>
              <a:t>i</a:t>
            </a:r>
            <a:r>
              <a:rPr lang="en-US" altLang="zh-CN" sz="2400" i="1" baseline="30000"/>
              <a:t>n</a:t>
            </a:r>
            <a:r>
              <a:rPr lang="en-US" altLang="zh-CN" sz="2400"/>
              <a:t>(</a:t>
            </a:r>
            <a:r>
              <a:rPr lang="en-US" altLang="zh-CN" sz="2400" i="1"/>
              <a:t>n</a:t>
            </a:r>
            <a:r>
              <a:rPr lang="en-US" altLang="zh-CN" sz="2400"/>
              <a:t> /2)</a:t>
            </a:r>
            <a:r>
              <a:rPr lang="en-US" altLang="zh-CN" sz="2400" i="1"/>
              <a:t>L</a:t>
            </a:r>
            <a:r>
              <a:rPr lang="en-US" altLang="zh-CN" sz="2400" baseline="30000"/>
              <a:t>2</a:t>
            </a:r>
            <a:r>
              <a:rPr lang="en-US" altLang="zh-CN" sz="2400"/>
              <a:t>(</a:t>
            </a:r>
            <a:r>
              <a:rPr lang="en-US" altLang="zh-CN" sz="2400" i="1"/>
              <a:t>n</a:t>
            </a:r>
            <a:r>
              <a:rPr lang="en-US" altLang="zh-CN" sz="2400"/>
              <a:t> /2)</a:t>
            </a:r>
            <a:r>
              <a:rPr lang="en-US" altLang="zh-CN" sz="2400" i="1"/>
              <a:t>P</a:t>
            </a:r>
            <a:r>
              <a:rPr lang="zh-CN" altLang="en-US" sz="2400"/>
              <a:t>，</a:t>
            </a:r>
            <a:r>
              <a:rPr lang="en-US" altLang="zh-CN" sz="2400"/>
              <a:t> possible class of symmetry </a:t>
            </a:r>
            <a:r>
              <a:rPr lang="zh-CN" altLang="en-US" sz="2400"/>
              <a:t>：</a:t>
            </a:r>
            <a:r>
              <a:rPr lang="zh-CN" altLang="en-US" sz="2400">
                <a:solidFill>
                  <a:srgbClr val="FF0000"/>
                </a:solidFill>
              </a:rPr>
              <a:t>（</a:t>
            </a:r>
            <a:r>
              <a:rPr lang="en-US" altLang="zh-CN" sz="2400" i="1">
                <a:solidFill>
                  <a:srgbClr val="FF0000"/>
                </a:solidFill>
              </a:rPr>
              <a:t>L</a:t>
            </a:r>
            <a:r>
              <a:rPr lang="en-US" altLang="zh-CN" sz="2400" i="1" baseline="-25000">
                <a:solidFill>
                  <a:srgbClr val="FF0000"/>
                </a:solidFill>
              </a:rPr>
              <a:t>i</a:t>
            </a:r>
            <a:r>
              <a:rPr lang="en-US" altLang="zh-CN" sz="2400" i="1" baseline="30000">
                <a:solidFill>
                  <a:srgbClr val="FF0000"/>
                </a:solidFill>
              </a:rPr>
              <a:t>2</a:t>
            </a:r>
            <a:r>
              <a:rPr lang="en-US" altLang="zh-CN" sz="2400" i="1">
                <a:solidFill>
                  <a:srgbClr val="FF0000"/>
                </a:solidFill>
              </a:rPr>
              <a:t>L</a:t>
            </a:r>
            <a:r>
              <a:rPr lang="en-US" altLang="zh-CN" sz="2400" baseline="30000">
                <a:solidFill>
                  <a:srgbClr val="FF0000"/>
                </a:solidFill>
              </a:rPr>
              <a:t>2</a:t>
            </a:r>
            <a:r>
              <a:rPr lang="en-US" altLang="zh-CN" sz="2400" i="1">
                <a:solidFill>
                  <a:srgbClr val="FF0000"/>
                </a:solidFill>
              </a:rPr>
              <a:t>P</a:t>
            </a:r>
            <a:r>
              <a:rPr lang="en-US" altLang="zh-CN" sz="2400">
                <a:solidFill>
                  <a:srgbClr val="FF0000"/>
                </a:solidFill>
              </a:rPr>
              <a:t>=</a:t>
            </a:r>
            <a:r>
              <a:rPr lang="en-US" altLang="zh-CN" sz="2400" i="1">
                <a:solidFill>
                  <a:srgbClr val="FF0000"/>
                </a:solidFill>
              </a:rPr>
              <a:t>L</a:t>
            </a:r>
            <a:r>
              <a:rPr lang="en-US" altLang="zh-CN" sz="2400" baseline="30000">
                <a:solidFill>
                  <a:srgbClr val="FF0000"/>
                </a:solidFill>
              </a:rPr>
              <a:t>2</a:t>
            </a:r>
            <a:r>
              <a:rPr lang="en-US" altLang="zh-CN" sz="2400">
                <a:solidFill>
                  <a:srgbClr val="FF0000"/>
                </a:solidFill>
              </a:rPr>
              <a:t>2</a:t>
            </a:r>
            <a:r>
              <a:rPr lang="en-US" altLang="zh-CN" sz="2400" i="1">
                <a:solidFill>
                  <a:srgbClr val="FF0000"/>
                </a:solidFill>
              </a:rPr>
              <a:t>P</a:t>
            </a:r>
            <a:r>
              <a:rPr lang="zh-CN" altLang="en-US" sz="2400">
                <a:solidFill>
                  <a:srgbClr val="FF0000"/>
                </a:solidFill>
              </a:rPr>
              <a:t>）；</a:t>
            </a:r>
            <a:r>
              <a:rPr lang="en-US" altLang="zh-CN" sz="2400" i="1">
                <a:solidFill>
                  <a:srgbClr val="FF0000"/>
                </a:solidFill>
              </a:rPr>
              <a:t>L</a:t>
            </a:r>
            <a:r>
              <a:rPr lang="en-US" altLang="zh-CN" sz="2400" i="1" baseline="-25000">
                <a:solidFill>
                  <a:srgbClr val="FF0000"/>
                </a:solidFill>
              </a:rPr>
              <a:t>i</a:t>
            </a:r>
            <a:r>
              <a:rPr lang="en-US" altLang="zh-CN" sz="2400" i="1" baseline="30000">
                <a:solidFill>
                  <a:srgbClr val="FF0000"/>
                </a:solidFill>
              </a:rPr>
              <a:t>4</a:t>
            </a:r>
            <a:r>
              <a:rPr lang="en-US" altLang="zh-CN" sz="2400">
                <a:solidFill>
                  <a:srgbClr val="FF0000"/>
                </a:solidFill>
              </a:rPr>
              <a:t>2</a:t>
            </a:r>
            <a:r>
              <a:rPr lang="en-US" altLang="zh-CN" sz="2400" i="1">
                <a:solidFill>
                  <a:srgbClr val="FF0000"/>
                </a:solidFill>
              </a:rPr>
              <a:t>L</a:t>
            </a:r>
            <a:r>
              <a:rPr lang="en-US" altLang="zh-CN" sz="2400" baseline="30000">
                <a:solidFill>
                  <a:srgbClr val="FF0000"/>
                </a:solidFill>
              </a:rPr>
              <a:t>2</a:t>
            </a:r>
            <a:r>
              <a:rPr lang="en-US" altLang="zh-CN" sz="2400">
                <a:solidFill>
                  <a:srgbClr val="FF0000"/>
                </a:solidFill>
              </a:rPr>
              <a:t>2</a:t>
            </a:r>
            <a:r>
              <a:rPr lang="en-US" altLang="zh-CN" sz="2400" i="1">
                <a:solidFill>
                  <a:srgbClr val="FF0000"/>
                </a:solidFill>
              </a:rPr>
              <a:t>P</a:t>
            </a:r>
            <a:r>
              <a:rPr lang="zh-CN" altLang="en-US" sz="2400">
                <a:solidFill>
                  <a:srgbClr val="FF0000"/>
                </a:solidFill>
              </a:rPr>
              <a:t>；</a:t>
            </a:r>
            <a:r>
              <a:rPr lang="en-US" altLang="zh-CN" sz="2400" i="1">
                <a:solidFill>
                  <a:srgbClr val="FF0000"/>
                </a:solidFill>
              </a:rPr>
              <a:t>L</a:t>
            </a:r>
            <a:r>
              <a:rPr lang="en-US" altLang="zh-CN" sz="2400" i="1" baseline="-25000">
                <a:solidFill>
                  <a:srgbClr val="FF0000"/>
                </a:solidFill>
              </a:rPr>
              <a:t>i</a:t>
            </a:r>
            <a:r>
              <a:rPr lang="en-US" altLang="zh-CN" sz="2400" i="1" baseline="30000">
                <a:solidFill>
                  <a:srgbClr val="FF0000"/>
                </a:solidFill>
              </a:rPr>
              <a:t>6</a:t>
            </a:r>
            <a:r>
              <a:rPr lang="en-US" altLang="zh-CN" sz="2400">
                <a:solidFill>
                  <a:srgbClr val="FF0000"/>
                </a:solidFill>
              </a:rPr>
              <a:t>3</a:t>
            </a:r>
            <a:r>
              <a:rPr lang="en-US" altLang="zh-CN" sz="2400" i="1">
                <a:solidFill>
                  <a:srgbClr val="FF0000"/>
                </a:solidFill>
              </a:rPr>
              <a:t>L</a:t>
            </a:r>
            <a:r>
              <a:rPr lang="en-US" altLang="zh-CN" sz="2400" baseline="30000">
                <a:solidFill>
                  <a:srgbClr val="FF0000"/>
                </a:solidFill>
              </a:rPr>
              <a:t>2</a:t>
            </a:r>
            <a:r>
              <a:rPr lang="en-US" altLang="zh-CN" sz="2400">
                <a:solidFill>
                  <a:srgbClr val="FF0000"/>
                </a:solidFill>
              </a:rPr>
              <a:t>3</a:t>
            </a:r>
            <a:r>
              <a:rPr lang="en-US" altLang="zh-CN" sz="2400" i="1">
                <a:solidFill>
                  <a:srgbClr val="FF0000"/>
                </a:solidFill>
              </a:rPr>
              <a:t>P</a:t>
            </a:r>
            <a:r>
              <a:rPr lang="en-US" altLang="zh-CN" sz="2400">
                <a:solidFill>
                  <a:srgbClr val="FF0000"/>
                </a:solidFill>
              </a:rPr>
              <a:t>=</a:t>
            </a:r>
            <a:r>
              <a:rPr lang="en-US" altLang="zh-CN" sz="2400" i="1">
                <a:solidFill>
                  <a:srgbClr val="FF0000"/>
                </a:solidFill>
              </a:rPr>
              <a:t>L</a:t>
            </a:r>
            <a:r>
              <a:rPr lang="en-US" altLang="zh-CN" sz="2400" baseline="30000">
                <a:solidFill>
                  <a:srgbClr val="FF0000"/>
                </a:solidFill>
              </a:rPr>
              <a:t>3</a:t>
            </a:r>
            <a:r>
              <a:rPr lang="en-US" altLang="zh-CN" sz="2400">
                <a:solidFill>
                  <a:srgbClr val="FF0000"/>
                </a:solidFill>
              </a:rPr>
              <a:t>3</a:t>
            </a:r>
            <a:r>
              <a:rPr lang="en-US" altLang="zh-CN" sz="2400" i="1">
                <a:solidFill>
                  <a:srgbClr val="FF0000"/>
                </a:solidFill>
              </a:rPr>
              <a:t>L</a:t>
            </a:r>
            <a:r>
              <a:rPr lang="en-US" altLang="zh-CN" sz="2400" baseline="30000">
                <a:solidFill>
                  <a:srgbClr val="FF0000"/>
                </a:solidFill>
              </a:rPr>
              <a:t>2</a:t>
            </a:r>
            <a:r>
              <a:rPr lang="en-US" altLang="zh-CN" sz="2400">
                <a:solidFill>
                  <a:srgbClr val="FF0000"/>
                </a:solidFill>
              </a:rPr>
              <a:t>4</a:t>
            </a:r>
            <a:r>
              <a:rPr lang="en-US" altLang="zh-CN" sz="2400" i="1">
                <a:solidFill>
                  <a:srgbClr val="FF0000"/>
                </a:solidFill>
              </a:rPr>
              <a:t>P.</a:t>
            </a:r>
            <a:endParaRPr lang="zh-CN" altLang="en-US" sz="2400">
              <a:solidFill>
                <a:srgbClr val="FF0000"/>
              </a:solidFill>
            </a:endParaRPr>
          </a:p>
        </p:txBody>
      </p:sp>
      <p:sp>
        <p:nvSpPr>
          <p:cNvPr id="47108" name="Line 4"/>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09" name="Text Box 5"/>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6" name="Rectangle 4"/>
          <p:cNvSpPr>
            <a:spLocks noChangeArrowheads="1"/>
          </p:cNvSpPr>
          <p:nvPr/>
        </p:nvSpPr>
        <p:spPr bwMode="auto">
          <a:xfrm>
            <a:off x="755650" y="692150"/>
            <a:ext cx="792162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CN" sz="3200">
                <a:solidFill>
                  <a:srgbClr val="FF0000"/>
                </a:solidFill>
              </a:rPr>
              <a:t>Derivation of A</a:t>
            </a:r>
            <a:r>
              <a:rPr lang="zh-CN" altLang="en-US" sz="3200">
                <a:solidFill>
                  <a:srgbClr val="FF0000"/>
                </a:solidFill>
              </a:rPr>
              <a:t> </a:t>
            </a:r>
            <a:r>
              <a:rPr lang="en-US" altLang="zh-CN" sz="3200">
                <a:solidFill>
                  <a:srgbClr val="FF0000"/>
                </a:solidFill>
              </a:rPr>
              <a:t>type class of symmetry</a:t>
            </a:r>
          </a:p>
          <a:p>
            <a:pPr algn="ctr">
              <a:defRPr/>
            </a:pPr>
            <a:r>
              <a:rPr lang="en-US" altLang="zh-CN" sz="2400" b="0"/>
              <a:t>High axis (n&gt;2)</a:t>
            </a:r>
            <a:r>
              <a:rPr lang="zh-CN" altLang="en-US" sz="2400" b="0"/>
              <a:t> </a:t>
            </a:r>
            <a:r>
              <a:rPr lang="en-US" altLang="zh-CN" sz="2400" b="0"/>
              <a:t>no more than one</a:t>
            </a:r>
            <a:endParaRPr lang="zh-CN" altLang="en-US" sz="2400" b="0"/>
          </a:p>
        </p:txBody>
      </p:sp>
    </p:spTree>
  </p:cSld>
  <p:clrMapOvr>
    <a:masterClrMapping/>
  </p:clrMapOvr>
  <p:transition spd="med">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504566" y="1700808"/>
            <a:ext cx="8424738" cy="5040262"/>
          </a:xfrm>
          <a:ln w="57150" cap="flat" cmpd="thickThin">
            <a:no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algn="l" eaLnBrk="1" hangingPunct="1">
              <a:lnSpc>
                <a:spcPct val="120000"/>
              </a:lnSpc>
            </a:pPr>
            <a:r>
              <a:rPr lang="en-US" altLang="zh-CN" sz="2800" b="1">
                <a:solidFill>
                  <a:schemeClr val="tx1"/>
                </a:solidFill>
                <a:latin typeface="+mn-lt"/>
                <a:ea typeface="楷体_GB2312" pitchFamily="49" charset="-122"/>
              </a:rPr>
              <a:t>	Combination of multiple high order axes</a:t>
            </a:r>
            <a:br>
              <a:rPr lang="zh-CN" altLang="en-US" sz="2800" b="1">
                <a:solidFill>
                  <a:schemeClr val="tx1"/>
                </a:solidFill>
                <a:latin typeface="+mn-lt"/>
                <a:ea typeface="楷体_GB2312" pitchFamily="49" charset="-122"/>
              </a:rPr>
            </a:br>
            <a:r>
              <a:rPr lang="en-US" altLang="zh-CN" sz="2400" b="1">
                <a:solidFill>
                  <a:schemeClr val="tx1"/>
                </a:solidFill>
                <a:latin typeface="+mn-lt"/>
                <a:ea typeface="楷体_GB2312" pitchFamily="49" charset="-122"/>
              </a:rPr>
              <a:t>1</a:t>
            </a:r>
            <a:r>
              <a:rPr lang="en-US" altLang="zh-CN" sz="2400" b="1">
                <a:solidFill>
                  <a:schemeClr val="tx1"/>
                </a:solidFill>
                <a:latin typeface="+mn-lt"/>
                <a:ea typeface="黑体" pitchFamily="49" charset="-122"/>
              </a:rPr>
              <a:t>. Primitive type</a:t>
            </a:r>
            <a:r>
              <a:rPr lang="zh-CN" altLang="en-US" sz="2400" b="1">
                <a:solidFill>
                  <a:schemeClr val="tx1"/>
                </a:solidFill>
                <a:latin typeface="+mn-lt"/>
                <a:ea typeface="楷体_GB2312" pitchFamily="49" charset="-122"/>
              </a:rPr>
              <a:t>：</a:t>
            </a:r>
            <a:r>
              <a:rPr lang="en-US" altLang="zh-CN" sz="2400">
                <a:solidFill>
                  <a:schemeClr val="tx1"/>
                </a:solidFill>
                <a:latin typeface="+mn-lt"/>
                <a:ea typeface="楷体_GB2312" pitchFamily="49" charset="-122"/>
              </a:rPr>
              <a:t>symmetry axis of tetrahedron</a:t>
            </a:r>
            <a:r>
              <a:rPr lang="zh-CN" altLang="en-US" sz="2400" i="1">
                <a:solidFill>
                  <a:schemeClr val="tx1"/>
                </a:solidFill>
                <a:latin typeface="+mn-lt"/>
              </a:rPr>
              <a:t> </a:t>
            </a:r>
            <a:r>
              <a:rPr lang="en-US" altLang="zh-CN" sz="2400" b="1">
                <a:solidFill>
                  <a:srgbClr val="FF0000"/>
                </a:solidFill>
                <a:latin typeface="+mn-lt"/>
              </a:rPr>
              <a:t>3L</a:t>
            </a:r>
            <a:r>
              <a:rPr lang="en-US" altLang="zh-CN" sz="2400" b="1" baseline="30000">
                <a:solidFill>
                  <a:srgbClr val="FF0000"/>
                </a:solidFill>
                <a:latin typeface="+mn-lt"/>
              </a:rPr>
              <a:t>2</a:t>
            </a:r>
            <a:r>
              <a:rPr lang="en-US" altLang="zh-CN" sz="2400" b="1">
                <a:solidFill>
                  <a:srgbClr val="FF0000"/>
                </a:solidFill>
                <a:latin typeface="+mn-lt"/>
              </a:rPr>
              <a:t>4L</a:t>
            </a:r>
            <a:r>
              <a:rPr lang="en-US" altLang="zh-CN" sz="2400" b="1" baseline="30000">
                <a:solidFill>
                  <a:srgbClr val="FF0000"/>
                </a:solidFill>
                <a:latin typeface="+mn-lt"/>
              </a:rPr>
              <a:t>3</a:t>
            </a:r>
            <a:br>
              <a:rPr lang="en-US" altLang="zh-CN" sz="2400">
                <a:solidFill>
                  <a:schemeClr val="tx1"/>
                </a:solidFill>
                <a:latin typeface="+mn-lt"/>
                <a:ea typeface="楷体_GB2312" pitchFamily="49" charset="-122"/>
              </a:rPr>
            </a:br>
            <a:r>
              <a:rPr lang="en-US" altLang="zh-CN" sz="2400" b="1">
                <a:solidFill>
                  <a:schemeClr val="tx1"/>
                </a:solidFill>
                <a:latin typeface="+mn-lt"/>
                <a:ea typeface="楷体_GB2312" pitchFamily="49" charset="-122"/>
              </a:rPr>
              <a:t>2</a:t>
            </a:r>
            <a:r>
              <a:rPr lang="en-US" altLang="zh-CN" sz="2400" b="1">
                <a:solidFill>
                  <a:schemeClr val="tx1"/>
                </a:solidFill>
                <a:latin typeface="+mn-lt"/>
                <a:ea typeface="黑体" pitchFamily="49" charset="-122"/>
              </a:rPr>
              <a:t>. Center type</a:t>
            </a:r>
            <a:r>
              <a:rPr lang="zh-CN" altLang="en-US" sz="2400" b="1">
                <a:solidFill>
                  <a:schemeClr val="tx1"/>
                </a:solidFill>
                <a:latin typeface="+mn-lt"/>
                <a:ea typeface="楷体_GB2312" pitchFamily="49" charset="-122"/>
              </a:rPr>
              <a:t>：</a:t>
            </a:r>
            <a:r>
              <a:rPr lang="en-US" altLang="zh-CN" sz="2400">
                <a:solidFill>
                  <a:schemeClr val="tx1"/>
                </a:solidFill>
                <a:latin typeface="+mn-lt"/>
                <a:ea typeface="楷体_GB2312" pitchFamily="49" charset="-122"/>
              </a:rPr>
              <a:t>combination of primitive type and symmetry center </a:t>
            </a:r>
            <a:r>
              <a:rPr lang="en-US" altLang="zh-CN" sz="2400" b="1">
                <a:solidFill>
                  <a:srgbClr val="FF0000"/>
                </a:solidFill>
                <a:latin typeface="+mn-lt"/>
                <a:ea typeface="楷体_GB2312" pitchFamily="49" charset="-122"/>
              </a:rPr>
              <a:t>3L</a:t>
            </a:r>
            <a:r>
              <a:rPr lang="en-US" altLang="zh-CN" sz="2400" b="1" baseline="50000">
                <a:solidFill>
                  <a:srgbClr val="FF0000"/>
                </a:solidFill>
                <a:latin typeface="+mn-lt"/>
                <a:ea typeface="楷体_GB2312" pitchFamily="49" charset="-122"/>
              </a:rPr>
              <a:t>2</a:t>
            </a:r>
            <a:r>
              <a:rPr lang="en-US" altLang="zh-CN" sz="2400" b="1">
                <a:solidFill>
                  <a:srgbClr val="FF0000"/>
                </a:solidFill>
                <a:latin typeface="+mn-lt"/>
                <a:ea typeface="楷体_GB2312" pitchFamily="49" charset="-122"/>
              </a:rPr>
              <a:t>4L</a:t>
            </a:r>
            <a:r>
              <a:rPr lang="en-US" altLang="zh-CN" sz="2400" b="1" baseline="50000">
                <a:solidFill>
                  <a:srgbClr val="FF0000"/>
                </a:solidFill>
                <a:latin typeface="+mn-lt"/>
                <a:ea typeface="楷体_GB2312" pitchFamily="49" charset="-122"/>
              </a:rPr>
              <a:t>3</a:t>
            </a:r>
            <a:r>
              <a:rPr lang="en-US" altLang="zh-CN" sz="2400" b="1">
                <a:solidFill>
                  <a:srgbClr val="FF0000"/>
                </a:solidFill>
                <a:latin typeface="+mn-lt"/>
                <a:ea typeface="楷体_GB2312" pitchFamily="49" charset="-122"/>
              </a:rPr>
              <a:t>3PC</a:t>
            </a:r>
            <a:br>
              <a:rPr lang="en-US" altLang="zh-CN" sz="2400" b="1">
                <a:solidFill>
                  <a:schemeClr val="tx1"/>
                </a:solidFill>
                <a:latin typeface="+mn-lt"/>
                <a:ea typeface="楷体_GB2312" pitchFamily="49" charset="-122"/>
              </a:rPr>
            </a:br>
            <a:r>
              <a:rPr lang="en-US" altLang="zh-CN" sz="2400" b="1">
                <a:solidFill>
                  <a:schemeClr val="tx1"/>
                </a:solidFill>
                <a:latin typeface="+mn-lt"/>
                <a:ea typeface="楷体_GB2312" pitchFamily="49" charset="-122"/>
              </a:rPr>
              <a:t>3</a:t>
            </a:r>
            <a:r>
              <a:rPr lang="en-US" altLang="zh-CN" sz="2400" b="1">
                <a:solidFill>
                  <a:schemeClr val="tx1"/>
                </a:solidFill>
                <a:latin typeface="+mn-lt"/>
                <a:ea typeface="黑体" pitchFamily="49" charset="-122"/>
              </a:rPr>
              <a:t>. Axis type</a:t>
            </a:r>
            <a:r>
              <a:rPr lang="zh-CN" altLang="en-US" sz="2400" b="1">
                <a:solidFill>
                  <a:schemeClr val="tx1"/>
                </a:solidFill>
                <a:latin typeface="+mn-lt"/>
                <a:ea typeface="楷体_GB2312" pitchFamily="49" charset="-122"/>
              </a:rPr>
              <a:t>：</a:t>
            </a:r>
            <a:r>
              <a:rPr lang="en-US" altLang="zh-CN" sz="2400">
                <a:solidFill>
                  <a:schemeClr val="tx1"/>
                </a:solidFill>
                <a:latin typeface="+mn-lt"/>
                <a:ea typeface="楷体_GB2312" pitchFamily="49" charset="-122"/>
              </a:rPr>
              <a:t>combination of primitive type and symmetry axis</a:t>
            </a:r>
            <a:r>
              <a:rPr lang="en-US" altLang="zh-CN" sz="2400" b="1">
                <a:solidFill>
                  <a:schemeClr val="tx1"/>
                </a:solidFill>
                <a:latin typeface="+mn-lt"/>
                <a:ea typeface="楷体_GB2312" pitchFamily="49" charset="-122"/>
              </a:rPr>
              <a:t> </a:t>
            </a:r>
            <a:r>
              <a:rPr lang="en-US" altLang="zh-CN" sz="2400" b="1">
                <a:solidFill>
                  <a:srgbClr val="FF0000"/>
                </a:solidFill>
                <a:latin typeface="+mn-lt"/>
                <a:ea typeface="楷体_GB2312" pitchFamily="49" charset="-122"/>
              </a:rPr>
              <a:t>3L</a:t>
            </a:r>
            <a:r>
              <a:rPr lang="en-US" altLang="zh-CN" sz="2400" b="1" baseline="50000">
                <a:solidFill>
                  <a:srgbClr val="FF0000"/>
                </a:solidFill>
                <a:latin typeface="+mn-lt"/>
                <a:ea typeface="楷体_GB2312" pitchFamily="49" charset="-122"/>
              </a:rPr>
              <a:t>4</a:t>
            </a:r>
            <a:r>
              <a:rPr lang="en-US" altLang="zh-CN" sz="2400" b="1">
                <a:solidFill>
                  <a:srgbClr val="FF0000"/>
                </a:solidFill>
                <a:latin typeface="+mn-lt"/>
                <a:ea typeface="楷体_GB2312" pitchFamily="49" charset="-122"/>
              </a:rPr>
              <a:t>4L</a:t>
            </a:r>
            <a:r>
              <a:rPr lang="en-US" altLang="zh-CN" sz="2400" b="1" baseline="50000">
                <a:solidFill>
                  <a:srgbClr val="FF0000"/>
                </a:solidFill>
                <a:latin typeface="+mn-lt"/>
                <a:ea typeface="楷体_GB2312" pitchFamily="49" charset="-122"/>
              </a:rPr>
              <a:t>3</a:t>
            </a:r>
            <a:r>
              <a:rPr lang="en-US" altLang="zh-CN" sz="2400" b="1">
                <a:solidFill>
                  <a:srgbClr val="FF0000"/>
                </a:solidFill>
                <a:latin typeface="+mn-lt"/>
                <a:ea typeface="楷体_GB2312" pitchFamily="49" charset="-122"/>
              </a:rPr>
              <a:t>6L</a:t>
            </a:r>
            <a:r>
              <a:rPr lang="en-US" altLang="zh-CN" sz="2400" b="1" baseline="50000">
                <a:solidFill>
                  <a:srgbClr val="FF0000"/>
                </a:solidFill>
                <a:latin typeface="+mn-lt"/>
                <a:ea typeface="楷体_GB2312" pitchFamily="49" charset="-122"/>
              </a:rPr>
              <a:t>2</a:t>
            </a:r>
            <a:br>
              <a:rPr lang="en-US" altLang="zh-CN" sz="2400" b="1">
                <a:solidFill>
                  <a:schemeClr val="tx1"/>
                </a:solidFill>
                <a:latin typeface="+mn-lt"/>
                <a:ea typeface="楷体_GB2312" pitchFamily="49" charset="-122"/>
              </a:rPr>
            </a:br>
            <a:r>
              <a:rPr lang="en-US" altLang="zh-CN" sz="2400" b="1">
                <a:solidFill>
                  <a:schemeClr val="tx1"/>
                </a:solidFill>
                <a:latin typeface="+mn-lt"/>
                <a:ea typeface="楷体_GB2312" pitchFamily="49" charset="-122"/>
              </a:rPr>
              <a:t>4</a:t>
            </a:r>
            <a:r>
              <a:rPr lang="en-US" altLang="zh-CN" sz="2400" b="1">
                <a:solidFill>
                  <a:schemeClr val="tx1"/>
                </a:solidFill>
                <a:latin typeface="+mn-lt"/>
                <a:ea typeface="黑体" pitchFamily="49" charset="-122"/>
              </a:rPr>
              <a:t>. Plane type</a:t>
            </a:r>
            <a:r>
              <a:rPr lang="zh-CN" altLang="en-US" sz="2400" b="1">
                <a:solidFill>
                  <a:schemeClr val="tx1"/>
                </a:solidFill>
                <a:latin typeface="+mn-lt"/>
                <a:ea typeface="楷体_GB2312" pitchFamily="49" charset="-122"/>
              </a:rPr>
              <a:t>：</a:t>
            </a:r>
            <a:r>
              <a:rPr lang="en-US" altLang="zh-CN" sz="2400" b="1">
                <a:solidFill>
                  <a:schemeClr val="tx1"/>
                </a:solidFill>
                <a:latin typeface="+mn-lt"/>
                <a:ea typeface="楷体_GB2312" pitchFamily="49" charset="-122"/>
              </a:rPr>
              <a:t> </a:t>
            </a:r>
            <a:r>
              <a:rPr lang="en-US" altLang="zh-CN" sz="2400">
                <a:solidFill>
                  <a:schemeClr val="tx1"/>
                </a:solidFill>
                <a:latin typeface="+mn-lt"/>
                <a:ea typeface="楷体_GB2312" pitchFamily="49" charset="-122"/>
              </a:rPr>
              <a:t>combination of primitive type and symmetry plane</a:t>
            </a:r>
            <a:r>
              <a:rPr lang="en-US" altLang="zh-CN" sz="2400" b="1">
                <a:solidFill>
                  <a:schemeClr val="tx1"/>
                </a:solidFill>
                <a:latin typeface="+mn-lt"/>
                <a:ea typeface="楷体_GB2312" pitchFamily="49" charset="-122"/>
              </a:rPr>
              <a:t> </a:t>
            </a:r>
            <a:r>
              <a:rPr lang="en-US" altLang="zh-CN" sz="2400" b="1">
                <a:solidFill>
                  <a:srgbClr val="FF0000"/>
                </a:solidFill>
                <a:latin typeface="+mn-lt"/>
                <a:ea typeface="楷体_GB2312" pitchFamily="49" charset="-122"/>
              </a:rPr>
              <a:t>3L</a:t>
            </a:r>
            <a:r>
              <a:rPr lang="en-US" altLang="zh-CN" sz="2400" b="1" baseline="-10000">
                <a:solidFill>
                  <a:srgbClr val="FF0000"/>
                </a:solidFill>
                <a:latin typeface="+mn-lt"/>
                <a:ea typeface="楷体_GB2312" pitchFamily="49" charset="-122"/>
              </a:rPr>
              <a:t>i</a:t>
            </a:r>
            <a:r>
              <a:rPr lang="en-US" altLang="zh-CN" sz="2400" b="1" baseline="50000">
                <a:solidFill>
                  <a:srgbClr val="FF0000"/>
                </a:solidFill>
                <a:latin typeface="+mn-lt"/>
                <a:ea typeface="楷体_GB2312" pitchFamily="49" charset="-122"/>
              </a:rPr>
              <a:t>4</a:t>
            </a:r>
            <a:r>
              <a:rPr lang="en-US" altLang="zh-CN" sz="2400" b="1">
                <a:solidFill>
                  <a:srgbClr val="FF0000"/>
                </a:solidFill>
                <a:latin typeface="+mn-lt"/>
                <a:ea typeface="楷体_GB2312" pitchFamily="49" charset="-122"/>
              </a:rPr>
              <a:t>4L</a:t>
            </a:r>
            <a:r>
              <a:rPr lang="en-US" altLang="zh-CN" sz="2400" b="1" baseline="50000">
                <a:solidFill>
                  <a:srgbClr val="FF0000"/>
                </a:solidFill>
                <a:latin typeface="+mn-lt"/>
                <a:ea typeface="楷体_GB2312" pitchFamily="49" charset="-122"/>
              </a:rPr>
              <a:t>3</a:t>
            </a:r>
            <a:r>
              <a:rPr lang="en-US" altLang="zh-CN" sz="2400" b="1">
                <a:solidFill>
                  <a:srgbClr val="FF0000"/>
                </a:solidFill>
                <a:latin typeface="+mn-lt"/>
                <a:ea typeface="楷体_GB2312" pitchFamily="49" charset="-122"/>
              </a:rPr>
              <a:t>6P</a:t>
            </a:r>
            <a:br>
              <a:rPr lang="en-US" altLang="zh-CN" sz="2400" b="1">
                <a:solidFill>
                  <a:schemeClr val="tx1"/>
                </a:solidFill>
                <a:latin typeface="+mn-lt"/>
                <a:ea typeface="楷体_GB2312" pitchFamily="49" charset="-122"/>
              </a:rPr>
            </a:br>
            <a:r>
              <a:rPr lang="en-US" altLang="zh-CN" sz="2400" b="1">
                <a:solidFill>
                  <a:schemeClr val="tx1"/>
                </a:solidFill>
                <a:latin typeface="+mn-lt"/>
                <a:ea typeface="楷体_GB2312" pitchFamily="49" charset="-122"/>
              </a:rPr>
              <a:t>5</a:t>
            </a:r>
            <a:r>
              <a:rPr lang="en-US" altLang="zh-CN" sz="2400" b="1">
                <a:solidFill>
                  <a:schemeClr val="tx1"/>
                </a:solidFill>
                <a:latin typeface="+mn-lt"/>
                <a:ea typeface="黑体" pitchFamily="49" charset="-122"/>
              </a:rPr>
              <a:t>. Axial plane type</a:t>
            </a:r>
            <a:r>
              <a:rPr lang="zh-CN" altLang="en-US" sz="2400" b="1">
                <a:solidFill>
                  <a:schemeClr val="tx1"/>
                </a:solidFill>
                <a:latin typeface="+mn-lt"/>
                <a:ea typeface="楷体_GB2312" pitchFamily="49" charset="-122"/>
              </a:rPr>
              <a:t>：</a:t>
            </a:r>
            <a:r>
              <a:rPr lang="en-US" altLang="zh-CN" sz="2400">
                <a:solidFill>
                  <a:schemeClr val="tx1"/>
                </a:solidFill>
                <a:latin typeface="+mn-lt"/>
                <a:ea typeface="楷体_GB2312" pitchFamily="49" charset="-122"/>
              </a:rPr>
              <a:t>add </a:t>
            </a:r>
            <a:r>
              <a:rPr lang="en-US" altLang="zh-CN" sz="2400">
                <a:solidFill>
                  <a:schemeClr val="tx1"/>
                </a:solidFill>
                <a:latin typeface="+mn-lt"/>
              </a:rPr>
              <a:t>symmetry plane on the base of axis type </a:t>
            </a:r>
            <a:r>
              <a:rPr lang="en-US" altLang="zh-CN" sz="2400" b="1">
                <a:solidFill>
                  <a:srgbClr val="FF0000"/>
                </a:solidFill>
                <a:latin typeface="+mn-lt"/>
              </a:rPr>
              <a:t>3</a:t>
            </a:r>
            <a:r>
              <a:rPr lang="en-US" altLang="zh-CN" sz="2400" b="1">
                <a:solidFill>
                  <a:srgbClr val="FF0000"/>
                </a:solidFill>
                <a:latin typeface="+mn-lt"/>
                <a:ea typeface="楷体_GB2312" pitchFamily="49" charset="-122"/>
              </a:rPr>
              <a:t>L</a:t>
            </a:r>
            <a:r>
              <a:rPr lang="en-US" altLang="zh-CN" sz="2400" b="1" baseline="30000">
                <a:solidFill>
                  <a:srgbClr val="FF0000"/>
                </a:solidFill>
                <a:latin typeface="+mn-lt"/>
                <a:ea typeface="楷体_GB2312" pitchFamily="49" charset="-122"/>
              </a:rPr>
              <a:t>4</a:t>
            </a:r>
            <a:r>
              <a:rPr lang="en-US" altLang="zh-CN" sz="2400" b="1">
                <a:solidFill>
                  <a:srgbClr val="FF0000"/>
                </a:solidFill>
                <a:latin typeface="+mn-lt"/>
                <a:ea typeface="楷体_GB2312" pitchFamily="49" charset="-122"/>
              </a:rPr>
              <a:t>4L</a:t>
            </a:r>
            <a:r>
              <a:rPr lang="en-US" altLang="zh-CN" sz="2400" b="1" baseline="50000">
                <a:solidFill>
                  <a:srgbClr val="FF0000"/>
                </a:solidFill>
                <a:latin typeface="+mn-lt"/>
                <a:ea typeface="楷体_GB2312" pitchFamily="49" charset="-122"/>
              </a:rPr>
              <a:t>3</a:t>
            </a:r>
            <a:r>
              <a:rPr lang="en-US" altLang="zh-CN" sz="2400" b="1">
                <a:solidFill>
                  <a:srgbClr val="FF0000"/>
                </a:solidFill>
                <a:latin typeface="+mn-lt"/>
                <a:ea typeface="楷体_GB2312" pitchFamily="49" charset="-122"/>
              </a:rPr>
              <a:t>6L</a:t>
            </a:r>
            <a:r>
              <a:rPr lang="en-US" altLang="zh-CN" sz="2400" b="1" baseline="50000">
                <a:solidFill>
                  <a:srgbClr val="FF0000"/>
                </a:solidFill>
                <a:latin typeface="+mn-lt"/>
                <a:ea typeface="楷体_GB2312" pitchFamily="49" charset="-122"/>
              </a:rPr>
              <a:t>2</a:t>
            </a:r>
            <a:r>
              <a:rPr lang="en-US" altLang="zh-CN" sz="2400" b="1">
                <a:solidFill>
                  <a:srgbClr val="FF0000"/>
                </a:solidFill>
                <a:latin typeface="+mn-lt"/>
                <a:ea typeface="楷体_GB2312" pitchFamily="49" charset="-122"/>
              </a:rPr>
              <a:t>9PC </a:t>
            </a:r>
            <a:endParaRPr lang="en-US" altLang="zh-CN" sz="2800" b="1">
              <a:solidFill>
                <a:srgbClr val="FF0000"/>
              </a:solidFill>
              <a:latin typeface="+mn-lt"/>
              <a:ea typeface="楷体_GB2312" pitchFamily="49" charset="-122"/>
            </a:endParaRPr>
          </a:p>
        </p:txBody>
      </p:sp>
      <p:sp>
        <p:nvSpPr>
          <p:cNvPr id="96259" name="Rectangle 3"/>
          <p:cNvSpPr>
            <a:spLocks noChangeArrowheads="1"/>
          </p:cNvSpPr>
          <p:nvPr/>
        </p:nvSpPr>
        <p:spPr bwMode="auto">
          <a:xfrm>
            <a:off x="504566" y="620713"/>
            <a:ext cx="793885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altLang="zh-CN" sz="3200">
                <a:solidFill>
                  <a:srgbClr val="FF0000"/>
                </a:solidFill>
              </a:rPr>
              <a:t>Derivation of B</a:t>
            </a:r>
            <a:r>
              <a:rPr lang="zh-CN" altLang="en-US" sz="3200">
                <a:solidFill>
                  <a:srgbClr val="FF0000"/>
                </a:solidFill>
              </a:rPr>
              <a:t> </a:t>
            </a:r>
            <a:r>
              <a:rPr lang="en-US" altLang="zh-CN" sz="3200">
                <a:solidFill>
                  <a:srgbClr val="FF0000"/>
                </a:solidFill>
              </a:rPr>
              <a:t>type class of symmetry</a:t>
            </a:r>
          </a:p>
          <a:p>
            <a:pPr algn="ctr">
              <a:defRPr/>
            </a:pPr>
            <a:r>
              <a:rPr lang="en-US" altLang="zh-CN" sz="2400" b="0"/>
              <a:t>High axis (n&gt;2)</a:t>
            </a:r>
            <a:r>
              <a:rPr lang="zh-CN" altLang="en-US" sz="2400" b="0"/>
              <a:t> </a:t>
            </a:r>
            <a:r>
              <a:rPr lang="en-US" altLang="zh-CN" sz="2400">
                <a:solidFill>
                  <a:srgbClr val="FF0000"/>
                </a:solidFill>
              </a:rPr>
              <a:t>more than one</a:t>
            </a:r>
            <a:endParaRPr lang="zh-CN" altLang="en-US" sz="2400">
              <a:solidFill>
                <a:srgbClr val="FF0000"/>
              </a:solidFill>
            </a:endParaRPr>
          </a:p>
        </p:txBody>
      </p:sp>
      <p:sp>
        <p:nvSpPr>
          <p:cNvPr id="48132" name="Line 4"/>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3" name="Text Box 5"/>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body" sz="half" idx="1"/>
          </p:nvPr>
        </p:nvSpPr>
        <p:spPr>
          <a:xfrm>
            <a:off x="107505" y="764704"/>
            <a:ext cx="9036496" cy="1068387"/>
          </a:xfrm>
        </p:spPr>
        <p:txBody>
          <a:bodyPr/>
          <a:lstStyle/>
          <a:p>
            <a:pPr eaLnBrk="1" hangingPunct="1"/>
            <a:r>
              <a:rPr lang="en-US" altLang="zh-CN" sz="2400" b="1"/>
              <a:t>All the derived classes of symmetry is 32, as show in table below.</a:t>
            </a:r>
            <a:endParaRPr lang="zh-CN" altLang="en-US" sz="2400" b="1"/>
          </a:p>
        </p:txBody>
      </p:sp>
      <p:graphicFrame>
        <p:nvGraphicFramePr>
          <p:cNvPr id="28013" name="Group 365"/>
          <p:cNvGraphicFramePr>
            <a:graphicFrameLocks noGrp="1"/>
          </p:cNvGraphicFramePr>
          <p:nvPr>
            <p:ph sz="half" idx="2"/>
            <p:extLst>
              <p:ext uri="{D42A27DB-BD31-4B8C-83A1-F6EECF244321}">
                <p14:modId xmlns:p14="http://schemas.microsoft.com/office/powerpoint/2010/main" val="3653363770"/>
              </p:ext>
            </p:extLst>
          </p:nvPr>
        </p:nvGraphicFramePr>
        <p:xfrm>
          <a:off x="35497" y="1484784"/>
          <a:ext cx="9073702" cy="4057341"/>
        </p:xfrm>
        <a:graphic>
          <a:graphicData uri="http://schemas.openxmlformats.org/drawingml/2006/table">
            <a:tbl>
              <a:tblPr/>
              <a:tblGrid>
                <a:gridCol w="1306896">
                  <a:extLst>
                    <a:ext uri="{9D8B030D-6E8A-4147-A177-3AD203B41FA5}">
                      <a16:colId xmlns:a16="http://schemas.microsoft.com/office/drawing/2014/main" val="20000"/>
                    </a:ext>
                  </a:extLst>
                </a:gridCol>
                <a:gridCol w="565311">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933444">
                  <a:extLst>
                    <a:ext uri="{9D8B030D-6E8A-4147-A177-3AD203B41FA5}">
                      <a16:colId xmlns:a16="http://schemas.microsoft.com/office/drawing/2014/main" val="20003"/>
                    </a:ext>
                  </a:extLst>
                </a:gridCol>
                <a:gridCol w="458977">
                  <a:extLst>
                    <a:ext uri="{9D8B030D-6E8A-4147-A177-3AD203B41FA5}">
                      <a16:colId xmlns:a16="http://schemas.microsoft.com/office/drawing/2014/main" val="20004"/>
                    </a:ext>
                  </a:extLst>
                </a:gridCol>
                <a:gridCol w="442701">
                  <a:extLst>
                    <a:ext uri="{9D8B030D-6E8A-4147-A177-3AD203B41FA5}">
                      <a16:colId xmlns:a16="http://schemas.microsoft.com/office/drawing/2014/main" val="20005"/>
                    </a:ext>
                  </a:extLst>
                </a:gridCol>
                <a:gridCol w="1033513">
                  <a:extLst>
                    <a:ext uri="{9D8B030D-6E8A-4147-A177-3AD203B41FA5}">
                      <a16:colId xmlns:a16="http://schemas.microsoft.com/office/drawing/2014/main" val="20006"/>
                    </a:ext>
                  </a:extLst>
                </a:gridCol>
                <a:gridCol w="379225">
                  <a:extLst>
                    <a:ext uri="{9D8B030D-6E8A-4147-A177-3AD203B41FA5}">
                      <a16:colId xmlns:a16="http://schemas.microsoft.com/office/drawing/2014/main" val="20007"/>
                    </a:ext>
                  </a:extLst>
                </a:gridCol>
                <a:gridCol w="1240215">
                  <a:extLst>
                    <a:ext uri="{9D8B030D-6E8A-4147-A177-3AD203B41FA5}">
                      <a16:colId xmlns:a16="http://schemas.microsoft.com/office/drawing/2014/main" val="20008"/>
                    </a:ext>
                  </a:extLst>
                </a:gridCol>
                <a:gridCol w="1777316">
                  <a:extLst>
                    <a:ext uri="{9D8B030D-6E8A-4147-A177-3AD203B41FA5}">
                      <a16:colId xmlns:a16="http://schemas.microsoft.com/office/drawing/2014/main" val="20009"/>
                    </a:ext>
                  </a:extLst>
                </a:gridCol>
              </a:tblGrid>
              <a:tr h="762062">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000" b="1" i="1" u="none" strike="noStrike" cap="none" normalizeH="0" baseline="30000">
                        <a:ln>
                          <a:noFill/>
                        </a:ln>
                        <a:solidFill>
                          <a:schemeClr val="tx1"/>
                        </a:solidFill>
                        <a:effectLst/>
                        <a:latin typeface="+mn-lt"/>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30000">
                          <a:ln>
                            <a:noFill/>
                          </a:ln>
                          <a:solidFill>
                            <a:schemeClr val="tx1"/>
                          </a:solidFill>
                          <a:effectLst/>
                          <a:latin typeface="+mn-lt"/>
                          <a:ea typeface="宋体" pitchFamily="2" charset="-122"/>
                        </a:rPr>
                        <a:t>Combined type</a:t>
                      </a:r>
                      <a:endParaRPr kumimoji="1" lang="zh-CN" altLang="en-US" sz="2800" b="1" i="0" u="none" strike="noStrike" cap="none" normalizeH="0" baseline="30000">
                        <a:ln>
                          <a:noFill/>
                        </a:ln>
                        <a:solidFill>
                          <a:schemeClr val="tx1"/>
                        </a:solidFill>
                        <a:effectLst/>
                        <a:latin typeface="+mn-lt"/>
                        <a:ea typeface="宋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n</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n</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n</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n</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a:t>
                      </a:r>
                      <a:r>
                        <a:rPr kumimoji="1" lang="en-US" altLang="zh-CN" sz="2000" b="1" i="1" u="none" strike="noStrike" cap="none" normalizeH="0" baseline="0">
                          <a:ln>
                            <a:noFill/>
                          </a:ln>
                          <a:solidFill>
                            <a:schemeClr val="tx1"/>
                          </a:solidFill>
                          <a:effectLst/>
                          <a:latin typeface="+mn-lt"/>
                          <a:ea typeface="宋体" pitchFamily="2" charset="-122"/>
                        </a:rPr>
                        <a:t>P(C)</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n</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n</a:t>
                      </a:r>
                      <a:r>
                        <a:rPr kumimoji="1" lang="en-US" altLang="zh-CN" sz="2000" b="1" i="1" u="none" strike="noStrike" cap="none" normalizeH="0" baseline="0">
                          <a:ln>
                            <a:noFill/>
                          </a:ln>
                          <a:solidFill>
                            <a:schemeClr val="tx1"/>
                          </a:solidFill>
                          <a:effectLst/>
                          <a:latin typeface="+mn-lt"/>
                          <a:ea typeface="宋体" pitchFamily="2" charset="-122"/>
                        </a:rPr>
                        <a:t>P</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n</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n</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 (n+1)</a:t>
                      </a:r>
                      <a:r>
                        <a:rPr kumimoji="1" lang="en-US" altLang="zh-CN" sz="2000" b="1" i="1" u="none" strike="noStrike" cap="none" normalizeH="0" baseline="0">
                          <a:ln>
                            <a:noFill/>
                          </a:ln>
                          <a:solidFill>
                            <a:schemeClr val="tx1"/>
                          </a:solidFill>
                          <a:effectLst/>
                          <a:latin typeface="+mn-lt"/>
                          <a:ea typeface="宋体" pitchFamily="2" charset="-122"/>
                        </a:rPr>
                        <a:t>P(C)</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25000">
                          <a:ln>
                            <a:noFill/>
                          </a:ln>
                          <a:solidFill>
                            <a:schemeClr val="tx1"/>
                          </a:solidFill>
                          <a:effectLst/>
                          <a:latin typeface="+mn-lt"/>
                          <a:ea typeface="宋体" pitchFamily="2" charset="-122"/>
                        </a:rPr>
                        <a:t>i</a:t>
                      </a:r>
                      <a:r>
                        <a:rPr kumimoji="1" lang="en-US" altLang="zh-CN" sz="2000" b="1" i="1" u="none" strike="noStrike" cap="none" normalizeH="0" baseline="30000">
                          <a:ln>
                            <a:noFill/>
                          </a:ln>
                          <a:solidFill>
                            <a:schemeClr val="tx1"/>
                          </a:solidFill>
                          <a:effectLst/>
                          <a:latin typeface="+mn-lt"/>
                          <a:ea typeface="宋体" pitchFamily="2" charset="-122"/>
                        </a:rPr>
                        <a:t>n</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25000">
                          <a:ln>
                            <a:noFill/>
                          </a:ln>
                          <a:solidFill>
                            <a:schemeClr val="tx1"/>
                          </a:solidFill>
                          <a:effectLst/>
                          <a:latin typeface="+mn-lt"/>
                          <a:ea typeface="宋体" pitchFamily="2" charset="-122"/>
                        </a:rPr>
                        <a:t>i</a:t>
                      </a:r>
                      <a:r>
                        <a:rPr kumimoji="1" lang="en-US" altLang="zh-CN" sz="2000" b="1" i="1" u="none" strike="noStrike" cap="none" normalizeH="0" baseline="30000">
                          <a:ln>
                            <a:noFill/>
                          </a:ln>
                          <a:solidFill>
                            <a:schemeClr val="tx1"/>
                          </a:solidFill>
                          <a:effectLst/>
                          <a:latin typeface="+mn-lt"/>
                          <a:ea typeface="宋体" pitchFamily="2" charset="-122"/>
                        </a:rPr>
                        <a:t>n </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n</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 n</a:t>
                      </a:r>
                      <a:r>
                        <a:rPr kumimoji="1" lang="en-US" altLang="zh-CN" sz="2000" b="1" i="1" u="none" strike="noStrike" cap="none" normalizeH="0" baseline="0">
                          <a:ln>
                            <a:noFill/>
                          </a:ln>
                          <a:solidFill>
                            <a:schemeClr val="tx1"/>
                          </a:solidFill>
                          <a:effectLst/>
                          <a:latin typeface="+mn-lt"/>
                          <a:ea typeface="宋体" pitchFamily="2" charset="-122"/>
                        </a:rPr>
                        <a:t>P</a:t>
                      </a:r>
                      <a:endParaRPr kumimoji="1" lang="en-US" altLang="zh-CN" sz="2000" b="1" i="1" u="none" strike="noStrike" cap="none" normalizeH="0" baseline="30000">
                        <a:ln>
                          <a:noFill/>
                        </a:ln>
                        <a:solidFill>
                          <a:schemeClr val="tx1"/>
                        </a:solidFill>
                        <a:effectLst/>
                        <a:latin typeface="+mn-lt"/>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25000">
                          <a:ln>
                            <a:noFill/>
                          </a:ln>
                          <a:solidFill>
                            <a:schemeClr val="tx1"/>
                          </a:solidFill>
                          <a:effectLst/>
                          <a:latin typeface="+mn-lt"/>
                          <a:ea typeface="宋体" pitchFamily="2" charset="-122"/>
                        </a:rPr>
                        <a:t>i</a:t>
                      </a:r>
                      <a:r>
                        <a:rPr kumimoji="1" lang="en-US" altLang="zh-CN" sz="2000" b="1" i="1" u="none" strike="noStrike" cap="none" normalizeH="0" baseline="30000">
                          <a:ln>
                            <a:noFill/>
                          </a:ln>
                          <a:solidFill>
                            <a:schemeClr val="tx1"/>
                          </a:solidFill>
                          <a:effectLst/>
                          <a:latin typeface="+mn-lt"/>
                          <a:ea typeface="宋体" pitchFamily="2" charset="-122"/>
                        </a:rPr>
                        <a:t>n </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n/2</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 n/2</a:t>
                      </a:r>
                      <a:r>
                        <a:rPr kumimoji="1" lang="en-US" altLang="zh-CN" sz="2000" b="1" i="1" u="none" strike="noStrike" cap="none" normalizeH="0" baseline="0">
                          <a:ln>
                            <a:noFill/>
                          </a:ln>
                          <a:solidFill>
                            <a:schemeClr val="tx1"/>
                          </a:solidFill>
                          <a:effectLst/>
                          <a:latin typeface="+mn-lt"/>
                          <a:ea typeface="宋体" pitchFamily="2" charset="-122"/>
                        </a:rPr>
                        <a:t>P</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72">
                <a:tc rowSpan="5">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000" b="1" i="1" u="none" strike="noStrike" cap="none" normalizeH="0" baseline="30000">
                        <a:ln>
                          <a:noFill/>
                        </a:ln>
                        <a:solidFill>
                          <a:schemeClr val="tx1"/>
                        </a:solidFill>
                        <a:effectLst/>
                        <a:latin typeface="+mn-lt"/>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000" b="1" i="1" u="none" strike="noStrike" cap="none" normalizeH="0" baseline="30000">
                        <a:ln>
                          <a:noFill/>
                        </a:ln>
                        <a:solidFill>
                          <a:schemeClr val="tx1"/>
                        </a:solidFill>
                        <a:effectLst/>
                        <a:latin typeface="+mn-lt"/>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30000">
                          <a:ln>
                            <a:noFill/>
                          </a:ln>
                          <a:solidFill>
                            <a:schemeClr val="tx1"/>
                          </a:solidFill>
                          <a:effectLst/>
                          <a:latin typeface="+mn-lt"/>
                          <a:ea typeface="宋体" pitchFamily="2" charset="-122"/>
                        </a:rPr>
                        <a:t>   </a:t>
                      </a:r>
                      <a:r>
                        <a:rPr kumimoji="1" lang="en-US" altLang="zh-CN" sz="3600" b="1" i="0" u="none" strike="noStrike" cap="none" normalizeH="0" baseline="30000">
                          <a:ln>
                            <a:noFill/>
                          </a:ln>
                          <a:solidFill>
                            <a:schemeClr val="tx1"/>
                          </a:solidFill>
                          <a:effectLst/>
                          <a:latin typeface="+mn-lt"/>
                          <a:ea typeface="宋体" pitchFamily="2" charset="-122"/>
                        </a:rPr>
                        <a:t>A</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3600" b="1" i="0" u="none" strike="noStrike" cap="none" normalizeH="0" baseline="30000">
                          <a:ln>
                            <a:noFill/>
                          </a:ln>
                          <a:solidFill>
                            <a:schemeClr val="tx1"/>
                          </a:solidFill>
                          <a:effectLst/>
                          <a:latin typeface="+mn-lt"/>
                          <a:ea typeface="宋体" pitchFamily="2" charset="-122"/>
                        </a:rPr>
                        <a:t> type</a:t>
                      </a:r>
                      <a:r>
                        <a:rPr kumimoji="1" lang="zh-CN" altLang="en-US" sz="3600" b="1" i="0" u="none" strike="noStrike" cap="none" normalizeH="0" baseline="30000">
                          <a:ln>
                            <a:noFill/>
                          </a:ln>
                          <a:solidFill>
                            <a:schemeClr val="tx1"/>
                          </a:solidFill>
                          <a:effectLst/>
                          <a:latin typeface="+mn-lt"/>
                          <a:ea typeface="宋体" pitchFamily="2" charset="-122"/>
                        </a:rPr>
                        <a:t> </a:t>
                      </a: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1</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000" b="1" i="1" u="none" strike="noStrike" cap="none" normalizeH="0" baseline="3000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000" b="1" i="1"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25000">
                          <a:ln>
                            <a:noFill/>
                          </a:ln>
                          <a:solidFill>
                            <a:schemeClr val="tx1"/>
                          </a:solidFill>
                          <a:effectLst/>
                          <a:latin typeface="+mn-lt"/>
                          <a:ea typeface="宋体" pitchFamily="2" charset="-122"/>
                        </a:rPr>
                        <a:t>i</a:t>
                      </a:r>
                      <a:r>
                        <a:rPr kumimoji="1" lang="en-US" altLang="zh-CN" sz="2000" b="1" i="1" u="none" strike="noStrike" cap="none" normalizeH="0" baseline="30000">
                          <a:ln>
                            <a:noFill/>
                          </a:ln>
                          <a:solidFill>
                            <a:schemeClr val="tx1"/>
                          </a:solidFill>
                          <a:effectLst/>
                          <a:latin typeface="+mn-lt"/>
                          <a:ea typeface="宋体" pitchFamily="2" charset="-122"/>
                        </a:rPr>
                        <a:t>n </a:t>
                      </a:r>
                      <a:r>
                        <a:rPr kumimoji="1" lang="en-US" altLang="zh-CN" sz="2000" b="1" i="0" u="none" strike="noStrike" cap="none" normalizeH="0" baseline="0">
                          <a:ln>
                            <a:noFill/>
                          </a:ln>
                          <a:solidFill>
                            <a:schemeClr val="tx1"/>
                          </a:solidFill>
                          <a:effectLst/>
                          <a:latin typeface="+mn-lt"/>
                          <a:ea typeface="宋体" pitchFamily="2" charset="-122"/>
                        </a:rPr>
                        <a:t>= </a:t>
                      </a:r>
                      <a:r>
                        <a:rPr kumimoji="1" lang="en-US" altLang="zh-CN" sz="2000" b="1" i="1" u="none" strike="noStrike" cap="none" normalizeH="0" baseline="0">
                          <a:ln>
                            <a:noFill/>
                          </a:ln>
                          <a:solidFill>
                            <a:schemeClr val="tx1"/>
                          </a:solidFill>
                          <a:effectLst/>
                          <a:latin typeface="+mn-lt"/>
                          <a:ea typeface="宋体" pitchFamily="2" charset="-122"/>
                        </a:rPr>
                        <a:t>C</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72">
                <a:tc v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2</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3L</a:t>
                      </a:r>
                      <a:r>
                        <a:rPr kumimoji="1" lang="en-US" altLang="zh-CN" sz="2000" b="1" i="1" u="none" strike="noStrike" cap="none" normalizeH="0" baseline="30000">
                          <a:ln>
                            <a:noFill/>
                          </a:ln>
                          <a:solidFill>
                            <a:schemeClr val="tx1"/>
                          </a:solidFill>
                          <a:effectLst/>
                          <a:latin typeface="+mn-lt"/>
                          <a:ea typeface="宋体" pitchFamily="2" charset="-122"/>
                        </a:rPr>
                        <a:t>2</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2</a:t>
                      </a:r>
                      <a:r>
                        <a:rPr kumimoji="1" lang="en-US" altLang="zh-CN" sz="2000" b="1" i="1" u="none" strike="noStrike" cap="none" normalizeH="0" baseline="0">
                          <a:ln>
                            <a:noFill/>
                          </a:ln>
                          <a:solidFill>
                            <a:schemeClr val="tx1"/>
                          </a:solidFill>
                          <a:effectLst/>
                          <a:latin typeface="+mn-lt"/>
                          <a:ea typeface="宋体" pitchFamily="2" charset="-122"/>
                        </a:rPr>
                        <a:t>PC</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a:t>
                      </a:r>
                      <a:r>
                        <a:rPr kumimoji="1" lang="en-US" altLang="zh-CN" sz="2000" b="1" i="1" u="none" strike="noStrike" cap="none" normalizeH="0" baseline="0">
                          <a:ln>
                            <a:noFill/>
                          </a:ln>
                          <a:solidFill>
                            <a:schemeClr val="tx1"/>
                          </a:solidFill>
                          <a:effectLst/>
                          <a:latin typeface="+mn-lt"/>
                          <a:ea typeface="宋体" pitchFamily="2" charset="-122"/>
                        </a:rPr>
                        <a:t>P</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3</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 3</a:t>
                      </a:r>
                      <a:r>
                        <a:rPr kumimoji="1" lang="en-US" altLang="zh-CN" sz="2000" b="1" i="1" u="none" strike="noStrike" cap="none" normalizeH="0" baseline="0">
                          <a:ln>
                            <a:noFill/>
                          </a:ln>
                          <a:solidFill>
                            <a:schemeClr val="tx1"/>
                          </a:solidFill>
                          <a:effectLst/>
                          <a:latin typeface="+mn-lt"/>
                          <a:ea typeface="宋体" pitchFamily="2" charset="-122"/>
                        </a:rPr>
                        <a:t>PC</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25000">
                          <a:ln>
                            <a:noFill/>
                          </a:ln>
                          <a:solidFill>
                            <a:schemeClr val="tx1"/>
                          </a:solidFill>
                          <a:effectLst/>
                          <a:latin typeface="+mn-lt"/>
                          <a:ea typeface="宋体" pitchFamily="2" charset="-122"/>
                        </a:rPr>
                        <a:t>i</a:t>
                      </a:r>
                      <a:r>
                        <a:rPr kumimoji="1" lang="en-US" altLang="zh-CN" sz="2000" b="1" i="1" u="none" strike="noStrike" cap="none" normalizeH="0" baseline="30000">
                          <a:ln>
                            <a:noFill/>
                          </a:ln>
                          <a:solidFill>
                            <a:schemeClr val="tx1"/>
                          </a:solidFill>
                          <a:effectLst/>
                          <a:latin typeface="+mn-lt"/>
                          <a:ea typeface="宋体" pitchFamily="2" charset="-122"/>
                        </a:rPr>
                        <a:t>2 </a:t>
                      </a:r>
                      <a:r>
                        <a:rPr kumimoji="1" lang="en-US" altLang="zh-CN" sz="2000" b="1" i="0" u="none" strike="noStrike" cap="none" normalizeH="0" baseline="0">
                          <a:ln>
                            <a:noFill/>
                          </a:ln>
                          <a:solidFill>
                            <a:schemeClr val="tx1"/>
                          </a:solidFill>
                          <a:effectLst/>
                          <a:latin typeface="+mn-lt"/>
                          <a:ea typeface="宋体" pitchFamily="2" charset="-122"/>
                        </a:rPr>
                        <a:t>= </a:t>
                      </a:r>
                      <a:r>
                        <a:rPr kumimoji="1" lang="en-US" altLang="zh-CN" sz="2000" b="1" i="1" u="none" strike="noStrike" cap="none" normalizeH="0" baseline="0">
                          <a:ln>
                            <a:noFill/>
                          </a:ln>
                          <a:solidFill>
                            <a:schemeClr val="tx1"/>
                          </a:solidFill>
                          <a:effectLst/>
                          <a:latin typeface="+mn-lt"/>
                          <a:ea typeface="宋体" pitchFamily="2" charset="-122"/>
                        </a:rPr>
                        <a:t>P</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2949">
                <a:tc v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3</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3</a:t>
                      </a:r>
                      <a:r>
                        <a:rPr kumimoji="1" lang="en-US" altLang="zh-CN" sz="2000" b="1" i="1" u="none" strike="noStrike" cap="none" normalizeH="0" baseline="0">
                          <a:ln>
                            <a:noFill/>
                          </a:ln>
                          <a:solidFill>
                            <a:schemeClr val="tx1"/>
                          </a:solidFill>
                          <a:effectLst/>
                          <a:latin typeface="+mn-lt"/>
                          <a:ea typeface="宋体" pitchFamily="2" charset="-122"/>
                          <a:sym typeface="Symbol" pitchFamily="18" charset="2"/>
                        </a:rPr>
                        <a:t>3</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2</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3</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3</a:t>
                      </a:r>
                      <a:r>
                        <a:rPr kumimoji="1" lang="en-US" altLang="zh-CN" sz="2000" b="1" i="1" u="none" strike="noStrike" cap="none" normalizeH="0" baseline="0">
                          <a:ln>
                            <a:noFill/>
                          </a:ln>
                          <a:solidFill>
                            <a:schemeClr val="tx1"/>
                          </a:solidFill>
                          <a:effectLst/>
                          <a:latin typeface="+mn-lt"/>
                          <a:ea typeface="宋体" pitchFamily="2" charset="-122"/>
                        </a:rPr>
                        <a:t>P</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en-US" sz="2000" b="1" i="1"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25000">
                          <a:ln>
                            <a:noFill/>
                          </a:ln>
                          <a:solidFill>
                            <a:schemeClr val="tx1"/>
                          </a:solidFill>
                          <a:effectLst/>
                          <a:latin typeface="+mn-lt"/>
                          <a:ea typeface="宋体" pitchFamily="2" charset="-122"/>
                        </a:rPr>
                        <a:t>i</a:t>
                      </a:r>
                      <a:r>
                        <a:rPr kumimoji="1" lang="en-US" altLang="zh-CN" sz="2000" b="1" i="1" u="none" strike="noStrike" cap="none" normalizeH="0" baseline="30000">
                          <a:ln>
                            <a:noFill/>
                          </a:ln>
                          <a:solidFill>
                            <a:schemeClr val="tx1"/>
                          </a:solidFill>
                          <a:effectLst/>
                          <a:latin typeface="+mn-lt"/>
                          <a:ea typeface="宋体" pitchFamily="2" charset="-122"/>
                        </a:rPr>
                        <a:t>3 </a:t>
                      </a:r>
                      <a:r>
                        <a:rPr kumimoji="1" lang="en-US" altLang="zh-CN" sz="2000" b="1" i="0" u="none" strike="noStrike" cap="none" normalizeH="0" baseline="0">
                          <a:ln>
                            <a:noFill/>
                          </a:ln>
                          <a:solidFill>
                            <a:schemeClr val="tx1"/>
                          </a:solidFill>
                          <a:effectLst/>
                          <a:latin typeface="+mn-lt"/>
                          <a:ea typeface="宋体" pitchFamily="2" charset="-122"/>
                        </a:rPr>
                        <a:t>=</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3</a:t>
                      </a:r>
                      <a:r>
                        <a:rPr kumimoji="1" lang="en-US" altLang="zh-CN" sz="2000" b="1" i="0" u="none" strike="noStrike" cap="none" normalizeH="0" baseline="0">
                          <a:ln>
                            <a:noFill/>
                          </a:ln>
                          <a:solidFill>
                            <a:schemeClr val="tx1"/>
                          </a:solidFill>
                          <a:effectLst/>
                          <a:latin typeface="+mn-lt"/>
                          <a:ea typeface="宋体" pitchFamily="2" charset="-122"/>
                        </a:rPr>
                        <a:t> </a:t>
                      </a:r>
                      <a:r>
                        <a:rPr kumimoji="1" lang="en-US" altLang="zh-CN" sz="2000" b="1" i="1" u="none" strike="noStrike" cap="none" normalizeH="0" baseline="0">
                          <a:ln>
                            <a:noFill/>
                          </a:ln>
                          <a:solidFill>
                            <a:schemeClr val="tx1"/>
                          </a:solidFill>
                          <a:effectLst/>
                          <a:latin typeface="+mn-lt"/>
                          <a:ea typeface="宋体" pitchFamily="2" charset="-122"/>
                        </a:rPr>
                        <a:t>C</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3</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3</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 3</a:t>
                      </a:r>
                      <a:r>
                        <a:rPr kumimoji="1" lang="en-US" altLang="zh-CN" sz="2000" b="1" i="1" u="none" strike="noStrike" cap="none" normalizeH="0" baseline="0">
                          <a:ln>
                            <a:noFill/>
                          </a:ln>
                          <a:solidFill>
                            <a:schemeClr val="tx1"/>
                          </a:solidFill>
                          <a:effectLst/>
                          <a:latin typeface="+mn-lt"/>
                          <a:ea typeface="宋体" pitchFamily="2" charset="-122"/>
                        </a:rPr>
                        <a:t>PC</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72">
                <a:tc v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4</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4</a:t>
                      </a:r>
                      <a:r>
                        <a:rPr kumimoji="1" lang="en-US" altLang="zh-CN" sz="2000" b="1" i="1" u="none" strike="noStrike" cap="none" normalizeH="0" baseline="0">
                          <a:ln>
                            <a:noFill/>
                          </a:ln>
                          <a:solidFill>
                            <a:schemeClr val="tx1"/>
                          </a:solidFill>
                          <a:effectLst/>
                          <a:latin typeface="+mn-lt"/>
                          <a:ea typeface="宋体" pitchFamily="2" charset="-122"/>
                          <a:sym typeface="Symbol" pitchFamily="18" charset="2"/>
                        </a:rPr>
                        <a:t>4</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2</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4</a:t>
                      </a:r>
                      <a:r>
                        <a:rPr kumimoji="1" lang="en-US" altLang="zh-CN" sz="2000" b="1" i="1" u="none" strike="noStrike" cap="none" normalizeH="0" baseline="0">
                          <a:ln>
                            <a:noFill/>
                          </a:ln>
                          <a:solidFill>
                            <a:schemeClr val="tx1"/>
                          </a:solidFill>
                          <a:effectLst/>
                          <a:latin typeface="+mn-lt"/>
                          <a:ea typeface="宋体" pitchFamily="2" charset="-122"/>
                        </a:rPr>
                        <a:t>PC</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4</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4</a:t>
                      </a:r>
                      <a:r>
                        <a:rPr kumimoji="1" lang="en-US" altLang="zh-CN" sz="2000" b="1" i="1" u="none" strike="noStrike" cap="none" normalizeH="0" baseline="0">
                          <a:ln>
                            <a:noFill/>
                          </a:ln>
                          <a:solidFill>
                            <a:schemeClr val="tx1"/>
                          </a:solidFill>
                          <a:effectLst/>
                          <a:latin typeface="+mn-lt"/>
                          <a:ea typeface="宋体" pitchFamily="2" charset="-122"/>
                        </a:rPr>
                        <a:t>P</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4</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4</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 5</a:t>
                      </a:r>
                      <a:r>
                        <a:rPr kumimoji="1" lang="en-US" altLang="zh-CN" sz="2000" b="1" i="1" u="none" strike="noStrike" cap="none" normalizeH="0" baseline="0">
                          <a:ln>
                            <a:noFill/>
                          </a:ln>
                          <a:solidFill>
                            <a:schemeClr val="tx1"/>
                          </a:solidFill>
                          <a:effectLst/>
                          <a:latin typeface="+mn-lt"/>
                          <a:ea typeface="宋体" pitchFamily="2" charset="-122"/>
                        </a:rPr>
                        <a:t>PC</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25000">
                          <a:ln>
                            <a:noFill/>
                          </a:ln>
                          <a:solidFill>
                            <a:schemeClr val="tx1"/>
                          </a:solidFill>
                          <a:effectLst/>
                          <a:latin typeface="+mn-lt"/>
                          <a:ea typeface="宋体" pitchFamily="2" charset="-122"/>
                        </a:rPr>
                        <a:t>i</a:t>
                      </a:r>
                      <a:r>
                        <a:rPr kumimoji="1" lang="en-US" altLang="zh-CN" sz="2000" b="1" i="1" u="none" strike="noStrike" cap="none" normalizeH="0" baseline="30000">
                          <a:ln>
                            <a:noFill/>
                          </a:ln>
                          <a:solidFill>
                            <a:schemeClr val="tx1"/>
                          </a:solidFill>
                          <a:effectLst/>
                          <a:latin typeface="+mn-lt"/>
                          <a:ea typeface="宋体" pitchFamily="2" charset="-122"/>
                        </a:rPr>
                        <a:t>4</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25000">
                          <a:ln>
                            <a:noFill/>
                          </a:ln>
                          <a:solidFill>
                            <a:schemeClr val="tx1"/>
                          </a:solidFill>
                          <a:effectLst/>
                          <a:latin typeface="+mn-lt"/>
                          <a:ea typeface="宋体" pitchFamily="2" charset="-122"/>
                        </a:rPr>
                        <a:t>i</a:t>
                      </a:r>
                      <a:r>
                        <a:rPr kumimoji="1" lang="en-US" altLang="zh-CN" sz="2000" b="1" i="1" u="none" strike="noStrike" cap="none" normalizeH="0" baseline="30000">
                          <a:ln>
                            <a:noFill/>
                          </a:ln>
                          <a:solidFill>
                            <a:schemeClr val="tx1"/>
                          </a:solidFill>
                          <a:effectLst/>
                          <a:latin typeface="+mn-lt"/>
                          <a:ea typeface="宋体" pitchFamily="2" charset="-122"/>
                        </a:rPr>
                        <a:t>4 </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2</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2</a:t>
                      </a:r>
                      <a:r>
                        <a:rPr kumimoji="1" lang="en-US" altLang="zh-CN" sz="2000" b="1" i="1" u="none" strike="noStrike" cap="none" normalizeH="0" baseline="0">
                          <a:ln>
                            <a:noFill/>
                          </a:ln>
                          <a:solidFill>
                            <a:schemeClr val="tx1"/>
                          </a:solidFill>
                          <a:effectLst/>
                          <a:latin typeface="+mn-lt"/>
                          <a:ea typeface="宋体" pitchFamily="2" charset="-122"/>
                        </a:rPr>
                        <a:t>P</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62062">
                <a:tc v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6</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6</a:t>
                      </a:r>
                      <a:r>
                        <a:rPr kumimoji="1" lang="en-US" altLang="zh-CN" sz="2000" b="1" i="1" u="none" strike="noStrike" cap="none" normalizeH="0" baseline="0">
                          <a:ln>
                            <a:noFill/>
                          </a:ln>
                          <a:solidFill>
                            <a:schemeClr val="tx1"/>
                          </a:solidFill>
                          <a:effectLst/>
                          <a:latin typeface="+mn-lt"/>
                          <a:ea typeface="宋体" pitchFamily="2" charset="-122"/>
                          <a:sym typeface="Symbol" pitchFamily="18" charset="2"/>
                        </a:rPr>
                        <a:t>6</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2</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6</a:t>
                      </a:r>
                      <a:r>
                        <a:rPr kumimoji="1" lang="en-US" altLang="zh-CN" sz="2000" b="1" i="1" u="none" strike="noStrike" cap="none" normalizeH="0" baseline="0">
                          <a:ln>
                            <a:noFill/>
                          </a:ln>
                          <a:solidFill>
                            <a:schemeClr val="tx1"/>
                          </a:solidFill>
                          <a:effectLst/>
                          <a:latin typeface="+mn-lt"/>
                          <a:ea typeface="宋体" pitchFamily="2" charset="-122"/>
                        </a:rPr>
                        <a:t>PC</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6</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6</a:t>
                      </a:r>
                      <a:r>
                        <a:rPr kumimoji="1" lang="en-US" altLang="zh-CN" sz="2000" b="1" i="1" u="none" strike="noStrike" cap="none" normalizeH="0" baseline="0">
                          <a:ln>
                            <a:noFill/>
                          </a:ln>
                          <a:solidFill>
                            <a:schemeClr val="tx1"/>
                          </a:solidFill>
                          <a:effectLst/>
                          <a:latin typeface="+mn-lt"/>
                          <a:ea typeface="宋体" pitchFamily="2" charset="-122"/>
                        </a:rPr>
                        <a:t>P</a:t>
                      </a:r>
                      <a:endParaRPr kumimoji="1" lang="en-US" altLang="zh-CN" sz="2000" b="1" i="0"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6</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6</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 7</a:t>
                      </a:r>
                      <a:r>
                        <a:rPr kumimoji="1" lang="en-US" altLang="zh-CN" sz="2000" b="1" i="1" u="none" strike="noStrike" cap="none" normalizeH="0" baseline="0">
                          <a:ln>
                            <a:noFill/>
                          </a:ln>
                          <a:solidFill>
                            <a:schemeClr val="tx1"/>
                          </a:solidFill>
                          <a:effectLst/>
                          <a:latin typeface="+mn-lt"/>
                          <a:ea typeface="宋体" pitchFamily="2" charset="-122"/>
                        </a:rPr>
                        <a:t>PC</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25000">
                          <a:ln>
                            <a:noFill/>
                          </a:ln>
                          <a:solidFill>
                            <a:schemeClr val="tx1"/>
                          </a:solidFill>
                          <a:effectLst/>
                          <a:latin typeface="+mn-lt"/>
                          <a:ea typeface="宋体" pitchFamily="2" charset="-122"/>
                        </a:rPr>
                        <a:t>i</a:t>
                      </a:r>
                      <a:r>
                        <a:rPr kumimoji="1" lang="en-US" altLang="zh-CN" sz="2000" b="1" i="1" u="none" strike="noStrike" cap="none" normalizeH="0" baseline="30000">
                          <a:ln>
                            <a:noFill/>
                          </a:ln>
                          <a:solidFill>
                            <a:schemeClr val="tx1"/>
                          </a:solidFill>
                          <a:effectLst/>
                          <a:latin typeface="+mn-lt"/>
                          <a:ea typeface="宋体" pitchFamily="2" charset="-122"/>
                        </a:rPr>
                        <a:t>6 </a:t>
                      </a:r>
                      <a:r>
                        <a:rPr kumimoji="1" lang="en-US" altLang="zh-CN" sz="2000" b="1" i="0" u="none" strike="noStrike" cap="none" normalizeH="0" baseline="0">
                          <a:ln>
                            <a:noFill/>
                          </a:ln>
                          <a:solidFill>
                            <a:schemeClr val="tx1"/>
                          </a:solidFill>
                          <a:effectLst/>
                          <a:latin typeface="+mn-lt"/>
                          <a:ea typeface="宋体" pitchFamily="2" charset="-122"/>
                        </a:rPr>
                        <a:t>=</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1" u="none" strike="noStrike" cap="none" normalizeH="0" baseline="30000">
                          <a:ln>
                            <a:noFill/>
                          </a:ln>
                          <a:solidFill>
                            <a:schemeClr val="tx1"/>
                          </a:solidFill>
                          <a:effectLst/>
                          <a:latin typeface="+mn-lt"/>
                          <a:ea typeface="宋体" pitchFamily="2" charset="-122"/>
                        </a:rPr>
                        <a:t>3 </a:t>
                      </a:r>
                      <a:r>
                        <a:rPr kumimoji="1" lang="en-US" altLang="zh-CN" sz="2000" b="1" i="1" u="none" strike="noStrike" cap="none" normalizeH="0" baseline="0">
                          <a:ln>
                            <a:noFill/>
                          </a:ln>
                          <a:solidFill>
                            <a:schemeClr val="tx1"/>
                          </a:solidFill>
                          <a:effectLst/>
                          <a:latin typeface="+mn-lt"/>
                          <a:ea typeface="宋体" pitchFamily="2" charset="-122"/>
                        </a:rPr>
                        <a:t>P</a:t>
                      </a:r>
                      <a:endParaRPr kumimoji="1" lang="en-US" altLang="zh-CN" sz="2000" b="1" i="1" u="none" strike="noStrike" cap="none" normalizeH="0" baseline="30000">
                        <a:ln>
                          <a:noFill/>
                        </a:ln>
                        <a:solidFill>
                          <a:schemeClr val="tx1"/>
                        </a:solidFill>
                        <a:effectLst/>
                        <a:latin typeface="+mn-lt"/>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000" b="1" i="1" u="none" strike="noStrike" cap="none" normalizeH="0" baseline="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 L</a:t>
                      </a:r>
                      <a:r>
                        <a:rPr kumimoji="1" lang="en-US" altLang="zh-CN" sz="2000" b="1" i="1" u="none" strike="noStrike" cap="none" normalizeH="0" baseline="-25000">
                          <a:ln>
                            <a:noFill/>
                          </a:ln>
                          <a:solidFill>
                            <a:schemeClr val="tx1"/>
                          </a:solidFill>
                          <a:effectLst/>
                          <a:latin typeface="+mn-lt"/>
                          <a:ea typeface="宋体" pitchFamily="2" charset="-122"/>
                        </a:rPr>
                        <a:t>i</a:t>
                      </a:r>
                      <a:r>
                        <a:rPr kumimoji="1" lang="en-US" altLang="zh-CN" sz="2000" b="1" i="1" u="none" strike="noStrike" cap="none" normalizeH="0" baseline="30000">
                          <a:ln>
                            <a:noFill/>
                          </a:ln>
                          <a:solidFill>
                            <a:schemeClr val="tx1"/>
                          </a:solidFill>
                          <a:effectLst/>
                          <a:latin typeface="+mn-lt"/>
                          <a:ea typeface="宋体" pitchFamily="2" charset="-122"/>
                        </a:rPr>
                        <a:t>6 </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3</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 3</a:t>
                      </a:r>
                      <a:r>
                        <a:rPr kumimoji="1" lang="en-US" altLang="zh-CN" sz="2000" b="1" i="1" u="none" strike="noStrike" cap="none" normalizeH="0" baseline="0">
                          <a:ln>
                            <a:noFill/>
                          </a:ln>
                          <a:solidFill>
                            <a:schemeClr val="tx1"/>
                          </a:solidFill>
                          <a:effectLst/>
                          <a:latin typeface="+mn-lt"/>
                          <a:ea typeface="宋体" pitchFamily="2" charset="-122"/>
                        </a:rPr>
                        <a:t>P</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 L</a:t>
                      </a:r>
                      <a:r>
                        <a:rPr kumimoji="1" lang="en-US" altLang="zh-CN" sz="2000" b="1" i="1" u="none" strike="noStrike" cap="none" normalizeH="0" baseline="30000">
                          <a:ln>
                            <a:noFill/>
                          </a:ln>
                          <a:solidFill>
                            <a:schemeClr val="tx1"/>
                          </a:solidFill>
                          <a:effectLst/>
                          <a:latin typeface="+mn-lt"/>
                          <a:ea typeface="宋体" pitchFamily="2" charset="-122"/>
                        </a:rPr>
                        <a:t>3 </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3</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 4</a:t>
                      </a:r>
                      <a:r>
                        <a:rPr kumimoji="1" lang="en-US" altLang="zh-CN" sz="2000" b="1" i="1" u="none" strike="noStrike" cap="none" normalizeH="0" baseline="0">
                          <a:ln>
                            <a:noFill/>
                          </a:ln>
                          <a:solidFill>
                            <a:schemeClr val="tx1"/>
                          </a:solidFill>
                          <a:effectLst/>
                          <a:latin typeface="+mn-lt"/>
                          <a:ea typeface="宋体" pitchFamily="2" charset="-122"/>
                        </a:rPr>
                        <a:t>P</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43010">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000" b="1" i="1" u="none" strike="noStrike" cap="none" normalizeH="0" baseline="30000">
                        <a:ln>
                          <a:noFill/>
                        </a:ln>
                        <a:solidFill>
                          <a:schemeClr val="tx1"/>
                        </a:solidFill>
                        <a:effectLst/>
                        <a:latin typeface="+mn-lt"/>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3600" b="1" i="0" u="none" strike="noStrike" cap="none" normalizeH="0" baseline="30000">
                          <a:ln>
                            <a:noFill/>
                          </a:ln>
                          <a:solidFill>
                            <a:schemeClr val="tx1"/>
                          </a:solidFill>
                          <a:effectLst/>
                          <a:latin typeface="+mn-lt"/>
                          <a:ea typeface="宋体" pitchFamily="2" charset="-122"/>
                        </a:rPr>
                        <a:t> B  type</a:t>
                      </a:r>
                      <a:endParaRPr kumimoji="1" lang="zh-CN" altLang="en-US" sz="3600" b="1" i="0" u="none" strike="noStrike" cap="none" normalizeH="0" baseline="30000">
                        <a:ln>
                          <a:noFill/>
                        </a:ln>
                        <a:solidFill>
                          <a:schemeClr val="tx1"/>
                        </a:solidFill>
                        <a:effectLst/>
                        <a:latin typeface="+mn-lt"/>
                        <a:ea typeface="宋体"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3L</a:t>
                      </a:r>
                      <a:r>
                        <a:rPr kumimoji="1" lang="en-US" altLang="zh-CN" sz="2000" b="1" i="0"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4</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3</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3L</a:t>
                      </a:r>
                      <a:r>
                        <a:rPr kumimoji="1" lang="en-US" altLang="zh-CN" sz="2000" b="1" i="1" u="none" strike="noStrike" cap="none" normalizeH="0" baseline="30000">
                          <a:ln>
                            <a:noFill/>
                          </a:ln>
                          <a:solidFill>
                            <a:schemeClr val="tx1"/>
                          </a:solidFill>
                          <a:effectLst/>
                          <a:latin typeface="+mn-lt"/>
                          <a:ea typeface="宋体" pitchFamily="2" charset="-122"/>
                        </a:rPr>
                        <a:t>4</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4</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3</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6</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3L</a:t>
                      </a:r>
                      <a:r>
                        <a:rPr kumimoji="1" lang="en-US" altLang="zh-CN" sz="2000" b="1" i="1"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4</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3</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3</a:t>
                      </a:r>
                      <a:r>
                        <a:rPr kumimoji="1" lang="en-US" altLang="zh-CN" sz="2000" b="1" i="1" u="none" strike="noStrike" cap="none" normalizeH="0" baseline="0">
                          <a:ln>
                            <a:noFill/>
                          </a:ln>
                          <a:solidFill>
                            <a:schemeClr val="tx1"/>
                          </a:solidFill>
                          <a:effectLst/>
                          <a:latin typeface="+mn-lt"/>
                          <a:ea typeface="宋体" pitchFamily="2" charset="-122"/>
                        </a:rPr>
                        <a:t>PC</a:t>
                      </a: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3 L</a:t>
                      </a:r>
                      <a:r>
                        <a:rPr kumimoji="1" lang="en-US" altLang="zh-CN" sz="2000" b="1" i="1" u="none" strike="noStrike" cap="none" normalizeH="0" baseline="-25000">
                          <a:ln>
                            <a:noFill/>
                          </a:ln>
                          <a:solidFill>
                            <a:schemeClr val="tx1"/>
                          </a:solidFill>
                          <a:effectLst/>
                          <a:latin typeface="+mn-lt"/>
                          <a:ea typeface="宋体" pitchFamily="2" charset="-122"/>
                        </a:rPr>
                        <a:t>i</a:t>
                      </a:r>
                      <a:r>
                        <a:rPr kumimoji="1" lang="en-US" altLang="zh-CN" sz="2000" b="1" i="1" u="none" strike="noStrike" cap="none" normalizeH="0" baseline="30000">
                          <a:ln>
                            <a:noFill/>
                          </a:ln>
                          <a:solidFill>
                            <a:schemeClr val="tx1"/>
                          </a:solidFill>
                          <a:effectLst/>
                          <a:latin typeface="+mn-lt"/>
                          <a:ea typeface="宋体" pitchFamily="2" charset="-122"/>
                        </a:rPr>
                        <a:t>4</a:t>
                      </a:r>
                      <a:r>
                        <a:rPr kumimoji="1" lang="en-US" altLang="zh-CN" sz="2000" b="1" i="1" u="none" strike="noStrike" cap="none" normalizeH="0" baseline="0">
                          <a:ln>
                            <a:noFill/>
                          </a:ln>
                          <a:solidFill>
                            <a:schemeClr val="tx1"/>
                          </a:solidFill>
                          <a:effectLst/>
                          <a:latin typeface="+mn-lt"/>
                          <a:ea typeface="宋体" pitchFamily="2" charset="-122"/>
                        </a:rPr>
                        <a:t> </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4</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3</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6</a:t>
                      </a:r>
                      <a:r>
                        <a:rPr kumimoji="1" lang="en-US" altLang="zh-CN" sz="2000" b="1" i="1" u="none" strike="noStrike" cap="none" normalizeH="0" baseline="0">
                          <a:ln>
                            <a:noFill/>
                          </a:ln>
                          <a:solidFill>
                            <a:schemeClr val="tx1"/>
                          </a:solidFill>
                          <a:effectLst/>
                          <a:latin typeface="+mn-lt"/>
                          <a:ea typeface="宋体" pitchFamily="2" charset="-122"/>
                        </a:rPr>
                        <a:t>P</a:t>
                      </a:r>
                      <a:endParaRPr kumimoji="1" lang="en-US" altLang="zh-CN" sz="2000" b="1" i="0" u="none" strike="noStrike" cap="none" normalizeH="0" baseline="30000">
                        <a:ln>
                          <a:noFill/>
                        </a:ln>
                        <a:solidFill>
                          <a:schemeClr val="tx1"/>
                        </a:solidFill>
                        <a:effectLst/>
                        <a:latin typeface="+mn-lt"/>
                        <a:ea typeface="宋体"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宋体" pitchFamily="2" charset="-122"/>
                        </a:rPr>
                        <a:t>3L</a:t>
                      </a:r>
                      <a:r>
                        <a:rPr kumimoji="1" lang="en-US" altLang="zh-CN" sz="2000" b="1" i="1" u="none" strike="noStrike" cap="none" normalizeH="0" baseline="30000">
                          <a:ln>
                            <a:noFill/>
                          </a:ln>
                          <a:solidFill>
                            <a:schemeClr val="tx1"/>
                          </a:solidFill>
                          <a:effectLst/>
                          <a:latin typeface="+mn-lt"/>
                          <a:ea typeface="宋体" pitchFamily="2" charset="-122"/>
                        </a:rPr>
                        <a:t>4</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4</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3 </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6</a:t>
                      </a:r>
                      <a:r>
                        <a:rPr kumimoji="1" lang="en-US" altLang="zh-CN" sz="2000" b="1" i="1" u="none" strike="noStrike" cap="none" normalizeH="0" baseline="0">
                          <a:ln>
                            <a:noFill/>
                          </a:ln>
                          <a:solidFill>
                            <a:schemeClr val="tx1"/>
                          </a:solidFill>
                          <a:effectLst/>
                          <a:latin typeface="+mn-lt"/>
                          <a:ea typeface="宋体" pitchFamily="2" charset="-122"/>
                        </a:rPr>
                        <a:t>L</a:t>
                      </a:r>
                      <a:r>
                        <a:rPr kumimoji="1" lang="en-US" altLang="zh-CN" sz="2000" b="1" i="0" u="none" strike="noStrike" cap="none" normalizeH="0" baseline="30000">
                          <a:ln>
                            <a:noFill/>
                          </a:ln>
                          <a:solidFill>
                            <a:schemeClr val="tx1"/>
                          </a:solidFill>
                          <a:effectLst/>
                          <a:latin typeface="+mn-lt"/>
                          <a:ea typeface="宋体" pitchFamily="2" charset="-122"/>
                        </a:rPr>
                        <a:t>2</a:t>
                      </a:r>
                      <a:r>
                        <a:rPr kumimoji="1" lang="en-US" altLang="zh-CN" sz="2000" b="1" i="0" u="none" strike="noStrike" cap="none" normalizeH="0" baseline="0">
                          <a:ln>
                            <a:noFill/>
                          </a:ln>
                          <a:solidFill>
                            <a:schemeClr val="tx1"/>
                          </a:solidFill>
                          <a:effectLst/>
                          <a:latin typeface="+mn-lt"/>
                          <a:ea typeface="宋体" pitchFamily="2" charset="-122"/>
                          <a:sym typeface="Symbol" pitchFamily="18" charset="2"/>
                        </a:rPr>
                        <a:t> 9</a:t>
                      </a:r>
                      <a:r>
                        <a:rPr kumimoji="1" lang="en-US" altLang="zh-CN" sz="2000" b="1" i="1" u="none" strike="noStrike" cap="none" normalizeH="0" baseline="0">
                          <a:ln>
                            <a:noFill/>
                          </a:ln>
                          <a:solidFill>
                            <a:schemeClr val="tx1"/>
                          </a:solidFill>
                          <a:effectLst/>
                          <a:latin typeface="+mn-lt"/>
                          <a:ea typeface="宋体" pitchFamily="2" charset="-122"/>
                        </a:rPr>
                        <a:t>PC</a:t>
                      </a: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9225" name="Line 363"/>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26" name="Text Box 364"/>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 name="TextBox 1"/>
          <p:cNvSpPr txBox="1"/>
          <p:nvPr/>
        </p:nvSpPr>
        <p:spPr>
          <a:xfrm>
            <a:off x="1005532" y="5666358"/>
            <a:ext cx="7280839" cy="646331"/>
          </a:xfrm>
          <a:prstGeom prst="rect">
            <a:avLst/>
          </a:prstGeom>
          <a:noFill/>
        </p:spPr>
        <p:txBody>
          <a:bodyPr wrap="none" rtlCol="0">
            <a:spAutoFit/>
          </a:bodyPr>
          <a:lstStyle/>
          <a:p>
            <a:r>
              <a:rPr lang="en-US" sz="3600">
                <a:solidFill>
                  <a:srgbClr val="FF0000"/>
                </a:solidFill>
              </a:rPr>
              <a:t>Conventional symbol of point group</a:t>
            </a:r>
          </a:p>
        </p:txBody>
      </p:sp>
    </p:spTree>
  </p:cSld>
  <p:clrMapOvr>
    <a:masterClrMapping/>
  </p:clrMapOvr>
  <p:transition spd="med">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Line 3"/>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685" name="Rectangle 5"/>
          <p:cNvSpPr>
            <a:spLocks noChangeArrowheads="1"/>
          </p:cNvSpPr>
          <p:nvPr/>
        </p:nvSpPr>
        <p:spPr bwMode="auto">
          <a:xfrm>
            <a:off x="395536" y="2651145"/>
            <a:ext cx="8280920" cy="41769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kumimoji="1" sz="2800">
                <a:solidFill>
                  <a:schemeClr val="tx1"/>
                </a:solidFill>
                <a:latin typeface="Times New Roman" pitchFamily="18" charset="0"/>
                <a:ea typeface="宋体" pitchFamily="2" charset="-122"/>
              </a:defRPr>
            </a:lvl1pPr>
            <a:lvl2pPr marL="742950" indent="-285750">
              <a:spcBef>
                <a:spcPct val="20000"/>
              </a:spcBef>
              <a:buChar char="–"/>
              <a:defRPr kumimoji="1" sz="2400">
                <a:solidFill>
                  <a:schemeClr val="tx1"/>
                </a:solidFill>
                <a:latin typeface="Times New Roman" pitchFamily="18" charset="0"/>
                <a:ea typeface="宋体" pitchFamily="2" charset="-122"/>
              </a:defRPr>
            </a:lvl2pPr>
            <a:lvl3pPr marL="1143000" indent="-228600">
              <a:spcBef>
                <a:spcPct val="20000"/>
              </a:spcBef>
              <a:buChar char="•"/>
              <a:defRPr kumimoji="1" sz="2000">
                <a:solidFill>
                  <a:schemeClr val="tx1"/>
                </a:solidFill>
                <a:latin typeface="Times New Roman" pitchFamily="18" charset="0"/>
                <a:ea typeface="宋体" pitchFamily="2" charset="-122"/>
              </a:defRPr>
            </a:lvl3pPr>
            <a:lvl4pPr marL="1600200" indent="-228600">
              <a:spcBef>
                <a:spcPct val="20000"/>
              </a:spcBef>
              <a:buChar char="–"/>
              <a:defRPr kumimoji="1">
                <a:solidFill>
                  <a:schemeClr val="tx1"/>
                </a:solidFill>
                <a:latin typeface="Times New Roman" pitchFamily="18" charset="0"/>
                <a:ea typeface="宋体" pitchFamily="2" charset="-122"/>
              </a:defRPr>
            </a:lvl4pPr>
            <a:lvl5pPr marL="2057400" indent="-228600">
              <a:spcBef>
                <a:spcPct val="20000"/>
              </a:spcBef>
              <a:buChar char="»"/>
              <a:defRPr kumimoji="1">
                <a:solidFill>
                  <a:schemeClr val="tx1"/>
                </a:solidFill>
                <a:latin typeface="Times New Roman" pitchFamily="18" charset="0"/>
                <a:ea typeface="宋体" pitchFamily="2" charset="-122"/>
              </a:defRPr>
            </a:lvl5pPr>
            <a:lvl6pPr marL="2514600" indent="-228600" fontAlgn="base">
              <a:spcBef>
                <a:spcPct val="20000"/>
              </a:spcBef>
              <a:spcAft>
                <a:spcPct val="0"/>
              </a:spcAft>
              <a:buChar char="»"/>
              <a:defRPr kumimoji="1">
                <a:solidFill>
                  <a:schemeClr val="tx1"/>
                </a:solidFill>
                <a:latin typeface="Times New Roman" pitchFamily="18" charset="0"/>
                <a:ea typeface="宋体" pitchFamily="2" charset="-122"/>
              </a:defRPr>
            </a:lvl6pPr>
            <a:lvl7pPr marL="2971800" indent="-228600" fontAlgn="base">
              <a:spcBef>
                <a:spcPct val="20000"/>
              </a:spcBef>
              <a:spcAft>
                <a:spcPct val="0"/>
              </a:spcAft>
              <a:buChar char="»"/>
              <a:defRPr kumimoji="1">
                <a:solidFill>
                  <a:schemeClr val="tx1"/>
                </a:solidFill>
                <a:latin typeface="Times New Roman" pitchFamily="18" charset="0"/>
                <a:ea typeface="宋体" pitchFamily="2" charset="-122"/>
              </a:defRPr>
            </a:lvl7pPr>
            <a:lvl8pPr marL="3429000" indent="-228600" fontAlgn="base">
              <a:spcBef>
                <a:spcPct val="20000"/>
              </a:spcBef>
              <a:spcAft>
                <a:spcPct val="0"/>
              </a:spcAft>
              <a:buChar char="»"/>
              <a:defRPr kumimoji="1">
                <a:solidFill>
                  <a:schemeClr val="tx1"/>
                </a:solidFill>
                <a:latin typeface="Times New Roman" pitchFamily="18" charset="0"/>
                <a:ea typeface="宋体" pitchFamily="2" charset="-122"/>
              </a:defRPr>
            </a:lvl8pPr>
            <a:lvl9pPr marL="3886200" indent="-228600" fontAlgn="base">
              <a:spcBef>
                <a:spcPct val="20000"/>
              </a:spcBef>
              <a:spcAft>
                <a:spcPct val="0"/>
              </a:spcAft>
              <a:buChar char="»"/>
              <a:defRPr kumimoji="1">
                <a:solidFill>
                  <a:schemeClr val="tx1"/>
                </a:solidFill>
                <a:latin typeface="Times New Roman" pitchFamily="18" charset="0"/>
                <a:ea typeface="宋体" pitchFamily="2" charset="-122"/>
              </a:defRPr>
            </a:lvl9pPr>
          </a:lstStyle>
          <a:p>
            <a:pPr>
              <a:lnSpc>
                <a:spcPct val="150000"/>
              </a:lnSpc>
              <a:defRPr/>
            </a:pPr>
            <a:r>
              <a:rPr lang="en-US" altLang="zh-CN">
                <a:solidFill>
                  <a:srgbClr val="FF0000"/>
                </a:solidFill>
              </a:rPr>
              <a:t>Division of crystal category</a:t>
            </a:r>
            <a:endParaRPr lang="zh-CN" altLang="en-US" b="0">
              <a:solidFill>
                <a:srgbClr val="FF0000"/>
              </a:solidFill>
            </a:endParaRPr>
          </a:p>
          <a:p>
            <a:pPr>
              <a:lnSpc>
                <a:spcPct val="150000"/>
              </a:lnSpc>
              <a:buFontTx/>
              <a:buNone/>
              <a:defRPr/>
            </a:pPr>
            <a:r>
              <a:rPr lang="zh-CN" altLang="en-US" sz="2400" b="0"/>
              <a:t>	</a:t>
            </a:r>
            <a:r>
              <a:rPr lang="en-US" altLang="zh-CN" sz="2400" b="0"/>
              <a:t>According to the number of high axis, the crystal can be divided into 3 crystal categories.</a:t>
            </a:r>
            <a:endParaRPr lang="zh-CN" altLang="en-US" sz="2400" b="0"/>
          </a:p>
          <a:p>
            <a:pPr lvl="1">
              <a:lnSpc>
                <a:spcPct val="150000"/>
              </a:lnSpc>
              <a:defRPr/>
            </a:pPr>
            <a:r>
              <a:rPr lang="en-US" altLang="zh-CN" sz="2000" b="0"/>
              <a:t>higher category</a:t>
            </a:r>
            <a:r>
              <a:rPr lang="zh-CN" altLang="en-US" sz="2000" b="0"/>
              <a:t> </a:t>
            </a:r>
            <a:r>
              <a:rPr lang="en-US" altLang="zh-CN" sz="2000" b="0"/>
              <a:t>(</a:t>
            </a:r>
            <a:r>
              <a:rPr lang="zh-CN" altLang="en-US" sz="2000" b="0"/>
              <a:t>高级晶族</a:t>
            </a:r>
            <a:r>
              <a:rPr lang="en-US" altLang="zh-CN" sz="2000" b="0"/>
              <a:t>)</a:t>
            </a:r>
          </a:p>
          <a:p>
            <a:pPr lvl="1">
              <a:lnSpc>
                <a:spcPct val="150000"/>
              </a:lnSpc>
              <a:defRPr/>
            </a:pPr>
            <a:r>
              <a:rPr lang="en-US" altLang="zh-CN" sz="2000" b="0"/>
              <a:t>intermediate category</a:t>
            </a:r>
            <a:r>
              <a:rPr lang="zh-CN" altLang="en-US" sz="2000" b="0"/>
              <a:t> </a:t>
            </a:r>
            <a:r>
              <a:rPr lang="en-US" altLang="zh-CN" sz="2000" b="0"/>
              <a:t>(</a:t>
            </a:r>
            <a:r>
              <a:rPr lang="zh-CN" altLang="en-US" sz="2000" b="0"/>
              <a:t>中级晶族</a:t>
            </a:r>
            <a:r>
              <a:rPr lang="en-US" altLang="zh-CN" sz="2000" b="0"/>
              <a:t>)</a:t>
            </a:r>
          </a:p>
          <a:p>
            <a:pPr lvl="1">
              <a:lnSpc>
                <a:spcPct val="150000"/>
              </a:lnSpc>
              <a:defRPr/>
            </a:pPr>
            <a:r>
              <a:rPr lang="en-US" altLang="zh-CN" sz="2000" b="0"/>
              <a:t>lower category</a:t>
            </a:r>
            <a:r>
              <a:rPr lang="zh-CN" altLang="en-US" sz="2000" b="0"/>
              <a:t> </a:t>
            </a:r>
            <a:r>
              <a:rPr lang="en-US" altLang="zh-CN" sz="2000" b="0"/>
              <a:t>(</a:t>
            </a:r>
            <a:r>
              <a:rPr lang="zh-CN" altLang="en-US" sz="2000" b="0"/>
              <a:t>低级晶族</a:t>
            </a:r>
            <a:r>
              <a:rPr lang="en-US" altLang="zh-CN" sz="2000" b="0"/>
              <a:t>)</a:t>
            </a:r>
            <a:endParaRPr lang="en-US" altLang="zh-CN" b="0"/>
          </a:p>
        </p:txBody>
      </p:sp>
      <p:sp>
        <p:nvSpPr>
          <p:cNvPr id="50181" name="Text Box 7"/>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71689" name="Rectangle 9"/>
          <p:cNvSpPr>
            <a:spLocks noGrp="1" noChangeArrowheads="1"/>
          </p:cNvSpPr>
          <p:nvPr>
            <p:ph type="title"/>
          </p:nvPr>
        </p:nvSpPr>
        <p:spPr>
          <a:xfrm>
            <a:off x="-139216" y="563350"/>
            <a:ext cx="9574832" cy="1143000"/>
          </a:xfrm>
        </p:spPr>
        <p:txBody>
          <a:bodyPr/>
          <a:lstStyle/>
          <a:p>
            <a:pPr eaLnBrk="1" hangingPunct="1">
              <a:defRPr/>
            </a:pPr>
            <a:r>
              <a:rPr lang="en-US" altLang="zh-CN" b="1">
                <a:solidFill>
                  <a:schemeClr val="tx1"/>
                </a:solidFill>
              </a:rPr>
              <a:t>6.</a:t>
            </a:r>
            <a:r>
              <a:rPr lang="zh-CN" altLang="en-US" b="1">
                <a:solidFill>
                  <a:schemeClr val="tx1"/>
                </a:solidFill>
              </a:rPr>
              <a:t> </a:t>
            </a:r>
            <a:r>
              <a:rPr lang="en-US" altLang="zh-CN" b="1">
                <a:solidFill>
                  <a:schemeClr val="tx1"/>
                </a:solidFill>
              </a:rPr>
              <a:t>Classification of crystal symmetry</a:t>
            </a:r>
            <a:endParaRPr lang="zh-CN" altLang="en-US" b="1">
              <a:solidFill>
                <a:schemeClr val="tx1"/>
              </a:solidFill>
            </a:endParaRPr>
          </a:p>
        </p:txBody>
      </p:sp>
      <p:sp>
        <p:nvSpPr>
          <p:cNvPr id="50183" name="Rectangle 10"/>
          <p:cNvSpPr>
            <a:spLocks noChangeArrowheads="1"/>
          </p:cNvSpPr>
          <p:nvPr/>
        </p:nvSpPr>
        <p:spPr bwMode="auto">
          <a:xfrm>
            <a:off x="323528" y="1697038"/>
            <a:ext cx="856895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t>1) The divisions of crystal category, crystal system and crystal class, see table 3-4</a:t>
            </a:r>
            <a:endParaRPr lang="zh-CN" altLang="en-US" sz="280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5"/>
                                        </p:tgtEl>
                                        <p:attrNameLst>
                                          <p:attrName>style.visibility</p:attrName>
                                        </p:attrNameLst>
                                      </p:cBhvr>
                                      <p:to>
                                        <p:strVal val="visible"/>
                                      </p:to>
                                    </p:set>
                                    <p:anim calcmode="lin" valueType="num">
                                      <p:cBhvr additive="base">
                                        <p:cTn id="7" dur="500" fill="hold"/>
                                        <p:tgtEl>
                                          <p:spTgt spid="71685"/>
                                        </p:tgtEl>
                                        <p:attrNameLst>
                                          <p:attrName>ppt_x</p:attrName>
                                        </p:attrNameLst>
                                      </p:cBhvr>
                                      <p:tavLst>
                                        <p:tav tm="0">
                                          <p:val>
                                            <p:strVal val="0-#ppt_w/2"/>
                                          </p:val>
                                        </p:tav>
                                        <p:tav tm="100000">
                                          <p:val>
                                            <p:strVal val="#ppt_x"/>
                                          </p:val>
                                        </p:tav>
                                      </p:tavLst>
                                    </p:anim>
                                    <p:anim calcmode="lin" valueType="num">
                                      <p:cBhvr additive="base">
                                        <p:cTn id="8" dur="500" fill="hold"/>
                                        <p:tgtEl>
                                          <p:spTgt spid="716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5"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Line 3"/>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3" name="Rectangle 4"/>
          <p:cNvSpPr>
            <a:spLocks noGrp="1" noChangeArrowheads="1"/>
          </p:cNvSpPr>
          <p:nvPr>
            <p:ph type="title"/>
          </p:nvPr>
        </p:nvSpPr>
        <p:spPr>
          <a:xfrm>
            <a:off x="611560" y="784110"/>
            <a:ext cx="7696200" cy="800100"/>
          </a:xfrm>
          <a:noFill/>
        </p:spPr>
        <p:txBody>
          <a:bodyPr anchor="b"/>
          <a:lstStyle/>
          <a:p>
            <a:pPr algn="l" eaLnBrk="1" hangingPunct="1"/>
            <a:r>
              <a:rPr lang="en-US" altLang="zh-CN" sz="4000" b="1"/>
              <a:t>Classification of crystal symmetry</a:t>
            </a:r>
            <a:endParaRPr lang="zh-CN" altLang="zh-CN" sz="4000" b="1"/>
          </a:p>
        </p:txBody>
      </p:sp>
      <p:sp>
        <p:nvSpPr>
          <p:cNvPr id="72709" name="Rectangle 5"/>
          <p:cNvSpPr>
            <a:spLocks noChangeArrowheads="1"/>
          </p:cNvSpPr>
          <p:nvPr/>
        </p:nvSpPr>
        <p:spPr bwMode="auto">
          <a:xfrm>
            <a:off x="381000" y="1752600"/>
            <a:ext cx="8534400" cy="419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kumimoji="1" sz="2800">
                <a:solidFill>
                  <a:schemeClr val="tx1"/>
                </a:solidFill>
                <a:latin typeface="Times New Roman" pitchFamily="18" charset="0"/>
                <a:ea typeface="宋体" pitchFamily="2" charset="-122"/>
              </a:defRPr>
            </a:lvl1pPr>
            <a:lvl2pPr marL="742950" indent="-285750">
              <a:spcBef>
                <a:spcPct val="20000"/>
              </a:spcBef>
              <a:buChar char="–"/>
              <a:defRPr kumimoji="1" sz="2400">
                <a:solidFill>
                  <a:schemeClr val="tx1"/>
                </a:solidFill>
                <a:latin typeface="Times New Roman" pitchFamily="18" charset="0"/>
                <a:ea typeface="宋体" pitchFamily="2" charset="-122"/>
              </a:defRPr>
            </a:lvl2pPr>
            <a:lvl3pPr marL="1143000" indent="-228600">
              <a:spcBef>
                <a:spcPct val="20000"/>
              </a:spcBef>
              <a:buChar char="•"/>
              <a:defRPr kumimoji="1" sz="2000">
                <a:solidFill>
                  <a:schemeClr val="tx1"/>
                </a:solidFill>
                <a:latin typeface="Times New Roman" pitchFamily="18" charset="0"/>
                <a:ea typeface="宋体" pitchFamily="2" charset="-122"/>
              </a:defRPr>
            </a:lvl3pPr>
            <a:lvl4pPr marL="1600200" indent="-228600">
              <a:spcBef>
                <a:spcPct val="20000"/>
              </a:spcBef>
              <a:buChar char="–"/>
              <a:defRPr kumimoji="1">
                <a:solidFill>
                  <a:schemeClr val="tx1"/>
                </a:solidFill>
                <a:latin typeface="Times New Roman" pitchFamily="18" charset="0"/>
                <a:ea typeface="宋体" pitchFamily="2" charset="-122"/>
              </a:defRPr>
            </a:lvl4pPr>
            <a:lvl5pPr marL="2057400" indent="-228600">
              <a:spcBef>
                <a:spcPct val="20000"/>
              </a:spcBef>
              <a:buChar char="»"/>
              <a:defRPr kumimoji="1">
                <a:solidFill>
                  <a:schemeClr val="tx1"/>
                </a:solidFill>
                <a:latin typeface="Times New Roman" pitchFamily="18" charset="0"/>
                <a:ea typeface="宋体" pitchFamily="2" charset="-122"/>
              </a:defRPr>
            </a:lvl5pPr>
            <a:lvl6pPr marL="2514600" indent="-228600" fontAlgn="base">
              <a:spcBef>
                <a:spcPct val="20000"/>
              </a:spcBef>
              <a:spcAft>
                <a:spcPct val="0"/>
              </a:spcAft>
              <a:buChar char="»"/>
              <a:defRPr kumimoji="1">
                <a:solidFill>
                  <a:schemeClr val="tx1"/>
                </a:solidFill>
                <a:latin typeface="Times New Roman" pitchFamily="18" charset="0"/>
                <a:ea typeface="宋体" pitchFamily="2" charset="-122"/>
              </a:defRPr>
            </a:lvl6pPr>
            <a:lvl7pPr marL="2971800" indent="-228600" fontAlgn="base">
              <a:spcBef>
                <a:spcPct val="20000"/>
              </a:spcBef>
              <a:spcAft>
                <a:spcPct val="0"/>
              </a:spcAft>
              <a:buChar char="»"/>
              <a:defRPr kumimoji="1">
                <a:solidFill>
                  <a:schemeClr val="tx1"/>
                </a:solidFill>
                <a:latin typeface="Times New Roman" pitchFamily="18" charset="0"/>
                <a:ea typeface="宋体" pitchFamily="2" charset="-122"/>
              </a:defRPr>
            </a:lvl7pPr>
            <a:lvl8pPr marL="3429000" indent="-228600" fontAlgn="base">
              <a:spcBef>
                <a:spcPct val="20000"/>
              </a:spcBef>
              <a:spcAft>
                <a:spcPct val="0"/>
              </a:spcAft>
              <a:buChar char="»"/>
              <a:defRPr kumimoji="1">
                <a:solidFill>
                  <a:schemeClr val="tx1"/>
                </a:solidFill>
                <a:latin typeface="Times New Roman" pitchFamily="18" charset="0"/>
                <a:ea typeface="宋体" pitchFamily="2" charset="-122"/>
              </a:defRPr>
            </a:lvl8pPr>
            <a:lvl9pPr marL="3886200" indent="-228600" fontAlgn="base">
              <a:spcBef>
                <a:spcPct val="20000"/>
              </a:spcBef>
              <a:spcAft>
                <a:spcPct val="0"/>
              </a:spcAft>
              <a:buChar char="»"/>
              <a:defRPr kumimoji="1">
                <a:solidFill>
                  <a:schemeClr val="tx1"/>
                </a:solidFill>
                <a:latin typeface="Times New Roman" pitchFamily="18" charset="0"/>
                <a:ea typeface="宋体" pitchFamily="2" charset="-122"/>
              </a:defRPr>
            </a:lvl9pPr>
          </a:lstStyle>
          <a:p>
            <a:pPr>
              <a:defRPr/>
            </a:pPr>
            <a:r>
              <a:rPr lang="en-US" altLang="zh-CN">
                <a:solidFill>
                  <a:srgbClr val="FF0000"/>
                </a:solidFill>
              </a:rPr>
              <a:t>Division of crystal system</a:t>
            </a:r>
            <a:endParaRPr lang="zh-CN" altLang="en-US">
              <a:solidFill>
                <a:srgbClr val="FF0000"/>
              </a:solidFill>
            </a:endParaRPr>
          </a:p>
          <a:p>
            <a:pPr>
              <a:buFontTx/>
              <a:buNone/>
              <a:defRPr/>
            </a:pPr>
            <a:r>
              <a:rPr lang="zh-CN" altLang="en-US" sz="2400" b="0"/>
              <a:t>	</a:t>
            </a:r>
            <a:r>
              <a:rPr lang="en-US" altLang="zh-CN" sz="2400" b="0"/>
              <a:t>According to the level or number of symmetry axis or roto-inversion axis, it can be divided into 7 crystal systems, which belongs to 3 crystal categories.</a:t>
            </a:r>
            <a:endParaRPr lang="zh-CN" altLang="en-US" sz="2400" b="0"/>
          </a:p>
          <a:p>
            <a:pPr lvl="1">
              <a:defRPr/>
            </a:pPr>
            <a:r>
              <a:rPr lang="en-US" altLang="zh-CN" sz="2000" b="0">
                <a:solidFill>
                  <a:srgbClr val="FF3300"/>
                </a:solidFill>
              </a:rPr>
              <a:t>isometric system</a:t>
            </a:r>
            <a:r>
              <a:rPr lang="zh-CN" altLang="en-US" sz="2000" b="0">
                <a:solidFill>
                  <a:srgbClr val="FF3300"/>
                </a:solidFill>
              </a:rPr>
              <a:t> </a:t>
            </a:r>
            <a:r>
              <a:rPr lang="en-US" altLang="zh-CN" sz="2000" b="0">
                <a:solidFill>
                  <a:srgbClr val="FF3300"/>
                </a:solidFill>
              </a:rPr>
              <a:t>(</a:t>
            </a:r>
            <a:r>
              <a:rPr lang="zh-CN" altLang="en-US" sz="2000" b="0">
                <a:solidFill>
                  <a:srgbClr val="FF3300"/>
                </a:solidFill>
              </a:rPr>
              <a:t>等轴晶系</a:t>
            </a:r>
            <a:r>
              <a:rPr lang="en-US" altLang="zh-CN" sz="2000" b="0">
                <a:solidFill>
                  <a:srgbClr val="FF3300"/>
                </a:solidFill>
              </a:rPr>
              <a:t>) or cubic system</a:t>
            </a:r>
            <a:r>
              <a:rPr lang="zh-CN" altLang="en-US" sz="2000" b="0">
                <a:solidFill>
                  <a:srgbClr val="FF3300"/>
                </a:solidFill>
              </a:rPr>
              <a:t> </a:t>
            </a:r>
            <a:r>
              <a:rPr lang="en-US" altLang="zh-CN" sz="2000" b="0">
                <a:solidFill>
                  <a:srgbClr val="FF3300"/>
                </a:solidFill>
              </a:rPr>
              <a:t>(</a:t>
            </a:r>
            <a:r>
              <a:rPr lang="zh-CN" altLang="en-US" sz="2000" b="0">
                <a:solidFill>
                  <a:srgbClr val="FF3300"/>
                </a:solidFill>
              </a:rPr>
              <a:t>立方晶系</a:t>
            </a:r>
            <a:r>
              <a:rPr lang="en-US" altLang="zh-CN" sz="2000" b="0">
                <a:solidFill>
                  <a:srgbClr val="FF3300"/>
                </a:solidFill>
              </a:rPr>
              <a:t>)</a:t>
            </a:r>
          </a:p>
          <a:p>
            <a:pPr lvl="1">
              <a:defRPr/>
            </a:pPr>
            <a:r>
              <a:rPr lang="en-US" altLang="zh-CN" sz="2000" b="0">
                <a:solidFill>
                  <a:srgbClr val="3333FF"/>
                </a:solidFill>
              </a:rPr>
              <a:t>hexagonal system</a:t>
            </a:r>
            <a:r>
              <a:rPr lang="zh-CN" altLang="en-US" sz="2000" b="0">
                <a:solidFill>
                  <a:srgbClr val="3333FF"/>
                </a:solidFill>
              </a:rPr>
              <a:t> </a:t>
            </a:r>
            <a:r>
              <a:rPr lang="en-US" altLang="zh-CN" sz="2000" b="0">
                <a:solidFill>
                  <a:srgbClr val="3333FF"/>
                </a:solidFill>
              </a:rPr>
              <a:t>(</a:t>
            </a:r>
            <a:r>
              <a:rPr lang="zh-CN" altLang="en-US" sz="2000" b="0">
                <a:solidFill>
                  <a:srgbClr val="3333FF"/>
                </a:solidFill>
              </a:rPr>
              <a:t>六方晶系</a:t>
            </a:r>
            <a:r>
              <a:rPr lang="en-US" altLang="zh-CN" sz="2000" b="0">
                <a:solidFill>
                  <a:srgbClr val="3333FF"/>
                </a:solidFill>
              </a:rPr>
              <a:t>)</a:t>
            </a:r>
          </a:p>
          <a:p>
            <a:pPr lvl="1">
              <a:defRPr/>
            </a:pPr>
            <a:r>
              <a:rPr lang="en-US" altLang="zh-CN" sz="2000" b="0">
                <a:solidFill>
                  <a:srgbClr val="3333FF"/>
                </a:solidFill>
              </a:rPr>
              <a:t>tetragonal system</a:t>
            </a:r>
            <a:r>
              <a:rPr lang="zh-CN" altLang="en-US" sz="2000" b="0">
                <a:solidFill>
                  <a:srgbClr val="3333FF"/>
                </a:solidFill>
              </a:rPr>
              <a:t> </a:t>
            </a:r>
            <a:r>
              <a:rPr lang="en-US" altLang="zh-CN" sz="2000" b="0">
                <a:solidFill>
                  <a:srgbClr val="3333FF"/>
                </a:solidFill>
              </a:rPr>
              <a:t>(</a:t>
            </a:r>
            <a:r>
              <a:rPr lang="zh-CN" altLang="en-US" sz="2000" b="0">
                <a:solidFill>
                  <a:srgbClr val="3333FF"/>
                </a:solidFill>
              </a:rPr>
              <a:t>四方晶系</a:t>
            </a:r>
            <a:r>
              <a:rPr lang="en-US" altLang="zh-CN" sz="2000" b="0">
                <a:solidFill>
                  <a:srgbClr val="3333FF"/>
                </a:solidFill>
              </a:rPr>
              <a:t>)</a:t>
            </a:r>
          </a:p>
          <a:p>
            <a:pPr lvl="1">
              <a:defRPr/>
            </a:pPr>
            <a:r>
              <a:rPr lang="en-US" altLang="zh-CN" sz="2000" b="0">
                <a:solidFill>
                  <a:srgbClr val="3333FF"/>
                </a:solidFill>
              </a:rPr>
              <a:t>trigonal system</a:t>
            </a:r>
            <a:r>
              <a:rPr lang="zh-CN" altLang="en-US" sz="2000" b="0">
                <a:solidFill>
                  <a:srgbClr val="3333FF"/>
                </a:solidFill>
              </a:rPr>
              <a:t> </a:t>
            </a:r>
            <a:r>
              <a:rPr lang="en-US" altLang="zh-CN" sz="2000" b="0">
                <a:solidFill>
                  <a:srgbClr val="3333FF"/>
                </a:solidFill>
              </a:rPr>
              <a:t>(</a:t>
            </a:r>
            <a:r>
              <a:rPr lang="zh-CN" altLang="en-US" sz="2000" b="0">
                <a:solidFill>
                  <a:srgbClr val="3333FF"/>
                </a:solidFill>
              </a:rPr>
              <a:t>三方晶系</a:t>
            </a:r>
            <a:r>
              <a:rPr lang="en-US" altLang="zh-CN" sz="2000" b="0">
                <a:solidFill>
                  <a:srgbClr val="3333FF"/>
                </a:solidFill>
              </a:rPr>
              <a:t>)</a:t>
            </a:r>
          </a:p>
          <a:p>
            <a:pPr lvl="1">
              <a:defRPr/>
            </a:pPr>
            <a:r>
              <a:rPr lang="en-US" altLang="zh-CN" sz="2000" b="0"/>
              <a:t>orthorhombic system</a:t>
            </a:r>
            <a:r>
              <a:rPr lang="zh-CN" altLang="en-US" sz="2000" b="0"/>
              <a:t> </a:t>
            </a:r>
            <a:r>
              <a:rPr lang="en-US" altLang="zh-CN" sz="2000" b="0"/>
              <a:t>(</a:t>
            </a:r>
            <a:r>
              <a:rPr lang="zh-CN" altLang="en-US" sz="2000" b="0"/>
              <a:t>斜方晶系</a:t>
            </a:r>
            <a:r>
              <a:rPr lang="en-US" altLang="zh-CN" sz="2000" b="0"/>
              <a:t>, </a:t>
            </a:r>
            <a:r>
              <a:rPr lang="zh-CN" altLang="en-US" sz="2000" b="0"/>
              <a:t>亦称正交晶系</a:t>
            </a:r>
            <a:r>
              <a:rPr lang="en-US" altLang="zh-CN" sz="2000" b="0"/>
              <a:t>)</a:t>
            </a:r>
            <a:endParaRPr lang="zh-CN" altLang="en-US" sz="2000" b="0"/>
          </a:p>
          <a:p>
            <a:pPr lvl="1">
              <a:defRPr/>
            </a:pPr>
            <a:r>
              <a:rPr lang="en-US" altLang="zh-CN" sz="2000" b="0"/>
              <a:t>monoclinic system</a:t>
            </a:r>
            <a:r>
              <a:rPr lang="zh-CN" altLang="en-US" sz="2000" b="0"/>
              <a:t> </a:t>
            </a:r>
            <a:r>
              <a:rPr lang="en-US" altLang="zh-CN" sz="2000" b="0"/>
              <a:t>(</a:t>
            </a:r>
            <a:r>
              <a:rPr lang="zh-CN" altLang="en-US" sz="2000" b="0"/>
              <a:t>单斜晶系</a:t>
            </a:r>
            <a:r>
              <a:rPr lang="en-US" altLang="zh-CN" sz="2000" b="0"/>
              <a:t>)</a:t>
            </a:r>
          </a:p>
          <a:p>
            <a:pPr lvl="1">
              <a:defRPr/>
            </a:pPr>
            <a:r>
              <a:rPr lang="en-US" altLang="zh-CN" sz="2000" b="0"/>
              <a:t>triclinic system</a:t>
            </a:r>
            <a:r>
              <a:rPr lang="zh-CN" altLang="en-US" sz="2000" b="0"/>
              <a:t> </a:t>
            </a:r>
            <a:r>
              <a:rPr lang="en-US" altLang="zh-CN" sz="2000" b="0"/>
              <a:t>(</a:t>
            </a:r>
            <a:r>
              <a:rPr lang="zh-CN" altLang="en-US" sz="2000" b="0"/>
              <a:t>三斜晶系</a:t>
            </a:r>
            <a:r>
              <a:rPr lang="en-US" altLang="zh-CN" sz="2000" b="0"/>
              <a:t>)</a:t>
            </a:r>
          </a:p>
        </p:txBody>
      </p:sp>
      <p:sp>
        <p:nvSpPr>
          <p:cNvPr id="51205" name="Text Box 7"/>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 name="TextBox 1"/>
          <p:cNvSpPr txBox="1"/>
          <p:nvPr/>
        </p:nvSpPr>
        <p:spPr>
          <a:xfrm>
            <a:off x="7747609" y="3353740"/>
            <a:ext cx="942887" cy="523220"/>
          </a:xfrm>
          <a:prstGeom prst="rect">
            <a:avLst/>
          </a:prstGeom>
          <a:noFill/>
        </p:spPr>
        <p:txBody>
          <a:bodyPr wrap="none" rtlCol="0">
            <a:spAutoFit/>
          </a:bodyPr>
          <a:lstStyle/>
          <a:p>
            <a:pPr algn="r"/>
            <a:r>
              <a:rPr lang="en-US" altLang="zh-CN" sz="2800">
                <a:solidFill>
                  <a:srgbClr val="FF0000"/>
                </a:solidFill>
              </a:rPr>
              <a:t>High</a:t>
            </a:r>
            <a:endParaRPr lang="en-US" sz="2800">
              <a:solidFill>
                <a:srgbClr val="FF0000"/>
              </a:solidFill>
            </a:endParaRPr>
          </a:p>
        </p:txBody>
      </p:sp>
      <p:sp>
        <p:nvSpPr>
          <p:cNvPr id="7" name="TextBox 6"/>
          <p:cNvSpPr txBox="1"/>
          <p:nvPr/>
        </p:nvSpPr>
        <p:spPr>
          <a:xfrm>
            <a:off x="7236296" y="4077072"/>
            <a:ext cx="1481496" cy="523220"/>
          </a:xfrm>
          <a:prstGeom prst="rect">
            <a:avLst/>
          </a:prstGeom>
          <a:noFill/>
        </p:spPr>
        <p:txBody>
          <a:bodyPr wrap="none" rtlCol="0">
            <a:spAutoFit/>
          </a:bodyPr>
          <a:lstStyle/>
          <a:p>
            <a:pPr algn="r"/>
            <a:r>
              <a:rPr lang="en-US" altLang="zh-CN" sz="2800">
                <a:solidFill>
                  <a:schemeClr val="accent2"/>
                </a:solidFill>
              </a:rPr>
              <a:t>Medium</a:t>
            </a:r>
            <a:endParaRPr lang="en-US" sz="2800">
              <a:solidFill>
                <a:schemeClr val="accent2"/>
              </a:solidFill>
            </a:endParaRPr>
          </a:p>
        </p:txBody>
      </p:sp>
      <p:sp>
        <p:nvSpPr>
          <p:cNvPr id="8" name="TextBox 7"/>
          <p:cNvSpPr txBox="1"/>
          <p:nvPr/>
        </p:nvSpPr>
        <p:spPr>
          <a:xfrm>
            <a:off x="7841407" y="5018767"/>
            <a:ext cx="862737" cy="523220"/>
          </a:xfrm>
          <a:prstGeom prst="rect">
            <a:avLst/>
          </a:prstGeom>
          <a:noFill/>
        </p:spPr>
        <p:txBody>
          <a:bodyPr wrap="none" rtlCol="0">
            <a:spAutoFit/>
          </a:bodyPr>
          <a:lstStyle/>
          <a:p>
            <a:pPr algn="r"/>
            <a:r>
              <a:rPr lang="en-US" altLang="zh-CN" sz="2800"/>
              <a:t>Low</a:t>
            </a:r>
            <a:endParaRPr lang="en-US" sz="280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709"/>
                                        </p:tgtEl>
                                        <p:attrNameLst>
                                          <p:attrName>style.visibility</p:attrName>
                                        </p:attrNameLst>
                                      </p:cBhvr>
                                      <p:to>
                                        <p:strVal val="visible"/>
                                      </p:to>
                                    </p:set>
                                    <p:anim calcmode="lin" valueType="num">
                                      <p:cBhvr additive="base">
                                        <p:cTn id="7" dur="500" fill="hold"/>
                                        <p:tgtEl>
                                          <p:spTgt spid="72709"/>
                                        </p:tgtEl>
                                        <p:attrNameLst>
                                          <p:attrName>ppt_x</p:attrName>
                                        </p:attrNameLst>
                                      </p:cBhvr>
                                      <p:tavLst>
                                        <p:tav tm="0">
                                          <p:val>
                                            <p:strVal val="0-#ppt_w/2"/>
                                          </p:val>
                                        </p:tav>
                                        <p:tav tm="100000">
                                          <p:val>
                                            <p:strVal val="#ppt_x"/>
                                          </p:val>
                                        </p:tav>
                                      </p:tavLst>
                                    </p:anim>
                                    <p:anim calcmode="lin" valueType="num">
                                      <p:cBhvr additive="base">
                                        <p:cTn id="8" dur="500" fill="hold"/>
                                        <p:tgtEl>
                                          <p:spTgt spid="727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Line 3"/>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27" name="Rectangle 4"/>
          <p:cNvSpPr>
            <a:spLocks noGrp="1" noChangeArrowheads="1"/>
          </p:cNvSpPr>
          <p:nvPr>
            <p:ph type="title"/>
          </p:nvPr>
        </p:nvSpPr>
        <p:spPr>
          <a:xfrm>
            <a:off x="806584" y="771120"/>
            <a:ext cx="8321352" cy="800100"/>
          </a:xfrm>
          <a:noFill/>
        </p:spPr>
        <p:txBody>
          <a:bodyPr anchor="b"/>
          <a:lstStyle/>
          <a:p>
            <a:pPr algn="l" eaLnBrk="1" hangingPunct="1"/>
            <a:r>
              <a:rPr lang="en-US" altLang="zh-CN" sz="4000" b="1"/>
              <a:t>Classification of crystal symmetry</a:t>
            </a:r>
            <a:endParaRPr lang="zh-CN" altLang="zh-CN" sz="4000" b="1"/>
          </a:p>
        </p:txBody>
      </p:sp>
      <p:sp>
        <p:nvSpPr>
          <p:cNvPr id="73733" name="Rectangle 5"/>
          <p:cNvSpPr>
            <a:spLocks noChangeArrowheads="1"/>
          </p:cNvSpPr>
          <p:nvPr/>
        </p:nvSpPr>
        <p:spPr bwMode="auto">
          <a:xfrm>
            <a:off x="609600" y="1981200"/>
            <a:ext cx="7848600" cy="129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kumimoji="1" sz="2800">
                <a:solidFill>
                  <a:schemeClr val="tx1"/>
                </a:solidFill>
                <a:latin typeface="Times New Roman" pitchFamily="18" charset="0"/>
                <a:ea typeface="宋体" pitchFamily="2" charset="-122"/>
              </a:defRPr>
            </a:lvl1pPr>
            <a:lvl2pPr marL="742950" indent="-285750">
              <a:spcBef>
                <a:spcPct val="20000"/>
              </a:spcBef>
              <a:buChar char="–"/>
              <a:defRPr kumimoji="1" sz="2400">
                <a:solidFill>
                  <a:schemeClr val="tx1"/>
                </a:solidFill>
                <a:latin typeface="Times New Roman" pitchFamily="18" charset="0"/>
                <a:ea typeface="宋体" pitchFamily="2" charset="-122"/>
              </a:defRPr>
            </a:lvl2pPr>
            <a:lvl3pPr marL="1143000" indent="-228600">
              <a:spcBef>
                <a:spcPct val="20000"/>
              </a:spcBef>
              <a:buChar char="•"/>
              <a:defRPr kumimoji="1" sz="2000">
                <a:solidFill>
                  <a:schemeClr val="tx1"/>
                </a:solidFill>
                <a:latin typeface="Times New Roman" pitchFamily="18" charset="0"/>
                <a:ea typeface="宋体" pitchFamily="2" charset="-122"/>
              </a:defRPr>
            </a:lvl3pPr>
            <a:lvl4pPr marL="1600200" indent="-228600">
              <a:spcBef>
                <a:spcPct val="20000"/>
              </a:spcBef>
              <a:buChar char="–"/>
              <a:defRPr kumimoji="1">
                <a:solidFill>
                  <a:schemeClr val="tx1"/>
                </a:solidFill>
                <a:latin typeface="Times New Roman" pitchFamily="18" charset="0"/>
                <a:ea typeface="宋体" pitchFamily="2" charset="-122"/>
              </a:defRPr>
            </a:lvl4pPr>
            <a:lvl5pPr marL="2057400" indent="-228600">
              <a:spcBef>
                <a:spcPct val="20000"/>
              </a:spcBef>
              <a:buChar char="»"/>
              <a:defRPr kumimoji="1">
                <a:solidFill>
                  <a:schemeClr val="tx1"/>
                </a:solidFill>
                <a:latin typeface="Times New Roman" pitchFamily="18" charset="0"/>
                <a:ea typeface="宋体" pitchFamily="2" charset="-122"/>
              </a:defRPr>
            </a:lvl5pPr>
            <a:lvl6pPr marL="2514600" indent="-228600" fontAlgn="base">
              <a:spcBef>
                <a:spcPct val="20000"/>
              </a:spcBef>
              <a:spcAft>
                <a:spcPct val="0"/>
              </a:spcAft>
              <a:buChar char="»"/>
              <a:defRPr kumimoji="1">
                <a:solidFill>
                  <a:schemeClr val="tx1"/>
                </a:solidFill>
                <a:latin typeface="Times New Roman" pitchFamily="18" charset="0"/>
                <a:ea typeface="宋体" pitchFamily="2" charset="-122"/>
              </a:defRPr>
            </a:lvl6pPr>
            <a:lvl7pPr marL="2971800" indent="-228600" fontAlgn="base">
              <a:spcBef>
                <a:spcPct val="20000"/>
              </a:spcBef>
              <a:spcAft>
                <a:spcPct val="0"/>
              </a:spcAft>
              <a:buChar char="»"/>
              <a:defRPr kumimoji="1">
                <a:solidFill>
                  <a:schemeClr val="tx1"/>
                </a:solidFill>
                <a:latin typeface="Times New Roman" pitchFamily="18" charset="0"/>
                <a:ea typeface="宋体" pitchFamily="2" charset="-122"/>
              </a:defRPr>
            </a:lvl7pPr>
            <a:lvl8pPr marL="3429000" indent="-228600" fontAlgn="base">
              <a:spcBef>
                <a:spcPct val="20000"/>
              </a:spcBef>
              <a:spcAft>
                <a:spcPct val="0"/>
              </a:spcAft>
              <a:buChar char="»"/>
              <a:defRPr kumimoji="1">
                <a:solidFill>
                  <a:schemeClr val="tx1"/>
                </a:solidFill>
                <a:latin typeface="Times New Roman" pitchFamily="18" charset="0"/>
                <a:ea typeface="宋体" pitchFamily="2" charset="-122"/>
              </a:defRPr>
            </a:lvl8pPr>
            <a:lvl9pPr marL="3886200" indent="-228600" fontAlgn="base">
              <a:spcBef>
                <a:spcPct val="20000"/>
              </a:spcBef>
              <a:spcAft>
                <a:spcPct val="0"/>
              </a:spcAft>
              <a:buChar char="»"/>
              <a:defRPr kumimoji="1">
                <a:solidFill>
                  <a:schemeClr val="tx1"/>
                </a:solidFill>
                <a:latin typeface="Times New Roman" pitchFamily="18" charset="0"/>
                <a:ea typeface="宋体" pitchFamily="2" charset="-122"/>
              </a:defRPr>
            </a:lvl9pPr>
          </a:lstStyle>
          <a:p>
            <a:pPr>
              <a:buFontTx/>
              <a:buNone/>
              <a:defRPr/>
            </a:pPr>
            <a:r>
              <a:rPr lang="en-US" altLang="zh-CN" b="0"/>
              <a:t>  Table 3</a:t>
            </a:r>
            <a:r>
              <a:rPr lang="zh-CN" altLang="en-US" b="0"/>
              <a:t>－</a:t>
            </a:r>
            <a:r>
              <a:rPr lang="en-US" altLang="zh-CN" b="0"/>
              <a:t>4</a:t>
            </a:r>
            <a:r>
              <a:rPr lang="en-US" altLang="zh-CN" b="0">
                <a:solidFill>
                  <a:srgbClr val="33CC33"/>
                </a:solidFill>
              </a:rPr>
              <a:t> --- the below and next page</a:t>
            </a:r>
            <a:endParaRPr lang="en-US" altLang="zh-CN" sz="3200" b="0">
              <a:solidFill>
                <a:srgbClr val="33CC33"/>
              </a:solidFill>
              <a:effectLst>
                <a:outerShdw blurRad="38100" dist="38100" dir="2700000" algn="tl">
                  <a:srgbClr val="000000"/>
                </a:outerShdw>
              </a:effectLst>
            </a:endParaRPr>
          </a:p>
        </p:txBody>
      </p:sp>
      <p:pic>
        <p:nvPicPr>
          <p:cNvPr id="5222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2636912"/>
            <a:ext cx="7315200" cy="3306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230" name="Text Box 7"/>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 name="TextBox 1"/>
          <p:cNvSpPr txBox="1"/>
          <p:nvPr/>
        </p:nvSpPr>
        <p:spPr>
          <a:xfrm>
            <a:off x="827584" y="5992307"/>
            <a:ext cx="8138864" cy="830997"/>
          </a:xfrm>
          <a:prstGeom prst="rect">
            <a:avLst/>
          </a:prstGeom>
          <a:noFill/>
        </p:spPr>
        <p:txBody>
          <a:bodyPr wrap="square" rtlCol="0">
            <a:spAutoFit/>
          </a:bodyPr>
          <a:lstStyle/>
          <a:p>
            <a:r>
              <a:rPr lang="en-US" altLang="zh-CN" sz="2400"/>
              <a:t>Above are the international symbol of point group</a:t>
            </a:r>
            <a:r>
              <a:rPr lang="zh-CN" altLang="en-US" sz="2400"/>
              <a:t>，</a:t>
            </a:r>
            <a:r>
              <a:rPr lang="en-US" altLang="zh-CN" sz="2400"/>
              <a:t>why some of them have centers , some does not have?</a:t>
            </a:r>
            <a:endParaRPr lang="zh-CN" altLang="en-US" sz="240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3"/>
                                        </p:tgtEl>
                                        <p:attrNameLst>
                                          <p:attrName>style.visibility</p:attrName>
                                        </p:attrNameLst>
                                      </p:cBhvr>
                                      <p:to>
                                        <p:strVal val="visible"/>
                                      </p:to>
                                    </p:set>
                                    <p:anim calcmode="lin" valueType="num">
                                      <p:cBhvr additive="base">
                                        <p:cTn id="7" dur="500" fill="hold"/>
                                        <p:tgtEl>
                                          <p:spTgt spid="73733"/>
                                        </p:tgtEl>
                                        <p:attrNameLst>
                                          <p:attrName>ppt_x</p:attrName>
                                        </p:attrNameLst>
                                      </p:cBhvr>
                                      <p:tavLst>
                                        <p:tav tm="0">
                                          <p:val>
                                            <p:strVal val="0-#ppt_w/2"/>
                                          </p:val>
                                        </p:tav>
                                        <p:tav tm="100000">
                                          <p:val>
                                            <p:strVal val="#ppt_x"/>
                                          </p:val>
                                        </p:tav>
                                      </p:tavLst>
                                    </p:anim>
                                    <p:anim calcmode="lin" valueType="num">
                                      <p:cBhvr additive="base">
                                        <p:cTn id="8" dur="500" fill="hold"/>
                                        <p:tgtEl>
                                          <p:spTgt spid="737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279" y="0"/>
            <a:ext cx="5904656" cy="68298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AutoShape 4" descr="data:image/png;base64,iVBORw0KGgoAAAANSUhEUgAAAbIAAAH2CAYAAAAVuglmAAAgAElEQVR4XuydeUCN2RvHPxFFi9AiW7KLZFeDhuzL2Nexm0GWiaGx/6xjLMOgQfZ1jD1bdmPfCaFkXypFpbTQcuv+zq0Qbu5tVXrf/+qe9yzf85zzfZ/nPOd5NOTiQXokBCQEJAQkBCQEsikCGhKRZdOZk7otISAhICEgIRCPgERkkiBICEgISAhICGRrBCQiy9bTJ3VeQkBCQEJAQkAiMkkGshwCMvcNzPBvzNTmxSAqkui82mhpZFI3Yx9z+O+d3JIltCePKoTN4D7UN9T80IGoKzjPDKHDtKYY3lzDyJt1+at3ZfIm7WLUJeZPfkXv2S0xDruE858vaTntB0rl+tI4Iri5dScRjX/E5n17MsK9PTh/+g75GtUgYP5hik4ZhrX+pxXJCLx0jDsla6N/8Cj06Y5Vki7HjyXwGgduFeD7il7M2lOcyb20OH1BA5smFdD9BN+vOgeZNNVSM98OAhKRfTtzmb1HEu2Fy197eaSZizifs+wOrkxHSz3CXsup2sOBThY6mTM+mRsLJ3pi09UCTd7gudEVnbEz6Wj6jhXiCD0zh2FPOrO+dzni3JwY/rQDy9pqcd9Hm7Kl9NEIf8iFXeuYd78iAxtVxzJuM72uN+GfroXxjypBjXIF0Ii+h+uSvXjFRvPaMw7r2eNobRyJm9M25IP6UF1bk9zyl1xcu5WzNx+Rt7sjA4pexGGMLz1/q4dBdDBvDG1oUC4Rl+gbOLXfRZV/JlDl/AoOlP+JfuXzf4JZCG7zpnPFsho3bhama647hLToQI1CJpiZ6oo+ZZE5yJyZllr5hhCQiOwbmszsPRQZAccXMmb9LWRBd7gUURKbkpqEaLZnwcrulH6vgMiR+Z1jw7KVLN0UQae1ixnXoAgfKxTh3Nv6J4vpyYJu5cmdEmAEkc3/cSOxdYqTiyh8TgZgu3LeByKT++I6dAwP2/dB7+Z/HFrpzPbA7xkxuSPW5WrStJUVhf1dGDgngp97wPa9kVjKg9Bt35TidzfzZ8zPbBlQEU25Hyc2P6BKp3ysb7+E0MaV0Ve0d/YK/nrFaTpuDj+VC+D05v38d/wYHrkssS6bl0I1i3Pvdh7Khz3HuO9gWpcWxEkkj7fNY3ORgYy3NRFEeoW/f/fCbtKPVNZVjF5O9L0DLNl7h9jIB+yfs5yT4eLfZZoxuH9nGlark9BvDXXnICWASmUlBDIeAYnIMh5jqQWVCCg20L/542QUxfTh9a2DHKY+XS3zEfjsLi8r/8aywVUTTXdveHLTD0PLAlwe14pRRku55FgLrfdtxBLqvpGRP43idPejeDnWFJqVOo8gyJBXROR7zeUNRwksao5meCR6efJhbluX4gZ66GjKCXdbjeOUo5SdtoZRBffyc/e/uK9jRfeFixhmpZvQkJ8L9pvMWDwSFtouILhbR7r91A6Lu0sStLeOJeLJReZ7kAWT/+Vmw5GM0HqGdqvGRK3ZCUMHUDO+0zIiQm+zpctY7vcfTB3tQpgVfsCyfbr8OqoDFkUUo44l3P0ffpvoQpCRGeZGMfi/iBYg+uGtaUTdHhOY1qmCwC6OSL+zrPzTjco/GrPtZGl+bxvM8smb0Rq5EEfrAimYA3XwlMpICGQeAhKRZR7WUksqERCbsucWfnfxQ0tWgT6dg/jbKS+DFvfAIm9SnSsKvwurGdd3E4X+ElpOm5LvyUoefI09N8KIXPcTkyy3poDIZIJ/HBl42ghbruNuM4yOh505U7EW+h5eGI5ywsEqFz6Pg4m7vpxtJXtT8+Qx4ipGsD3UnMrnQ2g0uz9VdIXqKIhswMDTVLSF0162rJwJk+bqMKvXXSa/JzIFlwVwfHwfttdfxQLDTXT3bMiE8Nvkfk9kQpNyX8oPnc5RrZMJ+QXJ348SJ3ER+thateHH3lbo8or7d2SYWxij4bmC3qe/Y+PPUSwY/pSeC5ujr5lfEHA0j11mMudGBfr1b0C+E7Nx1hnKFNvCyF+eYsPdmjh2LZeIobpzoHIypQISApmGgERkmQa11NAXEZC94t6hZfw20pu+ZxZge2cWPx6xZcusxhRS4ughF+dQx5f9jy7rLXHdZM7m+QcJJYY3cYWp196KV3sPcatQZ+bN6kYZbXU8RZISmTtetr/QxvVvTscTWTDVZs9INC8qyk1g8tk43uYzp23Ba6wOsMD28XLmx4zjwtb+VAja9UEjUxCKczM0XoCh75okGpnQHC8sZebjwhTcFkbb9S3RfKND2PY9HzSyuKfsnnUCreJhvG3UlBjnk5Ttb8jKvUUYZbKXTaXGMK2BYSKs4bg7TeZCk9+xL3+HeYp2l3XENP5XQfxu57gTo0+BPEGc+3Mlblr6lO88kBZFBTHmMaaCZQl0Y1M2B5JESwhkFQQkIssqM5Gj+xGB5/7DBFaqRV6XhVwqX4c8caWwidjLiicVafd9XWpZl8dQU0FIUfh73ie6ZCVKhu2hb2dfRp0YjlW8xhbAmXmTWXXrNZjZYBkWRZ3Jv2JbUJ1TMgVBTWRORBt64MoqnTa0POhKxM8dMT5zioieo5IQ2SQWGYzi9zq58T/nzHjflsxtVQo9w0LoKvr4qUa2uhmyW094cWMdO4qPY7ZdYWTPj+F81Ij+fUpye/Fu6NkGkyBBJNvOYDh2YIJpURZKSJSch87zuGvViKIlS1Mq/D+mnKjG6n6xuD4oRTtroYkpzIZPXVlytBg/thPU9fwQ445asfozs2oUAVe2sNKjOg6d5fzz2zZ0+vSmUaVSFDOI5Y7ac5CjhVUafBZEQCKyLDgpObdLQqtYPo/TFgMYWL8k2hoxhNxz41akObUtTcTfApm4J7gM7MyYwKY4NC5KkcZ96FJZeAF+BNpzXO2bM9niH644WKnp7CHD/8gqdsVVo5aGL74lKpL/4HnibKuh4/2C/HYtqWmgIERFuQ2cK/sjnUprI3PfwtK3oi/WhT/0wP8ES6+YMbhVbs4feUv1lmWQ3TvKhh1vaOLQEQthfpR/eq1A/ga/q1tw2lcCh6lNMX3v3BKB++pV+LceRnPDIK5uWMOpcgMY1UA4dcS3KNzuL/7LZv9a9G9XCe3Ai6z+6yrlHAZhZ/ru5DCCe65r2H7lLabfd6JrozIJ7vayF7htXcNubyv6jGpJufiPATXmIOcKqDTyLIqARGRZdGKkbkkISAhICEgIqIeARGTq4SSVkhCQEJAQkBDIoghIRJZFJ0bqloSAhICEgISAeghIRKYeTlIpCQEJAQkBCYEsioBEZFl0YqRuSQhICEgISAioh4BEZOrhJJWSEJAQkBCQEMiiCCj8baUM0Vl0cqRuSQhICEgISAh8jIBIBv0ZJBmqkWloaKCs0fSamIyuP736KdWTsxGQ5DRnz7+6o5fkRF2kPi8nEVnqsZPelBBQCwFpg1ILphxfSJKT1IuARGSpx056U0JALQS+1Q1K5raKSQEtmdWi2CeRVdSCRY1CUQTeu8PTsFhRVoZMO48IKv0Wix/0ODr9Cba/t1WRqFSNJrJQkW9VTjIDYonIMgNlqY0cjcC3ukHJ3ObT1OkVrS0NiHzoi9HwmQyunJ4JUEUkfu9r7Jq/ghc1K4hImi2xz+vCAYzxj6jGkK61KBqfb+3beL5VOcmM2ZGILDNQltrI0Qh8cxuU7DV+/m+I9VidEDC5pQHBUUZUUmTHTs+Zjs+QvYYtLscJLmuC9wMd6tkU4tl+Twr16kTjei1pbWWYvm2mZ/9TWNc3JycpHH9aiqtNZLGPD/P3TpG9N761OKL0vmPwoPoYfkFy1Z2Y1NSt6IW69acFIOldCYG0IvDNyamI7h+fAbu3RUIOs8AT/H68Buvn2Iks1+n5yAhy28ycGfuIrqyLd/EejNG/xNIlV9CqUp1W0ybR3lS9tKnp2auMquubk5OMAkpJvWoTmcxtGRM9K9PVIr8wV3uycZUOY1e+y3ekvMfqTkxq6paILBOlRGoqTQiouw7S1EhmviyIbJCzDpOHVE3ILPDyYDJpY9LeKfmrw4z66RYtRpryJLohPzWKYe/wvZgt7EeZWB0MdCTTYtpRzv41pIDInPhxYxh1iovUEHE+nFRkvl2TXkSW8rolIsv+wpdTRvCtEZncx5VJm6NpZ2eGxps3RMXc54hvXSb3rvw+U3f6zG0kj7ZN5udjFiwYpiHS01wnv5k2fse8KNi1LQ0btaWdZFpMH6izeS1qEFk0IYGR5Au7zAbXlxS1zE94WF7y5C6FrW0pDHTzJyu8qhdw6uuWiCybS14O6r7qdZCNwJAHcWbWbvLbV+Dcqhha29xjc3RT+oZtYV2hn5hk+y5PWjqMKeoxbvdDebLtFLr15JwIacesbrnZZb8Ls8UOCclHv6Hnm5KTTJ4XNYjMG5cBo0XKdys47YvNpAYc/v0SFRvq4HGuKKO2Dk3Mzvt5z1VPTOrrlojsU7wjuLl1JxGNf8TGUNkKlwkPMA/On75DvkY1CJh/mKJThmGt/z6D4+cT6H+E2UeKMapPZfL6uTJhTwmm2luRV5WQyq6zbJIf7Wa1wjRdT/9VNZw1f1e9DrJmv5X1Ku7xHmZdrsBv3Yy4teceRZsX5vpxaFI/hC3HC9OzfRk1E5mqO2ZfDjldoGgLQ+69KEfHBnIOjD1MiZk/YSURmQoQI3l8eB07b4UnlJPHoWfTl0H1k3xsRF3BeWYIHaY1xfDmGkberMtfQrNWusZDz+E0y4cmE7vEJ4f9+BEJYNcs4WGjEXQ0z4ssMhq0cxP4379cKdONH0q9S/Kq7rynrFwKiSwA22k2uE65kEBkPrWZvbA9Irm60kf1Ak5KZCmrO0cTWfQ9XJfsxSs2mteecVjPHkdr40jcnLYhH9SH6tqaH28m8d5fWzl78xF5uzsyoOhFHMb40vO3ehhEB/PG0IYG5T52m1acWw4++JxyFv35yegEK4+e5fxTY6rnN6DBdEeaGX1hF5G5Ma+pE6GtLdGPfModo4E4D66qmgBTJrvZprTqdZBthiJ1NAMRSH85Ccdt4SI8bVpgIZarzHMbq3SGs7JjicRRxBF6Zg7DnnRmfe9yxLk5MfxpB5a11eK+jzZl471QZfgdccbZPQp9jSh8Tp4iuEYTLPU1iKY07ezbU1lxBSL2Nsu6LSGojja3rskoV6EIxb7rhF34SW5/9zMdM9gpRz0iG7iYiJ/bwGZXdHrX4ODGaOGxVJgze2T0nN42bUSWyrpzNJHJ/Tix+QFVOuVjffslhDauLLzFhJCdvYK/XnGajpvDT0nv80Q/4fTm/fx3/BgeuSyxLpuXQjWLc+92HsqHPce472Bal07qOi2E18WRgXteCgHNjX6JrszoHsx6t8oMaanH8wA9rKqaKjEpC1OxXwBvhVA7j/el09zm5A+OxbRSSXRzsGaW/htUBu6mUtVfDYH0lxNBZPMd2RhbluJCgYrzuYyX7XzWvCMyuS+uQ8fwsH0f9G7+x6GVzmwP/J4RkztiXa4mTVtZUTjmBk4//Md362rhtk+TVlVvMfVeA5Y29Wf9iYJ06FodxTdttPtimi4zZ8twX+w36PJL49xc3/CQki0LkcduYFYgMl+OzD9AnK0lGo9eUaJGbg4ei8W2jg7eT/Ww61gDg1RrZKmvO0cTmYjzLPM9yILJ/3Kz4UhGaD1Du1VjotbshKEDlJwdyIgIvc2WLmO5338wdbQLYVb4Acv26fLrqA5YFPlU7Q/k+NyDFOlZkAOnZOidv0U+u8rohlxisUsuunRpQosedpjn/ZSdhIYd/2HSNf4LEF5wQpiha6yfgt2XTJhfbevInIbTf4PKnH5LrWQuAukqJ+KuX2CEBmGXXXANNMZSM4IwvbzkNrfBtnghdHVyEe62GscpRyk7bQ2jCu7l5+5/cV/Hiu5CixtmpZs4eLF3BHlx6XIE+UIf4B18jv3G41n/XqtTmCx9OTBzDKvz/cSEvOfwrFORa6uE2VlDizKNRT22WUIjS/1kpuvEKOlGRtef+pFnwpvyAI6P78P2+qtYYLiJ7p4NmRB+m9xKiUwuvpiW8kOnc1TrZEJ+cdnnfpSwgkfoY2vVhh97W32iMcURGfwUj6OrmLLBh+LFTShR1hitUE9OPtbESG6N45r+VFZGZIM2oDN5AFXjvaKfc3DcWaxWj/jmDuZTMsMKOZUeCQF1EEi3IOviisSAgaepaCtcG9xrMqmjG7+fMaKh/kPOGTqw1aE8Lx8HE3d9OdtK9qbmyWPEVYxge6g5lc+H0Gh2f6oozsFk4QQGPMfNeTrn6v2PTr7L2VlsGEPEAg94HkvpGmXQjfHjsd8D9s7bSWihfDw7eJqIX6bQ8dxNcjXKQkQW9+Aga3yr0u97EwIPL2R1np5MsDNVeaNeHaKRR4bwIjiCt8EveOHvy/1rB1izzJMGa12Y3qDwF+denfrVEZ7sVyaW0AtLmfm4MAW3hdF2fUs03+gQtn2Pco0s7im7Z51Aq3gYbxs1Jcb5JGX7G7JybxFGmexlU6kxTGtgmASGKB7v38yVuAjuxfzAmDLHGO9Wi2ktn7HsghWOSb/GkoInf4brpO1Et2uImcZb3kS94f6RQOpO/pHK39jBfEpkJufKqfooSRilc4CHpETmZcO0NheYclpBZN74VJvIwvg1rDhCmMDks3G8zWdO24LXWB1gge3j5cyPGceFrf0pH32fk8duExyn0Ly8OTJpGY/aOjC4rnAYketQpmFjrAorDuDccFoYw6DRRTkw6h8MJvYgZJKwEGUVIpOHe3PL8xybFt2n6s/fkXvXSq5X60xdg2gCQorRto8tpprKvzhVC6cwkQU+wP1pEAHnVjL3eCUmrbCnZt5c6BvkTxeiVH8pZZeSArPnx3A+akT/PiW5vXg39GyDSdAr7m07g+HYgZ9rP7JQQqLkPHSex12rRhQtWZpS4f8x5UQ1VveLxfVBKdpZG3+Ot99uHPeUZc5AXU5ue0ZJi6dse9iQiUqJTJDrmeVszN+KqucOQutK3NgcQ8e+b1myTp9Rkxp+MQpMdkE/Nf1UvQ5SU+u39Y6EUfoTWXz0lR7CtWFVXnq3vMbGiDb0Nr7OnogOTH9PZJNYZDCK3+vkxv+cc0LIsVal0DMU5sek+7osCA+XDRzSq08Dv03870wZJv4xCFvTxGMJBZEtfUv7sl6cKNmFPlV0eO0fSPC53VzPEs4ewtbqc3gV63LZ0T73Jf6atEh4ofzC2AY6BOWuS692FcmfjOVELeGM8+PqhoWM+cMbu9HNKRrqxhmNrvw5+svhrxTLWK36v631Hj8aeVQk0Xm10XqHu/wNfle34LSvBA5Tm2Kq1KNeuMeuXoV/62E0NwwSmK/hVLkBjGrwhXs/wuV+rHC5n2lfVYQhuonLin1EtfuF3pULfI5q3EOh9V3H4rcOGN/6j1tFa2Ny/Zrwy65G8JZLGPVsRelvJwhDiqQq4+VUBNf1DwIT40QTsQz/I6s4Uqw7zV5sYdW1aAyFhScsSBebwX2o/+56RqwHa4ZfwXpRb8rnisDDeQU+3UbSXF9Em9fWSnTmEXUdXyXqCEc7cdTyqEIf15MiNJQXThNGMnH+67iUw8Kyo1Ac3j258hlSp99EhlgXgpAbbN1wAn8NcV5ka0UBWVTCWgoNIbZifeq+25C/IiZpwuBTWP2PMn9XDLa1NHnka0KN/Bc4FleNOjoveZq/Hh1rKqxdCjnZwLmyP9KptDYy9y0sfdsUB+sPljB54EXWrj3KvXBTmvbsyPflCwm5EEcPz46x+EwRRvasmiAnMndWDN9HYYdf6GhRQHwUi8wFHvtwmudLqwXDsTbI2MWvhteiQmsUkTeczhOiX5EGugUo8NaT6JY/08i8DFblDdNwIVqBQCj3Th3ivz2bWetjy+yxVQn0Fi7eLapjqv2FO045mMjSYd+QqshEBNJ1g0KYe13XscP9NXm08iZq0cHc2pWLvgenJTrVKExGU1it04V6t5awR/gVe/sU5QeN07hbT2BG1yqC8BQa9J/03/iE3M/fYm5twps7b4gR5x1R5s0Y4PgTDeKvWCjqms4mszE41lQ4AAhPuHlzedpzcrp6oqUJI8V1j6GnKWEN3uG6FMobyvMbZzl+Nxet5q1P6Lf4KJt3Xp/SF7woM+EHCkSAVvwOnJt8BQ0xiN9rvi4macIgE+U5KzalBpHF8urwfNZGFCH86CMMWzVA/78tvGjZk7K+rynXtU3CPQIlj1oTE3qBeZ37Mi2mHv3LQS7TcvFEeTmsG2udf6DIF1BTq/6siLrUpxyFQPrLqdhwry5l5L/GOE7vLC6nPsclSbQLubcrs8RZxqxzETQoYYBl6/L4B+hT5JYMuzWjaVxEl9yBp1l5uACdat9h4vJgbCsVpnIXa4LmbyRk8G90LPbuSmziVQzF+YoiPJ3imsdJcedz5bysRWTDn9JzWUeM4u9CtWdxq8L4HZjD1ncErCCyTffRMm9I81JxhL2XwEiCQgvzXcOK6AR9XUzSX05yzjJTg8je4LlsPreqWfDsfll624Xwz7CZnLVyYL69DSZGn9hSk2Cn3sREE3R7K3M356O+wRUemZRF27gKNhUrY6kiLYR69eecyZRGmjURyBg5jcbvxA6umXWkeVFvdo48SNn4sE0ihNTkUewM1RMfnd0pumM2h6IKk09oVkGPyjLKdTJ2BRI/PIUTkMvQqVyqYYN5aCjh4uL85V1PKFKnDm0mjhSX3qPitb9tx27hq1eE4vl0EEog0VHRxPoEYJyO+cfShJFCIxvuTtVmYVw7fZw1B0Kp0ao9rc2f86L+/z5oZOe0KHn9Dvrta5A3yp+Ty1/Sano7zPQKYCRsr/EK2lfEJE0YZE3Rz7ReqSay6Bv83WMp4RYi3Ej9cThquLIxdxPa+Ltyrkx3etcthnaqz8iEbf/hbv5c/YraP1RH86ALb4ZMxObmHPputGDZ+u5fPFeRJj7T5ERqKA0IZIicyiMJvHOWPS6nCa5iTaEDD7Ba+i7+4DtzYB8st7pANxN2b9OlR4XH+DUdQbcSecRoREDejUOw+qc+l1aX5vqdsnRrinChdsfGsc3HQQ7EHuDUeD5M/YV64qzjs3OlNGDz7tU0YRRPZB80sqHXdCl1IJyq3QPxKptoEvXbx8yDRemQZw/bn73ipFZZGt55jW650jQf3jPB1fwrY5ImDNJhDrJzFSqITE7UzROcMaxF5dur+fO/GKp36UuPWiZoynw47rydkOaD6FheeVZYVRMjD3TjoJcxdvWKInt2hGXCxNFyQndhqgzn3smH6NmKc7IvHJOpqj87T4zU928HgXSVU5kfbq4ubFx7i9IOo+jzfTkMNH0+Mi1+ONcSH4Irj1FUeKbO8WzKYoNDHK4ynAHltYj2PMF/wivt9l/B9Fpmy52xfxIy0h42eXxOZPJwfB4EkltXYVp8w03nRfj2mi3qESmd0ulJE0YKImu2FrqUIe7uKXYHV6DB28tcDihE6/dnZHv535yzhOeO4dWjUjisteHEOG+6DHnBaFcr1kz8Du2vjEmaMEineciu1ajWyNIwsoyemIyuPw1Dl16VEHiPQLrKqcyXs66PKdniO0pqx/DkyFZOv37Jf4dKM3v1u7RK7zSywbR7ewe3E3u4nltxob0YrSb0+xAoOokmUyQyVLhdBfPf4lufE1n8SIQX2v0nhOUPZN/Qc9TZ9hvW791m0z7ZacJIMY7Gv+PTsC7F9d5dWBRxBG/dQN9hxQfT4gULeupdwb1kTUrG3mGLuPc0ZHl9nh7wpWLr6gkRir4iJmnCIO1TkK1rkIgsW0+f1PnsgECGblDyCB4f3Yt78Va0i3d7jt+NhZPebBZ65RPkpUv9/j1oaq5DhMdWFnjUYWLXssQbOkSWAueJfnSY04oigiBPL5zBUvqyzNFGSdg54XIdcJ4VY3eg0e83htgWS9fcY2nCSHaTjUsj+MEhab9jCXFTXANpSAPTvMh9/uNf72r0tBGu5TJx5/Lwbk7qNWfAp+P4ipikCYPssBAysI8SkWUguFLVEgIKBKQNSrUcSBhJcqJaSpIvIRFZWtCT3pUQUAMBaZNWDZKEkURkqqVEIrK0YCS9KyGQJgSkTVo1fBJGEpGplpIvEJn4SZ6WCqR3JQQkBCQEJAQkBDILAWUZAiTTopro57Qvxpw2XjXFIFXFJCxVwyZhJGlkqqVEMi2mBaP4d3PaQstp402zgHyhAglL1ehKGOW8PUa1VKhfQtLI1MQqpy20nDZeNcUgVcXUw1JG4MUVTLphzWL7Gunq2p6qTmfyS+phlMmdyuTmvoyB4krFQjYZ9scxPjp9NK9DZB/SXfntZ+Ke4ky2t0JL/oStvVZg8PcMmhd6FwdXRnhgIGExn58kyYJfIStZEfNkYuZmMgypak4iMjVhy2kLLaeNV00xSFUxZVjKw++xZ8ZIVuk78PeIpombiDeuLq9o0dFKIjJxdB99bz9/LV3JjuKTuehY85vH5HM5UWBwgCV7znLvUS5KF4/FN1QHw+hXhJsaoZuvPj8Pt6VI7GsCRblJLoZM+aWhyE24jb7jjlPhx/8xrn2pBNzkr0W0pFPcDpaJlDaXWOyiRb8B1VDkM1A8WmVsaWVlqDIHZKoWQCa8lDWJTB5NZLSmSImUddK45LSNPaeNNyPXmnIsFelQxnCl1TzsLd6FepKI7LN5EJmO7TeZsThHElkiGopoI02dCG1tiX589gFfbESYsISYmeIRCXBHT9uP/9tocpXvQO+8e9ml3ZVueU5xslhPhje1wPB9SixFjM3JrC81VmSF/5B3LCPlPzPq/spEFoHnxmnMOfbi47FGhRNS3p5V05pilExAYsULmbnZZmZbmTHxqtrIaeNVhUdafleKpcL803sdRktFNHp9xQeb4uv7EOuOR2DVuT113yW/TEvD2ejdZOUtxxOZjMhwN1Z0/xO3woqYtjJCAsxEaC1HrAsVwEBHmA7jU9S48+DWPUI88tFs9Qxa+qxnj0lnvnt1H7Bg0QMAACAASURBVHl1W6yMEjI5x/m6MLD1Fgx71knYW6MikFn1YlSbMrxL3JONxOZ9V78ykaUNsszcbDOzrbShkj5v57Txpg9qymtRimXURWZ286SLywCRnTkjW88edUtElsyHebw2tpCXFWO4G64lQoeF4B1TgWZFfPFpMpe/2xRDIwmRva3Sgb7697kWFi00t7Poj/2H6e80r2hP1k3byO27JvTYMlKk/ElImjz8aQeWdSyRPQQlmV5+fSKThRMYEEbM+w5G8dwriKINamAqonN/6cnMzTYz28oKEpXTxpuRmCs9I/PeSu/FRiydYyfMRXJkfh54alSgapFEc1FGdigL1i0R2ReIbPgDGjW7xsaINvQ2vsSsq/VZ38KT1XTFQWS/lnvvYNSkXXh43OVt94Vs61Qczdy3WbJTJF4dWUdkAxcTHn2PfUtvYfZzTR447sUsPnedRGRqLQV1NkN5+EMu3whCM1/SLNNaGFeoRAkVXjTq1K9WR9UolJltqdGdDC+S08abkYB+iqXC0eOw02QG3bBkTvcKyHwusP9xA+b+2Y6SKj7eMrKfX7NupWQfeJG1Ts4sO5OPDqNHMbpN+Wxt/lKFr9I1Fx+NXxBZC3ec3PSx1LjHce2BbG52h/UaCUSG7AWenlGULBnHo+CClNX2Ysv0uVypP40/f6ySQGTvH29cBozmdMU6FBeWgDify3jZzmeNpJElPz0ZvRlmdP1JR6a8LfElHfgA96ehH4Mgf4XX7bzY9bJVoVWKLL+HFzFnTwS1R/xGzwpK8roJjdXv0W2RiuMmNOtDG3NtVeshXX7PTGzTpcNZuBIJS9WTI2GUnEb2aWR/kYz40TGWzdiG7kgn7K2U54JUeCl6/LMD36Z9hRnyXWobxTw85/jSG5gPboW50B1iH59i/9tqtBWZE7Lz81VNi/Jwb27dfZnErPgOyrc8Pe+FQefe2JkmHFIqezJT+JNrSx7uz9NgOVqaioSDS/DtNIqWxkJCNPJR0MTgo+zZn7tc50L2+jlX9+4ntEk/mol0Ex89whzguvIo7pdvUNhhKp3f7mH03ldYaj/inKEDWx2qffyFKpIunpk7hNEBHZnXtQgPtu3Av+sfjLdJuVttZmKbnReQOn2XsFSNkoRR5jqvqZ6R7FXiqxIZn52PJQUvN/kKGmLw3m30c2AzU/hVtyVUdvtdibZn8dX05Cnhxc0p8pGp6FOX6zjC3XayX6MsZhpmWFcvlGSQwovt8QnW77uIx5GTBFtUo1RMCH4N/scKG3fmXbDC8TNzQATuTkPZWX2BOOAtwKvDE+j0uDfH7KuQ1HCrjoiqHq86tUhlFAhIWKqWAwkjSU5US0nyJb4ukaWl55m8QShdaHI/js+axvq7b4WxOQiPC16EFqpI3UomFDYrS6Wm/RnUoMiHS4afuVwL0+KZzWy6nof6XTpj/alGJosi8uURfq2ynBI7nXHQ24XjM+FhlCyRPcfVfjrBo/5H3eBr7N1yl+pjfqHxF7TarKDtplEMsvzr0iateookjCQiUy0lWZrIoni8bQK/xw1hZXdF5tqEUCx7StgL+++7e+dZ17T4vmevDgvPoYPkqtib2Q7JRCFIsct1OO5/OzLxQBTftyvF8xtPedtsWvJEpjgYrrURk+W9sShohlV5w1RHQ5A2lrQsq4/flbBUjaWEkURkqqUkKxNZ6Bn+cLxBhTp+nIsuQeEHEZQw9eOl3TQcFR45X3gyU/i/3Ja4Lb9pBltK1EP3hglDFUQW4olbcGlqJnHOkKfI5VqYHd23sPZFNWrd3IJfz3E0e7iEH1aG0NosCJ9qE1n4qWlRXB7t+2sMv2/uRokv31xQKTOZia3KzmTzAhKWqidQwkgiMtVSklWJTB7EmamD2WQ2lJ9L3mbhegNGj7Ug+LIL16wmZBMii8Lv9HIWeX3PpAEyVs8JpNOAqmg82MGC562Y3a1MvFaUcpfrN/g8DqOIuQ7u8+bytOdk2j5fy8SAVsyxfsl+r2K0sjZ+b7aUC+I8tGoOg09WYK3zKBqXSJt3o7SxpGVZSRpZStGT5E0ispTKTNLyX/GMTDgzeJ3lfJ5ylHuwinHetRlhKefCLl/KlX/I7exAZMKrcPecPYS17EOPWiZoxvlxceMOzgZECYwNqNS2C63KF0hjIM4Ibm7dQ3TzbtQySKnLRupFQ9pYUo/dp29+GcsoAp8EoW1mgCxUE4MC2TlQUOoxU4aR4n+fPsqSKqa+1az1pnI5EUctR5azp1A3epn4c/elYm9RPJEEhRbmu4YVE++JCUevDSvxth1Cm1JaxPldYNfDkrSrXyzxeEGKfp/q2Va5GUZ7sHHYfC5rBHEptAaDhvaig6FwIT/6D/96laTTryPoVj6ZexKiVyrrT3XPP38xM9tKx26nuqqcNt5UA6XGi8qxFJr8ic3seFWWZjWMeHl4HqPD7TmfA4LjKoPsc4yk6PcJOL3g8Mj+7CrdjWqBN3lSqhqmJ55ScdZPVNXWw8hQN5GoFB7RCZabDnoerJx8kKLDh9K6tH7Ch7QU/V6NlZpMEdWbYST31vzKgptRPHqcl+pVRTTmAuWoLJwi7ttMZ7Kd8RedFVTXn/q+p+yrOv3aySo1ZSa2WWXMGdUPZZv0G3dnBh2tzQrH2sTHvpe/5Pr1GKxqFBMOTznvSVbecnjQYPnL/Ywe50nt+oXJZ2XE7eMhmN/Zx6VCJhRpN5UJ7yPYK4hsJu61a/HiJHQc3Z4KSiMjSdHvU7y6VG6G0e6smeGF1XcPWB5RHetNd7Ha/gtF904X52ZjsskZWYphyRYvqJy7bDGKrNHJz7FUfGX/wq3eq4SM62eNTn7lXkhEpszCFILbmm24B13hZpEBDG0Sy6Htvph4vqDsYnsqxyakupIrQnmt+4+bJ7dz4M13DOxSEY2I6PiPo6sXy/K/zQOpnDfBTCtFv0+FoKvaDOP8H/JI/pbLizaRa8AkupTWJpemHH/XBcL9fmjy4VcS+6Kq/lR0OdlXMrOt9Ox3auvKaeNNLU7qvPcZlrG3WdZwKcbbnOhomjR8kDq1fZtlJCJTRmRRPNu/mAVbDnO/oAVGr6MxNjVETysPGnFP8DT/jY0DKiZq8O9Mi8Mw2nGQ/P17U/NTjUyKfp+6xZPRm2FG15901JnZVurQTt+3ctp40xe9j2tTrpGN5m7/ZTjE35UUMTu9L3LmbVUafeFMOCP7+LXrlogsuTN/4ezhIixURQfQIl8uyluVjA9L93n6lSRnZHnOMnveIxqN6E5d0/wJZ2RS9PvUi3hGb4YZXb9EZPLUT7705nsElJ2RyfxOsMjpOsWa1ML4bTBvTevSvKZpqi+wZ3e4la3leJNZTo9+LyLRem+1p9GuOmx1HkDNgnJC/F4SdGEJfzCU1e/vkiqI7Dd25y1BhH8FBgw24ezshRyXW9J5lCNd338gSdHvU7xWMppoMrp+icgkIkux0Ct5ITPlND36+zXqkDBKTiNTeG9e5kahmtSJzxou4riKiPWbdgZR374jld+bDyO4t3s7nuV+oE3lwgkfRPI3BL2SU0hklv5wkUGKfp9i+c5o4czo+iUik4gsxUIvEVmqIMvMtZyqDmbCSxIGqQf5K16ITn2n372ZmROfmW2lHZm015DTxpt2xJKvQcJSNboSRpl7L1b1jGSvEhKRqTlfOW2h5bTxqikGqSomYakaNgkjichUS8kXPhZFyJcMsx8phDOjnwzs/kddz4yxZDRWKa0/s7BNab+yW/mcKDvZbY6k/mYfBJTtS5JGpub85bQvxpw2XjXFIFXFJCxVwyZhJGlkqqXkK2pkGflVn5nCn5ltpWVC0+vdnDbe9MJNWT0SlqrRlTBKjshEGL+N8zhb81f6G15k8UEj+ojEumOPV8XJ3ir+TpnikfsdZc4eA4ba1yTX/atcfy2sYS9ekb9OQ2oaaSWZgITs9aG53/L4RSTaIut8aIFaNLRIa3Bz1XOckSUkjUxNdHPaQstp41VTDFJVTD0sRbbww4vEZhRB7RG/0bNC8sGyU9WJLP6Sehhl8UGksXtKMVBkle85FNc8JuiWM+XNQW+KWMfwOEaPPOWGsfaXaoLMYnl1eAJt/o3CSrMC7Ro/43zh7tQ7t4mQgTPpViKPuBDthcu8JaxxfUPDIa2pwSMuGHegL7tYkacv0+yM0pilI42DT+PrEpGpCWBOW2g5bbxqikGqiinDUpGfbs+MkazSd+DvEU0x1xW50V8/5+re/YQ26Ucz05yVzkU5RjfZ5rSPh69fEGX3G/9rXuKbvjCuDIO4e+vov7cU05oZEC4PwcvtICtPGdDlu0rY9Pwh4R6Z3BdXx7UwtDPGEdroX12Iq9VYGp1w5mn3CbQtpo2mwl0hPgBzSRYOtwSPf1gc05mReXaylK44qEhinCrBz8SXJCJTE+yctrHntPGqKQapKqYcS0UkhjFcaTUPewtF/HuREdxtJ/s1ymKmYYZ19UKpaiu7vvQ5RnGEHp9EvWuduD4SFnZxp+3OAZT/hlMDfI5BEOe2HiPQ+xjHospTtHBhCj4/xYZrBWnf0JwClZrSs1Ul8t7Zz2a3m+x1K84vdq856FmF38bWI+bsKuZu9MV65AS6WWgJHhtJuz3afBeqR8uhBVi5+iVNv9cjqs4vEpF9aeFk9GaY0fUnHVtmtpUVNqOcNt6MxDxZk1HvdRgtnYydvmJ3FqbFM5vZdD0P9bt0xlrSyBKnJArf3QtYrtebqY2/7RQ3n8uJIqqHK7NmLuB4QAEs2g1jgJGIo3jDkjG1fTkYVI/hvWpQOORSfCivVdc0qWGQizci6aZhVSuMw2+xT2sIRyZaoxV+hSWTnPG1daSTz1lelg7BM08dylw9wtMWExghaWTJbwEZvRlmdP0SkWXYzYyM5I0sV7dSORU592Z286SLy7etZag7GcrXsnBMcN/OWv/vGNK85DdtVlTgpByDhKDB/xi0x+rJCc6e2skMF23sf++HXQ1b2jUoleDwEW82LM68/nnYNv4MVksdqBmg+J8ZixXJWuWxyHxdmb4lmnIB9wg2CkW37TT6hP3LUm8jSpvb0cYq+57LSqZFNVdaZpKmml3K0GI5bbwZCabS8x/vrfRebMTSOXboK6Lf+3ngqVGBqkXEwXwOfJTKW+hZ/t6oRf+hVXl58CyxLRpTLkeZFhWCkBA0uNnFDhz7XwmOLvGiRjsZW8+UZHBfG0rqJqYBEkQ2oN02Sk8fStlti7lYsQ7FhUa2X5zBHn2XddxvHzMPFsT21TzGRf/GwfH1yH9tGRNPBBBdqAt/ipQw2TWpUA4gMrFJBD7A/Wnox9uD/BVet/Ni18sW0/iT0C8/6m/sqrzPRH/C/Xl0+yonruSm2ZCWmKvRfvK98+XIrMMUGtaPWlq32fDHU2yn/ECp9ws+mfErKoz2wd2nDF07V0H3EwjUH68q5KTfP8VS4ehx2Gkyg4SJaE73Csh8LrD/cQPm/tmOkmmSheyL9efyptBExtBzSwDF3tzhv7Izub2wOd/yyaHyNSfWb9ALXvqdw/mQFv3sW1JGZP4J99jBvH81+XFKR8qLpJnycC9OeehRv64Gp5fewHxwK8zDrrPnljE/NPhgkpUHXmD9f1q061SdggpZk/nhdvg6by3qU89cP9t6LuYAIhNOPYI4ngbL0dJ8w03nJfh2GkVLY+Hto5GPgiYGaKvmMaVq/+eeZ6JOxdd1st5nCpu3wuvoGpcPGeKwuDVvd//F3lcmaN+7h+Eop8T8VIkbkhCyM3OHMDqgI/O6FuHBth34d/2D8TaGSQTuNRfnbSfPyJ+w9FhMx3+NmNy1HLljotE0q4GVqRbyyBBeBL8VPZPzxm0x/c7YsG5kLRQuBuTRw8hQ97MvMYnI0o8UJCxVYylhJF2IVi0lyZfIEUT2YfgiF4/9LswWC/uxZsLFwPDi5hRR4ytYPc8zRUtf8j57w+Pj29l39TpHdgdhUbcYMRFyGkybhs2FdVyw+fmTjMERuDsNZWf1BUxvUCD+rkinx705Zl8FBWUiD8Dt3/Vs3H4Wf/M61CzwDD/TtvSoVZhXJ9Zztf4sJloX+DB8hZvu0A78XXURG3+siXGB5F28pY0lLcvq43clLFVjKWEkEZlqKcnSRCa0FI9tLPS0FNcgSvFszQxO156IfVVF5tx0MPfJ/Tg+axrr774VHBOExwUvQgtVpG4lEwqblaVS0/4MalBEpUqtnudZvL3uC95nQluLfMPLYxOp8lcRdm4agN6mxTzrOSEZInuOq/10gkf9j7rB19i75S7Vx/xCY6FlJTyiPlko7kt3ivMDI676mFHl0hYetB1Ny7uL2GQ2Bsf33kgKk+c8Zv57m6i2YxkeuJtj5fsxrKGZUo1U2lhUSZ/6v0tYqsZKwkgiMtVSkpWJLPwhF93cODD1IuX+qIPH/IfUHmKHZd06lH+fNE75AFIs/K8OM2rSQXJV7M1sB+HJkwLk0s3zLPoGfw+eyoG3tWlXPoAb3lo0+yMZjUzmxrxaGzFZ3huLgmZYlTdU0mdxH8lpm7gM2RcrcqHhfYjlJ6IoGX4Br3r/SyQyoX3e3sS8C1aMqH6K8c86sKyDPh5rZ7CYPuKQtyqffjakGNsUYJnTikpYqp5xCSOJyFRLSVYmMuFtM8hZh8mDYMV4XzrN/R7/1Ycp8NsQrLW+fHiVMuGP5NGmGWwpUQ/dGyYMVRBZiCduwaWpaa6tEsP08Tx7jfua7bxoUpGbf7yk5yJbHjo5sDLMEjPhjFJt9oyPTYsCm76/xvD75m6UUAqFjHA/T/bPnY5r7jJUsrBC7+Y18nQfTgPP5Zyx/p+4bJuXgBOr2BDdnGHNzNG85sTwp4LIFCnSZb5cPBNGlUYVJSJTKQGpL5AyOU19O9n5TQkjicjSIr9f/4xM4TY68DQVbeH07mBqdCxP6EUtum8anY5EFoXf6eUs8vqeSQNkrJ4TSCehhWg82MGC562Y3a2MSu0sXTzPov14HFAQcxMP5g1/Ss9lzXjuvIyADr9g7XsGL7OGWMenMxdGQ0Gyh1bNYfDJCqx1HkXjEkrINvYhu2cdQbtrN5oUfY7LNl+smlZBRzOCGwvXED3y90/O3AR3uSUhsi9IjrSxpGVZffyuhKVqLCWMJCJTLSVZXCP7jMhOBmC7ct5nm/Cnw1BL+KPvsXvOHsJa9hFOECZoxvlxceMOzgZEieoMqNS2C63Kq478rFZb6s6E7DZbV0XQ3L6u6EH6PnJhqj2xdgWuBj2Z3kuYDD/R5GTu/zI3qCHj7Yp+8VxQ+XiFidLfn7DoQG4dPIq/VVealY7jxe3z7D8go90fvaksXIHfPXLv3Yxepcf4qY0x0ogjKlJGXu28ie3Kibq0lMnBHZjdoghhF1fzZ2ATprUxFwbS5B/ZzR04R9gy3Mb4fT2ycB88zp/lRj4bGgb8w/aiQ3G0/sRRWx5JyItg3r6/4x1H2PMQ9KwsEq9fKK5FvCIgLFp8RTxh99SrWE7pTJnYMMLymlG+SNII4go/GzeOPjPDrmZBIn18iSxSAsNknIbSVXbSV1yyTG0SRl8gsriHbBu8hLjxs+heWiGHPrhOPEKJyf2xSmK1in18mL933kIWP6tivel9x+BB9TGMX5LCehMYSFjM50EOZMGvkJWsKOJ9xruQZcvnq2pk8sCLrF22jctBBSlrGsTJeI2sCtpRwTy5rEGnVdNobpT8SVZmCn9mtpUVJEn5eBWXM8cyX9aTEc0qYPpsFX1OVGRqp6oYGxljKC5nygPOsmLlBbH5ywi4vJP/8jWnu2VBsfMHce9cfjqvHE8zo1yE3z/Prg3ruV+5A42qliNu/XSut5lO1wKhRJWuQjldkb7CdT17vSKIfv2MSOtxTGtdjFi3NSyVd2JodX00c8cSeHEr/569hmfejkwZUIQLDrPx6TmQegbRvHhjSpMGZRIiH8he4On2jLeaSWlSC+MKlSgRv4AFSd87zrZD7ryKDubWST/MGpYkwFOH9lOH0Kyk7gfij3uJ59WnPNrvjHuL0dTa5szLX+bTO36T+fxRiqVaVyuygiRkTh9y2vpSW04EIYWe+QvH20Wpc/8W0RZ6PHhliOndSOyWK7yvP9QkcxOXmz0r01URu1PmycZVOoxd2RFTRRH5a+6dPMXtYEFzIqTVYhdxJ21AtfdHClplbGlllfRaT+bMe3q18lWJ7KNBKBwb4s1ticCrMcLMFP7MbEuNoWd4EeXjVVxSdWTgaUNstKIxNYdTedsxu2VRYgJeJhJQwled/KUrQ1ucoeGyrpTNHYF/kCHfN7VI1BAV9UxkTkQbenCMvfJiyB8Vov0PJtzduJmYofMYUF5xtreX21Uaor/eAafQqliKmIRxPpc5558HvabjWfNTaXxP7+bwf8dw9dCkrnVJ3haqQsV7j9Ep/4Zbxl1xbF1OLNZPtbF38IXxPEAPq6qm5A735tadG5xc64JbRBjPPF5hVLkE+XKVxLpFQ75v3RCL+EjjItRP9HUW2j+kyx9VCLx/joXHyrJoSiMK5VZ+pqscSxVXKzJ8hrNWAzltfalLZPLQ00xtvQ2zmb0oeWMd6wv2Z6xFKJdX3sEq/hpRUiJz4seNYdQpLj6o4nw46WXLyjWf7qfCV2DjZNaXGsu0BoWzlhCkoTdqEtkLjkxZT+7h4qxGaEjyyJfcuXCD0Irfi+Cmyr9CFX1KkXDKruM80Y8Oc1pRRM0Bpaj++N3VG9ep+zD8dTDWBmJTEq7rIVE6GOioVqlT3JaaY8iqxZInMmdxPeInbK9s4DSh7Hxkzg8+R3jR0p62NatQ3lDIg+wJLr+M4Eb7vxhSVXwdxt4UcxvCwHXvnFYS4scprgeMZDm2C4Po1rY7P3Uuzd35c3nac3KCWVnUs3vBPHberMv4ETpc1W7Mj1FJ004Ic2DEKzy2/MLA+y2YUKcgBc10ebjsKFq/jhQRv40Tzj7joxdc4mlUAJeWX8SosyFHzxoxsF1pcsUZU71tPcxzveLx4xd4H1uI44IgWvxak6f/hNNlw3Bq5tdCz6gQusJ0KPc+zHbfPDxbFyI+ur7nwZQ/eNKjKzF7X9NyVFOlUWKUY6nqakVWlYyM6ZdSZ6rwuxxYe5Y4qxKE3QnEvElVQg8cEoFvf2aAVXob5TNmXCmp9XMMIvA6cYM8VUx58PdivOt3xTL3DXY9LUL5y8+SEFk0IYGR5Au7zAbXlxS1zE94WF7y5C6FrW0pDHTzv/cBiPN1YWDrLRj2rCPM/aJ3URHIrHoxqk2i5SIlHc5CZdUiMrnfbn5ZpknX8jc49TgEj4PBfDd1MC2qWyVsXMk8Gb35q1d/RLyJas9ZTx7lKUbx6ABC9fWJDhAahZEu+Wz7M7yBaerukWWhiUzvrijHVpj71oxi5pMSwssyAH1LERew0ciEvEeJ5COPvM+exafQL/2SZaflyXwdvtPsjLDFHS/b2cxkGXN1BtHr1oYPRCbMfa+PT6bmdhvOLzBkZXdPOkyAY7mT5E9SXGf4YRCXqjUgf34D9O5HiIglkeS2rU/nHztQJandX6H1K9KBLDbgr82JwVSTAhfny9nVi1k4Zz1Pmv6P36rJkNXtRrdqiYQo6n20cSou5ZrBule0HR7K0sNV+H2khSC2X3EymcqyNsU+mwrlpkV1rlak96xm3fo+xygGf89rXHFZxInaMxn28g9Gh/zEvFIHWK3jwCw7w6w7mFT27HMMxB1bz38YNuc8GkHi/qtNP4b2aIrh84scXbYDr4qd+HWMIkSVDy4DRnO6opXwmPPFZlIDDv9+iYoNdfA4V5RRW4dipTi7jvZk3bSN3L5rQo8tI+O1OXWdv1I5pEx7TQ0iCxfRJfoxy2Qyji+uojG0KU+Hv4uO8eV+qkc0UTzeNoHf44aIjaqsOOgXm5zrQvaUsMfe6suXotWrP6GPMrf5NHV6RWvFeY1C7Xa3wfmf5NzaPx9XStrKtNnLwIaUj1eRQytBY+pQyIc94/9Ff+pwCqyYl0g+uUVcuJe8LmBMAfe/v2DmSKqRrYm/DuDcTIsXaOG7bP4HUgw9x58z71K64HUC206ihVh4RcL2s+J9IsBokeJjOUe19Hj+9jt6xuzApWxrzFaeovgoQ5ZvKsb8ad8nOtSITcF9MV2O2rCt5zNGxEcFtyLA9RDPW7SJX9Ryv70M/b4f/xRrRHNBooZ1rDB6HUfNKVNor9AQEd6vNx+CMFtu6rGQh2at+HVuV/RcV3G+SlvqFTWhiJIDc6VYqrxakYGTmwWrVorRmwv8MfgunVd9x6VBLpRy+pHXkzaSb/wQahkXpIAaEXmy4FBT9uEf58WaLn9ys3AQj3OLoNKGeSlQ3pyoPc+xWT0OuwIKuRQRi94TmXCUm2aD65QLCUTmU5vZC9tjKpze9i29hdnPNXnguDcxulEOIrK4R1sZN2EnwV2nYv/YiY2x4v7RuctE1q4uzg/qMWF80wQVVcmj1uYfeoY/HG9QoY4f56JLUPhBBCVM/XhpNy1JVIo01B/PYlGEX11O97+uUDifOOyPCyXAcCDLp9ajkH4BdFIZazE7LZKU9lXp3MXeZvn4B7Sd047C97Yy52YtxncpgnsiucWbAxMfmcIpI55wtIkIucjScS/p9f7881ONbD6rhZJz65kPN+Yfo/iCidjl9+Gw83mK9O+M+e0NrKclPUzeCIeM/ewxHJCYPyma1yEydB6uYvjdCnQrWoIypcI4NuUiVqt7EOP6hLLt6sR7bcnD3Vn5v6NUnDgS25i9DFyYl4kjq+C9aRn3204WZ3L5hcn8LtvHTeRC01+pfycAy5YROM1/SvNxw2iT6Nkqj/TFbftfOAw9Q9WZo2hWXFOcne/nSZt5IoyY8jOHT7FU62pFSicsm5dXpo1ECCeHia+7MKfEAX5xs2VJ99fM7bQNQ3HHtGej8p955GZzCJQcxSg+vjYyw8uc7zwOEiGcjzZdq812R2P2vg+1pxi1bmdqXwAAIABJREFUILKBi4n4uQ1sdkWndw0Obozm596FObNHRs/pbRMcPuKfd6QnouMrtkJx5uxlO581inul2fhRoZEpAuCGEnF/PWOfNWGgz0URQaI7+VbN4KLdFLH4v3yRWCWRCU+2M8JEuclsKD+XvM3C9QaMHmtB8GUXrllNSDciS9DGvKn41pvwfELLE1pDTOW6FBFhq5qsmEkbY9UxPlSOJRsLgXofIcJd/poLLjot6GHuy/59kXzfUeHeL5wWxHWGtz/0Sjh3jH9EWbd/+EezIz9VlXH33zksiurO3PcRRGT4H9/MFXNx9UHDjSPRlrQsLePeoS3sEK71Dt1ENH55NJHRmmhrvfMyjCPST5wBOJ2ljIODCNP1IU6kzH090/2bML25IQFXt7L4VCl+GWWb6HasCNS8h7l7Nehi34YK8Q4bSTy4chWmSpP6wjwj7uStf0Cl9lV5u28+U/06sW5ifQqE32Tznija9KyNvvwllw7coWDdWhSP8ebO84iE4eYzoUL5YvFnaOph+Y0JSzoMJ6etL/XkJBr/+z7INa6yaF4sA5y6UjpXLjQ1RczUsYcpMfMnrOK3LpEBY/4B4mwt0Xj0ihI1cnPwWCy2dXTwfqqHXccaSa75POf4u+j4YinEPj7F/rfVaGuRJCZrOsxnZlehhmnxnfqZQGTyAW0oeGoFox62YesP4FXQkmrvN7CPu/9l4RQbjNdZzucpR7kHqxjnXZsRlnIu7PKlXPmH3E5XIlNcAq5Os4Ou4qulI8ZnFAF1J9Li8mFBzAM+8vxJbgJULjR5MG5/LcCzw0Thhq0pYiAqBC5xY5OH433rLi9jPtQuDw0htmJ96n7BWSZ5YZDx0nUyoyN+Yr24zJ0RKZpUjjezJTUbtydhqXryJIxS6BynGtIcVSIFRNaQfnd+Y+guXbosmkzt49s4E5Yfq1/HJntxWaVwRnuwcdh8LmsEcSm0BoOG9qKDoUhdcvQf/vUqSadfR9CtfPJZS1XWnziVCQea1WlxZhNuRUuj4XkT7UF/0OzKMXHml3Yik0c+5cRf4/n9bkkaWxYg1P0QZ0rP4NA0W5E0UfFEEXjvDk/DwvDcuEF4+P1MIxHBI49xBSxLJLmfpK7ohV9m3uAdyC1LUfPnQdglRgNR93V1yqmLrTp15fQyEpaqJUDCSCIy1VKSfAn1iCzedNOIMWVjRNoTcUS24hH1hlTmydaL5Gndjpqp0sgUnVJ4wf3KgptRPHqcl+pVxRlDgXJUFmng79tMZ7LdO28x5QNQV/hl7ltY+rYpDtaJZxjyUB4dWcmMpTqM3GmfqJ5/GUblbb0zW8loI4Lwusx8yPdtXrBJhMKaOaahElfsD84SHU2FY4Qw20apeUb3vncKzW/xUq4Vs8REENjTA3cpN+gnmpdO36R46mKbFuHLKe9KWKqeaQkjichUS0kaiSy1DagUzmh31szwwuq7ByyPqI71prtYbf+FonsT7hh9SEGSNiJLbf+Tvpf8WMTZjchAff2/7Sz6cznurf7h0vR3mpioQZFGZvZCTmoaoa8RhY+4XR9co4m43Cv0tMhcVOo4hI4WWgQc/5s/TkZRTP/j8zp5wA0umo9hs31V8ojMwvuX7SG05SC6Rq5j4IN2rGkdzrbJv/Mvnfhzduf4bLHp8aicu/RoJIfUIWGpeqIljCQiUy0laSUykZDxyKKLmA2wo0BEpDjKF49MHPgULIbpF+JzqRLOOP+HPJK/5fKiTeQaMIkupbXJpSnH33WBcL8fKtzvkzcrKrqgqv6EYQut6YkH9wpUoErBPOJCa9L4f+pDp7wtmQiRtJODr80w17zLiZXrOKFlQ8squXl4LIY2G3//xJEkqUam2sHk495F8OCSF/mtqlNUW1xSSBr89zPHCPXHlVxJ9bBNezs5oQYJS9WzLGGk7n6mGsucWEIN06LCBXQFDm61+K2cD+dPX+BFrRaYHFzJg04LmNrgXfDWz+HLaOFUu34R5mVK5xOU+V9bagZsZaOBI7PtCr+/81RYjfsoybUlD7/PwTVruahdBC3fSgyYUBWfFYs4YDGUiY2LfxJVPy1E9jG+GX2RUW1sc+KqSeGYJSxVAyZhJBGZailJi0amCDc0dhN5e5bh2B8htOwoJ7xGeW6vCqHHxJaUK5g/2agYGS2c6tcfRdDd/ay7JMfw4mEu+N7hVcXvyHfFl5pznXCo9UmkdCV4JduWTNxtkmkL1+uHbOwzjK26DfnZcZhImvlJRP14z0URy2/NPnTGzlQZ2V/VpH51IotyZ9tWaNXbSul9Hpm4/zI3qAnjbXV4HR8GTGiRiZelCysiCryLNP/RQKMIeB5L6RplktSZGJU+OIiXvt48vHEd3/LdGWL36UeCqMhvPxP3FGeyvRV5I14TqqWv/NKs/1FmubymfO43FBOhsazjXflFO8JE7C7ywn30yF/hdTsvdr1s30fJV7jzO90XGc3r6fH6bawoHkd4cCymlUoqxUJ9OVU168p+F45ET4LQNjMQEdc0MSjw4VpCamr7Wu+kHCM5kb7PiShajMLpY03/WkN/3+7nGCTJyPBp72SvCZAVxdJccTYujjdCAgkWsij33c/v+4oy0r46erwhOMqISqXS9/z8qwOlbH+Wi+dLHZMHXmb7gUtcOBBOh8VD0Fn3C9t0m2IedJINPh3ZvbQNxmm5EJ0GVNQXfuGuvn8t+4LE3aTKTam0bRLXfphIIwMzalQxUBmeStFF5W0lhr9yDyJcqyT1mtrxXeXiydwnEmkUnl1hzx4/qvdvLwLQps1pXua2ikkBLZnVopha/U8pzMrHKyJxH5/PryflVNJ/zS0XDwq2ry8uVsYRrVeH/j99/97BJeFCtIhSb3yMQUPOiCgDRjw/6U7pmWtwsMonLjaf5dhtXx7s2U3A912pa5CIh1yHMg0bY6VgOxHlJT66vWc+qhg/ZMkxM2aObkABDQ3yFTHBQKFJi4gFrn/vwD0qD3lenmN3cGU6VslPWLgc0yY/M7iBiNwZ5M6Bkw+JeienIvr38lOF6WF2mRUBHVj5Z3cqCxO5PNyDzcs9qNyjJv7LluDbaST1H65nTa6eTBVxGbUV78vu8e/vRzHp0wWL4GtcePomAdqP+v0x2sqwlIvzzj0zRrJK34G/R4j1pBuL3+FFzNkTQe0Rv9GzQqJZPdko+Xr4n9jMjldlaVbDiJeH5zE63J7zjinLfJ5Sucio8soxusk2p308fP2CKLvf+F/zEh8sHHJ/jq73wKpv42T3n4zqa0bV+zkGiowMinUSJKhKeHYvPoxWvx5US8zNJNcqQ8NWVoLIRcQZt/NcOL6YTmNcErtXEJv/rcSp1/dUU5pZPqNG8XXqVW1alAXhvup/LOQH+tbOz3Ongcwwc2ZfneMszePAX81Nku25+kSTusGrVb9CE7p5mNVb39C8XzNqlw1mw49D+K+FMxv7VVT7DpZabaVuGFnyLaXjVUT26HuIqot/xSaJp2qs527WvqpLr3qmaKNwbpnPXnHF4UHButQuEs7dyBbMHVIWD+fVRAyZnkQbFVEG+k/Fp9dg6hUI5+n9/Nh0s8b0HafFp4Q5wp3b/miZR3HGXZ/Gpd8QkL8U1VoPjCepeG4SsUCHjjhLSRHS7K2ItKgTcBl3m3n8061Uwu/iAvTNHdu5kasQOq9DyF00ip3nSzOzk1xc+6hISxuzxI8PRcqMWXQ7XZ3RWhcJ7dGdyKVXqDq+V2LMRvHhsv8UbyvGsG7sc7otao/Zu++RsJcE6FWkqpJ7gcplR2FmHsOVVvNEFm8RWFmhEb5+ztW9+wlt0o9m7y98K4uS34t9NmewP1qbFY61xYgVr7/k+vUYrGoUU1ums5LgfY7R/9k778Aarz6Of8yEkAgRYsWmVtRWo2LWrl2rRu1VNepF6y2tHUp4iVYVaWoVtWtU1IxWECNmYyVGJpEgyU3ue24GkTzX87jJvUnc5/7Vxlm/7/md833O+v50H01f0ehsN86NhyU6jcytg6mY5Bt3D/FbUF161M7aD3mT94H+OUb4ht8Ghq8rwfcvn/QkzxlLZLD4KNw5nZqf/ZL4D6Xp8dNmFrQqR4mSBWUDB2cmXzCkLbJEpg0/zQ/f+1C8dXUKhJ/n1yPF6VtmK5/vqcdPWxLFKPXUbOzJX1n5MTz2/pnFd9oyq2sJ8UG9nlGHi/LxI3+KTx2cIKap4KesLgUFZZEk+lagvu4zmX/okbAi8mWoEyvbUtTvNvoVsRDM4Smd+c+TASwdasUa9zghl1Oa6+5CPif5tqpOxLe9J/XX9KV88D6+3F2F1dMbCMXF+Jk5cfvxNvu+3Efx8cX4ZUcRxpe+jE8NZ8rEFqNJ/eIJAzQpynizEvGTeGrZHR1pTMWzeh+qX3TnTBVnwrfG0qP9Sb4OHMIOcSM0d9Kj9bAzrN70ghq5L/GkbHGC8jWhe8H7+FfoRPeqYrtY6HTunzyePz8YT6eCOciT9yYbtkCP3lXIo+ddoCSWInjnpv5rKbxiBs1FeJr47UnvrezJVh7HbI40eD9pu1tKJb8XmvkTudh/tbjZm/BSMav/9I+vKKGn+T2r8vfnmxZJJB3BhS1/YflxOypEXX9nFPL1YhB3R0hQDWKjXSvqFRZC3eJd6lNNTQZMaEfZRDHgNRN+IdTKm8kLDrx0hXzlatO250zmfZOYLqs7yRvaL09kIWf4Zam4jfcsFzE389NXiKS+2LKG/cF2NOs3gM7iCzB+y0XiZ+zJX2n5Gm8XGng64zUiJz8v9KHh5D6UvraSsTsrMHNqa0qJW4ByP6V1yZWTVf5dv733+H2MBwXn9CZ42VHKiZuseV6LtKxbHOzhiw//R7HvhlHkyXWO/pWdtp2LcXuHN2XnzX+1Igvdz4Tv4KvFbShwfQ3ddjoJHbmkrTGxrXLvCtcC7+I55zBFPivK7wfs+KzENXyrf4yzQzEqVS+ZcCb1VkT2Kxeb9qfgrP+yjfpM+DWJSJJH0H3GhZW6rcUJtLXXyW5lI1d+O+yshID2+g2cenSdiBbfJjwPEWTsukIIxIzTv6UniaV4Kzm7ly89tiWtMqJ5cGwDHudy0bhH98RzO1G1juzruFNkVX+q2DripNsmEitjt2YrsN/smuaz1szij9L+JnzAZws/P/yAkW1KvVxVaEOPs96rFJ+2c+DRO6SQr+/j8draxawV2/CFeru89LnXYzdqePFCvI1dN4XRf76glE5P9vkDHjaaw/YxtcmrJ05eZun79GiHLJGhCcU/OJZn3ke4YxnHuRvWfPxJSyqIyw37RDiX97uIraAM0phTTC7inOH4+l/4K6YW/Qc4JxKX2Ff23MimqEYiAGT5hCjCb2J8cS4jc5yYHv2RacrQi61uAq65k4anh/PYZQdWnRthJ9ZQryIti8l+zTruiR0fv9IDGFfsAMNWWjFDYmsx7sERVv78N89zJwTMfF28NOnyxY1URHa5RDUKF/mQfs6JFz4EkQ2dHylWfVXiJzuN72ZWW43hx5dCqC+4dfgwjxxLEXloPzfLNqfC+Wn8N/9CPDvn4U7+MpR77cxS3+1S3YShIWzvnFfvHA0kMu29TfRfXpgV85sL9Rdh64PL+GYT6uZFdV/cyX6SKvmP2D9+ItcGuYnzRl2ECJH/nhfHntfA+Q1KOJnGuZR+9IYfZ5m7BYNG1SBw33FiP2pBhewx3N+7j3vNOlI/r/iKeYcU8lOPObGVvWsD5x0/pslN19d8LlUQYt0HT2Vxs1wEZ3j5Kz2bU1en0sBC2a5TZvYPubbJE5lcCRk4+SsmsjTYkJTVlHWlQ3PTXIS+L+TwY24sDSqJ/fkTXAqvwpAprbGPry13QvDJ2Nt437DFKWp9fHgWt4b/8Nl//KRXZC9bqTsPmcfMmIHMLHmLy7Z14jUotS8e8yjsecK7xUCx9bi1OHNH1iB70F38C1enroMlUbrbWnd2M2lxKF10gTJF0ji/P9hu25sJdSvHR3/O5rueASPn4mXRkcnj65Nj9058G3ekgudxnjqWpuJnYxLDtCQ16E3PJJKFoHF8xPWH51h3sAyzRSBOfS8DU2Kpu+ix33UGw85XZ/4nldD4n2LPrSYsWNiZUsk+CvWr5OuIz5Olruco3rIO9s/DeO5Qnza1HbLsWUhqf9Ph/CV9NwZR/NkV/iw/m0tL2lAwxpctv8PHPaogXoXyLink659jXkWLaKYv+rOOyBpM4u+qpcgT78a6rf8GuHhNUqQlm+YJI4MLMBMiC8Zz7iYsR4+koe48QnOBNQuC6Di1hd4QNCn7RSUy8d0ffIp1h63o3qMGVlEBnP3rL/65GEBIkB9+hTuJa++tcUx8IP9SFqz0Wb4/YEPPVoW4vu8k+bv2oU4BIU0mgp3uvJp4408Hdj4R3Tn6KTHikb1d6bp0alJanFsF4vWzB8dDxRX36Bc8jctOPkuxxR0VTcGmn4kzOVseenu+ujmYstNeRn8OJzgyL3bWYZz6cRdhLXsItX1xJVlzHy9xwHWjyiD6v3bWJC5YrP+Re01H0qF0ysCxQrn/wHpOlO9DV/uHHN8sthpLf8qk5vovWZib7xgypynDSMuz07s4UrIt7YqlWLkaUmkmy/MmIkuKFtGxjIg4Ij4WD++JpF6nqryM2CiIbOkkcQFpSUeKChLz3TqP+SLo639X9qJsUlCKTGZvejbn3ScybRDev67C9adL2JQXivTdFrGoxX2W6c41RouIqtlzouA9tEIVkfTsmowtS9nEkrFtzCq1q1jK95QyjMTtvMeRWBSwzrIrzzchoQwDeSzNMcW7T2S62FhCmWTE7POUHTGNIY9X8B/vCJ5chqo299AMWM18BWHTzc3JzM1eYw5+FUt5dFWMVGUPeS/Rn8IMiEwE75wxgb0UJtquBqX9/Cg+8SP8t0OXEnvZpECcWAefuQ00c7M3LYNILq+KpRxC5je+pBBR/UTeT/SlMDqRGd40ZTnlbxLqHgs+ItR7E+si61DXbz3zvAKIvAulrHLRwMVDVmU/iciUtejdSSWP7btjqzEt0U1Q6k9FQEUgfRCQmpeMTmTGnAwVfcFoAvH5cx/7N27kkH0fxhUPJLpLI3VFJuNTirBNH79850tRsZTvYhUjdVUq7yXmvLUogmjevvIYm/CDuOfqRo8785OdkYVgO+4HxSuy9CFlnWLFQ/wuncHznxy0HtlWhIBJyxe7OAM8vYIZYV2Y91FRnnr9xMLglszsUCaFVJG4wuu5kyuV29O84FXWuIbQcVJzvbc21YklLcPq9bwqlvJYqhipRCbvJeZMZIm2a7zXszrnx3yiOcu/5ZqIqNYI6ao/uVisGU1e6tq9ASiJB9GphV9191yFQoOU+Gt80bqI0vv48a+z/P2HHeOWt+f574vZGVoEy+vXsZsglPjjH7gmNfoBxxaMZGJQV1x6FuXm5t942HMOUxvaJQoFC1mjGyfZvn4dN6p2wblGBeLWzeJch1n0tBHRp8tWo0JSvDhtLJo7W/jMozjfOp1ma9G+DH2vMPmspF8/qRNLWoZVehHZm3wp/dqXGUpS/U0PkcUF4nshhrLVc+J3IQLbovHKmvAilDDL8lSJ1/bUqd8/4kGAH9e897Pq73qsWqYTc/dn9/QDlJwxCKekR9GaS/y6+hkdRtTi2eE17LHpzme15aN/ZAYfeVMb3v2txXTqAemBllL4NYGspMVfdf/2TChMbGHXmXMc+D2EKkIrMCZSS5OZM2l4ai2nGg5JITkkJRjbn0MjqpHwNET3UHI68yM70JtD7NQWR+tXkI87FuGa+wZiRrkwuGKi4wth3fH/+YcS1W3JlVu8xQr24YTdODaNqympaqJOLOnkOKIYSSwjLuCxdDt+T/NQafAIehR7mEINX9fDb/Kl9GtfZihJCiOtwCil+n2OFH/7qlEY2/Qp5GcGw96iDfrmGB/XCfxOKe76P8fevj5dnYsSfnI/3nWGMKmhg9h5EaF8rl/hzq1DzD1Zn3XfNOTpwdUcKN6UfMsO4bh8XMKjaE0EwQ9P4Lb2Oe3avke+2x7sLP2loh2ptzAjQ5KqRKYQdkknSyX8qitMn/hrIsm9eEbgoelUW1yUrR6Dye+xnLt9p+khMinB2LG0eKmwnkxlglU0XRJCLxFf67PuZbm2aAF3+s54RYwPduNyyolJSbJNQvpohIcjy/WE/VCJTKFjKEgmhWWs3z5W36nB0NrX+OYnG2Z8UQmf19Tw5XxJQcVZKElqjKTU7wdS9EhyRfzzNB/zLwPOSSvkZyHz45uaGoNIrh44gaZWHbLv3cXDkoHM8xRRGzqXRvvwPs9qtaaZTgFH6OH++ssRHoRcZNtZKz4obEv5mkI7tPEAyv74isi0Efe4eFmE34oXua6N5Q03pu57QWkhpv31+FchmLIabvHYycUjS4tRxp4MjV1+ctsl60ol/KrLoUf8Namw6PMsG/4Ne5/XFcE3gzh/z4LWc/SsyKQEY1/rkFfSNU3xEVqF85iNGwushtHv4voURKZbkZ3C4vk5bpVxpp7FHf4uNpJfRRBKqc1FU2KbFh/LCnmlsdSJIl/kxL4jBH4glEWqhqVQw1fgS1nBeIVt1O9vUur3Kf8mlUZhxZkomRQGcbc2MnRTILULNWJArbMsCW7O4Bpil0UbA1bFcbARK3fdsUFcDHd/HUqLs905PretIL7vhDbjJ8mILDGahFDnWb7oChUqFBJSVte412gqA59tZZ/1J/R3SoyBl4kwUdoUlcgUIiW59aFU+PVlHU+EoO4WHrWszIU5gfRd2pR/Xcfx49PqOIrIxDXnffv61qKkYGzyBidfka2J1zZc2dqCR0LEN8Bt0SsiE0EIj2w5LwSxvYisV5nDHnmZ+l15Tq8+SuG+g/hQcQwthWCpyV5DQD+RXeHiyd1spQtzPg5j4Wtq+OYFol6MUqnfp1TEl1bIz4roSWOgi5G3inV5e9Er5Gfm/R1LMRGtI87/BEdqzGX34ISYitrgQ3w1agH/lG6Oc1AcZeo/xb9u/2REJoLUHl3AkI1FmTK+LdXLFibisJBaK/cxLezyZdnI4kn9rBKZQo9P6WRKhV9fKz76AbeCbClT5DIJ6tWtub/SjaAuY2kQcIyrjs1oYJewPtIvGJuSyCYx9GhhElZki/ipNVy868/5RYco8f10EesqTjjwQkb5fMCEqD34thrFB7me8cLrd/6xL4KPfx2WSKzK1BWZQsdQkCw1lrHiotEuDudxpmvFm/G+0Gd6DF8qUcNXUF9WTCLpb1Lq9xEpFPE/sOAPj5QK+VkRAamtRUE+p37iq1lelOhaF8snOm3SGIIua2jSNT/Hcvdmvi6wseY2vy89SfmOuVi+swxLhpbh3tE1/FmqPfYrk5+RCWHhVq6EOT3nsjhzs7kZimMtMV+84aw8qyCpEpnCnkrXiV3cHNq0OpI2I+ojLk+m4ScEbA9v4J8yPWiXzZsD0dWFGK6G639s5LfIpozrVS1eVFT7IpJnOS3FRZADeOy8zFNdjfmr0qlvayom3WpM0Yp0tTcNFr4LWaXOfyIub2Dh4fw0yXWEbXna0j7gJ0bKqOG/C1josyE1RlLq9y2Iek0RfxaHmh5iTEqF/CwKlN7ji7H+9HXthKNlbiF0Hcx1XyHwcHI1x+vqYuJZEX3bFz+7ylR+uuPluXcO3XnYtYscmH8d51/HJyrgi4jsLj7UdQ5kOw0o4elHw77g8VdphnR8jwJWWVddWCUyhU5vbhO7udmr0A0MSqZiKQ+bipGe263R19n921Ma96md8NGrfUHw2e38cNSBQZ83wyF5TOCHB1lyoixju5Ujhyacu//s4JczZRk2RhczUBdJYh2Hbr8gm0WsOMnPRa6oOLILMf3nz2PI/X4fpnStLBuXUb4nMyaFSmQKcTe3gWZu9ip0A4OSqVjKw6ZipD6IlvcS/SkyAZFFcWvzNL6LG8mPn5QXB5diS2H3EnaUHMGI5I+DJWwwpfObsq60dGh65TU3e9MLN6lyVCzl0VUxUolM3ksyM5GFH2POpPNUqveAE9ElKXQzkpIODwhsPlP2oZ4pnd+UdaWlQ9Mrr7nZm164qURmGJKqv6lEZpjnJOTK2BWZVoRY+Wa4eO8wiiGlLrFkXQEmTqlC2N/bOOs0TSWytPRsGvOqE0saAUyWXcVSHksVI5XI5L0kU67IhO7g1eOczFWBCjdX8597dfm8upZT2wOoUPFfLqlElpZ+TXNedWJJM4QvC1CxlMdSxUglMnkvyZREJhoVfRn30Yv4O1sIp8NrMWxUP7rYCaHcg7/w69VSdPvic3pV1P/a3JTOb8q60tKh6ZXX3OxNL9zUrUXDkFT9TSUywzwnM2wt8oLra77g+wtR+N3Kzfs1CoFNBaoK6acbDWcxo7m9pHxSksGmdH7pusSqUveGw+YZf64IptGHeckVe5nF/zZl5eBqya6yCnmY4Jv4CPWOVL9of/EouRw9u4s3XxLRXDTeqxh+uTErP62q52qsTuroCtcCo14VrX1KSGwFmgtRYmlte3mXMSW28q3J2imUYWk+Svcq2Uv7sz4/ib21n2VbL4prcIk/bRz5Gw5gWOMiiVEwxN9FVI9lXz2k68QKPLybOM9EPybcpg7Nqti8SieSaiOfEG5hjU2sEK52C6P56Kyts6hDJWPPyKJ9WPPtVZw+uMmqyPdp4HENpy1jKbZzljg3k1dlVjZBpM8kqLeu0P1M/O4wuS3zUUhTirKlL+PfaAbjqsbxOMrq5SND7YvHPAp7LvTMtTzzXs7AYw1ZO74O8dr0ufJTWMjEvE46UYQ8iMTq/i+Mv9OBRa2LkzefxWsOmWDZK5LU+G5gwaPmTHMWr/1z2VOpeklJciSF8nrPitapQDIltunTQ5m3FCksU4cAEvd1n9znzM49hLccSGsRWkhK/T2nRi60T+bF4U0tS09/k8QtC8CiDwON94/MT9JYFHbEXljDrCd9WNGjDC9DGQpdVtfLxzm8AAAgAElEQVT/PaFL52L4rvuNyH5dyf3DIvz6LE0IDaXVvSNbxcZDd8n2XjEsInNRVDxCu33wCCElSlOiy0zmtHGQmF+yAHAZTWRxD//FT/ucv5d6kH3wV/Qoa0n2nFoe7v5eXL8fJa7fv1nEMj2dX667pOuKxNdjAa7bd7Bq6xPaT+1FoQ2XsB1WnpueFvReOJk+Tkmxw5K+pgLYPaoLy2osxV08crS3yS1ddfhh/tPxb9p9bcGvT1oxOXYLix42ZfLgZpTRo8ah8XaN11t00ynciweRyYk0eSWplddrp1q5mRJbOeyz+r9LY5kyBFDKqAkFCD+cXOndh05bB1Mxu1xon6yJVvr5m5Rqvg63zI+LfiJzY7pvVXpWSQjJFBd8ixvXgrDoMoRuJXMJnUUvfnZdyWofR4YPbYXdvzco0r88u7+4RZfvu1C1oHXC+BZzytSZMUxepFNIUbZYyPyoJbQwY1dkaUQp/ZxfviHSdekESz1w8XpMzN1slLq/j11hDRm7pAFHlsUJh2nD6yHrdNtHLsz+9RJRnaYwJvh3DlUcyOhmjli+tq34Aj+P2WwqO57JuT0Sycle5P2Onoed2TO/OQlrKA1Bh5cx50gUxa1zCiHR4/weVpWuIuaYNuo5L97roee1fgrl9Wo2qQAwJbby6GftFJJYpgoBpC9qQkpld7nQPlkTK+lV6zX2/nycOKeSPL0STJmWNQjf+wcBTYcwqNwjvf822EmngZH1FPH1bi36/caITybgaVWPRiVecPn0U4rXrEjzCfP5vIFuhkkg72ojrjN85VRqH1jBpVptyHf3CJt2vseSP8fglFsbn8ZpcSgdLC2p0MCCaOevZW+GZxVvyjREpn1wkOWeQnalt/RZkRSgppxsJeuK9mXT/y5SxM6LLy+9x/hSJahTN5BdZ+9zKXdXfkpUpk5ouyCPS4L0REywz9//i6l3xcqpizWXf/6W5XzKwsE14nUR46NIX/6ZaecbM69vRYhfZXXCpdIxZmzOy4ARbajhkE9yC+C1FdkbPTDhXO2l8nqvSqnO30yJbVYZLIa2UxJLyRBAKWuQUHaXDe1jaCszNl9qjGJ46HuWf7YtxbPubEYHzmHi489wKb2Xn6xG8nnRu3r+bRxzm9uKD8wt/PzwA0a2KWXwObGpEdE/5nS6k1+xtMBE5ja9y6KhN+m5tA7Bj+x4v4Lu/OsRB74eyOz8vfm8SA4CvbdwqsJU5tY8zJTb3VnXvwLZtQHsnTqYuXZTWMh+juuMU4lMWRe/eTJMeQEimBMLN8PQ4TQqoOXJvXCKtmxOFT3baPHLyWzZEPHUlDUmjamk6xIhxkO9WTt0OcFNCnIu+wA2DAzl68qulDn0KyMStwLiV06eq1kf3YbRrcW+9tnkW4ABeB17SjXnyolEFkvk40gsCiRsB8Q9OMGazXs4c7UkA2YMpqFEyJUk05QRWWrl9b5uXXFIgY8psU1j12T67JKrDSUhgKTU3x9tY8AXMXy3oRclJS4HZXow9DRQ0t+enWLO8Gt0X/0Bp4dto7RrH5585U6eqSOpk+8q/xt9Xfrf8viy/tesp4ifGgOhfu+1gbXH/Qn62zMhjmChRxz5PYzan7akRskaNGvnhO2tXbjdFPPGtjj6zcnH8p9z0bPQFkZur8rKLaPEakw4SsRdrl87xmKxWBjIZlZetKHzvNkpItJnVe/J4K3F+Iil1wJFYAIx1Se/qBCPZw7yO75HRTsLveiacrLVX9cTLq/5D194RlEwpxOffhTJgVOBZH+vO+P7NqBUvtT3BpURTgyP/c7wxw8/cLTiKGZ+WofCL092Jb7cxQrr8hF3VluN4cekKNCSyImzmOTK67ajcO1VXj0jM+IYTuk7ykIApVZ/v/hNSf5ePZ/hRyrx88oJtCgpFF/fkV/q8aUl8thipj/pwfySexnr3ZT/ffKEBd02Yzd5BF1y7mZOuNS/ieCSYasZtimI4s+u8Gf52VxaknKLP3OCpm+O0Ub8w/JvbtBmTm9x1nc2MQRUso/PWA0arQ9LxlymnvNjHlRuQPTG3dzNBdYffkLvRpWxEzHMxLKOwUMPkC+vmFcKfcPxFR2wf0c+hjLJ1uKrSMfNSsQR4GtNzyVjaWj95hPaDCcynTL1kl0E1u5I14ZaDs/ewuMuQ/m0dh7u7tvGHxYfMqRFmVTbdhqfX1kQ0oypzYtJbBHqvsJ+we13f2wat6VzMydJMnx9KOqiv4qtlh37ufd+L3EonPrM622Hrimxfdu2ZbX0KpbyPaZipCcemdd6lh8vRO8RHaik253SXOCnWfdpP+sjiiaHVff3zzzI1ucDYm7no+0AZ0rlfMjp3RexbNQMp8JiQRBxmwtBFuTw+RtNyw44vWG3S77HMleKTEJkwRyeupKYydNoY30elx5JN7TeDJYpnd+UdWUGFzE3e42JuYqlPLoqRqY9KpHvkayVIlMQWZyfOE/a6IjLtEZYi3dZE76DrxbLbweY0vlNWVdmcCFzs9eYmKtYyqOrYqQSmbyX6E+R4USmjfBhtYha2nBCZ2z8A4kL2cmUy23wGFFNnJKpK7K0dG5a8qoTS1rQez2viqU8lipGKpHJe0lmJbLoq/y+7h41ejenbD6hhHF1K/MWBdFu1jCavuF2XpI5pnR+U9aVlg5Nr7zmZm964SZVjoqlPLoqRiqRyXtJZiWytLRc5DWl85uyrjTCki7Zzc3edAFNTyEqlvLoqhiZdj6T75GslSLDtxbTApcpnd+UdaUFk/TKa272phdu6orMMCRVf9NHZLobyaEEPQ0n7P5DHj64xaVDWzhdewHuuofOyeB+XVw4jqj8HzB8WGPs4q/Ya4gIDuZpTOp3t5qwUDSlKuuVvjOsR02bSyUyhXjLDjTxcn73hEVEjptLrzL6374prC7Dk8nam+EtzDoNMBzL9FLEjyL4dgiWjgWEBGdOCujT98xASA3HKAMbnc5VS2GgjfDj4JpleHiHivsDN7hWqC1j+7TivVxBBBZtSttkyvYa72SajBpf3FdbMeXHxPdm2idcP/IXl8KEhv7j0yzfZsHAwTUTRRjAolxT2qXUhU1n+4xZnEpkCtF980DTCb4uZ/jmSKoXbsCQic6JX0EKC8+EydSJJf06RRLLFBEIehR7yI5vx7PaehzLPm+V+HUsvsZTKOJLRi7Qq4ifn4eeG/gttDytaxUmUOh8TowYwclJqUWi089aw0pS/U3PikwTyp1ju1l78hF5gk4kaKlWCOeKzSfMHVQf+2SCCzqhhT7uT6lXQnxIx/lz5GpTflyTUrVH6Li6z2Bd6SnMbCLCZr0jP5XIFHbkmwZa/Mv72d4Ub1QKO4s77D1TmmFjW4sLLHL3LhVWngHJ1Ikl/UCXwjJ1BIJK+Lh8yT/tXJJJm6VUxC+IdOQCKUX8fuxqeIwRB+vyw6S6CeGCRCiPc+dicKpV/LUtqfSz1PCSVH/Tf0am8V5EK9dQ2tpeTiAyxxD8a05nyUsFn2geB78gz9O/Wb87kGLV8xLxNDe5cpSmadPSFMiX96VyT1zANoa234hd33oU1m05RkWicerHhA7l9MQ7NLxPTZlTJTKFaEsPNCHq+u9+3H55StuJH/HCbR43e/2X9k93MGPGVuj5LfN6phbkVVhlhiZTJ5b0g1+v79y7yIl9Rwj8YBD9q4axqf9aCq+YQfOXijZSivhSkQukFPF7oZk/kYv9VwuF89Tx5tLPuvQpSXpbzTD1e3ll/PRpc3qXom/MyRPZPbYNnsjRyk5wNICGXzVh/3enqdzMissnijFhU6LeohA5XzvTnUvXitB743hqC/U8ZXJ56W1p+penEplCTCWdLPoWp71z4tSgpAjDoosvtYA7fWfEC3Fqo14QndsSiyyqZaYSmULHUJBMP5Eli0DwcRgLe/nSY5tc7CyJyAVSivixl3BrtgL7za5ZQhg2NUaGqt/LKePbKeixjEki7SdxRB5fzhf7n1H+qVfi1qLQd83zKcsm1EsMnJucyIJoOrMhu/97KoHI/Osyb8nHOAg5vV0rLuI4pDY3J+3Ecfk4lciUdrOxJ0Njl5/cTvm6XicypRhl1nTy9mbWlme+dqXGMnUEgj7TY/hyeWFWxMeaE2djDy7jm60SNYoK5deXPz2RC4QYbGpF/EfsHz+Ra4PcEiIE68q858Wx5zVwrvjmgLUZgaCkvxmqfv8mZXx7W2z0im9nhOWv6pQec1EinM1F/J9nIza5sPqzIEIKNaRV/GUPQWQiAkfkkA6wYTdW/Wuxzz2aIf0LcWyHhr6zOiWLbpFEevUoIa48xvn/zdWmi1jzRqHxjMVFSe3qikwJSiKN/MSuEplCKM0uWWrfSRGBIE9b2gf8xMjz1Zn/SSU0/qfYc6sJCxZ2FsKvyZf0qSMXLG0TzSFJRXwdGXqy1PUcxVvWwf55GM8d6tOmtkOmjM+VGiND1e/fpIw/kr7OFRNXMZnPDVNjIMI/HVvPj6dDE86vcttQMHcEoRGx4r8LUqJcbVqJMC6FsgVwYNFe4ppWJ5tfKCVr5WDfoVia1rPi3p38NO9aC12o0YTffQ6vOE+Z4e0oI47wY2/9xZ7nNemUDkLjGYmoSmQK0VdEZG5uBHUez0diazGr/+TtzeoWmq79KpbyWKsYKflYlsfRXFOoRKaw581toJmbvQrdwKBkKpbysKkYqUQm7yX6U6hEphA9cxto5mavQjcwKJmKpTxsKkYqkcl7yRuITPxTas2StJSo5lURUBFQEVARUBEwEgJabWrKUldkCsE2ty9Gc7NXoRsYlEzFUh42FSN1RSbvJerWYlowis9rbgPN3OxNs4O8oQAVS3l0VYzMb46R9wrlKdQVmUKszG2gmZu9Ct3AoGQqlvKwqRjpI7I4wr3Wso6PGVPHmricORMDDmt48QIsLXXyHBEEBz0lhmeERRXmvbwnmLkyJ8Ont8SeOLLnzCHemiX9dPqd4URZ22AVe46V0x/QZX47ir78Z3GVf/5+Co4aSJ3st/A6F0IuQniYt5Z4ulHk9acb2mc8jhehfsFZj9942rwvHyqIIynvDW+fQiUyhZiZ20AzN3sVuoFByZRhKR47H/+B7zYHU/+LL+nxDkRQeBuwlGH0NiVmvbSSGIioGnumb8VmQGNCdq1hW7gttjcfYVEmiuOaAewTD+jzR9zg2ObVzLtWmi5RnhwMeYbfnocUbV8Zy/DyDFv9Fa3tgjm2yoVl6+9TeXAX6pcrRpG8fvyy4BFtJ70vnqjVoZnucXXofsZ3+IXcToUo17kG3ieLM63RP/z3cT/W9iotCFFDsNevLNvoyYNsJXGw0JCrqD25bx/h95DCVCrRnQVz2iToOJrwpxKZQrDNbaCZm70K3cCgZFJYaiOup1a7FzJCW7/+kyLTh9HYOusKThsCkqS/pYgQ0LNi5teMNMT2pDypMYgSEQvmMupMJbpFe3PluS01v+gDM3fhOL0EP25yZHl8JAMND7Z9h0epsYypnofQP93Zbvsh9f1OEi5WSc2TVkmCpCYuzM7EKVW5s+43wjtX4sTXAXTu94BVkZ/yQ1cHAnfP5nu6M8hei5X134zZ7cQG5xOMv9OJ5Z0cyRn/QD+Yw1NXEjN5Gm2idjDCI6kdabE+bXlVIlOIn7lN7OZmr0I3MCiZNJY6JZjkavdCIPjcdeJyXWZfVHuG1NbJSpnPTwojaaX/dxeT1BgIn/Dax769+7jRaAojI3dyqFwDcDlI8fHF+NXTiZ90RKa9y7YhX3K0qBWBMYWwOnKRJ1UrUfm9vPhHOuMysxUibgKh+6fR4denVLidh4rNnxKUOy83d4XhVO85D3QyVR2e8vsGL27s9KXo2MaE7rtDjcmj+TDmBK4LNnK3wVjm9apC7vDDTHFazLMOBYitUJW46NaJhJpxfaMSmULszW1iNzd7FbqBQcmkt4xup1C712khHuGnvdDus2aUzKR6gAYBoCCTtL9JKf0rKCyLJkmNgZAkE/qKk8Yfwr5dTewe3Ce6eSP44ShFPivKLl9nfhXbgi+81zNp7lOGfl8Gz5OR5LgcRj7L3FjnvUuu7tPpWkLodUZfwn3CHLybj6TpgYP4lS+N8xgnPMffoddQf2bf6YJbFwu8fv4fK1efx6KWHTmevSDErir17CO5uCs/Iw9MoYFFLIF7/8vHcwuyeGEu1h5/KtD+SCWytPicKSdbU9aVFkzSK6+52ZteuEmVI4lllBezFandG7Nlmads/USWLEJAr6wZEkkpylIYxD04x+H7hWhQ1Yb7W37hUst2qbYWc2ge8/fy/3G9Yn5uBAhVxghbqsZGi0sa14luN56O74lVmliRaQL2MP9AHA5/eRNaOQh/LBNWZPVz8rzNLBZ/VFw0VYgKj9hOKZdPyL35ew44TRdhgMLi/5agmB/O7etX8Fp8mtIDYeVKb/J0/g63DBYdVldkCr3M3CZ2c7NXoRsYlEzyjOzeJvrLqt0bVF2WzJQaIz1K/1nSOmWNTo1BJL7bXHHbcZXs1dvTMvcxtgSLLedDV7B1tsHHdhwH48/IxJnV12uJ+bQZsfs2crhsFxqe9OaJdQChOe0p2WscvUqKVdmDnczweEzpOGsaf96RCjnOs2jMHfq6JY8irVPHH8D6shOYXv4AM72K0KzEMy7uKci4gxPjQ7/Ek52If+aZL45Df5Rk4fGFdLDPWH1ZlciU+Zj6jkwhTmqy1AiknKB0Fz32u85gmKzavfmgKbmtdnkDCw/np0muI2yzHYVrr/KZUrk/vXopNQZiu/lxKJH5CorQM7E8/GMD52v25qOigjQeHmTJibKM7VZOXMePI0rcxQ8/9xtbwxrSr20Rgi4GQuSfuO3MQYdx/Wmiu/ChCeXBEyscCon/1v00Utfvn+D7101sGzuR7egG/inTg45lIvHecZ1iHRviIEK/QDi3LoRik+My+zWN+MSpQLLr/emFxtuVoxKZQrzMbYVibvYqdAODkqlYysOmYqQ+iJb3Ev0pVCJTiJ65DTRzs1ehGxiUTMVSHjYVI5XI5L1EJbK0YBSf19wGmrnZm2YHeUMBKpby6KoYmd8cI+8VylOoKzKFWJnbQDM3exW6gUHJVCzlYVMxUolM3kvUFVlaMFJXZGlGz7wLUCdp+f5XMVKJTN5LVCJLC0YqkaUZPfMuQJ2k5ftfxUglMnkvUYksLRipRJZm9My7gPSZpKMIvh2CpWMBNPGK4+Lh6zv0k8JI97eUP6mgiu8KDG/2kyhu/b6M/SUGM6JOQQUmC1WUhyFQxJ588TBqiAgO5mlM6qCUmrBQNKUqUyZf1tX3VM/IFLiELkn6TEYKK8sEyczNXmNCLvkgOpVoMHrU76N44LmB30LL07pWYSEi68LEiBGcjH8I++78VH/TN8cIQvK/TVCUL6smXabVok+pkicbMWGR5K5YjqJJUmbRl/H4ZjP3C+ZPfNOVg3z2lWjYvjVOhYSnaJ9w/chfXArTCEc7zfJtFgwcXJMkRU+Lck1p52SX4e/BDPVolcgUImduA83c7FXoBgYlk8YypWiwKDqV+r2WZz4rGXawLj9MqkteXe3aQM6di8GpVnHi36a+Iz9JjMxe/V7XuTo/mYpn9X442yV9ujzD1307uSfOT1Ds0PuL5sljDdYF8iYjqBf4uc9gXekpzGxS6B3xHvERIJbqqdea6WSesSdDY5efHAZT1pVO8KepGHOzN01gyWSWxFKbUjRYSv3+EfvHj+Vi/9VC787cQpiAqn6fRGQLuNN3Bl0dkohMR27J/iY+gHb/bydXY8V3TtQLIsUnjpVFbrK9CMDnTCH6//gfWhdOyBsXsI2h7Tdi17deQsywqEg0Tv2Y0KEcWXmzWiUyhTOYuU3s5mavQjcwKJkklqlEgyXU72Mv4dZsBfabXZNNYgY1IdNnkvY3c1e/TyKyYbiG16S6ddIaPAr/I0E0/dHldb/QhnDsm6mc6/odXfPGYFe+OJbJjxmjfVk7051L14rQe+P4eN1EjbcrY3TK9xks+ptWB1WJTCGC5jaxm5u9Ct3AoGSSZ2SKRIN1K7KJXBvkxjgn3WmGjuy8OPa8Bs4VrQxqS2bNpJ/IzFv9PmFrUWZFFt+pgvS9f+Ib36bM6V+BaO81zPapz/RBNRIue4hV264VF3EcUpubk3YmKtmrRKZoPBh7MjR2+erWotF2nRX5z7uSKKWfKhcNFsT1wJOlruco3rIO9s/DeO5Qnza1Hd6pix66fk49llX1+wT/1xGZ3IosjvAzPzDii394/7P3uP/XFbQlCxO29xC2s/ewpE2RZEMpQbn+aOV6lBALvDj/v7mqC6qprsj0TzfGJhpjl6+XyIRqtNtXD+g890MCf16MT6laIkprDXq2KmnABKMl6vQKZoR1Yd5HRXnq9RMLg1sys0MZicN8EdJ89xI87AYxqYHuoDb5Ye4zbvvcw6ZqRWxzari3bTarCwznm+YOKW4iBeM5dxOWo0fSULdVobnAmgVBdJzaImHPPPFnSmzfFcLSZ4eKpXwPp8ZIBJU0e/V7HW6R+Lj/xvOO/WhQIOl6/Atu7T9AaP321E78mzbiX/4+/xz7ciVwKFpAbCnqPoKu4Es5auiU71/+7nN4xXnKDG9HGVFc7K2/2PO8Jp2q2Mh3UiZOoW4tKuyc1waaxhuXfmdp91N9jvbaRIklbfGbeIgy01pgX6oe9V9znDdVIAbrjZNsX7+OG1W74FyjAnHrZnGuwyx62oQTVbYaFfJlF7sCe/nfjuNc98tO2RKxBIRbYRcdSoRDYfLlacyQMU0pmk18lR2bQ3cR2uHr1pUIWrmXAoum09w6hpAHkdg4FBRkG4T3r6tw/ekSNuWzk7PbIha1uM+yFTBqtBNkz0nSbV518lXoGAqSqVjKg6RiZH5PfOS9QnmKzElk2mheROfE0uLNF4xN6fyv6hJXX936UNX9Cc1uHeFIrYX88XURDm6BHr2rkEe83aheMp/C9xhihbVtOvMjO9CbQ+zUFkfrV5CPOxbhmvsGYka5MLhi/KVr3WY2Lq1cCW9fHWt0h70BNFy59PXrt5oQrm3bzOk8OfHa5UXAqadU/tiKfy7WYsH60dSxzkaUj9iCmH2esiOmMeTxCv7jHcGTy1DV5h6aAauZ39wuvjpTYqvcXbNmShVL+X5TMVLHnLyX6E+RwUQmIqC6z2T+oUevtzAqgscVR7B6ZqvXtrtSmmFK539ZV9x1Nk+bzdrA2nQve4DlOwvRobstF07G8b6IOld0zGyGV7VCG3SYeXOOkLO49eukJt4BnfEqz9cbhlI1d6wgsll4OH7JeFbRdEkIvTp9wmfdy3JtUfIDXg0vIrz54ZOFeBfSHfJreBzkyMhVk2hQ0IYCVolbDtoA9izfR4g2J1W7FWfzR+fpuKk1BUpVo1r8q31xq2nGBPZSmGi7GpT286P4xI/w3w5dSuxlk2jHpNoJTyRNiW1aHDgr5FWxlO8lFSN1zMl7SaYlsrQ03bQdn2prcfhRak2uxtm592g1uzi71mrp27U8eZK/tpc1T7cim8TQo4Vpio84dJ3HbNxYYDWMfhfXv3o7Er8aW0Jg5RiuRVhQgMfci6lE66IB+LdcwLIOxcWZ8D0uHPBgU2RjBrasS/mnG+jT5wQf/bqMgRUtE1sSS2TwI0K9N7Eusg51/dYzzyuAyLtQyioXDVw8VCKT7bO3T6BO0vKYqRiZdj6T75GslSKDV2S6xUUEwUFPiXmJWxT3r4ZQrEktHJIObPRgakrnT0VkY+7Qd7kjHn08qT4xaWvxfYpVeo+SijXLdESWtCJbE/+eY2VrCx5hQYDboteJbMxNnFufxV1sQ/a3P83cM41Z95EvP9GTcbpVlNhW9F6xhjs9vhBvS6K5vmY2h8vV5tGFskwdWzPhsaMmEJ8/97F/40YO2fdhXPFAors0UldkRh6zpvRTI5titOJVjFQiS4tzZTiRJdy2CSFnnuSClRbYKyAEUzq/XiL7eDMFBxbmxD5o28qW8CJt+NS5hMLbiylXZIv4qTVcvOvP+UWHKPG97rKG7mahWJHpiOwjH1y9rame7TqHLYeyofUV1mVLJLL4a7qj8XR2ZYTFDhaedGLyMEeuucxgZ/UJTG1dGkvCuX3lMTbhB3HP1Y0ed+YnOyMLwXbcD+qKLC2jKRN8cBmh+SYp0pRj2SQGGVCJioEBoCVmyXAiM7zppv2CeZ3ILuC+IpKOo6zYtSSA+n1rkj8J0Dy2FClgqfiyx8PDG/inTA/aZfPmQHR12pbVcP2PjfwW2ZRxvaoliHqKK/Lx9Y1rKLYVdT/x+NHvEG7fbibfeEFcTrpzM3HdNvAk61cfI6buJwxoKYhLd51e44/n+n1ENenDRxUSHtFqvNezOufHfKI5y7/lmogrvEJH1PtPLhZrRhOHBKEadVClxTNfz6sMS/Fu6vgPfLc5mPpffEmPMsmvTMu1Rchb7V/K/B2R1P18Mn0rZb3H0sowksMha/97mjBItbOVhEUMYUFxlKpeOlEFX/w9yptVLo/pOq0B993dCWk9iPqWUVgUsFb4AZ75cM5QItOKc52L1wKTbSsmAfScOyevUqB7f5q/4Sp7mjr+LfvClHW9ZdOMktzc7DUKiEkfNyIcSUpJU92j6B3fjme19TiWfd4qIYRGStFgCdFcyXy6j5gn9zmzcw/hLQfSOvFjxJg2pXfZkv4maf8FNrvu4t8nj4hqPpmv2xjydjO9W58+5aVlzOn84sihS4TFxQlx+1/YZtGJwTUTPnvRWlGuWQuc8vslaDLG+HP8RCD2xYphee8CT2p9SMVsRWg6ZiBNEjUZ08ci05WSoUSW+nwsueE5yGNrRwFL/Vfw09LxbwuxKet627YZI7252WsMDJPKlMYypfp9atFgadFcCdV8xHtE763syVYex2yONHhfSbwqY1r89mVLYZTa/vd5dvgrGp3txrnxsKSHD522DqbiOxIGIF3GnOY67sO3UYFLU9MAACAASURBVPr7L2nyUpsxWX9on/E4zJ/LFy9wbG0kzUY7oslbmTrvFX1dl/HtuzBDc2QskaXR9HTpeIVtMGVdCptk1GTmZq8xwZTEMpX6vYRosG4L+d5Fcf56hMAPBtG/mlBfSJVP13JBgsc24HEuF417dKfBu7Iik7I/vqOiCPj9e1bl7883Ld6dcDZpH3PRBGybSPuNeehbz14cbwjVoKe5cBowjA5lX71HXdTHndg6cPT3MGp1LcGdyxWZ/uOnVJS5XGfMMZLWsjMNkWkfHGS5pwODeotzodSBYSXtTHvHK4fPlHUpb5XxUpqbvcZDUs95Yyr1e6kW6IgshWiuonzGtMY4ZUv7m4T9OnLz2cLPDz9gZJtSWfZMRwpFKQy0EVfZu/kihVrWp0j2QpQpYclj3yMcvvpEFGFD5ebNqBIvU6Ul+toGZq714lqhAWyMD7yaQnBYd4728ARua2HgQPhhagDdFjjhvfIspds35L3aVWVvihun99NeagYSmfgCDb6Jz53wRCuCObFwMwwdTqMCWp7cC6doy+ZUecNVdlNOtqasK+3dmvYSzM3etCOmvwTJCUpW/V5aNLeobD5jWmK8slNjpEc0OPw4y9wtGDSqBoH7jhP7UQsqvKtbizE32DT1AI5TG3Nh3Eqyf7mAIU5ScekEiV3fw4rzpRjS5CaTPBxZLkFk2ojbnL0cDDnFOdqJZUw98JTyDQfyxUclha6rspvixvOAtJWcgUQmviGSXfbQ+G5gwaPmTHNOUmrOQX7H96hop//2liknW1PWlbYuTZ/c5mZv+qAmXUpKLJWp36cWzV3aPo4/XWcw7Hx15n9SSVxIPcWeW01YsLAzpbLwtpAOtdT+JiUaXJqgbV/Sd2MQxZ9d4c/ys7m0pA1Z70RQmZ/E+v7IEK8mrP74DlPmwLSFwla53aoH2xg89CiVm5UQ5CQVtyyOF3f/YN73wfT4tiPaX2axgvaM6dyAig75suwKN0OJ7FV3vnpP1axEHAG+1vRcMjZBnf0NP1NOtq/VJQLY+Z6LpOz7xQjbMx+3vIMlVOalG66L4Bqd2xKLeIdUqFgffoS5K3Ix+j+NhM6iuD7v486CkJZMTaVsn37TsSmxTb9WZ86SVCzl+0XFKDWZa8OOM3/Wn1hXtODm9UJ8+t/B1HypgK8H04eerPjHkeEdy5IDoZJ/+BjP67UQO1tiLtXFJFv0C5ccOzOkZy0Kx3/8RBEkLgr9b/NT2kz+jIZ2SVGo5fssM6XIJEQWzOGpK4mZPI021udxUXgbyZTO/3pdGgJ3/5fJkT2ZGLaKA3UXvHxI/LJzoy/jPsGFQ0/jkvV3nIgsHkvFYYuY2VoXXkVesT5HyBl+XbmCny5YUD6qIN1Wz6TF3fXiK6ono53yCMH6HArfrL2d25kS27drWdZLrWIp32cqRurbTXkv0Z8iUxBZnN+vjNjoiMs0seII3c+E7+CrxfJbBqZ0/ld1aQjx2cfvB/ax0zsnjuIw9kmtlvFhyLXhYWRvNY4JTYooJxc5xfr8z/BZPpnZl8sx4ttuPJ49H29CuUwpbP7Jw4B9MxPUP9L5Z0ps07npma44FUv5LlExUolM3ksyMZFpI3xY7eJDwwmdsfEPJC5kJ1Mut8FjRDWxNH7zz5TOn7wu7YtInuXMi1W2y7i13UCZDd/QplB2Qvd/y3eMZHF8RFZxmSUilKCn0a+MiHnI1Qf2NKlf/NVetJxiffhRZvQS8vTvWWLXsBh+Z0oxsWcI22lAiR8PvQxZnhYnkMprSmzTu+2ZrTwVS/keUTFSiUzeSzIrkUVf5fd196jRuzll84mbNFe3Mm9REO1mDaOpguCUpnT+1HWJm0I+K+h3oBSjsh9hf5kBDNL+xs7SSaFQxDXhG2c5/yQ7eZIf0Oayp1L1kvFPDHSXXWQV67WRBAfcx3vtDiLbVMHPbQVej8K4K0KxWD1sjIvXJGobYVvblNimxYGzQl4VS/leUjFSiUzeSzIrkaWl5SKvKZ0/VV2am2z+ajdFJ42hacFHHF6wg0ux18nXY54IhpkUNkXGQFnFerGqC7rIn7t2s/GXv7Ef3p/iN3LTpW2QuiJLo++YMrsp/dSUdqVnXSpGpp3P0rPvMkNZmeKMzFAgTOn8r9WlCcJr5Q/4Nh/DoKqWhNy4zVOrCDwnuFPgexcRRiVb/EPWa4FRqU2LvsPJM7Z0H9lMPD6MlFWstxDBwq4E5yB8535yjWrFnUmzX52R+Tgw7uBEdUVmqAOZKJ8p/dREJqV7NSpGKpGlxalUIlOI3suBJiI8n/r5ELFtu9E4fvtTvMt4cJ4dK9dwruoIvopXrJc4H0teT7Y82BYpILTNlCrWixf6btvJOaQdmj/vUa5NTaGCL+KP7bhOsY4NEYGp0/2nTizpB6kyLNOifp9+bc2okpRhlFGtM029b8ZAPFHa/aanPhH4rFnKhQbj6V8lMfqBNhZNXHZy5ogPg0FEcDBPY7SpjNGEhaIpVTlBuDqL/lQiU9hx5jbQzM1ehW5gUDIpLA1Vv0fzgGMLRjIxqCsuPYtyc/NvPOw5h6kN7ZTflDXICuNmkvQ3CfV747YiY0uXHnPh3PK5T077fITuW8zW4qMZWSMHQfdjKVur3Cs5v/DDTHFaTJTY6SmR+GGrDb6CT4UvWPNZNXJrn3D9yF9cCtOImE2nWb7NgoGDayaEiRI/i3JNaeeUdX1IJTKFvmtuE7u52avQDQxKJo2loer3kfi4jmLr+98zq4mNuCk7jW63+nNIwS1fgxpvokxSGEmr/5uoQRlQjbSf3GPb0OVEDumK/bHV7CvyKf0r3sZ9YQyjNg5KFPqN5JrHSo5bFiP81n2hRqn7RfDvlZKMWTmYqrmT3zZ7gZ/7DNaVnsLMJoUywErjVKkSmUJczW1iNzd7FbqBQckksTRU/Z777B4xi7AJX1M/7Cw7N17j/S/H0kLBLV+DGm+iTNL+llr9Xxtxjb0/HyfOqSRPrwRTpmUNwvf+QUDTIQx2Soy/ZaI2p3c1eols8ESOVq6D9eVDnLX9kGbFgjhytSk/rumKg04s+Ppu1p17Suy/AUQkkpb2iS9e9uPYMLYmCaFyE35xAdsY2n4jdn3rUThe2CMSjVM/JnQo91q69LbN2OWpRKYQYXOb2M3NXoVuYFAySSwVqdhLqL9rvHGp406RVf2pYuuIU0W7LKuPlxxM/USWXP2/LKG+Z/ln21I8685mdOAcJj7+DJfSe/nJahxzm9sZ1D+ZJZNeIhuxXbwXHUWxnbPwcBTPe5yu4TLmDn3ddEQm/dN4uzLmThfcupZ8lSDal7Uz3bl0rQi9N46PvyQmmS6zAPIW7VCJTCFY5jaxm5u9Ct3AoGSSZ2SyKvZ61N+FKOyAL2L4bkMvSsoJyBrU2ozJlBojPfY/O8Wc4dfovvoDTg8TASRd+/DkK3fyTB1JHXtbbLKweLLiFVnxKO4+LkmXwb1wLielhi/6UPjJCI9SLBlagVhrG6xihM7iios4DqnNzUk7XwopqESmwN+NPRkau3z5L0YFIGTRJKbENotCpLjZKbE0WP2+TTSHVs9n+JFK/LxyAi1KKnyvqLilGZcwtb9Jqd+XI+rYYqY/6cH8knsZ692U/33yhAXdNmM3eSR9nSsqjmWYcZbqr1l6zAl91hcacltm5+G2xBVZbXFFQ6zMV6zQ8tm4OiIAi8Qv9hJuA/di26wc5Qd0S/ZER5y5xW9V1ou/FBLn/zdXmy5iTfKVW2YER6ZN6opMYaeZ28RubvYqdAODkqlYysOmYiT/jiz21m6mjB3Poj3/gm17xs+dwpdDm+h5fiOe9jw4yspZRygzYzodHJLkf+5zeMV5ygxvRxlx2z721l/seV6TTlVE9PEs/FOJTGHnmdtAMzd7FbqBQclULOVhUzGSJzJ5FM03hUpkCvve3Aaaudmr0A0MSqZiKQ+bipFKZPJe8oZtWa34paWAN+U1tnMau/zktpmyLmP1x9uUa272vg02b5tWxVIeMRUjlcjkvUQlsrRgFJ/X3AaaudmbZgd5QwEqlvLoqhiZ3xwj7xXKU6hbiwqxMreBZm72KnQDg5KpWMrDpmKkEpm8l6grsrRgpK7I0oyeeRegTtLy/S+Fke5vKX9GPAmRb6SRU7zZT4Ro8P71eJbsRm9xwzAVMlE+rHENoeMkZ2xDbuJzJ1y0VkN4SA4qN68tIm2Ix/WqaLBhPWjsAWzs8pNbbcq6DEM7fXOZm73pi97rpSnDMi3q99FiklvK/B2R1P18Mn0rJaqfv7VRUQTfDsHSsQCa8JwUsEkubvTWhb1VBmUYvVWRWS5xagxEf1y/wp2nCeqJPD7Bwh9h6ORGFBAiwPcCi9KybRXxdi6O8GPz6bHsMrZl++D6TSWOjF9ExMgBsM2fVt90oySqaLDBDmFs5zR2+SqRGe0ekME+lRUzSvmpoer3kvl0YYOe3OfMzj2EtxxIawdBQFLK8XqV8/Pz0HMDv4WWp3WtwgTud2FixAhOTqptMvkrybFs9ur3CRJlCXENn+Hrvp5HbYfgbJf0JswaR6fy2MVdYU3vaZwtnpcbT8vzcSNrHkYXpOjdY+wJ78rqFR0p+nLgqKLBbz2HGJtojF2+SmQqkb2100tkkPZTQ9XvU+bTVShUMLy3sidbeRyzOdLg/YJIK8dLKef3Y1fDY4w4WJcfJtUlr644EXPv3LkYnGoVxwih7iQhlcJIVb9PDlUyRY6Y+/ha9GDJpIboBKriHh7h25EehDlEQ+5iIl5hefy2nya8eDsmD25OpZLWL7ciVdFgA0a0sYnG2OWrRKYSmQFunyqLpJ8aqn6fKp+uOrG1eGwDHudy0bhHdxroVmQimEfEvYuc2HeEwA8G0b+aTrlBSjm/F5r5E7nYfzWTauvR7UsPEGTKkB7Lqvr9S9hEvLGpM2OYvKgN1t7f08OnLVsHV0780BAkN2wJ5wuKlVtuBwraRXH9STj3vS1pP7A3XTs7UUh3qKaKBhvmycYmGmOXrxKZSmSGef7ruST91FD1e0X5dPUrVM7XafI1W4H9Zle6vpQxSg+r364M/URm7ur3Ohyj8PP4ho1lJzOtoS4G3bd8x0gWtymSCLJutTaSNQ8iIYeGq5EV6NPWmgsn43jfoSBOM77i40J+qmjw27nkq9TGJhpjl68SmUpkhvq+nO9oDVS/LyqbL4HEHnvv4nAeZ7pWvPkq5Iekcv4j9o+fyLVBboxz0sULFudt97w49rwGzhUNvTTy9qilHsuq+n0CiuKD5JIHLqecmNC7EP73nxGycyWX281mRJX4jWDBc2dYNMtPhPXx5jLFKdt3FF0L++C6AkaNS3nOqYoGv7V3GptojF2+3GT01oBkoQymxDYLwWJQU1NiabD6ffs4/nSdwbDz1Zn/SSU0/qfYc6sJCxZ2ptRr4UtSK8cv1aucrxOX9WSp6zmKt6yD/fMwnjvUp01tB5Nd9NCBmtrfVPV73UdFtK8ImnnvPXq3Lk++2FCubvqeRSEtmTWqqbhSr9svFDcWT+zkeOnm1Ao7zC+LzlNt7ld8pP2DKTtKMnuEU4p+VEWD33oQG3syNHb5KpGpK7K3dnqJDKb00/Rob0aUoWKkPohOi9+pyh4K0TO3gWZu9ip0A4OSqVjKw6ZipBKZvJfoT6ESmUL0zG2gmZu9Ct3AoGQqlvKwqRipRCbvJRlIZGlpnJK8ppKs0Q00c/uZCtt3HVdz9J13vU9V+zIOAal5SV2RKewPc/tiNDd7FbqBQclULOVhUzFSV2TyXpKBKzJjftWb0vlNWVdaOjS98pqbvemFm1Q5Kpby6KoYqUQm7yUqkaUFo/i85jbQzM3eNDvIGwpQsZRHV8VIzxyjiSA4KIjAu35c8drKqjud8BDqHrYPz3I8rDwfJirhx133YLhHUeZ805js/o+IzplLgP6M+3e1VKonru7rTka0ARyYv5+CowZSJ/stvM6FkIsQHuatJZ5bFHntmr428gnhFtbYxF7Awy2M5qM/TLzuL9+XGZFC3VpUiLq5DTRzs1ehGxiUTDGW2hBOLdpD7vGfUjtJF9agGrNeJv0YPcbbdZd42dv/ncdECgNt4EHmu4fiGPQXwV26we4ouo7MwY8u/nSY2o86hS1EZ4sQL9vG03mHFc3ttDwLgLpf9KJKzkd4/hJMp4X9qah7cxa6n/EdfiG3UyHKda6B98niTGv0D/993I+1vUqTTWhsev28io2H7pLtvWJYROaiqEN2bh88QkiJ0pToMpM5bRxSh5DJBO6mEpnCTlA8GSksL7MnMzd7jdkfkhNUxHV2fDue1dbjWPZ5K8qIT+bw4z8wflUso38e/c5P2inxlvY38VjbbxNDPwlgzMmJ7zwmkhiIVdTusa7cqwL/3smDbcXiWOWvx4CPHQi+Z0H5ciI2WdwN3Af8gu03/SibI4ors915NqRnApHt0NB3ViccBNkF7p7N93RnkL0WK+u/GbPbiQ3OJxgvVnnLOzmSU0d2LzUdWxC1bRYejl8KDU6d4kvm/qlEprB/zG1iNzd7FbqBQcmksUypYh/B5U1LWb7hNnXnL2GwwTHFDGpihmeSxCjuDr+7/UP2mHCKjx5shkSmIcTnIHtO3ebxrV0sv1WHMS1q0aJHPZ55LMG92BBculVAe3Yb7teus+90CaaMqoKfyx/YzhhMjRz32bfmPm2nd8RBCAb/vsGLGzt9KTq2MaH77lBj8mg+jDmB64KN3G0wlnm9KvPi8Fc4LQ6lg6UlFRpYEO38tUpkxp4MjV1+8tFtyroyfFYRDTA3e42JufSX9m029V9L4RUzaG6dGCxFbO14b9lPcM2utDGhzqExbVdadmqMYsUKdQsHirWgzG7d1qI5Epk41nrxmIeXNjLSeSnaid8yrppYyZ+xp+vorlQT288FhChwjqDj/LBoFesu5ecDBw1BoaHY1m9AiexhXPSvy7wlH+MQv234P1auPo9FLTtyPHtBiF1V6tlHcnFXfkYemEKD3PfZO3Uwc+2msJD9HNd1nkpkxp8MTTnZmrIupYPfmOnMzV6TY6lYxd6YLcs8Zaf2t8TQNKf98T/uA40HCAHcdlTM/e6+55Qec+KM8PuleEblRFvgBZfoxg/DyxKw5weWn6vCmCltKavDRAhCj/Bw4LtPsrNz1mmcVowTK1ghEOziQ8NJHcTWou4n/n/Edkq5fELuzd9zwGm6WG2Fxf/NcblI/+Iu168dY7GnAwPZzMqLNnSeNztDoyIo9VB1a1EhUuY2sZubvQrdwKBkkmdkilTsDaouS2bS52/a4GPMHbKMwI4T+GpwA+zeXR6T2AURq1KvzfyepxWt/v2NUw17UivQh6Prd/O48+cMa1IKyyQ8BJEN+nA7768bg/2Pi/CqXO/1FVkSkQ0ewPqyE5he/gAzvYrQrMQzLu4pyLiDiWeQopzBQw+QL+8Z/ij0DcdXdMA+C2CuEpnCYW9uE7u52avQDQxKlhJLZer3BlWVZTOp/ia1gxXNk8carAtk5+a2tRx6HIMmXz26d6qLg2WK2N2aB1zwhSo1tBxdcZ4yw9tRJkcI3vvviYjRNSmg8wztE3z/uoltYyeyHd3AP2V60LFMJN47rlOsY0PEBUWIuM2FIAty+PyNpmUHnPLlyBI+pRKZwm4yt4FmbvYqdAODkqlYysOmYmT8oxj5Xsi6KcyKyLRB3hy860jz2ra88A/gRdGS2L0Wx0l/R5rbQDM3e405hFUs5dFVMVKJTN5L3jA/CwkpowWdMrZzvlX5cYH4nrmD356V+Hw0kTqbVxI4dhH9y+oeFMr/3qou+eIyfQpzs9eYHaJiKY+uipFKZPJeYu5Epo1FE32OJSP+pcecagTfOMGSQ+VZ+l9nCuZQdpJpbgPN3OxNyyCSy6tiKYeQOonrEFL9RN5P9KUwi61F7b39bAnIxd21j+nr9iE3/zuH2717ErPzCW0ntFKkIWZuTmZu9ho+hORzqliqGMkjoBKZEozMmMhe4Of+DdsqtIa1oXQaE86K/dX4bnwVQWxf4FrkG9w6FJfF0NwmI3OzV9YB0pBAxVIePBUjlcjkvcSstxajeHDhX6j4DI/eS/jXsR1fLOhJ/t2rOVmtE42KFaGogium5jbQzM3etAwiubyKsVRFg1+DUodbyp8Rj/TlutHo//5GP9GE8zjKigJWz/Fe6UZQl/F8VFSnLC30KINv4nMnHG14EI8i4shpl5dsoZHE5SmIhSYXlZvXTth1eql+340it28SGJNoUvRjwm3q0KyKFZHBwTyNSX1tQhMWiqZUZaEJmjmv45vH1uKLACH9s5hxo45RY/YEWpfIyePTe7jdwYVZTQopclDFk5Gi0jJ/InOz15g9IoWl7i2ZKhr8CnXV36RWZEJu6tga5iz7jYDK3elVvzxFiuTi1i/redS2PzVy2/NBs8pYRd7miNtsdhTpR6ewrRzJV4FsD4K5H1WMOndeUOenzxN0KnXq9823U3aKE8GnH1C6oTWel6szd6QTlvntsLOK5PqRv7gUpkFMkCzfZsHAwTVJkgy2KNeUdk52qvp9ek8WipxfaIyd3ntFaI/VoUTMPa7cj0xoRp4iVBJK0vnU6/eS3aII2/Tu0He0PGksVdHg5N2t39/MO4wLPGL/xJ/IOXEENe/8hlt4feqcWEdA5xbcXhXFyB+6CvmpJ3jNnsXlliOpe8uVafueUL56RcKPXCE68n2+iFft0Knfz+Q/V8vT2NoWp5J+HA7PyxX38xS0L0vnJRNokqT5ie44ZgbrSk9hpsIP/YweumaxIksPkM1tYjc3e9PDR/SVIYmlVhUNlicyNYxLQgwxd6gQjXXFclwNykWxm16EOVUi5IEzP64RRBZ1BpcmSwhqIvQ7cuakcP3a4HeXm5TH+eYjysfrKHqz5hdvQg5ep+iU4bSMPcqWB9nw9XNi+diqxOa2xCJxJzcuYBtD22/Erm89Cuv+FhWJxqkfEzqUI7cxB0oaylaJTCF45jaxm5u9Ct3AoGSSWKqiwa9hKYmR2YdxieSyWBlN827AjKYX+cPPmvzOfWnkuZI7vdrhN/u+uIX9MVaeyxm5JpZuHXLgd8+XIxefp16RZb/NngWubNzph+0HhXkSaYND4fxY5M5B3I37lJm+mMEVLUGEe1k7051L14rQe+P4+C1JjbcrY+50wa1rSYP83xSZzIzIwjm7+RC523Wm2lseWprbxG5u9hpzsEmekekRDa72/BR/Up9WZZQ91Ddmu01ZdmqM1DAu8Rc5NHfYOf8wVg5XORNqiY8/iSuyqsQ9b8XCxe0oitimXuKC5/Mo/B9Z0LR/Da5vPk14/Q7UOXAuQdk+PuK4Tv1+G8W+/Yg8kSVxKp1X/E23xb2AO31n0LWQH7tWXMRxSG1uTtr5Mp9KZOLWkTFvGSmebMOPMPuLg1i8Z0P4xUOctf1QqD5boI22pc6gfjg7yE8aiusy5eg3Yl3mZq8RoUz10FWvaPDcmlxdeYyCn/WlzsvzCmO2LPOUndrf1DAuCb0jyGfGb8SUzk0uEcqmUwXwWZRIPA7x7JRARku+55/Cz9h2vCRj6vqxboUvFb+ZRIUtF3FKuuyh287u3YftzZayckgdbAnnwcMATrmshSlzkoVrEXUOnsjReAV9iPP/m6tNF7FGXZEZZ8Aom2yf4btqOttrfMX0hsluKMb6svnnUJz7fUDhlErSEs1VVpdx7MyIUs3NXmNirBhLXVj77/6i4vQ+VEwhbm7M9mWGsvVhZN5hXHQ9EyXOwiKxEQE0E2hLkNZr1+91fxMrtxfPCfc5jHfJVnwYsZ2ZR8qJaNJh7DtbjJ7dq5Ev/vxL3Eo8foOCjWomhMPRhnPL8ze2PqzDiN41EtPo0t3n8EsFfYi99Rd7ntekUxWbzOAqkm0wg61Frdj2/ZUJ8w/wlDie3/2XoMLlKGVli0P9nkwc3jjhQFPmp3gykisoi/y7udlrzG5RjGXcA7y2+f6fvfMMiOrowvCjgoCoIAKKCPYSC9hLLLH33mOJsXfjZzcaY4k1ahSNYi9Y0Ri7sRs1EQsqFozYC4r0qpSF/eYuRcriXkAU3b3/WOZOee+ZOTNnznkPZi0aUDqNpu/M7P/HqFs2Rh+jM5+oDR0G6QdeCxSZBI6CV/tmsspsBMN8d3G0RGdaGvnhk6csdjLMilIN2iZk2jbe9E8hzW/qsNRhpBkB7Vtj5GAit4yWKDIpzqI/f9ZewZhAJ7YZf0NDcz30LctQ0Sa3rAA/bVuMtG28cidMesrpsNSMmg4jnSLTLCWpl9AKRaYMvsDiZZ5UtPyP07ffUmbgSFpaSlQr2dCXItpzx1+avgeoTHZcychHzIx3dQvLh0NVh6VmLHUY6RSZZinRZkUmmD0ubv4X4y5tsTMWvIvXznP6ijuv/Lx48MiCttOH0qqI5lOZtk009XE9XrideyzSrQtjrUk5ahS4zdyB7nTcMYhyainYhEn30FK2mfdjfC3J0SY+dbvggpNkMvIZbh7GlK+QHz3hUbV3nDOmU8bSyCL5xiKGYBErs9KwN5Nrm4kXw3DbsAW/toPUlPXk+LxjmI34Xnj+veLY/HPYjO1BuZyaLkKjCXTZyLo3rRnXyErzKT1Zf5UR4UQmCipNPOW0TXbSsyDpMNIpsvTITfw7WnEiywhACUDpTmRSZCTLFjzHzuAkF+tMpvuj1Wz3NcWgbDfGNreJ86oSzjUeR/h9/wU8HmWneOFoPIONMY/0J9TKgtxGdRk4sj4FVXrFj/M/T+CfEr1pVtWPVU75WTy/EXkV/rwKMsYqvxQWocDPdTerHLZx06QAEXpdWbe4Ls+WO8PwvtiTXZAZJFJSggnhfxPCmOjYBCPR5ulVt6k9vo2g8dH0hOOxYTIH7KczqEQkfk8DhenZBL1QPwJMS1HOQvRF6cX5NU5cChFhJT6XWXvKiB49KpKXKHw93MnZZSEzm6VUgrpFWhP2ukVcQkgnn454FwAAIABJREFUJ5rlJLUS2qXI0rCLTg6YtgmZ2vEKReaw/BqGoda06urN5MXZmTCzBs+XTWJr3m8Z378T1aziSGxE2UVNHQhuLS30IlDzrCe1Vy2ju41+ImiF27DfHfZuuoaR+W0OXrzHRf+SdDC6y62qM9gyuoZ4V+iPiBusGPord4r3Z/bAEOZMvgBBz6C8EVcUfTm6QCg/Va0Sn9xUBp/MjV3ASS59M4lB/jHU0aTIlK84PW8iszfdw7iGJV5+FelYNju2PdpheX4zV+vOY2qtRK7Hkpv88OGcbzCBbiUNeOMVQv5vvqFcKp6GsmUnXez3Efg+8cOwiCmKYD1MTbIqidD7FynZGCVUoyTc8yVhhazJr+mwnf718aO++X4MIni8bznHCvdnaDXJKpH0UT7fx7h1eZgyoxH5ogO4unQdQb1G8I1FLgyT8ckqw4IINsiLSfRNtjkG0GjEN7JyMn5UMNLY2JevyNK5i9YpMjXB7JIi+90Lu2zHOJGvE20LPOLPxf9g0b8HdQX3W9mSNpiqJo2C8FBX1vT4Fdf8xqq/A32KMGz1eGqZmYhUFO/skErv46w4+AJleHk6f7WfFteasquhNbZVSsfFtQiz4vm5dD/ylq8iC1C7qCdXrfvS7YULdDRl7a4irBhfNfY0GHMfp84TuT9wHJXOHYIxg2HWOJzzNGPwsF40LJY3dZNh9G0c/3eX1lNyMHuDMd/l8cRo+HcUOjCLbUUmMr5qPAd4BJ57J9DkRmtODLMjB2+4uWo1gYPmJFPS7yRI3QIlm/1e8YrzC4cxzqcTi7oV5IHzHry6zWVK7Tx4ndnBHqH4m1WxwPvYIsaFDuXfeCzSuBB86uKpL+KpkAaLeX1i8x3s+zbG8otWZNGEvniCT4Q7q8ffoeni7yhnlI2ogDByCu7Fgqr5Fi0oGX+kzfYI7IQF4S0BZC9bizJhN7hVexFbuxclm7hicdm4mp0nn5Htq0IYhOlT0Co7T06cxa9wUQp3nMnc5jJM6p9aUFJp/8tXZPEDT+MuWqfIUlFkK2FwnQsMcI6imkUAN/beIV+7MgQFNWLh3OaxMXmq09hSvMtGcS/UAFMCeR5VhmYFPXnRZCHLRSLTbGLyhT534/j6I4Q170qT6kUI2TKcnqcasN3puyQBwcowXzz9Xdm0OZTm1Z/hOP9vXof5gG1OvGotwkW1eIvT2JE1HCnehjJ7h9D5+QhurLTnwmI3ag/Ox8aZvvRb3D51E+OrvQzdVoSlDf9hzNMmDJIUZXJFpgzj0f4NHM5rRYjjBfRqFBaGTem06UP9tYsSMSMklR71i7Rc9ntxH+gwnD8q/yZSDpmoFqzOj3tzsPZ5hp6ozprx1ZGIhhAL1fXrUdhXsRZ9+vwe9RilThqsfHaSPT7V6Vo16wbppvUrpC4nUzhTUTAQCU/r2EeQPDj9Sc5xC2I3T9IGrtsSwkZ2o7hRTvw3ulJqxSgqXF2Do34vfojfhAWfZsrMKCYsbkzE3uQbtLT2NmuV1xJFlvZdtE6RqVdki3s68F9EXmqNbsCLc88xefmA0Or1adqxPTWleyTpkRTZyAc0bHYNp7A29LG8xLyrddncwp31dGO0amKJRSrwCiuXeNF1VjusFP+xYfhZSnQI56b1QEbZvzsB+bid5eCxPWw9ac6Q0Tbcj2xAS3UnMlXjYge/fDnuzcfSp7Q/excJRZbEtBjB82OrRb+aM7ZTGQRNquqJeXWWZUv38fSpL5Zj5tLs8kmyJVdk8Xd3JrdZ3NOJ6IwoMtns9y85NHQWAWN/ombANQ7svEflid1RLBjHrT7rxEkx1qj6uT/qnYuess/xCtmjgrEe0T+OL1AaaSg3d/+NYYdWlIrw4MjGC8TY2xBy15diTewIPvIXnvUH0t9esMF/Rk/qikwNJVU8P6JVDiKu7WXXC3FCvVqcGcOsuT7zDFajC7Bp1gO6LxxLQ9tcwnIgLBunp2G/xJ82hoaUqmVAZMOfElkaPiOg1HT1y1dk6dxF6xRZaieyGAYPNuf0is28qtcW043/UGRuJQ5960bHw6OwlzaN8YqshRsOrnmpmM2D04aD2NHsLpuzxSuyuHK1ztDQZRAGG1fxb+1hDC56j0WjTlJx5g80szWOPbk9eYiviR8HnHIyvOtzxie6I3PLN5oT8eY08a2fHV7L9pydGd9Mcj4RnHEpFNkbHond6NBDVVi3vhu2CWYp0c7tbSw6k40CN7ay/noIBcuXINeLYGos2pZ0wksmVnEyHT66inCgfM3FlSvx6S1IVxO475JKj9oFSi77vYRlNScKrO5DuXxFsC9tjp5kBm2wEktnh1Tb/NyWpZQYpU4arPS/wBYXW75rZcVr92tc2buMM9XnMMJ7LuMCB7Co6BHWG49mXiPzzwqG1BXZYByCK1ExgX8zqRVA6XOWFXPXsuO+mbBYWKMMeUl0AVtMsiW6my7szZEp/ZlnPolfOYa4ZQadIpMnH2m/wJVXb3wpWfWncxetU2TqFNk1HNdlZ2DvQvhGxeB3Zh2LXWsyZ7ZwtggOw8A0b+xdleImTivDaDu6tjArSo9QEo9O4jjbmdxjHBhqL92bSU8E3hd2se7vSKr3+ZYmKsUlTmqvzrFl1xvqDW9BqXi3eUVc2z3g1EMbmlcV7vyB19l/y5K29SRzmkJkvT3ONYu6NC0edxemfMbBXy5RdmpXSiXY20RfPM5zUVGZJoI7TqXHpBCN1eu5atuFfi1LYRzpza3bIRSvUhxDf2+CTCzJn/jCPMIVx616DBxQgfB7zkxfFsmAhX0on1u9UU/tHVkq7Pd2BRM7w4i+CZNn3/9F8cuO7tgkKF2RbHHMOO71c2S06uQqMHvuwvm3djQsHY9t2ubSpy6dEqPUSIMVvDxylOcN2lIzlwDkzUXmDrlHl3Vfc2nwXoo69CRomhNGU4ZRzTIfJjIT537q8Uvtp+9EFmdulEzjW834sZ4v+y88ETNLeNK+0scqTy5qCixqiaTCHvfOs+SMFd/jzKpbJrSfP+fL2QgJdnplZn1EWYomA42nqf407qLfq8gU13Gc9or2877Be+MS3GyriDgoO7o1jXdBT8uglERcWsn0gI7Mb1GQEJf1/OrbhJltiqm563hfXNYbnrgJU1/50uQT2WCf753DOtMhzEgRE+XLmXm7MBwxjNrSDk8onQ0LfWg7pXESzsk0YZuW4Wph2eRYpsp+/2t7bBMtvMpAd/5at4AhZ8uwcdVYGtvEG0IlZX+GZQ7XsW5SDcu3Aby1qimUu1VcCMTnB3Jq8paCNFjhzu590KFrOfSFAg87v4SpQV1ZYHOEUa71+b1HEAs7O2M+YRi9GsY7DH0eeKT3RKbai4mNUa/uN+m5dSItiomwkegwAsM9OTbqKCXX/hBrlhXKrv+g4+TOdZW/8s/gwso2X46jjNYosjTuot+vyIS5p/c1Wq2vybnuuyi8tCWPxp2k2I/Cg8q2BjVl8jeKmxlC7//Ln1s2c798RxralSJm8yyut5lFN5NgIopXoJTY5cuLy4r17uvyT3F+alYGn1VHMF08lUZ5o96xZyt9cN2+Gof1tzEpKeKvOi9mceOXLJfMZCPsIbse8euoTpF9uMVPh6VmLOVhpOTNpYOctWlJq0LJTq6am8jyJdRjIJx9nPbwtm1vapnGe/uG8/jYcfxrtqZq/G8Kb+6/MKRk0VhrhDL0AUd+ncvBEmNY9J1gtpdGH/qEmz4G5HC7jKJJG+y/IGLqL/+O7AOJ7zshEx5Djj0p7xREg8dnOVvlV/76qQAndkPXb8thlAb+RhWZ8d6pLBAOEd9ykgNKYd9+ZEaHtgW457SDqOGLRNZWlU9anCeghrgshR/39jpzyUgPl4MueF4MoWwHY67cqsLCLSME00U2ItzWMHTODYoP/ZGBgSuZ7BpK0B0RkmXyHEXfdSyIu1eQt7B8IHC/8Gp0WGr+wPIwiiYsMJEJW3O1n1UJeRh8VkP6aJ39xIosnCfnj+AqPKmThIIo/XkRUYP+PeN2EqnAkZYPH/3kHw4/08daFcMUyvOHetTs9LXsQMCEtmI8cP5xDpu8q9KluIiBOpCfNl3ycfPfGCqLuIyCI+cwpLyxYH44zfy5Z9GzTha7JO5jrrqU5CdB61Q+Z7RQZLFusGNYTf2lfnRv14MBXYpzL0nyPJlxWSLE4PCKo/gp9Sjf2RrnFjdou6sZprYV4jJiCyaN6WM5ggWR5nYUffQI63EtePGnCMkqfIRdieKl0oLtR5PWz7QhHZaaP5wOIx2zh2YpSb3EJ1ZkUizNLNyaDsD64BHoXY4rW+H7tp5MPWHPeg3BnWkRfoXrMga41WV+y0ICjZccFZ5vCZlTZSCYpC3Jk2zIOapMqMC1ec9pOseag5uU9OpUEqOEIEUZlapOZOMZdM6C+riJLKzzmYMjC40H0/vWltj045InnIy4LBGUxc3j29gVVpfvm1SnZMgOevb8hxbbl/N96fi7FbGj9X2Nv+suNodVo/qjLcx38SRMkGTYGutTK5F3XlqwlTNSbS6jw1Lz19dhpFNkmqUkSysyKUaiH8w8SJGldfhnjbiv6fqUkSI4NYGx4QOcyBSuS+l5pjSTGhYQtb3mzAIPGm4fkyg25f0wplBkI5/Sa0URtvU8Q8Vx8abFyhQq8xU2sm3PkiKLP5FtYOTTjqxqZiB6Z4Cn4+KkikxTXJYwK7qu3MDTrv8Tyi9S8AbO4XSJqry+WZwpoyqhIi4SdnS3U0c5tnMnJy17Mtram8iOdXQnsozMIBnv6hZpzSDpMNIpMs1SkuUVWR+i5p2j4q+VOLk6sxTZBz6RxSuyDs6YfW/BP0ehZdN8BBdozncNC8v0Hkt+IlvM+mZw69kLbiw+SeHfJGcNybMwLsD4vXFZ0ul2BGcaCvd2g/38+q89EwYX4d6i6RyoOJYpzYqK4N9gntwNxCT4BE76nen6dEGiOzI/8o1ekxAvpVtYMjKtkr6rw1IzljqMdIpMs5RkcUX2pEkV/t1nxs/TjNkw1Z3ajV6z+FZDtn9Q0+KHPJHFxUkNN+bgUk9q9qpEnjiMsxnlo4CpoeY0IKryCrxO7+BKsa60yubK8ciKtCyuwOOvnewJq8/o7hVivY1kxWUJl2zvf9my7jxR1XvQt4lQXCq6qBec2XKUiHo9aVEqNsZI4bqFdXod6CFisx6WqCc8n0RIluspbhVqQL040t/3LSwK13VM82nJvBYmXHN0xKf9KJpY5EzKQq9iEpjDQM/u7OxTiOuqcmNokUrQcFIRDePmrj8Ia9yT2gm0PHElFME8v3OJczeMaNjAl8W7C/Dz+NpxpMFJa1GGB/I64K1w0o5/Qnjpkwd7u+Ru6gpCfX0JiVKifLqfGZfL83PXkkQn4bNLNokUbqzqe4k6GwdhJ467iiDhZZrXBGM1vH+6RVrzEqXDSKfINEtJllZkQ1jg24qp03pgbxyKx9m/uf34Hzb4d2NfVlVkGUH8M3k3NVdgj0Ob2XfyOPsCytOpYi7BM/g3AeVKE5GjHcvnNksUi+bL6cmz8Ow3iboG0bzes46XvabROh/kNMz5TtFHenDo9wP8Fy1ylbnHUGv+ZFpbhuPq4Ixy8HdUNtQT9Dqxj9LXhY3bz3LTPS89fu5BoYuzmfiiBRPq5CfydTjmTeq8C6CWgoS97uL64m1CSIGqEn1LylS0iSMkjq84CI8T+/nrpjC1Brtz9qkVDUoF4569DTNGN8E2wVQchjT+A/+FEf7gBFtelKVvA1thCI4hIjw7X3UaRqdyKQOSZS/S6WK/l8YggoePLWPB/jCq/zCBXmU+v6Bo2Rh9JvMnPd1Uj0GUiAldxomyQ/mu0FteXtrMxlz9mFpRkMrkNksa8K0UFpcHQeSIesXrt9mJ8nuDydd1Us3KkJ4+ZtV3soCzR18W+FSjhkWiuJDgW4KYNRH1UCropUX4Fa4Oqjsox042ojZBXTTUGZPRTbG1LS9itdRmhUzSalrayqofOy39ev+JbDFNHfxprVJkqRDmirxgYzp60G9LIZZN+g87ywv8m6MMXLNh0qlx7+4mRQqVMzseUKGzEZs7/E5w4/KxaV8uXMErT2GaTl7AAOEFKrFXRD4+x45jpzl96A7Za9ag5FtzqpZ9yW1jEUh+qyB9x7ekeNy3THkaixt9iDc+ecpilxDrJ5EX3+Wu22k27nYl7O1z7viYUV6wjGS3rUmL+o1o3aRsEsWnDL3NxvGjcHpVCFtT4YwjTuEFy3dmwsh6mMs8kclmv5e4Ix0OCnt7HxVmKd+TZFco7aCXXD1wmOAm39MsPpVOWj74Jy6burwlH/9NnAUeD4NeE9FoAtPqBLA30d8/JeTF+8QDSkfzajEQ7DR7B8zkYd2aZPvvODvdDSgvSG1E9iM6bV8vwnMEZ6L7fhY5buJQyNcMa1UeHjzAsk8b2Pgn+qP/RyMTzetbOrqbpV75xIpMXbCfwMfrL6YfLsT0AXbvvWuSpVxU6Qu2cSE0N2Y5Q/EPjRYN5CC3SCeSUz8vBewa0MreXKMpUFZbWerTZqwz71dk8feNpiKFyXrChs1KRnUTwaNd4+mxIIzmbYM5HNSC8QYPMZTSqkhOPStGJ3KyEYuw51F+m76dmw3G8IPBMwxbCXbuDX+IxTsxUawYj+INwXe20XXQI/r9WB3DfCIX1cPdHDTow9judnEpLVRnN8F8cY1jF58SEXiJ1X/no0vBa1yw6ED74uL8ZFGVdvWKxjrASGV9n/LY/wkn5/3Eb/71+V/dV2z17ciWMdXIpZ8HC/PcieQwUqRx+Yn5OUfj0KaQKlj91z2+NOnXVQTCx2W+Tga9eizlsN+rY39P/p7UmAisd/2Dw9lKUiRbEWpVTpmvKmPSkPlvq8co+fhjiW/rXOvM9TGwtOsNGo18SN/r8X+70e6P/kkyJ2R+zz9cC+owiHm0jb6/+tCqXhkKKPYz0TkkTpHlo//BpXHzLt5pbCwjhR67s8aZqME90F+zJ+Uc+nDdzVI1fWJFljEsPqZy+ZhtZQyVD/P2+xVZ/H1jHpFO4hDGk6bzjThFmViZxS74InfS8fO++O+5QamphUXOMFPB73aIy1UaEXk8gu7zOifiDZR0iQ+np3zH7rrr+M18Gz3cG/CjOPXkSK7IRPyf2/Lv6XypCJ1zGZI3jz8RIl48LEcF7Lv0pk+FOO7ERBAoXH+jq1tTVpg6syNJXrGkOMW8usD6ZUtZsOAVTdcNp1KgiDP8rgOV4hn9VcVjiYXnzT1P7p5DxclH6Fb3PawLa8yQ0m/xLliflvH8jYmqV7/TfsKuPpuwWDk91qFHpVO9cd19DN9KnWgucSbGqGF/V8eaL5kWz+9g23V96nbtQq0v5USmbvwqoEQ2i32/sTpPH2Y0lng2k//9YebAx64lpZwEc815H/eenudSoaH0y7GeAVuDUioy6dTWfxD7C5UmOKYhwy0Psd6nMt/oGVJj+iDZntkfe7wfsr0so8iUr06wQhBa9vtWODjITJQnX7lEC2eGwxx8oki4jFeGhWJYszOtZZKsym/rQ36eT1eXuvGq7qg2XcDv7QNO/PWWmh2K4XP0smDRroNNdEHqj+hLPYv4nEmS+fZPiiQospN41GyAUZAh5arWonzCYitYzi+uZM7j/OQTu812m1ui98aYkN37U+wmYzwPMe+EgsIvs9OwVxSr9hakX5FjHCjcXrDDn6Do4gnUS6DxkbATis9hIifq/EKvp0vjEmQGcGivPy062Sc6ZYkd7cEJfNPzD6xbVhVEtBbUqGlOUEBNfl6SKIeZuM87c06f6qZnWB/8Na2K5cHIw5lNtGOAnTH6ecwxzx0//nffTq3saGS/T4X9XeN7n05mMtJySoxSY78Xmwm33Wz0Ema05rbiGyb/OyO9+LTvpsRAgc+ZNczdIJRZhKUwueemdI1cnHcOp0lXW/KWa0e/VmWFuX490xY8p/7iViKUxovins/Q72jN1Z0+tFg0VKfIMvpZ37/4SyadB7g9DY5rxpd/fnWGQUOoY6ok6HkwBZs0eu9FpXzlIh29p7PKeADD7CTKp2i8jzpwwn667Hw88tvKKGpZ4/1Ux6t4zZVVS9hh3IEJ39Ugz0PB/r7wJc2nDqJZPOu8agiJFVkBprUyx6B0acxfHWCJWzXGqpJrChl4eZJVJyzo950tt1cINthebSjg54+H83nMJyXeTUr3QMIz0PgBq0a6Yd+9NLYlrAgV8Rpn7H/k+6hLPCjZmFoJXo7S6cmJn/4oytTpdYn6cxpLc/ZnTOVXbJvxhHarRPLOBILeGMLv/8HkIa40XVKDuw9L0vLNVhY/rMvk8a0pnewONf6+dVWrPLz8ewt7zPu/S16o5vOp3RRoZL9Xz/5e6rUzfVZYsHKByDigMqHewT1bGVKw5mcNMZLdi5QYpcJ+H/4Py50M6DfcTszhC0R/bcBf2xL93aJxokwHspvPEgXVz7lYs+HWnM2olkfcJ08ZwuyLxRmyfiGDRA62IvYlyS+dSA84sNPQEp8bgVjcM6Xdxi6ErNjK8+LFKNaieWx6pS/4+aQnMqVgo7h1z1skHJBMNDtY+LoRP6oClqUnB3mKfEVp87hkjTIXCPXf6l3gcWzK+uR/a/7COkUmMIq8xx9LzpO3ezeaFIun3pIW09MsPW3BmF6J7zRfcGjSMWxmtiBo7W9svOojbnLEY1SYr3sNZ4BIvSLNLWVEOJE5DTGIP4Ur3/Dq6k4cDtowekZTBOtX0keEIqyf9ZLWs5pj7nOFLSuuUmrUYOolcdMX3oX71nAgpjlDO5ZTnfAlJ4mzJ28TIDqRPV8FmjSIZ0YXTiTinmuzRzE6VH3DwdnLedVHMKrXNiX0zkH2h9anV83Ed04iW4HrVhyjWjKiyF2WzTpM0Qkz6Fw8nj0lpSwllx257PdSTYnZ36d2MxNJQ6cz+EZFFvQoIyIrLnL4cT0WJmPN1yzNWa9EavMrKft9NbEhmUgvcdKwfnOXUyVncbL+SUYm/D2H20ub8/ndEMZ+D/UYCK/FXSPofMqWvubR5KxXkCuuQlEpLnPTrg+D2tljoSdR3f3O0WIV8B/9G5ELNzOltgHXli7izNsYzDpPfsfZmvU+/Qfp0SdVZO9G8C4wuEHhGDyFe3W3paNi04y855GvXN6R8/YpJ53IRO6qM1u51XBe+k5kwk3a/XoYxSsXIuDwAhxz9U+ZLiX6qTABXMHHIOkYlD5eRNTtRc/yUop2malXgs8yb6U+IybXUcVLKdycWOjXhCkpUrR8EJl4z6T6cPVrU03y5VSbUEk6Vh1GqSkyaaN4k2On75JLJLJtoH+GyfttmDPQCg/3KIpXtI6NF5XWtIt/cCpnYzpXFclX4x2eXCMp16AGxWR4Zn/O0pdFFJmIOZqyiqgJP9I87w0WdZXnfSRf+KU8Xgv57YI/2cs1oZb3NZ4a56dEi760KZb6Tjrxh03algLvQz8zIawb4wJWc7z6wpQKUWLjGOAWx8MoaCSru7OVVrT1XJ/IpKk59UoOv6tsX7WS9TcNKBlhRud1M2n8bAsr6cYIeyOReSWHRo/L9AiofGzTU7t2vaPDUvP31mGkC4jWLCWpl0ibIktIKNkKKxkOGXKFM+bRdobuLMKiH8WJQ8Qfjf0Fpi3RbCKQW79q+IoH7Bq1krBRP9Ov8E3mT31Mu3m9RFZfeTEW79pS4Od2lH3Hj3LAVY8iof8RVKWJKg25MjiA7E1HM7ZeAbKpaKUEH+PPwuNc8EYubejGGjoJWqglcU4HKs4O0S8NqVfyvMFtxQTm3CnB0NmdCZyzAFf8uYNIZX7FiL5HZ77zesuIJCR7N03YfsB2v8SqdFhq/qo6jHSKTLOUZEiRxTKmB0cJzRV9k1VTPOm8sCWWwiwWEGHBV3GJ3NQ1IUc4laFurFvkRu2x7TF54U2M3wEm3WnOtqEVEhgdUuu+nPpV7yqDuL1uNRdrD2GgykVbirtxoMeSguLiuAfF3m/BVFWRuC1leBhv9HIJD8g7OLbcQbEdM2iePzv+x2bzC8NY0lzc88UrsqnRzDv8Fb9WvywStahRZJpSrwSfY3p3kWflK0PMaxfi0VVbxnXz409qUXjtyWQxWRkRhaTvysb2wzX5xdakw1Lzp9VhpFNkmqUkQ4pMCsD8AWezltTM+4T9a334ZkhNTKVA03vN2a3ynlL/aBTOyP/Yt/k5dt82EowMMQT+9wfzF4vgv1mDqS8jy7LG+mOPPPic3c1Zq1Z0KZMozkgKlN7/hJLta6hlY0g+opRtCScBt5X0Pm7L8OxnOVasL/2UezhQdGKsmTGO6LdJGw/2mQxnWq7dTHUvS6PXfyTczUnOLhpTryjD8PV8ieum/YQ1L8cjx5W4vA7gmcgpZuxVl0Uu4zPFvVYethkRPe15V4el5m+tw0inyDRLSYYVmZRqReTGsnCLNZc5dsLq1V6Gaki1ktnCmdn1J4YtRVvCVOk87RAFx4+kvtlrTi/cz+1oD3J3nS88hMS9m6TI2i7Gt8dEpn1XCeMwyWvuJo8vHsW/27I4Zacp9Yq46PW5xamDh9i59TKWQ/pgfT8nHVv66E5kGZH6j/zux5TTjzy0D9acDiOdIsuIMMm4I5NOZINxCK5ExdwvObsvgCqdKpJXBh9iZgtnmusXrAh7xzljOmUsjUTgbgrX7/cgmaQthQ8uq9bg3mgk/cob4nf/CSGC8PjMWCdMf1v0Lhnm1wvw6VojEZGucO64dYO8CelSNKdeMRBZL+/65iD4wDH0hzfl6fg57+7I3KwYfSIRb2FGJCHZu5qwVbg50telNhuH2MdRPcltXDjeHF7HsaLf0ld4bqq7apWC4+dv06dPO0Oe56lMbdXpPBqFInsyhn3xs/I1l054UbqRHabhr3ganp+iakM2JJaEk+Rs1T4uW7aa/r46zGRHQ8bNaJzomyUrl3BP/A3eG5fgZlsFPaUd3ZrapEqnpglLuciiYkusAAAgAElEQVR9yeV0GKWiyILvcOZuXkqEneFqgfpUCPcjRE2G+5jH+/j5mDUTOsTw19kX6OWUZpaSqLBcVOzYXMTjivsTcY1xfMExzIZ/T7Xsj3G57oc+fnjlqkLzqgWSyK8yLIhgg7yYiOukbY4BNBrxDVYJcZdZTxJlKDIRWOrlBwUsyR0d58AgncgU/rwKMsYq/4eI80ofMLKEX+nF+TVOXAoR4bc+l1l7yogePYQiFtFrvh7u5OyykJmCa0iT70pCW8IkeXHjSaJbdqauaoEVwbSvbrB/1Qaulx/KtFRTr8SaOb2O/c7hggMZYB9LhCsv9YpQeI5/ojewFYpTzynRvBKmQgBd93tQqG3tlLFW6YMzyVtqsU1gqo/C5/IR7hRqQYPCAoPwBxz5pzLL9w+mvGoCqXmCL+E47wSh+cVpVWyCdoqE4K2k76BUkqfatwxIyOEmhUpMZrb+QH4q5saC38Jo2cyPq3duc9xgGMen1hJs8/FPJF7ud/B+dIDJbg1ZWe0vxnv3w7lPKUFbFPeI0IU5/zuBwVcmotmTXMv3jarPysh8VOvXm4aJTdjCyjB4lTHTh9nF3c/GEPIykDz25d5NYumk3fsardbX5Fz3XRRe2pJH405S7MfGWNrWEHyLKeeDLDmVuptu9vsP8ME/cRWyMfrE/czM5tVdXyiCXVg6cAsvLHPxVa/BtLQyIur2WkZeaSwC+xtgFud6/2rvGNr/GYG9uKLRz1uLJjXzo3z7lJPbYOCB/8VeP0hE3m22ktNeeGy3t8P1X2t+rHOFnwN7s6l7UbKpeGlXs/PkM7J9VQiDMH0KikDOJyfO4le4KIU7zmRuc81rZWZilFrdMhRZolfjHRgkRSajt5ktnGmqX+xGDg0fzvkGE+hW0oA3XiHk/+Yb2SkO0tSWDGyyepH3jTfGcx8TVuZmyshQZm2z5tfx1RMpF3Uji+Dxrgks0B/NL1VyYVikUBwNmR8XNhwkpmlX6tkYx24mYu7j1Hk8ryeNgtU+dF7bjWIixEBot2SmbLEJELnJ3JbO50HXYXwlWGKuLL1IsWWTaGQWT2PwBvfVU/nTbpoIcBaU4fFPtDvOG/1p2PtrLAwTefqINgYJouOBfcol2p0aYJmQ9VvU59iT8k5BNHh8lrNVfuWvn+Kzg5fDyLIMFW1yp9gUqcMyvez3IqiI8wuHMc6nE4u6FeSB8x68us0VAbCaia+zssylLm9J2e+z8hgy2reUGIhDxONbuF3YypJXtRnToDqVywaw5+eF3CgzjLG9a8emGJLmzJDdWI5vg/nLq+w9KRRana/Il+Ml19d703j7GKHIpJChOfxGF/pZKjHOe5mRh+zZ0fAfxjxtx4p2RWKtHcGnmTIzigmLBXF3XPb6WBKJrP2kUZHdYMPSUDqNrytOBJqfzF785dcvKFz2TqDJjdacUO223wjW9tUEDppDd5tE6WPeMyT5bWnG5XMokep4vY4zecIFqo8fyNecZOIf1swbaM3rCBuqlFJvKlSdPMPeoMjlz5Ehuyi0fBw1lU85u/c2Zi0FfU6++G8gTK8Xfmfy6msUH9EHNgXG3sdKgCVXZJKZePczCj07qcpz1uTBYkY8acbYqMt4t+xPc9XJSDjkuG9n7ILjwhwTw9tnD/GxKIGtcT6saooYwCF1k5p9T/9My80xdKwokqapnnB8/cvQf0YXSksnzRgPnH+cwybvqnQpfpwVB/LTpks+bv4bQ2Wxcy04cg5DVClnkj7qsUwv+73IGOEwnD8q/8aseiZik/0jnR/34aQML9+sLHfqMVLH/p+VR5Gxvqk7kUUKUuo5Dls5EVictu1rke+egrrju1PS/6QgSYhk6Py2mF3bi9M9D45eKsykdmEcvxbAy8v3CdY3xdqwKN1Wi2wTMe7s2+HC/QPuFBxVF/+jT7GbMIJvov7BYeFOntUaxfzuZQkX2QXsl/jTxtCQUrVEipiGP8kmjcjY6DP2dtoUWRrbyuzFX1b9wuvv0f4NIr+ZFSGOF9CrUVjFlp1qHq1UxiirrTTik5WLqx2v4hmHZo5msckIVjc0IcT3HHOPFmCidILJUwT70hKjwPsewb84aK7YTebBN6QsnTs1pWb5wuROsL37c93FG7OX29ktslWnrsikBW47g/ZaMYSzvGzXDu+Vl6n+y2AqPttMNwdLHB3bUlDVFWGq3DeTVWYjGOa7i6MlOtPSyC9ZTrLYPivDvfEMM6GwZC5XRBAefZ9NE+7SelnXd2z9klViyDmqTKjAtXnP4wLelfTqVBKj0iUSpZJ5h4NaLNWx2Mthv+clh4bOImDsT9QMuMaBnfeoPHEUjWV4+X528qaG/V4Zeo8jGy8QI3gGQ+76UqyJHcFH/sKz2jcUuHoz5e/1B9LfXs62+9Ojo/ZEJnLl3Tm7iYVe5WjgeYH7hjYUMBD3+2/9Meo0nbG1xKZLIvN2WMW6q28pJVzILarZExwscvUZBBPy3ICGUtqkHJLZ8HdWrbuBQRVzcrwJx8+8PDUsw7h1MA/Djk+iVs6XHJnSn3nmk/iVY1yQIPmiFJl0SbjMhSL9G2ESFh6bOl4hGBJFPiir9wQUZ/biL6v++Ls8k9ss7ulEtE6RyZqxaneHT9x5ZBLKcSc9ho+uip5az9UInh9bjVNYc8Z2KkNS3hShyAZvw+K3idQzlkx60p3hKV43TkxqGseDqUmRvbqLOwWI2jaepQ+taPG/qfTKc4ZF/xandx1bChSMN/EF4TKnP3/WXsGYQCe2GX9DQ8HLqJ/YDCiSe55evIqL4uY0/oZLcgQyrF2BcOcYeic2pceb11cUYVvPM1QcF29arEyhBBOkjBOZRhb7VNjfpfarOQm2/z6Uyydn8yDrc3/yQuoW8eALuzleqDHFDkmJRaXcdFHiTvQaV0TG5DPV5zDCey7jAgewqOghHHzr09RzU7Lfj7DeeDTzGpl/8vHJ6YDaOzK/p7juW8yOfMOYVN9W5MYL4ICUVSJJTj9RuzQXt5oxrb7YfJ335umLHJSRUhA9zxGryFQ7zFgib9tFPcjp/BvH7aeK05ZITBpfX/gzPO6dZ4nIQvI9zqy6ZUL7+XOS5RqUM5KPX0bGiUyKl1rDaNdqTCj1gn/PXeR1tRYUOLqWB51/Y0Y9y1QdJWQpmgyMOU31iwXAYaWYD6OriARWr7m4ciU+vUVIgZU8Wug0tZWBMWWVV1Mdr8Bx2awH1G1fUuwEz8SdyIrxys2PUt3aCKYUkVRT2NaHHqrCuvXdsE3i+yEpsi0YT++PnYpQRZh41yXPYptckbUnz4sn+Pj9zYwT9qwfLxSo6vgkyIVFMsmFo6fyl904fmlmQ7bAy2x50oots+onxDYqgy+weJknFS3/4/Ttt5QZOJKWllLj2VJNuyIYhnn1NECk4T3M/85UZ2t8m6oNXJzDk6TIOjhj9r0F/xyFlk3zEVygOd8lOK28/0SmTCf7fWm/P+n7vyh+2dE9aU63rCI46exHSnlLhf1e4cLcIffosu5rLg3eS1GHngRNc8JIJEH9++eX9F5fJ+nvU4ZRzTIfJlnY4y4eMrVzTjqVTt5PgWnDqRzjT4DIYH504lGs5/XG6nU0xauUUN03x3hsoPX3DxmxuDx3X37N/zrYoAi5xfYf/sZ+/Q/vFFn/vmwpPpapJY8z06WAcHx6w63DZu+8n4VC7D/oOLlzXeWv/DO4sLINlpo84dL5zT/ka5oVmULcRUzaRs5eJTg5N5CWnZSEViktmDIC+XZqS0rlU58VV+pkZi/+aao/whXHrXoMHCB22fdE6pFlkQxY2EcsvDJoPT7CWD7kR/0QdaWKbfBF1h0yoG1Dq1g2+4QnJ3kszISZULCmeJznoqIyTVIkmYwQzPaH2H/2sXAgjn1ymtnTolujRKlSxCnt9A6uFC7Lm9MxNB9ag9yBj/h37xGe1/yOXiqyZUGQeuk0N/NV5uvCCh7dfclbVW1GwjGjNDbxOcEkD9PN/2LcpS12xqLta+c5fcWdV35ePHhkQdvpQ2lVJKVzhpS40ffOX2za+ooao/slDc4X7PtOK8NoO9yYg0s9qdmrEnnixpLNKB8FTA01Onukm/2+U16url/AkLNl2LhqLI1t5PGEfgh5yOw6UpO3pOz3NTG6IDITBHVlgc0RRrnW5/ceQSzs7EzeFgb8V3w4S2yT/m4+YRi9GsZnOsjsUWSs/pQYSFkc9vOiRmcaFUKcRm/x4m22RPKVV5XGxVxS0gpv7r8wpKTeBVbctmdUC3N8XISTyNmijJ7YONazWTAcuf/9gHx17cl2TsyxYl1pWywsqfdz6BNu+hiQw+0yiiZthBekPAq/jI08429rVGRK38vsPnKJi0dC6bhiGMabRuGcuynF/M6y5UUn9r1HY6dJ0aRjLJldf+Iufcy20gHFB39F28b7wQFMVKEOS83o6jDK/I2/5q/w+ZbQqMgkUlu3dT+xlLb0rZ6Llw6DmF1kFQdrnGalcKdW8Qqm8mS2cGZ2/TpFproN1T0ZROBjymkGu/rJXtdhpFNkGRE+jYpMKQJZ1/zmhnWzipgG32D7WWt6FfuDHw7XYP3u4dinFgArepXZwpnZ9esUmU6RZWRyxb/7MeX0Q/T3U9Shwyjz18tP8V0/VpuaFZnIh7V1mfAGeqNP1IM89FrYjfDdGzjma06D3n1pXyU+sVvKLme2cGZ2/TpFplNkH2Iifkw5/RD9/RR16DDSKbKMyJ1GRYZwX3/hG80b17M8NYzh+v28dOjRhFJ6Dzl6NIDKHWulysGV2cKZ2fXrFJlOkWVkculOZPLR+5hzWX6vPm5JHQbpx1uzIkt/3VnDtCjFCM1fylk9C/ImcSMVfIFXH1DsJweGqmFjSD5sbRMybRtvBsRc46s6LDVClOlrheYefPoSOjlJ/zf48hVZ+rFJ8qa2CZm2jfcDiYnaanRYakZXHUbSb8kfpSCZ/lKf98mJwnU9C8I6MLWUC1P3F2Z6vzIidsUQgziIZLHfxwH3uTHby/neOkUmByVRRtsWo4yNN4hLi1cT0GcsLSyDRcqbjfi2HEmbomoyJSifc2jGQcz/N4RapiJmRRABB0YYYyqYPyKf3MHDpAwVBBej8vk+xq3Lw5QUKVYEP+OZFaw07M3k2mbiSwkuwg1b8Gs7SJWqJ8mjCMXXxx9/75e8eOiGi2dp+g1roMY0/oJDU49jM72fcGZ6S2CwHqYmOdVIimC8mXeQt6X1eGndmiG1rN6x7icqLRvLdLPfi+DhY8tYsD+M6j9MoFeZlHyPMsX8kxWTjdEn62HmN6wWAxUj/TbO3bzIv9hTN68He6+Z0ErImm3LoXxXVeIFlUgENLDfqyiqPk9meznI6xSZHJR0ikwmSlKxYO5fPMiWRR6UH9QYu4oRbO7tRputXTDximciEIGehzaz/4KgvNK3pnCkD8F58xLpE4mVRW6M6vdjZD2RLiL4HD93OUOJn9pR1WcXTqbjmd8ov4gI8SbIxJL8etH4ue5mlcM2bpoUIEKvK+sW1+XZcmdB4dJXTPt3+cuUEh/ddndMK5jx6Pd/sZkjEqKaCMVpZIGVqaSkpD5tYLdbKAb6r+Py7pXHICSMSKumjJQIhvHF7cg5HkbEw+HHpdUuWHxrLVIFBdJl7Wx6q8mxpm6BksN+rwy9ibPDQR4GvSai0QR+am5DjlAP9s8ew7q8o1n+g4jnVAWsCu7JoJdcPXCY4Cbf08wqpyAnSfmuXhZmzk9dkSVlv1c7rjRIZ1YumhKDMNz3ruPwoyiRgsqD/yILUDinLw8CTKhUCu66lWb8hn6U13sgg/1empqfJ7O9nG+mU2RyUNIpMpkoScUkYuAVhA1sA7vPoqyYjUe5G9K28COcfo1i+M5+lI6jC1K4Lqapgz+tJbb5mBecdavNqq2JqZci8Lt3mE2XlJi7HOOi5138y36N0RVPqi50YHQ1M5Ec9QYrhv7KneL9mT0whDmTBdVp0DMob8QVRV+OLmgkcp5JOek2cfLuPV4ZWBBx3oN8jW0J8DGiaKW2sUpKZaJ5zr7h0/jXtjRGgiokt7EPfyfpUwxvbu5j440YrIzD8M2Rj+x/3BRKsS2KSyFUbFlLpNVISXmmfpHWxH5vJNadadS51pnrY2BpVzfa/dGf0tmTvyf1W7CpCLquw9lKUiRbEWpVNk3l3azLnK8eo+Ts9+L0rRaTNIhnFi6amjJXuIr8Y/v8KJlNZJl/akWD8mFceNaENcsl+iglEXLY7wXjjoTd58hsL+eT6RSZHJR0ikyFktLnNPPnnkXPOm9SGiZh/rjqUpKfdgwSiTVfxJGQ9herb3+WBtSlXffv6FLuIYtHPn2XlkWwy4deXU2PJVfIbyT4c2KC8TEfxOoZdTDLa4JxXMJA78MbOegXSXj5pnzlPI1rbafS0LQIVSqYij6IyXl+Lt2PvOUrsVutXdSTq9Z96fbCBTqasnZXEVZIPIkqk2IgnkeX8Id1e4puPY/1GFv+cStO+2JGFKpXJc68KJRw/3GcK1uDwhKlj6Rc/6vP2g3v8u8pXJfS80xpJlV0Z97V4vQTcZbhXatw+KdAxqWSWFS9yegJu/pswmLldBrljaNJS85+r0JdpCDa9xur8/RhRmNrsqtjzSeOl/C6PnW7dqGWOJHFPsnezcLM+WoxUsN+n3xcP9cM5S91bPifEet9/BKUuiJzoKdTCDXyPkxQZJdz9GH7uFjeUZW1QSP7vedny2wvZ4nWLkUmJdccu5iw0fPoXiz1zNbqgNM2G376xxuvDOzhnA/1146GaRsxnteGW9M9ExRZ7GnsOWUFCWqokUjcJ8yFUeVrUvDeW5qsmUMbi3Ce3zzG+l1vaP59M6qXDGBLz2GcarEKp+/LJtxFKcN88fR3ZdPmUJpXf4bj/L95HeYDtjnxqrUIF6HIcoQ+59a9l7w6s46jBZpReN8lCgwojKt7afo0tE2UODNtimzBrZrMMNvA+L0h2I11FGZP9SzrarFMhf0+5vE5TlGTpir5FIkV3Xaz0etrhjW3jSVL1siaHy+9at7Nwsz5KTFKhf0/CSZW+Kplw/+8WO81K7LfGXkmH83MbrP/XjHaVw/i+POGrPhfHIG2VIEm9vvPmNlep8iSICCZX1YwxDmMiha1GDiuIeZpYHVO/8Iu5zNkvTLpH29sqogiK6QT2UKe9ppKs2xBYP4cx0QnMoWrAyOfVqbZ0UPCDNkJy/ObuVp3Ki0uH0tI2RHoupElT1syq1NhFB5bGH66IB1ev8Ba5EyKZZSJwMftLAeP7WHrSXOGjLbhfmQDWqY4kfni4faQx8kV2R0zqlsUoVHv+u9OZCqzaDfKSVpD4Y7TOmMmrX13IosWmaH3vS7IV2H/sP9BETqXukq3n03ZfqYTek8NKV1CJIRK9qi9I1PHfh9thNfufzEb0Itq0ilNMPcvdzKg33A7vI9eILpFY0p67qLPCgtWSiZT6W7s1R3cs5XBrmCyBLFq3i31em+WZc5PiVEq7Pfh/yTFpH4udg9Tw4b/GbHea1Jk0R7b6dt7NTlHLmK2/TNWTJ3BoQqLOPVLMyzjzPSy2O8/U2Z7Oauj1pzIlKFXWDHHFWuRq8rc4ClHrhZl8KhmFJfJ7pz+hV3OZ8h6ZdI/3uQnsgU0Uzzk2esrLN5jw2/zpQVYyoYSq8hanN+Ga6HiZHO/ieHguTS7cpJsqtxTUplF1DrTEJehemz81Y3aE3pS9N4qRh0oxcwpzbA1FJkYnjzE18SPA045Gd71OeMT3ZG55RvNCcm0qAwn8HUAb1We2y/j0mAMwC67n8jblI9K1a0xiAjkdcBDjoxfjX/HFhRXmRYfsf/PvAwcW4eS9uWwynYXp77DRPqLPHSe0J+aOS7g7G5Hz1Ju/BViQbHSfZgg0mdoUmSpst8vrMbN+ecoPbWnuAuTPNEm0munD9Zv7nKq5Bxu/VKMKw7TGXyjIgt6lEHx4iKHH9dj4a/tsU2SpkTNuzNsuLwu6zLnpyZvSdnvqxH1Z2JMfuFy5zssUsOG/zmx3qeuyKQM53uYfQTa92pNVau4TCPKYB4dXste476MbxhnBZDDfv+ZMtvLWR21QJEJE8vDYyKFSwgtx7Ug3HE+D7r/TOuQ/Uyf/gd0m838bmVQ51ydGMD0L+xyPkPWK5P+8b7k9MobFBvSiGz/uhBZuR7FFff5a8tRwpr0p7tI7SI9CredrHzblNG18scOXpqcx9cye6UxY/4Yir3qRPSKC1u28ndUFfr0bSgUl6RdRDqWMzvZFVGH4S1Kxn43xTUc12VnYA849dCG5lVFnYHX2X/Lkrb1xL2SlPbFZQebLrwWhaOICFEITw4jDKLCCTFrIJw96pDP6xrHLj4Vtat7cmBRuSn1iukR6BtObvNcBF7czp6A2vRuWUrkgxJ9ctnD+vvlmdCnUkJyTk077RQtxbzCZa87Zi0aJEprk/VkIzN6lH55y4zefJo6dRikH/cvX5FFPuaSqx72tWwwzCZ5fEnmrtiEmlIW4MhEQYXvg1HbhEzbxpv+KaT5TR2WOow0I6B9sapyMJFb5stXZEmQSKrI5IIkldO2xUjbxpsWWUhrWR2WmhHTYaR9a4xmqZBfQqfIZGKlbRNN28YrUwzSVUyHpWbYdBjpFJlmKUm9hPYpMkdHfNqPoYUwLabl0baJpm3jTYsspLWsDkvNiOkw0ikyzVKiU2QZwUj1rrZNNG0bb4YF5D0V6LDUjK4OI+1bYzRLhfwS2nUiS5WgVuKre/+jbRNN28ar6ftn5P+fD5YR+D7xw7CIqeBuTo0oOSNIvGdHLZju08ZsryTc8yVhhazJn4Z40Mzp/Yep9f1yEsFj57lsyj9EMLwUSsqso2ren0sbDhLTrhe1zdVZmxSE+voSEpUye4AiwB+Fbdk43s4PM5aPXYsWKDKZBLU6RZYEAfWTSix0Hnd5GhKdpKwy8D63s9eld8PCsewTIlA30mM/DvcrMrxOHoLeSuVFQHpANFZf2Qp39Y8t5p+2PXVYpiQNFpsptez3yUlz1ZEGq2G/9zrCpJHb8TIKR6/FPNb2KkX2VEmD8+B1Zgd7/EvSrIoF3scWMS50KP9KMXgfCbrUF/Gk40/ojuDPPLH5DvZ9Gwu+wY/UyUxu5n2KTOl7kqmT/qFg1fI0+q4jFZLFvyq9jzBlaQ6G/mCG6/a/8cybj5xeV3C+UJnlEnWafjAeZ//mdoAIPQm8xIq9BnzfvxKCU0f1GJSoTyt7czUKMpMH/YGq1wJFFouUZoLa9yP6+eyqP4xkqB+viMm79yerXYvxbX1fHKd40nlhTR4u20v24eNobxsXsKnwYPsvJyjwXVfKBVzj4tM3sZ1SGlOiQWPs83+s5fHDYJHRWtRjmZz8V/BGXljDmNXRjNg4QhUQrmK1f7SLQT08GfnvuLjf1JEGp2S/59Vp9r6sQaeq8UuVVJ860uDeHKx9nqEnqrNmfHVyqZr15vr1KOyrSDF4H+dRj5G68ceJ0rOT7PGpTteqsXGJX8KT6hqjeMK+X/4kz5DhNMrzH2unH8CkZ19aV7IhtxQIrwzAdc0ufJuU49akS9TZMIScaxYlhBklxSacR07T2Vx0EjPrxcVwfgHgaYcik0VQq1NkiRFIXXH7cf7n8Zxr3BWD7eF8O1HBypNlmDLIPu6kJU7Ah//mbdkoNk16SfdlHSgSvxqGeOOTpyx2Vmnjufzc55laLFOQ/4ZyZ9cyVux4QvUFS+kv5RRTR5qrljQ4Ofu9mYo5padTEHYW1jTo34u6KsxfcmjoLALG/kRNscE4sPMelSd2R7FgHLf6rGN81ZT0Wh8Le7UYpUoaHMrN3X9j2KEVpSI8OJIKaXC/Eq/T9b/+9qYfa9hJ2kmJgdg4evyF4zZ3cpoJlvtQQbQt3gi/8wyDGmb8d6UMMzb246vg8yz+aTOXnxvQYsE8+pfPkSReNnEjMZ57GdR6J+a9asRmfIgIQ2Hfm7FtSmgkhfgkoMhsVCsUmUaCWkvNJwTdiUxs/FTku14EXNnBruxFyXnMn+IVYsjduAlmDwIo1a0N5SWTh2CNPzZhDKe+HkM7sxwY5XrAjt3Q9dtyGFmWoaJN7s/WhCFzXmlYoKQFxIU53d3puldKzRJXPAn7vaE4oe3meKHGFDt0MI5/MpX3UmW/F+UTclA1x0wdaXD0bRwbrMTS2UFFEvCpHnWLuNrxiw4q/S+wxcWW71pZ8TpV0uBh/FDwGVf2LuNM9TmM8J7LuMABLCoqEQq/73+jmZcK+XNmY5MSA3EiDffjucdT/KMk6s8dLHzdiB8b5ifYLwdlG1WN4wiNwv/0Ar47W4zhZS0p2aU2IQ7viB8S+h3pzqaZTty+V4Bvd46Jo4GTqOI64tgpJbVaZo/3Q9avJYpME0GtZkh1ikxgpEqHEiJInsQTfZNVKtNiSyxV8OUkj4UZuXME4bZlBxdfexDaeLbY5QvTllhAHVaKtXj0x7tz0fxFP14JtXdk6kiDk5D/qifNLfXaWQZpcLS4BtnHBYvWtLG+wZxRL+m/RhAfC9LYvv+L4pcdiXO+vebYmHHc6+fIaHvJDCkWz+cunH9rR8PSHy/TdEqMUiENzqng5ZGjPG/Qlpq5xJHizUXmDkmFNDj3f/w+woMu677m0uC9FHXoSdA0J4wkQuH3/c8yHyZJuCs/jqykdi/tfXo5U65VEqmDXJjt2YDB/hs49NXPzGxVRLAVSXPxIfvmHSa6cTNqFLUgn4UB91SE3bEMRqon0oODK29RZGBVHow/IEi9R+sUmdzPmtmLv9z65RDUahqT3LY01fO5/F/jeKXdfeL8YgkDUxAeriDgyFy2FZmoU2QCl+RYpkoanIL8V8o1dZ55A5fj3XYsU7uJi/zlckiDJVb8kyzb5kPRbI8Iaj6KfoU9+UstabBU9gzLHK5j3aQalm8FubJVTcFXafXRHD0k0UlN3pKSBtfCXGQk2L0POnQth75QumHnl7Z7CEwAACAASURBVDBVLWnwUDrqHWJucFcW2BxhlGt9fu8RxMLOzphPeN//htGrYelP4pCU6pwTTkDnZ0zjulUh3POWo+IdPTrMaILxG31MTQTbaOQTzm3fyY5TLtx7mI/2P/bG7OROXrfsT5W3oRRs0ohyCc4hSVMVxby4zH/1F7NBdyJLfWnWuBhmcFWXW78sgloNfZHbVgaHlGVe1zjeVBWZNASJfX2WSpGNKfIaD6/rbD5RjDmJ8ydlmZFmfkc0Ypn5XcjyLcjDSMmbSwc5a9OSVoWSpa3J8iPU3MGUGMSTXXsR4fOKIAMTjITDTjhmWBgq4givRXZzgnlyL4SCZcwJvZ/cqzgHeYp8RWnz+HvpeFLvVhQTtwDRj//m8NtKtIsj89bcy6xZQitMix8CenkT7UO0lDXq0DhexU22TH9C/V/aUTSFa5sCr+Nb+KdkTzpZenHBWZgai37H+EYfzwsua6AY2wuNWGalzn6ivsjDKJqwwDAMTPN+1NPix4JEHgYfqzefVztaoMhETNOTO3iYlKFCPmGMeL6PcevyMGVG41ivHZmPtgmZto1Xphikq5gOS82w6TDSbXg0S0nqJbRAkYnBB5/j5y5nKPFTO6r67MLJdLxIS58fhZ83QSaW5JdxsattE03bxpuRSaTpXR2WmhDSLeK6k7tmGXlfiUxXZBnrnua35dHaROB37zCbLikxdznGRc+7+Jf9GqMrnlRd6MDoamYaG5IWI2175GGrbaikfbzaKDtpR0n3hg4BeQioW5cyXZFl5mIof6erwPvwRg76RRJevilfOU/jWtupNDQtQpUKprJimuS3Je9jZPVS2jbezPweOiw1o6vDSHcq1Swl2mxaVIby/OYx1u96Q/Pvm1G9ZABbeg7jVItVOH1fVjYFj7ZNNG0bb0YmkaZ3dVhqQki3iOtMi5pl5JOaFj/9iSyKQNeNLHnaklmdCqPw2MLw0wXp8PoF1lP6Y59TnslQ2xYjbRtvxqbR+9+Wh6VwSrq3h59nXaLC7Dn0Kq6j8crMb5IV605NTpS+LmzcdAH/nCaY5QzF3/cRdy0GsWqIXSytVGKigiQDiyLAJwbbikU/SVzcx8RYK0yLCtdF1DrTEJehemz81Y3aE3pS9N4qRh0oxcwpzbA11EyNKm8x+pifLnPb0rbxZiaa6rBMyX7/FtfF49kc05SBwzpgl4zdPDP7lxXqVi9vEbw8vorZ61wxGzKf2Y2/7PANtXLyfDfDhu0nIr+BYKp/hetba+yMoomJ8cev7ix2CGWmH+rB2ZO3CYiJEYwuW9lr0I7+leL4IrWEqFsrFJmgLuDClq38HVWFPn0bximuCF6d2cmuiDoMb1FSI2Gmti3s2jbezFzM1WOZnMX+De7rd+NXRsF1o+6MTsJan5m9yxp1q13EXx1m2v7CTO9thMu9PNQTbCOat5xZYzzp6UVKDERGBNc9/O60jh+XPaLrd3VEcHNpTJ8+QvnNSGb0q0zexAYlkXXCaYig4vptIvXyfslIpURXOxRZeqQq2TvatrBr23g/gIikWoVaLNWw2CuD3di9y5/a/RpgIyMkJDP7/LHrTomRxA4zngF/QRHjMvSc2J96X3jWBLVyEnyBRcNWc0svAp+g4jRuEMO9675kNypIndFT6VMung8zEs+942i904heNSyFA5tgyw/RF/naBtOmuCo5zxf9aIki8+XMvF0YjhhGbWmnIlgpNiz0oe0U+UHR2rawa9t4M3OWq8VSHft9ZnYii9etXpFNZanpBOZXcGH45EimbxDEx1l8HBnpnlo5EVRwi3s6EV3DmDsvStOztjdXnwsldSuASvNnx5ECS/erO5i5SXAt5u/LTlVCVOnEr4YBPyMdzMLvfvmKTOkjMqauxmH9bUxKZkev82IWN37JcomNfYQ9ZNdDzuZX2xZ2bRtvZs5R9Xcfu2Sw2Gdmr7JW3SkxEou1ywp+efMts+s/TYWgOmuNIaO9ea8iq25K9jJ1KHxwE2ct8/JibyTdD6+kT/Gcgtj+MCtv2DKw3gPGbyvCCp0iy+inSPp+Zi+G8uoXE8JtDUPn3KD40B8ZGLiSya6hBN2B8ibPUfRdxwIZ+YfktfVh8fuUtWnbeDMT6+RYpoX9PjP7lZXqVr+I32fX9MPoiSSt9wVX56T6BWTFfGalcaWlL+9XZOa8LdKBH0qcY/j4UxT56XfmNiqYFA+Rpqf/oHOUbVBY3CVG8OKsD/XXLvqkeebSMv6MlP3yT2SIFAjTx3JEcERHmttR9NEjrMe14MWf0LHwEXbFpxrRgKK2LezaNt6MTCJN7+qw1ISQLo5MQki9CfoSDhsMGD4gF38t3ceLcs1oXSUblx1+5neDMTjPaIB5vMOH1xlWXinCkLbFySE48h+fPs/bGo1FCpcv3/FDCxSZYMz2fY2/6y42h1Wj+qMtzHfxJOwZ2BrrU2vRtticWTpFlgQB3eKrSSLk/1+HpWasdBjplLlmKUm9xJevyBTeuJ06yrGdOzlp2ZPR1t5EdqyjO5HpFHdG5k2a3tUt0prh0mGkU2SapUSbFZlSJJ27G4hJ8Amc9DvT9emCRHdkfuQbvUZ3IlMjH7qFJSPTKum7Oiw1Y6nDSKfINEuJNiuyuLErXLewTq8DPRTXeFiiHlVF4Hug6yluFWog4lNURC/vfbRtomnbeDV9/4z8X4elZvR0GOkUmWYp0SmyjGCkelfbJpq2jTfDAvKeCnRYakZXh5H2rTGapUJ+iS//jkw+FroTWSIEdAvLBxIcLdwEpQc5nbzpFFl65Cb+HZ0ik4metk00bRuvTDFIVzF5WOrY75NnypBwS/5kZjaNdH3cD/hSSjlRCmJ7f3xCIiE0iOA3YbzhMXsu2jCoOkSWqUZpiVw6Mft9iDc+eUpR9Mlmlvm3YELzohgmMD74cnryLDwH/yoCqeOyK4g0V16voUDB3GmI0VPgJcic/zTrxZDCXlx88RbDbDG8eeWNftUm1PoEVGI6RSZTEOUtRjIr+wyKadt4M/OTqMNSx36fFHH18qbt7PfRhHqcwnHOOnyq2GEQ+pZHl90IzJMfE++8VBn3A6OalxTs98+59c8fOC6/jGGbjtjHXOLwwXz0GpoD52M2/LiwB+WFwlN6H+HHyUcJiw4mSAW/Ar+7EVQeN40x3SqRX7VvUBDq60tIlPLdBwrx4JJ3SdrUtRbUV9LzmmNjfuB0mUaU8PLg9dfDGGhngPfRnfzX9Ae62+hn5nRSW7dOkcmEXNsWdm0br0wxSFcx9Vjq2O8Tg6lW2Ws9+71AKPo2q6fco+Hk2hh4/MWv85y4FmxIMfuODPyhJw2KiZOUxMfYdBTHQsTBjTK0HleZ546eVOqdnYtHoP2KmXQq5M+ZGZP4IyiGU8u28l8C+F1Zf28L/Usbxv4iJSK+dQ/vqGSirm9JmYo2qrxmylf7GDXrCV+XE6fBXN7svWVIrcL6BCfhf0zXVEn3SzpFJhM6bVvYtW28MsUgXcXUYqljv0+CZUqMdOz3QmUQ6baCplMvYRMWQg6L3FTs0Rwf79xUubgIpzLz2DTlG8yjXVk2wEFkKzMiUCSkMixkSEBIAQbO6InhpoWcazibcfbReLrsYd7ac4QQxrN/bmAy3pEhL0/zdtisNNBYheG+bx+u98/iWrA/g/NdwOE/a5oJzsfASxdhwJx3SjFdsyV9L+kUmUzctG1h17bxyhSDdBVTi2Uq7Pcxj89xipo0LabtGaIlRabt7Peh3Nz/K8sflaNJdAT6+ifYeU2Y/ITZ702gkjJ9pzGvezlyihPZolqrKTSnEdeWn8NuWgvuztsnSIZDOfCiPfs296SEvmQ3FHdugR6cXLuYhScN6TaxJ4UvHiZywM9pUGQKfM5vYvE6Z24blKeqcTb0RQZq/1A7vi9whAnXm7B1XjMsUl5vpmvuyH1Jp8hkIqVtC7u2jVemGKSrmFqz2XM17PfRRnjt/hezAb2opm2JEYVjR1JHDh37vUrYhJJatuAqhk/PcTdHFBfuxVC8YD7Milan+/cdqFfaEr2EVC+FCL31Lzetvqa6oRE2JqEYdPgf3YsJs6HSG5fVs5gy4RR5/8/eeQZEdXRh+EFRNKgUQUVUrGDHGjux995jiYoNS/zsibFETaxBYwtiL8SGSuzGbsSCUTTYQcWCWChSBBVY2W+WoggLe6mie+8/2Jm5c945M+eeMzPvGTeajsb32LfvIQVE3ukGy5fQu1h+DA2Su08rDGBIKBEFDBB2S9Up8ZExmy0lxmL3djfr89SnxK4V3KgyiMHdamGWJ+u5HWVDJnFp0raFXdvklagGaSqWGMtk2e8X1uLa/DNYTu2DZdavBWmSLaMqqdU3hcx+rzJkS6a6YmhWjNKWAdwxakSdd3c5tushVWy70UC1byVCi0um3qJeT0uCT/1DeF9byuz6gRHX67Ny4XdYG8YfvlAQHhZB6NEFbFGRpdfIQeC5tYw9FEStOrb8r5MxXgc2se/O60TDGs4Tj7sY9P+NmS3NxOnGKHx22NFkqxV/fJeDw56GNLSK4p+z0H5QZ76pYiZOMWaUZkhrRzZk0nCSL0RLxEkulhQByR8F0c9wc7mFcevGsceqteiRjNEXjIn6vVTV8XgFOR+ewDVvYzpaFxQnB5+wf9ZZyk/vTTnVB4/Cg3UOgbTqYUX4mT/42c2M774fQIu8V1j6036Kz5hLr5IhuG3YwtmXCiIjXhMt9tPy6EQSVqyx8MYussCrKWvsqsedStQEsvDQnj/gST4Lij49xCbfGgxqYobC5wL73fPQuH0NTKUkedT0mlT8LhsyiWBp20TTNnklqkGaislYaoZNxki+EK1ZS5IvIRsyiehp20TTNnklqkGaislYaoZNxkg2ZJq1RDZk6cEopq62TTRtkzfdCpJCAzKWmtGVMdK+NUazVkgvIXtkErHStommbfJKVIM0FZOx1AybjJFsyDRrieyRpQcj2SNLN3ra3YC8SGsefxkj2ZBp1hLZkKUHI9mQpRs97W5AXqQ1j3/qMVLy1vcp4UXN4zgCNb8ju5dIioFE0uD3gj3hwNSj4pTiIKz1Ep9/V8OhGFdPEfQSRYnylPqMT8rKoUWJ2p36iSax4WxaTNvkzcxhkIZlWtnvIwh4GEgeC0MUobopXGrNTAnT37Y0jBK8R/mcY5tuYj2gGYWy+M5S+qVV30JSDKSRBueO9OLAH/u48y6I6y43MerckGIx9xDDuHfoJS23LKZrkXC8Tv/DjSCFyCh8kRUuegy0rSauQ8c+emVsaGttkgoG/MxCIW3tyoZMIm6pnmgS282uxbRN3swcB3VYSma/VzzDdeEIJvh3xb5nEe457+J5z7lMqZef56e2setlWVrWMMXviD0Twuw4P7GmxLtAmSlx6ttWr2/Js98rHx9nl39tetQ0SP3LsmkNtRhIIQ2Ol0dFe/b9U74b/oB+p2w4OrE2SYnO3uLtNINNJX9gVqOC2RSJ1HdLNmQSMdO2hV3b5JWoBmkqph5Lqez34XgsG8nu6r8zu5EBL4/8RLcH/dhfzxW7Y7VZLRarr1S9EhREV69GYV3DnM+RFEStsU+W/V5wEO78hzyd22IZwyH4ZTzqQouSSINjIBCUXu5L6b/XiFHlHrIkqjsbrU8w6pwN68dUE1TCsU+0rwtD223HpO/XsXyIEeEorPsxvn2Z92U+RzRlQyZx1LRtYdc2eSWqQZqKqcVSMvv9Uw7YzSZo/HTqBF1h33ZPqk/uhWLBBK73X8vEmgXS1KfsVikpRsmz3ytfnmWzWwm+a1tCRM88ObThLNHWxXl1O4BSzasSeuhvfG2GYGttmN3ETLE/STGQSBocY8d8OTCyP44+lahXL4hpf0fzw3ffM2FQ3Q8sG5G32DjLiRuehfl2+1hqiuRiCvdljH7UBceuxT8rrBJ3VjZkEodP2xZ2bZNXohqkqZhaLJNhv0/yAhWzeS0nCq/qT0UjC6wtTdAV4SbHxg4Ucl6WCtbyNHU9yyqpN2Tq2O+jeHroMD6NO1DnK5Gp+NYVLrks5VTtOYzym8uE4MHYlzzEOv0xzGtqkmX9z4gXqdUTKaTBvCPU1RH78CYMKfeSY1OOYTbUhNOvOjC3a8nYULPYR9vvcB2LITW5N3EfFivGyIZM6qBl9mKY2e0nlDMr3yUV38wsp23yZjWWSnXs9zpWVC2SKLvuMxcGjIvi1229KP4+iqbK0DsBz0GOjLFWbdeL020+bri+qUoTS/3MFCXT2lYXVotwW8Gvr7/lF5tH2I9+RF/HrphF3WLnHujcoyIxSL2+wNzhnnRfW5+Lw1wouawPIdOcyDtlBLUKGWGQxZx/6QEoOUOmiTRYP/ASe28XpX29PNxYt4jdZUcxq6kuZ+cv4d/q/RjYuAIm7xnpfXCxncCZ8l/HHAiJfvIvd2wWsV72yJIfusxeDDO7/WQNmeIqjtOe0WneN/htWIxHiRroKqvSs0XxVG60i7j2RQdmBHVhfusivHJbx28BzZnVvlTSfQ6lDwdm7sdk3HDqGgpCWUUowRH6GOrnIPLhTbwMrKhslAulzx4mrM3PlJnNEuUECuDUvB3kGTWCeqoUIYprrF/oT4cpicvFSp2V2KZn8n8OdRNjmSz7/W+dKJFg4VUG3+LvtQsYftqKDSvH06x4XBZfleF6doqly65i3rwWhd4E8casDq1qmqVS/7IPeuoX8cTs94V4c3E/p4u3oW1RlRlTEu66mKkhPVhQ/BDfu9vwR+8QFnZzxmTSCPo2sYzJaPy5POpD0BJIg0ValQC3zSw7FEXDQd+KXHYFYk8fKp5warMredp0pZ5Z/LGPp5x0+I9Sw9tSSiwj7x78w8E31ehY8fM+NCOHFiVq+UdKpgr39LtC23V1ONNrB8WWtMF7wnFK/SSOApf4mjrvlSalxqMJu3uevzZv4m6lLjSpWo7oTbO52n42PQ1E7p/SlSmX721MWoW9Z2/hncucYpH+hBYoQKR/JGYiW2xem0GMbiTSKoSe4efupygzvSM1/XfgZDiR+U0Logj0I8SgEAVzBuC+dRXL1t3AoGwOdLstYlGzpyx3gJGjrCGHLok/XGVDJlExJBSTsdQMkjSM3hEeHI6eYYHP1mCnhIQ0DDRjqY0lZEMmcdQ/KNlrbjn2oZJTCI0fnOZ0jd/4e3phju2EHt9WJG8hK6oUzyfhPkZsBtwF4e35luPsU5qj9Damc4fCeDptI2qkvUgZHnMeTWzILqLFspe0q2KkigVw2qMeK/9MGGqKINDzIBsvKjFxO8IF39u8LF+fvJd8qblwGWNqGRHhsRq7Of9R2u4nhgQ78KN7GCE3oZKBD4oBa1mQaD9BnlQSFUNCMRlLzSDJGMlREM1akkL0T2RlFbmzM+eRrpwixHZFZBqNqM/QekUlf21Jbz/98r1/V7QXzj/NYaNfTbqXPsqKfQVp392Ia+ejqW6WgyKj5zC8YignRXz6tK4pBT4KbUThf/kepaYvw66SXmyWVZHgbiyrsFkSSK+OvRncvTSeixbyqO+M2I18RQRhl1fRe/ElCuZVBbVD8TcZyqqZDTBOkLHV7+AG9gdG8rZSCyo4T+NKh6k0MbSgRmVDYVQDcZ0xnkOYEmlSlZLe3phPaM2Tv6BLsUPsUCXZqxl/NTIWq6zENv2jk71bkLHUPD4yRvKc06wl2d6QiQ5G/seyJqsptkt1Eisn7xTRIuKVM0XPJiuVP0locfgZakyqzJV5PrSYY87+jUr6di1LXssyFJG0wRx7vHjoGVNs8BAbrvOZgyML9YfR7/rm94Ys1hvzofwbH8LyCmMjwoVRlepQxPMNzVfPob3pW3yuHWHdjte0GtiS2mWD2NxnBCdar8RpYPm4vTYRkgl4wUv3HWwKr0Vt783Md/Ml/DGU0M9FXfstsiFLzyzSUDcr9TQTxcjUpmWMZEOWHgX7hKFFQclzayvjFxzlVWwAjcDbD8GqLAVzhPP4Qg56/bVBeC7Jn8LKSuVPYshUp6hWWLClzymqTIgPLVanqFUFikviLFMZsniPbH3MXY6VLfV4Ie7i+zouSmDIVPc8qtPy8AHCh3SlkOsmLjecSut/j4gNLltxhDaKYPcNLH7Uhtldi6Hw2szIk0Xo/OIJ5lNssc4tXEKFHx4nDnNk+3aOF+rDGHM/Irs0kD2y9MycVNTNSj1NRbeyVVEZI9mQpUchP6EhS9DtaF/OunhRtGUp/K/rUrNBMUnhxaxU/mQNWWdnjAeacu4wtGlhRGjhVnzXREr/E3tki1jXEq4/fsJ/i45T7PepNBWnC2MvLFantesW3IuWRufWNfIMm0vLS8fRiTFkqj00e+qeaoKbnS4bfvOg3qQ+lPRcyff7yjFrSktK6IXx8HYwBqHHcMrVjR6PFiTYIwvEaMxq2SNLzyySPbJ0o5eVczndnc2kBmQM0g5sNjBkwjPzWEHX3ZXYPMOGaNc1bIzuwNhmmo1BVg78x4bsGk4O4XQYqc/+Jb7U6VuN/HFjoJPXiMKGeSQd9nh+chuXSvWgrY47RyOr0Ka0Aq+/t7Mr3IYxvSrHEHoqPLbj8KYFY+rG8aIpQ/E+uoZfHPQZu9sOa9VtR8HHd3bzn/wTVYP+A5pQIubOSATPTm1nR0QDRrYuG0M/o3DfzFrdzvRWXOF+mUbUFMQHwe4nuF60MY3M4klsYgXJSmzTrr6fR00ZS83jJGOUnjmXgCU/MdSKEPwVRakSfyRf9XuEO6vsg+n6U12eOjkR2HIQdfJEfNanQT+9IYu+j/OkfRSZ8j02JmJVFqzWJ3+ailvHhYIYtWD23CPTPC8/+xLywpJxQygNy7Sy36v6GcmzI0tZsDec2v+bRF+rz+9StHqMkpIG64Rdw3nZfu6HvCCi6SSmNQjCJcHf01ul9i5nxo1zeltKTk9U9w5PH79NVKl6NLUupCZapWLJP8vxG4FEi4NdF1ccQW/gt1SLu0Sn1CtD47bWFIyKY8mPesLZc34UKlqUPD7XCKnxDZY6hbEZPZBGpjE8IJ/d84kNmWBi3rqC41WHMrSywXujFe21njZzDNm4SdzkTwFSaQtExoxJVr4rY3qcvla0Td70oZVybXVYSmO/V7eQe7H3l7GsLTCG5f9rEZdDSnyRhzzl8r6DhDYfSMtE3nVmypZRbavFKAlpcGHCTk6jwZVuXB0LS3r8R9PR9xlwNf5vDzrutsXyc2RNTi4KonzGsTVXsRpUi3s//8HrsdNpXyg5YyP0wHsbwzcV4/dZNqhl4VS+JjjoCTevX8N1YziNR1mg+Ko8tSoUIc9ndHk8sd59QkMmvkC9jrH/7dd0rao6Ip7gEeGzh/feUqycuq+PD+WycrHNyndl1OKQnna0Td70YKWprnosNbPfK9Wyvyeup3q7uFzvvpuDOmWx0LGgbnVjTV3Kdr8nxSh50mBV2Nx3z++syt+fmc1UbP+J/8524knqkHpjfoQNd2pi21gpIlXLeT3+Z3FSWVByqHuiH+EydBDbTVrwtamK+SSCV4pqDBjfltKqQ1+qR5A5LOrjxLtacGZPEDXEAbFHNy2ZuuY7LCWdtpYkSpYX+oSGLP2yZuVim5XvSj8y6W9B2+RNP2LJt6AWS43s9+9irmcM/hss9K3oM9lW7GMKmiE19WJCi67b2HI1Fw17dKfuF+GRxRIGLDGcxPzKboz8MZIZ61URGhFG89jJhuf1GdGqhAizJf47M0cyc9tOqifRhJ7awfGcOpxbc5R8vWcyvZ05YbdOc/JOiOiMAeWbNqaiirKOcDw3LmbjDV8Kfmsfe3hLxUAUz1EZY8TCCHh+DseNMHAgrJ7iS7eF1rivvELJdvWoULMSZp+pMcs2hkz57BgrTpkx6FtxyEGii5uVi21Wvitzp4u01rVNXmmopK2UWiw1st8ns5BrrJe2Pn7qWkkxEiQJ6kiDQ8+y3EmPQSOr4nf4LO/q6/H3lgR/t25GuS8mtChYhLYdhZ6dqfDUmeE7SrN8Yi01yTJF9uf92/jPojON7i2LIVlQZ8iUYQ+5cjMAdKMJPrecKUdfUbbeQMa1Li68Wj0KSb469Km1Jen7P6EhE/HcgHt4PAqN61UA535zhqHDaWCoJMQnlCLNm1IxhTtZWbnYZuW7soOaaJu8mYm52pCRRvZ79Qt5EY31MlOSzGtbrb4pEpMGF+S5y2T6bvfH/PVtTpSdzXGb44x+//ccbixpxecXWI3FNQkGynts+W49Beb/SB1PB6b5dsOxf7kUEqd+uNLTuJjw3lV0dndsWBPjycY/0bx9/Dfzfw+gxy8dUP45GwfaMbpTXSzN8km69pR5WpD2lj+hIRNRkjAfrnsKpgqV13trGwtfNOWnJoXjpMlJfosKWJokTdYdL25WLrZZ+a60D2fG1dQ2eTMOOTVfizo6JGSCk8p+T6KFfHKNEI4um8Gw/6qwoLeVIDe/wMEHjViYiDU/M2XJrLZlfVNjyF4e4Yf1ORlcN5IbIYWp16qGhtCfyM8Wd6WnQymRKeHdQ04eDOfrjpVirvLE5CRb9Cc3LDoxpGeNuISbEfiL/dU/nF/RatJg6qlOjn+Gzyc1ZB/wSvglEY3vrQL0XPJ9bLqRFJ6sVP6P3qUM5NbVcEpXL0rQwQU4fmXLzKaChV5tX0O5smM/ETbdE6RSiC/4mocePhhUssRIV4GPyxzWGg5P2lboaeY55GLUjw1iTiIpPJxYGNicKcm+M/2amJXYpr+32bsFGUvN4yNjlNiQif2xk7Ow9e3Pzv5lJdxL1Yzxl1wimxiyAE5OWUnUpJ9oVeA/7HtIO0ablcr/8bsU+B34mUnhPZkQtIqjtRcmYcb4oDSxF76bLDZnV8x1gncoFCKVSsymqlBW17l0P1ea6S2t8F95CMNFKkaPKAKfhWNgZkzOwMtsXenAumt6lI0wptvaWTR7vFmEA3oyyjqvRj7KtCpvVmKb1j5+LvVkLDWPlIxRYkOm5O2DK9zMU5maOZhojQAAIABJREFUktJCacb4Sy6RLQxZtPdW7LZbYP+T8DiEOz3+V5i2WHOsOyuV/8O7BCekx2H2HD3MPnddLMLuiAuFzakivEdlaBA5WoxhfKN83HaaxYLjL2J1JzqQ256CRrJCQXK8ecyFkN78tX8YlWJ4EAPxdHHmYl5d3Pa74XvhFeU763Ppeg0Wbh5Frfyv8VgxiTk3y2D3SzeC5yzAnZfcpAQGl/Iy4PCsGCqrjH6yEtuM7nt2a0/GUvOIyBilh9lDM75feolPbsiUYR6stRf8gOM7YfDET6z5+/jhZiu22FUmmdsS78ckK5U/4buUb8N5rfsV+jo3cWyzjVLbZtKqYA5eHvmFXxnB4lbx+3zChj27gMsNU1qWC+Z67io0KJpoz0/py8EVhwlU6lKpmznOrf+jw46WGJaoTGXVQReRNHNGL5FvpUIeTESKG+/LJZjQM5C/qEuxNcexWDEmhm8xo5+sxDaj+57d2pOx1DwiMkayIdOsJcmX+LSGLPIOezb5UPXbppTOJ46E3tnN/EX+tJ09DBsJ7nRWKr+648GRHg70O1qCkTlOc6TUAAYpd7GvZMLcXmF4LBvP7sqzmdEEXBe7EN1nMM3iZFMddrl2dAs7whsysHltyr7aRp8+52i9dTkDLePS2ivDCfB9ivvGvYS3qoi3owNuL4J4LHKL6T9viL3bRNmQpWcGZEHdrNTTLBAnU14hYyQbsvQo1qc1ZOnpuaiblcqf5F2KezhPO0CRiaOxMX7ByYV7ufHOi3w95ovMzrFGKPrBLiZtM2HKlMaYiCiiMuA4Pw39j46bxomDLMLbEmFFd4f1POoxTuRgi8Rr/RxOlqnJi2ulmfJ9NUH0K64o+F/nxP4DbP/zXwoN74/53dx0aeMve2Tp1J2srJ6VepqVcmXku2SMsnY9y8ixyw5tyYZM4ih8NNEU/ritXM2tpqMZVCkPgXcf8ko/jFPjnTD83T4us7MXW391o+rEvrEhwpjnrTBWw5lj+CubuhYXf6vohkZxqonIGK23l9/OWzNpmAWe9jPYV2U8U1qWRE9kv7wdkJPQfUfINbIFjybO+bBH5mHGmGMTZI9M4hh+qmLyIq0ZeRmjFAxZ6L+sd4qi48gGMR/E6p7oZ+fYeb8kPRoKyq7QC6xaF0HH779Re1xfGR5CqF4BDN5dY4tjEE1HqS+nedSyTwnZkEkci/cTTenHhQ3HedemGw1jQoTiguGz/9i7cj1XK9kxLSb9irhpf/Af3n7TiqqJLnQrwx5zL6ww5Yqo6gqPy+88m9e6ElW7NwOal4wl7lQ84dTmw0Q06kPrciomc2HwHP9Cd0hbFCd8KNOqGoaC5dp9r8jh1qEeZhl/1iNLvV2JQ/DZFlO3SCclDc5BpOcufp59kcq/zKFvaZV+JCUNziFS9rguHMEE/67Y9yzCPeddPO85V2SKMPmsj2irN2Rq5P9stUBzx9VjoDohPZ8leb/lf/n+Y6vrUwoY5+T5vwc4W20+e+2qisiN6vrSJMb51KW3qbg+pveOB/ucuFejC9WL1qdvd9Wa5IfbhlVsP/4YnQpFxQdyLoqIhePhsdMEFitJsS6zmNsquStEmvv+qUvIhkziCGjbF6O2yStRDdJUTD2Wicl/xd+LJrIpugVDRnSO+QBSTxocLvZdR7K7+u/MbmQgDhj9RLcH/Tku4XBUmjqfRZXUGnu1pMlZ1KFP8Br1HzyXWb0qkOb1b/PDydqs/yEPqxPyJ6r6GX0XpwHLCepUCyPjmlS99ycHy7SnzK5NBNnNZ4i1cSxjR+hJpsyKYtKiZkTEZaePobL6Ah7ZkEkcRG1b2LVNXolqkKZiarFMQv4rePXW7STQSsHVvL0YUzOPetJgnnLAbjZB46dTJ+gK+7Z7Un3y9+8PEKWpg9mgUlKM1LPfK8M8ObThLNHWxXl1O4BSzasSeuhvfGt9Q+HL15L+32YIttYig+xn8KjDIMDVgelO5/GJas2C5d9RKc/Vj4mARVQnwmM3K/+5zFXfUrSsXBhz/SvMOh5K5agytGhjRdmWzQXVn8qOTcN68Uva58lDubp6RDaZnsL9188AsARdlA2ZxPHStoVd2+SVqAZpKqYWSzXkv8pQD3bueEm9QY0prqtiv1fD/q5iNK/lROFV/aloZIG1pclny4+XEEz1hiyx/B3QuXWFSy5LOVV7DqP85jIheDD2JQ+wLMCGFr4bE/3/EOv0xzCvqUmaxi2rK6nVE4VINPzLT5yu0JHyRpXo3iyUZR95ZIJw4dZWxs9cJ04zK8lv3JYJP9mQ6589XK/SmSYm+rFkwPrPOTTFlnkmP/AbRzirEk42ZNKGOLMXw8xuP+WJJg2Dz7VUVmL7uWIktd9qQ0YayX+TYX9/5sKAcVH8uq0XxSVmiZDaz09ZLilGycj/+gJzh3vSfW19Lg5zoeSyPoRMcyLv2Fr88/NT+q1r8PH/p4ygViEjDD6D9CTq9OSd917m/aWgWYfalDQ2xtTQkyWJQ4uqgXt2APsL5RlUL5Kbhw9x/J8LPCpRihyKFiyc2wpTcWjMy9OVxSLDyECcWXndgE7z58QeTPsCHtkjkziI2rawa5u8EtUgTcUSY5lm0uCqgRxZu4Dhp63YsHI8zYrH3TVMU6+yVyX13khi9vtCvHZdzNSQHiwofojv3W34o3cIC7s5U6C1HndKj2RxiY//bzJpBH2bWEpODfUpUVFnzCMfnGHrrt2cOHuD+/od+GmMCcd/e0GbKTV441eE5m0qxsgW7bWeru1P0WznckZb5xNZAtZyod6Qjw2V+AiyHSrymn11mb8LzuSsQ3sKfSEfQ7Ihk6i52rawa5u8EtUgTcVkLDXDJmOk/vi96pSzZ3BBrIq84a7HI159BGUBLKzLYqLyNhV+3H2Sh7IlC4jTq2+5u30j9xsPoXWRBB6XyEd2zV+PnB7/omjeHusUUmRpHrHsVUI2ZBLHQ9smmrbJK1EN0lRMxlIzbDJG8oVozVqSfAnZkElET9smmrbJK1EN0lRMxlIzbDJGsiHTrCWyIUsPRjF1tW2iaZu86VaQFBqQsdSMroyR9q0xmrVCegnZI5OIlbZNNG2TV6IapKmYjKVm2GSMZEOmWUtkjyw9GMkeWbrR0+4G5EVa8/jLGMmGTLOWyIYsPRjJhizd6Gl3A/IirXn8ZYxkQ6ZZS2RDlh6MZEOWbvS0uwFpi7RgaEhCGiwVt0ieHVnKgr3h1P7fJPpaqYimP69HHUaq/yV+lErl5yVYKnqbvJ4Iuq79S9hrYYed6T9M3VuMGUOK8zJEH7OCsYl633nvYcG1KvzYuQjX1y/nZh4zAku1ZFQ9MxJzisvs96kYFFVRaRM4lY0mKJ7Z7SfsWVa+K+2IZFxNbZM345BL2pI6LJOy379JQhpMmEizsfQvvF/lxcrWjp6WBUhaT5UiSGRRCHnK5X0HCW0+kJZmuUXChKR1ycbM+bK+qVsvFfifXMLkTR6EP76Pv2lpCr/24vLzQtSrVZHS1TsyelhDTHVU6aGGMPyUHnXatsHM8U8eNDTg/PkoKpRuxuSVtlTKJVJPyez3aZvmma2cmd2+bMi+3K/ftGl02mqp19PE7PeJSYPzia/sw6x9VJWhNT2Zuc6AGeNqCl7FxPVUfYomzH03B3XKYqFjQd3qxsnUzb7M+eoxSl0aF6Uw3s7L9nM/5AURTScxvVXxz4qHUj0GIl2Ty3n8Azx4WL83pdYOZWv5HxlQJAdFmjcVZMDiQyb6DusHHcB8tA3Gz/fz3a7qHB3zhDmP2rGgqRkFDL+KTfEjs99n5AROW1vqasmGLOOwTNxSVmKbeVJkj5bVYpmE/V74VR+RBquWnneE+Vzn3OHT+NUfRP/KBqLQQ3b034ipwwyaFogPGonQous2tlzNRcMe3amr8sjU1c3GzPlqvdZUpXGJjmF3b3ClG1fHwpIeHnTcbYtlJuTqyyytUj/nfHCx2yEIfkO5n7c8QSc9CHv0igrjJtO/vgX5dJWEnnVik/cTTv8bRu2yRrz86ya5qodwKtCStlWa0m9ia0rmiMVHZr9Pw+hl9mKY2e3LHpnskaVB7ZNUUaunatjvk75LZchuc/38AXbThbm9rMgtqZ6qJTV1szFzflKMUpnG5X26lgh89/zOqvz9mdlMZEvOiAHMojaSNWTDnIhqHMzu/6oxdUYvKvltZ6hLedZMVHno4tsmwI0Ny1ay9h8/rLq3paRrBLU7PGfdi3rYlixKja4i+a6Or8x+n9ZxzGxDk9nty4ZMNmRp1X1NuqNMhv2+8psLnKAOLUrpEuy+n5N5m9DV8t77HFRFNLLmxxoxdXXNsjFzvnpDJjWNS3y6FiPCPHay4Xl9RrQq8VmFFVWjpn49izXoQ0+9RdcHiiu8CS1rRmjpcewYU01kh457xNjabTFjTt8wVv7oQ5s+T1ni24aFHa0wNcmHruBslNnv0zibM9vQZHb7mhajNMLyWVTLSmw/C0DS0cnEWCbLfj+vGndWumI8uC+1CojzGje38dvJ/DTKdRoXo5EsbRfNiWUzGPZfFRb0tkLx5AIHHzRi4W+dKPFRmhKxZ5a4bqtIjmdj5vyk+pbKNC6qdC15b7F5qx6DRlbF7/BZ3rVuRrnPyCVLbs4p3NfjEFUS/oWvI0/ztEk1vO8Wo1Pd8nEkwbHs921q/k37U4N5O/Mkho0D2OVfi16mupTs+x1NzcTpRpn9Pm2zOLMXw8xuXzZkskeWNs3/uJZkPVX6cuDXf7Cc2uez2tvJNIwU0tO4mEwaSrOgtQzb4Y/569ucKDuHG0taYZwRncuiNtR5pf6um1lzNULIoUDlfkXm+orcwW/BMB+GRarRoq01BVXbqWH3cX9qQo3S3jhOvE2DH5pgGtPvnOQ1MsEwj7DoMvt92kZS8gROW/OZfrxfNmSyIUujan5UTfI8iH6Gm8stjFs3xvILSrEhBUPJGElp7DMtI2OQ9oGTuRYlYqdtSqZt8kpUgzQVk7HUDJuMUebfu9U8Cp9vCdmQSRw7bZto2iavRDVIUzEZS82wyRjJhkyzliRfQjZkEtHTtommbfJKVIM0FZOx1AybjJFsyDRriWzI0oNRTF1tm2jaJm+6FSSFBmQsNaMrY6R9a4xmrZBeQvbIJGKlbRNN2+SVqAZpKiZjqRk2GSPZkGnWEtkjSw9GskeWbvS0uwFpi3R2YL+PIOBhIHksDFGE6mJo8P66baYPoDSMEnZDyVvfp4QXNY89fv4FPOoxEPfpPP7k5zs1md4sF3cehQpJFYQ+e41542/E6da4i3KCzutHxzxMmNkM08gb7NnxmgZ9amP6/n6hgrCAAF5FJT2JrAh6iaJEeUp9xidlZY9M4gRI/UST2HA2LaZt8mbmMKjDUhL7PUlJc3XCvNj7y1jWFhjD8v+1iFt8krLfx1yQtRrMUZVgLdfheVjwDorj/a4LRzDBvyv2PYtwz3kXz3vOZUq9/Dw/tY1dL8vSsoYpfkfsmRBmx/k4CqTMxCa+bfX6lgJpsPI5xzbdxHpAMwp9yYZM3C08OHM7et06UMbwLXcv3xO00YFcXB9Gzz3jqKniqFI9grrM3hHshtciX55Ibq2ayvG60+j5VTj5ypYgHyF4nf6HG0HiPlrwRVa46DHQtpr4f+yjV8aGttYmseTCn+EjGzKJg6ZtC7u2yStRDdJUTD2WmtnvlWpJc6Ww3xfg2V5nbjfpTeMAF+xv12NSO3OxSKljv+/H/nqu2B2rzeqJtflKJaHSj6tXo7CukXVchWqNfQqkwcrHxwVzRW161BREyl/IkxQDQQZ9wp6pR7/C+nUIxUb1omRIGOj6cWrBLequH0ODfMJrjudavJyXZg3KYqIXwQNhtIJqtOObilbUbNEc64LxFu8t3k4z2FTyB2Y1KviFICfCsiJRXabdes3sxTCz2084yln5ruygXdomb2ZirhZLjez372I49gb/DRb6VvSZbEsjFc2QZPZ7lUSBuP5+kAKj+mOdW/Wt/ZQDdrMJGj+dOkFX2Lfdk+qTe6FYMIHr/dcysabgxfpET1KM1JMGx3YvjGs7/yFP57aUi/Di0IazRFsX59XtAEo1r0roob/xFSTCg8q8SNNvttaGnwSFpBgIqrEHHrgd2cYJ/crkO+cBhaO4+SwXFYyj8ddpiN2srlQUtizCbR6VfgpnoeNkuljm5Ir9Qh71nUFXs3gDFitStK8LQ9ttx6Tv1yKPmfhHRDgK636Mb1/mA2/jJ5E+fS+VDZlE/LRtYdc2eSWqQZqKqcVSI4u9aiFPTJrbFTON9T50Mdp7K+NP12CxbflYFnh17PfvbuDY2IFCzsuSLHppEjaNldQbMjXyi/aVL8+y2a0E37U148WtK1xyWcqp2nMY5TeXCcGDsS+pIhEewf+KPE7Db2OY19QkjVKkr5paQ+a1i+lzzpK/ZAlK5/flcu5ChJ94R4NGr/D/ehw/2hQRnnYAJ38ZyC86nbEziSb8jT/XTgiPrHpVcihasHBuq1ijFXmLjbOcuOFZmG+3j40JSyrclzH6URccuxZPX+c/cW3ZkEkcAG1b2LVNXolqkKZiasNmGlns1ZPmSmO/V3VTJOp0nMih2guFpxW3E6KW/f4FR8ZOwHOQI2OsVeXEfpuPG65vqtLEUj9N8qalUlKMkiENJoqnhw7j07gDdb4Sq/PrC8wd7kn3tfW5OMyFksv6EDLNibwqEuF8d/hjlFfqfytkhMFHJMxpkSj1ddTvpT7g3wv38A8WzPdWL9m3+yIeB29T+qeVzO1aUjD8i/HyPsj6ewre3CnOqDHxyVcTeWSRXux3uI7FkJrcm7gPixVjZEMmdYgyezHM7PYTypmV75KKb2aW0zZ5sxLLZNnvE7PYJyLNnVwjhKOS2O9V0oTgNmchT21nxXhayuBb/K2W/V4shM9OsXTZVcyb16LQmyDemNWhVU2zLE2DolbfkpAGF0Yn6hY790DnHhXJJRbxcNfFTA3pwYLih/je3YY/eoewsJszJpPs6KJ7gLmhqf1tBH2bWJLvE5x6SIqBONzhNIYpj1szxPgsR3WFx1X7HnOOF2e88XGW3v2aH2d1ofSbV0S8PsGELRasiDmgo9pHVRmyH6gfFhh72OO9PCJRp+0EzpT/mmLCTY9+8i93bBaxXvbIkl8CMnsxzOz2ZUOWadunmWk3sl3bWamn2U54iR2ShpGS1xf3c7p4G9oWzSWx5c+nmFqPTKEgWleXnO8UKN74cNLxDy7UGMf0JkaEJrwi8ewAP+w1pG8hd454R6FnZETuoNfkLlYu0WGPp5x0+I9Sw9tSKqfIXPfgHw6+qUbHip/3oRk5tChRz6VNNImNfQbFtE3ezBwSGUvN6ErD6B3hweHoGRbIUm9Rc+8zpoQ0DDLmXV9aK7Ihkzii2qZk2iavRDVIUzEZS82wyRjJzB6atSSF6J98/F4afNo20bRNXmlakLZSMpaacZMxkg2ZZi1JwZCJn+SNkPQgKNeVEZARkBGQEcgyBNRdfZZDixLh17YvRm2TV6IapKmYjKVm2GSMZI9Ms5bIocX0YBRTV9smmrbJm24FSaEBGUvN6MoYad8ao1krpJeQPTKJWGnbRFMrb/RzPM48QCHuzSoMKvJ14RvMHXKLLtuGUlEc5c3U5/kx5v1lyKgRtSnw/Cjzj5oz/rtKkml1lP7uHHtsQdOaRrx94svbIsUxUXvpNZQrzsfJ3bYTldWwgSufnWPXvZJ0qJ6HoFeRcSJH8+q+wKVaPSqqqaNtupMWPZAxSsmQRfM2OICgoACePnnInYsn8aoygZmtzD4m+VVcY/NCP1pOqcitpecpMqIbVjmjyaGbU5ST2e/TopdZ4sVkpfJn5bvSDHgGVlQrr6A4WrrAh6p6x7nQ4Ed6ea9ia4AheuV7Mr5V8TQeiX5H8NnV/OocQJ1xk+lRSvAJJnne8fLITCaFD8WxmQGRr11ZecGaiVIvcUb7cevyI7wPrsSj9QRqOa/E7/tF9C+d4F2hp5kz7hh6FQwIvX6cK0bf0LiYHspII2oN6kcTFc+h6om+j/OYoxSZ0Aj9l8+5tGwJD9r+SM+y+chvUQFLk6T9T7vuCNLYI0tZsDec2v+bRF8rqUwbUjDNQGXJgKbU3qEKu4bzsv3cD3lBRNNJTFfpmPjflqV/4f0qL1a2dvS0/HT8kBkg9kdNqNcTheAE3sm+gOJY53LH2bchYztaYWoYiX+IPmYFhY76n2X1mgu80vXl9J4ganQtxiOXmxh1rMRrt1x0XzONlibhMvt9Wgcs7RNY2hszu/2EvcjKd0mTPnNLJWfIli2/Qp4wc9r28OPHRTmYNOtrfJb+wJ8FvmWibVdqmSXOYRWMu1iMGNk/hhInafoS4coJ+pzd009QeOowGhZQ49qJVBYHvp/M8RIlCXJ+wDcLO/EyuL40Q6Z8hyLyKkvs7tNjbmUC7p5jyfGyLP25CcY54+kOBJ2TSHvxV9VpTK2XgBH83S2cN7ykSb/6mOYRNAjKtwS/CMT/5TvMKpTgq6eCgLW/HxOO2aXokarFMtGC3KPoc0npWWJHPQMwzVz1SXXrSTGKJvTkNBpc6cbVsbCkhwcdd9tS5uFh1j6qytCansxcZ8CMcSomiy/jSYqByFF3azsztz/COPdDDi7YwsPCFajavgONShelaPVmdG9U8n1UQkUIbLdYn/n2FcQH1nUsR7eLufT88SOz36daWzJ78U91+0ofDszcj8m44dQ1FCOsCCU4Qh9Dfc1xsVS/K9VoZa8KyRqyP55TVecIx4y60qGwN38tOoepbW8aWltRvmxxDD8K16l44HYwtLcvo89PiMudlDgNifA6rnoRnesmhyPaMSSeFzABHNHeTnQbcp8hi6pwxkGHsbNzMHvwLvK3GcSIQY1TTAio9DnCTt9cPN4YTF/Hb7j381weftuTqH0htBnfArOY/qoWDEGwu+Aor4jmzeP7+JuWoYS+EWZ1ejJheMNY0lXFM9xdz3Hyjwc02tyb0GULWP38a0bUD8GndE/61SqsdlFVh+U778QLshUe9pO51NYeu4oxyVRU7h9h7rs5qFMWCx0L6lY3julrRmCavbQtpbBaBL57fmdV/v7MbKZKK/OOMJ/rnDt8Gr/6g+hf+fNmpJDysawMEx9U9scwal+Ey7cKUfPBAS5X7k6POuUpYW5EnpjvMfFxYz+NIw1nM8XiDBN3FuenZndx+K8KP/T9EIKX2e/ToPmZvfhLa1+41Ac2sffsLbxzmVMs0p/QAgWI9I/EzDQfeW0GMbpRolizGlmlvSsNIGXTKskaMgcY1uAsg52jqGUaxH8xIQwrQkKafmDZjpcp+hF7HC+RIyoU81G2sYYsSRoSFUntadYdgraDG1M88b6V8MYO/XaG0rbFcek0Fp8pe3GoeZVFFyozzGwPs150Y1Hn5Ji7VV+fM3Ep1xI2vqTj6FAcjlTm17EVhWEbx7LCM3Fsbx7XW8E2v2cWK41HMSJgB4fLdKNNXuF95S9P1fiwYkxJwVU3bAVPalti1c6G8I3XqT2lCX6LZ/F3/ekfe3RxLavXnUQLcqUgdvTfiKnDDJoWiMv6izDyrtvYcjUXDXt0p67K280ITLOhziWLkcdONjyvz4hWJeI+ElS43eb6+QPspgtze1lJ3ifNhmJ/1KWkGKjCiltZfemxyIUZRH6Th7i+rUTdNxe5Y9GCr0s2ZMB3dUQWaCVhN9Zh29Wf8denUPflPiZP3kdYhe5MHNOS0vH7tjL7fdpUILMX/9S0r3BfRItlL2lXxUjFlMlpj3qs/LMXxSWSg6bmXWlDK3vVSs6QLeqzjDsRBag7pjFPzvhg8FRkrK1tQ4sunahjmnB/6B2hZ3dytGgzSh1QhRbjDFkq0pB8hEjYJZb/fJdW877FMvAg9kn2yCLwObIKp/BWjO9qRZ6YyhE8u3YfLF+z5dsl3Ldoy7iFPcl/YC3nK3ekQdHCFHl/OENFsmvLX/VWMDbYiS3639DERJdchayoUjzfh011lSH+bjX69j/TvrAfLnZ/xTKJk7x3n7whS7Agdw7it1636OEiMjnH27EkKpHBmGYjlVOLUehZljvpMWhkVfwOn+Vd68aYXt3PybxN6Gp5D/vRj4SXLVLbZCM50tOVZNcYVfqdzs4Y29bBUHjpwRcP87Ln0risBiKa4LWXJZfeUfAfTwx7F+Wa8x4eNviNdf3L8FYcQnpVqgxmCpn9Ps1jk9mLv+T2FRGEXV5F78WXKJhXRfkcir/JUFbNbIBxAQP0JRgzye9KM1rZq2LyHlk0w4aZcHLFJp416oDhhnNYzK3GgW896HLwe6zfb1jEeRMXn/DkrEgI2HAAI8eIRIgvnOm/whSHBU0poAqTPbvJLR0rqhZJngRW+dabg78fIPfA4bRUeUeCIDWpIXuNt8ts7A7UYO26npSIG1PlW1/cdy5mzEhXqs4ZT8tiumIhOMjD9vbMTpAhVykWzUVLfalS6A4nb7zBasho2hRShZx1yJXfBJN8QrBoX05Md+BRizri8MldCjcw4/G2m5T9XyeKBonDJFTj21blkngISbEUhzHcP16Q+0yNYrJGXDIO0+ylbepCi6p8bJPpu90f89e3OVF2DjeWtCD3zW38djI/jXKdxsVoJMt6lf2C98jigwUpGbL4kRSRArtdFLIfRYNXR5h3pgpTepnzxHk1lxoNT5BrTma/T7XuZ/biL7X9WG/Mh/KCPTosrzg7HuhHVKU6FPF8Q/PVc2hfSPN2sdR3pRqkbFpBvSG7guPaHAzpV5SAqGgCT61lkXsd5vwijFKoejJXZYAr84Ysx6/DeKb2NMZ9+QyGibj9gt5WKJ5c4OCDRixMnL4kISZKPy7uvYlpc5v3IRLlkwP8etaSqb0tYxNGxjwi5OTlygVFdZoLJu8YO6aqe+g2RnVqUSzKh9tPw2OL5i2MlaU5+eLDmKLchU3n0e/egar6wou74srJS7d4Fvi/E7A5AAAgAElEQVSce96mdJhhR1sLlVcWSUiwggKGX6Ej9ld9vO7jFxrEs6fB4hdjKre0wTJfUndK3UGGsIQLct42tPNdxwiJuKQb02yoc9o2v9QNQfIe2VUcJ17Gsn8NDISeh3hcIrjxYLqWjo07xD6+HF1ymbLfdxJpXW6ye+laDniFYmDZjN623URYOj5aIrPfp1r9M1s5pbYfmwW1Oi0PHyB8SFcKuW7icsOptP73yIeQlwbppL4r1SBl0wraJm9mDoOMpWZ0ZYzkC9GatST5ElpxITrekLV23YJ70dLo3LpGnmFzaXnpODrxezeyIfsIAXlhSc+0+riujKVmLGWMZEOmWUu03ZB5bMfhTQvG1I27I6QMxfvoGn5x0GfsbrsE+zopAKWjgzqyyvSAn53rygtLxo2OjKVmLGWMZEOmWUu03JClB6D4uto20bRN3ozQkeTakLHUjK6MkWzINGuJVhsycTz14U28DKyobJQLpc8eJqzNz5SZzWIvuUp8tG2iaZu8EtUgTcVkLDXDJmMkGzLNWqLVhkwIH3qGn7ufosz0jtT034GT4UTmNy2IQpxeDDEoREG15LHavc8hLyzpmVbarTtpQU7WN9mQpUVv3kfMtCNDdASBngfZeFGJidsRLvje5mX5+uS95EvNhcsYU0tF/ZPyo20TTdvk1TT+6fldxlIzejJGsiHTrCXa7pGJFAZ+BzewPzCSt5VaUMF5Glc6TKWJoQU1Kht+nAohGay0baJpkvfjEG00EW8V5M6TWxKWH0GsIgQev4jwMfPopYb5XuHhxMLA5kyx0Sckhhczx8eetCKMAP9XRCUatyh/PyJKV6ZcwrQqMWVf8tLvKU/ue+Dma8mgEY3j+BYTNvCEA1OPUnzGIKxzvyE4VBdDg3gyZCURFx2YEdSF+a2L8MptHb8FNGdW+1IJ7rTJHllqFyVN+pba9j7H8jIGaR+1L//4vTIMn2tHWLfjNa0GtqR22SA29xnBidYrcRpYPtnFJzGk2qZk6uR9ny4itwL/f3dzIm8reqsov5SBeJ37SqSLmEJL07jL5ZLSbahIcVcw3DmcKqZ1GTKhCSaJ9i0V7utxoBsjCx1n2AhXyjc25elpD0rPWc8Y63wxbPqnj98g8N5B1vjXZXidD+z1emVsaGttEmNclQFubNh6C8PKxnj/cZ7ic0ZjYyCYO/KaYmaoMlIqTs717PQIQy/Xi7h0GJXQexVOpFkLRscQB4v+3j3PX5s3cbdSF5pULUf0ptlcbT+bngahSQ1nnBKlXXc+dRqXCAIeBpLHwlDwayc05mlfcJKrmXaMMr4vn6rFlDBQuK9jQXhnppZzY+reYswYZIX4ckQvbr4oPNYz9lodFvcvy6tnL7i7dw1eNj/yXcWkqX+U4SGE6hXA4J1IieMYRNNR36j5mPtUKKTtvV++IRPf6sHuG1j8qA2zRZ4ehddmRp4sQucXTzCfYiu+uKWd+NC2iZaSvEq/A4xs7Upjx56UzRnO80ATvmlRkXwJoEzK7p403YZS8CeumOOOeYMSmOg94tDlkgz7Po7kVPmMk/MXsU/c+btnVIfaRcLwfNuahSPKcnPlOsJHzE5Au6OiM5rI/5604YcGhoQ8esZX9drGkuyqHuVzXFdv5PhtT57pmRLh6oVRsxIE+eelZLUOcUZKVdCHPSOncb6EJXnfQD59f/75iJNT9Z6pYkFpz7ccZ5/SHKW3MZ07FMbTaRtRI+2xtYxnrv8wIdVimdVpXNR9WAg2f9eFI5jg3xX7nkW457yL5z3nMqVefp6f2saul2VpWcMUvyP2TAiz4/zEzEuZkur5JelDKW2L4qeqpRYDwTrjtmELZ65d4DzWIs2RFy5XDGhb14wSbez4TiSKhbd4rR/CcLcClDQuTcXAUHTMlZQePoH6OroULiJYaWLaWcX244/RqVAUvfBcFDHLwcNjpwksVpJiXWYxN3Gizk8FRBreqwWGTGTfcLen7qkmuNnpsuE3D+pN6kNJz5V8v68cs6a0pIQq15SGJ9UTTVOD2fz3ZOVVPMTl+//xX+fFjKgqFm3xVbdyajBDNyYmYE4p3Yb47f4RHP98RZsJrXnrOJ97vX6m3au9zJixG3r+wvyeKlbzAE7+0IkfQwawdKg+652iGdK/JF5OB9D/YU4CQ6ZKDTOeU3V+om/ZQA5PPkXFtROo+/5zVRVSDMb38GJ2m3ei5J+umI8twTmP0nQqlZeijWrEfZF+zEMXQy59x4Y16+OJaVWGbDZbLCYzllXYLAmkV8feDO5eGs9FC3nUd0aCPqVsyLI6jYv6D4twPJaNZHf13wXvpIHgj/yJbg/6sb+eK3bHarN6Ym1izLJYBK9ejcK6hiqNSuY8qZ1fUj6UMqenmddqUgzCueWyloPeUSJ5phd3IgtTLHcA94IMqFYObntYMnH9ICrhwbJ+J6i+sBVfPRPJSJe78Sb0DiE1O9OsdgPatbOmoOojM/QkU2ZFMWlRMyLi9HiimrRJmSdh5rWsFYZMlUfq7OY/+SeqBv0HNIkzXIJT79R2dkQ0EN5FWY2pIFI70TJvyLKmZbWhxbd32bviHwqU9sPxjJKvRQblpIt9fP9SSLcR+YCL7rpY1y0ucimpjNAHI6CMeEtkXMhE6XeQcd/8QdFfh1E4xIsz/+SgTaeiPNzrTun5CxIYjRccGb8Spk2nleFd1nc7jPXOcXH5z1TJPH247vlUjPdaDhduSbE9Fyk8uBjutyzp36QEhawqUDxmL02KIZvI0DOm2IjF447NfObgyEL9YfS7vjlVhiyGGzJhXq1MT+Oi7sPiKQfsZhM0fjp1gq6wb7sn1Sf3QrFgAtf7rxXs6lmXfVmtvoV5cmjDWaKti/PqdgClmlcl9NDf+NoMwdY6/xeXlyy5NUbhvobRewIpqyPC6I/MaFwpnLOPm7N6eXsKiXB36NktbH/iyxE3M4aXC+F1534U37ZE6ONUWuqEQOFCIloSm6jUevFL2ufJQ7m6ekQ2mR7HoJ81a0pmvkU7DFkGICgbMsFUH3ddwcBjOX2cXqVgyJKyuyefbuNjQ/ZhqMLwWL8JH5E30bvkAMYUPcqwlfrMUBdaFKz0p1Zu4fKbHOgk8aJEi4oAvDzu8yCxIbtpTG1TC5r2s/ngkQ1dIfg4e1JRtdWnuIXTWn1+WKPOI1sv+Du7sLKlHi/Qw9dxURoMWVamcVHzYaFKD1LLicKr+lPRyAJrSxN0393AsbEDhZyXqfUuM2AqqW0i6fyK4vmtK1xyWcqp2nMY5TeXCcGDsS95iHX6Y5jX1OiLy0uWvCFbFjvfCtx/b8j+zdmfrRNiQ70x+7/LVrL28htK5zamdIOCPNrhxM1KgxjSrA712rXE2vgFh8RWyjyTH/iNI5xVjYJsyKSpc2Yv/pndfkIps/Jd0tDN3FIpbzyrDmD0ZEzNPIQHu+Hwox/9PsoLJQ5FSE63kYwhi3iA+10jrCM2xxgMx3qXGPyjdzIeWQIs4sMnsyy4djM/DeuYo6t8S/CLIN4oVeWeitDjYcznDaZqjkAePTGiWm1z9CKCeRF0n0MTV/GyS2tKq2Jo0d7s/asAQ8Y3oKx1RWHs3sXsxX3wyBaxTuTsvP74Cf8tOk6x36cmSIr5oU9JsczqNC7JfFg8c2HAuCh+3ZYwLCy827ET8BzkGHOYJiYjtY8brm+q0sQy6cGBjNJCtfr2+gJzh3vSfW19Lg5zoeSyPoRMcyLvlGGU8znH5fxfVl6y5A3ZH4w+ZURL4xvs9SxFp9ohHPVpwopxCfYsxVja/WnMT62Kk1ffjfHrn2OdpwLfTWsrvDYxSmGP8fJ0ZfEpMwbizMrrBnSanzA8n1Ej+Wna0RKPLIBT83aQZ9QI6qmy7yqusX6hPx2mSGf3kA1ZvIKK4+fuf/KnblcGV1XguXUBSyN6s9C2KqplL/WPMGSOjviL7M+tzZKm01HE82SWvMLvRw3o2aIgXofPk79rH2oZ5hBJBQ/xx77bIlAX/+hjbKTgZZQhpUxKUaNjA0rlficy7W5j49kXolAUEa8U4iRHXvSi3vLKuLE47NEAo+dXOHLhkUjFqe7JiWn1FjQqlZvnJ7dxqVQP2uq4czSyCm1KK/D6ezu7wm0Y06uyWgyS6k4iQ5/paVySflgsbRXJ8bULGH7aig0rx9OseHxKEFWOuFMsXXYV8+a1KPRGfACY1aFVTbNMzfuVFCMl4a6LmRrSgwXFD/G9uw1/9A5hYTdnTCYNp3MhdxxOfVl5yZJbY955bWVAv1XkHm3PL9aPWTF1Jgcq23Pi15YUiiNziPZaT7uBdxnyRysC9z6m/sReFDptzxKdPsxoW0qE8IVeC2NnO/Qo+b66zN8FZ3LWQRWaTP2MzY41vnxDpvTHfesqlq27gUHZHOh2W8SiZk9Z7iAyuIyyhhy6SCD2QJMhU/q7c+yxCFOJU0RvRbz6bZHimKhtOJQrzsfJ3bYTlRPecUqiHVH4uMxhreFwZjY1E6eOxB24SF3y6KVnu13cpzswgwnhg9nUq0yKG/ea5M2Oypxd+yRjqXlkZIzUXYgW9Hq3dvHLIejUtx01zUQePBWUKtLzg2tw0R/AxCYmseAqXuDl7s4//77DZlBbrFRrS0zI3YWwFrZ0UHnTYQ+55q9HTo9/UTRvj3WK64/mMctOJb58QyZCIxEeq7Gb8x+l7X5iSLADP7qHEXITKhn4oBiwlgVN45QhhZFJcaJF+3HrssgQfHAlHq0nUMt5JX7fL6J/6fhkdqLh0NPMGXcMvQoGhF4/zhWjb2gsDksoI42oNagfTWIS34n7Wa6bWXPxJbnFSbF/15wjb+9OVBFepDLAk3O5e7JmVotUcUR+JFLYv9gP34WySklqDhlGU5PkE4rKC0vGTVMZS81YyhjJzB6atST5ElpgyAJxnTGeQ5gSaVKVkt7emIsj30/+gi7FDrFDHKWWcgQ12YmmfIci8ipL7O7TY25lAu6eY8nxsiz9uQnGOeP99tfcWjWVv6pOY2q9Dxd2eXcL5w0vadKvPqYfXQFQeU6TaO1aB8ee5cj52p/AgvVoEZ/5OMl4BuO+bL9wMfu/P6mXpIgyCPcVDlwxr0JhYcAeHfKk3LDBtCpdQC0bh7ywpGdafVxXxlIzljJGsiHTrCUZZMiUzw4xc4sR4ybWw1C1CRwi2AwKGKCfTJxVknJGeuA45io2S3tQ9G0wV+av4vW4GbQuIHY98uilGJeX1L7YPQkPeMFL9x1sCq9Fbe/NzHfzJfwxlNDPRV37LekyZEqfI+z0zcXjjcH0dfyGez/P5eG3PYnaF0Kb8S3iTsOpQgRbGb/gKK+I5s3j+/iblhHvN8KsTk8mxLBGxA+SwNV3L983v0LnYyOoKiIE766tY2pwPzb2KqnG6Ijy3jsY2tuX0ecnqDVkKvaLg457CW0zjJ5vNzL0XifWtwvDecavbBWsGb/N745loovh0rBNj+ppT10ZS81jLWMkGzLNWpIeQxbpxYE/dnPW6ym5Shcm0jeMAiYiBBZmhGm+QtgMGUSjIupDVJqVU+V5/MKYzWe4ElCWLjVec/OJ6OyVB3zVtj/fTx1Ko3jKIzUyaG5fFa3zw+PEYY5s387xQn0YY+5HZJcGGeSRvcXbaSYu5cTRtY0v6Tg6FIcjlfl1bEVh2MaxrPBMHNubx/VcXKbdM4uVxqMYEbCDw2W60SZvIP75y1M1JqyoeqJ5632QFQeh9Kv9nNG1pJjYEot+8q+4s7SI9V2LJ0Uh+hF7HC+RIyoU81G2agxZOPcu3uEr6+oUFV5fbLZscQpQ1VYK+26SsE2P5mlRXRlLzYMtYyQbMs1akh5DFlNXdUR6GMtCq8Xs10Q/ccOjnj1/qvUQPrxMk3Iq/U+KRbsggzr6sXBLKJX+u4Hp72MpuGkNT3qNpV2h5PdwVG/R1H5MT8TG6MPbwRiEHsMpVzd6PFqQYI8sEKMxq9PhkYlL1dfug+Vrtny7hPsWbRm3sCf5D6zlfOWONChamCLvN1RDcJtjy1/1VjA22Ikt+t/QRIT4chWyokpxQSET01nB0v8sHANBreSxaCJO78pqMGTvxGXInRwt2oxSB1ShRXWG7OPB/8iQpaA5krBNj+ZpUV0ZS82DLWMkcT3TDKVWlpCwRyZCV29fcnn1eBa7C45Vld8QHIrJiMXMrFuYAoZxJ2nUwCdJOWM8vn3ceRfEdZebGHVuSLECxhgXqUn3TtYUSOF4qKT24/qlcN/MWt3O9FZc4X6ZRtQ0RHAwnuB60cY0iufkS8PCrnzri/vOxYwZ6UrVOeNpWUyX4IsHedjeXtD+fNgPU4aeZdFSX6oUusPJG2+wGjKaNoVUbBI65Mpvgkm+hEZbfDgsc441TLwm+MIqfvTvHutFffQIUlnXbWy5+IQnZz2g4QBGjmmbJEyYsIpsyLJ+nqdGT7O+d9njjTJGsiFLjyZKMGRx3pifAW88Q8krDECgjzjx19IUzyfxNCnqu6BJOT+wqausVU7yGefj7bW9LL5XjtHfVMfGtg91C2aPk3VqZREnCy8euo1RnVoUi/Lh9tPwWCDyFsbK0px88cfvRbkLm86j370DVfWFF3fFlZOXbvEs8Dn3vE3pMMOOthbxXpmqgVBxt+oAukP6UPXtTbbO2ETE4KnYVhI0F2oeZYAr84Ysx6/DeKbZ1k3CIP+xIVvLNP82zGttnmLKFU1jl7LSveahhw8GlSwx0lV8fI0gcUVxmnOeQy5G/dgAFSHS+7QtqisHyb3k+THmuYRgmfM15oLr8D05sCBPfeh6CHd/1edBgkf5kicRX2PbJ/6uWyb3L1G/04dleqb351NXxkg2ZOnRVomGTHDhNanEYadIQdpaENd5N2m4qQn/rtMRHkDyjNialVOVOmMT+/67jusNwcJQqxDKJ2fZE1SBdiVLYTPaNv17ZB8taOLk3uLfudVlqjgar4tCIe6VSblEpvKbdHQQSUjTg/VnVTdZeZPk/4rm1R0P/Mo3o2GCvb5Q17l0P1ea6S2t8F95CMNFKtaLqLjQqXEstU7gZbaudGDdNT3KRhjTbe0smj3eHMMaMso6r7jilzM2BUugB4dO3yci3joFX2TVPwX51uJfVvt3Yc1vvakUE8JVfXTNxqPFYMz3i8s3/Spy6U8Y2MGXqcesWfeevV3wzmVg/zQNbLp0R6TIubDoILnHfpf8idQkHRBMHmdX86tzAHXGTaaHmjxvyfc5raljNKGQ8u/pwih9r842tTVi8GwPo1caMXf2NzEffQmf6Ad7+PmIOZM6R/P36SfoxhzeUhIV/hVVurSiYr4P90+1NI1LHIVQk6q4LrtC0So63DppyLBt33BpU850GrK4oVAlV/x+Nbo/jaX2/Y1MVRtGS6pvGgc+4Uf520ecWjyFXz1L0KyKuMvl8TeupX/h71k2SZRCnWan5l3ZZmakoyPJyRtLwOuXJJHlx3t94sWKQDxdnLmYVxe3/W74XnhF+c76XLpeg4WbR1FLxbAicsV5rJjEnJtlsPulG8FzFuDOS25SAoNLeRlweFYs5ZMyhGu7dvJfDmP0Q4LJWTSC3edLM6ebkouh5WlTzyLO+42nuxoEs/ZjsaQB51aLCG2PR4zeYsGKhGlIMrJ/GnBWi6WkNC4qQtjVjF31jlEbRiUwZB9ft1CdSt37y1jWFhjD8v+1oJTKqIuQ/e7pJyg8dZhI/aEy8hE8PbqSX9a6Yzx8Pr80Ex65unoxp5GfcnnfQUKbD6SlhLB7OtTsfdXk51eiqyVJcHuIs7h6cj/kBRFNJzFdUDSlvLOeEb3NnDbUYyBOPMez14ReFylcjOjc2BBv1yi6iA+/VjGH4VRZGcbS6a8Icck5mlwF6tJc5OVTvnnE8S0wZJ8g0M6p9WlcRKoHp1286dCPuoaqCaFaf+5x1HEBDvlGs9vOOlnFkb74q/bhIlC8EmG0uWt42WsOE+smuG+VjN5Ia1+lCHtZuE9B+y4FcJlzn2/av2DLnW+YM1lddmD1L5P2rsxR8E/RarrlFR8nB1ccJlCpS6Vu5ji3/o8OO1piWKLyB0aT0DPM6CUu9FXIg0m9onhfLsGEnoH8RV2KrTmOxYoxcYu3ykBN4VSVPlS57sTlik0I3f2OHu3OM91vCHvtqsZlL4g3ZP2JmneGKr9V4/iqZAxZhvYv9d6GtDQuYdzcsZQV2x5Se8ESbK1UXIfqrluo5J7Mpbb22FVUJV4RXtVVL6Jz3eRwRDuGiFQdymcHmaZKyNgvL26egtpJUE7liPFgE9ZTyaFKdrqbgzplsdCxoG514yxRv+QW8cRXSz7GLT9jrf/imyvduDoWlvTwoONuWyzTQ36TJdKmcY1R8Sm+/yCLPxgmohvRd3EavpNCE9tj8vQyLseFQWtQAaOcT7m6zo9mW8fGziM5jUvaRjfdi2FavnTV1hHH2gPucfXETpb+tgqPtn9ycbY0Tyy+ucyWJW0IZ16t9Mir8tquHd3CjvCGDGxem7KvttGnzzlab13OQMt4Tj/VmhxOgO9T3DfuJbxVRbwdHXAT5L6PxeV1/ecNsXebqMaQbeW6TX+MZ/+MC3UYv3VGAqLeWEP2sHkNzu8x5udpIofZ1FvUa/qCRdebsDXOI8v4/qXekElL46LCyE8cJjpCQLWutFLRDKm7bqF8yI7+GzF1iMdCRfR7mnUiutp2cGOKx5EdD/4bLPSt6DNZhOxVYeAk9VRyxB0gupqLhj26J9h/zDxdU7WsVt/UXi1Rl44mAt89v7Mqf39mCk/zM7VjajCIu386c52YF+JerZ8pDVtEcWCDr4hu1KaSZQsGTO5MmZt/4eTpxeGLxfihYzhHrwTx9N+7hOYyxDxPSXquUn0QymlchML7cnSpGxa2TTEIfyu+CcWjiAIjc8xS4OuStBimZbM/bk5Jal+43QFuuzkcYkEpXU9OrdnIKb16tKmck/vHo2jv9CvtNRzzT3aiZe7c/qStS8M2vouRhAQrPpxgFWE7d4f1POoxTqQCiRTZa+dwskxNXlz7f3vnHRDV0bXxn4qCFVBEsaIRjZXYItZYUMTYe2KMsYsG42tvQWPvLX5W1MSaYGKColgSQTGKRixRsWBURBGlqBQFWdxvdheUcmEvIEbZe/+E2bl3njkzZ87MnOepzBTnjxKjJzHZhl7iz30e/LT9DJbD+1M2oADdHEMlIrJYbh89ysOKFYj54xA3K7fG5sJUZhRdjFeXggQWrcQH2jMAjSMbzsKwDkyb3hfbwtHc8D7G5dt/sTmiN78nbS2+0e+LI+jQerbFODC2ezWSuelX/SeNZSpZla6PWdzHn157Mooo0km3iPNlboa/1SlbrzCbwIJavoyc/AIXjVio3t+9PRNMi1F6qSWp5Wiq8OLibraENMHJocJ7u62Y/hyjcUALcL6YB9N79Zg5PoZJLr6U+6AVA8c4aLUVk8u42IjDs5INbImMtKC+cSRRQca00uxs5Ltv6DIuYlUguApH+zVggs09Th4/xcMG7SnluZGbPZYzs7llurfL9E2Gcg/70xtO+upP+p06OgDPzVvwNSmN8f3qDJpah3sbVnKgxkimtSkny/jlvuvtDf2cfZNke1+lSqR6t0hBuHi2BP03Tqadds9e41BG4dVqFSOM3Vl80pYJwypyfYkLe2uPZUo7ay0bt1pIS1wNy0fk3kPkH9mWwPFzX5+RXbRi9BEdU0mC/1YGOM3H17gTE8Y0Ip/HXvybdcLG6wRRFa2pOvhrumqZ8zXvHcDC0AZ8XDL/648UZwv7xfnRkVdnZG/y+55xS6jtjvCoh+um3lSQuGopNUk/8dvH0YKvZUg+nxbPxNUlWbOwtTiz1TDQX8E/TzXqlE7WjqRoKVW6hc1DN/pn+FvBN+q7mjnPPmN2i0CWfB0oWGi6UzroZz2/y1kbS157WoykUkscsLzkkQK3foss+WWbMQNH1uGR5wkS2rfB5j0NyaTPUs+yfl0EDk2vMPmqIzsd/Rm5owLL2p7CcUtVflvhgHbzN1HGZXqLAH7weSTkifJRraSIuoPy6RxZrKHLuGik7SftoEC/D/hj3hMcu6uJrleVy65P+GyaIzbm2cgjk3vYn854ku1cVM+IVpmICwH/su3LUfxcpCVDxo+iS1XTDK+gZzzQ3t4g/y/eJBtbyY8TE/Gjk2x19SG+YV8G2OscF6p7eG31JK7557S3SdK20si4/CZSDTqg+jOIDxw+EvRnIqJzv0GZTo2x0kxKqqeEidtXFsUec2rjPh7b9xLyKYIjUhWM767dBNQYSH+tmnHa81zt54UcxGV/GVwG10lctLzJ7xMRwg0fTqnqYp8OF2ZaLN+2jIsGwwB+dtmP0YfxBFh/ycR6QtNqlQvDLtRmYd9qomtOsf92cxYt7kIFmTd536Rdpnu5KEVqyceY+O9i8dEk+ZZhTMm/gQE/hVL22VX+rDKXy0kT+5v8uLdUV1oMRBBxL5DQYjH8IZJ464/6VJyBuTNJcwN3XDUE8x6lSuvSdnQyLv8yamlNkQbUhP91LS/uHFxi5zfHsN30jW6L3pBlXNRhZ9h94DSnDkTTbbUThX9wxq2IuBkV7s3We935PQNNG72ToezDfmlL0lu/9me6K/7uF8OJNq5A07ataVKz3OscL5lGKu9dMit7D4oZWntzsksULPWjq2AkfU6oDjuF664wrTTLB88vsdd1M15Vv2Flj1QyTIKKL+CeCVWMTrD6si3O7S0I9d3OMm9rRk9so1sQGrSMizhPuOj6LSvoxICGhQheNZTZFdey7+OjrMk/mmUOpdK1Ur3GKfuwPzuOTP8gklNCb1teVZKdHB45X/J2yshv79v5nvf5LQqW+ntPwcjwclX1W4X8EnoTotWRp9mw/CJl29XGLPICO73L0q/Sr3yz/2M27R6JbSrW9OSvztg4M3PYn01HJrYwgy5d55G4n5L0qCOfkPBhMxq9SuLNGDSptkjm72iqSZPDI6BrmU4AABfbSURBVL9D3pWSysTy5npCwVI/lgpGiiPTbyXpl9DvyAT7wvaV4qbfs/zE3yxKP0GKG7t7M4fCLGj5xQC61CurO/+QePQZp9zD/vQ+X1/9r38XR9iNqwRGReG/bSsPHYdIEPZm3pHpLhekzsNJm8OTnQ76r34rH9v/6gvfn/cqWOrvKwUjxZHpt5JsODJUgqcuLIFnft4EmrzkfEAxuva1x0ZcnPD0fEzdbnaJmltpXyLPOGUc9qfz/fLqT/7jpIRZF3EtPJ9ePTW90aVkHk7qHJ4MWI+z03M5/NvMY5vDH/QeV69gqb/zFIwUR6bfSrLjyLJRe04bp6z61Q84umAF3kYlBZN+HPdEXtHjevZCjkaQ9sTmpXp3J7rXSLpBlwFQUlyL71AeTja6KUvR9Jt+X26uT5ad5mYAZLRNwUhxZDLMJN0iercWs1V5DhPtZt74k0dkmWNkkzwje4fycLLTT1K/1Yet+sFBlh0qw/ABglE+TdApEnAPr2GHSQc6531KUbt6uqg9QYUqrxEpb3eLsh4LWVdoEDMzYrwXuVWafMahp+zYKGjRCmg/OhlNTzYAUD/az9hxUYz+sS+VciAHSR+W2fj0XPNTBSPFkWXHmBVHJhO91ANNc9Hj0DuUhyOzGbKLSU8sEfiu+54/owtjjNCP++m44EDqpI1uXxT9mIGDP9E5LPVd9gxZQ/6pI6l0dg3LE5rRLuA8V25dwthpI9PsksvRaFgnXFhbeDBOdTQ8gZoniuDQotjWsXqdrC7oivZMXMnV8mUwTrq0ExdPgXJN6fRZcyplcOko40YLUtolU3FTV6Bk/a8Y17q07NxCDc2UHJZ5ZZLWb3YKRooj028lhry1mNR27c3FC3hv3kfhSXPFGVn2I7LsAP+u/1ZqYnl5+yf6LyzA/DkNyGtSlnJaejINQ/t2tr1syeDmFbQXf17e2kaPng+ZtMqI9fc6srHXBxjlSxAOaxY7Kk5Mpcito09aGNOR/lrC28QnvyXVapfXRXuC/f7imqXsi3jA2dCCFPC9S5kudhS7cZzQXhtZ0zFjbbX0sRbJzH6bmXuuOE1LmWMceIyzNv1xdqgiEWVqmEjksMynfZsySeu3dimMNH9L/eRmKaW0GIjE+YCznH+aj0J5YgmPNOPDYne4am4Dbn6UH9uXGokLOEXGJQctI6cHcObqVxF992/c3R9Qd2DXFPo8+oeZ4a2WJLHVMqQYEXXgOzaXmci0Rkbc9fbkXPFWdLQtkRg9hXNi+WzWH7dm1KS8/BDcLVHZWuOwpBxZGEcnDeFH4yYiskvc14uLIKLKl8zs86FuC1FcOHrwVNDtHFsoHOFYvnwwn8kvRjCXzWziUzo3rksdbRqFitCj3zPPO46yxVIuVNShF/CtNJFdSUz56kj+3f8D2yNbCsb9eNYNvUmfze2JcluAy041vRd/S28NSW+KRz/LvJQtSWIpS8ZF48Sl9Mj0ybgI9fM0emRpZVzyqh7gs8iJcaHdWdK7NDfdfiGk9zymNLbIRFQqZ/ToL5O5say/vvexRFoMNGPGmU++96eI93FCJm5hSZ5rJPTvQwHP+7QQbPdW2oYqMi4GtrWYdfM2tIGWfns1g0YQ9l4oRmFxm7V2j660bVST8kUSHUfkFXyD8xC84g/KfIUMRyaUCUJCiLGwQiMGrop9QcKt7Uy41IaVfax1E6pggPfdspmf9hzlcd3aPP/lEsX7tcYywItrVfvRu0ULOje3Tjw3k9PH4rzt5ln8CtXEroygWFP5veIftBIRZlysigImBdJO5npZ5qVvqEphKU/GRUqPTI6Mi8AgVS6jtIyLoPRaNZJf6y5nVnNTIg5Npcft/vwxopbQa3+7T/r2lrEeWe+qqSUm3+53v8m3STuyrynTYz3mn31JhzsBPLdvRakf9nOmZkWsy/Rm/sZ+2KDIuCiOTKYlKo4sCSjdmda6kuMFYXRx3WQfchyPh/VFVJYUwQSxZ8Rveh2ZOtSLpUv/AoskznjhRKLMaNwgErf4PomRXNJ7H3Jo3CbyzxhPrePfsSD/QPpd2sQFu4F8amdD6ezwA6ZwZBkYRBZvqUrbTio5kpqPU0mxaL5DQo9MloxL6lxGE9Fn40kj40IwHiNm8XjstzR6fI69P12n7kRn2sgkCZA5dGQVk8YordNOuwBIX6Fe1ovfoUJSW4uRvj/wfyeuce1RIUpdP8v1yCK0WeFCOU8hRRXZiDHzOlP83B5FxkXsLGpVWXLiyenJP6frT47J23xXTvRFZuvMOCJLeTkj4Z8dbMg/gO9al0yMYlI5sm7m3LsZQrjPBo7YuqQ6I3v9ZeroEAIfvyB8/3K8Gs5OWe7lfU5s+x2/0OdCnTqWsNDHRJy5TKE+w+jh4EjzSsnO1zLbWJmOTJ3FW6rpO7KrXDrpwa90Y156Mi4p9MhMxHnkbg6XaUMlj31CMXSQjgw2jYOV0iOTkHHRtLvBNkqt708N84rYVrWQpQSRWXjllJfESIYe2RfWIRzYcoKXtuWJuhpGJfs6RB44yP0WQxhkaybn1e9MmbQYiH4MuYrfBU/W7ArF+iNTQaz9hIYr23Nt/UFChSMbr1ExCPNly6q1uJ59jiLjkgPdmdOTf07XrzgyqTWORmJEqNC6n+ButBD70zwFLKnTvgttX6kJBHN0zQXKNX7O0YSWjGhQjCe3TrJnz0MajehJTa12mMSjCuWKxw62B9VltFOLdBPtNZc/ru+cifPRpqzf2DP7V+ZV51k3/QFd5nfAKp389ezcUk1rp+K2o0wZl1rPT/GnEBBtW0lzBiglbdKBrMq4WAk29AH/i2fOrj6U/4/z9qUwknTa4qZodFDSAqAT39SO5sKelWLhM5dRj+Yx7slgllgfYFPh0cxvbZEDs1rOVZkWgzjuiN2P8W6hmH5UHRvfXWx+UZqyN6NouGwclh4vtXI82nMyRcYll0dkKRKikxthPKFnb1LpW6GZVTOLCdE5Z9P/ec1vc5Hwnzc2hz9A8jbalWRyJAUd+fT+JpxSS6rM/4hra30oPrgfDZIuwohvVSeTNpnWuzh+38uQY0kt41InnEOuCxnuXY0ta8fSpryUJGgOA5Os+rQYydQjW2bFluHX6enahNPD9mC96nOeTt9GwSlONLA0xzQ7W85vr/naN0mNOdU/v7Jw12mCosKIuF+JEa79iPx+F8/bVOaC0GEbs0HnyBQZF2VrUZa5GtrEbmjtlWUEWSyUZSyFMrvHnGNUnfY5VXMgUTuLzcmRn6WHUXKnPX1Qaj0yJ+aX2cuMp71YWP4Azn4t+L++T1nUww2LCU70a1VVMo0iRxrwBipNi0EsAb//zO0SlShQzJraNUsQfvgYz5u1wPLqcc4XbYpjkgaeIuOSyyOyN2Bg6a2W3lDV72Q1WZ5838nW/LcflWUsXz7Ad48/xdu3pKo2Zy/3PlnGKBdBomCQ9c5Ubi3KxM7QjMzQ2ivTDLJUTMFSP2wKRoaXq6rfKuSXUByZTKwMbaAZWntlmkGWiilY6odNwUhxZPqtJP0SiiOTiZ6hDTRDa69MM8hSMQVL/bApGCmOTL+VKI5Mh4Dm8HzsUmJGz6eP9jqz/MfQBpqhtVe+JWS+pIKlfswUjBRHpt9KFEcmEBAEnH6rGe4WQ+2SdgwZ1wqLTOTOGNpAS7e9IUeY/5sZo5waYHxxJ/OCmjCjYyVSXKqL/pfT/xalvq1lYoKtipCjO/mrXA96vOIvjObiuoX4tZhAnzJqYs+tZuazr1jV3kKIsxTA5NW1aY18iyuj/RqzaqA1EQ+hVOkiyeijRF6b6iVGRvkEk5Un331vxPDv2mL1UsPPWBirEkkLFkHHtHkr4Z2G0qJADHHFTCks9OnCH8RgalU8ZSLwy5u4zf6T8sMG0thKJxiTncfQbCcrWCkYKY4sK3aT9BuD2VpUR//N6rl+lG1aAQvjQA6ctWaYczsqy7wNZmgDLd32ChaJJevyM+abalxZ9T92lhpA7yomxD8vQEW72rokZg1jhCDh7T23CDs8yuE8tCZRv6UkDFY/OsCU0Zs4fS6aat2qE3ElhILc4EqhlgxwnsjXzRPlVJLJt+S/fYqDqv5sXtUV61eeU7CIDBrH8Q9tePyLYHho0gCjG2eIqtqaWtXbMmpYM0pqFyyC8HeVGwz/XCSSTsbJpyQty4Tivf8D5h75GtsCz7jh8SN7rz3TLnoiL/3BOfNPaFkuL6FnfHgxeBPLHKyyRKZraLaTlQlJwUhxZFmxGwNyZIIJ4N9DrNseheO49sSuW8DNPjP4NModF5dfofdsFvSuppdw1tAGmlR71eFn2bl1B7u9H1GpmS2mF8Kw6t+dBiUj8Jp/hWY7xmNnnOjIvg4UrAP2BC+Zxt8d5tLl2pLXEi4iSf3I6mNYDWxB8KLfiasZyAnB3TirhDtz7jky69MkWZZYbm1zotnPpoz5xILw8/48rVGbkgE3sRy7EmfbIsKOkzmy369g3rUJxa4cx59S2Hw+h3nC+QhKfBbM+w3/00GYOzSg9JNAYtsLZ1bzJmtnxeCUmFSqGRQvHxxh+gQNE/4Iqt9xZ+HeBDoP6IhtycxtRScflIZmO1mZkBSMFEeWFbsxHEf24jan/YywtSsvtLJSKkSr42J5UcAEzdyr7zG0gSbZXnUCqhfnWbM+lvblbnHPthynlwfReUFLro93p+Lq0Truv2TchaW1GKu4vHSicGhLGPFKcywmMQKKThb9lMCyeBlq9fyUeoLJ4sUNLw4+V/Hvzoc06Q67Fj3EcWojHm3zSKYpp+N1rLi6G4FOq4kZ0h1Ln2PE9BubUnMu8iiTas3g6dTZDDU7wLb4TvSveodtroWZtFHDjiC2KIOPsHi1P2Z1GvNZ3wa8PDyPSVfNsPy7IP1+HEKNLKZyZct2JGVc9FmrPMFP6VoEo8ahlSx0j6HhNxPoV00/6410PXGE3QnHpKIZqkgjzEwz3qLNFkb64HhP/p8xBoKs+9BWvMr34LOkJOhk7VKLBdhCdzNGjqhPXq2GmZjUHkZQ6OOW1E+1CFPHPCXSuBimCf+wY91jWo9KFMR9T3CS+kyD2VrUNT6lI8tMvxnaQEu3vcJJrVoj+GpH2UJeFUEHduKlNiN67z2arknuyO7QZ34VTm4MoPaYZgRNXgfTv8WhuPAG6hB8NmzjdFTiCqKIOeaxl/ltWQA2X7eidov+DLSz1G3jCQ65wZNv4dgJ9m0M5ZPhtkS4+1F5wUKdo9I6zZu0GxrF6vFuPKlghXH4c8o5L2W2Q/lXZ3SPxHbiJzPNmDOnMk8vn+QYTehiHYy7Z2UWbNI4smfcC3iMRZXSPPtjE3vLt8Ri9Q/gMgvH4nnIK87gZKx3JE1KEktZemRSMi6aV+jTIxMYp5JxEczCBB9ey2xXP4oPX8DsNiLqlRIK1Tj0p8Gc3bufSPuvaKc5I0z81tsvStFkxEBaa9jx09UyK0qI1y5+iahCu3oleXRoCeOiR3ByfMYs9ZkeX6nwyw1yLmkxEIuBG1cJjErkNH3yF4s3wtAJTTETfKNBj0pj71hDsJckaCV4Ou6Mw9aoGl3a3OVkib40/WsHT4bOpU/5/IlSSOv56Y+75KkuVNZj8lPaKi93jngTXs6act2+0+5eZNXGMzOX5kRZxZHJRDXTA01mve9qMcn2qqJ5cPMAi77ZR76aNajRtAj//GlM3xmN8J98BjvXobqoRRP92E/nmr2Qe5nlQMm7u3Ae+zc1xo7HqUVZ4VzEBY4bB/i/vX9z3ecmps0+oqT6Ht6/P6bupzZYCubypDMydZAbQ+Y+oIN9PHulHJl417drCjFtfB0eHd6Ol5UdpX5xJ3LYWHpVLKwbmC8usnnxNUwLxWDt/CVl9iay90tsLWr7Q5RfP2IJ9zvPxqWrdbYZ4aWwlKdHJiHjonE0t35maN/7fH1ynC4C1i7Qkke8qWVciiCtR5b6d5q6NJeifmV/nipUzFMRu7oanbJFrDcdyZQafkxdAJPntaYYUlpmX7CvsQ8jjjRkw/iGaPUIBHv/+fPx2NYrm/JCUCrDz+z4yo1yLmkx0BEkX38UJ9B6hv+2rTx0HEIriyTR2GJUtK2CRT4hxzN+i1hd9sQyxoRiZ1fgYTuJVl5rCew7lc5lTdDenRJjZcp38UxY2oY4SZHbd3U20v9dhufI1q0jtMsY2mtW85l4MjvQMlH1O1lUevJ1Z/5+Y3r3b0WZ+564BVahbV1zjOLOs2LuC8Zot+g0juA6e7aG0mJwPeJP72SRWyGGzrQnfJkL57stYbT2bEvzqHjkMYMFRkOZ0TCIDdNC+SKJzVv7f80Z2Xz215mAc83rIvK6Tc8VrQlbvYK7/VxERJaPOL/NrHzWlYnNzYm9f5CZ7b9gfwdXdju3wrqsudhOVhMX8A8BVtbErVtKYL+pND41jcm36qeKyHRfpI69z+kfv8ftZUWK/B1MlS960ry6JQULmlPKzCRLK1Zp25GjR6ZzBH67DxH2UXccNDc+ZemRScm4SOiRpREK1XYeD3x2seN8fpr16omdWLU/2DNDpwj+8QM2T7+O47wuop+ltMz6oFo4jkv9XYUET+YELyXPZKOvZyDRUlRM8pf4y9ObR00GkhvkXDKeY5LOgj+mXHww/sa9WDG+sVhQiEWh/352+f3DXj9xsar1Uzz9azFhUlPiT7iyaNt97MZMpU+NgsKPTcd2WQQdTUywsTPmRatv05VUeicnpQw+ysAcWda7R3FkUtiJyfi2t9BCOorZkIl8UdM0caIX51/7NrLDryANu3XGvo6VcChiDg75l9tFrPkg+U1RVRyxqidc27mURRHdWCMGp05FSkWYzw6h1WXP4OYiilNd5mfXMGpVPcO0ZXmYtH0sjc0e4/2jF/FmIZw4eZ+i9XvSr+OHIAhVPT1/57Dqc1bPEFuE2rBMRBDbfuF5p75Yn9nK4eLtaFv6Dp77TOju1Ehs1QgV6o2ueMZWo3MvR+pZiXhCOLVzfx7B6/hlcPgfY1prosnMP+k7Mhl6ZClelyBTjyz1N2rEUCX0yGQKhaqjL/LjnB8IeBnGkdBuuG8RCxYpLbOEy6xruQZLt1UpzydlQJYWo3hC/M/xd7oSLea5Ts4lwznmVTTlQDG/5fS66Mivgz7URrnqJD2yc0bUM8srYrdYLOrYYhl9iX3GThyeZoexyKE9MGUQ8y0msZhDnND0ieLIZFimKJLTk39O15+8lW/zXfLQzdlShtbenERTastIrh5ZndLifOPV82b1yErLFApVRwcTGFuCChG7GHy0Aa4japFPUstMqHiPGcf1gesSo25NZOiLz/M6tHqVPyiNtKS9PTvFPEmJlmHYBP3F2aKt6F71pojUxQ3ZXCDnkv6Yi+PWjpn8VHkCUxtrtnpnMwcnkQ5S6jWYGj2yHeVYMjA/blN8sNWcV4dq/lZRnB2L88nou9y47sMyLyu+wo21l0zpsmBuphccOTlOslO3EpHJRM/QJnZDa69MM8hSsbRYinMoOXpki7tQQUJP643okdV7yuFVMnTMtOeZu5jqHo1NgilNvxbCqKrrHJTUMtOIrnqxctV5yto3wPL5Y55bNcKhvpXeSDYtRmpifJYxTVKiZThdLf1Y41WU5vm92WOeO+Rc0o3cL+9gySlbxn5WgnvBzwjfu5YrIqXl9Q1gYZbCkQ3q4kblWSOp4rYa3w/FFqSIyPYXG82RpIs2mjJDD1Ok0FkOlpjJiTUdsXxfb3ekGomKI5M5NRnaxG5o7ZVpBlkqpmCpHzYFI6kdLM35lwc/BlXns3ZVKJIQwbWfl7M03J5ZI1MqqKujr3HsSlGaNcrDcaHOXml4BypFncf9kiWdxNa8lj8g+g7/hBqT7+IZVPYiN1ImGYT+3vvvSyiOTGYfGNpAM7T2yjSDLBVTsNQPm4JRzh/F6O+F97eE4shk9p2hDTRDa69MM8hSMQVL/bApGCmOTL+VpF9CcWQy0TO0gWZo7ZVpBlkqpmCpHzYFI8WR6beSDByZ+Jc6OxUov1UQUBBQEFAQUBB4Wwio1WldVo5GZG+rYcp7FAQUBBQEFAQMFwHFkRlu3ystVxBQEFAQyBUIKI4sV3Sj0ggFAQUBBQHDRUBxZIbb90rLFQQUBBQEcgUCiiPLFd2oNEJBQEFAQcBwEVAcmeH2vdJyBQEFAQWBXIHA/wMaHDtQYVQxnQAAAABJRU5ErkJggg=="/>
          <p:cNvSpPr>
            <a:spLocks noChangeAspect="1" noChangeArrowheads="1"/>
          </p:cNvSpPr>
          <p:nvPr/>
        </p:nvSpPr>
        <p:spPr bwMode="auto">
          <a:xfrm>
            <a:off x="155575" y="-22939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02695115"/>
      </p:ext>
    </p:extLst>
  </p:cSld>
  <p:clrMapOvr>
    <a:masterClrMapping/>
  </p:clrMapOvr>
  <p:transition spd="med">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000"/>
              <a:t>7. Symmetry symbols of point group</a:t>
            </a:r>
            <a:endParaRPr lang="en-US" sz="4000"/>
          </a:p>
        </p:txBody>
      </p:sp>
      <p:sp>
        <p:nvSpPr>
          <p:cNvPr id="3" name="Content Placeholder 2"/>
          <p:cNvSpPr>
            <a:spLocks noGrp="1"/>
          </p:cNvSpPr>
          <p:nvPr>
            <p:ph idx="1"/>
          </p:nvPr>
        </p:nvSpPr>
        <p:spPr/>
        <p:txBody>
          <a:bodyPr/>
          <a:lstStyle/>
          <a:p>
            <a:r>
              <a:rPr lang="en-US" altLang="zh-CN"/>
              <a:t>Symbol of symmetry elements (three kinds)</a:t>
            </a:r>
          </a:p>
          <a:p>
            <a:r>
              <a:rPr lang="en-US" altLang="zh-CN"/>
              <a:t>S</a:t>
            </a:r>
            <a:r>
              <a:rPr lang="en-US"/>
              <a:t>ymbol of point group </a:t>
            </a:r>
            <a:r>
              <a:rPr lang="en-US" altLang="zh-CN"/>
              <a:t>(three kinds)</a:t>
            </a:r>
          </a:p>
          <a:p>
            <a:pPr marL="971550" lvl="1" indent="-514350">
              <a:buFont typeface="+mj-lt"/>
              <a:buAutoNum type="arabicParenR"/>
            </a:pPr>
            <a:r>
              <a:rPr lang="en-US" altLang="zh-CN"/>
              <a:t>Conventional symbol </a:t>
            </a:r>
            <a:r>
              <a:rPr lang="zh-CN" altLang="en-US"/>
              <a:t>（常用符号）</a:t>
            </a:r>
            <a:endParaRPr lang="en-US" altLang="zh-CN"/>
          </a:p>
          <a:p>
            <a:pPr marL="971550" lvl="1" indent="-514350">
              <a:buFont typeface="+mj-lt"/>
              <a:buAutoNum type="arabicParenR"/>
            </a:pPr>
            <a:r>
              <a:rPr lang="en-US"/>
              <a:t>International symbol </a:t>
            </a:r>
            <a:r>
              <a:rPr lang="zh-CN" altLang="en-US"/>
              <a:t>（国际符号）</a:t>
            </a:r>
            <a:endParaRPr lang="en-US"/>
          </a:p>
          <a:p>
            <a:pPr marL="971550" lvl="1" indent="-514350">
              <a:buFont typeface="+mj-lt"/>
              <a:buAutoNum type="arabicParenR"/>
            </a:pPr>
            <a:r>
              <a:rPr lang="en-US" altLang="zh-CN"/>
              <a:t>St. Frances symbol </a:t>
            </a:r>
          </a:p>
        </p:txBody>
      </p:sp>
    </p:spTree>
    <p:extLst>
      <p:ext uri="{BB962C8B-B14F-4D97-AF65-F5344CB8AC3E}">
        <p14:creationId xmlns:p14="http://schemas.microsoft.com/office/powerpoint/2010/main" val="2539297976"/>
      </p:ext>
    </p:extLst>
  </p:cSld>
  <p:clrMapOvr>
    <a:masterClrMapping/>
  </p:clrMapOvr>
  <p:transition spd="med">
    <p:zo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8"/>
          <p:cNvSpPr>
            <a:spLocks noGrp="1" noChangeArrowheads="1"/>
          </p:cNvSpPr>
          <p:nvPr>
            <p:ph type="title"/>
          </p:nvPr>
        </p:nvSpPr>
        <p:spPr>
          <a:xfrm>
            <a:off x="1219200" y="762000"/>
            <a:ext cx="7239000" cy="800100"/>
          </a:xfrm>
          <a:noFill/>
        </p:spPr>
        <p:txBody>
          <a:bodyPr anchor="b"/>
          <a:lstStyle/>
          <a:p>
            <a:pPr algn="l" eaLnBrk="1" hangingPunct="1"/>
            <a:r>
              <a:rPr lang="en-US" altLang="zh-CN" sz="4000" b="1"/>
              <a:t>Symbol of symmetry elements</a:t>
            </a:r>
            <a:endParaRPr lang="zh-CN" altLang="zh-CN" sz="4000" b="1"/>
          </a:p>
        </p:txBody>
      </p:sp>
      <p:sp>
        <p:nvSpPr>
          <p:cNvPr id="9228" name="Line 1044"/>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9" name="Text Box 1045"/>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grpSp>
        <p:nvGrpSpPr>
          <p:cNvPr id="4" name="Group 3"/>
          <p:cNvGrpSpPr/>
          <p:nvPr/>
        </p:nvGrpSpPr>
        <p:grpSpPr>
          <a:xfrm>
            <a:off x="-71488" y="1311448"/>
            <a:ext cx="9477835" cy="3574877"/>
            <a:chOff x="-71488" y="1311448"/>
            <a:chExt cx="9477835" cy="3574877"/>
          </a:xfrm>
        </p:grpSpPr>
        <p:sp>
          <p:nvSpPr>
            <p:cNvPr id="9220" name="Rectangle 1030"/>
            <p:cNvSpPr>
              <a:spLocks noChangeArrowheads="1"/>
            </p:cNvSpPr>
            <p:nvPr/>
          </p:nvSpPr>
          <p:spPr bwMode="auto">
            <a:xfrm>
              <a:off x="34903" y="1669506"/>
              <a:ext cx="6203032" cy="645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400">
                  <a:solidFill>
                    <a:schemeClr val="tx2"/>
                  </a:solidFill>
                </a:rPr>
                <a:t>Symmetrical elements of macroscopic crystals</a:t>
              </a:r>
              <a:endParaRPr lang="zh-CN" altLang="zh-CN" sz="2400">
                <a:solidFill>
                  <a:schemeClr val="tx2"/>
                </a:solidFill>
              </a:endParaRPr>
            </a:p>
          </p:txBody>
        </p:sp>
        <p:graphicFrame>
          <p:nvGraphicFramePr>
            <p:cNvPr id="9219" name="Object 1029"/>
            <p:cNvGraphicFramePr>
              <a:graphicFrameLocks noChangeAspect="1"/>
            </p:cNvGraphicFramePr>
            <p:nvPr>
              <p:extLst>
                <p:ext uri="{D42A27DB-BD31-4B8C-83A1-F6EECF244321}">
                  <p14:modId xmlns:p14="http://schemas.microsoft.com/office/powerpoint/2010/main" val="2553469629"/>
                </p:ext>
              </p:extLst>
            </p:nvPr>
          </p:nvGraphicFramePr>
          <p:xfrm>
            <a:off x="14288" y="2360613"/>
            <a:ext cx="9047162" cy="2525712"/>
          </p:xfrm>
          <a:graphic>
            <a:graphicData uri="http://schemas.openxmlformats.org/presentationml/2006/ole">
              <mc:AlternateContent xmlns:mc="http://schemas.openxmlformats.org/markup-compatibility/2006">
                <mc:Choice xmlns:v="urn:schemas-microsoft-com:vml" Requires="v">
                  <p:oleObj spid="_x0000_s9217" name="Document" r:id="rId3" imgW="6196367" imgH="1738926" progId="Word.Document.8">
                    <p:embed/>
                  </p:oleObj>
                </mc:Choice>
                <mc:Fallback>
                  <p:oleObj name="Document" r:id="rId3" imgW="6196367" imgH="1738926" progId="Word.Document.8">
                    <p:embed/>
                    <p:pic>
                      <p:nvPicPr>
                        <p:cNvPr id="9219" name="Object 1029"/>
                        <p:cNvPicPr>
                          <a:picLocks noChangeAspect="1" noChangeArrowheads="1"/>
                        </p:cNvPicPr>
                        <p:nvPr/>
                      </p:nvPicPr>
                      <p:blipFill>
                        <a:blip r:embed="rId4"/>
                        <a:srcRect/>
                        <a:stretch>
                          <a:fillRect/>
                        </a:stretch>
                      </p:blipFill>
                      <p:spPr bwMode="auto">
                        <a:xfrm>
                          <a:off x="14288" y="2360613"/>
                          <a:ext cx="9047162" cy="2525712"/>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221" name="Group 1031"/>
            <p:cNvGrpSpPr>
              <a:grpSpLocks/>
            </p:cNvGrpSpPr>
            <p:nvPr/>
          </p:nvGrpSpPr>
          <p:grpSpPr bwMode="auto">
            <a:xfrm>
              <a:off x="8504238" y="4351338"/>
              <a:ext cx="381000" cy="211137"/>
              <a:chOff x="3969" y="1423"/>
              <a:chExt cx="216" cy="85"/>
            </a:xfrm>
          </p:grpSpPr>
          <p:sp>
            <p:nvSpPr>
              <p:cNvPr id="9235" name="AutoShape 1032"/>
              <p:cNvSpPr>
                <a:spLocks noChangeArrowheads="1"/>
              </p:cNvSpPr>
              <p:nvPr/>
            </p:nvSpPr>
            <p:spPr bwMode="auto">
              <a:xfrm>
                <a:off x="3969" y="1423"/>
                <a:ext cx="216" cy="85"/>
              </a:xfrm>
              <a:prstGeom prst="hexagon">
                <a:avLst>
                  <a:gd name="adj" fmla="val 63529"/>
                  <a:gd name="vf" fmla="val 115470"/>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9236" name="Oval 1033"/>
              <p:cNvSpPr>
                <a:spLocks noChangeArrowheads="1"/>
              </p:cNvSpPr>
              <p:nvPr/>
            </p:nvSpPr>
            <p:spPr bwMode="auto">
              <a:xfrm>
                <a:off x="4048" y="1440"/>
                <a:ext cx="56" cy="47"/>
              </a:xfrm>
              <a:prstGeom prst="ellipse">
                <a:avLst/>
              </a:prstGeom>
              <a:solidFill>
                <a:srgbClr val="FFFF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9222" name="Group 1034"/>
            <p:cNvGrpSpPr>
              <a:grpSpLocks/>
            </p:cNvGrpSpPr>
            <p:nvPr/>
          </p:nvGrpSpPr>
          <p:grpSpPr bwMode="auto">
            <a:xfrm>
              <a:off x="7943850" y="4351338"/>
              <a:ext cx="377825" cy="198437"/>
              <a:chOff x="3962" y="1423"/>
              <a:chExt cx="238" cy="77"/>
            </a:xfrm>
          </p:grpSpPr>
          <p:sp>
            <p:nvSpPr>
              <p:cNvPr id="9233" name="AutoShape 1035"/>
              <p:cNvSpPr>
                <a:spLocks noChangeArrowheads="1"/>
              </p:cNvSpPr>
              <p:nvPr/>
            </p:nvSpPr>
            <p:spPr bwMode="auto">
              <a:xfrm>
                <a:off x="3962" y="1423"/>
                <a:ext cx="238" cy="77"/>
              </a:xfrm>
              <a:prstGeom prst="parallelogram">
                <a:avLst>
                  <a:gd name="adj" fmla="val 77273"/>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9234" name="Oval 1036"/>
              <p:cNvSpPr>
                <a:spLocks noChangeArrowheads="1"/>
              </p:cNvSpPr>
              <p:nvPr/>
            </p:nvSpPr>
            <p:spPr bwMode="auto">
              <a:xfrm>
                <a:off x="4048" y="1440"/>
                <a:ext cx="56" cy="47"/>
              </a:xfrm>
              <a:prstGeom prst="ellipse">
                <a:avLst/>
              </a:prstGeom>
              <a:solidFill>
                <a:srgbClr val="FFFF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9223" name="Group 1037"/>
            <p:cNvGrpSpPr>
              <a:grpSpLocks/>
            </p:cNvGrpSpPr>
            <p:nvPr/>
          </p:nvGrpSpPr>
          <p:grpSpPr bwMode="auto">
            <a:xfrm>
              <a:off x="7348538" y="4324350"/>
              <a:ext cx="342900" cy="228600"/>
              <a:chOff x="2976" y="1592"/>
              <a:chExt cx="168" cy="88"/>
            </a:xfrm>
          </p:grpSpPr>
          <p:sp>
            <p:nvSpPr>
              <p:cNvPr id="9231" name="AutoShape 1038"/>
              <p:cNvSpPr>
                <a:spLocks noChangeArrowheads="1"/>
              </p:cNvSpPr>
              <p:nvPr/>
            </p:nvSpPr>
            <p:spPr bwMode="auto">
              <a:xfrm>
                <a:off x="2976" y="1592"/>
                <a:ext cx="168" cy="88"/>
              </a:xfrm>
              <a:prstGeom prst="triangle">
                <a:avLst>
                  <a:gd name="adj" fmla="val 50000"/>
                </a:avLst>
              </a:prstGeom>
              <a:solidFill>
                <a:schemeClr val="accent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9232" name="Oval 1039"/>
              <p:cNvSpPr>
                <a:spLocks noChangeArrowheads="1"/>
              </p:cNvSpPr>
              <p:nvPr/>
            </p:nvSpPr>
            <p:spPr bwMode="auto">
              <a:xfrm>
                <a:off x="3032" y="1624"/>
                <a:ext cx="56" cy="47"/>
              </a:xfrm>
              <a:prstGeom prst="ellipse">
                <a:avLst/>
              </a:prstGeom>
              <a:solidFill>
                <a:srgbClr val="FFFF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sp>
          <p:nvSpPr>
            <p:cNvPr id="9224" name="Oval 1040"/>
            <p:cNvSpPr>
              <a:spLocks noChangeArrowheads="1"/>
            </p:cNvSpPr>
            <p:nvPr/>
          </p:nvSpPr>
          <p:spPr bwMode="auto">
            <a:xfrm>
              <a:off x="1908175" y="4414838"/>
              <a:ext cx="304800" cy="1524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en-US" altLang="en-US" sz="4400"/>
            </a:p>
          </p:txBody>
        </p:sp>
        <p:sp>
          <p:nvSpPr>
            <p:cNvPr id="9225" name="AutoShape 1041"/>
            <p:cNvSpPr>
              <a:spLocks noChangeArrowheads="1"/>
            </p:cNvSpPr>
            <p:nvPr/>
          </p:nvSpPr>
          <p:spPr bwMode="auto">
            <a:xfrm>
              <a:off x="2484438" y="4262438"/>
              <a:ext cx="304800" cy="304800"/>
            </a:xfrm>
            <a:prstGeom prst="triangle">
              <a:avLst>
                <a:gd name="adj" fmla="val 50000"/>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9226" name="Rectangle 1042"/>
            <p:cNvSpPr>
              <a:spLocks noChangeArrowheads="1"/>
            </p:cNvSpPr>
            <p:nvPr/>
          </p:nvSpPr>
          <p:spPr bwMode="auto">
            <a:xfrm>
              <a:off x="3132138" y="4338638"/>
              <a:ext cx="228600" cy="2286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9227" name="AutoShape 1043"/>
            <p:cNvSpPr>
              <a:spLocks noChangeArrowheads="1"/>
            </p:cNvSpPr>
            <p:nvPr/>
          </p:nvSpPr>
          <p:spPr bwMode="auto">
            <a:xfrm>
              <a:off x="3695700" y="4338638"/>
              <a:ext cx="228600" cy="228600"/>
            </a:xfrm>
            <a:prstGeom prst="hexagon">
              <a:avLst>
                <a:gd name="adj" fmla="val 25000"/>
                <a:gd name="vf" fmla="val 115470"/>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sp>
          <p:nvSpPr>
            <p:cNvPr id="2" name="TextBox 1"/>
            <p:cNvSpPr txBox="1"/>
            <p:nvPr/>
          </p:nvSpPr>
          <p:spPr>
            <a:xfrm>
              <a:off x="7371206" y="3711953"/>
              <a:ext cx="253596" cy="338554"/>
            </a:xfrm>
            <a:prstGeom prst="rect">
              <a:avLst/>
            </a:prstGeom>
            <a:noFill/>
          </p:spPr>
          <p:txBody>
            <a:bodyPr wrap="none" rtlCol="0">
              <a:spAutoFit/>
            </a:bodyPr>
            <a:lstStyle/>
            <a:p>
              <a:r>
                <a:rPr lang="en-US" altLang="zh-CN" sz="1600"/>
                <a:t>-</a:t>
              </a:r>
              <a:endParaRPr lang="en-US" sz="1600"/>
            </a:p>
          </p:txBody>
        </p:sp>
        <p:sp>
          <p:nvSpPr>
            <p:cNvPr id="22" name="TextBox 21"/>
            <p:cNvSpPr txBox="1"/>
            <p:nvPr/>
          </p:nvSpPr>
          <p:spPr>
            <a:xfrm>
              <a:off x="7954415" y="3704461"/>
              <a:ext cx="253596" cy="338554"/>
            </a:xfrm>
            <a:prstGeom prst="rect">
              <a:avLst/>
            </a:prstGeom>
            <a:noFill/>
          </p:spPr>
          <p:txBody>
            <a:bodyPr wrap="none" rtlCol="0">
              <a:spAutoFit/>
            </a:bodyPr>
            <a:lstStyle/>
            <a:p>
              <a:r>
                <a:rPr lang="en-US" altLang="zh-CN" sz="1600"/>
                <a:t>-</a:t>
              </a:r>
              <a:endParaRPr lang="en-US" sz="1600"/>
            </a:p>
          </p:txBody>
        </p:sp>
        <p:sp>
          <p:nvSpPr>
            <p:cNvPr id="23" name="TextBox 22"/>
            <p:cNvSpPr txBox="1"/>
            <p:nvPr/>
          </p:nvSpPr>
          <p:spPr>
            <a:xfrm>
              <a:off x="8546050" y="3711438"/>
              <a:ext cx="253596" cy="338554"/>
            </a:xfrm>
            <a:prstGeom prst="rect">
              <a:avLst/>
            </a:prstGeom>
            <a:noFill/>
          </p:spPr>
          <p:txBody>
            <a:bodyPr wrap="none" rtlCol="0">
              <a:spAutoFit/>
            </a:bodyPr>
            <a:lstStyle/>
            <a:p>
              <a:r>
                <a:rPr lang="en-US" altLang="zh-CN" sz="1600"/>
                <a:t>-</a:t>
              </a:r>
              <a:endParaRPr lang="en-US" sz="1600"/>
            </a:p>
          </p:txBody>
        </p:sp>
        <p:sp>
          <p:nvSpPr>
            <p:cNvPr id="5" name="TextBox 4"/>
            <p:cNvSpPr txBox="1"/>
            <p:nvPr/>
          </p:nvSpPr>
          <p:spPr>
            <a:xfrm>
              <a:off x="6859177" y="1311448"/>
              <a:ext cx="2547170" cy="1015663"/>
            </a:xfrm>
            <a:prstGeom prst="rect">
              <a:avLst/>
            </a:prstGeom>
            <a:noFill/>
          </p:spPr>
          <p:txBody>
            <a:bodyPr wrap="square" rtlCol="0">
              <a:spAutoFit/>
            </a:bodyPr>
            <a:lstStyle/>
            <a:p>
              <a:endParaRPr lang="en-US" altLang="zh-CN" sz="2000"/>
            </a:p>
            <a:p>
              <a:r>
                <a:rPr lang="en-US" altLang="zh-CN" sz="2000"/>
                <a:t>Symmetry elements of the compound</a:t>
              </a:r>
              <a:endParaRPr lang="en-US" sz="2000"/>
            </a:p>
          </p:txBody>
        </p:sp>
        <p:sp>
          <p:nvSpPr>
            <p:cNvPr id="6" name="TextBox 5"/>
            <p:cNvSpPr txBox="1"/>
            <p:nvPr/>
          </p:nvSpPr>
          <p:spPr>
            <a:xfrm>
              <a:off x="57316" y="2353056"/>
              <a:ext cx="822661" cy="307777"/>
            </a:xfrm>
            <a:prstGeom prst="rect">
              <a:avLst/>
            </a:prstGeom>
            <a:solidFill>
              <a:schemeClr val="bg1">
                <a:lumMod val="95000"/>
              </a:schemeClr>
            </a:solidFill>
          </p:spPr>
          <p:txBody>
            <a:bodyPr wrap="none" rtlCol="0">
              <a:spAutoFit/>
            </a:bodyPr>
            <a:lstStyle/>
            <a:p>
              <a:r>
                <a:rPr lang="en-US" sz="1400">
                  <a:latin typeface="+mn-lt"/>
                </a:rPr>
                <a:t>Element</a:t>
              </a:r>
            </a:p>
          </p:txBody>
        </p:sp>
        <p:sp>
          <p:nvSpPr>
            <p:cNvPr id="7" name="Rectangle 6"/>
            <p:cNvSpPr/>
            <p:nvPr/>
          </p:nvSpPr>
          <p:spPr bwMode="auto">
            <a:xfrm>
              <a:off x="2267744" y="2406599"/>
              <a:ext cx="720080" cy="16991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33" name="TextBox 32"/>
            <p:cNvSpPr txBox="1"/>
            <p:nvPr/>
          </p:nvSpPr>
          <p:spPr>
            <a:xfrm>
              <a:off x="1836117" y="2353056"/>
              <a:ext cx="1620508" cy="276999"/>
            </a:xfrm>
            <a:prstGeom prst="rect">
              <a:avLst/>
            </a:prstGeom>
            <a:noFill/>
          </p:spPr>
          <p:txBody>
            <a:bodyPr wrap="none" rtlCol="0">
              <a:spAutoFit/>
            </a:bodyPr>
            <a:lstStyle/>
            <a:p>
              <a:pPr algn="ctr"/>
              <a:r>
                <a:rPr lang="en-US" altLang="zh-CN" sz="1200">
                  <a:latin typeface="+mn-lt"/>
                </a:rPr>
                <a:t>Symmetry Axis </a:t>
              </a:r>
              <a:r>
                <a:rPr lang="zh-CN" altLang="en-US" sz="1200">
                  <a:latin typeface="+mn-lt"/>
                </a:rPr>
                <a:t>（</a:t>
              </a:r>
              <a:r>
                <a:rPr lang="en-US" altLang="zh-CN" sz="1200">
                  <a:latin typeface="+mn-lt"/>
                </a:rPr>
                <a:t>n</a:t>
              </a:r>
              <a:r>
                <a:rPr lang="zh-CN" altLang="en-US" sz="1200">
                  <a:latin typeface="+mn-lt"/>
                </a:rPr>
                <a:t>）</a:t>
              </a:r>
              <a:endParaRPr lang="en-US" sz="1200">
                <a:latin typeface="+mn-lt"/>
              </a:endParaRPr>
            </a:p>
          </p:txBody>
        </p:sp>
        <p:sp>
          <p:nvSpPr>
            <p:cNvPr id="35" name="Rectangle 34"/>
            <p:cNvSpPr/>
            <p:nvPr/>
          </p:nvSpPr>
          <p:spPr bwMode="auto">
            <a:xfrm>
              <a:off x="19844" y="2806648"/>
              <a:ext cx="1004094" cy="177964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30" name="TextBox 29"/>
            <p:cNvSpPr txBox="1"/>
            <p:nvPr/>
          </p:nvSpPr>
          <p:spPr>
            <a:xfrm>
              <a:off x="-54675" y="2752132"/>
              <a:ext cx="1239442" cy="253916"/>
            </a:xfrm>
            <a:prstGeom prst="rect">
              <a:avLst/>
            </a:prstGeom>
            <a:noFill/>
          </p:spPr>
          <p:txBody>
            <a:bodyPr wrap="none" rtlCol="0">
              <a:spAutoFit/>
            </a:bodyPr>
            <a:lstStyle/>
            <a:p>
              <a:pPr algn="ctr"/>
              <a:r>
                <a:rPr lang="en-US" sz="1050" b="0"/>
                <a:t>Auxiliary geometry</a:t>
              </a:r>
              <a:endParaRPr lang="en-US" sz="1050"/>
            </a:p>
          </p:txBody>
        </p:sp>
        <p:sp>
          <p:nvSpPr>
            <p:cNvPr id="31" name="TextBox 30"/>
            <p:cNvSpPr txBox="1"/>
            <p:nvPr/>
          </p:nvSpPr>
          <p:spPr>
            <a:xfrm>
              <a:off x="-71488" y="3011944"/>
              <a:ext cx="1273069" cy="253916"/>
            </a:xfrm>
            <a:prstGeom prst="rect">
              <a:avLst/>
            </a:prstGeom>
            <a:noFill/>
          </p:spPr>
          <p:txBody>
            <a:bodyPr wrap="square" rtlCol="0">
              <a:spAutoFit/>
            </a:bodyPr>
            <a:lstStyle/>
            <a:p>
              <a:pPr algn="ctr"/>
              <a:r>
                <a:rPr lang="en-US" sz="1050" b="0"/>
                <a:t>Symmetry operation</a:t>
              </a:r>
              <a:endParaRPr lang="en-US" sz="1050"/>
            </a:p>
          </p:txBody>
        </p:sp>
        <p:sp>
          <p:nvSpPr>
            <p:cNvPr id="32" name="TextBox 31"/>
            <p:cNvSpPr txBox="1"/>
            <p:nvPr/>
          </p:nvSpPr>
          <p:spPr>
            <a:xfrm>
              <a:off x="16278" y="3280970"/>
              <a:ext cx="1097537" cy="415498"/>
            </a:xfrm>
            <a:prstGeom prst="rect">
              <a:avLst/>
            </a:prstGeom>
            <a:noFill/>
          </p:spPr>
          <p:txBody>
            <a:bodyPr wrap="square" rtlCol="0">
              <a:spAutoFit/>
            </a:bodyPr>
            <a:lstStyle/>
            <a:p>
              <a:pPr algn="ctr"/>
              <a:r>
                <a:rPr lang="en-US" sz="1050" b="0"/>
                <a:t>Basic rotation </a:t>
              </a:r>
            </a:p>
            <a:p>
              <a:pPr algn="ctr"/>
              <a:r>
                <a:rPr lang="en-US" sz="1050" b="0"/>
                <a:t>angle</a:t>
              </a:r>
            </a:p>
          </p:txBody>
        </p:sp>
        <p:sp>
          <p:nvSpPr>
            <p:cNvPr id="36" name="Rectangle 35"/>
            <p:cNvSpPr/>
            <p:nvPr/>
          </p:nvSpPr>
          <p:spPr bwMode="auto">
            <a:xfrm>
              <a:off x="7648162" y="2404862"/>
              <a:ext cx="884277" cy="18594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37" name="Rectangle 36"/>
            <p:cNvSpPr/>
            <p:nvPr/>
          </p:nvSpPr>
          <p:spPr bwMode="auto">
            <a:xfrm>
              <a:off x="4211960" y="2406598"/>
              <a:ext cx="1080120" cy="950393"/>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38" name="Rectangle 37"/>
            <p:cNvSpPr/>
            <p:nvPr/>
          </p:nvSpPr>
          <p:spPr bwMode="auto">
            <a:xfrm>
              <a:off x="5652120" y="2416124"/>
              <a:ext cx="1296144" cy="88541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39" name="Rectangle 38"/>
            <p:cNvSpPr/>
            <p:nvPr/>
          </p:nvSpPr>
          <p:spPr bwMode="auto">
            <a:xfrm>
              <a:off x="1238286" y="2642007"/>
              <a:ext cx="2829657" cy="71703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40" name="TextBox 39"/>
            <p:cNvSpPr txBox="1"/>
            <p:nvPr/>
          </p:nvSpPr>
          <p:spPr>
            <a:xfrm>
              <a:off x="1331640" y="2564904"/>
              <a:ext cx="251992" cy="253916"/>
            </a:xfrm>
            <a:prstGeom prst="rect">
              <a:avLst/>
            </a:prstGeom>
            <a:noFill/>
          </p:spPr>
          <p:txBody>
            <a:bodyPr wrap="none" rtlCol="0">
              <a:spAutoFit/>
            </a:bodyPr>
            <a:lstStyle/>
            <a:p>
              <a:pPr algn="ctr"/>
              <a:r>
                <a:rPr lang="en-US" sz="1050" b="0"/>
                <a:t>1</a:t>
              </a:r>
              <a:endParaRPr lang="en-US" sz="1050"/>
            </a:p>
          </p:txBody>
        </p:sp>
        <p:sp>
          <p:nvSpPr>
            <p:cNvPr id="41" name="TextBox 40"/>
            <p:cNvSpPr txBox="1"/>
            <p:nvPr/>
          </p:nvSpPr>
          <p:spPr>
            <a:xfrm>
              <a:off x="1907704" y="2564904"/>
              <a:ext cx="251992" cy="253916"/>
            </a:xfrm>
            <a:prstGeom prst="rect">
              <a:avLst/>
            </a:prstGeom>
            <a:noFill/>
          </p:spPr>
          <p:txBody>
            <a:bodyPr wrap="none" rtlCol="0">
              <a:spAutoFit/>
            </a:bodyPr>
            <a:lstStyle/>
            <a:p>
              <a:pPr algn="ctr"/>
              <a:r>
                <a:rPr lang="en-US" sz="1050" b="0"/>
                <a:t>2</a:t>
              </a:r>
              <a:endParaRPr lang="en-US" sz="1050"/>
            </a:p>
          </p:txBody>
        </p:sp>
        <p:sp>
          <p:nvSpPr>
            <p:cNvPr id="42" name="TextBox 41"/>
            <p:cNvSpPr txBox="1"/>
            <p:nvPr/>
          </p:nvSpPr>
          <p:spPr>
            <a:xfrm>
              <a:off x="2483768" y="2564904"/>
              <a:ext cx="251992" cy="253916"/>
            </a:xfrm>
            <a:prstGeom prst="rect">
              <a:avLst/>
            </a:prstGeom>
            <a:noFill/>
          </p:spPr>
          <p:txBody>
            <a:bodyPr wrap="none" rtlCol="0">
              <a:spAutoFit/>
            </a:bodyPr>
            <a:lstStyle/>
            <a:p>
              <a:pPr algn="ctr"/>
              <a:r>
                <a:rPr lang="en-US" sz="1050" b="0"/>
                <a:t>3</a:t>
              </a:r>
              <a:endParaRPr lang="en-US" sz="1050"/>
            </a:p>
          </p:txBody>
        </p:sp>
        <p:sp>
          <p:nvSpPr>
            <p:cNvPr id="43" name="TextBox 42"/>
            <p:cNvSpPr txBox="1"/>
            <p:nvPr/>
          </p:nvSpPr>
          <p:spPr>
            <a:xfrm>
              <a:off x="3050902" y="2564904"/>
              <a:ext cx="251992" cy="253916"/>
            </a:xfrm>
            <a:prstGeom prst="rect">
              <a:avLst/>
            </a:prstGeom>
            <a:noFill/>
          </p:spPr>
          <p:txBody>
            <a:bodyPr wrap="none" rtlCol="0">
              <a:spAutoFit/>
            </a:bodyPr>
            <a:lstStyle/>
            <a:p>
              <a:pPr algn="ctr"/>
              <a:r>
                <a:rPr lang="en-US" sz="1050" b="0"/>
                <a:t>4</a:t>
              </a:r>
              <a:endParaRPr lang="en-US" sz="1050"/>
            </a:p>
          </p:txBody>
        </p:sp>
        <p:sp>
          <p:nvSpPr>
            <p:cNvPr id="44" name="TextBox 43"/>
            <p:cNvSpPr txBox="1"/>
            <p:nvPr/>
          </p:nvSpPr>
          <p:spPr>
            <a:xfrm>
              <a:off x="3636689" y="2564904"/>
              <a:ext cx="251992" cy="253916"/>
            </a:xfrm>
            <a:prstGeom prst="rect">
              <a:avLst/>
            </a:prstGeom>
            <a:noFill/>
          </p:spPr>
          <p:txBody>
            <a:bodyPr wrap="none" rtlCol="0">
              <a:spAutoFit/>
            </a:bodyPr>
            <a:lstStyle/>
            <a:p>
              <a:pPr algn="ctr"/>
              <a:r>
                <a:rPr lang="en-US" sz="1050" b="0"/>
                <a:t>6</a:t>
              </a:r>
              <a:endParaRPr lang="en-US" sz="1050"/>
            </a:p>
          </p:txBody>
        </p:sp>
        <p:sp>
          <p:nvSpPr>
            <p:cNvPr id="45" name="TextBox 44"/>
            <p:cNvSpPr txBox="1"/>
            <p:nvPr/>
          </p:nvSpPr>
          <p:spPr>
            <a:xfrm>
              <a:off x="2417642" y="2736354"/>
              <a:ext cx="385041" cy="253916"/>
            </a:xfrm>
            <a:prstGeom prst="rect">
              <a:avLst/>
            </a:prstGeom>
            <a:noFill/>
          </p:spPr>
          <p:txBody>
            <a:bodyPr wrap="none" rtlCol="0">
              <a:spAutoFit/>
            </a:bodyPr>
            <a:lstStyle/>
            <a:p>
              <a:pPr algn="ctr"/>
              <a:r>
                <a:rPr lang="en-US" sz="1050" b="0"/>
                <a:t>line</a:t>
              </a:r>
              <a:endParaRPr lang="en-US" sz="1050"/>
            </a:p>
          </p:txBody>
        </p:sp>
        <p:sp>
          <p:nvSpPr>
            <p:cNvPr id="46" name="TextBox 45"/>
            <p:cNvSpPr txBox="1"/>
            <p:nvPr/>
          </p:nvSpPr>
          <p:spPr>
            <a:xfrm>
              <a:off x="1982383" y="3038093"/>
              <a:ext cx="1265091" cy="253916"/>
            </a:xfrm>
            <a:prstGeom prst="rect">
              <a:avLst/>
            </a:prstGeom>
            <a:noFill/>
          </p:spPr>
          <p:txBody>
            <a:bodyPr wrap="none" rtlCol="0">
              <a:spAutoFit/>
            </a:bodyPr>
            <a:lstStyle/>
            <a:p>
              <a:pPr algn="ctr"/>
              <a:r>
                <a:rPr lang="en-US" sz="1050" b="0"/>
                <a:t>Rotation about lines</a:t>
              </a:r>
              <a:endParaRPr lang="en-US" sz="1050"/>
            </a:p>
          </p:txBody>
        </p:sp>
        <p:sp>
          <p:nvSpPr>
            <p:cNvPr id="8" name="Rectangle 7"/>
            <p:cNvSpPr/>
            <p:nvPr/>
          </p:nvSpPr>
          <p:spPr>
            <a:xfrm>
              <a:off x="-41049" y="3699943"/>
              <a:ext cx="1212191" cy="261610"/>
            </a:xfrm>
            <a:prstGeom prst="rect">
              <a:avLst/>
            </a:prstGeom>
          </p:spPr>
          <p:txBody>
            <a:bodyPr wrap="none">
              <a:spAutoFit/>
            </a:bodyPr>
            <a:lstStyle/>
            <a:p>
              <a:r>
                <a:rPr lang="en-US" sz="1100" b="0"/>
                <a:t>Conventional sign</a:t>
              </a:r>
            </a:p>
          </p:txBody>
        </p:sp>
        <p:sp>
          <p:nvSpPr>
            <p:cNvPr id="50" name="Rectangle 49"/>
            <p:cNvSpPr/>
            <p:nvPr/>
          </p:nvSpPr>
          <p:spPr>
            <a:xfrm>
              <a:off x="-21999" y="3863655"/>
              <a:ext cx="1170513" cy="261610"/>
            </a:xfrm>
            <a:prstGeom prst="rect">
              <a:avLst/>
            </a:prstGeom>
          </p:spPr>
          <p:txBody>
            <a:bodyPr wrap="none">
              <a:spAutoFit/>
            </a:bodyPr>
            <a:lstStyle/>
            <a:p>
              <a:r>
                <a:rPr lang="en-US" altLang="zh-CN" sz="1100" b="0"/>
                <a:t>International</a:t>
              </a:r>
              <a:r>
                <a:rPr lang="en-US" sz="1100" b="0"/>
                <a:t> sign</a:t>
              </a:r>
            </a:p>
          </p:txBody>
        </p:sp>
        <p:sp>
          <p:nvSpPr>
            <p:cNvPr id="51" name="Rectangle 50"/>
            <p:cNvSpPr/>
            <p:nvPr/>
          </p:nvSpPr>
          <p:spPr>
            <a:xfrm>
              <a:off x="-37518" y="4103494"/>
              <a:ext cx="1273105" cy="261610"/>
            </a:xfrm>
            <a:prstGeom prst="rect">
              <a:avLst/>
            </a:prstGeom>
          </p:spPr>
          <p:txBody>
            <a:bodyPr wrap="none">
              <a:spAutoFit/>
            </a:bodyPr>
            <a:lstStyle/>
            <a:p>
              <a:r>
                <a:rPr lang="en-US" altLang="zh-CN" sz="1100" b="0"/>
                <a:t>Equivalent element</a:t>
              </a:r>
              <a:endParaRPr lang="en-US" sz="1100" b="0"/>
            </a:p>
          </p:txBody>
        </p:sp>
        <p:sp>
          <p:nvSpPr>
            <p:cNvPr id="10" name="Rectangle 9"/>
            <p:cNvSpPr/>
            <p:nvPr/>
          </p:nvSpPr>
          <p:spPr>
            <a:xfrm>
              <a:off x="28393" y="4330155"/>
              <a:ext cx="1188146" cy="261610"/>
            </a:xfrm>
            <a:prstGeom prst="rect">
              <a:avLst/>
            </a:prstGeom>
          </p:spPr>
          <p:txBody>
            <a:bodyPr wrap="none">
              <a:spAutoFit/>
            </a:bodyPr>
            <a:lstStyle/>
            <a:p>
              <a:r>
                <a:rPr lang="en-US" altLang="zh-CN" sz="1100" b="0"/>
                <a:t>G</a:t>
              </a:r>
              <a:r>
                <a:rPr lang="en-US" sz="1100" b="0"/>
                <a:t>raphical symbol</a:t>
              </a:r>
            </a:p>
          </p:txBody>
        </p:sp>
        <p:sp>
          <p:nvSpPr>
            <p:cNvPr id="11" name="Rectangle 10"/>
            <p:cNvSpPr/>
            <p:nvPr/>
          </p:nvSpPr>
          <p:spPr bwMode="auto">
            <a:xfrm>
              <a:off x="4644008" y="4395149"/>
              <a:ext cx="216024" cy="185979"/>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55" name="Rectangle 54"/>
            <p:cNvSpPr/>
            <p:nvPr/>
          </p:nvSpPr>
          <p:spPr bwMode="auto">
            <a:xfrm>
              <a:off x="5772720" y="4380861"/>
              <a:ext cx="887511" cy="185979"/>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53" name="TextBox 52"/>
            <p:cNvSpPr txBox="1"/>
            <p:nvPr/>
          </p:nvSpPr>
          <p:spPr>
            <a:xfrm>
              <a:off x="4588986" y="4339506"/>
              <a:ext cx="327333" cy="253916"/>
            </a:xfrm>
            <a:prstGeom prst="rect">
              <a:avLst/>
            </a:prstGeom>
            <a:noFill/>
          </p:spPr>
          <p:txBody>
            <a:bodyPr wrap="none" rtlCol="0">
              <a:spAutoFit/>
            </a:bodyPr>
            <a:lstStyle/>
            <a:p>
              <a:pPr algn="ctr"/>
              <a:r>
                <a:rPr lang="en-US" altLang="zh-CN" sz="1050" b="0"/>
                <a:t>Or</a:t>
              </a:r>
              <a:endParaRPr lang="en-US" sz="1050" b="0"/>
            </a:p>
          </p:txBody>
        </p:sp>
        <p:sp>
          <p:nvSpPr>
            <p:cNvPr id="56" name="TextBox 55"/>
            <p:cNvSpPr txBox="1"/>
            <p:nvPr/>
          </p:nvSpPr>
          <p:spPr>
            <a:xfrm>
              <a:off x="5633100" y="4341317"/>
              <a:ext cx="1495922" cy="253916"/>
            </a:xfrm>
            <a:prstGeom prst="rect">
              <a:avLst/>
            </a:prstGeom>
            <a:noFill/>
          </p:spPr>
          <p:txBody>
            <a:bodyPr wrap="none" rtlCol="0">
              <a:spAutoFit/>
            </a:bodyPr>
            <a:lstStyle/>
            <a:p>
              <a:pPr algn="ctr"/>
              <a:r>
                <a:rPr lang="en-US" altLang="zh-CN" sz="1050" b="0"/>
                <a:t>Double line or thick line</a:t>
              </a:r>
              <a:endParaRPr lang="en-US" sz="1050" b="0"/>
            </a:p>
          </p:txBody>
        </p:sp>
        <p:sp>
          <p:nvSpPr>
            <p:cNvPr id="12" name="Rectangle 11"/>
            <p:cNvSpPr/>
            <p:nvPr/>
          </p:nvSpPr>
          <p:spPr>
            <a:xfrm>
              <a:off x="7370370" y="2353056"/>
              <a:ext cx="1441421" cy="276999"/>
            </a:xfrm>
            <a:prstGeom prst="rect">
              <a:avLst/>
            </a:prstGeom>
            <a:noFill/>
          </p:spPr>
          <p:txBody>
            <a:bodyPr wrap="none" rtlCol="0">
              <a:spAutoFit/>
            </a:bodyPr>
            <a:lstStyle/>
            <a:p>
              <a:pPr algn="ctr"/>
              <a:r>
                <a:rPr lang="en-US" sz="1200">
                  <a:latin typeface="+mn-lt"/>
                </a:rPr>
                <a:t>Rotoinversion axis </a:t>
              </a:r>
            </a:p>
          </p:txBody>
        </p:sp>
        <p:sp>
          <p:nvSpPr>
            <p:cNvPr id="58" name="Rectangle 57"/>
            <p:cNvSpPr/>
            <p:nvPr/>
          </p:nvSpPr>
          <p:spPr bwMode="auto">
            <a:xfrm>
              <a:off x="7270212" y="2638223"/>
              <a:ext cx="1694276" cy="850495"/>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4400" b="1" i="0" u="none" strike="noStrike" cap="none" normalizeH="0" baseline="0">
                <a:ln>
                  <a:noFill/>
                </a:ln>
                <a:solidFill>
                  <a:schemeClr val="tx1"/>
                </a:solidFill>
                <a:effectLst/>
                <a:latin typeface="Times New Roman" pitchFamily="18" charset="0"/>
                <a:ea typeface="宋体" pitchFamily="2" charset="-122"/>
              </a:endParaRPr>
            </a:p>
          </p:txBody>
        </p:sp>
        <p:sp>
          <p:nvSpPr>
            <p:cNvPr id="59" name="TextBox 58"/>
            <p:cNvSpPr txBox="1"/>
            <p:nvPr/>
          </p:nvSpPr>
          <p:spPr>
            <a:xfrm>
              <a:off x="7346676" y="2555377"/>
              <a:ext cx="251992" cy="253916"/>
            </a:xfrm>
            <a:prstGeom prst="rect">
              <a:avLst/>
            </a:prstGeom>
            <a:noFill/>
          </p:spPr>
          <p:txBody>
            <a:bodyPr wrap="none" rtlCol="0">
              <a:spAutoFit/>
            </a:bodyPr>
            <a:lstStyle/>
            <a:p>
              <a:pPr algn="ctr"/>
              <a:r>
                <a:rPr lang="en-US" sz="1050" b="0"/>
                <a:t>3</a:t>
              </a:r>
              <a:endParaRPr lang="en-US" sz="1050"/>
            </a:p>
          </p:txBody>
        </p:sp>
        <p:sp>
          <p:nvSpPr>
            <p:cNvPr id="60" name="TextBox 59"/>
            <p:cNvSpPr txBox="1"/>
            <p:nvPr/>
          </p:nvSpPr>
          <p:spPr>
            <a:xfrm>
              <a:off x="7956276" y="2545852"/>
              <a:ext cx="251992" cy="253916"/>
            </a:xfrm>
            <a:prstGeom prst="rect">
              <a:avLst/>
            </a:prstGeom>
            <a:noFill/>
          </p:spPr>
          <p:txBody>
            <a:bodyPr wrap="none" rtlCol="0">
              <a:spAutoFit/>
            </a:bodyPr>
            <a:lstStyle/>
            <a:p>
              <a:pPr algn="ctr"/>
              <a:r>
                <a:rPr lang="en-US" sz="1050" b="0"/>
                <a:t>4</a:t>
              </a:r>
              <a:endParaRPr lang="en-US" sz="1050"/>
            </a:p>
          </p:txBody>
        </p:sp>
        <p:sp>
          <p:nvSpPr>
            <p:cNvPr id="61" name="TextBox 60"/>
            <p:cNvSpPr txBox="1"/>
            <p:nvPr/>
          </p:nvSpPr>
          <p:spPr>
            <a:xfrm>
              <a:off x="8551588" y="2545852"/>
              <a:ext cx="251992" cy="253916"/>
            </a:xfrm>
            <a:prstGeom prst="rect">
              <a:avLst/>
            </a:prstGeom>
            <a:noFill/>
          </p:spPr>
          <p:txBody>
            <a:bodyPr wrap="none" rtlCol="0">
              <a:spAutoFit/>
            </a:bodyPr>
            <a:lstStyle/>
            <a:p>
              <a:pPr algn="ctr"/>
              <a:r>
                <a:rPr lang="en-US" sz="1050" b="0"/>
                <a:t>6</a:t>
              </a:r>
              <a:endParaRPr lang="en-US" sz="1050"/>
            </a:p>
          </p:txBody>
        </p:sp>
        <p:sp>
          <p:nvSpPr>
            <p:cNvPr id="62" name="TextBox 61"/>
            <p:cNvSpPr txBox="1"/>
            <p:nvPr/>
          </p:nvSpPr>
          <p:spPr>
            <a:xfrm>
              <a:off x="7125395" y="2736354"/>
              <a:ext cx="1949573" cy="253916"/>
            </a:xfrm>
            <a:prstGeom prst="rect">
              <a:avLst/>
            </a:prstGeom>
            <a:noFill/>
          </p:spPr>
          <p:txBody>
            <a:bodyPr wrap="none" rtlCol="0">
              <a:spAutoFit/>
            </a:bodyPr>
            <a:lstStyle/>
            <a:p>
              <a:pPr algn="ctr"/>
              <a:r>
                <a:rPr lang="en-US" altLang="zh-CN" sz="1050" b="0"/>
                <a:t>Line and certain point on the line</a:t>
              </a:r>
              <a:endParaRPr lang="en-US" sz="1050"/>
            </a:p>
          </p:txBody>
        </p:sp>
        <p:sp>
          <p:nvSpPr>
            <p:cNvPr id="63" name="TextBox 62"/>
            <p:cNvSpPr txBox="1"/>
            <p:nvPr/>
          </p:nvSpPr>
          <p:spPr>
            <a:xfrm>
              <a:off x="7060758" y="2943996"/>
              <a:ext cx="2039234" cy="415498"/>
            </a:xfrm>
            <a:prstGeom prst="rect">
              <a:avLst/>
            </a:prstGeom>
            <a:noFill/>
          </p:spPr>
          <p:txBody>
            <a:bodyPr wrap="square" rtlCol="0">
              <a:spAutoFit/>
            </a:bodyPr>
            <a:lstStyle/>
            <a:p>
              <a:pPr algn="ctr"/>
              <a:r>
                <a:rPr lang="en-US" altLang="zh-CN" sz="1050" b="0"/>
                <a:t>Rotation about the line and inversion about the point</a:t>
              </a:r>
              <a:endParaRPr lang="en-US" sz="1050"/>
            </a:p>
          </p:txBody>
        </p:sp>
        <p:sp>
          <p:nvSpPr>
            <p:cNvPr id="64" name="TextBox 63"/>
            <p:cNvSpPr txBox="1"/>
            <p:nvPr/>
          </p:nvSpPr>
          <p:spPr>
            <a:xfrm>
              <a:off x="7341709" y="2419011"/>
              <a:ext cx="253596" cy="338554"/>
            </a:xfrm>
            <a:prstGeom prst="rect">
              <a:avLst/>
            </a:prstGeom>
            <a:noFill/>
          </p:spPr>
          <p:txBody>
            <a:bodyPr wrap="none" rtlCol="0">
              <a:spAutoFit/>
            </a:bodyPr>
            <a:lstStyle/>
            <a:p>
              <a:r>
                <a:rPr lang="en-US" altLang="zh-CN" sz="1600"/>
                <a:t>-</a:t>
              </a:r>
              <a:endParaRPr lang="en-US" sz="1600"/>
            </a:p>
          </p:txBody>
        </p:sp>
        <p:sp>
          <p:nvSpPr>
            <p:cNvPr id="65" name="TextBox 64"/>
            <p:cNvSpPr txBox="1"/>
            <p:nvPr/>
          </p:nvSpPr>
          <p:spPr>
            <a:xfrm>
              <a:off x="7956224" y="2414095"/>
              <a:ext cx="253596" cy="338554"/>
            </a:xfrm>
            <a:prstGeom prst="rect">
              <a:avLst/>
            </a:prstGeom>
            <a:noFill/>
          </p:spPr>
          <p:txBody>
            <a:bodyPr wrap="none" rtlCol="0">
              <a:spAutoFit/>
            </a:bodyPr>
            <a:lstStyle/>
            <a:p>
              <a:r>
                <a:rPr lang="en-US" altLang="zh-CN" sz="1600"/>
                <a:t>-</a:t>
              </a:r>
              <a:endParaRPr lang="en-US" sz="1600"/>
            </a:p>
          </p:txBody>
        </p:sp>
        <p:sp>
          <p:nvSpPr>
            <p:cNvPr id="66" name="TextBox 65"/>
            <p:cNvSpPr txBox="1"/>
            <p:nvPr/>
          </p:nvSpPr>
          <p:spPr>
            <a:xfrm>
              <a:off x="8555991" y="2414095"/>
              <a:ext cx="253596" cy="338554"/>
            </a:xfrm>
            <a:prstGeom prst="rect">
              <a:avLst/>
            </a:prstGeom>
            <a:noFill/>
          </p:spPr>
          <p:txBody>
            <a:bodyPr wrap="none" rtlCol="0">
              <a:spAutoFit/>
            </a:bodyPr>
            <a:lstStyle/>
            <a:p>
              <a:r>
                <a:rPr lang="en-US" altLang="zh-CN" sz="1600"/>
                <a:t>-</a:t>
              </a:r>
              <a:endParaRPr lang="en-US" sz="1600"/>
            </a:p>
          </p:txBody>
        </p:sp>
        <p:sp>
          <p:nvSpPr>
            <p:cNvPr id="67" name="TextBox 66"/>
            <p:cNvSpPr txBox="1"/>
            <p:nvPr/>
          </p:nvSpPr>
          <p:spPr>
            <a:xfrm>
              <a:off x="4104868" y="2353056"/>
              <a:ext cx="1319592" cy="276999"/>
            </a:xfrm>
            <a:prstGeom prst="rect">
              <a:avLst/>
            </a:prstGeom>
            <a:noFill/>
          </p:spPr>
          <p:txBody>
            <a:bodyPr wrap="none" rtlCol="0">
              <a:spAutoFit/>
            </a:bodyPr>
            <a:lstStyle/>
            <a:p>
              <a:pPr algn="ctr"/>
              <a:r>
                <a:rPr lang="en-US" altLang="zh-CN" sz="1200">
                  <a:latin typeface="+mn-lt"/>
                </a:rPr>
                <a:t>Symmetry center</a:t>
              </a:r>
              <a:endParaRPr lang="en-US" sz="1200">
                <a:latin typeface="+mn-lt"/>
              </a:endParaRPr>
            </a:p>
          </p:txBody>
        </p:sp>
        <p:sp>
          <p:nvSpPr>
            <p:cNvPr id="68" name="TextBox 67"/>
            <p:cNvSpPr txBox="1"/>
            <p:nvPr/>
          </p:nvSpPr>
          <p:spPr>
            <a:xfrm>
              <a:off x="5677700" y="2353056"/>
              <a:ext cx="1266693" cy="276999"/>
            </a:xfrm>
            <a:prstGeom prst="rect">
              <a:avLst/>
            </a:prstGeom>
            <a:noFill/>
          </p:spPr>
          <p:txBody>
            <a:bodyPr wrap="none" rtlCol="0">
              <a:spAutoFit/>
            </a:bodyPr>
            <a:lstStyle/>
            <a:p>
              <a:pPr algn="ctr"/>
              <a:r>
                <a:rPr lang="en-US" altLang="zh-CN" sz="1200">
                  <a:latin typeface="+mn-lt"/>
                </a:rPr>
                <a:t>Symmetry plane</a:t>
              </a:r>
              <a:endParaRPr lang="en-US" sz="1200">
                <a:latin typeface="+mn-lt"/>
              </a:endParaRPr>
            </a:p>
          </p:txBody>
        </p:sp>
        <p:sp>
          <p:nvSpPr>
            <p:cNvPr id="69" name="TextBox 68"/>
            <p:cNvSpPr txBox="1"/>
            <p:nvPr/>
          </p:nvSpPr>
          <p:spPr>
            <a:xfrm>
              <a:off x="4534473" y="2728670"/>
              <a:ext cx="460382" cy="253916"/>
            </a:xfrm>
            <a:prstGeom prst="rect">
              <a:avLst/>
            </a:prstGeom>
            <a:noFill/>
          </p:spPr>
          <p:txBody>
            <a:bodyPr wrap="none" rtlCol="0">
              <a:spAutoFit/>
            </a:bodyPr>
            <a:lstStyle/>
            <a:p>
              <a:pPr algn="ctr"/>
              <a:r>
                <a:rPr lang="en-US" altLang="zh-CN" sz="1050" b="0"/>
                <a:t>point</a:t>
              </a:r>
              <a:endParaRPr lang="en-US" sz="1050" b="0"/>
            </a:p>
          </p:txBody>
        </p:sp>
        <p:sp>
          <p:nvSpPr>
            <p:cNvPr id="70" name="TextBox 69"/>
            <p:cNvSpPr txBox="1"/>
            <p:nvPr/>
          </p:nvSpPr>
          <p:spPr>
            <a:xfrm>
              <a:off x="6073642" y="2728670"/>
              <a:ext cx="474809" cy="253916"/>
            </a:xfrm>
            <a:prstGeom prst="rect">
              <a:avLst/>
            </a:prstGeom>
            <a:noFill/>
          </p:spPr>
          <p:txBody>
            <a:bodyPr wrap="none" rtlCol="0">
              <a:spAutoFit/>
            </a:bodyPr>
            <a:lstStyle/>
            <a:p>
              <a:pPr algn="ctr"/>
              <a:r>
                <a:rPr lang="en-US" altLang="zh-CN" sz="1050" b="0"/>
                <a:t>plane</a:t>
              </a:r>
              <a:endParaRPr lang="en-US" sz="1050" b="0"/>
            </a:p>
          </p:txBody>
        </p:sp>
        <p:sp>
          <p:nvSpPr>
            <p:cNvPr id="71" name="TextBox 70"/>
            <p:cNvSpPr txBox="1"/>
            <p:nvPr/>
          </p:nvSpPr>
          <p:spPr>
            <a:xfrm>
              <a:off x="4097654" y="3038093"/>
              <a:ext cx="1334020" cy="253916"/>
            </a:xfrm>
            <a:prstGeom prst="rect">
              <a:avLst/>
            </a:prstGeom>
            <a:noFill/>
          </p:spPr>
          <p:txBody>
            <a:bodyPr wrap="none" rtlCol="0">
              <a:spAutoFit/>
            </a:bodyPr>
            <a:lstStyle/>
            <a:p>
              <a:pPr algn="ctr"/>
              <a:r>
                <a:rPr lang="en-US" altLang="zh-CN" sz="1050" b="0"/>
                <a:t>Inversion about point</a:t>
              </a:r>
              <a:endParaRPr lang="en-US" sz="1050" b="0"/>
            </a:p>
          </p:txBody>
        </p:sp>
        <p:sp>
          <p:nvSpPr>
            <p:cNvPr id="72" name="TextBox 71"/>
            <p:cNvSpPr txBox="1"/>
            <p:nvPr/>
          </p:nvSpPr>
          <p:spPr>
            <a:xfrm>
              <a:off x="5611976" y="3038093"/>
              <a:ext cx="1398140" cy="253916"/>
            </a:xfrm>
            <a:prstGeom prst="rect">
              <a:avLst/>
            </a:prstGeom>
            <a:noFill/>
          </p:spPr>
          <p:txBody>
            <a:bodyPr wrap="none" rtlCol="0">
              <a:spAutoFit/>
            </a:bodyPr>
            <a:lstStyle/>
            <a:p>
              <a:pPr algn="ctr"/>
              <a:r>
                <a:rPr lang="en-US" sz="1050" b="0"/>
                <a:t>Reflection about plane</a:t>
              </a:r>
            </a:p>
          </p:txBody>
        </p:sp>
      </p:grpSp>
      <p:sp>
        <p:nvSpPr>
          <p:cNvPr id="73" name="TextBox 72"/>
          <p:cNvSpPr txBox="1"/>
          <p:nvPr/>
        </p:nvSpPr>
        <p:spPr>
          <a:xfrm>
            <a:off x="139624" y="5029145"/>
            <a:ext cx="8960368" cy="707886"/>
          </a:xfrm>
          <a:prstGeom prst="rect">
            <a:avLst/>
          </a:prstGeom>
          <a:noFill/>
        </p:spPr>
        <p:txBody>
          <a:bodyPr wrap="square" rtlCol="0">
            <a:spAutoFit/>
          </a:bodyPr>
          <a:lstStyle/>
          <a:p>
            <a:r>
              <a:rPr lang="en-US" altLang="zh-CN" sz="2000"/>
              <a:t>There are three kinds of symbols for symmetry elements: </a:t>
            </a:r>
            <a:r>
              <a:rPr lang="en-US" altLang="zh-CN" sz="2000" b="0"/>
              <a:t>Conventional</a:t>
            </a:r>
            <a:r>
              <a:rPr lang="zh-CN" altLang="en-US" sz="2000" b="0"/>
              <a:t> </a:t>
            </a:r>
            <a:r>
              <a:rPr lang="en-US" altLang="zh-CN" sz="2000" b="0"/>
              <a:t>symbol, international symbol, and graphical symbol (table 7-1 in textbook);</a:t>
            </a:r>
            <a:endParaRPr lang="en-US" sz="2000" b="0"/>
          </a:p>
        </p:txBody>
      </p:sp>
    </p:spTree>
    <p:extLst>
      <p:ext uri="{BB962C8B-B14F-4D97-AF65-F5344CB8AC3E}">
        <p14:creationId xmlns:p14="http://schemas.microsoft.com/office/powerpoint/2010/main" val="2415022281"/>
      </p:ext>
    </p:extLst>
  </p:cSld>
  <p:clrMapOvr>
    <a:masterClrMapping/>
  </p:clrMapOvr>
  <p:transition spd="med">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8" name="Line 1044"/>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9" name="Text Box 1045"/>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None/>
            </a:pPr>
            <a:r>
              <a:rPr lang="en-US" altLang="zh-CN" sz="2000" b="0">
                <a:solidFill>
                  <a:srgbClr val="9900FF"/>
                </a:solidFill>
              </a:rPr>
              <a:t>Crystallography</a:t>
            </a:r>
            <a:endParaRPr lang="zh-CN" altLang="en-US" sz="2000" b="0">
              <a:solidFill>
                <a:srgbClr val="9900FF"/>
              </a:solidFill>
            </a:endParaRPr>
          </a:p>
        </p:txBody>
      </p:sp>
      <p:sp>
        <p:nvSpPr>
          <p:cNvPr id="9" name="Rectangle 8"/>
          <p:cNvSpPr/>
          <p:nvPr/>
        </p:nvSpPr>
        <p:spPr>
          <a:xfrm>
            <a:off x="809447" y="1916832"/>
            <a:ext cx="2619628" cy="523220"/>
          </a:xfrm>
          <a:prstGeom prst="rect">
            <a:avLst/>
          </a:prstGeom>
        </p:spPr>
        <p:txBody>
          <a:bodyPr wrap="none">
            <a:spAutoFit/>
          </a:bodyPr>
          <a:lstStyle/>
          <a:p>
            <a:pPr lvl="0">
              <a:spcBef>
                <a:spcPct val="20000"/>
              </a:spcBef>
            </a:pPr>
            <a:r>
              <a:rPr lang="en-US" altLang="zh-CN" sz="2800" i="1">
                <a:solidFill>
                  <a:srgbClr val="FF0000"/>
                </a:solidFill>
                <a:latin typeface="Times New Roman"/>
              </a:rPr>
              <a:t>3L</a:t>
            </a:r>
            <a:r>
              <a:rPr lang="en-US" altLang="zh-CN" sz="2800" i="1" baseline="30000">
                <a:solidFill>
                  <a:srgbClr val="FF0000"/>
                </a:solidFill>
                <a:latin typeface="Times New Roman"/>
              </a:rPr>
              <a:t>4</a:t>
            </a:r>
            <a:r>
              <a:rPr lang="en-US" altLang="zh-CN" sz="2800">
                <a:solidFill>
                  <a:srgbClr val="FF0000"/>
                </a:solidFill>
                <a:latin typeface="Times New Roman"/>
                <a:sym typeface="Symbol" pitchFamily="18" charset="2"/>
              </a:rPr>
              <a:t>4</a:t>
            </a:r>
            <a:r>
              <a:rPr lang="en-US" altLang="zh-CN" sz="2800" i="1">
                <a:solidFill>
                  <a:srgbClr val="FF0000"/>
                </a:solidFill>
                <a:latin typeface="Times New Roman"/>
              </a:rPr>
              <a:t>L</a:t>
            </a:r>
            <a:r>
              <a:rPr lang="en-US" altLang="zh-CN" sz="2800" baseline="30000">
                <a:solidFill>
                  <a:srgbClr val="FF0000"/>
                </a:solidFill>
                <a:latin typeface="Times New Roman"/>
              </a:rPr>
              <a:t>3 </a:t>
            </a:r>
            <a:r>
              <a:rPr lang="en-US" altLang="zh-CN" sz="2800">
                <a:solidFill>
                  <a:srgbClr val="FF0000"/>
                </a:solidFill>
                <a:latin typeface="Times New Roman"/>
                <a:sym typeface="Symbol" pitchFamily="18" charset="2"/>
              </a:rPr>
              <a:t>6</a:t>
            </a:r>
            <a:r>
              <a:rPr lang="en-US" altLang="zh-CN" sz="2800" i="1">
                <a:solidFill>
                  <a:srgbClr val="FF0000"/>
                </a:solidFill>
                <a:latin typeface="Times New Roman"/>
              </a:rPr>
              <a:t>L</a:t>
            </a:r>
            <a:r>
              <a:rPr lang="en-US" altLang="zh-CN" sz="2800" baseline="30000">
                <a:solidFill>
                  <a:srgbClr val="FF0000"/>
                </a:solidFill>
                <a:latin typeface="Times New Roman"/>
              </a:rPr>
              <a:t>2</a:t>
            </a:r>
            <a:r>
              <a:rPr lang="en-US" altLang="zh-CN" sz="2800">
                <a:solidFill>
                  <a:srgbClr val="FF0000"/>
                </a:solidFill>
                <a:latin typeface="Times New Roman"/>
                <a:sym typeface="Symbol" pitchFamily="18" charset="2"/>
              </a:rPr>
              <a:t> 9</a:t>
            </a:r>
            <a:r>
              <a:rPr lang="en-US" altLang="zh-CN" sz="2800" i="1">
                <a:solidFill>
                  <a:srgbClr val="FF0000"/>
                </a:solidFill>
                <a:latin typeface="Times New Roman"/>
              </a:rPr>
              <a:t>PC</a:t>
            </a:r>
          </a:p>
        </p:txBody>
      </p:sp>
      <p:sp>
        <p:nvSpPr>
          <p:cNvPr id="64" name="Rectangle 2"/>
          <p:cNvSpPr txBox="1">
            <a:spLocks noChangeArrowheads="1"/>
          </p:cNvSpPr>
          <p:nvPr/>
        </p:nvSpPr>
        <p:spPr bwMode="auto">
          <a:xfrm>
            <a:off x="760413" y="801688"/>
            <a:ext cx="7772400"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a:lstStyle>
          <a:p>
            <a:pPr algn="l" eaLnBrk="1" hangingPunct="1"/>
            <a:r>
              <a:rPr lang="en-US" altLang="zh-CN" sz="2800" b="1" kern="0">
                <a:solidFill>
                  <a:srgbClr val="FF0066"/>
                </a:solidFill>
                <a:latin typeface="+mn-lt"/>
              </a:rPr>
              <a:t>Conventional symbol of symmetry class (point group</a:t>
            </a:r>
            <a:r>
              <a:rPr lang="zh-CN" altLang="en-US" sz="2800" b="1" kern="0">
                <a:solidFill>
                  <a:srgbClr val="FF0066"/>
                </a:solidFill>
                <a:latin typeface="+mn-lt"/>
              </a:rPr>
              <a:t>，点群）</a:t>
            </a:r>
            <a:endParaRPr lang="zh-CN" altLang="en-US" sz="2000" b="0" kern="0">
              <a:latin typeface="+mn-lt"/>
            </a:endParaRPr>
          </a:p>
        </p:txBody>
      </p:sp>
      <p:sp>
        <p:nvSpPr>
          <p:cNvPr id="65" name="Rectangle 3"/>
          <p:cNvSpPr txBox="1">
            <a:spLocks noChangeArrowheads="1"/>
          </p:cNvSpPr>
          <p:nvPr/>
        </p:nvSpPr>
        <p:spPr bwMode="auto">
          <a:xfrm>
            <a:off x="650344" y="2564904"/>
            <a:ext cx="8496746" cy="3925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eaLnBrk="1" hangingPunct="1">
              <a:lnSpc>
                <a:spcPct val="150000"/>
              </a:lnSpc>
              <a:buNone/>
            </a:pPr>
            <a:r>
              <a:rPr lang="en-US" altLang="zh-CN" sz="2500" b="1" kern="0">
                <a:ea typeface="黑体" pitchFamily="49" charset="-122"/>
              </a:rPr>
              <a:t>The conventional symbol of symmetry class : </a:t>
            </a:r>
          </a:p>
          <a:p>
            <a:pPr marL="457200" indent="-457200" algn="just" eaLnBrk="1" hangingPunct="1">
              <a:lnSpc>
                <a:spcPct val="150000"/>
              </a:lnSpc>
              <a:buFontTx/>
              <a:buAutoNum type="arabicParenR"/>
            </a:pPr>
            <a:r>
              <a:rPr lang="en-US" altLang="zh-CN" sz="2500" b="1" kern="0">
                <a:ea typeface="黑体" pitchFamily="49" charset="-122"/>
              </a:rPr>
              <a:t>It shows all the symmetry elements</a:t>
            </a:r>
            <a:r>
              <a:rPr lang="zh-CN" altLang="en-US" sz="2500" b="1" kern="0">
                <a:ea typeface="黑体" pitchFamily="49" charset="-122"/>
              </a:rPr>
              <a:t>；</a:t>
            </a:r>
            <a:endParaRPr lang="en-US" altLang="zh-CN" sz="2500" b="1" kern="0">
              <a:ea typeface="黑体" pitchFamily="49" charset="-122"/>
            </a:endParaRPr>
          </a:p>
          <a:p>
            <a:pPr marL="457200" indent="-457200" algn="just" eaLnBrk="1" hangingPunct="1">
              <a:lnSpc>
                <a:spcPct val="150000"/>
              </a:lnSpc>
              <a:buFontTx/>
              <a:buAutoNum type="arabicParenR"/>
            </a:pPr>
            <a:r>
              <a:rPr lang="en-US" altLang="zh-CN" sz="2500" kern="0">
                <a:ea typeface="黑体" pitchFamily="49" charset="-122"/>
              </a:rPr>
              <a:t>Easy to understand</a:t>
            </a:r>
            <a:r>
              <a:rPr lang="zh-CN" altLang="en-US" sz="2500" b="1" kern="0">
                <a:ea typeface="黑体" pitchFamily="49" charset="-122"/>
              </a:rPr>
              <a:t>；</a:t>
            </a:r>
            <a:endParaRPr lang="en-US" altLang="zh-CN" sz="2500" b="1" kern="0">
              <a:ea typeface="黑体" pitchFamily="49" charset="-122"/>
            </a:endParaRPr>
          </a:p>
          <a:p>
            <a:pPr marL="457200" indent="-457200" algn="just" eaLnBrk="1" hangingPunct="1">
              <a:lnSpc>
                <a:spcPct val="150000"/>
              </a:lnSpc>
              <a:buFontTx/>
              <a:buAutoNum type="arabicParenR"/>
            </a:pPr>
            <a:r>
              <a:rPr lang="en-US" altLang="zh-CN" sz="2500" kern="0">
                <a:ea typeface="黑体" pitchFamily="49" charset="-122"/>
              </a:rPr>
              <a:t>It does to shows directions of symmetry elements</a:t>
            </a:r>
            <a:r>
              <a:rPr lang="en-US" altLang="zh-CN" sz="2500" b="1" kern="0">
                <a:ea typeface="黑体" pitchFamily="49" charset="-122"/>
              </a:rPr>
              <a:t>.</a:t>
            </a:r>
          </a:p>
        </p:txBody>
      </p:sp>
    </p:spTree>
    <p:extLst>
      <p:ext uri="{BB962C8B-B14F-4D97-AF65-F5344CB8AC3E}">
        <p14:creationId xmlns:p14="http://schemas.microsoft.com/office/powerpoint/2010/main" val="4031828815"/>
      </p:ext>
    </p:extLst>
  </p:cSld>
  <p:clrMapOvr>
    <a:masterClrMapping/>
  </p:clrMapOvr>
  <p:transition spd="med">
    <p:zo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ctrTitle"/>
          </p:nvPr>
        </p:nvSpPr>
        <p:spPr>
          <a:xfrm>
            <a:off x="760413" y="801688"/>
            <a:ext cx="7772400" cy="827087"/>
          </a:xfrm>
        </p:spPr>
        <p:txBody>
          <a:bodyPr/>
          <a:lstStyle/>
          <a:p>
            <a:pPr algn="l" eaLnBrk="1" hangingPunct="1"/>
            <a:r>
              <a:rPr lang="en-US" altLang="zh-CN" sz="2800" b="1">
                <a:solidFill>
                  <a:srgbClr val="FF0066"/>
                </a:solidFill>
                <a:latin typeface="+mn-lt"/>
              </a:rPr>
              <a:t>International symbol of symmetry class (point group</a:t>
            </a:r>
            <a:r>
              <a:rPr lang="zh-CN" altLang="en-US" sz="2800" b="1">
                <a:solidFill>
                  <a:srgbClr val="FF0066"/>
                </a:solidFill>
                <a:latin typeface="+mn-lt"/>
              </a:rPr>
              <a:t>，点群）</a:t>
            </a:r>
            <a:endParaRPr lang="zh-CN" altLang="en-US" sz="2000">
              <a:latin typeface="+mn-lt"/>
            </a:endParaRPr>
          </a:p>
        </p:txBody>
      </p:sp>
      <p:sp>
        <p:nvSpPr>
          <p:cNvPr id="54275" name="Rectangle 3"/>
          <p:cNvSpPr>
            <a:spLocks noGrp="1" noChangeArrowheads="1"/>
          </p:cNvSpPr>
          <p:nvPr>
            <p:ph type="subTitle" idx="1"/>
          </p:nvPr>
        </p:nvSpPr>
        <p:spPr>
          <a:xfrm>
            <a:off x="514127" y="2420888"/>
            <a:ext cx="8496746" cy="3925639"/>
          </a:xfrm>
        </p:spPr>
        <p:txBody>
          <a:bodyPr/>
          <a:lstStyle/>
          <a:p>
            <a:pPr algn="just" eaLnBrk="1" hangingPunct="1">
              <a:lnSpc>
                <a:spcPct val="150000"/>
              </a:lnSpc>
            </a:pPr>
            <a:r>
              <a:rPr lang="en-US" altLang="zh-CN" sz="2500" b="1">
                <a:solidFill>
                  <a:schemeClr val="accent2"/>
                </a:solidFill>
                <a:ea typeface="黑体" pitchFamily="49" charset="-122"/>
              </a:rPr>
              <a:t>   </a:t>
            </a:r>
            <a:r>
              <a:rPr lang="en-US" altLang="zh-CN" sz="2500" b="1">
                <a:ea typeface="黑体" pitchFamily="49" charset="-122"/>
              </a:rPr>
              <a:t>The international symbol of symmetry class is simple: </a:t>
            </a:r>
          </a:p>
          <a:p>
            <a:pPr marL="457200" indent="-457200" algn="just" eaLnBrk="1" hangingPunct="1">
              <a:lnSpc>
                <a:spcPct val="150000"/>
              </a:lnSpc>
              <a:buAutoNum type="arabicParenR"/>
            </a:pPr>
            <a:r>
              <a:rPr lang="en-US" altLang="zh-CN" sz="2500" b="1">
                <a:ea typeface="黑体" pitchFamily="49" charset="-122"/>
              </a:rPr>
              <a:t>It does not show all the symmetry element</a:t>
            </a:r>
            <a:r>
              <a:rPr lang="zh-CN" altLang="en-US" sz="2500" b="1">
                <a:ea typeface="黑体" pitchFamily="49" charset="-122"/>
              </a:rPr>
              <a:t>；</a:t>
            </a:r>
            <a:endParaRPr lang="en-US" altLang="zh-CN" sz="2500" b="1">
              <a:ea typeface="黑体" pitchFamily="49" charset="-122"/>
            </a:endParaRPr>
          </a:p>
          <a:p>
            <a:pPr marL="457200" indent="-457200" algn="just" eaLnBrk="1" hangingPunct="1">
              <a:lnSpc>
                <a:spcPct val="150000"/>
              </a:lnSpc>
              <a:buAutoNum type="arabicParenR"/>
            </a:pPr>
            <a:r>
              <a:rPr lang="en-US" altLang="zh-CN" sz="2500" b="1">
                <a:ea typeface="黑体" pitchFamily="49" charset="-122"/>
              </a:rPr>
              <a:t>It shows directions of symmetry elements</a:t>
            </a:r>
            <a:r>
              <a:rPr lang="zh-CN" altLang="en-US" sz="2500" b="1">
                <a:ea typeface="黑体" pitchFamily="49" charset="-122"/>
              </a:rPr>
              <a:t>；</a:t>
            </a:r>
            <a:endParaRPr lang="en-US" altLang="zh-CN" sz="2500" b="1">
              <a:ea typeface="黑体" pitchFamily="49" charset="-122"/>
            </a:endParaRPr>
          </a:p>
          <a:p>
            <a:pPr marL="457200" indent="-457200" algn="just" eaLnBrk="1" hangingPunct="1">
              <a:lnSpc>
                <a:spcPct val="150000"/>
              </a:lnSpc>
              <a:buAutoNum type="arabicParenR"/>
            </a:pPr>
            <a:r>
              <a:rPr lang="en-US" altLang="zh-CN" sz="2500" b="1">
                <a:ea typeface="黑体" pitchFamily="49" charset="-122"/>
              </a:rPr>
              <a:t>Hard to understand.</a:t>
            </a:r>
          </a:p>
          <a:p>
            <a:pPr marL="457200" indent="-457200" algn="just" eaLnBrk="1" hangingPunct="1">
              <a:lnSpc>
                <a:spcPct val="150000"/>
              </a:lnSpc>
              <a:buAutoNum type="arabicParenR"/>
            </a:pPr>
            <a:endParaRPr lang="en-US" altLang="zh-CN" sz="2500" b="1">
              <a:ea typeface="黑体" pitchFamily="49" charset="-122"/>
            </a:endParaRPr>
          </a:p>
          <a:p>
            <a:pPr eaLnBrk="1" hangingPunct="1">
              <a:lnSpc>
                <a:spcPct val="150000"/>
              </a:lnSpc>
            </a:pPr>
            <a:r>
              <a:rPr lang="en-US" altLang="zh-CN" sz="2800" b="1">
                <a:solidFill>
                  <a:srgbClr val="FF0066"/>
                </a:solidFill>
                <a:ea typeface="黑体" pitchFamily="49" charset="-122"/>
              </a:rPr>
              <a:t>All the derived elements have been omitted.</a:t>
            </a:r>
            <a:endParaRPr lang="zh-CN" altLang="en-US" sz="2800" b="1">
              <a:solidFill>
                <a:srgbClr val="FF0066"/>
              </a:solidFill>
              <a:ea typeface="黑体" pitchFamily="49" charset="-122"/>
            </a:endParaRPr>
          </a:p>
        </p:txBody>
      </p:sp>
      <p:sp>
        <p:nvSpPr>
          <p:cNvPr id="54277" name="Line 12"/>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8" name="Text Box 13"/>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6" name="Rectangle 5"/>
          <p:cNvSpPr/>
          <p:nvPr/>
        </p:nvSpPr>
        <p:spPr>
          <a:xfrm>
            <a:off x="809447" y="1916832"/>
            <a:ext cx="3626314" cy="523220"/>
          </a:xfrm>
          <a:prstGeom prst="rect">
            <a:avLst/>
          </a:prstGeom>
        </p:spPr>
        <p:txBody>
          <a:bodyPr wrap="none">
            <a:spAutoFit/>
          </a:bodyPr>
          <a:lstStyle/>
          <a:p>
            <a:pPr lvl="0">
              <a:spcBef>
                <a:spcPct val="20000"/>
              </a:spcBef>
            </a:pPr>
            <a:r>
              <a:rPr lang="en-US" altLang="zh-CN" sz="2800" i="1">
                <a:solidFill>
                  <a:srgbClr val="FF0000"/>
                </a:solidFill>
                <a:latin typeface="Times New Roman"/>
              </a:rPr>
              <a:t>m3m–3L</a:t>
            </a:r>
            <a:r>
              <a:rPr lang="en-US" altLang="zh-CN" sz="2800" i="1" baseline="30000">
                <a:solidFill>
                  <a:srgbClr val="FF0000"/>
                </a:solidFill>
                <a:latin typeface="Times New Roman"/>
              </a:rPr>
              <a:t>4</a:t>
            </a:r>
            <a:r>
              <a:rPr lang="en-US" altLang="zh-CN" sz="2800">
                <a:solidFill>
                  <a:srgbClr val="FF0000"/>
                </a:solidFill>
                <a:latin typeface="Times New Roman"/>
                <a:sym typeface="Symbol" pitchFamily="18" charset="2"/>
              </a:rPr>
              <a:t>4</a:t>
            </a:r>
            <a:r>
              <a:rPr lang="en-US" altLang="zh-CN" sz="2800" i="1">
                <a:solidFill>
                  <a:srgbClr val="FF0000"/>
                </a:solidFill>
                <a:latin typeface="Times New Roman"/>
              </a:rPr>
              <a:t>L</a:t>
            </a:r>
            <a:r>
              <a:rPr lang="en-US" altLang="zh-CN" sz="2800" baseline="30000">
                <a:solidFill>
                  <a:srgbClr val="FF0000"/>
                </a:solidFill>
                <a:latin typeface="Times New Roman"/>
              </a:rPr>
              <a:t>3 </a:t>
            </a:r>
            <a:r>
              <a:rPr lang="en-US" altLang="zh-CN" sz="2800">
                <a:solidFill>
                  <a:srgbClr val="FF0000"/>
                </a:solidFill>
                <a:latin typeface="Times New Roman"/>
                <a:sym typeface="Symbol" pitchFamily="18" charset="2"/>
              </a:rPr>
              <a:t>6</a:t>
            </a:r>
            <a:r>
              <a:rPr lang="en-US" altLang="zh-CN" sz="2800" i="1">
                <a:solidFill>
                  <a:srgbClr val="FF0000"/>
                </a:solidFill>
                <a:latin typeface="Times New Roman"/>
              </a:rPr>
              <a:t>L</a:t>
            </a:r>
            <a:r>
              <a:rPr lang="en-US" altLang="zh-CN" sz="2800" baseline="30000">
                <a:solidFill>
                  <a:srgbClr val="FF0000"/>
                </a:solidFill>
                <a:latin typeface="Times New Roman"/>
              </a:rPr>
              <a:t>2</a:t>
            </a:r>
            <a:r>
              <a:rPr lang="en-US" altLang="zh-CN" sz="2800">
                <a:solidFill>
                  <a:srgbClr val="FF0000"/>
                </a:solidFill>
                <a:latin typeface="Times New Roman"/>
                <a:sym typeface="Symbol" pitchFamily="18" charset="2"/>
              </a:rPr>
              <a:t> 9</a:t>
            </a:r>
            <a:r>
              <a:rPr lang="en-US" altLang="zh-CN" sz="2800" i="1">
                <a:solidFill>
                  <a:srgbClr val="FF0000"/>
                </a:solidFill>
                <a:latin typeface="Times New Roman"/>
              </a:rPr>
              <a:t>PC </a:t>
            </a:r>
          </a:p>
        </p:txBody>
      </p:sp>
    </p:spTree>
    <p:extLst>
      <p:ext uri="{BB962C8B-B14F-4D97-AF65-F5344CB8AC3E}">
        <p14:creationId xmlns:p14="http://schemas.microsoft.com/office/powerpoint/2010/main" val="2209234603"/>
      </p:ext>
    </p:extLst>
  </p:cSld>
  <p:clrMapOvr>
    <a:masterClrMapping/>
  </p:clrMapOvr>
  <p:transition spd="med">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ctrTitle"/>
          </p:nvPr>
        </p:nvSpPr>
        <p:spPr>
          <a:xfrm>
            <a:off x="760413" y="801688"/>
            <a:ext cx="7772400" cy="827087"/>
          </a:xfrm>
        </p:spPr>
        <p:txBody>
          <a:bodyPr/>
          <a:lstStyle/>
          <a:p>
            <a:pPr algn="l" eaLnBrk="1" hangingPunct="1"/>
            <a:r>
              <a:rPr lang="en-US" altLang="zh-CN" sz="2800" b="1">
                <a:solidFill>
                  <a:srgbClr val="FF0066"/>
                </a:solidFill>
                <a:latin typeface="+mn-lt"/>
              </a:rPr>
              <a:t>International symbol of symmetry class</a:t>
            </a:r>
            <a:endParaRPr lang="zh-CN" altLang="en-US" sz="2000">
              <a:latin typeface="+mn-lt"/>
            </a:endParaRPr>
          </a:p>
        </p:txBody>
      </p:sp>
      <p:sp>
        <p:nvSpPr>
          <p:cNvPr id="54275" name="Rectangle 3"/>
          <p:cNvSpPr>
            <a:spLocks noGrp="1" noChangeArrowheads="1"/>
          </p:cNvSpPr>
          <p:nvPr>
            <p:ph type="subTitle" idx="1"/>
          </p:nvPr>
        </p:nvSpPr>
        <p:spPr>
          <a:xfrm>
            <a:off x="514127" y="1700808"/>
            <a:ext cx="8496746" cy="4357687"/>
          </a:xfrm>
        </p:spPr>
        <p:txBody>
          <a:bodyPr/>
          <a:lstStyle/>
          <a:p>
            <a:pPr algn="just" eaLnBrk="1" hangingPunct="1">
              <a:lnSpc>
                <a:spcPct val="150000"/>
              </a:lnSpc>
            </a:pPr>
            <a:r>
              <a:rPr lang="en-US" altLang="zh-CN" sz="2500" b="1">
                <a:ea typeface="黑体" pitchFamily="49" charset="-122"/>
              </a:rPr>
              <a:t>Symmetry axis shown as</a:t>
            </a:r>
            <a:r>
              <a:rPr lang="zh-CN" altLang="en-US" sz="2500" b="1">
                <a:ea typeface="黑体" pitchFamily="49" charset="-122"/>
              </a:rPr>
              <a:t> </a:t>
            </a:r>
            <a:r>
              <a:rPr lang="en-US" altLang="zh-CN" sz="2500" b="1">
                <a:solidFill>
                  <a:srgbClr val="FF0000"/>
                </a:solidFill>
                <a:ea typeface="黑体" pitchFamily="49" charset="-122"/>
              </a:rPr>
              <a:t>1</a:t>
            </a:r>
            <a:r>
              <a:rPr lang="zh-CN" altLang="en-US" sz="2500" b="1">
                <a:solidFill>
                  <a:srgbClr val="FF0000"/>
                </a:solidFill>
                <a:ea typeface="黑体" pitchFamily="49" charset="-122"/>
              </a:rPr>
              <a:t>，</a:t>
            </a:r>
            <a:r>
              <a:rPr lang="en-US" altLang="zh-CN" sz="2500" b="1">
                <a:solidFill>
                  <a:srgbClr val="FF0000"/>
                </a:solidFill>
                <a:ea typeface="黑体" pitchFamily="49" charset="-122"/>
              </a:rPr>
              <a:t>2</a:t>
            </a:r>
            <a:r>
              <a:rPr lang="zh-CN" altLang="en-US" sz="2500" b="1">
                <a:solidFill>
                  <a:srgbClr val="FF0000"/>
                </a:solidFill>
                <a:ea typeface="黑体" pitchFamily="49" charset="-122"/>
              </a:rPr>
              <a:t>，</a:t>
            </a:r>
            <a:r>
              <a:rPr lang="en-US" altLang="zh-CN" sz="2500" b="1">
                <a:solidFill>
                  <a:srgbClr val="FF0000"/>
                </a:solidFill>
                <a:ea typeface="黑体" pitchFamily="49" charset="-122"/>
              </a:rPr>
              <a:t>3</a:t>
            </a:r>
            <a:r>
              <a:rPr lang="zh-CN" altLang="en-US" sz="2500" b="1">
                <a:solidFill>
                  <a:srgbClr val="FF0000"/>
                </a:solidFill>
                <a:ea typeface="黑体" pitchFamily="49" charset="-122"/>
              </a:rPr>
              <a:t>，</a:t>
            </a:r>
            <a:r>
              <a:rPr lang="en-US" altLang="zh-CN" sz="2500" b="1">
                <a:solidFill>
                  <a:srgbClr val="FF0000"/>
                </a:solidFill>
                <a:ea typeface="黑体" pitchFamily="49" charset="-122"/>
              </a:rPr>
              <a:t>4</a:t>
            </a:r>
            <a:r>
              <a:rPr lang="zh-CN" altLang="en-US" sz="2500" b="1">
                <a:solidFill>
                  <a:srgbClr val="FF0000"/>
                </a:solidFill>
                <a:ea typeface="黑体" pitchFamily="49" charset="-122"/>
              </a:rPr>
              <a:t>，</a:t>
            </a:r>
            <a:r>
              <a:rPr lang="en-US" altLang="zh-CN" sz="2500" b="1">
                <a:solidFill>
                  <a:srgbClr val="FF0000"/>
                </a:solidFill>
                <a:ea typeface="黑体" pitchFamily="49" charset="-122"/>
              </a:rPr>
              <a:t>6</a:t>
            </a:r>
            <a:r>
              <a:rPr lang="en-US" altLang="zh-CN" sz="2500" b="1">
                <a:ea typeface="黑体" pitchFamily="49" charset="-122"/>
              </a:rPr>
              <a:t>; </a:t>
            </a:r>
          </a:p>
          <a:p>
            <a:pPr algn="just" eaLnBrk="1" hangingPunct="1">
              <a:lnSpc>
                <a:spcPct val="150000"/>
              </a:lnSpc>
            </a:pPr>
            <a:r>
              <a:rPr lang="en-US" altLang="zh-CN" sz="2500" b="1">
                <a:ea typeface="黑体" pitchFamily="49" charset="-122"/>
              </a:rPr>
              <a:t>Symmetry plane shown as </a:t>
            </a:r>
            <a:r>
              <a:rPr lang="en-US" altLang="zh-CN" sz="2500" b="1">
                <a:solidFill>
                  <a:srgbClr val="FF0000"/>
                </a:solidFill>
                <a:ea typeface="黑体" pitchFamily="49" charset="-122"/>
              </a:rPr>
              <a:t>m</a:t>
            </a:r>
            <a:r>
              <a:rPr lang="zh-CN" altLang="en-US" sz="2500" b="1">
                <a:ea typeface="黑体" pitchFamily="49" charset="-122"/>
              </a:rPr>
              <a:t>；</a:t>
            </a:r>
            <a:endParaRPr lang="en-US" altLang="zh-CN" sz="2500" b="1">
              <a:ea typeface="黑体" pitchFamily="49" charset="-122"/>
            </a:endParaRPr>
          </a:p>
          <a:p>
            <a:pPr algn="just" eaLnBrk="1" hangingPunct="1">
              <a:lnSpc>
                <a:spcPct val="150000"/>
              </a:lnSpc>
            </a:pPr>
            <a:r>
              <a:rPr lang="en-US" altLang="zh-CN" sz="2500" b="1">
                <a:ea typeface="黑体" pitchFamily="49" charset="-122"/>
              </a:rPr>
              <a:t>Rotoinversion axis shown as </a:t>
            </a:r>
            <a:r>
              <a:rPr lang="en-US" altLang="zh-CN" sz="2500" b="1"/>
              <a:t>1</a:t>
            </a:r>
            <a:r>
              <a:rPr lang="zh-CN" altLang="en-US" sz="2500" b="1"/>
              <a:t>、</a:t>
            </a:r>
            <a:r>
              <a:rPr lang="en-US" altLang="zh-CN" sz="2500" b="1"/>
              <a:t>2</a:t>
            </a:r>
            <a:r>
              <a:rPr lang="zh-CN" altLang="en-US" sz="2500" b="1"/>
              <a:t>、</a:t>
            </a:r>
            <a:r>
              <a:rPr lang="en-US" altLang="zh-CN" sz="2500" b="1"/>
              <a:t>3</a:t>
            </a:r>
            <a:r>
              <a:rPr lang="zh-CN" altLang="en-US" sz="2500" b="1"/>
              <a:t>、</a:t>
            </a:r>
            <a:r>
              <a:rPr lang="en-US" altLang="zh-CN" sz="2500" b="1"/>
              <a:t>4</a:t>
            </a:r>
            <a:r>
              <a:rPr lang="zh-CN" altLang="en-US" sz="2500" b="1"/>
              <a:t>、</a:t>
            </a:r>
            <a:r>
              <a:rPr lang="en-US" altLang="zh-CN" sz="2500" b="1"/>
              <a:t>6, if the symmetry plane is perpendicular to symmetry axis</a:t>
            </a:r>
            <a:r>
              <a:rPr lang="zh-CN" altLang="en-US" sz="2500" b="1"/>
              <a:t>，</a:t>
            </a:r>
            <a:r>
              <a:rPr lang="en-US" altLang="zh-CN" sz="2500" b="1"/>
              <a:t>then these two are separated by stripping or diagonal (</a:t>
            </a:r>
            <a:r>
              <a:rPr lang="zh-CN" altLang="en-US" sz="2500" b="1"/>
              <a:t>斜线或者横线）</a:t>
            </a:r>
            <a:r>
              <a:rPr lang="en-US" altLang="zh-CN" sz="2500" b="1"/>
              <a:t>, such as </a:t>
            </a:r>
            <a:r>
              <a:rPr lang="en-US" altLang="zh-CN" sz="2500" b="1" i="1"/>
              <a:t>L</a:t>
            </a:r>
            <a:r>
              <a:rPr lang="en-US" altLang="zh-CN" sz="2500" b="1" baseline="30000"/>
              <a:t>2</a:t>
            </a:r>
            <a:r>
              <a:rPr lang="en-US" altLang="zh-CN" sz="2500" b="1" i="1"/>
              <a:t>PC</a:t>
            </a:r>
            <a:r>
              <a:rPr lang="zh-CN" altLang="en-US" sz="2500" b="1"/>
              <a:t> </a:t>
            </a:r>
            <a:r>
              <a:rPr lang="en-US" altLang="zh-CN" sz="2500" b="1"/>
              <a:t>shown as 2/</a:t>
            </a:r>
            <a:r>
              <a:rPr lang="en-US" altLang="zh-CN" sz="2500" b="1" i="1"/>
              <a:t>m</a:t>
            </a:r>
            <a:r>
              <a:rPr lang="zh-CN" altLang="en-US" sz="2500" b="1"/>
              <a:t>，</a:t>
            </a:r>
            <a:r>
              <a:rPr lang="en-US" altLang="zh-CN" sz="2500" b="1" i="1"/>
              <a:t>L</a:t>
            </a:r>
            <a:r>
              <a:rPr lang="en-US" altLang="zh-CN" sz="2500" b="1" baseline="30000"/>
              <a:t>4</a:t>
            </a:r>
            <a:r>
              <a:rPr lang="en-US" altLang="zh-CN" sz="2500" b="1" i="1"/>
              <a:t>PC </a:t>
            </a:r>
            <a:r>
              <a:rPr lang="en-US" altLang="zh-CN" sz="2500" b="1"/>
              <a:t>shown as 4/</a:t>
            </a:r>
            <a:r>
              <a:rPr lang="en-US" altLang="zh-CN" sz="2500" b="1" i="1"/>
              <a:t>m</a:t>
            </a:r>
            <a:r>
              <a:rPr lang="zh-CN" altLang="en-US" sz="2500" b="1"/>
              <a:t> </a:t>
            </a:r>
            <a:r>
              <a:rPr lang="en-US" altLang="zh-CN" sz="2500" b="1">
                <a:solidFill>
                  <a:srgbClr val="FF0066"/>
                </a:solidFill>
              </a:rPr>
              <a:t>(then symmetry center C does not have to be shown, because the even axis perpendicular to symmetry plane must generate a C)</a:t>
            </a:r>
            <a:r>
              <a:rPr lang="en-US" altLang="zh-CN" sz="2500" b="1">
                <a:solidFill>
                  <a:schemeClr val="accent2"/>
                </a:solidFill>
              </a:rPr>
              <a:t>.</a:t>
            </a:r>
            <a:endParaRPr lang="zh-CN" altLang="en-US" sz="2500" b="1">
              <a:solidFill>
                <a:schemeClr val="accent2"/>
              </a:solidFill>
            </a:endParaRPr>
          </a:p>
        </p:txBody>
      </p:sp>
      <p:grpSp>
        <p:nvGrpSpPr>
          <p:cNvPr id="54276" name="Group 11"/>
          <p:cNvGrpSpPr>
            <a:grpSpLocks/>
          </p:cNvGrpSpPr>
          <p:nvPr/>
        </p:nvGrpSpPr>
        <p:grpSpPr bwMode="auto">
          <a:xfrm>
            <a:off x="4464472" y="3140968"/>
            <a:ext cx="2232025" cy="0"/>
            <a:chOff x="1156" y="2568"/>
            <a:chExt cx="1406" cy="0"/>
          </a:xfrm>
        </p:grpSpPr>
        <p:sp>
          <p:nvSpPr>
            <p:cNvPr id="54279" name="Line 4"/>
            <p:cNvSpPr>
              <a:spLocks noChangeShapeType="1"/>
            </p:cNvSpPr>
            <p:nvPr/>
          </p:nvSpPr>
          <p:spPr bwMode="auto">
            <a:xfrm>
              <a:off x="1156" y="2568"/>
              <a:ext cx="182"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effectLst>
                  <a:outerShdw blurRad="38100" dist="38100" dir="2700000" algn="tl">
                    <a:srgbClr val="000000">
                      <a:alpha val="43137"/>
                    </a:srgbClr>
                  </a:outerShdw>
                </a:effectLst>
              </a:endParaRPr>
            </a:p>
          </p:txBody>
        </p:sp>
        <p:sp>
          <p:nvSpPr>
            <p:cNvPr id="54280" name="Line 5"/>
            <p:cNvSpPr>
              <a:spLocks noChangeShapeType="1"/>
            </p:cNvSpPr>
            <p:nvPr/>
          </p:nvSpPr>
          <p:spPr bwMode="auto">
            <a:xfrm>
              <a:off x="1474" y="2568"/>
              <a:ext cx="13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effectLst>
                  <a:outerShdw blurRad="38100" dist="38100" dir="2700000" algn="tl">
                    <a:srgbClr val="000000">
                      <a:alpha val="43137"/>
                    </a:srgbClr>
                  </a:outerShdw>
                </a:effectLst>
              </a:endParaRPr>
            </a:p>
          </p:txBody>
        </p:sp>
        <p:sp>
          <p:nvSpPr>
            <p:cNvPr id="54281" name="Line 6"/>
            <p:cNvSpPr>
              <a:spLocks noChangeShapeType="1"/>
            </p:cNvSpPr>
            <p:nvPr/>
          </p:nvSpPr>
          <p:spPr bwMode="auto">
            <a:xfrm>
              <a:off x="1792" y="2568"/>
              <a:ext cx="181"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effectLst>
                  <a:outerShdw blurRad="38100" dist="38100" dir="2700000" algn="tl">
                    <a:srgbClr val="000000">
                      <a:alpha val="43137"/>
                    </a:srgbClr>
                  </a:outerShdw>
                </a:effectLst>
              </a:endParaRPr>
            </a:p>
          </p:txBody>
        </p:sp>
        <p:sp>
          <p:nvSpPr>
            <p:cNvPr id="54282" name="Line 7"/>
            <p:cNvSpPr>
              <a:spLocks noChangeShapeType="1"/>
            </p:cNvSpPr>
            <p:nvPr/>
          </p:nvSpPr>
          <p:spPr bwMode="auto">
            <a:xfrm>
              <a:off x="2109" y="2568"/>
              <a:ext cx="181"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effectLst>
                  <a:outerShdw blurRad="38100" dist="38100" dir="2700000" algn="tl">
                    <a:srgbClr val="000000">
                      <a:alpha val="43137"/>
                    </a:srgbClr>
                  </a:outerShdw>
                </a:effectLst>
              </a:endParaRPr>
            </a:p>
          </p:txBody>
        </p:sp>
        <p:sp>
          <p:nvSpPr>
            <p:cNvPr id="54283" name="Line 8"/>
            <p:cNvSpPr>
              <a:spLocks noChangeShapeType="1"/>
            </p:cNvSpPr>
            <p:nvPr/>
          </p:nvSpPr>
          <p:spPr bwMode="auto">
            <a:xfrm>
              <a:off x="2426" y="2568"/>
              <a:ext cx="13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effectLst>
                  <a:outerShdw blurRad="38100" dist="38100" dir="2700000" algn="tl">
                    <a:srgbClr val="000000">
                      <a:alpha val="43137"/>
                    </a:srgbClr>
                  </a:outerShdw>
                </a:effectLst>
              </a:endParaRPr>
            </a:p>
          </p:txBody>
        </p:sp>
      </p:grpSp>
      <p:sp>
        <p:nvSpPr>
          <p:cNvPr id="54277" name="Line 12"/>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8" name="Text Box 13"/>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a:xfrm>
            <a:off x="622618" y="1447800"/>
            <a:ext cx="7772400" cy="5108104"/>
          </a:xfrm>
        </p:spPr>
        <p:txBody>
          <a:bodyPr/>
          <a:lstStyle/>
          <a:p>
            <a:pPr algn="l" eaLnBrk="1" hangingPunct="1">
              <a:lnSpc>
                <a:spcPct val="150000"/>
              </a:lnSpc>
            </a:pPr>
            <a:r>
              <a:rPr lang="en-US" altLang="zh-CN" sz="2000" b="1" kern="1200">
                <a:solidFill>
                  <a:schemeClr val="tx1"/>
                </a:solidFill>
                <a:latin typeface="+mn-lt"/>
                <a:ea typeface="宋体" pitchFamily="2" charset="-122"/>
                <a:cs typeface="+mn-cs"/>
              </a:rPr>
              <a:t>1. Set three serial positions (up to three), each position defines the direction of symmetry elements;</a:t>
            </a:r>
            <a:br>
              <a:rPr lang="en-US" altLang="zh-CN" sz="2000" b="1" kern="1200">
                <a:solidFill>
                  <a:schemeClr val="tx1"/>
                </a:solidFill>
                <a:latin typeface="+mn-lt"/>
                <a:ea typeface="宋体" pitchFamily="2" charset="-122"/>
                <a:cs typeface="+mn-cs"/>
              </a:rPr>
            </a:br>
            <a:r>
              <a:rPr lang="en-US" altLang="zh-CN" sz="2000" b="1" kern="1200">
                <a:solidFill>
                  <a:schemeClr val="tx1"/>
                </a:solidFill>
                <a:latin typeface="+mn-lt"/>
                <a:ea typeface="宋体" pitchFamily="2" charset="-122"/>
                <a:cs typeface="+mn-cs"/>
              </a:rPr>
              <a:t>2. For symmetry elements with symmetrical meaning are in the same direction, no matter how much,  just write one.</a:t>
            </a:r>
            <a:r>
              <a:rPr lang="zh-CN" altLang="en-US" sz="2000" b="1" kern="1200">
                <a:solidFill>
                  <a:schemeClr val="tx1"/>
                </a:solidFill>
                <a:latin typeface="+mn-lt"/>
                <a:ea typeface="宋体" pitchFamily="2" charset="-122"/>
                <a:cs typeface="+mn-cs"/>
              </a:rPr>
              <a:t> </a:t>
            </a:r>
            <a:br>
              <a:rPr lang="en-US" altLang="zh-CN" sz="2000" b="1" kern="1200">
                <a:solidFill>
                  <a:schemeClr val="tx1"/>
                </a:solidFill>
                <a:latin typeface="+mn-lt"/>
                <a:ea typeface="宋体" pitchFamily="2" charset="-122"/>
                <a:cs typeface="+mn-cs"/>
              </a:rPr>
            </a:br>
            <a:r>
              <a:rPr lang="en-US" altLang="zh-CN" sz="2000" b="1" kern="1200">
                <a:solidFill>
                  <a:schemeClr val="tx1"/>
                </a:solidFill>
                <a:latin typeface="+mn-lt"/>
                <a:ea typeface="宋体" pitchFamily="2" charset="-122"/>
                <a:cs typeface="+mn-cs"/>
              </a:rPr>
              <a:t>3. For different crystal systems, the directions  of represented by the three serial number are completely different, so the writing of international symbols is completely different.</a:t>
            </a:r>
            <a:r>
              <a:rPr lang="zh-CN" altLang="en-US" sz="2000" b="1" kern="1200">
                <a:solidFill>
                  <a:schemeClr val="tx1"/>
                </a:solidFill>
                <a:latin typeface="+mn-lt"/>
                <a:ea typeface="宋体" pitchFamily="2" charset="-122"/>
                <a:cs typeface="+mn-cs"/>
              </a:rPr>
              <a:t> </a:t>
            </a:r>
            <a:br>
              <a:rPr lang="en-US" altLang="zh-CN" sz="2000" b="1" kern="1200">
                <a:solidFill>
                  <a:srgbClr val="FF0000"/>
                </a:solidFill>
                <a:latin typeface="+mn-lt"/>
                <a:ea typeface="宋体" pitchFamily="2" charset="-122"/>
                <a:cs typeface="+mn-cs"/>
              </a:rPr>
            </a:br>
            <a:br>
              <a:rPr lang="en-US" altLang="zh-CN" sz="2000" kern="1200">
                <a:solidFill>
                  <a:schemeClr val="tx1"/>
                </a:solidFill>
                <a:latin typeface="+mn-lt"/>
                <a:ea typeface="宋体" pitchFamily="2" charset="-122"/>
                <a:cs typeface="+mn-cs"/>
              </a:rPr>
            </a:br>
            <a:r>
              <a:rPr lang="en-US" altLang="zh-CN" sz="2000" kern="1200">
                <a:solidFill>
                  <a:schemeClr val="tx1"/>
                </a:solidFill>
                <a:latin typeface="+mn-lt"/>
                <a:ea typeface="宋体" pitchFamily="2" charset="-122"/>
                <a:cs typeface="+mn-cs"/>
              </a:rPr>
              <a:t>The writing of international symbol for every crystal system is shown in the table below:</a:t>
            </a:r>
            <a:endParaRPr lang="zh-CN" altLang="en-US" sz="2000" kern="1200">
              <a:solidFill>
                <a:schemeClr val="tx1"/>
              </a:solidFill>
              <a:latin typeface="+mn-lt"/>
              <a:ea typeface="宋体" pitchFamily="2" charset="-122"/>
              <a:cs typeface="+mn-cs"/>
            </a:endParaRPr>
          </a:p>
        </p:txBody>
      </p:sp>
      <p:sp>
        <p:nvSpPr>
          <p:cNvPr id="55299" name="Rectangle 4"/>
          <p:cNvSpPr>
            <a:spLocks noChangeArrowheads="1"/>
          </p:cNvSpPr>
          <p:nvPr/>
        </p:nvSpPr>
        <p:spPr bwMode="auto">
          <a:xfrm>
            <a:off x="760413" y="620713"/>
            <a:ext cx="7772400" cy="82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0000"/>
                </a:solidFill>
              </a:rPr>
              <a:t>The writing of international symbol of point group is:</a:t>
            </a:r>
            <a:endParaRPr lang="zh-CN" altLang="en-US" sz="2800" b="0">
              <a:solidFill>
                <a:schemeClr val="tx2"/>
              </a:solidFill>
              <a:latin typeface="+mn-lt"/>
            </a:endParaRPr>
          </a:p>
        </p:txBody>
      </p:sp>
      <p:sp>
        <p:nvSpPr>
          <p:cNvPr id="55300"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1"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Line 2"/>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0116" name="Rectangle 4"/>
          <p:cNvSpPr>
            <a:spLocks noChangeArrowheads="1"/>
          </p:cNvSpPr>
          <p:nvPr/>
        </p:nvSpPr>
        <p:spPr bwMode="auto">
          <a:xfrm>
            <a:off x="346075" y="620713"/>
            <a:ext cx="65532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kumimoji="1" sz="2800">
                <a:solidFill>
                  <a:schemeClr val="tx1"/>
                </a:solidFill>
                <a:latin typeface="Times New Roman" pitchFamily="18" charset="0"/>
                <a:ea typeface="宋体" pitchFamily="2" charset="-122"/>
              </a:defRPr>
            </a:lvl1pPr>
            <a:lvl2pPr marL="742950" indent="-285750">
              <a:spcBef>
                <a:spcPct val="20000"/>
              </a:spcBef>
              <a:buChar char="–"/>
              <a:defRPr kumimoji="1" sz="2400">
                <a:solidFill>
                  <a:schemeClr val="tx1"/>
                </a:solidFill>
                <a:latin typeface="Times New Roman" pitchFamily="18" charset="0"/>
                <a:ea typeface="宋体" pitchFamily="2" charset="-122"/>
              </a:defRPr>
            </a:lvl2pPr>
            <a:lvl3pPr marL="1143000" indent="-228600">
              <a:spcBef>
                <a:spcPct val="20000"/>
              </a:spcBef>
              <a:buChar char="•"/>
              <a:defRPr kumimoji="1" sz="2000">
                <a:solidFill>
                  <a:schemeClr val="tx1"/>
                </a:solidFill>
                <a:latin typeface="Times New Roman" pitchFamily="18" charset="0"/>
                <a:ea typeface="宋体" pitchFamily="2" charset="-122"/>
              </a:defRPr>
            </a:lvl3pPr>
            <a:lvl4pPr marL="1600200" indent="-228600">
              <a:spcBef>
                <a:spcPct val="20000"/>
              </a:spcBef>
              <a:buChar char="–"/>
              <a:defRPr kumimoji="1">
                <a:solidFill>
                  <a:schemeClr val="tx1"/>
                </a:solidFill>
                <a:latin typeface="Times New Roman" pitchFamily="18" charset="0"/>
                <a:ea typeface="宋体" pitchFamily="2" charset="-122"/>
              </a:defRPr>
            </a:lvl4pPr>
            <a:lvl5pPr marL="2057400" indent="-228600">
              <a:spcBef>
                <a:spcPct val="20000"/>
              </a:spcBef>
              <a:buChar char="»"/>
              <a:defRPr kumimoji="1">
                <a:solidFill>
                  <a:schemeClr val="tx1"/>
                </a:solidFill>
                <a:latin typeface="Times New Roman" pitchFamily="18" charset="0"/>
                <a:ea typeface="宋体" pitchFamily="2" charset="-122"/>
              </a:defRPr>
            </a:lvl5pPr>
            <a:lvl6pPr marL="2514600" indent="-228600" fontAlgn="base">
              <a:spcBef>
                <a:spcPct val="20000"/>
              </a:spcBef>
              <a:spcAft>
                <a:spcPct val="0"/>
              </a:spcAft>
              <a:buChar char="»"/>
              <a:defRPr kumimoji="1">
                <a:solidFill>
                  <a:schemeClr val="tx1"/>
                </a:solidFill>
                <a:latin typeface="Times New Roman" pitchFamily="18" charset="0"/>
                <a:ea typeface="宋体" pitchFamily="2" charset="-122"/>
              </a:defRPr>
            </a:lvl6pPr>
            <a:lvl7pPr marL="2971800" indent="-228600" fontAlgn="base">
              <a:spcBef>
                <a:spcPct val="20000"/>
              </a:spcBef>
              <a:spcAft>
                <a:spcPct val="0"/>
              </a:spcAft>
              <a:buChar char="»"/>
              <a:defRPr kumimoji="1">
                <a:solidFill>
                  <a:schemeClr val="tx1"/>
                </a:solidFill>
                <a:latin typeface="Times New Roman" pitchFamily="18" charset="0"/>
                <a:ea typeface="宋体" pitchFamily="2" charset="-122"/>
              </a:defRPr>
            </a:lvl7pPr>
            <a:lvl8pPr marL="3429000" indent="-228600" fontAlgn="base">
              <a:spcBef>
                <a:spcPct val="20000"/>
              </a:spcBef>
              <a:spcAft>
                <a:spcPct val="0"/>
              </a:spcAft>
              <a:buChar char="»"/>
              <a:defRPr kumimoji="1">
                <a:solidFill>
                  <a:schemeClr val="tx1"/>
                </a:solidFill>
                <a:latin typeface="Times New Roman" pitchFamily="18" charset="0"/>
                <a:ea typeface="宋体" pitchFamily="2" charset="-122"/>
              </a:defRPr>
            </a:lvl8pPr>
            <a:lvl9pPr marL="3886200" indent="-228600" fontAlgn="base">
              <a:spcBef>
                <a:spcPct val="20000"/>
              </a:spcBef>
              <a:spcAft>
                <a:spcPct val="0"/>
              </a:spcAft>
              <a:buChar char="»"/>
              <a:defRPr kumimoji="1">
                <a:solidFill>
                  <a:schemeClr val="tx1"/>
                </a:solidFill>
                <a:latin typeface="Times New Roman" pitchFamily="18" charset="0"/>
                <a:ea typeface="宋体" pitchFamily="2" charset="-122"/>
              </a:defRPr>
            </a:lvl9pPr>
          </a:lstStyle>
          <a:p>
            <a:pPr>
              <a:buFontTx/>
              <a:buNone/>
              <a:defRPr/>
            </a:pPr>
            <a:r>
              <a:rPr lang="en-US" altLang="zh-CN" sz="3200">
                <a:solidFill>
                  <a:schemeClr val="tx2"/>
                </a:solidFill>
              </a:rPr>
              <a:t>International symbol of point group</a:t>
            </a:r>
            <a:endParaRPr lang="zh-CN" altLang="en-US" sz="3200" b="0">
              <a:solidFill>
                <a:schemeClr val="tx2"/>
              </a:solidFill>
            </a:endParaRPr>
          </a:p>
        </p:txBody>
      </p:sp>
      <p:sp>
        <p:nvSpPr>
          <p:cNvPr id="90117" name="Rectangle 5"/>
          <p:cNvSpPr>
            <a:spLocks noChangeArrowheads="1"/>
          </p:cNvSpPr>
          <p:nvPr/>
        </p:nvSpPr>
        <p:spPr bwMode="auto">
          <a:xfrm>
            <a:off x="3589338" y="1981200"/>
            <a:ext cx="36496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kumimoji="0" lang="en-US" altLang="zh-CN" sz="6000" b="0" u="sng" dirty="0">
                <a:solidFill>
                  <a:srgbClr val="FF0066"/>
                </a:solidFill>
                <a:effectLst>
                  <a:outerShdw blurRad="38100" dist="38100" dir="2700000" algn="tl">
                    <a:srgbClr val="000000"/>
                  </a:outerShdw>
                </a:effectLst>
              </a:rPr>
              <a:t>4/</a:t>
            </a:r>
            <a:r>
              <a:rPr kumimoji="0" lang="en-US" altLang="zh-CN" sz="6000" b="0" i="1" u="sng" dirty="0">
                <a:solidFill>
                  <a:srgbClr val="FF0066"/>
                </a:solidFill>
                <a:effectLst>
                  <a:outerShdw blurRad="38100" dist="38100" dir="2700000" algn="tl">
                    <a:srgbClr val="000000"/>
                  </a:outerShdw>
                </a:effectLst>
              </a:rPr>
              <a:t>m</a:t>
            </a:r>
            <a:r>
              <a:rPr kumimoji="0" lang="en-US" altLang="zh-CN" sz="6000" b="0" i="1" dirty="0">
                <a:solidFill>
                  <a:srgbClr val="FF0066"/>
                </a:solidFill>
                <a:effectLst>
                  <a:outerShdw blurRad="38100" dist="38100" dir="2700000" algn="tl">
                    <a:srgbClr val="000000"/>
                  </a:outerShdw>
                </a:effectLst>
              </a:rPr>
              <a:t>mm</a:t>
            </a:r>
            <a:endParaRPr kumimoji="0" lang="en-US" altLang="zh-CN" sz="2800" dirty="0">
              <a:solidFill>
                <a:srgbClr val="00CC00"/>
              </a:solidFill>
              <a:effectLst>
                <a:outerShdw blurRad="38100" dist="38100" dir="2700000" algn="tl">
                  <a:srgbClr val="000000"/>
                </a:outerShdw>
              </a:effectLst>
            </a:endParaRPr>
          </a:p>
        </p:txBody>
      </p:sp>
      <p:sp>
        <p:nvSpPr>
          <p:cNvPr id="90118" name="Rectangle 6"/>
          <p:cNvSpPr>
            <a:spLocks noChangeArrowheads="1"/>
          </p:cNvSpPr>
          <p:nvPr/>
        </p:nvSpPr>
        <p:spPr bwMode="auto">
          <a:xfrm>
            <a:off x="4724400" y="1752600"/>
            <a:ext cx="346075" cy="466725"/>
          </a:xfrm>
          <a:prstGeom prst="rect">
            <a:avLst/>
          </a:prstGeom>
          <a:solidFill>
            <a:srgbClr val="00CC00"/>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1</a:t>
            </a:r>
          </a:p>
        </p:txBody>
      </p:sp>
      <p:sp>
        <p:nvSpPr>
          <p:cNvPr id="90119" name="Rectangle 7"/>
          <p:cNvSpPr>
            <a:spLocks noChangeArrowheads="1"/>
          </p:cNvSpPr>
          <p:nvPr/>
        </p:nvSpPr>
        <p:spPr bwMode="auto">
          <a:xfrm>
            <a:off x="5521325" y="1752600"/>
            <a:ext cx="346075" cy="466725"/>
          </a:xfrm>
          <a:prstGeom prst="rect">
            <a:avLst/>
          </a:prstGeom>
          <a:solidFill>
            <a:srgbClr val="00CC00"/>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2</a:t>
            </a:r>
          </a:p>
        </p:txBody>
      </p:sp>
      <p:sp>
        <p:nvSpPr>
          <p:cNvPr id="90120" name="Rectangle 8"/>
          <p:cNvSpPr>
            <a:spLocks noChangeArrowheads="1"/>
          </p:cNvSpPr>
          <p:nvPr/>
        </p:nvSpPr>
        <p:spPr bwMode="auto">
          <a:xfrm>
            <a:off x="6096000" y="1752600"/>
            <a:ext cx="346075" cy="466725"/>
          </a:xfrm>
          <a:prstGeom prst="rect">
            <a:avLst/>
          </a:prstGeom>
          <a:solidFill>
            <a:srgbClr val="00CC00"/>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3</a:t>
            </a:r>
          </a:p>
        </p:txBody>
      </p:sp>
      <p:grpSp>
        <p:nvGrpSpPr>
          <p:cNvPr id="57352" name="Group 9"/>
          <p:cNvGrpSpPr>
            <a:grpSpLocks/>
          </p:cNvGrpSpPr>
          <p:nvPr/>
        </p:nvGrpSpPr>
        <p:grpSpPr bwMode="auto">
          <a:xfrm>
            <a:off x="73654" y="3429000"/>
            <a:ext cx="8994146" cy="3116263"/>
            <a:chOff x="-4" y="381"/>
            <a:chExt cx="3532" cy="3078"/>
          </a:xfrm>
        </p:grpSpPr>
        <p:grpSp>
          <p:nvGrpSpPr>
            <p:cNvPr id="57361" name="Group 10"/>
            <p:cNvGrpSpPr>
              <a:grpSpLocks/>
            </p:cNvGrpSpPr>
            <p:nvPr/>
          </p:nvGrpSpPr>
          <p:grpSpPr bwMode="auto">
            <a:xfrm>
              <a:off x="-4" y="384"/>
              <a:ext cx="3529" cy="3072"/>
              <a:chOff x="-4" y="384"/>
              <a:chExt cx="3529" cy="3072"/>
            </a:xfrm>
          </p:grpSpPr>
          <p:grpSp>
            <p:nvGrpSpPr>
              <p:cNvPr id="57363" name="Group 11"/>
              <p:cNvGrpSpPr>
                <a:grpSpLocks/>
              </p:cNvGrpSpPr>
              <p:nvPr/>
            </p:nvGrpSpPr>
            <p:grpSpPr bwMode="auto">
              <a:xfrm>
                <a:off x="0" y="384"/>
                <a:ext cx="633" cy="768"/>
                <a:chOff x="0" y="384"/>
                <a:chExt cx="633" cy="768"/>
              </a:xfrm>
            </p:grpSpPr>
            <p:sp>
              <p:nvSpPr>
                <p:cNvPr id="57487" name="Rectangle 12"/>
                <p:cNvSpPr>
                  <a:spLocks noChangeArrowheads="1"/>
                </p:cNvSpPr>
                <p:nvPr/>
              </p:nvSpPr>
              <p:spPr bwMode="auto">
                <a:xfrm>
                  <a:off x="43" y="384"/>
                  <a:ext cx="547"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kumimoji="0" lang="en-US" altLang="zh-CN" sz="2000" b="0"/>
                    <a:t>Crystal class</a:t>
                  </a:r>
                  <a:endParaRPr kumimoji="0" lang="zh-CN" altLang="en-US" sz="2000" b="0"/>
                </a:p>
              </p:txBody>
            </p:sp>
            <p:sp>
              <p:nvSpPr>
                <p:cNvPr id="57488" name="Rectangle 13"/>
                <p:cNvSpPr>
                  <a:spLocks noChangeArrowheads="1"/>
                </p:cNvSpPr>
                <p:nvPr/>
              </p:nvSpPr>
              <p:spPr bwMode="auto">
                <a:xfrm>
                  <a:off x="0" y="384"/>
                  <a:ext cx="633" cy="76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64" name="Group 14"/>
              <p:cNvGrpSpPr>
                <a:grpSpLocks/>
              </p:cNvGrpSpPr>
              <p:nvPr/>
            </p:nvGrpSpPr>
            <p:grpSpPr bwMode="auto">
              <a:xfrm>
                <a:off x="633" y="384"/>
                <a:ext cx="2892" cy="384"/>
                <a:chOff x="633" y="384"/>
                <a:chExt cx="2892" cy="384"/>
              </a:xfrm>
            </p:grpSpPr>
            <p:sp>
              <p:nvSpPr>
                <p:cNvPr id="57485" name="Rectangle 15"/>
                <p:cNvSpPr>
                  <a:spLocks noChangeArrowheads="1"/>
                </p:cNvSpPr>
                <p:nvPr/>
              </p:nvSpPr>
              <p:spPr bwMode="auto">
                <a:xfrm>
                  <a:off x="676" y="384"/>
                  <a:ext cx="280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kumimoji="0" lang="en-US" altLang="zh-CN" sz="2000" b="0"/>
                    <a:t>3 directions</a:t>
                  </a:r>
                </a:p>
              </p:txBody>
            </p:sp>
            <p:sp>
              <p:nvSpPr>
                <p:cNvPr id="57486" name="Rectangle 16"/>
                <p:cNvSpPr>
                  <a:spLocks noChangeArrowheads="1"/>
                </p:cNvSpPr>
                <p:nvPr/>
              </p:nvSpPr>
              <p:spPr bwMode="auto">
                <a:xfrm>
                  <a:off x="633" y="384"/>
                  <a:ext cx="289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65" name="Group 17"/>
              <p:cNvGrpSpPr>
                <a:grpSpLocks/>
              </p:cNvGrpSpPr>
              <p:nvPr/>
            </p:nvGrpSpPr>
            <p:grpSpPr bwMode="auto">
              <a:xfrm>
                <a:off x="633" y="768"/>
                <a:ext cx="1338" cy="384"/>
                <a:chOff x="633" y="768"/>
                <a:chExt cx="1338" cy="384"/>
              </a:xfrm>
            </p:grpSpPr>
            <p:sp>
              <p:nvSpPr>
                <p:cNvPr id="57483" name="Rectangle 18"/>
                <p:cNvSpPr>
                  <a:spLocks noChangeArrowheads="1"/>
                </p:cNvSpPr>
                <p:nvPr/>
              </p:nvSpPr>
              <p:spPr bwMode="auto">
                <a:xfrm>
                  <a:off x="676" y="768"/>
                  <a:ext cx="12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endParaRPr kumimoji="0" lang="en-US" altLang="en-US" sz="2000" b="0"/>
                </a:p>
              </p:txBody>
            </p:sp>
            <p:sp>
              <p:nvSpPr>
                <p:cNvPr id="57484" name="Rectangle 19"/>
                <p:cNvSpPr>
                  <a:spLocks noChangeArrowheads="1"/>
                </p:cNvSpPr>
                <p:nvPr/>
              </p:nvSpPr>
              <p:spPr bwMode="auto">
                <a:xfrm>
                  <a:off x="633" y="768"/>
                  <a:ext cx="1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66" name="Group 20"/>
              <p:cNvGrpSpPr>
                <a:grpSpLocks/>
              </p:cNvGrpSpPr>
              <p:nvPr/>
            </p:nvGrpSpPr>
            <p:grpSpPr bwMode="auto">
              <a:xfrm>
                <a:off x="1971" y="768"/>
                <a:ext cx="1554" cy="384"/>
                <a:chOff x="1971" y="768"/>
                <a:chExt cx="1554" cy="384"/>
              </a:xfrm>
            </p:grpSpPr>
            <p:sp>
              <p:nvSpPr>
                <p:cNvPr id="57481" name="Rectangle 21"/>
                <p:cNvSpPr>
                  <a:spLocks noChangeArrowheads="1"/>
                </p:cNvSpPr>
                <p:nvPr/>
              </p:nvSpPr>
              <p:spPr bwMode="auto">
                <a:xfrm>
                  <a:off x="2014" y="768"/>
                  <a:ext cx="14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endParaRPr kumimoji="0" lang="en-US" altLang="en-US" sz="2000" b="0"/>
                </a:p>
              </p:txBody>
            </p:sp>
            <p:sp>
              <p:nvSpPr>
                <p:cNvPr id="57482" name="Rectangle 22"/>
                <p:cNvSpPr>
                  <a:spLocks noChangeArrowheads="1"/>
                </p:cNvSpPr>
                <p:nvPr/>
              </p:nvSpPr>
              <p:spPr bwMode="auto">
                <a:xfrm>
                  <a:off x="1971" y="768"/>
                  <a:ext cx="15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67" name="Group 23"/>
              <p:cNvGrpSpPr>
                <a:grpSpLocks/>
              </p:cNvGrpSpPr>
              <p:nvPr/>
            </p:nvGrpSpPr>
            <p:grpSpPr bwMode="auto">
              <a:xfrm>
                <a:off x="0" y="1152"/>
                <a:ext cx="633" cy="384"/>
                <a:chOff x="0" y="1152"/>
                <a:chExt cx="633" cy="384"/>
              </a:xfrm>
            </p:grpSpPr>
            <p:sp>
              <p:nvSpPr>
                <p:cNvPr id="57479" name="Rectangle 24"/>
                <p:cNvSpPr>
                  <a:spLocks noChangeArrowheads="1"/>
                </p:cNvSpPr>
                <p:nvPr/>
              </p:nvSpPr>
              <p:spPr bwMode="auto">
                <a:xfrm>
                  <a:off x="43" y="1152"/>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Isometric</a:t>
                  </a:r>
                  <a:endParaRPr kumimoji="0" lang="zh-CN" altLang="en-US" sz="2000" b="0"/>
                </a:p>
              </p:txBody>
            </p:sp>
            <p:sp>
              <p:nvSpPr>
                <p:cNvPr id="57480" name="Rectangle 25"/>
                <p:cNvSpPr>
                  <a:spLocks noChangeArrowheads="1"/>
                </p:cNvSpPr>
                <p:nvPr/>
              </p:nvSpPr>
              <p:spPr bwMode="auto">
                <a:xfrm>
                  <a:off x="0" y="1152"/>
                  <a:ext cx="633"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68" name="Group 26"/>
              <p:cNvGrpSpPr>
                <a:grpSpLocks/>
              </p:cNvGrpSpPr>
              <p:nvPr/>
            </p:nvGrpSpPr>
            <p:grpSpPr bwMode="auto">
              <a:xfrm>
                <a:off x="633" y="1152"/>
                <a:ext cx="446" cy="384"/>
                <a:chOff x="633" y="1152"/>
                <a:chExt cx="446" cy="384"/>
              </a:xfrm>
            </p:grpSpPr>
            <p:sp>
              <p:nvSpPr>
                <p:cNvPr id="57477" name="Rectangle 27"/>
                <p:cNvSpPr>
                  <a:spLocks noChangeArrowheads="1"/>
                </p:cNvSpPr>
                <p:nvPr/>
              </p:nvSpPr>
              <p:spPr bwMode="auto">
                <a:xfrm>
                  <a:off x="676" y="115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c</a:t>
                  </a:r>
                  <a:endParaRPr kumimoji="0" lang="en-US" altLang="zh-CN" sz="2000" b="0"/>
                </a:p>
              </p:txBody>
            </p:sp>
            <p:sp>
              <p:nvSpPr>
                <p:cNvPr id="57478" name="Rectangle 28"/>
                <p:cNvSpPr>
                  <a:spLocks noChangeArrowheads="1"/>
                </p:cNvSpPr>
                <p:nvPr/>
              </p:nvSpPr>
              <p:spPr bwMode="auto">
                <a:xfrm>
                  <a:off x="633" y="1152"/>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69" name="Group 29"/>
              <p:cNvGrpSpPr>
                <a:grpSpLocks/>
              </p:cNvGrpSpPr>
              <p:nvPr/>
            </p:nvGrpSpPr>
            <p:grpSpPr bwMode="auto">
              <a:xfrm>
                <a:off x="1079" y="1152"/>
                <a:ext cx="446" cy="384"/>
                <a:chOff x="1079" y="1152"/>
                <a:chExt cx="446" cy="384"/>
              </a:xfrm>
            </p:grpSpPr>
            <p:sp>
              <p:nvSpPr>
                <p:cNvPr id="57475" name="Rectangle 30"/>
                <p:cNvSpPr>
                  <a:spLocks noChangeArrowheads="1"/>
                </p:cNvSpPr>
                <p:nvPr/>
              </p:nvSpPr>
              <p:spPr bwMode="auto">
                <a:xfrm>
                  <a:off x="1122" y="115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dirty="0" err="1"/>
                    <a:t>a+b+c</a:t>
                  </a:r>
                  <a:endParaRPr kumimoji="0" lang="en-US" altLang="zh-CN" sz="2000" b="0" dirty="0"/>
                </a:p>
              </p:txBody>
            </p:sp>
            <p:sp>
              <p:nvSpPr>
                <p:cNvPr id="57476" name="Rectangle 31"/>
                <p:cNvSpPr>
                  <a:spLocks noChangeArrowheads="1"/>
                </p:cNvSpPr>
                <p:nvPr/>
              </p:nvSpPr>
              <p:spPr bwMode="auto">
                <a:xfrm>
                  <a:off x="1079" y="1152"/>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70" name="Group 32"/>
              <p:cNvGrpSpPr>
                <a:grpSpLocks/>
              </p:cNvGrpSpPr>
              <p:nvPr/>
            </p:nvGrpSpPr>
            <p:grpSpPr bwMode="auto">
              <a:xfrm>
                <a:off x="1525" y="1152"/>
                <a:ext cx="446" cy="384"/>
                <a:chOff x="1525" y="1152"/>
                <a:chExt cx="446" cy="384"/>
              </a:xfrm>
            </p:grpSpPr>
            <p:sp>
              <p:nvSpPr>
                <p:cNvPr id="57473" name="Rectangle 33"/>
                <p:cNvSpPr>
                  <a:spLocks noChangeArrowheads="1"/>
                </p:cNvSpPr>
                <p:nvPr/>
              </p:nvSpPr>
              <p:spPr bwMode="auto">
                <a:xfrm>
                  <a:off x="1568" y="115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a+b</a:t>
                  </a:r>
                  <a:endParaRPr kumimoji="0" lang="en-US" altLang="zh-CN" sz="2000" b="0"/>
                </a:p>
              </p:txBody>
            </p:sp>
            <p:sp>
              <p:nvSpPr>
                <p:cNvPr id="57474" name="Rectangle 34"/>
                <p:cNvSpPr>
                  <a:spLocks noChangeArrowheads="1"/>
                </p:cNvSpPr>
                <p:nvPr/>
              </p:nvSpPr>
              <p:spPr bwMode="auto">
                <a:xfrm>
                  <a:off x="1525" y="1152"/>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71" name="Group 35"/>
              <p:cNvGrpSpPr>
                <a:grpSpLocks/>
              </p:cNvGrpSpPr>
              <p:nvPr/>
            </p:nvGrpSpPr>
            <p:grpSpPr bwMode="auto">
              <a:xfrm>
                <a:off x="1971" y="1152"/>
                <a:ext cx="518" cy="384"/>
                <a:chOff x="1971" y="1152"/>
                <a:chExt cx="518" cy="384"/>
              </a:xfrm>
            </p:grpSpPr>
            <p:sp>
              <p:nvSpPr>
                <p:cNvPr id="57471" name="Rectangle 36"/>
                <p:cNvSpPr>
                  <a:spLocks noChangeArrowheads="1"/>
                </p:cNvSpPr>
                <p:nvPr/>
              </p:nvSpPr>
              <p:spPr bwMode="auto">
                <a:xfrm>
                  <a:off x="2014" y="115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[001]</a:t>
                  </a:r>
                </a:p>
              </p:txBody>
            </p:sp>
            <p:sp>
              <p:nvSpPr>
                <p:cNvPr id="57472" name="Rectangle 37"/>
                <p:cNvSpPr>
                  <a:spLocks noChangeArrowheads="1"/>
                </p:cNvSpPr>
                <p:nvPr/>
              </p:nvSpPr>
              <p:spPr bwMode="auto">
                <a:xfrm>
                  <a:off x="1971" y="1152"/>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72" name="Group 38"/>
              <p:cNvGrpSpPr>
                <a:grpSpLocks/>
              </p:cNvGrpSpPr>
              <p:nvPr/>
            </p:nvGrpSpPr>
            <p:grpSpPr bwMode="auto">
              <a:xfrm>
                <a:off x="2489" y="1152"/>
                <a:ext cx="518" cy="384"/>
                <a:chOff x="2489" y="1152"/>
                <a:chExt cx="518" cy="384"/>
              </a:xfrm>
            </p:grpSpPr>
            <p:sp>
              <p:nvSpPr>
                <p:cNvPr id="57469" name="Rectangle 39"/>
                <p:cNvSpPr>
                  <a:spLocks noChangeArrowheads="1"/>
                </p:cNvSpPr>
                <p:nvPr/>
              </p:nvSpPr>
              <p:spPr bwMode="auto">
                <a:xfrm>
                  <a:off x="2532" y="115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[111]</a:t>
                  </a:r>
                </a:p>
              </p:txBody>
            </p:sp>
            <p:sp>
              <p:nvSpPr>
                <p:cNvPr id="57470" name="Rectangle 40"/>
                <p:cNvSpPr>
                  <a:spLocks noChangeArrowheads="1"/>
                </p:cNvSpPr>
                <p:nvPr/>
              </p:nvSpPr>
              <p:spPr bwMode="auto">
                <a:xfrm>
                  <a:off x="2489" y="1152"/>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73" name="Group 41"/>
              <p:cNvGrpSpPr>
                <a:grpSpLocks/>
              </p:cNvGrpSpPr>
              <p:nvPr/>
            </p:nvGrpSpPr>
            <p:grpSpPr bwMode="auto">
              <a:xfrm>
                <a:off x="3007" y="1152"/>
                <a:ext cx="518" cy="384"/>
                <a:chOff x="3007" y="1152"/>
                <a:chExt cx="518" cy="384"/>
              </a:xfrm>
            </p:grpSpPr>
            <p:sp>
              <p:nvSpPr>
                <p:cNvPr id="57467" name="Rectangle 42"/>
                <p:cNvSpPr>
                  <a:spLocks noChangeArrowheads="1"/>
                </p:cNvSpPr>
                <p:nvPr/>
              </p:nvSpPr>
              <p:spPr bwMode="auto">
                <a:xfrm>
                  <a:off x="3050" y="115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[110]</a:t>
                  </a:r>
                </a:p>
              </p:txBody>
            </p:sp>
            <p:sp>
              <p:nvSpPr>
                <p:cNvPr id="57468" name="Rectangle 43"/>
                <p:cNvSpPr>
                  <a:spLocks noChangeArrowheads="1"/>
                </p:cNvSpPr>
                <p:nvPr/>
              </p:nvSpPr>
              <p:spPr bwMode="auto">
                <a:xfrm>
                  <a:off x="3007" y="1152"/>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74" name="Group 44"/>
              <p:cNvGrpSpPr>
                <a:grpSpLocks/>
              </p:cNvGrpSpPr>
              <p:nvPr/>
            </p:nvGrpSpPr>
            <p:grpSpPr bwMode="auto">
              <a:xfrm>
                <a:off x="0" y="1536"/>
                <a:ext cx="633" cy="384"/>
                <a:chOff x="0" y="1536"/>
                <a:chExt cx="633" cy="384"/>
              </a:xfrm>
            </p:grpSpPr>
            <p:sp>
              <p:nvSpPr>
                <p:cNvPr id="57465" name="Rectangle 45"/>
                <p:cNvSpPr>
                  <a:spLocks noChangeArrowheads="1"/>
                </p:cNvSpPr>
                <p:nvPr/>
              </p:nvSpPr>
              <p:spPr bwMode="auto">
                <a:xfrm>
                  <a:off x="43" y="1536"/>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Tetragonal</a:t>
                  </a:r>
                  <a:endParaRPr kumimoji="0" lang="zh-CN" altLang="en-US" sz="2000" b="0"/>
                </a:p>
              </p:txBody>
            </p:sp>
            <p:sp>
              <p:nvSpPr>
                <p:cNvPr id="57466" name="Rectangle 46"/>
                <p:cNvSpPr>
                  <a:spLocks noChangeArrowheads="1"/>
                </p:cNvSpPr>
                <p:nvPr/>
              </p:nvSpPr>
              <p:spPr bwMode="auto">
                <a:xfrm>
                  <a:off x="0" y="1536"/>
                  <a:ext cx="633"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75" name="Group 47"/>
              <p:cNvGrpSpPr>
                <a:grpSpLocks/>
              </p:cNvGrpSpPr>
              <p:nvPr/>
            </p:nvGrpSpPr>
            <p:grpSpPr bwMode="auto">
              <a:xfrm>
                <a:off x="633" y="1536"/>
                <a:ext cx="446" cy="384"/>
                <a:chOff x="633" y="1536"/>
                <a:chExt cx="446" cy="384"/>
              </a:xfrm>
            </p:grpSpPr>
            <p:sp>
              <p:nvSpPr>
                <p:cNvPr id="57463" name="Rectangle 48"/>
                <p:cNvSpPr>
                  <a:spLocks noChangeArrowheads="1"/>
                </p:cNvSpPr>
                <p:nvPr/>
              </p:nvSpPr>
              <p:spPr bwMode="auto">
                <a:xfrm>
                  <a:off x="676" y="153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c</a:t>
                  </a:r>
                  <a:endParaRPr kumimoji="0" lang="en-US" altLang="zh-CN" sz="2000" b="0"/>
                </a:p>
              </p:txBody>
            </p:sp>
            <p:sp>
              <p:nvSpPr>
                <p:cNvPr id="57464" name="Rectangle 49"/>
                <p:cNvSpPr>
                  <a:spLocks noChangeArrowheads="1"/>
                </p:cNvSpPr>
                <p:nvPr/>
              </p:nvSpPr>
              <p:spPr bwMode="auto">
                <a:xfrm>
                  <a:off x="633" y="1536"/>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76" name="Group 50"/>
              <p:cNvGrpSpPr>
                <a:grpSpLocks/>
              </p:cNvGrpSpPr>
              <p:nvPr/>
            </p:nvGrpSpPr>
            <p:grpSpPr bwMode="auto">
              <a:xfrm>
                <a:off x="1079" y="1536"/>
                <a:ext cx="446" cy="384"/>
                <a:chOff x="1079" y="1536"/>
                <a:chExt cx="446" cy="384"/>
              </a:xfrm>
            </p:grpSpPr>
            <p:sp>
              <p:nvSpPr>
                <p:cNvPr id="57461" name="Rectangle 51"/>
                <p:cNvSpPr>
                  <a:spLocks noChangeArrowheads="1"/>
                </p:cNvSpPr>
                <p:nvPr/>
              </p:nvSpPr>
              <p:spPr bwMode="auto">
                <a:xfrm>
                  <a:off x="1122" y="153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a</a:t>
                  </a:r>
                  <a:endParaRPr kumimoji="0" lang="en-US" altLang="zh-CN" sz="2000" b="0"/>
                </a:p>
              </p:txBody>
            </p:sp>
            <p:sp>
              <p:nvSpPr>
                <p:cNvPr id="57462" name="Rectangle 52"/>
                <p:cNvSpPr>
                  <a:spLocks noChangeArrowheads="1"/>
                </p:cNvSpPr>
                <p:nvPr/>
              </p:nvSpPr>
              <p:spPr bwMode="auto">
                <a:xfrm>
                  <a:off x="1079" y="1536"/>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77" name="Group 53"/>
              <p:cNvGrpSpPr>
                <a:grpSpLocks/>
              </p:cNvGrpSpPr>
              <p:nvPr/>
            </p:nvGrpSpPr>
            <p:grpSpPr bwMode="auto">
              <a:xfrm>
                <a:off x="1525" y="1536"/>
                <a:ext cx="446" cy="384"/>
                <a:chOff x="1525" y="1536"/>
                <a:chExt cx="446" cy="384"/>
              </a:xfrm>
            </p:grpSpPr>
            <p:sp>
              <p:nvSpPr>
                <p:cNvPr id="57459" name="Rectangle 54"/>
                <p:cNvSpPr>
                  <a:spLocks noChangeArrowheads="1"/>
                </p:cNvSpPr>
                <p:nvPr/>
              </p:nvSpPr>
              <p:spPr bwMode="auto">
                <a:xfrm>
                  <a:off x="1568" y="153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a+b</a:t>
                  </a:r>
                  <a:endParaRPr kumimoji="0" lang="en-US" altLang="zh-CN" sz="2000" b="0"/>
                </a:p>
              </p:txBody>
            </p:sp>
            <p:sp>
              <p:nvSpPr>
                <p:cNvPr id="57460" name="Rectangle 55"/>
                <p:cNvSpPr>
                  <a:spLocks noChangeArrowheads="1"/>
                </p:cNvSpPr>
                <p:nvPr/>
              </p:nvSpPr>
              <p:spPr bwMode="auto">
                <a:xfrm>
                  <a:off x="1525" y="1536"/>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78" name="Group 56"/>
              <p:cNvGrpSpPr>
                <a:grpSpLocks/>
              </p:cNvGrpSpPr>
              <p:nvPr/>
            </p:nvGrpSpPr>
            <p:grpSpPr bwMode="auto">
              <a:xfrm>
                <a:off x="1971" y="1536"/>
                <a:ext cx="518" cy="384"/>
                <a:chOff x="1971" y="1536"/>
                <a:chExt cx="518" cy="384"/>
              </a:xfrm>
            </p:grpSpPr>
            <p:sp>
              <p:nvSpPr>
                <p:cNvPr id="57457" name="Rectangle 57"/>
                <p:cNvSpPr>
                  <a:spLocks noChangeArrowheads="1"/>
                </p:cNvSpPr>
                <p:nvPr/>
              </p:nvSpPr>
              <p:spPr bwMode="auto">
                <a:xfrm>
                  <a:off x="2014"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[001]</a:t>
                  </a:r>
                </a:p>
              </p:txBody>
            </p:sp>
            <p:sp>
              <p:nvSpPr>
                <p:cNvPr id="57458" name="Rectangle 58"/>
                <p:cNvSpPr>
                  <a:spLocks noChangeArrowheads="1"/>
                </p:cNvSpPr>
                <p:nvPr/>
              </p:nvSpPr>
              <p:spPr bwMode="auto">
                <a:xfrm>
                  <a:off x="1971" y="1536"/>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79" name="Group 59"/>
              <p:cNvGrpSpPr>
                <a:grpSpLocks/>
              </p:cNvGrpSpPr>
              <p:nvPr/>
            </p:nvGrpSpPr>
            <p:grpSpPr bwMode="auto">
              <a:xfrm>
                <a:off x="2489" y="1536"/>
                <a:ext cx="518" cy="384"/>
                <a:chOff x="2489" y="1536"/>
                <a:chExt cx="518" cy="384"/>
              </a:xfrm>
            </p:grpSpPr>
            <p:sp>
              <p:nvSpPr>
                <p:cNvPr id="57455" name="Rectangle 60"/>
                <p:cNvSpPr>
                  <a:spLocks noChangeArrowheads="1"/>
                </p:cNvSpPr>
                <p:nvPr/>
              </p:nvSpPr>
              <p:spPr bwMode="auto">
                <a:xfrm>
                  <a:off x="2532"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[100]</a:t>
                  </a:r>
                </a:p>
              </p:txBody>
            </p:sp>
            <p:sp>
              <p:nvSpPr>
                <p:cNvPr id="57456" name="Rectangle 61"/>
                <p:cNvSpPr>
                  <a:spLocks noChangeArrowheads="1"/>
                </p:cNvSpPr>
                <p:nvPr/>
              </p:nvSpPr>
              <p:spPr bwMode="auto">
                <a:xfrm>
                  <a:off x="2489" y="1536"/>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80" name="Group 62"/>
              <p:cNvGrpSpPr>
                <a:grpSpLocks/>
              </p:cNvGrpSpPr>
              <p:nvPr/>
            </p:nvGrpSpPr>
            <p:grpSpPr bwMode="auto">
              <a:xfrm>
                <a:off x="3007" y="1536"/>
                <a:ext cx="518" cy="384"/>
                <a:chOff x="3007" y="1536"/>
                <a:chExt cx="518" cy="384"/>
              </a:xfrm>
            </p:grpSpPr>
            <p:sp>
              <p:nvSpPr>
                <p:cNvPr id="57453" name="Rectangle 63"/>
                <p:cNvSpPr>
                  <a:spLocks noChangeArrowheads="1"/>
                </p:cNvSpPr>
                <p:nvPr/>
              </p:nvSpPr>
              <p:spPr bwMode="auto">
                <a:xfrm>
                  <a:off x="3050" y="1536"/>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[110]</a:t>
                  </a:r>
                </a:p>
              </p:txBody>
            </p:sp>
            <p:sp>
              <p:nvSpPr>
                <p:cNvPr id="57454" name="Rectangle 64"/>
                <p:cNvSpPr>
                  <a:spLocks noChangeArrowheads="1"/>
                </p:cNvSpPr>
                <p:nvPr/>
              </p:nvSpPr>
              <p:spPr bwMode="auto">
                <a:xfrm>
                  <a:off x="3007" y="1536"/>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81" name="Group 65"/>
              <p:cNvGrpSpPr>
                <a:grpSpLocks/>
              </p:cNvGrpSpPr>
              <p:nvPr/>
            </p:nvGrpSpPr>
            <p:grpSpPr bwMode="auto">
              <a:xfrm>
                <a:off x="-4" y="1920"/>
                <a:ext cx="722" cy="393"/>
                <a:chOff x="-4" y="1920"/>
                <a:chExt cx="722" cy="393"/>
              </a:xfrm>
            </p:grpSpPr>
            <p:sp>
              <p:nvSpPr>
                <p:cNvPr id="57451" name="Rectangle 66"/>
                <p:cNvSpPr>
                  <a:spLocks noChangeArrowheads="1"/>
                </p:cNvSpPr>
                <p:nvPr/>
              </p:nvSpPr>
              <p:spPr bwMode="auto">
                <a:xfrm>
                  <a:off x="-4" y="1929"/>
                  <a:ext cx="72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Rhombohedral</a:t>
                  </a:r>
                  <a:endParaRPr kumimoji="0" lang="zh-CN" altLang="en-US" sz="2000" b="0"/>
                </a:p>
              </p:txBody>
            </p:sp>
            <p:sp>
              <p:nvSpPr>
                <p:cNvPr id="57452" name="Rectangle 67"/>
                <p:cNvSpPr>
                  <a:spLocks noChangeArrowheads="1"/>
                </p:cNvSpPr>
                <p:nvPr/>
              </p:nvSpPr>
              <p:spPr bwMode="auto">
                <a:xfrm>
                  <a:off x="0" y="1920"/>
                  <a:ext cx="633"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82" name="Group 68"/>
              <p:cNvGrpSpPr>
                <a:grpSpLocks/>
              </p:cNvGrpSpPr>
              <p:nvPr/>
            </p:nvGrpSpPr>
            <p:grpSpPr bwMode="auto">
              <a:xfrm>
                <a:off x="633" y="1920"/>
                <a:ext cx="446" cy="384"/>
                <a:chOff x="633" y="1920"/>
                <a:chExt cx="446" cy="384"/>
              </a:xfrm>
            </p:grpSpPr>
            <p:sp>
              <p:nvSpPr>
                <p:cNvPr id="57449" name="Rectangle 69"/>
                <p:cNvSpPr>
                  <a:spLocks noChangeArrowheads="1"/>
                </p:cNvSpPr>
                <p:nvPr/>
              </p:nvSpPr>
              <p:spPr bwMode="auto">
                <a:xfrm>
                  <a:off x="676" y="192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a</a:t>
                  </a:r>
                  <a:endParaRPr kumimoji="0" lang="en-US" altLang="zh-CN" sz="2000" b="0"/>
                </a:p>
              </p:txBody>
            </p:sp>
            <p:sp>
              <p:nvSpPr>
                <p:cNvPr id="57450" name="Rectangle 70"/>
                <p:cNvSpPr>
                  <a:spLocks noChangeArrowheads="1"/>
                </p:cNvSpPr>
                <p:nvPr/>
              </p:nvSpPr>
              <p:spPr bwMode="auto">
                <a:xfrm>
                  <a:off x="633" y="1920"/>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83" name="Group 71"/>
              <p:cNvGrpSpPr>
                <a:grpSpLocks/>
              </p:cNvGrpSpPr>
              <p:nvPr/>
            </p:nvGrpSpPr>
            <p:grpSpPr bwMode="auto">
              <a:xfrm>
                <a:off x="1079" y="1920"/>
                <a:ext cx="446" cy="384"/>
                <a:chOff x="1079" y="1920"/>
                <a:chExt cx="446" cy="384"/>
              </a:xfrm>
            </p:grpSpPr>
            <p:sp>
              <p:nvSpPr>
                <p:cNvPr id="57447" name="Rectangle 72"/>
                <p:cNvSpPr>
                  <a:spLocks noChangeArrowheads="1"/>
                </p:cNvSpPr>
                <p:nvPr/>
              </p:nvSpPr>
              <p:spPr bwMode="auto">
                <a:xfrm>
                  <a:off x="1122" y="192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b</a:t>
                  </a:r>
                  <a:endParaRPr kumimoji="0" lang="en-US" altLang="zh-CN" sz="2000" b="0"/>
                </a:p>
              </p:txBody>
            </p:sp>
            <p:sp>
              <p:nvSpPr>
                <p:cNvPr id="57448" name="Rectangle 73"/>
                <p:cNvSpPr>
                  <a:spLocks noChangeArrowheads="1"/>
                </p:cNvSpPr>
                <p:nvPr/>
              </p:nvSpPr>
              <p:spPr bwMode="auto">
                <a:xfrm>
                  <a:off x="1079" y="1920"/>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84" name="Group 74"/>
              <p:cNvGrpSpPr>
                <a:grpSpLocks/>
              </p:cNvGrpSpPr>
              <p:nvPr/>
            </p:nvGrpSpPr>
            <p:grpSpPr bwMode="auto">
              <a:xfrm>
                <a:off x="1525" y="1920"/>
                <a:ext cx="446" cy="384"/>
                <a:chOff x="1525" y="1920"/>
                <a:chExt cx="446" cy="384"/>
              </a:xfrm>
            </p:grpSpPr>
            <p:sp>
              <p:nvSpPr>
                <p:cNvPr id="57445" name="Rectangle 75"/>
                <p:cNvSpPr>
                  <a:spLocks noChangeArrowheads="1"/>
                </p:cNvSpPr>
                <p:nvPr/>
              </p:nvSpPr>
              <p:spPr bwMode="auto">
                <a:xfrm>
                  <a:off x="1568" y="192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c</a:t>
                  </a:r>
                  <a:endParaRPr kumimoji="0" lang="en-US" altLang="zh-CN" sz="2000" b="0"/>
                </a:p>
              </p:txBody>
            </p:sp>
            <p:sp>
              <p:nvSpPr>
                <p:cNvPr id="57446" name="Rectangle 76"/>
                <p:cNvSpPr>
                  <a:spLocks noChangeArrowheads="1"/>
                </p:cNvSpPr>
                <p:nvPr/>
              </p:nvSpPr>
              <p:spPr bwMode="auto">
                <a:xfrm>
                  <a:off x="1525" y="1920"/>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85" name="Group 77"/>
              <p:cNvGrpSpPr>
                <a:grpSpLocks/>
              </p:cNvGrpSpPr>
              <p:nvPr/>
            </p:nvGrpSpPr>
            <p:grpSpPr bwMode="auto">
              <a:xfrm>
                <a:off x="1971" y="1920"/>
                <a:ext cx="518" cy="384"/>
                <a:chOff x="1971" y="1920"/>
                <a:chExt cx="518" cy="384"/>
              </a:xfrm>
            </p:grpSpPr>
            <p:sp>
              <p:nvSpPr>
                <p:cNvPr id="57443" name="Rectangle 78"/>
                <p:cNvSpPr>
                  <a:spLocks noChangeArrowheads="1"/>
                </p:cNvSpPr>
                <p:nvPr/>
              </p:nvSpPr>
              <p:spPr bwMode="auto">
                <a:xfrm>
                  <a:off x="2014" y="1920"/>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[100]</a:t>
                  </a:r>
                </a:p>
              </p:txBody>
            </p:sp>
            <p:sp>
              <p:nvSpPr>
                <p:cNvPr id="57444" name="Rectangle 79"/>
                <p:cNvSpPr>
                  <a:spLocks noChangeArrowheads="1"/>
                </p:cNvSpPr>
                <p:nvPr/>
              </p:nvSpPr>
              <p:spPr bwMode="auto">
                <a:xfrm>
                  <a:off x="1971" y="1920"/>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86" name="Group 80"/>
              <p:cNvGrpSpPr>
                <a:grpSpLocks/>
              </p:cNvGrpSpPr>
              <p:nvPr/>
            </p:nvGrpSpPr>
            <p:grpSpPr bwMode="auto">
              <a:xfrm>
                <a:off x="2489" y="1920"/>
                <a:ext cx="518" cy="384"/>
                <a:chOff x="2489" y="1920"/>
                <a:chExt cx="518" cy="384"/>
              </a:xfrm>
            </p:grpSpPr>
            <p:sp>
              <p:nvSpPr>
                <p:cNvPr id="57441" name="Rectangle 81"/>
                <p:cNvSpPr>
                  <a:spLocks noChangeArrowheads="1"/>
                </p:cNvSpPr>
                <p:nvPr/>
              </p:nvSpPr>
              <p:spPr bwMode="auto">
                <a:xfrm>
                  <a:off x="2532" y="1920"/>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[010]</a:t>
                  </a:r>
                </a:p>
              </p:txBody>
            </p:sp>
            <p:sp>
              <p:nvSpPr>
                <p:cNvPr id="57442" name="Rectangle 82"/>
                <p:cNvSpPr>
                  <a:spLocks noChangeArrowheads="1"/>
                </p:cNvSpPr>
                <p:nvPr/>
              </p:nvSpPr>
              <p:spPr bwMode="auto">
                <a:xfrm>
                  <a:off x="2489" y="1920"/>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87" name="Group 83"/>
              <p:cNvGrpSpPr>
                <a:grpSpLocks/>
              </p:cNvGrpSpPr>
              <p:nvPr/>
            </p:nvGrpSpPr>
            <p:grpSpPr bwMode="auto">
              <a:xfrm>
                <a:off x="3007" y="1920"/>
                <a:ext cx="518" cy="384"/>
                <a:chOff x="3007" y="1920"/>
                <a:chExt cx="518" cy="384"/>
              </a:xfrm>
            </p:grpSpPr>
            <p:sp>
              <p:nvSpPr>
                <p:cNvPr id="57439" name="Rectangle 84"/>
                <p:cNvSpPr>
                  <a:spLocks noChangeArrowheads="1"/>
                </p:cNvSpPr>
                <p:nvPr/>
              </p:nvSpPr>
              <p:spPr bwMode="auto">
                <a:xfrm>
                  <a:off x="3050" y="1920"/>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[001]</a:t>
                  </a:r>
                </a:p>
              </p:txBody>
            </p:sp>
            <p:sp>
              <p:nvSpPr>
                <p:cNvPr id="57440" name="Rectangle 85"/>
                <p:cNvSpPr>
                  <a:spLocks noChangeArrowheads="1"/>
                </p:cNvSpPr>
                <p:nvPr/>
              </p:nvSpPr>
              <p:spPr bwMode="auto">
                <a:xfrm>
                  <a:off x="3007" y="1920"/>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88" name="Group 86"/>
              <p:cNvGrpSpPr>
                <a:grpSpLocks/>
              </p:cNvGrpSpPr>
              <p:nvPr/>
            </p:nvGrpSpPr>
            <p:grpSpPr bwMode="auto">
              <a:xfrm>
                <a:off x="0" y="2304"/>
                <a:ext cx="633" cy="384"/>
                <a:chOff x="0" y="2304"/>
                <a:chExt cx="633" cy="384"/>
              </a:xfrm>
            </p:grpSpPr>
            <p:sp>
              <p:nvSpPr>
                <p:cNvPr id="57437" name="Rectangle 87"/>
                <p:cNvSpPr>
                  <a:spLocks noChangeArrowheads="1"/>
                </p:cNvSpPr>
                <p:nvPr/>
              </p:nvSpPr>
              <p:spPr bwMode="auto">
                <a:xfrm>
                  <a:off x="43" y="2304"/>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Monoclinic</a:t>
                  </a:r>
                  <a:endParaRPr kumimoji="0" lang="zh-CN" altLang="en-US" sz="2000" b="0"/>
                </a:p>
              </p:txBody>
            </p:sp>
            <p:sp>
              <p:nvSpPr>
                <p:cNvPr id="57438" name="Rectangle 88"/>
                <p:cNvSpPr>
                  <a:spLocks noChangeArrowheads="1"/>
                </p:cNvSpPr>
                <p:nvPr/>
              </p:nvSpPr>
              <p:spPr bwMode="auto">
                <a:xfrm>
                  <a:off x="0" y="2304"/>
                  <a:ext cx="633"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89" name="Group 89"/>
              <p:cNvGrpSpPr>
                <a:grpSpLocks/>
              </p:cNvGrpSpPr>
              <p:nvPr/>
            </p:nvGrpSpPr>
            <p:grpSpPr bwMode="auto">
              <a:xfrm>
                <a:off x="633" y="2304"/>
                <a:ext cx="446" cy="384"/>
                <a:chOff x="633" y="2304"/>
                <a:chExt cx="446" cy="384"/>
              </a:xfrm>
            </p:grpSpPr>
            <p:sp>
              <p:nvSpPr>
                <p:cNvPr id="57435" name="Rectangle 90"/>
                <p:cNvSpPr>
                  <a:spLocks noChangeArrowheads="1"/>
                </p:cNvSpPr>
                <p:nvPr/>
              </p:nvSpPr>
              <p:spPr bwMode="auto">
                <a:xfrm>
                  <a:off x="676" y="230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b</a:t>
                  </a:r>
                  <a:endParaRPr kumimoji="0" lang="en-US" altLang="zh-CN" sz="2000" b="0"/>
                </a:p>
              </p:txBody>
            </p:sp>
            <p:sp>
              <p:nvSpPr>
                <p:cNvPr id="57436" name="Rectangle 91"/>
                <p:cNvSpPr>
                  <a:spLocks noChangeArrowheads="1"/>
                </p:cNvSpPr>
                <p:nvPr/>
              </p:nvSpPr>
              <p:spPr bwMode="auto">
                <a:xfrm>
                  <a:off x="633" y="2304"/>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90" name="Group 92"/>
              <p:cNvGrpSpPr>
                <a:grpSpLocks/>
              </p:cNvGrpSpPr>
              <p:nvPr/>
            </p:nvGrpSpPr>
            <p:grpSpPr bwMode="auto">
              <a:xfrm>
                <a:off x="1079" y="2304"/>
                <a:ext cx="446" cy="384"/>
                <a:chOff x="1079" y="2304"/>
                <a:chExt cx="446" cy="384"/>
              </a:xfrm>
            </p:grpSpPr>
            <p:sp>
              <p:nvSpPr>
                <p:cNvPr id="57433" name="Rectangle 93"/>
                <p:cNvSpPr>
                  <a:spLocks noChangeArrowheads="1"/>
                </p:cNvSpPr>
                <p:nvPr/>
              </p:nvSpPr>
              <p:spPr bwMode="auto">
                <a:xfrm>
                  <a:off x="1122" y="230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 </a:t>
                  </a:r>
                </a:p>
                <a:p>
                  <a:pPr algn="just">
                    <a:spcBef>
                      <a:spcPct val="0"/>
                    </a:spcBef>
                    <a:buFontTx/>
                    <a:buNone/>
                  </a:pPr>
                  <a:endParaRPr kumimoji="0" lang="en-US" altLang="zh-CN" sz="2000" b="0"/>
                </a:p>
              </p:txBody>
            </p:sp>
            <p:sp>
              <p:nvSpPr>
                <p:cNvPr id="57434" name="Rectangle 94"/>
                <p:cNvSpPr>
                  <a:spLocks noChangeArrowheads="1"/>
                </p:cNvSpPr>
                <p:nvPr/>
              </p:nvSpPr>
              <p:spPr bwMode="auto">
                <a:xfrm>
                  <a:off x="1079" y="2304"/>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91" name="Group 95"/>
              <p:cNvGrpSpPr>
                <a:grpSpLocks/>
              </p:cNvGrpSpPr>
              <p:nvPr/>
            </p:nvGrpSpPr>
            <p:grpSpPr bwMode="auto">
              <a:xfrm>
                <a:off x="1525" y="2304"/>
                <a:ext cx="446" cy="384"/>
                <a:chOff x="1525" y="2304"/>
                <a:chExt cx="446" cy="384"/>
              </a:xfrm>
            </p:grpSpPr>
            <p:sp>
              <p:nvSpPr>
                <p:cNvPr id="57431" name="Rectangle 96"/>
                <p:cNvSpPr>
                  <a:spLocks noChangeArrowheads="1"/>
                </p:cNvSpPr>
                <p:nvPr/>
              </p:nvSpPr>
              <p:spPr bwMode="auto">
                <a:xfrm>
                  <a:off x="1568" y="230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 </a:t>
                  </a:r>
                </a:p>
                <a:p>
                  <a:pPr algn="just">
                    <a:spcBef>
                      <a:spcPct val="0"/>
                    </a:spcBef>
                    <a:buFontTx/>
                    <a:buNone/>
                  </a:pPr>
                  <a:endParaRPr kumimoji="0" lang="en-US" altLang="zh-CN" sz="2000" b="0"/>
                </a:p>
              </p:txBody>
            </p:sp>
            <p:sp>
              <p:nvSpPr>
                <p:cNvPr id="57432" name="Rectangle 97"/>
                <p:cNvSpPr>
                  <a:spLocks noChangeArrowheads="1"/>
                </p:cNvSpPr>
                <p:nvPr/>
              </p:nvSpPr>
              <p:spPr bwMode="auto">
                <a:xfrm>
                  <a:off x="1525" y="2304"/>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92" name="Group 98"/>
              <p:cNvGrpSpPr>
                <a:grpSpLocks/>
              </p:cNvGrpSpPr>
              <p:nvPr/>
            </p:nvGrpSpPr>
            <p:grpSpPr bwMode="auto">
              <a:xfrm>
                <a:off x="1971" y="2304"/>
                <a:ext cx="518" cy="384"/>
                <a:chOff x="1971" y="2304"/>
                <a:chExt cx="518" cy="384"/>
              </a:xfrm>
            </p:grpSpPr>
            <p:sp>
              <p:nvSpPr>
                <p:cNvPr id="57429" name="Rectangle 99"/>
                <p:cNvSpPr>
                  <a:spLocks noChangeArrowheads="1"/>
                </p:cNvSpPr>
                <p:nvPr/>
              </p:nvSpPr>
              <p:spPr bwMode="auto">
                <a:xfrm>
                  <a:off x="2014" y="2304"/>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[010]</a:t>
                  </a:r>
                </a:p>
              </p:txBody>
            </p:sp>
            <p:sp>
              <p:nvSpPr>
                <p:cNvPr id="57430" name="Rectangle 100"/>
                <p:cNvSpPr>
                  <a:spLocks noChangeArrowheads="1"/>
                </p:cNvSpPr>
                <p:nvPr/>
              </p:nvSpPr>
              <p:spPr bwMode="auto">
                <a:xfrm>
                  <a:off x="1971" y="2304"/>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93" name="Group 101"/>
              <p:cNvGrpSpPr>
                <a:grpSpLocks/>
              </p:cNvGrpSpPr>
              <p:nvPr/>
            </p:nvGrpSpPr>
            <p:grpSpPr bwMode="auto">
              <a:xfrm>
                <a:off x="2489" y="2304"/>
                <a:ext cx="518" cy="384"/>
                <a:chOff x="2489" y="2304"/>
                <a:chExt cx="518" cy="384"/>
              </a:xfrm>
            </p:grpSpPr>
            <p:sp>
              <p:nvSpPr>
                <p:cNvPr id="57427" name="Rectangle 102"/>
                <p:cNvSpPr>
                  <a:spLocks noChangeArrowheads="1"/>
                </p:cNvSpPr>
                <p:nvPr/>
              </p:nvSpPr>
              <p:spPr bwMode="auto">
                <a:xfrm>
                  <a:off x="2532" y="2304"/>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 </a:t>
                  </a:r>
                </a:p>
                <a:p>
                  <a:pPr algn="just">
                    <a:spcBef>
                      <a:spcPct val="0"/>
                    </a:spcBef>
                    <a:buFontTx/>
                    <a:buNone/>
                  </a:pPr>
                  <a:endParaRPr kumimoji="0" lang="en-US" altLang="zh-CN" sz="2000" b="0"/>
                </a:p>
              </p:txBody>
            </p:sp>
            <p:sp>
              <p:nvSpPr>
                <p:cNvPr id="57428" name="Rectangle 103"/>
                <p:cNvSpPr>
                  <a:spLocks noChangeArrowheads="1"/>
                </p:cNvSpPr>
                <p:nvPr/>
              </p:nvSpPr>
              <p:spPr bwMode="auto">
                <a:xfrm>
                  <a:off x="2489" y="2304"/>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94" name="Group 104"/>
              <p:cNvGrpSpPr>
                <a:grpSpLocks/>
              </p:cNvGrpSpPr>
              <p:nvPr/>
            </p:nvGrpSpPr>
            <p:grpSpPr bwMode="auto">
              <a:xfrm>
                <a:off x="3007" y="2304"/>
                <a:ext cx="518" cy="384"/>
                <a:chOff x="3007" y="2304"/>
                <a:chExt cx="518" cy="384"/>
              </a:xfrm>
            </p:grpSpPr>
            <p:sp>
              <p:nvSpPr>
                <p:cNvPr id="57425" name="Rectangle 105"/>
                <p:cNvSpPr>
                  <a:spLocks noChangeArrowheads="1"/>
                </p:cNvSpPr>
                <p:nvPr/>
              </p:nvSpPr>
              <p:spPr bwMode="auto">
                <a:xfrm>
                  <a:off x="3050" y="2304"/>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 </a:t>
                  </a:r>
                </a:p>
                <a:p>
                  <a:pPr algn="just">
                    <a:spcBef>
                      <a:spcPct val="0"/>
                    </a:spcBef>
                    <a:buFontTx/>
                    <a:buNone/>
                  </a:pPr>
                  <a:endParaRPr kumimoji="0" lang="en-US" altLang="zh-CN" sz="2000" b="0"/>
                </a:p>
              </p:txBody>
            </p:sp>
            <p:sp>
              <p:nvSpPr>
                <p:cNvPr id="57426" name="Rectangle 106"/>
                <p:cNvSpPr>
                  <a:spLocks noChangeArrowheads="1"/>
                </p:cNvSpPr>
                <p:nvPr/>
              </p:nvSpPr>
              <p:spPr bwMode="auto">
                <a:xfrm>
                  <a:off x="3007" y="2304"/>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95" name="Group 107"/>
              <p:cNvGrpSpPr>
                <a:grpSpLocks/>
              </p:cNvGrpSpPr>
              <p:nvPr/>
            </p:nvGrpSpPr>
            <p:grpSpPr bwMode="auto">
              <a:xfrm>
                <a:off x="0" y="2688"/>
                <a:ext cx="633" cy="384"/>
                <a:chOff x="0" y="2688"/>
                <a:chExt cx="633" cy="384"/>
              </a:xfrm>
            </p:grpSpPr>
            <p:sp>
              <p:nvSpPr>
                <p:cNvPr id="57423" name="Rectangle 108"/>
                <p:cNvSpPr>
                  <a:spLocks noChangeArrowheads="1"/>
                </p:cNvSpPr>
                <p:nvPr/>
              </p:nvSpPr>
              <p:spPr bwMode="auto">
                <a:xfrm>
                  <a:off x="43" y="2688"/>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Triclinic</a:t>
                  </a:r>
                  <a:endParaRPr kumimoji="0" lang="zh-CN" altLang="en-US" sz="2000" b="0"/>
                </a:p>
              </p:txBody>
            </p:sp>
            <p:sp>
              <p:nvSpPr>
                <p:cNvPr id="57424" name="Rectangle 109"/>
                <p:cNvSpPr>
                  <a:spLocks noChangeArrowheads="1"/>
                </p:cNvSpPr>
                <p:nvPr/>
              </p:nvSpPr>
              <p:spPr bwMode="auto">
                <a:xfrm>
                  <a:off x="0" y="2688"/>
                  <a:ext cx="633"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96" name="Group 110"/>
              <p:cNvGrpSpPr>
                <a:grpSpLocks/>
              </p:cNvGrpSpPr>
              <p:nvPr/>
            </p:nvGrpSpPr>
            <p:grpSpPr bwMode="auto">
              <a:xfrm>
                <a:off x="633" y="2688"/>
                <a:ext cx="1338" cy="384"/>
                <a:chOff x="633" y="2688"/>
                <a:chExt cx="1338" cy="384"/>
              </a:xfrm>
            </p:grpSpPr>
            <p:sp>
              <p:nvSpPr>
                <p:cNvPr id="57421" name="Rectangle 111"/>
                <p:cNvSpPr>
                  <a:spLocks noChangeArrowheads="1"/>
                </p:cNvSpPr>
                <p:nvPr/>
              </p:nvSpPr>
              <p:spPr bwMode="auto">
                <a:xfrm>
                  <a:off x="676" y="2688"/>
                  <a:ext cx="12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Any direction</a:t>
                  </a:r>
                  <a:endParaRPr kumimoji="0" lang="zh-CN" altLang="en-US" sz="2000" b="0"/>
                </a:p>
              </p:txBody>
            </p:sp>
            <p:sp>
              <p:nvSpPr>
                <p:cNvPr id="57422" name="Rectangle 112"/>
                <p:cNvSpPr>
                  <a:spLocks noChangeArrowheads="1"/>
                </p:cNvSpPr>
                <p:nvPr/>
              </p:nvSpPr>
              <p:spPr bwMode="auto">
                <a:xfrm>
                  <a:off x="633" y="2688"/>
                  <a:ext cx="1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97" name="Group 113"/>
              <p:cNvGrpSpPr>
                <a:grpSpLocks/>
              </p:cNvGrpSpPr>
              <p:nvPr/>
            </p:nvGrpSpPr>
            <p:grpSpPr bwMode="auto">
              <a:xfrm>
                <a:off x="1971" y="2688"/>
                <a:ext cx="1554" cy="384"/>
                <a:chOff x="1971" y="2688"/>
                <a:chExt cx="1554" cy="384"/>
              </a:xfrm>
            </p:grpSpPr>
            <p:sp>
              <p:nvSpPr>
                <p:cNvPr id="57419" name="Rectangle 114"/>
                <p:cNvSpPr>
                  <a:spLocks noChangeArrowheads="1"/>
                </p:cNvSpPr>
                <p:nvPr/>
              </p:nvSpPr>
              <p:spPr bwMode="auto">
                <a:xfrm>
                  <a:off x="2014" y="2688"/>
                  <a:ext cx="14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Any direction</a:t>
                  </a:r>
                  <a:endParaRPr kumimoji="0" lang="zh-CN" altLang="en-US" sz="2000" b="0"/>
                </a:p>
              </p:txBody>
            </p:sp>
            <p:sp>
              <p:nvSpPr>
                <p:cNvPr id="57420" name="Rectangle 115"/>
                <p:cNvSpPr>
                  <a:spLocks noChangeArrowheads="1"/>
                </p:cNvSpPr>
                <p:nvPr/>
              </p:nvSpPr>
              <p:spPr bwMode="auto">
                <a:xfrm>
                  <a:off x="1971" y="2688"/>
                  <a:ext cx="15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98" name="Group 116"/>
              <p:cNvGrpSpPr>
                <a:grpSpLocks/>
              </p:cNvGrpSpPr>
              <p:nvPr/>
            </p:nvGrpSpPr>
            <p:grpSpPr bwMode="auto">
              <a:xfrm>
                <a:off x="0" y="3072"/>
                <a:ext cx="633" cy="384"/>
                <a:chOff x="0" y="3072"/>
                <a:chExt cx="633" cy="384"/>
              </a:xfrm>
            </p:grpSpPr>
            <p:sp>
              <p:nvSpPr>
                <p:cNvPr id="57417" name="Rectangle 117"/>
                <p:cNvSpPr>
                  <a:spLocks noChangeArrowheads="1"/>
                </p:cNvSpPr>
                <p:nvPr/>
              </p:nvSpPr>
              <p:spPr bwMode="auto">
                <a:xfrm>
                  <a:off x="43" y="3072"/>
                  <a:ext cx="54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Hexagonal</a:t>
                  </a:r>
                  <a:endParaRPr kumimoji="0" lang="zh-CN" altLang="en-US" sz="2000" b="0"/>
                </a:p>
              </p:txBody>
            </p:sp>
            <p:sp>
              <p:nvSpPr>
                <p:cNvPr id="57418" name="Rectangle 118"/>
                <p:cNvSpPr>
                  <a:spLocks noChangeArrowheads="1"/>
                </p:cNvSpPr>
                <p:nvPr/>
              </p:nvSpPr>
              <p:spPr bwMode="auto">
                <a:xfrm>
                  <a:off x="0" y="3072"/>
                  <a:ext cx="633"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399" name="Group 119"/>
              <p:cNvGrpSpPr>
                <a:grpSpLocks/>
              </p:cNvGrpSpPr>
              <p:nvPr/>
            </p:nvGrpSpPr>
            <p:grpSpPr bwMode="auto">
              <a:xfrm>
                <a:off x="633" y="3072"/>
                <a:ext cx="446" cy="384"/>
                <a:chOff x="633" y="3072"/>
                <a:chExt cx="446" cy="384"/>
              </a:xfrm>
            </p:grpSpPr>
            <p:sp>
              <p:nvSpPr>
                <p:cNvPr id="57415" name="Rectangle 120"/>
                <p:cNvSpPr>
                  <a:spLocks noChangeArrowheads="1"/>
                </p:cNvSpPr>
                <p:nvPr/>
              </p:nvSpPr>
              <p:spPr bwMode="auto">
                <a:xfrm>
                  <a:off x="676" y="307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c</a:t>
                  </a:r>
                  <a:endParaRPr kumimoji="0" lang="en-US" altLang="zh-CN" sz="2000" b="0"/>
                </a:p>
              </p:txBody>
            </p:sp>
            <p:sp>
              <p:nvSpPr>
                <p:cNvPr id="57416" name="Rectangle 121"/>
                <p:cNvSpPr>
                  <a:spLocks noChangeArrowheads="1"/>
                </p:cNvSpPr>
                <p:nvPr/>
              </p:nvSpPr>
              <p:spPr bwMode="auto">
                <a:xfrm>
                  <a:off x="633" y="3072"/>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400" name="Group 122"/>
              <p:cNvGrpSpPr>
                <a:grpSpLocks/>
              </p:cNvGrpSpPr>
              <p:nvPr/>
            </p:nvGrpSpPr>
            <p:grpSpPr bwMode="auto">
              <a:xfrm>
                <a:off x="1079" y="3072"/>
                <a:ext cx="446" cy="384"/>
                <a:chOff x="1079" y="3072"/>
                <a:chExt cx="446" cy="384"/>
              </a:xfrm>
            </p:grpSpPr>
            <p:sp>
              <p:nvSpPr>
                <p:cNvPr id="57413" name="Rectangle 123"/>
                <p:cNvSpPr>
                  <a:spLocks noChangeArrowheads="1"/>
                </p:cNvSpPr>
                <p:nvPr/>
              </p:nvSpPr>
              <p:spPr bwMode="auto">
                <a:xfrm>
                  <a:off x="1122" y="307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a</a:t>
                  </a:r>
                  <a:endParaRPr kumimoji="0" lang="en-US" altLang="zh-CN" sz="2000" b="0"/>
                </a:p>
              </p:txBody>
            </p:sp>
            <p:sp>
              <p:nvSpPr>
                <p:cNvPr id="57414" name="Rectangle 124"/>
                <p:cNvSpPr>
                  <a:spLocks noChangeArrowheads="1"/>
                </p:cNvSpPr>
                <p:nvPr/>
              </p:nvSpPr>
              <p:spPr bwMode="auto">
                <a:xfrm>
                  <a:off x="1079" y="3072"/>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401" name="Group 125"/>
              <p:cNvGrpSpPr>
                <a:grpSpLocks/>
              </p:cNvGrpSpPr>
              <p:nvPr/>
            </p:nvGrpSpPr>
            <p:grpSpPr bwMode="auto">
              <a:xfrm>
                <a:off x="1525" y="3072"/>
                <a:ext cx="446" cy="384"/>
                <a:chOff x="1525" y="3072"/>
                <a:chExt cx="446" cy="384"/>
              </a:xfrm>
            </p:grpSpPr>
            <p:sp>
              <p:nvSpPr>
                <p:cNvPr id="57411" name="Rectangle 126"/>
                <p:cNvSpPr>
                  <a:spLocks noChangeArrowheads="1"/>
                </p:cNvSpPr>
                <p:nvPr/>
              </p:nvSpPr>
              <p:spPr bwMode="auto">
                <a:xfrm>
                  <a:off x="1568" y="307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a:t>2a+b</a:t>
                  </a:r>
                  <a:endParaRPr kumimoji="0" lang="en-US" altLang="zh-CN" sz="2000" b="0"/>
                </a:p>
              </p:txBody>
            </p:sp>
            <p:sp>
              <p:nvSpPr>
                <p:cNvPr id="57412" name="Rectangle 127"/>
                <p:cNvSpPr>
                  <a:spLocks noChangeArrowheads="1"/>
                </p:cNvSpPr>
                <p:nvPr/>
              </p:nvSpPr>
              <p:spPr bwMode="auto">
                <a:xfrm>
                  <a:off x="1525" y="3072"/>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402" name="Group 128"/>
              <p:cNvGrpSpPr>
                <a:grpSpLocks/>
              </p:cNvGrpSpPr>
              <p:nvPr/>
            </p:nvGrpSpPr>
            <p:grpSpPr bwMode="auto">
              <a:xfrm>
                <a:off x="1971" y="3072"/>
                <a:ext cx="518" cy="384"/>
                <a:chOff x="1971" y="3072"/>
                <a:chExt cx="518" cy="384"/>
              </a:xfrm>
            </p:grpSpPr>
            <p:sp>
              <p:nvSpPr>
                <p:cNvPr id="57409" name="Rectangle 129"/>
                <p:cNvSpPr>
                  <a:spLocks noChangeArrowheads="1"/>
                </p:cNvSpPr>
                <p:nvPr/>
              </p:nvSpPr>
              <p:spPr bwMode="auto">
                <a:xfrm>
                  <a:off x="2014" y="307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[001]</a:t>
                  </a:r>
                </a:p>
              </p:txBody>
            </p:sp>
            <p:sp>
              <p:nvSpPr>
                <p:cNvPr id="57410" name="Rectangle 130"/>
                <p:cNvSpPr>
                  <a:spLocks noChangeArrowheads="1"/>
                </p:cNvSpPr>
                <p:nvPr/>
              </p:nvSpPr>
              <p:spPr bwMode="auto">
                <a:xfrm>
                  <a:off x="1971" y="3072"/>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403" name="Group 131"/>
              <p:cNvGrpSpPr>
                <a:grpSpLocks/>
              </p:cNvGrpSpPr>
              <p:nvPr/>
            </p:nvGrpSpPr>
            <p:grpSpPr bwMode="auto">
              <a:xfrm>
                <a:off x="2489" y="3072"/>
                <a:ext cx="518" cy="384"/>
                <a:chOff x="2489" y="3072"/>
                <a:chExt cx="518" cy="384"/>
              </a:xfrm>
            </p:grpSpPr>
            <p:sp>
              <p:nvSpPr>
                <p:cNvPr id="57407" name="Rectangle 132"/>
                <p:cNvSpPr>
                  <a:spLocks noChangeArrowheads="1"/>
                </p:cNvSpPr>
                <p:nvPr/>
              </p:nvSpPr>
              <p:spPr bwMode="auto">
                <a:xfrm>
                  <a:off x="2532" y="307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[100]</a:t>
                  </a:r>
                </a:p>
              </p:txBody>
            </p:sp>
            <p:sp>
              <p:nvSpPr>
                <p:cNvPr id="57408" name="Rectangle 133"/>
                <p:cNvSpPr>
                  <a:spLocks noChangeArrowheads="1"/>
                </p:cNvSpPr>
                <p:nvPr/>
              </p:nvSpPr>
              <p:spPr bwMode="auto">
                <a:xfrm>
                  <a:off x="2489" y="3072"/>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nvGrpSpPr>
              <p:cNvPr id="57404" name="Group 134"/>
              <p:cNvGrpSpPr>
                <a:grpSpLocks/>
              </p:cNvGrpSpPr>
              <p:nvPr/>
            </p:nvGrpSpPr>
            <p:grpSpPr bwMode="auto">
              <a:xfrm>
                <a:off x="3007" y="3072"/>
                <a:ext cx="518" cy="384"/>
                <a:chOff x="3007" y="3072"/>
                <a:chExt cx="518" cy="384"/>
              </a:xfrm>
            </p:grpSpPr>
            <p:sp>
              <p:nvSpPr>
                <p:cNvPr id="57405" name="Rectangle 135"/>
                <p:cNvSpPr>
                  <a:spLocks noChangeArrowheads="1"/>
                </p:cNvSpPr>
                <p:nvPr/>
              </p:nvSpPr>
              <p:spPr bwMode="auto">
                <a:xfrm>
                  <a:off x="3050" y="3072"/>
                  <a:ext cx="4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a:spcBef>
                      <a:spcPct val="0"/>
                    </a:spcBef>
                    <a:buFontTx/>
                    <a:buNone/>
                  </a:pPr>
                  <a:r>
                    <a:rPr kumimoji="0" lang="en-US" altLang="zh-CN" sz="2000" b="0"/>
                    <a:t>[210]</a:t>
                  </a:r>
                </a:p>
              </p:txBody>
            </p:sp>
            <p:sp>
              <p:nvSpPr>
                <p:cNvPr id="57406" name="Rectangle 136"/>
                <p:cNvSpPr>
                  <a:spLocks noChangeArrowheads="1"/>
                </p:cNvSpPr>
                <p:nvPr/>
              </p:nvSpPr>
              <p:spPr bwMode="auto">
                <a:xfrm>
                  <a:off x="3007" y="3072"/>
                  <a:ext cx="5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grpSp>
        <p:sp>
          <p:nvSpPr>
            <p:cNvPr id="57362" name="Rectangle 137"/>
            <p:cNvSpPr>
              <a:spLocks noChangeArrowheads="1"/>
            </p:cNvSpPr>
            <p:nvPr/>
          </p:nvSpPr>
          <p:spPr bwMode="auto">
            <a:xfrm>
              <a:off x="-3" y="381"/>
              <a:ext cx="3531" cy="3078"/>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en-US" altLang="en-US" sz="4400"/>
            </a:p>
          </p:txBody>
        </p:sp>
      </p:grpSp>
      <p:sp>
        <p:nvSpPr>
          <p:cNvPr id="90250" name="Rectangle 138"/>
          <p:cNvSpPr>
            <a:spLocks noChangeArrowheads="1"/>
          </p:cNvSpPr>
          <p:nvPr/>
        </p:nvSpPr>
        <p:spPr bwMode="auto">
          <a:xfrm>
            <a:off x="2173288" y="3776663"/>
            <a:ext cx="346075" cy="466725"/>
          </a:xfrm>
          <a:prstGeom prst="rect">
            <a:avLst/>
          </a:prstGeom>
          <a:solidFill>
            <a:srgbClr val="00CC00"/>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1</a:t>
            </a:r>
          </a:p>
        </p:txBody>
      </p:sp>
      <p:sp>
        <p:nvSpPr>
          <p:cNvPr id="90251" name="Rectangle 139"/>
          <p:cNvSpPr>
            <a:spLocks noChangeArrowheads="1"/>
          </p:cNvSpPr>
          <p:nvPr/>
        </p:nvSpPr>
        <p:spPr bwMode="auto">
          <a:xfrm>
            <a:off x="5521325" y="3773488"/>
            <a:ext cx="346075" cy="466725"/>
          </a:xfrm>
          <a:prstGeom prst="rect">
            <a:avLst/>
          </a:prstGeom>
          <a:solidFill>
            <a:srgbClr val="00CC00"/>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1</a:t>
            </a:r>
          </a:p>
        </p:txBody>
      </p:sp>
      <p:sp>
        <p:nvSpPr>
          <p:cNvPr id="90252" name="Rectangle 140"/>
          <p:cNvSpPr>
            <a:spLocks noChangeArrowheads="1"/>
          </p:cNvSpPr>
          <p:nvPr/>
        </p:nvSpPr>
        <p:spPr bwMode="auto">
          <a:xfrm>
            <a:off x="3276600" y="3760788"/>
            <a:ext cx="346075" cy="466725"/>
          </a:xfrm>
          <a:prstGeom prst="rect">
            <a:avLst/>
          </a:prstGeom>
          <a:solidFill>
            <a:srgbClr val="00CC00"/>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2</a:t>
            </a:r>
          </a:p>
        </p:txBody>
      </p:sp>
      <p:sp>
        <p:nvSpPr>
          <p:cNvPr id="90253" name="Rectangle 141"/>
          <p:cNvSpPr>
            <a:spLocks noChangeArrowheads="1"/>
          </p:cNvSpPr>
          <p:nvPr/>
        </p:nvSpPr>
        <p:spPr bwMode="auto">
          <a:xfrm>
            <a:off x="4419600" y="3760788"/>
            <a:ext cx="346075" cy="466725"/>
          </a:xfrm>
          <a:prstGeom prst="rect">
            <a:avLst/>
          </a:prstGeom>
          <a:solidFill>
            <a:srgbClr val="00CC00"/>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3</a:t>
            </a:r>
          </a:p>
        </p:txBody>
      </p:sp>
      <p:sp>
        <p:nvSpPr>
          <p:cNvPr id="90254" name="Rectangle 142"/>
          <p:cNvSpPr>
            <a:spLocks noChangeArrowheads="1"/>
          </p:cNvSpPr>
          <p:nvPr/>
        </p:nvSpPr>
        <p:spPr bwMode="auto">
          <a:xfrm>
            <a:off x="8077200" y="3746500"/>
            <a:ext cx="346075" cy="466725"/>
          </a:xfrm>
          <a:prstGeom prst="rect">
            <a:avLst/>
          </a:prstGeom>
          <a:solidFill>
            <a:srgbClr val="00CC00"/>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3</a:t>
            </a:r>
          </a:p>
        </p:txBody>
      </p:sp>
      <p:sp>
        <p:nvSpPr>
          <p:cNvPr id="90255" name="Rectangle 143"/>
          <p:cNvSpPr>
            <a:spLocks noChangeArrowheads="1"/>
          </p:cNvSpPr>
          <p:nvPr/>
        </p:nvSpPr>
        <p:spPr bwMode="auto">
          <a:xfrm>
            <a:off x="6781800" y="3775075"/>
            <a:ext cx="346075" cy="466725"/>
          </a:xfrm>
          <a:prstGeom prst="rect">
            <a:avLst/>
          </a:prstGeom>
          <a:solidFill>
            <a:srgbClr val="00CC00"/>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400" b="0">
                <a:effectLst>
                  <a:outerShdw blurRad="38100" dist="38100" dir="2700000" algn="tl">
                    <a:srgbClr val="FFFFFF"/>
                  </a:outerShdw>
                </a:effectLst>
              </a:rPr>
              <a:t>2</a:t>
            </a:r>
          </a:p>
        </p:txBody>
      </p:sp>
      <p:sp>
        <p:nvSpPr>
          <p:cNvPr id="57359" name="Text Box 147"/>
          <p:cNvSpPr txBox="1">
            <a:spLocks noChangeArrowheads="1"/>
          </p:cNvSpPr>
          <p:nvPr/>
        </p:nvSpPr>
        <p:spPr bwMode="auto">
          <a:xfrm>
            <a:off x="83840" y="2726065"/>
            <a:ext cx="250763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800">
                <a:latin typeface="黑体" pitchFamily="49" charset="-122"/>
                <a:ea typeface="黑体" pitchFamily="49" charset="-122"/>
              </a:rPr>
              <a:t>Table 4-2</a:t>
            </a:r>
            <a:r>
              <a:rPr lang="zh-CN" altLang="en-US" sz="2800">
                <a:latin typeface="黑体" pitchFamily="49" charset="-122"/>
                <a:ea typeface="黑体" pitchFamily="49" charset="-122"/>
              </a:rPr>
              <a:t>：</a:t>
            </a:r>
          </a:p>
        </p:txBody>
      </p:sp>
      <p:sp>
        <p:nvSpPr>
          <p:cNvPr id="57360" name="Text Box 148"/>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
        <p:nvSpPr>
          <p:cNvPr id="2" name="TextBox 1"/>
          <p:cNvSpPr txBox="1"/>
          <p:nvPr/>
        </p:nvSpPr>
        <p:spPr>
          <a:xfrm>
            <a:off x="6564257" y="2133630"/>
            <a:ext cx="2559740" cy="707886"/>
          </a:xfrm>
          <a:prstGeom prst="rect">
            <a:avLst/>
          </a:prstGeom>
          <a:noFill/>
        </p:spPr>
        <p:txBody>
          <a:bodyPr wrap="none" rtlCol="0">
            <a:spAutoFit/>
          </a:bodyPr>
          <a:lstStyle/>
          <a:p>
            <a:r>
              <a:rPr lang="en-US" altLang="zh-CN" sz="4000"/>
              <a:t>Tetragonal</a:t>
            </a:r>
            <a:endParaRPr lang="en-US" sz="400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0116"/>
                                        </p:tgtEl>
                                        <p:attrNameLst>
                                          <p:attrName>style.visibility</p:attrName>
                                        </p:attrNameLst>
                                      </p:cBhvr>
                                      <p:to>
                                        <p:strVal val="visible"/>
                                      </p:to>
                                    </p:set>
                                    <p:anim calcmode="lin" valueType="num">
                                      <p:cBhvr additive="base">
                                        <p:cTn id="7" dur="500" fill="hold"/>
                                        <p:tgtEl>
                                          <p:spTgt spid="90116"/>
                                        </p:tgtEl>
                                        <p:attrNameLst>
                                          <p:attrName>ppt_x</p:attrName>
                                        </p:attrNameLst>
                                      </p:cBhvr>
                                      <p:tavLst>
                                        <p:tav tm="0">
                                          <p:val>
                                            <p:strVal val="0-#ppt_w/2"/>
                                          </p:val>
                                        </p:tav>
                                        <p:tav tm="100000">
                                          <p:val>
                                            <p:strVal val="#ppt_x"/>
                                          </p:val>
                                        </p:tav>
                                      </p:tavLst>
                                    </p:anim>
                                    <p:anim calcmode="lin" valueType="num">
                                      <p:cBhvr additive="base">
                                        <p:cTn id="8" dur="500" fill="hold"/>
                                        <p:tgtEl>
                                          <p:spTgt spid="901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63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463" y="0"/>
            <a:ext cx="8891587" cy="685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descr="62"/>
          <p:cNvPicPr>
            <a:picLocks noChangeAspect="1" noChangeArrowheads="1"/>
          </p:cNvPicPr>
          <p:nvPr/>
        </p:nvPicPr>
        <p:blipFill>
          <a:blip r:embed="rId3">
            <a:extLst>
              <a:ext uri="{28A0092B-C50C-407E-A947-70E740481C1C}">
                <a14:useLocalDpi xmlns:a14="http://schemas.microsoft.com/office/drawing/2010/main" val="0"/>
              </a:ext>
            </a:extLst>
          </a:blip>
          <a:srcRect b="4898"/>
          <a:stretch>
            <a:fillRect/>
          </a:stretch>
        </p:blipFill>
        <p:spPr bwMode="auto">
          <a:xfrm>
            <a:off x="539552" y="351234"/>
            <a:ext cx="8153400" cy="653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TextBox 1"/>
          <p:cNvSpPr txBox="1">
            <a:spLocks noChangeArrowheads="1"/>
          </p:cNvSpPr>
          <p:nvPr/>
        </p:nvSpPr>
        <p:spPr bwMode="auto">
          <a:xfrm>
            <a:off x="1116013" y="3224902"/>
            <a:ext cx="1378904" cy="52322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zh-CN" sz="2800"/>
              <a:t>triclinic</a:t>
            </a:r>
            <a:endParaRPr lang="en-US" altLang="en-US" sz="2800"/>
          </a:p>
        </p:txBody>
      </p:sp>
      <p:sp>
        <p:nvSpPr>
          <p:cNvPr id="58372" name="TextBox 4"/>
          <p:cNvSpPr txBox="1">
            <a:spLocks noChangeArrowheads="1"/>
          </p:cNvSpPr>
          <p:nvPr/>
        </p:nvSpPr>
        <p:spPr bwMode="auto">
          <a:xfrm>
            <a:off x="3465234" y="3205852"/>
            <a:ext cx="1859805" cy="52322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zh-CN" sz="2800"/>
              <a:t>monoclinic</a:t>
            </a:r>
            <a:endParaRPr lang="en-US" altLang="en-US" sz="2800"/>
          </a:p>
        </p:txBody>
      </p:sp>
      <p:sp>
        <p:nvSpPr>
          <p:cNvPr id="58373" name="TextBox 5"/>
          <p:cNvSpPr txBox="1">
            <a:spLocks noChangeArrowheads="1"/>
          </p:cNvSpPr>
          <p:nvPr/>
        </p:nvSpPr>
        <p:spPr bwMode="auto">
          <a:xfrm>
            <a:off x="6295357" y="3205852"/>
            <a:ext cx="2501006" cy="52322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zh-CN" sz="2800"/>
              <a:t>Rhombohedral</a:t>
            </a:r>
            <a:endParaRPr lang="en-US" altLang="en-US" sz="2800"/>
          </a:p>
        </p:txBody>
      </p:sp>
      <p:sp>
        <p:nvSpPr>
          <p:cNvPr id="58374" name="TextBox 6"/>
          <p:cNvSpPr txBox="1">
            <a:spLocks noChangeArrowheads="1"/>
          </p:cNvSpPr>
          <p:nvPr/>
        </p:nvSpPr>
        <p:spPr bwMode="auto">
          <a:xfrm>
            <a:off x="737824" y="6343407"/>
            <a:ext cx="1846083" cy="52322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zh-CN" sz="2800"/>
              <a:t>Tetragonal</a:t>
            </a:r>
            <a:endParaRPr lang="en-US" altLang="en-US" sz="2800"/>
          </a:p>
        </p:txBody>
      </p:sp>
      <p:sp>
        <p:nvSpPr>
          <p:cNvPr id="58375" name="TextBox 7"/>
          <p:cNvSpPr txBox="1">
            <a:spLocks noChangeArrowheads="1"/>
          </p:cNvSpPr>
          <p:nvPr/>
        </p:nvSpPr>
        <p:spPr bwMode="auto">
          <a:xfrm>
            <a:off x="3968750" y="6353865"/>
            <a:ext cx="1819729" cy="52322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zh-CN" sz="2800"/>
              <a:t>Hexagonal</a:t>
            </a:r>
            <a:endParaRPr lang="en-US" altLang="en-US" sz="2800"/>
          </a:p>
        </p:txBody>
      </p:sp>
      <p:sp>
        <p:nvSpPr>
          <p:cNvPr id="58376" name="TextBox 8"/>
          <p:cNvSpPr txBox="1">
            <a:spLocks noChangeArrowheads="1"/>
          </p:cNvSpPr>
          <p:nvPr/>
        </p:nvSpPr>
        <p:spPr bwMode="auto">
          <a:xfrm>
            <a:off x="6994266" y="6209749"/>
            <a:ext cx="1103187" cy="523220"/>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4400" b="1">
                <a:solidFill>
                  <a:schemeClr val="tx1"/>
                </a:solidFill>
                <a:latin typeface="Times New Roman" pitchFamily="18" charset="0"/>
                <a:ea typeface="宋体" pitchFamily="2" charset="-122"/>
              </a:defRPr>
            </a:lvl1pPr>
            <a:lvl2pPr marL="742950" indent="-285750" eaLnBrk="0" hangingPunct="0">
              <a:defRPr kumimoji="1" sz="4400" b="1">
                <a:solidFill>
                  <a:schemeClr val="tx1"/>
                </a:solidFill>
                <a:latin typeface="Times New Roman" pitchFamily="18" charset="0"/>
                <a:ea typeface="宋体" pitchFamily="2" charset="-122"/>
              </a:defRPr>
            </a:lvl2pPr>
            <a:lvl3pPr marL="1143000" indent="-228600" eaLnBrk="0" hangingPunct="0">
              <a:defRPr kumimoji="1" sz="4400" b="1">
                <a:solidFill>
                  <a:schemeClr val="tx1"/>
                </a:solidFill>
                <a:latin typeface="Times New Roman" pitchFamily="18" charset="0"/>
                <a:ea typeface="宋体" pitchFamily="2" charset="-122"/>
              </a:defRPr>
            </a:lvl3pPr>
            <a:lvl4pPr marL="1600200" indent="-228600" eaLnBrk="0" hangingPunct="0">
              <a:defRPr kumimoji="1" sz="4400" b="1">
                <a:solidFill>
                  <a:schemeClr val="tx1"/>
                </a:solidFill>
                <a:latin typeface="Times New Roman" pitchFamily="18" charset="0"/>
                <a:ea typeface="宋体" pitchFamily="2" charset="-122"/>
              </a:defRPr>
            </a:lvl4pPr>
            <a:lvl5pPr marL="2057400" indent="-228600" eaLnBrk="0" hangingPunct="0">
              <a:defRPr kumimoji="1" sz="4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4400" b="1">
                <a:solidFill>
                  <a:schemeClr val="tx1"/>
                </a:solidFill>
                <a:latin typeface="Times New Roman" pitchFamily="18" charset="0"/>
                <a:ea typeface="宋体" pitchFamily="2" charset="-122"/>
              </a:defRPr>
            </a:lvl9pPr>
          </a:lstStyle>
          <a:p>
            <a:pPr eaLnBrk="1" hangingPunct="1"/>
            <a:r>
              <a:rPr lang="en-US" altLang="zh-CN" sz="2800"/>
              <a:t>Cubic</a:t>
            </a:r>
            <a:endParaRPr lang="en-US" altLang="en-US" sz="2800"/>
          </a:p>
        </p:txBody>
      </p:sp>
      <p:sp>
        <p:nvSpPr>
          <p:cNvPr id="2" name="TextBox 1"/>
          <p:cNvSpPr txBox="1"/>
          <p:nvPr/>
        </p:nvSpPr>
        <p:spPr>
          <a:xfrm>
            <a:off x="1084" y="3389"/>
            <a:ext cx="9142916" cy="523220"/>
          </a:xfrm>
          <a:prstGeom prst="rect">
            <a:avLst/>
          </a:prstGeom>
          <a:solidFill>
            <a:srgbClr val="FF0000"/>
          </a:solidFill>
        </p:spPr>
        <p:txBody>
          <a:bodyPr wrap="square" rtlCol="0">
            <a:spAutoFit/>
          </a:bodyPr>
          <a:lstStyle/>
          <a:p>
            <a:r>
              <a:rPr lang="en-US" altLang="zh-CN" sz="2800">
                <a:solidFill>
                  <a:schemeClr val="bg1"/>
                </a:solidFill>
              </a:rPr>
              <a:t>Coordination system establishment of crystal systems</a:t>
            </a:r>
            <a:endParaRPr lang="zh-CN" altLang="en-US" sz="2800">
              <a:solidFill>
                <a:schemeClr val="bg1"/>
              </a:solidFill>
            </a:endParaRPr>
          </a:p>
        </p:txBody>
      </p:sp>
    </p:spTree>
  </p:cSld>
  <p:clrMapOvr>
    <a:masterClrMapping/>
  </p:clrMapOvr>
  <p:transition spd="med">
    <p:zo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Line 3"/>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395" name="Rectangle 4"/>
          <p:cNvSpPr>
            <a:spLocks noGrp="1" noChangeArrowheads="1"/>
          </p:cNvSpPr>
          <p:nvPr>
            <p:ph type="title"/>
          </p:nvPr>
        </p:nvSpPr>
        <p:spPr>
          <a:xfrm>
            <a:off x="37244" y="1268760"/>
            <a:ext cx="4091844" cy="800100"/>
          </a:xfrm>
          <a:noFill/>
        </p:spPr>
        <p:txBody>
          <a:bodyPr anchor="b"/>
          <a:lstStyle/>
          <a:p>
            <a:pPr algn="l" eaLnBrk="1" hangingPunct="1"/>
            <a:br>
              <a:rPr lang="en-US" altLang="zh-CN" sz="2800" b="1"/>
            </a:br>
            <a:r>
              <a:rPr lang="en-US" altLang="zh-CN" sz="2800" b="1"/>
              <a:t>Point group symbols and their symmetric icons</a:t>
            </a:r>
            <a:endParaRPr lang="zh-CN" altLang="zh-CN" sz="2800" b="1"/>
          </a:p>
        </p:txBody>
      </p:sp>
      <p:pic>
        <p:nvPicPr>
          <p:cNvPr id="59396" name="Picture 5" descr="X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9088" y="76200"/>
            <a:ext cx="509111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7" name="Picture 6" descr="X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760788"/>
            <a:ext cx="4114800" cy="313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8" name="Text Box 8"/>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cSld>
  <p:clrMapOvr>
    <a:masterClrMapping/>
  </p:clrMapOvr>
  <p:transition spd="med">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251520" y="620713"/>
            <a:ext cx="8458200" cy="533400"/>
          </a:xfrm>
        </p:spPr>
        <p:txBody>
          <a:bodyPr/>
          <a:lstStyle/>
          <a:p>
            <a:pPr algn="l" eaLnBrk="1" hangingPunct="1">
              <a:defRPr/>
            </a:pPr>
            <a:r>
              <a:rPr lang="en-US" altLang="zh-CN" sz="3600" b="1">
                <a:solidFill>
                  <a:srgbClr val="FF0066"/>
                </a:solidFill>
                <a:latin typeface="+mn-lt"/>
              </a:rPr>
              <a:t>3</a:t>
            </a:r>
            <a:r>
              <a:rPr lang="zh-CN" altLang="en-US" sz="3600" b="1">
                <a:solidFill>
                  <a:srgbClr val="FF0066"/>
                </a:solidFill>
                <a:latin typeface="+mn-lt"/>
              </a:rPr>
              <a:t>．</a:t>
            </a:r>
            <a:r>
              <a:rPr lang="en-US" altLang="zh-CN" sz="3600" b="1">
                <a:solidFill>
                  <a:srgbClr val="FF0066"/>
                </a:solidFill>
                <a:latin typeface="+mn-lt"/>
              </a:rPr>
              <a:t> St. Frances symbol of symmetry class</a:t>
            </a:r>
            <a:endParaRPr lang="zh-CN" altLang="en-US" sz="3600" b="1">
              <a:solidFill>
                <a:srgbClr val="FF0066"/>
              </a:solidFill>
              <a:latin typeface="+mn-lt"/>
            </a:endParaRPr>
          </a:p>
        </p:txBody>
      </p:sp>
      <p:sp>
        <p:nvSpPr>
          <p:cNvPr id="60419" name="Rectangle 3"/>
          <p:cNvSpPr>
            <a:spLocks noGrp="1" noChangeArrowheads="1"/>
          </p:cNvSpPr>
          <p:nvPr>
            <p:ph type="body" idx="1"/>
          </p:nvPr>
        </p:nvSpPr>
        <p:spPr>
          <a:xfrm>
            <a:off x="395536" y="1484784"/>
            <a:ext cx="8280920" cy="5112568"/>
          </a:xfrm>
          <a:noFill/>
          <a:ln w="57150" cmpd="thickThin">
            <a:noFill/>
            <a:miter lim="800000"/>
            <a:headEnd/>
            <a:tailEnd/>
          </a:ln>
        </p:spPr>
        <p:txBody>
          <a:bodyPr/>
          <a:lstStyle/>
          <a:p>
            <a:pPr eaLnBrk="1" hangingPunct="1">
              <a:lnSpc>
                <a:spcPct val="130000"/>
              </a:lnSpc>
            </a:pPr>
            <a:r>
              <a:rPr lang="en-US" altLang="zh-CN" sz="2400" b="1"/>
              <a:t>Saint-Frances symbol is based on several basic laws of symmetry element combination . Different letters are used to represent the basic combination of symmetric elements. </a:t>
            </a:r>
            <a:endParaRPr lang="zh-CN" altLang="en-US" sz="2400" b="1"/>
          </a:p>
          <a:p>
            <a:pPr lvl="2" eaLnBrk="1" hangingPunct="1">
              <a:lnSpc>
                <a:spcPct val="130000"/>
              </a:lnSpc>
              <a:buClr>
                <a:schemeClr val="tx2"/>
              </a:buClr>
              <a:buFont typeface="Wingdings" pitchFamily="2" charset="2"/>
              <a:buChar char="q"/>
            </a:pPr>
            <a:r>
              <a:rPr lang="zh-CN" altLang="en-US" b="1"/>
              <a:t> </a:t>
            </a:r>
            <a:r>
              <a:rPr lang="en-US" altLang="zh-CN" b="1"/>
              <a:t>C</a:t>
            </a:r>
            <a:r>
              <a:rPr lang="en-US" altLang="zh-CN" b="1" baseline="-25000"/>
              <a:t>n</a:t>
            </a:r>
            <a:r>
              <a:rPr lang="en-US" altLang="zh-CN" b="1"/>
              <a:t>——represents the alone existence of L</a:t>
            </a:r>
            <a:r>
              <a:rPr lang="en-US" altLang="zh-CN" b="1" baseline="30000"/>
              <a:t>n</a:t>
            </a:r>
            <a:r>
              <a:rPr lang="zh-CN" altLang="en-US" b="1"/>
              <a:t>，</a:t>
            </a:r>
            <a:r>
              <a:rPr lang="en-US" altLang="zh-CN" b="1"/>
              <a:t>such</a:t>
            </a:r>
            <a:r>
              <a:rPr lang="zh-CN" altLang="en-US" b="1"/>
              <a:t> </a:t>
            </a:r>
            <a:r>
              <a:rPr lang="en-US" altLang="zh-CN" b="1"/>
              <a:t>as</a:t>
            </a:r>
            <a:r>
              <a:rPr lang="zh-CN" altLang="en-US" b="1"/>
              <a:t> </a:t>
            </a:r>
            <a:r>
              <a:rPr lang="en-US" altLang="zh-CN" b="1"/>
              <a:t>L</a:t>
            </a:r>
            <a:r>
              <a:rPr lang="en-US" altLang="zh-CN" b="1" baseline="30000"/>
              <a:t>1</a:t>
            </a:r>
            <a:r>
              <a:rPr lang="zh-CN" altLang="en-US" b="1"/>
              <a:t>、</a:t>
            </a:r>
            <a:r>
              <a:rPr lang="en-US" altLang="zh-CN" b="1"/>
              <a:t>L</a:t>
            </a:r>
            <a:r>
              <a:rPr lang="en-US" altLang="zh-CN" b="1" baseline="30000"/>
              <a:t>2</a:t>
            </a:r>
            <a:r>
              <a:rPr lang="zh-CN" altLang="en-US" b="1"/>
              <a:t>、</a:t>
            </a:r>
            <a:r>
              <a:rPr lang="en-US" altLang="zh-CN" b="1"/>
              <a:t>L</a:t>
            </a:r>
            <a:r>
              <a:rPr lang="en-US" altLang="zh-CN" b="1" baseline="30000"/>
              <a:t>3</a:t>
            </a:r>
            <a:r>
              <a:rPr lang="zh-CN" altLang="en-US" b="1"/>
              <a:t>、</a:t>
            </a:r>
          </a:p>
          <a:p>
            <a:pPr lvl="2" eaLnBrk="1" hangingPunct="1">
              <a:lnSpc>
                <a:spcPct val="130000"/>
              </a:lnSpc>
              <a:buClr>
                <a:schemeClr val="tx2"/>
              </a:buClr>
              <a:buFont typeface="Wingdings" pitchFamily="2" charset="2"/>
              <a:buNone/>
            </a:pPr>
            <a:r>
              <a:rPr lang="zh-CN" altLang="en-US" b="1"/>
              <a:t>   </a:t>
            </a:r>
            <a:r>
              <a:rPr lang="en-US" altLang="zh-CN" b="1"/>
              <a:t>L</a:t>
            </a:r>
            <a:r>
              <a:rPr lang="en-US" altLang="zh-CN" b="1" baseline="30000"/>
              <a:t>4</a:t>
            </a:r>
            <a:r>
              <a:rPr lang="zh-CN" altLang="en-US" b="1"/>
              <a:t>、</a:t>
            </a:r>
            <a:r>
              <a:rPr lang="en-US" altLang="zh-CN" b="1"/>
              <a:t>L</a:t>
            </a:r>
            <a:r>
              <a:rPr lang="en-US" altLang="zh-CN" b="1" baseline="30000"/>
              <a:t>6</a:t>
            </a:r>
            <a:r>
              <a:rPr lang="zh-CN" altLang="en-US" b="1"/>
              <a:t> </a:t>
            </a:r>
            <a:r>
              <a:rPr lang="en-US" altLang="zh-CN" b="1"/>
              <a:t>are shown as C</a:t>
            </a:r>
            <a:r>
              <a:rPr lang="en-US" altLang="zh-CN" b="1" baseline="-25000"/>
              <a:t>l</a:t>
            </a:r>
            <a:r>
              <a:rPr lang="zh-CN" altLang="en-US" b="1"/>
              <a:t>，</a:t>
            </a:r>
            <a:r>
              <a:rPr lang="en-US" altLang="zh-CN" b="1"/>
              <a:t>C</a:t>
            </a:r>
            <a:r>
              <a:rPr lang="en-US" altLang="zh-CN" b="1" baseline="-25000"/>
              <a:t>2</a:t>
            </a:r>
            <a:r>
              <a:rPr lang="zh-CN" altLang="en-US" b="1"/>
              <a:t>、</a:t>
            </a:r>
            <a:r>
              <a:rPr lang="en-US" altLang="zh-CN" b="1"/>
              <a:t>C</a:t>
            </a:r>
            <a:r>
              <a:rPr lang="en-US" altLang="zh-CN" b="1" baseline="-25000"/>
              <a:t>3</a:t>
            </a:r>
            <a:r>
              <a:rPr lang="zh-CN" altLang="en-US" b="1"/>
              <a:t>、</a:t>
            </a:r>
            <a:r>
              <a:rPr lang="en-US" altLang="zh-CN" b="1"/>
              <a:t>C</a:t>
            </a:r>
            <a:r>
              <a:rPr lang="en-US" altLang="zh-CN" b="1" baseline="-25000"/>
              <a:t>4</a:t>
            </a:r>
            <a:r>
              <a:rPr lang="zh-CN" altLang="en-US" b="1"/>
              <a:t>、</a:t>
            </a:r>
            <a:r>
              <a:rPr lang="en-US" altLang="zh-CN" b="1"/>
              <a:t>C</a:t>
            </a:r>
            <a:r>
              <a:rPr lang="en-US" altLang="zh-CN" b="1" baseline="-25000"/>
              <a:t>6</a:t>
            </a:r>
            <a:r>
              <a:rPr lang="en-US" altLang="zh-CN" b="1"/>
              <a:t>.</a:t>
            </a:r>
            <a:endParaRPr lang="zh-CN" altLang="en-US" b="1"/>
          </a:p>
          <a:p>
            <a:pPr lvl="2" eaLnBrk="1" hangingPunct="1">
              <a:lnSpc>
                <a:spcPct val="130000"/>
              </a:lnSpc>
              <a:buClr>
                <a:schemeClr val="tx2"/>
              </a:buClr>
              <a:buFont typeface="Wingdings" pitchFamily="2" charset="2"/>
              <a:buChar char="q"/>
            </a:pPr>
            <a:r>
              <a:rPr lang="zh-CN" altLang="en-US" b="1"/>
              <a:t> </a:t>
            </a:r>
            <a:r>
              <a:rPr lang="en-US" altLang="zh-CN" b="1" err="1"/>
              <a:t>C</a:t>
            </a:r>
            <a:r>
              <a:rPr lang="en-US" altLang="zh-CN" b="1" baseline="-25000" err="1"/>
              <a:t>nh</a:t>
            </a:r>
            <a:r>
              <a:rPr lang="en-US" altLang="zh-CN" b="1"/>
              <a:t>——</a:t>
            </a:r>
            <a:r>
              <a:rPr lang="en-US" altLang="zh-CN" b="1">
                <a:solidFill>
                  <a:srgbClr val="FF0000"/>
                </a:solidFill>
                <a:effectLst>
                  <a:outerShdw blurRad="38100" dist="38100" dir="2700000" algn="tl">
                    <a:srgbClr val="000000">
                      <a:alpha val="43137"/>
                    </a:srgbClr>
                  </a:outerShdw>
                </a:effectLst>
              </a:rPr>
              <a:t>represents </a:t>
            </a:r>
            <a:r>
              <a:rPr lang="en-US" altLang="zh-CN" b="1" err="1">
                <a:solidFill>
                  <a:srgbClr val="FF0000"/>
                </a:solidFill>
                <a:effectLst>
                  <a:outerShdw blurRad="38100" dist="38100" dir="2700000" algn="tl">
                    <a:srgbClr val="000000">
                      <a:alpha val="43137"/>
                    </a:srgbClr>
                  </a:outerShdw>
                </a:effectLst>
              </a:rPr>
              <a:t>L</a:t>
            </a:r>
            <a:r>
              <a:rPr lang="en-US" altLang="zh-CN" b="1" baseline="30000" err="1">
                <a:solidFill>
                  <a:srgbClr val="FF0000"/>
                </a:solidFill>
                <a:effectLst>
                  <a:outerShdw blurRad="38100" dist="38100" dir="2700000" algn="tl">
                    <a:srgbClr val="000000">
                      <a:alpha val="43137"/>
                    </a:srgbClr>
                  </a:outerShdw>
                </a:effectLst>
              </a:rPr>
              <a:t>n</a:t>
            </a:r>
            <a:r>
              <a:rPr lang="en-US" altLang="zh-CN" b="1" err="1">
                <a:solidFill>
                  <a:srgbClr val="FF0000"/>
                </a:solidFill>
                <a:effectLst>
                  <a:outerShdw blurRad="38100" dist="38100" dir="2700000" algn="tl">
                    <a:srgbClr val="000000">
                      <a:alpha val="43137"/>
                    </a:srgbClr>
                  </a:outerShdw>
                </a:effectLst>
              </a:rPr>
              <a:t>×P</a:t>
            </a:r>
            <a:r>
              <a:rPr lang="en-US" altLang="zh-CN" b="1" baseline="-25000">
                <a:solidFill>
                  <a:srgbClr val="FF0000"/>
                </a:solidFill>
                <a:effectLst>
                  <a:outerShdw blurRad="38100" dist="38100" dir="2700000" algn="tl">
                    <a:srgbClr val="000000">
                      <a:alpha val="43137"/>
                    </a:srgbClr>
                  </a:outerShdw>
                </a:effectLst>
              </a:rPr>
              <a:t>⊥</a:t>
            </a:r>
            <a:r>
              <a:rPr lang="en-US" altLang="zh-CN" b="1">
                <a:solidFill>
                  <a:srgbClr val="FF0000"/>
                </a:solidFill>
                <a:effectLst>
                  <a:outerShdw blurRad="38100" dist="38100" dir="2700000" algn="tl">
                    <a:srgbClr val="000000">
                      <a:alpha val="43137"/>
                    </a:srgbClr>
                  </a:outerShdw>
                </a:effectLst>
              </a:rPr>
              <a:t>=</a:t>
            </a:r>
            <a:r>
              <a:rPr lang="en-US" altLang="zh-CN" b="1" err="1">
                <a:solidFill>
                  <a:srgbClr val="FF0000"/>
                </a:solidFill>
                <a:effectLst>
                  <a:outerShdw blurRad="38100" dist="38100" dir="2700000" algn="tl">
                    <a:srgbClr val="000000">
                      <a:alpha val="43137"/>
                    </a:srgbClr>
                  </a:outerShdw>
                </a:effectLst>
              </a:rPr>
              <a:t>L</a:t>
            </a:r>
            <a:r>
              <a:rPr lang="en-US" altLang="zh-CN" b="1" baseline="30000" err="1">
                <a:solidFill>
                  <a:srgbClr val="FF0000"/>
                </a:solidFill>
                <a:effectLst>
                  <a:outerShdw blurRad="38100" dist="38100" dir="2700000" algn="tl">
                    <a:srgbClr val="000000">
                      <a:alpha val="43137"/>
                    </a:srgbClr>
                  </a:outerShdw>
                </a:effectLst>
              </a:rPr>
              <a:t>n</a:t>
            </a:r>
            <a:r>
              <a:rPr lang="en-US" altLang="zh-CN" b="1" err="1">
                <a:solidFill>
                  <a:srgbClr val="FF0000"/>
                </a:solidFill>
                <a:effectLst>
                  <a:outerShdw blurRad="38100" dist="38100" dir="2700000" algn="tl">
                    <a:srgbClr val="000000">
                      <a:alpha val="43137"/>
                    </a:srgbClr>
                  </a:outerShdw>
                </a:effectLst>
              </a:rPr>
              <a:t>P</a:t>
            </a:r>
            <a:r>
              <a:rPr lang="en-US" altLang="zh-CN" b="1">
                <a:solidFill>
                  <a:srgbClr val="FF0000"/>
                </a:solidFill>
                <a:effectLst>
                  <a:outerShdw blurRad="38100" dist="38100" dir="2700000" algn="tl">
                    <a:srgbClr val="000000">
                      <a:alpha val="43137"/>
                    </a:srgbClr>
                  </a:outerShdw>
                </a:effectLst>
              </a:rPr>
              <a:t>(C).</a:t>
            </a:r>
            <a:r>
              <a:rPr lang="zh-CN" altLang="en-US" b="1">
                <a:solidFill>
                  <a:srgbClr val="FF0000"/>
                </a:solidFill>
                <a:effectLst>
                  <a:outerShdw blurRad="38100" dist="38100" dir="2700000" algn="tl">
                    <a:srgbClr val="000000">
                      <a:alpha val="43137"/>
                    </a:srgbClr>
                  </a:outerShdw>
                </a:effectLst>
              </a:rPr>
              <a:t> </a:t>
            </a:r>
            <a:r>
              <a:rPr lang="en-US" altLang="zh-CN" b="1"/>
              <a:t>such as P</a:t>
            </a:r>
            <a:r>
              <a:rPr lang="zh-CN" altLang="en-US" b="1"/>
              <a:t>、</a:t>
            </a:r>
            <a:r>
              <a:rPr lang="en-US" altLang="zh-CN" b="1"/>
              <a:t>L</a:t>
            </a:r>
            <a:r>
              <a:rPr lang="en-US" altLang="zh-CN" b="1" baseline="30000"/>
              <a:t>2</a:t>
            </a:r>
            <a:r>
              <a:rPr lang="en-US" altLang="zh-CN" b="1"/>
              <a:t>PC</a:t>
            </a:r>
            <a:r>
              <a:rPr lang="zh-CN" altLang="en-US" b="1"/>
              <a:t>、   </a:t>
            </a:r>
            <a:r>
              <a:rPr lang="en-US" altLang="zh-CN" b="1"/>
              <a:t>L</a:t>
            </a:r>
            <a:r>
              <a:rPr lang="en-US" altLang="zh-CN" b="1" baseline="30000"/>
              <a:t>3</a:t>
            </a:r>
            <a:r>
              <a:rPr lang="en-US" altLang="zh-CN" b="1"/>
              <a:t>P</a:t>
            </a:r>
            <a:r>
              <a:rPr lang="en-US" altLang="zh-CN" b="1">
                <a:latin typeface="宋体" pitchFamily="2" charset="-122"/>
              </a:rPr>
              <a:t>(</a:t>
            </a:r>
            <a:r>
              <a:rPr lang="en-US" altLang="zh-CN" b="1"/>
              <a:t>L</a:t>
            </a:r>
            <a:r>
              <a:rPr lang="en-US" altLang="zh-CN" b="1" baseline="-25000"/>
              <a:t>i</a:t>
            </a:r>
            <a:r>
              <a:rPr lang="en-US" altLang="zh-CN" b="1" baseline="30000"/>
              <a:t>6</a:t>
            </a:r>
            <a:r>
              <a:rPr lang="en-US" altLang="zh-CN" b="1">
                <a:latin typeface="宋体" pitchFamily="2" charset="-122"/>
              </a:rPr>
              <a:t>)</a:t>
            </a:r>
            <a:r>
              <a:rPr lang="zh-CN" altLang="en-US" b="1">
                <a:latin typeface="宋体" pitchFamily="2" charset="-122"/>
              </a:rPr>
              <a:t>、 </a:t>
            </a:r>
            <a:r>
              <a:rPr lang="en-US" altLang="zh-CN" b="1"/>
              <a:t>L</a:t>
            </a:r>
            <a:r>
              <a:rPr lang="en-US" altLang="zh-CN" b="1" baseline="30000"/>
              <a:t>4</a:t>
            </a:r>
            <a:r>
              <a:rPr lang="en-US" altLang="zh-CN" b="1"/>
              <a:t>PC</a:t>
            </a:r>
            <a:r>
              <a:rPr lang="zh-CN" altLang="en-US" b="1"/>
              <a:t>、 </a:t>
            </a:r>
            <a:r>
              <a:rPr lang="en-US" altLang="zh-CN" b="1"/>
              <a:t>L</a:t>
            </a:r>
            <a:r>
              <a:rPr lang="en-US" altLang="zh-CN" b="1" baseline="30000"/>
              <a:t>6</a:t>
            </a:r>
            <a:r>
              <a:rPr lang="en-US" altLang="zh-CN" b="1"/>
              <a:t>PC</a:t>
            </a:r>
            <a:r>
              <a:rPr lang="zh-CN" altLang="en-US" b="1"/>
              <a:t> </a:t>
            </a:r>
            <a:r>
              <a:rPr lang="en-US" altLang="zh-CN" b="1"/>
              <a:t>are represented as </a:t>
            </a:r>
            <a:r>
              <a:rPr lang="en-US" altLang="zh-CN" b="1" err="1"/>
              <a:t>C</a:t>
            </a:r>
            <a:r>
              <a:rPr lang="en-US" altLang="zh-CN" b="1" baseline="-25000" err="1"/>
              <a:t>lh</a:t>
            </a:r>
            <a:r>
              <a:rPr lang="zh-CN" altLang="en-US" b="1"/>
              <a:t>、</a:t>
            </a:r>
            <a:r>
              <a:rPr lang="en-US" altLang="zh-CN" b="1"/>
              <a:t>C</a:t>
            </a:r>
            <a:r>
              <a:rPr lang="en-US" altLang="zh-CN" b="1" baseline="-25000"/>
              <a:t>2h</a:t>
            </a:r>
            <a:r>
              <a:rPr lang="zh-CN" altLang="en-US" b="1"/>
              <a:t>、</a:t>
            </a:r>
            <a:r>
              <a:rPr lang="en-US" altLang="zh-CN" b="1"/>
              <a:t>C</a:t>
            </a:r>
            <a:r>
              <a:rPr lang="en-US" altLang="zh-CN" b="1" baseline="-25000"/>
              <a:t>3h</a:t>
            </a:r>
            <a:r>
              <a:rPr lang="zh-CN" altLang="en-US" b="1"/>
              <a:t>、</a:t>
            </a:r>
            <a:r>
              <a:rPr lang="zh-CN" altLang="en-US" b="1" baseline="-25000"/>
              <a:t> </a:t>
            </a:r>
            <a:r>
              <a:rPr lang="en-US" altLang="zh-CN" b="1"/>
              <a:t>C</a:t>
            </a:r>
            <a:r>
              <a:rPr lang="en-US" altLang="zh-CN" b="1" baseline="-25000"/>
              <a:t>4h</a:t>
            </a:r>
            <a:r>
              <a:rPr lang="zh-CN" altLang="en-US" b="1"/>
              <a:t>、</a:t>
            </a:r>
            <a:r>
              <a:rPr lang="zh-CN" altLang="en-US" b="1" baseline="-25000"/>
              <a:t> </a:t>
            </a:r>
            <a:r>
              <a:rPr lang="en-US" altLang="zh-CN" b="1"/>
              <a:t>C</a:t>
            </a:r>
            <a:r>
              <a:rPr lang="en-US" altLang="zh-CN" b="1" baseline="-25000"/>
              <a:t>6h</a:t>
            </a:r>
            <a:r>
              <a:rPr lang="en-US" altLang="zh-CN" b="1"/>
              <a:t>.</a:t>
            </a:r>
            <a:endParaRPr lang="zh-CN" altLang="en-US" b="1"/>
          </a:p>
        </p:txBody>
      </p:sp>
      <p:sp>
        <p:nvSpPr>
          <p:cNvPr id="60420"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21"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extLst>
      <p:ext uri="{BB962C8B-B14F-4D97-AF65-F5344CB8AC3E}">
        <p14:creationId xmlns:p14="http://schemas.microsoft.com/office/powerpoint/2010/main" val="1916507642"/>
      </p:ext>
    </p:extLst>
  </p:cSld>
  <p:clrMapOvr>
    <a:masterClrMapping/>
  </p:clrMapOvr>
  <p:transition spd="med">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idx="1"/>
          </p:nvPr>
        </p:nvSpPr>
        <p:spPr>
          <a:xfrm>
            <a:off x="-11753" y="1541090"/>
            <a:ext cx="9144001" cy="5085263"/>
          </a:xfrm>
          <a:noFill/>
          <a:ln w="57150" cmpd="thickThin">
            <a:noFill/>
            <a:miter lim="800000"/>
            <a:headEnd/>
            <a:tailEnd/>
          </a:ln>
        </p:spPr>
        <p:txBody>
          <a:bodyPr/>
          <a:lstStyle/>
          <a:p>
            <a:pPr lvl="1" eaLnBrk="1" hangingPunct="1">
              <a:lnSpc>
                <a:spcPct val="130000"/>
              </a:lnSpc>
              <a:spcBef>
                <a:spcPct val="25000"/>
              </a:spcBef>
              <a:buClr>
                <a:schemeClr val="tx2"/>
              </a:buClr>
              <a:buFont typeface="Wingdings" pitchFamily="2" charset="2"/>
              <a:buChar char="q"/>
            </a:pPr>
            <a:r>
              <a:rPr lang="en-US" altLang="zh-CN" sz="2400" b="1">
                <a:ea typeface="楷体_GB2312" pitchFamily="49" charset="-122"/>
              </a:rPr>
              <a:t> </a:t>
            </a:r>
            <a:r>
              <a:rPr lang="en-US" altLang="zh-CN" sz="2400" b="1" err="1">
                <a:ea typeface="楷体_GB2312" pitchFamily="49" charset="-122"/>
              </a:rPr>
              <a:t>C</a:t>
            </a:r>
            <a:r>
              <a:rPr lang="en-US" altLang="zh-CN" sz="2400" b="1" baseline="-25000" err="1">
                <a:ea typeface="楷体_GB2312" pitchFamily="49" charset="-122"/>
              </a:rPr>
              <a:t>nv</a:t>
            </a:r>
            <a:r>
              <a:rPr lang="en-US" altLang="zh-CN" sz="2400" b="1">
                <a:ea typeface="楷体_GB2312" pitchFamily="49" charset="-122"/>
              </a:rPr>
              <a:t>——</a:t>
            </a:r>
            <a:r>
              <a:rPr lang="en-US" altLang="zh-CN" sz="2400" b="1"/>
              <a:t>represents </a:t>
            </a:r>
            <a:r>
              <a:rPr lang="en-US" altLang="zh-CN" sz="2400" b="1" err="1">
                <a:ea typeface="楷体_GB2312" pitchFamily="49" charset="-122"/>
              </a:rPr>
              <a:t>L</a:t>
            </a:r>
            <a:r>
              <a:rPr lang="en-US" altLang="zh-CN" sz="2400" b="1" baseline="30000" err="1">
                <a:ea typeface="楷体_GB2312" pitchFamily="49" charset="-122"/>
              </a:rPr>
              <a:t>n</a:t>
            </a:r>
            <a:r>
              <a:rPr lang="en-US" altLang="zh-CN" sz="2400" b="1" err="1">
                <a:ea typeface="楷体_GB2312" pitchFamily="49" charset="-122"/>
              </a:rPr>
              <a:t>×P</a:t>
            </a:r>
            <a:r>
              <a:rPr lang="en-US" altLang="zh-CN" sz="2400" b="1" baseline="-25000">
                <a:ea typeface="楷体_GB2312" pitchFamily="49" charset="-122"/>
              </a:rPr>
              <a:t>∥</a:t>
            </a:r>
            <a:r>
              <a:rPr lang="en-US" altLang="zh-CN" sz="2400" b="1">
                <a:ea typeface="楷体_GB2312" pitchFamily="49" charset="-122"/>
              </a:rPr>
              <a:t>=</a:t>
            </a:r>
            <a:r>
              <a:rPr lang="en-US" altLang="zh-CN" sz="2400" b="1" err="1">
                <a:ea typeface="楷体_GB2312" pitchFamily="49" charset="-122"/>
              </a:rPr>
              <a:t>L</a:t>
            </a:r>
            <a:r>
              <a:rPr lang="en-US" altLang="zh-CN" sz="2400" b="1" baseline="30000" err="1">
                <a:ea typeface="楷体_GB2312" pitchFamily="49" charset="-122"/>
              </a:rPr>
              <a:t>n</a:t>
            </a:r>
            <a:r>
              <a:rPr lang="en-US" altLang="zh-CN" sz="2400" b="1" err="1">
                <a:ea typeface="楷体_GB2312" pitchFamily="49" charset="-122"/>
              </a:rPr>
              <a:t>nP</a:t>
            </a:r>
            <a:r>
              <a:rPr lang="en-US" altLang="zh-CN" sz="2400" b="1">
                <a:ea typeface="楷体_GB2312" pitchFamily="49" charset="-122"/>
              </a:rPr>
              <a:t> </a:t>
            </a:r>
            <a:r>
              <a:rPr lang="zh-CN" altLang="en-US" sz="2400" b="1">
                <a:ea typeface="楷体_GB2312" pitchFamily="49" charset="-122"/>
              </a:rPr>
              <a:t>，</a:t>
            </a:r>
            <a:r>
              <a:rPr lang="en-US" altLang="zh-CN" sz="2400" b="1">
                <a:ea typeface="楷体_GB2312" pitchFamily="49" charset="-122"/>
              </a:rPr>
              <a:t>such as</a:t>
            </a:r>
            <a:r>
              <a:rPr lang="zh-CN" altLang="en-US" sz="2400" b="1">
                <a:ea typeface="楷体_GB2312" pitchFamily="49" charset="-122"/>
              </a:rPr>
              <a:t> </a:t>
            </a:r>
            <a:r>
              <a:rPr lang="en-US" altLang="zh-CN" sz="2400" b="1">
                <a:ea typeface="楷体_GB2312" pitchFamily="49" charset="-122"/>
              </a:rPr>
              <a:t>L</a:t>
            </a:r>
            <a:r>
              <a:rPr lang="en-US" altLang="zh-CN" sz="2400" b="1" baseline="30000">
                <a:ea typeface="楷体_GB2312" pitchFamily="49" charset="-122"/>
              </a:rPr>
              <a:t>2</a:t>
            </a:r>
            <a:r>
              <a:rPr lang="en-US" altLang="zh-CN" sz="2400" b="1">
                <a:ea typeface="楷体_GB2312" pitchFamily="49" charset="-122"/>
              </a:rPr>
              <a:t>2P</a:t>
            </a:r>
            <a:r>
              <a:rPr lang="zh-CN" altLang="en-US" sz="2400" b="1">
                <a:ea typeface="楷体_GB2312" pitchFamily="49" charset="-122"/>
              </a:rPr>
              <a:t>、 </a:t>
            </a:r>
            <a:r>
              <a:rPr lang="en-US" altLang="zh-CN" sz="2400" b="1">
                <a:ea typeface="楷体_GB2312" pitchFamily="49" charset="-122"/>
              </a:rPr>
              <a:t>L</a:t>
            </a:r>
            <a:r>
              <a:rPr lang="en-US" altLang="zh-CN" sz="2400" b="1" baseline="30000">
                <a:ea typeface="楷体_GB2312" pitchFamily="49" charset="-122"/>
              </a:rPr>
              <a:t>3</a:t>
            </a:r>
            <a:r>
              <a:rPr lang="en-US" altLang="zh-CN" sz="2400" b="1">
                <a:ea typeface="楷体_GB2312" pitchFamily="49" charset="-122"/>
              </a:rPr>
              <a:t>3P</a:t>
            </a:r>
            <a:r>
              <a:rPr lang="zh-CN" altLang="en-US" sz="2400" b="1">
                <a:ea typeface="楷体_GB2312" pitchFamily="49" charset="-122"/>
              </a:rPr>
              <a:t>、</a:t>
            </a:r>
            <a:r>
              <a:rPr lang="en-US" altLang="zh-CN" sz="2400" b="1">
                <a:ea typeface="楷体_GB2312" pitchFamily="49" charset="-122"/>
              </a:rPr>
              <a:t>L</a:t>
            </a:r>
            <a:r>
              <a:rPr lang="en-US" altLang="zh-CN" sz="2400" b="1" baseline="30000">
                <a:ea typeface="楷体_GB2312" pitchFamily="49" charset="-122"/>
              </a:rPr>
              <a:t>4</a:t>
            </a:r>
            <a:r>
              <a:rPr lang="en-US" altLang="zh-CN" sz="2400" b="1">
                <a:ea typeface="楷体_GB2312" pitchFamily="49" charset="-122"/>
              </a:rPr>
              <a:t>4P</a:t>
            </a:r>
            <a:r>
              <a:rPr lang="zh-CN" altLang="en-US" sz="2400" b="1">
                <a:ea typeface="楷体_GB2312" pitchFamily="49" charset="-122"/>
              </a:rPr>
              <a:t>、</a:t>
            </a:r>
            <a:r>
              <a:rPr lang="en-US" altLang="zh-CN" sz="2400" b="1">
                <a:ea typeface="楷体_GB2312" pitchFamily="49" charset="-122"/>
              </a:rPr>
              <a:t>L</a:t>
            </a:r>
            <a:r>
              <a:rPr lang="en-US" altLang="zh-CN" sz="2400" b="1" baseline="30000">
                <a:ea typeface="楷体_GB2312" pitchFamily="49" charset="-122"/>
              </a:rPr>
              <a:t>6</a:t>
            </a:r>
            <a:r>
              <a:rPr lang="en-US" altLang="zh-CN" sz="2400" b="1">
                <a:ea typeface="楷体_GB2312" pitchFamily="49" charset="-122"/>
              </a:rPr>
              <a:t>6P</a:t>
            </a:r>
            <a:r>
              <a:rPr lang="zh-CN" altLang="en-US" sz="2400" b="1">
                <a:ea typeface="楷体_GB2312" pitchFamily="49" charset="-122"/>
              </a:rPr>
              <a:t> </a:t>
            </a:r>
            <a:r>
              <a:rPr lang="en-US" altLang="zh-CN" sz="2400" b="1"/>
              <a:t>are represented as </a:t>
            </a:r>
            <a:r>
              <a:rPr lang="en-US" altLang="zh-CN" sz="2400" b="1">
                <a:ea typeface="楷体_GB2312" pitchFamily="49" charset="-122"/>
              </a:rPr>
              <a:t>C</a:t>
            </a:r>
            <a:r>
              <a:rPr lang="en-US" altLang="zh-CN" sz="2400" b="1" baseline="-25000">
                <a:ea typeface="楷体_GB2312" pitchFamily="49" charset="-122"/>
              </a:rPr>
              <a:t>2v</a:t>
            </a:r>
            <a:r>
              <a:rPr lang="zh-CN" altLang="en-US" sz="2400" b="1">
                <a:ea typeface="楷体_GB2312" pitchFamily="49" charset="-122"/>
              </a:rPr>
              <a:t>、</a:t>
            </a:r>
            <a:r>
              <a:rPr lang="en-US" altLang="zh-CN" sz="2400" b="1">
                <a:ea typeface="楷体_GB2312" pitchFamily="49" charset="-122"/>
              </a:rPr>
              <a:t>C</a:t>
            </a:r>
            <a:r>
              <a:rPr lang="en-US" altLang="zh-CN" sz="2400" b="1" baseline="-25000">
                <a:ea typeface="楷体_GB2312" pitchFamily="49" charset="-122"/>
              </a:rPr>
              <a:t>3v</a:t>
            </a:r>
            <a:r>
              <a:rPr lang="zh-CN" altLang="en-US" sz="2400" b="1">
                <a:ea typeface="楷体_GB2312" pitchFamily="49" charset="-122"/>
              </a:rPr>
              <a:t>、</a:t>
            </a:r>
            <a:r>
              <a:rPr lang="en-US" altLang="zh-CN" sz="2400" b="1">
                <a:ea typeface="楷体_GB2312" pitchFamily="49" charset="-122"/>
              </a:rPr>
              <a:t>C</a:t>
            </a:r>
            <a:r>
              <a:rPr lang="en-US" altLang="zh-CN" sz="2400" b="1" baseline="-25000">
                <a:ea typeface="楷体_GB2312" pitchFamily="49" charset="-122"/>
              </a:rPr>
              <a:t>4v</a:t>
            </a:r>
            <a:r>
              <a:rPr lang="zh-CN" altLang="en-US" sz="2400" b="1">
                <a:ea typeface="楷体_GB2312" pitchFamily="49" charset="-122"/>
              </a:rPr>
              <a:t>、 </a:t>
            </a:r>
            <a:r>
              <a:rPr lang="en-US" altLang="zh-CN" sz="2400" b="1">
                <a:ea typeface="楷体_GB2312" pitchFamily="49" charset="-122"/>
              </a:rPr>
              <a:t>C</a:t>
            </a:r>
            <a:r>
              <a:rPr lang="en-US" altLang="zh-CN" sz="2400" b="1" baseline="-25000">
                <a:ea typeface="楷体_GB2312" pitchFamily="49" charset="-122"/>
              </a:rPr>
              <a:t>6v</a:t>
            </a:r>
            <a:r>
              <a:rPr lang="en-US" altLang="zh-CN" sz="2400" b="1">
                <a:ea typeface="楷体_GB2312" pitchFamily="49" charset="-122"/>
              </a:rPr>
              <a:t>.</a:t>
            </a:r>
            <a:endParaRPr lang="zh-CN" altLang="en-US" sz="2400" b="1">
              <a:ea typeface="楷体_GB2312" pitchFamily="49" charset="-122"/>
            </a:endParaRPr>
          </a:p>
          <a:p>
            <a:pPr lvl="1" eaLnBrk="1" hangingPunct="1">
              <a:lnSpc>
                <a:spcPct val="130000"/>
              </a:lnSpc>
              <a:spcBef>
                <a:spcPct val="25000"/>
              </a:spcBef>
              <a:buClr>
                <a:schemeClr val="tx2"/>
              </a:buClr>
              <a:buFont typeface="Wingdings" pitchFamily="2" charset="2"/>
              <a:buChar char="q"/>
            </a:pPr>
            <a:r>
              <a:rPr lang="zh-CN" altLang="en-US" sz="2400" b="1">
                <a:ea typeface="楷体_GB2312" pitchFamily="49" charset="-122"/>
              </a:rPr>
              <a:t> </a:t>
            </a:r>
            <a:r>
              <a:rPr lang="en-US" altLang="zh-CN" sz="2400" b="1" err="1">
                <a:ea typeface="楷体_GB2312" pitchFamily="49" charset="-122"/>
              </a:rPr>
              <a:t>D</a:t>
            </a:r>
            <a:r>
              <a:rPr lang="en-US" altLang="zh-CN" sz="2400" b="1" baseline="-25000" err="1">
                <a:ea typeface="楷体_GB2312" pitchFamily="49" charset="-122"/>
              </a:rPr>
              <a:t>n</a:t>
            </a:r>
            <a:r>
              <a:rPr lang="en-US" altLang="zh-CN" sz="2400" b="1">
                <a:ea typeface="楷体_GB2312" pitchFamily="49" charset="-122"/>
              </a:rPr>
              <a:t>——</a:t>
            </a:r>
            <a:r>
              <a:rPr lang="en-US" altLang="zh-CN" sz="2400" b="1"/>
              <a:t>represents </a:t>
            </a:r>
            <a:r>
              <a:rPr lang="en-US" altLang="zh-CN" sz="2400" b="1">
                <a:ea typeface="楷体_GB2312" pitchFamily="49" charset="-122"/>
              </a:rPr>
              <a:t>L</a:t>
            </a:r>
            <a:r>
              <a:rPr lang="en-US" altLang="zh-CN" sz="2400" b="1" baseline="30000">
                <a:ea typeface="楷体_GB2312" pitchFamily="49" charset="-122"/>
              </a:rPr>
              <a:t>n</a:t>
            </a:r>
            <a:r>
              <a:rPr lang="en-US" altLang="zh-CN" sz="2400" b="1">
                <a:ea typeface="楷体_GB2312" pitchFamily="49" charset="-122"/>
              </a:rPr>
              <a:t>×L</a:t>
            </a:r>
            <a:r>
              <a:rPr lang="en-US" altLang="zh-CN" sz="2400" b="1" baseline="30000">
                <a:ea typeface="楷体_GB2312" pitchFamily="49" charset="-122"/>
              </a:rPr>
              <a:t>2</a:t>
            </a:r>
            <a:r>
              <a:rPr lang="en-US" altLang="zh-CN" sz="2400" b="1" baseline="-25000">
                <a:ea typeface="楷体_GB2312" pitchFamily="49" charset="-122"/>
              </a:rPr>
              <a:t>⊥</a:t>
            </a:r>
            <a:r>
              <a:rPr lang="en-US" altLang="zh-CN" sz="2400" b="1">
                <a:ea typeface="楷体_GB2312" pitchFamily="49" charset="-122"/>
              </a:rPr>
              <a:t>= L</a:t>
            </a:r>
            <a:r>
              <a:rPr lang="en-US" altLang="zh-CN" sz="2400" b="1" baseline="30000">
                <a:ea typeface="楷体_GB2312" pitchFamily="49" charset="-122"/>
              </a:rPr>
              <a:t>n</a:t>
            </a:r>
            <a:r>
              <a:rPr lang="en-US" altLang="zh-CN" sz="2400" b="1">
                <a:ea typeface="楷体_GB2312" pitchFamily="49" charset="-122"/>
              </a:rPr>
              <a:t>nL</a:t>
            </a:r>
            <a:r>
              <a:rPr lang="en-US" altLang="zh-CN" sz="2400" b="1" baseline="30000">
                <a:ea typeface="楷体_GB2312" pitchFamily="49" charset="-122"/>
              </a:rPr>
              <a:t>2</a:t>
            </a:r>
            <a:r>
              <a:rPr lang="zh-CN" altLang="en-US" sz="2400" b="1">
                <a:ea typeface="楷体_GB2312" pitchFamily="49" charset="-122"/>
              </a:rPr>
              <a:t>，</a:t>
            </a:r>
            <a:r>
              <a:rPr lang="en-US" altLang="zh-CN" sz="2400" b="1">
                <a:ea typeface="楷体_GB2312" pitchFamily="49" charset="-122"/>
              </a:rPr>
              <a:t>such as L</a:t>
            </a:r>
            <a:r>
              <a:rPr lang="en-US" altLang="zh-CN" sz="2400" b="1" baseline="30000">
                <a:ea typeface="楷体_GB2312" pitchFamily="49" charset="-122"/>
              </a:rPr>
              <a:t>2</a:t>
            </a:r>
            <a:r>
              <a:rPr lang="en-US" altLang="zh-CN" sz="2400" b="1">
                <a:ea typeface="楷体_GB2312" pitchFamily="49" charset="-122"/>
              </a:rPr>
              <a:t>2 L</a:t>
            </a:r>
            <a:r>
              <a:rPr lang="en-US" altLang="zh-CN" sz="2400" b="1" baseline="30000">
                <a:ea typeface="楷体_GB2312" pitchFamily="49" charset="-122"/>
              </a:rPr>
              <a:t>2</a:t>
            </a:r>
            <a:r>
              <a:rPr lang="en-US" altLang="zh-CN" sz="2400" b="1">
                <a:ea typeface="楷体_GB2312" pitchFamily="49" charset="-122"/>
              </a:rPr>
              <a:t> (3L</a:t>
            </a:r>
            <a:r>
              <a:rPr lang="en-US" altLang="zh-CN" sz="2400" b="1" baseline="30000">
                <a:ea typeface="楷体_GB2312" pitchFamily="49" charset="-122"/>
              </a:rPr>
              <a:t>2</a:t>
            </a:r>
            <a:r>
              <a:rPr lang="en-US" altLang="zh-CN" sz="2400" b="1">
                <a:ea typeface="楷体_GB2312" pitchFamily="49" charset="-122"/>
              </a:rPr>
              <a:t>)</a:t>
            </a:r>
            <a:r>
              <a:rPr lang="zh-CN" altLang="en-US" sz="2400" b="1">
                <a:ea typeface="楷体_GB2312" pitchFamily="49" charset="-122"/>
              </a:rPr>
              <a:t>、</a:t>
            </a:r>
            <a:r>
              <a:rPr lang="en-US" altLang="zh-CN" sz="2400" b="1">
                <a:ea typeface="楷体_GB2312" pitchFamily="49" charset="-122"/>
              </a:rPr>
              <a:t>L</a:t>
            </a:r>
            <a:r>
              <a:rPr lang="en-US" altLang="zh-CN" sz="2400" b="1" baseline="30000">
                <a:ea typeface="楷体_GB2312" pitchFamily="49" charset="-122"/>
              </a:rPr>
              <a:t>3</a:t>
            </a:r>
            <a:r>
              <a:rPr lang="en-US" altLang="zh-CN" sz="2400" b="1">
                <a:ea typeface="楷体_GB2312" pitchFamily="49" charset="-122"/>
              </a:rPr>
              <a:t> 3 L</a:t>
            </a:r>
            <a:r>
              <a:rPr lang="en-US" altLang="zh-CN" sz="2400" b="1" baseline="30000">
                <a:ea typeface="楷体_GB2312" pitchFamily="49" charset="-122"/>
              </a:rPr>
              <a:t>2</a:t>
            </a:r>
            <a:r>
              <a:rPr lang="en-US" altLang="zh-CN" sz="2400" b="1">
                <a:ea typeface="楷体_GB2312" pitchFamily="49" charset="-122"/>
              </a:rPr>
              <a:t> </a:t>
            </a:r>
            <a:r>
              <a:rPr lang="zh-CN" altLang="en-US" sz="2400" b="1">
                <a:ea typeface="楷体_GB2312" pitchFamily="49" charset="-122"/>
              </a:rPr>
              <a:t>、</a:t>
            </a:r>
            <a:r>
              <a:rPr lang="en-US" altLang="zh-CN" sz="2400" b="1">
                <a:ea typeface="楷体_GB2312" pitchFamily="49" charset="-122"/>
              </a:rPr>
              <a:t>L</a:t>
            </a:r>
            <a:r>
              <a:rPr lang="en-US" altLang="zh-CN" sz="2400" b="1" baseline="30000">
                <a:ea typeface="楷体_GB2312" pitchFamily="49" charset="-122"/>
              </a:rPr>
              <a:t>4</a:t>
            </a:r>
            <a:r>
              <a:rPr lang="en-US" altLang="zh-CN" sz="2400" b="1">
                <a:ea typeface="楷体_GB2312" pitchFamily="49" charset="-122"/>
              </a:rPr>
              <a:t>4 L</a:t>
            </a:r>
            <a:r>
              <a:rPr lang="en-US" altLang="zh-CN" sz="2400" b="1" baseline="30000">
                <a:ea typeface="楷体_GB2312" pitchFamily="49" charset="-122"/>
              </a:rPr>
              <a:t>2</a:t>
            </a:r>
            <a:r>
              <a:rPr lang="zh-CN" altLang="en-US" sz="2400" b="1">
                <a:ea typeface="楷体_GB2312" pitchFamily="49" charset="-122"/>
              </a:rPr>
              <a:t>、 </a:t>
            </a:r>
            <a:r>
              <a:rPr lang="en-US" altLang="zh-CN" sz="2400" b="1">
                <a:ea typeface="楷体_GB2312" pitchFamily="49" charset="-122"/>
              </a:rPr>
              <a:t>L</a:t>
            </a:r>
            <a:r>
              <a:rPr lang="en-US" altLang="zh-CN" sz="2400" b="1" baseline="30000">
                <a:ea typeface="楷体_GB2312" pitchFamily="49" charset="-122"/>
              </a:rPr>
              <a:t>6</a:t>
            </a:r>
            <a:r>
              <a:rPr lang="en-US" altLang="zh-CN" sz="2400" b="1">
                <a:ea typeface="楷体_GB2312" pitchFamily="49" charset="-122"/>
              </a:rPr>
              <a:t>6L</a:t>
            </a:r>
            <a:r>
              <a:rPr lang="en-US" altLang="zh-CN" sz="2400" b="1" baseline="30000">
                <a:ea typeface="楷体_GB2312" pitchFamily="49" charset="-122"/>
              </a:rPr>
              <a:t>2</a:t>
            </a:r>
            <a:r>
              <a:rPr lang="en-US" altLang="zh-CN" sz="2400" b="1"/>
              <a:t> are represented as </a:t>
            </a:r>
            <a:r>
              <a:rPr lang="en-US" altLang="zh-CN" sz="2400" b="1">
                <a:ea typeface="楷体_GB2312" pitchFamily="49" charset="-122"/>
              </a:rPr>
              <a:t>D</a:t>
            </a:r>
            <a:r>
              <a:rPr lang="en-US" altLang="zh-CN" sz="2400" b="1" baseline="-25000">
                <a:ea typeface="楷体_GB2312" pitchFamily="49" charset="-122"/>
              </a:rPr>
              <a:t>2</a:t>
            </a:r>
            <a:r>
              <a:rPr lang="zh-CN" altLang="en-US" sz="2400" b="1">
                <a:ea typeface="楷体_GB2312" pitchFamily="49" charset="-122"/>
              </a:rPr>
              <a:t>、</a:t>
            </a:r>
            <a:r>
              <a:rPr lang="en-US" altLang="zh-CN" sz="2400" b="1">
                <a:ea typeface="楷体_GB2312" pitchFamily="49" charset="-122"/>
              </a:rPr>
              <a:t>D</a:t>
            </a:r>
            <a:r>
              <a:rPr lang="en-US" altLang="zh-CN" sz="2400" b="1" baseline="-25000">
                <a:ea typeface="楷体_GB2312" pitchFamily="49" charset="-122"/>
              </a:rPr>
              <a:t>3</a:t>
            </a:r>
            <a:r>
              <a:rPr lang="zh-CN" altLang="en-US" sz="2400" b="1">
                <a:ea typeface="楷体_GB2312" pitchFamily="49" charset="-122"/>
              </a:rPr>
              <a:t>、</a:t>
            </a:r>
            <a:r>
              <a:rPr lang="en-US" altLang="zh-CN" sz="2400" b="1">
                <a:ea typeface="楷体_GB2312" pitchFamily="49" charset="-122"/>
              </a:rPr>
              <a:t>D</a:t>
            </a:r>
            <a:r>
              <a:rPr lang="en-US" altLang="zh-CN" sz="2400" b="1" baseline="-25000">
                <a:ea typeface="楷体_GB2312" pitchFamily="49" charset="-122"/>
              </a:rPr>
              <a:t>4</a:t>
            </a:r>
            <a:r>
              <a:rPr lang="zh-CN" altLang="en-US" sz="2400" b="1">
                <a:ea typeface="楷体_GB2312" pitchFamily="49" charset="-122"/>
              </a:rPr>
              <a:t>、</a:t>
            </a:r>
            <a:r>
              <a:rPr lang="en-US" altLang="zh-CN" sz="2400" b="1">
                <a:ea typeface="楷体_GB2312" pitchFamily="49" charset="-122"/>
              </a:rPr>
              <a:t>D</a:t>
            </a:r>
            <a:r>
              <a:rPr lang="en-US" altLang="zh-CN" sz="2400" b="1" baseline="-25000">
                <a:ea typeface="楷体_GB2312" pitchFamily="49" charset="-122"/>
              </a:rPr>
              <a:t>6</a:t>
            </a:r>
            <a:r>
              <a:rPr lang="en-US" altLang="zh-CN" sz="2400" b="1">
                <a:ea typeface="楷体_GB2312" pitchFamily="49" charset="-122"/>
              </a:rPr>
              <a:t>.</a:t>
            </a:r>
            <a:endParaRPr lang="zh-CN" altLang="en-US" sz="2400" b="1">
              <a:ea typeface="楷体_GB2312" pitchFamily="49" charset="-122"/>
            </a:endParaRPr>
          </a:p>
          <a:p>
            <a:pPr lvl="1" eaLnBrk="1" hangingPunct="1">
              <a:lnSpc>
                <a:spcPct val="130000"/>
              </a:lnSpc>
              <a:spcBef>
                <a:spcPct val="25000"/>
              </a:spcBef>
              <a:buClr>
                <a:schemeClr val="tx2"/>
              </a:buClr>
              <a:buFont typeface="Wingdings" pitchFamily="2" charset="2"/>
              <a:buChar char="q"/>
            </a:pPr>
            <a:r>
              <a:rPr lang="zh-CN" altLang="en-US" sz="2400" b="1">
                <a:ea typeface="楷体_GB2312" pitchFamily="49" charset="-122"/>
              </a:rPr>
              <a:t> </a:t>
            </a:r>
            <a:r>
              <a:rPr lang="en-US" altLang="zh-CN" sz="2400" b="1" err="1">
                <a:ea typeface="楷体_GB2312" pitchFamily="49" charset="-122"/>
              </a:rPr>
              <a:t>D</a:t>
            </a:r>
            <a:r>
              <a:rPr lang="en-US" altLang="zh-CN" sz="2400" b="1" baseline="-25000" err="1">
                <a:ea typeface="楷体_GB2312" pitchFamily="49" charset="-122"/>
              </a:rPr>
              <a:t>nh</a:t>
            </a:r>
            <a:r>
              <a:rPr lang="en-US" altLang="zh-CN" sz="2400" b="1">
                <a:ea typeface="楷体_GB2312" pitchFamily="49" charset="-122"/>
              </a:rPr>
              <a:t>——</a:t>
            </a:r>
            <a:r>
              <a:rPr lang="en-US" altLang="zh-CN" sz="2400" b="1"/>
              <a:t>represents </a:t>
            </a:r>
            <a:r>
              <a:rPr lang="en-US" altLang="zh-CN" sz="2400" b="1">
                <a:ea typeface="楷体_GB2312" pitchFamily="49" charset="-122"/>
              </a:rPr>
              <a:t>L</a:t>
            </a:r>
            <a:r>
              <a:rPr lang="en-US" altLang="zh-CN" sz="2400" b="1" baseline="30000">
                <a:ea typeface="楷体_GB2312" pitchFamily="49" charset="-122"/>
              </a:rPr>
              <a:t>n</a:t>
            </a:r>
            <a:r>
              <a:rPr lang="en-US" altLang="zh-CN" sz="2400" b="1">
                <a:ea typeface="楷体_GB2312" pitchFamily="49" charset="-122"/>
              </a:rPr>
              <a:t>×L</a:t>
            </a:r>
            <a:r>
              <a:rPr lang="en-US" altLang="zh-CN" sz="2400" b="1" baseline="30000">
                <a:ea typeface="楷体_GB2312" pitchFamily="49" charset="-122"/>
              </a:rPr>
              <a:t>2</a:t>
            </a:r>
            <a:r>
              <a:rPr lang="en-US" altLang="zh-CN" sz="2400" b="1" baseline="-25000">
                <a:ea typeface="楷体_GB2312" pitchFamily="49" charset="-122"/>
              </a:rPr>
              <a:t>⊥</a:t>
            </a:r>
            <a:r>
              <a:rPr lang="en-US" altLang="zh-CN" sz="2400" b="1">
                <a:ea typeface="楷体_GB2312" pitchFamily="49" charset="-122"/>
              </a:rPr>
              <a:t>×P</a:t>
            </a:r>
            <a:r>
              <a:rPr lang="en-US" altLang="zh-CN" sz="2400" b="1" baseline="-25000">
                <a:ea typeface="楷体_GB2312" pitchFamily="49" charset="-122"/>
              </a:rPr>
              <a:t>⊥</a:t>
            </a:r>
            <a:r>
              <a:rPr lang="en-US" altLang="zh-CN" sz="2400" b="1">
                <a:ea typeface="楷体_GB2312" pitchFamily="49" charset="-122"/>
              </a:rPr>
              <a:t>= L</a:t>
            </a:r>
            <a:r>
              <a:rPr lang="en-US" altLang="zh-CN" sz="2400" b="1" baseline="30000">
                <a:ea typeface="楷体_GB2312" pitchFamily="49" charset="-122"/>
              </a:rPr>
              <a:t>n</a:t>
            </a:r>
            <a:r>
              <a:rPr lang="en-US" altLang="zh-CN" sz="2400" b="1">
                <a:ea typeface="楷体_GB2312" pitchFamily="49" charset="-122"/>
              </a:rPr>
              <a:t>nL</a:t>
            </a:r>
            <a:r>
              <a:rPr lang="en-US" altLang="zh-CN" sz="2400" b="1" baseline="30000">
                <a:ea typeface="楷体_GB2312" pitchFamily="49" charset="-122"/>
              </a:rPr>
              <a:t>2</a:t>
            </a:r>
            <a:r>
              <a:rPr lang="en-US" altLang="zh-CN" sz="2400" b="1">
                <a:ea typeface="楷体_GB2312" pitchFamily="49" charset="-122"/>
              </a:rPr>
              <a:t>(n+1)P(C)</a:t>
            </a:r>
            <a:r>
              <a:rPr lang="zh-CN" altLang="en-US" sz="2400" b="1">
                <a:ea typeface="楷体_GB2312" pitchFamily="49" charset="-122"/>
              </a:rPr>
              <a:t>，</a:t>
            </a:r>
            <a:r>
              <a:rPr lang="en-US" altLang="zh-CN" sz="2400" b="1">
                <a:ea typeface="楷体_GB2312" pitchFamily="49" charset="-122"/>
              </a:rPr>
              <a:t> such as</a:t>
            </a:r>
            <a:r>
              <a:rPr lang="zh-CN" altLang="en-US" sz="2400" b="1">
                <a:ea typeface="楷体_GB2312" pitchFamily="49" charset="-122"/>
              </a:rPr>
              <a:t> </a:t>
            </a:r>
            <a:r>
              <a:rPr lang="en-US" altLang="zh-CN" sz="2400" b="1">
                <a:ea typeface="楷体_GB2312" pitchFamily="49" charset="-122"/>
              </a:rPr>
              <a:t>3L</a:t>
            </a:r>
            <a:r>
              <a:rPr lang="en-US" altLang="zh-CN" sz="2400" b="1" baseline="30000">
                <a:ea typeface="楷体_GB2312" pitchFamily="49" charset="-122"/>
              </a:rPr>
              <a:t>2</a:t>
            </a:r>
            <a:r>
              <a:rPr lang="en-US" altLang="zh-CN" sz="2400" b="1">
                <a:ea typeface="楷体_GB2312" pitchFamily="49" charset="-122"/>
              </a:rPr>
              <a:t>3PC</a:t>
            </a:r>
            <a:r>
              <a:rPr lang="zh-CN" altLang="en-US" sz="2400" b="1">
                <a:ea typeface="楷体_GB2312" pitchFamily="49" charset="-122"/>
              </a:rPr>
              <a:t>、</a:t>
            </a:r>
            <a:r>
              <a:rPr lang="en-US" altLang="zh-CN" sz="2400" b="1">
                <a:ea typeface="楷体_GB2312" pitchFamily="49" charset="-122"/>
              </a:rPr>
              <a:t>L</a:t>
            </a:r>
            <a:r>
              <a:rPr lang="en-US" altLang="zh-CN" sz="2400" b="1" baseline="30000">
                <a:ea typeface="楷体_GB2312" pitchFamily="49" charset="-122"/>
              </a:rPr>
              <a:t>3</a:t>
            </a:r>
            <a:r>
              <a:rPr lang="en-US" altLang="zh-CN" sz="2400" b="1">
                <a:ea typeface="楷体_GB2312" pitchFamily="49" charset="-122"/>
              </a:rPr>
              <a:t> 3 L</a:t>
            </a:r>
            <a:r>
              <a:rPr lang="en-US" altLang="zh-CN" sz="2400" b="1" baseline="30000">
                <a:ea typeface="楷体_GB2312" pitchFamily="49" charset="-122"/>
              </a:rPr>
              <a:t>2</a:t>
            </a:r>
            <a:r>
              <a:rPr lang="en-US" altLang="zh-CN" sz="2400" b="1">
                <a:ea typeface="楷体_GB2312" pitchFamily="49" charset="-122"/>
              </a:rPr>
              <a:t>4P</a:t>
            </a:r>
            <a:r>
              <a:rPr lang="zh-CN" altLang="en-US" sz="2400" b="1">
                <a:ea typeface="楷体_GB2312" pitchFamily="49" charset="-122"/>
              </a:rPr>
              <a:t>（</a:t>
            </a:r>
            <a:r>
              <a:rPr lang="en-US" altLang="zh-CN" sz="2400" b="1">
                <a:ea typeface="楷体_GB2312" pitchFamily="49" charset="-122"/>
              </a:rPr>
              <a:t>L</a:t>
            </a:r>
            <a:r>
              <a:rPr lang="en-US" altLang="zh-CN" sz="2400" b="1" baseline="-25000">
                <a:ea typeface="楷体_GB2312" pitchFamily="49" charset="-122"/>
              </a:rPr>
              <a:t>i</a:t>
            </a:r>
            <a:r>
              <a:rPr lang="en-US" altLang="zh-CN" sz="2400" b="1" baseline="30000">
                <a:ea typeface="楷体_GB2312" pitchFamily="49" charset="-122"/>
              </a:rPr>
              <a:t>6</a:t>
            </a:r>
            <a:r>
              <a:rPr lang="en-US" altLang="zh-CN" sz="2400" b="1">
                <a:ea typeface="楷体_GB2312" pitchFamily="49" charset="-122"/>
              </a:rPr>
              <a:t>3L</a:t>
            </a:r>
            <a:r>
              <a:rPr lang="en-US" altLang="zh-CN" sz="2400" b="1" baseline="30000">
                <a:ea typeface="楷体_GB2312" pitchFamily="49" charset="-122"/>
              </a:rPr>
              <a:t>2</a:t>
            </a:r>
            <a:r>
              <a:rPr lang="en-US" altLang="zh-CN" sz="2400" b="1">
                <a:ea typeface="楷体_GB2312" pitchFamily="49" charset="-122"/>
              </a:rPr>
              <a:t>3P</a:t>
            </a:r>
            <a:r>
              <a:rPr lang="zh-CN" altLang="en-US" sz="2400" b="1">
                <a:ea typeface="楷体_GB2312" pitchFamily="49" charset="-122"/>
              </a:rPr>
              <a:t>）、</a:t>
            </a:r>
            <a:r>
              <a:rPr lang="en-US" altLang="zh-CN" sz="2400" b="1">
                <a:ea typeface="楷体_GB2312" pitchFamily="49" charset="-122"/>
              </a:rPr>
              <a:t>L</a:t>
            </a:r>
            <a:r>
              <a:rPr lang="en-US" altLang="zh-CN" sz="2400" b="1" baseline="30000">
                <a:ea typeface="楷体_GB2312" pitchFamily="49" charset="-122"/>
              </a:rPr>
              <a:t>4</a:t>
            </a:r>
            <a:r>
              <a:rPr lang="en-US" altLang="zh-CN" sz="2400" b="1">
                <a:ea typeface="楷体_GB2312" pitchFamily="49" charset="-122"/>
              </a:rPr>
              <a:t>4 L</a:t>
            </a:r>
            <a:r>
              <a:rPr lang="en-US" altLang="zh-CN" sz="2400" b="1" baseline="30000">
                <a:ea typeface="楷体_GB2312" pitchFamily="49" charset="-122"/>
              </a:rPr>
              <a:t>2</a:t>
            </a:r>
            <a:r>
              <a:rPr lang="en-US" altLang="zh-CN" sz="2400" b="1">
                <a:ea typeface="楷体_GB2312" pitchFamily="49" charset="-122"/>
              </a:rPr>
              <a:t>5PC</a:t>
            </a:r>
            <a:r>
              <a:rPr lang="zh-CN" altLang="en-US" sz="2400" b="1">
                <a:ea typeface="楷体_GB2312" pitchFamily="49" charset="-122"/>
              </a:rPr>
              <a:t>、 </a:t>
            </a:r>
            <a:r>
              <a:rPr lang="en-US" altLang="zh-CN" sz="2400" b="1">
                <a:ea typeface="楷体_GB2312" pitchFamily="49" charset="-122"/>
              </a:rPr>
              <a:t>L</a:t>
            </a:r>
            <a:r>
              <a:rPr lang="en-US" altLang="zh-CN" sz="2400" b="1" baseline="30000">
                <a:ea typeface="楷体_GB2312" pitchFamily="49" charset="-122"/>
              </a:rPr>
              <a:t>6</a:t>
            </a:r>
            <a:r>
              <a:rPr lang="en-US" altLang="zh-CN" sz="2400" b="1">
                <a:ea typeface="楷体_GB2312" pitchFamily="49" charset="-122"/>
              </a:rPr>
              <a:t>6L</a:t>
            </a:r>
            <a:r>
              <a:rPr lang="en-US" altLang="zh-CN" sz="2400" b="1" baseline="30000">
                <a:ea typeface="楷体_GB2312" pitchFamily="49" charset="-122"/>
              </a:rPr>
              <a:t>2</a:t>
            </a:r>
            <a:r>
              <a:rPr lang="en-US" altLang="zh-CN" sz="2400" b="1">
                <a:ea typeface="楷体_GB2312" pitchFamily="49" charset="-122"/>
              </a:rPr>
              <a:t>7PC</a:t>
            </a:r>
            <a:r>
              <a:rPr lang="en-US" altLang="zh-CN" sz="2400" b="1"/>
              <a:t> are represented as </a:t>
            </a:r>
            <a:r>
              <a:rPr lang="en-US" altLang="zh-CN" sz="2400" b="1">
                <a:ea typeface="楷体_GB2312" pitchFamily="49" charset="-122"/>
              </a:rPr>
              <a:t>D</a:t>
            </a:r>
            <a:r>
              <a:rPr lang="en-US" altLang="zh-CN" sz="2400" b="1" baseline="-25000">
                <a:ea typeface="楷体_GB2312" pitchFamily="49" charset="-122"/>
              </a:rPr>
              <a:t>2h</a:t>
            </a:r>
            <a:r>
              <a:rPr lang="zh-CN" altLang="en-US" sz="2400" b="1">
                <a:ea typeface="楷体_GB2312" pitchFamily="49" charset="-122"/>
              </a:rPr>
              <a:t>、</a:t>
            </a:r>
            <a:r>
              <a:rPr lang="en-US" altLang="zh-CN" sz="2400" b="1">
                <a:ea typeface="楷体_GB2312" pitchFamily="49" charset="-122"/>
              </a:rPr>
              <a:t>D</a:t>
            </a:r>
            <a:r>
              <a:rPr lang="en-US" altLang="zh-CN" sz="2400" b="1" baseline="-25000">
                <a:ea typeface="楷体_GB2312" pitchFamily="49" charset="-122"/>
              </a:rPr>
              <a:t>3h</a:t>
            </a:r>
            <a:r>
              <a:rPr lang="zh-CN" altLang="en-US" sz="2400" b="1">
                <a:ea typeface="楷体_GB2312" pitchFamily="49" charset="-122"/>
              </a:rPr>
              <a:t>、</a:t>
            </a:r>
            <a:r>
              <a:rPr lang="en-US" altLang="zh-CN" sz="2400" b="1">
                <a:ea typeface="楷体_GB2312" pitchFamily="49" charset="-122"/>
              </a:rPr>
              <a:t>D</a:t>
            </a:r>
            <a:r>
              <a:rPr lang="en-US" altLang="zh-CN" sz="2400" b="1" baseline="-25000">
                <a:ea typeface="楷体_GB2312" pitchFamily="49" charset="-122"/>
              </a:rPr>
              <a:t>4h</a:t>
            </a:r>
            <a:r>
              <a:rPr lang="zh-CN" altLang="en-US" sz="2400" b="1">
                <a:ea typeface="楷体_GB2312" pitchFamily="49" charset="-122"/>
              </a:rPr>
              <a:t>、</a:t>
            </a:r>
            <a:r>
              <a:rPr lang="zh-CN" altLang="en-US" sz="2400" b="1" baseline="-25000">
                <a:ea typeface="楷体_GB2312" pitchFamily="49" charset="-122"/>
              </a:rPr>
              <a:t> </a:t>
            </a:r>
            <a:r>
              <a:rPr lang="en-US" altLang="zh-CN" sz="2400" b="1">
                <a:ea typeface="楷体_GB2312" pitchFamily="49" charset="-122"/>
              </a:rPr>
              <a:t>D</a:t>
            </a:r>
            <a:r>
              <a:rPr lang="en-US" altLang="zh-CN" sz="2400" b="1" baseline="-25000">
                <a:ea typeface="楷体_GB2312" pitchFamily="49" charset="-122"/>
              </a:rPr>
              <a:t>6h</a:t>
            </a:r>
            <a:r>
              <a:rPr lang="en-US" altLang="zh-CN" sz="2400" b="1">
                <a:ea typeface="楷体_GB2312" pitchFamily="49" charset="-122"/>
              </a:rPr>
              <a:t>.</a:t>
            </a:r>
            <a:endParaRPr lang="zh-CN" altLang="en-US" sz="2400" b="1">
              <a:ea typeface="楷体_GB2312" pitchFamily="49" charset="-122"/>
            </a:endParaRPr>
          </a:p>
          <a:p>
            <a:pPr lvl="1" eaLnBrk="1" hangingPunct="1">
              <a:lnSpc>
                <a:spcPct val="130000"/>
              </a:lnSpc>
              <a:spcBef>
                <a:spcPct val="25000"/>
              </a:spcBef>
              <a:buClr>
                <a:schemeClr val="tx2"/>
              </a:buClr>
              <a:buFont typeface="Wingdings" pitchFamily="2" charset="2"/>
              <a:buChar char="q"/>
            </a:pPr>
            <a:r>
              <a:rPr lang="zh-CN" altLang="en-US" sz="2400" b="1">
                <a:ea typeface="楷体_GB2312" pitchFamily="49" charset="-122"/>
              </a:rPr>
              <a:t> </a:t>
            </a:r>
            <a:r>
              <a:rPr lang="en-US" altLang="zh-CN" sz="2400" b="1" err="1">
                <a:ea typeface="楷体_GB2312" pitchFamily="49" charset="-122"/>
              </a:rPr>
              <a:t>D</a:t>
            </a:r>
            <a:r>
              <a:rPr lang="en-US" altLang="zh-CN" sz="2400" b="1" baseline="-25000" err="1">
                <a:ea typeface="楷体_GB2312" pitchFamily="49" charset="-122"/>
              </a:rPr>
              <a:t>nd</a:t>
            </a:r>
            <a:r>
              <a:rPr lang="en-US" altLang="zh-CN" sz="2400" b="1">
                <a:ea typeface="楷体_GB2312" pitchFamily="49" charset="-122"/>
              </a:rPr>
              <a:t>——</a:t>
            </a:r>
            <a:r>
              <a:rPr lang="en-US" altLang="zh-CN" sz="2400" b="1"/>
              <a:t>represents the symmetry plane does not contain </a:t>
            </a:r>
            <a:r>
              <a:rPr lang="en-US" altLang="zh-CN" sz="2400" b="1">
                <a:ea typeface="楷体_GB2312" pitchFamily="49" charset="-122"/>
              </a:rPr>
              <a:t>L</a:t>
            </a:r>
            <a:r>
              <a:rPr lang="en-US" altLang="zh-CN" sz="2400" b="1" baseline="30000">
                <a:ea typeface="楷体_GB2312" pitchFamily="49" charset="-122"/>
              </a:rPr>
              <a:t>2</a:t>
            </a:r>
            <a:r>
              <a:rPr lang="zh-CN" altLang="en-US" sz="2400" b="1">
                <a:ea typeface="楷体_GB2312" pitchFamily="49" charset="-122"/>
              </a:rPr>
              <a:t>，</a:t>
            </a:r>
            <a:r>
              <a:rPr lang="en-US" altLang="zh-CN" sz="2400" b="1">
                <a:ea typeface="楷体_GB2312" pitchFamily="49" charset="-122"/>
              </a:rPr>
              <a:t>but at the position of equally divided L</a:t>
            </a:r>
            <a:r>
              <a:rPr lang="en-US" altLang="zh-CN" sz="2400" b="1" baseline="30000">
                <a:ea typeface="楷体_GB2312" pitchFamily="49" charset="-122"/>
              </a:rPr>
              <a:t>2</a:t>
            </a:r>
            <a:r>
              <a:rPr lang="zh-CN" altLang="en-US" sz="2400" b="1">
                <a:ea typeface="楷体_GB2312" pitchFamily="49" charset="-122"/>
              </a:rPr>
              <a:t>，</a:t>
            </a:r>
            <a:r>
              <a:rPr lang="en-US" altLang="zh-CN" sz="2400" b="1">
                <a:ea typeface="楷体_GB2312" pitchFamily="49" charset="-122"/>
              </a:rPr>
              <a:t>such as L</a:t>
            </a:r>
            <a:r>
              <a:rPr lang="en-US" altLang="zh-CN" sz="2400" b="1" baseline="-25000">
                <a:ea typeface="楷体_GB2312" pitchFamily="49" charset="-122"/>
              </a:rPr>
              <a:t>i</a:t>
            </a:r>
            <a:r>
              <a:rPr lang="en-US" altLang="zh-CN" sz="2400" b="1" baseline="30000">
                <a:ea typeface="楷体_GB2312" pitchFamily="49" charset="-122"/>
              </a:rPr>
              <a:t>4</a:t>
            </a:r>
            <a:r>
              <a:rPr lang="en-US" altLang="zh-CN" sz="2400" b="1">
                <a:ea typeface="楷体_GB2312" pitchFamily="49" charset="-122"/>
              </a:rPr>
              <a:t>2L</a:t>
            </a:r>
            <a:r>
              <a:rPr lang="en-US" altLang="zh-CN" sz="2400" b="1" baseline="30000">
                <a:ea typeface="楷体_GB2312" pitchFamily="49" charset="-122"/>
              </a:rPr>
              <a:t>2</a:t>
            </a:r>
            <a:r>
              <a:rPr lang="en-US" altLang="zh-CN" sz="2400" b="1">
                <a:ea typeface="楷体_GB2312" pitchFamily="49" charset="-122"/>
              </a:rPr>
              <a:t>2P</a:t>
            </a:r>
            <a:r>
              <a:rPr lang="zh-CN" altLang="en-US" sz="2400" b="1">
                <a:ea typeface="楷体_GB2312" pitchFamily="49" charset="-122"/>
              </a:rPr>
              <a:t>、</a:t>
            </a:r>
            <a:r>
              <a:rPr lang="en-US" altLang="zh-CN" sz="2400" b="1">
                <a:ea typeface="楷体_GB2312" pitchFamily="49" charset="-122"/>
              </a:rPr>
              <a:t>L</a:t>
            </a:r>
            <a:r>
              <a:rPr lang="en-US" altLang="zh-CN" sz="2400" b="1" baseline="30000">
                <a:ea typeface="楷体_GB2312" pitchFamily="49" charset="-122"/>
              </a:rPr>
              <a:t>3</a:t>
            </a:r>
            <a:r>
              <a:rPr lang="en-US" altLang="zh-CN" sz="2400" b="1">
                <a:ea typeface="楷体_GB2312" pitchFamily="49" charset="-122"/>
              </a:rPr>
              <a:t>3L</a:t>
            </a:r>
            <a:r>
              <a:rPr lang="en-US" altLang="zh-CN" sz="2400" b="1" baseline="30000">
                <a:ea typeface="楷体_GB2312" pitchFamily="49" charset="-122"/>
              </a:rPr>
              <a:t>2</a:t>
            </a:r>
            <a:r>
              <a:rPr lang="en-US" altLang="zh-CN" sz="2400" b="1">
                <a:ea typeface="楷体_GB2312" pitchFamily="49" charset="-122"/>
              </a:rPr>
              <a:t>3PC</a:t>
            </a:r>
            <a:r>
              <a:rPr lang="zh-CN" altLang="en-US" sz="2400" b="1">
                <a:ea typeface="楷体_GB2312" pitchFamily="49" charset="-122"/>
              </a:rPr>
              <a:t> </a:t>
            </a:r>
            <a:r>
              <a:rPr lang="en-US" altLang="zh-CN" sz="2400" b="1">
                <a:ea typeface="楷体_GB2312" pitchFamily="49" charset="-122"/>
              </a:rPr>
              <a:t>are represented as D</a:t>
            </a:r>
            <a:r>
              <a:rPr lang="en-US" altLang="zh-CN" sz="2400" b="1" baseline="-25000">
                <a:ea typeface="楷体_GB2312" pitchFamily="49" charset="-122"/>
              </a:rPr>
              <a:t>2d</a:t>
            </a:r>
            <a:r>
              <a:rPr lang="zh-CN" altLang="en-US" sz="2400" b="1">
                <a:ea typeface="楷体_GB2312" pitchFamily="49" charset="-122"/>
              </a:rPr>
              <a:t>、</a:t>
            </a:r>
            <a:r>
              <a:rPr lang="en-US" altLang="zh-CN" sz="2400" b="1">
                <a:ea typeface="楷体_GB2312" pitchFamily="49" charset="-122"/>
              </a:rPr>
              <a:t>D</a:t>
            </a:r>
            <a:r>
              <a:rPr lang="en-US" altLang="zh-CN" sz="2400" b="1" baseline="-25000">
                <a:ea typeface="楷体_GB2312" pitchFamily="49" charset="-122"/>
              </a:rPr>
              <a:t>3d</a:t>
            </a:r>
            <a:r>
              <a:rPr lang="en-US" altLang="zh-CN" sz="2400" b="1">
                <a:ea typeface="楷体_GB2312" pitchFamily="49" charset="-122"/>
              </a:rPr>
              <a:t>.</a:t>
            </a:r>
            <a:endParaRPr lang="zh-CN" altLang="en-US" sz="2400" b="1">
              <a:ea typeface="楷体_GB2312" pitchFamily="49" charset="-122"/>
            </a:endParaRPr>
          </a:p>
        </p:txBody>
      </p:sp>
      <p:sp>
        <p:nvSpPr>
          <p:cNvPr id="98308" name="Rectangle 4"/>
          <p:cNvSpPr>
            <a:spLocks noGrp="1" noChangeArrowheads="1"/>
          </p:cNvSpPr>
          <p:nvPr>
            <p:ph type="title"/>
          </p:nvPr>
        </p:nvSpPr>
        <p:spPr>
          <a:xfrm>
            <a:off x="250825" y="832361"/>
            <a:ext cx="8420546" cy="533400"/>
          </a:xfrm>
        </p:spPr>
        <p:txBody>
          <a:bodyPr/>
          <a:lstStyle/>
          <a:p>
            <a:pPr algn="l" eaLnBrk="1" hangingPunct="1">
              <a:defRPr/>
            </a:pPr>
            <a:r>
              <a:rPr lang="en-US" altLang="zh-CN" sz="4000" b="1">
                <a:solidFill>
                  <a:srgbClr val="FF0066"/>
                </a:solidFill>
                <a:effectLst>
                  <a:outerShdw blurRad="38100" dist="38100" dir="2700000" algn="tl">
                    <a:srgbClr val="000000"/>
                  </a:outerShdw>
                </a:effectLst>
              </a:rPr>
              <a:t>St. Frances symbol of symmetry class</a:t>
            </a:r>
            <a:endParaRPr lang="zh-CN" altLang="en-US" sz="4000" b="1">
              <a:solidFill>
                <a:srgbClr val="FF0066"/>
              </a:solidFill>
              <a:effectLst>
                <a:outerShdw blurRad="38100" dist="38100" dir="2700000" algn="tl">
                  <a:srgbClr val="000000"/>
                </a:outerShdw>
              </a:effectLst>
            </a:endParaRPr>
          </a:p>
        </p:txBody>
      </p:sp>
      <p:sp>
        <p:nvSpPr>
          <p:cNvPr id="61444"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45"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extLst>
      <p:ext uri="{BB962C8B-B14F-4D97-AF65-F5344CB8AC3E}">
        <p14:creationId xmlns:p14="http://schemas.microsoft.com/office/powerpoint/2010/main" val="1775217387"/>
      </p:ext>
    </p:extLst>
  </p:cSld>
  <p:clrMapOvr>
    <a:masterClrMapping/>
  </p:clrMapOvr>
  <p:transition spd="med">
    <p:zo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body" idx="1"/>
          </p:nvPr>
        </p:nvSpPr>
        <p:spPr>
          <a:xfrm>
            <a:off x="539552" y="1844824"/>
            <a:ext cx="7993063" cy="4608785"/>
          </a:xfrm>
          <a:noFill/>
          <a:ln w="57150" cmpd="thinThick">
            <a:noFill/>
            <a:miter lim="800000"/>
            <a:headEnd/>
            <a:tailEnd/>
          </a:ln>
        </p:spPr>
        <p:txBody>
          <a:bodyPr/>
          <a:lstStyle/>
          <a:p>
            <a:pPr lvl="1" eaLnBrk="1" hangingPunct="1">
              <a:lnSpc>
                <a:spcPct val="150000"/>
              </a:lnSpc>
              <a:buClr>
                <a:schemeClr val="tx2"/>
              </a:buClr>
              <a:buFont typeface="Wingdings" pitchFamily="2" charset="2"/>
              <a:buChar char="q"/>
            </a:pPr>
            <a:r>
              <a:rPr lang="en-US" altLang="zh-CN" sz="2400" b="1"/>
              <a:t> </a:t>
            </a:r>
            <a:r>
              <a:rPr lang="en-US" altLang="zh-CN" sz="2400" b="1" err="1"/>
              <a:t>i</a:t>
            </a:r>
            <a:r>
              <a:rPr lang="en-US" altLang="zh-CN" sz="2400" b="1"/>
              <a:t>——represents </a:t>
            </a:r>
            <a:r>
              <a:rPr lang="en-US" altLang="zh-CN" sz="2400" b="1" err="1"/>
              <a:t>rotoinversion</a:t>
            </a:r>
            <a:r>
              <a:rPr lang="zh-CN" altLang="en-US" sz="2400" b="1"/>
              <a:t>，</a:t>
            </a:r>
            <a:r>
              <a:rPr lang="en-US" altLang="zh-CN" sz="2400" b="1"/>
              <a:t>such as C</a:t>
            </a:r>
            <a:r>
              <a:rPr lang="en-US" altLang="zh-CN" sz="2400" b="1" baseline="-25000"/>
              <a:t>i </a:t>
            </a:r>
            <a:r>
              <a:rPr lang="en-US" altLang="zh-CN" sz="2400" b="1"/>
              <a:t>represents onefold rotoinversion axis which equals to symmetry center C</a:t>
            </a:r>
            <a:r>
              <a:rPr lang="zh-CN" altLang="en-US" sz="2400" b="1"/>
              <a:t>，</a:t>
            </a:r>
            <a:r>
              <a:rPr lang="en-US" altLang="zh-CN" sz="2400" b="1"/>
              <a:t>C</a:t>
            </a:r>
            <a:r>
              <a:rPr lang="en-US" altLang="zh-CN" sz="2400" b="1" baseline="-25000"/>
              <a:t>3i</a:t>
            </a:r>
            <a:r>
              <a:rPr lang="zh-CN" altLang="en-US" sz="2400" b="1"/>
              <a:t> </a:t>
            </a:r>
            <a:r>
              <a:rPr lang="en-US" altLang="zh-CN" sz="2400" b="1"/>
              <a:t>represents threefold rotoinversion axis L</a:t>
            </a:r>
            <a:r>
              <a:rPr lang="en-US" altLang="zh-CN" sz="2400" b="1" baseline="-25000"/>
              <a:t>i</a:t>
            </a:r>
            <a:r>
              <a:rPr lang="en-US" altLang="zh-CN" sz="2400" b="1" baseline="30000"/>
              <a:t>3</a:t>
            </a:r>
            <a:r>
              <a:rPr lang="zh-CN" altLang="en-US" sz="2400" b="1" baseline="30000"/>
              <a:t> </a:t>
            </a:r>
            <a:r>
              <a:rPr lang="en-US" altLang="zh-CN" sz="2400" b="1"/>
              <a:t>which equals to L</a:t>
            </a:r>
            <a:r>
              <a:rPr lang="en-US" altLang="zh-CN" sz="2400" b="1" baseline="30000"/>
              <a:t>3</a:t>
            </a:r>
            <a:r>
              <a:rPr lang="en-US" altLang="zh-CN" sz="2400" b="1"/>
              <a:t>C.</a:t>
            </a:r>
            <a:endParaRPr lang="zh-CN" altLang="en-US" sz="2400" b="1"/>
          </a:p>
          <a:p>
            <a:pPr lvl="1" eaLnBrk="1" hangingPunct="1">
              <a:lnSpc>
                <a:spcPct val="150000"/>
              </a:lnSpc>
              <a:buClr>
                <a:schemeClr val="tx2"/>
              </a:buClr>
              <a:buFont typeface="Wingdings" pitchFamily="2" charset="2"/>
              <a:buChar char="q"/>
            </a:pPr>
            <a:r>
              <a:rPr lang="zh-CN" altLang="en-US" sz="2400" b="1"/>
              <a:t> </a:t>
            </a:r>
            <a:r>
              <a:rPr lang="en-US" altLang="zh-CN" sz="2400" b="1"/>
              <a:t>S——represents </a:t>
            </a:r>
            <a:r>
              <a:rPr lang="en-US" altLang="zh-CN" sz="2400" b="1" err="1"/>
              <a:t>rotoreflection</a:t>
            </a:r>
            <a:r>
              <a:rPr lang="zh-CN" altLang="en-US" sz="2400" b="1"/>
              <a:t>，</a:t>
            </a:r>
            <a:r>
              <a:rPr lang="en-US" altLang="zh-CN" sz="2400" b="1"/>
              <a:t>such</a:t>
            </a:r>
            <a:r>
              <a:rPr lang="zh-CN" altLang="en-US" sz="2400" b="1"/>
              <a:t> </a:t>
            </a:r>
            <a:r>
              <a:rPr lang="en-US" altLang="zh-CN" sz="2400" b="1"/>
              <a:t>as</a:t>
            </a:r>
            <a:r>
              <a:rPr lang="zh-CN" altLang="en-US" sz="2400" b="1"/>
              <a:t> </a:t>
            </a:r>
            <a:r>
              <a:rPr lang="en-US" altLang="zh-CN" sz="2400" b="1"/>
              <a:t>C</a:t>
            </a:r>
            <a:r>
              <a:rPr lang="en-US" altLang="zh-CN" sz="2400" b="1" baseline="-25000"/>
              <a:t>s </a:t>
            </a:r>
            <a:r>
              <a:rPr lang="en-US" altLang="zh-CN" sz="2400" b="1"/>
              <a:t>represents L</a:t>
            </a:r>
            <a:r>
              <a:rPr lang="en-US" altLang="zh-CN" sz="2400" b="1" baseline="-25000"/>
              <a:t>s</a:t>
            </a:r>
            <a:r>
              <a:rPr lang="en-US" altLang="zh-CN" sz="2400" b="1" baseline="30000"/>
              <a:t>1</a:t>
            </a:r>
            <a:r>
              <a:rPr lang="en-US" altLang="zh-CN" sz="2400" b="1"/>
              <a:t>=P=</a:t>
            </a:r>
            <a:r>
              <a:rPr lang="en-US" altLang="zh-CN" sz="2400" b="1" err="1"/>
              <a:t>C</a:t>
            </a:r>
            <a:r>
              <a:rPr lang="en-US" altLang="zh-CN" sz="2400" b="1" baseline="-25000" err="1"/>
              <a:t>lh</a:t>
            </a:r>
            <a:r>
              <a:rPr lang="zh-CN" altLang="en-US" sz="2400" b="1"/>
              <a:t>；</a:t>
            </a:r>
            <a:r>
              <a:rPr lang="en-US" altLang="zh-CN" sz="2400" b="1"/>
              <a:t>L</a:t>
            </a:r>
            <a:r>
              <a:rPr lang="en-US" altLang="zh-CN" sz="2400" b="1" baseline="-25000"/>
              <a:t>s</a:t>
            </a:r>
            <a:r>
              <a:rPr lang="en-US" altLang="zh-CN" sz="2400" b="1" baseline="30000"/>
              <a:t>2</a:t>
            </a:r>
            <a:r>
              <a:rPr lang="en-US" altLang="zh-CN" sz="2400" b="1"/>
              <a:t>=C=C</a:t>
            </a:r>
            <a:r>
              <a:rPr lang="en-US" altLang="zh-CN" sz="2400" b="1" baseline="-25000"/>
              <a:t>i</a:t>
            </a:r>
            <a:r>
              <a:rPr lang="zh-CN" altLang="en-US" sz="2400" b="1"/>
              <a:t>。</a:t>
            </a:r>
            <a:r>
              <a:rPr lang="en-US" altLang="zh-CN" sz="2400" b="1"/>
              <a:t>S</a:t>
            </a:r>
            <a:r>
              <a:rPr lang="en-US" altLang="zh-CN" sz="2400" b="1" baseline="-25000"/>
              <a:t>4</a:t>
            </a:r>
            <a:r>
              <a:rPr lang="zh-CN" altLang="en-US" sz="2400" b="1"/>
              <a:t> </a:t>
            </a:r>
            <a:r>
              <a:rPr lang="en-US" altLang="zh-CN" sz="2400" b="1"/>
              <a:t>represents L</a:t>
            </a:r>
            <a:r>
              <a:rPr lang="en-US" altLang="zh-CN" sz="2400" b="1" baseline="-25000"/>
              <a:t>s</a:t>
            </a:r>
            <a:r>
              <a:rPr lang="en-US" altLang="zh-CN" sz="2400" b="1" baseline="30000"/>
              <a:t>4</a:t>
            </a:r>
            <a:r>
              <a:rPr lang="en-US" altLang="zh-CN" sz="2400" b="1"/>
              <a:t> =L</a:t>
            </a:r>
            <a:r>
              <a:rPr lang="en-US" altLang="zh-CN" sz="2400" b="1" baseline="-25000"/>
              <a:t>i</a:t>
            </a:r>
            <a:r>
              <a:rPr lang="en-US" altLang="zh-CN" sz="2400" b="1" baseline="30000"/>
              <a:t>4</a:t>
            </a:r>
            <a:r>
              <a:rPr lang="zh-CN" altLang="en-US" sz="2400" b="1"/>
              <a:t>，</a:t>
            </a:r>
            <a:r>
              <a:rPr lang="en-US" altLang="zh-CN" sz="2400" b="1"/>
              <a:t>S</a:t>
            </a:r>
            <a:r>
              <a:rPr lang="en-US" altLang="zh-CN" sz="2400" b="1" baseline="-25000"/>
              <a:t>6</a:t>
            </a:r>
            <a:r>
              <a:rPr lang="zh-CN" altLang="en-US" sz="2400" b="1"/>
              <a:t> </a:t>
            </a:r>
            <a:r>
              <a:rPr lang="en-US" altLang="zh-CN" sz="2400" b="1"/>
              <a:t>represents L</a:t>
            </a:r>
            <a:r>
              <a:rPr lang="en-US" altLang="zh-CN" sz="2400" b="1" baseline="-25000"/>
              <a:t>s</a:t>
            </a:r>
            <a:r>
              <a:rPr lang="en-US" altLang="zh-CN" sz="2400" b="1" baseline="30000"/>
              <a:t>6</a:t>
            </a:r>
            <a:r>
              <a:rPr lang="en-US" altLang="zh-CN" sz="2400" b="1"/>
              <a:t>=L</a:t>
            </a:r>
            <a:r>
              <a:rPr lang="en-US" altLang="zh-CN" sz="2400" b="1" baseline="30000"/>
              <a:t>3</a:t>
            </a:r>
            <a:r>
              <a:rPr lang="en-US" altLang="zh-CN" sz="2400" b="1"/>
              <a:t>C</a:t>
            </a:r>
          </a:p>
          <a:p>
            <a:pPr lvl="1" eaLnBrk="1" hangingPunct="1">
              <a:lnSpc>
                <a:spcPct val="150000"/>
              </a:lnSpc>
              <a:buClr>
                <a:schemeClr val="tx2"/>
              </a:buClr>
              <a:buFont typeface="Wingdings" pitchFamily="2" charset="2"/>
              <a:buChar char="q"/>
            </a:pPr>
            <a:r>
              <a:rPr lang="en-US" altLang="zh-CN" sz="2400" b="1"/>
              <a:t> D</a:t>
            </a:r>
            <a:r>
              <a:rPr lang="en-US" altLang="zh-CN" sz="2400" b="1" baseline="-25000"/>
              <a:t>2</a:t>
            </a:r>
            <a:r>
              <a:rPr lang="zh-CN" altLang="en-US" sz="2400" b="1"/>
              <a:t> </a:t>
            </a:r>
            <a:r>
              <a:rPr lang="en-US" altLang="zh-CN" sz="2400" b="1"/>
              <a:t>is represented by V</a:t>
            </a:r>
            <a:r>
              <a:rPr lang="zh-CN" altLang="en-US" sz="2400" b="1"/>
              <a:t>，</a:t>
            </a:r>
            <a:r>
              <a:rPr lang="en-US" altLang="zh-CN" sz="2400" b="1"/>
              <a:t>V= D</a:t>
            </a:r>
            <a:r>
              <a:rPr lang="en-US" altLang="zh-CN" sz="2400" b="1" baseline="-25000"/>
              <a:t>2</a:t>
            </a:r>
            <a:r>
              <a:rPr lang="zh-CN" altLang="en-US" sz="2400" b="1"/>
              <a:t>、</a:t>
            </a:r>
            <a:r>
              <a:rPr lang="en-US" altLang="zh-CN" sz="2400" b="1" err="1"/>
              <a:t>V</a:t>
            </a:r>
            <a:r>
              <a:rPr lang="en-US" altLang="zh-CN" sz="2400" b="1" baseline="-25000" err="1"/>
              <a:t>h</a:t>
            </a:r>
            <a:r>
              <a:rPr lang="en-US" altLang="zh-CN" sz="2400" b="1"/>
              <a:t>= D</a:t>
            </a:r>
            <a:r>
              <a:rPr lang="en-US" altLang="zh-CN" sz="2400" b="1" baseline="-25000"/>
              <a:t>2h</a:t>
            </a:r>
            <a:r>
              <a:rPr lang="zh-CN" altLang="en-US" sz="2400" b="1"/>
              <a:t>、</a:t>
            </a:r>
            <a:r>
              <a:rPr lang="en-US" altLang="zh-CN" sz="2400" b="1" err="1"/>
              <a:t>V</a:t>
            </a:r>
            <a:r>
              <a:rPr lang="en-US" altLang="zh-CN" sz="2400" b="1" baseline="-25000" err="1"/>
              <a:t>d</a:t>
            </a:r>
            <a:r>
              <a:rPr lang="en-US" altLang="zh-CN" sz="2400" b="1"/>
              <a:t>= D</a:t>
            </a:r>
            <a:r>
              <a:rPr lang="en-US" altLang="zh-CN" sz="2400" b="1" baseline="-25000"/>
              <a:t>2d</a:t>
            </a:r>
            <a:r>
              <a:rPr lang="en-US" altLang="zh-CN" sz="2400" b="1"/>
              <a:t>.</a:t>
            </a:r>
            <a:endParaRPr lang="zh-CN" altLang="en-US" sz="2400" b="1"/>
          </a:p>
        </p:txBody>
      </p:sp>
      <p:sp>
        <p:nvSpPr>
          <p:cNvPr id="99332" name="Rectangle 4"/>
          <p:cNvSpPr>
            <a:spLocks noGrp="1" noChangeArrowheads="1"/>
          </p:cNvSpPr>
          <p:nvPr>
            <p:ph type="title"/>
          </p:nvPr>
        </p:nvSpPr>
        <p:spPr>
          <a:xfrm>
            <a:off x="395536" y="995363"/>
            <a:ext cx="8528050" cy="533400"/>
          </a:xfrm>
        </p:spPr>
        <p:txBody>
          <a:bodyPr/>
          <a:lstStyle/>
          <a:p>
            <a:pPr algn="l" eaLnBrk="1" hangingPunct="1">
              <a:defRPr/>
            </a:pPr>
            <a:r>
              <a:rPr lang="en-US" altLang="zh-CN" sz="4000" b="1">
                <a:solidFill>
                  <a:srgbClr val="FF0066"/>
                </a:solidFill>
                <a:effectLst>
                  <a:outerShdw blurRad="38100" dist="38100" dir="2700000" algn="tl">
                    <a:srgbClr val="000000"/>
                  </a:outerShdw>
                </a:effectLst>
              </a:rPr>
              <a:t>St. Frances symbol of symmetry class</a:t>
            </a:r>
            <a:endParaRPr lang="zh-CN" altLang="en-US" sz="4000" b="1">
              <a:solidFill>
                <a:srgbClr val="FF0066"/>
              </a:solidFill>
              <a:effectLst>
                <a:outerShdw blurRad="38100" dist="38100" dir="2700000" algn="tl">
                  <a:srgbClr val="000000"/>
                </a:outerShdw>
              </a:effectLst>
            </a:endParaRPr>
          </a:p>
        </p:txBody>
      </p:sp>
      <p:sp>
        <p:nvSpPr>
          <p:cNvPr id="62468"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69"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extLst>
      <p:ext uri="{BB962C8B-B14F-4D97-AF65-F5344CB8AC3E}">
        <p14:creationId xmlns:p14="http://schemas.microsoft.com/office/powerpoint/2010/main" val="1909688005"/>
      </p:ext>
    </p:extLst>
  </p:cSld>
  <p:clrMapOvr>
    <a:masterClrMapping/>
  </p:clrMapOvr>
  <p:transition spd="med">
    <p:zo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body" idx="1"/>
          </p:nvPr>
        </p:nvSpPr>
        <p:spPr>
          <a:xfrm>
            <a:off x="251520" y="1772816"/>
            <a:ext cx="8747125" cy="4968254"/>
          </a:xfrm>
          <a:noFill/>
          <a:ln w="57150" cmpd="thinThick">
            <a:noFill/>
            <a:miter lim="800000"/>
            <a:headEnd/>
            <a:tailEnd/>
          </a:ln>
        </p:spPr>
        <p:txBody>
          <a:bodyPr/>
          <a:lstStyle/>
          <a:p>
            <a:pPr lvl="1" eaLnBrk="1" hangingPunct="1">
              <a:lnSpc>
                <a:spcPct val="120000"/>
              </a:lnSpc>
              <a:spcBef>
                <a:spcPct val="40000"/>
              </a:spcBef>
              <a:buClr>
                <a:schemeClr val="tx2"/>
              </a:buClr>
              <a:buFont typeface="Wingdings" pitchFamily="2" charset="2"/>
              <a:buChar char="q"/>
            </a:pPr>
            <a:r>
              <a:rPr lang="en-US" altLang="zh-CN" sz="2400" b="1"/>
              <a:t> T——represents the combination of symmetry axes in tetrahedron 3 L</a:t>
            </a:r>
            <a:r>
              <a:rPr lang="en-US" altLang="zh-CN" sz="2400" b="1" baseline="30000"/>
              <a:t>2</a:t>
            </a:r>
            <a:r>
              <a:rPr lang="en-US" altLang="zh-CN" sz="2400" b="1"/>
              <a:t>4 L</a:t>
            </a:r>
            <a:r>
              <a:rPr lang="en-US" altLang="zh-CN" sz="2400" b="1" baseline="30000"/>
              <a:t>3</a:t>
            </a:r>
            <a:r>
              <a:rPr lang="zh-CN" altLang="en-US" sz="2400" b="1"/>
              <a:t>。</a:t>
            </a:r>
          </a:p>
          <a:p>
            <a:pPr lvl="1" eaLnBrk="1" hangingPunct="1">
              <a:lnSpc>
                <a:spcPct val="120000"/>
              </a:lnSpc>
              <a:spcBef>
                <a:spcPct val="40000"/>
              </a:spcBef>
              <a:buClr>
                <a:schemeClr val="tx2"/>
              </a:buClr>
              <a:buFont typeface="Wingdings" pitchFamily="2" charset="2"/>
              <a:buChar char="q"/>
            </a:pPr>
            <a:r>
              <a:rPr lang="zh-CN" altLang="en-US" sz="2400" b="1"/>
              <a:t> </a:t>
            </a:r>
            <a:r>
              <a:rPr lang="en-US" altLang="zh-CN" sz="2400" b="1"/>
              <a:t>T</a:t>
            </a:r>
            <a:r>
              <a:rPr lang="en-US" altLang="zh-CN" sz="2400" b="1" baseline="-25000"/>
              <a:t>h</a:t>
            </a:r>
            <a:r>
              <a:rPr lang="en-US" altLang="zh-CN" sz="2400" b="1"/>
              <a:t>——represents 3L</a:t>
            </a:r>
            <a:r>
              <a:rPr lang="en-US" altLang="zh-CN" sz="2400" b="1" baseline="30000"/>
              <a:t>2</a:t>
            </a:r>
            <a:r>
              <a:rPr lang="en-US" altLang="zh-CN" sz="2400" b="1"/>
              <a:t>4L</a:t>
            </a:r>
            <a:r>
              <a:rPr lang="en-US" altLang="zh-CN" sz="2400" b="1" baseline="30000"/>
              <a:t>3</a:t>
            </a:r>
            <a:r>
              <a:rPr lang="en-US" altLang="zh-CN" sz="2400" b="1"/>
              <a:t>3PC obtained by adding horizontal symmetry plane 3L</a:t>
            </a:r>
            <a:r>
              <a:rPr lang="en-US" altLang="zh-CN" sz="2400" b="1" baseline="30000"/>
              <a:t>2</a:t>
            </a:r>
            <a:r>
              <a:rPr lang="en-US" altLang="zh-CN" sz="2400" b="1"/>
              <a:t>4L</a:t>
            </a:r>
            <a:r>
              <a:rPr lang="en-US" altLang="zh-CN" sz="2400" b="1" baseline="30000"/>
              <a:t>3</a:t>
            </a:r>
            <a:r>
              <a:rPr lang="en-US" altLang="zh-CN" sz="2400" b="1"/>
              <a:t>.</a:t>
            </a:r>
            <a:endParaRPr lang="zh-CN" altLang="en-US" sz="2400" b="1"/>
          </a:p>
          <a:p>
            <a:pPr lvl="1" eaLnBrk="1" hangingPunct="1">
              <a:lnSpc>
                <a:spcPct val="120000"/>
              </a:lnSpc>
              <a:spcBef>
                <a:spcPct val="40000"/>
              </a:spcBef>
              <a:buClr>
                <a:schemeClr val="tx2"/>
              </a:buClr>
              <a:buFont typeface="Wingdings" pitchFamily="2" charset="2"/>
              <a:buChar char="q"/>
            </a:pPr>
            <a:r>
              <a:rPr lang="zh-CN" altLang="en-US" sz="2400" b="1"/>
              <a:t> </a:t>
            </a:r>
            <a:r>
              <a:rPr lang="en-US" altLang="zh-CN" sz="2400" b="1"/>
              <a:t>T</a:t>
            </a:r>
            <a:r>
              <a:rPr lang="en-US" altLang="zh-CN" sz="2400" b="1" baseline="-25000"/>
              <a:t>d</a:t>
            </a:r>
            <a:r>
              <a:rPr lang="en-US" altLang="zh-CN" sz="2400" b="1"/>
              <a:t>——represents 3L</a:t>
            </a:r>
            <a:r>
              <a:rPr lang="en-US" altLang="zh-CN" sz="2400" b="1" baseline="-25000"/>
              <a:t>i</a:t>
            </a:r>
            <a:r>
              <a:rPr lang="en-US" altLang="zh-CN" sz="2400" b="1" baseline="30000"/>
              <a:t>4</a:t>
            </a:r>
            <a:r>
              <a:rPr lang="en-US" altLang="zh-CN" sz="2400" b="1"/>
              <a:t>4L</a:t>
            </a:r>
            <a:r>
              <a:rPr lang="en-US" altLang="zh-CN" sz="2400" b="1" baseline="30000"/>
              <a:t>3</a:t>
            </a:r>
            <a:r>
              <a:rPr lang="en-US" altLang="zh-CN" sz="2400" b="1"/>
              <a:t>6P obtained by adding diagonal (the direction equally dividing L</a:t>
            </a:r>
            <a:r>
              <a:rPr lang="en-US" altLang="zh-CN" sz="2400" b="1" baseline="30000"/>
              <a:t>2</a:t>
            </a:r>
            <a:r>
              <a:rPr lang="en-US" altLang="zh-CN" sz="2400" b="1"/>
              <a:t>) symmetry plane 3L</a:t>
            </a:r>
            <a:r>
              <a:rPr lang="en-US" altLang="zh-CN" sz="2400" b="1" baseline="30000"/>
              <a:t>2</a:t>
            </a:r>
            <a:r>
              <a:rPr lang="en-US" altLang="zh-CN" sz="2400" b="1"/>
              <a:t>4L</a:t>
            </a:r>
            <a:r>
              <a:rPr lang="en-US" altLang="zh-CN" sz="2400" b="1" baseline="30000"/>
              <a:t>3</a:t>
            </a:r>
            <a:r>
              <a:rPr lang="zh-CN" altLang="en-US" sz="2400" b="1"/>
              <a:t>。</a:t>
            </a:r>
          </a:p>
          <a:p>
            <a:pPr lvl="1" eaLnBrk="1" hangingPunct="1">
              <a:lnSpc>
                <a:spcPct val="120000"/>
              </a:lnSpc>
              <a:spcBef>
                <a:spcPct val="40000"/>
              </a:spcBef>
              <a:buClr>
                <a:schemeClr val="tx2"/>
              </a:buClr>
              <a:buFont typeface="Wingdings" pitchFamily="2" charset="2"/>
              <a:buChar char="q"/>
            </a:pPr>
            <a:r>
              <a:rPr lang="zh-CN" altLang="en-US" sz="2400" b="1"/>
              <a:t> </a:t>
            </a:r>
            <a:r>
              <a:rPr lang="en-US" altLang="zh-CN" sz="2400" b="1"/>
              <a:t>O——represents a combination of symmetry axes in octahedron 3L</a:t>
            </a:r>
            <a:r>
              <a:rPr lang="en-US" altLang="zh-CN" sz="2400" b="1" baseline="30000"/>
              <a:t>4</a:t>
            </a:r>
            <a:r>
              <a:rPr lang="en-US" altLang="zh-CN" sz="2400" b="1"/>
              <a:t>4L</a:t>
            </a:r>
            <a:r>
              <a:rPr lang="en-US" altLang="zh-CN" sz="2400" b="1" baseline="30000"/>
              <a:t>3</a:t>
            </a:r>
            <a:r>
              <a:rPr lang="en-US" altLang="zh-CN" sz="2400" b="1"/>
              <a:t>6 L</a:t>
            </a:r>
            <a:r>
              <a:rPr lang="en-US" altLang="zh-CN" sz="2400" b="1" baseline="30000"/>
              <a:t>2</a:t>
            </a:r>
            <a:r>
              <a:rPr lang="en-US" altLang="zh-CN" sz="2400" b="1" baseline="-25000"/>
              <a:t>.</a:t>
            </a:r>
            <a:endParaRPr lang="zh-CN" altLang="en-US" sz="2400" b="1"/>
          </a:p>
          <a:p>
            <a:pPr lvl="1" eaLnBrk="1" hangingPunct="1">
              <a:lnSpc>
                <a:spcPct val="120000"/>
              </a:lnSpc>
              <a:spcBef>
                <a:spcPct val="40000"/>
              </a:spcBef>
              <a:buClr>
                <a:schemeClr val="tx2"/>
              </a:buClr>
              <a:buFont typeface="Wingdings" pitchFamily="2" charset="2"/>
              <a:buChar char="q"/>
            </a:pPr>
            <a:r>
              <a:rPr lang="zh-CN" altLang="en-US" sz="2400" b="1"/>
              <a:t> </a:t>
            </a:r>
            <a:r>
              <a:rPr lang="en-US" altLang="zh-CN" sz="2400" b="1"/>
              <a:t>O</a:t>
            </a:r>
            <a:r>
              <a:rPr lang="en-US" altLang="zh-CN" sz="2400" b="1" baseline="-25000"/>
              <a:t>h</a:t>
            </a:r>
            <a:r>
              <a:rPr lang="en-US" altLang="zh-CN" sz="2400" b="1"/>
              <a:t>——represents 3L</a:t>
            </a:r>
            <a:r>
              <a:rPr lang="en-US" altLang="zh-CN" sz="2400" b="1" baseline="30000"/>
              <a:t>4</a:t>
            </a:r>
            <a:r>
              <a:rPr lang="en-US" altLang="zh-CN" sz="2400" b="1"/>
              <a:t>4L</a:t>
            </a:r>
            <a:r>
              <a:rPr lang="en-US" altLang="zh-CN" sz="2400" b="1" baseline="30000"/>
              <a:t>3</a:t>
            </a:r>
            <a:r>
              <a:rPr lang="en-US" altLang="zh-CN" sz="2400" b="1"/>
              <a:t>6L</a:t>
            </a:r>
            <a:r>
              <a:rPr lang="en-US" altLang="zh-CN" sz="2400" b="1" baseline="30000"/>
              <a:t>2</a:t>
            </a:r>
            <a:r>
              <a:rPr lang="en-US" altLang="zh-CN" sz="2400" b="1"/>
              <a:t>9PC obtained by adding horizontal symmetry plane 3L</a:t>
            </a:r>
            <a:r>
              <a:rPr lang="en-US" altLang="zh-CN" sz="2400" b="1" baseline="30000"/>
              <a:t>4</a:t>
            </a:r>
            <a:r>
              <a:rPr lang="en-US" altLang="zh-CN" sz="2400" b="1"/>
              <a:t>4L</a:t>
            </a:r>
            <a:r>
              <a:rPr lang="en-US" altLang="zh-CN" sz="2400" b="1" baseline="30000"/>
              <a:t>3</a:t>
            </a:r>
            <a:r>
              <a:rPr lang="en-US" altLang="zh-CN" sz="2400" b="1"/>
              <a:t>6 L</a:t>
            </a:r>
            <a:r>
              <a:rPr lang="en-US" altLang="zh-CN" sz="2400" b="1" baseline="30000"/>
              <a:t>2</a:t>
            </a:r>
            <a:r>
              <a:rPr lang="en-US" altLang="zh-CN" sz="2400" b="1" baseline="-25000"/>
              <a:t>.</a:t>
            </a:r>
            <a:endParaRPr lang="zh-CN" altLang="en-US" sz="2400" b="1"/>
          </a:p>
        </p:txBody>
      </p:sp>
      <p:sp>
        <p:nvSpPr>
          <p:cNvPr id="100356" name="Rectangle 4"/>
          <p:cNvSpPr>
            <a:spLocks noGrp="1" noChangeArrowheads="1"/>
          </p:cNvSpPr>
          <p:nvPr>
            <p:ph type="title"/>
          </p:nvPr>
        </p:nvSpPr>
        <p:spPr>
          <a:xfrm>
            <a:off x="476316" y="1043781"/>
            <a:ext cx="8420670" cy="533400"/>
          </a:xfrm>
        </p:spPr>
        <p:txBody>
          <a:bodyPr/>
          <a:lstStyle/>
          <a:p>
            <a:pPr algn="l" eaLnBrk="1" hangingPunct="1">
              <a:defRPr/>
            </a:pPr>
            <a:r>
              <a:rPr lang="en-US" altLang="zh-CN" sz="4000" b="1">
                <a:solidFill>
                  <a:srgbClr val="FF0066"/>
                </a:solidFill>
                <a:effectLst>
                  <a:outerShdw blurRad="38100" dist="38100" dir="2700000" algn="tl">
                    <a:srgbClr val="000000"/>
                  </a:outerShdw>
                </a:effectLst>
              </a:rPr>
              <a:t>St. Frances symbol of symmetry class</a:t>
            </a:r>
            <a:endParaRPr lang="zh-CN" altLang="en-US" sz="4000" b="1">
              <a:solidFill>
                <a:srgbClr val="FF0066"/>
              </a:solidFill>
              <a:effectLst>
                <a:outerShdw blurRad="38100" dist="38100" dir="2700000" algn="tl">
                  <a:srgbClr val="000000"/>
                </a:outerShdw>
              </a:effectLst>
            </a:endParaRPr>
          </a:p>
        </p:txBody>
      </p:sp>
      <p:sp>
        <p:nvSpPr>
          <p:cNvPr id="63492" name="Line 5"/>
          <p:cNvSpPr>
            <a:spLocks noChangeShapeType="1"/>
          </p:cNvSpPr>
          <p:nvPr/>
        </p:nvSpPr>
        <p:spPr bwMode="auto">
          <a:xfrm>
            <a:off x="1066800" y="6096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3" name="Text Box 6"/>
          <p:cNvSpPr txBox="1">
            <a:spLocks noChangeArrowheads="1"/>
          </p:cNvSpPr>
          <p:nvPr/>
        </p:nvSpPr>
        <p:spPr bwMode="auto">
          <a:xfrm>
            <a:off x="971550" y="223838"/>
            <a:ext cx="2592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b="0">
                <a:solidFill>
                  <a:srgbClr val="9900FF"/>
                </a:solidFill>
              </a:rPr>
              <a:t>Crystallography</a:t>
            </a:r>
            <a:endParaRPr lang="zh-CN" altLang="en-US" sz="2000" b="0">
              <a:solidFill>
                <a:srgbClr val="9900FF"/>
              </a:solidFill>
            </a:endParaRPr>
          </a:p>
        </p:txBody>
      </p:sp>
    </p:spTree>
    <p:extLst>
      <p:ext uri="{BB962C8B-B14F-4D97-AF65-F5344CB8AC3E}">
        <p14:creationId xmlns:p14="http://schemas.microsoft.com/office/powerpoint/2010/main" val="149564298"/>
      </p:ext>
    </p:extLst>
  </p:cSld>
  <p:clrMapOvr>
    <a:masterClrMapping/>
  </p:clrMapOvr>
  <p:transition spd="med">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11188" y="476250"/>
            <a:ext cx="8075612" cy="865188"/>
          </a:xfrm>
        </p:spPr>
        <p:txBody>
          <a:bodyPr/>
          <a:lstStyle/>
          <a:p>
            <a:pPr eaLnBrk="1" hangingPunct="1">
              <a:defRPr/>
            </a:pPr>
            <a:r>
              <a:rPr lang="en-US" altLang="zh-CN" b="1">
                <a:solidFill>
                  <a:srgbClr val="FF0000"/>
                </a:solidFill>
                <a:effectLst>
                  <a:outerShdw blurRad="38100" dist="38100" dir="2700000" algn="tl">
                    <a:srgbClr val="000000"/>
                  </a:outerShdw>
                </a:effectLst>
              </a:rPr>
              <a:t>7. Classification of quasi-crystal</a:t>
            </a:r>
            <a:endParaRPr lang="zh-CN" altLang="en-US" b="1">
              <a:solidFill>
                <a:srgbClr val="FF0000"/>
              </a:solidFill>
              <a:effectLst>
                <a:outerShdw blurRad="38100" dist="38100" dir="2700000" algn="tl">
                  <a:srgbClr val="000000"/>
                </a:outerShdw>
              </a:effectLst>
            </a:endParaRPr>
          </a:p>
        </p:txBody>
      </p:sp>
      <p:sp>
        <p:nvSpPr>
          <p:cNvPr id="64515" name="Rectangle 3"/>
          <p:cNvSpPr>
            <a:spLocks noGrp="1" noChangeArrowheads="1"/>
          </p:cNvSpPr>
          <p:nvPr>
            <p:ph type="body" idx="1"/>
          </p:nvPr>
        </p:nvSpPr>
        <p:spPr>
          <a:xfrm>
            <a:off x="3999662" y="3221831"/>
            <a:ext cx="4678362" cy="647700"/>
          </a:xfrm>
        </p:spPr>
        <p:txBody>
          <a:bodyPr/>
          <a:lstStyle/>
          <a:p>
            <a:pPr eaLnBrk="1" hangingPunct="1">
              <a:lnSpc>
                <a:spcPct val="80000"/>
              </a:lnSpc>
              <a:buFontTx/>
              <a:buNone/>
            </a:pPr>
            <a:r>
              <a:rPr lang="en-US" altLang="zh-CN" sz="2800" b="1"/>
              <a:t>Self learning</a:t>
            </a:r>
            <a:endParaRPr lang="zh-CN" altLang="en-US" sz="2800" b="1"/>
          </a:p>
          <a:p>
            <a:pPr eaLnBrk="1" hangingPunct="1">
              <a:lnSpc>
                <a:spcPct val="80000"/>
              </a:lnSpc>
              <a:buFontTx/>
              <a:buNone/>
            </a:pPr>
            <a:endParaRPr lang="zh-CN" altLang="en-US" sz="2800" b="1"/>
          </a:p>
          <a:p>
            <a:pPr eaLnBrk="1" hangingPunct="1">
              <a:lnSpc>
                <a:spcPct val="80000"/>
              </a:lnSpc>
              <a:buFontTx/>
              <a:buNone/>
            </a:pPr>
            <a:endParaRPr lang="zh-CN" altLang="en-US" sz="2800" b="1"/>
          </a:p>
          <a:p>
            <a:pPr eaLnBrk="1" hangingPunct="1">
              <a:lnSpc>
                <a:spcPct val="80000"/>
              </a:lnSpc>
              <a:buFontTx/>
              <a:buNone/>
            </a:pPr>
            <a:endParaRPr lang="zh-CN" altLang="en-US" sz="2800" b="1"/>
          </a:p>
          <a:p>
            <a:pPr eaLnBrk="1" hangingPunct="1">
              <a:lnSpc>
                <a:spcPct val="80000"/>
              </a:lnSpc>
              <a:buFontTx/>
              <a:buNone/>
            </a:pPr>
            <a:endParaRPr lang="zh-CN" altLang="en-US" sz="2800" b="1"/>
          </a:p>
          <a:p>
            <a:pPr eaLnBrk="1" hangingPunct="1">
              <a:lnSpc>
                <a:spcPct val="80000"/>
              </a:lnSpc>
              <a:buFontTx/>
              <a:buNone/>
            </a:pPr>
            <a:endParaRPr lang="zh-CN" altLang="en-US" sz="2800" b="1"/>
          </a:p>
          <a:p>
            <a:pPr eaLnBrk="1" hangingPunct="1">
              <a:lnSpc>
                <a:spcPct val="80000"/>
              </a:lnSpc>
              <a:buFontTx/>
              <a:buNone/>
            </a:pPr>
            <a:r>
              <a:rPr lang="zh-CN" altLang="en-US" sz="2800" b="1"/>
              <a:t>         </a:t>
            </a:r>
          </a:p>
          <a:p>
            <a:pPr eaLnBrk="1" hangingPunct="1">
              <a:lnSpc>
                <a:spcPct val="80000"/>
              </a:lnSpc>
              <a:buFontTx/>
              <a:buNone/>
            </a:pPr>
            <a:r>
              <a:rPr lang="zh-CN" altLang="en-US" sz="2800" b="1"/>
              <a:t>           </a:t>
            </a:r>
          </a:p>
        </p:txBody>
      </p:sp>
      <p:pic>
        <p:nvPicPr>
          <p:cNvPr id="64516" name="Picture 4" descr="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4508500"/>
            <a:ext cx="541020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2133600"/>
            <a:ext cx="2747962" cy="282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subTitle" idx="1"/>
          </p:nvPr>
        </p:nvSpPr>
        <p:spPr>
          <a:xfrm>
            <a:off x="539750" y="1371600"/>
            <a:ext cx="8353425" cy="4721696"/>
          </a:xfrm>
        </p:spPr>
        <p:txBody>
          <a:bodyPr/>
          <a:lstStyle/>
          <a:p>
            <a:pPr algn="l" eaLnBrk="1" hangingPunct="1"/>
            <a:r>
              <a:rPr lang="en-US" altLang="zh-CN" sz="3600" b="1">
                <a:solidFill>
                  <a:srgbClr val="CC3300"/>
                </a:solidFill>
              </a:rPr>
              <a:t>  Summary of key points</a:t>
            </a:r>
            <a:r>
              <a:rPr lang="zh-CN" altLang="en-US" sz="3600" b="1">
                <a:solidFill>
                  <a:srgbClr val="CC3300"/>
                </a:solidFill>
              </a:rPr>
              <a:t>：</a:t>
            </a:r>
          </a:p>
          <a:p>
            <a:pPr algn="l" eaLnBrk="1" hangingPunct="1"/>
            <a:r>
              <a:rPr lang="zh-CN" altLang="en-US" sz="3600" b="1"/>
              <a:t>  </a:t>
            </a:r>
          </a:p>
          <a:p>
            <a:pPr marL="457200" indent="-457200" algn="l" eaLnBrk="1" hangingPunct="1">
              <a:buFont typeface="+mj-lt"/>
              <a:buAutoNum type="arabicPeriod"/>
            </a:pPr>
            <a:r>
              <a:rPr lang="en-US" altLang="zh-CN" sz="2400" b="1"/>
              <a:t>Symmetry elements</a:t>
            </a:r>
            <a:r>
              <a:rPr lang="zh-CN" altLang="en-US" sz="2400" b="1"/>
              <a:t>：</a:t>
            </a:r>
            <a:r>
              <a:rPr lang="en-US" altLang="zh-CN" sz="2400" b="1" i="1"/>
              <a:t>P</a:t>
            </a:r>
            <a:r>
              <a:rPr lang="en-US" altLang="zh-CN" sz="2400" b="1"/>
              <a:t>, </a:t>
            </a:r>
            <a:r>
              <a:rPr lang="en-US" altLang="zh-CN" sz="2400" b="1" i="1"/>
              <a:t>L</a:t>
            </a:r>
            <a:r>
              <a:rPr lang="en-US" altLang="zh-CN" sz="2400" b="1" i="1" baseline="30000"/>
              <a:t>n</a:t>
            </a:r>
            <a:r>
              <a:rPr lang="en-US" altLang="zh-CN" sz="2400" b="1"/>
              <a:t>, </a:t>
            </a:r>
            <a:r>
              <a:rPr lang="en-US" altLang="zh-CN" sz="2400" b="1" i="1"/>
              <a:t>C</a:t>
            </a:r>
            <a:r>
              <a:rPr lang="en-US" altLang="zh-CN" sz="2400" b="1"/>
              <a:t>, </a:t>
            </a:r>
            <a:r>
              <a:rPr lang="en-US" altLang="zh-CN" sz="2400" b="1" i="1"/>
              <a:t>L</a:t>
            </a:r>
            <a:r>
              <a:rPr lang="en-US" altLang="zh-CN" sz="2400" b="1" i="1" baseline="-25000"/>
              <a:t>i</a:t>
            </a:r>
            <a:r>
              <a:rPr lang="en-US" altLang="zh-CN" sz="2400" b="1" i="1" baseline="30000"/>
              <a:t>n</a:t>
            </a:r>
            <a:r>
              <a:rPr lang="zh-CN" altLang="en-US" sz="2400" b="1"/>
              <a:t>；</a:t>
            </a:r>
          </a:p>
          <a:p>
            <a:pPr marL="457200" indent="-457200" algn="l" eaLnBrk="1" hangingPunct="1">
              <a:buFont typeface="+mj-lt"/>
              <a:buAutoNum type="arabicPeriod"/>
            </a:pPr>
            <a:r>
              <a:rPr lang="en-US" altLang="zh-CN" sz="2400" b="1"/>
              <a:t>Combination of symmetry elements </a:t>
            </a:r>
            <a:r>
              <a:rPr lang="zh-CN" altLang="en-US" sz="2400" b="1"/>
              <a:t>：</a:t>
            </a:r>
            <a:r>
              <a:rPr lang="en-US" altLang="zh-CN" sz="2400" b="1"/>
              <a:t>4</a:t>
            </a:r>
            <a:r>
              <a:rPr lang="zh-CN" altLang="en-US" sz="2400" b="1"/>
              <a:t> </a:t>
            </a:r>
            <a:r>
              <a:rPr lang="en-US" altLang="zh-CN" sz="2400" b="1"/>
              <a:t>theorems</a:t>
            </a:r>
            <a:r>
              <a:rPr lang="zh-CN" altLang="en-US" sz="2400" b="1"/>
              <a:t>；</a:t>
            </a:r>
          </a:p>
          <a:p>
            <a:pPr marL="457200" indent="-457200" algn="l" eaLnBrk="1" hangingPunct="1">
              <a:buFont typeface="+mj-lt"/>
              <a:buAutoNum type="arabicPeriod"/>
            </a:pPr>
            <a:r>
              <a:rPr lang="en-US" altLang="zh-CN" sz="2400" b="1"/>
              <a:t>Class of symmetry</a:t>
            </a:r>
            <a:r>
              <a:rPr lang="zh-CN" altLang="en-US" sz="2400" b="1"/>
              <a:t>：</a:t>
            </a:r>
            <a:r>
              <a:rPr lang="en-US" altLang="zh-CN" sz="2400" b="1"/>
              <a:t>how to judge by using combination theorem</a:t>
            </a:r>
            <a:r>
              <a:rPr lang="zh-CN" altLang="en-US" sz="2400" b="1"/>
              <a:t>；</a:t>
            </a:r>
          </a:p>
          <a:p>
            <a:pPr marL="457200" indent="-457200" algn="l" eaLnBrk="1" hangingPunct="1">
              <a:buFont typeface="+mj-lt"/>
              <a:buAutoNum type="arabicPeriod"/>
            </a:pPr>
            <a:r>
              <a:rPr lang="en-US" altLang="zh-CN" sz="2400" b="1"/>
              <a:t>Classification of crystal symmetry:   3</a:t>
            </a:r>
            <a:r>
              <a:rPr lang="zh-CN" altLang="en-US" sz="2400" b="1"/>
              <a:t> </a:t>
            </a:r>
            <a:r>
              <a:rPr lang="en-US" altLang="zh-CN" sz="2400" b="1"/>
              <a:t>crystal category</a:t>
            </a:r>
            <a:r>
              <a:rPr lang="zh-CN" altLang="en-US" sz="2400" b="1"/>
              <a:t>，</a:t>
            </a:r>
            <a:r>
              <a:rPr lang="en-US" altLang="zh-CN" sz="2400" b="1"/>
              <a:t>7</a:t>
            </a:r>
            <a:r>
              <a:rPr lang="zh-CN" altLang="en-US" sz="2400" b="1"/>
              <a:t> </a:t>
            </a:r>
            <a:r>
              <a:rPr lang="en-US" altLang="zh-CN" sz="2400" b="1"/>
              <a:t>crystal systems</a:t>
            </a:r>
            <a:r>
              <a:rPr lang="zh-CN" altLang="en-US" sz="2400" b="1"/>
              <a:t>，</a:t>
            </a:r>
            <a:r>
              <a:rPr lang="en-US" altLang="zh-CN" sz="2400" b="1"/>
              <a:t>32</a:t>
            </a:r>
            <a:r>
              <a:rPr lang="zh-CN" altLang="en-US" sz="2400" b="1"/>
              <a:t> </a:t>
            </a:r>
            <a:r>
              <a:rPr lang="en-US" altLang="zh-CN" sz="2400" b="1"/>
              <a:t>crystal classes</a:t>
            </a:r>
            <a:r>
              <a:rPr lang="zh-CN" altLang="en-US" sz="2400" b="1"/>
              <a:t>（</a:t>
            </a:r>
            <a:r>
              <a:rPr lang="en-US" altLang="zh-CN" sz="2400" b="1"/>
              <a:t>point group</a:t>
            </a:r>
            <a:r>
              <a:rPr lang="zh-CN" altLang="en-US" sz="2400" b="1"/>
              <a:t>）；</a:t>
            </a:r>
          </a:p>
          <a:p>
            <a:pPr marL="457200" indent="-457200" algn="l" eaLnBrk="1" hangingPunct="1">
              <a:buFont typeface="+mj-lt"/>
              <a:buAutoNum type="arabicPeriod"/>
            </a:pPr>
            <a:r>
              <a:rPr lang="en-US" altLang="zh-CN" sz="2400" b="1"/>
              <a:t>International symbol of symmetry class and St. Frances symbol</a:t>
            </a:r>
            <a:endParaRPr lang="zh-CN" altLang="en-US" sz="2400" b="1" baseline="30000"/>
          </a:p>
        </p:txBody>
      </p:sp>
    </p:spTree>
  </p:cSld>
  <p:clrMapOvr>
    <a:masterClrMapping/>
  </p:clrMapOvr>
  <p:transition spd="med">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a:t>Homework</a:t>
            </a:r>
            <a:endParaRPr lang="en-US" b="1"/>
          </a:p>
        </p:txBody>
      </p:sp>
      <p:sp>
        <p:nvSpPr>
          <p:cNvPr id="3" name="Content Placeholder 2"/>
          <p:cNvSpPr>
            <a:spLocks noGrp="1"/>
          </p:cNvSpPr>
          <p:nvPr>
            <p:ph idx="1"/>
          </p:nvPr>
        </p:nvSpPr>
        <p:spPr/>
        <p:txBody>
          <a:bodyPr/>
          <a:lstStyle/>
          <a:p>
            <a:r>
              <a:rPr lang="en-US" altLang="zh-CN"/>
              <a:t>All the examples and exercises</a:t>
            </a:r>
            <a:r>
              <a:rPr lang="zh-CN" altLang="en-US"/>
              <a:t>；</a:t>
            </a:r>
            <a:endParaRPr lang="en-US" altLang="zh-CN"/>
          </a:p>
          <a:p>
            <a:r>
              <a:rPr lang="en-US" altLang="zh-CN"/>
              <a:t>All the proof question in the lecture .</a:t>
            </a:r>
            <a:endParaRPr lang="en-US"/>
          </a:p>
        </p:txBody>
      </p:sp>
    </p:spTree>
    <p:extLst>
      <p:ext uri="{BB962C8B-B14F-4D97-AF65-F5344CB8AC3E}">
        <p14:creationId xmlns:p14="http://schemas.microsoft.com/office/powerpoint/2010/main" val="102885670"/>
      </p:ext>
    </p:extLst>
  </p:cSld>
  <p:clrMapOvr>
    <a:masterClrMapping/>
  </p:clrMapOvr>
  <p:transition spd="med">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1" name="Text Box 5"/>
          <p:cNvSpPr txBox="1">
            <a:spLocks noChangeArrowheads="1"/>
          </p:cNvSpPr>
          <p:nvPr/>
        </p:nvSpPr>
        <p:spPr bwMode="auto">
          <a:xfrm>
            <a:off x="4716463" y="333375"/>
            <a:ext cx="4176712"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a:solidFill>
                  <a:schemeClr val="accent2"/>
                </a:solidFill>
                <a:effectLst>
                  <a:outerShdw blurRad="38100" dist="38100" dir="2700000" algn="tl">
                    <a:srgbClr val="000000"/>
                  </a:outerShdw>
                </a:effectLst>
              </a:rPr>
              <a:t>同学们，再见！</a:t>
            </a:r>
          </a:p>
        </p:txBody>
      </p:sp>
      <p:pic>
        <p:nvPicPr>
          <p:cNvPr id="4" name="Picture 2" descr="http://img.51766.com/Universa/1173409574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579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44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44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7316</Words>
  <Application>Microsoft Macintosh PowerPoint</Application>
  <PresentationFormat>On-screen Show (4:3)</PresentationFormat>
  <Paragraphs>907</Paragraphs>
  <Slides>87</Slides>
  <Notes>38</Notes>
  <HiddenSlides>1</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5</vt:i4>
      </vt:variant>
      <vt:variant>
        <vt:lpstr>Slide Titles</vt:lpstr>
      </vt:variant>
      <vt:variant>
        <vt:i4>87</vt:i4>
      </vt:variant>
    </vt:vector>
  </HeadingPairs>
  <TitlesOfParts>
    <vt:vector size="104" baseType="lpstr">
      <vt:lpstr>Brush455 BT</vt:lpstr>
      <vt:lpstr>仿宋_GB2312</vt:lpstr>
      <vt:lpstr>楷体_GB2312</vt:lpstr>
      <vt:lpstr>隶书</vt:lpstr>
      <vt:lpstr>黑体</vt:lpstr>
      <vt:lpstr>宋体</vt:lpstr>
      <vt:lpstr>华文隶书</vt:lpstr>
      <vt:lpstr>Arial</vt:lpstr>
      <vt:lpstr>Monotype Sorts</vt:lpstr>
      <vt:lpstr>Times New Roman</vt:lpstr>
      <vt:lpstr>Wingdings</vt:lpstr>
      <vt:lpstr>默认设计模板</vt:lpstr>
      <vt:lpstr>Document</vt:lpstr>
      <vt:lpstr>Equation.3</vt:lpstr>
      <vt:lpstr>Microsoft 公式 3.0</vt:lpstr>
      <vt:lpstr>公式</vt:lpstr>
      <vt:lpstr>Equation</vt:lpstr>
      <vt:lpstr>Chapter 5.  Macroscopic symmetry of crystals</vt:lpstr>
      <vt:lpstr>1. Concept of symmetry</vt:lpstr>
      <vt:lpstr>Parity Nonconservation</vt:lpstr>
      <vt:lpstr>Parity Nonconservation</vt:lpstr>
      <vt:lpstr>PowerPoint Presentation</vt:lpstr>
      <vt:lpstr>2.Character of crystal symmetry</vt:lpstr>
      <vt:lpstr>symmetry operation (对称操作)</vt:lpstr>
      <vt:lpstr>Symmetry element</vt:lpstr>
      <vt:lpstr>Symbol of symmetry elements</vt:lpstr>
      <vt:lpstr>Symmetry operations</vt:lpstr>
      <vt:lpstr>PowerPoint Presentation</vt:lpstr>
      <vt:lpstr>PowerPoint Presentation</vt:lpstr>
      <vt:lpstr>Symmetry element in cubic system 3L44L36L29PC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Crystallographic restriction theorem</vt:lpstr>
      <vt:lpstr>Crystallographic restriction theorem</vt:lpstr>
      <vt:lpstr>Crystallographic restriction theorem</vt:lpstr>
      <vt:lpstr>C is only located at crystal center. The operation is inversion.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Rotoreflection axis （旋转反映轴、映转轴）</vt:lpstr>
      <vt:lpstr>Rotoreflection axis</vt:lpstr>
      <vt:lpstr>PowerPoint Presentation</vt:lpstr>
      <vt:lpstr>4. Combinations of symmetry elements </vt:lpstr>
      <vt:lpstr>Combination law of symmetry elements:</vt:lpstr>
      <vt:lpstr>PowerPoint Presentation</vt:lpstr>
      <vt:lpstr>PowerPoint Presentation</vt:lpstr>
      <vt:lpstr>Theorem of symmetry element combination：</vt:lpstr>
      <vt:lpstr>PowerPoint Presentation</vt:lpstr>
      <vt:lpstr>Combination of symmetry elements</vt:lpstr>
      <vt:lpstr>Theorem of symmetry element combination</vt:lpstr>
      <vt:lpstr>Theorem of symmetry element combination：</vt:lpstr>
      <vt:lpstr>Example of theorem 3：         L6 P// L66P//</vt:lpstr>
      <vt:lpstr>PowerPoint Presentation</vt:lpstr>
      <vt:lpstr>Combination of symmetry elements</vt:lpstr>
      <vt:lpstr>Combination of symmetry elements</vt:lpstr>
      <vt:lpstr>Combination of symmetry elements</vt:lpstr>
      <vt:lpstr>PowerPoint Presentation</vt:lpstr>
      <vt:lpstr>Combination of symmetry elements</vt:lpstr>
      <vt:lpstr>5. 32 classes of symmetry and their derivations</vt:lpstr>
      <vt:lpstr>5. 32 classes of symmetry and their derivations</vt:lpstr>
      <vt:lpstr>Group</vt:lpstr>
      <vt:lpstr>Group</vt:lpstr>
      <vt:lpstr>PowerPoint Presentation</vt:lpstr>
      <vt:lpstr>PowerPoint Presentation</vt:lpstr>
      <vt:lpstr>PowerPoint Presentation</vt:lpstr>
      <vt:lpstr>PowerPoint Presentation</vt:lpstr>
      <vt:lpstr>PowerPoint Presentation</vt:lpstr>
      <vt:lpstr>PowerPoint Presentation</vt:lpstr>
      <vt:lpstr> Combination of multiple high order axes 1. Primitive type：symmetry axis of tetrahedron 3L24L3 2. Center type：combination of primitive type and symmetry center 3L24L33PC 3. Axis type：combination of primitive type and symmetry axis 3L44L36L2 4. Plane type： combination of primitive type and symmetry plane 3Li44L36P 5. Axial plane type：add symmetry plane on the base of axis type 3L44L36L29PC </vt:lpstr>
      <vt:lpstr>PowerPoint Presentation</vt:lpstr>
      <vt:lpstr>6. Classification of crystal symmetry</vt:lpstr>
      <vt:lpstr>Classification of crystal symmetry</vt:lpstr>
      <vt:lpstr>Classification of crystal symmetry</vt:lpstr>
      <vt:lpstr>PowerPoint Presentation</vt:lpstr>
      <vt:lpstr>7. Symmetry symbols of point group</vt:lpstr>
      <vt:lpstr>Symbol of symmetry elements</vt:lpstr>
      <vt:lpstr>PowerPoint Presentation</vt:lpstr>
      <vt:lpstr>International symbol of symmetry class (point group，点群）</vt:lpstr>
      <vt:lpstr>International symbol of symmetry class</vt:lpstr>
      <vt:lpstr>1. Set three serial positions (up to three), each position defines the direction of symmetry elements; 2. For symmetry elements with symmetrical meaning are in the same direction, no matter how much,  just write one.  3. For different crystal systems, the directions  of represented by the three serial number are completely different, so the writing of international symbols is completely different.   The writing of international symbol for every crystal system is shown in the table below:</vt:lpstr>
      <vt:lpstr>PowerPoint Presentation</vt:lpstr>
      <vt:lpstr>PowerPoint Presentation</vt:lpstr>
      <vt:lpstr>PowerPoint Presentation</vt:lpstr>
      <vt:lpstr> Point group symbols and their symmetric icons</vt:lpstr>
      <vt:lpstr>3． St. Frances symbol of symmetry class</vt:lpstr>
      <vt:lpstr>St. Frances symbol of symmetry class</vt:lpstr>
      <vt:lpstr>St. Frances symbol of symmetry class</vt:lpstr>
      <vt:lpstr>St. Frances symbol of symmetry class</vt:lpstr>
      <vt:lpstr>7. Classification of quasi-crystal</vt:lpstr>
      <vt:lpstr>PowerPoint Presentation</vt:lpstr>
      <vt:lpstr>Homework</vt:lpstr>
      <vt:lpstr>PowerPoint Presentation</vt:lpstr>
    </vt:vector>
  </TitlesOfParts>
  <Company>MSE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晶体的宏观对称</dc:title>
  <dc:creator>TAN JIN</dc:creator>
  <cp:lastModifiedBy>Philip Zhan</cp:lastModifiedBy>
  <cp:revision>1</cp:revision>
  <dcterms:created xsi:type="dcterms:W3CDTF">2000-09-06T03:38:46Z</dcterms:created>
  <dcterms:modified xsi:type="dcterms:W3CDTF">2022-01-03T08:17:39Z</dcterms:modified>
</cp:coreProperties>
</file>